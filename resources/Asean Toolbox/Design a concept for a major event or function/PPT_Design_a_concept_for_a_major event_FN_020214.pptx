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2"/>
  </p:notesMasterIdLst>
  <p:handoutMasterIdLst>
    <p:handoutMasterId r:id="rId143"/>
  </p:handoutMasterIdLst>
  <p:sldIdLst>
    <p:sldId id="256" r:id="rId2"/>
    <p:sldId id="257" r:id="rId3"/>
    <p:sldId id="258" r:id="rId4"/>
    <p:sldId id="259" r:id="rId5"/>
    <p:sldId id="261"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374" r:id="rId28"/>
    <p:sldId id="299" r:id="rId29"/>
    <p:sldId id="300" r:id="rId30"/>
    <p:sldId id="302" r:id="rId31"/>
    <p:sldId id="303" r:id="rId32"/>
    <p:sldId id="304" r:id="rId33"/>
    <p:sldId id="305" r:id="rId34"/>
    <p:sldId id="306" r:id="rId35"/>
    <p:sldId id="307" r:id="rId36"/>
    <p:sldId id="308" r:id="rId37"/>
    <p:sldId id="309" r:id="rId38"/>
    <p:sldId id="301" r:id="rId39"/>
    <p:sldId id="310" r:id="rId40"/>
    <p:sldId id="311" r:id="rId41"/>
    <p:sldId id="312" r:id="rId42"/>
    <p:sldId id="313" r:id="rId43"/>
    <p:sldId id="314" r:id="rId44"/>
    <p:sldId id="315" r:id="rId45"/>
    <p:sldId id="380" r:id="rId46"/>
    <p:sldId id="383" r:id="rId47"/>
    <p:sldId id="381" r:id="rId48"/>
    <p:sldId id="384" r:id="rId49"/>
    <p:sldId id="385" r:id="rId50"/>
    <p:sldId id="375" r:id="rId51"/>
    <p:sldId id="376" r:id="rId52"/>
    <p:sldId id="377" r:id="rId53"/>
    <p:sldId id="378" r:id="rId54"/>
    <p:sldId id="379" r:id="rId55"/>
    <p:sldId id="386" r:id="rId56"/>
    <p:sldId id="387" r:id="rId57"/>
    <p:sldId id="388" r:id="rId58"/>
    <p:sldId id="389" r:id="rId59"/>
    <p:sldId id="390" r:id="rId60"/>
    <p:sldId id="391" r:id="rId61"/>
    <p:sldId id="264" r:id="rId62"/>
    <p:sldId id="265" r:id="rId63"/>
    <p:sldId id="269" r:id="rId64"/>
    <p:sldId id="399" r:id="rId65"/>
    <p:sldId id="398" r:id="rId66"/>
    <p:sldId id="400" r:id="rId67"/>
    <p:sldId id="401" r:id="rId68"/>
    <p:sldId id="402" r:id="rId69"/>
    <p:sldId id="403" r:id="rId70"/>
    <p:sldId id="404" r:id="rId71"/>
    <p:sldId id="405" r:id="rId72"/>
    <p:sldId id="406" r:id="rId73"/>
    <p:sldId id="395" r:id="rId74"/>
    <p:sldId id="396" r:id="rId75"/>
    <p:sldId id="397" r:id="rId76"/>
    <p:sldId id="345" r:id="rId77"/>
    <p:sldId id="346" r:id="rId78"/>
    <p:sldId id="347" r:id="rId79"/>
    <p:sldId id="348" r:id="rId80"/>
    <p:sldId id="322" r:id="rId81"/>
    <p:sldId id="444"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37" r:id="rId97"/>
    <p:sldId id="338" r:id="rId98"/>
    <p:sldId id="339" r:id="rId99"/>
    <p:sldId id="340" r:id="rId100"/>
    <p:sldId id="341" r:id="rId101"/>
    <p:sldId id="342" r:id="rId102"/>
    <p:sldId id="407" r:id="rId103"/>
    <p:sldId id="408" r:id="rId104"/>
    <p:sldId id="409" r:id="rId105"/>
    <p:sldId id="410" r:id="rId106"/>
    <p:sldId id="411" r:id="rId107"/>
    <p:sldId id="412" r:id="rId108"/>
    <p:sldId id="413" r:id="rId109"/>
    <p:sldId id="392" r:id="rId110"/>
    <p:sldId id="393" r:id="rId111"/>
    <p:sldId id="394" r:id="rId112"/>
    <p:sldId id="272" r:id="rId113"/>
    <p:sldId id="273" r:id="rId114"/>
    <p:sldId id="430" r:id="rId115"/>
    <p:sldId id="441" r:id="rId116"/>
    <p:sldId id="431" r:id="rId117"/>
    <p:sldId id="414" r:id="rId118"/>
    <p:sldId id="442" r:id="rId119"/>
    <p:sldId id="415" r:id="rId120"/>
    <p:sldId id="416" r:id="rId121"/>
    <p:sldId id="417" r:id="rId122"/>
    <p:sldId id="427" r:id="rId123"/>
    <p:sldId id="428" r:id="rId124"/>
    <p:sldId id="429" r:id="rId125"/>
    <p:sldId id="432" r:id="rId126"/>
    <p:sldId id="433" r:id="rId127"/>
    <p:sldId id="434" r:id="rId128"/>
    <p:sldId id="435" r:id="rId129"/>
    <p:sldId id="436" r:id="rId130"/>
    <p:sldId id="437" r:id="rId131"/>
    <p:sldId id="438" r:id="rId132"/>
    <p:sldId id="439" r:id="rId133"/>
    <p:sldId id="440" r:id="rId134"/>
    <p:sldId id="368" r:id="rId135"/>
    <p:sldId id="369" r:id="rId136"/>
    <p:sldId id="370" r:id="rId137"/>
    <p:sldId id="371" r:id="rId138"/>
    <p:sldId id="372" r:id="rId139"/>
    <p:sldId id="373" r:id="rId140"/>
    <p:sldId id="443" r:id="rId14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67" autoAdjust="0"/>
    <p:restoredTop sz="76543" autoAdjust="0"/>
  </p:normalViewPr>
  <p:slideViewPr>
    <p:cSldViewPr>
      <p:cViewPr varScale="1">
        <p:scale>
          <a:sx n="70" d="100"/>
          <a:sy n="70" d="100"/>
        </p:scale>
        <p:origin x="1926" y="78"/>
      </p:cViewPr>
      <p:guideLst>
        <p:guide orient="horz" pos="2160"/>
        <p:guide pos="2880"/>
      </p:guideLst>
    </p:cSldViewPr>
  </p:slideViewPr>
  <p:outlineViewPr>
    <p:cViewPr>
      <p:scale>
        <a:sx n="33" d="100"/>
        <a:sy n="33" d="100"/>
      </p:scale>
      <p:origin x="0" y="4767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3/13/2015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30387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3/13/2015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727306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to introduce himself/herself</a:t>
            </a:r>
            <a:r>
              <a:rPr lang="en-US" baseline="0" dirty="0" smtClean="0"/>
              <a:t> to trainees.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924529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this Unit comprises two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568473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155421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difference between events and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are examples of events?</a:t>
            </a:r>
          </a:p>
          <a:p>
            <a:pPr>
              <a:buFont typeface="Arial" pitchFamily="34" charset="0"/>
              <a:buChar char="•"/>
            </a:pPr>
            <a:r>
              <a:rPr lang="en-AU" sz="1200" kern="1200" baseline="0" dirty="0" smtClean="0">
                <a:solidFill>
                  <a:schemeClr val="tx1"/>
                </a:solidFill>
                <a:ea typeface="+mn-ea"/>
                <a:cs typeface="+mn-cs"/>
              </a:rPr>
              <a:t>Who normally arranges events?</a:t>
            </a:r>
          </a:p>
          <a:p>
            <a:pPr>
              <a:buFont typeface="Arial" pitchFamily="34" charset="0"/>
              <a:buChar char="•"/>
            </a:pPr>
            <a:r>
              <a:rPr lang="en-AU" sz="1200" kern="1200" baseline="0" dirty="0" smtClean="0">
                <a:solidFill>
                  <a:schemeClr val="tx1"/>
                </a:solidFill>
                <a:ea typeface="+mn-ea"/>
                <a:cs typeface="+mn-cs"/>
              </a:rPr>
              <a:t>What activities are common for events?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148924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4021535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discuss the events that they have attended in the past.</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000054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arranged for these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are they normally held?</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971740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arranged for these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are they normally held?</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632642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think about local hotels.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they provide which cannot be replicated at home or at an office?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912990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the audience to think about the potential revenues generated through the following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revenue is generated through a normal meeting?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revenue is generated through a wedding?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450343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598850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784226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4137550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events are associated with each category?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the MICE sector very appealing to hotels as a key market to attract?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68390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437493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 and List function facilities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Answer question in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audience to list all the facilities/spaces that can be used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31927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each facility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187369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costs are associated with each of these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The trainer may need to provide Business Centre Price list or audience to research.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121550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costs are associated with each of these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The trainer may need to provide Business Centre Price list or audience to research.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164883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included in a facility for the press?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different types of storage areas are needed and for what purpose?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531981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restaurant and bar areas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food and beverage services are provided?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accommodation rooms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145920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sound and lighting is available? What are they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technology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gardens normally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071951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people normally make an enquiry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they need?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0999363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people normally make an enquiry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they need?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273893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an initial meeting?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done or discussed in an initial meeting?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0293608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meeting with </a:t>
            </a:r>
            <a:r>
              <a:rPr lang="en-AU" sz="1200" b="0" kern="1200" baseline="0" smtClean="0">
                <a:solidFill>
                  <a:schemeClr val="tx1"/>
                </a:solidFill>
                <a:ea typeface="+mn-ea"/>
                <a:cs typeface="+mn-cs"/>
              </a:rPr>
              <a:t>clients important?</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you want to achieve when meeting with clients?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4054531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277556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role of these stakeholders?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5680974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importance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r>
              <a:rPr lang="en-AU" sz="1200" dirty="0" smtClean="0"/>
              <a:t>Event liaison – who are the contact people communications are directed to and who needs to be copied or involved in communication?</a:t>
            </a:r>
          </a:p>
          <a:p>
            <a:pPr lvl="0"/>
            <a:r>
              <a:rPr lang="en-AU" sz="1200" dirty="0" smtClean="0"/>
              <a:t>Management structure – who are key managers in relation to different aspects of an event?</a:t>
            </a:r>
          </a:p>
          <a:p>
            <a:pPr lvl="0"/>
            <a:r>
              <a:rPr lang="en-AU" sz="1200" dirty="0" smtClean="0"/>
              <a:t>Lines of authority - who are the ultimate decision makers or have overriding authority and responsibility?</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5024385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539673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3595532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784882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this set up option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items are required?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248589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063040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0543761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 audience to answer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7130945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each of these set up options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each option?</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114781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questions in the slide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0532615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external businesses are utilised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810042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specialist products or services do these businesses provide?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6421829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can you find information on different types of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701226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information would you like to know about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Range of offering – selection of products and services</a:t>
            </a:r>
          </a:p>
          <a:p>
            <a:pPr lvl="0">
              <a:buFont typeface="Arial" pitchFamily="34" charset="0"/>
              <a:buChar char="•"/>
            </a:pPr>
            <a:r>
              <a:rPr lang="en-AU" sz="1200" kern="1200" dirty="0" smtClean="0">
                <a:solidFill>
                  <a:schemeClr val="tx1"/>
                </a:solidFill>
                <a:ea typeface="+mn-ea"/>
                <a:cs typeface="+mn-cs"/>
              </a:rPr>
              <a:t>Pricing structure for each item – including discounts or complimentary additional items</a:t>
            </a:r>
          </a:p>
          <a:p>
            <a:pPr lvl="0">
              <a:buFont typeface="Arial" pitchFamily="34" charset="0"/>
              <a:buChar char="•"/>
            </a:pPr>
            <a:r>
              <a:rPr lang="en-AU" sz="1200" kern="1200" dirty="0" smtClean="0">
                <a:solidFill>
                  <a:schemeClr val="tx1"/>
                </a:solidFill>
                <a:ea typeface="+mn-ea"/>
                <a:cs typeface="+mn-cs"/>
              </a:rPr>
              <a:t>Service guarantees – what quality and quantity guarantees can they provide</a:t>
            </a:r>
          </a:p>
          <a:p>
            <a:pPr lvl="0">
              <a:buFont typeface="Arial" pitchFamily="34" charset="0"/>
              <a:buChar char="•"/>
            </a:pPr>
            <a:r>
              <a:rPr lang="en-AU" sz="1200" kern="1200" dirty="0" smtClean="0">
                <a:solidFill>
                  <a:schemeClr val="tx1"/>
                </a:solidFill>
                <a:ea typeface="+mn-ea"/>
                <a:cs typeface="+mn-cs"/>
              </a:rPr>
              <a:t>Availability - how available are items. It is no use choosing a provider, no matter how cheap, if their items are never available</a:t>
            </a:r>
          </a:p>
          <a:p>
            <a:pPr lvl="0">
              <a:buFont typeface="Arial" pitchFamily="34" charset="0"/>
              <a:buChar char="•"/>
            </a:pPr>
            <a:r>
              <a:rPr lang="en-AU" sz="1200" kern="1200" dirty="0" smtClean="0">
                <a:solidFill>
                  <a:schemeClr val="tx1"/>
                </a:solidFill>
                <a:ea typeface="+mn-ea"/>
                <a:cs typeface="+mn-cs"/>
              </a:rPr>
              <a:t>Prep-event services – delivery and setting up arrangements</a:t>
            </a:r>
          </a:p>
          <a:p>
            <a:pPr lvl="0">
              <a:buFont typeface="Arial" pitchFamily="34" charset="0"/>
              <a:buChar char="•"/>
            </a:pPr>
            <a:r>
              <a:rPr lang="en-AU" sz="1200" kern="1200" dirty="0" smtClean="0">
                <a:solidFill>
                  <a:schemeClr val="tx1"/>
                </a:solidFill>
                <a:ea typeface="+mn-ea"/>
                <a:cs typeface="+mn-cs"/>
              </a:rPr>
              <a:t>Event services- what will the company do during the event to ensure its products or services operate as expected</a:t>
            </a:r>
          </a:p>
          <a:p>
            <a:pPr lvl="0">
              <a:buFont typeface="Arial" pitchFamily="34" charset="0"/>
              <a:buChar char="•"/>
            </a:pPr>
            <a:r>
              <a:rPr lang="en-AU" sz="1200" kern="1200" dirty="0" smtClean="0">
                <a:solidFill>
                  <a:schemeClr val="tx1"/>
                </a:solidFill>
                <a:ea typeface="+mn-ea"/>
                <a:cs typeface="+mn-cs"/>
              </a:rPr>
              <a:t>Post-event services – take down and removal of items, cleaning etc</a:t>
            </a:r>
          </a:p>
          <a:p>
            <a:pPr lvl="0">
              <a:buFont typeface="Arial" pitchFamily="34" charset="0"/>
              <a:buChar char="•"/>
            </a:pPr>
            <a:r>
              <a:rPr lang="en-AU" sz="1200" kern="1200" dirty="0" smtClean="0">
                <a:solidFill>
                  <a:schemeClr val="tx1"/>
                </a:solidFill>
                <a:ea typeface="+mn-ea"/>
                <a:cs typeface="+mn-cs"/>
              </a:rPr>
              <a:t>Billing and payment arrangements.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8257769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discuss these points with external providers?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provide examples of information that may be given to external suppliers in relation to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0972846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6615015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factors will impact on the holding on an event or parts of it?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6970705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Provide examples of each type of resource.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0053406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Provide examples of each of these common resources.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0456957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How can additional resources be gathered using these options?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are the benefits of these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1697534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resources can be gathered from each of these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2050702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event sponsorship common?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sponsorship for both parties?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sponsorship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sponsors get for their investment?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8861274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benefits are there for sponsors?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5003589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Create list of sponsors for specific events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potential sponsors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Think of a number of specific events and think of potential sponsors which you could attract.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0176865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and advantages of starting with these companies?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5324874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advantages of these different types of sponsors?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5910571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considerations relating to timing need to be considered?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1206767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would an establishment hold a function or event for a ‘loss’?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2739070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would stop an establishment from NOT holding an event or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0824723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‘yield management’?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‘yield management’ be incorporated into event operations?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6746189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examples of other specialised knowledge or skill sets required by staff working in events or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5196568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factors exist that have not been discussed to date?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4035807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spcAft>
                <a:spcPts val="0"/>
              </a:spcAft>
              <a:buFont typeface="Arial" pitchFamily="34" charset="0"/>
              <a:buChar char="•"/>
            </a:pPr>
            <a:r>
              <a:rPr lang="en-AU" sz="1200" dirty="0" smtClean="0">
                <a:solidFill>
                  <a:srgbClr val="000000"/>
                </a:solidFill>
                <a:latin typeface="Tahoma"/>
                <a:ea typeface="Calibri"/>
              </a:rPr>
              <a:t>What are common event concepts?</a:t>
            </a:r>
            <a:endParaRPr lang="en-AU" sz="1800" dirty="0" smtClean="0">
              <a:latin typeface="Times New Roman"/>
              <a:ea typeface="Calibri"/>
            </a:endParaRPr>
          </a:p>
          <a:p>
            <a:pPr>
              <a:spcAft>
                <a:spcPts val="0"/>
              </a:spcAft>
              <a:buFont typeface="Arial" pitchFamily="34" charset="0"/>
              <a:buChar char="•"/>
            </a:pPr>
            <a:r>
              <a:rPr lang="en-AU" sz="1200" dirty="0" smtClean="0">
                <a:solidFill>
                  <a:srgbClr val="000000"/>
                </a:solidFill>
                <a:latin typeface="Tahoma"/>
                <a:ea typeface="Calibri"/>
              </a:rPr>
              <a:t>What are some themes that can be used at events?</a:t>
            </a:r>
            <a:endParaRPr lang="en-AU" sz="1800" dirty="0" smtClean="0">
              <a:latin typeface="Times New Roman"/>
              <a:ea typeface="Calibri"/>
            </a:endParaRPr>
          </a:p>
          <a:p>
            <a:pPr>
              <a:spcAft>
                <a:spcPts val="0"/>
              </a:spcAft>
              <a:buFont typeface="Arial" pitchFamily="34" charset="0"/>
              <a:buChar char="•"/>
            </a:pPr>
            <a:r>
              <a:rPr lang="en-AU" sz="1200" dirty="0" smtClean="0">
                <a:solidFill>
                  <a:srgbClr val="000000"/>
                </a:solidFill>
                <a:latin typeface="Tahoma"/>
                <a:ea typeface="Calibri"/>
              </a:rPr>
              <a:t>What equipment or resources are required to have these concepts or themes?</a:t>
            </a:r>
            <a:endParaRPr lang="en-AU" sz="1800" dirty="0" smtClean="0">
              <a:latin typeface="Times New Roman"/>
              <a:ea typeface="Calibri"/>
            </a:endParaRPr>
          </a:p>
          <a:p>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9230570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6772866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7788549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taken into account when preparing information for the client?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3087768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u="none" dirty="0" smtClean="0">
                <a:latin typeface="Helvetica" pitchFamily="34" charset="0"/>
              </a:rPr>
              <a:t>What are examples of organisation standards, policies and procedures that must be followed?</a:t>
            </a:r>
            <a:endParaRPr lang="en-US" u="none"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8411134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none" dirty="0" smtClean="0">
                <a:latin typeface="Helvetica" pitchFamily="34" charset="0"/>
              </a:rPr>
              <a:t>Trainer to show these documents to audience</a:t>
            </a:r>
            <a:r>
              <a:rPr lang="en-AU" sz="1200" u="none" baseline="0" dirty="0" smtClean="0">
                <a:latin typeface="Helvetica" pitchFamily="34" charset="0"/>
              </a:rPr>
              <a:t> and ask the following questions:</a:t>
            </a:r>
            <a:endParaRPr lang="en-AU" sz="1200" u="none"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u="none" baseline="0" dirty="0" smtClean="0">
                <a:latin typeface="Helvetica" pitchFamily="34" charset="0"/>
              </a:rPr>
              <a:t>What is the purpose of each document?</a:t>
            </a:r>
            <a:endParaRPr lang="en-US" u="none"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u="none" dirty="0" smtClean="0">
                <a:latin typeface="Helvetica" pitchFamily="34" charset="0"/>
              </a:rPr>
              <a:t>What</a:t>
            </a:r>
            <a:r>
              <a:rPr lang="en-AU" sz="1200" u="none" baseline="0" dirty="0" smtClean="0">
                <a:latin typeface="Helvetica" pitchFamily="34" charset="0"/>
              </a:rPr>
              <a:t> is contained within each document?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u="none" baseline="0" dirty="0" smtClean="0">
                <a:latin typeface="Helvetica" pitchFamily="34" charset="0"/>
              </a:rPr>
              <a:t>Who uses these reports?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9368262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none" dirty="0" smtClean="0">
                <a:latin typeface="Helvetica" pitchFamily="34" charset="0"/>
              </a:rPr>
              <a:t>Trainer to show these documents to audience</a:t>
            </a:r>
            <a:r>
              <a:rPr lang="en-AU" sz="1200" u="none" baseline="0" dirty="0" smtClean="0">
                <a:latin typeface="Helvetica" pitchFamily="34" charset="0"/>
              </a:rPr>
              <a:t> and ask the question in the slide.</a:t>
            </a:r>
            <a:endParaRPr lang="en-AU" sz="1200" u="none"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4238831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r>
              <a:rPr lang="en-AU" sz="1200" kern="1200" dirty="0" smtClean="0">
                <a:solidFill>
                  <a:schemeClr val="tx1"/>
                </a:solidFill>
                <a:ea typeface="+mn-ea"/>
                <a:cs typeface="+mn-cs"/>
              </a:rPr>
              <a:t>There are a number of other documents that are used to ensure activities comply with organisational requirements including:</a:t>
            </a:r>
          </a:p>
          <a:p>
            <a:pPr lvl="0">
              <a:buFont typeface="Arial" pitchFamily="34" charset="0"/>
              <a:buChar char="•"/>
            </a:pPr>
            <a:r>
              <a:rPr lang="en-AU" sz="1200" kern="1200" dirty="0" smtClean="0">
                <a:solidFill>
                  <a:schemeClr val="tx1"/>
                </a:solidFill>
                <a:ea typeface="+mn-ea"/>
                <a:cs typeface="+mn-cs"/>
              </a:rPr>
              <a:t>Checklists – clearly indicates the tasks to be performed</a:t>
            </a:r>
          </a:p>
          <a:p>
            <a:pPr lvl="0">
              <a:buFont typeface="Arial" pitchFamily="34" charset="0"/>
              <a:buChar char="•"/>
            </a:pPr>
            <a:r>
              <a:rPr lang="en-AU" sz="1200" kern="1200" dirty="0" smtClean="0">
                <a:solidFill>
                  <a:schemeClr val="tx1"/>
                </a:solidFill>
                <a:ea typeface="+mn-ea"/>
                <a:cs typeface="+mn-cs"/>
              </a:rPr>
              <a:t>Performance Indicators - the expected level of desired performance</a:t>
            </a:r>
          </a:p>
          <a:p>
            <a:pPr lvl="0">
              <a:buFont typeface="Arial" pitchFamily="34" charset="0"/>
              <a:buChar char="•"/>
            </a:pPr>
            <a:r>
              <a:rPr lang="en-AU" sz="1200" kern="1200" dirty="0" smtClean="0">
                <a:solidFill>
                  <a:schemeClr val="tx1"/>
                </a:solidFill>
                <a:ea typeface="+mn-ea"/>
                <a:cs typeface="+mn-cs"/>
              </a:rPr>
              <a:t>Policies - a rule or guideline of expected performance</a:t>
            </a:r>
          </a:p>
          <a:p>
            <a:pPr lvl="0">
              <a:buFont typeface="Arial" pitchFamily="34" charset="0"/>
              <a:buChar char="•"/>
            </a:pPr>
            <a:r>
              <a:rPr lang="en-AU" sz="1200" kern="1200" dirty="0" smtClean="0">
                <a:solidFill>
                  <a:schemeClr val="tx1"/>
                </a:solidFill>
                <a:ea typeface="+mn-ea"/>
                <a:cs typeface="+mn-cs"/>
              </a:rPr>
              <a:t>Procedures - a specified step by step guide how an activity is to be conducted</a:t>
            </a:r>
          </a:p>
          <a:p>
            <a:pPr lvl="0">
              <a:buFont typeface="Arial" pitchFamily="34" charset="0"/>
              <a:buChar char="•"/>
            </a:pPr>
            <a:r>
              <a:rPr lang="en-AU" sz="1200" kern="1200" dirty="0" smtClean="0">
                <a:solidFill>
                  <a:schemeClr val="tx1"/>
                </a:solidFill>
                <a:ea typeface="+mn-ea"/>
                <a:cs typeface="+mn-cs"/>
              </a:rPr>
              <a:t>SOPs – Standard Operating Procedures.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4061179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What information is normally included in these</a:t>
            </a:r>
            <a:r>
              <a:rPr lang="en-AU" sz="1200" kern="1200" baseline="0" dirty="0" smtClean="0">
                <a:solidFill>
                  <a:schemeClr val="tx1"/>
                </a:solidFill>
                <a:ea typeface="+mn-ea"/>
                <a:cs typeface="+mn-cs"/>
              </a:rPr>
              <a:t> three documents?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754330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What other types</a:t>
            </a:r>
            <a:r>
              <a:rPr lang="en-AU" sz="1200" kern="1200" baseline="0" dirty="0" smtClean="0">
                <a:solidFill>
                  <a:schemeClr val="tx1"/>
                </a:solidFill>
                <a:ea typeface="+mn-ea"/>
                <a:cs typeface="+mn-cs"/>
              </a:rPr>
              <a:t> of performance standards exist for an event or function?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28563358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What are some specific</a:t>
            </a:r>
            <a:r>
              <a:rPr lang="en-AU" sz="1200" kern="1200" baseline="0" dirty="0" smtClean="0">
                <a:solidFill>
                  <a:schemeClr val="tx1"/>
                </a:solidFill>
                <a:ea typeface="+mn-ea"/>
                <a:cs typeface="+mn-cs"/>
              </a:rPr>
              <a:t> and measurable standards for each of these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2355132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What are examples of </a:t>
            </a:r>
            <a:r>
              <a:rPr lang="en-AU" sz="1200" b="0" kern="1200" dirty="0" smtClean="0">
                <a:solidFill>
                  <a:schemeClr val="tx1"/>
                </a:solidFill>
                <a:ea typeface="+mn-ea"/>
                <a:cs typeface="+mn-cs"/>
              </a:rPr>
              <a:t>j</a:t>
            </a:r>
            <a:r>
              <a:rPr lang="en-AU" sz="1200" b="0" dirty="0" smtClean="0"/>
              <a:t>ob behaviour standards?</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1793778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included inside an event brief?</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50712351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points.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81723655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points.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61811064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should be consulted?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2707278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slide.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2603014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specialist advice can these people provide?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How is it best to involve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Food requirements discussed with Executive Chef </a:t>
            </a:r>
          </a:p>
          <a:p>
            <a:pPr lvl="0">
              <a:buFont typeface="Arial" pitchFamily="34" charset="0"/>
              <a:buChar char="•"/>
            </a:pPr>
            <a:r>
              <a:rPr lang="en-AU" sz="1200" dirty="0" smtClean="0"/>
              <a:t>Beverage requirements discussed with Beverage Manager </a:t>
            </a:r>
          </a:p>
          <a:p>
            <a:pPr lvl="0">
              <a:buFont typeface="Arial" pitchFamily="34" charset="0"/>
              <a:buChar char="•"/>
            </a:pPr>
            <a:r>
              <a:rPr lang="en-AU" sz="1200" dirty="0" smtClean="0"/>
              <a:t>Technical requirements discussed with Maintenance Department or outside suppliers </a:t>
            </a:r>
          </a:p>
          <a:p>
            <a:pPr lvl="0">
              <a:buFont typeface="Arial" pitchFamily="34" charset="0"/>
              <a:buChar char="•"/>
            </a:pPr>
            <a:r>
              <a:rPr lang="en-AU" sz="1200" dirty="0" smtClean="0"/>
              <a:t>Linen requirements discussed with housekeeping – outside suppliers may also be involved </a:t>
            </a:r>
          </a:p>
          <a:p>
            <a:pPr lvl="0">
              <a:buFont typeface="Arial" pitchFamily="34" charset="0"/>
              <a:buChar char="•"/>
            </a:pPr>
            <a:r>
              <a:rPr lang="en-AU" sz="1200" dirty="0" smtClean="0"/>
              <a:t>Room decorations and floral arrangements discussed with housekeeping or outside suppliers </a:t>
            </a:r>
          </a:p>
          <a:p>
            <a:pPr lvl="0">
              <a:buFont typeface="Arial" pitchFamily="34" charset="0"/>
              <a:buChar char="•"/>
            </a:pPr>
            <a:r>
              <a:rPr lang="en-AU" sz="1200" dirty="0" smtClean="0"/>
              <a:t>Facility set-up requirements discussed with Catering and Food and Beverage or functions coordinator.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7851974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Stories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and audience to share stories about assistance that was provided by other departments when preparing functions.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4028307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 in this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1681090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considerations associated with each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8265689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5121009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38327456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88185973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examples of catering that is provided as part of an event?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6801841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factors impact on catering?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2817610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factors impact on catering?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4879731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hotels provide a variety of price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a:t>
            </a:r>
            <a:r>
              <a:rPr lang="en-AU" sz="1200" dirty="0" smtClean="0">
                <a:latin typeface="Helvetica" pitchFamily="34" charset="0"/>
              </a:rPr>
              <a:t>inclusive and non-inclusive menus?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49811476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Think about a range of different functions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would be appropriate?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9130456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factors need to be considered when considering staff needs for any particular event or function?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37147966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these points impact on rostering.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412509605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 audience to think of factors that will influence staff numbers.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6899952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9473649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287193717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81445086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26349735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have productivity standards?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do these come from?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46860384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different productivity standards for a variety of service styles?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48108552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other costs that need to be taken into account?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7703043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get the right mix?</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41834699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mixes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benefits does each type of staff member identified in this slide bring to a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54332958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different types of stock.</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90066773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different types of furniture.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Tables and Chairs – for registration areas, speakers and guests</a:t>
            </a:r>
          </a:p>
          <a:p>
            <a:pPr lvl="0">
              <a:buFont typeface="Arial" pitchFamily="34" charset="0"/>
              <a:buChar char="•"/>
            </a:pPr>
            <a:r>
              <a:rPr lang="en-AU" sz="1200" dirty="0" smtClean="0"/>
              <a:t>Surrounding furniture – including catering tables, chairs, coat racks, luggage storage</a:t>
            </a:r>
          </a:p>
          <a:p>
            <a:pPr lvl="0">
              <a:buFont typeface="Arial" pitchFamily="34" charset="0"/>
              <a:buChar char="•"/>
            </a:pPr>
            <a:r>
              <a:rPr lang="en-AU" sz="1200" dirty="0" smtClean="0"/>
              <a:t>Stage – including lectern</a:t>
            </a:r>
          </a:p>
          <a:p>
            <a:pPr lvl="0">
              <a:buFont typeface="Arial" pitchFamily="34" charset="0"/>
              <a:buChar char="•"/>
            </a:pPr>
            <a:r>
              <a:rPr lang="en-AU" sz="1200" dirty="0" smtClean="0"/>
              <a:t>Signage – to be displayed in the room itself, in front of the meeting room and the entrance of the building, including suitable directions</a:t>
            </a:r>
          </a:p>
          <a:p>
            <a:pPr lvl="0">
              <a:buFont typeface="Arial" pitchFamily="34" charset="0"/>
              <a:buChar char="•"/>
            </a:pPr>
            <a:r>
              <a:rPr lang="en-AU" sz="1200" dirty="0" smtClean="0"/>
              <a:t>Aesthetics – flowers, plants, music lighting and temperature.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7335497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different types of equipment and </a:t>
            </a:r>
            <a:r>
              <a:rPr lang="en-AU" sz="1200" dirty="0" smtClean="0">
                <a:latin typeface="Helvetica" pitchFamily="34" charset="0"/>
              </a:rPr>
              <a:t>stationery commonly used for events or functions.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53318269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affect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4409400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affect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82753734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278134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4013833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 and list items.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2695992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Discussing points to consider when preparing a proposal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steps associated with each factor.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89424421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Discussing points to consider when preparing a proposal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steps associated with each factor.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8854143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is sent in a proposal?</a:t>
            </a:r>
          </a:p>
          <a:p>
            <a:pPr>
              <a:buFont typeface="Arial" pitchFamily="34" charset="0"/>
              <a:buChar char="•"/>
            </a:pPr>
            <a:r>
              <a:rPr lang="en-AU" sz="1200" kern="1200" baseline="0" dirty="0" smtClean="0">
                <a:solidFill>
                  <a:schemeClr val="tx1"/>
                </a:solidFill>
                <a:ea typeface="+mn-ea"/>
                <a:cs typeface="+mn-cs"/>
              </a:rPr>
              <a:t>How can you get agreement from the client?</a:t>
            </a:r>
          </a:p>
          <a:p>
            <a:pPr>
              <a:buFont typeface="Arial" pitchFamily="34" charset="0"/>
              <a:buChar char="•"/>
            </a:pPr>
            <a:r>
              <a:rPr lang="en-AU" sz="1200" kern="1200" baseline="0" dirty="0" smtClean="0">
                <a:solidFill>
                  <a:schemeClr val="tx1"/>
                </a:solidFill>
                <a:ea typeface="+mn-ea"/>
                <a:cs typeface="+mn-cs"/>
              </a:rPr>
              <a:t>What information needs to be placed into a contract?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78449304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93475347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80274294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45086432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follow 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60667328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included in each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49312667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included in an event management plan?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61894169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410020096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88725016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88667896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192030845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points in the slide. 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Type of function – wedding, launch of product, ball </a:t>
            </a:r>
          </a:p>
          <a:p>
            <a:pPr lvl="0">
              <a:buFont typeface="Arial" pitchFamily="34" charset="0"/>
              <a:buChar char="•"/>
            </a:pPr>
            <a:r>
              <a:rPr lang="en-AU" sz="1200" dirty="0" smtClean="0"/>
              <a:t>Name, address, and contact number of client </a:t>
            </a:r>
          </a:p>
          <a:p>
            <a:pPr lvl="0">
              <a:buFont typeface="Arial" pitchFamily="34" charset="0"/>
              <a:buChar char="•"/>
            </a:pPr>
            <a:r>
              <a:rPr lang="en-AU" sz="1200" dirty="0" smtClean="0"/>
              <a:t>Day, date and time of the function </a:t>
            </a:r>
          </a:p>
          <a:p>
            <a:pPr lvl="0">
              <a:buFont typeface="Arial" pitchFamily="34" charset="0"/>
              <a:buChar char="•"/>
            </a:pPr>
            <a:r>
              <a:rPr lang="en-AU" sz="1200" dirty="0" smtClean="0"/>
              <a:t>Rooms and locations where the function will be held </a:t>
            </a:r>
          </a:p>
          <a:p>
            <a:pPr lvl="0">
              <a:buFont typeface="Arial" pitchFamily="34" charset="0"/>
              <a:buChar char="•"/>
            </a:pPr>
            <a:r>
              <a:rPr lang="en-AU" sz="1200" dirty="0" smtClean="0"/>
              <a:t>Billing instructions – who gets the bill, their address </a:t>
            </a:r>
          </a:p>
          <a:p>
            <a:pPr lvl="0">
              <a:buFont typeface="Arial" pitchFamily="34" charset="0"/>
              <a:buChar char="•"/>
            </a:pPr>
            <a:r>
              <a:rPr lang="en-AU" sz="1200" dirty="0" smtClean="0"/>
              <a:t>Menu – break-down course-by-course of the agreed dishes including specification of ‘on arrival’ food, morning and afternoon teas.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346370903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points in the slide. 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Beverage arrangements – description and quantities of beverages to be provided </a:t>
            </a:r>
          </a:p>
          <a:p>
            <a:pPr lvl="0">
              <a:buFont typeface="Arial" pitchFamily="34" charset="0"/>
              <a:buChar char="•"/>
            </a:pPr>
            <a:r>
              <a:rPr lang="en-AU" sz="1200" kern="1200" dirty="0" smtClean="0">
                <a:solidFill>
                  <a:schemeClr val="tx1"/>
                </a:solidFill>
                <a:ea typeface="+mn-ea"/>
                <a:cs typeface="+mn-cs"/>
              </a:rPr>
              <a:t>Sequence of service – covering timing of service, and details of when speeches and presentations will occur </a:t>
            </a:r>
          </a:p>
          <a:p>
            <a:pPr lvl="0">
              <a:buFont typeface="Arial" pitchFamily="34" charset="0"/>
              <a:buChar char="•"/>
            </a:pPr>
            <a:r>
              <a:rPr lang="en-AU" sz="1200" kern="1200" dirty="0" smtClean="0">
                <a:solidFill>
                  <a:schemeClr val="tx1"/>
                </a:solidFill>
                <a:ea typeface="+mn-ea"/>
                <a:cs typeface="+mn-cs"/>
              </a:rPr>
              <a:t>Entertainment – details of bands and the order of ceremony. </a:t>
            </a:r>
          </a:p>
          <a:p>
            <a:pPr lvl="0">
              <a:buFont typeface="Arial" pitchFamily="34" charset="0"/>
              <a:buChar char="•"/>
            </a:pPr>
            <a:r>
              <a:rPr lang="en-AU" sz="1200" kern="1200" dirty="0" smtClean="0">
                <a:solidFill>
                  <a:schemeClr val="tx1"/>
                </a:solidFill>
                <a:ea typeface="+mn-ea"/>
                <a:cs typeface="+mn-cs"/>
              </a:rPr>
              <a:t>Room set up – number of tables, floor plan, decorations, table set-ups including cutlery, crockery and table accoutrements </a:t>
            </a:r>
          </a:p>
          <a:p>
            <a:pPr lvl="0">
              <a:buFont typeface="Arial" pitchFamily="34" charset="0"/>
              <a:buChar char="•"/>
            </a:pPr>
            <a:r>
              <a:rPr lang="en-AU" sz="1200" kern="1200" dirty="0" smtClean="0">
                <a:solidFill>
                  <a:schemeClr val="tx1"/>
                </a:solidFill>
                <a:ea typeface="+mn-ea"/>
                <a:cs typeface="+mn-cs"/>
              </a:rPr>
              <a:t>Type of service – plated, tray, buffet, silver service, finger food </a:t>
            </a:r>
          </a:p>
          <a:p>
            <a:pPr lvl="0">
              <a:buFont typeface="Arial" pitchFamily="34" charset="0"/>
              <a:buChar char="•"/>
            </a:pPr>
            <a:r>
              <a:rPr lang="en-AU" sz="1200" kern="1200" dirty="0" smtClean="0">
                <a:solidFill>
                  <a:schemeClr val="tx1"/>
                </a:solidFill>
                <a:ea typeface="+mn-ea"/>
                <a:cs typeface="+mn-cs"/>
              </a:rPr>
              <a:t>Special requirements – commonly relating to technology requirements such as microphone, DVD facilities, data projector, sound and lighting.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9471673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the Event Contract?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410358905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59875857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37854807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60709488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21379845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35542161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408139428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5855496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44820180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standard practice for requesting a deposit?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deposit is normally required?</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79425412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7946700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is the most preferred method and why?</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409239475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actions associated with each step when handling deposits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281510589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points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395972797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send a confirmation and why?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173818815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2401335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3/13/2015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3/13/2015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3/13/2015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3/13/2015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3/13/2015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106.wmf"/></Relationships>
</file>

<file path=ppt/slides/_rels/slide10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95316"/>
            <a:ext cx="7778152" cy="1285884"/>
          </a:xfrm>
        </p:spPr>
        <p:txBody>
          <a:bodyPr>
            <a:normAutofit fontScale="90000"/>
          </a:bodyPr>
          <a:lstStyle/>
          <a:p>
            <a:r>
              <a:rPr lang="en-AU" sz="4000" dirty="0" smtClean="0">
                <a:ln w="5000" cmpd="sng">
                  <a:noFill/>
                  <a:prstDash val="solid"/>
                </a:ln>
                <a:solidFill>
                  <a:srgbClr val="FF6600"/>
                </a:solidFill>
                <a:latin typeface="Helvetica" pitchFamily="34" charset="0"/>
              </a:rPr>
              <a:t>DESIGN A CONCEPT FOR A </a:t>
            </a:r>
            <a:r>
              <a:rPr lang="en-AU" sz="4000" smtClean="0">
                <a:ln w="5000" cmpd="sng">
                  <a:noFill/>
                  <a:prstDash val="solid"/>
                </a:ln>
                <a:solidFill>
                  <a:srgbClr val="FF6600"/>
                </a:solidFill>
                <a:latin typeface="Helvetica" pitchFamily="34" charset="0"/>
              </a:rPr>
              <a:t>MAjOR</a:t>
            </a:r>
            <a:r>
              <a:rPr lang="en-AU" sz="4000" dirty="0" smtClean="0">
                <a:ln w="5000" cmpd="sng">
                  <a:noFill/>
                  <a:prstDash val="solid"/>
                </a:ln>
                <a:solidFill>
                  <a:srgbClr val="FF6600"/>
                </a:solidFill>
                <a:latin typeface="Helvetica" pitchFamily="34" charset="0"/>
              </a:rPr>
              <a:t> EVENT OR FUNCTION</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4724400" y="1981200"/>
            <a:ext cx="3613004" cy="623886"/>
          </a:xfrm>
        </p:spPr>
        <p:txBody>
          <a:bodyPr>
            <a:noAutofit/>
          </a:bodyPr>
          <a:lstStyle/>
          <a:p>
            <a:r>
              <a:rPr lang="en-AU" sz="2400" b="1" cap="all" dirty="0" smtClean="0">
                <a:ln w="5000" cmpd="sng">
                  <a:noFill/>
                  <a:prstDash val="solid"/>
                </a:ln>
                <a:effectLst>
                  <a:outerShdw blurRad="50800" dist="38100" dir="5400000" algn="t" rotWithShape="0">
                    <a:prstClr val="black">
                      <a:alpha val="50000"/>
                    </a:prstClr>
                  </a:outerShdw>
                </a:effectLst>
                <a:latin typeface="Helvetica" pitchFamily="34" charset="0"/>
                <a:ea typeface="+mj-ea"/>
                <a:cs typeface="+mj-cs"/>
              </a:rPr>
              <a:t>D1.HCA.CL3.02</a:t>
            </a:r>
            <a:endParaRPr lang="en-US" sz="2400" b="1" cap="all" dirty="0">
              <a:ln w="5000" cmpd="sng">
                <a:noFill/>
                <a:prstDash val="solid"/>
              </a:ln>
              <a:effectLst>
                <a:outerShdw blurRad="50800" dist="38100" dir="5400000" algn="t" rotWithShape="0">
                  <a:prstClr val="black">
                    <a:alpha val="50000"/>
                  </a:prstClr>
                </a:outerShdw>
              </a:effectLst>
              <a:latin typeface="Helvetica" pitchFamily="34" charset="0"/>
              <a:ea typeface="+mj-ea"/>
              <a:cs typeface="+mj-cs"/>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7" name="Picture 3" descr="C:\Documents and Settings\danielc\Desktop\911225_wedding_cake_3.jpg"/>
          <p:cNvPicPr>
            <a:picLocks noChangeAspect="1" noChangeArrowheads="1"/>
          </p:cNvPicPr>
          <p:nvPr/>
        </p:nvPicPr>
        <p:blipFill>
          <a:blip r:embed="rId3" cstate="print"/>
          <a:srcRect/>
          <a:stretch>
            <a:fillRect/>
          </a:stretch>
        </p:blipFill>
        <p:spPr bwMode="auto">
          <a:xfrm>
            <a:off x="3352800" y="2438400"/>
            <a:ext cx="2325116" cy="3505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911157_tableware_3.jpg"/>
          <p:cNvPicPr>
            <a:picLocks noChangeAspect="1" noChangeArrowheads="1"/>
          </p:cNvPicPr>
          <p:nvPr/>
        </p:nvPicPr>
        <p:blipFill>
          <a:blip r:embed="rId4" cstate="print"/>
          <a:srcRect/>
          <a:stretch>
            <a:fillRect/>
          </a:stretch>
        </p:blipFill>
        <p:spPr bwMode="auto">
          <a:xfrm>
            <a:off x="1106049" y="4343400"/>
            <a:ext cx="2399151" cy="15914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descr="C:\Documents and Settings\danielc\Desktop\1088712_fireworks_2.jpg"/>
          <p:cNvPicPr>
            <a:picLocks noChangeAspect="1" noChangeArrowheads="1"/>
          </p:cNvPicPr>
          <p:nvPr/>
        </p:nvPicPr>
        <p:blipFill>
          <a:blip r:embed="rId5" cstate="print"/>
          <a:srcRect/>
          <a:stretch>
            <a:fillRect/>
          </a:stretch>
        </p:blipFill>
        <p:spPr bwMode="auto">
          <a:xfrm>
            <a:off x="5638800" y="4572000"/>
            <a:ext cx="2330726" cy="1600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C:\Documents and Settings\danielc\Desktop\343868_vip.jpg"/>
          <p:cNvPicPr>
            <a:picLocks noChangeAspect="1" noChangeArrowheads="1"/>
          </p:cNvPicPr>
          <p:nvPr/>
        </p:nvPicPr>
        <p:blipFill>
          <a:blip r:embed="rId6" cstate="print"/>
          <a:srcRect/>
          <a:stretch>
            <a:fillRect/>
          </a:stretch>
        </p:blipFill>
        <p:spPr bwMode="auto">
          <a:xfrm>
            <a:off x="5638800" y="2819400"/>
            <a:ext cx="2286000" cy="16299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2" descr="C:\Documents and Settings\danielc\Desktop\1076485_chair_abstract_1.jpg"/>
          <p:cNvPicPr>
            <a:picLocks noChangeAspect="1" noChangeArrowheads="1"/>
          </p:cNvPicPr>
          <p:nvPr/>
        </p:nvPicPr>
        <p:blipFill>
          <a:blip r:embed="rId7" cstate="print"/>
          <a:srcRect/>
          <a:stretch>
            <a:fillRect/>
          </a:stretch>
        </p:blipFill>
        <p:spPr bwMode="auto">
          <a:xfrm>
            <a:off x="1105474" y="2675382"/>
            <a:ext cx="2399726" cy="15918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Identify key objectives of event</a:t>
            </a:r>
          </a:p>
          <a:p>
            <a:pPr>
              <a:spcBef>
                <a:spcPts val="600"/>
              </a:spcBef>
              <a:spcAft>
                <a:spcPts val="1200"/>
              </a:spcAft>
            </a:pPr>
            <a:r>
              <a:rPr lang="en-AU" sz="2200" dirty="0" smtClean="0">
                <a:latin typeface="Helvetica" pitchFamily="34" charset="0"/>
              </a:rPr>
              <a:t>Establish concept, theme and format of event</a:t>
            </a:r>
          </a:p>
          <a:p>
            <a:pPr>
              <a:spcBef>
                <a:spcPts val="600"/>
              </a:spcBef>
              <a:spcAft>
                <a:spcPts val="1200"/>
              </a:spcAft>
            </a:pPr>
            <a:r>
              <a:rPr lang="en-AU" sz="2200" dirty="0" smtClean="0">
                <a:latin typeface="Helvetica" pitchFamily="34" charset="0"/>
              </a:rPr>
              <a:t>Prepare a concept plan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552972" y="914400"/>
            <a:ext cx="1600200" cy="16002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477000" y="1752600"/>
            <a:ext cx="1462908" cy="21997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rPr>
              <a:t>Identify key objectives of event</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4327744633_b11563c895.jpg"/>
          <p:cNvPicPr>
            <a:picLocks noChangeAspect="1"/>
          </p:cNvPicPr>
          <p:nvPr/>
        </p:nvPicPr>
        <p:blipFill>
          <a:blip r:embed="rId3" cstate="print"/>
          <a:stretch>
            <a:fillRect/>
          </a:stretch>
        </p:blipFill>
        <p:spPr>
          <a:xfrm>
            <a:off x="2743200" y="3505200"/>
            <a:ext cx="3672289" cy="243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key objectives of event</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Clarify key objectives of event in consultation </a:t>
            </a:r>
            <a:br>
              <a:rPr lang="en-AU" sz="2200" dirty="0" smtClean="0">
                <a:latin typeface="Helvetica" pitchFamily="34" charset="0"/>
              </a:rPr>
            </a:br>
            <a:r>
              <a:rPr lang="en-AU" sz="2200" dirty="0" smtClean="0">
                <a:latin typeface="Helvetica" pitchFamily="34" charset="0"/>
              </a:rPr>
              <a:t>with customers and/or key stakeholders</a:t>
            </a:r>
          </a:p>
          <a:p>
            <a:pPr>
              <a:spcBef>
                <a:spcPts val="600"/>
              </a:spcBef>
              <a:spcAft>
                <a:spcPts val="1200"/>
              </a:spcAft>
            </a:pPr>
            <a:r>
              <a:rPr lang="en-AU" sz="2200" dirty="0" smtClean="0">
                <a:latin typeface="Helvetica" pitchFamily="34" charset="0"/>
              </a:rPr>
              <a:t>Identify and analyse key information in consultation with customers and/or key stakeholders and other relevant parties</a:t>
            </a:r>
          </a:p>
          <a:p>
            <a:pPr>
              <a:spcBef>
                <a:spcPts val="600"/>
              </a:spcBef>
              <a:spcAft>
                <a:spcPts val="1200"/>
              </a:spcAft>
            </a:pPr>
            <a:r>
              <a:rPr lang="en-AU" sz="2200" dirty="0" smtClean="0">
                <a:latin typeface="Helvetica" pitchFamily="34" charset="0"/>
              </a:rPr>
              <a:t>Identify and analyse factors which might impact on the event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2051" name="Picture 3" descr="C:\Documents and Settings\danielc\Local Settings\Temporary Internet Files\Content.IE5\3Y3SDCJX\MC900432658[1].png"/>
          <p:cNvPicPr>
            <a:picLocks noChangeAspect="1" noChangeArrowheads="1"/>
          </p:cNvPicPr>
          <p:nvPr/>
        </p:nvPicPr>
        <p:blipFill>
          <a:blip r:embed="rId3" cstate="print"/>
          <a:srcRect/>
          <a:stretch>
            <a:fillRect/>
          </a:stretch>
        </p:blipFill>
        <p:spPr bwMode="auto">
          <a:xfrm>
            <a:off x="7391400" y="1600200"/>
            <a:ext cx="1162050" cy="116205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pPr>
            <a:r>
              <a:rPr lang="en-AU" sz="2200" dirty="0" smtClean="0">
                <a:latin typeface="Helvetica" pitchFamily="34" charset="0"/>
              </a:rPr>
              <a:t>What is an event?</a:t>
            </a:r>
          </a:p>
          <a:p>
            <a:pPr marL="0">
              <a:spcBef>
                <a:spcPts val="600"/>
              </a:spcBef>
              <a:spcAft>
                <a:spcPts val="1200"/>
              </a:spcAft>
            </a:pPr>
            <a:r>
              <a:rPr lang="en-AU" sz="2200" dirty="0" smtClean="0">
                <a:latin typeface="Helvetica" pitchFamily="34" charset="0"/>
              </a:rPr>
              <a:t>What events have you been to in the past?</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MP900402372.JPG"/>
          <p:cNvPicPr>
            <a:picLocks noChangeAspect="1"/>
          </p:cNvPicPr>
          <p:nvPr/>
        </p:nvPicPr>
        <p:blipFill>
          <a:blip r:embed="rId3" cstate="print"/>
          <a:stretch>
            <a:fillRect/>
          </a:stretch>
        </p:blipFill>
        <p:spPr>
          <a:xfrm>
            <a:off x="3124200" y="3200400"/>
            <a:ext cx="2757993" cy="183794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AU" sz="2200" dirty="0" smtClean="0">
                <a:latin typeface="Helvetica" pitchFamily="34" charset="0"/>
              </a:rPr>
              <a:t>Homes for private functions</a:t>
            </a:r>
          </a:p>
          <a:p>
            <a:pPr lvl="0">
              <a:spcBef>
                <a:spcPts val="600"/>
              </a:spcBef>
              <a:spcAft>
                <a:spcPts val="1200"/>
              </a:spcAft>
            </a:pPr>
            <a:r>
              <a:rPr lang="en-AU" sz="2200" dirty="0" smtClean="0">
                <a:latin typeface="Helvetica" pitchFamily="34" charset="0"/>
              </a:rPr>
              <a:t>Meetings, banquets, conventions, and weddings</a:t>
            </a:r>
          </a:p>
          <a:p>
            <a:pPr lvl="0">
              <a:spcBef>
                <a:spcPts val="600"/>
              </a:spcBef>
              <a:spcAft>
                <a:spcPts val="1200"/>
              </a:spcAft>
            </a:pPr>
            <a:r>
              <a:rPr lang="en-AU" sz="2200" dirty="0" smtClean="0">
                <a:latin typeface="Helvetica" pitchFamily="34" charset="0"/>
              </a:rPr>
              <a:t>Nature areas including open water, zoos, </a:t>
            </a:r>
            <a:br>
              <a:rPr lang="en-AU" sz="2200" dirty="0" smtClean="0">
                <a:latin typeface="Helvetica" pitchFamily="34" charset="0"/>
              </a:rPr>
            </a:br>
            <a:r>
              <a:rPr lang="en-AU" sz="2200" dirty="0" smtClean="0">
                <a:latin typeface="Helvetica" pitchFamily="34" charset="0"/>
              </a:rPr>
              <a:t>parks, wineries</a:t>
            </a:r>
          </a:p>
          <a:p>
            <a:pPr lvl="0">
              <a:spcBef>
                <a:spcPts val="600"/>
              </a:spcBef>
              <a:spcAft>
                <a:spcPts val="1200"/>
              </a:spcAft>
            </a:pPr>
            <a:r>
              <a:rPr lang="en-AU" sz="2200" dirty="0" smtClean="0">
                <a:latin typeface="Helvetica" pitchFamily="34" charset="0"/>
              </a:rPr>
              <a:t>Transportation vehicles – including planes, </a:t>
            </a:r>
            <a:br>
              <a:rPr lang="en-AU" sz="2200" dirty="0" smtClean="0">
                <a:latin typeface="Helvetica" pitchFamily="34" charset="0"/>
              </a:rPr>
            </a:br>
            <a:r>
              <a:rPr lang="en-AU" sz="2200" dirty="0" smtClean="0">
                <a:latin typeface="Helvetica" pitchFamily="34" charset="0"/>
              </a:rPr>
              <a:t>yachts, cars, buses </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111.jpg"/>
          <p:cNvPicPr>
            <a:picLocks noChangeAspect="1"/>
          </p:cNvPicPr>
          <p:nvPr/>
        </p:nvPicPr>
        <p:blipFill>
          <a:blip r:embed="rId3" cstate="print"/>
          <a:stretch>
            <a:fillRect/>
          </a:stretch>
        </p:blipFill>
        <p:spPr>
          <a:xfrm>
            <a:off x="7162800" y="3276600"/>
            <a:ext cx="1835925" cy="140664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AU" sz="2200" dirty="0" smtClean="0">
                <a:latin typeface="Helvetica" pitchFamily="34" charset="0"/>
              </a:rPr>
              <a:t>Festivals</a:t>
            </a:r>
          </a:p>
          <a:p>
            <a:pPr lvl="0">
              <a:spcBef>
                <a:spcPts val="600"/>
              </a:spcBef>
              <a:spcAft>
                <a:spcPts val="1200"/>
              </a:spcAft>
            </a:pPr>
            <a:r>
              <a:rPr lang="en-AU" sz="2200" dirty="0" smtClean="0">
                <a:latin typeface="Helvetica" pitchFamily="34" charset="0"/>
              </a:rPr>
              <a:t>Sporting events</a:t>
            </a:r>
          </a:p>
          <a:p>
            <a:pPr lvl="0">
              <a:spcBef>
                <a:spcPts val="600"/>
              </a:spcBef>
              <a:spcAft>
                <a:spcPts val="1200"/>
              </a:spcAft>
            </a:pPr>
            <a:r>
              <a:rPr lang="en-AU" sz="2200" dirty="0" smtClean="0">
                <a:latin typeface="Helvetica" pitchFamily="34" charset="0"/>
              </a:rPr>
              <a:t>Birthday parties</a:t>
            </a:r>
          </a:p>
          <a:p>
            <a:pPr lvl="0">
              <a:spcBef>
                <a:spcPts val="600"/>
              </a:spcBef>
              <a:spcAft>
                <a:spcPts val="1200"/>
              </a:spcAft>
            </a:pPr>
            <a:r>
              <a:rPr lang="en-AU" sz="2200" dirty="0" smtClean="0">
                <a:latin typeface="Helvetica" pitchFamily="34" charset="0"/>
              </a:rPr>
              <a:t>Anniversaries </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MP900431190[1].JPG"/>
          <p:cNvPicPr>
            <a:picLocks noChangeAspect="1"/>
          </p:cNvPicPr>
          <p:nvPr/>
        </p:nvPicPr>
        <p:blipFill>
          <a:blip r:embed="rId3" cstate="print"/>
          <a:stretch>
            <a:fillRect/>
          </a:stretch>
        </p:blipFill>
        <p:spPr>
          <a:xfrm>
            <a:off x="6400800" y="2514600"/>
            <a:ext cx="1676400" cy="16764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Benefits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For the customer: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saves time and stress</a:t>
            </a:r>
          </a:p>
          <a:p>
            <a:pPr lvl="0">
              <a:spcBef>
                <a:spcPts val="600"/>
              </a:spcBef>
              <a:spcAft>
                <a:spcPts val="1200"/>
              </a:spcAft>
            </a:pPr>
            <a:r>
              <a:rPr lang="en-AU" sz="2200" dirty="0" smtClean="0">
                <a:latin typeface="Helvetica" pitchFamily="34" charset="0"/>
              </a:rPr>
              <a:t>It allows for professional staff to have the </a:t>
            </a:r>
            <a:br>
              <a:rPr lang="en-AU" sz="2200" dirty="0" smtClean="0">
                <a:latin typeface="Helvetica" pitchFamily="34" charset="0"/>
              </a:rPr>
            </a:br>
            <a:r>
              <a:rPr lang="en-AU" sz="2200" dirty="0" smtClean="0">
                <a:latin typeface="Helvetica" pitchFamily="34" charset="0"/>
              </a:rPr>
              <a:t>responsibility for running a event</a:t>
            </a:r>
          </a:p>
          <a:p>
            <a:pPr lvl="0">
              <a:spcBef>
                <a:spcPts val="600"/>
              </a:spcBef>
              <a:spcAft>
                <a:spcPts val="1200"/>
              </a:spcAft>
            </a:pPr>
            <a:r>
              <a:rPr lang="en-AU" sz="2200" dirty="0" smtClean="0">
                <a:latin typeface="Helvetica" pitchFamily="34" charset="0"/>
              </a:rPr>
              <a:t>It provides access to a specialist venue, </a:t>
            </a:r>
            <a:br>
              <a:rPr lang="en-AU" sz="2200" dirty="0" smtClean="0">
                <a:latin typeface="Helvetica" pitchFamily="34" charset="0"/>
              </a:rPr>
            </a:br>
            <a:r>
              <a:rPr lang="en-AU" sz="2200" dirty="0" smtClean="0">
                <a:latin typeface="Helvetica" pitchFamily="34" charset="0"/>
              </a:rPr>
              <a:t>room size and equipment</a:t>
            </a:r>
          </a:p>
          <a:p>
            <a:pPr lvl="0">
              <a:spcBef>
                <a:spcPts val="600"/>
              </a:spcBef>
              <a:spcAft>
                <a:spcPts val="1200"/>
              </a:spcAft>
            </a:pPr>
            <a:r>
              <a:rPr lang="en-AU" sz="2200" dirty="0" smtClean="0">
                <a:latin typeface="Helvetica" pitchFamily="34" charset="0"/>
              </a:rPr>
              <a:t>The outcome is a product or service                           which cannot be produced elsewhere</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14338" name="Picture 2" descr="I:\Overseas Projects\PHOTOS\2011\wai_a_jess_doing_006_rgb.jpg"/>
          <p:cNvPicPr>
            <a:picLocks noChangeAspect="1" noChangeArrowheads="1"/>
          </p:cNvPicPr>
          <p:nvPr/>
        </p:nvPicPr>
        <p:blipFill>
          <a:blip r:embed="rId3" cstate="print"/>
          <a:srcRect/>
          <a:stretch>
            <a:fillRect/>
          </a:stretch>
        </p:blipFill>
        <p:spPr bwMode="auto">
          <a:xfrm>
            <a:off x="6629400" y="2819400"/>
            <a:ext cx="2286000" cy="1528763"/>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Benefits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For a hospitality organisation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is a major revenue source</a:t>
            </a:r>
          </a:p>
          <a:p>
            <a:pPr lvl="0">
              <a:spcBef>
                <a:spcPts val="600"/>
              </a:spcBef>
              <a:spcAft>
                <a:spcPts val="1200"/>
              </a:spcAft>
            </a:pPr>
            <a:r>
              <a:rPr lang="en-AU" sz="2200" dirty="0" smtClean="0">
                <a:latin typeface="Helvetica" pitchFamily="34" charset="0"/>
              </a:rPr>
              <a:t>It can appeal to a variety of market segments</a:t>
            </a:r>
          </a:p>
          <a:p>
            <a:pPr lvl="0">
              <a:spcBef>
                <a:spcPts val="600"/>
              </a:spcBef>
              <a:spcAft>
                <a:spcPts val="1200"/>
              </a:spcAft>
            </a:pPr>
            <a:r>
              <a:rPr lang="en-AU" sz="2200" dirty="0" smtClean="0">
                <a:latin typeface="Helvetica" pitchFamily="34" charset="0"/>
              </a:rPr>
              <a:t>It allows the organisation to promote itself by showcasing unique functions and events</a:t>
            </a:r>
          </a:p>
          <a:p>
            <a:pPr lvl="0">
              <a:spcBef>
                <a:spcPts val="600"/>
              </a:spcBef>
              <a:spcAft>
                <a:spcPts val="1200"/>
              </a:spcAft>
            </a:pPr>
            <a:r>
              <a:rPr lang="en-AU" sz="2200" dirty="0" smtClean="0">
                <a:latin typeface="Helvetica" pitchFamily="34" charset="0"/>
              </a:rPr>
              <a:t>It promotes creativity, skills and knowledge                                     in staff</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MP900407245.JPG"/>
          <p:cNvPicPr/>
          <p:nvPr/>
        </p:nvPicPr>
        <p:blipFill>
          <a:blip r:embed="rId3" cstate="print"/>
          <a:stretch>
            <a:fillRect/>
          </a:stretch>
        </p:blipFill>
        <p:spPr>
          <a:xfrm>
            <a:off x="7239000" y="2819400"/>
            <a:ext cx="1495425" cy="175154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Breakfasts </a:t>
            </a:r>
          </a:p>
          <a:p>
            <a:pPr lvl="0">
              <a:spcBef>
                <a:spcPts val="600"/>
              </a:spcBef>
              <a:spcAft>
                <a:spcPts val="1200"/>
              </a:spcAft>
            </a:pPr>
            <a:r>
              <a:rPr lang="en-AU" sz="2200" dirty="0" smtClean="0">
                <a:latin typeface="Helvetica" pitchFamily="34" charset="0"/>
              </a:rPr>
              <a:t>Lunches </a:t>
            </a:r>
          </a:p>
          <a:p>
            <a:pPr lvl="0">
              <a:spcBef>
                <a:spcPts val="600"/>
              </a:spcBef>
              <a:spcAft>
                <a:spcPts val="1200"/>
              </a:spcAft>
            </a:pPr>
            <a:r>
              <a:rPr lang="en-AU" sz="2200" dirty="0" smtClean="0">
                <a:latin typeface="Helvetica" pitchFamily="34" charset="0"/>
              </a:rPr>
              <a:t>Dinners</a:t>
            </a:r>
          </a:p>
          <a:p>
            <a:pPr lvl="0">
              <a:spcBef>
                <a:spcPts val="600"/>
              </a:spcBef>
              <a:spcAft>
                <a:spcPts val="1200"/>
              </a:spcAft>
            </a:pPr>
            <a:r>
              <a:rPr lang="en-AU" sz="2200" dirty="0" smtClean="0">
                <a:latin typeface="Helvetica" pitchFamily="34" charset="0"/>
              </a:rPr>
              <a:t>Seminars, workshops and conferences </a:t>
            </a:r>
          </a:p>
          <a:p>
            <a:pPr lvl="0">
              <a:spcBef>
                <a:spcPts val="600"/>
              </a:spcBef>
              <a:spcAft>
                <a:spcPts val="1200"/>
              </a:spcAft>
            </a:pPr>
            <a:r>
              <a:rPr lang="en-AU" sz="2200" dirty="0" smtClean="0">
                <a:latin typeface="Helvetica" pitchFamily="34" charset="0"/>
              </a:rPr>
              <a:t>Cocktail parties </a:t>
            </a:r>
          </a:p>
          <a:p>
            <a:pPr lvl="0">
              <a:spcBef>
                <a:spcPts val="600"/>
              </a:spcBef>
              <a:spcAft>
                <a:spcPts val="1200"/>
              </a:spcAft>
            </a:pPr>
            <a:r>
              <a:rPr lang="en-AU" sz="2200" dirty="0" smtClean="0">
                <a:latin typeface="Helvetica" pitchFamily="34" charset="0"/>
              </a:rPr>
              <a:t>General parties, birthdays and celebrations</a:t>
            </a:r>
          </a:p>
          <a:p>
            <a:pPr>
              <a:spcBef>
                <a:spcPts val="600"/>
              </a:spcBef>
              <a:spcAft>
                <a:spcPts val="1200"/>
              </a:spcAft>
            </a:pPr>
            <a:r>
              <a:rPr lang="en-AU" sz="2200" dirty="0" smtClean="0">
                <a:latin typeface="Helvetica" pitchFamily="34" charset="0"/>
              </a:rPr>
              <a:t>Weddings/receptions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8" name="Picture 7" descr="MP900439310[1].JPG"/>
          <p:cNvPicPr>
            <a:picLocks noChangeAspect="1"/>
          </p:cNvPicPr>
          <p:nvPr/>
        </p:nvPicPr>
        <p:blipFill>
          <a:blip r:embed="rId3" cstate="print"/>
          <a:stretch>
            <a:fillRect/>
          </a:stretch>
        </p:blipFill>
        <p:spPr>
          <a:xfrm>
            <a:off x="6781800" y="3124200"/>
            <a:ext cx="1611547" cy="167386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Anniversaries</a:t>
            </a:r>
          </a:p>
          <a:p>
            <a:pPr lvl="0">
              <a:spcBef>
                <a:spcPts val="600"/>
              </a:spcBef>
              <a:spcAft>
                <a:spcPts val="1200"/>
              </a:spcAft>
            </a:pPr>
            <a:r>
              <a:rPr lang="en-AU" sz="2200" dirty="0" smtClean="0">
                <a:latin typeface="Helvetica" pitchFamily="34" charset="0"/>
              </a:rPr>
              <a:t>21st birthday parties</a:t>
            </a:r>
          </a:p>
          <a:p>
            <a:pPr lvl="0">
              <a:spcBef>
                <a:spcPts val="600"/>
              </a:spcBef>
              <a:spcAft>
                <a:spcPts val="1200"/>
              </a:spcAft>
            </a:pPr>
            <a:r>
              <a:rPr lang="en-AU" sz="2200" dirty="0" smtClean="0">
                <a:latin typeface="Helvetica" pitchFamily="34" charset="0"/>
              </a:rPr>
              <a:t>Product launches and distributor functions</a:t>
            </a:r>
          </a:p>
          <a:p>
            <a:pPr lvl="0">
              <a:spcBef>
                <a:spcPts val="600"/>
              </a:spcBef>
              <a:spcAft>
                <a:spcPts val="1200"/>
              </a:spcAft>
            </a:pPr>
            <a:r>
              <a:rPr lang="en-AU" sz="2200" dirty="0" smtClean="0">
                <a:latin typeface="Helvetica" pitchFamily="34" charset="0"/>
              </a:rPr>
              <a:t>School formal, annual dinners and dinner dances</a:t>
            </a:r>
          </a:p>
          <a:p>
            <a:pPr lvl="0">
              <a:spcBef>
                <a:spcPts val="600"/>
              </a:spcBef>
              <a:spcAft>
                <a:spcPts val="1200"/>
              </a:spcAft>
            </a:pPr>
            <a:r>
              <a:rPr lang="en-AU" sz="2200" dirty="0" smtClean="0">
                <a:latin typeface="Helvetica" pitchFamily="34" charset="0"/>
              </a:rPr>
              <a:t>Annual general meetings</a:t>
            </a:r>
          </a:p>
          <a:p>
            <a:pPr lvl="0">
              <a:spcBef>
                <a:spcPts val="600"/>
              </a:spcBef>
              <a:spcAft>
                <a:spcPts val="1200"/>
              </a:spcAft>
            </a:pPr>
            <a:r>
              <a:rPr lang="en-AU" sz="2200" dirty="0" smtClean="0">
                <a:latin typeface="Helvetica" pitchFamily="34" charset="0"/>
              </a:rPr>
              <a:t>Training seminars</a:t>
            </a:r>
          </a:p>
          <a:p>
            <a:pPr>
              <a:spcBef>
                <a:spcPts val="600"/>
              </a:spcBef>
              <a:spcAft>
                <a:spcPts val="1200"/>
              </a:spcAft>
            </a:pPr>
            <a:r>
              <a:rPr lang="en-AU" sz="2200" dirty="0" smtClean="0">
                <a:latin typeface="Helvetica" pitchFamily="34" charset="0"/>
              </a:rPr>
              <a:t>Graduations and award nights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MP900422638.JPG"/>
          <p:cNvPicPr>
            <a:picLocks noChangeAspect="1"/>
          </p:cNvPicPr>
          <p:nvPr/>
        </p:nvPicPr>
        <p:blipFill>
          <a:blip r:embed="rId3" cstate="print"/>
          <a:stretch>
            <a:fillRect/>
          </a:stretch>
        </p:blipFill>
        <p:spPr>
          <a:xfrm>
            <a:off x="6248400" y="4191000"/>
            <a:ext cx="2424626" cy="163472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Press receptions</a:t>
            </a:r>
          </a:p>
          <a:p>
            <a:pPr lvl="0">
              <a:spcBef>
                <a:spcPts val="600"/>
              </a:spcBef>
              <a:spcAft>
                <a:spcPts val="1200"/>
              </a:spcAft>
            </a:pPr>
            <a:r>
              <a:rPr lang="en-AU" sz="2200" dirty="0" smtClean="0">
                <a:latin typeface="Helvetica" pitchFamily="34" charset="0"/>
              </a:rPr>
              <a:t>Fashion shows</a:t>
            </a:r>
          </a:p>
          <a:p>
            <a:pPr lvl="0">
              <a:spcBef>
                <a:spcPts val="600"/>
              </a:spcBef>
              <a:spcAft>
                <a:spcPts val="1200"/>
              </a:spcAft>
            </a:pPr>
            <a:r>
              <a:rPr lang="en-AU" sz="2200" dirty="0" smtClean="0">
                <a:latin typeface="Helvetica" pitchFamily="34" charset="0"/>
              </a:rPr>
              <a:t>Special events</a:t>
            </a:r>
          </a:p>
          <a:p>
            <a:pPr lvl="0">
              <a:spcBef>
                <a:spcPts val="600"/>
              </a:spcBef>
              <a:spcAft>
                <a:spcPts val="1200"/>
              </a:spcAft>
            </a:pPr>
            <a:r>
              <a:rPr lang="en-AU" sz="2200" dirty="0" smtClean="0">
                <a:latin typeface="Helvetica" pitchFamily="34" charset="0"/>
              </a:rPr>
              <a:t>Tradeshows </a:t>
            </a:r>
          </a:p>
          <a:p>
            <a:pPr lvl="0">
              <a:spcBef>
                <a:spcPts val="600"/>
              </a:spcBef>
              <a:spcAft>
                <a:spcPts val="1200"/>
              </a:spcAft>
            </a:pPr>
            <a:r>
              <a:rPr lang="en-AU" sz="2200" dirty="0" smtClean="0">
                <a:latin typeface="Helvetica" pitchFamily="34" charset="0"/>
              </a:rPr>
              <a:t>Stage productions, including music events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7" name="Picture 6" descr="MP900443651.JPG"/>
          <p:cNvPicPr>
            <a:picLocks noChangeAspect="1"/>
          </p:cNvPicPr>
          <p:nvPr/>
        </p:nvPicPr>
        <p:blipFill>
          <a:blip r:embed="rId3" cstate="print"/>
          <a:stretch>
            <a:fillRect/>
          </a:stretch>
        </p:blipFill>
        <p:spPr>
          <a:xfrm>
            <a:off x="6858000" y="1905000"/>
            <a:ext cx="1318289" cy="197510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Many venues focus on the MICE sector of the industry. </a:t>
            </a:r>
          </a:p>
          <a:p>
            <a:pPr>
              <a:spcBef>
                <a:spcPts val="600"/>
              </a:spcBef>
              <a:spcAft>
                <a:spcPts val="1200"/>
              </a:spcAft>
              <a:buNone/>
            </a:pPr>
            <a:r>
              <a:rPr lang="en-AU" sz="2200" dirty="0" smtClean="0">
                <a:latin typeface="Helvetica" pitchFamily="34" charset="0"/>
              </a:rPr>
              <a:t>MICE stands for:</a:t>
            </a:r>
          </a:p>
          <a:p>
            <a:pPr>
              <a:spcBef>
                <a:spcPts val="600"/>
              </a:spcBef>
              <a:spcAft>
                <a:spcPts val="1200"/>
              </a:spcAft>
            </a:pPr>
            <a:r>
              <a:rPr lang="en-AU" sz="2200" b="1" dirty="0" smtClean="0">
                <a:latin typeface="Helvetica" pitchFamily="34" charset="0"/>
              </a:rPr>
              <a:t>M</a:t>
            </a:r>
            <a:r>
              <a:rPr lang="en-AU" sz="2200" dirty="0" smtClean="0">
                <a:latin typeface="Helvetica" pitchFamily="34" charset="0"/>
              </a:rPr>
              <a:t>eetings</a:t>
            </a:r>
          </a:p>
          <a:p>
            <a:pPr>
              <a:spcBef>
                <a:spcPts val="600"/>
              </a:spcBef>
              <a:spcAft>
                <a:spcPts val="1200"/>
              </a:spcAft>
            </a:pPr>
            <a:r>
              <a:rPr lang="en-AU" sz="2200" b="1" dirty="0" smtClean="0">
                <a:latin typeface="Helvetica" pitchFamily="34" charset="0"/>
              </a:rPr>
              <a:t>I</a:t>
            </a:r>
            <a:r>
              <a:rPr lang="en-AU" sz="2200" dirty="0" smtClean="0">
                <a:latin typeface="Helvetica" pitchFamily="34" charset="0"/>
              </a:rPr>
              <a:t>ncentives </a:t>
            </a:r>
          </a:p>
          <a:p>
            <a:pPr>
              <a:spcBef>
                <a:spcPts val="600"/>
              </a:spcBef>
              <a:spcAft>
                <a:spcPts val="1200"/>
              </a:spcAft>
            </a:pPr>
            <a:r>
              <a:rPr lang="en-AU" sz="2200" b="1" dirty="0" smtClean="0">
                <a:latin typeface="Helvetica" pitchFamily="34" charset="0"/>
              </a:rPr>
              <a:t>C</a:t>
            </a:r>
            <a:r>
              <a:rPr lang="en-AU" sz="2200" dirty="0" smtClean="0">
                <a:latin typeface="Helvetica" pitchFamily="34" charset="0"/>
              </a:rPr>
              <a:t>onferences</a:t>
            </a:r>
          </a:p>
          <a:p>
            <a:pPr>
              <a:spcBef>
                <a:spcPts val="600"/>
              </a:spcBef>
              <a:spcAft>
                <a:spcPts val="1200"/>
              </a:spcAft>
            </a:pPr>
            <a:r>
              <a:rPr lang="en-AU" sz="2200" b="1" dirty="0" smtClean="0">
                <a:latin typeface="Helvetica" pitchFamily="34" charset="0"/>
              </a:rPr>
              <a:t>E</a:t>
            </a:r>
            <a:r>
              <a:rPr lang="en-AU" sz="2200" dirty="0" smtClean="0">
                <a:latin typeface="Helvetica" pitchFamily="34" charset="0"/>
              </a:rPr>
              <a:t>vents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MP900423018[1].JPG"/>
          <p:cNvPicPr/>
          <p:nvPr/>
        </p:nvPicPr>
        <p:blipFill>
          <a:blip r:embed="rId3" cstate="print"/>
          <a:stretch>
            <a:fillRect/>
          </a:stretch>
        </p:blipFill>
        <p:spPr>
          <a:xfrm>
            <a:off x="6172200" y="3124200"/>
            <a:ext cx="1595438" cy="182403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Meetings include general business meetings</a:t>
            </a:r>
          </a:p>
          <a:p>
            <a:pPr lvl="0">
              <a:spcBef>
                <a:spcPts val="600"/>
              </a:spcBef>
              <a:spcAft>
                <a:spcPts val="1200"/>
              </a:spcAft>
            </a:pPr>
            <a:r>
              <a:rPr lang="en-AU" sz="2200" dirty="0" smtClean="0">
                <a:latin typeface="Helvetica" pitchFamily="34" charset="0"/>
              </a:rPr>
              <a:t>Incentives refers to functions that businesses </a:t>
            </a:r>
            <a:br>
              <a:rPr lang="en-AU" sz="2200" dirty="0" smtClean="0">
                <a:latin typeface="Helvetica" pitchFamily="34" charset="0"/>
              </a:rPr>
            </a:br>
            <a:r>
              <a:rPr lang="en-AU" sz="2200" dirty="0" smtClean="0">
                <a:latin typeface="Helvetica" pitchFamily="34" charset="0"/>
              </a:rPr>
              <a:t>organise to reward or motivate staff</a:t>
            </a:r>
          </a:p>
          <a:p>
            <a:pPr lvl="0">
              <a:spcBef>
                <a:spcPts val="600"/>
              </a:spcBef>
              <a:spcAft>
                <a:spcPts val="1200"/>
              </a:spcAft>
            </a:pPr>
            <a:r>
              <a:rPr lang="en-AU" sz="2200" dirty="0" smtClean="0">
                <a:latin typeface="Helvetica" pitchFamily="34" charset="0"/>
              </a:rPr>
              <a:t>Conferences are usually business/industry </a:t>
            </a:r>
            <a:br>
              <a:rPr lang="en-AU" sz="2200" dirty="0" smtClean="0">
                <a:latin typeface="Helvetica" pitchFamily="34" charset="0"/>
              </a:rPr>
            </a:br>
            <a:r>
              <a:rPr lang="en-AU" sz="2200" dirty="0" smtClean="0">
                <a:latin typeface="Helvetica" pitchFamily="34" charset="0"/>
              </a:rPr>
              <a:t>based occasions where people get together </a:t>
            </a:r>
            <a:br>
              <a:rPr lang="en-AU" sz="2200" dirty="0" smtClean="0">
                <a:latin typeface="Helvetica" pitchFamily="34" charset="0"/>
              </a:rPr>
            </a:br>
            <a:r>
              <a:rPr lang="en-AU" sz="2200" dirty="0" smtClean="0">
                <a:latin typeface="Helvetica" pitchFamily="34" charset="0"/>
              </a:rPr>
              <a:t>to discuss issues and share knowledge</a:t>
            </a:r>
          </a:p>
          <a:p>
            <a:pPr lvl="0">
              <a:spcBef>
                <a:spcPts val="600"/>
              </a:spcBef>
              <a:spcAft>
                <a:spcPts val="1200"/>
              </a:spcAft>
            </a:pPr>
            <a:r>
              <a:rPr lang="en-AU" sz="2200" dirty="0" smtClean="0">
                <a:latin typeface="Helvetica" pitchFamily="34" charset="0"/>
              </a:rPr>
              <a:t>Events can include bands, concerts, entertainments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MP900441047.JPG"/>
          <p:cNvPicPr/>
          <p:nvPr/>
        </p:nvPicPr>
        <p:blipFill>
          <a:blip r:embed="rId3" cstate="print"/>
          <a:stretch>
            <a:fillRect/>
          </a:stretch>
        </p:blipFill>
        <p:spPr>
          <a:xfrm>
            <a:off x="7010400" y="2895600"/>
            <a:ext cx="1409700" cy="14097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In most hotels there is a dedicated area for events, which can cater to a wide variety of activities comprising each event. </a:t>
            </a:r>
          </a:p>
          <a:p>
            <a:pPr>
              <a:spcBef>
                <a:spcPts val="600"/>
              </a:spcBef>
              <a:spcAft>
                <a:spcPts val="1200"/>
              </a:spcAft>
            </a:pPr>
            <a:r>
              <a:rPr lang="en-AU" sz="2200" dirty="0" smtClean="0">
                <a:latin typeface="Helvetica" pitchFamily="34" charset="0"/>
              </a:rPr>
              <a:t>What areas/facilities can be used for events within a hotel?</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Events 7.bmp"/>
          <p:cNvPicPr>
            <a:picLocks noChangeAspect="1"/>
          </p:cNvPicPr>
          <p:nvPr/>
        </p:nvPicPr>
        <p:blipFill>
          <a:blip r:embed="rId3" cstate="print"/>
          <a:stretch>
            <a:fillRect/>
          </a:stretch>
        </p:blipFill>
        <p:spPr>
          <a:xfrm>
            <a:off x="3352800" y="3810000"/>
            <a:ext cx="2623718" cy="174449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Meeting/conference room </a:t>
            </a:r>
          </a:p>
          <a:p>
            <a:pPr marL="0">
              <a:spcBef>
                <a:spcPts val="600"/>
              </a:spcBef>
              <a:spcAft>
                <a:spcPts val="1200"/>
              </a:spcAft>
            </a:pPr>
            <a:r>
              <a:rPr lang="en-AU" sz="2200" dirty="0" smtClean="0">
                <a:latin typeface="Helvetica" pitchFamily="34" charset="0"/>
              </a:rPr>
              <a:t>Stand up conference areas</a:t>
            </a:r>
          </a:p>
          <a:p>
            <a:pPr marL="0">
              <a:spcBef>
                <a:spcPts val="600"/>
              </a:spcBef>
              <a:spcAft>
                <a:spcPts val="1200"/>
              </a:spcAft>
            </a:pPr>
            <a:r>
              <a:rPr lang="en-AU" sz="2200" dirty="0" smtClean="0">
                <a:latin typeface="Helvetica" pitchFamily="34" charset="0"/>
              </a:rPr>
              <a:t>Banquet room</a:t>
            </a:r>
          </a:p>
          <a:p>
            <a:pPr marL="0">
              <a:spcBef>
                <a:spcPts val="600"/>
              </a:spcBef>
              <a:spcAft>
                <a:spcPts val="1200"/>
              </a:spcAft>
            </a:pPr>
            <a:r>
              <a:rPr lang="en-AU" sz="2200" dirty="0" smtClean="0">
                <a:latin typeface="Helvetica" pitchFamily="34" charset="0"/>
              </a:rPr>
              <a:t>Exhibition bays and space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8" name="Picture 7" descr="restaurant.jpg"/>
          <p:cNvPicPr/>
          <p:nvPr/>
        </p:nvPicPr>
        <p:blipFill>
          <a:blip r:embed="rId3" cstate="print"/>
          <a:stretch>
            <a:fillRect/>
          </a:stretch>
        </p:blipFill>
        <p:spPr>
          <a:xfrm>
            <a:off x="5486400" y="2362200"/>
            <a:ext cx="2457450" cy="167163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buNone/>
            </a:pPr>
            <a:r>
              <a:rPr lang="en-AU" sz="2200" u="sng" dirty="0" smtClean="0">
                <a:latin typeface="Helvetica" pitchFamily="34" charset="0"/>
              </a:rPr>
              <a:t>Business centres </a:t>
            </a:r>
          </a:p>
          <a:p>
            <a:pPr lvl="0">
              <a:spcBef>
                <a:spcPts val="600"/>
              </a:spcBef>
              <a:spcAft>
                <a:spcPts val="1200"/>
              </a:spcAft>
            </a:pPr>
            <a:r>
              <a:rPr lang="en-AU" sz="2200" dirty="0" smtClean="0">
                <a:latin typeface="Helvetica" pitchFamily="34" charset="0"/>
              </a:rPr>
              <a:t>High-speed Internet access </a:t>
            </a:r>
          </a:p>
          <a:p>
            <a:pPr lvl="0">
              <a:spcBef>
                <a:spcPts val="600"/>
              </a:spcBef>
              <a:spcAft>
                <a:spcPts val="1200"/>
              </a:spcAft>
            </a:pPr>
            <a:r>
              <a:rPr lang="en-AU" sz="2200" dirty="0" smtClean="0">
                <a:latin typeface="Helvetica" pitchFamily="34" charset="0"/>
              </a:rPr>
              <a:t>Word processing</a:t>
            </a:r>
          </a:p>
          <a:p>
            <a:pPr lvl="0">
              <a:spcBef>
                <a:spcPts val="600"/>
              </a:spcBef>
              <a:spcAft>
                <a:spcPts val="1200"/>
              </a:spcAft>
            </a:pPr>
            <a:r>
              <a:rPr lang="en-AU" sz="2200" dirty="0" smtClean="0">
                <a:latin typeface="Helvetica" pitchFamily="34" charset="0"/>
              </a:rPr>
              <a:t>Photocopying </a:t>
            </a:r>
          </a:p>
          <a:p>
            <a:pPr lvl="0">
              <a:spcBef>
                <a:spcPts val="600"/>
              </a:spcBef>
              <a:spcAft>
                <a:spcPts val="1200"/>
              </a:spcAft>
            </a:pPr>
            <a:r>
              <a:rPr lang="en-AU" sz="2200" dirty="0" smtClean="0">
                <a:latin typeface="Helvetica" pitchFamily="34" charset="0"/>
              </a:rPr>
              <a:t>Faxing services</a:t>
            </a:r>
          </a:p>
          <a:p>
            <a:pPr lvl="0">
              <a:spcBef>
                <a:spcPts val="600"/>
              </a:spcBef>
              <a:spcAft>
                <a:spcPts val="1200"/>
              </a:spcAft>
            </a:pPr>
            <a:r>
              <a:rPr lang="en-AU" sz="2200" dirty="0" smtClean="0">
                <a:latin typeface="Helvetica" pitchFamily="34" charset="0"/>
              </a:rPr>
              <a:t>Computer access and rental</a:t>
            </a:r>
          </a:p>
          <a:p>
            <a:pPr>
              <a:spcBef>
                <a:spcPts val="600"/>
              </a:spcBef>
              <a:spcAft>
                <a:spcPts val="1200"/>
              </a:spcAft>
            </a:pPr>
            <a:r>
              <a:rPr lang="en-AU" sz="2200" dirty="0" smtClean="0">
                <a:latin typeface="Helvetica" pitchFamily="34" charset="0"/>
              </a:rPr>
              <a:t>Faxing services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j0409601.jpg"/>
          <p:cNvPicPr>
            <a:picLocks noChangeAspect="1"/>
          </p:cNvPicPr>
          <p:nvPr/>
        </p:nvPicPr>
        <p:blipFill>
          <a:blip r:embed="rId3" cstate="print"/>
          <a:stretch>
            <a:fillRect/>
          </a:stretch>
        </p:blipFill>
        <p:spPr>
          <a:xfrm>
            <a:off x="5715000" y="3048000"/>
            <a:ext cx="2516206" cy="1678781"/>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buNone/>
            </a:pPr>
            <a:r>
              <a:rPr lang="en-AU" sz="2200" u="sng" dirty="0" smtClean="0">
                <a:latin typeface="Helvetica" pitchFamily="34" charset="0"/>
              </a:rPr>
              <a:t>Business centres </a:t>
            </a:r>
          </a:p>
          <a:p>
            <a:pPr lvl="0">
              <a:spcBef>
                <a:spcPts val="600"/>
              </a:spcBef>
              <a:spcAft>
                <a:spcPts val="1200"/>
              </a:spcAft>
            </a:pPr>
            <a:r>
              <a:rPr lang="en-AU" sz="2200" dirty="0" smtClean="0">
                <a:latin typeface="Helvetica" pitchFamily="34" charset="0"/>
              </a:rPr>
              <a:t>Office supplies </a:t>
            </a:r>
          </a:p>
          <a:p>
            <a:pPr lvl="0">
              <a:spcBef>
                <a:spcPts val="600"/>
              </a:spcBef>
              <a:spcAft>
                <a:spcPts val="1200"/>
              </a:spcAft>
            </a:pPr>
            <a:r>
              <a:rPr lang="en-AU" sz="2200" dirty="0" smtClean="0">
                <a:latin typeface="Helvetica" pitchFamily="34" charset="0"/>
              </a:rPr>
              <a:t>Packaging and shipping </a:t>
            </a:r>
          </a:p>
          <a:p>
            <a:pPr lvl="0">
              <a:spcBef>
                <a:spcPts val="600"/>
              </a:spcBef>
              <a:spcAft>
                <a:spcPts val="1200"/>
              </a:spcAft>
            </a:pPr>
            <a:r>
              <a:rPr lang="en-AU" sz="2200" dirty="0" smtClean="0">
                <a:latin typeface="Helvetica" pitchFamily="34" charset="0"/>
              </a:rPr>
              <a:t>Secretarial services </a:t>
            </a:r>
          </a:p>
          <a:p>
            <a:pPr lvl="0">
              <a:spcBef>
                <a:spcPts val="600"/>
              </a:spcBef>
              <a:spcAft>
                <a:spcPts val="1200"/>
              </a:spcAft>
            </a:pPr>
            <a:r>
              <a:rPr lang="en-AU" sz="2200" dirty="0" smtClean="0">
                <a:latin typeface="Helvetica" pitchFamily="34" charset="0"/>
              </a:rPr>
              <a:t>Courier service </a:t>
            </a:r>
          </a:p>
          <a:p>
            <a:pPr lvl="0">
              <a:spcBef>
                <a:spcPts val="600"/>
              </a:spcBef>
              <a:spcAft>
                <a:spcPts val="1200"/>
              </a:spcAft>
            </a:pPr>
            <a:r>
              <a:rPr lang="en-AU" sz="2200" dirty="0" smtClean="0">
                <a:latin typeface="Helvetica" pitchFamily="34" charset="0"/>
              </a:rPr>
              <a:t>Translations</a:t>
            </a:r>
          </a:p>
          <a:p>
            <a:pPr lvl="0">
              <a:spcBef>
                <a:spcPts val="600"/>
              </a:spcBef>
              <a:spcAft>
                <a:spcPts val="1200"/>
              </a:spcAft>
            </a:pPr>
            <a:r>
              <a:rPr lang="en-AU" sz="2200" dirty="0" smtClean="0">
                <a:latin typeface="Helvetica" pitchFamily="34" charset="0"/>
              </a:rPr>
              <a:t>Arrangement of transport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MP900438629.JPG"/>
          <p:cNvPicPr/>
          <p:nvPr/>
        </p:nvPicPr>
        <p:blipFill>
          <a:blip r:embed="rId3" cstate="print"/>
          <a:stretch>
            <a:fillRect/>
          </a:stretch>
        </p:blipFill>
        <p:spPr>
          <a:xfrm>
            <a:off x="5257800" y="2590800"/>
            <a:ext cx="2838450" cy="184308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Auditoriums </a:t>
            </a:r>
          </a:p>
          <a:p>
            <a:pPr marL="0">
              <a:spcBef>
                <a:spcPts val="600"/>
              </a:spcBef>
              <a:spcAft>
                <a:spcPts val="1200"/>
              </a:spcAft>
            </a:pPr>
            <a:r>
              <a:rPr lang="en-AU" sz="2200" dirty="0" smtClean="0">
                <a:latin typeface="Helvetica" pitchFamily="34" charset="0"/>
              </a:rPr>
              <a:t>Press rooms</a:t>
            </a:r>
          </a:p>
          <a:p>
            <a:pPr marL="0">
              <a:spcBef>
                <a:spcPts val="600"/>
              </a:spcBef>
              <a:spcAft>
                <a:spcPts val="1200"/>
              </a:spcAft>
            </a:pPr>
            <a:r>
              <a:rPr lang="en-AU" sz="2200" dirty="0" smtClean="0">
                <a:latin typeface="Helvetica" pitchFamily="34" charset="0"/>
              </a:rPr>
              <a:t>Storage bays</a:t>
            </a:r>
          </a:p>
          <a:p>
            <a:pPr marL="0">
              <a:spcBef>
                <a:spcPts val="600"/>
              </a:spcBef>
              <a:spcAft>
                <a:spcPts val="1200"/>
              </a:spcAft>
            </a:pPr>
            <a:r>
              <a:rPr lang="en-AU" sz="2200" dirty="0" smtClean="0">
                <a:latin typeface="Helvetica" pitchFamily="34" charset="0"/>
              </a:rPr>
              <a:t>Parking facilities </a:t>
            </a:r>
          </a:p>
          <a:p>
            <a:pPr marL="0">
              <a:spcBef>
                <a:spcPts val="600"/>
              </a:spcBef>
              <a:spcAft>
                <a:spcPts val="1200"/>
              </a:spcAft>
            </a:pPr>
            <a:r>
              <a:rPr lang="en-AU" sz="2200" dirty="0" smtClean="0">
                <a:latin typeface="Helvetica" pitchFamily="34" charset="0"/>
              </a:rPr>
              <a:t>Change rooms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MP900400915.JPG"/>
          <p:cNvPicPr/>
          <p:nvPr/>
        </p:nvPicPr>
        <p:blipFill>
          <a:blip r:embed="rId3" cstate="print"/>
          <a:stretch>
            <a:fillRect/>
          </a:stretch>
        </p:blipFill>
        <p:spPr>
          <a:xfrm>
            <a:off x="5867400" y="2590800"/>
            <a:ext cx="2055178" cy="1776413"/>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Display areas </a:t>
            </a:r>
          </a:p>
          <a:p>
            <a:pPr marL="421200">
              <a:spcBef>
                <a:spcPts val="600"/>
              </a:spcBef>
              <a:spcAft>
                <a:spcPts val="1200"/>
              </a:spcAft>
            </a:pPr>
            <a:r>
              <a:rPr lang="en-AU" sz="2200" dirty="0" smtClean="0">
                <a:latin typeface="Helvetica" pitchFamily="34" charset="0"/>
              </a:rPr>
              <a:t>Designated and discreet sections of restaurants and/or bars </a:t>
            </a:r>
          </a:p>
          <a:p>
            <a:pPr marL="0">
              <a:spcBef>
                <a:spcPts val="600"/>
              </a:spcBef>
              <a:spcAft>
                <a:spcPts val="1200"/>
              </a:spcAft>
            </a:pPr>
            <a:r>
              <a:rPr lang="en-AU" sz="2200" dirty="0" smtClean="0">
                <a:latin typeface="Helvetica" pitchFamily="34" charset="0"/>
              </a:rPr>
              <a:t>Food and beverage service </a:t>
            </a:r>
          </a:p>
          <a:p>
            <a:pPr marL="0">
              <a:spcBef>
                <a:spcPts val="600"/>
              </a:spcBef>
              <a:spcAft>
                <a:spcPts val="1200"/>
              </a:spcAft>
            </a:pPr>
            <a:r>
              <a:rPr lang="en-AU" sz="2200" dirty="0" smtClean="0">
                <a:latin typeface="Helvetica" pitchFamily="34" charset="0"/>
              </a:rPr>
              <a:t>Accommodation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MP900431761[1].JPG"/>
          <p:cNvPicPr/>
          <p:nvPr/>
        </p:nvPicPr>
        <p:blipFill>
          <a:blip r:embed="rId3" cstate="print"/>
          <a:stretch>
            <a:fillRect/>
          </a:stretch>
        </p:blipFill>
        <p:spPr>
          <a:xfrm>
            <a:off x="5334000" y="3657600"/>
            <a:ext cx="2633663" cy="172878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Sound and lighting</a:t>
            </a:r>
          </a:p>
          <a:p>
            <a:pPr marL="0">
              <a:spcBef>
                <a:spcPts val="600"/>
              </a:spcBef>
              <a:spcAft>
                <a:spcPts val="1200"/>
              </a:spcAft>
            </a:pPr>
            <a:r>
              <a:rPr lang="en-AU" sz="2200" dirty="0" smtClean="0">
                <a:latin typeface="Helvetica" pitchFamily="34" charset="0"/>
              </a:rPr>
              <a:t>Communication technologies and equipment</a:t>
            </a:r>
          </a:p>
          <a:p>
            <a:pPr marL="0">
              <a:spcBef>
                <a:spcPts val="600"/>
              </a:spcBef>
              <a:spcAft>
                <a:spcPts val="1200"/>
              </a:spcAft>
            </a:pPr>
            <a:r>
              <a:rPr lang="en-AU" sz="2200" dirty="0" smtClean="0">
                <a:latin typeface="Helvetica" pitchFamily="34" charset="0"/>
              </a:rPr>
              <a:t>Music facilities</a:t>
            </a:r>
          </a:p>
          <a:p>
            <a:pPr marL="0">
              <a:spcBef>
                <a:spcPts val="600"/>
              </a:spcBef>
              <a:spcAft>
                <a:spcPts val="1200"/>
              </a:spcAft>
            </a:pPr>
            <a:r>
              <a:rPr lang="en-AU" sz="2200" dirty="0" smtClean="0">
                <a:latin typeface="Helvetica" pitchFamily="34" charset="0"/>
              </a:rPr>
              <a:t>Gardens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MP900442735.JPG"/>
          <p:cNvPicPr>
            <a:picLocks noChangeAspect="1"/>
          </p:cNvPicPr>
          <p:nvPr/>
        </p:nvPicPr>
        <p:blipFill>
          <a:blip r:embed="rId3" cstate="print"/>
          <a:stretch>
            <a:fillRect/>
          </a:stretch>
        </p:blipFill>
        <p:spPr>
          <a:xfrm>
            <a:off x="6248400" y="3352800"/>
            <a:ext cx="2091690" cy="139199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Receiving an enquiry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Information to collect </a:t>
            </a:r>
          </a:p>
          <a:p>
            <a:pPr lvl="0">
              <a:spcBef>
                <a:spcPts val="600"/>
              </a:spcBef>
              <a:spcAft>
                <a:spcPts val="1200"/>
              </a:spcAft>
            </a:pPr>
            <a:r>
              <a:rPr lang="en-AU" sz="2200" dirty="0" smtClean="0">
                <a:latin typeface="Helvetica" pitchFamily="34" charset="0"/>
              </a:rPr>
              <a:t>Contact person </a:t>
            </a:r>
          </a:p>
          <a:p>
            <a:pPr lvl="0">
              <a:spcBef>
                <a:spcPts val="600"/>
              </a:spcBef>
              <a:spcAft>
                <a:spcPts val="1200"/>
              </a:spcAft>
            </a:pPr>
            <a:r>
              <a:rPr lang="en-AU" sz="2200" dirty="0" smtClean="0">
                <a:latin typeface="Helvetica" pitchFamily="34" charset="0"/>
              </a:rPr>
              <a:t>Contact details </a:t>
            </a:r>
          </a:p>
          <a:p>
            <a:pPr lvl="0">
              <a:spcBef>
                <a:spcPts val="600"/>
              </a:spcBef>
              <a:spcAft>
                <a:spcPts val="1200"/>
              </a:spcAft>
            </a:pPr>
            <a:r>
              <a:rPr lang="en-AU" sz="2200" dirty="0" smtClean="0">
                <a:latin typeface="Helvetica" pitchFamily="34" charset="0"/>
              </a:rPr>
              <a:t>Type of event</a:t>
            </a: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Date and time of event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7" name="Picture 6" descr="MB900409142.JPG"/>
          <p:cNvPicPr>
            <a:picLocks noChangeAspect="1"/>
          </p:cNvPicPr>
          <p:nvPr/>
        </p:nvPicPr>
        <p:blipFill>
          <a:blip r:embed="rId3" cstate="print"/>
          <a:stretch>
            <a:fillRect/>
          </a:stretch>
        </p:blipFill>
        <p:spPr>
          <a:xfrm>
            <a:off x="6019800" y="2819400"/>
            <a:ext cx="1828800" cy="18288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Receiving an enquiry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Information to collect </a:t>
            </a:r>
          </a:p>
          <a:p>
            <a:pPr lvl="0">
              <a:spcBef>
                <a:spcPts val="600"/>
              </a:spcBef>
              <a:spcAft>
                <a:spcPts val="1200"/>
              </a:spcAft>
            </a:pPr>
            <a:r>
              <a:rPr lang="en-AU" sz="2200" dirty="0" smtClean="0">
                <a:latin typeface="Helvetica" pitchFamily="34" charset="0"/>
              </a:rPr>
              <a:t>Budget</a:t>
            </a:r>
          </a:p>
          <a:p>
            <a:pPr lvl="0">
              <a:spcBef>
                <a:spcPts val="600"/>
              </a:spcBef>
              <a:spcAft>
                <a:spcPts val="1200"/>
              </a:spcAft>
            </a:pPr>
            <a:r>
              <a:rPr lang="en-AU" sz="2200" dirty="0" smtClean="0">
                <a:latin typeface="Helvetica" pitchFamily="34" charset="0"/>
              </a:rPr>
              <a:t>Possible number of attendees or guests</a:t>
            </a:r>
          </a:p>
          <a:p>
            <a:pPr lvl="0">
              <a:spcBef>
                <a:spcPts val="600"/>
              </a:spcBef>
              <a:spcAft>
                <a:spcPts val="1200"/>
              </a:spcAft>
            </a:pPr>
            <a:r>
              <a:rPr lang="en-AU" sz="2200" dirty="0" smtClean="0">
                <a:latin typeface="Helvetica" pitchFamily="34" charset="0"/>
              </a:rPr>
              <a:t>Overview of event requirements</a:t>
            </a:r>
          </a:p>
          <a:p>
            <a:pPr lvl="0">
              <a:spcBef>
                <a:spcPts val="600"/>
              </a:spcBef>
              <a:spcAft>
                <a:spcPts val="1200"/>
              </a:spcAft>
            </a:pPr>
            <a:r>
              <a:rPr lang="en-AU" sz="2200" dirty="0" smtClean="0">
                <a:latin typeface="Helvetica" pitchFamily="34" charset="0"/>
              </a:rPr>
              <a:t>Special instructions or requests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MP900422629.JPG"/>
          <p:cNvPicPr/>
          <p:nvPr/>
        </p:nvPicPr>
        <p:blipFill>
          <a:blip r:embed="rId3" cstate="print"/>
          <a:stretch>
            <a:fillRect/>
          </a:stretch>
        </p:blipFill>
        <p:spPr>
          <a:xfrm>
            <a:off x="6781800" y="2743200"/>
            <a:ext cx="1586667" cy="147027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Before any event or function can be organised there is a need to determine client needs for it</a:t>
            </a:r>
          </a:p>
          <a:p>
            <a:pPr>
              <a:spcBef>
                <a:spcPts val="600"/>
              </a:spcBef>
              <a:spcAft>
                <a:spcPts val="1200"/>
              </a:spcAft>
            </a:pPr>
            <a:r>
              <a:rPr lang="en-AU" sz="2200" dirty="0" smtClean="0">
                <a:latin typeface="Helvetica" pitchFamily="34" charset="0"/>
              </a:rPr>
              <a:t>The most effective way to do this is to meet face to face with the client and talk to them about their needs, wants and preferences</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MP900442744[1].JPG"/>
          <p:cNvPicPr>
            <a:picLocks noChangeAspect="1"/>
          </p:cNvPicPr>
          <p:nvPr/>
        </p:nvPicPr>
        <p:blipFill>
          <a:blip r:embed="rId3" cstate="print"/>
          <a:stretch>
            <a:fillRect/>
          </a:stretch>
        </p:blipFill>
        <p:spPr>
          <a:xfrm>
            <a:off x="3505200" y="3962400"/>
            <a:ext cx="2552700" cy="169679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Meeting with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After receiving an enquiry and once initial information has been sent to clients regarding an event or function it is best practice to invite the client to your venue to </a:t>
            </a:r>
          </a:p>
          <a:p>
            <a:pPr lvl="0">
              <a:spcBef>
                <a:spcPts val="600"/>
              </a:spcBef>
              <a:spcAft>
                <a:spcPts val="1200"/>
              </a:spcAft>
            </a:pPr>
            <a:r>
              <a:rPr lang="en-AU" sz="2200" dirty="0" smtClean="0">
                <a:latin typeface="Helvetica" pitchFamily="34" charset="0"/>
              </a:rPr>
              <a:t>Talk to them about their expectations and needs </a:t>
            </a:r>
          </a:p>
          <a:p>
            <a:pPr lvl="0">
              <a:spcBef>
                <a:spcPts val="600"/>
              </a:spcBef>
              <a:spcAft>
                <a:spcPts val="1200"/>
              </a:spcAft>
            </a:pPr>
            <a:r>
              <a:rPr lang="en-AU" sz="2200" dirty="0" smtClean="0">
                <a:latin typeface="Helvetica" pitchFamily="34" charset="0"/>
              </a:rPr>
              <a:t>Allow them to view the property and its facilities </a:t>
            </a:r>
          </a:p>
          <a:p>
            <a:pPr lvl="0">
              <a:spcBef>
                <a:spcPts val="600"/>
              </a:spcBef>
              <a:spcAft>
                <a:spcPts val="1200"/>
              </a:spcAft>
            </a:pPr>
            <a:r>
              <a:rPr lang="en-AU" sz="2200" dirty="0" smtClean="0">
                <a:latin typeface="Helvetica" pitchFamily="34" charset="0"/>
              </a:rPr>
              <a:t>Meet some of the key staff, </a:t>
            </a:r>
            <a:r>
              <a:rPr lang="en-AU" sz="2200" smtClean="0">
                <a:latin typeface="Helvetica" pitchFamily="34" charset="0"/>
              </a:rPr>
              <a:t>where appropriate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MP900422777[1].JPG"/>
          <p:cNvPicPr/>
          <p:nvPr/>
        </p:nvPicPr>
        <p:blipFill>
          <a:blip r:embed="rId3" cstate="print"/>
          <a:stretch>
            <a:fillRect/>
          </a:stretch>
        </p:blipFill>
        <p:spPr>
          <a:xfrm>
            <a:off x="3352800" y="4572000"/>
            <a:ext cx="2025942" cy="16002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Determine event objectives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lvl="0">
              <a:spcBef>
                <a:spcPts val="600"/>
              </a:spcBef>
              <a:spcAft>
                <a:spcPts val="1200"/>
              </a:spcAft>
              <a:buNone/>
            </a:pPr>
            <a:r>
              <a:rPr lang="en-AU" sz="2200" b="1" dirty="0" smtClean="0">
                <a:latin typeface="Helvetica" pitchFamily="34" charset="0"/>
              </a:rPr>
              <a:t>Determine identified objectives for event of function</a:t>
            </a:r>
          </a:p>
          <a:p>
            <a:pPr lvl="0">
              <a:spcBef>
                <a:spcPts val="600"/>
              </a:spcBef>
              <a:spcAft>
                <a:spcPts val="1200"/>
              </a:spcAft>
            </a:pPr>
            <a:r>
              <a:rPr lang="en-AU" sz="2200" dirty="0" smtClean="0">
                <a:latin typeface="Helvetica" pitchFamily="34" charset="0"/>
              </a:rPr>
              <a:t>What different event objectives may an event organiser have?</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6" descr="MP900316764.JPG"/>
          <p:cNvPicPr/>
          <p:nvPr/>
        </p:nvPicPr>
        <p:blipFill>
          <a:blip r:embed="rId3" cstate="print"/>
          <a:stretch>
            <a:fillRect/>
          </a:stretch>
        </p:blipFill>
        <p:spPr>
          <a:xfrm>
            <a:off x="3352800" y="3124200"/>
            <a:ext cx="2450107" cy="16002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Key stakeholders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600"/>
              </a:spcAft>
              <a:buNone/>
            </a:pPr>
            <a:r>
              <a:rPr lang="en-AU" sz="2200" b="1" dirty="0" smtClean="0">
                <a:latin typeface="Helvetica" pitchFamily="34" charset="0"/>
              </a:rPr>
              <a:t>Identification of key stakeholders </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Event principal</a:t>
            </a:r>
          </a:p>
          <a:p>
            <a:pPr lvl="0">
              <a:spcBef>
                <a:spcPts val="600"/>
              </a:spcBef>
              <a:spcAft>
                <a:spcPts val="600"/>
              </a:spcAft>
            </a:pPr>
            <a:r>
              <a:rPr lang="en-AU" sz="2200" dirty="0" smtClean="0">
                <a:latin typeface="Helvetica" pitchFamily="34" charset="0"/>
              </a:rPr>
              <a:t>Local community</a:t>
            </a:r>
          </a:p>
          <a:p>
            <a:pPr lvl="0">
              <a:spcBef>
                <a:spcPts val="600"/>
              </a:spcBef>
              <a:spcAft>
                <a:spcPts val="600"/>
              </a:spcAft>
            </a:pPr>
            <a:r>
              <a:rPr lang="en-AU" sz="2200" dirty="0" smtClean="0">
                <a:latin typeface="Helvetica" pitchFamily="34" charset="0"/>
              </a:rPr>
              <a:t>Organising committees</a:t>
            </a:r>
          </a:p>
          <a:p>
            <a:pPr lvl="0">
              <a:spcBef>
                <a:spcPts val="600"/>
              </a:spcBef>
              <a:spcAft>
                <a:spcPts val="600"/>
              </a:spcAft>
            </a:pPr>
            <a:r>
              <a:rPr lang="en-AU" sz="2200" dirty="0" smtClean="0">
                <a:latin typeface="Helvetica" pitchFamily="34" charset="0"/>
              </a:rPr>
              <a:t>Local authorities including police and fire</a:t>
            </a:r>
          </a:p>
          <a:p>
            <a:pPr lvl="0">
              <a:spcBef>
                <a:spcPts val="600"/>
              </a:spcBef>
              <a:spcAft>
                <a:spcPts val="600"/>
              </a:spcAft>
            </a:pPr>
            <a:r>
              <a:rPr lang="en-AU" sz="2200" dirty="0" smtClean="0">
                <a:latin typeface="Helvetica" pitchFamily="34" charset="0"/>
              </a:rPr>
              <a:t>Internal event staff</a:t>
            </a:r>
          </a:p>
          <a:p>
            <a:pPr lvl="0">
              <a:spcBef>
                <a:spcPts val="600"/>
              </a:spcBef>
              <a:spcAft>
                <a:spcPts val="600"/>
              </a:spcAft>
            </a:pPr>
            <a:r>
              <a:rPr lang="en-AU" sz="2200" dirty="0" smtClean="0">
                <a:latin typeface="Helvetica" pitchFamily="34" charset="0"/>
              </a:rPr>
              <a:t>External contractors </a:t>
            </a:r>
          </a:p>
          <a:p>
            <a:pPr lvl="0">
              <a:spcBef>
                <a:spcPts val="600"/>
              </a:spcBef>
              <a:spcAft>
                <a:spcPts val="600"/>
              </a:spcAft>
            </a:pPr>
            <a:r>
              <a:rPr lang="en-AU" sz="2200" dirty="0" smtClean="0">
                <a:latin typeface="Helvetica" pitchFamily="34" charset="0"/>
              </a:rPr>
              <a:t>Entertainers</a:t>
            </a:r>
          </a:p>
          <a:p>
            <a:pPr lvl="0">
              <a:spcBef>
                <a:spcPts val="600"/>
              </a:spcBef>
              <a:spcAft>
                <a:spcPts val="600"/>
              </a:spcAft>
            </a:pPr>
            <a:r>
              <a:rPr lang="en-AU" sz="2200" dirty="0" smtClean="0">
                <a:latin typeface="Helvetica" pitchFamily="34" charset="0"/>
              </a:rPr>
              <a:t>Talent</a:t>
            </a:r>
          </a:p>
          <a:p>
            <a:pPr lvl="0">
              <a:spcBef>
                <a:spcPts val="600"/>
              </a:spcBef>
              <a:spcAft>
                <a:spcPts val="600"/>
              </a:spcAft>
            </a:pPr>
            <a:r>
              <a:rPr lang="en-AU" sz="2200" dirty="0" smtClean="0">
                <a:latin typeface="Helvetica" pitchFamily="34" charset="0"/>
              </a:rPr>
              <a:t>Staff from host businesses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MP900409632[1].JPG"/>
          <p:cNvPicPr/>
          <p:nvPr/>
        </p:nvPicPr>
        <p:blipFill>
          <a:blip r:embed="rId3" cstate="print"/>
          <a:stretch>
            <a:fillRect/>
          </a:stretch>
        </p:blipFill>
        <p:spPr>
          <a:xfrm>
            <a:off x="6248400" y="1676400"/>
            <a:ext cx="1759747" cy="1447031"/>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t>
            </a:r>
            <a:r>
              <a:rPr lang="en-AU" sz="3400" b="1" dirty="0" smtClean="0">
                <a:solidFill>
                  <a:srgbClr val="FF6600"/>
                </a:solidFill>
                <a:latin typeface="Helvetica" pitchFamily="34" charset="0"/>
              </a:rPr>
              <a:t>liaison and management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Event liaison and management structure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It is vital to confirm:</a:t>
            </a:r>
          </a:p>
          <a:p>
            <a:pPr lvl="0">
              <a:spcBef>
                <a:spcPts val="600"/>
              </a:spcBef>
              <a:spcAft>
                <a:spcPts val="1200"/>
              </a:spcAft>
            </a:pPr>
            <a:r>
              <a:rPr lang="en-AU" sz="2200" dirty="0" smtClean="0">
                <a:latin typeface="Helvetica" pitchFamily="34" charset="0"/>
              </a:rPr>
              <a:t>Event liaison </a:t>
            </a:r>
          </a:p>
          <a:p>
            <a:pPr lvl="0">
              <a:spcBef>
                <a:spcPts val="600"/>
              </a:spcBef>
              <a:spcAft>
                <a:spcPts val="1200"/>
              </a:spcAft>
            </a:pPr>
            <a:r>
              <a:rPr lang="en-AU" sz="2200" dirty="0" smtClean="0">
                <a:latin typeface="Helvetica" pitchFamily="34" charset="0"/>
              </a:rPr>
              <a:t>Management structure </a:t>
            </a:r>
          </a:p>
          <a:p>
            <a:pPr lvl="0">
              <a:spcBef>
                <a:spcPts val="600"/>
              </a:spcBef>
              <a:spcAft>
                <a:spcPts val="1200"/>
              </a:spcAft>
            </a:pPr>
            <a:r>
              <a:rPr lang="en-AU" sz="2200" dirty="0" smtClean="0">
                <a:latin typeface="Helvetica" pitchFamily="34" charset="0"/>
              </a:rPr>
              <a:t>Lines of authority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MP900316785[1].JPG"/>
          <p:cNvPicPr/>
          <p:nvPr/>
        </p:nvPicPr>
        <p:blipFill>
          <a:blip r:embed="rId3" cstate="print"/>
          <a:stretch>
            <a:fillRect/>
          </a:stretch>
        </p:blipFill>
        <p:spPr>
          <a:xfrm>
            <a:off x="5715000" y="2667000"/>
            <a:ext cx="2294520" cy="152968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customer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 specific day and date  </a:t>
            </a:r>
          </a:p>
          <a:p>
            <a:pPr lvl="0">
              <a:spcBef>
                <a:spcPts val="600"/>
              </a:spcBef>
              <a:spcAft>
                <a:spcPts val="1200"/>
              </a:spcAft>
            </a:pPr>
            <a:r>
              <a:rPr lang="en-AU" sz="2200" dirty="0" smtClean="0">
                <a:latin typeface="Helvetica" pitchFamily="34" charset="0"/>
              </a:rPr>
              <a:t>Style and format of function  </a:t>
            </a: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Timing and duration considerations</a:t>
            </a:r>
          </a:p>
          <a:p>
            <a:pPr lvl="0">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Accommodation</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5" descr="MP900400284.JPG"/>
          <p:cNvPicPr>
            <a:picLocks noChangeAspect="1"/>
          </p:cNvPicPr>
          <p:nvPr/>
        </p:nvPicPr>
        <p:blipFill>
          <a:blip r:embed="rId3" cstate="print"/>
          <a:stretch>
            <a:fillRect/>
          </a:stretch>
        </p:blipFill>
        <p:spPr>
          <a:xfrm>
            <a:off x="6096000" y="2743200"/>
            <a:ext cx="2249595" cy="150090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Specialist technology services</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Ancillary services and rooms</a:t>
            </a:r>
          </a:p>
          <a:p>
            <a:pPr lvl="0">
              <a:spcBef>
                <a:spcPts val="600"/>
              </a:spcBef>
              <a:spcAft>
                <a:spcPts val="1200"/>
              </a:spcAft>
            </a:pPr>
            <a:r>
              <a:rPr lang="en-AU" sz="2200" dirty="0" smtClean="0">
                <a:latin typeface="Helvetica" pitchFamily="34" charset="0"/>
              </a:rPr>
              <a:t>Guest numbers</a:t>
            </a:r>
          </a:p>
          <a:p>
            <a:pPr lvl="0">
              <a:spcBef>
                <a:spcPts val="600"/>
              </a:spcBef>
              <a:spcAft>
                <a:spcPts val="1200"/>
              </a:spcAft>
            </a:pPr>
            <a:r>
              <a:rPr lang="en-AU" sz="2200" dirty="0" smtClean="0">
                <a:latin typeface="Helvetica" pitchFamily="34" charset="0"/>
              </a:rPr>
              <a:t>Privacy</a:t>
            </a:r>
          </a:p>
          <a:p>
            <a:pPr lvl="0">
              <a:spcBef>
                <a:spcPts val="600"/>
              </a:spcBef>
              <a:spcAft>
                <a:spcPts val="1200"/>
              </a:spcAft>
            </a:pPr>
            <a:r>
              <a:rPr lang="en-AU" sz="2200" dirty="0" smtClean="0">
                <a:latin typeface="Helvetica" pitchFamily="34" charset="0"/>
              </a:rPr>
              <a:t>Budget</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descr="MP900431237[1].JPG"/>
          <p:cNvPicPr>
            <a:picLocks noChangeAspect="1"/>
          </p:cNvPicPr>
          <p:nvPr/>
        </p:nvPicPr>
        <p:blipFill>
          <a:blip r:embed="rId3" cstate="print"/>
          <a:stretch>
            <a:fillRect/>
          </a:stretch>
        </p:blipFill>
        <p:spPr>
          <a:xfrm>
            <a:off x="6172200" y="1905000"/>
            <a:ext cx="1981200" cy="19812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Themes and decorations</a:t>
            </a:r>
          </a:p>
          <a:p>
            <a:pPr lvl="0">
              <a:spcBef>
                <a:spcPts val="600"/>
              </a:spcBef>
              <a:spcAft>
                <a:spcPts val="1200"/>
              </a:spcAft>
            </a:pPr>
            <a:r>
              <a:rPr lang="en-AU" sz="2200" dirty="0" smtClean="0">
                <a:latin typeface="Helvetica" pitchFamily="34" charset="0"/>
              </a:rPr>
              <a:t>External providers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5" descr="MP900448447.JPG"/>
          <p:cNvPicPr/>
          <p:nvPr/>
        </p:nvPicPr>
        <p:blipFill>
          <a:blip r:embed="rId3" cstate="print"/>
          <a:stretch>
            <a:fillRect/>
          </a:stretch>
        </p:blipFill>
        <p:spPr>
          <a:xfrm>
            <a:off x="5867400" y="1447800"/>
            <a:ext cx="2081213" cy="250507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Stand-up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a:t>
            </a:r>
          </a:p>
          <a:p>
            <a:pPr>
              <a:spcBef>
                <a:spcPts val="600"/>
              </a:spcBef>
              <a:spcAft>
                <a:spcPts val="1200"/>
              </a:spcAft>
            </a:pPr>
            <a:r>
              <a:rPr lang="en-AU" sz="2200" dirty="0" smtClean="0">
                <a:latin typeface="Helvetica" pitchFamily="34" charset="0"/>
              </a:rPr>
              <a:t>Cocktail parties</a:t>
            </a:r>
          </a:p>
          <a:p>
            <a:pPr>
              <a:spcBef>
                <a:spcPts val="600"/>
              </a:spcBef>
              <a:spcAft>
                <a:spcPts val="1200"/>
              </a:spcAft>
            </a:pPr>
            <a:r>
              <a:rPr lang="en-AU" sz="2200" dirty="0" smtClean="0">
                <a:latin typeface="Helvetica" pitchFamily="34" charset="0"/>
              </a:rPr>
              <a:t>General parties</a:t>
            </a:r>
          </a:p>
          <a:p>
            <a:pPr>
              <a:spcBef>
                <a:spcPts val="600"/>
              </a:spcBef>
              <a:spcAft>
                <a:spcPts val="1200"/>
              </a:spcAft>
            </a:pPr>
            <a:r>
              <a:rPr lang="en-AU" sz="2200" dirty="0" smtClean="0">
                <a:latin typeface="Helvetica" pitchFamily="34" charset="0"/>
              </a:rPr>
              <a:t>Lunches that are part of a conference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descr="MP900432969.JPG"/>
          <p:cNvPicPr>
            <a:picLocks noChangeAspect="1"/>
          </p:cNvPicPr>
          <p:nvPr/>
        </p:nvPicPr>
        <p:blipFill>
          <a:blip r:embed="rId3" cstate="print"/>
          <a:stretch>
            <a:fillRect/>
          </a:stretch>
        </p:blipFill>
        <p:spPr>
          <a:xfrm>
            <a:off x="6629400" y="2057400"/>
            <a:ext cx="1527048" cy="2287304"/>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Stand-up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only seating might be around the edges of the room.</a:t>
            </a:r>
          </a:p>
          <a:p>
            <a:pPr>
              <a:spcBef>
                <a:spcPts val="600"/>
              </a:spcBef>
              <a:spcAft>
                <a:spcPts val="1200"/>
              </a:spcAft>
              <a:buNone/>
            </a:pPr>
            <a:r>
              <a:rPr lang="en-AU" sz="2200" dirty="0" smtClean="0">
                <a:latin typeface="Helvetica" pitchFamily="34" charset="0"/>
              </a:rPr>
              <a:t>Several tables placed for:</a:t>
            </a:r>
          </a:p>
          <a:p>
            <a:pPr>
              <a:spcBef>
                <a:spcPts val="600"/>
              </a:spcBef>
              <a:spcAft>
                <a:spcPts val="1200"/>
              </a:spcAft>
            </a:pPr>
            <a:r>
              <a:rPr lang="en-AU" sz="2200" dirty="0" smtClean="0">
                <a:latin typeface="Helvetica" pitchFamily="34" charset="0"/>
              </a:rPr>
              <a:t>Staff to place snacks</a:t>
            </a:r>
          </a:p>
          <a:p>
            <a:pPr>
              <a:spcBef>
                <a:spcPts val="600"/>
              </a:spcBef>
              <a:spcAft>
                <a:spcPts val="1200"/>
              </a:spcAft>
            </a:pPr>
            <a:r>
              <a:rPr lang="en-AU" sz="2200" dirty="0" smtClean="0">
                <a:latin typeface="Helvetica" pitchFamily="34" charset="0"/>
              </a:rPr>
              <a:t>Guests to place drinks and any unwanted                            glassware, plates, food scraps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8" name="Picture 7" descr="MP900423637.JPG"/>
          <p:cNvPicPr>
            <a:picLocks noChangeAspect="1"/>
          </p:cNvPicPr>
          <p:nvPr/>
        </p:nvPicPr>
        <p:blipFill>
          <a:blip r:embed="rId3" cstate="print"/>
          <a:stretch>
            <a:fillRect/>
          </a:stretch>
        </p:blipFill>
        <p:spPr>
          <a:xfrm>
            <a:off x="6781800" y="3733800"/>
            <a:ext cx="1870770" cy="22860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Sit down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 </a:t>
            </a:r>
          </a:p>
          <a:p>
            <a:pPr>
              <a:spcBef>
                <a:spcPts val="600"/>
              </a:spcBef>
              <a:spcAft>
                <a:spcPts val="1200"/>
              </a:spcAft>
            </a:pPr>
            <a:r>
              <a:rPr lang="en-AU" sz="2200" dirty="0" smtClean="0">
                <a:latin typeface="Helvetica" pitchFamily="34" charset="0"/>
              </a:rPr>
              <a:t>Weddings </a:t>
            </a:r>
          </a:p>
          <a:p>
            <a:pPr>
              <a:spcBef>
                <a:spcPts val="600"/>
              </a:spcBef>
              <a:spcAft>
                <a:spcPts val="1200"/>
              </a:spcAft>
            </a:pPr>
            <a:r>
              <a:rPr lang="en-AU" sz="2200" dirty="0" smtClean="0">
                <a:latin typeface="Helvetica" pitchFamily="34" charset="0"/>
              </a:rPr>
              <a:t>Formal dinners</a:t>
            </a:r>
          </a:p>
          <a:p>
            <a:pPr>
              <a:spcBef>
                <a:spcPts val="600"/>
              </a:spcBef>
              <a:spcAft>
                <a:spcPts val="1200"/>
              </a:spcAft>
            </a:pPr>
            <a:r>
              <a:rPr lang="en-AU" sz="2200" dirty="0" smtClean="0">
                <a:latin typeface="Helvetica" pitchFamily="34" charset="0"/>
              </a:rPr>
              <a:t>Banquets </a:t>
            </a:r>
          </a:p>
          <a:p>
            <a:pPr>
              <a:spcBef>
                <a:spcPts val="600"/>
              </a:spcBef>
              <a:spcAft>
                <a:spcPts val="1200"/>
              </a:spcAft>
            </a:pPr>
            <a:r>
              <a:rPr lang="en-AU" sz="2200" dirty="0" smtClean="0">
                <a:latin typeface="Helvetica" pitchFamily="34" charset="0"/>
              </a:rPr>
              <a:t>Presentations </a:t>
            </a:r>
          </a:p>
          <a:p>
            <a:pPr>
              <a:spcBef>
                <a:spcPts val="600"/>
              </a:spcBef>
              <a:spcAft>
                <a:spcPts val="1200"/>
              </a:spcAft>
            </a:pPr>
            <a:r>
              <a:rPr lang="en-AU" sz="2200" dirty="0" smtClean="0">
                <a:latin typeface="Helvetica" pitchFamily="34" charset="0"/>
              </a:rPr>
              <a:t>Dinners for conferences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7980149679_15bb2598b9_m.jpg"/>
          <p:cNvPicPr/>
          <p:nvPr/>
        </p:nvPicPr>
        <p:blipFill>
          <a:blip r:embed="rId3" cstate="print"/>
          <a:stretch>
            <a:fillRect/>
          </a:stretch>
        </p:blipFill>
        <p:spPr>
          <a:xfrm>
            <a:off x="6172200" y="4572000"/>
            <a:ext cx="2181225" cy="14478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styles to use when setting up a meeting </a:t>
            </a:r>
          </a:p>
          <a:p>
            <a:pPr>
              <a:spcBef>
                <a:spcPts val="600"/>
              </a:spcBef>
              <a:spcAft>
                <a:spcPts val="1200"/>
              </a:spcAft>
            </a:pPr>
            <a:r>
              <a:rPr lang="en-AU" sz="2200" dirty="0" smtClean="0">
                <a:latin typeface="Helvetica" pitchFamily="34" charset="0"/>
              </a:rPr>
              <a:t>What set up options do you know?</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MP900431224.JPG"/>
          <p:cNvPicPr>
            <a:picLocks noChangeAspect="1"/>
          </p:cNvPicPr>
          <p:nvPr/>
        </p:nvPicPr>
        <p:blipFill>
          <a:blip r:embed="rId3" cstate="print"/>
          <a:stretch>
            <a:fillRect/>
          </a:stretch>
        </p:blipFill>
        <p:spPr>
          <a:xfrm>
            <a:off x="6019800" y="4267200"/>
            <a:ext cx="2628140" cy="1751409"/>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Meetings </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Theatre style</a:t>
            </a:r>
          </a:p>
          <a:p>
            <a:pPr marL="0">
              <a:spcBef>
                <a:spcPts val="600"/>
              </a:spcBef>
              <a:spcAft>
                <a:spcPts val="1200"/>
              </a:spcAft>
            </a:pPr>
            <a:r>
              <a:rPr lang="en-AU" sz="2200" dirty="0" smtClean="0">
                <a:latin typeface="Helvetica" pitchFamily="34" charset="0"/>
              </a:rPr>
              <a:t>Boardroom style</a:t>
            </a:r>
          </a:p>
          <a:p>
            <a:pPr marL="0">
              <a:spcBef>
                <a:spcPts val="600"/>
              </a:spcBef>
              <a:spcAft>
                <a:spcPts val="1200"/>
              </a:spcAft>
            </a:pPr>
            <a:r>
              <a:rPr lang="en-AU" sz="2200" dirty="0" smtClean="0">
                <a:latin typeface="Helvetica" pitchFamily="34" charset="0"/>
              </a:rPr>
              <a:t>Hollow square</a:t>
            </a:r>
          </a:p>
          <a:p>
            <a:pPr marL="0">
              <a:spcBef>
                <a:spcPts val="600"/>
              </a:spcBef>
              <a:spcAft>
                <a:spcPts val="1200"/>
              </a:spcAft>
            </a:pPr>
            <a:r>
              <a:rPr lang="en-AU" sz="2200" dirty="0" smtClean="0">
                <a:latin typeface="Helvetica" pitchFamily="34" charset="0"/>
              </a:rPr>
              <a:t>Classroom style</a:t>
            </a:r>
          </a:p>
          <a:p>
            <a:pPr marL="0">
              <a:spcBef>
                <a:spcPts val="600"/>
              </a:spcBef>
              <a:spcAft>
                <a:spcPts val="1200"/>
              </a:spcAft>
            </a:pPr>
            <a:r>
              <a:rPr lang="en-AU" sz="2200" dirty="0" smtClean="0">
                <a:latin typeface="Helvetica" pitchFamily="34" charset="0"/>
              </a:rPr>
              <a:t>Banquet style</a:t>
            </a:r>
          </a:p>
          <a:p>
            <a:pPr marL="0">
              <a:spcBef>
                <a:spcPts val="600"/>
              </a:spcBef>
              <a:spcAft>
                <a:spcPts val="1200"/>
              </a:spcAft>
            </a:pPr>
            <a:r>
              <a:rPr lang="en-AU" sz="2200" dirty="0" smtClean="0">
                <a:latin typeface="Helvetica" pitchFamily="34" charset="0"/>
              </a:rPr>
              <a:t>U Shape</a:t>
            </a:r>
          </a:p>
          <a:p>
            <a:pPr marL="0">
              <a:spcBef>
                <a:spcPts val="600"/>
              </a:spcBef>
              <a:spcAft>
                <a:spcPts val="1200"/>
              </a:spcAft>
            </a:pPr>
            <a:r>
              <a:rPr lang="en-AU" sz="2200" dirty="0" smtClean="0">
                <a:latin typeface="Helvetica" pitchFamily="34" charset="0"/>
              </a:rPr>
              <a:t>E-shape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descr="MP900400285.JPG"/>
          <p:cNvPicPr/>
          <p:nvPr/>
        </p:nvPicPr>
        <p:blipFill>
          <a:blip r:embed="rId3" cstate="print"/>
          <a:stretch>
            <a:fillRect/>
          </a:stretch>
        </p:blipFill>
        <p:spPr>
          <a:xfrm>
            <a:off x="5410200" y="2438400"/>
            <a:ext cx="2665095" cy="178117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options for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Some clients have extensive experience with planning an event and many do not. Some clients will expect you to assist them in developing and planning their event, and others will not. </a:t>
            </a:r>
          </a:p>
          <a:p>
            <a:pPr>
              <a:spcBef>
                <a:spcPts val="600"/>
              </a:spcBef>
              <a:spcAft>
                <a:spcPts val="1200"/>
              </a:spcAft>
            </a:pPr>
            <a:r>
              <a:rPr lang="en-AU" sz="2200" dirty="0" smtClean="0">
                <a:latin typeface="Helvetica" pitchFamily="34" charset="0"/>
              </a:rPr>
              <a:t>How do you identify if the client needs planning assistance? </a:t>
            </a:r>
          </a:p>
          <a:p>
            <a:pPr>
              <a:spcBef>
                <a:spcPts val="600"/>
              </a:spcBef>
              <a:spcAft>
                <a:spcPts val="1200"/>
              </a:spcAft>
            </a:pPr>
            <a:r>
              <a:rPr lang="en-AU" sz="2200" dirty="0" smtClean="0">
                <a:latin typeface="Helvetica" pitchFamily="34" charset="0"/>
              </a:rPr>
              <a:t>Who can provide advice and suggestions?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8" name="Picture 7" descr="conference centre ad.jpg"/>
          <p:cNvPicPr/>
          <p:nvPr/>
        </p:nvPicPr>
        <p:blipFill>
          <a:blip r:embed="rId3" cstate="print"/>
          <a:stretch>
            <a:fillRect/>
          </a:stretch>
        </p:blipFill>
        <p:spPr>
          <a:xfrm>
            <a:off x="6660232" y="4581128"/>
            <a:ext cx="2004814" cy="1451223"/>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Many individual functions traditionally may require the use of specialised skills or equipment which may not be available within the organisation</a:t>
            </a:r>
          </a:p>
          <a:p>
            <a:pPr>
              <a:spcBef>
                <a:spcPts val="600"/>
              </a:spcBef>
              <a:spcAft>
                <a:spcPts val="1200"/>
              </a:spcAft>
            </a:pPr>
            <a:r>
              <a:rPr lang="en-AU" sz="2200" dirty="0" smtClean="0">
                <a:latin typeface="Helvetica" pitchFamily="34" charset="0"/>
              </a:rPr>
              <a:t>At these times, external services will be utilised</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MP900386115.JPG"/>
          <p:cNvPicPr/>
          <p:nvPr/>
        </p:nvPicPr>
        <p:blipFill>
          <a:blip r:embed="rId3" cstate="print"/>
          <a:stretch>
            <a:fillRect/>
          </a:stretch>
        </p:blipFill>
        <p:spPr>
          <a:xfrm>
            <a:off x="3276600" y="3657600"/>
            <a:ext cx="2019300" cy="235267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external providers </a:t>
            </a:r>
          </a:p>
          <a:p>
            <a:pPr lvl="0">
              <a:spcBef>
                <a:spcPts val="600"/>
              </a:spcBef>
              <a:spcAft>
                <a:spcPts val="1200"/>
              </a:spcAft>
            </a:pPr>
            <a:r>
              <a:rPr lang="en-AU" sz="2200" dirty="0" smtClean="0">
                <a:latin typeface="Helvetica" pitchFamily="34" charset="0"/>
              </a:rPr>
              <a:t>Florists </a:t>
            </a:r>
          </a:p>
          <a:p>
            <a:pPr lvl="0">
              <a:spcBef>
                <a:spcPts val="600"/>
              </a:spcBef>
              <a:spcAft>
                <a:spcPts val="1200"/>
              </a:spcAft>
            </a:pPr>
            <a:r>
              <a:rPr lang="en-AU" sz="2200" dirty="0" smtClean="0">
                <a:latin typeface="Helvetica" pitchFamily="34" charset="0"/>
              </a:rPr>
              <a:t>Photographers</a:t>
            </a:r>
          </a:p>
          <a:p>
            <a:pPr lvl="0">
              <a:spcBef>
                <a:spcPts val="600"/>
              </a:spcBef>
              <a:spcAft>
                <a:spcPts val="1200"/>
              </a:spcAft>
            </a:pPr>
            <a:r>
              <a:rPr lang="en-AU" sz="2200" dirty="0" smtClean="0">
                <a:latin typeface="Helvetica" pitchFamily="34" charset="0"/>
              </a:rPr>
              <a:t>Party Hire companies</a:t>
            </a:r>
          </a:p>
          <a:p>
            <a:pPr lvl="0">
              <a:spcBef>
                <a:spcPts val="600"/>
              </a:spcBef>
              <a:spcAft>
                <a:spcPts val="1200"/>
              </a:spcAft>
            </a:pPr>
            <a:r>
              <a:rPr lang="en-AU" sz="2200" dirty="0" smtClean="0">
                <a:latin typeface="Helvetica" pitchFamily="34" charset="0"/>
              </a:rPr>
              <a:t>Entertainers</a:t>
            </a:r>
          </a:p>
          <a:p>
            <a:pPr lvl="0">
              <a:spcBef>
                <a:spcPts val="600"/>
              </a:spcBef>
              <a:spcAft>
                <a:spcPts val="1200"/>
              </a:spcAft>
            </a:pPr>
            <a:r>
              <a:rPr lang="en-AU" sz="2200" dirty="0" smtClean="0">
                <a:latin typeface="Helvetica" pitchFamily="34" charset="0"/>
              </a:rPr>
              <a:t>AV Technicians</a:t>
            </a:r>
          </a:p>
          <a:p>
            <a:pPr lvl="0">
              <a:spcBef>
                <a:spcPts val="600"/>
              </a:spcBef>
              <a:spcAft>
                <a:spcPts val="1200"/>
              </a:spcAft>
            </a:pPr>
            <a:r>
              <a:rPr lang="en-AU" sz="2200" dirty="0" smtClean="0">
                <a:latin typeface="Helvetica" pitchFamily="34" charset="0"/>
              </a:rPr>
              <a:t>Printers</a:t>
            </a:r>
          </a:p>
          <a:p>
            <a:pPr lvl="0"/>
            <a:endParaRPr lang="en-AU" sz="2400" dirty="0" smtClean="0"/>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 name="Picture 6" descr="MP910220920.JPG"/>
          <p:cNvPicPr>
            <a:picLocks noChangeAspect="1"/>
          </p:cNvPicPr>
          <p:nvPr/>
        </p:nvPicPr>
        <p:blipFill>
          <a:blip r:embed="rId3" cstate="print"/>
          <a:stretch>
            <a:fillRect/>
          </a:stretch>
        </p:blipFill>
        <p:spPr>
          <a:xfrm>
            <a:off x="5257800" y="2514600"/>
            <a:ext cx="2965658" cy="196954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Sourcing option</a:t>
            </a:r>
            <a:r>
              <a:rPr lang="en-AU" sz="2200" dirty="0" smtClean="0">
                <a:latin typeface="Helvetica" pitchFamily="34" charset="0"/>
              </a:rPr>
              <a:t> </a:t>
            </a:r>
          </a:p>
          <a:p>
            <a:pPr>
              <a:spcBef>
                <a:spcPts val="600"/>
              </a:spcBef>
              <a:spcAft>
                <a:spcPts val="1200"/>
              </a:spcAft>
            </a:pPr>
            <a:r>
              <a:rPr lang="en-AU" sz="2200" dirty="0" smtClean="0">
                <a:latin typeface="Helvetica" pitchFamily="34" charset="0"/>
              </a:rPr>
              <a:t>Like with any business, different companies will offer different products and services as a means of identifying their point of difference</a:t>
            </a:r>
          </a:p>
          <a:p>
            <a:pPr>
              <a:spcBef>
                <a:spcPts val="600"/>
              </a:spcBef>
              <a:spcAft>
                <a:spcPts val="1200"/>
              </a:spcAft>
            </a:pPr>
            <a:r>
              <a:rPr lang="en-AU" sz="2200" dirty="0" smtClean="0">
                <a:latin typeface="Helvetica" pitchFamily="34" charset="0"/>
              </a:rPr>
              <a:t>It is a good idea to source at least three companies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7" name="Picture 6" descr="MP900444381[1].JPG"/>
          <p:cNvPicPr>
            <a:picLocks noChangeAspect="1"/>
          </p:cNvPicPr>
          <p:nvPr/>
        </p:nvPicPr>
        <p:blipFill>
          <a:blip r:embed="rId3" cstate="print"/>
          <a:stretch>
            <a:fillRect/>
          </a:stretch>
        </p:blipFill>
        <p:spPr>
          <a:xfrm>
            <a:off x="3733800" y="4038600"/>
            <a:ext cx="1613961" cy="2088343"/>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3400" y="1404392"/>
            <a:ext cx="7467600" cy="5606008"/>
          </a:xfrm>
        </p:spPr>
        <p:txBody>
          <a:bodyPr>
            <a:normAutofit/>
          </a:bodyPr>
          <a:lstStyle/>
          <a:p>
            <a:pPr>
              <a:spcBef>
                <a:spcPts val="600"/>
              </a:spcBef>
              <a:spcAft>
                <a:spcPts val="1200"/>
              </a:spcAft>
              <a:buNone/>
            </a:pPr>
            <a:r>
              <a:rPr lang="en-AU" sz="2200" b="1" dirty="0" smtClean="0">
                <a:latin typeface="Helvetica" pitchFamily="34" charset="0"/>
              </a:rPr>
              <a:t>Liaising with providers to understand offering</a:t>
            </a:r>
          </a:p>
          <a:p>
            <a:pPr lvl="0">
              <a:spcBef>
                <a:spcPts val="600"/>
              </a:spcBef>
              <a:spcAft>
                <a:spcPts val="1200"/>
              </a:spcAft>
            </a:pPr>
            <a:r>
              <a:rPr lang="en-AU" sz="2200" dirty="0" smtClean="0">
                <a:latin typeface="Helvetica" pitchFamily="34" charset="0"/>
              </a:rPr>
              <a:t>Range of offering</a:t>
            </a:r>
          </a:p>
          <a:p>
            <a:pPr lvl="0">
              <a:spcBef>
                <a:spcPts val="600"/>
              </a:spcBef>
              <a:spcAft>
                <a:spcPts val="1200"/>
              </a:spcAft>
            </a:pPr>
            <a:r>
              <a:rPr lang="en-AU" sz="2200" dirty="0" smtClean="0">
                <a:latin typeface="Helvetica" pitchFamily="34" charset="0"/>
              </a:rPr>
              <a:t>Pricing structure for each item</a:t>
            </a:r>
          </a:p>
          <a:p>
            <a:pPr lvl="0">
              <a:spcBef>
                <a:spcPts val="600"/>
              </a:spcBef>
              <a:spcAft>
                <a:spcPts val="1200"/>
              </a:spcAft>
            </a:pPr>
            <a:r>
              <a:rPr lang="en-AU" sz="2200" dirty="0" smtClean="0">
                <a:latin typeface="Helvetica" pitchFamily="34" charset="0"/>
              </a:rPr>
              <a:t>Service guarantees</a:t>
            </a:r>
          </a:p>
          <a:p>
            <a:pPr lvl="0">
              <a:spcBef>
                <a:spcPts val="600"/>
              </a:spcBef>
              <a:spcAft>
                <a:spcPts val="1200"/>
              </a:spcAft>
            </a:pPr>
            <a:r>
              <a:rPr lang="en-AU" sz="2200" dirty="0" smtClean="0">
                <a:latin typeface="Helvetica" pitchFamily="34" charset="0"/>
              </a:rPr>
              <a:t>Availability</a:t>
            </a:r>
          </a:p>
          <a:p>
            <a:pPr lvl="0">
              <a:spcBef>
                <a:spcPts val="600"/>
              </a:spcBef>
              <a:spcAft>
                <a:spcPts val="1200"/>
              </a:spcAft>
            </a:pPr>
            <a:r>
              <a:rPr lang="en-AU" sz="2200" dirty="0" smtClean="0">
                <a:latin typeface="Helvetica" pitchFamily="34" charset="0"/>
              </a:rPr>
              <a:t>Prep-event services</a:t>
            </a:r>
          </a:p>
          <a:p>
            <a:pPr lvl="0">
              <a:spcBef>
                <a:spcPts val="600"/>
              </a:spcBef>
              <a:spcAft>
                <a:spcPts val="1200"/>
              </a:spcAft>
            </a:pPr>
            <a:r>
              <a:rPr lang="en-AU" sz="2200" dirty="0" smtClean="0">
                <a:latin typeface="Helvetica" pitchFamily="34" charset="0"/>
              </a:rPr>
              <a:t>Event services</a:t>
            </a:r>
          </a:p>
          <a:p>
            <a:pPr lvl="0">
              <a:spcBef>
                <a:spcPts val="600"/>
              </a:spcBef>
              <a:spcAft>
                <a:spcPts val="1200"/>
              </a:spcAft>
            </a:pPr>
            <a:r>
              <a:rPr lang="en-AU" sz="2200" dirty="0" smtClean="0">
                <a:latin typeface="Helvetica" pitchFamily="34" charset="0"/>
              </a:rPr>
              <a:t>Post-event services</a:t>
            </a:r>
          </a:p>
          <a:p>
            <a:pPr lvl="0">
              <a:spcBef>
                <a:spcPts val="600"/>
              </a:spcBef>
              <a:spcAft>
                <a:spcPts val="1200"/>
              </a:spcAft>
            </a:pPr>
            <a:r>
              <a:rPr lang="en-AU" sz="2200" dirty="0" smtClean="0">
                <a:latin typeface="Helvetica" pitchFamily="34" charset="0"/>
              </a:rPr>
              <a:t>Billing and payment arrangements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00402960.jpg"/>
          <p:cNvPicPr/>
          <p:nvPr/>
        </p:nvPicPr>
        <p:blipFill>
          <a:blip r:embed="rId3" cstate="print"/>
          <a:stretch>
            <a:fillRect/>
          </a:stretch>
        </p:blipFill>
        <p:spPr>
          <a:xfrm>
            <a:off x="5943600" y="2895600"/>
            <a:ext cx="2224723" cy="1509713"/>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Facilitating access by external providers </a:t>
            </a:r>
          </a:p>
          <a:p>
            <a:pPr>
              <a:spcBef>
                <a:spcPts val="600"/>
              </a:spcBef>
              <a:spcAft>
                <a:spcPts val="1200"/>
              </a:spcAft>
              <a:buNone/>
            </a:pPr>
            <a:r>
              <a:rPr lang="en-AU" sz="2200" dirty="0" smtClean="0">
                <a:latin typeface="Helvetica" pitchFamily="34" charset="0"/>
              </a:rPr>
              <a:t>It is essential that providers understand:</a:t>
            </a:r>
          </a:p>
          <a:p>
            <a:pPr lvl="0">
              <a:spcBef>
                <a:spcPts val="600"/>
              </a:spcBef>
              <a:spcAft>
                <a:spcPts val="1200"/>
              </a:spcAft>
            </a:pPr>
            <a:r>
              <a:rPr lang="en-AU" sz="2200" dirty="0" smtClean="0">
                <a:latin typeface="Helvetica" pitchFamily="34" charset="0"/>
              </a:rPr>
              <a:t>What time they have access</a:t>
            </a:r>
          </a:p>
          <a:p>
            <a:pPr lvl="0">
              <a:spcBef>
                <a:spcPts val="600"/>
              </a:spcBef>
              <a:spcAft>
                <a:spcPts val="1200"/>
              </a:spcAft>
            </a:pPr>
            <a:r>
              <a:rPr lang="en-AU" sz="2200" dirty="0" smtClean="0">
                <a:latin typeface="Helvetica" pitchFamily="34" charset="0"/>
              </a:rPr>
              <a:t>Delivery and parking zones</a:t>
            </a:r>
          </a:p>
          <a:p>
            <a:pPr lvl="0">
              <a:spcBef>
                <a:spcPts val="600"/>
              </a:spcBef>
              <a:spcAft>
                <a:spcPts val="1200"/>
              </a:spcAft>
            </a:pPr>
            <a:r>
              <a:rPr lang="en-AU" sz="2200" dirty="0" smtClean="0">
                <a:latin typeface="Helvetica" pitchFamily="34" charset="0"/>
              </a:rPr>
              <a:t>Storage areas</a:t>
            </a:r>
          </a:p>
          <a:p>
            <a:pPr lvl="0">
              <a:spcBef>
                <a:spcPts val="600"/>
              </a:spcBef>
              <a:spcAft>
                <a:spcPts val="1200"/>
              </a:spcAft>
            </a:pPr>
            <a:r>
              <a:rPr lang="en-AU" sz="2200" dirty="0" smtClean="0">
                <a:latin typeface="Helvetica" pitchFamily="34" charset="0"/>
              </a:rPr>
              <a:t>Commencement and finishing times                                      of the function</a:t>
            </a:r>
          </a:p>
          <a:p>
            <a:pPr lvl="0">
              <a:spcBef>
                <a:spcPts val="600"/>
              </a:spcBef>
              <a:spcAft>
                <a:spcPts val="1200"/>
              </a:spcAft>
            </a:pPr>
            <a:r>
              <a:rPr lang="en-AU" sz="2200" dirty="0" smtClean="0">
                <a:latin typeface="Helvetica" pitchFamily="34" charset="0"/>
              </a:rPr>
              <a:t>Amount of time allocated after the                                  event for access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7" name="Picture 6" descr="MP900386045.JPG"/>
          <p:cNvPicPr>
            <a:picLocks noChangeAspect="1"/>
          </p:cNvPicPr>
          <p:nvPr/>
        </p:nvPicPr>
        <p:blipFill>
          <a:blip r:embed="rId3" cstate="print"/>
          <a:stretch>
            <a:fillRect/>
          </a:stretch>
        </p:blipFill>
        <p:spPr>
          <a:xfrm>
            <a:off x="6248400" y="2819400"/>
            <a:ext cx="2026920" cy="14478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Connecting service providers with customer, where appropriate</a:t>
            </a:r>
          </a:p>
          <a:p>
            <a:pPr marL="0">
              <a:spcBef>
                <a:spcPts val="600"/>
              </a:spcBef>
              <a:spcAft>
                <a:spcPts val="1200"/>
              </a:spcAft>
              <a:buNone/>
            </a:pPr>
            <a:r>
              <a:rPr lang="en-AU" sz="2200" dirty="0" smtClean="0">
                <a:latin typeface="Helvetica" pitchFamily="34" charset="0"/>
              </a:rPr>
              <a:t>In many cases functions staff will suggest that external providers correspond directly with the client because:</a:t>
            </a:r>
          </a:p>
          <a:p>
            <a:pPr lvl="0">
              <a:spcBef>
                <a:spcPts val="600"/>
              </a:spcBef>
              <a:spcAft>
                <a:spcPts val="1200"/>
              </a:spcAft>
            </a:pPr>
            <a:r>
              <a:rPr lang="en-AU" sz="2200" dirty="0" smtClean="0">
                <a:latin typeface="Helvetica" pitchFamily="34" charset="0"/>
              </a:rPr>
              <a:t>Functions staff do not have the technical knowledge or understanding</a:t>
            </a:r>
          </a:p>
          <a:p>
            <a:pPr lvl="0">
              <a:spcBef>
                <a:spcPts val="600"/>
              </a:spcBef>
              <a:spcAft>
                <a:spcPts val="1200"/>
              </a:spcAft>
            </a:pPr>
            <a:r>
              <a:rPr lang="en-AU" sz="2200" dirty="0" smtClean="0">
                <a:latin typeface="Helvetica" pitchFamily="34" charset="0"/>
              </a:rPr>
              <a:t>External providers can explain what                                 they can offer and provide suggestions</a:t>
            </a:r>
          </a:p>
          <a:p>
            <a:pPr lvl="0">
              <a:spcBef>
                <a:spcPts val="600"/>
              </a:spcBef>
              <a:spcAft>
                <a:spcPts val="1200"/>
              </a:spcAft>
            </a:pPr>
            <a:r>
              <a:rPr lang="en-AU" sz="2200" dirty="0" smtClean="0">
                <a:latin typeface="Helvetica" pitchFamily="34" charset="0"/>
              </a:rPr>
              <a:t>Can remove a level of activity or                             responsibility from the functions department</a:t>
            </a:r>
          </a:p>
          <a:p>
            <a:pPr>
              <a:buNone/>
            </a:pPr>
            <a:endParaRPr lang="en-AU" sz="2400" dirty="0" smtClean="0"/>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descr="MP900407236.JPG"/>
          <p:cNvPicPr>
            <a:picLocks noChangeAspect="1"/>
          </p:cNvPicPr>
          <p:nvPr/>
        </p:nvPicPr>
        <p:blipFill>
          <a:blip r:embed="rId3" cstate="print"/>
          <a:stretch>
            <a:fillRect/>
          </a:stretch>
        </p:blipFill>
        <p:spPr>
          <a:xfrm>
            <a:off x="7086600" y="4191000"/>
            <a:ext cx="1318914" cy="198030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AU" sz="3400" b="1" dirty="0" smtClean="0">
                <a:solidFill>
                  <a:srgbClr val="FF6600"/>
                </a:solidFill>
                <a:latin typeface="Helvetica" pitchFamily="34" charset="0"/>
              </a:rPr>
              <a:t>Factors impacting events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Identify and analyse factors which might impact on the event</a:t>
            </a:r>
          </a:p>
          <a:p>
            <a:pPr marL="0">
              <a:spcBef>
                <a:spcPts val="600"/>
              </a:spcBef>
              <a:spcAft>
                <a:spcPts val="1200"/>
              </a:spcAft>
              <a:buNone/>
            </a:pPr>
            <a:r>
              <a:rPr lang="en-AU" sz="2200" dirty="0" smtClean="0">
                <a:latin typeface="Helvetica" pitchFamily="34" charset="0"/>
              </a:rPr>
              <a:t>Many requirements and needs of a client can be addressed without any influence or impact of other internal or external factors</a:t>
            </a:r>
          </a:p>
          <a:p>
            <a:pPr marL="0">
              <a:spcBef>
                <a:spcPts val="600"/>
              </a:spcBef>
              <a:spcAft>
                <a:spcPts val="1200"/>
              </a:spcAft>
              <a:buNone/>
            </a:pPr>
            <a:r>
              <a:rPr lang="en-AU" sz="2200" dirty="0" smtClean="0">
                <a:latin typeface="Helvetica" pitchFamily="34" charset="0"/>
              </a:rPr>
              <a:t>At times there may be some factors that need to be identified and analysed to determine how they will impact on the ability to:</a:t>
            </a:r>
          </a:p>
          <a:p>
            <a:pPr>
              <a:spcBef>
                <a:spcPts val="600"/>
              </a:spcBef>
              <a:spcAft>
                <a:spcPts val="1200"/>
              </a:spcAft>
            </a:pPr>
            <a:r>
              <a:rPr lang="en-AU" sz="2200" dirty="0" smtClean="0">
                <a:latin typeface="Helvetica" pitchFamily="34" charset="0"/>
              </a:rPr>
              <a:t>Hold an event </a:t>
            </a:r>
          </a:p>
          <a:p>
            <a:pPr>
              <a:spcBef>
                <a:spcPts val="600"/>
              </a:spcBef>
              <a:spcAft>
                <a:spcPts val="1200"/>
              </a:spcAft>
            </a:pPr>
            <a:r>
              <a:rPr lang="en-AU" sz="2200" dirty="0" smtClean="0">
                <a:latin typeface="Helvetica" pitchFamily="34" charset="0"/>
              </a:rPr>
              <a:t>Conduct aspects of an event successfully</a:t>
            </a:r>
            <a:endParaRPr lang="en-AU" sz="2200" b="1"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7" name="Picture 6" descr="MP900409447[1].JPG"/>
          <p:cNvPicPr/>
          <p:nvPr/>
        </p:nvPicPr>
        <p:blipFill>
          <a:blip r:embed="rId3" cstate="print"/>
          <a:stretch>
            <a:fillRect/>
          </a:stretch>
        </p:blipFill>
        <p:spPr>
          <a:xfrm>
            <a:off x="6934200" y="5029200"/>
            <a:ext cx="1605280" cy="109537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AU" sz="3400" b="1" dirty="0" smtClean="0">
                <a:solidFill>
                  <a:srgbClr val="FF6600"/>
                </a:solidFill>
                <a:latin typeface="Helvetica" pitchFamily="34" charset="0"/>
              </a:rPr>
              <a:t>Resource availability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resources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Resources can encompass:</a:t>
            </a:r>
          </a:p>
          <a:p>
            <a:pPr lvl="0">
              <a:spcBef>
                <a:spcPts val="600"/>
              </a:spcBef>
              <a:spcAft>
                <a:spcPts val="1200"/>
              </a:spcAft>
            </a:pPr>
            <a:r>
              <a:rPr lang="en-AU" sz="2200" dirty="0" smtClean="0">
                <a:latin typeface="Helvetica" pitchFamily="34" charset="0"/>
              </a:rPr>
              <a:t>Physical resources</a:t>
            </a:r>
          </a:p>
          <a:p>
            <a:pPr lvl="0">
              <a:spcBef>
                <a:spcPts val="600"/>
              </a:spcBef>
              <a:spcAft>
                <a:spcPts val="1200"/>
              </a:spcAft>
            </a:pPr>
            <a:r>
              <a:rPr lang="en-AU" sz="2200" dirty="0" smtClean="0">
                <a:latin typeface="Helvetica" pitchFamily="34" charset="0"/>
              </a:rPr>
              <a:t>Human resources</a:t>
            </a:r>
          </a:p>
          <a:p>
            <a:pPr lvl="0">
              <a:spcBef>
                <a:spcPts val="600"/>
              </a:spcBef>
              <a:spcAft>
                <a:spcPts val="1200"/>
              </a:spcAft>
            </a:pPr>
            <a:r>
              <a:rPr lang="en-AU" sz="2200" dirty="0" smtClean="0">
                <a:latin typeface="Helvetica" pitchFamily="34" charset="0"/>
              </a:rPr>
              <a:t>Financial resources</a:t>
            </a:r>
          </a:p>
          <a:p>
            <a:pPr lvl="0">
              <a:spcBef>
                <a:spcPts val="600"/>
              </a:spcBef>
              <a:spcAft>
                <a:spcPts val="1200"/>
              </a:spcAft>
            </a:pPr>
            <a:r>
              <a:rPr lang="en-AU" sz="2200" dirty="0" smtClean="0">
                <a:latin typeface="Helvetica" pitchFamily="34" charset="0"/>
              </a:rPr>
              <a:t>Intellectual property</a:t>
            </a: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464696_chefs_at_work.jpg"/>
          <p:cNvPicPr/>
          <p:nvPr/>
        </p:nvPicPr>
        <p:blipFill>
          <a:blip r:embed="rId3" cstate="print"/>
          <a:stretch>
            <a:fillRect/>
          </a:stretch>
        </p:blipFill>
        <p:spPr>
          <a:xfrm>
            <a:off x="5715000" y="2819400"/>
            <a:ext cx="2274337" cy="1485900"/>
          </a:xfrm>
          <a:prstGeom prst="rect">
            <a:avLst/>
          </a:prstGeom>
          <a:noFill/>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AU" sz="3400" b="1" dirty="0" smtClean="0">
                <a:solidFill>
                  <a:srgbClr val="FF6600"/>
                </a:solidFill>
                <a:latin typeface="Helvetica" pitchFamily="34" charset="0"/>
              </a:rPr>
              <a:t>Resource availability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Common resources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Location/premises</a:t>
            </a:r>
          </a:p>
          <a:p>
            <a:pPr lvl="0">
              <a:spcBef>
                <a:spcPts val="600"/>
              </a:spcBef>
              <a:spcAft>
                <a:spcPts val="1200"/>
              </a:spcAft>
            </a:pPr>
            <a:r>
              <a:rPr lang="en-AU" sz="2200" dirty="0" smtClean="0">
                <a:latin typeface="Helvetica" pitchFamily="34" charset="0"/>
              </a:rPr>
              <a:t>Occupational health and safety (OHS) resources</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Raw materials </a:t>
            </a:r>
          </a:p>
          <a:p>
            <a:pPr lvl="0">
              <a:spcBef>
                <a:spcPts val="600"/>
              </a:spcBef>
              <a:spcAft>
                <a:spcPts val="1200"/>
              </a:spcAft>
            </a:pPr>
            <a:r>
              <a:rPr lang="en-AU" sz="2200" dirty="0" smtClean="0">
                <a:latin typeface="Helvetica" pitchFamily="34" charset="0"/>
              </a:rPr>
              <a:t>Stock and supplies </a:t>
            </a:r>
          </a:p>
          <a:p>
            <a:pPr lvl="0">
              <a:spcBef>
                <a:spcPts val="600"/>
              </a:spcBef>
              <a:spcAft>
                <a:spcPts val="1200"/>
              </a:spcAft>
            </a:pPr>
            <a:r>
              <a:rPr lang="en-AU" sz="2200" dirty="0" smtClean="0">
                <a:latin typeface="Helvetica" pitchFamily="34" charset="0"/>
              </a:rPr>
              <a:t>Technical equipment and software</a:t>
            </a:r>
          </a:p>
          <a:p>
            <a:pPr lvl="0">
              <a:spcBef>
                <a:spcPts val="600"/>
              </a:spcBef>
              <a:spcAft>
                <a:spcPts val="1200"/>
              </a:spcAft>
            </a:pPr>
            <a:r>
              <a:rPr lang="en-AU" sz="2200" dirty="0" smtClean="0">
                <a:latin typeface="Helvetica" pitchFamily="34" charset="0"/>
              </a:rPr>
              <a:t>Staffing </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descr="205306_435465853150322_289335390_n.jpg"/>
          <p:cNvPicPr/>
          <p:nvPr/>
        </p:nvPicPr>
        <p:blipFill>
          <a:blip r:embed="rId3" cstate="print"/>
          <a:stretch>
            <a:fillRect/>
          </a:stretch>
        </p:blipFill>
        <p:spPr>
          <a:xfrm>
            <a:off x="5867400" y="3505200"/>
            <a:ext cx="2414588" cy="145732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AU" sz="3400" b="1" dirty="0" smtClean="0">
                <a:solidFill>
                  <a:srgbClr val="FF6600"/>
                </a:solidFill>
                <a:latin typeface="Helvetica" pitchFamily="34" charset="0"/>
              </a:rPr>
              <a:t>Attracting additional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Potential for attracting additional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many resources that are required to conduct an event or function.</a:t>
            </a:r>
          </a:p>
          <a:p>
            <a:pPr marL="0">
              <a:spcBef>
                <a:spcPts val="600"/>
              </a:spcBef>
              <a:spcAft>
                <a:spcPts val="1200"/>
              </a:spcAft>
              <a:buNone/>
            </a:pPr>
            <a:r>
              <a:rPr lang="en-AU" sz="2200" dirty="0" smtClean="0">
                <a:latin typeface="Helvetica" pitchFamily="34" charset="0"/>
              </a:rPr>
              <a:t>At times additional resources may be sought from different sources.</a:t>
            </a:r>
          </a:p>
          <a:p>
            <a:pPr>
              <a:spcBef>
                <a:spcPts val="600"/>
              </a:spcBef>
              <a:spcAft>
                <a:spcPts val="1200"/>
              </a:spcAft>
              <a:buNone/>
            </a:pPr>
            <a:r>
              <a:rPr lang="en-AU" sz="2200" dirty="0" smtClean="0">
                <a:latin typeface="Helvetica" pitchFamily="34" charset="0"/>
              </a:rPr>
              <a:t>These sources of additional resources may come from:</a:t>
            </a:r>
          </a:p>
          <a:p>
            <a:pPr lvl="0">
              <a:spcBef>
                <a:spcPts val="600"/>
              </a:spcBef>
              <a:spcAft>
                <a:spcPts val="1200"/>
              </a:spcAft>
            </a:pPr>
            <a:r>
              <a:rPr lang="en-AU" sz="2200" dirty="0" smtClean="0">
                <a:latin typeface="Helvetica" pitchFamily="34" charset="0"/>
              </a:rPr>
              <a:t>Co-hosting</a:t>
            </a:r>
          </a:p>
          <a:p>
            <a:pPr lvl="0">
              <a:spcBef>
                <a:spcPts val="600"/>
              </a:spcBef>
              <a:spcAft>
                <a:spcPts val="1200"/>
              </a:spcAft>
            </a:pPr>
            <a:r>
              <a:rPr lang="en-AU" sz="2200" dirty="0" smtClean="0">
                <a:latin typeface="Helvetica" pitchFamily="34" charset="0"/>
              </a:rPr>
              <a:t>Sponsorship</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7" name="Picture 6" descr="MP900443110[1].JPG"/>
          <p:cNvPicPr/>
          <p:nvPr/>
        </p:nvPicPr>
        <p:blipFill>
          <a:blip r:embed="rId3" cstate="print"/>
          <a:stretch>
            <a:fillRect/>
          </a:stretch>
        </p:blipFill>
        <p:spPr>
          <a:xfrm>
            <a:off x="6324600" y="4724400"/>
            <a:ext cx="1938338" cy="129063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AU" sz="3400" b="1" dirty="0" smtClean="0">
                <a:solidFill>
                  <a:srgbClr val="FF6600"/>
                </a:solidFill>
                <a:latin typeface="Helvetica" pitchFamily="34" charset="0"/>
              </a:rPr>
              <a:t>Co-hosting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Co-hosting avenues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not uncommon for a hospitality organisation to reach out to other companies to help host an event or provide aspects of it.</a:t>
            </a:r>
          </a:p>
          <a:p>
            <a:pPr>
              <a:spcBef>
                <a:spcPts val="600"/>
              </a:spcBef>
              <a:spcAft>
                <a:spcPts val="1200"/>
              </a:spcAft>
            </a:pPr>
            <a:r>
              <a:rPr lang="en-AU" sz="2200" dirty="0" smtClean="0">
                <a:latin typeface="Helvetica" pitchFamily="34" charset="0"/>
              </a:rPr>
              <a:t>Hotels </a:t>
            </a:r>
          </a:p>
          <a:p>
            <a:pPr>
              <a:spcBef>
                <a:spcPts val="600"/>
              </a:spcBef>
              <a:spcAft>
                <a:spcPts val="1200"/>
              </a:spcAft>
            </a:pPr>
            <a:r>
              <a:rPr lang="en-AU" sz="2200" dirty="0" smtClean="0">
                <a:latin typeface="Helvetica" pitchFamily="34" charset="0"/>
              </a:rPr>
              <a:t>Recruitment agencies</a:t>
            </a:r>
          </a:p>
          <a:p>
            <a:pPr>
              <a:spcBef>
                <a:spcPts val="600"/>
              </a:spcBef>
              <a:spcAft>
                <a:spcPts val="1200"/>
              </a:spcAft>
            </a:pPr>
            <a:r>
              <a:rPr lang="en-AU" sz="2200" dirty="0" smtClean="0">
                <a:latin typeface="Helvetica" pitchFamily="34" charset="0"/>
              </a:rPr>
              <a:t>Suppliers</a:t>
            </a:r>
          </a:p>
          <a:p>
            <a:pPr>
              <a:spcBef>
                <a:spcPts val="600"/>
              </a:spcBef>
              <a:spcAft>
                <a:spcPts val="1200"/>
              </a:spcAft>
            </a:pPr>
            <a:r>
              <a:rPr lang="en-AU" sz="2200" dirty="0" smtClean="0">
                <a:latin typeface="Helvetica" pitchFamily="34" charset="0"/>
              </a:rPr>
              <a:t>Exhibition Centres</a:t>
            </a:r>
          </a:p>
          <a:p>
            <a:pPr>
              <a:spcBef>
                <a:spcPts val="600"/>
              </a:spcBef>
              <a:spcAft>
                <a:spcPts val="1200"/>
              </a:spcAft>
            </a:pPr>
            <a:r>
              <a:rPr lang="en-AU" sz="2200" dirty="0" smtClean="0">
                <a:latin typeface="Helvetica" pitchFamily="34" charset="0"/>
              </a:rPr>
              <a:t>Government agencies, industry associations etc.</a:t>
            </a:r>
          </a:p>
          <a:p>
            <a:endParaRPr lang="en-AU" sz="2400" dirty="0" smtClean="0"/>
          </a:p>
          <a:p>
            <a:endParaRPr lang="en-AU" sz="2400" dirty="0" smtClean="0"/>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5039423988_4289e17c6c_z.jpg"/>
          <p:cNvPicPr/>
          <p:nvPr/>
        </p:nvPicPr>
        <p:blipFill>
          <a:blip r:embed="rId3" cstate="print"/>
          <a:stretch>
            <a:fillRect/>
          </a:stretch>
        </p:blipFill>
        <p:spPr>
          <a:xfrm>
            <a:off x="6934200" y="3962400"/>
            <a:ext cx="1858645" cy="1266825"/>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Sponsorship is a common part of running an event</a:t>
            </a:r>
          </a:p>
          <a:p>
            <a:pPr>
              <a:spcBef>
                <a:spcPts val="600"/>
              </a:spcBef>
              <a:spcAft>
                <a:spcPts val="1200"/>
              </a:spcAft>
            </a:pPr>
            <a:r>
              <a:rPr lang="en-AU" sz="2200" dirty="0" smtClean="0">
                <a:latin typeface="Helvetica" pitchFamily="34" charset="0"/>
              </a:rPr>
              <a:t>There are benefits for both the event organiser and the sponsoring business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MP900401735[1].JPG"/>
          <p:cNvPicPr/>
          <p:nvPr/>
        </p:nvPicPr>
        <p:blipFill>
          <a:blip r:embed="rId3" cstate="print"/>
          <a:stretch>
            <a:fillRect/>
          </a:stretch>
        </p:blipFill>
        <p:spPr>
          <a:xfrm>
            <a:off x="6400800" y="3048000"/>
            <a:ext cx="1537320" cy="1909936"/>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Benefits for sponsors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Right to display and promote their name </a:t>
            </a:r>
          </a:p>
          <a:p>
            <a:pPr lvl="0">
              <a:spcBef>
                <a:spcPts val="600"/>
              </a:spcBef>
              <a:spcAft>
                <a:spcPts val="1200"/>
              </a:spcAft>
            </a:pPr>
            <a:r>
              <a:rPr lang="en-AU" sz="2200" dirty="0" smtClean="0">
                <a:latin typeface="Helvetica" pitchFamily="34" charset="0"/>
              </a:rPr>
              <a:t>Increase brand awareness</a:t>
            </a:r>
          </a:p>
          <a:p>
            <a:pPr lvl="0">
              <a:spcBef>
                <a:spcPts val="600"/>
              </a:spcBef>
              <a:spcAft>
                <a:spcPts val="1200"/>
              </a:spcAft>
            </a:pPr>
            <a:r>
              <a:rPr lang="en-AU" sz="2200" dirty="0" smtClean="0">
                <a:latin typeface="Helvetica" pitchFamily="34" charset="0"/>
              </a:rPr>
              <a:t>Affiliate with other organisations, charities or celebrities </a:t>
            </a:r>
          </a:p>
          <a:p>
            <a:pPr lvl="0">
              <a:spcBef>
                <a:spcPts val="600"/>
              </a:spcBef>
              <a:spcAft>
                <a:spcPts val="1200"/>
              </a:spcAft>
            </a:pPr>
            <a:r>
              <a:rPr lang="en-AU" sz="2200" dirty="0" smtClean="0">
                <a:latin typeface="Helvetica" pitchFamily="34" charset="0"/>
              </a:rPr>
              <a:t>Enhance the brand or visibility of an event by having a ‘reputable’ company behind it</a:t>
            </a:r>
          </a:p>
          <a:p>
            <a:pPr lvl="0">
              <a:spcBef>
                <a:spcPts val="600"/>
              </a:spcBef>
              <a:spcAft>
                <a:spcPts val="1200"/>
              </a:spcAft>
            </a:pPr>
            <a:r>
              <a:rPr lang="en-AU" sz="2200" dirty="0" smtClean="0">
                <a:latin typeface="Helvetica" pitchFamily="34" charset="0"/>
              </a:rPr>
              <a:t>Engage with the community and employees</a:t>
            </a:r>
          </a:p>
          <a:p>
            <a:pPr lvl="0">
              <a:spcBef>
                <a:spcPts val="600"/>
              </a:spcBef>
              <a:spcAft>
                <a:spcPts val="1200"/>
              </a:spcAft>
            </a:pPr>
            <a:r>
              <a:rPr lang="en-AU" sz="2200" dirty="0" smtClean="0">
                <a:latin typeface="Helvetica" pitchFamily="34" charset="0"/>
              </a:rPr>
              <a:t>Enhance product and service sampling </a:t>
            </a:r>
          </a:p>
          <a:p>
            <a:pPr lvl="0">
              <a:spcBef>
                <a:spcPts val="600"/>
              </a:spcBef>
              <a:spcAft>
                <a:spcPts val="1200"/>
              </a:spcAft>
            </a:pPr>
            <a:r>
              <a:rPr lang="en-AU" sz="2200" dirty="0" smtClean="0">
                <a:latin typeface="Helvetica" pitchFamily="34" charset="0"/>
              </a:rPr>
              <a:t>Improve contact and visual presence with the media</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5" name="Picture 4" descr="Bar.jpg"/>
          <p:cNvPicPr/>
          <p:nvPr/>
        </p:nvPicPr>
        <p:blipFill>
          <a:blip r:embed="rId3" cstate="print"/>
          <a:stretch>
            <a:fillRect/>
          </a:stretch>
        </p:blipFill>
        <p:spPr>
          <a:xfrm>
            <a:off x="7020272" y="4581128"/>
            <a:ext cx="1678682" cy="1130424"/>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Identify potential sponsors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Potential sponsors can include:</a:t>
            </a:r>
          </a:p>
          <a:p>
            <a:pPr lvl="0">
              <a:spcBef>
                <a:spcPts val="600"/>
              </a:spcBef>
              <a:spcAft>
                <a:spcPts val="1200"/>
              </a:spcAft>
            </a:pPr>
            <a:r>
              <a:rPr lang="en-AU" sz="2200" dirty="0" smtClean="0">
                <a:latin typeface="Helvetica" pitchFamily="34" charset="0"/>
              </a:rPr>
              <a:t>Individuals </a:t>
            </a:r>
          </a:p>
          <a:p>
            <a:pPr lvl="0">
              <a:spcBef>
                <a:spcPts val="600"/>
              </a:spcBef>
              <a:spcAft>
                <a:spcPts val="1200"/>
              </a:spcAft>
            </a:pPr>
            <a:r>
              <a:rPr lang="en-AU" sz="2200" dirty="0" smtClean="0">
                <a:latin typeface="Helvetica" pitchFamily="34" charset="0"/>
              </a:rPr>
              <a:t>Government agencies</a:t>
            </a:r>
          </a:p>
          <a:p>
            <a:pPr lvl="0">
              <a:spcBef>
                <a:spcPts val="600"/>
              </a:spcBef>
              <a:spcAft>
                <a:spcPts val="1200"/>
              </a:spcAft>
            </a:pPr>
            <a:r>
              <a:rPr lang="en-AU" sz="2200" dirty="0" smtClean="0">
                <a:latin typeface="Helvetica" pitchFamily="34" charset="0"/>
              </a:rPr>
              <a:t>Companies </a:t>
            </a:r>
          </a:p>
          <a:p>
            <a:pPr lvl="0">
              <a:spcBef>
                <a:spcPts val="600"/>
              </a:spcBef>
              <a:spcAft>
                <a:spcPts val="1200"/>
              </a:spcAft>
            </a:pPr>
            <a:r>
              <a:rPr lang="en-AU" sz="2200" dirty="0" smtClean="0">
                <a:latin typeface="Helvetica" pitchFamily="34" charset="0"/>
              </a:rPr>
              <a:t>Industry organisations </a:t>
            </a:r>
          </a:p>
          <a:p>
            <a:pPr>
              <a:spcBef>
                <a:spcPts val="600"/>
              </a:spcBef>
              <a:spcAft>
                <a:spcPts val="1200"/>
              </a:spcAft>
            </a:pPr>
            <a:r>
              <a:rPr lang="en-AU" sz="2200" dirty="0" smtClean="0">
                <a:latin typeface="Helvetica" pitchFamily="34" charset="0"/>
              </a:rPr>
              <a:t>Community groups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6" name="Picture 5" descr="5372616452_3eb1b487e2_m.jpg"/>
          <p:cNvPicPr/>
          <p:nvPr/>
        </p:nvPicPr>
        <p:blipFill>
          <a:blip r:embed="rId3" cstate="print"/>
          <a:stretch>
            <a:fillRect/>
          </a:stretch>
        </p:blipFill>
        <p:spPr>
          <a:xfrm>
            <a:off x="6172200" y="2514600"/>
            <a:ext cx="1725786" cy="2264643"/>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Identify potential sponsors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great starting point is to compile a list of suitable sponsors. This can include:</a:t>
            </a:r>
          </a:p>
          <a:p>
            <a:pPr lvl="0">
              <a:spcBef>
                <a:spcPts val="600"/>
              </a:spcBef>
              <a:spcAft>
                <a:spcPts val="1200"/>
              </a:spcAft>
            </a:pPr>
            <a:r>
              <a:rPr lang="en-AU" sz="2200" dirty="0" smtClean="0">
                <a:latin typeface="Helvetica" pitchFamily="34" charset="0"/>
              </a:rPr>
              <a:t>Current vendors</a:t>
            </a:r>
          </a:p>
          <a:p>
            <a:pPr lvl="0">
              <a:spcBef>
                <a:spcPts val="600"/>
              </a:spcBef>
              <a:spcAft>
                <a:spcPts val="1200"/>
              </a:spcAft>
            </a:pPr>
            <a:r>
              <a:rPr lang="en-AU" sz="2200" dirty="0" smtClean="0">
                <a:latin typeface="Helvetica" pitchFamily="34" charset="0"/>
              </a:rPr>
              <a:t>Past sponsors</a:t>
            </a:r>
          </a:p>
          <a:p>
            <a:pPr lvl="0">
              <a:spcBef>
                <a:spcPts val="600"/>
              </a:spcBef>
              <a:spcAft>
                <a:spcPts val="1200"/>
              </a:spcAft>
            </a:pPr>
            <a:r>
              <a:rPr lang="en-AU" sz="2200" dirty="0" smtClean="0">
                <a:latin typeface="Helvetica" pitchFamily="34" charset="0"/>
              </a:rPr>
              <a:t>Business partners</a:t>
            </a:r>
          </a:p>
          <a:p>
            <a:pPr lvl="0">
              <a:spcBef>
                <a:spcPts val="600"/>
              </a:spcBef>
              <a:spcAft>
                <a:spcPts val="1200"/>
              </a:spcAft>
            </a:pPr>
            <a:r>
              <a:rPr lang="en-AU" sz="2200" dirty="0" smtClean="0">
                <a:latin typeface="Helvetica" pitchFamily="34" charset="0"/>
              </a:rPr>
              <a:t>Affiliated businesses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7" name="Picture 6" descr="MP900424406.JPG"/>
          <p:cNvPicPr>
            <a:picLocks noChangeAspect="1"/>
          </p:cNvPicPr>
          <p:nvPr/>
        </p:nvPicPr>
        <p:blipFill>
          <a:blip r:embed="rId3" cstate="print"/>
          <a:stretch>
            <a:fillRect/>
          </a:stretch>
        </p:blipFill>
        <p:spPr>
          <a:xfrm>
            <a:off x="6400800" y="2819400"/>
            <a:ext cx="1650727" cy="2250792"/>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sponsorship</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common types of sponsorship including:</a:t>
            </a:r>
          </a:p>
          <a:p>
            <a:pPr lvl="0">
              <a:spcBef>
                <a:spcPts val="600"/>
              </a:spcBef>
              <a:spcAft>
                <a:spcPts val="1200"/>
              </a:spcAft>
            </a:pPr>
            <a:r>
              <a:rPr lang="en-AU" sz="2200" dirty="0" smtClean="0">
                <a:latin typeface="Helvetica" pitchFamily="34" charset="0"/>
              </a:rPr>
              <a:t>Cash sponsorship </a:t>
            </a:r>
          </a:p>
          <a:p>
            <a:pPr lvl="0">
              <a:spcBef>
                <a:spcPts val="600"/>
              </a:spcBef>
              <a:spcAft>
                <a:spcPts val="1200"/>
              </a:spcAft>
            </a:pPr>
            <a:r>
              <a:rPr lang="en-AU" sz="2200" dirty="0" smtClean="0">
                <a:latin typeface="Helvetica" pitchFamily="34" charset="0"/>
              </a:rPr>
              <a:t>Product sponsorship </a:t>
            </a:r>
          </a:p>
          <a:p>
            <a:pPr lvl="0">
              <a:spcBef>
                <a:spcPts val="600"/>
              </a:spcBef>
              <a:spcAft>
                <a:spcPts val="1200"/>
              </a:spcAft>
            </a:pPr>
            <a:r>
              <a:rPr lang="en-AU" sz="2200" dirty="0" smtClean="0">
                <a:latin typeface="Helvetica" pitchFamily="34" charset="0"/>
              </a:rPr>
              <a:t>Venue sponsorship </a:t>
            </a:r>
          </a:p>
          <a:p>
            <a:pPr>
              <a:spcBef>
                <a:spcPts val="600"/>
              </a:spcBef>
              <a:spcAft>
                <a:spcPts val="1200"/>
              </a:spcAft>
            </a:pPr>
            <a:r>
              <a:rPr lang="en-AU" sz="2200" dirty="0" smtClean="0">
                <a:latin typeface="Helvetica" pitchFamily="34" charset="0"/>
              </a:rPr>
              <a:t>Person sponsorship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Chef.jpg"/>
          <p:cNvPicPr>
            <a:picLocks noChangeAspect="1"/>
          </p:cNvPicPr>
          <p:nvPr/>
        </p:nvPicPr>
        <p:blipFill>
          <a:blip r:embed="rId3" cstate="print"/>
          <a:stretch>
            <a:fillRect/>
          </a:stretch>
        </p:blipFill>
        <p:spPr>
          <a:xfrm>
            <a:off x="6324600" y="3200400"/>
            <a:ext cx="2006119" cy="1819424"/>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Lead time restrictions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Timing considerations</a:t>
            </a:r>
          </a:p>
          <a:p>
            <a:pPr marL="0">
              <a:spcBef>
                <a:spcPts val="600"/>
              </a:spcBef>
              <a:spcAft>
                <a:spcPts val="1200"/>
              </a:spcAft>
              <a:buNone/>
            </a:pPr>
            <a:r>
              <a:rPr lang="en-AU" sz="2200" dirty="0" smtClean="0">
                <a:latin typeface="Helvetica" pitchFamily="34" charset="0"/>
              </a:rPr>
              <a:t>Considerations when deciding to hold events with short notice include its ability to:</a:t>
            </a:r>
          </a:p>
          <a:p>
            <a:pPr lvl="0">
              <a:spcBef>
                <a:spcPts val="600"/>
              </a:spcBef>
              <a:spcAft>
                <a:spcPts val="1200"/>
              </a:spcAft>
            </a:pPr>
            <a:r>
              <a:rPr lang="en-AU" sz="2200" dirty="0" smtClean="0">
                <a:latin typeface="Helvetica" pitchFamily="34" charset="0"/>
              </a:rPr>
              <a:t>Provide sufficient amounts of meeting or event </a:t>
            </a:r>
            <a:br>
              <a:rPr lang="en-AU" sz="2200" dirty="0" smtClean="0">
                <a:latin typeface="Helvetica" pitchFamily="34" charset="0"/>
              </a:rPr>
            </a:br>
            <a:r>
              <a:rPr lang="en-AU" sz="2200" dirty="0" smtClean="0">
                <a:latin typeface="Helvetica" pitchFamily="34" charset="0"/>
              </a:rPr>
              <a:t>rooms</a:t>
            </a:r>
          </a:p>
          <a:p>
            <a:pPr lvl="0">
              <a:spcBef>
                <a:spcPts val="600"/>
              </a:spcBef>
              <a:spcAft>
                <a:spcPts val="1200"/>
              </a:spcAft>
            </a:pPr>
            <a:r>
              <a:rPr lang="en-AU" sz="2200" dirty="0" smtClean="0">
                <a:latin typeface="Helvetica" pitchFamily="34" charset="0"/>
              </a:rPr>
              <a:t>Provide sufficient amounts of accommodation </a:t>
            </a:r>
            <a:br>
              <a:rPr lang="en-AU" sz="2200" dirty="0" smtClean="0">
                <a:latin typeface="Helvetica" pitchFamily="34" charset="0"/>
              </a:rPr>
            </a:br>
            <a:r>
              <a:rPr lang="en-AU" sz="2200" dirty="0" smtClean="0">
                <a:latin typeface="Helvetica" pitchFamily="34" charset="0"/>
              </a:rPr>
              <a:t>rooms</a:t>
            </a:r>
          </a:p>
          <a:p>
            <a:pPr lvl="0">
              <a:spcBef>
                <a:spcPts val="600"/>
              </a:spcBef>
              <a:spcAft>
                <a:spcPts val="1200"/>
              </a:spcAft>
            </a:pPr>
            <a:r>
              <a:rPr lang="en-AU" sz="2200" dirty="0" smtClean="0">
                <a:latin typeface="Helvetica" pitchFamily="34" charset="0"/>
              </a:rPr>
              <a:t>Arrange staff to coordinate the event</a:t>
            </a:r>
          </a:p>
          <a:p>
            <a:pPr lvl="0">
              <a:spcBef>
                <a:spcPts val="600"/>
              </a:spcBef>
              <a:spcAft>
                <a:spcPts val="1200"/>
              </a:spcAft>
            </a:pPr>
            <a:r>
              <a:rPr lang="en-AU" sz="2200" dirty="0" smtClean="0">
                <a:latin typeface="Helvetica" pitchFamily="34" charset="0"/>
              </a:rPr>
              <a:t>Source sufficient food and beverage supplies</a:t>
            </a:r>
          </a:p>
          <a:p>
            <a:pPr lvl="0">
              <a:spcBef>
                <a:spcPts val="600"/>
              </a:spcBef>
              <a:spcAft>
                <a:spcPts val="1200"/>
              </a:spcAft>
            </a:pPr>
            <a:r>
              <a:rPr lang="en-AU" sz="2200" dirty="0" smtClean="0">
                <a:latin typeface="Helvetica" pitchFamily="34" charset="0"/>
              </a:rPr>
              <a:t>Source other resources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7" name="Picture 6" descr="912262_catering.jpg"/>
          <p:cNvPicPr/>
          <p:nvPr/>
        </p:nvPicPr>
        <p:blipFill>
          <a:blip r:embed="rId3" cstate="print"/>
          <a:stretch>
            <a:fillRect/>
          </a:stretch>
        </p:blipFill>
        <p:spPr>
          <a:xfrm>
            <a:off x="7162800" y="3124200"/>
            <a:ext cx="1266825" cy="162877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Participation and interest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Potential levels of participation and interest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an establishment may have the resources to host an event, two of the key factors that will be considered are:</a:t>
            </a:r>
          </a:p>
          <a:p>
            <a:pPr lvl="0">
              <a:spcBef>
                <a:spcPts val="600"/>
              </a:spcBef>
              <a:spcAft>
                <a:spcPts val="1200"/>
              </a:spcAft>
            </a:pPr>
            <a:r>
              <a:rPr lang="en-AU" sz="2200" dirty="0" smtClean="0">
                <a:latin typeface="Helvetica" pitchFamily="34" charset="0"/>
              </a:rPr>
              <a:t>Its ability to generate sufficient participation and interest</a:t>
            </a:r>
          </a:p>
          <a:p>
            <a:pPr lvl="0">
              <a:spcBef>
                <a:spcPts val="600"/>
              </a:spcBef>
              <a:spcAft>
                <a:spcPts val="1200"/>
              </a:spcAft>
            </a:pPr>
            <a:r>
              <a:rPr lang="en-AU" sz="2200" dirty="0" smtClean="0">
                <a:latin typeface="Helvetica" pitchFamily="34" charset="0"/>
              </a:rPr>
              <a:t>Its ability to generate sufficient profit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129359_conference_room_1.jpg"/>
          <p:cNvPicPr/>
          <p:nvPr/>
        </p:nvPicPr>
        <p:blipFill>
          <a:blip r:embed="rId3" cstate="print"/>
          <a:stretch>
            <a:fillRect/>
          </a:stretch>
        </p:blipFill>
        <p:spPr>
          <a:xfrm>
            <a:off x="6400800" y="3810000"/>
            <a:ext cx="1824990" cy="1519238"/>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Level of competition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Competitive environment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Given each competitor will be trying to promote their ‘unique point of difference’ at times a hotel may not actively seek an event if:</a:t>
            </a:r>
          </a:p>
          <a:p>
            <a:pPr lvl="0">
              <a:spcBef>
                <a:spcPts val="600"/>
              </a:spcBef>
              <a:spcAft>
                <a:spcPts val="1200"/>
              </a:spcAft>
            </a:pPr>
            <a:r>
              <a:rPr lang="en-AU" sz="2200" dirty="0" smtClean="0">
                <a:latin typeface="Helvetica" pitchFamily="34" charset="0"/>
              </a:rPr>
              <a:t>Their venue is not appropriate</a:t>
            </a:r>
          </a:p>
          <a:p>
            <a:pPr lvl="0">
              <a:spcBef>
                <a:spcPts val="600"/>
              </a:spcBef>
              <a:spcAft>
                <a:spcPts val="1200"/>
              </a:spcAft>
            </a:pPr>
            <a:r>
              <a:rPr lang="en-AU" sz="2200" dirty="0" smtClean="0">
                <a:latin typeface="Helvetica" pitchFamily="34" charset="0"/>
              </a:rPr>
              <a:t>If a competitor is better suited to host the </a:t>
            </a:r>
            <a:br>
              <a:rPr lang="en-AU" sz="2200" dirty="0" smtClean="0">
                <a:latin typeface="Helvetica" pitchFamily="34" charset="0"/>
              </a:rPr>
            </a:br>
            <a:r>
              <a:rPr lang="en-AU" sz="2200" dirty="0" smtClean="0">
                <a:latin typeface="Helvetica" pitchFamily="34" charset="0"/>
              </a:rPr>
              <a:t>event</a:t>
            </a:r>
          </a:p>
          <a:p>
            <a:pPr lvl="0">
              <a:spcBef>
                <a:spcPts val="600"/>
              </a:spcBef>
              <a:spcAft>
                <a:spcPts val="1200"/>
              </a:spcAft>
            </a:pPr>
            <a:r>
              <a:rPr lang="en-AU" sz="2200" dirty="0" smtClean="0">
                <a:latin typeface="Helvetica" pitchFamily="34" charset="0"/>
              </a:rPr>
              <a:t>If a competitor is offering prices that do not provide suitable profit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7" name="Picture 6" descr="1208847_girl_with_a_sour_face[1].jpg"/>
          <p:cNvPicPr/>
          <p:nvPr/>
        </p:nvPicPr>
        <p:blipFill>
          <a:blip r:embed="rId3" cstate="print"/>
          <a:stretch>
            <a:fillRect/>
          </a:stretch>
        </p:blipFill>
        <p:spPr>
          <a:xfrm>
            <a:off x="6629400" y="3124200"/>
            <a:ext cx="1871663" cy="109061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Timing and duration factors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Each organisation has limited resources which must be allocated and managed wisely in an effort to generate the greatest profits possible.</a:t>
            </a:r>
          </a:p>
          <a:p>
            <a:pPr>
              <a:spcBef>
                <a:spcPts val="600"/>
              </a:spcBef>
              <a:spcAft>
                <a:spcPts val="1200"/>
              </a:spcAft>
              <a:buNone/>
            </a:pPr>
            <a:r>
              <a:rPr lang="en-GB" sz="2200" dirty="0" smtClean="0">
                <a:latin typeface="Helvetica" pitchFamily="34" charset="0"/>
              </a:rPr>
              <a:t>The concept of yield management is not unique to hotels. </a:t>
            </a:r>
          </a:p>
          <a:p>
            <a:pPr>
              <a:spcBef>
                <a:spcPts val="600"/>
              </a:spcBef>
              <a:spcAft>
                <a:spcPts val="1200"/>
              </a:spcAft>
              <a:buNone/>
            </a:pPr>
            <a:r>
              <a:rPr lang="en-GB" sz="2200" dirty="0" smtClean="0">
                <a:latin typeface="Helvetica" pitchFamily="34" charset="0"/>
              </a:rPr>
              <a:t>Considerations on demand may include, but are not limited to:</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Traditional peak periods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Public holidays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Other public events</a:t>
            </a:r>
            <a:endParaRPr lang="en-AU" sz="2200" dirty="0" smtClean="0">
              <a:latin typeface="Helvetica" pitchFamily="34" charset="0"/>
            </a:endParaRP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6" name="Picture 5" descr="92297_sales_figures.jpg"/>
          <p:cNvPicPr/>
          <p:nvPr/>
        </p:nvPicPr>
        <p:blipFill>
          <a:blip r:embed="rId3" cstate="print"/>
          <a:stretch>
            <a:fillRect/>
          </a:stretch>
        </p:blipFill>
        <p:spPr>
          <a:xfrm>
            <a:off x="5791200" y="4038600"/>
            <a:ext cx="1871663" cy="1419225"/>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Talent of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00" y="1328192"/>
            <a:ext cx="7467600" cy="5301208"/>
          </a:xfrm>
        </p:spPr>
        <p:txBody>
          <a:bodyPr>
            <a:normAutofit lnSpcReduction="10000"/>
          </a:bodyPr>
          <a:lstStyle/>
          <a:p>
            <a:pPr>
              <a:lnSpc>
                <a:spcPct val="110000"/>
              </a:lnSpc>
              <a:spcBef>
                <a:spcPts val="600"/>
              </a:spcBef>
              <a:spcAft>
                <a:spcPts val="900"/>
              </a:spcAft>
              <a:buNone/>
            </a:pPr>
            <a:r>
              <a:rPr lang="en-AU" sz="2200" b="1" dirty="0" smtClean="0">
                <a:latin typeface="Helvetica" pitchFamily="34" charset="0"/>
              </a:rPr>
              <a:t>Talent requirements</a:t>
            </a:r>
            <a:endParaRPr lang="en-AU" sz="2200" dirty="0" smtClean="0">
              <a:latin typeface="Helvetica" pitchFamily="34" charset="0"/>
            </a:endParaRPr>
          </a:p>
          <a:p>
            <a:pPr marL="0">
              <a:lnSpc>
                <a:spcPct val="110000"/>
              </a:lnSpc>
              <a:spcBef>
                <a:spcPts val="600"/>
              </a:spcBef>
              <a:spcAft>
                <a:spcPts val="900"/>
              </a:spcAft>
              <a:buNone/>
            </a:pPr>
            <a:r>
              <a:rPr lang="en-AU" sz="2200" dirty="0" smtClean="0">
                <a:latin typeface="Helvetica" pitchFamily="34" charset="0"/>
              </a:rPr>
              <a:t>In order to successfully hold events an establishment must ensure the staff selected have the necessary knowledge and skills to undertake the roles and functions expected of them.</a:t>
            </a:r>
          </a:p>
          <a:p>
            <a:pPr>
              <a:lnSpc>
                <a:spcPct val="110000"/>
              </a:lnSpc>
              <a:spcBef>
                <a:spcPts val="600"/>
              </a:spcBef>
              <a:spcAft>
                <a:spcPts val="900"/>
              </a:spcAft>
              <a:buNone/>
            </a:pPr>
            <a:r>
              <a:rPr lang="en-AU" sz="2200" dirty="0" smtClean="0">
                <a:latin typeface="Helvetica" pitchFamily="34" charset="0"/>
              </a:rPr>
              <a:t>This knowledge and skill set may relate to:</a:t>
            </a:r>
          </a:p>
          <a:p>
            <a:pPr lvl="0">
              <a:lnSpc>
                <a:spcPct val="110000"/>
              </a:lnSpc>
              <a:spcBef>
                <a:spcPts val="600"/>
              </a:spcBef>
              <a:spcAft>
                <a:spcPts val="900"/>
              </a:spcAft>
            </a:pPr>
            <a:r>
              <a:rPr lang="en-AU" sz="2200" dirty="0" smtClean="0">
                <a:latin typeface="Helvetica" pitchFamily="34" charset="0"/>
              </a:rPr>
              <a:t>Knowledge of the client and their needs</a:t>
            </a:r>
          </a:p>
          <a:p>
            <a:pPr lvl="0">
              <a:lnSpc>
                <a:spcPct val="110000"/>
              </a:lnSpc>
              <a:spcBef>
                <a:spcPts val="600"/>
              </a:spcBef>
              <a:spcAft>
                <a:spcPts val="900"/>
              </a:spcAft>
            </a:pPr>
            <a:r>
              <a:rPr lang="en-AU" sz="2200" dirty="0" smtClean="0">
                <a:latin typeface="Helvetica" pitchFamily="34" charset="0"/>
              </a:rPr>
              <a:t>Cookery knowledge and skills</a:t>
            </a:r>
          </a:p>
          <a:p>
            <a:pPr lvl="0">
              <a:lnSpc>
                <a:spcPct val="110000"/>
              </a:lnSpc>
              <a:spcBef>
                <a:spcPts val="600"/>
              </a:spcBef>
              <a:spcAft>
                <a:spcPts val="900"/>
              </a:spcAft>
            </a:pPr>
            <a:r>
              <a:rPr lang="en-AU" sz="2200" dirty="0" smtClean="0">
                <a:latin typeface="Helvetica" pitchFamily="34" charset="0"/>
              </a:rPr>
              <a:t>Service knowledge and skills</a:t>
            </a:r>
          </a:p>
          <a:p>
            <a:pPr lvl="0">
              <a:lnSpc>
                <a:spcPct val="110000"/>
              </a:lnSpc>
              <a:spcBef>
                <a:spcPts val="600"/>
              </a:spcBef>
              <a:spcAft>
                <a:spcPts val="900"/>
              </a:spcAft>
            </a:pPr>
            <a:r>
              <a:rPr lang="en-AU" sz="2200" dirty="0" smtClean="0">
                <a:latin typeface="Helvetica" pitchFamily="34" charset="0"/>
              </a:rPr>
              <a:t>Product knowledge</a:t>
            </a:r>
          </a:p>
          <a:p>
            <a:pPr lvl="0">
              <a:lnSpc>
                <a:spcPct val="110000"/>
              </a:lnSpc>
              <a:spcBef>
                <a:spcPts val="600"/>
              </a:spcBef>
              <a:spcAft>
                <a:spcPts val="900"/>
              </a:spcAft>
            </a:pPr>
            <a:r>
              <a:rPr lang="en-AU" sz="2200" dirty="0" smtClean="0">
                <a:latin typeface="Helvetica" pitchFamily="34" charset="0"/>
              </a:rPr>
              <a:t>Audio visual and IT skill sets</a:t>
            </a:r>
          </a:p>
          <a:p>
            <a:pPr>
              <a:buNone/>
            </a:pPr>
            <a:endParaRPr lang="en-AU" sz="2400" dirty="0" smtClean="0"/>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Internet logo 2.JPG"/>
          <p:cNvPicPr/>
          <p:nvPr/>
        </p:nvPicPr>
        <p:blipFill>
          <a:blip r:embed="rId3" cstate="print"/>
          <a:stretch>
            <a:fillRect/>
          </a:stretch>
        </p:blipFill>
        <p:spPr>
          <a:xfrm>
            <a:off x="6705600" y="3429000"/>
            <a:ext cx="1395413" cy="1862138"/>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Other factors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lnSpc>
                <a:spcPct val="110000"/>
              </a:lnSpc>
              <a:spcBef>
                <a:spcPts val="600"/>
              </a:spcBef>
              <a:spcAft>
                <a:spcPts val="900"/>
              </a:spcAft>
              <a:buNone/>
            </a:pPr>
            <a:r>
              <a:rPr lang="en-AU" sz="2200" dirty="0" smtClean="0">
                <a:latin typeface="Helvetica" pitchFamily="34" charset="0"/>
              </a:rPr>
              <a:t>Other factors that need to be considered that impact on events and functions include:</a:t>
            </a:r>
          </a:p>
          <a:p>
            <a:pPr>
              <a:lnSpc>
                <a:spcPct val="110000"/>
              </a:lnSpc>
              <a:spcBef>
                <a:spcPts val="600"/>
              </a:spcBef>
              <a:spcAft>
                <a:spcPts val="900"/>
              </a:spcAft>
            </a:pPr>
            <a:r>
              <a:rPr lang="en-AU" sz="2200" dirty="0" smtClean="0">
                <a:latin typeface="Helvetica" pitchFamily="34" charset="0"/>
              </a:rPr>
              <a:t>Climate</a:t>
            </a:r>
          </a:p>
          <a:p>
            <a:pPr>
              <a:lnSpc>
                <a:spcPct val="110000"/>
              </a:lnSpc>
              <a:spcBef>
                <a:spcPts val="600"/>
              </a:spcBef>
              <a:spcAft>
                <a:spcPts val="900"/>
              </a:spcAft>
            </a:pPr>
            <a:r>
              <a:rPr lang="en-AU" sz="2200" dirty="0" smtClean="0">
                <a:latin typeface="Helvetica" pitchFamily="34" charset="0"/>
              </a:rPr>
              <a:t>Access </a:t>
            </a:r>
          </a:p>
          <a:p>
            <a:pPr>
              <a:lnSpc>
                <a:spcPct val="110000"/>
              </a:lnSpc>
              <a:spcBef>
                <a:spcPts val="600"/>
              </a:spcBef>
              <a:spcAft>
                <a:spcPts val="900"/>
              </a:spcAft>
            </a:pPr>
            <a:r>
              <a:rPr lang="en-AU" sz="2200" dirty="0" smtClean="0">
                <a:latin typeface="Helvetica" pitchFamily="34" charset="0"/>
              </a:rPr>
              <a:t>Marketing and promotional effort</a:t>
            </a:r>
          </a:p>
          <a:p>
            <a:pPr>
              <a:lnSpc>
                <a:spcPct val="110000"/>
              </a:lnSpc>
              <a:spcBef>
                <a:spcPts val="600"/>
              </a:spcBef>
              <a:spcAft>
                <a:spcPts val="900"/>
              </a:spcAft>
            </a:pPr>
            <a:r>
              <a:rPr lang="en-AU" sz="2200" dirty="0" smtClean="0">
                <a:latin typeface="Helvetica" pitchFamily="34" charset="0"/>
              </a:rPr>
              <a:t>The influence of media</a:t>
            </a:r>
          </a:p>
          <a:p>
            <a:pPr>
              <a:buNone/>
            </a:pPr>
            <a:endParaRPr lang="en-AU" sz="2400" dirty="0" smtClean="0"/>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6" name="Picture 5" descr="Rain.jpg"/>
          <p:cNvPicPr/>
          <p:nvPr/>
        </p:nvPicPr>
        <p:blipFill>
          <a:blip r:embed="rId3" cstate="print"/>
          <a:stretch>
            <a:fillRect/>
          </a:stretch>
        </p:blipFill>
        <p:spPr>
          <a:xfrm>
            <a:off x="6096000" y="3124200"/>
            <a:ext cx="2057400" cy="139065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rPr>
              <a:t>Establish concept, theme and format of event</a:t>
            </a:r>
            <a:endParaRPr lang="en-AU" sz="4000" dirty="0" smtClean="0">
              <a:solidFill>
                <a:srgbClr val="FF6600"/>
              </a:solidFill>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3074" name="Picture 2" descr="C:\Documents and Settings\danielc\Local Settings\Temporary Internet Files\Content.IE5\V9A2RTT8\MP900313786[1].jpg"/>
          <p:cNvPicPr>
            <a:picLocks noChangeAspect="1" noChangeArrowheads="1"/>
          </p:cNvPicPr>
          <p:nvPr/>
        </p:nvPicPr>
        <p:blipFill>
          <a:blip r:embed="rId3" cstate="print"/>
          <a:srcRect/>
          <a:stretch>
            <a:fillRect/>
          </a:stretch>
        </p:blipFill>
        <p:spPr bwMode="auto">
          <a:xfrm>
            <a:off x="2590800" y="3810000"/>
            <a:ext cx="3657600" cy="2389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Establish concept, theme and format of event</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Meet both customer needs and expectations in accordance with organisation standards, policies and procedures and within acceptable time frames</a:t>
            </a:r>
          </a:p>
          <a:p>
            <a:pPr>
              <a:spcBef>
                <a:spcPts val="600"/>
              </a:spcBef>
              <a:spcAft>
                <a:spcPts val="1200"/>
              </a:spcAft>
            </a:pPr>
            <a:r>
              <a:rPr lang="en-AU" sz="2200" dirty="0" smtClean="0">
                <a:latin typeface="Helvetica" pitchFamily="34" charset="0"/>
              </a:rPr>
              <a:t>Develop an overall event concept, theme and format which reflects key objectives agreed upon with customer/s and/or key stakeholders</a:t>
            </a:r>
          </a:p>
          <a:p>
            <a:pPr>
              <a:spcBef>
                <a:spcPts val="600"/>
              </a:spcBef>
              <a:spcAft>
                <a:spcPts val="1200"/>
              </a:spcAft>
            </a:pPr>
            <a:r>
              <a:rPr lang="en-AU" sz="2200" dirty="0" smtClean="0">
                <a:latin typeface="Helvetica" pitchFamily="34" charset="0"/>
              </a:rPr>
              <a:t>Verify practicality and viability of concept, theme and format through a sound process of consultation and analysis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3" descr="C:\Documents and Settings\danielc\Local Settings\Temporary Internet Files\Content.IE5\3Y3SDCJX\MC900432658[1].png"/>
          <p:cNvPicPr>
            <a:picLocks noChangeAspect="1" noChangeArrowheads="1"/>
          </p:cNvPicPr>
          <p:nvPr/>
        </p:nvPicPr>
        <p:blipFill>
          <a:blip r:embed="rId3" cstate="print"/>
          <a:srcRect/>
          <a:stretch>
            <a:fillRect/>
          </a:stretch>
        </p:blipFill>
        <p:spPr bwMode="auto">
          <a:xfrm>
            <a:off x="7239000" y="1066800"/>
            <a:ext cx="1162050" cy="1162050"/>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Establish concept, theme and format of event</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logistical requirements of overall concept, theme and format</a:t>
            </a:r>
          </a:p>
          <a:p>
            <a:pPr>
              <a:spcBef>
                <a:spcPts val="600"/>
              </a:spcBef>
              <a:spcAft>
                <a:spcPts val="1200"/>
              </a:spcAft>
            </a:pPr>
            <a:r>
              <a:rPr lang="en-AU" sz="2200" dirty="0" smtClean="0">
                <a:latin typeface="Helvetica" pitchFamily="34" charset="0"/>
              </a:rPr>
              <a:t>Obtain relevant approval from customer/s and/or stakeholders prior to implementation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3" descr="C:\Documents and Settings\danielc\Local Settings\Temporary Internet Files\Content.IE5\3Y3SDCJX\MC900432658[1].png"/>
          <p:cNvPicPr>
            <a:picLocks noChangeAspect="1" noChangeArrowheads="1"/>
          </p:cNvPicPr>
          <p:nvPr/>
        </p:nvPicPr>
        <p:blipFill>
          <a:blip r:embed="rId3" cstate="print"/>
          <a:srcRect/>
          <a:stretch>
            <a:fillRect/>
          </a:stretch>
        </p:blipFill>
        <p:spPr bwMode="auto">
          <a:xfrm>
            <a:off x="7162800" y="990600"/>
            <a:ext cx="1162050" cy="1162050"/>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Follow guidelines when preparing information</a:t>
            </a:r>
          </a:p>
          <a:p>
            <a:pPr marL="0">
              <a:spcBef>
                <a:spcPts val="600"/>
              </a:spcBef>
              <a:spcAft>
                <a:spcPts val="1200"/>
              </a:spcAft>
              <a:buNone/>
            </a:pPr>
            <a:r>
              <a:rPr lang="en-AU" sz="2200" dirty="0" smtClean="0">
                <a:latin typeface="Helvetica" pitchFamily="34" charset="0"/>
              </a:rPr>
              <a:t>Once all relevant details have been identified, it is now time for event organisers to prepare and present information to the client in a manner which:</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Reflects their requirements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Contains all information in a clear and logical format</a:t>
            </a:r>
          </a:p>
          <a:p>
            <a:pPr lvl="0">
              <a:spcBef>
                <a:spcPts val="600"/>
              </a:spcBef>
              <a:spcAft>
                <a:spcPts val="1200"/>
              </a:spcAft>
            </a:pPr>
            <a:r>
              <a:rPr lang="en-AU" sz="2200" dirty="0" smtClean="0">
                <a:latin typeface="Helvetica" pitchFamily="34" charset="0"/>
              </a:rPr>
              <a:t>Meets their expectations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Follows all organisation standards,                                     policies and 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MP900442744[1].JPG"/>
          <p:cNvPicPr/>
          <p:nvPr/>
        </p:nvPicPr>
        <p:blipFill>
          <a:blip r:embed="rId3" cstate="print"/>
          <a:stretch>
            <a:fillRect/>
          </a:stretch>
        </p:blipFill>
        <p:spPr>
          <a:xfrm>
            <a:off x="6858000" y="4876800"/>
            <a:ext cx="1876425" cy="1323975"/>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Importance of organisation standards, policies and procedures </a:t>
            </a:r>
          </a:p>
          <a:p>
            <a:pPr marL="0">
              <a:spcBef>
                <a:spcPts val="600"/>
              </a:spcBef>
              <a:spcAft>
                <a:spcPts val="1200"/>
              </a:spcAft>
              <a:buNone/>
            </a:pPr>
            <a:r>
              <a:rPr lang="en-AU" sz="2200" dirty="0" smtClean="0">
                <a:latin typeface="Helvetica" pitchFamily="34" charset="0"/>
              </a:rPr>
              <a:t>Before we explore how to prepare information to the client, it is important to identify the different types of </a:t>
            </a:r>
            <a:r>
              <a:rPr lang="en-AU" sz="2200" u="sng" dirty="0" smtClean="0">
                <a:latin typeface="Helvetica" pitchFamily="34" charset="0"/>
              </a:rPr>
              <a:t>organisation standards, policies and procedures</a:t>
            </a:r>
            <a:r>
              <a:rPr lang="en-AU" sz="2200" dirty="0" smtClean="0">
                <a:latin typeface="Helvetica" pitchFamily="34" charset="0"/>
              </a:rPr>
              <a:t> that must be taken into account when preparing and operating events and functions.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MP900448464.JPG"/>
          <p:cNvPicPr>
            <a:picLocks noChangeAspect="1"/>
          </p:cNvPicPr>
          <p:nvPr/>
        </p:nvPicPr>
        <p:blipFill>
          <a:blip r:embed="rId3" cstate="print"/>
          <a:stretch>
            <a:fillRect/>
          </a:stretch>
        </p:blipFill>
        <p:spPr>
          <a:xfrm>
            <a:off x="7315200" y="4495800"/>
            <a:ext cx="1219200" cy="182880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533400" y="1556792"/>
            <a:ext cx="7467600" cy="4896544"/>
          </a:xfrm>
        </p:spPr>
        <p:txBody>
          <a:bodyPr>
            <a:normAutofit/>
          </a:bodyPr>
          <a:lstStyle/>
          <a:p>
            <a:pPr>
              <a:spcAft>
                <a:spcPts val="600"/>
              </a:spcAft>
              <a:buNone/>
            </a:pPr>
            <a:r>
              <a:rPr lang="en-AU" sz="2200" b="1" dirty="0" smtClean="0">
                <a:latin typeface="Helvetica" pitchFamily="34" charset="0"/>
              </a:rPr>
              <a:t>Organisational standard report forms</a:t>
            </a:r>
            <a:endParaRPr lang="en-AU" sz="2200" dirty="0" smtClean="0">
              <a:latin typeface="Helvetica" pitchFamily="34" charset="0"/>
            </a:endParaRPr>
          </a:p>
          <a:p>
            <a:pPr lvl="0">
              <a:spcAft>
                <a:spcPts val="600"/>
              </a:spcAft>
            </a:pPr>
            <a:r>
              <a:rPr lang="en-AU" sz="2200" dirty="0" smtClean="0">
                <a:latin typeface="Helvetica" pitchFamily="34" charset="0"/>
              </a:rPr>
              <a:t>Event Brief</a:t>
            </a:r>
          </a:p>
          <a:p>
            <a:pPr lvl="0">
              <a:spcAft>
                <a:spcPts val="600"/>
              </a:spcAft>
            </a:pPr>
            <a:r>
              <a:rPr lang="en-AU" sz="2200" dirty="0" smtClean="0">
                <a:latin typeface="Helvetica" pitchFamily="34" charset="0"/>
              </a:rPr>
              <a:t>Contract</a:t>
            </a:r>
          </a:p>
          <a:p>
            <a:pPr lvl="0">
              <a:spcAft>
                <a:spcPts val="600"/>
              </a:spcAft>
            </a:pPr>
            <a:r>
              <a:rPr lang="en-AU" sz="2200" dirty="0" smtClean="0">
                <a:latin typeface="Helvetica" pitchFamily="34" charset="0"/>
              </a:rPr>
              <a:t>Booking Conditions</a:t>
            </a:r>
          </a:p>
          <a:p>
            <a:pPr lvl="0">
              <a:spcAft>
                <a:spcPts val="600"/>
              </a:spcAft>
            </a:pPr>
            <a:r>
              <a:rPr lang="en-AU" sz="2200" dirty="0" smtClean="0">
                <a:latin typeface="Helvetica" pitchFamily="34" charset="0"/>
              </a:rPr>
              <a:t>Confirmation Forms</a:t>
            </a:r>
          </a:p>
          <a:p>
            <a:pPr lvl="0">
              <a:spcAft>
                <a:spcPts val="600"/>
              </a:spcAft>
            </a:pPr>
            <a:r>
              <a:rPr lang="en-AU" sz="2200" dirty="0" smtClean="0">
                <a:latin typeface="Helvetica" pitchFamily="34" charset="0"/>
              </a:rPr>
              <a:t>Function Running Sheets</a:t>
            </a:r>
          </a:p>
          <a:p>
            <a:pPr lvl="0">
              <a:spcAft>
                <a:spcPts val="600"/>
              </a:spcAft>
            </a:pPr>
            <a:r>
              <a:rPr lang="en-AU" sz="2200" dirty="0" smtClean="0">
                <a:latin typeface="Helvetica" pitchFamily="34" charset="0"/>
              </a:rPr>
              <a:t>Catering Operational Plan</a:t>
            </a:r>
          </a:p>
          <a:p>
            <a:pPr lvl="0">
              <a:spcAft>
                <a:spcPts val="600"/>
              </a:spcAft>
            </a:pPr>
            <a:r>
              <a:rPr lang="en-AU" sz="2200" dirty="0" smtClean="0">
                <a:latin typeface="Helvetica" pitchFamily="34" charset="0"/>
              </a:rPr>
              <a:t>Catering Running Sheet</a:t>
            </a:r>
          </a:p>
          <a:p>
            <a:pPr lvl="0">
              <a:spcAft>
                <a:spcPts val="600"/>
              </a:spcAft>
            </a:pPr>
            <a:r>
              <a:rPr lang="en-AU" sz="2200" dirty="0" smtClean="0">
                <a:latin typeface="Helvetica" pitchFamily="34" charset="0"/>
              </a:rPr>
              <a:t>Invoices and Accounts</a:t>
            </a:r>
          </a:p>
          <a:p>
            <a:pPr lvl="0">
              <a:spcAft>
                <a:spcPts val="600"/>
              </a:spcAft>
            </a:pPr>
            <a:r>
              <a:rPr lang="en-AU" sz="2200" dirty="0" smtClean="0">
                <a:latin typeface="Helvetica" pitchFamily="34" charset="0"/>
              </a:rPr>
              <a:t>Customer Comment and Feedback Forms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MP900409009[1].JPG"/>
          <p:cNvPicPr/>
          <p:nvPr/>
        </p:nvPicPr>
        <p:blipFill>
          <a:blip r:embed="rId3" cstate="print"/>
          <a:stretch>
            <a:fillRect/>
          </a:stretch>
        </p:blipFill>
        <p:spPr>
          <a:xfrm>
            <a:off x="6629400" y="3048000"/>
            <a:ext cx="1600200" cy="1681163"/>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Position descriptions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Position descriptions are often also known as ‘job descriptions’ and ‘duty statements’. </a:t>
            </a:r>
          </a:p>
          <a:p>
            <a:pPr marL="0">
              <a:spcBef>
                <a:spcPts val="600"/>
              </a:spcBef>
              <a:spcAft>
                <a:spcPts val="1200"/>
              </a:spcAft>
              <a:buNone/>
            </a:pPr>
            <a:r>
              <a:rPr lang="en-AU" sz="2200" dirty="0" smtClean="0">
                <a:latin typeface="Helvetica" pitchFamily="34" charset="0"/>
              </a:rPr>
              <a:t>Identifies what each team member is responsible to undertake.</a:t>
            </a:r>
          </a:p>
          <a:p>
            <a:pPr>
              <a:spcBef>
                <a:spcPts val="600"/>
              </a:spcBef>
              <a:spcAft>
                <a:spcPts val="1200"/>
              </a:spcAft>
            </a:pPr>
            <a:r>
              <a:rPr lang="en-AU" sz="2200" dirty="0" smtClean="0">
                <a:latin typeface="Helvetica" pitchFamily="34" charset="0"/>
              </a:rPr>
              <a:t>What is normally identified in these documents?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Writing.jpg"/>
          <p:cNvPicPr/>
          <p:nvPr/>
        </p:nvPicPr>
        <p:blipFill>
          <a:blip r:embed="rId3" cstate="print"/>
          <a:stretch>
            <a:fillRect/>
          </a:stretch>
        </p:blipFill>
        <p:spPr>
          <a:xfrm>
            <a:off x="3581400" y="4800600"/>
            <a:ext cx="1757363" cy="1247775"/>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Company policy documents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other documents that are used to ensure activities comply with organisational requirements including:</a:t>
            </a:r>
          </a:p>
          <a:p>
            <a:pPr lvl="0">
              <a:spcBef>
                <a:spcPts val="600"/>
              </a:spcBef>
              <a:spcAft>
                <a:spcPts val="1200"/>
              </a:spcAft>
            </a:pPr>
            <a:r>
              <a:rPr lang="en-AU" sz="2200" dirty="0" smtClean="0">
                <a:latin typeface="Helvetica" pitchFamily="34" charset="0"/>
              </a:rPr>
              <a:t>Checklists </a:t>
            </a:r>
          </a:p>
          <a:p>
            <a:pPr lvl="0">
              <a:spcBef>
                <a:spcPts val="600"/>
              </a:spcBef>
              <a:spcAft>
                <a:spcPts val="1200"/>
              </a:spcAft>
            </a:pPr>
            <a:r>
              <a:rPr lang="en-AU" sz="2200" dirty="0" smtClean="0">
                <a:latin typeface="Helvetica" pitchFamily="34" charset="0"/>
              </a:rPr>
              <a:t>Performance Indicators </a:t>
            </a:r>
          </a:p>
          <a:p>
            <a:pPr lvl="0">
              <a:spcBef>
                <a:spcPts val="600"/>
              </a:spcBef>
              <a:spcAft>
                <a:spcPts val="1200"/>
              </a:spcAft>
            </a:pPr>
            <a:r>
              <a:rPr lang="en-AU" sz="2200" dirty="0" smtClean="0">
                <a:latin typeface="Helvetica" pitchFamily="34" charset="0"/>
              </a:rPr>
              <a:t>Policies </a:t>
            </a:r>
          </a:p>
          <a:p>
            <a:pPr lvl="0">
              <a:spcBef>
                <a:spcPts val="600"/>
              </a:spcBef>
              <a:spcAft>
                <a:spcPts val="1200"/>
              </a:spcAft>
            </a:pPr>
            <a:r>
              <a:rPr lang="en-AU" sz="2200" dirty="0" smtClean="0">
                <a:latin typeface="Helvetica" pitchFamily="34" charset="0"/>
              </a:rPr>
              <a:t>Procedures </a:t>
            </a:r>
          </a:p>
          <a:p>
            <a:pPr lvl="0">
              <a:spcBef>
                <a:spcPts val="600"/>
              </a:spcBef>
              <a:spcAft>
                <a:spcPts val="1200"/>
              </a:spcAft>
            </a:pPr>
            <a:r>
              <a:rPr lang="en-AU" sz="2200" dirty="0" smtClean="0">
                <a:latin typeface="Helvetica" pitchFamily="34" charset="0"/>
              </a:rPr>
              <a:t>SOPs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MP900385355[1].JPG"/>
          <p:cNvPicPr/>
          <p:nvPr/>
        </p:nvPicPr>
        <p:blipFill>
          <a:blip r:embed="rId3" cstate="print"/>
          <a:stretch>
            <a:fillRect/>
          </a:stretch>
        </p:blipFill>
        <p:spPr>
          <a:xfrm>
            <a:off x="5867400" y="3581400"/>
            <a:ext cx="2005013" cy="1443038"/>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Code of ethics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Codes of ethics are documents that explain to staff and help assist them in understanding the difference between 'right' and 'wrong' and in applying that understanding to their decisions. </a:t>
            </a:r>
          </a:p>
          <a:p>
            <a:pPr lvl="0">
              <a:spcBef>
                <a:spcPts val="600"/>
              </a:spcBef>
              <a:spcAft>
                <a:spcPts val="1200"/>
              </a:spcAft>
            </a:pPr>
            <a:r>
              <a:rPr lang="en-AU" sz="2200" dirty="0" smtClean="0">
                <a:latin typeface="Helvetica" pitchFamily="34" charset="0"/>
              </a:rPr>
              <a:t>Codes of business ethics</a:t>
            </a:r>
          </a:p>
          <a:p>
            <a:pPr lvl="0">
              <a:spcBef>
                <a:spcPts val="600"/>
              </a:spcBef>
              <a:spcAft>
                <a:spcPts val="1200"/>
              </a:spcAft>
            </a:pPr>
            <a:r>
              <a:rPr lang="en-AU" sz="2200" dirty="0" smtClean="0">
                <a:latin typeface="Helvetica" pitchFamily="34" charset="0"/>
              </a:rPr>
              <a:t>Codes of conduct for employees </a:t>
            </a:r>
          </a:p>
          <a:p>
            <a:pPr lvl="0">
              <a:spcBef>
                <a:spcPts val="600"/>
              </a:spcBef>
              <a:spcAft>
                <a:spcPts val="1200"/>
              </a:spcAft>
            </a:pPr>
            <a:r>
              <a:rPr lang="en-AU" sz="2200" dirty="0" smtClean="0">
                <a:latin typeface="Helvetica" pitchFamily="34" charset="0"/>
              </a:rPr>
              <a:t>Codes of professional practice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Ethics.jpg"/>
          <p:cNvPicPr>
            <a:picLocks noChangeAspect="1"/>
          </p:cNvPicPr>
          <p:nvPr/>
        </p:nvPicPr>
        <p:blipFill>
          <a:blip r:embed="rId3" cstate="print"/>
          <a:stretch>
            <a:fillRect/>
          </a:stretch>
        </p:blipFill>
        <p:spPr>
          <a:xfrm>
            <a:off x="6553200" y="3810000"/>
            <a:ext cx="1524000" cy="1009650"/>
          </a:xfrm>
          <a:prstGeom prst="rect">
            <a:avLst/>
          </a:prstGeom>
          <a:noFill/>
          <a:ln>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Performance standards</a:t>
            </a:r>
          </a:p>
          <a:p>
            <a:pPr>
              <a:spcBef>
                <a:spcPts val="600"/>
              </a:spcBef>
              <a:spcAft>
                <a:spcPts val="1200"/>
              </a:spcAft>
              <a:buNone/>
            </a:pPr>
            <a:r>
              <a:rPr lang="en-AU" sz="2200" dirty="0" smtClean="0">
                <a:latin typeface="Helvetica" pitchFamily="34" charset="0"/>
              </a:rPr>
              <a:t>Performance standards describe:</a:t>
            </a:r>
          </a:p>
          <a:p>
            <a:pPr lvl="0">
              <a:spcBef>
                <a:spcPts val="600"/>
              </a:spcBef>
              <a:spcAft>
                <a:spcPts val="1200"/>
              </a:spcAft>
            </a:pPr>
            <a:r>
              <a:rPr lang="en-AU" sz="2200" dirty="0" smtClean="0">
                <a:latin typeface="Helvetica" pitchFamily="34" charset="0"/>
              </a:rPr>
              <a:t>How to present information to a client</a:t>
            </a:r>
          </a:p>
          <a:p>
            <a:pPr lvl="0">
              <a:spcBef>
                <a:spcPts val="600"/>
              </a:spcBef>
              <a:spcAft>
                <a:spcPts val="1200"/>
              </a:spcAft>
            </a:pPr>
            <a:r>
              <a:rPr lang="en-AU" sz="2200" dirty="0" smtClean="0">
                <a:latin typeface="Helvetica" pitchFamily="34" charset="0"/>
              </a:rPr>
              <a:t>How to confirm an event</a:t>
            </a:r>
          </a:p>
          <a:p>
            <a:pPr lvl="0">
              <a:spcBef>
                <a:spcPts val="600"/>
              </a:spcBef>
              <a:spcAft>
                <a:spcPts val="1200"/>
              </a:spcAft>
            </a:pPr>
            <a:r>
              <a:rPr lang="en-AU" sz="2200" dirty="0" smtClean="0">
                <a:latin typeface="Helvetica" pitchFamily="34" charset="0"/>
              </a:rPr>
              <a:t>How to set up for different types of functions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8" name="Picture 7" descr="MP900443233.JPG"/>
          <p:cNvPicPr>
            <a:picLocks noChangeAspect="1"/>
          </p:cNvPicPr>
          <p:nvPr/>
        </p:nvPicPr>
        <p:blipFill>
          <a:blip r:embed="rId3" cstate="print"/>
          <a:stretch>
            <a:fillRect/>
          </a:stretch>
        </p:blipFill>
        <p:spPr>
          <a:xfrm>
            <a:off x="3352800" y="4648200"/>
            <a:ext cx="2096822" cy="1395412"/>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694240" cy="4896544"/>
          </a:xfrm>
        </p:spPr>
        <p:txBody>
          <a:bodyPr>
            <a:normAutofit/>
          </a:bodyPr>
          <a:lstStyle/>
          <a:p>
            <a:pPr>
              <a:spcBef>
                <a:spcPts val="600"/>
              </a:spcBef>
              <a:spcAft>
                <a:spcPts val="1200"/>
              </a:spcAft>
              <a:buNone/>
            </a:pPr>
            <a:r>
              <a:rPr lang="en-AU" sz="2200" b="1" dirty="0" smtClean="0">
                <a:latin typeface="Helvetica" pitchFamily="34" charset="0"/>
              </a:rPr>
              <a:t>Performance standards</a:t>
            </a:r>
          </a:p>
          <a:p>
            <a:pPr>
              <a:spcAft>
                <a:spcPts val="600"/>
              </a:spcAft>
              <a:buNone/>
            </a:pPr>
            <a:r>
              <a:rPr lang="en-AU" sz="2200" dirty="0" smtClean="0">
                <a:latin typeface="Helvetica" pitchFamily="34" charset="0"/>
              </a:rPr>
              <a:t>Standards of performance may be developed in relation to:</a:t>
            </a:r>
          </a:p>
          <a:p>
            <a:pPr lvl="0">
              <a:spcAft>
                <a:spcPts val="600"/>
              </a:spcAft>
            </a:pPr>
            <a:r>
              <a:rPr lang="en-AU" sz="2200" dirty="0" smtClean="0">
                <a:latin typeface="Helvetica" pitchFamily="34" charset="0"/>
              </a:rPr>
              <a:t>Productivity</a:t>
            </a:r>
          </a:p>
          <a:p>
            <a:pPr lvl="0">
              <a:spcAft>
                <a:spcPts val="600"/>
              </a:spcAft>
            </a:pPr>
            <a:r>
              <a:rPr lang="en-AU" sz="2200" dirty="0" smtClean="0">
                <a:latin typeface="Helvetica" pitchFamily="34" charset="0"/>
              </a:rPr>
              <a:t>Punctuality</a:t>
            </a:r>
          </a:p>
          <a:p>
            <a:pPr lvl="0">
              <a:spcAft>
                <a:spcPts val="600"/>
              </a:spcAft>
            </a:pPr>
            <a:r>
              <a:rPr lang="en-AU" sz="2200" dirty="0" smtClean="0">
                <a:latin typeface="Helvetica" pitchFamily="34" charset="0"/>
              </a:rPr>
              <a:t>Personal presentation</a:t>
            </a:r>
          </a:p>
          <a:p>
            <a:pPr lvl="0">
              <a:spcAft>
                <a:spcPts val="600"/>
              </a:spcAft>
            </a:pPr>
            <a:r>
              <a:rPr lang="en-AU" sz="2200" dirty="0" smtClean="0">
                <a:latin typeface="Helvetica" pitchFamily="34" charset="0"/>
              </a:rPr>
              <a:t>Level of accuracy in work performed</a:t>
            </a:r>
          </a:p>
          <a:p>
            <a:pPr lvl="0">
              <a:spcAft>
                <a:spcPts val="600"/>
              </a:spcAft>
            </a:pPr>
            <a:r>
              <a:rPr lang="en-AU" sz="2200" dirty="0" smtClean="0">
                <a:latin typeface="Helvetica" pitchFamily="34" charset="0"/>
              </a:rPr>
              <a:t>Adherence to procedures</a:t>
            </a:r>
          </a:p>
          <a:p>
            <a:pPr lvl="0">
              <a:spcAft>
                <a:spcPts val="600"/>
              </a:spcAft>
            </a:pPr>
            <a:r>
              <a:rPr lang="en-AU" sz="2200" dirty="0" smtClean="0">
                <a:latin typeface="Helvetica" pitchFamily="34" charset="0"/>
              </a:rPr>
              <a:t>Customer service standards</a:t>
            </a:r>
          </a:p>
          <a:p>
            <a:pPr lvl="0">
              <a:spcAft>
                <a:spcPts val="600"/>
              </a:spcAft>
            </a:pPr>
            <a:r>
              <a:rPr lang="en-AU" sz="2200" dirty="0" smtClean="0">
                <a:latin typeface="Helvetica" pitchFamily="34" charset="0"/>
              </a:rPr>
              <a:t>Team interaction</a:t>
            </a:r>
          </a:p>
          <a:p>
            <a:pPr lvl="0">
              <a:spcAft>
                <a:spcPts val="600"/>
              </a:spcAft>
            </a:pPr>
            <a:r>
              <a:rPr lang="en-AU" sz="2200" dirty="0" smtClean="0">
                <a:latin typeface="Helvetica" pitchFamily="34" charset="0"/>
              </a:rPr>
              <a:t>Response times/waiting times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j0402189.jpg"/>
          <p:cNvPicPr/>
          <p:nvPr/>
        </p:nvPicPr>
        <p:blipFill>
          <a:blip r:embed="rId3" cstate="print"/>
          <a:stretch>
            <a:fillRect/>
          </a:stretch>
        </p:blipFill>
        <p:spPr>
          <a:xfrm>
            <a:off x="6248400" y="3429000"/>
            <a:ext cx="1962150" cy="13335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Organisation standards, policies and procedures</a:t>
            </a:r>
          </a:p>
        </p:txBody>
      </p:sp>
      <p:sp>
        <p:nvSpPr>
          <p:cNvPr id="3" name="Content Placeholder 2"/>
          <p:cNvSpPr>
            <a:spLocks noGrp="1"/>
          </p:cNvSpPr>
          <p:nvPr>
            <p:ph idx="1"/>
          </p:nvPr>
        </p:nvSpPr>
        <p:spPr>
          <a:xfrm>
            <a:off x="611560" y="1556792"/>
            <a:ext cx="7694240" cy="4896544"/>
          </a:xfrm>
        </p:spPr>
        <p:txBody>
          <a:bodyPr>
            <a:normAutofit/>
          </a:bodyPr>
          <a:lstStyle/>
          <a:p>
            <a:pPr>
              <a:spcBef>
                <a:spcPts val="600"/>
              </a:spcBef>
              <a:spcAft>
                <a:spcPts val="1200"/>
              </a:spcAft>
              <a:buNone/>
            </a:pPr>
            <a:r>
              <a:rPr lang="en-AU" sz="2200" b="1" dirty="0" smtClean="0">
                <a:latin typeface="Helvetica" pitchFamily="34" charset="0"/>
              </a:rPr>
              <a:t>Job behaviour standards</a:t>
            </a:r>
          </a:p>
          <a:p>
            <a:pPr>
              <a:spcBef>
                <a:spcPts val="600"/>
              </a:spcBef>
              <a:spcAft>
                <a:spcPts val="1200"/>
              </a:spcAft>
            </a:pPr>
            <a:r>
              <a:rPr lang="en-AU" sz="2200" dirty="0" smtClean="0">
                <a:latin typeface="Helvetica" pitchFamily="34" charset="0"/>
              </a:rPr>
              <a:t>As well as having performance standards for the various jobs, an organisation will also have job behaviour standards for employees</a:t>
            </a:r>
          </a:p>
          <a:p>
            <a:pPr>
              <a:spcBef>
                <a:spcPts val="600"/>
              </a:spcBef>
              <a:spcAft>
                <a:spcPts val="1200"/>
              </a:spcAft>
            </a:pPr>
            <a:r>
              <a:rPr lang="en-AU" sz="2200" dirty="0" smtClean="0">
                <a:latin typeface="Helvetica" pitchFamily="34" charset="0"/>
              </a:rPr>
              <a:t>These behaviour standards, when met, ensure </a:t>
            </a:r>
            <a:br>
              <a:rPr lang="en-AU" sz="2200" dirty="0" smtClean="0">
                <a:latin typeface="Helvetica" pitchFamily="34" charset="0"/>
              </a:rPr>
            </a:br>
            <a:r>
              <a:rPr lang="en-AU" sz="2200" dirty="0" smtClean="0">
                <a:latin typeface="Helvetica" pitchFamily="34" charset="0"/>
              </a:rPr>
              <a:t>the individual behaves in a manner that also </a:t>
            </a:r>
            <a:br>
              <a:rPr lang="en-AU" sz="2200" dirty="0" smtClean="0">
                <a:latin typeface="Helvetica" pitchFamily="34" charset="0"/>
              </a:rPr>
            </a:br>
            <a:r>
              <a:rPr lang="en-AU" sz="2200" dirty="0" smtClean="0">
                <a:latin typeface="Helvetica" pitchFamily="34" charset="0"/>
              </a:rPr>
              <a:t>allows others to achieve their job standards</a:t>
            </a:r>
          </a:p>
          <a:p>
            <a:pPr>
              <a:spcBef>
                <a:spcPts val="600"/>
              </a:spcBef>
              <a:spcAft>
                <a:spcPts val="1200"/>
              </a:spcAft>
            </a:pPr>
            <a:r>
              <a:rPr lang="en-AU" sz="2200" dirty="0" smtClean="0">
                <a:latin typeface="Helvetica" pitchFamily="34" charset="0"/>
              </a:rPr>
              <a:t>This allows the organisation to retain                              consistency throughout its operations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6" descr="MP900424406.JPG"/>
          <p:cNvPicPr>
            <a:picLocks noChangeAspect="1"/>
          </p:cNvPicPr>
          <p:nvPr/>
        </p:nvPicPr>
        <p:blipFill>
          <a:blip r:embed="rId3" cstate="print"/>
          <a:stretch>
            <a:fillRect/>
          </a:stretch>
        </p:blipFill>
        <p:spPr>
          <a:xfrm>
            <a:off x="7391400" y="3352800"/>
            <a:ext cx="1341239" cy="182880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What is an event brief? </a:t>
            </a:r>
          </a:p>
          <a:p>
            <a:pPr>
              <a:spcBef>
                <a:spcPts val="600"/>
              </a:spcBef>
              <a:spcAft>
                <a:spcPts val="1200"/>
              </a:spcAft>
            </a:pPr>
            <a:r>
              <a:rPr lang="en-AU" sz="2200" dirty="0" smtClean="0">
                <a:latin typeface="Helvetica" pitchFamily="34" charset="0"/>
              </a:rPr>
              <a:t>An event brief is the template which contains all necessary information relating to a catered event or function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MP900443367[1].JPG"/>
          <p:cNvPicPr>
            <a:picLocks noChangeAspect="1"/>
          </p:cNvPicPr>
          <p:nvPr/>
        </p:nvPicPr>
        <p:blipFill>
          <a:blip r:embed="rId3" cstate="print"/>
          <a:stretch>
            <a:fillRect/>
          </a:stretch>
        </p:blipFill>
        <p:spPr>
          <a:xfrm>
            <a:off x="3810000" y="3429000"/>
            <a:ext cx="1479672" cy="2133600"/>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Contents of an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10000"/>
          </a:bodyPr>
          <a:lstStyle/>
          <a:p>
            <a:pPr lvl="0">
              <a:spcBef>
                <a:spcPts val="600"/>
              </a:spcBef>
              <a:spcAft>
                <a:spcPts val="1200"/>
              </a:spcAft>
            </a:pPr>
            <a:r>
              <a:rPr lang="en-AU" sz="2200" dirty="0" smtClean="0">
                <a:latin typeface="Helvetica" pitchFamily="34" charset="0"/>
              </a:rPr>
              <a:t>Agreed event details</a:t>
            </a:r>
          </a:p>
          <a:p>
            <a:pPr lvl="0">
              <a:spcBef>
                <a:spcPts val="600"/>
              </a:spcBef>
              <a:spcAft>
                <a:spcPts val="1200"/>
              </a:spcAft>
            </a:pPr>
            <a:r>
              <a:rPr lang="en-AU" sz="2200" dirty="0" smtClean="0">
                <a:latin typeface="Helvetica" pitchFamily="34" charset="0"/>
              </a:rPr>
              <a:t>Identification of stakeholders </a:t>
            </a:r>
          </a:p>
          <a:p>
            <a:pPr lvl="0">
              <a:spcBef>
                <a:spcPts val="600"/>
              </a:spcBef>
              <a:spcAft>
                <a:spcPts val="1200"/>
              </a:spcAft>
            </a:pPr>
            <a:r>
              <a:rPr lang="en-AU" sz="2200" dirty="0" smtClean="0">
                <a:latin typeface="Helvetica" pitchFamily="34" charset="0"/>
              </a:rPr>
              <a:t>Allocation of responsibilities and setting of milestones and task completion dates</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Name, address, and contact number of </a:t>
            </a:r>
            <a:br>
              <a:rPr lang="en-AU" sz="2200" dirty="0" smtClean="0">
                <a:latin typeface="Helvetica" pitchFamily="34" charset="0"/>
              </a:rPr>
            </a:br>
            <a:r>
              <a:rPr lang="en-AU" sz="2200" dirty="0" smtClean="0">
                <a:latin typeface="Helvetica" pitchFamily="34" charset="0"/>
              </a:rPr>
              <a:t>client </a:t>
            </a:r>
          </a:p>
          <a:p>
            <a:pPr lvl="0">
              <a:spcBef>
                <a:spcPts val="600"/>
              </a:spcBef>
              <a:spcAft>
                <a:spcPts val="1200"/>
              </a:spcAft>
            </a:pPr>
            <a:r>
              <a:rPr lang="en-AU" sz="2200" dirty="0" smtClean="0">
                <a:latin typeface="Helvetica" pitchFamily="34" charset="0"/>
              </a:rPr>
              <a:t>Day, date and time of the function </a:t>
            </a:r>
          </a:p>
          <a:p>
            <a:pPr lvl="0">
              <a:spcBef>
                <a:spcPts val="600"/>
              </a:spcBef>
              <a:spcAft>
                <a:spcPts val="1200"/>
              </a:spcAft>
            </a:pPr>
            <a:r>
              <a:rPr lang="en-AU" sz="2200" dirty="0" smtClean="0">
                <a:latin typeface="Helvetica" pitchFamily="34" charset="0"/>
              </a:rPr>
              <a:t>Rooms and locations </a:t>
            </a:r>
          </a:p>
          <a:p>
            <a:pPr lvl="0">
              <a:spcBef>
                <a:spcPts val="600"/>
              </a:spcBef>
              <a:spcAft>
                <a:spcPts val="1200"/>
              </a:spcAft>
            </a:pPr>
            <a:r>
              <a:rPr lang="en-AU" sz="2200" dirty="0" err="1" smtClean="0">
                <a:latin typeface="Helvetica" pitchFamily="34" charset="0"/>
              </a:rPr>
              <a:t>Costings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289120426_10a8b4da62_m.jpg"/>
          <p:cNvPicPr>
            <a:picLocks noChangeAspect="1"/>
          </p:cNvPicPr>
          <p:nvPr/>
        </p:nvPicPr>
        <p:blipFill>
          <a:blip r:embed="rId3" cstate="print"/>
          <a:stretch>
            <a:fillRect/>
          </a:stretch>
        </p:blipFill>
        <p:spPr>
          <a:xfrm>
            <a:off x="6443216" y="3352800"/>
            <a:ext cx="1930400" cy="144780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Contents of an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Billing instructions </a:t>
            </a:r>
          </a:p>
          <a:p>
            <a:pPr lvl="0">
              <a:spcBef>
                <a:spcPts val="600"/>
              </a:spcBef>
              <a:spcAft>
                <a:spcPts val="1200"/>
              </a:spcAft>
            </a:pPr>
            <a:r>
              <a:rPr lang="en-AU" sz="2200" dirty="0" smtClean="0">
                <a:latin typeface="Helvetica" pitchFamily="34" charset="0"/>
              </a:rPr>
              <a:t>Menu </a:t>
            </a:r>
          </a:p>
          <a:p>
            <a:pPr lvl="0">
              <a:spcBef>
                <a:spcPts val="600"/>
              </a:spcBef>
              <a:spcAft>
                <a:spcPts val="1200"/>
              </a:spcAft>
            </a:pPr>
            <a:r>
              <a:rPr lang="en-AU" sz="2200" dirty="0" smtClean="0">
                <a:latin typeface="Helvetica" pitchFamily="34" charset="0"/>
              </a:rPr>
              <a:t>Beverage arrangements </a:t>
            </a:r>
          </a:p>
          <a:p>
            <a:pPr lvl="0">
              <a:spcBef>
                <a:spcPts val="600"/>
              </a:spcBef>
              <a:spcAft>
                <a:spcPts val="1200"/>
              </a:spcAft>
            </a:pPr>
            <a:r>
              <a:rPr lang="en-AU" sz="2200" dirty="0" smtClean="0">
                <a:latin typeface="Helvetica" pitchFamily="34" charset="0"/>
              </a:rPr>
              <a:t>Sequence of service </a:t>
            </a:r>
          </a:p>
          <a:p>
            <a:pPr lvl="0">
              <a:spcBef>
                <a:spcPts val="600"/>
              </a:spcBef>
              <a:spcAft>
                <a:spcPts val="1200"/>
              </a:spcAft>
            </a:pPr>
            <a:r>
              <a:rPr lang="en-AU" sz="2200" dirty="0" smtClean="0">
                <a:latin typeface="Helvetica" pitchFamily="34" charset="0"/>
              </a:rPr>
              <a:t>Entertainment </a:t>
            </a:r>
          </a:p>
          <a:p>
            <a:pPr lvl="0">
              <a:spcBef>
                <a:spcPts val="600"/>
              </a:spcBef>
              <a:spcAft>
                <a:spcPts val="1200"/>
              </a:spcAft>
            </a:pPr>
            <a:r>
              <a:rPr lang="en-AU" sz="2200" dirty="0" smtClean="0">
                <a:latin typeface="Helvetica" pitchFamily="34" charset="0"/>
              </a:rPr>
              <a:t>Room set up </a:t>
            </a:r>
          </a:p>
          <a:p>
            <a:pPr lvl="0">
              <a:spcBef>
                <a:spcPts val="600"/>
              </a:spcBef>
              <a:spcAft>
                <a:spcPts val="1200"/>
              </a:spcAft>
            </a:pPr>
            <a:r>
              <a:rPr lang="en-AU" sz="2200" dirty="0" smtClean="0">
                <a:latin typeface="Helvetica" pitchFamily="34" charset="0"/>
              </a:rPr>
              <a:t>Type of service</a:t>
            </a:r>
          </a:p>
          <a:p>
            <a:pPr>
              <a:spcBef>
                <a:spcPts val="600"/>
              </a:spcBef>
              <a:spcAft>
                <a:spcPts val="1200"/>
              </a:spcAft>
            </a:pPr>
            <a:r>
              <a:rPr lang="en-AU" sz="2200" dirty="0" smtClean="0">
                <a:latin typeface="Helvetica" pitchFamily="34" charset="0"/>
              </a:rPr>
              <a:t>Special requirements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descr="MP900423637.JPG"/>
          <p:cNvPicPr/>
          <p:nvPr/>
        </p:nvPicPr>
        <p:blipFill>
          <a:blip r:embed="rId3" cstate="print"/>
          <a:stretch>
            <a:fillRect/>
          </a:stretch>
        </p:blipFill>
        <p:spPr>
          <a:xfrm>
            <a:off x="6248400" y="2895600"/>
            <a:ext cx="1428750" cy="17526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Verify practicality and viability of event concept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Verify event brief with internal stakeholders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Once an event brief has been prepared, it is important to clarify and seek approval from different stakeholders within the organisation, to ensure that what is going to be proposed to the client is: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Accurate</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Possible to perform</a:t>
            </a: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Events.JPG"/>
          <p:cNvPicPr>
            <a:picLocks noChangeAspect="1"/>
          </p:cNvPicPr>
          <p:nvPr/>
        </p:nvPicPr>
        <p:blipFill>
          <a:blip r:embed="rId3" cstate="print"/>
          <a:stretch>
            <a:fillRect/>
          </a:stretch>
        </p:blipFill>
        <p:spPr>
          <a:xfrm>
            <a:off x="5943600" y="3657600"/>
            <a:ext cx="2209800" cy="1467703"/>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internal stakeholders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assistance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Seeking advice or suggestions</a:t>
            </a:r>
          </a:p>
          <a:p>
            <a:pPr lvl="0">
              <a:spcBef>
                <a:spcPts val="600"/>
              </a:spcBef>
              <a:spcAft>
                <a:spcPts val="1200"/>
              </a:spcAft>
            </a:pPr>
            <a:r>
              <a:rPr lang="en-AU" sz="2200" dirty="0" smtClean="0">
                <a:latin typeface="Helvetica" pitchFamily="34" charset="0"/>
              </a:rPr>
              <a:t>Confirming information</a:t>
            </a:r>
          </a:p>
          <a:p>
            <a:pPr lvl="0">
              <a:spcBef>
                <a:spcPts val="600"/>
              </a:spcBef>
              <a:spcAft>
                <a:spcPts val="1200"/>
              </a:spcAft>
            </a:pPr>
            <a:r>
              <a:rPr lang="en-AU" sz="2200" dirty="0" smtClean="0">
                <a:latin typeface="Helvetica" pitchFamily="34" charset="0"/>
              </a:rPr>
              <a:t>Updating them about preparations and purchases</a:t>
            </a:r>
          </a:p>
          <a:p>
            <a:pPr lvl="0">
              <a:spcBef>
                <a:spcPts val="600"/>
              </a:spcBef>
              <a:spcAft>
                <a:spcPts val="1200"/>
              </a:spcAft>
            </a:pPr>
            <a:r>
              <a:rPr lang="en-AU" sz="2200" dirty="0" smtClean="0">
                <a:latin typeface="Helvetica" pitchFamily="34" charset="0"/>
              </a:rPr>
              <a:t>Undertaking logistical activities and arrangements</a:t>
            </a:r>
          </a:p>
          <a:p>
            <a:pPr lvl="0">
              <a:spcBef>
                <a:spcPts val="600"/>
              </a:spcBef>
              <a:spcAft>
                <a:spcPts val="1200"/>
              </a:spcAft>
            </a:pPr>
            <a:r>
              <a:rPr lang="en-AU" sz="2200" dirty="0" smtClean="0">
                <a:latin typeface="Helvetica" pitchFamily="34" charset="0"/>
              </a:rPr>
              <a:t>Assisting them to meet function requirements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1026" name="Picture 2" descr="C:\Documents and Settings\danielc\Local Settings\Temporary Internet Files\Content.IE5\UMECW9PM\MC900071179[1].wmf"/>
          <p:cNvPicPr>
            <a:picLocks noChangeAspect="1" noChangeArrowheads="1"/>
          </p:cNvPicPr>
          <p:nvPr/>
        </p:nvPicPr>
        <p:blipFill>
          <a:blip r:embed="rId3" cstate="print"/>
          <a:srcRect/>
          <a:stretch>
            <a:fillRect/>
          </a:stretch>
        </p:blipFill>
        <p:spPr bwMode="auto">
          <a:xfrm>
            <a:off x="6477000" y="1371600"/>
            <a:ext cx="1497550" cy="1616798"/>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internal stakeholders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Who might be involved?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Executive Chef </a:t>
            </a:r>
          </a:p>
          <a:p>
            <a:pPr lvl="0">
              <a:spcBef>
                <a:spcPts val="600"/>
              </a:spcBef>
              <a:spcAft>
                <a:spcPts val="1200"/>
              </a:spcAft>
            </a:pPr>
            <a:r>
              <a:rPr lang="en-AU" sz="2200" dirty="0" smtClean="0">
                <a:latin typeface="Helvetica" pitchFamily="34" charset="0"/>
              </a:rPr>
              <a:t>Beverage Manager </a:t>
            </a:r>
          </a:p>
          <a:p>
            <a:pPr lvl="0">
              <a:spcBef>
                <a:spcPts val="600"/>
              </a:spcBef>
              <a:spcAft>
                <a:spcPts val="1200"/>
              </a:spcAft>
            </a:pPr>
            <a:r>
              <a:rPr lang="en-AU" sz="2200" dirty="0" smtClean="0">
                <a:latin typeface="Helvetica" pitchFamily="34" charset="0"/>
              </a:rPr>
              <a:t>Maintenance Department</a:t>
            </a:r>
          </a:p>
          <a:p>
            <a:pPr lvl="0">
              <a:spcBef>
                <a:spcPts val="600"/>
              </a:spcBef>
              <a:spcAft>
                <a:spcPts val="1200"/>
              </a:spcAft>
            </a:pPr>
            <a:r>
              <a:rPr lang="en-AU" sz="2200" dirty="0" smtClean="0">
                <a:latin typeface="Helvetica" pitchFamily="34" charset="0"/>
              </a:rPr>
              <a:t>Executive Housekeeper</a:t>
            </a:r>
          </a:p>
          <a:p>
            <a:pPr lvl="0">
              <a:spcBef>
                <a:spcPts val="600"/>
              </a:spcBef>
              <a:spcAft>
                <a:spcPts val="1200"/>
              </a:spcAft>
            </a:pPr>
            <a:r>
              <a:rPr lang="en-AU" sz="2200" dirty="0" smtClean="0">
                <a:latin typeface="Helvetica" pitchFamily="34" charset="0"/>
              </a:rPr>
              <a:t>Catering  and Conference Coordinator </a:t>
            </a:r>
          </a:p>
          <a:p>
            <a:pPr lvl="0">
              <a:spcBef>
                <a:spcPts val="600"/>
              </a:spcBef>
              <a:spcAft>
                <a:spcPts val="1200"/>
              </a:spcAft>
            </a:pPr>
            <a:r>
              <a:rPr lang="en-AU" sz="2200" dirty="0" smtClean="0">
                <a:latin typeface="Helvetica" pitchFamily="34" charset="0"/>
              </a:rPr>
              <a:t>Purchasing Manager</a:t>
            </a:r>
          </a:p>
          <a:p>
            <a:pPr lvl="0">
              <a:spcBef>
                <a:spcPts val="600"/>
              </a:spcBef>
              <a:spcAft>
                <a:spcPts val="1200"/>
              </a:spcAft>
            </a:pPr>
            <a:r>
              <a:rPr lang="en-AU" sz="2200" dirty="0" smtClean="0">
                <a:latin typeface="Helvetica" pitchFamily="34" charset="0"/>
              </a:rPr>
              <a:t>Front Office Manager</a:t>
            </a:r>
          </a:p>
          <a:p>
            <a:pPr lvl="0">
              <a:spcBef>
                <a:spcPts val="600"/>
              </a:spcBef>
              <a:spcAft>
                <a:spcPts val="1200"/>
              </a:spcAft>
            </a:pPr>
            <a:r>
              <a:rPr lang="en-AU" sz="2200" dirty="0" smtClean="0">
                <a:latin typeface="Helvetica" pitchFamily="34" charset="0"/>
              </a:rPr>
              <a:t>Security</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11111.jpg"/>
          <p:cNvPicPr>
            <a:picLocks noChangeAspect="1"/>
          </p:cNvPicPr>
          <p:nvPr/>
        </p:nvPicPr>
        <p:blipFill>
          <a:blip r:embed="rId3" cstate="print"/>
          <a:stretch>
            <a:fillRect/>
          </a:stretch>
        </p:blipFill>
        <p:spPr>
          <a:xfrm>
            <a:off x="6553200" y="2590800"/>
            <a:ext cx="1593659" cy="2386012"/>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internal stakeholders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00" y="1447800"/>
            <a:ext cx="7467600" cy="5606008"/>
          </a:xfrm>
        </p:spPr>
        <p:txBody>
          <a:bodyPr>
            <a:normAutofit/>
          </a:bodyPr>
          <a:lstStyle/>
          <a:p>
            <a:pPr>
              <a:spcBef>
                <a:spcPts val="600"/>
              </a:spcBef>
              <a:spcAft>
                <a:spcPts val="1200"/>
              </a:spcAft>
              <a:buNone/>
            </a:pPr>
            <a:r>
              <a:rPr lang="en-AU" sz="2200" b="1" dirty="0" smtClean="0">
                <a:latin typeface="Helvetica" pitchFamily="34" charset="0"/>
              </a:rPr>
              <a:t>What input can these people make?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Their previous experience </a:t>
            </a:r>
          </a:p>
          <a:p>
            <a:pPr lvl="0">
              <a:spcBef>
                <a:spcPts val="600"/>
              </a:spcBef>
              <a:spcAft>
                <a:spcPts val="1200"/>
              </a:spcAft>
            </a:pPr>
            <a:r>
              <a:rPr lang="en-AU" sz="2200" dirty="0" smtClean="0">
                <a:latin typeface="Helvetica" pitchFamily="34" charset="0"/>
              </a:rPr>
              <a:t>Their specialist areas of expertise </a:t>
            </a:r>
          </a:p>
          <a:p>
            <a:pPr lvl="0">
              <a:spcBef>
                <a:spcPts val="600"/>
              </a:spcBef>
              <a:spcAft>
                <a:spcPts val="1200"/>
              </a:spcAft>
            </a:pPr>
            <a:r>
              <a:rPr lang="en-AU" sz="2200" dirty="0" smtClean="0">
                <a:latin typeface="Helvetica" pitchFamily="34" charset="0"/>
              </a:rPr>
              <a:t>Their individual knowledge of:</a:t>
            </a:r>
          </a:p>
          <a:p>
            <a:pPr lvl="1">
              <a:spcBef>
                <a:spcPts val="600"/>
              </a:spcBef>
              <a:spcAft>
                <a:spcPts val="1200"/>
              </a:spcAft>
            </a:pPr>
            <a:r>
              <a:rPr lang="en-AU" sz="2200" dirty="0" smtClean="0">
                <a:latin typeface="Helvetica" pitchFamily="34" charset="0"/>
              </a:rPr>
              <a:t>The venue </a:t>
            </a:r>
          </a:p>
          <a:p>
            <a:pPr lvl="1">
              <a:spcBef>
                <a:spcPts val="600"/>
              </a:spcBef>
              <a:spcAft>
                <a:spcPts val="1200"/>
              </a:spcAft>
            </a:pPr>
            <a:r>
              <a:rPr lang="en-AU" sz="2200" dirty="0" smtClean="0">
                <a:latin typeface="Helvetica" pitchFamily="34" charset="0"/>
              </a:rPr>
              <a:t>What it can do</a:t>
            </a:r>
          </a:p>
          <a:p>
            <a:pPr lvl="1">
              <a:spcBef>
                <a:spcPts val="600"/>
              </a:spcBef>
              <a:spcAft>
                <a:spcPts val="1200"/>
              </a:spcAft>
            </a:pPr>
            <a:r>
              <a:rPr lang="en-AU" sz="2200" dirty="0" smtClean="0">
                <a:latin typeface="Helvetica" pitchFamily="34" charset="0"/>
              </a:rPr>
              <a:t>What it has to offer</a:t>
            </a:r>
          </a:p>
          <a:p>
            <a:pPr lvl="1">
              <a:spcBef>
                <a:spcPts val="600"/>
              </a:spcBef>
              <a:spcAft>
                <a:spcPts val="1200"/>
              </a:spcAft>
            </a:pPr>
            <a:r>
              <a:rPr lang="en-AU" sz="2200" dirty="0" smtClean="0">
                <a:latin typeface="Helvetica" pitchFamily="34" charset="0"/>
              </a:rPr>
              <a:t>What it has done successfully and unsuccessfully </a:t>
            </a:r>
            <a:br>
              <a:rPr lang="en-AU" sz="2200" dirty="0" smtClean="0">
                <a:latin typeface="Helvetica" pitchFamily="34" charset="0"/>
              </a:rPr>
            </a:br>
            <a:r>
              <a:rPr lang="en-AU" sz="2200" dirty="0" smtClean="0">
                <a:latin typeface="Helvetica" pitchFamily="34" charset="0"/>
              </a:rPr>
              <a:t>in the past</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6" name="Picture 5" descr="conference centre ad.jpg"/>
          <p:cNvPicPr>
            <a:picLocks noChangeAspect="1"/>
          </p:cNvPicPr>
          <p:nvPr/>
        </p:nvPicPr>
        <p:blipFill>
          <a:blip r:embed="rId3" cstate="print"/>
          <a:stretch>
            <a:fillRect/>
          </a:stretch>
        </p:blipFill>
        <p:spPr>
          <a:xfrm>
            <a:off x="6172200" y="3048000"/>
            <a:ext cx="2109211" cy="1500983"/>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logistical requirements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Identify event logistical requirements</a:t>
            </a:r>
          </a:p>
          <a:p>
            <a:pPr marL="0">
              <a:spcBef>
                <a:spcPts val="600"/>
              </a:spcBef>
              <a:spcAft>
                <a:spcPts val="1200"/>
              </a:spcAft>
              <a:buNone/>
            </a:pPr>
            <a:r>
              <a:rPr lang="en-AU" sz="2200" dirty="0" smtClean="0">
                <a:latin typeface="Helvetica" pitchFamily="34" charset="0"/>
              </a:rPr>
              <a:t>There are a number of logistical requirements that need to be determined when preparing for an event or function.</a:t>
            </a:r>
          </a:p>
          <a:p>
            <a:pPr>
              <a:spcBef>
                <a:spcPts val="600"/>
              </a:spcBef>
              <a:spcAft>
                <a:spcPts val="1200"/>
              </a:spcAft>
            </a:pPr>
            <a:r>
              <a:rPr lang="en-AU" sz="2200" dirty="0" smtClean="0">
                <a:latin typeface="Helvetica" pitchFamily="34" charset="0"/>
              </a:rPr>
              <a:t>What are examples of event logistical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6" name="Picture 5" descr="5890730525_fd3b27c5de_m.jpg"/>
          <p:cNvPicPr>
            <a:picLocks noChangeAspect="1"/>
          </p:cNvPicPr>
          <p:nvPr/>
        </p:nvPicPr>
        <p:blipFill>
          <a:blip r:embed="rId3" cstate="print"/>
          <a:stretch>
            <a:fillRect/>
          </a:stretch>
        </p:blipFill>
        <p:spPr>
          <a:xfrm>
            <a:off x="2971800" y="4114800"/>
            <a:ext cx="3048000" cy="170180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lnSpcReduction="10000"/>
          </a:bodyPr>
          <a:lstStyle/>
          <a:p>
            <a:pPr>
              <a:spcBef>
                <a:spcPts val="600"/>
              </a:spcBef>
              <a:spcAft>
                <a:spcPts val="600"/>
              </a:spcAft>
              <a:buNone/>
            </a:pPr>
            <a:r>
              <a:rPr lang="en-AU" sz="2200" b="1" dirty="0" smtClean="0">
                <a:latin typeface="Helvetica" pitchFamily="34" charset="0"/>
              </a:rPr>
              <a:t>Venue/location considerations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Location in relation to office, public transport or potential audience </a:t>
            </a:r>
          </a:p>
          <a:p>
            <a:pPr lvl="0">
              <a:spcBef>
                <a:spcPts val="600"/>
              </a:spcBef>
              <a:spcAft>
                <a:spcPts val="600"/>
              </a:spcAft>
            </a:pPr>
            <a:r>
              <a:rPr lang="en-AU" sz="2200" dirty="0" smtClean="0">
                <a:latin typeface="Helvetica" pitchFamily="34" charset="0"/>
              </a:rPr>
              <a:t>Indoor/outdoor location</a:t>
            </a:r>
          </a:p>
          <a:p>
            <a:pPr lvl="0">
              <a:spcBef>
                <a:spcPts val="600"/>
              </a:spcBef>
              <a:spcAft>
                <a:spcPts val="600"/>
              </a:spcAft>
            </a:pPr>
            <a:r>
              <a:rPr lang="en-AU" sz="2200" dirty="0" smtClean="0">
                <a:latin typeface="Helvetica" pitchFamily="34" charset="0"/>
              </a:rPr>
              <a:t>Venue quality or brand </a:t>
            </a:r>
          </a:p>
          <a:p>
            <a:pPr lvl="0">
              <a:spcBef>
                <a:spcPts val="600"/>
              </a:spcBef>
              <a:spcAft>
                <a:spcPts val="600"/>
              </a:spcAft>
            </a:pPr>
            <a:r>
              <a:rPr lang="en-AU" sz="2200" dirty="0" smtClean="0">
                <a:latin typeface="Helvetica" pitchFamily="34" charset="0"/>
              </a:rPr>
              <a:t>Space </a:t>
            </a:r>
          </a:p>
          <a:p>
            <a:pPr lvl="0">
              <a:spcBef>
                <a:spcPts val="600"/>
              </a:spcBef>
              <a:spcAft>
                <a:spcPts val="600"/>
              </a:spcAft>
            </a:pPr>
            <a:r>
              <a:rPr lang="en-AU" sz="2200" dirty="0" smtClean="0">
                <a:latin typeface="Helvetica" pitchFamily="34" charset="0"/>
              </a:rPr>
              <a:t>Reputation </a:t>
            </a:r>
          </a:p>
          <a:p>
            <a:pPr lvl="0">
              <a:spcBef>
                <a:spcPts val="600"/>
              </a:spcBef>
              <a:spcAft>
                <a:spcPts val="600"/>
              </a:spcAft>
            </a:pPr>
            <a:r>
              <a:rPr lang="en-AU" sz="2200" dirty="0" smtClean="0">
                <a:latin typeface="Helvetica" pitchFamily="34" charset="0"/>
              </a:rPr>
              <a:t>Aesthetic appeal </a:t>
            </a:r>
          </a:p>
          <a:p>
            <a:pPr lvl="0">
              <a:spcBef>
                <a:spcPts val="600"/>
              </a:spcBef>
              <a:spcAft>
                <a:spcPts val="600"/>
              </a:spcAft>
            </a:pPr>
            <a:r>
              <a:rPr lang="en-AU" sz="2200" dirty="0" smtClean="0">
                <a:latin typeface="Helvetica" pitchFamily="34" charset="0"/>
              </a:rPr>
              <a:t>Accommodation </a:t>
            </a:r>
          </a:p>
          <a:p>
            <a:pPr lvl="0">
              <a:spcBef>
                <a:spcPts val="600"/>
              </a:spcBef>
              <a:spcAft>
                <a:spcPts val="600"/>
              </a:spcAft>
            </a:pPr>
            <a:r>
              <a:rPr lang="en-AU" sz="2200" dirty="0" smtClean="0">
                <a:latin typeface="Helvetica" pitchFamily="34" charset="0"/>
              </a:rPr>
              <a:t>Venue facilities and services </a:t>
            </a:r>
          </a:p>
          <a:p>
            <a:pPr>
              <a:spcBef>
                <a:spcPts val="600"/>
              </a:spcBef>
              <a:spcAft>
                <a:spcPts val="600"/>
              </a:spcAft>
            </a:pPr>
            <a:r>
              <a:rPr lang="en-AU" sz="2200" dirty="0" smtClean="0">
                <a:latin typeface="Helvetica" pitchFamily="34" charset="0"/>
              </a:rPr>
              <a:t>Cost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4" descr="MP900438760[1].JPG"/>
          <p:cNvPicPr/>
          <p:nvPr/>
        </p:nvPicPr>
        <p:blipFill>
          <a:blip r:embed="rId3" cstate="print"/>
          <a:stretch>
            <a:fillRect/>
          </a:stretch>
        </p:blipFill>
        <p:spPr>
          <a:xfrm>
            <a:off x="5867400" y="3124200"/>
            <a:ext cx="2034902" cy="1311771"/>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smtClean="0">
                <a:solidFill>
                  <a:srgbClr val="FF6600"/>
                </a:solidFill>
                <a:latin typeface="Helvetica" pitchFamily="34" charset="0"/>
              </a:rPr>
              <a:t>Identify potential venues and sites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Hotels</a:t>
            </a:r>
          </a:p>
          <a:p>
            <a:pPr lvl="0">
              <a:spcBef>
                <a:spcPts val="600"/>
              </a:spcBef>
              <a:spcAft>
                <a:spcPts val="1200"/>
              </a:spcAft>
            </a:pPr>
            <a:r>
              <a:rPr lang="en-AU" sz="2200" dirty="0" smtClean="0">
                <a:latin typeface="Helvetica" pitchFamily="34" charset="0"/>
              </a:rPr>
              <a:t>Resorts</a:t>
            </a:r>
          </a:p>
          <a:p>
            <a:pPr lvl="0">
              <a:spcBef>
                <a:spcPts val="600"/>
              </a:spcBef>
              <a:spcAft>
                <a:spcPts val="1200"/>
              </a:spcAft>
            </a:pPr>
            <a:r>
              <a:rPr lang="en-AU" sz="2200" dirty="0" smtClean="0">
                <a:latin typeface="Helvetica" pitchFamily="34" charset="0"/>
              </a:rPr>
              <a:t>Restaurants</a:t>
            </a:r>
          </a:p>
          <a:p>
            <a:pPr lvl="0">
              <a:spcBef>
                <a:spcPts val="600"/>
              </a:spcBef>
              <a:spcAft>
                <a:spcPts val="1200"/>
              </a:spcAft>
            </a:pPr>
            <a:r>
              <a:rPr lang="en-AU" sz="2200" dirty="0" smtClean="0">
                <a:latin typeface="Helvetica" pitchFamily="34" charset="0"/>
              </a:rPr>
              <a:t>Homes for private functions</a:t>
            </a:r>
          </a:p>
          <a:p>
            <a:pPr lvl="0">
              <a:spcBef>
                <a:spcPts val="600"/>
              </a:spcBef>
              <a:spcAft>
                <a:spcPts val="1200"/>
              </a:spcAft>
            </a:pPr>
            <a:r>
              <a:rPr lang="en-AU" sz="2200" dirty="0" smtClean="0">
                <a:latin typeface="Helvetica" pitchFamily="34" charset="0"/>
              </a:rPr>
              <a:t>Schools, university and other educational providers</a:t>
            </a:r>
          </a:p>
          <a:p>
            <a:pPr lvl="0">
              <a:spcBef>
                <a:spcPts val="600"/>
              </a:spcBef>
              <a:spcAft>
                <a:spcPts val="1200"/>
              </a:spcAft>
            </a:pPr>
            <a:r>
              <a:rPr lang="en-AU" sz="2200" dirty="0" smtClean="0">
                <a:latin typeface="Helvetica" pitchFamily="34" charset="0"/>
              </a:rPr>
              <a:t>Meetings rooms</a:t>
            </a:r>
          </a:p>
          <a:p>
            <a:pPr lvl="0">
              <a:spcBef>
                <a:spcPts val="600"/>
              </a:spcBef>
              <a:spcAft>
                <a:spcPts val="1200"/>
              </a:spcAft>
            </a:pPr>
            <a:r>
              <a:rPr lang="en-AU" sz="2200" dirty="0" smtClean="0">
                <a:latin typeface="Helvetica" pitchFamily="34" charset="0"/>
              </a:rPr>
              <a:t>Banquet rooms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6" name="Picture 5" descr="MP900400284.JPG"/>
          <p:cNvPicPr/>
          <p:nvPr/>
        </p:nvPicPr>
        <p:blipFill>
          <a:blip r:embed="rId3" cstate="print"/>
          <a:stretch>
            <a:fillRect/>
          </a:stretch>
        </p:blipFill>
        <p:spPr>
          <a:xfrm>
            <a:off x="6019800" y="2514600"/>
            <a:ext cx="1920999" cy="144780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Convention halls</a:t>
            </a:r>
          </a:p>
          <a:p>
            <a:pPr lvl="0">
              <a:spcBef>
                <a:spcPts val="600"/>
              </a:spcBef>
              <a:spcAft>
                <a:spcPts val="1200"/>
              </a:spcAft>
            </a:pPr>
            <a:r>
              <a:rPr lang="en-AU" sz="2200" dirty="0" smtClean="0">
                <a:latin typeface="Helvetica" pitchFamily="34" charset="0"/>
              </a:rPr>
              <a:t>Exhibition centres</a:t>
            </a:r>
          </a:p>
          <a:p>
            <a:pPr lvl="0">
              <a:spcBef>
                <a:spcPts val="600"/>
              </a:spcBef>
              <a:spcAft>
                <a:spcPts val="1200"/>
              </a:spcAft>
            </a:pPr>
            <a:r>
              <a:rPr lang="en-AU" sz="2200" dirty="0" smtClean="0">
                <a:latin typeface="Helvetica" pitchFamily="34" charset="0"/>
              </a:rPr>
              <a:t>Reception wedding centres</a:t>
            </a:r>
          </a:p>
          <a:p>
            <a:pPr lvl="0">
              <a:spcBef>
                <a:spcPts val="600"/>
              </a:spcBef>
              <a:spcAft>
                <a:spcPts val="1200"/>
              </a:spcAft>
            </a:pPr>
            <a:r>
              <a:rPr lang="en-AU" sz="2200" dirty="0" smtClean="0">
                <a:latin typeface="Helvetica" pitchFamily="34" charset="0"/>
              </a:rPr>
              <a:t>Nature areas including open water, zoos, parks, wineries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7" name="Picture 6" descr="MP900399828.JPG"/>
          <p:cNvPicPr/>
          <p:nvPr/>
        </p:nvPicPr>
        <p:blipFill>
          <a:blip r:embed="rId3" cstate="print"/>
          <a:stretch>
            <a:fillRect/>
          </a:stretch>
        </p:blipFill>
        <p:spPr>
          <a:xfrm>
            <a:off x="5867400" y="2133600"/>
            <a:ext cx="2106146" cy="1379587"/>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Transportation vehicles – including planes, yachts, cars, buses </a:t>
            </a:r>
          </a:p>
          <a:p>
            <a:pPr lvl="0">
              <a:spcBef>
                <a:spcPts val="600"/>
              </a:spcBef>
              <a:spcAft>
                <a:spcPts val="1200"/>
              </a:spcAft>
            </a:pPr>
            <a:r>
              <a:rPr lang="en-AU" sz="2200" dirty="0" smtClean="0">
                <a:latin typeface="Helvetica" pitchFamily="34" charset="0"/>
              </a:rPr>
              <a:t>Festivals</a:t>
            </a:r>
          </a:p>
          <a:p>
            <a:pPr lvl="0">
              <a:spcBef>
                <a:spcPts val="600"/>
              </a:spcBef>
              <a:spcAft>
                <a:spcPts val="1200"/>
              </a:spcAft>
            </a:pPr>
            <a:r>
              <a:rPr lang="en-AU" sz="2200" dirty="0" smtClean="0">
                <a:latin typeface="Helvetica" pitchFamily="34" charset="0"/>
              </a:rPr>
              <a:t>Sporting venues</a:t>
            </a:r>
          </a:p>
          <a:p>
            <a:pPr lvl="0">
              <a:spcBef>
                <a:spcPts val="600"/>
              </a:spcBef>
              <a:spcAft>
                <a:spcPts val="1200"/>
              </a:spcAft>
            </a:pPr>
            <a:r>
              <a:rPr lang="en-AU" sz="2200" dirty="0" smtClean="0">
                <a:latin typeface="Helvetica" pitchFamily="34" charset="0"/>
              </a:rPr>
              <a:t>Government buildings and civic centres</a:t>
            </a:r>
          </a:p>
          <a:p>
            <a:pPr>
              <a:spcBef>
                <a:spcPts val="600"/>
              </a:spcBef>
              <a:spcAft>
                <a:spcPts val="1200"/>
              </a:spcAft>
            </a:pPr>
            <a:r>
              <a:rPr lang="en-AU" sz="2200" dirty="0" smtClean="0">
                <a:latin typeface="Helvetica" pitchFamily="34" charset="0"/>
              </a:rPr>
              <a:t>Museums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6" name="Picture 5" descr="Boat.jpg"/>
          <p:cNvPicPr>
            <a:picLocks noChangeAspect="1"/>
          </p:cNvPicPr>
          <p:nvPr/>
        </p:nvPicPr>
        <p:blipFill>
          <a:blip r:embed="rId3" cstate="print"/>
          <a:stretch>
            <a:fillRect/>
          </a:stretch>
        </p:blipFill>
        <p:spPr>
          <a:xfrm>
            <a:off x="6400800" y="2743200"/>
            <a:ext cx="1943860" cy="1320047"/>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Catering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Catering refers to the provision of food and beverages for an event</a:t>
            </a:r>
          </a:p>
          <a:p>
            <a:pPr>
              <a:spcBef>
                <a:spcPts val="600"/>
              </a:spcBef>
              <a:spcAft>
                <a:spcPts val="1200"/>
              </a:spcAft>
            </a:pPr>
            <a:r>
              <a:rPr lang="en-AU" sz="2200" dirty="0" smtClean="0">
                <a:latin typeface="Helvetica" pitchFamily="34" charset="0"/>
              </a:rPr>
              <a:t>Most events will have some element of food or beverage to it, either as the key component, as in the case of celebratory dinners and weddings, or maybe a secondary part such as a working lunch during a conference</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7" name="Picture 6" descr="Event 25.JPG"/>
          <p:cNvPicPr/>
          <p:nvPr/>
        </p:nvPicPr>
        <p:blipFill>
          <a:blip r:embed="rId3" cstate="print"/>
          <a:stretch>
            <a:fillRect/>
          </a:stretch>
        </p:blipFill>
        <p:spPr>
          <a:xfrm>
            <a:off x="3733800" y="4343400"/>
            <a:ext cx="1962522" cy="1485131"/>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Factors impacting catering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event factors that impact on catering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Available budget</a:t>
            </a:r>
          </a:p>
          <a:p>
            <a:pPr lvl="0">
              <a:spcBef>
                <a:spcPts val="600"/>
              </a:spcBef>
              <a:spcAft>
                <a:spcPts val="1200"/>
              </a:spcAft>
            </a:pPr>
            <a:r>
              <a:rPr lang="en-AU" sz="2200" dirty="0" smtClean="0">
                <a:latin typeface="Helvetica" pitchFamily="34" charset="0"/>
              </a:rPr>
              <a:t>Dates and time of function</a:t>
            </a:r>
          </a:p>
          <a:p>
            <a:pPr lvl="0">
              <a:spcBef>
                <a:spcPts val="600"/>
              </a:spcBef>
              <a:spcAft>
                <a:spcPts val="1200"/>
              </a:spcAft>
            </a:pPr>
            <a:r>
              <a:rPr lang="en-AU" sz="2200" dirty="0" smtClean="0">
                <a:latin typeface="Helvetica" pitchFamily="34" charset="0"/>
              </a:rPr>
              <a:t>Numbers of participants</a:t>
            </a:r>
          </a:p>
          <a:p>
            <a:pPr lvl="0">
              <a:spcBef>
                <a:spcPts val="600"/>
              </a:spcBef>
              <a:spcAft>
                <a:spcPts val="1200"/>
              </a:spcAft>
            </a:pPr>
            <a:r>
              <a:rPr lang="en-AU" sz="2200" dirty="0" smtClean="0">
                <a:latin typeface="Helvetica" pitchFamily="34" charset="0"/>
              </a:rPr>
              <a:t>Speed of service required due to timing demands on activities within an event</a:t>
            </a:r>
          </a:p>
          <a:p>
            <a:pPr lvl="0">
              <a:spcBef>
                <a:spcPts val="600"/>
              </a:spcBef>
              <a:spcAft>
                <a:spcPts val="1200"/>
              </a:spcAft>
            </a:pPr>
            <a:r>
              <a:rPr lang="en-AU" sz="2200" dirty="0" smtClean="0">
                <a:latin typeface="Helvetica" pitchFamily="34" charset="0"/>
              </a:rPr>
              <a:t>Types of food required</a:t>
            </a:r>
          </a:p>
          <a:p>
            <a:pPr lvl="0">
              <a:spcBef>
                <a:spcPts val="600"/>
              </a:spcBef>
              <a:spcAft>
                <a:spcPts val="1200"/>
              </a:spcAft>
            </a:pPr>
            <a:r>
              <a:rPr lang="en-AU" sz="2200" dirty="0" smtClean="0">
                <a:latin typeface="Helvetica" pitchFamily="34" charset="0"/>
              </a:rPr>
              <a:t>Service styles required</a:t>
            </a:r>
          </a:p>
          <a:p>
            <a:pPr lvl="0">
              <a:spcBef>
                <a:spcPts val="600"/>
              </a:spcBef>
              <a:spcAft>
                <a:spcPts val="1200"/>
              </a:spcAft>
            </a:pPr>
            <a:r>
              <a:rPr lang="en-AU" sz="2200" dirty="0" smtClean="0">
                <a:latin typeface="Helvetica" pitchFamily="34" charset="0"/>
              </a:rPr>
              <a:t>Cuisines preferred</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6" name="Picture 5" descr="Food 1.JPG"/>
          <p:cNvPicPr/>
          <p:nvPr/>
        </p:nvPicPr>
        <p:blipFill>
          <a:blip r:embed="rId3" cstate="print"/>
          <a:stretch>
            <a:fillRect/>
          </a:stretch>
        </p:blipFill>
        <p:spPr>
          <a:xfrm>
            <a:off x="6019800" y="2286000"/>
            <a:ext cx="2073002" cy="1407592"/>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Factors impacting catering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event factors that impact on catering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 of event</a:t>
            </a:r>
          </a:p>
          <a:p>
            <a:pPr lvl="0">
              <a:spcBef>
                <a:spcPts val="600"/>
              </a:spcBef>
              <a:spcAft>
                <a:spcPts val="1200"/>
              </a:spcAft>
            </a:pPr>
            <a:r>
              <a:rPr lang="en-AU" sz="2200" dirty="0" smtClean="0">
                <a:latin typeface="Helvetica" pitchFamily="34" charset="0"/>
              </a:rPr>
              <a:t>Seasonal influences</a:t>
            </a:r>
          </a:p>
          <a:p>
            <a:pPr lvl="0">
              <a:spcBef>
                <a:spcPts val="600"/>
              </a:spcBef>
              <a:spcAft>
                <a:spcPts val="1200"/>
              </a:spcAft>
            </a:pPr>
            <a:r>
              <a:rPr lang="en-AU" sz="2200" dirty="0" smtClean="0">
                <a:latin typeface="Helvetica" pitchFamily="34" charset="0"/>
              </a:rPr>
              <a:t>Nature of event</a:t>
            </a:r>
          </a:p>
          <a:p>
            <a:pPr lvl="0">
              <a:spcBef>
                <a:spcPts val="600"/>
              </a:spcBef>
              <a:spcAft>
                <a:spcPts val="1200"/>
              </a:spcAft>
            </a:pPr>
            <a:r>
              <a:rPr lang="en-AU" sz="2200" dirty="0" smtClean="0">
                <a:latin typeface="Helvetica" pitchFamily="34" charset="0"/>
              </a:rPr>
              <a:t>Production and transport issues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General logistics </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Staffing</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Pre- and post-function activities</a:t>
            </a:r>
            <a:endParaRPr lang="en-AU" sz="2200" b="1"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7" name="Picture 6" descr="Group.jpg"/>
          <p:cNvPicPr/>
          <p:nvPr/>
        </p:nvPicPr>
        <p:blipFill>
          <a:blip r:embed="rId3" cstate="print"/>
          <a:stretch>
            <a:fillRect/>
          </a:stretch>
        </p:blipFill>
        <p:spPr>
          <a:xfrm>
            <a:off x="5943600" y="2819400"/>
            <a:ext cx="2191365" cy="1508175"/>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menu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Menu considerations</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Styles of functions</a:t>
            </a:r>
          </a:p>
          <a:p>
            <a:pPr marL="0">
              <a:spcBef>
                <a:spcPts val="600"/>
              </a:spcBef>
              <a:spcAft>
                <a:spcPts val="1200"/>
              </a:spcAft>
            </a:pPr>
            <a:r>
              <a:rPr lang="en-AU" sz="2200" dirty="0" smtClean="0">
                <a:latin typeface="Helvetica" pitchFamily="34" charset="0"/>
              </a:rPr>
              <a:t>Styles of service required</a:t>
            </a:r>
          </a:p>
          <a:p>
            <a:pPr marL="0">
              <a:spcBef>
                <a:spcPts val="600"/>
              </a:spcBef>
              <a:spcAft>
                <a:spcPts val="1200"/>
              </a:spcAft>
            </a:pPr>
            <a:r>
              <a:rPr lang="en-AU" sz="2200" dirty="0" smtClean="0">
                <a:latin typeface="Helvetica" pitchFamily="34" charset="0"/>
              </a:rPr>
              <a:t>Timing of functions</a:t>
            </a:r>
          </a:p>
          <a:p>
            <a:pPr marL="0">
              <a:spcBef>
                <a:spcPts val="600"/>
              </a:spcBef>
              <a:spcAft>
                <a:spcPts val="1200"/>
              </a:spcAft>
            </a:pPr>
            <a:r>
              <a:rPr lang="en-AU" sz="2200" dirty="0" smtClean="0">
                <a:latin typeface="Helvetica" pitchFamily="34" charset="0"/>
              </a:rPr>
              <a:t>Providing a variety of price points</a:t>
            </a:r>
          </a:p>
          <a:p>
            <a:pPr marL="0">
              <a:spcBef>
                <a:spcPts val="600"/>
              </a:spcBef>
              <a:spcAft>
                <a:spcPts val="1200"/>
              </a:spcAft>
            </a:pPr>
            <a:r>
              <a:rPr lang="en-AU" sz="2200" dirty="0" smtClean="0">
                <a:latin typeface="Helvetica" pitchFamily="34" charset="0"/>
              </a:rPr>
              <a:t>Having inclusive and non-inclusive menus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7" name="Picture 6" descr="4115567596_b08d3a9db2_m.jpg"/>
          <p:cNvPicPr/>
          <p:nvPr/>
        </p:nvPicPr>
        <p:blipFill>
          <a:blip r:embed="rId3" cstate="print"/>
          <a:stretch>
            <a:fillRect/>
          </a:stretch>
        </p:blipFill>
        <p:spPr>
          <a:xfrm>
            <a:off x="6172200" y="2133600"/>
            <a:ext cx="1917700" cy="1438275"/>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types and styles of food and beverage menus will vary greatly depending on:</a:t>
            </a:r>
          </a:p>
          <a:p>
            <a:pPr>
              <a:spcBef>
                <a:spcPts val="600"/>
              </a:spcBef>
              <a:spcAft>
                <a:spcPts val="1200"/>
              </a:spcAft>
            </a:pPr>
            <a:r>
              <a:rPr lang="en-AU" sz="2200" dirty="0" smtClean="0">
                <a:latin typeface="Helvetica" pitchFamily="34" charset="0"/>
              </a:rPr>
              <a:t>Size and style of the venue</a:t>
            </a:r>
          </a:p>
          <a:p>
            <a:pPr>
              <a:spcBef>
                <a:spcPts val="600"/>
              </a:spcBef>
              <a:spcAft>
                <a:spcPts val="1200"/>
              </a:spcAft>
            </a:pPr>
            <a:r>
              <a:rPr lang="en-AU" sz="2200" dirty="0" smtClean="0">
                <a:latin typeface="Helvetica" pitchFamily="34" charset="0"/>
              </a:rPr>
              <a:t>Type of function</a:t>
            </a:r>
          </a:p>
          <a:p>
            <a:pPr>
              <a:spcBef>
                <a:spcPts val="600"/>
              </a:spcBef>
              <a:spcAft>
                <a:spcPts val="1200"/>
              </a:spcAft>
            </a:pPr>
            <a:r>
              <a:rPr lang="en-AU" sz="2200" dirty="0" smtClean="0">
                <a:latin typeface="Helvetica" pitchFamily="34" charset="0"/>
              </a:rPr>
              <a:t>Available budget </a:t>
            </a:r>
          </a:p>
          <a:p>
            <a:pPr>
              <a:spcBef>
                <a:spcPts val="600"/>
              </a:spcBef>
              <a:spcAft>
                <a:spcPts val="1200"/>
              </a:spcAft>
            </a:pPr>
            <a:r>
              <a:rPr lang="en-AU" sz="2200" dirty="0" smtClean="0">
                <a:latin typeface="Helvetica" pitchFamily="34" charset="0"/>
              </a:rPr>
              <a:t>Client preferences</a:t>
            </a:r>
          </a:p>
          <a:p>
            <a:pPr>
              <a:spcBef>
                <a:spcPts val="600"/>
              </a:spcBef>
              <a:spcAft>
                <a:spcPts val="1200"/>
              </a:spcAft>
            </a:pPr>
            <a:r>
              <a:rPr lang="en-AU" sz="2200" dirty="0" smtClean="0">
                <a:latin typeface="Helvetica" pitchFamily="34" charset="0"/>
              </a:rPr>
              <a:t>Nature of the function</a:t>
            </a:r>
          </a:p>
          <a:p>
            <a:pPr>
              <a:spcBef>
                <a:spcPts val="600"/>
              </a:spcBef>
              <a:spcAft>
                <a:spcPts val="1200"/>
              </a:spcAft>
            </a:pPr>
            <a:r>
              <a:rPr lang="en-AU" sz="2200" dirty="0" smtClean="0">
                <a:latin typeface="Helvetica" pitchFamily="34" charset="0"/>
              </a:rPr>
              <a:t>Various timing factors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4098" name="Picture 2" descr="C:\Documents and Settings\danielc\Local Settings\Temporary Internet Files\Content.IE5\XGIII3N1\MP900422646[1].jpg"/>
          <p:cNvPicPr>
            <a:picLocks noChangeAspect="1" noChangeArrowheads="1"/>
          </p:cNvPicPr>
          <p:nvPr/>
        </p:nvPicPr>
        <p:blipFill>
          <a:blip r:embed="rId3" cstate="print"/>
          <a:srcRect/>
          <a:stretch>
            <a:fillRect/>
          </a:stretch>
        </p:blipFill>
        <p:spPr bwMode="auto">
          <a:xfrm>
            <a:off x="5867400" y="3200400"/>
            <a:ext cx="2414625" cy="1620440"/>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One of the key requirements when planning for a function is to ensure that you are adequately staffed for the event</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7" name="Picture 6" descr="j0302924.jpg"/>
          <p:cNvPicPr/>
          <p:nvPr/>
        </p:nvPicPr>
        <p:blipFill>
          <a:blip r:embed="rId3" cstate="print"/>
          <a:stretch>
            <a:fillRect/>
          </a:stretch>
        </p:blipFill>
        <p:spPr>
          <a:xfrm>
            <a:off x="5867400" y="2819400"/>
            <a:ext cx="2105025" cy="1457325"/>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Impacts on staffing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amount and type of staff required to service a function will greatly depend on the:</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Service requirements</a:t>
            </a:r>
          </a:p>
          <a:p>
            <a:pPr lvl="0">
              <a:spcBef>
                <a:spcPts val="600"/>
              </a:spcBef>
              <a:spcAft>
                <a:spcPts val="1200"/>
              </a:spcAft>
            </a:pPr>
            <a:r>
              <a:rPr lang="en-AU" sz="2200" dirty="0" smtClean="0">
                <a:latin typeface="Helvetica" pitchFamily="34" charset="0"/>
              </a:rPr>
              <a:t>Numbers attending</a:t>
            </a:r>
          </a:p>
          <a:p>
            <a:pPr lvl="0">
              <a:spcBef>
                <a:spcPts val="600"/>
              </a:spcBef>
              <a:spcAft>
                <a:spcPts val="1200"/>
              </a:spcAft>
            </a:pPr>
            <a:r>
              <a:rPr lang="en-AU" sz="2200" dirty="0" smtClean="0">
                <a:latin typeface="Helvetica" pitchFamily="34" charset="0"/>
              </a:rPr>
              <a:t>Level of service required </a:t>
            </a:r>
          </a:p>
          <a:p>
            <a:pPr lvl="0">
              <a:spcBef>
                <a:spcPts val="600"/>
              </a:spcBef>
              <a:spcAft>
                <a:spcPts val="1200"/>
              </a:spcAft>
            </a:pPr>
            <a:r>
              <a:rPr lang="en-AU" sz="2200" dirty="0" smtClean="0">
                <a:latin typeface="Helvetica" pitchFamily="34" charset="0"/>
              </a:rPr>
              <a:t>Host of associated miscellaneous details</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6" name="Picture 5" descr="W-A 6-4-04 -233_RT8 - students in Culinary class.jpg"/>
          <p:cNvPicPr>
            <a:picLocks noChangeAspect="1"/>
          </p:cNvPicPr>
          <p:nvPr/>
        </p:nvPicPr>
        <p:blipFill>
          <a:blip r:embed="rId3" cstate="print"/>
          <a:stretch>
            <a:fillRect/>
          </a:stretch>
        </p:blipFill>
        <p:spPr>
          <a:xfrm>
            <a:off x="5715000" y="3200400"/>
            <a:ext cx="2302764" cy="1535176"/>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marL="0">
              <a:spcBef>
                <a:spcPts val="600"/>
              </a:spcBef>
              <a:spcAft>
                <a:spcPts val="1200"/>
              </a:spcAft>
              <a:buNone/>
            </a:pPr>
            <a:r>
              <a:rPr lang="en-AU" sz="2200" dirty="0" smtClean="0"/>
              <a:t>D</a:t>
            </a:r>
            <a:r>
              <a:rPr lang="en-AU" sz="2200" dirty="0" smtClean="0">
                <a:latin typeface="Helvetica" pitchFamily="34" charset="0"/>
              </a:rPr>
              <a:t>etermining how many staff are needed or can be afforded </a:t>
            </a:r>
            <a:r>
              <a:rPr lang="en-AU" sz="2200" dirty="0" smtClean="0"/>
              <a:t>for</a:t>
            </a:r>
            <a:r>
              <a:rPr lang="en-AU" sz="2200" dirty="0" smtClean="0">
                <a:latin typeface="Helvetica" pitchFamily="34" charset="0"/>
              </a:rPr>
              <a:t> a function is based on a number of factors.</a:t>
            </a:r>
          </a:p>
          <a:p>
            <a:pPr marL="0">
              <a:spcBef>
                <a:spcPts val="600"/>
              </a:spcBef>
              <a:spcAft>
                <a:spcPts val="1200"/>
              </a:spcAft>
              <a:buNone/>
            </a:pPr>
            <a:r>
              <a:rPr lang="en-AU" sz="2200" dirty="0" smtClean="0">
                <a:latin typeface="Helvetica" pitchFamily="34" charset="0"/>
              </a:rPr>
              <a:t>The following slides provide an overview of staffing needs for different function types. </a:t>
            </a:r>
          </a:p>
          <a:p>
            <a:pPr>
              <a:spcBef>
                <a:spcPts val="600"/>
              </a:spcBef>
              <a:spcAft>
                <a:spcPts val="1200"/>
              </a:spcAft>
            </a:pPr>
            <a:r>
              <a:rPr lang="en-AU" sz="2200" dirty="0" smtClean="0">
                <a:latin typeface="Helvetica" pitchFamily="34" charset="0"/>
              </a:rPr>
              <a:t>What are these factors?</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7" name="Picture 6" descr="5.jpg"/>
          <p:cNvPicPr/>
          <p:nvPr/>
        </p:nvPicPr>
        <p:blipFill>
          <a:blip r:embed="rId3" cstate="print"/>
          <a:stretch>
            <a:fillRect/>
          </a:stretch>
        </p:blipFill>
        <p:spPr>
          <a:xfrm>
            <a:off x="5943600" y="3810000"/>
            <a:ext cx="1952105" cy="1299389"/>
          </a:xfrm>
          <a:prstGeom prst="rect">
            <a:avLst/>
          </a:prstGeom>
          <a:noFill/>
          <a:ln>
            <a:noFill/>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Breakfast Function – Self-service – Continental Menu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and service the buffet</a:t>
            </a:r>
          </a:p>
          <a:p>
            <a:pPr lvl="0">
              <a:spcBef>
                <a:spcPts val="600"/>
              </a:spcBef>
              <a:spcAft>
                <a:spcPts val="1200"/>
              </a:spcAft>
            </a:pPr>
            <a:r>
              <a:rPr lang="en-AU" sz="2200" dirty="0" smtClean="0">
                <a:latin typeface="Helvetica" pitchFamily="34" charset="0"/>
              </a:rPr>
              <a:t>Staff to greet and seat customers </a:t>
            </a:r>
          </a:p>
          <a:p>
            <a:pPr lvl="0">
              <a:spcBef>
                <a:spcPts val="600"/>
              </a:spcBef>
              <a:spcAft>
                <a:spcPts val="1200"/>
              </a:spcAft>
            </a:pPr>
            <a:r>
              <a:rPr lang="en-AU" sz="2200" dirty="0" smtClean="0">
                <a:latin typeface="Helvetica" pitchFamily="34" charset="0"/>
              </a:rPr>
              <a:t>Waiting staff to clear away unwanted crockery, </a:t>
            </a:r>
            <a:br>
              <a:rPr lang="en-AU" sz="2200" dirty="0" smtClean="0">
                <a:latin typeface="Helvetica" pitchFamily="34" charset="0"/>
              </a:rPr>
            </a:br>
            <a:r>
              <a:rPr lang="en-AU" sz="2200" dirty="0" smtClean="0">
                <a:latin typeface="Helvetica" pitchFamily="34" charset="0"/>
              </a:rPr>
              <a:t>cutlery and glassware </a:t>
            </a:r>
          </a:p>
          <a:p>
            <a:pPr>
              <a:spcBef>
                <a:spcPts val="600"/>
              </a:spcBef>
              <a:spcAft>
                <a:spcPts val="1200"/>
              </a:spcAft>
            </a:pPr>
            <a:r>
              <a:rPr lang="en-AU" sz="2200" dirty="0" smtClean="0">
                <a:latin typeface="Helvetica" pitchFamily="34" charset="0"/>
              </a:rPr>
              <a:t>Staff to clean up function and set for lunch</a:t>
            </a:r>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6" name="Picture 5" descr="MP900430476.JPG"/>
          <p:cNvPicPr>
            <a:picLocks noChangeAspect="1"/>
          </p:cNvPicPr>
          <p:nvPr/>
        </p:nvPicPr>
        <p:blipFill>
          <a:blip r:embed="rId3" cstate="print"/>
          <a:stretch>
            <a:fillRect/>
          </a:stretch>
        </p:blipFill>
        <p:spPr>
          <a:xfrm>
            <a:off x="7239000" y="3124200"/>
            <a:ext cx="1524000" cy="15240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Cocktail Party – Informal Function – Stand up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function area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Waiting staff to carry platters of food </a:t>
            </a:r>
          </a:p>
          <a:p>
            <a:pPr>
              <a:spcBef>
                <a:spcPts val="600"/>
              </a:spcBef>
              <a:spcAft>
                <a:spcPts val="1200"/>
              </a:spcAft>
            </a:pPr>
            <a:r>
              <a:rPr lang="en-AU" sz="2200" dirty="0" smtClean="0">
                <a:latin typeface="Helvetica" pitchFamily="34" charset="0"/>
              </a:rPr>
              <a:t>Staff to clean up the area after function</a:t>
            </a: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4" descr="MP900423637.JPG"/>
          <p:cNvPicPr>
            <a:picLocks noChangeAspect="1"/>
          </p:cNvPicPr>
          <p:nvPr/>
        </p:nvPicPr>
        <p:blipFill>
          <a:blip r:embed="rId3" cstate="print"/>
          <a:stretch>
            <a:fillRect/>
          </a:stretch>
        </p:blipFill>
        <p:spPr>
          <a:xfrm>
            <a:off x="6629400" y="2743200"/>
            <a:ext cx="1663154" cy="2032303"/>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Formal dinner party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function area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Waiting staff to provide semi-silver service to guests </a:t>
            </a:r>
          </a:p>
          <a:p>
            <a:pPr lvl="0">
              <a:spcBef>
                <a:spcPts val="600"/>
              </a:spcBef>
              <a:spcAft>
                <a:spcPts val="1200"/>
              </a:spcAft>
            </a:pPr>
            <a:r>
              <a:rPr lang="en-AU" sz="2200" dirty="0" smtClean="0">
                <a:latin typeface="Helvetica" pitchFamily="34" charset="0"/>
              </a:rPr>
              <a:t>Staff to clean up the area after function </a:t>
            </a:r>
          </a:p>
          <a:p>
            <a:pPr lvl="0">
              <a:spcBef>
                <a:spcPts val="600"/>
              </a:spcBef>
              <a:spcAft>
                <a:spcPts val="1200"/>
              </a:spcAft>
            </a:pPr>
            <a:r>
              <a:rPr lang="en-AU" sz="2200" dirty="0" smtClean="0">
                <a:latin typeface="Helvetica" pitchFamily="34" charset="0"/>
              </a:rPr>
              <a:t>Security staff</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7980146352_347de3a905_m.jpg"/>
          <p:cNvPicPr>
            <a:picLocks noChangeAspect="1"/>
          </p:cNvPicPr>
          <p:nvPr/>
        </p:nvPicPr>
        <p:blipFill>
          <a:blip r:embed="rId3" cstate="print"/>
          <a:stretch>
            <a:fillRect/>
          </a:stretch>
        </p:blipFill>
        <p:spPr>
          <a:xfrm>
            <a:off x="6172200" y="1676400"/>
            <a:ext cx="1828800" cy="137160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General party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assist with decorations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Staff to coordinate and play music (DJ) </a:t>
            </a:r>
          </a:p>
          <a:p>
            <a:pPr lvl="0">
              <a:spcBef>
                <a:spcPts val="600"/>
              </a:spcBef>
              <a:spcAft>
                <a:spcPts val="1200"/>
              </a:spcAft>
            </a:pPr>
            <a:r>
              <a:rPr lang="en-AU" sz="2200" dirty="0" smtClean="0">
                <a:latin typeface="Helvetica" pitchFamily="34" charset="0"/>
              </a:rPr>
              <a:t>Staff to carry platters of food </a:t>
            </a:r>
          </a:p>
          <a:p>
            <a:pPr>
              <a:spcBef>
                <a:spcPts val="600"/>
              </a:spcBef>
              <a:spcAft>
                <a:spcPts val="1200"/>
              </a:spcAft>
            </a:pPr>
            <a:r>
              <a:rPr lang="en-AU" sz="2200" dirty="0" smtClean="0">
                <a:latin typeface="Helvetica" pitchFamily="34" charset="0"/>
              </a:rPr>
              <a:t>Security staff</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MP900430462[1].JPG"/>
          <p:cNvPicPr>
            <a:picLocks noChangeAspect="1"/>
          </p:cNvPicPr>
          <p:nvPr/>
        </p:nvPicPr>
        <p:blipFill>
          <a:blip r:embed="rId3" cstate="print"/>
          <a:stretch>
            <a:fillRect/>
          </a:stretch>
        </p:blipFill>
        <p:spPr>
          <a:xfrm>
            <a:off x="6781800" y="2819400"/>
            <a:ext cx="1600200" cy="160020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Productivity standards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Every job has standards of performance that are required to be met by the employee undertaking that job</a:t>
            </a:r>
          </a:p>
          <a:p>
            <a:pPr>
              <a:spcBef>
                <a:spcPts val="600"/>
              </a:spcBef>
              <a:spcAft>
                <a:spcPts val="1200"/>
              </a:spcAft>
            </a:pPr>
            <a:r>
              <a:rPr lang="en-AU" sz="2200" dirty="0" smtClean="0">
                <a:latin typeface="Helvetica" pitchFamily="34" charset="0"/>
              </a:rPr>
              <a:t>‘Expected levels of output’</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6123109402_e84fd8b129_m.jpg"/>
          <p:cNvPicPr>
            <a:picLocks noChangeAspect="1"/>
          </p:cNvPicPr>
          <p:nvPr/>
        </p:nvPicPr>
        <p:blipFill>
          <a:blip r:embed="rId3" cstate="print"/>
          <a:stretch>
            <a:fillRect/>
          </a:stretch>
        </p:blipFill>
        <p:spPr>
          <a:xfrm>
            <a:off x="6934200" y="3124200"/>
            <a:ext cx="1270000" cy="190500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0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Productivity standards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Performance standards are targets including:</a:t>
            </a:r>
          </a:p>
          <a:p>
            <a:pPr lvl="0">
              <a:spcBef>
                <a:spcPts val="600"/>
              </a:spcBef>
              <a:spcAft>
                <a:spcPts val="1200"/>
              </a:spcAft>
            </a:pPr>
            <a:r>
              <a:rPr lang="en-AU" sz="2200" dirty="0" smtClean="0">
                <a:latin typeface="Helvetica" pitchFamily="34" charset="0"/>
              </a:rPr>
              <a:t>Food waiters may be expected to serve X number of people </a:t>
            </a:r>
          </a:p>
          <a:p>
            <a:pPr lvl="0">
              <a:spcBef>
                <a:spcPts val="600"/>
              </a:spcBef>
              <a:spcAft>
                <a:spcPts val="1200"/>
              </a:spcAft>
            </a:pPr>
            <a:r>
              <a:rPr lang="en-AU" sz="2200" dirty="0" smtClean="0">
                <a:latin typeface="Helvetica" pitchFamily="34" charset="0"/>
              </a:rPr>
              <a:t>One bartender is used to serve X number of customers</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5" name="Picture 4" descr="Event 30.JPG"/>
          <p:cNvPicPr/>
          <p:nvPr/>
        </p:nvPicPr>
        <p:blipFill>
          <a:blip r:embed="rId3" cstate="print"/>
          <a:stretch>
            <a:fillRect/>
          </a:stretch>
        </p:blipFill>
        <p:spPr>
          <a:xfrm>
            <a:off x="3276600" y="4495800"/>
            <a:ext cx="2165120" cy="1447800"/>
          </a:xfrm>
          <a:prstGeom prst="rect">
            <a:avLst/>
          </a:prstGeom>
          <a:noFill/>
          <a:ln>
            <a:noFill/>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Budget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Rosters of functions need to consider relevant staff budgets </a:t>
            </a:r>
          </a:p>
          <a:p>
            <a:pPr>
              <a:spcBef>
                <a:spcPts val="600"/>
              </a:spcBef>
              <a:spcAft>
                <a:spcPts val="1200"/>
              </a:spcAft>
            </a:pPr>
            <a:r>
              <a:rPr lang="en-AU" sz="2200" dirty="0" smtClean="0">
                <a:latin typeface="Helvetica" pitchFamily="34" charset="0"/>
              </a:rPr>
              <a:t>The cost of employing someone does not just mean their wages, but also includes many other costs</a:t>
            </a: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MP900431290.JPG"/>
          <p:cNvPicPr>
            <a:picLocks noChangeAspect="1"/>
          </p:cNvPicPr>
          <p:nvPr/>
        </p:nvPicPr>
        <p:blipFill>
          <a:blip r:embed="rId3" cstate="print"/>
          <a:stretch>
            <a:fillRect/>
          </a:stretch>
        </p:blipFill>
        <p:spPr>
          <a:xfrm>
            <a:off x="3810000" y="4267200"/>
            <a:ext cx="1676400" cy="167640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Allocating the right mix of staff</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When rostering staff it is essential to use the available skill sets and competencies of available staff to match the type of function</a:t>
            </a:r>
          </a:p>
          <a:p>
            <a:pPr>
              <a:spcBef>
                <a:spcPts val="600"/>
              </a:spcBef>
              <a:spcAft>
                <a:spcPts val="1200"/>
              </a:spcAft>
            </a:pPr>
            <a:r>
              <a:rPr lang="en-AU" sz="2200" dirty="0" smtClean="0">
                <a:latin typeface="Helvetica" pitchFamily="34" charset="0"/>
              </a:rPr>
              <a:t>Staff should complement each other and provide a balanced service</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7" name="Picture 6" descr="MP900422804[1].JPG"/>
          <p:cNvPicPr/>
          <p:nvPr/>
        </p:nvPicPr>
        <p:blipFill>
          <a:blip r:embed="rId3" cstate="print"/>
          <a:stretch>
            <a:fillRect/>
          </a:stretch>
        </p:blipFill>
        <p:spPr>
          <a:xfrm>
            <a:off x="3886200" y="4343400"/>
            <a:ext cx="1676400" cy="1676400"/>
          </a:xfrm>
          <a:prstGeom prst="rect">
            <a:avLst/>
          </a:prstGeom>
          <a:noFill/>
          <a:ln>
            <a:noFill/>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Factors influencing the mix of staff</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mix of:</a:t>
            </a:r>
          </a:p>
          <a:p>
            <a:pPr>
              <a:spcBef>
                <a:spcPts val="600"/>
              </a:spcBef>
              <a:spcAft>
                <a:spcPts val="1200"/>
              </a:spcAft>
            </a:pPr>
            <a:r>
              <a:rPr lang="en-AU" sz="2200" dirty="0" smtClean="0">
                <a:latin typeface="Helvetica" pitchFamily="34" charset="0"/>
              </a:rPr>
              <a:t>Experienced staff and new staff</a:t>
            </a:r>
          </a:p>
          <a:p>
            <a:pPr>
              <a:spcBef>
                <a:spcPts val="600"/>
              </a:spcBef>
              <a:spcAft>
                <a:spcPts val="1200"/>
              </a:spcAft>
            </a:pPr>
            <a:r>
              <a:rPr lang="en-AU" sz="2200" dirty="0" smtClean="0">
                <a:latin typeface="Helvetica" pitchFamily="34" charset="0"/>
              </a:rPr>
              <a:t>Permanent and casually employed staff</a:t>
            </a:r>
          </a:p>
          <a:p>
            <a:pPr>
              <a:spcBef>
                <a:spcPts val="600"/>
              </a:spcBef>
              <a:spcAft>
                <a:spcPts val="1200"/>
              </a:spcAft>
            </a:pPr>
            <a:r>
              <a:rPr lang="en-AU" sz="2200" dirty="0" smtClean="0">
                <a:latin typeface="Helvetica" pitchFamily="34" charset="0"/>
              </a:rPr>
              <a:t>Males to females</a:t>
            </a:r>
          </a:p>
          <a:p>
            <a:pPr>
              <a:spcBef>
                <a:spcPts val="600"/>
              </a:spcBef>
              <a:spcAft>
                <a:spcPts val="1200"/>
              </a:spcAft>
            </a:pPr>
            <a:r>
              <a:rPr lang="en-AU" sz="2200" dirty="0" smtClean="0">
                <a:latin typeface="Helvetica" pitchFamily="34" charset="0"/>
              </a:rPr>
              <a:t>Skilled employees to semi-skilled employees</a:t>
            </a:r>
          </a:p>
          <a:p>
            <a:pPr>
              <a:spcBef>
                <a:spcPts val="600"/>
              </a:spcBef>
              <a:spcAft>
                <a:spcPts val="1200"/>
              </a:spcAft>
            </a:pPr>
            <a:r>
              <a:rPr lang="en-AU" sz="2200" dirty="0" smtClean="0">
                <a:latin typeface="Helvetica" pitchFamily="34" charset="0"/>
              </a:rPr>
              <a:t>Language skills</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6" name="Picture 5" descr="13756_15n.jpg"/>
          <p:cNvPicPr>
            <a:picLocks noChangeAspect="1"/>
          </p:cNvPicPr>
          <p:nvPr/>
        </p:nvPicPr>
        <p:blipFill>
          <a:blip r:embed="rId3" cstate="print"/>
          <a:stretch>
            <a:fillRect/>
          </a:stretch>
        </p:blipFill>
        <p:spPr>
          <a:xfrm>
            <a:off x="6705600" y="2971800"/>
            <a:ext cx="2021699" cy="1352204"/>
          </a:xfrm>
          <a:prstGeom prst="rect">
            <a:avLst/>
          </a:prstGeom>
          <a:noFill/>
          <a:ln>
            <a:noFill/>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Types of stock</a:t>
            </a:r>
          </a:p>
          <a:p>
            <a:pPr lvl="0">
              <a:spcBef>
                <a:spcPts val="600"/>
              </a:spcBef>
              <a:spcAft>
                <a:spcPts val="1200"/>
              </a:spcAft>
            </a:pPr>
            <a:r>
              <a:rPr lang="en-AU" sz="2200" dirty="0" smtClean="0">
                <a:latin typeface="Helvetica" pitchFamily="34" charset="0"/>
              </a:rPr>
              <a:t>Specific types/brands of wine or other beverages </a:t>
            </a:r>
          </a:p>
          <a:p>
            <a:pPr lvl="0">
              <a:spcBef>
                <a:spcPts val="600"/>
              </a:spcBef>
              <a:spcAft>
                <a:spcPts val="1200"/>
              </a:spcAft>
            </a:pPr>
            <a:r>
              <a:rPr lang="en-AU" sz="2200" dirty="0" smtClean="0">
                <a:latin typeface="Helvetica" pitchFamily="34" charset="0"/>
              </a:rPr>
              <a:t>Specific food items from a specialist supplier </a:t>
            </a:r>
          </a:p>
          <a:p>
            <a:pPr lvl="0">
              <a:spcBef>
                <a:spcPts val="600"/>
              </a:spcBef>
              <a:spcAft>
                <a:spcPts val="1200"/>
              </a:spcAft>
            </a:pPr>
            <a:r>
              <a:rPr lang="en-AU" sz="2200" dirty="0" smtClean="0">
                <a:latin typeface="Helvetica" pitchFamily="34" charset="0"/>
              </a:rPr>
              <a:t>Specific linen items – for example a certain colour of table cloths and napkins </a:t>
            </a:r>
          </a:p>
          <a:p>
            <a:pPr>
              <a:spcBef>
                <a:spcPts val="600"/>
              </a:spcBef>
              <a:spcAft>
                <a:spcPts val="1200"/>
              </a:spcAft>
            </a:pPr>
            <a:r>
              <a:rPr lang="en-AU" sz="2200" dirty="0" smtClean="0">
                <a:latin typeface="Helvetica" pitchFamily="34" charset="0"/>
              </a:rPr>
              <a:t>Specific furniture items</a:t>
            </a: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6" descr="5233546960_42bdd11799_m.jpg"/>
          <p:cNvPicPr/>
          <p:nvPr/>
        </p:nvPicPr>
        <p:blipFill>
          <a:blip r:embed="rId3" cstate="print"/>
          <a:stretch>
            <a:fillRect/>
          </a:stretch>
        </p:blipFill>
        <p:spPr>
          <a:xfrm>
            <a:off x="5791200" y="4038600"/>
            <a:ext cx="2248277" cy="152400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Furniture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This can include:</a:t>
            </a:r>
          </a:p>
          <a:p>
            <a:pPr lvl="0">
              <a:spcBef>
                <a:spcPts val="600"/>
              </a:spcBef>
              <a:spcAft>
                <a:spcPts val="1200"/>
              </a:spcAft>
            </a:pPr>
            <a:r>
              <a:rPr lang="en-AU" sz="2200" dirty="0" smtClean="0">
                <a:latin typeface="Helvetica" pitchFamily="34" charset="0"/>
              </a:rPr>
              <a:t>Tables and Chairs</a:t>
            </a:r>
          </a:p>
          <a:p>
            <a:pPr lvl="0">
              <a:spcBef>
                <a:spcPts val="600"/>
              </a:spcBef>
              <a:spcAft>
                <a:spcPts val="1200"/>
              </a:spcAft>
            </a:pPr>
            <a:r>
              <a:rPr lang="en-AU" sz="2200" dirty="0" smtClean="0">
                <a:latin typeface="Helvetica" pitchFamily="34" charset="0"/>
              </a:rPr>
              <a:t>Surrounding furniture </a:t>
            </a:r>
          </a:p>
          <a:p>
            <a:pPr lvl="0">
              <a:spcBef>
                <a:spcPts val="600"/>
              </a:spcBef>
              <a:spcAft>
                <a:spcPts val="1200"/>
              </a:spcAft>
            </a:pPr>
            <a:r>
              <a:rPr lang="en-AU" sz="2200" dirty="0" smtClean="0">
                <a:latin typeface="Helvetica" pitchFamily="34" charset="0"/>
              </a:rPr>
              <a:t>Stage </a:t>
            </a:r>
          </a:p>
          <a:p>
            <a:pPr lvl="0">
              <a:spcBef>
                <a:spcPts val="600"/>
              </a:spcBef>
              <a:spcAft>
                <a:spcPts val="1200"/>
              </a:spcAft>
            </a:pPr>
            <a:r>
              <a:rPr lang="en-AU" sz="2200" dirty="0" smtClean="0">
                <a:latin typeface="Helvetica" pitchFamily="34" charset="0"/>
              </a:rPr>
              <a:t>Signage </a:t>
            </a:r>
          </a:p>
          <a:p>
            <a:pPr lvl="0">
              <a:spcBef>
                <a:spcPts val="600"/>
              </a:spcBef>
              <a:spcAft>
                <a:spcPts val="1200"/>
              </a:spcAft>
            </a:pPr>
            <a:r>
              <a:rPr lang="en-AU" sz="2200" dirty="0" smtClean="0">
                <a:latin typeface="Helvetica" pitchFamily="34" charset="0"/>
              </a:rPr>
              <a:t>Aesthetics </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6" name="Picture 5" descr="MC900438736.JPG"/>
          <p:cNvPicPr/>
          <p:nvPr/>
        </p:nvPicPr>
        <p:blipFill>
          <a:blip r:embed="rId3" cstate="print"/>
          <a:stretch>
            <a:fillRect/>
          </a:stretch>
        </p:blipFill>
        <p:spPr>
          <a:xfrm>
            <a:off x="5943600" y="2514600"/>
            <a:ext cx="2021404" cy="175260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Equipment and stationary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equipment and stationery </a:t>
            </a:r>
          </a:p>
          <a:p>
            <a:pPr>
              <a:spcBef>
                <a:spcPts val="600"/>
              </a:spcBef>
              <a:spcAft>
                <a:spcPts val="1200"/>
              </a:spcAft>
            </a:pPr>
            <a:r>
              <a:rPr lang="en-AU" sz="2200" dirty="0" smtClean="0">
                <a:latin typeface="Helvetica" pitchFamily="34" charset="0"/>
              </a:rPr>
              <a:t>What types of equipment and stationery are commonly used for events or functions?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7" name="Picture 6" descr="ProCasterPak[1].jpg"/>
          <p:cNvPicPr/>
          <p:nvPr/>
        </p:nvPicPr>
        <p:blipFill>
          <a:blip r:embed="rId3" cstate="print"/>
          <a:stretch>
            <a:fillRect/>
          </a:stretch>
        </p:blipFill>
        <p:spPr>
          <a:xfrm>
            <a:off x="1905000" y="3429000"/>
            <a:ext cx="1666875" cy="1733550"/>
          </a:xfrm>
          <a:prstGeom prst="rect">
            <a:avLst/>
          </a:prstGeom>
        </p:spPr>
      </p:pic>
      <p:pic>
        <p:nvPicPr>
          <p:cNvPr id="5122" name="Picture 2" descr="C:\Documents and Settings\danielc\Local Settings\Temporary Internet Files\Content.IE5\UMECW9PM\MC900232723[1].wmf"/>
          <p:cNvPicPr>
            <a:picLocks noChangeAspect="1" noChangeArrowheads="1"/>
          </p:cNvPicPr>
          <p:nvPr/>
        </p:nvPicPr>
        <p:blipFill>
          <a:blip r:embed="rId4" cstate="print"/>
          <a:srcRect/>
          <a:stretch>
            <a:fillRect/>
          </a:stretch>
        </p:blipFill>
        <p:spPr bwMode="auto">
          <a:xfrm>
            <a:off x="4267200" y="3657600"/>
            <a:ext cx="2604380" cy="1373109"/>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Outdoor event considerations</a:t>
            </a:r>
          </a:p>
          <a:p>
            <a:pPr lvl="0">
              <a:spcBef>
                <a:spcPts val="600"/>
              </a:spcBef>
              <a:spcAft>
                <a:spcPts val="1200"/>
              </a:spcAft>
            </a:pPr>
            <a:r>
              <a:rPr lang="en-US" sz="2200" dirty="0" smtClean="0">
                <a:latin typeface="Helvetica" pitchFamily="34" charset="0"/>
              </a:rPr>
              <a:t>Food, beverage or alcohol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Tables, chairs, stage, grounds keeping, toilets etc</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Tent, sheltered or enclosed spaces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Sound and lighting systems</a:t>
            </a:r>
          </a:p>
          <a:p>
            <a:pPr lvl="0">
              <a:spcBef>
                <a:spcPts val="600"/>
              </a:spcBef>
              <a:spcAft>
                <a:spcPts val="1200"/>
              </a:spcAft>
            </a:pPr>
            <a:r>
              <a:rPr lang="en-US" sz="2200" dirty="0" smtClean="0">
                <a:latin typeface="Helvetica" pitchFamily="34" charset="0"/>
              </a:rPr>
              <a:t>Merchandise sales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Types of customers</a:t>
            </a:r>
          </a:p>
          <a:p>
            <a:pPr lvl="0">
              <a:spcBef>
                <a:spcPts val="600"/>
              </a:spcBef>
              <a:spcAft>
                <a:spcPts val="1200"/>
              </a:spcAft>
            </a:pPr>
            <a:r>
              <a:rPr lang="en-AU" sz="2200" dirty="0" smtClean="0">
                <a:latin typeface="Helvetica" pitchFamily="34" charset="0"/>
              </a:rPr>
              <a:t>Security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8" name="Picture 7" descr="3766367796_5c64221816_m.jpg"/>
          <p:cNvPicPr>
            <a:picLocks noChangeAspect="1"/>
          </p:cNvPicPr>
          <p:nvPr/>
        </p:nvPicPr>
        <p:blipFill>
          <a:blip r:embed="rId3" cstate="print"/>
          <a:stretch>
            <a:fillRect/>
          </a:stretch>
        </p:blipFill>
        <p:spPr>
          <a:xfrm>
            <a:off x="6172200" y="3352800"/>
            <a:ext cx="2116336" cy="1587252"/>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Outdoor event considerations</a:t>
            </a:r>
          </a:p>
          <a:p>
            <a:pPr lvl="0">
              <a:spcBef>
                <a:spcPts val="600"/>
              </a:spcBef>
              <a:spcAft>
                <a:spcPts val="1200"/>
              </a:spcAft>
            </a:pPr>
            <a:r>
              <a:rPr lang="en-US" sz="2200" dirty="0" smtClean="0">
                <a:latin typeface="Helvetica" pitchFamily="34" charset="0"/>
              </a:rPr>
              <a:t>Transportation, traffic and parking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Entertainment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Ticket sales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Weather back up plans</a:t>
            </a:r>
          </a:p>
          <a:p>
            <a:pPr lvl="0">
              <a:spcBef>
                <a:spcPts val="600"/>
              </a:spcBef>
              <a:spcAft>
                <a:spcPts val="1200"/>
              </a:spcAft>
            </a:pPr>
            <a:r>
              <a:rPr lang="en-US" sz="2200" dirty="0" smtClean="0">
                <a:latin typeface="Helvetica" pitchFamily="34" charset="0"/>
              </a:rPr>
              <a:t>Permits or special licenses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Local council restrictions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 name="Picture 4" descr="3766364900_c445d5dc8d_m.jpg"/>
          <p:cNvPicPr>
            <a:picLocks noChangeAspect="1"/>
          </p:cNvPicPr>
          <p:nvPr/>
        </p:nvPicPr>
        <p:blipFill>
          <a:blip r:embed="rId3" cstate="print"/>
          <a:stretch>
            <a:fillRect/>
          </a:stretch>
        </p:blipFill>
        <p:spPr>
          <a:xfrm>
            <a:off x="5943600" y="2743200"/>
            <a:ext cx="2196075" cy="1647056"/>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infrastructure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Power and water supply</a:t>
            </a:r>
          </a:p>
          <a:p>
            <a:pPr>
              <a:spcBef>
                <a:spcPts val="600"/>
              </a:spcBef>
              <a:spcAft>
                <a:spcPts val="1200"/>
              </a:spcAft>
            </a:pPr>
            <a:r>
              <a:rPr lang="en-AU" sz="2200" dirty="0" smtClean="0">
                <a:latin typeface="Helvetica" pitchFamily="34" charset="0"/>
              </a:rPr>
              <a:t>Food and beverage equipment</a:t>
            </a:r>
          </a:p>
          <a:p>
            <a:pPr>
              <a:spcBef>
                <a:spcPts val="600"/>
              </a:spcBef>
              <a:spcAft>
                <a:spcPts val="1200"/>
              </a:spcAft>
            </a:pPr>
            <a:r>
              <a:rPr lang="en-AU" sz="2200" dirty="0" smtClean="0">
                <a:latin typeface="Helvetica" pitchFamily="34" charset="0"/>
              </a:rPr>
              <a:t>Tables, chairs and related items</a:t>
            </a:r>
          </a:p>
          <a:p>
            <a:pPr>
              <a:spcBef>
                <a:spcPts val="600"/>
              </a:spcBef>
              <a:spcAft>
                <a:spcPts val="1200"/>
              </a:spcAft>
            </a:pPr>
            <a:r>
              <a:rPr lang="en-AU" sz="2200" dirty="0" smtClean="0">
                <a:latin typeface="Helvetica" pitchFamily="34" charset="0"/>
              </a:rPr>
              <a:t>Environmental control</a:t>
            </a:r>
          </a:p>
          <a:p>
            <a:pPr>
              <a:spcBef>
                <a:spcPts val="600"/>
              </a:spcBef>
              <a:spcAft>
                <a:spcPts val="1200"/>
              </a:spcAft>
            </a:pPr>
            <a:r>
              <a:rPr lang="en-AU" sz="2200" dirty="0" smtClean="0">
                <a:latin typeface="Helvetica" pitchFamily="34" charset="0"/>
              </a:rPr>
              <a:t>Toilets</a:t>
            </a:r>
          </a:p>
          <a:p>
            <a:pPr>
              <a:spcBef>
                <a:spcPts val="600"/>
              </a:spcBef>
              <a:spcAft>
                <a:spcPts val="1200"/>
              </a:spcAft>
            </a:pPr>
            <a:r>
              <a:rPr lang="en-AU" sz="2200" dirty="0" smtClean="0">
                <a:latin typeface="Helvetica" pitchFamily="34" charset="0"/>
              </a:rPr>
              <a:t>Emergency services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7" name="Picture 6" descr="823253127_2ddb69e491_m.jpg"/>
          <p:cNvPicPr/>
          <p:nvPr/>
        </p:nvPicPr>
        <p:blipFill>
          <a:blip r:embed="rId3" cstate="print"/>
          <a:stretch>
            <a:fillRect/>
          </a:stretch>
        </p:blipFill>
        <p:spPr>
          <a:xfrm>
            <a:off x="6019800" y="3124200"/>
            <a:ext cx="2325613" cy="1595239"/>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infrastructure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Car and coach parking </a:t>
            </a:r>
          </a:p>
          <a:p>
            <a:pPr>
              <a:spcBef>
                <a:spcPts val="600"/>
              </a:spcBef>
              <a:spcAft>
                <a:spcPts val="1200"/>
              </a:spcAft>
            </a:pPr>
            <a:r>
              <a:rPr lang="en-AU" sz="2200" dirty="0" smtClean="0">
                <a:latin typeface="Helvetica" pitchFamily="34" charset="0"/>
              </a:rPr>
              <a:t>Disabled access</a:t>
            </a:r>
          </a:p>
          <a:p>
            <a:pPr>
              <a:spcBef>
                <a:spcPts val="600"/>
              </a:spcBef>
              <a:spcAft>
                <a:spcPts val="1200"/>
              </a:spcAft>
            </a:pPr>
            <a:r>
              <a:rPr lang="en-AU" sz="2200" dirty="0" smtClean="0">
                <a:latin typeface="Helvetica" pitchFamily="34" charset="0"/>
              </a:rPr>
              <a:t>Signage</a:t>
            </a:r>
          </a:p>
          <a:p>
            <a:pPr>
              <a:spcBef>
                <a:spcPts val="600"/>
              </a:spcBef>
              <a:spcAft>
                <a:spcPts val="1200"/>
              </a:spcAft>
            </a:pPr>
            <a:r>
              <a:rPr lang="en-AU" sz="2200" dirty="0" smtClean="0">
                <a:latin typeface="Helvetica" pitchFamily="34" charset="0"/>
              </a:rPr>
              <a:t>Waste management</a:t>
            </a:r>
          </a:p>
          <a:p>
            <a:pPr>
              <a:spcBef>
                <a:spcPts val="600"/>
              </a:spcBef>
              <a:spcAft>
                <a:spcPts val="1200"/>
              </a:spcAft>
            </a:pPr>
            <a:r>
              <a:rPr lang="en-AU" sz="2200" dirty="0" smtClean="0">
                <a:latin typeface="Helvetica" pitchFamily="34" charset="0"/>
              </a:rPr>
              <a:t>Animals and insects</a:t>
            </a:r>
          </a:p>
          <a:p>
            <a:pPr>
              <a:spcBef>
                <a:spcPts val="600"/>
              </a:spcBef>
              <a:spcAft>
                <a:spcPts val="1200"/>
              </a:spcAft>
            </a:pPr>
            <a:r>
              <a:rPr lang="en-AU" sz="2200" dirty="0" smtClean="0">
                <a:latin typeface="Helvetica" pitchFamily="34" charset="0"/>
              </a:rPr>
              <a:t>Weather considerations</a:t>
            </a:r>
          </a:p>
          <a:p>
            <a:pPr>
              <a:spcBef>
                <a:spcPts val="600"/>
              </a:spcBef>
              <a:spcAft>
                <a:spcPts val="1200"/>
              </a:spcAft>
            </a:pPr>
            <a:r>
              <a:rPr lang="en-AU" sz="2200" dirty="0" smtClean="0">
                <a:latin typeface="Helvetica" pitchFamily="34" charset="0"/>
              </a:rPr>
              <a:t>Entertainment infrastructure</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7" name="Picture 6" descr="3803601048_19ee6abf5b_m.jpg"/>
          <p:cNvPicPr/>
          <p:nvPr/>
        </p:nvPicPr>
        <p:blipFill>
          <a:blip r:embed="rId3" cstate="print"/>
          <a:stretch>
            <a:fillRect/>
          </a:stretch>
        </p:blipFill>
        <p:spPr>
          <a:xfrm>
            <a:off x="6096000" y="2819400"/>
            <a:ext cx="2111102" cy="1781349"/>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proposal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0"/>
              </a:spcBef>
              <a:buNone/>
            </a:pPr>
            <a:r>
              <a:rPr lang="en-AU" sz="2200" dirty="0" smtClean="0">
                <a:latin typeface="Helvetica" pitchFamily="34" charset="0"/>
              </a:rPr>
              <a:t>All potential clients will need to be supplied with a proposal for their function before they commit to booking it and paying a deposit. </a:t>
            </a:r>
          </a:p>
          <a:p>
            <a:endParaRPr lang="en-AU" sz="2200" dirty="0" smtClean="0">
              <a:latin typeface="Helvetica" pitchFamily="34" charset="0"/>
            </a:endParaRPr>
          </a:p>
          <a:p>
            <a:r>
              <a:rPr lang="en-AU" sz="2200" dirty="0" smtClean="0">
                <a:latin typeface="Helvetica" pitchFamily="34" charset="0"/>
              </a:rPr>
              <a:t>What should be included in a proposal?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8" name="Picture 7" descr="MP900422989[1].JPG"/>
          <p:cNvPicPr>
            <a:picLocks noChangeAspect="1"/>
          </p:cNvPicPr>
          <p:nvPr/>
        </p:nvPicPr>
        <p:blipFill>
          <a:blip r:embed="rId3" cstate="print"/>
          <a:stretch>
            <a:fillRect/>
          </a:stretch>
        </p:blipFill>
        <p:spPr>
          <a:xfrm>
            <a:off x="6705600" y="2667000"/>
            <a:ext cx="1592460" cy="2061542"/>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proposal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Factors to take into account when developing a costing </a:t>
            </a:r>
          </a:p>
          <a:p>
            <a:pPr>
              <a:spcBef>
                <a:spcPts val="600"/>
              </a:spcBef>
              <a:spcAft>
                <a:spcPts val="1200"/>
              </a:spcAft>
            </a:pPr>
            <a:r>
              <a:rPr lang="en-AU" sz="2200" dirty="0" smtClean="0">
                <a:latin typeface="Helvetica" pitchFamily="34" charset="0"/>
              </a:rPr>
              <a:t>Follow house policies </a:t>
            </a:r>
          </a:p>
          <a:p>
            <a:pPr>
              <a:spcBef>
                <a:spcPts val="600"/>
              </a:spcBef>
              <a:spcAft>
                <a:spcPts val="1200"/>
              </a:spcAft>
            </a:pPr>
            <a:r>
              <a:rPr lang="en-AU" sz="2200" dirty="0" smtClean="0">
                <a:latin typeface="Helvetica" pitchFamily="34" charset="0"/>
              </a:rPr>
              <a:t>Make sure everything is charged for </a:t>
            </a:r>
          </a:p>
          <a:p>
            <a:pPr>
              <a:spcBef>
                <a:spcPts val="600"/>
              </a:spcBef>
              <a:spcAft>
                <a:spcPts val="1200"/>
              </a:spcAft>
            </a:pPr>
            <a:r>
              <a:rPr lang="en-AU" sz="2200" dirty="0" smtClean="0">
                <a:latin typeface="Helvetica" pitchFamily="34" charset="0"/>
              </a:rPr>
              <a:t>Only include services and products the                                 client has requested </a:t>
            </a:r>
          </a:p>
          <a:p>
            <a:pPr>
              <a:spcBef>
                <a:spcPts val="600"/>
              </a:spcBef>
              <a:spcAft>
                <a:spcPts val="1200"/>
              </a:spcAft>
            </a:pPr>
            <a:r>
              <a:rPr lang="en-AU" sz="2200" dirty="0" smtClean="0">
                <a:latin typeface="Helvetica" pitchFamily="34" charset="0"/>
              </a:rPr>
              <a:t>Double-check your figures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MP900422389[1].JPG"/>
          <p:cNvPicPr/>
          <p:nvPr/>
        </p:nvPicPr>
        <p:blipFill>
          <a:blip r:embed="rId3" cstate="print"/>
          <a:stretch>
            <a:fillRect/>
          </a:stretch>
        </p:blipFill>
        <p:spPr>
          <a:xfrm>
            <a:off x="6781800" y="2514600"/>
            <a:ext cx="1457325" cy="216217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proposal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Factors to take into account when developing a costing </a:t>
            </a:r>
          </a:p>
          <a:p>
            <a:pPr>
              <a:spcBef>
                <a:spcPts val="600"/>
              </a:spcBef>
              <a:spcAft>
                <a:spcPts val="1200"/>
              </a:spcAft>
            </a:pPr>
            <a:r>
              <a:rPr lang="en-AU" sz="2200" dirty="0" smtClean="0">
                <a:latin typeface="Helvetica" pitchFamily="34" charset="0"/>
              </a:rPr>
              <a:t>Identify and explain every charge </a:t>
            </a:r>
          </a:p>
          <a:p>
            <a:pPr>
              <a:spcBef>
                <a:spcPts val="600"/>
              </a:spcBef>
              <a:spcAft>
                <a:spcPts val="1200"/>
              </a:spcAft>
            </a:pPr>
            <a:r>
              <a:rPr lang="en-AU" sz="2200" dirty="0" smtClean="0">
                <a:latin typeface="Helvetica" pitchFamily="34" charset="0"/>
              </a:rPr>
              <a:t>Observe promises made </a:t>
            </a:r>
          </a:p>
          <a:p>
            <a:pPr>
              <a:spcBef>
                <a:spcPts val="600"/>
              </a:spcBef>
              <a:spcAft>
                <a:spcPts val="1200"/>
              </a:spcAft>
            </a:pPr>
            <a:r>
              <a:rPr lang="en-AU" sz="2200" dirty="0" smtClean="0">
                <a:latin typeface="Helvetica" pitchFamily="34" charset="0"/>
              </a:rPr>
              <a:t>Verify with management </a:t>
            </a:r>
          </a:p>
          <a:p>
            <a:pPr>
              <a:spcBef>
                <a:spcPts val="600"/>
              </a:spcBef>
              <a:spcAft>
                <a:spcPts val="1200"/>
              </a:spcAft>
            </a:pPr>
            <a:r>
              <a:rPr lang="en-AU" sz="2200" dirty="0" smtClean="0">
                <a:latin typeface="Helvetica" pitchFamily="34" charset="0"/>
              </a:rPr>
              <a:t>Present the quotation in person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Picture 6" descr="MP900285131[1].JPG"/>
          <p:cNvPicPr/>
          <p:nvPr/>
        </p:nvPicPr>
        <p:blipFill>
          <a:blip r:embed="rId3" cstate="print"/>
          <a:stretch>
            <a:fillRect/>
          </a:stretch>
        </p:blipFill>
        <p:spPr>
          <a:xfrm>
            <a:off x="6858000" y="2590800"/>
            <a:ext cx="1442648" cy="2143125"/>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rPr>
              <a:t>Prepare a concept plan</a:t>
            </a:r>
            <a:endParaRPr lang="en-AU" sz="4000" dirty="0" smtClean="0">
              <a:solidFill>
                <a:srgbClr val="FF6600"/>
              </a:solidFill>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5" name="Picture 4" descr="MP900409469[1].JPG"/>
          <p:cNvPicPr>
            <a:picLocks noChangeAspect="1"/>
          </p:cNvPicPr>
          <p:nvPr/>
        </p:nvPicPr>
        <p:blipFill>
          <a:blip r:embed="rId3" cstate="print">
            <a:lum contrast="10000"/>
          </a:blip>
          <a:stretch>
            <a:fillRect/>
          </a:stretch>
        </p:blipFill>
        <p:spPr>
          <a:xfrm>
            <a:off x="2209800" y="3352800"/>
            <a:ext cx="3426322" cy="2286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Prepare a concept plan</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Document theme and operational context of the </a:t>
            </a:r>
            <a:br>
              <a:rPr lang="en-AU" sz="2200" dirty="0" smtClean="0">
                <a:latin typeface="Helvetica" pitchFamily="34" charset="0"/>
              </a:rPr>
            </a:br>
            <a:r>
              <a:rPr lang="en-AU" sz="2200" dirty="0" smtClean="0">
                <a:latin typeface="Helvetica" pitchFamily="34" charset="0"/>
              </a:rPr>
              <a:t>event or function</a:t>
            </a:r>
          </a:p>
          <a:p>
            <a:pPr>
              <a:spcBef>
                <a:spcPts val="600"/>
              </a:spcBef>
              <a:spcAft>
                <a:spcPts val="1200"/>
              </a:spcAft>
            </a:pPr>
            <a:r>
              <a:rPr lang="en-AU" sz="2200" dirty="0" smtClean="0">
                <a:latin typeface="Helvetica" pitchFamily="34" charset="0"/>
              </a:rPr>
              <a:t>Document elements of the total concept agreed to by customer/s and/or stakeholders</a:t>
            </a:r>
          </a:p>
          <a:p>
            <a:pPr>
              <a:spcBef>
                <a:spcPts val="600"/>
              </a:spcBef>
              <a:spcAft>
                <a:spcPts val="1200"/>
              </a:spcAft>
            </a:pPr>
            <a:r>
              <a:rPr lang="en-AU" sz="2200" dirty="0" smtClean="0">
                <a:latin typeface="Helvetica" pitchFamily="34" charset="0"/>
              </a:rPr>
              <a:t>Gain written agreement from customer/s and/or stakeholders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146" name="Picture 2" descr="C:\Documents and Settings\danielc\Local Settings\Temporary Internet Files\Content.IE5\112MAXTI\MC900432658[1].png"/>
          <p:cNvPicPr>
            <a:picLocks noChangeAspect="1" noChangeArrowheads="1"/>
          </p:cNvPicPr>
          <p:nvPr/>
        </p:nvPicPr>
        <p:blipFill>
          <a:blip r:embed="rId3" cstate="print"/>
          <a:srcRect/>
          <a:stretch>
            <a:fillRect/>
          </a:stretch>
        </p:blipFill>
        <p:spPr bwMode="auto">
          <a:xfrm>
            <a:off x="6477000" y="533400"/>
            <a:ext cx="1485900" cy="14859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proposal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Preparing proposal</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Once all the event details have been internally confirmed and verified, it is now time to prepare and send the proposal.</a:t>
            </a:r>
          </a:p>
          <a:p>
            <a:pPr>
              <a:spcBef>
                <a:spcPts val="600"/>
              </a:spcBef>
              <a:spcAft>
                <a:spcPts val="1200"/>
              </a:spcAft>
            </a:pPr>
            <a:r>
              <a:rPr lang="en-AU" sz="2200" dirty="0" smtClean="0">
                <a:latin typeface="Helvetica" pitchFamily="34" charset="0"/>
              </a:rPr>
              <a:t>What information needs to be included in a proposal?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6" name="Picture 5" descr="MP900422531[1].JPG"/>
          <p:cNvPicPr>
            <a:picLocks noChangeAspect="1"/>
          </p:cNvPicPr>
          <p:nvPr/>
        </p:nvPicPr>
        <p:blipFill>
          <a:blip r:embed="rId3" cstate="print">
            <a:lum contrast="20000"/>
          </a:blip>
          <a:stretch>
            <a:fillRect/>
          </a:stretch>
        </p:blipFill>
        <p:spPr>
          <a:xfrm>
            <a:off x="3352800" y="4191000"/>
            <a:ext cx="2098964" cy="1675015"/>
          </a:xfrm>
          <a:prstGeom prst="rect">
            <a:avLst/>
          </a:prstGeom>
          <a:noFill/>
          <a:ln>
            <a:noFill/>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proposal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20000"/>
          </a:bodyPr>
          <a:lstStyle/>
          <a:p>
            <a:pPr>
              <a:spcBef>
                <a:spcPts val="600"/>
              </a:spcBef>
              <a:spcAft>
                <a:spcPts val="600"/>
              </a:spcAft>
              <a:buNone/>
            </a:pPr>
            <a:r>
              <a:rPr lang="en-AU" sz="2400" b="1" dirty="0" smtClean="0">
                <a:latin typeface="Helvetica" pitchFamily="34" charset="0"/>
              </a:rPr>
              <a:t>Inclusions in a proposal</a:t>
            </a:r>
            <a:endParaRPr lang="en-AU" sz="2400" dirty="0" smtClean="0">
              <a:latin typeface="Helvetica" pitchFamily="34" charset="0"/>
            </a:endParaRPr>
          </a:p>
          <a:p>
            <a:pPr>
              <a:spcBef>
                <a:spcPts val="600"/>
              </a:spcBef>
              <a:spcAft>
                <a:spcPts val="600"/>
              </a:spcAft>
              <a:buNone/>
            </a:pPr>
            <a:r>
              <a:rPr lang="en-AU" sz="2400" dirty="0" smtClean="0">
                <a:latin typeface="Helvetica" pitchFamily="34" charset="0"/>
              </a:rPr>
              <a:t>In summary an event  proposal should include:</a:t>
            </a:r>
          </a:p>
          <a:p>
            <a:pPr lvl="0">
              <a:spcBef>
                <a:spcPts val="600"/>
              </a:spcBef>
              <a:spcAft>
                <a:spcPts val="600"/>
              </a:spcAft>
            </a:pPr>
            <a:r>
              <a:rPr lang="en-AU" sz="2400" dirty="0" smtClean="0">
                <a:latin typeface="Helvetica" pitchFamily="34" charset="0"/>
              </a:rPr>
              <a:t>Details of all catering proposed – including menus, drinks, timing, service times</a:t>
            </a:r>
          </a:p>
          <a:p>
            <a:pPr lvl="0">
              <a:spcBef>
                <a:spcPts val="600"/>
              </a:spcBef>
              <a:spcAft>
                <a:spcPts val="600"/>
              </a:spcAft>
            </a:pPr>
            <a:r>
              <a:rPr lang="en-AU" sz="2400" dirty="0" smtClean="0">
                <a:latin typeface="Helvetica" pitchFamily="34" charset="0"/>
              </a:rPr>
              <a:t>Costs</a:t>
            </a:r>
          </a:p>
          <a:p>
            <a:pPr lvl="0">
              <a:spcBef>
                <a:spcPts val="600"/>
              </a:spcBef>
              <a:spcAft>
                <a:spcPts val="600"/>
              </a:spcAft>
            </a:pPr>
            <a:r>
              <a:rPr lang="en-AU" sz="2400" dirty="0" smtClean="0">
                <a:latin typeface="Helvetica" pitchFamily="34" charset="0"/>
              </a:rPr>
              <a:t>Options available within designated budget </a:t>
            </a:r>
            <a:br>
              <a:rPr lang="en-AU" sz="2400" dirty="0" smtClean="0">
                <a:latin typeface="Helvetica" pitchFamily="34" charset="0"/>
              </a:rPr>
            </a:br>
            <a:r>
              <a:rPr lang="en-AU" sz="2400" dirty="0" smtClean="0">
                <a:latin typeface="Helvetica" pitchFamily="34" charset="0"/>
              </a:rPr>
              <a:t>parameters</a:t>
            </a:r>
          </a:p>
          <a:p>
            <a:pPr lvl="0">
              <a:spcBef>
                <a:spcPts val="600"/>
              </a:spcBef>
              <a:spcAft>
                <a:spcPts val="600"/>
              </a:spcAft>
            </a:pPr>
            <a:r>
              <a:rPr lang="en-AU" sz="2400" dirty="0" smtClean="0">
                <a:latin typeface="Helvetica" pitchFamily="34" charset="0"/>
              </a:rPr>
              <a:t>Overview of production, transportation                                   and service of food and beverages</a:t>
            </a:r>
          </a:p>
          <a:p>
            <a:pPr lvl="0">
              <a:spcBef>
                <a:spcPts val="600"/>
              </a:spcBef>
              <a:spcAft>
                <a:spcPts val="600"/>
              </a:spcAft>
            </a:pPr>
            <a:r>
              <a:rPr lang="en-AU" sz="2400" dirty="0" smtClean="0">
                <a:latin typeface="Helvetica" pitchFamily="34" charset="0"/>
              </a:rPr>
              <a:t>Staff numbers</a:t>
            </a:r>
          </a:p>
          <a:p>
            <a:pPr lvl="0">
              <a:spcBef>
                <a:spcPts val="600"/>
              </a:spcBef>
              <a:spcAft>
                <a:spcPts val="600"/>
              </a:spcAft>
            </a:pPr>
            <a:r>
              <a:rPr lang="en-AU" sz="2400" dirty="0" smtClean="0">
                <a:latin typeface="Helvetica" pitchFamily="34" charset="0"/>
              </a:rPr>
              <a:t>Reference to previous events that have been                       catered for on the same/similar scale</a:t>
            </a:r>
            <a:endParaRPr lang="en-AU"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7" name="Picture 6" descr="MP900443225[1].JPG"/>
          <p:cNvPicPr/>
          <p:nvPr/>
        </p:nvPicPr>
        <p:blipFill>
          <a:blip r:embed="rId3" cstate="print"/>
          <a:stretch>
            <a:fillRect/>
          </a:stretch>
        </p:blipFill>
        <p:spPr>
          <a:xfrm>
            <a:off x="6858000" y="3048000"/>
            <a:ext cx="1828800" cy="121920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up proposal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Within 24 hours of sending out a proposal a follow up call is required. This is used to determine the following:</a:t>
            </a:r>
          </a:p>
          <a:p>
            <a:pPr lvl="0">
              <a:spcBef>
                <a:spcPts val="600"/>
              </a:spcBef>
              <a:spcAft>
                <a:spcPts val="1200"/>
              </a:spcAft>
            </a:pPr>
            <a:r>
              <a:rPr lang="en-AU" sz="2200" dirty="0" smtClean="0">
                <a:latin typeface="Helvetica" pitchFamily="34" charset="0"/>
              </a:rPr>
              <a:t>If they received the proposal</a:t>
            </a:r>
          </a:p>
          <a:p>
            <a:pPr lvl="0">
              <a:spcBef>
                <a:spcPts val="600"/>
              </a:spcBef>
              <a:spcAft>
                <a:spcPts val="1200"/>
              </a:spcAft>
            </a:pPr>
            <a:r>
              <a:rPr lang="en-AU" sz="2200" dirty="0" smtClean="0">
                <a:latin typeface="Helvetica" pitchFamily="34" charset="0"/>
              </a:rPr>
              <a:t>If you can be of further assistance</a:t>
            </a:r>
          </a:p>
          <a:p>
            <a:pPr lvl="0">
              <a:spcBef>
                <a:spcPts val="600"/>
              </a:spcBef>
              <a:spcAft>
                <a:spcPts val="1200"/>
              </a:spcAft>
            </a:pPr>
            <a:r>
              <a:rPr lang="en-AU" sz="2200" dirty="0" smtClean="0">
                <a:latin typeface="Helvetica" pitchFamily="34" charset="0"/>
              </a:rPr>
              <a:t>If you would like to confirm the booking</a:t>
            </a:r>
          </a:p>
          <a:p>
            <a:pPr>
              <a:spcBef>
                <a:spcPts val="600"/>
              </a:spcBef>
              <a:spcAft>
                <a:spcPts val="1200"/>
              </a:spcAft>
            </a:pPr>
            <a:r>
              <a:rPr lang="en-AU" sz="2200" dirty="0" smtClean="0">
                <a:latin typeface="Helvetica" pitchFamily="34" charset="0"/>
              </a:rPr>
              <a:t>Explain Method Of Payment</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7170" name="Picture 2" descr="C:\Documents and Settings\danielc\Local Settings\Temporary Internet Files\Content.IE5\Y88G682L\MC900440391[1].png"/>
          <p:cNvPicPr>
            <a:picLocks noChangeAspect="1" noChangeArrowheads="1"/>
          </p:cNvPicPr>
          <p:nvPr/>
        </p:nvPicPr>
        <p:blipFill>
          <a:blip r:embed="rId3" cstate="print"/>
          <a:srcRect/>
          <a:stretch>
            <a:fillRect/>
          </a:stretch>
        </p:blipFill>
        <p:spPr bwMode="auto">
          <a:xfrm>
            <a:off x="6705600" y="2667000"/>
            <a:ext cx="1981200" cy="1981200"/>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Document elements of the total concept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proposal has been sent, normally there are three other documents that need to be prepared:</a:t>
            </a:r>
          </a:p>
          <a:p>
            <a:pPr>
              <a:spcBef>
                <a:spcPts val="600"/>
              </a:spcBef>
              <a:spcAft>
                <a:spcPts val="1200"/>
              </a:spcAft>
            </a:pPr>
            <a:r>
              <a:rPr lang="en-AU" sz="2200" dirty="0" smtClean="0">
                <a:latin typeface="Helvetica" pitchFamily="34" charset="0"/>
              </a:rPr>
              <a:t>Event Management Plan</a:t>
            </a:r>
          </a:p>
          <a:p>
            <a:pPr>
              <a:spcBef>
                <a:spcPts val="600"/>
              </a:spcBef>
              <a:spcAft>
                <a:spcPts val="1200"/>
              </a:spcAft>
            </a:pPr>
            <a:r>
              <a:rPr lang="en-AU" sz="2200" dirty="0" smtClean="0">
                <a:latin typeface="Helvetica" pitchFamily="34" charset="0"/>
              </a:rPr>
              <a:t>Function Running Sheet</a:t>
            </a:r>
          </a:p>
          <a:p>
            <a:pPr>
              <a:spcBef>
                <a:spcPts val="600"/>
              </a:spcBef>
              <a:spcAft>
                <a:spcPts val="1200"/>
              </a:spcAft>
            </a:pPr>
            <a:r>
              <a:rPr lang="en-AU" sz="2200" dirty="0" smtClean="0">
                <a:latin typeface="Helvetica" pitchFamily="34" charset="0"/>
              </a:rPr>
              <a:t>Event Contract</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7" name="Picture 6" descr="35013.JPG"/>
          <p:cNvPicPr>
            <a:picLocks noChangeAspect="1"/>
          </p:cNvPicPr>
          <p:nvPr/>
        </p:nvPicPr>
        <p:blipFill>
          <a:blip r:embed="rId3" cstate="print"/>
          <a:stretch>
            <a:fillRect/>
          </a:stretch>
        </p:blipFill>
        <p:spPr>
          <a:xfrm>
            <a:off x="6479135" y="2438400"/>
            <a:ext cx="1613343" cy="205740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Event management plan</a:t>
            </a:r>
          </a:p>
          <a:p>
            <a:pPr>
              <a:spcBef>
                <a:spcPts val="600"/>
              </a:spcBef>
              <a:spcAft>
                <a:spcPts val="1200"/>
              </a:spcAft>
            </a:pPr>
            <a:r>
              <a:rPr lang="en-AU" sz="2200" dirty="0" smtClean="0">
                <a:latin typeface="Helvetica" pitchFamily="34" charset="0"/>
              </a:rPr>
              <a:t>This plan takes into consideration all possible scenarios and activities that need to either be planned or addressed</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6" name="Picture 5" descr="MP900411785[1].JPG"/>
          <p:cNvPicPr>
            <a:picLocks noChangeAspect="1"/>
          </p:cNvPicPr>
          <p:nvPr/>
        </p:nvPicPr>
        <p:blipFill>
          <a:blip r:embed="rId3" cstate="print"/>
          <a:stretch>
            <a:fillRect/>
          </a:stretch>
        </p:blipFill>
        <p:spPr>
          <a:xfrm>
            <a:off x="6400800" y="3124200"/>
            <a:ext cx="1448916" cy="2172313"/>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Staffing requirements</a:t>
            </a:r>
          </a:p>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Management of external contractors</a:t>
            </a:r>
          </a:p>
          <a:p>
            <a:pPr lvl="0">
              <a:spcBef>
                <a:spcPts val="600"/>
              </a:spcBef>
              <a:spcAft>
                <a:spcPts val="1200"/>
              </a:spcAft>
            </a:pPr>
            <a:r>
              <a:rPr lang="en-AU" sz="2200" dirty="0" smtClean="0">
                <a:latin typeface="Helvetica" pitchFamily="34" charset="0"/>
              </a:rPr>
              <a:t>Running sheets</a:t>
            </a:r>
          </a:p>
          <a:p>
            <a:pPr lvl="0">
              <a:spcBef>
                <a:spcPts val="600"/>
              </a:spcBef>
              <a:spcAft>
                <a:spcPts val="1200"/>
              </a:spcAft>
            </a:pPr>
            <a:r>
              <a:rPr lang="en-AU" sz="2200" dirty="0" smtClean="0">
                <a:latin typeface="Helvetica" pitchFamily="34" charset="0"/>
              </a:rPr>
              <a:t>Briefing papers</a:t>
            </a:r>
          </a:p>
          <a:p>
            <a:pPr>
              <a:spcBef>
                <a:spcPts val="600"/>
              </a:spcBef>
              <a:spcAft>
                <a:spcPts val="1200"/>
              </a:spcAft>
            </a:pPr>
            <a:r>
              <a:rPr lang="en-AU" sz="2200" dirty="0" smtClean="0">
                <a:latin typeface="Helvetica" pitchFamily="34" charset="0"/>
              </a:rPr>
              <a:t>Staging elements or requirements </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Picture 5" descr="MP900438488.JPG"/>
          <p:cNvPicPr/>
          <p:nvPr/>
        </p:nvPicPr>
        <p:blipFill>
          <a:blip r:embed="rId3" cstate="print"/>
          <a:stretch>
            <a:fillRect/>
          </a:stretch>
        </p:blipFill>
        <p:spPr>
          <a:xfrm>
            <a:off x="6705600" y="2514600"/>
            <a:ext cx="1505892" cy="205740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Catering arrangements </a:t>
            </a:r>
          </a:p>
          <a:p>
            <a:pPr lvl="0">
              <a:spcBef>
                <a:spcPts val="600"/>
              </a:spcBef>
              <a:spcAft>
                <a:spcPts val="1200"/>
              </a:spcAft>
            </a:pPr>
            <a:r>
              <a:rPr lang="en-AU" sz="2200" dirty="0" smtClean="0">
                <a:latin typeface="Helvetica" pitchFamily="34" charset="0"/>
              </a:rPr>
              <a:t>Liaison with stakeholders, dignitaries, delegates and guests, media, sponsors</a:t>
            </a:r>
          </a:p>
          <a:p>
            <a:pPr lvl="0">
              <a:spcBef>
                <a:spcPts val="600"/>
              </a:spcBef>
              <a:spcAft>
                <a:spcPts val="1200"/>
              </a:spcAft>
            </a:pPr>
            <a:r>
              <a:rPr lang="en-AU" sz="2200" dirty="0" smtClean="0">
                <a:latin typeface="Helvetica" pitchFamily="34" charset="0"/>
              </a:rPr>
              <a:t>Guest/delegate management on arrival, during the event and on departure</a:t>
            </a:r>
          </a:p>
          <a:p>
            <a:pPr lvl="0">
              <a:spcBef>
                <a:spcPts val="600"/>
              </a:spcBef>
              <a:spcAft>
                <a:spcPts val="1200"/>
              </a:spcAft>
            </a:pPr>
            <a:r>
              <a:rPr lang="en-AU" sz="2200" dirty="0" smtClean="0">
                <a:latin typeface="Helvetica" pitchFamily="34" charset="0"/>
              </a:rPr>
              <a:t>Risk management</a:t>
            </a:r>
          </a:p>
          <a:p>
            <a:pPr lvl="0">
              <a:spcBef>
                <a:spcPts val="600"/>
              </a:spcBef>
              <a:spcAft>
                <a:spcPts val="1200"/>
              </a:spcAft>
            </a:pPr>
            <a:r>
              <a:rPr lang="en-AU" sz="2200" dirty="0" smtClean="0">
                <a:latin typeface="Helvetica" pitchFamily="34" charset="0"/>
              </a:rPr>
              <a:t>Emergency management</a:t>
            </a:r>
          </a:p>
          <a:p>
            <a:pPr lvl="0">
              <a:spcBef>
                <a:spcPts val="600"/>
              </a:spcBef>
              <a:spcAft>
                <a:spcPts val="1200"/>
              </a:spcAft>
            </a:pPr>
            <a:r>
              <a:rPr lang="en-AU" sz="2200" dirty="0" smtClean="0">
                <a:latin typeface="Helvetica" pitchFamily="34" charset="0"/>
              </a:rPr>
              <a:t>Performance standards and guidelines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MP900400454[1].JPG"/>
          <p:cNvPicPr/>
          <p:nvPr/>
        </p:nvPicPr>
        <p:blipFill>
          <a:blip r:embed="rId3" cstate="print"/>
          <a:stretch>
            <a:fillRect/>
          </a:stretch>
        </p:blipFill>
        <p:spPr>
          <a:xfrm>
            <a:off x="6475733" y="4495800"/>
            <a:ext cx="2130025" cy="144780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Traffic management </a:t>
            </a:r>
          </a:p>
          <a:p>
            <a:pPr lvl="0">
              <a:spcBef>
                <a:spcPts val="600"/>
              </a:spcBef>
              <a:spcAft>
                <a:spcPts val="1200"/>
              </a:spcAft>
            </a:pPr>
            <a:r>
              <a:rPr lang="en-AU" sz="2200" dirty="0" smtClean="0">
                <a:latin typeface="Helvetica" pitchFamily="34" charset="0"/>
              </a:rPr>
              <a:t>Specification of control, command and communication structures </a:t>
            </a:r>
          </a:p>
          <a:p>
            <a:pPr lvl="0">
              <a:spcBef>
                <a:spcPts val="600"/>
              </a:spcBef>
              <a:spcAft>
                <a:spcPts val="1200"/>
              </a:spcAft>
            </a:pPr>
            <a:r>
              <a:rPr lang="en-AU" sz="2200" dirty="0" smtClean="0">
                <a:latin typeface="Helvetica" pitchFamily="34" charset="0"/>
              </a:rPr>
              <a:t>Scopes of responsibility, identification of key contact details for event managers</a:t>
            </a:r>
          </a:p>
          <a:p>
            <a:pPr lvl="0">
              <a:spcBef>
                <a:spcPts val="600"/>
              </a:spcBef>
              <a:spcAft>
                <a:spcPts val="1200"/>
              </a:spcAft>
            </a:pPr>
            <a:r>
              <a:rPr lang="en-AU" sz="2200" dirty="0" smtClean="0">
                <a:latin typeface="Helvetica" pitchFamily="34" charset="0"/>
              </a:rPr>
              <a:t>Use of technology</a:t>
            </a:r>
          </a:p>
          <a:p>
            <a:pPr lvl="0">
              <a:spcBef>
                <a:spcPts val="600"/>
              </a:spcBef>
              <a:spcAft>
                <a:spcPts val="1200"/>
              </a:spcAft>
            </a:pPr>
            <a:r>
              <a:rPr lang="en-AU" sz="2200" dirty="0" smtClean="0">
                <a:latin typeface="Helvetica" pitchFamily="34" charset="0"/>
              </a:rPr>
              <a:t>Timing and co-ordination of services, facilities</a:t>
            </a:r>
          </a:p>
          <a:p>
            <a:pPr>
              <a:spcBef>
                <a:spcPts val="600"/>
              </a:spcBef>
              <a:spcAft>
                <a:spcPts val="1200"/>
              </a:spcAft>
            </a:pPr>
            <a:r>
              <a:rPr lang="en-AU" sz="2200" dirty="0" smtClean="0">
                <a:latin typeface="Helvetica" pitchFamily="34" charset="0"/>
              </a:rPr>
              <a:t>Contingency plans </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8194" name="Picture 2" descr="C:\Documents and Settings\danielc\Local Settings\Temporary Internet Files\Content.IE5\SIQ5KRQ3\MC900436990[1].wmf"/>
          <p:cNvPicPr>
            <a:picLocks noChangeAspect="1" noChangeArrowheads="1"/>
          </p:cNvPicPr>
          <p:nvPr/>
        </p:nvPicPr>
        <p:blipFill>
          <a:blip r:embed="rId3" cstate="print"/>
          <a:srcRect/>
          <a:stretch>
            <a:fillRect/>
          </a:stretch>
        </p:blipFill>
        <p:spPr bwMode="auto">
          <a:xfrm>
            <a:off x="7315200" y="4267200"/>
            <a:ext cx="1419225" cy="1825625"/>
          </a:xfrm>
          <a:prstGeom prst="rect">
            <a:avLst/>
          </a:prstGeom>
          <a:noFill/>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A function sheet, sometimes also known as an ‘event order’ or ‘function order’, is an internal communication form developed to suit each venue’s needs that sets out the details of a function</a:t>
            </a:r>
          </a:p>
          <a:p>
            <a:pPr>
              <a:spcBef>
                <a:spcPts val="600"/>
              </a:spcBef>
              <a:spcAft>
                <a:spcPts val="1200"/>
              </a:spcAft>
            </a:pPr>
            <a:r>
              <a:rPr lang="en-AU" sz="2200" dirty="0" smtClean="0">
                <a:latin typeface="Helvetica" pitchFamily="34" charset="0"/>
              </a:rPr>
              <a:t>What information is included in a Function Sheet?</a:t>
            </a: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5" name="Picture 4" descr="MP900406846[1].JPG"/>
          <p:cNvPicPr>
            <a:picLocks noChangeAspect="1"/>
          </p:cNvPicPr>
          <p:nvPr/>
        </p:nvPicPr>
        <p:blipFill>
          <a:blip r:embed="rId3" cstate="print"/>
          <a:stretch>
            <a:fillRect/>
          </a:stretch>
        </p:blipFill>
        <p:spPr>
          <a:xfrm>
            <a:off x="3276600" y="4114800"/>
            <a:ext cx="2484299" cy="1655552"/>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Name, address, and contact number of client </a:t>
            </a:r>
          </a:p>
          <a:p>
            <a:pPr lvl="0">
              <a:spcBef>
                <a:spcPts val="600"/>
              </a:spcBef>
              <a:spcAft>
                <a:spcPts val="1200"/>
              </a:spcAft>
            </a:pPr>
            <a:r>
              <a:rPr lang="en-AU" sz="2200" dirty="0" smtClean="0">
                <a:latin typeface="Helvetica" pitchFamily="34" charset="0"/>
              </a:rPr>
              <a:t>Day, date and time of the function </a:t>
            </a:r>
          </a:p>
          <a:p>
            <a:pPr lvl="0">
              <a:spcBef>
                <a:spcPts val="600"/>
              </a:spcBef>
              <a:spcAft>
                <a:spcPts val="1200"/>
              </a:spcAft>
            </a:pPr>
            <a:r>
              <a:rPr lang="en-AU" sz="2200" dirty="0" smtClean="0">
                <a:latin typeface="Helvetica" pitchFamily="34" charset="0"/>
              </a:rPr>
              <a:t>Rooms and locations</a:t>
            </a:r>
          </a:p>
          <a:p>
            <a:pPr lvl="0">
              <a:spcBef>
                <a:spcPts val="600"/>
              </a:spcBef>
              <a:spcAft>
                <a:spcPts val="1200"/>
              </a:spcAft>
            </a:pPr>
            <a:r>
              <a:rPr lang="en-AU" sz="2200" dirty="0" smtClean="0">
                <a:latin typeface="Helvetica" pitchFamily="34" charset="0"/>
              </a:rPr>
              <a:t>Billing instructions</a:t>
            </a:r>
          </a:p>
          <a:p>
            <a:pPr lvl="0">
              <a:spcBef>
                <a:spcPts val="600"/>
              </a:spcBef>
              <a:spcAft>
                <a:spcPts val="1200"/>
              </a:spcAft>
            </a:pPr>
            <a:r>
              <a:rPr lang="en-AU" sz="2200" dirty="0" smtClean="0">
                <a:latin typeface="Helvetica" pitchFamily="34" charset="0"/>
              </a:rPr>
              <a:t>Menu</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00443126.jpg"/>
          <p:cNvPicPr/>
          <p:nvPr/>
        </p:nvPicPr>
        <p:blipFill>
          <a:blip r:embed="rId3" cstate="print"/>
          <a:stretch>
            <a:fillRect/>
          </a:stretch>
        </p:blipFill>
        <p:spPr>
          <a:xfrm>
            <a:off x="6096000" y="3581400"/>
            <a:ext cx="2190750" cy="1460500"/>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Beverage arrangements</a:t>
            </a:r>
          </a:p>
          <a:p>
            <a:pPr lvl="0">
              <a:spcBef>
                <a:spcPts val="600"/>
              </a:spcBef>
              <a:spcAft>
                <a:spcPts val="1200"/>
              </a:spcAft>
            </a:pPr>
            <a:r>
              <a:rPr lang="en-AU" sz="2200" dirty="0" smtClean="0">
                <a:latin typeface="Helvetica" pitchFamily="34" charset="0"/>
              </a:rPr>
              <a:t>Sequence of service</a:t>
            </a: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Room set up</a:t>
            </a:r>
          </a:p>
          <a:p>
            <a:pPr lvl="0">
              <a:spcBef>
                <a:spcPts val="600"/>
              </a:spcBef>
              <a:spcAft>
                <a:spcPts val="1200"/>
              </a:spcAft>
            </a:pPr>
            <a:r>
              <a:rPr lang="en-AU" sz="2200" dirty="0" smtClean="0">
                <a:latin typeface="Helvetica" pitchFamily="34" charset="0"/>
              </a:rPr>
              <a:t>Type of service</a:t>
            </a:r>
          </a:p>
          <a:p>
            <a:pPr lvl="0">
              <a:spcBef>
                <a:spcPts val="600"/>
              </a:spcBef>
              <a:spcAft>
                <a:spcPts val="1200"/>
              </a:spcAft>
            </a:pPr>
            <a:r>
              <a:rPr lang="en-AU" sz="2200" dirty="0" smtClean="0">
                <a:latin typeface="Helvetica" pitchFamily="34" charset="0"/>
              </a:rPr>
              <a:t>Special requirements</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7" name="Picture 6" descr="breakfast_buffet_closeup.jpg"/>
          <p:cNvPicPr>
            <a:picLocks noChangeAspect="1"/>
          </p:cNvPicPr>
          <p:nvPr/>
        </p:nvPicPr>
        <p:blipFill>
          <a:blip r:embed="rId3" cstate="print"/>
          <a:stretch>
            <a:fillRect/>
          </a:stretch>
        </p:blipFill>
        <p:spPr>
          <a:xfrm>
            <a:off x="6324600" y="2895600"/>
            <a:ext cx="1899041" cy="1893478"/>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event details have been verbally confirmed with the customer, standard practice requires:</a:t>
            </a:r>
          </a:p>
          <a:p>
            <a:pPr>
              <a:spcBef>
                <a:spcPts val="600"/>
              </a:spcBef>
              <a:spcAft>
                <a:spcPts val="1200"/>
              </a:spcAft>
            </a:pPr>
            <a:r>
              <a:rPr lang="en-AU" sz="2200" dirty="0" smtClean="0">
                <a:latin typeface="Helvetica" pitchFamily="34" charset="0"/>
              </a:rPr>
              <a:t>A written agreement to be drawn up</a:t>
            </a:r>
          </a:p>
          <a:p>
            <a:pPr>
              <a:spcBef>
                <a:spcPts val="600"/>
              </a:spcBef>
              <a:spcAft>
                <a:spcPts val="1200"/>
              </a:spcAft>
            </a:pPr>
            <a:r>
              <a:rPr lang="en-AU" sz="2200" dirty="0" smtClean="0">
                <a:latin typeface="Helvetica" pitchFamily="34" charset="0"/>
              </a:rPr>
              <a:t>Is signed by all parties involved</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443202.JPG"/>
          <p:cNvPicPr/>
          <p:nvPr/>
        </p:nvPicPr>
        <p:blipFill>
          <a:blip r:embed="rId3" cstate="print"/>
          <a:stretch>
            <a:fillRect/>
          </a:stretch>
        </p:blipFill>
        <p:spPr>
          <a:xfrm>
            <a:off x="6400800" y="2438400"/>
            <a:ext cx="1890713" cy="1422278"/>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Full contact details of the client </a:t>
            </a:r>
          </a:p>
          <a:p>
            <a:pPr lvl="0">
              <a:spcBef>
                <a:spcPts val="600"/>
              </a:spcBef>
              <a:spcAft>
                <a:spcPts val="1200"/>
              </a:spcAft>
            </a:pPr>
            <a:r>
              <a:rPr lang="en-AU" sz="2200" dirty="0" smtClean="0">
                <a:latin typeface="Helvetica" pitchFamily="34" charset="0"/>
              </a:rPr>
              <a:t>Dates and times of the function </a:t>
            </a:r>
          </a:p>
          <a:p>
            <a:pPr lvl="0">
              <a:spcBef>
                <a:spcPts val="600"/>
              </a:spcBef>
              <a:spcAft>
                <a:spcPts val="1200"/>
              </a:spcAft>
            </a:pPr>
            <a:r>
              <a:rPr lang="en-AU" sz="2200" dirty="0" smtClean="0">
                <a:latin typeface="Helvetica" pitchFamily="34" charset="0"/>
              </a:rPr>
              <a:t>Date for notification of final numbers </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Service style</a:t>
            </a:r>
          </a:p>
          <a:p>
            <a:pPr lvl="0">
              <a:spcBef>
                <a:spcPts val="600"/>
              </a:spcBef>
              <a:spcAft>
                <a:spcPts val="1200"/>
              </a:spcAft>
            </a:pPr>
            <a:r>
              <a:rPr lang="en-AU" sz="2200" dirty="0" smtClean="0">
                <a:latin typeface="Helvetica" pitchFamily="34" charset="0"/>
              </a:rPr>
              <a:t>Seating arrangements</a:t>
            </a:r>
          </a:p>
          <a:p>
            <a:pPr lvl="0">
              <a:spcBef>
                <a:spcPts val="600"/>
              </a:spcBef>
              <a:spcAft>
                <a:spcPts val="1200"/>
              </a:spcAft>
            </a:pPr>
            <a:r>
              <a:rPr lang="en-AU" sz="2200" dirty="0" smtClean="0">
                <a:latin typeface="Helvetica" pitchFamily="34" charset="0"/>
              </a:rPr>
              <a:t>Equipment</a:t>
            </a:r>
          </a:p>
          <a:p>
            <a:pPr marL="0">
              <a:spcBef>
                <a:spcPts val="600"/>
              </a:spcBef>
              <a:spcAft>
                <a:spcPts val="12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9219" name="Picture 3" descr="C:\Documents and Settings\danielc\Local Settings\Temporary Internet Files\Content.IE5\SIQ5KRQ3\MC900213169[1].wmf"/>
          <p:cNvPicPr>
            <a:picLocks noChangeAspect="1" noChangeArrowheads="1"/>
          </p:cNvPicPr>
          <p:nvPr/>
        </p:nvPicPr>
        <p:blipFill>
          <a:blip r:embed="rId3" cstate="print"/>
          <a:srcRect/>
          <a:stretch>
            <a:fillRect/>
          </a:stretch>
        </p:blipFill>
        <p:spPr bwMode="auto">
          <a:xfrm>
            <a:off x="5715000" y="2590800"/>
            <a:ext cx="1797710" cy="1689811"/>
          </a:xfrm>
          <a:prstGeom prst="rect">
            <a:avLst/>
          </a:prstGeom>
          <a:noFill/>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Location of the function, name of rooms and facilities to be used </a:t>
            </a:r>
          </a:p>
          <a:p>
            <a:pPr lvl="0">
              <a:spcBef>
                <a:spcPts val="600"/>
              </a:spcBef>
              <a:spcAft>
                <a:spcPts val="1200"/>
              </a:spcAft>
            </a:pPr>
            <a:r>
              <a:rPr lang="en-AU" sz="2200" dirty="0" smtClean="0">
                <a:latin typeface="Helvetica" pitchFamily="34" charset="0"/>
              </a:rPr>
              <a:t>Approximate numbers attending </a:t>
            </a:r>
          </a:p>
          <a:p>
            <a:pPr lvl="0">
              <a:spcBef>
                <a:spcPts val="600"/>
              </a:spcBef>
              <a:spcAft>
                <a:spcPts val="1200"/>
              </a:spcAft>
            </a:pPr>
            <a:r>
              <a:rPr lang="en-AU" sz="2200" dirty="0" smtClean="0">
                <a:latin typeface="Helvetica" pitchFamily="34" charset="0"/>
              </a:rPr>
              <a:t>Décor, displays and table decorations </a:t>
            </a:r>
          </a:p>
          <a:p>
            <a:pPr lvl="0">
              <a:spcBef>
                <a:spcPts val="600"/>
              </a:spcBef>
              <a:spcAft>
                <a:spcPts val="1200"/>
              </a:spcAft>
            </a:pPr>
            <a:r>
              <a:rPr lang="en-AU" sz="2200" dirty="0" smtClean="0">
                <a:latin typeface="Helvetica" pitchFamily="34" charset="0"/>
              </a:rPr>
              <a:t>Food to be served – including when, type, amount </a:t>
            </a:r>
          </a:p>
          <a:p>
            <a:pPr lvl="0">
              <a:spcBef>
                <a:spcPts val="600"/>
              </a:spcBef>
              <a:spcAft>
                <a:spcPts val="1200"/>
              </a:spcAft>
            </a:pPr>
            <a:r>
              <a:rPr lang="en-AU" sz="2200" dirty="0" smtClean="0">
                <a:latin typeface="Helvetica" pitchFamily="34" charset="0"/>
              </a:rPr>
              <a:t>Beverages to be served</a:t>
            </a:r>
          </a:p>
          <a:p>
            <a:pPr>
              <a:spcBef>
                <a:spcPts val="600"/>
              </a:spcBef>
              <a:spcAft>
                <a:spcPts val="1200"/>
              </a:spcAft>
            </a:pPr>
            <a:r>
              <a:rPr lang="en-AU" sz="2200" dirty="0" smtClean="0">
                <a:latin typeface="Helvetica" pitchFamily="34" charset="0"/>
              </a:rPr>
              <a:t>Entertainment, activities and inclusions </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7980145361_248f663f28_m.jpg"/>
          <p:cNvPicPr>
            <a:picLocks noChangeAspect="1"/>
          </p:cNvPicPr>
          <p:nvPr/>
        </p:nvPicPr>
        <p:blipFill>
          <a:blip r:embed="rId3" cstate="print"/>
          <a:stretch>
            <a:fillRect/>
          </a:stretch>
        </p:blipFill>
        <p:spPr>
          <a:xfrm>
            <a:off x="6400800" y="2819400"/>
            <a:ext cx="1981200" cy="1320800"/>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Ancillary sales:</a:t>
            </a:r>
          </a:p>
          <a:p>
            <a:pPr lvl="1">
              <a:spcBef>
                <a:spcPts val="600"/>
              </a:spcBef>
              <a:spcAft>
                <a:spcPts val="1200"/>
              </a:spcAft>
            </a:pPr>
            <a:r>
              <a:rPr lang="en-AU" sz="2200" dirty="0" smtClean="0">
                <a:latin typeface="Helvetica" pitchFamily="34" charset="0"/>
              </a:rPr>
              <a:t>Accommodation by type, number and </a:t>
            </a:r>
            <a:br>
              <a:rPr lang="en-AU" sz="2200" dirty="0" smtClean="0">
                <a:latin typeface="Helvetica" pitchFamily="34" charset="0"/>
              </a:rPr>
            </a:br>
            <a:r>
              <a:rPr lang="en-AU" sz="2200" dirty="0" smtClean="0">
                <a:latin typeface="Helvetica" pitchFamily="34" charset="0"/>
              </a:rPr>
              <a:t>dates</a:t>
            </a:r>
          </a:p>
          <a:p>
            <a:pPr lvl="1">
              <a:spcBef>
                <a:spcPts val="600"/>
              </a:spcBef>
              <a:spcAft>
                <a:spcPts val="1200"/>
              </a:spcAft>
            </a:pPr>
            <a:r>
              <a:rPr lang="en-AU" sz="2200" dirty="0" smtClean="0">
                <a:latin typeface="Helvetica" pitchFamily="34" charset="0"/>
              </a:rPr>
              <a:t>Tours</a:t>
            </a:r>
          </a:p>
          <a:p>
            <a:pPr lvl="1">
              <a:spcBef>
                <a:spcPts val="600"/>
              </a:spcBef>
              <a:spcAft>
                <a:spcPts val="1200"/>
              </a:spcAft>
            </a:pPr>
            <a:r>
              <a:rPr lang="en-AU" sz="2200" dirty="0" smtClean="0">
                <a:latin typeface="Helvetica" pitchFamily="34" charset="0"/>
              </a:rPr>
              <a:t>In-house Services</a:t>
            </a:r>
          </a:p>
          <a:p>
            <a:pPr lvl="1">
              <a:spcBef>
                <a:spcPts val="600"/>
              </a:spcBef>
              <a:spcAft>
                <a:spcPts val="1200"/>
              </a:spcAft>
            </a:pPr>
            <a:r>
              <a:rPr lang="en-AU" sz="2200" dirty="0" smtClean="0">
                <a:latin typeface="Helvetica" pitchFamily="34" charset="0"/>
              </a:rPr>
              <a:t>Provision of a Master of Ceremonies                                (MC) or Host</a:t>
            </a:r>
          </a:p>
          <a:p>
            <a:pPr lvl="1">
              <a:spcBef>
                <a:spcPts val="600"/>
              </a:spcBef>
              <a:spcAft>
                <a:spcPts val="1200"/>
              </a:spcAft>
            </a:pPr>
            <a:r>
              <a:rPr lang="en-AU" sz="2200" dirty="0" smtClean="0">
                <a:latin typeface="Helvetica" pitchFamily="34" charset="0"/>
              </a:rPr>
              <a:t>Photographers </a:t>
            </a: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2051" name="Picture 3" descr="C:\Documents and Settings\danielc\Local Settings\Temporary Internet Files\Content.IE5\Y88G682L\MC900221843[1].wmf"/>
          <p:cNvPicPr>
            <a:picLocks noChangeAspect="1" noChangeArrowheads="1"/>
          </p:cNvPicPr>
          <p:nvPr/>
        </p:nvPicPr>
        <p:blipFill>
          <a:blip r:embed="rId3" cstate="print"/>
          <a:srcRect/>
          <a:stretch>
            <a:fillRect/>
          </a:stretch>
        </p:blipFill>
        <p:spPr bwMode="auto">
          <a:xfrm>
            <a:off x="6400800" y="2895600"/>
            <a:ext cx="1733702" cy="1833372"/>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Services and facilities the venue has agreed to provide at no charge</a:t>
            </a:r>
          </a:p>
          <a:p>
            <a:pPr lvl="0">
              <a:spcBef>
                <a:spcPts val="600"/>
              </a:spcBef>
              <a:spcAft>
                <a:spcPts val="1200"/>
              </a:spcAft>
            </a:pPr>
            <a:r>
              <a:rPr lang="en-AU" sz="2200" dirty="0" smtClean="0">
                <a:latin typeface="Helvetica" pitchFamily="34" charset="0"/>
              </a:rPr>
              <a:t>Technology required </a:t>
            </a:r>
          </a:p>
          <a:p>
            <a:pPr lvl="0">
              <a:spcBef>
                <a:spcPts val="600"/>
              </a:spcBef>
              <a:spcAft>
                <a:spcPts val="1200"/>
              </a:spcAft>
            </a:pPr>
            <a:r>
              <a:rPr lang="en-AU" sz="2200" dirty="0" smtClean="0">
                <a:latin typeface="Helvetica" pitchFamily="34" charset="0"/>
              </a:rPr>
              <a:t>Access required by the client prior to the function </a:t>
            </a:r>
          </a:p>
          <a:p>
            <a:pPr lvl="0">
              <a:spcBef>
                <a:spcPts val="600"/>
              </a:spcBef>
              <a:spcAft>
                <a:spcPts val="1200"/>
              </a:spcAft>
            </a:pPr>
            <a:r>
              <a:rPr lang="en-AU" sz="2200" dirty="0" smtClean="0">
                <a:latin typeface="Helvetica" pitchFamily="34" charset="0"/>
              </a:rPr>
              <a:t>Products and services the client will be supplying </a:t>
            </a:r>
          </a:p>
          <a:p>
            <a:pPr lvl="0">
              <a:spcBef>
                <a:spcPts val="600"/>
              </a:spcBef>
              <a:spcAft>
                <a:spcPts val="1200"/>
              </a:spcAft>
            </a:pPr>
            <a:r>
              <a:rPr lang="en-AU" sz="2200" dirty="0" smtClean="0">
                <a:latin typeface="Helvetica" pitchFamily="34" charset="0"/>
              </a:rPr>
              <a:t>Involvement of third party suppliers </a:t>
            </a:r>
          </a:p>
          <a:p>
            <a:pPr>
              <a:spcBef>
                <a:spcPts val="600"/>
              </a:spcBef>
              <a:spcAft>
                <a:spcPts val="1200"/>
              </a:spcAft>
            </a:pPr>
            <a:r>
              <a:rPr lang="en-AU" sz="2200" dirty="0" smtClean="0">
                <a:latin typeface="Helvetica" pitchFamily="34" charset="0"/>
              </a:rPr>
              <a:t>Total cost of function</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10243" name="Picture 3" descr="C:\Documents and Settings\danielc\Local Settings\Temporary Internet Files\Content.IE5\112MAXTI\MC900196322[1].wmf"/>
          <p:cNvPicPr>
            <a:picLocks noChangeAspect="1" noChangeArrowheads="1"/>
          </p:cNvPicPr>
          <p:nvPr/>
        </p:nvPicPr>
        <p:blipFill>
          <a:blip r:embed="rId3" cstate="print"/>
          <a:srcRect/>
          <a:stretch>
            <a:fillRect/>
          </a:stretch>
        </p:blipFill>
        <p:spPr bwMode="auto">
          <a:xfrm>
            <a:off x="5791200" y="152400"/>
            <a:ext cx="1823314" cy="1783080"/>
          </a:xfrm>
          <a:prstGeom prst="rect">
            <a:avLst/>
          </a:prstGeom>
          <a:noFill/>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Booking conditions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venues will have specific booking conditions. These will usually appear on the website and form part of the standard function contract. </a:t>
            </a:r>
          </a:p>
          <a:p>
            <a:pPr>
              <a:spcBef>
                <a:spcPts val="600"/>
              </a:spcBef>
              <a:spcAft>
                <a:spcPts val="1200"/>
              </a:spcAft>
            </a:pPr>
            <a:r>
              <a:rPr lang="en-AU" sz="2200" dirty="0" smtClean="0">
                <a:latin typeface="Helvetica" pitchFamily="34" charset="0"/>
              </a:rPr>
              <a:t>What information is normally included                                       in booking conditions?</a:t>
            </a:r>
          </a:p>
          <a:p>
            <a:pPr>
              <a:spcBef>
                <a:spcPts val="600"/>
              </a:spcBef>
              <a:spcAft>
                <a:spcPts val="1200"/>
              </a:spcAft>
            </a:pPr>
            <a:r>
              <a:rPr lang="en-AU" sz="2200" dirty="0" smtClean="0">
                <a:latin typeface="Helvetica" pitchFamily="34" charset="0"/>
              </a:rPr>
              <a:t>What are the benefits of having                                  booking conditions?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MP900442211.JPG"/>
          <p:cNvPicPr/>
          <p:nvPr/>
        </p:nvPicPr>
        <p:blipFill>
          <a:blip r:embed="rId3" cstate="print"/>
          <a:stretch>
            <a:fillRect/>
          </a:stretch>
        </p:blipFill>
        <p:spPr>
          <a:xfrm>
            <a:off x="6477000" y="3352800"/>
            <a:ext cx="1807845" cy="2486025"/>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How long the client has to sign the function contract </a:t>
            </a:r>
          </a:p>
          <a:p>
            <a:pPr lvl="0">
              <a:spcBef>
                <a:spcPts val="600"/>
              </a:spcBef>
              <a:spcAft>
                <a:spcPts val="1200"/>
              </a:spcAft>
            </a:pPr>
            <a:r>
              <a:rPr lang="en-AU" sz="2200" dirty="0" smtClean="0">
                <a:latin typeface="Helvetica" pitchFamily="34" charset="0"/>
              </a:rPr>
              <a:t>Need for the client to provide information by a set date </a:t>
            </a:r>
          </a:p>
          <a:p>
            <a:pPr lvl="0">
              <a:spcBef>
                <a:spcPts val="600"/>
              </a:spcBef>
              <a:spcAft>
                <a:spcPts val="1200"/>
              </a:spcAft>
            </a:pPr>
            <a:r>
              <a:rPr lang="en-AU" sz="2200" dirty="0" smtClean="0">
                <a:latin typeface="Helvetica" pitchFamily="34" charset="0"/>
              </a:rPr>
              <a:t>Need for the client to advise the venue within a set time of any inaccuracies contained in the contract or running sheet</a:t>
            </a:r>
          </a:p>
          <a:p>
            <a:pPr>
              <a:spcBef>
                <a:spcPts val="600"/>
              </a:spcBef>
              <a:spcAft>
                <a:spcPts val="1200"/>
              </a:spcAft>
            </a:pPr>
            <a:r>
              <a:rPr lang="en-AU" sz="2200" dirty="0" smtClean="0">
                <a:latin typeface="Helvetica" pitchFamily="34" charset="0"/>
              </a:rPr>
              <a:t>Ability of the client to make changes                                       to expected numbers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6" name="Picture 5" descr="MP900430462[1].JPG"/>
          <p:cNvPicPr>
            <a:picLocks noChangeAspect="1"/>
          </p:cNvPicPr>
          <p:nvPr/>
        </p:nvPicPr>
        <p:blipFill>
          <a:blip r:embed="rId3" cstate="print"/>
          <a:stretch>
            <a:fillRect/>
          </a:stretch>
        </p:blipFill>
        <p:spPr>
          <a:xfrm>
            <a:off x="6400800" y="4343400"/>
            <a:ext cx="2057400" cy="2057400"/>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Payment requirements</a:t>
            </a:r>
          </a:p>
          <a:p>
            <a:pPr lvl="0">
              <a:spcBef>
                <a:spcPts val="600"/>
              </a:spcBef>
              <a:spcAft>
                <a:spcPts val="1200"/>
              </a:spcAft>
            </a:pPr>
            <a:r>
              <a:rPr lang="en-AU" sz="2200" dirty="0" smtClean="0">
                <a:latin typeface="Helvetica" pitchFamily="34" charset="0"/>
              </a:rPr>
              <a:t>Cancellation policy</a:t>
            </a:r>
          </a:p>
          <a:p>
            <a:pPr lvl="0">
              <a:spcBef>
                <a:spcPts val="600"/>
              </a:spcBef>
              <a:spcAft>
                <a:spcPts val="1200"/>
              </a:spcAft>
            </a:pPr>
            <a:r>
              <a:rPr lang="en-AU" sz="2200" dirty="0" smtClean="0">
                <a:latin typeface="Helvetica" pitchFamily="34" charset="0"/>
              </a:rPr>
              <a:t>Right of the venue to make changes</a:t>
            </a:r>
          </a:p>
          <a:p>
            <a:pPr lvl="0">
              <a:spcBef>
                <a:spcPts val="600"/>
              </a:spcBef>
              <a:spcAft>
                <a:spcPts val="1200"/>
              </a:spcAft>
            </a:pPr>
            <a:r>
              <a:rPr lang="en-AU" sz="2200" dirty="0" smtClean="0">
                <a:latin typeface="Helvetica" pitchFamily="34" charset="0"/>
              </a:rPr>
              <a:t>‘Force majeure’</a:t>
            </a:r>
          </a:p>
          <a:p>
            <a:pPr lvl="0">
              <a:spcBef>
                <a:spcPts val="600"/>
              </a:spcBef>
              <a:spcAft>
                <a:spcPts val="1200"/>
              </a:spcAft>
            </a:pPr>
            <a:r>
              <a:rPr lang="en-AU" sz="2200" dirty="0" smtClean="0">
                <a:latin typeface="Helvetica" pitchFamily="34" charset="0"/>
              </a:rPr>
              <a:t>Right of the venue to refuse certain                            activities or individuals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11266" name="Picture 2" descr="C:\Documents and Settings\danielc\Local Settings\Temporary Internet Files\Content.IE5\SIQ5KRQ3\MC900104708[1].wmf"/>
          <p:cNvPicPr>
            <a:picLocks noChangeAspect="1" noChangeArrowheads="1"/>
          </p:cNvPicPr>
          <p:nvPr/>
        </p:nvPicPr>
        <p:blipFill>
          <a:blip r:embed="rId3" cstate="print"/>
          <a:srcRect/>
          <a:stretch>
            <a:fillRect/>
          </a:stretch>
        </p:blipFill>
        <p:spPr bwMode="auto">
          <a:xfrm>
            <a:off x="6172200" y="2514600"/>
            <a:ext cx="1818742" cy="1546250"/>
          </a:xfrm>
          <a:prstGeom prst="rect">
            <a:avLst/>
          </a:prstGeom>
          <a:noFill/>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Conditions that apply to decorating and using the venue</a:t>
            </a:r>
          </a:p>
          <a:p>
            <a:pPr lvl="0">
              <a:spcBef>
                <a:spcPts val="600"/>
              </a:spcBef>
              <a:spcAft>
                <a:spcPts val="1200"/>
              </a:spcAft>
            </a:pPr>
            <a:r>
              <a:rPr lang="en-AU" sz="2200" dirty="0" smtClean="0">
                <a:latin typeface="Helvetica" pitchFamily="34" charset="0"/>
              </a:rPr>
              <a:t>Loss and damage</a:t>
            </a:r>
          </a:p>
          <a:p>
            <a:pPr lvl="0">
              <a:spcBef>
                <a:spcPts val="600"/>
              </a:spcBef>
              <a:spcAft>
                <a:spcPts val="1200"/>
              </a:spcAft>
            </a:pPr>
            <a:r>
              <a:rPr lang="en-AU" sz="2200" dirty="0" smtClean="0">
                <a:latin typeface="Helvetica" pitchFamily="34" charset="0"/>
              </a:rPr>
              <a:t>Check-in and check-out times for                           accommodation rooms that are being                               included as part of the function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7" name="Picture 6" descr="MP900422472[1].JPG"/>
          <p:cNvPicPr>
            <a:picLocks noChangeAspect="1"/>
          </p:cNvPicPr>
          <p:nvPr/>
        </p:nvPicPr>
        <p:blipFill>
          <a:blip r:embed="rId3" cstate="print"/>
          <a:stretch>
            <a:fillRect/>
          </a:stretch>
        </p:blipFill>
        <p:spPr>
          <a:xfrm>
            <a:off x="6934200" y="2895600"/>
            <a:ext cx="1370261" cy="20574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standard industry practice to request a deposit when the final details of a function have been confirmed</a:t>
            </a:r>
          </a:p>
          <a:p>
            <a:pPr>
              <a:spcBef>
                <a:spcPts val="600"/>
              </a:spcBef>
              <a:spcAft>
                <a:spcPts val="1200"/>
              </a:spcAft>
            </a:pPr>
            <a:r>
              <a:rPr lang="en-AU" sz="2200" dirty="0" smtClean="0">
                <a:latin typeface="Helvetica" pitchFamily="34" charset="0"/>
              </a:rPr>
              <a:t>No function exists until a deposit has been paid</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6" name="Picture 5" descr="MP900442284.JPG"/>
          <p:cNvPicPr>
            <a:picLocks noChangeAspect="1"/>
          </p:cNvPicPr>
          <p:nvPr/>
        </p:nvPicPr>
        <p:blipFill>
          <a:blip r:embed="rId3" cstate="print"/>
          <a:stretch>
            <a:fillRect/>
          </a:stretch>
        </p:blipFill>
        <p:spPr>
          <a:xfrm>
            <a:off x="3657600" y="3810000"/>
            <a:ext cx="1657350" cy="220980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Requesting the deposit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You may have blocked the required areas for an anticipated function, but it remains ‘tentative’ until a deposit has been secured and a contract signed.</a:t>
            </a:r>
          </a:p>
          <a:p>
            <a:pPr>
              <a:spcBef>
                <a:spcPts val="600"/>
              </a:spcBef>
              <a:spcAft>
                <a:spcPts val="1200"/>
              </a:spcAft>
            </a:pPr>
            <a:r>
              <a:rPr lang="en-AU" sz="2200" dirty="0" smtClean="0">
                <a:latin typeface="Helvetica" pitchFamily="34" charset="0"/>
              </a:rPr>
              <a:t>How can you make a request for a                                   deposit to be paid? </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12290" name="Picture 2" descr="C:\Documents and Settings\danielc\Local Settings\Temporary Internet Files\Content.IE5\UMECW9PM\MC900357085[1].wmf"/>
          <p:cNvPicPr>
            <a:picLocks noChangeAspect="1" noChangeArrowheads="1"/>
          </p:cNvPicPr>
          <p:nvPr/>
        </p:nvPicPr>
        <p:blipFill>
          <a:blip r:embed="rId3" cstate="print"/>
          <a:srcRect/>
          <a:stretch>
            <a:fillRect/>
          </a:stretch>
        </p:blipFill>
        <p:spPr bwMode="auto">
          <a:xfrm>
            <a:off x="6400800" y="3276600"/>
            <a:ext cx="1545336" cy="1837030"/>
          </a:xfrm>
          <a:prstGeom prst="rect">
            <a:avLst/>
          </a:prstGeom>
          <a:noFill/>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Requesting the deposit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Methods include:</a:t>
            </a:r>
          </a:p>
          <a:p>
            <a:pPr>
              <a:spcBef>
                <a:spcPts val="600"/>
              </a:spcBef>
              <a:spcAft>
                <a:spcPts val="1200"/>
              </a:spcAft>
            </a:pPr>
            <a:r>
              <a:rPr lang="en-AU" sz="2200" dirty="0" smtClean="0">
                <a:latin typeface="Helvetica" pitchFamily="34" charset="0"/>
              </a:rPr>
              <a:t>In writing</a:t>
            </a:r>
          </a:p>
          <a:p>
            <a:pPr>
              <a:spcBef>
                <a:spcPts val="600"/>
              </a:spcBef>
              <a:spcAft>
                <a:spcPts val="1200"/>
              </a:spcAft>
            </a:pPr>
            <a:r>
              <a:rPr lang="en-AU" sz="2200" dirty="0" smtClean="0">
                <a:latin typeface="Helvetica" pitchFamily="34" charset="0"/>
              </a:rPr>
              <a:t>Over the phone</a:t>
            </a:r>
          </a:p>
          <a:p>
            <a:pPr>
              <a:spcBef>
                <a:spcPts val="600"/>
              </a:spcBef>
              <a:spcAft>
                <a:spcPts val="1200"/>
              </a:spcAft>
            </a:pPr>
            <a:r>
              <a:rPr lang="en-AU" sz="2200" dirty="0" smtClean="0">
                <a:latin typeface="Helvetica" pitchFamily="34" charset="0"/>
              </a:rPr>
              <a:t>By email</a:t>
            </a:r>
          </a:p>
          <a:p>
            <a:pPr>
              <a:spcBef>
                <a:spcPts val="600"/>
              </a:spcBef>
              <a:spcAft>
                <a:spcPts val="1200"/>
              </a:spcAft>
            </a:pPr>
            <a:r>
              <a:rPr lang="en-AU" sz="2200" dirty="0" smtClean="0">
                <a:latin typeface="Helvetica" pitchFamily="34" charset="0"/>
              </a:rPr>
              <a:t>In a face to face meeting</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8" name="Picture 7" descr="MP900316809.JPG"/>
          <p:cNvPicPr>
            <a:picLocks noChangeAspect="1"/>
          </p:cNvPicPr>
          <p:nvPr/>
        </p:nvPicPr>
        <p:blipFill>
          <a:blip r:embed="rId3" cstate="print"/>
          <a:stretch>
            <a:fillRect/>
          </a:stretch>
        </p:blipFill>
        <p:spPr>
          <a:xfrm>
            <a:off x="5791200" y="2743200"/>
            <a:ext cx="2438400" cy="1613408"/>
          </a:xfrm>
          <a:prstGeom prst="rect">
            <a:avLst/>
          </a:prstGeom>
          <a:noFill/>
          <a:ln>
            <a:noFill/>
          </a:ln>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Steps associated with handling deposits</a:t>
            </a:r>
          </a:p>
          <a:p>
            <a:pPr lvl="0">
              <a:spcBef>
                <a:spcPts val="600"/>
              </a:spcBef>
              <a:spcAft>
                <a:spcPts val="1200"/>
              </a:spcAft>
            </a:pPr>
            <a:r>
              <a:rPr lang="en-AU" sz="2200" dirty="0" smtClean="0">
                <a:latin typeface="Helvetica" pitchFamily="34" charset="0"/>
              </a:rPr>
              <a:t>Requesting deposit payment</a:t>
            </a:r>
          </a:p>
          <a:p>
            <a:pPr lvl="0">
              <a:spcBef>
                <a:spcPts val="600"/>
              </a:spcBef>
              <a:spcAft>
                <a:spcPts val="1200"/>
              </a:spcAft>
            </a:pPr>
            <a:r>
              <a:rPr lang="en-AU" sz="2200" dirty="0" smtClean="0">
                <a:latin typeface="Helvetica" pitchFamily="34" charset="0"/>
              </a:rPr>
              <a:t>Setting date for payment of deposit</a:t>
            </a:r>
          </a:p>
          <a:p>
            <a:pPr lvl="0">
              <a:spcBef>
                <a:spcPts val="600"/>
              </a:spcBef>
              <a:spcAft>
                <a:spcPts val="1200"/>
              </a:spcAft>
            </a:pPr>
            <a:r>
              <a:rPr lang="en-AU" sz="2200" dirty="0" smtClean="0">
                <a:latin typeface="Helvetica" pitchFamily="34" charset="0"/>
              </a:rPr>
              <a:t>Advising of payment options</a:t>
            </a:r>
          </a:p>
          <a:p>
            <a:pPr lvl="0">
              <a:spcBef>
                <a:spcPts val="600"/>
              </a:spcBef>
              <a:spcAft>
                <a:spcPts val="1200"/>
              </a:spcAft>
            </a:pPr>
            <a:r>
              <a:rPr lang="en-AU" sz="2200" dirty="0" smtClean="0">
                <a:latin typeface="Helvetica" pitchFamily="34" charset="0"/>
              </a:rPr>
              <a:t>Issuing receipt for deposit and confirmation</a:t>
            </a:r>
          </a:p>
          <a:p>
            <a:pPr>
              <a:spcBef>
                <a:spcPts val="600"/>
              </a:spcBef>
              <a:spcAft>
                <a:spcPts val="1200"/>
              </a:spcAft>
            </a:pPr>
            <a:r>
              <a:rPr lang="en-AU" sz="2200" dirty="0" smtClean="0">
                <a:latin typeface="Helvetica" pitchFamily="34" charset="0"/>
              </a:rPr>
              <a:t>Recording payment of deposit on internal documentation </a:t>
            </a:r>
          </a:p>
          <a:p>
            <a:pPr>
              <a:spcBef>
                <a:spcPts val="600"/>
              </a:spcBef>
              <a:spcAft>
                <a:spcPts val="1200"/>
              </a:spcAft>
            </a:pPr>
            <a:r>
              <a:rPr lang="en-AU" sz="2200" dirty="0" smtClean="0">
                <a:latin typeface="Helvetica" pitchFamily="34" charset="0"/>
              </a:rPr>
              <a:t>Advising customer of amount outstanding </a:t>
            </a:r>
            <a:endParaRPr lang="en-AU" sz="2200" b="1"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6" name="Picture 5" descr="MP900399478.JPG"/>
          <p:cNvPicPr/>
          <p:nvPr/>
        </p:nvPicPr>
        <p:blipFill>
          <a:blip r:embed="rId3" cstate="print"/>
          <a:stretch>
            <a:fillRect/>
          </a:stretch>
        </p:blipFill>
        <p:spPr>
          <a:xfrm>
            <a:off x="7010400" y="2362200"/>
            <a:ext cx="1595438" cy="1851348"/>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Updated financial information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When the client pays a deposit for a function an account is usually opened for them at this stage. </a:t>
            </a:r>
          </a:p>
          <a:p>
            <a:pPr>
              <a:spcBef>
                <a:spcPts val="600"/>
              </a:spcBef>
              <a:spcAft>
                <a:spcPts val="1200"/>
              </a:spcAft>
              <a:buNone/>
            </a:pPr>
            <a:r>
              <a:rPr lang="en-AU" sz="2200" dirty="0" smtClean="0">
                <a:latin typeface="Helvetica" pitchFamily="34" charset="0"/>
              </a:rPr>
              <a:t>Updating information can include:</a:t>
            </a:r>
          </a:p>
          <a:p>
            <a:pPr>
              <a:spcBef>
                <a:spcPts val="600"/>
              </a:spcBef>
              <a:spcAft>
                <a:spcPts val="1200"/>
              </a:spcAft>
            </a:pPr>
            <a:r>
              <a:rPr lang="en-AU" sz="2200" dirty="0" smtClean="0">
                <a:latin typeface="Helvetica" pitchFamily="34" charset="0"/>
              </a:rPr>
              <a:t>Ensuring payment entries are recorded</a:t>
            </a:r>
          </a:p>
          <a:p>
            <a:pPr>
              <a:spcBef>
                <a:spcPts val="600"/>
              </a:spcBef>
              <a:spcAft>
                <a:spcPts val="1200"/>
              </a:spcAft>
            </a:pPr>
            <a:r>
              <a:rPr lang="en-AU" sz="2200" dirty="0" smtClean="0">
                <a:latin typeface="Helvetica" pitchFamily="34" charset="0"/>
              </a:rPr>
              <a:t>Updating files when new payments are made</a:t>
            </a:r>
          </a:p>
          <a:p>
            <a:endParaRPr lang="en-AU" sz="2400" dirty="0" smtClean="0"/>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MP900309203.JPG"/>
          <p:cNvPicPr/>
          <p:nvPr/>
        </p:nvPicPr>
        <p:blipFill>
          <a:blip r:embed="rId3" cstate="print"/>
          <a:stretch>
            <a:fillRect/>
          </a:stretch>
        </p:blipFill>
        <p:spPr>
          <a:xfrm>
            <a:off x="3200400" y="4343400"/>
            <a:ext cx="2249887" cy="1752600"/>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confirmations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A standard pro forma confirmation is sent to the client when they have signed the function contract and paid a deposit</a:t>
            </a:r>
          </a:p>
          <a:p>
            <a:pPr>
              <a:spcBef>
                <a:spcPts val="600"/>
              </a:spcBef>
              <a:spcAft>
                <a:spcPts val="1200"/>
              </a:spcAft>
            </a:pPr>
            <a:r>
              <a:rPr lang="en-AU" sz="2200" dirty="0" smtClean="0">
                <a:latin typeface="Helvetica" pitchFamily="34" charset="0"/>
              </a:rPr>
              <a:t>This confirmation acknowledges the contract </a:t>
            </a:r>
            <a:br>
              <a:rPr lang="en-AU" sz="2200" dirty="0" smtClean="0">
                <a:latin typeface="Helvetica" pitchFamily="34" charset="0"/>
              </a:rPr>
            </a:br>
            <a:r>
              <a:rPr lang="en-AU" sz="2200" dirty="0" smtClean="0">
                <a:latin typeface="Helvetica" pitchFamily="34" charset="0"/>
              </a:rPr>
              <a:t>has been signed and that money has been </a:t>
            </a:r>
            <a:br>
              <a:rPr lang="en-AU" sz="2200" dirty="0" smtClean="0">
                <a:latin typeface="Helvetica" pitchFamily="34" charset="0"/>
              </a:rPr>
            </a:br>
            <a:r>
              <a:rPr lang="en-AU" sz="2200" dirty="0" smtClean="0">
                <a:latin typeface="Helvetica" pitchFamily="34" charset="0"/>
              </a:rPr>
              <a:t>paid and received</a:t>
            </a:r>
          </a:p>
          <a:p>
            <a:pPr>
              <a:spcBef>
                <a:spcPts val="600"/>
              </a:spcBef>
              <a:spcAft>
                <a:spcPts val="1200"/>
              </a:spcAft>
            </a:pPr>
            <a:r>
              <a:rPr lang="en-AU" sz="2200" dirty="0" smtClean="0">
                <a:latin typeface="Helvetica" pitchFamily="34" charset="0"/>
              </a:rPr>
              <a:t>In addition a copy of Function Sheet is also sent </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6" name="Picture 5" descr="MP900175607.JPG"/>
          <p:cNvPicPr/>
          <p:nvPr/>
        </p:nvPicPr>
        <p:blipFill>
          <a:blip r:embed="rId3" cstate="print"/>
          <a:stretch>
            <a:fillRect/>
          </a:stretch>
        </p:blipFill>
        <p:spPr>
          <a:xfrm>
            <a:off x="7391400" y="2514600"/>
            <a:ext cx="1295961" cy="190500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13314" name="Picture 2" descr="I:\Overseas Projects\PHOTOS\2011\wai_p_jess_040_2uprescmyk.jpg"/>
          <p:cNvPicPr>
            <a:picLocks noChangeAspect="1" noChangeArrowheads="1"/>
          </p:cNvPicPr>
          <p:nvPr/>
        </p:nvPicPr>
        <p:blipFill>
          <a:blip r:embed="rId3" cstate="print">
            <a:lum contrast="20000"/>
          </a:blip>
          <a:srcRect/>
          <a:stretch>
            <a:fillRect/>
          </a:stretch>
        </p:blipFill>
        <p:spPr bwMode="auto">
          <a:xfrm>
            <a:off x="3733800" y="2514600"/>
            <a:ext cx="3529887" cy="2360612"/>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759</TotalTime>
  <Words>8189</Words>
  <Application>Microsoft Office PowerPoint</Application>
  <PresentationFormat>On-screen Show (4:3)</PresentationFormat>
  <Paragraphs>1939</Paragraphs>
  <Slides>140</Slides>
  <Notes>140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140</vt:i4>
      </vt:variant>
    </vt:vector>
  </HeadingPairs>
  <TitlesOfParts>
    <vt:vector size="147" baseType="lpstr">
      <vt:lpstr>Arial</vt:lpstr>
      <vt:lpstr>Calibri</vt:lpstr>
      <vt:lpstr>Helvetica</vt:lpstr>
      <vt:lpstr>Tahoma</vt:lpstr>
      <vt:lpstr>Times New Roman</vt:lpstr>
      <vt:lpstr>Wingdings 2</vt:lpstr>
      <vt:lpstr>ASEAN PPT Template 010611 MV</vt:lpstr>
      <vt:lpstr>DESIGN A CONCEPT FOR A MAjOR EVENT OR FUNCTION</vt:lpstr>
      <vt:lpstr>Subject Elements</vt:lpstr>
      <vt:lpstr>Assessment</vt:lpstr>
      <vt:lpstr>PowerPoint Presentation</vt:lpstr>
      <vt:lpstr>Identify key objectives of event</vt:lpstr>
      <vt:lpstr>Events</vt:lpstr>
      <vt:lpstr>Events</vt:lpstr>
      <vt:lpstr>Events</vt:lpstr>
      <vt:lpstr>Benefits of events</vt:lpstr>
      <vt:lpstr>Benefits of events</vt:lpstr>
      <vt:lpstr>Types of events</vt:lpstr>
      <vt:lpstr>Types of events</vt:lpstr>
      <vt:lpstr>Types of events</vt:lpstr>
      <vt:lpstr>Types of events</vt:lpstr>
      <vt:lpstr>Types of events</vt:lpstr>
      <vt:lpstr>Event facilities</vt:lpstr>
      <vt:lpstr>Event facilities</vt:lpstr>
      <vt:lpstr>Event facilities</vt:lpstr>
      <vt:lpstr>Event facilities</vt:lpstr>
      <vt:lpstr>Event facilities</vt:lpstr>
      <vt:lpstr>Event facilities</vt:lpstr>
      <vt:lpstr>Event facilities</vt:lpstr>
      <vt:lpstr>Receiving an enquiry</vt:lpstr>
      <vt:lpstr>Receiving an enquiry</vt:lpstr>
      <vt:lpstr>Determine customer needs</vt:lpstr>
      <vt:lpstr>Meeting with clients</vt:lpstr>
      <vt:lpstr>Determine event objectives </vt:lpstr>
      <vt:lpstr>Key stakeholders</vt:lpstr>
      <vt:lpstr>Lliaison and management structure</vt:lpstr>
      <vt:lpstr>Determine customer needs</vt:lpstr>
      <vt:lpstr>Event considerations</vt:lpstr>
      <vt:lpstr>Event considerations</vt:lpstr>
      <vt:lpstr>Function set up options</vt:lpstr>
      <vt:lpstr>Event set up options</vt:lpstr>
      <vt:lpstr>Event set up options</vt:lpstr>
      <vt:lpstr>Event set up options</vt:lpstr>
      <vt:lpstr>Event set up options</vt:lpstr>
      <vt:lpstr>Identify options for events</vt:lpstr>
      <vt:lpstr>Arrange external services</vt:lpstr>
      <vt:lpstr>Arrange external services</vt:lpstr>
      <vt:lpstr>Arrange external services</vt:lpstr>
      <vt:lpstr>Arrange external services</vt:lpstr>
      <vt:lpstr>Arrange external services</vt:lpstr>
      <vt:lpstr>Arrange external services</vt:lpstr>
      <vt:lpstr>Factors impacting events</vt:lpstr>
      <vt:lpstr>Resource availability</vt:lpstr>
      <vt:lpstr>Resource availability</vt:lpstr>
      <vt:lpstr>Attracting additional resources</vt:lpstr>
      <vt:lpstr>Co-hosting</vt:lpstr>
      <vt:lpstr>Event sponsorship</vt:lpstr>
      <vt:lpstr>Event sponsorship</vt:lpstr>
      <vt:lpstr>Event sponsorship</vt:lpstr>
      <vt:lpstr>Event sponsorship</vt:lpstr>
      <vt:lpstr>Event sponsorship</vt:lpstr>
      <vt:lpstr>Lead time restrictions</vt:lpstr>
      <vt:lpstr>Participation and interest</vt:lpstr>
      <vt:lpstr>Level of competition</vt:lpstr>
      <vt:lpstr>Timing and duration factors</vt:lpstr>
      <vt:lpstr>Talent of staff</vt:lpstr>
      <vt:lpstr>Other factors</vt:lpstr>
      <vt:lpstr>PowerPoint Presentation</vt:lpstr>
      <vt:lpstr>Establish concept, theme and format of event</vt:lpstr>
      <vt:lpstr>Establish concept, theme and format of event</vt:lpstr>
      <vt:lpstr>Organisation standards, policies and procedures</vt:lpstr>
      <vt:lpstr>Organisation standards, policies and procedures</vt:lpstr>
      <vt:lpstr>Organisation standards, policies and procedures</vt:lpstr>
      <vt:lpstr>Organisation standards, policies and procedures</vt:lpstr>
      <vt:lpstr>Organisation standards, policies and procedures</vt:lpstr>
      <vt:lpstr>Organisation standards, policies and procedures</vt:lpstr>
      <vt:lpstr>Organisation standards, policies and procedures</vt:lpstr>
      <vt:lpstr>Organisation standards, policies and procedures</vt:lpstr>
      <vt:lpstr>Organisation standards, policies and procedures</vt:lpstr>
      <vt:lpstr>Prepare event brief</vt:lpstr>
      <vt:lpstr>Contents of an event brief</vt:lpstr>
      <vt:lpstr>Contents of an event brief</vt:lpstr>
      <vt:lpstr>Verify practicality and viability of event concept</vt:lpstr>
      <vt:lpstr>Liaise with internal stakeholders</vt:lpstr>
      <vt:lpstr>Liaise with internal stakeholders</vt:lpstr>
      <vt:lpstr>Liaise with internal stakeholders</vt:lpstr>
      <vt:lpstr>Identify logistical requirements</vt:lpstr>
      <vt:lpstr>Identify potential venues and sites</vt:lpstr>
      <vt:lpstr>Identify potential venues and sites</vt:lpstr>
      <vt:lpstr>Identify potential venues and sites</vt:lpstr>
      <vt:lpstr>Identify potential venues and sites</vt:lpstr>
      <vt:lpstr>Catering</vt:lpstr>
      <vt:lpstr>Factors impacting catering</vt:lpstr>
      <vt:lpstr>Factors impacting catering</vt:lpstr>
      <vt:lpstr>Event menu options</vt:lpstr>
      <vt:lpstr>Types of food and beverage menus</vt:lpstr>
      <vt:lpstr>Staffing</vt:lpstr>
      <vt:lpstr>Staffing</vt:lpstr>
      <vt:lpstr>Staffing</vt:lpstr>
      <vt:lpstr>Staffing</vt:lpstr>
      <vt:lpstr>Staffing</vt:lpstr>
      <vt:lpstr>Staffing</vt:lpstr>
      <vt:lpstr>Staffing</vt:lpstr>
      <vt:lpstr>Staffing</vt:lpstr>
      <vt:lpstr>Staffing</vt:lpstr>
      <vt:lpstr>Staffing</vt:lpstr>
      <vt:lpstr>Staffing</vt:lpstr>
      <vt:lpstr>Staffing</vt:lpstr>
      <vt:lpstr>Stock</vt:lpstr>
      <vt:lpstr>Furniture</vt:lpstr>
      <vt:lpstr>Equipment and stationary</vt:lpstr>
      <vt:lpstr>Outdoor event considerations</vt:lpstr>
      <vt:lpstr>Outdoor event considerations</vt:lpstr>
      <vt:lpstr>Outdoor event considerations</vt:lpstr>
      <vt:lpstr>Outdoor event considerations</vt:lpstr>
      <vt:lpstr>Provide proposal to client </vt:lpstr>
      <vt:lpstr>Provide proposal to client </vt:lpstr>
      <vt:lpstr>Provide proposal to client </vt:lpstr>
      <vt:lpstr>PowerPoint Presentation</vt:lpstr>
      <vt:lpstr>Prepare a concept plan</vt:lpstr>
      <vt:lpstr>Prepare proposal</vt:lpstr>
      <vt:lpstr>Prepare proposal</vt:lpstr>
      <vt:lpstr>Follow up proposal</vt:lpstr>
      <vt:lpstr>Document elements of the total concept </vt:lpstr>
      <vt:lpstr>Event management plan</vt:lpstr>
      <vt:lpstr>Event management plan</vt:lpstr>
      <vt:lpstr>Event management plan</vt:lpstr>
      <vt:lpstr>Event management plan</vt:lpstr>
      <vt:lpstr>Function sheets </vt:lpstr>
      <vt:lpstr>Function sheets </vt:lpstr>
      <vt:lpstr>Function sheets </vt:lpstr>
      <vt:lpstr>Event contract</vt:lpstr>
      <vt:lpstr>Event contract</vt:lpstr>
      <vt:lpstr>Event contract</vt:lpstr>
      <vt:lpstr>Event contract</vt:lpstr>
      <vt:lpstr>Event contract</vt:lpstr>
      <vt:lpstr>Event contract</vt:lpstr>
      <vt:lpstr>Event contract</vt:lpstr>
      <vt:lpstr>Event contract</vt:lpstr>
      <vt:lpstr>Event contract</vt:lpstr>
      <vt:lpstr>Obtaining deposit for function</vt:lpstr>
      <vt:lpstr>Obtaining deposit for function</vt:lpstr>
      <vt:lpstr>Obtaining deposit for function</vt:lpstr>
      <vt:lpstr>Obtaining deposit for function</vt:lpstr>
      <vt:lpstr>Updated financial information</vt:lpstr>
      <vt:lpstr>Preparing confirmations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 CONCEPT FOR A MAJOR EVENT OR FUNCTION</dc:title>
  <dc:creator>fgvghyujil</dc:creator>
  <cp:lastModifiedBy>Carla Angelica Co</cp:lastModifiedBy>
  <cp:revision>86</cp:revision>
  <dcterms:created xsi:type="dcterms:W3CDTF">2012-04-02T21:29:51Z</dcterms:created>
  <dcterms:modified xsi:type="dcterms:W3CDTF">2015-03-13T06:24:44Z</dcterms:modified>
</cp:coreProperties>
</file>