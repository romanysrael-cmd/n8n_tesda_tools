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7"/>
  </p:notesMasterIdLst>
  <p:handoutMasterIdLst>
    <p:handoutMasterId r:id="rId38"/>
  </p:handoutMasterIdLst>
  <p:sldIdLst>
    <p:sldId id="296" r:id="rId2"/>
    <p:sldId id="297" r:id="rId3"/>
    <p:sldId id="298" r:id="rId4"/>
    <p:sldId id="299" r:id="rId5"/>
    <p:sldId id="300" r:id="rId6"/>
    <p:sldId id="301" r:id="rId7"/>
    <p:sldId id="302" r:id="rId8"/>
    <p:sldId id="303" r:id="rId9"/>
    <p:sldId id="304" r:id="rId10"/>
    <p:sldId id="305" r:id="rId11"/>
    <p:sldId id="306" r:id="rId12"/>
    <p:sldId id="307" r:id="rId13"/>
    <p:sldId id="308" r:id="rId14"/>
    <p:sldId id="309" r:id="rId15"/>
    <p:sldId id="310" r:id="rId16"/>
    <p:sldId id="311" r:id="rId17"/>
    <p:sldId id="312" r:id="rId18"/>
    <p:sldId id="313" r:id="rId19"/>
    <p:sldId id="314" r:id="rId20"/>
    <p:sldId id="315" r:id="rId21"/>
    <p:sldId id="316" r:id="rId22"/>
    <p:sldId id="317" r:id="rId23"/>
    <p:sldId id="318" r:id="rId24"/>
    <p:sldId id="319" r:id="rId25"/>
    <p:sldId id="320" r:id="rId26"/>
    <p:sldId id="321" r:id="rId27"/>
    <p:sldId id="322" r:id="rId28"/>
    <p:sldId id="323" r:id="rId29"/>
    <p:sldId id="324" r:id="rId30"/>
    <p:sldId id="325" r:id="rId31"/>
    <p:sldId id="326" r:id="rId32"/>
    <p:sldId id="327" r:id="rId33"/>
    <p:sldId id="328" r:id="rId34"/>
    <p:sldId id="329" r:id="rId35"/>
    <p:sldId id="330" r:id="rId3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96" autoAdjust="0"/>
    <p:restoredTop sz="91598" autoAdjust="0"/>
  </p:normalViewPr>
  <p:slideViewPr>
    <p:cSldViewPr>
      <p:cViewPr varScale="1">
        <p:scale>
          <a:sx n="62" d="100"/>
          <a:sy n="62" d="100"/>
        </p:scale>
        <p:origin x="84" y="5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3/28/2015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0482168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3/28/2015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447374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000" spc="0" noProof="0" dirty="0" smtClean="0">
                <a:effectLst>
                  <a:outerShdw blurRad="38100" dist="38100" dir="2700000" algn="tl">
                    <a:srgbClr val="000000">
                      <a:alpha val="43137"/>
                    </a:srgbClr>
                  </a:outerShdw>
                </a:effectLst>
                <a:latin typeface="Helvetica" pitchFamily="34" charset="0"/>
              </a:rPr>
              <a:t>Trainer to introduce himself/herself,</a:t>
            </a:r>
            <a:r>
              <a:rPr lang="en-AU" sz="1000" spc="0" baseline="0" noProof="0" dirty="0" smtClean="0">
                <a:effectLst>
                  <a:outerShdw blurRad="38100" dist="38100" dir="2700000" algn="tl">
                    <a:srgbClr val="000000">
                      <a:alpha val="43137"/>
                    </a:srgbClr>
                  </a:outerShdw>
                </a:effectLst>
                <a:latin typeface="Helvetica" pitchFamily="34" charset="0"/>
              </a:rPr>
              <a:t> trainees and the program.</a:t>
            </a:r>
            <a:endParaRPr lang="en-AU" sz="1000" spc="0" noProof="0" dirty="0">
              <a:effectLst>
                <a:outerShdw blurRad="38100" dist="38100" dir="2700000" algn="tl">
                  <a:srgbClr val="000000">
                    <a:alpha val="43137"/>
                  </a:srgbClr>
                </a:outerShdw>
              </a:effectLst>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1315823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Trainer to explain performance criteria for this element.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251720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Trainer introduces the topics and asks trainees to read through relevant material in their manuals. Trainer explains </a:t>
            </a:r>
            <a:r>
              <a:rPr lang="en-AU" sz="1200" kern="1200" noProof="0" dirty="0" smtClean="0">
                <a:solidFill>
                  <a:schemeClr val="tx1"/>
                </a:solidFill>
                <a:latin typeface="+mn-lt"/>
                <a:ea typeface="+mn-ea"/>
                <a:cs typeface="+mn-cs"/>
              </a:rPr>
              <a:t>that</a:t>
            </a:r>
            <a:r>
              <a:rPr lang="en-AU" sz="1200" kern="1200" baseline="0" noProof="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 purpose of an evaluation influences the identification of stakeholders for the evaluation, selection of specific evaluation questions, and the timing of evaluation activities. Trainer goes through</a:t>
            </a:r>
            <a:r>
              <a:rPr lang="en-AU" sz="1200" kern="1200" baseline="0" dirty="0" smtClean="0">
                <a:solidFill>
                  <a:schemeClr val="tx1"/>
                </a:solidFill>
                <a:latin typeface="+mn-lt"/>
                <a:ea typeface="+mn-ea"/>
                <a:cs typeface="+mn-cs"/>
              </a:rPr>
              <a:t> the template with trainees and explains that identifying relevant stakeholders is an important part of defining the purpose of the evaluation as it must meet their needs. Trainees read through evaluation purpose statement examples in their manuals. Trainer supports and answers any questions. Trainees draft their own evaluation purpose statements and share with each other.</a:t>
            </a:r>
            <a:endParaRPr lang="en-AU" sz="120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3585565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explains that defining an assessment system can include many parts. Trainees can read through their manuals and trainer points out the various areas that may need to be considered including </a:t>
            </a:r>
            <a:r>
              <a:rPr lang="en-AU" sz="1200" kern="1200" dirty="0" smtClean="0">
                <a:solidFill>
                  <a:schemeClr val="tx1"/>
                </a:solidFill>
                <a:latin typeface="+mn-lt"/>
                <a:ea typeface="+mn-ea"/>
                <a:cs typeface="+mn-cs"/>
              </a:rPr>
              <a:t>an ability to determine the required competency levels and qualifications of assessors.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smtClean="0">
                <a:solidFill>
                  <a:schemeClr val="tx1"/>
                </a:solidFill>
                <a:latin typeface="+mn-lt"/>
                <a:ea typeface="+mn-ea"/>
                <a:cs typeface="+mn-cs"/>
              </a:rPr>
              <a:t>The definition of the assessment system may include:</a:t>
            </a:r>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policies and procedures for obtaining, updating and storing</a:t>
            </a:r>
            <a:br>
              <a:rPr lang="en-AU" sz="1200"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records and information of candidates and assessors. This </a:t>
            </a:r>
            <a:br>
              <a:rPr lang="en-AU" sz="1200"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may include version control for document filing, guidelines </a:t>
            </a:r>
            <a:br>
              <a:rPr lang="en-AU" sz="1200"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for completing trainee information, and policies and procedures outlining where and for how long trainee and assessor data should be kept.</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how to conduct assessment including the timing and duration specifics. </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Consideration may need to given for operational issues where conducting assessment could interfere with day to day operations. A certain degree of flexibility is still needed in order for the training and assessment to remain relevant and valid. Flexibility is required in order to respond to individual needs of participants who may have particular challenges such as physical or language and literacy needs.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The assessment system must include features that cater for individual differences of participants including access and equity for all participants.</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outline country specific occupational health and safety regulations, employment requirements and equal opportunity legislation</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procedures for recognising previous educational qualifications or experience gained at other training organisations or employment contexts. </a:t>
            </a: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The assessment system should provide a mechanism that allows for prior learning and experience to be recognised if relevant to the current training or learning context.</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information about where assessment materials are located and where assessment can take place. This may be in a training room, work setting, computer lab, outside or a combination of places.</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 review and evaluation process to determine if the assessment system is effective or needs improvement. This should be an ongoing process and should involve all stakeholders’ input.</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policies and procedures that allow for feedback including, grievances, moderation, re-assessment.</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 statement relating to competency levels and remuneration levels appropriate to those skills attained</a:t>
            </a:r>
            <a:endParaRPr lang="en-US"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861772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explains that stakeholders should be included in the evaluation planning process. Trainer goes through the slide with trainers.</a:t>
            </a:r>
          </a:p>
          <a:p>
            <a:r>
              <a:rPr lang="en-AU" sz="1200" kern="1200" dirty="0" smtClean="0">
                <a:solidFill>
                  <a:schemeClr val="tx1"/>
                </a:solidFill>
                <a:latin typeface="+mn-lt"/>
                <a:ea typeface="+mn-ea"/>
                <a:cs typeface="+mn-cs"/>
              </a:rPr>
              <a:t>In relation to stakeholders, the evaluation group may need to ask</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Who are the assessment system/organisation stakeholders?</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How can we work with all of the stakeholders?</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How are stakeholders’ roles outlined in the evaluation plan?</a:t>
            </a:r>
            <a:endParaRPr lang="en-US"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1503142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slide and asks</a:t>
            </a:r>
            <a:r>
              <a:rPr lang="en-US" baseline="0" dirty="0" smtClean="0"/>
              <a:t> trainees if they can think of other stakeholders. Trainees complete the activity in their manuals and identify who the stakeholders are. Trainees identify what stakeholder needs are from the evaluation and complete the table in their manuals. Trainer goes through the information below with students.</a:t>
            </a:r>
          </a:p>
          <a:p>
            <a:r>
              <a:rPr lang="en-AU" sz="1200" kern="1200" dirty="0" smtClean="0">
                <a:solidFill>
                  <a:schemeClr val="tx1"/>
                </a:solidFill>
                <a:latin typeface="+mn-lt"/>
                <a:ea typeface="+mn-ea"/>
                <a:cs typeface="+mn-cs"/>
              </a:rPr>
              <a:t>Some examples of stakeholder needs could include:</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integrity and reliability of the outcomes of assessments</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compliance with legislated and other obligations</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cost-effectiveness of assessments</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availability of, and ease of access to, assessment</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availability of supplementary assessments to facilitate attainment of competency</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record-keeping requirements, such as detailing candidates and competencies achieved or attempted by candidates</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feedback provided by assessors in relation to individual worker performance, attitude, capability, potential</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specific workplace needs, such as improved profit, better productivity, enhanced safety, skilling of staff, improved products and services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543977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spc="0" dirty="0" smtClean="0">
                <a:latin typeface="Helvetica" pitchFamily="34" charset="0"/>
              </a:rPr>
              <a:t>Trainer explains the topic by using the</a:t>
            </a:r>
            <a:r>
              <a:rPr lang="en-US" sz="1200" spc="0" baseline="0" dirty="0" smtClean="0">
                <a:latin typeface="Helvetica" pitchFamily="34" charset="0"/>
              </a:rPr>
              <a:t> introduction from the Trainee Manual and goes through the slide with trainees. Trainer highlights the different resources that are needed including financial and human </a:t>
            </a:r>
            <a:r>
              <a:rPr lang="en-US" sz="1200" b="0" spc="0" baseline="0" dirty="0" smtClean="0">
                <a:latin typeface="Helvetica" pitchFamily="34" charset="0"/>
              </a:rPr>
              <a:t>resources</a:t>
            </a:r>
            <a:r>
              <a:rPr lang="en-US" sz="1200" spc="0" baseline="0" dirty="0" smtClean="0">
                <a:latin typeface="Helvetica" pitchFamily="34" charset="0"/>
              </a:rPr>
              <a:t>.</a:t>
            </a:r>
            <a:endParaRPr lang="en-US" sz="1200" spc="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4021284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evaluation planning questions and trainees go through the material in their manuals.</a:t>
            </a:r>
            <a:r>
              <a:rPr lang="en-US" baseline="0" dirty="0" smtClean="0"/>
              <a:t> Trainer clarifies any questions.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224557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goes through the slide with trainees and shows the example. Trainees can complete with some of their own evaluation questions.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120064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topic by using  the introduction in the Trainee Manual. Trainer goes through the slide with trainees and explains each</a:t>
            </a:r>
            <a:r>
              <a:rPr lang="en-US" baseline="0" dirty="0" smtClean="0"/>
              <a:t> example of evidence. Trainees think of other examples and how they would collect the data.</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54789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topic and goes through the slide. Trainer explains the importance</a:t>
            </a:r>
            <a:r>
              <a:rPr lang="en-US" baseline="0" dirty="0" smtClean="0"/>
              <a:t> of matching evaluation questions, stakeholder needs and the purpose of the evaluation with criteria.</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41295982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examples with trainees.</a:t>
            </a:r>
            <a:r>
              <a:rPr lang="en-US" baseline="0" dirty="0" smtClean="0"/>
              <a:t> Trainees think of other possible criteria for determining effectiveness of the system. Trainees read through the information in their manuals and complete the activity.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15930440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topic and trainees read through information</a:t>
            </a:r>
            <a:r>
              <a:rPr lang="en-US" baseline="0" dirty="0" smtClean="0"/>
              <a:t> in their manuals. Trainer goes through the slide and identifies each part explaining any difficult examples. Students check the websites from their trainee manuals and the trainer supports explanations of the various methods.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4104640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a:t>
            </a:r>
            <a:r>
              <a:rPr lang="en-US" baseline="0" dirty="0" smtClean="0"/>
              <a:t> topic and goes through the slide explaining the basic components of evaluation design. Trainees read through their manuals and ask questions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4131484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asks students to read through their manuals and the trainer</a:t>
            </a:r>
            <a:r>
              <a:rPr lang="en-US" baseline="0" dirty="0" smtClean="0"/>
              <a:t> presents the information in the slide. Trainer explains possible data collection tools.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0216176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a:t>
            </a:r>
            <a:r>
              <a:rPr lang="en-US" baseline="0" dirty="0" smtClean="0"/>
              <a:t> the element and performance criteria.</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860786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topic and goes through the slide with trainees. Data tools need to be tested to see if they are gathering the required</a:t>
            </a:r>
            <a:r>
              <a:rPr lang="en-US" baseline="0" dirty="0" smtClean="0"/>
              <a:t> data. Trainees read through relevant information in their manuals and look at the example checklist.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284465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000" dirty="0" smtClean="0"/>
              <a:t>Trainer introduces</a:t>
            </a:r>
            <a:r>
              <a:rPr lang="en-US" sz="1000" baseline="0" dirty="0" smtClean="0"/>
              <a:t> topic and goes through the slide with trainees. Trainees examine possible issues from trial process. Trainees complete the chart with their own suggestions and trainer checks and supports.</a:t>
            </a:r>
            <a:endParaRPr lang="en-US" sz="100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925730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topic and trainees read through their Trainee Manuals. Trainer</a:t>
            </a:r>
            <a:r>
              <a:rPr lang="en-US" baseline="0" dirty="0" smtClean="0"/>
              <a:t> explains how a Gantt chart can support the collecting of data and explains that it is necessary to update the chart as data and tasks are completed.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7057636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slide with trainees and trainees complete the activity in their manuals. Trainer checks their responses and asks for feedback from other</a:t>
            </a:r>
            <a:r>
              <a:rPr lang="en-US" baseline="0" dirty="0" smtClean="0"/>
              <a:t> trainees.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32437835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materials from the Trainee Manual and explains each direction. Trainees check and add their own ideas and examples.</a:t>
            </a:r>
          </a:p>
          <a:p>
            <a:r>
              <a:rPr lang="en-US" sz="1200" kern="1200" dirty="0" smtClean="0">
                <a:solidFill>
                  <a:schemeClr val="tx1"/>
                </a:solidFill>
                <a:latin typeface="+mn-lt"/>
                <a:ea typeface="+mn-ea"/>
                <a:cs typeface="+mn-cs"/>
              </a:rPr>
              <a:t>Decide on a file naming convention at the start of your project. Useful file names are: </a:t>
            </a:r>
          </a:p>
          <a:p>
            <a:pPr>
              <a:buFont typeface="Arial" pitchFamily="34" charset="0"/>
              <a:buChar char="•"/>
            </a:pPr>
            <a:r>
              <a:rPr lang="en-US" sz="1200" kern="1200" dirty="0" smtClean="0">
                <a:solidFill>
                  <a:schemeClr val="tx1"/>
                </a:solidFill>
                <a:latin typeface="+mn-lt"/>
                <a:ea typeface="+mn-ea"/>
                <a:cs typeface="+mn-cs"/>
              </a:rPr>
              <a:t>consistent.</a:t>
            </a:r>
          </a:p>
          <a:p>
            <a:pPr>
              <a:buFont typeface="Arial" pitchFamily="34" charset="0"/>
              <a:buChar char="•"/>
            </a:pPr>
            <a:r>
              <a:rPr lang="en-US" sz="1200" kern="1200" dirty="0" smtClean="0">
                <a:solidFill>
                  <a:schemeClr val="tx1"/>
                </a:solidFill>
                <a:latin typeface="+mn-lt"/>
                <a:ea typeface="+mn-ea"/>
                <a:cs typeface="+mn-cs"/>
              </a:rPr>
              <a:t>meaningful to you and your colleagues.</a:t>
            </a:r>
          </a:p>
          <a:p>
            <a:pPr>
              <a:buFont typeface="Arial" pitchFamily="34" charset="0"/>
              <a:buChar char="•"/>
            </a:pPr>
            <a:r>
              <a:rPr lang="en-US" sz="1200" kern="1200" dirty="0" smtClean="0">
                <a:solidFill>
                  <a:schemeClr val="tx1"/>
                </a:solidFill>
                <a:latin typeface="+mn-lt"/>
                <a:ea typeface="+mn-ea"/>
                <a:cs typeface="+mn-cs"/>
              </a:rPr>
              <a:t>allow you to find the file easily.</a:t>
            </a:r>
          </a:p>
          <a:p>
            <a:r>
              <a:rPr lang="en-US" sz="1200" kern="1200" dirty="0" smtClean="0">
                <a:solidFill>
                  <a:schemeClr val="tx1"/>
                </a:solidFill>
                <a:latin typeface="+mn-lt"/>
                <a:ea typeface="+mn-ea"/>
                <a:cs typeface="+mn-cs"/>
              </a:rPr>
              <a:t>It is useful if your stakeholders agree on the following elements of a file name: </a:t>
            </a:r>
          </a:p>
          <a:p>
            <a:r>
              <a:rPr lang="en-US" sz="1200" b="1" kern="1200" dirty="0" smtClean="0">
                <a:solidFill>
                  <a:schemeClr val="tx1"/>
                </a:solidFill>
                <a:latin typeface="+mn-lt"/>
                <a:ea typeface="+mn-ea"/>
                <a:cs typeface="+mn-cs"/>
              </a:rPr>
              <a:t>Vocabulary</a:t>
            </a:r>
            <a:r>
              <a:rPr lang="en-US" sz="1200" kern="1200" dirty="0" smtClean="0">
                <a:solidFill>
                  <a:schemeClr val="tx1"/>
                </a:solidFill>
                <a:latin typeface="+mn-lt"/>
                <a:ea typeface="+mn-ea"/>
                <a:cs typeface="+mn-cs"/>
              </a:rPr>
              <a:t> – choose a standard vocabulary for file names, so that everyone uses a common language. </a:t>
            </a:r>
          </a:p>
          <a:p>
            <a:r>
              <a:rPr lang="en-US" sz="1200" b="1" kern="1200" dirty="0" smtClean="0">
                <a:solidFill>
                  <a:schemeClr val="tx1"/>
                </a:solidFill>
                <a:latin typeface="+mn-lt"/>
                <a:ea typeface="+mn-ea"/>
                <a:cs typeface="+mn-cs"/>
              </a:rPr>
              <a:t>Punctuation</a:t>
            </a:r>
            <a:r>
              <a:rPr lang="en-US" sz="1200" kern="1200" dirty="0" smtClean="0">
                <a:solidFill>
                  <a:schemeClr val="tx1"/>
                </a:solidFill>
                <a:latin typeface="+mn-lt"/>
                <a:ea typeface="+mn-ea"/>
                <a:cs typeface="+mn-cs"/>
              </a:rPr>
              <a:t> – decide on conventions for if and when to use punctuation symbols, capitals, hyphens and spaces. </a:t>
            </a:r>
          </a:p>
          <a:p>
            <a:r>
              <a:rPr lang="en-US" sz="1200" b="1" kern="1200" dirty="0" smtClean="0">
                <a:solidFill>
                  <a:schemeClr val="tx1"/>
                </a:solidFill>
                <a:latin typeface="+mn-lt"/>
                <a:ea typeface="+mn-ea"/>
                <a:cs typeface="+mn-cs"/>
              </a:rPr>
              <a:t>Dates</a:t>
            </a:r>
            <a:r>
              <a:rPr lang="en-US" sz="1200" kern="1200" dirty="0" smtClean="0">
                <a:solidFill>
                  <a:schemeClr val="tx1"/>
                </a:solidFill>
                <a:latin typeface="+mn-lt"/>
                <a:ea typeface="+mn-ea"/>
                <a:cs typeface="+mn-cs"/>
              </a:rPr>
              <a:t> – agree on a logical use of dates so that they display chronologically i.e. YYYY-MM-DD. </a:t>
            </a:r>
          </a:p>
          <a:p>
            <a:r>
              <a:rPr lang="en-US" sz="1200" b="1" kern="1200" dirty="0" smtClean="0">
                <a:solidFill>
                  <a:schemeClr val="tx1"/>
                </a:solidFill>
                <a:latin typeface="+mn-lt"/>
                <a:ea typeface="+mn-ea"/>
                <a:cs typeface="+mn-cs"/>
              </a:rPr>
              <a:t>Order</a:t>
            </a:r>
            <a:r>
              <a:rPr lang="en-US" sz="1200" kern="1200" dirty="0" smtClean="0">
                <a:solidFill>
                  <a:schemeClr val="tx1"/>
                </a:solidFill>
                <a:latin typeface="+mn-lt"/>
                <a:ea typeface="+mn-ea"/>
                <a:cs typeface="+mn-cs"/>
              </a:rPr>
              <a:t> - confirm which element should go first, so that files on the same theme are listed together and can therefore be found easily. </a:t>
            </a:r>
          </a:p>
          <a:p>
            <a:r>
              <a:rPr lang="en-US" sz="1200" b="1" kern="1200" dirty="0" smtClean="0">
                <a:solidFill>
                  <a:schemeClr val="tx1"/>
                </a:solidFill>
                <a:latin typeface="+mn-lt"/>
                <a:ea typeface="+mn-ea"/>
                <a:cs typeface="+mn-cs"/>
              </a:rPr>
              <a:t>Numbers</a:t>
            </a:r>
            <a:r>
              <a:rPr lang="en-US" sz="1200" kern="1200" dirty="0" smtClean="0">
                <a:solidFill>
                  <a:schemeClr val="tx1"/>
                </a:solidFill>
                <a:latin typeface="+mn-lt"/>
                <a:ea typeface="+mn-ea"/>
                <a:cs typeface="+mn-cs"/>
              </a:rPr>
              <a:t> – specify the amount of digits that will be used in numbering so that files are listed numerically e.g. 01, 002, etc.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32396499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notion of analysis of data. Trainer explains</a:t>
            </a:r>
            <a:r>
              <a:rPr lang="en-US" baseline="0" dirty="0" smtClean="0"/>
              <a:t> </a:t>
            </a:r>
            <a:r>
              <a:rPr lang="en-AU" sz="1200" kern="1200" dirty="0" smtClean="0">
                <a:solidFill>
                  <a:schemeClr val="tx1"/>
                </a:solidFill>
                <a:latin typeface="+mn-lt"/>
                <a:ea typeface="+mn-ea"/>
                <a:cs typeface="+mn-cs"/>
              </a:rPr>
              <a:t> “D.R.I.P.”, that is, programs that are “</a:t>
            </a:r>
            <a:r>
              <a:rPr lang="en-AU" sz="1200" u="sng" kern="1200" dirty="0" smtClean="0">
                <a:solidFill>
                  <a:schemeClr val="tx1"/>
                </a:solidFill>
                <a:latin typeface="+mn-lt"/>
                <a:ea typeface="+mn-ea"/>
                <a:cs typeface="+mn-cs"/>
              </a:rPr>
              <a:t>D</a:t>
            </a:r>
            <a:r>
              <a:rPr lang="en-AU" sz="1200" kern="1200" dirty="0" smtClean="0">
                <a:solidFill>
                  <a:schemeClr val="tx1"/>
                </a:solidFill>
                <a:latin typeface="+mn-lt"/>
                <a:ea typeface="+mn-ea"/>
                <a:cs typeface="+mn-cs"/>
              </a:rPr>
              <a:t>ata </a:t>
            </a:r>
            <a:r>
              <a:rPr lang="en-AU" sz="1200" u="sng" kern="1200" dirty="0" smtClean="0">
                <a:solidFill>
                  <a:schemeClr val="tx1"/>
                </a:solidFill>
                <a:latin typeface="+mn-lt"/>
                <a:ea typeface="+mn-ea"/>
                <a:cs typeface="+mn-cs"/>
              </a:rPr>
              <a:t>R</a:t>
            </a:r>
            <a:r>
              <a:rPr lang="en-AU" sz="1200" kern="1200" dirty="0" smtClean="0">
                <a:solidFill>
                  <a:schemeClr val="tx1"/>
                </a:solidFill>
                <a:latin typeface="+mn-lt"/>
                <a:ea typeface="+mn-ea"/>
                <a:cs typeface="+mn-cs"/>
              </a:rPr>
              <a:t>ich but </a:t>
            </a:r>
            <a:r>
              <a:rPr lang="en-AU" sz="1200" u="sng" kern="1200" dirty="0" smtClean="0">
                <a:solidFill>
                  <a:schemeClr val="tx1"/>
                </a:solidFill>
                <a:latin typeface="+mn-lt"/>
                <a:ea typeface="+mn-ea"/>
                <a:cs typeface="+mn-cs"/>
              </a:rPr>
              <a:t>I</a:t>
            </a:r>
            <a:r>
              <a:rPr lang="en-AU" sz="1200" kern="1200" dirty="0" smtClean="0">
                <a:solidFill>
                  <a:schemeClr val="tx1"/>
                </a:solidFill>
                <a:latin typeface="+mn-lt"/>
                <a:ea typeface="+mn-ea"/>
                <a:cs typeface="+mn-cs"/>
              </a:rPr>
              <a:t>nformation </a:t>
            </a:r>
            <a:r>
              <a:rPr lang="en-AU" sz="1200" u="sng" kern="1200" dirty="0" smtClean="0">
                <a:solidFill>
                  <a:schemeClr val="tx1"/>
                </a:solidFill>
                <a:latin typeface="+mn-lt"/>
                <a:ea typeface="+mn-ea"/>
                <a:cs typeface="+mn-cs"/>
              </a:rPr>
              <a:t>P</a:t>
            </a:r>
            <a:r>
              <a:rPr lang="en-AU" sz="1200" kern="1200" dirty="0" smtClean="0">
                <a:solidFill>
                  <a:schemeClr val="tx1"/>
                </a:solidFill>
                <a:latin typeface="+mn-lt"/>
                <a:ea typeface="+mn-ea"/>
                <a:cs typeface="+mn-cs"/>
              </a:rPr>
              <a:t>oor.” Survey data remains “in boxes” or interviews are never fully explored for theme identification.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8678586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chart and uses the Trainee Manual to explain the data and</a:t>
            </a:r>
            <a:r>
              <a:rPr lang="en-US" baseline="0" dirty="0" smtClean="0"/>
              <a:t> terminology. Trainer presents the checking validity section and trainees read through information in their manuals.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8358928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element and goes through performance</a:t>
            </a:r>
            <a:r>
              <a:rPr lang="en-US" baseline="0" dirty="0" smtClean="0"/>
              <a:t> criteria.</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31398328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topic and explains the parts of an</a:t>
            </a:r>
            <a:r>
              <a:rPr lang="en-US" baseline="0" dirty="0" smtClean="0"/>
              <a:t> evaluation plan. Trainees discuss what would go in each part.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7373505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slide with trainees and explains each part of the process. Trainees can use the website</a:t>
            </a:r>
            <a:r>
              <a:rPr lang="en-US" baseline="0" dirty="0" smtClean="0"/>
              <a:t> provided in their manuals to see an example of a report. Trainees complete their own report.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5495228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topic and goes through the slide explaining the importance of planning communications.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22375325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slide and explains the questions that need to be asked when deciding on the distribution of the report.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0505885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communications plan chart with trainees and trainees can complete the chart.</a:t>
            </a:r>
          </a:p>
          <a:p>
            <a:r>
              <a:rPr lang="en-AU" sz="1200" kern="1200" dirty="0" smtClean="0">
                <a:solidFill>
                  <a:schemeClr val="tx1"/>
                </a:solidFill>
                <a:latin typeface="+mn-lt"/>
                <a:ea typeface="+mn-ea"/>
                <a:cs typeface="+mn-cs"/>
              </a:rPr>
              <a:t>There are several practical steps you can include in your evaluation plan to help ensure evaluation findings are used. These steps might contain plans to:</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conduct regularly scheduled meetings with evaluation stakeholders as a forum for sharing evaluation findings in real time and developing recommendations for program improvement based on evaluation findings, </a:t>
            </a:r>
          </a:p>
          <a:p>
            <a:pPr>
              <a:buFont typeface="Arial" pitchFamily="34" charset="0"/>
              <a:buChar char="•"/>
            </a:pPr>
            <a:r>
              <a:rPr lang="en-AU" sz="1200" kern="1200" dirty="0" smtClean="0">
                <a:solidFill>
                  <a:schemeClr val="tx1"/>
                </a:solidFill>
                <a:latin typeface="+mn-lt"/>
                <a:ea typeface="+mn-ea"/>
                <a:cs typeface="+mn-cs"/>
              </a:rPr>
              <a:t>review evaluation findings and recommendations in regularly scheduled staff meetings, </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engage stakeholders in identifying ways they can apply evaluation findings to improve their programs, </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coordinate, document, and monitor efforts program staff and partners are making to implement improvement recommendations</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develop multiple, tailored evaluation reports to address specific stakeholders information needs.</a:t>
            </a:r>
            <a:br>
              <a:rPr lang="en-AU" sz="1200" kern="1200" dirty="0" smtClean="0">
                <a:solidFill>
                  <a:schemeClr val="tx1"/>
                </a:solidFill>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3561290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topic and goes through the slide explaining</a:t>
            </a:r>
            <a:r>
              <a:rPr lang="en-US" baseline="0" dirty="0" smtClean="0"/>
              <a:t> the questions that can assist developing a successful presentation. Trainees read through their Trainee Manuals.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37230302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information selection tips. Trainees read</a:t>
            </a:r>
            <a:r>
              <a:rPr lang="en-US" baseline="0" dirty="0" smtClean="0"/>
              <a:t> through other information in their manuals and trainer checks understanding.</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34301976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idea of feedback and goes through the slide with trainees. Trainees read through their</a:t>
            </a:r>
            <a:r>
              <a:rPr lang="en-US" baseline="0" dirty="0" smtClean="0"/>
              <a:t> manuals and check the table. Trainer highlights the importance of meetings in gathering feedback.</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9191373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a:t>
            </a:r>
            <a:r>
              <a:rPr lang="en-US" baseline="0" dirty="0" smtClean="0"/>
              <a:t> the information regarding revising the recommendations and explains that the feedback might alter the initial recommendations. Trainees check the information in their manuals.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4520976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slide and trainees examine the actions</a:t>
            </a:r>
            <a:r>
              <a:rPr lang="en-US" baseline="0" dirty="0" smtClean="0"/>
              <a:t> that may be necessary. Trainees complete the activity from their manuals.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6837424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Trainees go</a:t>
            </a:r>
            <a:r>
              <a:rPr lang="en-US" baseline="0" dirty="0" smtClean="0"/>
              <a:t> through the action plan and identify information that could be included. Trainer explains what an action plan is. A Gantt chart could be useful here too.</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2207027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3/28/2015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3/28/2015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3/28/2015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3/28/2015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3/28/2015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3/28/2015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3/28/2015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3/28/2015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609600"/>
            <a:ext cx="7549552" cy="1393304"/>
          </a:xfrm>
        </p:spPr>
        <p:txBody>
          <a:bodyPr>
            <a:normAutofit fontScale="90000"/>
          </a:bodyPr>
          <a:lstStyle/>
          <a:p>
            <a:r>
              <a:rPr sz="4000" dirty="0" smtClean="0">
                <a:ln w="5000" cmpd="sng">
                  <a:noFill/>
                  <a:prstDash val="solid"/>
                </a:ln>
                <a:solidFill>
                  <a:srgbClr val="FF6600"/>
                </a:solidFill>
                <a:latin typeface="Helvetica" pitchFamily="34" charset="0"/>
              </a:rPr>
              <a:t>EVALUATE THE EFFECTIVENESS OF AN ASSESSMENT SYSTEM</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029200" y="2057400"/>
            <a:ext cx="3303268" cy="662358"/>
          </a:xfrm>
        </p:spPr>
        <p:txBody>
          <a:bodyPr>
            <a:noAutofit/>
          </a:bodyPr>
          <a:lstStyle/>
          <a:p>
            <a:r>
              <a:rPr lang="en-AU" b="1" dirty="0" smtClean="0">
                <a:latin typeface="Helvetica" pitchFamily="34" charset="0"/>
              </a:rPr>
              <a:t>D1.HRD.CL9.07	D1.HHR.CL8.08</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pic>
        <p:nvPicPr>
          <p:cNvPr id="1026" name="Picture 2" descr="C:\Documents and Settings\danielc\Desktop\iStock_Comm on Phone.jpg"/>
          <p:cNvPicPr>
            <a:picLocks noChangeAspect="1" noChangeArrowheads="1"/>
          </p:cNvPicPr>
          <p:nvPr/>
        </p:nvPicPr>
        <p:blipFill>
          <a:blip r:embed="rId3" cstate="print"/>
          <a:stretch>
            <a:fillRect/>
          </a:stretch>
        </p:blipFill>
        <p:spPr bwMode="auto">
          <a:xfrm>
            <a:off x="1535048" y="2194034"/>
            <a:ext cx="4379754" cy="3597166"/>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08856"/>
            <a:ext cx="8229600" cy="810344"/>
          </a:xfrm>
        </p:spPr>
        <p:txBody>
          <a:bodyPr>
            <a:noAutofit/>
          </a:bodyPr>
          <a:lstStyle/>
          <a:p>
            <a:pPr marL="463550" indent="-463550"/>
            <a:r>
              <a:rPr lang="en-US" sz="3100" b="1" dirty="0" smtClean="0">
                <a:solidFill>
                  <a:srgbClr val="FF6600"/>
                </a:solidFill>
                <a:latin typeface="Helvetica" pitchFamily="34" charset="0"/>
              </a:rPr>
              <a:t>1.	Plan the evaluation of the assessment system</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09600" y="1447800"/>
            <a:ext cx="7770440" cy="5105400"/>
          </a:xfrm>
        </p:spPr>
        <p:txBody>
          <a:bodyPr>
            <a:noAutofit/>
          </a:bodyPr>
          <a:lstStyle/>
          <a:p>
            <a:pPr marL="0" indent="0">
              <a:spcBef>
                <a:spcPts val="400"/>
              </a:spcBef>
              <a:spcAft>
                <a:spcPts val="400"/>
              </a:spcAft>
              <a:buNone/>
            </a:pPr>
            <a:r>
              <a:rPr lang="en-US" sz="1800" dirty="0" smtClean="0">
                <a:latin typeface="Helvetica" pitchFamily="34" charset="0"/>
                <a:cs typeface="Helvetica" pitchFamily="34" charset="0"/>
              </a:rPr>
              <a:t>Performance criteria for this element include:</a:t>
            </a:r>
          </a:p>
          <a:p>
            <a:pPr marL="463550" lvl="1" indent="-463550">
              <a:spcBef>
                <a:spcPts val="400"/>
              </a:spcBef>
              <a:spcAft>
                <a:spcPts val="400"/>
              </a:spcAft>
              <a:buNone/>
            </a:pPr>
            <a:r>
              <a:rPr lang="en-AU" sz="1800" dirty="0" smtClean="0">
                <a:latin typeface="Helvetica" pitchFamily="34" charset="0"/>
                <a:cs typeface="Helvetica" pitchFamily="34" charset="0"/>
              </a:rPr>
              <a:t>1.1	Identify the purpose and role of the evaluation</a:t>
            </a:r>
            <a:endParaRPr lang="en-US" sz="1800" dirty="0" smtClean="0">
              <a:latin typeface="Helvetica" pitchFamily="34" charset="0"/>
              <a:cs typeface="Helvetica" pitchFamily="34" charset="0"/>
            </a:endParaRPr>
          </a:p>
          <a:p>
            <a:pPr marL="463550" lvl="1" indent="-463550">
              <a:spcBef>
                <a:spcPts val="400"/>
              </a:spcBef>
              <a:spcAft>
                <a:spcPts val="400"/>
              </a:spcAft>
              <a:buNone/>
            </a:pPr>
            <a:r>
              <a:rPr lang="en-AU" sz="1800" dirty="0" smtClean="0">
                <a:latin typeface="Helvetica" pitchFamily="34" charset="0"/>
                <a:cs typeface="Helvetica" pitchFamily="34" charset="0"/>
              </a:rPr>
              <a:t>1.2	Define the assessment system</a:t>
            </a:r>
            <a:endParaRPr lang="en-US" sz="1800" dirty="0" smtClean="0">
              <a:latin typeface="Helvetica" pitchFamily="34" charset="0"/>
              <a:cs typeface="Helvetica" pitchFamily="34" charset="0"/>
            </a:endParaRPr>
          </a:p>
          <a:p>
            <a:pPr marL="463550" lvl="1" indent="-463550">
              <a:spcBef>
                <a:spcPts val="400"/>
              </a:spcBef>
              <a:spcAft>
                <a:spcPts val="400"/>
              </a:spcAft>
              <a:buNone/>
            </a:pPr>
            <a:r>
              <a:rPr lang="en-AU" sz="1800" dirty="0" smtClean="0">
                <a:latin typeface="Helvetica" pitchFamily="34" charset="0"/>
                <a:cs typeface="Helvetica" pitchFamily="34" charset="0"/>
              </a:rPr>
              <a:t>1.3	Identify the needs of the stakeholders</a:t>
            </a:r>
            <a:endParaRPr lang="en-US" sz="1800" dirty="0" smtClean="0">
              <a:latin typeface="Helvetica" pitchFamily="34" charset="0"/>
              <a:cs typeface="Helvetica" pitchFamily="34" charset="0"/>
            </a:endParaRPr>
          </a:p>
          <a:p>
            <a:pPr marL="463550" lvl="1" indent="-463550">
              <a:spcBef>
                <a:spcPts val="400"/>
              </a:spcBef>
              <a:spcAft>
                <a:spcPts val="400"/>
              </a:spcAft>
              <a:buNone/>
            </a:pPr>
            <a:r>
              <a:rPr lang="en-AU" sz="1800" dirty="0" smtClean="0">
                <a:latin typeface="Helvetica" pitchFamily="34" charset="0"/>
                <a:cs typeface="Helvetica" pitchFamily="34" charset="0"/>
              </a:rPr>
              <a:t>1.4	Identify and obtain resources to enable the evaluation</a:t>
            </a:r>
            <a:endParaRPr lang="en-US" sz="1800" dirty="0" smtClean="0">
              <a:latin typeface="Helvetica" pitchFamily="34" charset="0"/>
              <a:cs typeface="Helvetica" pitchFamily="34" charset="0"/>
            </a:endParaRPr>
          </a:p>
          <a:p>
            <a:pPr marL="463550" lvl="1" indent="-463550">
              <a:spcBef>
                <a:spcPts val="400"/>
              </a:spcBef>
              <a:spcAft>
                <a:spcPts val="400"/>
              </a:spcAft>
              <a:buNone/>
            </a:pPr>
            <a:r>
              <a:rPr lang="en-AU" sz="1800" dirty="0" smtClean="0">
                <a:latin typeface="Helvetica" pitchFamily="34" charset="0"/>
                <a:cs typeface="Helvetica" pitchFamily="34" charset="0"/>
              </a:rPr>
              <a:t>1.5	Develop an evaluation plan</a:t>
            </a:r>
            <a:endParaRPr lang="en-US" sz="1800" dirty="0" smtClean="0">
              <a:latin typeface="Helvetica" pitchFamily="34" charset="0"/>
              <a:cs typeface="Helvetica" pitchFamily="34" charset="0"/>
            </a:endParaRPr>
          </a:p>
          <a:p>
            <a:pPr marL="463550" lvl="1" indent="-463550">
              <a:spcBef>
                <a:spcPts val="400"/>
              </a:spcBef>
              <a:spcAft>
                <a:spcPts val="400"/>
              </a:spcAft>
              <a:buNone/>
            </a:pPr>
            <a:r>
              <a:rPr lang="en-AU" sz="1800" dirty="0" smtClean="0">
                <a:latin typeface="Helvetica" pitchFamily="34" charset="0"/>
                <a:cs typeface="Helvetica" pitchFamily="34" charset="0"/>
              </a:rPr>
              <a:t>1.6	Determine the evidence that needs to be captured during the evaluation</a:t>
            </a:r>
            <a:endParaRPr lang="en-US" sz="1800" dirty="0" smtClean="0">
              <a:latin typeface="Helvetica" pitchFamily="34" charset="0"/>
              <a:cs typeface="Helvetica" pitchFamily="34" charset="0"/>
            </a:endParaRPr>
          </a:p>
          <a:p>
            <a:pPr marL="463550" lvl="1" indent="-463550">
              <a:spcBef>
                <a:spcPts val="400"/>
              </a:spcBef>
              <a:spcAft>
                <a:spcPts val="400"/>
              </a:spcAft>
              <a:buNone/>
            </a:pPr>
            <a:r>
              <a:rPr lang="en-AU" sz="1800" dirty="0" smtClean="0">
                <a:latin typeface="Helvetica" pitchFamily="34" charset="0"/>
                <a:cs typeface="Helvetica" pitchFamily="34" charset="0"/>
              </a:rPr>
              <a:t>1.7	Define the criteria for determining the effectiveness of the assessment system</a:t>
            </a:r>
            <a:endParaRPr lang="en-US" sz="1800" dirty="0" smtClean="0">
              <a:latin typeface="Helvetica" pitchFamily="34" charset="0"/>
              <a:cs typeface="Helvetica" pitchFamily="34" charset="0"/>
            </a:endParaRPr>
          </a:p>
          <a:p>
            <a:pPr marL="463550" lvl="1" indent="-463550">
              <a:spcBef>
                <a:spcPts val="400"/>
              </a:spcBef>
              <a:spcAft>
                <a:spcPts val="400"/>
              </a:spcAft>
              <a:buNone/>
            </a:pPr>
            <a:r>
              <a:rPr lang="en-AU" sz="1800" dirty="0" smtClean="0">
                <a:latin typeface="Helvetica" pitchFamily="34" charset="0"/>
                <a:cs typeface="Helvetica" pitchFamily="34" charset="0"/>
              </a:rPr>
              <a:t>1.8	Identify cost-effective methods for capturing and analysing evaluation data</a:t>
            </a:r>
            <a:endParaRPr lang="en-US" sz="1800" dirty="0" smtClean="0">
              <a:latin typeface="Helvetica" pitchFamily="34" charset="0"/>
              <a:cs typeface="Helvetica" pitchFamily="34" charset="0"/>
            </a:endParaRPr>
          </a:p>
          <a:p>
            <a:pPr marL="463550" lvl="1" indent="-463550">
              <a:spcBef>
                <a:spcPts val="400"/>
              </a:spcBef>
              <a:spcAft>
                <a:spcPts val="400"/>
              </a:spcAft>
              <a:buNone/>
            </a:pPr>
            <a:r>
              <a:rPr lang="en-AU" sz="1800" dirty="0" smtClean="0">
                <a:latin typeface="Helvetica" pitchFamily="34" charset="0"/>
                <a:cs typeface="Helvetica" pitchFamily="34" charset="0"/>
              </a:rPr>
              <a:t>1.9	Develop tools to capture identified evidence regarding the effectiveness of the assessment system</a:t>
            </a:r>
            <a:endParaRPr lang="en-US" sz="18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804863" indent="-804863"/>
            <a:r>
              <a:rPr lang="en-US" sz="3100" b="1" dirty="0" smtClean="0">
                <a:solidFill>
                  <a:srgbClr val="FF6600"/>
                </a:solidFill>
                <a:latin typeface="Helvetica" pitchFamily="34" charset="0"/>
              </a:rPr>
              <a:t>1.1	Identify the purpose and role of the evaluation</a:t>
            </a:r>
            <a:endParaRPr lang="en-US" sz="31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graphicFrame>
        <p:nvGraphicFramePr>
          <p:cNvPr id="6" name="Table 5"/>
          <p:cNvGraphicFramePr>
            <a:graphicFrameLocks noGrp="1"/>
          </p:cNvGraphicFramePr>
          <p:nvPr/>
        </p:nvGraphicFramePr>
        <p:xfrm>
          <a:off x="685800" y="1828800"/>
          <a:ext cx="7848600" cy="3213735"/>
        </p:xfrm>
        <a:graphic>
          <a:graphicData uri="http://schemas.openxmlformats.org/drawingml/2006/table">
            <a:tbl>
              <a:tblPr/>
              <a:tblGrid>
                <a:gridCol w="1961743"/>
                <a:gridCol w="1962557"/>
                <a:gridCol w="1961743"/>
                <a:gridCol w="1962557"/>
              </a:tblGrid>
              <a:tr h="561351">
                <a:tc>
                  <a:txBody>
                    <a:bodyPr/>
                    <a:lstStyle/>
                    <a:p>
                      <a:pPr marL="0" marR="0" algn="l">
                        <a:spcBef>
                          <a:spcPts val="400"/>
                        </a:spcBef>
                        <a:spcAft>
                          <a:spcPts val="400"/>
                        </a:spcAft>
                      </a:pPr>
                      <a:r>
                        <a:rPr lang="en-AU" sz="1200" b="1" dirty="0">
                          <a:solidFill>
                            <a:srgbClr val="FFFFFF"/>
                          </a:solidFill>
                          <a:latin typeface="Helvetica"/>
                          <a:ea typeface="Calibri"/>
                          <a:cs typeface="Calibri"/>
                        </a:rPr>
                        <a:t>Stakeholders </a:t>
                      </a:r>
                      <a:r>
                        <a:rPr lang="en-AU" sz="1200" b="1" dirty="0" smtClean="0">
                          <a:solidFill>
                            <a:srgbClr val="FFFFFF"/>
                          </a:solidFill>
                          <a:latin typeface="Helvetica"/>
                          <a:ea typeface="Calibri"/>
                          <a:cs typeface="Calibri"/>
                        </a:rPr>
                        <a:t>interested in </a:t>
                      </a:r>
                      <a:r>
                        <a:rPr lang="en-AU" sz="1200" b="1" dirty="0">
                          <a:solidFill>
                            <a:srgbClr val="FFFFFF"/>
                          </a:solidFill>
                          <a:latin typeface="Helvetica"/>
                          <a:ea typeface="Calibri"/>
                          <a:cs typeface="Calibri"/>
                        </a:rPr>
                        <a:t>the evaluation</a:t>
                      </a:r>
                      <a:endParaRPr lang="en-US" sz="1200" b="1" dirty="0">
                        <a:solidFill>
                          <a:srgbClr val="000000"/>
                        </a:solidFill>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l">
                        <a:spcBef>
                          <a:spcPts val="400"/>
                        </a:spcBef>
                        <a:spcAft>
                          <a:spcPts val="400"/>
                        </a:spcAft>
                      </a:pPr>
                      <a:r>
                        <a:rPr lang="en-AU" sz="1200" b="1" dirty="0">
                          <a:solidFill>
                            <a:srgbClr val="FFFFFF"/>
                          </a:solidFill>
                          <a:latin typeface="Helvetica"/>
                          <a:ea typeface="Calibri"/>
                          <a:cs typeface="Calibri"/>
                        </a:rPr>
                        <a:t>What is to be evaluated?</a:t>
                      </a:r>
                      <a:endParaRPr lang="en-US" sz="1200" b="1" dirty="0">
                        <a:solidFill>
                          <a:srgbClr val="000000"/>
                        </a:solidFill>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l">
                        <a:spcBef>
                          <a:spcPts val="400"/>
                        </a:spcBef>
                        <a:spcAft>
                          <a:spcPts val="400"/>
                        </a:spcAft>
                      </a:pPr>
                      <a:r>
                        <a:rPr lang="en-AU" sz="1200" b="1" dirty="0">
                          <a:solidFill>
                            <a:srgbClr val="FFFFFF"/>
                          </a:solidFill>
                          <a:latin typeface="Helvetica"/>
                          <a:ea typeface="Calibri"/>
                          <a:cs typeface="Calibri"/>
                        </a:rPr>
                        <a:t>What will the results be used for?</a:t>
                      </a:r>
                      <a:endParaRPr lang="en-US" sz="1200" b="1" dirty="0">
                        <a:solidFill>
                          <a:srgbClr val="000000"/>
                        </a:solidFill>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l">
                        <a:spcBef>
                          <a:spcPts val="400"/>
                        </a:spcBef>
                        <a:spcAft>
                          <a:spcPts val="400"/>
                        </a:spcAft>
                      </a:pPr>
                      <a:r>
                        <a:rPr lang="en-AU" sz="1200" b="1" dirty="0">
                          <a:solidFill>
                            <a:srgbClr val="FFFFFF"/>
                          </a:solidFill>
                          <a:latin typeface="Helvetica"/>
                          <a:ea typeface="Calibri"/>
                          <a:cs typeface="Calibri"/>
                        </a:rPr>
                        <a:t>Evaluation purpose statement</a:t>
                      </a:r>
                      <a:endParaRPr lang="en-US" sz="1200" b="1" dirty="0">
                        <a:solidFill>
                          <a:srgbClr val="000000"/>
                        </a:solidFill>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r>
              <a:tr h="442064">
                <a:tc>
                  <a:txBody>
                    <a:bodyPr/>
                    <a:lstStyle/>
                    <a:p>
                      <a:pPr marL="0" marR="0" indent="0" algn="l">
                        <a:spcBef>
                          <a:spcPts val="300"/>
                        </a:spcBef>
                        <a:spcAft>
                          <a:spcPts val="400"/>
                        </a:spcAft>
                      </a:pPr>
                      <a:endParaRPr lang="en-AU" sz="1000" dirty="0">
                        <a:latin typeface="Helvetica"/>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spcBef>
                          <a:spcPts val="300"/>
                        </a:spcBef>
                        <a:spcAft>
                          <a:spcPts val="400"/>
                        </a:spcAft>
                      </a:pPr>
                      <a:endParaRPr lang="en-AU" sz="1000" dirty="0">
                        <a:latin typeface="Helvetica"/>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spcBef>
                          <a:spcPts val="300"/>
                        </a:spcBef>
                        <a:spcAft>
                          <a:spcPts val="400"/>
                        </a:spcAft>
                      </a:pPr>
                      <a:endParaRPr lang="en-AU" sz="1000" dirty="0">
                        <a:latin typeface="Helvetica"/>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spcBef>
                          <a:spcPts val="300"/>
                        </a:spcBef>
                        <a:spcAft>
                          <a:spcPts val="400"/>
                        </a:spcAft>
                      </a:pPr>
                      <a:endParaRPr lang="en-AU" sz="1000" dirty="0">
                        <a:latin typeface="Helvetica"/>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064">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064">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064">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064">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2064">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2840" cy="810344"/>
          </a:xfrm>
        </p:spPr>
        <p:txBody>
          <a:bodyPr>
            <a:normAutofit/>
          </a:bodyPr>
          <a:lstStyle/>
          <a:p>
            <a:pPr marL="804863" indent="-804863"/>
            <a:r>
              <a:rPr lang="en-US" sz="3100" b="1" dirty="0" smtClean="0">
                <a:solidFill>
                  <a:srgbClr val="FF6600"/>
                </a:solidFill>
                <a:latin typeface="Helvetica" pitchFamily="34" charset="0"/>
              </a:rPr>
              <a:t>1.2	Define the assessment system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467600" cy="4525963"/>
          </a:xfrm>
        </p:spPr>
        <p:txBody>
          <a:bodyPr>
            <a:normAutofit/>
          </a:bodyPr>
          <a:lstStyle/>
          <a:p>
            <a:pPr marL="0" indent="0">
              <a:lnSpc>
                <a:spcPct val="120000"/>
              </a:lnSpc>
              <a:spcBef>
                <a:spcPts val="600"/>
              </a:spcBef>
              <a:spcAft>
                <a:spcPts val="1200"/>
              </a:spcAft>
              <a:buNone/>
            </a:pPr>
            <a:r>
              <a:rPr lang="en-AU" sz="2400" dirty="0" smtClean="0"/>
              <a:t>In order to determine what will be evaluated in an assessment system, it is first necessary to define the assessment system. There are many different aspects to the assessment system that will need to be outlined in order for the purpose of the evaluation to be aligned with the different parts of the assessment system. The definition of the </a:t>
            </a:r>
            <a:br>
              <a:rPr lang="en-AU" sz="2400" dirty="0" smtClean="0"/>
            </a:br>
            <a:r>
              <a:rPr lang="en-AU" sz="2400" dirty="0" smtClean="0"/>
              <a:t>system should be clear, concise, complete </a:t>
            </a:r>
            <a:br>
              <a:rPr lang="en-AU" sz="2400" dirty="0" smtClean="0"/>
            </a:br>
            <a:r>
              <a:rPr lang="en-AU" sz="2400" dirty="0" smtClean="0"/>
              <a:t>and transparent.</a:t>
            </a:r>
            <a:endParaRPr lang="en-AU" sz="2200" dirty="0" smtClean="0">
              <a:latin typeface="Helvetica" pitchFamily="34" charset="0"/>
            </a:endParaRPr>
          </a:p>
          <a:p>
            <a:pPr marL="360000" indent="-360000">
              <a:lnSpc>
                <a:spcPct val="120000"/>
              </a:lnSpc>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6" name="Picture 5" descr="C:\Users\Quentin\AppData\Local\Microsoft\Windows\Temporary Internet Files\Content.IE5\I03PMSPE\MP900309662[1].jpg"/>
          <p:cNvPicPr/>
          <p:nvPr/>
        </p:nvPicPr>
        <p:blipFill>
          <a:blip r:embed="rId3" cstate="print"/>
          <a:srcRect/>
          <a:stretch>
            <a:fillRect/>
          </a:stretch>
        </p:blipFill>
        <p:spPr bwMode="auto">
          <a:xfrm>
            <a:off x="6629400" y="3733800"/>
            <a:ext cx="1905000" cy="1905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P900442177.JPG"/>
          <p:cNvPicPr>
            <a:picLocks noChangeAspect="1"/>
          </p:cNvPicPr>
          <p:nvPr/>
        </p:nvPicPr>
        <p:blipFill>
          <a:blip r:embed="rId3" cstate="print"/>
          <a:stretch>
            <a:fillRect/>
          </a:stretch>
        </p:blipFill>
        <p:spPr>
          <a:xfrm>
            <a:off x="6477000" y="3505200"/>
            <a:ext cx="1801144" cy="1600200"/>
          </a:xfrm>
          <a:prstGeom prst="rect">
            <a:avLst/>
          </a:prstGeom>
        </p:spPr>
      </p:pic>
      <p:sp>
        <p:nvSpPr>
          <p:cNvPr id="2" name="Title 1"/>
          <p:cNvSpPr>
            <a:spLocks noGrp="1"/>
          </p:cNvSpPr>
          <p:nvPr>
            <p:ph type="title"/>
          </p:nvPr>
        </p:nvSpPr>
        <p:spPr>
          <a:xfrm>
            <a:off x="611560" y="332656"/>
            <a:ext cx="8303840" cy="810344"/>
          </a:xfrm>
        </p:spPr>
        <p:txBody>
          <a:bodyPr>
            <a:normAutofit/>
          </a:bodyPr>
          <a:lstStyle/>
          <a:p>
            <a:pPr marL="804863" indent="-804863"/>
            <a:r>
              <a:rPr lang="en-AU" sz="3100" b="1" smtClean="0">
                <a:solidFill>
                  <a:srgbClr val="FF6600"/>
                </a:solidFill>
                <a:latin typeface="Helvetica" pitchFamily="34" charset="0"/>
              </a:rPr>
              <a:t>1.3	Identify the needs of the stakeholders</a:t>
            </a:r>
            <a:endParaRPr lang="en-AU" sz="3100" b="1">
              <a:solidFill>
                <a:srgbClr val="FF6600"/>
              </a:solidFill>
              <a:latin typeface="Helvetica" pitchFamily="34" charset="0"/>
            </a:endParaRPr>
          </a:p>
        </p:txBody>
      </p:sp>
      <p:sp>
        <p:nvSpPr>
          <p:cNvPr id="3" name="Content Placeholder 2"/>
          <p:cNvSpPr>
            <a:spLocks noGrp="1"/>
          </p:cNvSpPr>
          <p:nvPr>
            <p:ph idx="1"/>
          </p:nvPr>
        </p:nvSpPr>
        <p:spPr>
          <a:xfrm>
            <a:off x="611560" y="1189037"/>
            <a:ext cx="7467600" cy="5668963"/>
          </a:xfrm>
        </p:spPr>
        <p:txBody>
          <a:bodyPr>
            <a:normAutofit/>
          </a:bodyPr>
          <a:lstStyle/>
          <a:p>
            <a:pPr marL="0" indent="0">
              <a:spcBef>
                <a:spcPts val="600"/>
              </a:spcBef>
              <a:spcAft>
                <a:spcPts val="600"/>
              </a:spcAft>
              <a:buNone/>
            </a:pPr>
            <a:r>
              <a:rPr lang="en-AU" sz="2400" dirty="0" smtClean="0"/>
              <a:t>Stakeholders are a valuable resource for:</a:t>
            </a:r>
          </a:p>
          <a:p>
            <a:pPr>
              <a:spcBef>
                <a:spcPts val="600"/>
              </a:spcBef>
              <a:spcAft>
                <a:spcPts val="600"/>
              </a:spcAft>
            </a:pPr>
            <a:r>
              <a:rPr lang="en-AU" sz="2400" dirty="0" smtClean="0"/>
              <a:t>Determining and prioritising key evaluation questions</a:t>
            </a:r>
          </a:p>
          <a:p>
            <a:pPr>
              <a:spcBef>
                <a:spcPts val="600"/>
              </a:spcBef>
              <a:spcAft>
                <a:spcPts val="600"/>
              </a:spcAft>
            </a:pPr>
            <a:r>
              <a:rPr lang="en-AU" sz="2400" dirty="0" smtClean="0"/>
              <a:t>Trialling data collection methods and tools</a:t>
            </a:r>
          </a:p>
          <a:p>
            <a:pPr>
              <a:spcBef>
                <a:spcPts val="600"/>
              </a:spcBef>
              <a:spcAft>
                <a:spcPts val="600"/>
              </a:spcAft>
            </a:pPr>
            <a:r>
              <a:rPr lang="en-AU" sz="2400" dirty="0" smtClean="0"/>
              <a:t>Facilitating data collection</a:t>
            </a:r>
          </a:p>
          <a:p>
            <a:pPr>
              <a:spcBef>
                <a:spcPts val="600"/>
              </a:spcBef>
              <a:spcAft>
                <a:spcPts val="600"/>
              </a:spcAft>
            </a:pPr>
            <a:r>
              <a:rPr lang="en-AU" sz="2400" dirty="0" smtClean="0"/>
              <a:t>Implementing evaluation activities</a:t>
            </a:r>
          </a:p>
          <a:p>
            <a:pPr>
              <a:spcBef>
                <a:spcPts val="600"/>
              </a:spcBef>
              <a:spcAft>
                <a:spcPts val="600"/>
              </a:spcAft>
            </a:pPr>
            <a:r>
              <a:rPr lang="en-AU" sz="2400" dirty="0" smtClean="0"/>
              <a:t>Increasing the credibility of analysis and interpretation of evaluation information</a:t>
            </a:r>
          </a:p>
          <a:p>
            <a:pPr>
              <a:spcBef>
                <a:spcPts val="600"/>
              </a:spcBef>
              <a:spcAft>
                <a:spcPts val="600"/>
              </a:spcAft>
            </a:pPr>
            <a:r>
              <a:rPr lang="en-AU" sz="2400" dirty="0" smtClean="0"/>
              <a:t>Ensuring evaluation results are used</a:t>
            </a:r>
          </a:p>
          <a:p>
            <a:pPr marL="0" indent="0">
              <a:spcBef>
                <a:spcPts val="600"/>
              </a:spcBef>
              <a:spcAft>
                <a:spcPts val="600"/>
              </a:spcAft>
              <a:buNone/>
            </a:pPr>
            <a:endParaRPr lang="en-AU" sz="2200" dirty="0" smtClean="0">
              <a:latin typeface="Helvetica" pitchFamily="34" charset="0"/>
            </a:endParaRPr>
          </a:p>
          <a:p>
            <a:pPr marL="360000" indent="-360000">
              <a:spcBef>
                <a:spcPts val="600"/>
              </a:spcBef>
              <a:spcAft>
                <a:spcPts val="600"/>
              </a:spcAft>
              <a:buNone/>
            </a:pPr>
            <a:endParaRPr lang="en-AU" sz="2200" dirty="0" smtClean="0">
              <a:latin typeface="Helvetica" pitchFamily="34" charset="0"/>
            </a:endParaRPr>
          </a:p>
          <a:p>
            <a:pPr marL="360000" indent="-360000">
              <a:spcBef>
                <a:spcPts val="600"/>
              </a:spcBef>
              <a:spcAft>
                <a:spcPts val="6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51440" cy="1143000"/>
          </a:xfrm>
        </p:spPr>
        <p:txBody>
          <a:bodyPr>
            <a:noAutofit/>
          </a:bodyPr>
          <a:lstStyle/>
          <a:p>
            <a:pPr marL="804863" indent="-804863"/>
            <a:r>
              <a:rPr lang="en-US" sz="3100" b="1" dirty="0" smtClean="0">
                <a:solidFill>
                  <a:srgbClr val="FF6600"/>
                </a:solidFill>
                <a:latin typeface="Helvetica" pitchFamily="34" charset="0"/>
              </a:rPr>
              <a:t>1.3	Identify the needs of the stakeholders cont’d</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600"/>
              </a:spcAft>
              <a:buNone/>
            </a:pPr>
            <a:r>
              <a:rPr lang="en-AU" sz="2200" dirty="0" smtClean="0">
                <a:latin typeface="Helvetica" pitchFamily="34" charset="0"/>
              </a:rPr>
              <a:t>Who are the stakeholders?</a:t>
            </a:r>
          </a:p>
          <a:p>
            <a:pPr>
              <a:spcBef>
                <a:spcPts val="600"/>
              </a:spcBef>
              <a:spcAft>
                <a:spcPts val="600"/>
              </a:spcAft>
            </a:pPr>
            <a:r>
              <a:rPr lang="en-AU" sz="2400" dirty="0" smtClean="0"/>
              <a:t>Learners</a:t>
            </a:r>
          </a:p>
          <a:p>
            <a:pPr>
              <a:spcBef>
                <a:spcPts val="600"/>
              </a:spcBef>
              <a:spcAft>
                <a:spcPts val="600"/>
              </a:spcAft>
            </a:pPr>
            <a:r>
              <a:rPr lang="en-AU" sz="2400" dirty="0" smtClean="0"/>
              <a:t>Trainers and assessors</a:t>
            </a:r>
          </a:p>
          <a:p>
            <a:pPr>
              <a:spcBef>
                <a:spcPts val="600"/>
              </a:spcBef>
              <a:spcAft>
                <a:spcPts val="600"/>
              </a:spcAft>
            </a:pPr>
            <a:r>
              <a:rPr lang="en-AU" sz="2400" dirty="0" smtClean="0"/>
              <a:t>Supervisors, managers, and </a:t>
            </a:r>
            <a:br>
              <a:rPr lang="en-AU" sz="2400" dirty="0" smtClean="0"/>
            </a:br>
            <a:r>
              <a:rPr lang="en-AU" sz="2400" dirty="0" smtClean="0"/>
              <a:t>business owners</a:t>
            </a:r>
          </a:p>
          <a:p>
            <a:pPr>
              <a:spcBef>
                <a:spcPts val="600"/>
              </a:spcBef>
              <a:spcAft>
                <a:spcPts val="600"/>
              </a:spcAft>
            </a:pPr>
            <a:r>
              <a:rPr lang="en-AU" sz="2400" dirty="0" smtClean="0"/>
              <a:t>Government agencies</a:t>
            </a:r>
          </a:p>
          <a:p>
            <a:pPr>
              <a:spcBef>
                <a:spcPts val="600"/>
              </a:spcBef>
              <a:spcAft>
                <a:spcPts val="600"/>
              </a:spcAft>
            </a:pPr>
            <a:r>
              <a:rPr lang="en-AU" sz="2400" dirty="0" smtClean="0"/>
              <a:t>Co-workers</a:t>
            </a:r>
          </a:p>
          <a:p>
            <a:pPr>
              <a:spcBef>
                <a:spcPts val="600"/>
              </a:spcBef>
              <a:spcAft>
                <a:spcPts val="600"/>
              </a:spcAft>
            </a:pPr>
            <a:r>
              <a:rPr lang="en-AU" sz="2400" dirty="0" smtClean="0"/>
              <a:t>Customers</a:t>
            </a:r>
          </a:p>
          <a:p>
            <a:pPr marL="360000" indent="-360000">
              <a:spcBef>
                <a:spcPts val="600"/>
              </a:spcBef>
              <a:spcAft>
                <a:spcPts val="6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72705" name="Picture 1" descr="C:\Users\Quentin\AppData\Local\Microsoft\Windows\Temporary Internet Files\Content.IE5\UC782H00\MP900435893[1].jpg"/>
          <p:cNvPicPr>
            <a:picLocks noChangeAspect="1" noChangeArrowheads="1"/>
          </p:cNvPicPr>
          <p:nvPr/>
        </p:nvPicPr>
        <p:blipFill>
          <a:blip r:embed="rId3" cstate="print"/>
          <a:srcRect/>
          <a:stretch>
            <a:fillRect/>
          </a:stretch>
        </p:blipFill>
        <p:spPr bwMode="auto">
          <a:xfrm>
            <a:off x="5715000" y="2438400"/>
            <a:ext cx="2511552" cy="2511552"/>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75240" cy="1143000"/>
          </a:xfrm>
        </p:spPr>
        <p:txBody>
          <a:bodyPr>
            <a:normAutofit/>
          </a:bodyPr>
          <a:lstStyle/>
          <a:p>
            <a:pPr marL="804863" indent="-804863"/>
            <a:r>
              <a:rPr lang="en-US" sz="3100" b="1" dirty="0" smtClean="0">
                <a:solidFill>
                  <a:srgbClr val="FF6600"/>
                </a:solidFill>
                <a:latin typeface="Helvetica" pitchFamily="34" charset="0"/>
              </a:rPr>
              <a:t>1.4	Identify and obtain resources to enable the evaluation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72608"/>
          </a:xfrm>
        </p:spPr>
        <p:txBody>
          <a:bodyPr>
            <a:normAutofit/>
          </a:bodyPr>
          <a:lstStyle/>
          <a:p>
            <a:pPr marL="0" indent="0">
              <a:spcBef>
                <a:spcPts val="600"/>
              </a:spcBef>
              <a:spcAft>
                <a:spcPts val="600"/>
              </a:spcAft>
              <a:buNone/>
            </a:pPr>
            <a:r>
              <a:rPr lang="en-AU" sz="2000" dirty="0" smtClean="0">
                <a:latin typeface="Helvetica" pitchFamily="34" charset="0"/>
                <a:cs typeface="Helvetica" pitchFamily="34" charset="0"/>
              </a:rPr>
              <a:t>Brainstorming the possible resources that may be required to complete the evaluation will provide a clearer understanding of what is realistically achievable and what is not. </a:t>
            </a:r>
          </a:p>
          <a:p>
            <a:pPr marL="0" indent="0">
              <a:spcBef>
                <a:spcPts val="600"/>
              </a:spcBef>
              <a:spcAft>
                <a:spcPts val="600"/>
              </a:spcAft>
              <a:buNone/>
            </a:pPr>
            <a:r>
              <a:rPr lang="en-AU" sz="2000" dirty="0" smtClean="0">
                <a:latin typeface="Helvetica" pitchFamily="34" charset="0"/>
                <a:cs typeface="Helvetica" pitchFamily="34" charset="0"/>
              </a:rPr>
              <a:t>In developing an idea of resources that may be needed, the following resource components should be considered:</a:t>
            </a:r>
          </a:p>
          <a:p>
            <a:pPr>
              <a:spcBef>
                <a:spcPts val="600"/>
              </a:spcBef>
              <a:spcAft>
                <a:spcPts val="600"/>
              </a:spcAft>
            </a:pPr>
            <a:r>
              <a:rPr lang="en-AU" sz="2000" dirty="0" smtClean="0">
                <a:latin typeface="Helvetica" pitchFamily="34" charset="0"/>
                <a:cs typeface="Helvetica" pitchFamily="34" charset="0"/>
              </a:rPr>
              <a:t>Financial resources, including money to fund staff involved in the evaluation, to purchase necessary materials, to pay for travel, to support data gathering, analysis and interpretation</a:t>
            </a:r>
          </a:p>
          <a:p>
            <a:pPr>
              <a:spcBef>
                <a:spcPts val="600"/>
              </a:spcBef>
              <a:spcAft>
                <a:spcPts val="600"/>
              </a:spcAft>
            </a:pPr>
            <a:r>
              <a:rPr lang="en-AU" sz="2000" dirty="0" smtClean="0">
                <a:latin typeface="Helvetica" pitchFamily="34" charset="0"/>
                <a:cs typeface="Helvetica" pitchFamily="34" charset="0"/>
              </a:rPr>
              <a:t>Physical resources, including equipment, materials, transportation, computer access, venue or office space</a:t>
            </a:r>
          </a:p>
          <a:p>
            <a:pPr>
              <a:spcBef>
                <a:spcPts val="600"/>
              </a:spcBef>
              <a:spcAft>
                <a:spcPts val="600"/>
              </a:spcAft>
            </a:pPr>
            <a:r>
              <a:rPr lang="en-AU" sz="2000" dirty="0" smtClean="0">
                <a:latin typeface="Helvetica" pitchFamily="34" charset="0"/>
                <a:cs typeface="Helvetica" pitchFamily="34" charset="0"/>
              </a:rPr>
              <a:t>Human resources, including internal staff and external personnel, as appropriate</a:t>
            </a:r>
          </a:p>
          <a:p>
            <a:pPr marL="360000" indent="-360000">
              <a:spcBef>
                <a:spcPts val="600"/>
              </a:spcBef>
              <a:spcAft>
                <a:spcPts val="600"/>
              </a:spcAft>
            </a:pPr>
            <a:endParaRPr lang="en-AU" sz="20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27640" cy="810344"/>
          </a:xfrm>
        </p:spPr>
        <p:txBody>
          <a:bodyPr>
            <a:normAutofit/>
          </a:bodyPr>
          <a:lstStyle/>
          <a:p>
            <a:pPr marL="804863" indent="-804863"/>
            <a:r>
              <a:rPr lang="en-US" sz="3100" b="1" dirty="0" smtClean="0">
                <a:solidFill>
                  <a:srgbClr val="FF6600"/>
                </a:solidFill>
                <a:latin typeface="Helvetica" pitchFamily="34" charset="0"/>
              </a:rPr>
              <a:t>1.5	Develop an evaluation plan</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09600" y="1219200"/>
            <a:ext cx="7467600" cy="5638800"/>
          </a:xfrm>
        </p:spPr>
        <p:txBody>
          <a:bodyPr>
            <a:normAutofit/>
          </a:bodyPr>
          <a:lstStyle/>
          <a:p>
            <a:pPr marL="0" indent="0">
              <a:spcBef>
                <a:spcPts val="600"/>
              </a:spcBef>
              <a:spcAft>
                <a:spcPts val="1200"/>
              </a:spcAft>
              <a:buNone/>
            </a:pPr>
            <a:r>
              <a:rPr lang="en-US" sz="2000" dirty="0" smtClean="0">
                <a:latin typeface="Helvetica" pitchFamily="34" charset="0"/>
                <a:cs typeface="Helvetica" pitchFamily="34" charset="0"/>
              </a:rPr>
              <a:t>The evaluation plan needs to answer the questions relating to the assessment system about the:</a:t>
            </a:r>
          </a:p>
          <a:p>
            <a:pPr marL="360000" indent="-360000">
              <a:spcBef>
                <a:spcPts val="600"/>
              </a:spcBef>
              <a:spcAft>
                <a:spcPts val="1200"/>
              </a:spcAft>
            </a:pPr>
            <a:r>
              <a:rPr lang="en-US" sz="2000" dirty="0" smtClean="0">
                <a:latin typeface="Helvetica" pitchFamily="34" charset="0"/>
                <a:cs typeface="Helvetica" pitchFamily="34" charset="0"/>
              </a:rPr>
              <a:t>What?</a:t>
            </a:r>
            <a:br>
              <a:rPr lang="en-US" sz="2000" dirty="0" smtClean="0">
                <a:latin typeface="Helvetica" pitchFamily="34" charset="0"/>
                <a:cs typeface="Helvetica" pitchFamily="34" charset="0"/>
              </a:rPr>
            </a:br>
            <a:r>
              <a:rPr lang="en-AU" sz="2000" dirty="0" smtClean="0">
                <a:latin typeface="Helvetica" pitchFamily="34" charset="0"/>
                <a:cs typeface="Helvetica" pitchFamily="34" charset="0"/>
              </a:rPr>
              <a:t>The </a:t>
            </a:r>
            <a:r>
              <a:rPr lang="en-AU" sz="2000" i="1" dirty="0" smtClean="0">
                <a:latin typeface="Helvetica" pitchFamily="34" charset="0"/>
                <a:cs typeface="Helvetica" pitchFamily="34" charset="0"/>
              </a:rPr>
              <a:t>“What” </a:t>
            </a:r>
            <a:r>
              <a:rPr lang="en-AU" sz="2000" dirty="0" smtClean="0">
                <a:latin typeface="Helvetica" pitchFamily="34" charset="0"/>
                <a:cs typeface="Helvetica" pitchFamily="34" charset="0"/>
              </a:rPr>
              <a:t>reflects the description and accomplishments of the system.</a:t>
            </a:r>
            <a:endParaRPr lang="en-US" sz="2000" dirty="0" smtClean="0">
              <a:latin typeface="Helvetica" pitchFamily="34" charset="0"/>
              <a:cs typeface="Helvetica" pitchFamily="34" charset="0"/>
            </a:endParaRPr>
          </a:p>
          <a:p>
            <a:pPr marL="360000" indent="-360000">
              <a:spcBef>
                <a:spcPts val="600"/>
              </a:spcBef>
              <a:spcAft>
                <a:spcPts val="1200"/>
              </a:spcAft>
            </a:pPr>
            <a:r>
              <a:rPr lang="en-US" sz="2000" dirty="0" smtClean="0">
                <a:latin typeface="Helvetica" pitchFamily="34" charset="0"/>
                <a:cs typeface="Helvetica" pitchFamily="34" charset="0"/>
              </a:rPr>
              <a:t>How?</a:t>
            </a:r>
            <a:br>
              <a:rPr lang="en-US" sz="2000" dirty="0" smtClean="0">
                <a:latin typeface="Helvetica" pitchFamily="34" charset="0"/>
                <a:cs typeface="Helvetica" pitchFamily="34" charset="0"/>
              </a:rPr>
            </a:br>
            <a:r>
              <a:rPr lang="en-AU" sz="2000" dirty="0" smtClean="0">
                <a:latin typeface="Helvetica" pitchFamily="34" charset="0"/>
                <a:cs typeface="Helvetica" pitchFamily="34" charset="0"/>
              </a:rPr>
              <a:t>The </a:t>
            </a:r>
            <a:r>
              <a:rPr lang="en-AU" sz="2000" i="1" dirty="0" smtClean="0">
                <a:latin typeface="Helvetica" pitchFamily="34" charset="0"/>
                <a:cs typeface="Helvetica" pitchFamily="34" charset="0"/>
              </a:rPr>
              <a:t>“How” </a:t>
            </a:r>
            <a:r>
              <a:rPr lang="en-AU" sz="2000" dirty="0" smtClean="0">
                <a:latin typeface="Helvetica" pitchFamily="34" charset="0"/>
                <a:cs typeface="Helvetica" pitchFamily="34" charset="0"/>
              </a:rPr>
              <a:t>answers the question, “How did you do it?” and assesses how the system is being implemented and if the system is operating with alignment to the system’s policies and procedures.</a:t>
            </a:r>
            <a:endParaRPr lang="en-US" sz="2000" dirty="0" smtClean="0">
              <a:latin typeface="Helvetica" pitchFamily="34" charset="0"/>
              <a:cs typeface="Helvetica" pitchFamily="34" charset="0"/>
            </a:endParaRPr>
          </a:p>
          <a:p>
            <a:pPr marL="360000" indent="-360000">
              <a:spcBef>
                <a:spcPts val="600"/>
              </a:spcBef>
              <a:spcAft>
                <a:spcPts val="1200"/>
              </a:spcAft>
            </a:pPr>
            <a:r>
              <a:rPr lang="en-US" sz="2000" dirty="0" smtClean="0">
                <a:latin typeface="Helvetica" pitchFamily="34" charset="0"/>
                <a:cs typeface="Helvetica" pitchFamily="34" charset="0"/>
              </a:rPr>
              <a:t>Why it matters?</a:t>
            </a:r>
            <a:br>
              <a:rPr lang="en-US" sz="2000" dirty="0" smtClean="0">
                <a:latin typeface="Helvetica" pitchFamily="34" charset="0"/>
                <a:cs typeface="Helvetica" pitchFamily="34" charset="0"/>
              </a:rPr>
            </a:br>
            <a:r>
              <a:rPr lang="en-AU" sz="2000" dirty="0" smtClean="0">
                <a:latin typeface="Helvetica" pitchFamily="34" charset="0"/>
                <a:cs typeface="Helvetica" pitchFamily="34" charset="0"/>
              </a:rPr>
              <a:t>The </a:t>
            </a:r>
            <a:r>
              <a:rPr lang="en-AU" sz="2000" i="1" dirty="0" smtClean="0">
                <a:latin typeface="Helvetica" pitchFamily="34" charset="0"/>
                <a:cs typeface="Helvetica" pitchFamily="34" charset="0"/>
              </a:rPr>
              <a:t>“Why It Matters” </a:t>
            </a:r>
            <a:r>
              <a:rPr lang="en-AU" sz="2000" dirty="0" smtClean="0">
                <a:latin typeface="Helvetica" pitchFamily="34" charset="0"/>
                <a:cs typeface="Helvetica" pitchFamily="34" charset="0"/>
              </a:rPr>
              <a:t>represents how the system makes a difference to the organisation as a whole. </a:t>
            </a:r>
            <a:endParaRPr lang="en-US" sz="2000" dirty="0" smtClean="0">
              <a:latin typeface="Helvetica" pitchFamily="34" charset="0"/>
              <a:cs typeface="Helvetica" pitchFamily="34" charset="0"/>
            </a:endParaRPr>
          </a:p>
          <a:p>
            <a:pPr marL="360000" indent="-360000">
              <a:spcBef>
                <a:spcPts val="600"/>
              </a:spcBef>
              <a:spcAft>
                <a:spcPts val="1200"/>
              </a:spcAft>
              <a:buNone/>
            </a:pPr>
            <a:endParaRPr lang="en-US" sz="20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303840" cy="810344"/>
          </a:xfrm>
        </p:spPr>
        <p:txBody>
          <a:bodyPr>
            <a:normAutofit/>
          </a:bodyPr>
          <a:lstStyle/>
          <a:p>
            <a:pPr marL="804863" indent="-804863"/>
            <a:r>
              <a:rPr lang="en-US" sz="3100" b="1" dirty="0" smtClean="0">
                <a:solidFill>
                  <a:srgbClr val="FF6600"/>
                </a:solidFill>
                <a:latin typeface="Helvetica" pitchFamily="34" charset="0"/>
              </a:rPr>
              <a:t>1.5	Develop an evaluation plan cont’d</a:t>
            </a:r>
            <a:endParaRPr lang="en-US" sz="31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graphicFrame>
        <p:nvGraphicFramePr>
          <p:cNvPr id="7" name="Table 6"/>
          <p:cNvGraphicFramePr>
            <a:graphicFrameLocks noGrp="1"/>
          </p:cNvGraphicFramePr>
          <p:nvPr/>
        </p:nvGraphicFramePr>
        <p:xfrm>
          <a:off x="685800" y="1371600"/>
          <a:ext cx="7620000" cy="4243518"/>
        </p:xfrm>
        <a:graphic>
          <a:graphicData uri="http://schemas.openxmlformats.org/drawingml/2006/table">
            <a:tbl>
              <a:tblPr/>
              <a:tblGrid>
                <a:gridCol w="1270000"/>
                <a:gridCol w="1270000"/>
                <a:gridCol w="1270000"/>
                <a:gridCol w="1270000"/>
                <a:gridCol w="1270000"/>
                <a:gridCol w="1270000"/>
              </a:tblGrid>
              <a:tr h="650073">
                <a:tc>
                  <a:txBody>
                    <a:bodyPr/>
                    <a:lstStyle/>
                    <a:p>
                      <a:pPr marL="0" marR="0" algn="just">
                        <a:spcBef>
                          <a:spcPts val="400"/>
                        </a:spcBef>
                        <a:spcAft>
                          <a:spcPts val="400"/>
                        </a:spcAft>
                      </a:pPr>
                      <a:r>
                        <a:rPr lang="en-AU" sz="1200" b="1" dirty="0">
                          <a:solidFill>
                            <a:srgbClr val="FFFFFF"/>
                          </a:solidFill>
                          <a:latin typeface="Helvetica" pitchFamily="34" charset="0"/>
                          <a:ea typeface="Calibri"/>
                          <a:cs typeface="Helvetica" pitchFamily="34" charset="0"/>
                        </a:rPr>
                        <a:t>Evaluation question</a:t>
                      </a:r>
                      <a:endParaRPr lang="en-US" sz="1200" b="1" dirty="0">
                        <a:solidFill>
                          <a:srgbClr val="000000"/>
                        </a:solidFill>
                        <a:latin typeface="Helvetica" pitchFamily="34" charset="0"/>
                        <a:ea typeface="Calibri"/>
                        <a:cs typeface="Helvetica"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just">
                        <a:spcBef>
                          <a:spcPts val="400"/>
                        </a:spcBef>
                        <a:spcAft>
                          <a:spcPts val="400"/>
                        </a:spcAft>
                      </a:pPr>
                      <a:r>
                        <a:rPr lang="en-AU" sz="1200" b="1" dirty="0">
                          <a:solidFill>
                            <a:srgbClr val="FFFFFF"/>
                          </a:solidFill>
                          <a:latin typeface="Helvetica" pitchFamily="34" charset="0"/>
                          <a:ea typeface="Calibri"/>
                          <a:cs typeface="Helvetica" pitchFamily="34" charset="0"/>
                        </a:rPr>
                        <a:t>Indicator/ Performance Measure</a:t>
                      </a:r>
                      <a:endParaRPr lang="en-US" sz="1200" b="1" dirty="0">
                        <a:solidFill>
                          <a:srgbClr val="000000"/>
                        </a:solidFill>
                        <a:latin typeface="Helvetica" pitchFamily="34" charset="0"/>
                        <a:ea typeface="Calibri"/>
                        <a:cs typeface="Helvetica"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just">
                        <a:spcBef>
                          <a:spcPts val="400"/>
                        </a:spcBef>
                        <a:spcAft>
                          <a:spcPts val="400"/>
                        </a:spcAft>
                      </a:pPr>
                      <a:r>
                        <a:rPr lang="en-AU" sz="1200" b="1" dirty="0">
                          <a:solidFill>
                            <a:srgbClr val="FFFFFF"/>
                          </a:solidFill>
                          <a:latin typeface="Helvetica" pitchFamily="34" charset="0"/>
                          <a:ea typeface="Calibri"/>
                          <a:cs typeface="Helvetica" pitchFamily="34" charset="0"/>
                        </a:rPr>
                        <a:t>Method</a:t>
                      </a:r>
                      <a:endParaRPr lang="en-US" sz="1200" b="1" dirty="0">
                        <a:solidFill>
                          <a:srgbClr val="000000"/>
                        </a:solidFill>
                        <a:latin typeface="Helvetica" pitchFamily="34" charset="0"/>
                        <a:ea typeface="Calibri"/>
                        <a:cs typeface="Helvetica"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just">
                        <a:spcBef>
                          <a:spcPts val="400"/>
                        </a:spcBef>
                        <a:spcAft>
                          <a:spcPts val="400"/>
                        </a:spcAft>
                      </a:pPr>
                      <a:r>
                        <a:rPr lang="en-AU" sz="1200" b="1" dirty="0">
                          <a:solidFill>
                            <a:srgbClr val="FFFFFF"/>
                          </a:solidFill>
                          <a:latin typeface="Helvetica" pitchFamily="34" charset="0"/>
                          <a:ea typeface="Calibri"/>
                          <a:cs typeface="Helvetica" pitchFamily="34" charset="0"/>
                        </a:rPr>
                        <a:t>Data Source</a:t>
                      </a:r>
                      <a:endParaRPr lang="en-US" sz="1200" b="1" dirty="0">
                        <a:solidFill>
                          <a:srgbClr val="000000"/>
                        </a:solidFill>
                        <a:latin typeface="Helvetica" pitchFamily="34" charset="0"/>
                        <a:ea typeface="Calibri"/>
                        <a:cs typeface="Helvetica"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just">
                        <a:spcBef>
                          <a:spcPts val="400"/>
                        </a:spcBef>
                        <a:spcAft>
                          <a:spcPts val="400"/>
                        </a:spcAft>
                      </a:pPr>
                      <a:r>
                        <a:rPr lang="en-AU" sz="1200" b="1" dirty="0">
                          <a:solidFill>
                            <a:srgbClr val="FFFFFF"/>
                          </a:solidFill>
                          <a:latin typeface="Helvetica" pitchFamily="34" charset="0"/>
                          <a:ea typeface="Calibri"/>
                          <a:cs typeface="Helvetica" pitchFamily="34" charset="0"/>
                        </a:rPr>
                        <a:t>Timeline</a:t>
                      </a:r>
                      <a:endParaRPr lang="en-US" sz="1200" b="1" dirty="0">
                        <a:solidFill>
                          <a:srgbClr val="000000"/>
                        </a:solidFill>
                        <a:latin typeface="Helvetica" pitchFamily="34" charset="0"/>
                        <a:ea typeface="Calibri"/>
                        <a:cs typeface="Helvetica"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just">
                        <a:spcBef>
                          <a:spcPts val="400"/>
                        </a:spcBef>
                        <a:spcAft>
                          <a:spcPts val="400"/>
                        </a:spcAft>
                      </a:pPr>
                      <a:r>
                        <a:rPr lang="en-AU" sz="1200" b="1" dirty="0">
                          <a:solidFill>
                            <a:srgbClr val="FFFFFF"/>
                          </a:solidFill>
                          <a:latin typeface="Helvetica" pitchFamily="34" charset="0"/>
                          <a:ea typeface="Calibri"/>
                          <a:cs typeface="Helvetica" pitchFamily="34" charset="0"/>
                        </a:rPr>
                        <a:t>Responsibility</a:t>
                      </a:r>
                      <a:endParaRPr lang="en-US" sz="1200" b="1" dirty="0">
                        <a:solidFill>
                          <a:srgbClr val="000000"/>
                        </a:solidFill>
                        <a:latin typeface="Helvetica" pitchFamily="34" charset="0"/>
                        <a:ea typeface="Calibri"/>
                        <a:cs typeface="Helvetica"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r>
              <a:tr h="1026327">
                <a:tc>
                  <a:txBody>
                    <a:bodyPr/>
                    <a:lstStyle/>
                    <a:p>
                      <a:pPr marL="0" marR="0" indent="0">
                        <a:spcBef>
                          <a:spcPts val="300"/>
                        </a:spcBef>
                        <a:spcAft>
                          <a:spcPts val="400"/>
                        </a:spcAft>
                      </a:pPr>
                      <a:r>
                        <a:rPr lang="en-AU" sz="1000" dirty="0">
                          <a:latin typeface="Helvetica" pitchFamily="34" charset="0"/>
                          <a:ea typeface="Times New Roman"/>
                          <a:cs typeface="Helvetica" pitchFamily="34" charset="0"/>
                        </a:rPr>
                        <a:t>How many candidates achieved competency?</a:t>
                      </a:r>
                      <a:endParaRPr lang="en-US" sz="1000" dirty="0">
                        <a:latin typeface="Helvetica" pitchFamily="34" charset="0"/>
                        <a:ea typeface="Times New Roman"/>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300"/>
                        </a:spcBef>
                        <a:spcAft>
                          <a:spcPts val="400"/>
                        </a:spcAft>
                      </a:pPr>
                      <a:r>
                        <a:rPr lang="en-AU" sz="1000" dirty="0">
                          <a:latin typeface="Helvetica" pitchFamily="34" charset="0"/>
                          <a:ea typeface="Times New Roman"/>
                          <a:cs typeface="Helvetica" pitchFamily="34" charset="0"/>
                        </a:rPr>
                        <a:t>Numbers of competent candidates</a:t>
                      </a:r>
                      <a:endParaRPr lang="en-US" sz="1000" dirty="0">
                        <a:latin typeface="Helvetica" pitchFamily="34" charset="0"/>
                        <a:ea typeface="Times New Roman"/>
                        <a:cs typeface="Helvetica" pitchFamily="34" charset="0"/>
                      </a:endParaRPr>
                    </a:p>
                    <a:p>
                      <a:pPr marL="0" marR="0" indent="0">
                        <a:spcBef>
                          <a:spcPts val="300"/>
                        </a:spcBef>
                        <a:spcAft>
                          <a:spcPts val="400"/>
                        </a:spcAft>
                      </a:pPr>
                      <a:r>
                        <a:rPr lang="en-AU" sz="1000" dirty="0">
                          <a:latin typeface="Helvetica" pitchFamily="34" charset="0"/>
                          <a:ea typeface="Times New Roman"/>
                          <a:cs typeface="Helvetica" pitchFamily="34" charset="0"/>
                        </a:rPr>
                        <a:t>90% minimum set as standard</a:t>
                      </a:r>
                      <a:endParaRPr lang="en-US" sz="1000" dirty="0">
                        <a:latin typeface="Helvetica" pitchFamily="34" charset="0"/>
                        <a:ea typeface="Times New Roman"/>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300"/>
                        </a:spcBef>
                        <a:spcAft>
                          <a:spcPts val="400"/>
                        </a:spcAft>
                      </a:pPr>
                      <a:r>
                        <a:rPr lang="en-AU" sz="1000" dirty="0">
                          <a:latin typeface="Helvetica" pitchFamily="34" charset="0"/>
                          <a:ea typeface="Times New Roman"/>
                          <a:cs typeface="Helvetica" pitchFamily="34" charset="0"/>
                        </a:rPr>
                        <a:t>Data analysis</a:t>
                      </a:r>
                      <a:endParaRPr lang="en-US" sz="1000" dirty="0">
                        <a:latin typeface="Helvetica" pitchFamily="34" charset="0"/>
                        <a:ea typeface="Times New Roman"/>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300"/>
                        </a:spcBef>
                        <a:spcAft>
                          <a:spcPts val="400"/>
                        </a:spcAft>
                      </a:pPr>
                      <a:r>
                        <a:rPr lang="en-AU" sz="1000" dirty="0">
                          <a:latin typeface="Helvetica" pitchFamily="34" charset="0"/>
                          <a:ea typeface="Times New Roman"/>
                          <a:cs typeface="Helvetica" pitchFamily="34" charset="0"/>
                        </a:rPr>
                        <a:t>Results documents</a:t>
                      </a:r>
                      <a:endParaRPr lang="en-US" sz="1000" dirty="0">
                        <a:latin typeface="Helvetica" pitchFamily="34" charset="0"/>
                        <a:ea typeface="Times New Roman"/>
                        <a:cs typeface="Helvetica" pitchFamily="34" charset="0"/>
                      </a:endParaRPr>
                    </a:p>
                    <a:p>
                      <a:pPr marL="0" marR="0" indent="0">
                        <a:spcBef>
                          <a:spcPts val="300"/>
                        </a:spcBef>
                        <a:spcAft>
                          <a:spcPts val="400"/>
                        </a:spcAft>
                      </a:pPr>
                      <a:r>
                        <a:rPr lang="en-AU" sz="1000" dirty="0">
                          <a:latin typeface="Helvetica" pitchFamily="34" charset="0"/>
                          <a:ea typeface="Times New Roman"/>
                          <a:cs typeface="Helvetica" pitchFamily="34" charset="0"/>
                        </a:rPr>
                        <a:t>Observations</a:t>
                      </a:r>
                      <a:endParaRPr lang="en-US" sz="1000" dirty="0">
                        <a:latin typeface="Helvetica" pitchFamily="34" charset="0"/>
                        <a:ea typeface="Times New Roman"/>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300"/>
                        </a:spcBef>
                        <a:spcAft>
                          <a:spcPts val="400"/>
                        </a:spcAft>
                      </a:pPr>
                      <a:r>
                        <a:rPr lang="en-AU" sz="1000" dirty="0">
                          <a:latin typeface="Helvetica" pitchFamily="34" charset="0"/>
                          <a:ea typeface="Times New Roman"/>
                          <a:cs typeface="Helvetica" pitchFamily="34" charset="0"/>
                        </a:rPr>
                        <a:t>12 month period </a:t>
                      </a:r>
                      <a:endParaRPr lang="en-US" sz="1000" dirty="0">
                        <a:latin typeface="Helvetica" pitchFamily="34" charset="0"/>
                        <a:ea typeface="Times New Roman"/>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300"/>
                        </a:spcBef>
                        <a:spcAft>
                          <a:spcPts val="400"/>
                        </a:spcAft>
                      </a:pPr>
                      <a:r>
                        <a:rPr lang="en-AU" sz="1000" dirty="0">
                          <a:latin typeface="Helvetica" pitchFamily="34" charset="0"/>
                          <a:ea typeface="Times New Roman"/>
                          <a:cs typeface="Helvetica" pitchFamily="34" charset="0"/>
                        </a:rPr>
                        <a:t>Evaluation working group member A</a:t>
                      </a:r>
                      <a:endParaRPr lang="en-US" sz="1000" dirty="0">
                        <a:latin typeface="Helvetica" pitchFamily="34" charset="0"/>
                        <a:ea typeface="Times New Roman"/>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1933">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1933">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1933">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1933">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1933">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pitchFamily="34" charset="0"/>
                        <a:ea typeface="Calibri"/>
                        <a:cs typeface="Helvetica" pitchFamily="34" charset="0"/>
                      </a:endParaRPr>
                    </a:p>
                  </a:txBody>
                  <a:tcPr marL="68580" marR="68580"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27640" cy="1143000"/>
          </a:xfrm>
        </p:spPr>
        <p:txBody>
          <a:bodyPr>
            <a:normAutofit/>
          </a:bodyPr>
          <a:lstStyle/>
          <a:p>
            <a:pPr marL="804863" indent="-804863"/>
            <a:r>
              <a:rPr lang="en-US" sz="3100" b="1" dirty="0" smtClean="0">
                <a:solidFill>
                  <a:srgbClr val="FF6600"/>
                </a:solidFill>
                <a:latin typeface="Helvetica" pitchFamily="34" charset="0"/>
              </a:rPr>
              <a:t>1.6	Determine the evidence that needs to be captured during the evaluation</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85800" y="1556792"/>
            <a:ext cx="7467600" cy="5072608"/>
          </a:xfrm>
        </p:spPr>
        <p:txBody>
          <a:bodyPr>
            <a:normAutofit lnSpcReduction="10000"/>
          </a:bodyPr>
          <a:lstStyle/>
          <a:p>
            <a:pPr marL="0" indent="0">
              <a:spcBef>
                <a:spcPts val="600"/>
              </a:spcBef>
              <a:spcAft>
                <a:spcPts val="600"/>
              </a:spcAft>
              <a:buNone/>
            </a:pPr>
            <a:r>
              <a:rPr lang="en-AU" sz="1800" dirty="0" smtClean="0">
                <a:latin typeface="Helvetica" pitchFamily="34" charset="0"/>
                <a:cs typeface="Helvetica" pitchFamily="34" charset="0"/>
              </a:rPr>
              <a:t>Some examples of evidence that needs to be captured may include:</a:t>
            </a:r>
          </a:p>
          <a:p>
            <a:pPr>
              <a:spcBef>
                <a:spcPts val="600"/>
              </a:spcBef>
              <a:spcAft>
                <a:spcPts val="600"/>
              </a:spcAft>
            </a:pPr>
            <a:r>
              <a:rPr lang="en-AU" sz="1800" dirty="0" smtClean="0">
                <a:latin typeface="Helvetica" pitchFamily="34" charset="0"/>
                <a:cs typeface="Helvetica" pitchFamily="34" charset="0"/>
              </a:rPr>
              <a:t>Rolls and other attendance forms that record participation in assessment</a:t>
            </a:r>
          </a:p>
          <a:p>
            <a:pPr>
              <a:spcBef>
                <a:spcPts val="600"/>
              </a:spcBef>
              <a:spcAft>
                <a:spcPts val="600"/>
              </a:spcAft>
            </a:pPr>
            <a:r>
              <a:rPr lang="en-AU" sz="1800" dirty="0" smtClean="0">
                <a:latin typeface="Helvetica" pitchFamily="34" charset="0"/>
                <a:cs typeface="Helvetica" pitchFamily="34" charset="0"/>
              </a:rPr>
              <a:t>Samples of assessment evidence used by assessors to determine competency</a:t>
            </a:r>
          </a:p>
          <a:p>
            <a:pPr>
              <a:spcBef>
                <a:spcPts val="600"/>
              </a:spcBef>
              <a:spcAft>
                <a:spcPts val="600"/>
              </a:spcAft>
            </a:pPr>
            <a:r>
              <a:rPr lang="en-AU" sz="1800" dirty="0" smtClean="0">
                <a:latin typeface="Helvetica" pitchFamily="34" charset="0"/>
                <a:cs typeface="Helvetica" pitchFamily="34" charset="0"/>
              </a:rPr>
              <a:t>Reports relating to assessment-related meetings held by trainers, assessors and learners/candidates</a:t>
            </a:r>
          </a:p>
          <a:p>
            <a:pPr>
              <a:spcBef>
                <a:spcPts val="600"/>
              </a:spcBef>
              <a:spcAft>
                <a:spcPts val="600"/>
              </a:spcAft>
            </a:pPr>
            <a:r>
              <a:rPr lang="en-AU" sz="1800" dirty="0" smtClean="0">
                <a:latin typeface="Helvetica" pitchFamily="34" charset="0"/>
                <a:cs typeface="Helvetica" pitchFamily="34" charset="0"/>
              </a:rPr>
              <a:t>Information provided to learners regarding their assessment</a:t>
            </a:r>
          </a:p>
          <a:p>
            <a:pPr>
              <a:spcBef>
                <a:spcPts val="600"/>
              </a:spcBef>
              <a:spcAft>
                <a:spcPts val="600"/>
              </a:spcAft>
            </a:pPr>
            <a:r>
              <a:rPr lang="en-AU" sz="1800" dirty="0" smtClean="0">
                <a:latin typeface="Helvetica" pitchFamily="34" charset="0"/>
                <a:cs typeface="Helvetica" pitchFamily="34" charset="0"/>
              </a:rPr>
              <a:t>Sample assessment items, such as tests, requirements for demonstrations, third party reports, observation checklists, portfolios of work</a:t>
            </a:r>
          </a:p>
          <a:p>
            <a:pPr>
              <a:spcBef>
                <a:spcPts val="600"/>
              </a:spcBef>
              <a:spcAft>
                <a:spcPts val="600"/>
              </a:spcAft>
            </a:pPr>
            <a:r>
              <a:rPr lang="en-AU" sz="1800" dirty="0" smtClean="0">
                <a:latin typeface="Helvetica" pitchFamily="34" charset="0"/>
                <a:cs typeface="Helvetica" pitchFamily="34" charset="0"/>
              </a:rPr>
              <a:t>Criteria used for judging competency</a:t>
            </a:r>
          </a:p>
          <a:p>
            <a:pPr>
              <a:spcBef>
                <a:spcPts val="600"/>
              </a:spcBef>
              <a:spcAft>
                <a:spcPts val="600"/>
              </a:spcAft>
            </a:pPr>
            <a:r>
              <a:rPr lang="en-AU" sz="1800" dirty="0" smtClean="0">
                <a:latin typeface="Helvetica" pitchFamily="34" charset="0"/>
                <a:cs typeface="Helvetica" pitchFamily="34" charset="0"/>
              </a:rPr>
              <a:t>Proof of expenditure relating to the cost of assessments</a:t>
            </a:r>
          </a:p>
          <a:p>
            <a:pPr>
              <a:spcBef>
                <a:spcPts val="600"/>
              </a:spcBef>
              <a:spcAft>
                <a:spcPts val="600"/>
              </a:spcAft>
            </a:pPr>
            <a:r>
              <a:rPr lang="en-AU" sz="1800" dirty="0" smtClean="0">
                <a:latin typeface="Helvetica" pitchFamily="34" charset="0"/>
                <a:cs typeface="Helvetica" pitchFamily="34" charset="0"/>
              </a:rPr>
              <a:t>Evidence of learner progress</a:t>
            </a:r>
          </a:p>
          <a:p>
            <a:pPr marL="360000" indent="-360000">
              <a:spcBef>
                <a:spcPts val="600"/>
              </a:spcBef>
              <a:spcAft>
                <a:spcPts val="600"/>
              </a:spcAft>
              <a:buNone/>
            </a:pPr>
            <a:endParaRPr lang="en-AU" sz="1800" dirty="0" smtClean="0">
              <a:latin typeface="Helvetica" pitchFamily="34" charset="0"/>
              <a:cs typeface="Helvetica" pitchFamily="34" charset="0"/>
            </a:endParaRPr>
          </a:p>
          <a:p>
            <a:pPr marL="360000" indent="-360000">
              <a:spcBef>
                <a:spcPts val="600"/>
              </a:spcBef>
              <a:spcAft>
                <a:spcPts val="600"/>
              </a:spcAft>
              <a:buNone/>
            </a:pPr>
            <a:endParaRPr lang="en-AU" sz="18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descr="1131445_red_check_sign_in_3d.jpg"/>
          <p:cNvPicPr>
            <a:picLocks noChangeAspect="1"/>
          </p:cNvPicPr>
          <p:nvPr/>
        </p:nvPicPr>
        <p:blipFill>
          <a:blip r:embed="rId3" cstate="print"/>
          <a:stretch>
            <a:fillRect/>
          </a:stretch>
        </p:blipFill>
        <p:spPr>
          <a:xfrm>
            <a:off x="7467600" y="4419600"/>
            <a:ext cx="990600" cy="79248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75240" cy="1143000"/>
          </a:xfrm>
        </p:spPr>
        <p:txBody>
          <a:bodyPr>
            <a:noAutofit/>
          </a:bodyPr>
          <a:lstStyle/>
          <a:p>
            <a:pPr marL="804863" indent="-804863"/>
            <a:r>
              <a:rPr lang="en-AU" sz="2900" b="1" smtClean="0">
                <a:solidFill>
                  <a:srgbClr val="FF6600"/>
                </a:solidFill>
                <a:latin typeface="Helvetica" pitchFamily="34" charset="0"/>
              </a:rPr>
              <a:t>1.7	Define the criteria for determining the effectiveness of the assessment system</a:t>
            </a:r>
            <a:endParaRPr lang="en-AU" sz="2900" b="1">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600"/>
              </a:spcAft>
              <a:buNone/>
            </a:pPr>
            <a:r>
              <a:rPr lang="en-AU" sz="2200" dirty="0" smtClean="0">
                <a:latin typeface="Helvetica" pitchFamily="34" charset="0"/>
                <a:cs typeface="Helvetica" pitchFamily="34" charset="0"/>
              </a:rPr>
              <a:t>In determining the appropriate criteria to be used for the evaluation, it is important to check:</a:t>
            </a:r>
          </a:p>
          <a:p>
            <a:pPr>
              <a:spcBef>
                <a:spcPts val="600"/>
              </a:spcBef>
              <a:spcAft>
                <a:spcPts val="600"/>
              </a:spcAft>
            </a:pPr>
            <a:r>
              <a:rPr lang="en-AU" sz="2200" dirty="0" smtClean="0">
                <a:latin typeface="Helvetica" pitchFamily="34" charset="0"/>
                <a:cs typeface="Helvetica" pitchFamily="34" charset="0"/>
              </a:rPr>
              <a:t>The evaluation questions</a:t>
            </a:r>
          </a:p>
          <a:p>
            <a:pPr>
              <a:spcBef>
                <a:spcPts val="600"/>
              </a:spcBef>
              <a:spcAft>
                <a:spcPts val="600"/>
              </a:spcAft>
            </a:pPr>
            <a:r>
              <a:rPr lang="en-AU" sz="2200" dirty="0" smtClean="0">
                <a:latin typeface="Helvetica" pitchFamily="34" charset="0"/>
                <a:cs typeface="Helvetica" pitchFamily="34" charset="0"/>
              </a:rPr>
              <a:t>The stakeholder needs and desired outcomes</a:t>
            </a:r>
          </a:p>
          <a:p>
            <a:pPr>
              <a:spcBef>
                <a:spcPts val="600"/>
              </a:spcBef>
              <a:spcAft>
                <a:spcPts val="600"/>
              </a:spcAft>
            </a:pPr>
            <a:r>
              <a:rPr lang="en-AU" sz="2200" dirty="0" smtClean="0">
                <a:latin typeface="Helvetica" pitchFamily="34" charset="0"/>
                <a:cs typeface="Helvetica" pitchFamily="34" charset="0"/>
              </a:rPr>
              <a:t>The purpose of the evaluation</a:t>
            </a:r>
          </a:p>
          <a:p>
            <a:pPr marL="0" indent="0">
              <a:spcBef>
                <a:spcPts val="600"/>
              </a:spcBef>
              <a:spcAft>
                <a:spcPts val="600"/>
              </a:spcAft>
              <a:buNone/>
            </a:pPr>
            <a:endParaRPr lang="en-AU" sz="2200" dirty="0" smtClean="0">
              <a:latin typeface="Helvetica" pitchFamily="34" charset="0"/>
              <a:cs typeface="Helvetica" pitchFamily="34" charset="0"/>
            </a:endParaRPr>
          </a:p>
          <a:p>
            <a:pPr marL="360000" indent="-360000">
              <a:spcBef>
                <a:spcPts val="600"/>
              </a:spcBef>
              <a:spcAft>
                <a:spcPts val="600"/>
              </a:spcAft>
              <a:buNone/>
            </a:pPr>
            <a:endParaRPr lang="en-AU" sz="2200" dirty="0" smtClean="0">
              <a:latin typeface="Helvetica" pitchFamily="34" charset="0"/>
              <a:cs typeface="Helvetica" pitchFamily="34" charset="0"/>
            </a:endParaRPr>
          </a:p>
          <a:p>
            <a:pPr marL="360000" indent="-360000">
              <a:spcBef>
                <a:spcPts val="600"/>
              </a:spcBef>
              <a:spcAft>
                <a:spcPts val="600"/>
              </a:spcAft>
              <a:buNone/>
            </a:pPr>
            <a:endParaRPr lang="en-AU"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62465" name="Picture 1" descr="C:\Users\Quentin\AppData\Local\Microsoft\Windows\Temporary Internet Files\Content.IE5\BOXWPZEN\MC900039006[1].wmf"/>
          <p:cNvPicPr>
            <a:picLocks noChangeAspect="1" noChangeArrowheads="1"/>
          </p:cNvPicPr>
          <p:nvPr/>
        </p:nvPicPr>
        <p:blipFill>
          <a:blip r:embed="rId3" cstate="print"/>
          <a:srcRect/>
          <a:stretch>
            <a:fillRect/>
          </a:stretch>
        </p:blipFill>
        <p:spPr bwMode="auto">
          <a:xfrm>
            <a:off x="3200400" y="3962400"/>
            <a:ext cx="2146097" cy="1983334"/>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51440" cy="1143000"/>
          </a:xfrm>
        </p:spPr>
        <p:txBody>
          <a:bodyPr>
            <a:normAutofit/>
          </a:bodyPr>
          <a:lstStyle/>
          <a:p>
            <a:pPr marL="693738" indent="-693738"/>
            <a:r>
              <a:rPr lang="en-AU" sz="2900" b="1" smtClean="0">
                <a:solidFill>
                  <a:srgbClr val="FF6600"/>
                </a:solidFill>
                <a:latin typeface="Helvetica" pitchFamily="34" charset="0"/>
              </a:rPr>
              <a:t>1.7	Define the criteria for determining the effectiveness of the assessment system</a:t>
            </a:r>
            <a:endParaRPr lang="en-AU" sz="2900" b="1">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96408"/>
          </a:xfrm>
        </p:spPr>
        <p:txBody>
          <a:bodyPr>
            <a:normAutofit/>
          </a:bodyPr>
          <a:lstStyle/>
          <a:p>
            <a:pPr marL="0" indent="0">
              <a:spcBef>
                <a:spcPts val="600"/>
              </a:spcBef>
              <a:spcAft>
                <a:spcPts val="600"/>
              </a:spcAft>
              <a:buNone/>
            </a:pPr>
            <a:r>
              <a:rPr lang="en-AU" sz="2200" dirty="0" smtClean="0">
                <a:latin typeface="Helvetica" pitchFamily="34" charset="0"/>
                <a:cs typeface="Helvetica" pitchFamily="34" charset="0"/>
              </a:rPr>
              <a:t>Depending on the circumstances of the program and the evaluation questions, examples of possible criteria include:</a:t>
            </a:r>
          </a:p>
          <a:p>
            <a:pPr>
              <a:spcBef>
                <a:spcPts val="600"/>
              </a:spcBef>
              <a:spcAft>
                <a:spcPts val="600"/>
              </a:spcAft>
            </a:pPr>
            <a:r>
              <a:rPr lang="en-AU" sz="2200" dirty="0" smtClean="0">
                <a:latin typeface="Helvetica" pitchFamily="34" charset="0"/>
                <a:cs typeface="Helvetica" pitchFamily="34" charset="0"/>
              </a:rPr>
              <a:t>Purpose or goals prescribed by law or regulation,</a:t>
            </a:r>
          </a:p>
          <a:p>
            <a:pPr>
              <a:spcBef>
                <a:spcPts val="600"/>
              </a:spcBef>
              <a:spcAft>
                <a:spcPts val="600"/>
              </a:spcAft>
            </a:pPr>
            <a:r>
              <a:rPr lang="en-AU" sz="2200" dirty="0" smtClean="0">
                <a:latin typeface="Helvetica" pitchFamily="34" charset="0"/>
                <a:cs typeface="Helvetica" pitchFamily="34" charset="0"/>
              </a:rPr>
              <a:t>Policies or procedures established by internal/external officials</a:t>
            </a:r>
          </a:p>
          <a:p>
            <a:pPr>
              <a:spcBef>
                <a:spcPts val="600"/>
              </a:spcBef>
              <a:spcAft>
                <a:spcPts val="600"/>
              </a:spcAft>
            </a:pPr>
            <a:r>
              <a:rPr lang="en-AU" sz="2200" dirty="0" smtClean="0">
                <a:latin typeface="Helvetica" pitchFamily="34" charset="0"/>
                <a:cs typeface="Helvetica" pitchFamily="34" charset="0"/>
              </a:rPr>
              <a:t>Professional standards or norms</a:t>
            </a:r>
          </a:p>
          <a:p>
            <a:pPr>
              <a:spcBef>
                <a:spcPts val="600"/>
              </a:spcBef>
              <a:spcAft>
                <a:spcPts val="600"/>
              </a:spcAft>
            </a:pPr>
            <a:r>
              <a:rPr lang="en-AU" sz="2200" dirty="0" smtClean="0">
                <a:latin typeface="Helvetica" pitchFamily="34" charset="0"/>
                <a:cs typeface="Helvetica" pitchFamily="34" charset="0"/>
              </a:rPr>
              <a:t>Expert opinions</a:t>
            </a:r>
          </a:p>
          <a:p>
            <a:pPr>
              <a:spcBef>
                <a:spcPts val="600"/>
              </a:spcBef>
              <a:spcAft>
                <a:spcPts val="600"/>
              </a:spcAft>
            </a:pPr>
            <a:r>
              <a:rPr lang="en-AU" sz="2200" dirty="0" smtClean="0">
                <a:latin typeface="Helvetica" pitchFamily="34" charset="0"/>
                <a:cs typeface="Helvetica" pitchFamily="34" charset="0"/>
              </a:rPr>
              <a:t>Prior period’s performance</a:t>
            </a:r>
          </a:p>
          <a:p>
            <a:pPr>
              <a:spcBef>
                <a:spcPts val="600"/>
              </a:spcBef>
              <a:spcAft>
                <a:spcPts val="600"/>
              </a:spcAft>
            </a:pPr>
            <a:r>
              <a:rPr lang="en-AU" sz="2200" dirty="0" smtClean="0">
                <a:latin typeface="Helvetica" pitchFamily="34" charset="0"/>
                <a:cs typeface="Helvetica" pitchFamily="34" charset="0"/>
              </a:rPr>
              <a:t>Performance of other entities or sectors </a:t>
            </a:r>
            <a:br>
              <a:rPr lang="en-AU" sz="2200" dirty="0" smtClean="0">
                <a:latin typeface="Helvetica" pitchFamily="34" charset="0"/>
                <a:cs typeface="Helvetica" pitchFamily="34" charset="0"/>
              </a:rPr>
            </a:br>
            <a:r>
              <a:rPr lang="en-AU" sz="2200" dirty="0" smtClean="0">
                <a:latin typeface="Helvetica" pitchFamily="34" charset="0"/>
                <a:cs typeface="Helvetica" pitchFamily="34" charset="0"/>
              </a:rPr>
              <a:t>used to benchmark performance</a:t>
            </a:r>
          </a:p>
          <a:p>
            <a:pPr marL="360000" indent="-360000">
              <a:spcBef>
                <a:spcPts val="600"/>
              </a:spcBef>
              <a:spcAft>
                <a:spcPts val="600"/>
              </a:spcAft>
              <a:buNone/>
            </a:pPr>
            <a:endParaRPr lang="en-AU" sz="2200" dirty="0" smtClean="0">
              <a:latin typeface="Helvetica" pitchFamily="34" charset="0"/>
              <a:cs typeface="Helvetica" pitchFamily="34" charset="0"/>
            </a:endParaRPr>
          </a:p>
          <a:p>
            <a:pPr marL="360000" indent="-360000">
              <a:spcBef>
                <a:spcPts val="600"/>
              </a:spcBef>
              <a:spcAft>
                <a:spcPts val="600"/>
              </a:spcAft>
              <a:buNone/>
            </a:pPr>
            <a:endParaRPr lang="en-AU"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descr="C:\Users\Quentin\AppData\Local\Microsoft\Windows\Temporary Internet Files\Content.IE5\I03PMSPE\MC900078811[1].wmf"/>
          <p:cNvPicPr/>
          <p:nvPr/>
        </p:nvPicPr>
        <p:blipFill>
          <a:blip r:embed="rId3" cstate="print"/>
          <a:srcRect/>
          <a:stretch>
            <a:fillRect/>
          </a:stretch>
        </p:blipFill>
        <p:spPr bwMode="auto">
          <a:xfrm>
            <a:off x="6324600" y="3505200"/>
            <a:ext cx="2019300" cy="1885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532440" cy="1143000"/>
          </a:xfrm>
        </p:spPr>
        <p:txBody>
          <a:bodyPr>
            <a:normAutofit fontScale="90000"/>
          </a:bodyPr>
          <a:lstStyle/>
          <a:p>
            <a:pPr marL="693738" indent="-693738"/>
            <a:r>
              <a:rPr lang="en-AU" sz="3400" b="1" smtClean="0">
                <a:solidFill>
                  <a:srgbClr val="FF6600"/>
                </a:solidFill>
                <a:latin typeface="Helvetica" pitchFamily="34" charset="0"/>
              </a:rPr>
              <a:t>1.8	Identify cost-effective methods for capturing and analysing evaluation data</a:t>
            </a:r>
            <a:endParaRPr lang="en-AU" sz="3400" b="1">
              <a:solidFill>
                <a:srgbClr val="FF6600"/>
              </a:solidFill>
              <a:latin typeface="Helvetica" pitchFamily="34" charset="0"/>
            </a:endParaRPr>
          </a:p>
        </p:txBody>
      </p:sp>
      <p:sp>
        <p:nvSpPr>
          <p:cNvPr id="3" name="Content Placeholder 2"/>
          <p:cNvSpPr>
            <a:spLocks noGrp="1"/>
          </p:cNvSpPr>
          <p:nvPr>
            <p:ph idx="1"/>
          </p:nvPr>
        </p:nvSpPr>
        <p:spPr>
          <a:xfrm>
            <a:off x="457200" y="1556792"/>
            <a:ext cx="7467600" cy="5072608"/>
          </a:xfrm>
        </p:spPr>
        <p:txBody>
          <a:bodyPr>
            <a:normAutofit/>
          </a:bodyPr>
          <a:lstStyle/>
          <a:p>
            <a:pPr marL="0" indent="0">
              <a:spcBef>
                <a:spcPts val="400"/>
              </a:spcBef>
              <a:spcAft>
                <a:spcPts val="400"/>
              </a:spcAft>
              <a:buNone/>
            </a:pPr>
            <a:r>
              <a:rPr lang="en-AU" sz="1600" dirty="0" smtClean="0">
                <a:latin typeface="Helvetica" pitchFamily="34" charset="0"/>
                <a:cs typeface="Helvetica" pitchFamily="34" charset="0"/>
              </a:rPr>
              <a:t>To choose the appropriate methods in your evaluation plan, you will need to:</a:t>
            </a:r>
          </a:p>
          <a:p>
            <a:pPr>
              <a:spcBef>
                <a:spcPts val="400"/>
              </a:spcBef>
              <a:spcAft>
                <a:spcPts val="400"/>
              </a:spcAft>
            </a:pPr>
            <a:r>
              <a:rPr lang="en-AU" sz="1600" dirty="0" smtClean="0">
                <a:latin typeface="Helvetica" pitchFamily="34" charset="0"/>
                <a:cs typeface="Helvetica" pitchFamily="34" charset="0"/>
              </a:rPr>
              <a:t>Keep in mind the purpose, assessment system description, stage of development of the system, evaluation questions, and what the evaluation can and cannot deliver</a:t>
            </a:r>
          </a:p>
          <a:p>
            <a:pPr>
              <a:spcBef>
                <a:spcPts val="400"/>
              </a:spcBef>
              <a:spcAft>
                <a:spcPts val="400"/>
              </a:spcAft>
            </a:pPr>
            <a:r>
              <a:rPr lang="en-AU" sz="1600" dirty="0" smtClean="0">
                <a:latin typeface="Helvetica" pitchFamily="34" charset="0"/>
                <a:cs typeface="Helvetica" pitchFamily="34" charset="0"/>
              </a:rPr>
              <a:t>Confirm that the method(s) fits the question(s); there are a multitude of options, including but not limited to qualitative, quantitative, mixed-methods, multiple methods</a:t>
            </a:r>
          </a:p>
          <a:p>
            <a:pPr>
              <a:spcBef>
                <a:spcPts val="400"/>
              </a:spcBef>
              <a:spcAft>
                <a:spcPts val="400"/>
              </a:spcAft>
            </a:pPr>
            <a:r>
              <a:rPr lang="en-AU" sz="1600" dirty="0" smtClean="0">
                <a:latin typeface="Helvetica" pitchFamily="34" charset="0"/>
                <a:cs typeface="Helvetica" pitchFamily="34" charset="0"/>
              </a:rPr>
              <a:t>Think about what will constitute credible evidence for stakeholders or users </a:t>
            </a:r>
          </a:p>
          <a:p>
            <a:pPr>
              <a:spcBef>
                <a:spcPts val="400"/>
              </a:spcBef>
              <a:spcAft>
                <a:spcPts val="400"/>
              </a:spcAft>
            </a:pPr>
            <a:r>
              <a:rPr lang="en-AU" sz="1600" dirty="0" smtClean="0">
                <a:latin typeface="Helvetica" pitchFamily="34" charset="0"/>
                <a:cs typeface="Helvetica" pitchFamily="34" charset="0"/>
              </a:rPr>
              <a:t>Identify sources of evidence (i.e. persons, documents, observations, administrative databases, surveillance systems) and appropriate methods for obtaining quality (i.e., reliable and valid) data</a:t>
            </a:r>
          </a:p>
          <a:p>
            <a:pPr>
              <a:spcBef>
                <a:spcPts val="400"/>
              </a:spcBef>
              <a:spcAft>
                <a:spcPts val="400"/>
              </a:spcAft>
            </a:pPr>
            <a:r>
              <a:rPr lang="en-AU" sz="1600" dirty="0" smtClean="0">
                <a:latin typeface="Helvetica" pitchFamily="34" charset="0"/>
                <a:cs typeface="Helvetica" pitchFamily="34" charset="0"/>
              </a:rPr>
              <a:t>Identify roles and responsibilities along with timelines to ensure the project remains on-time and on-track</a:t>
            </a:r>
          </a:p>
          <a:p>
            <a:pPr>
              <a:spcBef>
                <a:spcPts val="400"/>
              </a:spcBef>
              <a:spcAft>
                <a:spcPts val="400"/>
              </a:spcAft>
            </a:pPr>
            <a:r>
              <a:rPr lang="en-AU" sz="1600" dirty="0" smtClean="0">
                <a:latin typeface="Helvetica" pitchFamily="34" charset="0"/>
                <a:cs typeface="Helvetica" pitchFamily="34" charset="0"/>
              </a:rPr>
              <a:t>Remain flexible and adaptive, and as always, transparent </a:t>
            </a:r>
          </a:p>
          <a:p>
            <a:pPr>
              <a:spcBef>
                <a:spcPts val="400"/>
              </a:spcBef>
              <a:spcAft>
                <a:spcPts val="400"/>
              </a:spcAft>
            </a:pPr>
            <a:r>
              <a:rPr lang="en-AU" sz="1600" dirty="0" smtClean="0">
                <a:latin typeface="Helvetica" pitchFamily="34" charset="0"/>
                <a:cs typeface="Helvetica" pitchFamily="34" charset="0"/>
              </a:rPr>
              <a:t>Consider the cost of various methods</a:t>
            </a:r>
          </a:p>
          <a:p>
            <a:pPr marL="360000" indent="-360000">
              <a:spcBef>
                <a:spcPts val="400"/>
              </a:spcBef>
              <a:spcAft>
                <a:spcPts val="400"/>
              </a:spcAft>
              <a:buNone/>
            </a:pPr>
            <a:endParaRPr lang="en-AU" sz="1600" dirty="0" smtClean="0">
              <a:latin typeface="Helvetica" pitchFamily="34" charset="0"/>
              <a:cs typeface="Helvetica" pitchFamily="34" charset="0"/>
            </a:endParaRPr>
          </a:p>
          <a:p>
            <a:pPr marL="360000" indent="-360000">
              <a:spcBef>
                <a:spcPts val="400"/>
              </a:spcBef>
              <a:spcAft>
                <a:spcPts val="400"/>
              </a:spcAft>
              <a:buNone/>
            </a:pPr>
            <a:endParaRPr lang="en-AU" sz="16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75240" cy="1343744"/>
          </a:xfrm>
        </p:spPr>
        <p:txBody>
          <a:bodyPr>
            <a:noAutofit/>
          </a:bodyPr>
          <a:lstStyle/>
          <a:p>
            <a:pPr marL="693738" indent="-693738"/>
            <a:r>
              <a:rPr lang="en-AU" sz="2900" b="1" smtClean="0">
                <a:solidFill>
                  <a:srgbClr val="FF6600"/>
                </a:solidFill>
                <a:latin typeface="Helvetica" pitchFamily="34" charset="0"/>
              </a:rPr>
              <a:t>1.9	Develop tools to capture identified evidence regarding the effectiveness of the assessment system</a:t>
            </a:r>
            <a:endParaRPr lang="en-AU" sz="2900" b="1">
              <a:solidFill>
                <a:srgbClr val="FF6600"/>
              </a:solidFill>
              <a:latin typeface="Helvetica" pitchFamily="34" charset="0"/>
            </a:endParaRPr>
          </a:p>
        </p:txBody>
      </p:sp>
      <p:sp>
        <p:nvSpPr>
          <p:cNvPr id="3" name="Content Placeholder 2"/>
          <p:cNvSpPr>
            <a:spLocks noGrp="1"/>
          </p:cNvSpPr>
          <p:nvPr>
            <p:ph idx="1"/>
          </p:nvPr>
        </p:nvSpPr>
        <p:spPr>
          <a:xfrm>
            <a:off x="609600" y="1828800"/>
            <a:ext cx="7467600" cy="4800600"/>
          </a:xfrm>
        </p:spPr>
        <p:txBody>
          <a:bodyPr>
            <a:normAutofit/>
          </a:bodyPr>
          <a:lstStyle/>
          <a:p>
            <a:pPr marL="0" indent="0">
              <a:spcBef>
                <a:spcPts val="600"/>
              </a:spcBef>
              <a:spcAft>
                <a:spcPts val="600"/>
              </a:spcAft>
              <a:buNone/>
            </a:pPr>
            <a:r>
              <a:rPr lang="en-AU" sz="2000" dirty="0" smtClean="0">
                <a:latin typeface="Helvetica" pitchFamily="34" charset="0"/>
                <a:cs typeface="Helvetica" pitchFamily="34" charset="0"/>
              </a:rPr>
              <a:t>The basic components of an evaluation design include the following:</a:t>
            </a:r>
          </a:p>
          <a:p>
            <a:pPr>
              <a:spcBef>
                <a:spcPts val="600"/>
              </a:spcBef>
              <a:spcAft>
                <a:spcPts val="600"/>
              </a:spcAft>
            </a:pPr>
            <a:r>
              <a:rPr lang="en-AU" sz="2000" dirty="0" smtClean="0">
                <a:latin typeface="Helvetica" pitchFamily="34" charset="0"/>
                <a:cs typeface="Helvetica" pitchFamily="34" charset="0"/>
              </a:rPr>
              <a:t>The evaluation questions, objectives, and scope;</a:t>
            </a:r>
          </a:p>
          <a:p>
            <a:pPr>
              <a:spcBef>
                <a:spcPts val="600"/>
              </a:spcBef>
              <a:spcAft>
                <a:spcPts val="600"/>
              </a:spcAft>
            </a:pPr>
            <a:r>
              <a:rPr lang="en-AU" sz="2000" dirty="0" smtClean="0">
                <a:latin typeface="Helvetica" pitchFamily="34" charset="0"/>
                <a:cs typeface="Helvetica" pitchFamily="34" charset="0"/>
              </a:rPr>
              <a:t>Information sources and measures, or what information is needed</a:t>
            </a:r>
          </a:p>
          <a:p>
            <a:pPr>
              <a:spcBef>
                <a:spcPts val="600"/>
              </a:spcBef>
              <a:spcAft>
                <a:spcPts val="600"/>
              </a:spcAft>
            </a:pPr>
            <a:r>
              <a:rPr lang="en-AU" sz="2000" dirty="0" smtClean="0">
                <a:latin typeface="Helvetica" pitchFamily="34" charset="0"/>
                <a:cs typeface="Helvetica" pitchFamily="34" charset="0"/>
              </a:rPr>
              <a:t>Data collection methods, including any sampling procedures, or how information or evidence will be obtained</a:t>
            </a:r>
          </a:p>
          <a:p>
            <a:pPr>
              <a:spcBef>
                <a:spcPts val="600"/>
              </a:spcBef>
              <a:spcAft>
                <a:spcPts val="600"/>
              </a:spcAft>
            </a:pPr>
            <a:r>
              <a:rPr lang="en-AU" sz="2000" dirty="0" smtClean="0">
                <a:latin typeface="Helvetica" pitchFamily="34" charset="0"/>
                <a:cs typeface="Helvetica" pitchFamily="34" charset="0"/>
              </a:rPr>
              <a:t>An analysis plan, including evaluative criteria or comparisons, or how or on what basis program performance will be judged or evaluated</a:t>
            </a:r>
          </a:p>
          <a:p>
            <a:pPr>
              <a:spcBef>
                <a:spcPts val="600"/>
              </a:spcBef>
              <a:spcAft>
                <a:spcPts val="600"/>
              </a:spcAft>
            </a:pPr>
            <a:r>
              <a:rPr lang="en-AU" sz="2000" dirty="0" smtClean="0">
                <a:latin typeface="Helvetica" pitchFamily="34" charset="0"/>
                <a:cs typeface="Helvetica" pitchFamily="34" charset="0"/>
              </a:rPr>
              <a:t>An assessment of study limitations</a:t>
            </a:r>
          </a:p>
          <a:p>
            <a:pPr marL="360000" indent="-360000">
              <a:spcBef>
                <a:spcPts val="600"/>
              </a:spcBef>
              <a:spcAft>
                <a:spcPts val="600"/>
              </a:spcAft>
              <a:buNone/>
            </a:pPr>
            <a:endParaRPr lang="en-AU" sz="2000" dirty="0" smtClean="0">
              <a:latin typeface="Helvetica" pitchFamily="34" charset="0"/>
              <a:cs typeface="Helvetica" pitchFamily="34" charset="0"/>
            </a:endParaRPr>
          </a:p>
          <a:p>
            <a:pPr marL="360000" indent="-360000">
              <a:spcBef>
                <a:spcPts val="600"/>
              </a:spcBef>
              <a:spcAft>
                <a:spcPts val="600"/>
              </a:spcAft>
              <a:buNone/>
            </a:pPr>
            <a:endParaRPr lang="en-AU" sz="20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32656"/>
            <a:ext cx="8075240" cy="1343744"/>
          </a:xfrm>
        </p:spPr>
        <p:txBody>
          <a:bodyPr>
            <a:noAutofit/>
          </a:bodyPr>
          <a:lstStyle/>
          <a:p>
            <a:pPr marL="693738" indent="-693738"/>
            <a:r>
              <a:rPr lang="en-AU" sz="2900" b="1" dirty="0" smtClean="0">
                <a:solidFill>
                  <a:srgbClr val="FF6600"/>
                </a:solidFill>
                <a:latin typeface="Helvetica" pitchFamily="34" charset="0"/>
              </a:rPr>
              <a:t>1.9	Develop tools to capture identified evidence regarding the effectiveness of the assessment system </a:t>
            </a:r>
            <a:endParaRPr lang="en-AU" sz="2900" b="1" dirty="0">
              <a:solidFill>
                <a:srgbClr val="FF6600"/>
              </a:solidFill>
              <a:latin typeface="Helvetica" pitchFamily="34" charset="0"/>
            </a:endParaRPr>
          </a:p>
        </p:txBody>
      </p:sp>
      <p:sp>
        <p:nvSpPr>
          <p:cNvPr id="3" name="Content Placeholder 2"/>
          <p:cNvSpPr>
            <a:spLocks noGrp="1"/>
          </p:cNvSpPr>
          <p:nvPr>
            <p:ph idx="1"/>
          </p:nvPr>
        </p:nvSpPr>
        <p:spPr>
          <a:xfrm>
            <a:off x="533400" y="1798637"/>
            <a:ext cx="7846640" cy="4830763"/>
          </a:xfrm>
        </p:spPr>
        <p:txBody>
          <a:bodyPr>
            <a:normAutofit/>
          </a:bodyPr>
          <a:lstStyle/>
          <a:p>
            <a:pPr marL="0" indent="0">
              <a:spcBef>
                <a:spcPts val="400"/>
              </a:spcBef>
              <a:spcAft>
                <a:spcPts val="400"/>
              </a:spcAft>
              <a:buNone/>
            </a:pPr>
            <a:r>
              <a:rPr lang="en-AU" sz="1800" dirty="0" smtClean="0">
                <a:latin typeface="Helvetica" pitchFamily="34" charset="0"/>
                <a:cs typeface="Helvetica" pitchFamily="34" charset="0"/>
              </a:rPr>
              <a:t>There are many tools that could be developed and utilised to gather relevant evidence for the evaluation and these could include:</a:t>
            </a:r>
          </a:p>
          <a:p>
            <a:pPr>
              <a:spcBef>
                <a:spcPts val="400"/>
              </a:spcBef>
              <a:spcAft>
                <a:spcPts val="400"/>
              </a:spcAft>
            </a:pPr>
            <a:r>
              <a:rPr lang="en-AU" sz="1800" dirty="0" smtClean="0">
                <a:latin typeface="Helvetica" pitchFamily="34" charset="0"/>
                <a:cs typeface="Helvetica" pitchFamily="34" charset="0"/>
              </a:rPr>
              <a:t>Survey instruments such as questionnaires, diaries, logs, attitude scales, diagnostics</a:t>
            </a:r>
          </a:p>
          <a:p>
            <a:pPr>
              <a:spcBef>
                <a:spcPts val="400"/>
              </a:spcBef>
              <a:spcAft>
                <a:spcPts val="400"/>
              </a:spcAft>
            </a:pPr>
            <a:r>
              <a:rPr lang="en-AU" sz="1800" dirty="0" smtClean="0">
                <a:latin typeface="Helvetica" pitchFamily="34" charset="0"/>
                <a:cs typeface="Helvetica" pitchFamily="34" charset="0"/>
              </a:rPr>
              <a:t>Interview schedules and records</a:t>
            </a:r>
          </a:p>
          <a:p>
            <a:pPr>
              <a:spcBef>
                <a:spcPts val="400"/>
              </a:spcBef>
              <a:spcAft>
                <a:spcPts val="400"/>
              </a:spcAft>
            </a:pPr>
            <a:r>
              <a:rPr lang="en-AU" sz="1800" dirty="0" smtClean="0">
                <a:latin typeface="Helvetica" pitchFamily="34" charset="0"/>
                <a:cs typeface="Helvetica" pitchFamily="34" charset="0"/>
              </a:rPr>
              <a:t>Observation sheets and checklists</a:t>
            </a:r>
          </a:p>
          <a:p>
            <a:pPr>
              <a:spcBef>
                <a:spcPts val="400"/>
              </a:spcBef>
              <a:spcAft>
                <a:spcPts val="400"/>
              </a:spcAft>
            </a:pPr>
            <a:r>
              <a:rPr lang="en-AU" sz="1800" dirty="0" smtClean="0">
                <a:latin typeface="Helvetica" pitchFamily="34" charset="0"/>
                <a:cs typeface="Helvetica" pitchFamily="34" charset="0"/>
              </a:rPr>
              <a:t>Objective product analysis sheets</a:t>
            </a:r>
          </a:p>
          <a:p>
            <a:pPr>
              <a:spcBef>
                <a:spcPts val="400"/>
              </a:spcBef>
              <a:spcAft>
                <a:spcPts val="400"/>
              </a:spcAft>
            </a:pPr>
            <a:r>
              <a:rPr lang="en-AU" sz="1800" dirty="0" smtClean="0">
                <a:latin typeface="Helvetica" pitchFamily="34" charset="0"/>
                <a:cs typeface="Helvetica" pitchFamily="34" charset="0"/>
              </a:rPr>
              <a:t>Identified evidence such as:</a:t>
            </a:r>
          </a:p>
          <a:p>
            <a:pPr marL="850900" indent="-393700">
              <a:spcBef>
                <a:spcPts val="400"/>
              </a:spcBef>
              <a:spcAft>
                <a:spcPts val="400"/>
              </a:spcAft>
              <a:buFont typeface="Wingdings" pitchFamily="2" charset="2"/>
              <a:buChar char="§"/>
            </a:pPr>
            <a:r>
              <a:rPr lang="en-AU" sz="1800" dirty="0" smtClean="0">
                <a:latin typeface="Helvetica" pitchFamily="34" charset="0"/>
                <a:cs typeface="Helvetica" pitchFamily="34" charset="0"/>
              </a:rPr>
              <a:t>Affective evidence, i.e. satisfaction with the program</a:t>
            </a:r>
          </a:p>
          <a:p>
            <a:pPr marL="850900" indent="-393700">
              <a:spcBef>
                <a:spcPts val="400"/>
              </a:spcBef>
              <a:spcAft>
                <a:spcPts val="400"/>
              </a:spcAft>
              <a:buFont typeface="Wingdings" pitchFamily="2" charset="2"/>
              <a:buChar char="§"/>
            </a:pPr>
            <a:r>
              <a:rPr lang="en-AU" sz="1800" dirty="0" smtClean="0">
                <a:latin typeface="Helvetica" pitchFamily="34" charset="0"/>
                <a:cs typeface="Helvetica" pitchFamily="34" charset="0"/>
              </a:rPr>
              <a:t>Cognitive evidence, i.e. relating to knowledge and/or skills gained</a:t>
            </a:r>
          </a:p>
          <a:p>
            <a:pPr marL="850900" indent="-393700">
              <a:spcBef>
                <a:spcPts val="400"/>
              </a:spcBef>
              <a:spcAft>
                <a:spcPts val="400"/>
              </a:spcAft>
              <a:buFont typeface="Wingdings" pitchFamily="2" charset="2"/>
              <a:buChar char="§"/>
            </a:pPr>
            <a:r>
              <a:rPr lang="en-AU" sz="1800" dirty="0" smtClean="0">
                <a:latin typeface="Helvetica" pitchFamily="34" charset="0"/>
                <a:cs typeface="Helvetica" pitchFamily="34" charset="0"/>
              </a:rPr>
              <a:t>Performance or behaviour, i.e. relating to quality of work performed after training/assessment, productivity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803275" indent="-803275"/>
            <a:r>
              <a:rPr lang="en-US" sz="3100" b="1" dirty="0" smtClean="0">
                <a:solidFill>
                  <a:srgbClr val="FF6600"/>
                </a:solidFill>
                <a:latin typeface="Helvetica" pitchFamily="34" charset="0"/>
              </a:rPr>
              <a:t>2.	Undertake the evaluation of the assessment system</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cs typeface="Helvetica" pitchFamily="34" charset="0"/>
              </a:rPr>
              <a:t>Performance criteria for this element include:</a:t>
            </a:r>
          </a:p>
          <a:p>
            <a:pPr marL="568325" lvl="1" indent="-568325">
              <a:spcBef>
                <a:spcPts val="600"/>
              </a:spcBef>
              <a:spcAft>
                <a:spcPts val="1200"/>
              </a:spcAft>
              <a:buNone/>
            </a:pPr>
            <a:r>
              <a:rPr lang="en-AU" sz="2200" dirty="0" smtClean="0">
                <a:latin typeface="Helvetica" pitchFamily="34" charset="0"/>
                <a:cs typeface="Helvetica" pitchFamily="34" charset="0"/>
              </a:rPr>
              <a:t>2.1	Trial the data gathering tools and techniques</a:t>
            </a:r>
            <a:endParaRPr lang="en-US" sz="2200" dirty="0" smtClean="0">
              <a:latin typeface="Helvetica" pitchFamily="34" charset="0"/>
              <a:cs typeface="Helvetica" pitchFamily="34" charset="0"/>
            </a:endParaRPr>
          </a:p>
          <a:p>
            <a:pPr marL="568325" lvl="1" indent="-568325">
              <a:spcBef>
                <a:spcPts val="600"/>
              </a:spcBef>
              <a:spcAft>
                <a:spcPts val="1200"/>
              </a:spcAft>
              <a:buNone/>
            </a:pPr>
            <a:r>
              <a:rPr lang="en-AU" sz="2200" dirty="0" smtClean="0">
                <a:latin typeface="Helvetica" pitchFamily="34" charset="0"/>
                <a:cs typeface="Helvetica" pitchFamily="34" charset="0"/>
              </a:rPr>
              <a:t>2.2	Revise the data gathering tools and techniques on the basis of trials conducted</a:t>
            </a:r>
            <a:endParaRPr lang="en-US" sz="2200" dirty="0" smtClean="0">
              <a:latin typeface="Helvetica" pitchFamily="34" charset="0"/>
              <a:cs typeface="Helvetica" pitchFamily="34" charset="0"/>
            </a:endParaRPr>
          </a:p>
          <a:p>
            <a:pPr marL="568325" lvl="1" indent="-568325">
              <a:spcBef>
                <a:spcPts val="600"/>
              </a:spcBef>
              <a:spcAft>
                <a:spcPts val="1200"/>
              </a:spcAft>
              <a:buNone/>
            </a:pPr>
            <a:r>
              <a:rPr lang="en-AU" sz="2200" dirty="0" smtClean="0">
                <a:latin typeface="Helvetica" pitchFamily="34" charset="0"/>
                <a:cs typeface="Helvetica" pitchFamily="34" charset="0"/>
              </a:rPr>
              <a:t>2.3	Collect the identified evidence in accordance </a:t>
            </a:r>
            <a:br>
              <a:rPr lang="en-AU" sz="2200" dirty="0" smtClean="0">
                <a:latin typeface="Helvetica" pitchFamily="34" charset="0"/>
                <a:cs typeface="Helvetica" pitchFamily="34" charset="0"/>
              </a:rPr>
            </a:br>
            <a:r>
              <a:rPr lang="en-AU" sz="2200" dirty="0" smtClean="0">
                <a:latin typeface="Helvetica" pitchFamily="34" charset="0"/>
                <a:cs typeface="Helvetica" pitchFamily="34" charset="0"/>
              </a:rPr>
              <a:t>with the approved evaluation plan</a:t>
            </a:r>
            <a:endParaRPr lang="en-US" sz="2200" dirty="0" smtClean="0">
              <a:latin typeface="Helvetica" pitchFamily="34" charset="0"/>
              <a:cs typeface="Helvetica" pitchFamily="34" charset="0"/>
            </a:endParaRPr>
          </a:p>
          <a:p>
            <a:pPr marL="568325" lvl="1" indent="-568325">
              <a:spcBef>
                <a:spcPts val="600"/>
              </a:spcBef>
              <a:spcAft>
                <a:spcPts val="1200"/>
              </a:spcAft>
              <a:buNone/>
            </a:pPr>
            <a:r>
              <a:rPr lang="en-AU" sz="2200" dirty="0" smtClean="0">
                <a:latin typeface="Helvetica" pitchFamily="34" charset="0"/>
                <a:cs typeface="Helvetica" pitchFamily="34" charset="0"/>
              </a:rPr>
              <a:t>2.4	Store data</a:t>
            </a:r>
            <a:endParaRPr lang="en-US" sz="2200" dirty="0" smtClean="0">
              <a:latin typeface="Helvetica" pitchFamily="34" charset="0"/>
              <a:cs typeface="Helvetica" pitchFamily="34" charset="0"/>
            </a:endParaRPr>
          </a:p>
          <a:p>
            <a:pPr marL="568325" lvl="1" indent="-568325">
              <a:spcBef>
                <a:spcPts val="600"/>
              </a:spcBef>
              <a:spcAft>
                <a:spcPts val="1200"/>
              </a:spcAft>
              <a:buNone/>
            </a:pPr>
            <a:r>
              <a:rPr lang="en-AU" sz="2200" dirty="0" smtClean="0">
                <a:latin typeface="Helvetica" pitchFamily="34" charset="0"/>
                <a:cs typeface="Helvetica" pitchFamily="34" charset="0"/>
              </a:rPr>
              <a:t>2.5 	Analyse the data</a:t>
            </a:r>
            <a:endParaRPr lang="en-US" sz="2200" dirty="0" smtClean="0">
              <a:latin typeface="Helvetica" pitchFamily="34" charset="0"/>
              <a:cs typeface="Helvetica" pitchFamily="34" charset="0"/>
            </a:endParaRPr>
          </a:p>
          <a:p>
            <a:pPr marL="360000" indent="-360000">
              <a:spcBef>
                <a:spcPts val="600"/>
              </a:spcBef>
              <a:spcAft>
                <a:spcPts val="1200"/>
              </a:spcAft>
              <a:buNone/>
            </a:pPr>
            <a:endParaRPr lang="en-US" sz="2200" dirty="0" smtClean="0">
              <a:latin typeface="Helvetica" pitchFamily="34" charset="0"/>
              <a:cs typeface="Helvetica" pitchFamily="34" charset="0"/>
            </a:endParaRPr>
          </a:p>
          <a:p>
            <a:pPr marL="360000" indent="-360000">
              <a:spcBef>
                <a:spcPts val="600"/>
              </a:spcBef>
              <a:spcAft>
                <a:spcPts val="1200"/>
              </a:spcAft>
              <a:buNone/>
            </a:pPr>
            <a:endParaRPr lang="en-US"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descr="ring_binder.jpg"/>
          <p:cNvPicPr>
            <a:picLocks noChangeAspect="1"/>
          </p:cNvPicPr>
          <p:nvPr/>
        </p:nvPicPr>
        <p:blipFill>
          <a:blip r:embed="rId3" cstate="print"/>
          <a:stretch>
            <a:fillRect/>
          </a:stretch>
        </p:blipFill>
        <p:spPr>
          <a:xfrm>
            <a:off x="6553200" y="4114800"/>
            <a:ext cx="1866900" cy="1400175"/>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75240" cy="1143000"/>
          </a:xfrm>
        </p:spPr>
        <p:txBody>
          <a:bodyPr>
            <a:normAutofit/>
          </a:bodyPr>
          <a:lstStyle/>
          <a:p>
            <a:pPr marL="693738" indent="-693738"/>
            <a:r>
              <a:rPr lang="en-AU" sz="3100" b="1" smtClean="0">
                <a:solidFill>
                  <a:srgbClr val="FF6600"/>
                </a:solidFill>
                <a:latin typeface="Helvetica" pitchFamily="34" charset="0"/>
              </a:rPr>
              <a:t>2.1	Trial the data gathering tools and techniques</a:t>
            </a:r>
            <a:endParaRPr lang="en-AU" sz="3100" b="1">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44008"/>
          </a:xfrm>
        </p:spPr>
        <p:txBody>
          <a:bodyPr>
            <a:normAutofit/>
          </a:bodyPr>
          <a:lstStyle/>
          <a:p>
            <a:pPr marL="0" indent="0">
              <a:spcBef>
                <a:spcPts val="600"/>
              </a:spcBef>
              <a:spcAft>
                <a:spcPts val="600"/>
              </a:spcAft>
              <a:buNone/>
            </a:pPr>
            <a:r>
              <a:rPr lang="en-AU" sz="1800" smtClean="0">
                <a:latin typeface="Helvetica" pitchFamily="34" charset="0"/>
                <a:cs typeface="Helvetica" pitchFamily="34" charset="0"/>
              </a:rPr>
              <a:t>After gathering some sample results from different aspects of the evaluation, it is necessary to ask some questions that relate to the data, such as: </a:t>
            </a:r>
          </a:p>
          <a:p>
            <a:pPr>
              <a:spcBef>
                <a:spcPts val="600"/>
              </a:spcBef>
              <a:spcAft>
                <a:spcPts val="600"/>
              </a:spcAft>
            </a:pPr>
            <a:r>
              <a:rPr lang="en-AU" sz="1800" smtClean="0">
                <a:latin typeface="Helvetica" pitchFamily="34" charset="0"/>
                <a:cs typeface="Helvetica" pitchFamily="34" charset="0"/>
              </a:rPr>
              <a:t>Was the process easy to implement?</a:t>
            </a:r>
          </a:p>
          <a:p>
            <a:pPr>
              <a:spcBef>
                <a:spcPts val="600"/>
              </a:spcBef>
              <a:spcAft>
                <a:spcPts val="600"/>
              </a:spcAft>
            </a:pPr>
            <a:r>
              <a:rPr lang="en-AU" sz="1800" smtClean="0">
                <a:latin typeface="Helvetica" pitchFamily="34" charset="0"/>
                <a:cs typeface="Helvetica" pitchFamily="34" charset="0"/>
              </a:rPr>
              <a:t>Did all participants understand what they had to do?</a:t>
            </a:r>
          </a:p>
          <a:p>
            <a:pPr>
              <a:spcBef>
                <a:spcPts val="600"/>
              </a:spcBef>
              <a:spcAft>
                <a:spcPts val="600"/>
              </a:spcAft>
            </a:pPr>
            <a:r>
              <a:rPr lang="en-AU" sz="1800" smtClean="0">
                <a:latin typeface="Helvetica" pitchFamily="34" charset="0"/>
                <a:cs typeface="Helvetica" pitchFamily="34" charset="0"/>
              </a:rPr>
              <a:t>Is the data relevant to the evaluation questions and purpose?</a:t>
            </a:r>
          </a:p>
          <a:p>
            <a:pPr>
              <a:spcBef>
                <a:spcPts val="600"/>
              </a:spcBef>
              <a:spcAft>
                <a:spcPts val="600"/>
              </a:spcAft>
            </a:pPr>
            <a:r>
              <a:rPr lang="en-AU" sz="1800" smtClean="0">
                <a:latin typeface="Helvetica" pitchFamily="34" charset="0"/>
                <a:cs typeface="Helvetica" pitchFamily="34" charset="0"/>
              </a:rPr>
              <a:t>Were the techniques cost effective?</a:t>
            </a:r>
          </a:p>
          <a:p>
            <a:pPr>
              <a:spcBef>
                <a:spcPts val="600"/>
              </a:spcBef>
              <a:spcAft>
                <a:spcPts val="600"/>
              </a:spcAft>
            </a:pPr>
            <a:r>
              <a:rPr lang="en-AU" sz="1800" smtClean="0">
                <a:latin typeface="Helvetica" pitchFamily="34" charset="0"/>
                <a:cs typeface="Helvetica" pitchFamily="34" charset="0"/>
              </a:rPr>
              <a:t>Are there enough people available to conduct the evaluation?</a:t>
            </a:r>
          </a:p>
          <a:p>
            <a:pPr>
              <a:spcBef>
                <a:spcPts val="600"/>
              </a:spcBef>
              <a:spcAft>
                <a:spcPts val="600"/>
              </a:spcAft>
            </a:pPr>
            <a:r>
              <a:rPr lang="en-AU" sz="1800" smtClean="0">
                <a:latin typeface="Helvetica" pitchFamily="34" charset="0"/>
                <a:cs typeface="Helvetica" pitchFamily="34" charset="0"/>
              </a:rPr>
              <a:t>What issues need to be rectified?</a:t>
            </a:r>
          </a:p>
          <a:p>
            <a:pPr>
              <a:spcBef>
                <a:spcPts val="600"/>
              </a:spcBef>
              <a:spcAft>
                <a:spcPts val="600"/>
              </a:spcAft>
            </a:pPr>
            <a:r>
              <a:rPr lang="en-AU" sz="1800" smtClean="0">
                <a:latin typeface="Helvetica" pitchFamily="34" charset="0"/>
                <a:cs typeface="Helvetica" pitchFamily="34" charset="0"/>
              </a:rPr>
              <a:t>Is the reporting mechanism effective?</a:t>
            </a:r>
          </a:p>
          <a:p>
            <a:pPr>
              <a:spcBef>
                <a:spcPts val="600"/>
              </a:spcBef>
              <a:spcAft>
                <a:spcPts val="600"/>
              </a:spcAft>
            </a:pPr>
            <a:r>
              <a:rPr lang="en-AU" sz="1800" smtClean="0">
                <a:latin typeface="Helvetica" pitchFamily="34" charset="0"/>
                <a:cs typeface="Helvetica" pitchFamily="34" charset="0"/>
              </a:rPr>
              <a:t>Can the data be easily stored and retrieved?</a:t>
            </a:r>
          </a:p>
          <a:p>
            <a:pPr marL="0" indent="0">
              <a:spcBef>
                <a:spcPts val="600"/>
              </a:spcBef>
              <a:spcAft>
                <a:spcPts val="600"/>
              </a:spcAft>
              <a:buNone/>
            </a:pPr>
            <a:endParaRPr lang="en-AU" sz="1800" smtClean="0">
              <a:latin typeface="Helvetica" pitchFamily="34" charset="0"/>
              <a:cs typeface="Helvetica" pitchFamily="34" charset="0"/>
            </a:endParaRPr>
          </a:p>
          <a:p>
            <a:pPr marL="360000" indent="-360000">
              <a:spcBef>
                <a:spcPts val="600"/>
              </a:spcBef>
              <a:spcAft>
                <a:spcPts val="600"/>
              </a:spcAft>
              <a:buNone/>
            </a:pPr>
            <a:endParaRPr lang="en-AU" sz="180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75240" cy="1143000"/>
          </a:xfrm>
        </p:spPr>
        <p:txBody>
          <a:bodyPr>
            <a:noAutofit/>
          </a:bodyPr>
          <a:lstStyle/>
          <a:p>
            <a:pPr marL="693738" indent="-693738"/>
            <a:r>
              <a:rPr lang="en-US" sz="2900" b="1" dirty="0" smtClean="0">
                <a:solidFill>
                  <a:srgbClr val="FF6600"/>
                </a:solidFill>
                <a:latin typeface="Helvetica" pitchFamily="34" charset="0"/>
              </a:rPr>
              <a:t>2.2	Revise the data gathering tools and techniques on the basis of trials conducted </a:t>
            </a:r>
            <a:endParaRPr lang="en-US" sz="2900" b="1" dirty="0">
              <a:solidFill>
                <a:srgbClr val="FF6600"/>
              </a:solidFill>
              <a:latin typeface="Helvetica" pitchFamily="34" charset="0"/>
            </a:endParaRPr>
          </a:p>
        </p:txBody>
      </p:sp>
      <p:sp>
        <p:nvSpPr>
          <p:cNvPr id="3" name="Content Placeholder 2"/>
          <p:cNvSpPr>
            <a:spLocks noGrp="1"/>
          </p:cNvSpPr>
          <p:nvPr>
            <p:ph idx="1"/>
          </p:nvPr>
        </p:nvSpPr>
        <p:spPr>
          <a:xfrm>
            <a:off x="611560" y="1722437"/>
            <a:ext cx="7467600" cy="4906963"/>
          </a:xfrm>
        </p:spPr>
        <p:txBody>
          <a:bodyPr>
            <a:normAutofit/>
          </a:bodyPr>
          <a:lstStyle/>
          <a:p>
            <a:pPr marL="0" indent="0">
              <a:spcBef>
                <a:spcPts val="600"/>
              </a:spcBef>
              <a:spcAft>
                <a:spcPts val="600"/>
              </a:spcAft>
              <a:buNone/>
            </a:pPr>
            <a:r>
              <a:rPr lang="en-AU" sz="2200" dirty="0" smtClean="0">
                <a:latin typeface="Helvetica" pitchFamily="34" charset="0"/>
                <a:cs typeface="Helvetica" pitchFamily="34" charset="0"/>
              </a:rPr>
              <a:t>Some issues that may arise from the pilot process could include:</a:t>
            </a:r>
            <a:endParaRPr lang="en-US" sz="2200" dirty="0" smtClean="0">
              <a:latin typeface="Helvetica" pitchFamily="34" charset="0"/>
              <a:cs typeface="Helvetica" pitchFamily="34" charset="0"/>
            </a:endParaRPr>
          </a:p>
          <a:p>
            <a:pPr>
              <a:spcBef>
                <a:spcPts val="600"/>
              </a:spcBef>
              <a:spcAft>
                <a:spcPts val="600"/>
              </a:spcAft>
            </a:pPr>
            <a:r>
              <a:rPr lang="en-AU" sz="2200" dirty="0" smtClean="0">
                <a:latin typeface="Helvetica" pitchFamily="34" charset="0"/>
                <a:cs typeface="Helvetica" pitchFamily="34" charset="0"/>
              </a:rPr>
              <a:t>Challenges in gathering the data: time, location, cost, compiling the data, not enough human resources, not enough data records available</a:t>
            </a:r>
            <a:endParaRPr lang="en-US" sz="2200" dirty="0" smtClean="0">
              <a:latin typeface="Helvetica" pitchFamily="34" charset="0"/>
              <a:cs typeface="Helvetica" pitchFamily="34" charset="0"/>
            </a:endParaRPr>
          </a:p>
          <a:p>
            <a:pPr>
              <a:spcBef>
                <a:spcPts val="600"/>
              </a:spcBef>
              <a:spcAft>
                <a:spcPts val="600"/>
              </a:spcAft>
            </a:pPr>
            <a:r>
              <a:rPr lang="en-AU" sz="2200" dirty="0" smtClean="0">
                <a:latin typeface="Helvetica" pitchFamily="34" charset="0"/>
                <a:cs typeface="Helvetica" pitchFamily="34" charset="0"/>
              </a:rPr>
              <a:t>Issues with the content: questionnaire questions, survey questions, too many questions or not enough, language challenges for understanding questions </a:t>
            </a:r>
            <a:endParaRPr lang="en-US" sz="2200" dirty="0" smtClean="0">
              <a:latin typeface="Helvetica" pitchFamily="34" charset="0"/>
              <a:cs typeface="Helvetica" pitchFamily="34" charset="0"/>
            </a:endParaRPr>
          </a:p>
          <a:p>
            <a:pPr>
              <a:spcBef>
                <a:spcPts val="600"/>
              </a:spcBef>
              <a:spcAft>
                <a:spcPts val="600"/>
              </a:spcAft>
            </a:pPr>
            <a:r>
              <a:rPr lang="en-AU" sz="2200" dirty="0" smtClean="0">
                <a:latin typeface="Helvetica" pitchFamily="34" charset="0"/>
                <a:cs typeface="Helvetica" pitchFamily="34" charset="0"/>
              </a:rPr>
              <a:t>Data doesn’t reflect evaluation questions or purpose</a:t>
            </a:r>
            <a:endParaRPr lang="en-US" sz="2200" dirty="0" smtClean="0">
              <a:latin typeface="Helvetica" pitchFamily="34" charset="0"/>
              <a:cs typeface="Helvetica" pitchFamily="34" charset="0"/>
            </a:endParaRPr>
          </a:p>
          <a:p>
            <a:pPr marL="0" indent="0">
              <a:spcBef>
                <a:spcPts val="600"/>
              </a:spcBef>
              <a:spcAft>
                <a:spcPts val="600"/>
              </a:spcAft>
              <a:buNone/>
            </a:pPr>
            <a:endParaRPr lang="en-US"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343744"/>
          </a:xfrm>
        </p:spPr>
        <p:txBody>
          <a:bodyPr>
            <a:noAutofit/>
          </a:bodyPr>
          <a:lstStyle/>
          <a:p>
            <a:pPr marL="741363" indent="-741363"/>
            <a:r>
              <a:rPr lang="en-US" sz="2900" b="1" dirty="0" smtClean="0">
                <a:solidFill>
                  <a:srgbClr val="FF6600"/>
                </a:solidFill>
                <a:latin typeface="Helvetica" pitchFamily="34" charset="0"/>
              </a:rPr>
              <a:t>2.3	Collect the identified evidence in accordance with the approved evaluation plan</a:t>
            </a:r>
            <a:endParaRPr lang="en-US" sz="29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10" name="irc_mi" descr="http://4.bp.blogspot.com/-lKzmP-0TnyM/ToxkIvyHSMI/AAAAAAAAAA4/vsNYoS_cIRk/s1600/gantt1.gif"/>
          <p:cNvPicPr/>
          <p:nvPr/>
        </p:nvPicPr>
        <p:blipFill>
          <a:blip r:embed="rId3" cstate="print"/>
          <a:srcRect/>
          <a:stretch>
            <a:fillRect/>
          </a:stretch>
        </p:blipFill>
        <p:spPr bwMode="auto">
          <a:xfrm>
            <a:off x="1295400" y="1905000"/>
            <a:ext cx="6477000" cy="4267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51440" cy="1143000"/>
          </a:xfrm>
        </p:spPr>
        <p:txBody>
          <a:bodyPr>
            <a:noAutofit/>
          </a:bodyPr>
          <a:lstStyle/>
          <a:p>
            <a:pPr marL="693738" indent="-693738"/>
            <a:r>
              <a:rPr lang="en-AU" sz="2900" b="1" dirty="0" smtClean="0">
                <a:solidFill>
                  <a:srgbClr val="FF6600"/>
                </a:solidFill>
                <a:latin typeface="Helvetica" pitchFamily="34" charset="0"/>
              </a:rPr>
              <a:t>2.3	Collect the identified evidence in accordance with the approved evaluation plan </a:t>
            </a:r>
            <a:endParaRPr lang="en-AU" sz="2900" b="1" dirty="0">
              <a:solidFill>
                <a:srgbClr val="FF6600"/>
              </a:solidFill>
              <a:latin typeface="Helvetica" pitchFamily="34" charset="0"/>
            </a:endParaRPr>
          </a:p>
        </p:txBody>
      </p:sp>
      <p:sp>
        <p:nvSpPr>
          <p:cNvPr id="3" name="Content Placeholder 2"/>
          <p:cNvSpPr>
            <a:spLocks noGrp="1"/>
          </p:cNvSpPr>
          <p:nvPr>
            <p:ph idx="1"/>
          </p:nvPr>
        </p:nvSpPr>
        <p:spPr>
          <a:xfrm>
            <a:off x="611560" y="1709192"/>
            <a:ext cx="7467600" cy="4996408"/>
          </a:xfrm>
        </p:spPr>
        <p:txBody>
          <a:bodyPr>
            <a:normAutofit/>
          </a:bodyPr>
          <a:lstStyle/>
          <a:p>
            <a:pPr marL="0" indent="0">
              <a:spcBef>
                <a:spcPts val="400"/>
              </a:spcBef>
              <a:spcAft>
                <a:spcPts val="400"/>
              </a:spcAft>
              <a:buNone/>
            </a:pPr>
            <a:r>
              <a:rPr lang="en-AU" sz="1900" dirty="0" smtClean="0">
                <a:latin typeface="Helvetica" pitchFamily="34" charset="0"/>
                <a:cs typeface="Helvetica" pitchFamily="34" charset="0"/>
              </a:rPr>
              <a:t>When collecting the identified evidence it is important to:</a:t>
            </a:r>
            <a:endParaRPr lang="en-AU" sz="1900" b="1" dirty="0" smtClean="0">
              <a:latin typeface="Helvetica" pitchFamily="34" charset="0"/>
              <a:cs typeface="Helvetica" pitchFamily="34" charset="0"/>
            </a:endParaRPr>
          </a:p>
          <a:p>
            <a:pPr>
              <a:spcBef>
                <a:spcPts val="400"/>
              </a:spcBef>
              <a:spcAft>
                <a:spcPts val="400"/>
              </a:spcAft>
            </a:pPr>
            <a:r>
              <a:rPr lang="en-AU" sz="1900" dirty="0" smtClean="0">
                <a:latin typeface="Helvetica" pitchFamily="34" charset="0"/>
                <a:cs typeface="Helvetica" pitchFamily="34" charset="0"/>
              </a:rPr>
              <a:t>Use the data gathering tools and techniques as planned</a:t>
            </a:r>
          </a:p>
          <a:p>
            <a:pPr>
              <a:spcBef>
                <a:spcPts val="400"/>
              </a:spcBef>
              <a:spcAft>
                <a:spcPts val="400"/>
              </a:spcAft>
            </a:pPr>
            <a:r>
              <a:rPr lang="en-AU" sz="1900" dirty="0" smtClean="0">
                <a:latin typeface="Helvetica" pitchFamily="34" charset="0"/>
                <a:cs typeface="Helvetica" pitchFamily="34" charset="0"/>
              </a:rPr>
              <a:t>Make sure the evidence is sufficient</a:t>
            </a:r>
          </a:p>
          <a:p>
            <a:pPr>
              <a:spcBef>
                <a:spcPts val="400"/>
              </a:spcBef>
              <a:spcAft>
                <a:spcPts val="400"/>
              </a:spcAft>
            </a:pPr>
            <a:r>
              <a:rPr lang="en-AU" sz="1900" dirty="0" smtClean="0">
                <a:latin typeface="Helvetica" pitchFamily="34" charset="0"/>
                <a:cs typeface="Helvetica" pitchFamily="34" charset="0"/>
              </a:rPr>
              <a:t>Ensure privacy and confidentiality</a:t>
            </a:r>
          </a:p>
          <a:p>
            <a:pPr>
              <a:spcBef>
                <a:spcPts val="400"/>
              </a:spcBef>
              <a:spcAft>
                <a:spcPts val="400"/>
              </a:spcAft>
            </a:pPr>
            <a:r>
              <a:rPr lang="en-AU" sz="1900" dirty="0" smtClean="0">
                <a:latin typeface="Helvetica" pitchFamily="34" charset="0"/>
                <a:cs typeface="Helvetica" pitchFamily="34" charset="0"/>
              </a:rPr>
              <a:t>Check the accuracy of the data</a:t>
            </a:r>
          </a:p>
          <a:p>
            <a:pPr>
              <a:spcBef>
                <a:spcPts val="400"/>
              </a:spcBef>
              <a:spcAft>
                <a:spcPts val="400"/>
              </a:spcAft>
            </a:pPr>
            <a:r>
              <a:rPr lang="en-AU" sz="1900" dirty="0" smtClean="0">
                <a:latin typeface="Helvetica" pitchFamily="34" charset="0"/>
                <a:cs typeface="Helvetica" pitchFamily="34" charset="0"/>
              </a:rPr>
              <a:t>Allow for changes in data collection if there is not </a:t>
            </a:r>
            <a:br>
              <a:rPr lang="en-AU" sz="1900" dirty="0" smtClean="0">
                <a:latin typeface="Helvetica" pitchFamily="34" charset="0"/>
                <a:cs typeface="Helvetica" pitchFamily="34" charset="0"/>
              </a:rPr>
            </a:br>
            <a:r>
              <a:rPr lang="en-AU" sz="1900" dirty="0" smtClean="0">
                <a:latin typeface="Helvetica" pitchFamily="34" charset="0"/>
                <a:cs typeface="Helvetica" pitchFamily="34" charset="0"/>
              </a:rPr>
              <a:t>enough or inappropriate data gathered</a:t>
            </a:r>
          </a:p>
          <a:p>
            <a:pPr>
              <a:spcBef>
                <a:spcPts val="400"/>
              </a:spcBef>
              <a:spcAft>
                <a:spcPts val="400"/>
              </a:spcAft>
            </a:pPr>
            <a:r>
              <a:rPr lang="en-AU" sz="1900" dirty="0" smtClean="0">
                <a:latin typeface="Helvetica" pitchFamily="34" charset="0"/>
                <a:cs typeface="Helvetica" pitchFamily="34" charset="0"/>
              </a:rPr>
              <a:t>Communicate with stakeholders</a:t>
            </a:r>
          </a:p>
          <a:p>
            <a:pPr>
              <a:spcBef>
                <a:spcPts val="400"/>
              </a:spcBef>
              <a:spcAft>
                <a:spcPts val="400"/>
              </a:spcAft>
            </a:pPr>
            <a:r>
              <a:rPr lang="en-AU" sz="1900" dirty="0" smtClean="0">
                <a:latin typeface="Helvetica" pitchFamily="34" charset="0"/>
                <a:cs typeface="Helvetica" pitchFamily="34" charset="0"/>
              </a:rPr>
              <a:t>Ignore irrelevant data</a:t>
            </a:r>
          </a:p>
          <a:p>
            <a:pPr>
              <a:spcBef>
                <a:spcPts val="400"/>
              </a:spcBef>
              <a:spcAft>
                <a:spcPts val="400"/>
              </a:spcAft>
            </a:pPr>
            <a:r>
              <a:rPr lang="en-AU" sz="1900" dirty="0" smtClean="0">
                <a:latin typeface="Helvetica" pitchFamily="34" charset="0"/>
                <a:cs typeface="Helvetica" pitchFamily="34" charset="0"/>
              </a:rPr>
              <a:t>Follow-up on relevant issues that are identified as part of the evaluation process</a:t>
            </a:r>
          </a:p>
          <a:p>
            <a:pPr>
              <a:spcBef>
                <a:spcPts val="400"/>
              </a:spcBef>
              <a:spcAft>
                <a:spcPts val="400"/>
              </a:spcAft>
            </a:pPr>
            <a:r>
              <a:rPr lang="en-AU" sz="1900" dirty="0" smtClean="0">
                <a:latin typeface="Helvetica" pitchFamily="34" charset="0"/>
                <a:cs typeface="Helvetica" pitchFamily="34" charset="0"/>
              </a:rPr>
              <a:t>Make sure that all relevant data is gathered</a:t>
            </a:r>
          </a:p>
          <a:p>
            <a:pPr marL="360000" indent="-360000">
              <a:spcBef>
                <a:spcPts val="400"/>
              </a:spcBef>
              <a:spcAft>
                <a:spcPts val="400"/>
              </a:spcAft>
              <a:buNone/>
            </a:pPr>
            <a:endParaRPr lang="en-AU" sz="1900" dirty="0" smtClean="0">
              <a:latin typeface="Helvetica" pitchFamily="34" charset="0"/>
              <a:cs typeface="Helvetica" pitchFamily="34" charset="0"/>
            </a:endParaRPr>
          </a:p>
          <a:p>
            <a:pPr marL="360000" indent="-360000">
              <a:spcBef>
                <a:spcPts val="400"/>
              </a:spcBef>
              <a:spcAft>
                <a:spcPts val="400"/>
              </a:spcAft>
              <a:buNone/>
            </a:pPr>
            <a:endParaRPr lang="en-AU" sz="19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descr="C:\Users\Quentin\AppData\Local\Microsoft\Windows\Temporary Internet Files\Content.IE5\I03PMSPE\MC900286957[1].wmf"/>
          <p:cNvPicPr/>
          <p:nvPr/>
        </p:nvPicPr>
        <p:blipFill>
          <a:blip r:embed="rId3" cstate="print"/>
          <a:srcRect/>
          <a:stretch>
            <a:fillRect/>
          </a:stretch>
        </p:blipFill>
        <p:spPr bwMode="auto">
          <a:xfrm>
            <a:off x="6705600" y="3352800"/>
            <a:ext cx="1590675" cy="13906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803275" indent="-803275"/>
            <a:r>
              <a:rPr lang="en-US" sz="3100" b="1" dirty="0" smtClean="0">
                <a:solidFill>
                  <a:srgbClr val="FF6600"/>
                </a:solidFill>
                <a:latin typeface="Helvetica" pitchFamily="34" charset="0"/>
              </a:rPr>
              <a:t>2.4	Store data</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6" name="Picture 5" descr="C:\Users\Quentin\AppData\Local\Microsoft\Windows\Temporary Internet Files\Content.IE5\UC782H00\MP900399127[1].jpg"/>
          <p:cNvPicPr/>
          <p:nvPr/>
        </p:nvPicPr>
        <p:blipFill>
          <a:blip r:embed="rId3" cstate="print"/>
          <a:srcRect/>
          <a:stretch>
            <a:fillRect/>
          </a:stretch>
        </p:blipFill>
        <p:spPr bwMode="auto">
          <a:xfrm>
            <a:off x="1428750" y="1557338"/>
            <a:ext cx="3448050" cy="38528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100" b="1" smtClean="0">
                <a:solidFill>
                  <a:srgbClr val="FF6600"/>
                </a:solidFill>
                <a:latin typeface="Helvetica" pitchFamily="34" charset="0"/>
              </a:rPr>
              <a:t>2.5	Analyse the data</a:t>
            </a:r>
            <a:endParaRPr lang="en-AU" sz="3100" b="1">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6" name="Content Placeholder 5" descr="C:\Users\Quentin\AppData\Local\Microsoft\Windows\Temporary Internet Files\Content.IE5\I03PMSPE\MC900078753[1].wmf"/>
          <p:cNvPicPr>
            <a:picLocks noGrp="1"/>
          </p:cNvPicPr>
          <p:nvPr>
            <p:ph idx="1"/>
          </p:nvPr>
        </p:nvPicPr>
        <p:blipFill>
          <a:blip r:embed="rId3" cstate="print"/>
          <a:srcRect/>
          <a:stretch>
            <a:fillRect/>
          </a:stretch>
        </p:blipFill>
        <p:spPr bwMode="auto">
          <a:xfrm>
            <a:off x="1600200" y="1905000"/>
            <a:ext cx="3187700" cy="350123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AU" sz="3100" b="1" smtClean="0">
                <a:solidFill>
                  <a:srgbClr val="FF6600"/>
                </a:solidFill>
                <a:latin typeface="Helvetica" pitchFamily="34" charset="0"/>
              </a:rPr>
              <a:t>2.5	Analyse the data cont’d</a:t>
            </a:r>
            <a:endParaRPr lang="en-AU" sz="3100" b="1">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graphicFrame>
        <p:nvGraphicFramePr>
          <p:cNvPr id="7" name="Table 6"/>
          <p:cNvGraphicFramePr>
            <a:graphicFrameLocks noGrp="1"/>
          </p:cNvGraphicFramePr>
          <p:nvPr/>
        </p:nvGraphicFramePr>
        <p:xfrm>
          <a:off x="609600" y="1371600"/>
          <a:ext cx="7543800" cy="3710651"/>
        </p:xfrm>
        <a:graphic>
          <a:graphicData uri="http://schemas.openxmlformats.org/drawingml/2006/table">
            <a:tbl>
              <a:tblPr/>
              <a:tblGrid>
                <a:gridCol w="938250"/>
                <a:gridCol w="588821"/>
                <a:gridCol w="815615"/>
                <a:gridCol w="975209"/>
                <a:gridCol w="900451"/>
                <a:gridCol w="975209"/>
                <a:gridCol w="826534"/>
                <a:gridCol w="725737"/>
                <a:gridCol w="797974"/>
              </a:tblGrid>
              <a:tr h="533400">
                <a:tc gridSpan="9">
                  <a:txBody>
                    <a:bodyPr/>
                    <a:lstStyle/>
                    <a:p>
                      <a:pPr marL="0" marR="0">
                        <a:spcBef>
                          <a:spcPts val="400"/>
                        </a:spcBef>
                        <a:spcAft>
                          <a:spcPts val="800"/>
                        </a:spcAft>
                      </a:pPr>
                      <a:r>
                        <a:rPr lang="en-AU" sz="1200" b="1" dirty="0">
                          <a:solidFill>
                            <a:srgbClr val="FFFFFF"/>
                          </a:solidFill>
                          <a:latin typeface="Helvetica" pitchFamily="34" charset="0"/>
                          <a:ea typeface="Calibri"/>
                          <a:cs typeface="Helvetica" pitchFamily="34" charset="0"/>
                        </a:rPr>
                        <a:t>Question: </a:t>
                      </a:r>
                      <a:r>
                        <a:rPr lang="en-AU" sz="1200" b="1" i="1" dirty="0">
                          <a:solidFill>
                            <a:srgbClr val="FFFFFF"/>
                          </a:solidFill>
                          <a:latin typeface="Helvetica" pitchFamily="34" charset="0"/>
                          <a:ea typeface="Calibri"/>
                          <a:cs typeface="Helvetica" pitchFamily="34" charset="0"/>
                        </a:rPr>
                        <a:t>Please indicate your level of agreement with this </a:t>
                      </a:r>
                      <a:r>
                        <a:rPr lang="en-AU" sz="1200" b="1" i="1" dirty="0" smtClean="0">
                          <a:solidFill>
                            <a:srgbClr val="FFFFFF"/>
                          </a:solidFill>
                          <a:latin typeface="Helvetica" pitchFamily="34" charset="0"/>
                          <a:ea typeface="Calibri"/>
                          <a:cs typeface="Helvetica" pitchFamily="34" charset="0"/>
                        </a:rPr>
                        <a:t>statement.</a:t>
                      </a:r>
                    </a:p>
                    <a:p>
                      <a:pPr marL="0" marR="0">
                        <a:spcBef>
                          <a:spcPts val="400"/>
                        </a:spcBef>
                        <a:spcAft>
                          <a:spcPts val="800"/>
                        </a:spcAft>
                      </a:pPr>
                      <a:r>
                        <a:rPr lang="en-AU" sz="1200" b="1" dirty="0" smtClean="0">
                          <a:solidFill>
                            <a:srgbClr val="FFFFFF"/>
                          </a:solidFill>
                          <a:latin typeface="Helvetica" pitchFamily="34" charset="0"/>
                          <a:ea typeface="Calibri"/>
                          <a:cs typeface="Helvetica" pitchFamily="34" charset="0"/>
                        </a:rPr>
                        <a:t>I </a:t>
                      </a:r>
                      <a:r>
                        <a:rPr lang="en-AU" sz="1200" b="1" dirty="0">
                          <a:solidFill>
                            <a:srgbClr val="FFFFFF"/>
                          </a:solidFill>
                          <a:latin typeface="Helvetica" pitchFamily="34" charset="0"/>
                          <a:ea typeface="Calibri"/>
                          <a:cs typeface="Helvetica" pitchFamily="34" charset="0"/>
                        </a:rPr>
                        <a:t>know where to submit and store assessment records and materials.</a:t>
                      </a:r>
                      <a:endParaRPr lang="en-US" sz="1200" b="1" dirty="0">
                        <a:latin typeface="Helvetica" pitchFamily="34" charset="0"/>
                        <a:ea typeface="Calibri"/>
                        <a:cs typeface="Helvetica" pitchFamily="34" charset="0"/>
                      </a:endParaRPr>
                    </a:p>
                  </a:txBody>
                  <a:tcPr marL="68580" marR="685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D1B1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584391">
                <a:tc gridSpan="2">
                  <a:txBody>
                    <a:bodyPr/>
                    <a:lstStyle/>
                    <a:p>
                      <a:pPr marL="0" marR="0">
                        <a:spcBef>
                          <a:spcPts val="400"/>
                        </a:spcBef>
                        <a:spcAft>
                          <a:spcPts val="800"/>
                        </a:spcAft>
                      </a:pPr>
                      <a:r>
                        <a:rPr lang="en-AU" sz="1200" dirty="0">
                          <a:latin typeface="Helvetica" pitchFamily="34" charset="0"/>
                          <a:ea typeface="Calibri"/>
                          <a:cs typeface="Helvetica" pitchFamily="34" charset="0"/>
                        </a:rPr>
                        <a:t>Response</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a:txBody>
                    <a:bodyPr/>
                    <a:lstStyle/>
                    <a:p>
                      <a:pPr marL="0" marR="0">
                        <a:spcBef>
                          <a:spcPts val="400"/>
                        </a:spcBef>
                        <a:spcAft>
                          <a:spcPts val="800"/>
                        </a:spcAft>
                      </a:pPr>
                      <a:r>
                        <a:rPr lang="en-AU" sz="1200" dirty="0">
                          <a:latin typeface="Helvetica" pitchFamily="34" charset="0"/>
                          <a:ea typeface="Calibri"/>
                          <a:cs typeface="Helvetica" pitchFamily="34" charset="0"/>
                        </a:rPr>
                        <a:t>Strongly </a:t>
                      </a:r>
                      <a:br>
                        <a:rPr lang="en-AU" sz="1200" dirty="0">
                          <a:latin typeface="Helvetica" pitchFamily="34" charset="0"/>
                          <a:ea typeface="Calibri"/>
                          <a:cs typeface="Helvetica" pitchFamily="34" charset="0"/>
                        </a:rPr>
                      </a:br>
                      <a:r>
                        <a:rPr lang="en-AU" sz="1200" dirty="0">
                          <a:latin typeface="Helvetica" pitchFamily="34" charset="0"/>
                          <a:ea typeface="Calibri"/>
                          <a:cs typeface="Helvetica" pitchFamily="34" charset="0"/>
                        </a:rPr>
                        <a:t>agree</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Somewhat </a:t>
                      </a:r>
                      <a:br>
                        <a:rPr lang="en-AU" sz="1200" dirty="0">
                          <a:latin typeface="Helvetica" pitchFamily="34" charset="0"/>
                          <a:ea typeface="Calibri"/>
                          <a:cs typeface="Helvetica" pitchFamily="34" charset="0"/>
                        </a:rPr>
                      </a:br>
                      <a:r>
                        <a:rPr lang="en-AU" sz="1200" dirty="0">
                          <a:latin typeface="Helvetica" pitchFamily="34" charset="0"/>
                          <a:ea typeface="Calibri"/>
                          <a:cs typeface="Helvetica" pitchFamily="34" charset="0"/>
                        </a:rPr>
                        <a:t>agree</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Uncertain</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Somewhat</a:t>
                      </a:r>
                      <a:br>
                        <a:rPr lang="en-AU" sz="1200" dirty="0">
                          <a:latin typeface="Helvetica" pitchFamily="34" charset="0"/>
                          <a:ea typeface="Calibri"/>
                          <a:cs typeface="Helvetica" pitchFamily="34" charset="0"/>
                        </a:rPr>
                      </a:br>
                      <a:r>
                        <a:rPr lang="en-AU" sz="1200" dirty="0">
                          <a:latin typeface="Helvetica" pitchFamily="34" charset="0"/>
                          <a:ea typeface="Calibri"/>
                          <a:cs typeface="Helvetica" pitchFamily="34" charset="0"/>
                        </a:rPr>
                        <a:t>disagree</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Strongly</a:t>
                      </a:r>
                      <a:br>
                        <a:rPr lang="en-AU" sz="1200" dirty="0">
                          <a:latin typeface="Helvetica" pitchFamily="34" charset="0"/>
                          <a:ea typeface="Calibri"/>
                          <a:cs typeface="Helvetica" pitchFamily="34" charset="0"/>
                        </a:rPr>
                      </a:br>
                      <a:r>
                        <a:rPr lang="en-AU" sz="1200" dirty="0">
                          <a:latin typeface="Helvetica" pitchFamily="34" charset="0"/>
                          <a:ea typeface="Calibri"/>
                          <a:cs typeface="Helvetica" pitchFamily="34" charset="0"/>
                        </a:rPr>
                        <a:t>disagree</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Total</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Missing</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2195">
                <a:tc gridSpan="2">
                  <a:txBody>
                    <a:bodyPr/>
                    <a:lstStyle/>
                    <a:p>
                      <a:pPr marL="0" marR="0">
                        <a:spcBef>
                          <a:spcPts val="400"/>
                        </a:spcBef>
                        <a:spcAft>
                          <a:spcPts val="800"/>
                        </a:spcAft>
                      </a:pPr>
                      <a:r>
                        <a:rPr lang="en-AU" sz="1200" dirty="0">
                          <a:latin typeface="Helvetica" pitchFamily="34" charset="0"/>
                          <a:ea typeface="Calibri"/>
                          <a:cs typeface="Helvetica" pitchFamily="34" charset="0"/>
                        </a:rPr>
                        <a:t>Response value</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a:txBody>
                    <a:bodyPr/>
                    <a:lstStyle/>
                    <a:p>
                      <a:pPr marL="0" marR="0">
                        <a:spcBef>
                          <a:spcPts val="400"/>
                        </a:spcBef>
                        <a:spcAft>
                          <a:spcPts val="800"/>
                        </a:spcAft>
                      </a:pPr>
                      <a:r>
                        <a:rPr lang="en-AU" sz="1200" dirty="0">
                          <a:latin typeface="Helvetica" pitchFamily="34" charset="0"/>
                          <a:ea typeface="Calibri"/>
                          <a:cs typeface="Helvetica" pitchFamily="34" charset="0"/>
                        </a:rPr>
                        <a:t>(5)</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(4)</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(3)</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(2)</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(1)</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endParaRPr lang="en-AU"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endParaRPr lang="en-AU"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2195">
                <a:tc>
                  <a:txBody>
                    <a:bodyPr/>
                    <a:lstStyle/>
                    <a:p>
                      <a:pPr marL="0" marR="0">
                        <a:spcBef>
                          <a:spcPts val="400"/>
                        </a:spcBef>
                        <a:spcAft>
                          <a:spcPts val="800"/>
                        </a:spcAft>
                      </a:pPr>
                      <a:r>
                        <a:rPr lang="en-AU" sz="1200" i="1" dirty="0">
                          <a:latin typeface="Helvetica" pitchFamily="34" charset="0"/>
                          <a:ea typeface="Calibri"/>
                          <a:cs typeface="Helvetica" pitchFamily="34" charset="0"/>
                        </a:rPr>
                        <a:t>N</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100</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endParaRPr lang="en-AU"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endParaRPr lang="en-AU"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endParaRPr lang="en-AU"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endParaRPr lang="en-AU"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endParaRPr lang="en-AU"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endParaRPr lang="en-AU"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endParaRPr lang="en-AU"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2195">
                <a:tc gridSpan="2">
                  <a:txBody>
                    <a:bodyPr/>
                    <a:lstStyle/>
                    <a:p>
                      <a:pPr marL="0" marR="0">
                        <a:spcBef>
                          <a:spcPts val="400"/>
                        </a:spcBef>
                        <a:spcAft>
                          <a:spcPts val="800"/>
                        </a:spcAft>
                      </a:pPr>
                      <a:r>
                        <a:rPr lang="en-AU" sz="1200" dirty="0">
                          <a:latin typeface="Helvetica" pitchFamily="34" charset="0"/>
                          <a:ea typeface="Calibri"/>
                          <a:cs typeface="Helvetica" pitchFamily="34" charset="0"/>
                        </a:rPr>
                        <a:t>Frequencies</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a:txBody>
                    <a:bodyPr/>
                    <a:lstStyle/>
                    <a:p>
                      <a:pPr marL="0" marR="0">
                        <a:spcBef>
                          <a:spcPts val="400"/>
                        </a:spcBef>
                        <a:spcAft>
                          <a:spcPts val="800"/>
                        </a:spcAft>
                      </a:pPr>
                      <a:r>
                        <a:rPr lang="en-AU" sz="1200" dirty="0">
                          <a:latin typeface="Helvetica" pitchFamily="34" charset="0"/>
                          <a:ea typeface="Calibri"/>
                          <a:cs typeface="Helvetica" pitchFamily="34" charset="0"/>
                        </a:rPr>
                        <a:t>54</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36</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5</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2</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0</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97</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3</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36025">
                <a:tc gridSpan="2">
                  <a:txBody>
                    <a:bodyPr/>
                    <a:lstStyle/>
                    <a:p>
                      <a:pPr marL="0" marR="0">
                        <a:spcBef>
                          <a:spcPts val="400"/>
                        </a:spcBef>
                        <a:spcAft>
                          <a:spcPts val="800"/>
                        </a:spcAft>
                      </a:pPr>
                      <a:r>
                        <a:rPr lang="en-AU" sz="1200" dirty="0">
                          <a:latin typeface="Helvetica" pitchFamily="34" charset="0"/>
                          <a:ea typeface="Calibri"/>
                          <a:cs typeface="Helvetica" pitchFamily="34" charset="0"/>
                        </a:rPr>
                        <a:t>Percent</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a:txBody>
                    <a:bodyPr/>
                    <a:lstStyle/>
                    <a:p>
                      <a:pPr marL="0" marR="0">
                        <a:lnSpc>
                          <a:spcPct val="115000"/>
                        </a:lnSpc>
                        <a:spcBef>
                          <a:spcPts val="0"/>
                        </a:spcBef>
                        <a:spcAft>
                          <a:spcPts val="0"/>
                        </a:spcAft>
                      </a:pPr>
                      <a:r>
                        <a:rPr lang="en-AU" sz="1200" dirty="0">
                          <a:latin typeface="Helvetica" pitchFamily="34" charset="0"/>
                          <a:ea typeface="Times New Roman"/>
                          <a:cs typeface="Helvetica" pitchFamily="34" charset="0"/>
                        </a:rPr>
                        <a:t>54.0%</a:t>
                      </a:r>
                      <a:endParaRPr lang="en-US" sz="1200" dirty="0">
                        <a:latin typeface="Helvetica" pitchFamily="34" charset="0"/>
                        <a:ea typeface="Times New Roman"/>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AU" sz="1200" dirty="0">
                          <a:latin typeface="Helvetica" pitchFamily="34" charset="0"/>
                          <a:ea typeface="Times New Roman"/>
                          <a:cs typeface="Helvetica" pitchFamily="34" charset="0"/>
                        </a:rPr>
                        <a:t>36.0%</a:t>
                      </a:r>
                      <a:endParaRPr lang="en-US" sz="1200" dirty="0">
                        <a:latin typeface="Helvetica" pitchFamily="34" charset="0"/>
                        <a:ea typeface="Times New Roman"/>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AU" sz="1200" dirty="0">
                          <a:latin typeface="Helvetica" pitchFamily="34" charset="0"/>
                          <a:ea typeface="Times New Roman"/>
                          <a:cs typeface="Helvetica" pitchFamily="34" charset="0"/>
                        </a:rPr>
                        <a:t>5.0%</a:t>
                      </a:r>
                      <a:endParaRPr lang="en-US" sz="1200" dirty="0">
                        <a:latin typeface="Helvetica" pitchFamily="34" charset="0"/>
                        <a:ea typeface="Times New Roman"/>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AU" sz="1200" dirty="0">
                          <a:latin typeface="Helvetica" pitchFamily="34" charset="0"/>
                          <a:ea typeface="Times New Roman"/>
                          <a:cs typeface="Helvetica" pitchFamily="34" charset="0"/>
                        </a:rPr>
                        <a:t>2.0%</a:t>
                      </a:r>
                      <a:endParaRPr lang="en-US" sz="1200" dirty="0">
                        <a:latin typeface="Helvetica" pitchFamily="34" charset="0"/>
                        <a:ea typeface="Times New Roman"/>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AU" sz="1200" dirty="0">
                          <a:latin typeface="Helvetica" pitchFamily="34" charset="0"/>
                          <a:ea typeface="Times New Roman"/>
                          <a:cs typeface="Helvetica" pitchFamily="34" charset="0"/>
                        </a:rPr>
                        <a:t>0.0%</a:t>
                      </a:r>
                      <a:endParaRPr lang="en-US" sz="1200" dirty="0">
                        <a:latin typeface="Helvetica" pitchFamily="34" charset="0"/>
                        <a:ea typeface="Times New Roman"/>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AU" sz="1200" dirty="0">
                          <a:latin typeface="Helvetica" pitchFamily="34" charset="0"/>
                          <a:ea typeface="Times New Roman"/>
                          <a:cs typeface="Helvetica" pitchFamily="34" charset="0"/>
                        </a:rPr>
                        <a:t>97.0%</a:t>
                      </a:r>
                      <a:endParaRPr lang="en-US" sz="1200" dirty="0">
                        <a:latin typeface="Helvetica" pitchFamily="34" charset="0"/>
                        <a:ea typeface="Times New Roman"/>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AU" sz="1200" dirty="0">
                          <a:latin typeface="Helvetica" pitchFamily="34" charset="0"/>
                          <a:ea typeface="Times New Roman"/>
                          <a:cs typeface="Helvetica" pitchFamily="34" charset="0"/>
                        </a:rPr>
                        <a:t>3.0%</a:t>
                      </a:r>
                      <a:endParaRPr lang="en-US" sz="1200" dirty="0">
                        <a:latin typeface="Helvetica" pitchFamily="34" charset="0"/>
                        <a:ea typeface="Times New Roman"/>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36025">
                <a:tc gridSpan="2">
                  <a:txBody>
                    <a:bodyPr/>
                    <a:lstStyle/>
                    <a:p>
                      <a:pPr marL="0" marR="0">
                        <a:spcBef>
                          <a:spcPts val="400"/>
                        </a:spcBef>
                        <a:spcAft>
                          <a:spcPts val="800"/>
                        </a:spcAft>
                      </a:pPr>
                      <a:r>
                        <a:rPr lang="en-AU" sz="1200" dirty="0">
                          <a:latin typeface="Helvetica" pitchFamily="34" charset="0"/>
                          <a:ea typeface="Calibri"/>
                          <a:cs typeface="Helvetica" pitchFamily="34" charset="0"/>
                        </a:rPr>
                        <a:t>Valid percent</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a:txBody>
                    <a:bodyPr/>
                    <a:lstStyle/>
                    <a:p>
                      <a:pPr marL="0" marR="0">
                        <a:lnSpc>
                          <a:spcPct val="115000"/>
                        </a:lnSpc>
                        <a:spcBef>
                          <a:spcPts val="0"/>
                        </a:spcBef>
                        <a:spcAft>
                          <a:spcPts val="0"/>
                        </a:spcAft>
                      </a:pPr>
                      <a:r>
                        <a:rPr lang="en-AU" sz="1200" dirty="0">
                          <a:latin typeface="Helvetica" pitchFamily="34" charset="0"/>
                          <a:ea typeface="Times New Roman"/>
                          <a:cs typeface="Helvetica" pitchFamily="34" charset="0"/>
                        </a:rPr>
                        <a:t>55.7%</a:t>
                      </a:r>
                      <a:endParaRPr lang="en-US" sz="1200" dirty="0">
                        <a:latin typeface="Helvetica" pitchFamily="34" charset="0"/>
                        <a:ea typeface="Times New Roman"/>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AU" sz="1200" dirty="0">
                          <a:latin typeface="Helvetica" pitchFamily="34" charset="0"/>
                          <a:ea typeface="Times New Roman"/>
                          <a:cs typeface="Helvetica" pitchFamily="34" charset="0"/>
                        </a:rPr>
                        <a:t>37.1%</a:t>
                      </a:r>
                      <a:endParaRPr lang="en-US" sz="1200" dirty="0">
                        <a:latin typeface="Helvetica" pitchFamily="34" charset="0"/>
                        <a:ea typeface="Times New Roman"/>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AU" sz="1200" dirty="0">
                          <a:latin typeface="Helvetica" pitchFamily="34" charset="0"/>
                          <a:ea typeface="Times New Roman"/>
                          <a:cs typeface="Helvetica" pitchFamily="34" charset="0"/>
                        </a:rPr>
                        <a:t>5.2%</a:t>
                      </a:r>
                      <a:endParaRPr lang="en-US" sz="1200" dirty="0">
                        <a:latin typeface="Helvetica" pitchFamily="34" charset="0"/>
                        <a:ea typeface="Times New Roman"/>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AU" sz="1200" dirty="0">
                          <a:latin typeface="Helvetica" pitchFamily="34" charset="0"/>
                          <a:ea typeface="Times New Roman"/>
                          <a:cs typeface="Helvetica" pitchFamily="34" charset="0"/>
                        </a:rPr>
                        <a:t>2.1%</a:t>
                      </a:r>
                      <a:endParaRPr lang="en-US" sz="1200" dirty="0">
                        <a:latin typeface="Helvetica" pitchFamily="34" charset="0"/>
                        <a:ea typeface="Times New Roman"/>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AU" sz="1200" dirty="0">
                          <a:latin typeface="Helvetica" pitchFamily="34" charset="0"/>
                          <a:ea typeface="Times New Roman"/>
                          <a:cs typeface="Helvetica" pitchFamily="34" charset="0"/>
                        </a:rPr>
                        <a:t>0.0%</a:t>
                      </a:r>
                      <a:endParaRPr lang="en-US" sz="1200" dirty="0">
                        <a:latin typeface="Helvetica" pitchFamily="34" charset="0"/>
                        <a:ea typeface="Times New Roman"/>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endParaRPr lang="en-AU"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endParaRPr lang="en-AU"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2195">
                <a:tc>
                  <a:txBody>
                    <a:bodyPr/>
                    <a:lstStyle/>
                    <a:p>
                      <a:pPr marL="0" marR="0">
                        <a:spcBef>
                          <a:spcPts val="400"/>
                        </a:spcBef>
                        <a:spcAft>
                          <a:spcPts val="800"/>
                        </a:spcAft>
                      </a:pPr>
                      <a:r>
                        <a:rPr lang="en-AU" sz="1200" dirty="0">
                          <a:latin typeface="Helvetica" pitchFamily="34" charset="0"/>
                          <a:ea typeface="Calibri"/>
                          <a:cs typeface="Helvetica" pitchFamily="34" charset="0"/>
                        </a:rPr>
                        <a:t>Mean</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4.41</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gridSpan="7">
                  <a:txBody>
                    <a:bodyPr/>
                    <a:lstStyle/>
                    <a:p>
                      <a:pPr marL="0" marR="0">
                        <a:spcBef>
                          <a:spcPts val="400"/>
                        </a:spcBef>
                        <a:spcAft>
                          <a:spcPts val="800"/>
                        </a:spcAft>
                      </a:pPr>
                      <a:endParaRPr lang="en-AU"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hMerge="1">
                  <a:txBody>
                    <a:bodyPr/>
                    <a:lstStyle/>
                    <a:p>
                      <a:endParaRPr lang="en-US"/>
                    </a:p>
                  </a:txBody>
                  <a:tcPr/>
                </a:tc>
                <a:tc rowSpan="3" hMerge="1">
                  <a:txBody>
                    <a:bodyPr/>
                    <a:lstStyle/>
                    <a:p>
                      <a:endParaRPr lang="en-US"/>
                    </a:p>
                  </a:txBody>
                  <a:tcPr/>
                </a:tc>
                <a:tc rowSpan="3" hMerge="1">
                  <a:txBody>
                    <a:bodyPr/>
                    <a:lstStyle/>
                    <a:p>
                      <a:endParaRPr lang="en-US"/>
                    </a:p>
                  </a:txBody>
                  <a:tcPr/>
                </a:tc>
                <a:tc rowSpan="3" hMerge="1">
                  <a:txBody>
                    <a:bodyPr/>
                    <a:lstStyle/>
                    <a:p>
                      <a:endParaRPr lang="en-US"/>
                    </a:p>
                  </a:txBody>
                  <a:tcPr/>
                </a:tc>
                <a:tc rowSpan="3" hMerge="1">
                  <a:txBody>
                    <a:bodyPr/>
                    <a:lstStyle/>
                    <a:p>
                      <a:endParaRPr lang="en-US"/>
                    </a:p>
                  </a:txBody>
                  <a:tcPr/>
                </a:tc>
                <a:tc rowSpan="3" hMerge="1">
                  <a:txBody>
                    <a:bodyPr/>
                    <a:lstStyle/>
                    <a:p>
                      <a:endParaRPr lang="en-US"/>
                    </a:p>
                  </a:txBody>
                  <a:tcPr/>
                </a:tc>
              </a:tr>
              <a:tr h="292195">
                <a:tc>
                  <a:txBody>
                    <a:bodyPr/>
                    <a:lstStyle/>
                    <a:p>
                      <a:pPr marL="0" marR="0">
                        <a:spcBef>
                          <a:spcPts val="400"/>
                        </a:spcBef>
                        <a:spcAft>
                          <a:spcPts val="800"/>
                        </a:spcAft>
                      </a:pPr>
                      <a:r>
                        <a:rPr lang="en-AU" sz="1200" dirty="0">
                          <a:latin typeface="Helvetica" pitchFamily="34" charset="0"/>
                          <a:ea typeface="Calibri"/>
                          <a:cs typeface="Helvetica" pitchFamily="34" charset="0"/>
                        </a:rPr>
                        <a:t>Median</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5</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7"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r>
              <a:tr h="292195">
                <a:tc>
                  <a:txBody>
                    <a:bodyPr/>
                    <a:lstStyle/>
                    <a:p>
                      <a:pPr marL="0" marR="0">
                        <a:spcBef>
                          <a:spcPts val="400"/>
                        </a:spcBef>
                        <a:spcAft>
                          <a:spcPts val="800"/>
                        </a:spcAft>
                      </a:pPr>
                      <a:r>
                        <a:rPr lang="en-AU" sz="1200" dirty="0">
                          <a:latin typeface="Helvetica" pitchFamily="34" charset="0"/>
                          <a:ea typeface="Calibri"/>
                          <a:cs typeface="Helvetica" pitchFamily="34" charset="0"/>
                        </a:rPr>
                        <a:t>Mode</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400"/>
                        </a:spcBef>
                        <a:spcAft>
                          <a:spcPts val="800"/>
                        </a:spcAft>
                      </a:pPr>
                      <a:r>
                        <a:rPr lang="en-AU" sz="1200" dirty="0">
                          <a:latin typeface="Helvetica" pitchFamily="34" charset="0"/>
                          <a:ea typeface="Calibri"/>
                          <a:cs typeface="Helvetica" pitchFamily="34" charset="0"/>
                        </a:rPr>
                        <a:t>5</a:t>
                      </a:r>
                      <a:endParaRPr lang="en-US" sz="1200" dirty="0">
                        <a:latin typeface="Helvetica" pitchFamily="34" charset="0"/>
                        <a:ea typeface="Calibri"/>
                        <a:cs typeface="Helvetica"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7"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86544"/>
          </a:xfrm>
        </p:spPr>
        <p:txBody>
          <a:bodyPr>
            <a:normAutofit/>
          </a:bodyPr>
          <a:lstStyle/>
          <a:p>
            <a:pPr marL="566738" indent="-566738"/>
            <a:r>
              <a:rPr lang="en-US" sz="3100" b="1" dirty="0" smtClean="0">
                <a:solidFill>
                  <a:srgbClr val="FF6600"/>
                </a:solidFill>
                <a:latin typeface="Helvetica" pitchFamily="34" charset="0"/>
              </a:rPr>
              <a:t>3.	Prepare an evaluation report</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295400"/>
            <a:ext cx="7467600" cy="5181600"/>
          </a:xfrm>
        </p:spPr>
        <p:txBody>
          <a:bodyPr>
            <a:normAutofit/>
          </a:bodyPr>
          <a:lstStyle/>
          <a:p>
            <a:pPr marL="0" indent="0">
              <a:spcBef>
                <a:spcPts val="600"/>
              </a:spcBef>
              <a:spcAft>
                <a:spcPts val="1200"/>
              </a:spcAft>
              <a:buNone/>
            </a:pPr>
            <a:r>
              <a:rPr lang="en-US" sz="2200" dirty="0" smtClean="0">
                <a:latin typeface="Helvetica" pitchFamily="34" charset="0"/>
                <a:cs typeface="Helvetica" pitchFamily="34" charset="0"/>
              </a:rPr>
              <a:t>Performance criteria for this element include:</a:t>
            </a:r>
          </a:p>
          <a:p>
            <a:pPr marL="682625" lvl="1" indent="-682625">
              <a:spcBef>
                <a:spcPts val="600"/>
              </a:spcBef>
              <a:spcAft>
                <a:spcPts val="1200"/>
              </a:spcAft>
              <a:buNone/>
            </a:pPr>
            <a:r>
              <a:rPr lang="en-AU" sz="2200" dirty="0" smtClean="0">
                <a:latin typeface="Helvetica" pitchFamily="34" charset="0"/>
                <a:cs typeface="Helvetica" pitchFamily="34" charset="0"/>
              </a:rPr>
              <a:t>3.1	Produce a written evaluation report</a:t>
            </a:r>
            <a:endParaRPr lang="en-US" sz="2200" dirty="0" smtClean="0">
              <a:latin typeface="Helvetica" pitchFamily="34" charset="0"/>
              <a:cs typeface="Helvetica" pitchFamily="34" charset="0"/>
            </a:endParaRPr>
          </a:p>
          <a:p>
            <a:pPr marL="682625" lvl="1" indent="-682625">
              <a:spcBef>
                <a:spcPts val="600"/>
              </a:spcBef>
              <a:spcAft>
                <a:spcPts val="1200"/>
              </a:spcAft>
              <a:buNone/>
            </a:pPr>
            <a:r>
              <a:rPr lang="en-AU" sz="2200" dirty="0" smtClean="0">
                <a:latin typeface="Helvetica" pitchFamily="34" charset="0"/>
                <a:cs typeface="Helvetica" pitchFamily="34" charset="0"/>
              </a:rPr>
              <a:t>3.2	Distribute report to stakeholders for comment</a:t>
            </a:r>
            <a:endParaRPr lang="en-US" sz="2200" dirty="0" smtClean="0">
              <a:latin typeface="Helvetica" pitchFamily="34" charset="0"/>
              <a:cs typeface="Helvetica" pitchFamily="34" charset="0"/>
            </a:endParaRPr>
          </a:p>
          <a:p>
            <a:pPr marL="682625" lvl="1" indent="-682625">
              <a:spcBef>
                <a:spcPts val="600"/>
              </a:spcBef>
              <a:spcAft>
                <a:spcPts val="1200"/>
              </a:spcAft>
              <a:buNone/>
            </a:pPr>
            <a:r>
              <a:rPr lang="en-AU" sz="2200" dirty="0" smtClean="0">
                <a:latin typeface="Helvetica" pitchFamily="34" charset="0"/>
                <a:cs typeface="Helvetica" pitchFamily="34" charset="0"/>
              </a:rPr>
              <a:t>3.3	Make a verbal presentation to support the report</a:t>
            </a:r>
            <a:endParaRPr lang="en-US" sz="2200" dirty="0" smtClean="0">
              <a:latin typeface="Helvetica" pitchFamily="34" charset="0"/>
              <a:cs typeface="Helvetica" pitchFamily="34" charset="0"/>
            </a:endParaRPr>
          </a:p>
          <a:p>
            <a:pPr marL="682625" lvl="1" indent="-682625">
              <a:spcBef>
                <a:spcPts val="600"/>
              </a:spcBef>
              <a:spcAft>
                <a:spcPts val="1200"/>
              </a:spcAft>
              <a:buNone/>
            </a:pPr>
            <a:r>
              <a:rPr lang="en-AU" sz="2200" dirty="0" smtClean="0">
                <a:latin typeface="Helvetica" pitchFamily="34" charset="0"/>
                <a:cs typeface="Helvetica" pitchFamily="34" charset="0"/>
              </a:rPr>
              <a:t>3.4	Gather feedback on the report</a:t>
            </a:r>
            <a:endParaRPr lang="en-US" sz="2200" dirty="0" smtClean="0">
              <a:latin typeface="Helvetica" pitchFamily="34" charset="0"/>
              <a:cs typeface="Helvetica" pitchFamily="34" charset="0"/>
            </a:endParaRPr>
          </a:p>
          <a:p>
            <a:pPr marL="682625" lvl="1" indent="-682625">
              <a:spcBef>
                <a:spcPts val="600"/>
              </a:spcBef>
              <a:spcAft>
                <a:spcPts val="1200"/>
              </a:spcAft>
              <a:buNone/>
            </a:pPr>
            <a:r>
              <a:rPr lang="en-AU" sz="2200" dirty="0" smtClean="0">
                <a:latin typeface="Helvetica" pitchFamily="34" charset="0"/>
                <a:cs typeface="Helvetica" pitchFamily="34" charset="0"/>
              </a:rPr>
              <a:t>3.5	Revising draft recommendations on the basis of feedback received</a:t>
            </a:r>
            <a:endParaRPr lang="en-US" sz="2200" dirty="0" smtClean="0">
              <a:latin typeface="Helvetica" pitchFamily="34" charset="0"/>
              <a:cs typeface="Helvetica" pitchFamily="34" charset="0"/>
            </a:endParaRPr>
          </a:p>
          <a:p>
            <a:pPr marL="682625" lvl="1" indent="-682625">
              <a:spcBef>
                <a:spcPts val="600"/>
              </a:spcBef>
              <a:spcAft>
                <a:spcPts val="1200"/>
              </a:spcAft>
              <a:buNone/>
            </a:pPr>
            <a:r>
              <a:rPr lang="en-AU" sz="2200" dirty="0" smtClean="0">
                <a:latin typeface="Helvetica" pitchFamily="34" charset="0"/>
                <a:cs typeface="Helvetica" pitchFamily="34" charset="0"/>
              </a:rPr>
              <a:t>3.6	Determine action to be taken as a result of the evaluation</a:t>
            </a:r>
            <a:endParaRPr lang="en-US" sz="2200" dirty="0" smtClean="0">
              <a:latin typeface="Helvetica" pitchFamily="34" charset="0"/>
              <a:cs typeface="Helvetica" pitchFamily="34" charset="0"/>
            </a:endParaRPr>
          </a:p>
          <a:p>
            <a:pPr marL="360000" indent="-360000">
              <a:spcBef>
                <a:spcPts val="600"/>
              </a:spcBef>
              <a:spcAft>
                <a:spcPts val="1200"/>
              </a:spcAft>
              <a:buNone/>
            </a:pPr>
            <a:endParaRPr lang="en-US" sz="2200" dirty="0" smtClean="0">
              <a:latin typeface="Helvetica" pitchFamily="34" charset="0"/>
              <a:cs typeface="Helvetica" pitchFamily="34" charset="0"/>
            </a:endParaRPr>
          </a:p>
          <a:p>
            <a:pPr marL="360000" indent="-360000">
              <a:spcBef>
                <a:spcPts val="600"/>
              </a:spcBef>
              <a:spcAft>
                <a:spcPts val="1200"/>
              </a:spcAft>
              <a:buNone/>
            </a:pPr>
            <a:endParaRPr lang="en-US"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27640" cy="810344"/>
          </a:xfrm>
        </p:spPr>
        <p:txBody>
          <a:bodyPr>
            <a:normAutofit/>
          </a:bodyPr>
          <a:lstStyle/>
          <a:p>
            <a:pPr marL="798513" indent="-798513"/>
            <a:r>
              <a:rPr lang="en-US" sz="3400" b="1" dirty="0" smtClean="0">
                <a:solidFill>
                  <a:srgbClr val="FF6600"/>
                </a:solidFill>
                <a:latin typeface="Helvetica" pitchFamily="34" charset="0"/>
              </a:rPr>
              <a:t>3.1	Produce a written evaluation report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7999040" cy="5410200"/>
          </a:xfrm>
        </p:spPr>
        <p:txBody>
          <a:bodyPr>
            <a:normAutofit/>
          </a:bodyPr>
          <a:lstStyle/>
          <a:p>
            <a:pPr marL="0" indent="0">
              <a:spcBef>
                <a:spcPts val="600"/>
              </a:spcBef>
              <a:spcAft>
                <a:spcPts val="600"/>
              </a:spcAft>
              <a:buNone/>
            </a:pPr>
            <a:r>
              <a:rPr lang="en-AU" sz="2200" smtClean="0">
                <a:latin typeface="Helvetica" pitchFamily="34" charset="0"/>
                <a:cs typeface="Helvetica" pitchFamily="34" charset="0"/>
              </a:rPr>
              <a:t>The basic elements of an evaluation plan include: </a:t>
            </a:r>
          </a:p>
          <a:p>
            <a:pPr>
              <a:spcBef>
                <a:spcPts val="600"/>
              </a:spcBef>
              <a:spcAft>
                <a:spcPts val="600"/>
              </a:spcAft>
            </a:pPr>
            <a:r>
              <a:rPr lang="en-AU" sz="2200" smtClean="0">
                <a:latin typeface="Helvetica" pitchFamily="34" charset="0"/>
                <a:cs typeface="Helvetica" pitchFamily="34" charset="0"/>
              </a:rPr>
              <a:t>Title page </a:t>
            </a:r>
          </a:p>
          <a:p>
            <a:pPr>
              <a:spcBef>
                <a:spcPts val="600"/>
              </a:spcBef>
              <a:spcAft>
                <a:spcPts val="600"/>
              </a:spcAft>
            </a:pPr>
            <a:r>
              <a:rPr lang="en-AU" sz="2200" smtClean="0">
                <a:latin typeface="Helvetica" pitchFamily="34" charset="0"/>
                <a:cs typeface="Helvetica" pitchFamily="34" charset="0"/>
              </a:rPr>
              <a:t>Question overview </a:t>
            </a:r>
          </a:p>
          <a:p>
            <a:pPr>
              <a:spcBef>
                <a:spcPts val="600"/>
              </a:spcBef>
              <a:spcAft>
                <a:spcPts val="600"/>
              </a:spcAft>
            </a:pPr>
            <a:r>
              <a:rPr lang="en-AU" sz="2200" smtClean="0">
                <a:latin typeface="Helvetica" pitchFamily="34" charset="0"/>
                <a:cs typeface="Helvetica" pitchFamily="34" charset="0"/>
              </a:rPr>
              <a:t>Intended use and users </a:t>
            </a:r>
          </a:p>
          <a:p>
            <a:pPr>
              <a:spcBef>
                <a:spcPts val="600"/>
              </a:spcBef>
              <a:spcAft>
                <a:spcPts val="600"/>
              </a:spcAft>
            </a:pPr>
            <a:r>
              <a:rPr lang="en-AU" sz="2200" smtClean="0">
                <a:latin typeface="Helvetica" pitchFamily="34" charset="0"/>
                <a:cs typeface="Helvetica" pitchFamily="34" charset="0"/>
              </a:rPr>
              <a:t>Program description </a:t>
            </a:r>
          </a:p>
          <a:p>
            <a:pPr>
              <a:spcBef>
                <a:spcPts val="600"/>
              </a:spcBef>
              <a:spcAft>
                <a:spcPts val="600"/>
              </a:spcAft>
            </a:pPr>
            <a:r>
              <a:rPr lang="en-AU" sz="2200" smtClean="0">
                <a:latin typeface="Helvetica" pitchFamily="34" charset="0"/>
                <a:cs typeface="Helvetica" pitchFamily="34" charset="0"/>
              </a:rPr>
              <a:t>Evaluation focus </a:t>
            </a:r>
          </a:p>
          <a:p>
            <a:pPr>
              <a:spcBef>
                <a:spcPts val="600"/>
              </a:spcBef>
              <a:spcAft>
                <a:spcPts val="600"/>
              </a:spcAft>
            </a:pPr>
            <a:r>
              <a:rPr lang="en-AU" sz="2200" smtClean="0">
                <a:latin typeface="Helvetica" pitchFamily="34" charset="0"/>
                <a:cs typeface="Helvetica" pitchFamily="34" charset="0"/>
              </a:rPr>
              <a:t>Methods </a:t>
            </a:r>
          </a:p>
          <a:p>
            <a:pPr>
              <a:spcBef>
                <a:spcPts val="600"/>
              </a:spcBef>
              <a:spcAft>
                <a:spcPts val="600"/>
              </a:spcAft>
            </a:pPr>
            <a:r>
              <a:rPr lang="en-AU" sz="2200" smtClean="0">
                <a:latin typeface="Helvetica" pitchFamily="34" charset="0"/>
                <a:cs typeface="Helvetica" pitchFamily="34" charset="0"/>
              </a:rPr>
              <a:t>Analysis and interpretation plan </a:t>
            </a:r>
          </a:p>
          <a:p>
            <a:pPr>
              <a:spcBef>
                <a:spcPts val="600"/>
              </a:spcBef>
              <a:spcAft>
                <a:spcPts val="600"/>
              </a:spcAft>
            </a:pPr>
            <a:r>
              <a:rPr lang="en-AU" sz="2200" smtClean="0">
                <a:latin typeface="Helvetica" pitchFamily="34" charset="0"/>
                <a:cs typeface="Helvetica" pitchFamily="34" charset="0"/>
              </a:rPr>
              <a:t>Use, distribution of results, and recommendations </a:t>
            </a:r>
          </a:p>
          <a:p>
            <a:pPr marL="360000" indent="-360000">
              <a:spcBef>
                <a:spcPts val="600"/>
              </a:spcBef>
              <a:spcAft>
                <a:spcPts val="600"/>
              </a:spcAft>
              <a:buNone/>
            </a:pPr>
            <a:endParaRPr lang="en-AU" sz="2200" smtClean="0">
              <a:latin typeface="Helvetica" pitchFamily="34" charset="0"/>
              <a:cs typeface="Helvetica" pitchFamily="34" charset="0"/>
            </a:endParaRPr>
          </a:p>
          <a:p>
            <a:pPr marL="360000" indent="-360000">
              <a:spcBef>
                <a:spcPts val="600"/>
              </a:spcBef>
              <a:spcAft>
                <a:spcPts val="600"/>
              </a:spcAft>
              <a:buNone/>
            </a:pPr>
            <a:endParaRPr lang="en-AU" sz="220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p:cNvPicPr/>
          <p:nvPr/>
        </p:nvPicPr>
        <p:blipFill rotWithShape="1">
          <a:blip r:embed="rId3" cstate="print">
            <a:extLst>
              <a:ext uri="{28A0092B-C50C-407E-A947-70E740481C1C}">
                <a14:useLocalDpi xmlns:a14="http://schemas.microsoft.com/office/drawing/2010/main" val="0"/>
              </a:ext>
            </a:extLst>
          </a:blip>
          <a:srcRect l="6630" r="14916"/>
          <a:stretch/>
        </p:blipFill>
        <p:spPr bwMode="auto">
          <a:xfrm>
            <a:off x="7010400" y="3200400"/>
            <a:ext cx="1352550" cy="1724025"/>
          </a:xfrm>
          <a:prstGeom prst="rect">
            <a:avLst/>
          </a:prstGeom>
          <a:noFill/>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804863" indent="-804863"/>
            <a:r>
              <a:rPr lang="en-US" sz="3100" b="1" dirty="0" smtClean="0">
                <a:solidFill>
                  <a:srgbClr val="FF6600"/>
                </a:solidFill>
                <a:latin typeface="Helvetica" pitchFamily="34" charset="0"/>
              </a:rPr>
              <a:t>3.1	Produce a written evaluation report cont’d</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447800"/>
            <a:ext cx="7467600" cy="5301208"/>
          </a:xfrm>
        </p:spPr>
        <p:txBody>
          <a:bodyPr>
            <a:noAutofit/>
          </a:bodyPr>
          <a:lstStyle/>
          <a:p>
            <a:pPr marL="0" indent="0">
              <a:spcBef>
                <a:spcPts val="400"/>
              </a:spcBef>
              <a:spcAft>
                <a:spcPts val="400"/>
              </a:spcAft>
              <a:buNone/>
            </a:pPr>
            <a:r>
              <a:rPr lang="en-AU" sz="1000" dirty="0" smtClean="0">
                <a:latin typeface="Helvetica" pitchFamily="34" charset="0"/>
                <a:cs typeface="Helvetica" pitchFamily="34" charset="0"/>
              </a:rPr>
              <a:t>Checklist for an evaluation report:</a:t>
            </a:r>
          </a:p>
          <a:p>
            <a:pPr>
              <a:spcBef>
                <a:spcPts val="400"/>
              </a:spcBef>
              <a:spcAft>
                <a:spcPts val="400"/>
              </a:spcAft>
            </a:pPr>
            <a:r>
              <a:rPr lang="en-AU" sz="1000" dirty="0" smtClean="0">
                <a:latin typeface="Helvetica" pitchFamily="34" charset="0"/>
                <a:cs typeface="Helvetica" pitchFamily="34" charset="0"/>
              </a:rPr>
              <a:t>Provide interim and final reports to intended users in time for use</a:t>
            </a:r>
          </a:p>
          <a:p>
            <a:pPr>
              <a:spcBef>
                <a:spcPts val="400"/>
              </a:spcBef>
              <a:spcAft>
                <a:spcPts val="400"/>
              </a:spcAft>
            </a:pPr>
            <a:r>
              <a:rPr lang="en-AU" sz="1000" dirty="0" smtClean="0">
                <a:latin typeface="Helvetica" pitchFamily="34" charset="0"/>
                <a:cs typeface="Helvetica" pitchFamily="34" charset="0"/>
              </a:rPr>
              <a:t>Tailor the report content, format, and style for the audiences by involving audience members</a:t>
            </a:r>
          </a:p>
          <a:p>
            <a:pPr>
              <a:spcBef>
                <a:spcPts val="400"/>
              </a:spcBef>
              <a:spcAft>
                <a:spcPts val="400"/>
              </a:spcAft>
            </a:pPr>
            <a:r>
              <a:rPr lang="en-AU" sz="1000" dirty="0" smtClean="0">
                <a:latin typeface="Helvetica" pitchFamily="34" charset="0"/>
                <a:cs typeface="Helvetica" pitchFamily="34" charset="0"/>
              </a:rPr>
              <a:t>Include an executive summary</a:t>
            </a:r>
          </a:p>
          <a:p>
            <a:pPr>
              <a:spcBef>
                <a:spcPts val="400"/>
              </a:spcBef>
              <a:spcAft>
                <a:spcPts val="400"/>
              </a:spcAft>
            </a:pPr>
            <a:r>
              <a:rPr lang="en-AU" sz="1000" dirty="0" smtClean="0">
                <a:latin typeface="Helvetica" pitchFamily="34" charset="0"/>
                <a:cs typeface="Helvetica" pitchFamily="34" charset="0"/>
              </a:rPr>
              <a:t>Summarize the description of the stakeholders and how they were engaged</a:t>
            </a:r>
          </a:p>
          <a:p>
            <a:pPr>
              <a:spcBef>
                <a:spcPts val="400"/>
              </a:spcBef>
              <a:spcAft>
                <a:spcPts val="400"/>
              </a:spcAft>
            </a:pPr>
            <a:r>
              <a:rPr lang="en-AU" sz="1000" dirty="0" smtClean="0">
                <a:latin typeface="Helvetica" pitchFamily="34" charset="0"/>
                <a:cs typeface="Helvetica" pitchFamily="34" charset="0"/>
              </a:rPr>
              <a:t>Describe essential features of the system (e.g., in appendices)</a:t>
            </a:r>
          </a:p>
          <a:p>
            <a:pPr>
              <a:spcBef>
                <a:spcPts val="400"/>
              </a:spcBef>
              <a:spcAft>
                <a:spcPts val="400"/>
              </a:spcAft>
            </a:pPr>
            <a:r>
              <a:rPr lang="en-AU" sz="1000" dirty="0" smtClean="0">
                <a:latin typeface="Helvetica" pitchFamily="34" charset="0"/>
                <a:cs typeface="Helvetica" pitchFamily="34" charset="0"/>
              </a:rPr>
              <a:t>Explain the focus of the evaluation and its limitations</a:t>
            </a:r>
          </a:p>
          <a:p>
            <a:pPr>
              <a:spcBef>
                <a:spcPts val="400"/>
              </a:spcBef>
              <a:spcAft>
                <a:spcPts val="400"/>
              </a:spcAft>
            </a:pPr>
            <a:r>
              <a:rPr lang="en-AU" sz="1000" dirty="0" smtClean="0">
                <a:latin typeface="Helvetica" pitchFamily="34" charset="0"/>
                <a:cs typeface="Helvetica" pitchFamily="34" charset="0"/>
              </a:rPr>
              <a:t>Include an adequate summary of the evaluation plan and procedures</a:t>
            </a:r>
          </a:p>
          <a:p>
            <a:pPr>
              <a:spcBef>
                <a:spcPts val="400"/>
              </a:spcBef>
              <a:spcAft>
                <a:spcPts val="400"/>
              </a:spcAft>
            </a:pPr>
            <a:r>
              <a:rPr lang="en-AU" sz="1000" dirty="0" smtClean="0">
                <a:latin typeface="Helvetica" pitchFamily="34" charset="0"/>
                <a:cs typeface="Helvetica" pitchFamily="34" charset="0"/>
              </a:rPr>
              <a:t>Provide all necessary technical information (e.g., in appendices)</a:t>
            </a:r>
          </a:p>
          <a:p>
            <a:pPr>
              <a:spcBef>
                <a:spcPts val="400"/>
              </a:spcBef>
              <a:spcAft>
                <a:spcPts val="400"/>
              </a:spcAft>
            </a:pPr>
            <a:r>
              <a:rPr lang="en-AU" sz="1000" dirty="0" smtClean="0">
                <a:latin typeface="Helvetica" pitchFamily="34" charset="0"/>
                <a:cs typeface="Helvetica" pitchFamily="34" charset="0"/>
              </a:rPr>
              <a:t>Specify the standards and criteria for evaluative judgments</a:t>
            </a:r>
          </a:p>
          <a:p>
            <a:pPr>
              <a:spcBef>
                <a:spcPts val="400"/>
              </a:spcBef>
              <a:spcAft>
                <a:spcPts val="400"/>
              </a:spcAft>
            </a:pPr>
            <a:r>
              <a:rPr lang="en-AU" sz="1000" dirty="0" smtClean="0">
                <a:latin typeface="Helvetica" pitchFamily="34" charset="0"/>
                <a:cs typeface="Helvetica" pitchFamily="34" charset="0"/>
              </a:rPr>
              <a:t>Explain the evaluative judgments and how they are supported by the evidence</a:t>
            </a:r>
          </a:p>
          <a:p>
            <a:pPr>
              <a:spcBef>
                <a:spcPts val="400"/>
              </a:spcBef>
              <a:spcAft>
                <a:spcPts val="400"/>
              </a:spcAft>
            </a:pPr>
            <a:r>
              <a:rPr lang="en-AU" sz="1000" dirty="0" smtClean="0">
                <a:latin typeface="Helvetica" pitchFamily="34" charset="0"/>
                <a:cs typeface="Helvetica" pitchFamily="34" charset="0"/>
              </a:rPr>
              <a:t>Include examples of research/evaluation tools used</a:t>
            </a:r>
          </a:p>
          <a:p>
            <a:pPr>
              <a:spcBef>
                <a:spcPts val="400"/>
              </a:spcBef>
              <a:spcAft>
                <a:spcPts val="400"/>
              </a:spcAft>
            </a:pPr>
            <a:r>
              <a:rPr lang="en-AU" sz="1000" dirty="0" smtClean="0">
                <a:latin typeface="Helvetica" pitchFamily="34" charset="0"/>
                <a:cs typeface="Helvetica" pitchFamily="34" charset="0"/>
              </a:rPr>
              <a:t>List both strengths and weaknesses of the evaluation</a:t>
            </a:r>
          </a:p>
          <a:p>
            <a:pPr>
              <a:spcBef>
                <a:spcPts val="400"/>
              </a:spcBef>
              <a:spcAft>
                <a:spcPts val="400"/>
              </a:spcAft>
            </a:pPr>
            <a:r>
              <a:rPr lang="en-AU" sz="1000" dirty="0" smtClean="0">
                <a:latin typeface="Helvetica" pitchFamily="34" charset="0"/>
                <a:cs typeface="Helvetica" pitchFamily="34" charset="0"/>
              </a:rPr>
              <a:t>Discuss recommendations for action with their advantages, disadvantages, and resource implications</a:t>
            </a:r>
          </a:p>
          <a:p>
            <a:pPr>
              <a:spcBef>
                <a:spcPts val="400"/>
              </a:spcBef>
              <a:spcAft>
                <a:spcPts val="400"/>
              </a:spcAft>
            </a:pPr>
            <a:r>
              <a:rPr lang="en-AU" sz="1000" dirty="0" smtClean="0">
                <a:latin typeface="Helvetica" pitchFamily="34" charset="0"/>
                <a:cs typeface="Helvetica" pitchFamily="34" charset="0"/>
              </a:rPr>
              <a:t>Ensure protections for program clients and other stakeholders</a:t>
            </a:r>
          </a:p>
          <a:p>
            <a:pPr>
              <a:spcBef>
                <a:spcPts val="400"/>
              </a:spcBef>
              <a:spcAft>
                <a:spcPts val="400"/>
              </a:spcAft>
            </a:pPr>
            <a:r>
              <a:rPr lang="en-AU" sz="1000" dirty="0" smtClean="0">
                <a:latin typeface="Helvetica" pitchFamily="34" charset="0"/>
                <a:cs typeface="Helvetica" pitchFamily="34" charset="0"/>
              </a:rPr>
              <a:t>Anticipate how people or organizations might be affected by the findings</a:t>
            </a:r>
          </a:p>
          <a:p>
            <a:pPr>
              <a:spcBef>
                <a:spcPts val="400"/>
              </a:spcBef>
              <a:spcAft>
                <a:spcPts val="400"/>
              </a:spcAft>
            </a:pPr>
            <a:r>
              <a:rPr lang="en-AU" sz="1000" dirty="0" smtClean="0">
                <a:latin typeface="Helvetica" pitchFamily="34" charset="0"/>
                <a:cs typeface="Helvetica" pitchFamily="34" charset="0"/>
              </a:rPr>
              <a:t>Verify that the report is accurate and unbiased</a:t>
            </a:r>
          </a:p>
          <a:p>
            <a:pPr>
              <a:spcBef>
                <a:spcPts val="400"/>
              </a:spcBef>
              <a:spcAft>
                <a:spcPts val="400"/>
              </a:spcAft>
            </a:pPr>
            <a:r>
              <a:rPr lang="en-AU" sz="1000" dirty="0" smtClean="0">
                <a:latin typeface="Helvetica" pitchFamily="34" charset="0"/>
                <a:cs typeface="Helvetica" pitchFamily="34" charset="0"/>
              </a:rPr>
              <a:t>Organize the report logically and include appropriate details</a:t>
            </a:r>
          </a:p>
          <a:p>
            <a:pPr>
              <a:spcBef>
                <a:spcPts val="400"/>
              </a:spcBef>
              <a:spcAft>
                <a:spcPts val="400"/>
              </a:spcAft>
            </a:pPr>
            <a:r>
              <a:rPr lang="en-AU" sz="1000" dirty="0" smtClean="0">
                <a:latin typeface="Helvetica" pitchFamily="34" charset="0"/>
                <a:cs typeface="Helvetica" pitchFamily="34" charset="0"/>
              </a:rPr>
              <a:t>Remove technical jargon</a:t>
            </a:r>
          </a:p>
          <a:p>
            <a:pPr>
              <a:spcBef>
                <a:spcPts val="400"/>
              </a:spcBef>
              <a:spcAft>
                <a:spcPts val="400"/>
              </a:spcAft>
            </a:pPr>
            <a:r>
              <a:rPr lang="en-AU" sz="1000" dirty="0" smtClean="0">
                <a:latin typeface="Helvetica" pitchFamily="34" charset="0"/>
                <a:cs typeface="Helvetica" pitchFamily="34" charset="0"/>
              </a:rPr>
              <a:t>Use examples, illustrations, graphics, charts and stories</a:t>
            </a:r>
          </a:p>
          <a:p>
            <a:pPr marL="360000" indent="-360000">
              <a:spcBef>
                <a:spcPts val="400"/>
              </a:spcBef>
              <a:spcAft>
                <a:spcPts val="400"/>
              </a:spcAft>
            </a:pPr>
            <a:endParaRPr lang="en-AU" sz="1000" dirty="0" smtClean="0">
              <a:latin typeface="Helvetica" pitchFamily="34" charset="0"/>
              <a:cs typeface="Helvetica" pitchFamily="34" charset="0"/>
            </a:endParaRPr>
          </a:p>
          <a:p>
            <a:pPr marL="360000" indent="-360000">
              <a:spcBef>
                <a:spcPts val="400"/>
              </a:spcBef>
              <a:spcAft>
                <a:spcPts val="400"/>
              </a:spcAft>
              <a:buNone/>
            </a:pPr>
            <a:endParaRPr lang="en-AU" sz="10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p:cNvPicPr/>
          <p:nvPr/>
        </p:nvPicPr>
        <p:blipFill rotWithShape="1">
          <a:blip r:embed="rId3" cstate="print">
            <a:extLst>
              <a:ext uri="{28A0092B-C50C-407E-A947-70E740481C1C}">
                <a14:useLocalDpi xmlns:a14="http://schemas.microsoft.com/office/drawing/2010/main" val="0"/>
              </a:ext>
            </a:extLst>
          </a:blip>
          <a:srcRect l="6630" r="14916"/>
          <a:stretch/>
        </p:blipFill>
        <p:spPr bwMode="auto">
          <a:xfrm>
            <a:off x="7010400" y="3581400"/>
            <a:ext cx="1352550" cy="1724025"/>
          </a:xfrm>
          <a:prstGeom prst="rect">
            <a:avLst/>
          </a:prstGeom>
          <a:noFill/>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Users\Quentin\AppData\Local\Microsoft\Windows\Temporary Internet Files\Content.IE5\SS1YRBPR\MC900030044[1].wmf"/>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838200" y="1447800"/>
            <a:ext cx="5105400" cy="4724400"/>
          </a:xfrm>
          <a:prstGeom prst="rect">
            <a:avLst/>
          </a:prstGeom>
          <a:noFill/>
          <a:ln w="9525">
            <a:noFill/>
            <a:miter lim="800000"/>
            <a:headEnd/>
            <a:tailEnd/>
          </a:ln>
        </p:spPr>
      </p:pic>
      <p:sp>
        <p:nvSpPr>
          <p:cNvPr id="2" name="Title 1"/>
          <p:cNvSpPr>
            <a:spLocks noGrp="1"/>
          </p:cNvSpPr>
          <p:nvPr>
            <p:ph type="title"/>
          </p:nvPr>
        </p:nvSpPr>
        <p:spPr>
          <a:xfrm>
            <a:off x="611560" y="332656"/>
            <a:ext cx="8151440" cy="1143000"/>
          </a:xfrm>
        </p:spPr>
        <p:txBody>
          <a:bodyPr>
            <a:normAutofit/>
          </a:bodyPr>
          <a:lstStyle/>
          <a:p>
            <a:pPr marL="804863" indent="-804863"/>
            <a:r>
              <a:rPr lang="en-AU" sz="3100" b="1" smtClean="0">
                <a:solidFill>
                  <a:srgbClr val="FF6600"/>
                </a:solidFill>
                <a:latin typeface="Helvetica" pitchFamily="34" charset="0"/>
              </a:rPr>
              <a:t>3.2	Distribute report to stakeholders for comment</a:t>
            </a:r>
            <a:endParaRPr lang="en-AU" sz="3100" b="1">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72608"/>
          </a:xfrm>
        </p:spPr>
        <p:txBody>
          <a:bodyPr>
            <a:normAutofit/>
          </a:bodyPr>
          <a:lstStyle/>
          <a:p>
            <a:pPr marL="0" indent="0">
              <a:spcBef>
                <a:spcPts val="600"/>
              </a:spcBef>
              <a:spcAft>
                <a:spcPts val="1200"/>
              </a:spcAft>
              <a:buNone/>
            </a:pPr>
            <a:r>
              <a:rPr lang="en-AU" sz="2200" dirty="0" smtClean="0">
                <a:latin typeface="Helvetica" pitchFamily="34" charset="0"/>
                <a:cs typeface="Helvetica" pitchFamily="34" charset="0"/>
              </a:rPr>
              <a:t>When developing your communication or dissemination strategy, carefully consider the following:</a:t>
            </a:r>
          </a:p>
          <a:p>
            <a:pPr>
              <a:spcBef>
                <a:spcPts val="600"/>
              </a:spcBef>
              <a:spcAft>
                <a:spcPts val="1200"/>
              </a:spcAft>
            </a:pPr>
            <a:r>
              <a:rPr lang="en-AU" sz="2200" dirty="0" smtClean="0">
                <a:latin typeface="Helvetica" pitchFamily="34" charset="0"/>
                <a:cs typeface="Helvetica" pitchFamily="34" charset="0"/>
              </a:rPr>
              <a:t>With which target audiences or groups of stakeholders will you share findings? </a:t>
            </a:r>
          </a:p>
          <a:p>
            <a:pPr>
              <a:spcBef>
                <a:spcPts val="600"/>
              </a:spcBef>
              <a:spcAft>
                <a:spcPts val="1200"/>
              </a:spcAft>
            </a:pPr>
            <a:r>
              <a:rPr lang="en-AU" sz="2200" dirty="0" smtClean="0">
                <a:latin typeface="Helvetica" pitchFamily="34" charset="0"/>
                <a:cs typeface="Helvetica" pitchFamily="34" charset="0"/>
              </a:rPr>
              <a:t>What formats and channels will you use to share findings? </a:t>
            </a:r>
          </a:p>
          <a:p>
            <a:pPr>
              <a:spcBef>
                <a:spcPts val="600"/>
              </a:spcBef>
              <a:spcAft>
                <a:spcPts val="1200"/>
              </a:spcAft>
            </a:pPr>
            <a:r>
              <a:rPr lang="en-AU" sz="2200" dirty="0" smtClean="0">
                <a:latin typeface="Helvetica" pitchFamily="34" charset="0"/>
                <a:cs typeface="Helvetica" pitchFamily="34" charset="0"/>
              </a:rPr>
              <a:t>When and how often do you plan to share findings? </a:t>
            </a:r>
          </a:p>
          <a:p>
            <a:pPr>
              <a:spcBef>
                <a:spcPts val="600"/>
              </a:spcBef>
              <a:spcAft>
                <a:spcPts val="1200"/>
              </a:spcAft>
            </a:pPr>
            <a:r>
              <a:rPr lang="en-AU" sz="2200" dirty="0" smtClean="0">
                <a:latin typeface="Helvetica" pitchFamily="34" charset="0"/>
                <a:cs typeface="Helvetica" pitchFamily="34" charset="0"/>
              </a:rPr>
              <a:t>Who is responsible for carrying out dissemination strategies? </a:t>
            </a:r>
          </a:p>
          <a:p>
            <a:pPr marL="0" indent="0">
              <a:spcBef>
                <a:spcPts val="600"/>
              </a:spcBef>
              <a:spcAft>
                <a:spcPts val="1200"/>
              </a:spcAft>
              <a:buNone/>
            </a:pPr>
            <a:endParaRPr lang="en-AU" sz="2200" dirty="0" smtClean="0">
              <a:latin typeface="Helvetica" pitchFamily="34" charset="0"/>
              <a:cs typeface="Helvetica" pitchFamily="34" charset="0"/>
            </a:endParaRPr>
          </a:p>
          <a:p>
            <a:pPr marL="360000" indent="-360000">
              <a:spcBef>
                <a:spcPts val="600"/>
              </a:spcBef>
              <a:spcAft>
                <a:spcPts val="1200"/>
              </a:spcAft>
              <a:buNone/>
            </a:pPr>
            <a:endParaRPr lang="en-AU"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Users\Quentin\AppData\Local\Microsoft\Windows\Temporary Internet Files\Content.IE5\SS1YRBPR\MC900030044[1].wmf"/>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838200" y="1447800"/>
            <a:ext cx="5105400" cy="4724400"/>
          </a:xfrm>
          <a:prstGeom prst="rect">
            <a:avLst/>
          </a:prstGeom>
          <a:noFill/>
          <a:ln w="9525">
            <a:noFill/>
            <a:miter lim="800000"/>
            <a:headEnd/>
            <a:tailEnd/>
          </a:ln>
        </p:spPr>
      </p:pic>
      <p:sp>
        <p:nvSpPr>
          <p:cNvPr id="2" name="Title 1"/>
          <p:cNvSpPr>
            <a:spLocks noGrp="1"/>
          </p:cNvSpPr>
          <p:nvPr>
            <p:ph type="title"/>
          </p:nvPr>
        </p:nvSpPr>
        <p:spPr>
          <a:xfrm>
            <a:off x="611560" y="332656"/>
            <a:ext cx="8075240" cy="1143000"/>
          </a:xfrm>
        </p:spPr>
        <p:txBody>
          <a:bodyPr>
            <a:normAutofit/>
          </a:bodyPr>
          <a:lstStyle/>
          <a:p>
            <a:pPr marL="804863" indent="-804863"/>
            <a:r>
              <a:rPr lang="en-AU" sz="3100" b="1" dirty="0" smtClean="0">
                <a:solidFill>
                  <a:srgbClr val="FF6600"/>
                </a:solidFill>
                <a:latin typeface="Helvetica" pitchFamily="34" charset="0"/>
              </a:rPr>
              <a:t>3.2	Distribute report to stakeholders for comment </a:t>
            </a:r>
            <a:endParaRPr lang="en-AU"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72608"/>
          </a:xfrm>
        </p:spPr>
        <p:txBody>
          <a:bodyPr>
            <a:normAutofit/>
          </a:bodyPr>
          <a:lstStyle/>
          <a:p>
            <a:pPr marL="0" indent="0">
              <a:spcBef>
                <a:spcPts val="600"/>
              </a:spcBef>
              <a:spcAft>
                <a:spcPts val="600"/>
              </a:spcAft>
              <a:buNone/>
            </a:pPr>
            <a:r>
              <a:rPr lang="en-AU" sz="2200" dirty="0" smtClean="0">
                <a:latin typeface="Helvetica" pitchFamily="34" charset="0"/>
                <a:cs typeface="Helvetica" pitchFamily="34" charset="0"/>
              </a:rPr>
              <a:t>Some questions to ask about the potential audience(s) are the following:</a:t>
            </a:r>
          </a:p>
          <a:p>
            <a:pPr>
              <a:spcBef>
                <a:spcPts val="600"/>
              </a:spcBef>
              <a:spcAft>
                <a:spcPts val="600"/>
              </a:spcAft>
            </a:pPr>
            <a:r>
              <a:rPr lang="en-AU" sz="2200" dirty="0" smtClean="0">
                <a:latin typeface="Helvetica" pitchFamily="34" charset="0"/>
                <a:cs typeface="Helvetica" pitchFamily="34" charset="0"/>
              </a:rPr>
              <a:t>Who is a priority? </a:t>
            </a:r>
          </a:p>
          <a:p>
            <a:pPr>
              <a:spcBef>
                <a:spcPts val="600"/>
              </a:spcBef>
              <a:spcAft>
                <a:spcPts val="600"/>
              </a:spcAft>
            </a:pPr>
            <a:r>
              <a:rPr lang="en-AU" sz="2200" dirty="0" smtClean="0">
                <a:latin typeface="Helvetica" pitchFamily="34" charset="0"/>
                <a:cs typeface="Helvetica" pitchFamily="34" charset="0"/>
              </a:rPr>
              <a:t>What do they already know about the topic? </a:t>
            </a:r>
          </a:p>
          <a:p>
            <a:pPr>
              <a:spcBef>
                <a:spcPts val="600"/>
              </a:spcBef>
              <a:spcAft>
                <a:spcPts val="600"/>
              </a:spcAft>
            </a:pPr>
            <a:r>
              <a:rPr lang="en-AU" sz="2200" dirty="0" smtClean="0">
                <a:latin typeface="Helvetica" pitchFamily="34" charset="0"/>
                <a:cs typeface="Helvetica" pitchFamily="34" charset="0"/>
              </a:rPr>
              <a:t>What is critical for them to know? </a:t>
            </a:r>
          </a:p>
          <a:p>
            <a:pPr>
              <a:spcBef>
                <a:spcPts val="600"/>
              </a:spcBef>
              <a:spcAft>
                <a:spcPts val="600"/>
              </a:spcAft>
            </a:pPr>
            <a:r>
              <a:rPr lang="en-AU" sz="2200" dirty="0" smtClean="0">
                <a:latin typeface="Helvetica" pitchFamily="34" charset="0"/>
                <a:cs typeface="Helvetica" pitchFamily="34" charset="0"/>
              </a:rPr>
              <a:t>Where do they prefer to receive their information? </a:t>
            </a:r>
          </a:p>
          <a:p>
            <a:pPr>
              <a:spcBef>
                <a:spcPts val="600"/>
              </a:spcBef>
              <a:spcAft>
                <a:spcPts val="600"/>
              </a:spcAft>
            </a:pPr>
            <a:r>
              <a:rPr lang="en-AU" sz="2200" dirty="0" smtClean="0">
                <a:latin typeface="Helvetica" pitchFamily="34" charset="0"/>
                <a:cs typeface="Helvetica" pitchFamily="34" charset="0"/>
              </a:rPr>
              <a:t>What is their preferred format? </a:t>
            </a:r>
          </a:p>
          <a:p>
            <a:pPr>
              <a:spcBef>
                <a:spcPts val="600"/>
              </a:spcBef>
              <a:spcAft>
                <a:spcPts val="600"/>
              </a:spcAft>
            </a:pPr>
            <a:r>
              <a:rPr lang="en-AU" sz="2200" dirty="0" smtClean="0">
                <a:latin typeface="Helvetica" pitchFamily="34" charset="0"/>
                <a:cs typeface="Helvetica" pitchFamily="34" charset="0"/>
              </a:rPr>
              <a:t>What language level is appropriate? </a:t>
            </a:r>
          </a:p>
          <a:p>
            <a:pPr>
              <a:spcBef>
                <a:spcPts val="600"/>
              </a:spcBef>
              <a:spcAft>
                <a:spcPts val="600"/>
              </a:spcAft>
            </a:pPr>
            <a:r>
              <a:rPr lang="en-AU" sz="2200" dirty="0" smtClean="0">
                <a:latin typeface="Helvetica" pitchFamily="34" charset="0"/>
                <a:cs typeface="Helvetica" pitchFamily="34" charset="0"/>
              </a:rPr>
              <a:t>Within what time frame are evaluation updates and reports necessary? </a:t>
            </a:r>
          </a:p>
          <a:p>
            <a:pPr marL="360000" indent="-360000">
              <a:spcBef>
                <a:spcPts val="600"/>
              </a:spcBef>
              <a:spcAft>
                <a:spcPts val="600"/>
              </a:spcAft>
              <a:buNone/>
            </a:pPr>
            <a:endParaRPr lang="en-AU" sz="2200" dirty="0" smtClean="0">
              <a:latin typeface="Helvetica" pitchFamily="34" charset="0"/>
              <a:cs typeface="Helvetica" pitchFamily="34" charset="0"/>
            </a:endParaRPr>
          </a:p>
          <a:p>
            <a:pPr marL="360000" indent="-360000">
              <a:spcBef>
                <a:spcPts val="600"/>
              </a:spcBef>
              <a:spcAft>
                <a:spcPts val="1200"/>
              </a:spcAft>
              <a:buNone/>
            </a:pPr>
            <a:endParaRPr lang="en-AU"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51440" cy="1143000"/>
          </a:xfrm>
        </p:spPr>
        <p:txBody>
          <a:bodyPr>
            <a:normAutofit/>
          </a:bodyPr>
          <a:lstStyle/>
          <a:p>
            <a:pPr marL="804863" indent="-804863"/>
            <a:r>
              <a:rPr lang="en-US" sz="3400" b="1" dirty="0" smtClean="0">
                <a:solidFill>
                  <a:srgbClr val="FF6600"/>
                </a:solidFill>
                <a:latin typeface="Helvetica" pitchFamily="34" charset="0"/>
              </a:rPr>
              <a:t>3.2	Distribute report to stakeholders for comment</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graphicFrame>
        <p:nvGraphicFramePr>
          <p:cNvPr id="7" name="Table 6"/>
          <p:cNvGraphicFramePr>
            <a:graphicFrameLocks noGrp="1"/>
          </p:cNvGraphicFramePr>
          <p:nvPr/>
        </p:nvGraphicFramePr>
        <p:xfrm>
          <a:off x="1066800" y="1771578"/>
          <a:ext cx="6781800" cy="4095822"/>
        </p:xfrm>
        <a:graphic>
          <a:graphicData uri="http://schemas.openxmlformats.org/drawingml/2006/table">
            <a:tbl>
              <a:tblPr/>
              <a:tblGrid>
                <a:gridCol w="1695450"/>
                <a:gridCol w="1695450"/>
                <a:gridCol w="1695450"/>
                <a:gridCol w="1695450"/>
              </a:tblGrid>
              <a:tr h="520275">
                <a:tc rowSpan="2">
                  <a:txBody>
                    <a:bodyPr/>
                    <a:lstStyle/>
                    <a:p>
                      <a:pPr marL="0" marR="0" algn="just">
                        <a:spcBef>
                          <a:spcPts val="400"/>
                        </a:spcBef>
                        <a:spcAft>
                          <a:spcPts val="400"/>
                        </a:spcAft>
                      </a:pPr>
                      <a:r>
                        <a:rPr lang="en-AU" sz="1200" b="1" dirty="0">
                          <a:solidFill>
                            <a:srgbClr val="FFFFFF"/>
                          </a:solidFill>
                          <a:latin typeface="Helvetica" pitchFamily="34" charset="0"/>
                          <a:ea typeface="Calibri"/>
                          <a:cs typeface="Helvetica" pitchFamily="34" charset="0"/>
                        </a:rPr>
                        <a:t>What do you </a:t>
                      </a:r>
                      <a:r>
                        <a:rPr lang="en-AU" sz="1200" b="1" dirty="0" smtClean="0">
                          <a:solidFill>
                            <a:srgbClr val="FFFFFF"/>
                          </a:solidFill>
                          <a:latin typeface="Helvetica" pitchFamily="34" charset="0"/>
                          <a:ea typeface="Calibri"/>
                          <a:cs typeface="Helvetica" pitchFamily="34" charset="0"/>
                        </a:rPr>
                        <a:t>want </a:t>
                      </a:r>
                      <a:r>
                        <a:rPr lang="en-AU" sz="1200" b="1" dirty="0">
                          <a:solidFill>
                            <a:srgbClr val="FFFFFF"/>
                          </a:solidFill>
                          <a:latin typeface="Helvetica" pitchFamily="34" charset="0"/>
                          <a:ea typeface="Calibri"/>
                          <a:cs typeface="Helvetica" pitchFamily="34" charset="0"/>
                        </a:rPr>
                        <a:t>to communicate?</a:t>
                      </a:r>
                      <a:endParaRPr lang="en-US" sz="1200" b="1" dirty="0">
                        <a:solidFill>
                          <a:srgbClr val="000000"/>
                        </a:solidFill>
                        <a:latin typeface="Helvetica" pitchFamily="34" charset="0"/>
                        <a:ea typeface="Calibri"/>
                        <a:cs typeface="Helvetica"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rowSpan="2">
                  <a:txBody>
                    <a:bodyPr/>
                    <a:lstStyle/>
                    <a:p>
                      <a:pPr marL="0" marR="0" algn="just">
                        <a:spcBef>
                          <a:spcPts val="400"/>
                        </a:spcBef>
                        <a:spcAft>
                          <a:spcPts val="400"/>
                        </a:spcAft>
                      </a:pPr>
                      <a:r>
                        <a:rPr lang="en-AU" sz="1200" b="1" dirty="0">
                          <a:solidFill>
                            <a:srgbClr val="FFFFFF"/>
                          </a:solidFill>
                          <a:latin typeface="Helvetica" pitchFamily="34" charset="0"/>
                          <a:ea typeface="Calibri"/>
                          <a:cs typeface="Helvetica" pitchFamily="34" charset="0"/>
                        </a:rPr>
                        <a:t>To whom to you want to communicate?</a:t>
                      </a:r>
                      <a:endParaRPr lang="en-US" sz="1200" b="1" dirty="0">
                        <a:solidFill>
                          <a:srgbClr val="000000"/>
                        </a:solidFill>
                        <a:latin typeface="Helvetica" pitchFamily="34" charset="0"/>
                        <a:ea typeface="Calibri"/>
                        <a:cs typeface="Helvetica"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gridSpan="2">
                  <a:txBody>
                    <a:bodyPr/>
                    <a:lstStyle/>
                    <a:p>
                      <a:pPr marL="0" marR="0" algn="just">
                        <a:spcBef>
                          <a:spcPts val="400"/>
                        </a:spcBef>
                        <a:spcAft>
                          <a:spcPts val="400"/>
                        </a:spcAft>
                      </a:pPr>
                      <a:r>
                        <a:rPr lang="en-AU" sz="1200" b="1" dirty="0">
                          <a:solidFill>
                            <a:srgbClr val="FFFFFF"/>
                          </a:solidFill>
                          <a:latin typeface="Helvetica" pitchFamily="34" charset="0"/>
                          <a:ea typeface="Calibri"/>
                          <a:cs typeface="Helvetica" pitchFamily="34" charset="0"/>
                        </a:rPr>
                        <a:t>How do you want to communicate?</a:t>
                      </a:r>
                      <a:endParaRPr lang="en-US" sz="1200" b="1" dirty="0">
                        <a:solidFill>
                          <a:srgbClr val="000000"/>
                        </a:solidFill>
                        <a:latin typeface="Helvetica" pitchFamily="34" charset="0"/>
                        <a:ea typeface="Calibri"/>
                        <a:cs typeface="Helvetica"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hMerge="1">
                  <a:txBody>
                    <a:bodyPr/>
                    <a:lstStyle/>
                    <a:p>
                      <a:endParaRPr lang="en-US"/>
                    </a:p>
                  </a:txBody>
                  <a:tcPr/>
                </a:tc>
              </a:tr>
              <a:tr h="470325">
                <a:tc vMerge="1">
                  <a:txBody>
                    <a:bodyPr/>
                    <a:lstStyle/>
                    <a:p>
                      <a:endParaRPr lang="en-US"/>
                    </a:p>
                  </a:txBody>
                  <a:tcPr/>
                </a:tc>
                <a:tc vMerge="1">
                  <a:txBody>
                    <a:bodyPr/>
                    <a:lstStyle/>
                    <a:p>
                      <a:endParaRPr lang="en-US"/>
                    </a:p>
                  </a:txBody>
                  <a:tcPr/>
                </a:tc>
                <a:tc>
                  <a:txBody>
                    <a:bodyPr/>
                    <a:lstStyle/>
                    <a:p>
                      <a:pPr marL="0" marR="0" algn="just">
                        <a:spcBef>
                          <a:spcPts val="400"/>
                        </a:spcBef>
                        <a:spcAft>
                          <a:spcPts val="400"/>
                        </a:spcAft>
                      </a:pPr>
                      <a:r>
                        <a:rPr lang="en-AU" sz="1200" b="1" dirty="0">
                          <a:solidFill>
                            <a:srgbClr val="FFFFFF"/>
                          </a:solidFill>
                          <a:latin typeface="Helvetica" pitchFamily="34" charset="0"/>
                          <a:ea typeface="Calibri"/>
                          <a:cs typeface="Helvetica" pitchFamily="34" charset="0"/>
                        </a:rPr>
                        <a:t>Format(s)</a:t>
                      </a:r>
                      <a:endParaRPr lang="en-US" sz="1200" b="1" dirty="0">
                        <a:solidFill>
                          <a:srgbClr val="000000"/>
                        </a:solidFill>
                        <a:latin typeface="Helvetica" pitchFamily="34" charset="0"/>
                        <a:ea typeface="Calibri"/>
                        <a:cs typeface="Helvetica"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just">
                        <a:spcBef>
                          <a:spcPts val="400"/>
                        </a:spcBef>
                        <a:spcAft>
                          <a:spcPts val="400"/>
                        </a:spcAft>
                      </a:pPr>
                      <a:r>
                        <a:rPr lang="en-AU" sz="1200" b="1" dirty="0">
                          <a:solidFill>
                            <a:srgbClr val="FFFFFF"/>
                          </a:solidFill>
                          <a:latin typeface="Helvetica" pitchFamily="34" charset="0"/>
                          <a:ea typeface="Calibri"/>
                          <a:cs typeface="Helvetica" pitchFamily="34" charset="0"/>
                        </a:rPr>
                        <a:t>Channel(s)</a:t>
                      </a:r>
                      <a:endParaRPr lang="en-US" sz="1200" b="1" dirty="0">
                        <a:solidFill>
                          <a:srgbClr val="000000"/>
                        </a:solidFill>
                        <a:latin typeface="Helvetica" pitchFamily="34" charset="0"/>
                        <a:ea typeface="Calibri"/>
                        <a:cs typeface="Helvetica"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r>
              <a:tr h="1035074">
                <a:tc>
                  <a:txBody>
                    <a:bodyPr/>
                    <a:lstStyle/>
                    <a:p>
                      <a:pPr marL="0" marR="0" indent="0">
                        <a:spcBef>
                          <a:spcPts val="300"/>
                        </a:spcBef>
                        <a:spcAft>
                          <a:spcPts val="400"/>
                        </a:spcAft>
                      </a:pPr>
                      <a:endParaRPr lang="en-AU" sz="1000" dirty="0">
                        <a:latin typeface="Helvetica"/>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300"/>
                        </a:spcBef>
                        <a:spcAft>
                          <a:spcPts val="400"/>
                        </a:spcAft>
                      </a:pPr>
                      <a:endParaRPr lang="en-AU" sz="1000" dirty="0">
                        <a:latin typeface="Helvetica"/>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300"/>
                        </a:spcBef>
                        <a:spcAft>
                          <a:spcPts val="400"/>
                        </a:spcAft>
                      </a:pPr>
                      <a:endParaRPr lang="en-AU" sz="1000" dirty="0">
                        <a:latin typeface="Helvetica"/>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300"/>
                        </a:spcBef>
                        <a:spcAft>
                          <a:spcPts val="400"/>
                        </a:spcAft>
                      </a:pPr>
                      <a:endParaRPr lang="en-AU" sz="1000" dirty="0">
                        <a:latin typeface="Helvetica"/>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35074">
                <a:tc>
                  <a:txBody>
                    <a:bodyPr/>
                    <a:lstStyle/>
                    <a:p>
                      <a:pPr marL="0" marR="0" algn="just">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35074">
                <a:tc>
                  <a:txBody>
                    <a:bodyPr/>
                    <a:lstStyle/>
                    <a:p>
                      <a:pPr marL="0" marR="0" algn="just">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400"/>
                        </a:spcBef>
                        <a:spcAft>
                          <a:spcPts val="400"/>
                        </a:spcAft>
                      </a:pPr>
                      <a:endParaRPr lang="en-AU" sz="1000"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pPr marL="804863" indent="-804863"/>
            <a:r>
              <a:rPr lang="en-US" sz="3100" b="1" dirty="0" smtClean="0">
                <a:solidFill>
                  <a:srgbClr val="FF6600"/>
                </a:solidFill>
                <a:latin typeface="Helvetica" pitchFamily="34" charset="0"/>
              </a:rPr>
              <a:t>3.3	Make a verbal presentation</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143000"/>
            <a:ext cx="7467600" cy="5715000"/>
          </a:xfrm>
        </p:spPr>
        <p:txBody>
          <a:bodyPr>
            <a:normAutofit/>
          </a:bodyPr>
          <a:lstStyle/>
          <a:p>
            <a:pPr marL="0" indent="0">
              <a:spcBef>
                <a:spcPts val="400"/>
              </a:spcBef>
              <a:spcAft>
                <a:spcPts val="600"/>
              </a:spcAft>
              <a:buNone/>
            </a:pPr>
            <a:r>
              <a:rPr lang="en-AU" sz="1800" dirty="0" smtClean="0"/>
              <a:t>The following checklist can be used to determine who your audience is</a:t>
            </a:r>
            <a:r>
              <a:rPr lang="en-US" sz="1800" dirty="0" smtClean="0">
                <a:latin typeface="Helvetica" pitchFamily="34" charset="0"/>
              </a:rPr>
              <a:t>:</a:t>
            </a:r>
          </a:p>
          <a:p>
            <a:pPr>
              <a:spcBef>
                <a:spcPts val="400"/>
              </a:spcBef>
              <a:spcAft>
                <a:spcPts val="600"/>
              </a:spcAft>
            </a:pPr>
            <a:r>
              <a:rPr lang="en-AU" sz="1800" dirty="0" smtClean="0"/>
              <a:t>What is the group size? How many people will be attending the presentation? </a:t>
            </a:r>
            <a:endParaRPr lang="en-US" sz="1800" dirty="0" smtClean="0"/>
          </a:p>
          <a:p>
            <a:pPr>
              <a:spcBef>
                <a:spcPts val="400"/>
              </a:spcBef>
              <a:spcAft>
                <a:spcPts val="600"/>
              </a:spcAft>
            </a:pPr>
            <a:r>
              <a:rPr lang="en-AU" sz="1800" dirty="0" smtClean="0"/>
              <a:t>What is the average age of the audience? Is there a wide variety of ages represented or are all participants of a similar age? </a:t>
            </a:r>
            <a:endParaRPr lang="en-US" sz="1800" dirty="0" smtClean="0"/>
          </a:p>
          <a:p>
            <a:pPr>
              <a:spcBef>
                <a:spcPts val="400"/>
              </a:spcBef>
              <a:spcAft>
                <a:spcPts val="600"/>
              </a:spcAft>
            </a:pPr>
            <a:r>
              <a:rPr lang="en-AU" sz="1800" dirty="0" smtClean="0"/>
              <a:t>What jobs or positions do the people in the audience hold? How does this relate to your position?</a:t>
            </a:r>
            <a:endParaRPr lang="en-US" sz="1800" dirty="0" smtClean="0"/>
          </a:p>
          <a:p>
            <a:pPr>
              <a:spcBef>
                <a:spcPts val="400"/>
              </a:spcBef>
              <a:spcAft>
                <a:spcPts val="600"/>
              </a:spcAft>
            </a:pPr>
            <a:r>
              <a:rPr lang="en-AU" sz="1800" dirty="0" smtClean="0"/>
              <a:t>Why are people joining your presentation?</a:t>
            </a:r>
            <a:endParaRPr lang="en-US" sz="1800" dirty="0" smtClean="0"/>
          </a:p>
          <a:p>
            <a:pPr>
              <a:spcBef>
                <a:spcPts val="400"/>
              </a:spcBef>
              <a:spcAft>
                <a:spcPts val="600"/>
              </a:spcAft>
            </a:pPr>
            <a:r>
              <a:rPr lang="en-AU" sz="1800" dirty="0" smtClean="0"/>
              <a:t>How much do the audience know about your topic?</a:t>
            </a:r>
            <a:endParaRPr lang="en-US" sz="1800" dirty="0" smtClean="0"/>
          </a:p>
          <a:p>
            <a:pPr>
              <a:spcBef>
                <a:spcPts val="400"/>
              </a:spcBef>
              <a:spcAft>
                <a:spcPts val="600"/>
              </a:spcAft>
            </a:pPr>
            <a:r>
              <a:rPr lang="en-AU" sz="1800" dirty="0" smtClean="0"/>
              <a:t>Where are you presenting? What time is the presentation?</a:t>
            </a:r>
            <a:endParaRPr lang="en-US" sz="1800" dirty="0" smtClean="0"/>
          </a:p>
          <a:p>
            <a:pPr>
              <a:spcBef>
                <a:spcPts val="400"/>
              </a:spcBef>
              <a:spcAft>
                <a:spcPts val="600"/>
              </a:spcAft>
            </a:pPr>
            <a:r>
              <a:rPr lang="en-US" sz="1800" dirty="0" smtClean="0"/>
              <a:t>Is the room air conditioned/heated? Is it small, large, hot, cold or loud? </a:t>
            </a:r>
          </a:p>
          <a:p>
            <a:pPr>
              <a:spcBef>
                <a:spcPts val="400"/>
              </a:spcBef>
              <a:spcAft>
                <a:spcPts val="600"/>
              </a:spcAft>
            </a:pPr>
            <a:r>
              <a:rPr lang="en-US" sz="1800" dirty="0" smtClean="0"/>
              <a:t>Has the audience been working all day or is it being presented very early in the morning?</a:t>
            </a:r>
          </a:p>
          <a:p>
            <a:pPr marL="360000" indent="-360000">
              <a:spcBef>
                <a:spcPts val="400"/>
              </a:spcBef>
              <a:spcAft>
                <a:spcPts val="600"/>
              </a:spcAft>
              <a:buNone/>
            </a:pPr>
            <a:endParaRPr lang="en-US" sz="1800" dirty="0" smtClean="0">
              <a:latin typeface="Helvetica" pitchFamily="34" charset="0"/>
            </a:endParaRPr>
          </a:p>
          <a:p>
            <a:pPr marL="360000" indent="-360000">
              <a:spcBef>
                <a:spcPts val="400"/>
              </a:spcBef>
              <a:spcAft>
                <a:spcPts val="600"/>
              </a:spcAft>
              <a:buNone/>
            </a:pPr>
            <a:endParaRPr lang="en-US"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86544"/>
          </a:xfrm>
        </p:spPr>
        <p:txBody>
          <a:bodyPr>
            <a:normAutofit/>
          </a:bodyPr>
          <a:lstStyle/>
          <a:p>
            <a:pPr marL="804863" indent="-804863"/>
            <a:r>
              <a:rPr lang="en-AU" sz="3100" b="1" dirty="0" smtClean="0">
                <a:solidFill>
                  <a:srgbClr val="FF6600"/>
                </a:solidFill>
                <a:latin typeface="Helvetica" pitchFamily="34" charset="0"/>
              </a:rPr>
              <a:t>3.3	Make a verbal presentation</a:t>
            </a:r>
            <a:endParaRPr lang="en-AU" sz="3100" b="1" dirty="0">
              <a:solidFill>
                <a:srgbClr val="FF6600"/>
              </a:solidFill>
              <a:latin typeface="Helvetica" pitchFamily="34" charset="0"/>
            </a:endParaRPr>
          </a:p>
        </p:txBody>
      </p:sp>
      <p:sp>
        <p:nvSpPr>
          <p:cNvPr id="3" name="Content Placeholder 2"/>
          <p:cNvSpPr>
            <a:spLocks noGrp="1"/>
          </p:cNvSpPr>
          <p:nvPr>
            <p:ph idx="1"/>
          </p:nvPr>
        </p:nvSpPr>
        <p:spPr>
          <a:xfrm>
            <a:off x="611560" y="1189037"/>
            <a:ext cx="7467600" cy="5440363"/>
          </a:xfrm>
        </p:spPr>
        <p:txBody>
          <a:bodyPr>
            <a:normAutofit/>
          </a:bodyPr>
          <a:lstStyle/>
          <a:p>
            <a:pPr marL="0" indent="0">
              <a:spcBef>
                <a:spcPts val="600"/>
              </a:spcBef>
              <a:spcAft>
                <a:spcPts val="600"/>
              </a:spcAft>
              <a:buNone/>
            </a:pPr>
            <a:r>
              <a:rPr lang="en-AU" sz="2200" dirty="0" smtClean="0">
                <a:latin typeface="Helvetica" pitchFamily="34" charset="0"/>
                <a:cs typeface="Helvetica" pitchFamily="34" charset="0"/>
              </a:rPr>
              <a:t>When selecting relevant information you should:</a:t>
            </a:r>
          </a:p>
          <a:p>
            <a:pPr>
              <a:spcBef>
                <a:spcPts val="600"/>
              </a:spcBef>
              <a:spcAft>
                <a:spcPts val="600"/>
              </a:spcAft>
            </a:pPr>
            <a:r>
              <a:rPr lang="en-AU" sz="2200" dirty="0" smtClean="0">
                <a:latin typeface="Helvetica" pitchFamily="34" charset="0"/>
                <a:cs typeface="Helvetica" pitchFamily="34" charset="0"/>
              </a:rPr>
              <a:t>Know who your audience is and what they expect from your presentation</a:t>
            </a:r>
          </a:p>
          <a:p>
            <a:pPr>
              <a:spcBef>
                <a:spcPts val="600"/>
              </a:spcBef>
              <a:spcAft>
                <a:spcPts val="600"/>
              </a:spcAft>
            </a:pPr>
            <a:r>
              <a:rPr lang="en-AU" sz="2200" dirty="0" smtClean="0">
                <a:latin typeface="Helvetica" pitchFamily="34" charset="0"/>
                <a:cs typeface="Helvetica" pitchFamily="34" charset="0"/>
              </a:rPr>
              <a:t>Have a clear purpose or goal for your presentation</a:t>
            </a:r>
          </a:p>
          <a:p>
            <a:pPr>
              <a:spcBef>
                <a:spcPts val="600"/>
              </a:spcBef>
              <a:spcAft>
                <a:spcPts val="600"/>
              </a:spcAft>
            </a:pPr>
            <a:r>
              <a:rPr lang="en-AU" sz="2200" dirty="0" smtClean="0">
                <a:latin typeface="Helvetica" pitchFamily="34" charset="0"/>
                <a:cs typeface="Helvetica" pitchFamily="34" charset="0"/>
              </a:rPr>
              <a:t>Know how long your talk will go for</a:t>
            </a:r>
          </a:p>
          <a:p>
            <a:pPr>
              <a:spcBef>
                <a:spcPts val="600"/>
              </a:spcBef>
              <a:spcAft>
                <a:spcPts val="600"/>
              </a:spcAft>
            </a:pPr>
            <a:r>
              <a:rPr lang="en-AU" sz="2200" dirty="0" smtClean="0">
                <a:latin typeface="Helvetica" pitchFamily="34" charset="0"/>
                <a:cs typeface="Helvetica" pitchFamily="34" charset="0"/>
              </a:rPr>
              <a:t>Write an outline for your presentation</a:t>
            </a:r>
          </a:p>
          <a:p>
            <a:pPr>
              <a:spcBef>
                <a:spcPts val="600"/>
              </a:spcBef>
              <a:spcAft>
                <a:spcPts val="600"/>
              </a:spcAft>
            </a:pPr>
            <a:r>
              <a:rPr lang="en-AU" sz="2200" dirty="0" smtClean="0">
                <a:latin typeface="Helvetica" pitchFamily="34" charset="0"/>
                <a:cs typeface="Helvetica" pitchFamily="34" charset="0"/>
              </a:rPr>
              <a:t>Understand clearly the context or why you are presenting </a:t>
            </a:r>
          </a:p>
          <a:p>
            <a:pPr>
              <a:spcBef>
                <a:spcPts val="600"/>
              </a:spcBef>
              <a:spcAft>
                <a:spcPts val="600"/>
              </a:spcAft>
            </a:pPr>
            <a:r>
              <a:rPr lang="en-AU" sz="2200" dirty="0" smtClean="0">
                <a:latin typeface="Helvetica" pitchFamily="34" charset="0"/>
                <a:cs typeface="Helvetica" pitchFamily="34" charset="0"/>
              </a:rPr>
              <a:t>Choose information from appropriate sources that relates to your outline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pPr marL="804863" indent="-804863"/>
            <a:r>
              <a:rPr lang="en-AU" sz="3100" b="1" smtClean="0">
                <a:solidFill>
                  <a:srgbClr val="FF6600"/>
                </a:solidFill>
                <a:latin typeface="Helvetica" pitchFamily="34" charset="0"/>
              </a:rPr>
              <a:t>3.4	Gather feedback on the report </a:t>
            </a:r>
            <a:endParaRPr lang="en-AU" sz="3100" b="1">
              <a:solidFill>
                <a:srgbClr val="FF6600"/>
              </a:solidFill>
              <a:latin typeface="Helvetica" pitchFamily="34" charset="0"/>
            </a:endParaRPr>
          </a:p>
        </p:txBody>
      </p:sp>
      <p:sp>
        <p:nvSpPr>
          <p:cNvPr id="3" name="Content Placeholder 2"/>
          <p:cNvSpPr>
            <a:spLocks noGrp="1"/>
          </p:cNvSpPr>
          <p:nvPr>
            <p:ph idx="1"/>
          </p:nvPr>
        </p:nvSpPr>
        <p:spPr>
          <a:xfrm>
            <a:off x="611560" y="1295400"/>
            <a:ext cx="7467600" cy="4419599"/>
          </a:xfrm>
        </p:spPr>
        <p:txBody>
          <a:bodyPr>
            <a:normAutofit/>
          </a:bodyPr>
          <a:lstStyle/>
          <a:p>
            <a:pPr marL="0" indent="0">
              <a:spcBef>
                <a:spcPts val="600"/>
              </a:spcBef>
              <a:spcAft>
                <a:spcPts val="1200"/>
              </a:spcAft>
              <a:buNone/>
            </a:pPr>
            <a:r>
              <a:rPr lang="en-AU" sz="2200" dirty="0" smtClean="0">
                <a:latin typeface="Helvetica" pitchFamily="34" charset="0"/>
                <a:cs typeface="Helvetica" pitchFamily="34" charset="0"/>
              </a:rPr>
              <a:t>A variety of activities can be included in your evaluation plan to solicit stakeholder feedback and facilitate interpretation of evaluation data including:</a:t>
            </a:r>
          </a:p>
          <a:p>
            <a:pPr marL="0" indent="0">
              <a:spcBef>
                <a:spcPts val="600"/>
              </a:spcBef>
              <a:spcAft>
                <a:spcPts val="1200"/>
              </a:spcAft>
            </a:pPr>
            <a:r>
              <a:rPr lang="en-AU" sz="2200" dirty="0" smtClean="0">
                <a:latin typeface="Helvetica" pitchFamily="34" charset="0"/>
                <a:cs typeface="Helvetica" pitchFamily="34" charset="0"/>
              </a:rPr>
              <a:t> Meetings, surveys, feedback forms, interviews</a:t>
            </a:r>
          </a:p>
          <a:p>
            <a:pPr marL="360000" indent="-360000">
              <a:spcBef>
                <a:spcPts val="600"/>
              </a:spcBef>
              <a:spcAft>
                <a:spcPts val="1200"/>
              </a:spcAft>
              <a:buNone/>
            </a:pPr>
            <a:endParaRPr lang="en-AU" sz="2200" dirty="0" smtClean="0">
              <a:latin typeface="Helvetica" pitchFamily="34" charset="0"/>
              <a:cs typeface="Helvetica" pitchFamily="34" charset="0"/>
            </a:endParaRPr>
          </a:p>
          <a:p>
            <a:pPr marL="360000" indent="-360000">
              <a:spcBef>
                <a:spcPts val="600"/>
              </a:spcBef>
              <a:spcAft>
                <a:spcPts val="1200"/>
              </a:spcAft>
              <a:buNone/>
            </a:pPr>
            <a:endParaRPr lang="en-AU"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19457" name="Picture 1"/>
          <p:cNvPicPr>
            <a:picLocks noChangeAspect="1" noChangeArrowheads="1"/>
          </p:cNvPicPr>
          <p:nvPr/>
        </p:nvPicPr>
        <p:blipFill>
          <a:blip r:embed="rId3" cstate="print"/>
          <a:srcRect/>
          <a:stretch>
            <a:fillRect/>
          </a:stretch>
        </p:blipFill>
        <p:spPr bwMode="auto">
          <a:xfrm>
            <a:off x="2667000" y="3581400"/>
            <a:ext cx="1990725" cy="23907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75240" cy="1143000"/>
          </a:xfrm>
        </p:spPr>
        <p:txBody>
          <a:bodyPr>
            <a:normAutofit/>
          </a:bodyPr>
          <a:lstStyle/>
          <a:p>
            <a:pPr marL="804863" indent="-804863"/>
            <a:r>
              <a:rPr lang="en-US" sz="3100" b="1" dirty="0" smtClean="0">
                <a:solidFill>
                  <a:srgbClr val="FF6600"/>
                </a:solidFill>
                <a:latin typeface="Helvetica" pitchFamily="34" charset="0"/>
              </a:rPr>
              <a:t>3.5	Revising draft recommendations on the basis of feedback received</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72608"/>
          </a:xfrm>
        </p:spPr>
        <p:txBody>
          <a:bodyPr>
            <a:normAutofit/>
          </a:bodyPr>
          <a:lstStyle/>
          <a:p>
            <a:pPr marL="0" indent="0">
              <a:spcBef>
                <a:spcPts val="600"/>
              </a:spcBef>
              <a:spcAft>
                <a:spcPts val="600"/>
              </a:spcAft>
              <a:buNone/>
            </a:pPr>
            <a:r>
              <a:rPr lang="en-AU" sz="2200" dirty="0" smtClean="0">
                <a:latin typeface="Helvetica" pitchFamily="34" charset="0"/>
                <a:cs typeface="Helvetica" pitchFamily="34" charset="0"/>
              </a:rPr>
              <a:t>Any recommendations need to be:</a:t>
            </a:r>
            <a:endParaRPr lang="en-US" sz="2200" b="1" dirty="0" smtClean="0">
              <a:latin typeface="Helvetica" pitchFamily="34" charset="0"/>
              <a:cs typeface="Helvetica" pitchFamily="34" charset="0"/>
            </a:endParaRPr>
          </a:p>
          <a:p>
            <a:pPr>
              <a:spcBef>
                <a:spcPts val="600"/>
              </a:spcBef>
              <a:spcAft>
                <a:spcPts val="600"/>
              </a:spcAft>
            </a:pPr>
            <a:r>
              <a:rPr lang="en-AU" sz="2200" dirty="0" smtClean="0">
                <a:latin typeface="Helvetica" pitchFamily="34" charset="0"/>
                <a:cs typeface="Helvetica" pitchFamily="34" charset="0"/>
              </a:rPr>
              <a:t>Clearly numbered and linked to the evaluation question</a:t>
            </a:r>
            <a:endParaRPr lang="en-US" sz="2200" dirty="0" smtClean="0">
              <a:latin typeface="Helvetica" pitchFamily="34" charset="0"/>
              <a:cs typeface="Helvetica" pitchFamily="34" charset="0"/>
            </a:endParaRPr>
          </a:p>
          <a:p>
            <a:pPr>
              <a:spcBef>
                <a:spcPts val="600"/>
              </a:spcBef>
              <a:spcAft>
                <a:spcPts val="600"/>
              </a:spcAft>
            </a:pPr>
            <a:r>
              <a:rPr lang="en-AU" sz="2200" dirty="0" smtClean="0">
                <a:latin typeface="Helvetica" pitchFamily="34" charset="0"/>
                <a:cs typeface="Helvetica" pitchFamily="34" charset="0"/>
              </a:rPr>
              <a:t>Based upon evidence that is sufficient and valid</a:t>
            </a:r>
            <a:endParaRPr lang="en-US" sz="2200" dirty="0" smtClean="0">
              <a:latin typeface="Helvetica" pitchFamily="34" charset="0"/>
              <a:cs typeface="Helvetica" pitchFamily="34" charset="0"/>
            </a:endParaRPr>
          </a:p>
          <a:p>
            <a:pPr>
              <a:spcBef>
                <a:spcPts val="600"/>
              </a:spcBef>
              <a:spcAft>
                <a:spcPts val="600"/>
              </a:spcAft>
            </a:pPr>
            <a:r>
              <a:rPr lang="en-AU" sz="2200" dirty="0" smtClean="0">
                <a:latin typeface="Helvetica" pitchFamily="34" charset="0"/>
                <a:cs typeface="Helvetica" pitchFamily="34" charset="0"/>
              </a:rPr>
              <a:t>Made available to relevant stakeholders in order for them to provide feedback</a:t>
            </a:r>
            <a:endParaRPr lang="en-US" sz="2200" dirty="0" smtClean="0">
              <a:latin typeface="Helvetica" pitchFamily="34" charset="0"/>
              <a:cs typeface="Helvetica" pitchFamily="34" charset="0"/>
            </a:endParaRPr>
          </a:p>
          <a:p>
            <a:pPr>
              <a:spcBef>
                <a:spcPts val="600"/>
              </a:spcBef>
              <a:spcAft>
                <a:spcPts val="600"/>
              </a:spcAft>
            </a:pPr>
            <a:r>
              <a:rPr lang="en-AU" sz="2200" dirty="0" smtClean="0">
                <a:latin typeface="Helvetica" pitchFamily="34" charset="0"/>
                <a:cs typeface="Helvetica" pitchFamily="34" charset="0"/>
              </a:rPr>
              <a:t>Reviewed by stakeholders and any changes agreed upon</a:t>
            </a:r>
            <a:endParaRPr lang="en-US" sz="2200" dirty="0" smtClean="0">
              <a:latin typeface="Helvetica" pitchFamily="34" charset="0"/>
              <a:cs typeface="Helvetica" pitchFamily="34" charset="0"/>
            </a:endParaRPr>
          </a:p>
          <a:p>
            <a:pPr>
              <a:spcBef>
                <a:spcPts val="600"/>
              </a:spcBef>
              <a:spcAft>
                <a:spcPts val="600"/>
              </a:spcAft>
            </a:pPr>
            <a:r>
              <a:rPr lang="en-AU" sz="2200" dirty="0" smtClean="0">
                <a:latin typeface="Helvetica" pitchFamily="34" charset="0"/>
                <a:cs typeface="Helvetica" pitchFamily="34" charset="0"/>
              </a:rPr>
              <a:t>Any changes to draft recommendations need to be documented and approved by relevant stakeholders</a:t>
            </a:r>
            <a:endParaRPr lang="en-US"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75240" cy="1143000"/>
          </a:xfrm>
        </p:spPr>
        <p:txBody>
          <a:bodyPr>
            <a:normAutofit/>
          </a:bodyPr>
          <a:lstStyle/>
          <a:p>
            <a:pPr marL="804863" indent="-804863"/>
            <a:r>
              <a:rPr lang="en-AU" sz="3100" b="1" smtClean="0">
                <a:solidFill>
                  <a:srgbClr val="FF6600"/>
                </a:solidFill>
                <a:latin typeface="Helvetica" pitchFamily="34" charset="0"/>
              </a:rPr>
              <a:t>3.6	Determine action to be taken as a result of the evaluation</a:t>
            </a:r>
            <a:endParaRPr lang="en-AU" sz="3100" b="1">
              <a:solidFill>
                <a:srgbClr val="FF6600"/>
              </a:solidFill>
              <a:latin typeface="Helvetica" pitchFamily="34" charset="0"/>
            </a:endParaRPr>
          </a:p>
        </p:txBody>
      </p:sp>
      <p:sp>
        <p:nvSpPr>
          <p:cNvPr id="3" name="Content Placeholder 2"/>
          <p:cNvSpPr>
            <a:spLocks noGrp="1"/>
          </p:cNvSpPr>
          <p:nvPr>
            <p:ph idx="1"/>
          </p:nvPr>
        </p:nvSpPr>
        <p:spPr>
          <a:xfrm>
            <a:off x="611560" y="1524000"/>
            <a:ext cx="7770440" cy="5181600"/>
          </a:xfrm>
        </p:spPr>
        <p:txBody>
          <a:bodyPr>
            <a:noAutofit/>
          </a:bodyPr>
          <a:lstStyle/>
          <a:p>
            <a:pPr marL="0" indent="0">
              <a:spcBef>
                <a:spcPts val="400"/>
              </a:spcBef>
              <a:spcAft>
                <a:spcPts val="400"/>
              </a:spcAft>
              <a:buNone/>
            </a:pPr>
            <a:r>
              <a:rPr lang="en-AU" sz="1500" dirty="0" smtClean="0">
                <a:latin typeface="Helvetica" pitchFamily="34" charset="0"/>
                <a:cs typeface="Helvetica" pitchFamily="34" charset="0"/>
              </a:rPr>
              <a:t>The actions will be specific to the assessment system that has been evaluated and they could include:</a:t>
            </a:r>
          </a:p>
          <a:p>
            <a:pPr>
              <a:spcBef>
                <a:spcPts val="400"/>
              </a:spcBef>
              <a:spcAft>
                <a:spcPts val="400"/>
              </a:spcAft>
            </a:pPr>
            <a:r>
              <a:rPr lang="en-AU" sz="1500" dirty="0" smtClean="0">
                <a:latin typeface="Helvetica" pitchFamily="34" charset="0"/>
                <a:cs typeface="Helvetica" pitchFamily="34" charset="0"/>
              </a:rPr>
              <a:t>Continuing with the existing assessment system arrangements</a:t>
            </a:r>
          </a:p>
          <a:p>
            <a:pPr>
              <a:spcBef>
                <a:spcPts val="400"/>
              </a:spcBef>
              <a:spcAft>
                <a:spcPts val="400"/>
              </a:spcAft>
            </a:pPr>
            <a:r>
              <a:rPr lang="en-AU" sz="1500" dirty="0" smtClean="0">
                <a:latin typeface="Helvetica" pitchFamily="34" charset="0"/>
                <a:cs typeface="Helvetica" pitchFamily="34" charset="0"/>
              </a:rPr>
              <a:t>Modifying assessment arrangements with existing internal and/or external assessment providers</a:t>
            </a:r>
          </a:p>
          <a:p>
            <a:pPr>
              <a:spcBef>
                <a:spcPts val="400"/>
              </a:spcBef>
              <a:spcAft>
                <a:spcPts val="400"/>
              </a:spcAft>
            </a:pPr>
            <a:r>
              <a:rPr lang="en-AU" sz="1500" dirty="0" smtClean="0">
                <a:latin typeface="Helvetica" pitchFamily="34" charset="0"/>
                <a:cs typeface="Helvetica" pitchFamily="34" charset="0"/>
              </a:rPr>
              <a:t>Discontinuing the existing assessment system arrangements</a:t>
            </a:r>
          </a:p>
          <a:p>
            <a:pPr>
              <a:spcBef>
                <a:spcPts val="400"/>
              </a:spcBef>
              <a:spcAft>
                <a:spcPts val="400"/>
              </a:spcAft>
            </a:pPr>
            <a:r>
              <a:rPr lang="en-AU" sz="1500" dirty="0" smtClean="0">
                <a:latin typeface="Helvetica" pitchFamily="34" charset="0"/>
                <a:cs typeface="Helvetica" pitchFamily="34" charset="0"/>
              </a:rPr>
              <a:t>Moving internal assessment to an external provider and/or moving external assessments to an internal system</a:t>
            </a:r>
          </a:p>
          <a:p>
            <a:pPr>
              <a:spcBef>
                <a:spcPts val="400"/>
              </a:spcBef>
              <a:spcAft>
                <a:spcPts val="400"/>
              </a:spcAft>
            </a:pPr>
            <a:r>
              <a:rPr lang="en-AU" sz="1500" dirty="0" smtClean="0">
                <a:latin typeface="Helvetica" pitchFamily="34" charset="0"/>
                <a:cs typeface="Helvetica" pitchFamily="34" charset="0"/>
              </a:rPr>
              <a:t>Changing external assessment providers</a:t>
            </a:r>
          </a:p>
          <a:p>
            <a:pPr>
              <a:spcBef>
                <a:spcPts val="400"/>
              </a:spcBef>
              <a:spcAft>
                <a:spcPts val="400"/>
              </a:spcAft>
            </a:pPr>
            <a:r>
              <a:rPr lang="en-AU" sz="1500" dirty="0" smtClean="0">
                <a:latin typeface="Helvetica" pitchFamily="34" charset="0"/>
                <a:cs typeface="Helvetica" pitchFamily="34" charset="0"/>
              </a:rPr>
              <a:t>Communicating satisfaction and/or dissatisfaction with assessment service providers</a:t>
            </a:r>
          </a:p>
          <a:p>
            <a:pPr>
              <a:spcBef>
                <a:spcPts val="400"/>
              </a:spcBef>
              <a:spcAft>
                <a:spcPts val="400"/>
              </a:spcAft>
            </a:pPr>
            <a:r>
              <a:rPr lang="en-AU" sz="1500" dirty="0" smtClean="0">
                <a:latin typeface="Helvetica" pitchFamily="34" charset="0"/>
                <a:cs typeface="Helvetica" pitchFamily="34" charset="0"/>
              </a:rPr>
              <a:t>Placing additional specific service requirements on assessment service providers</a:t>
            </a:r>
          </a:p>
          <a:p>
            <a:pPr>
              <a:spcBef>
                <a:spcPts val="400"/>
              </a:spcBef>
              <a:spcAft>
                <a:spcPts val="400"/>
              </a:spcAft>
            </a:pPr>
            <a:r>
              <a:rPr lang="en-AU" sz="1500" dirty="0" smtClean="0">
                <a:latin typeface="Helvetica" pitchFamily="34" charset="0"/>
                <a:cs typeface="Helvetica" pitchFamily="34" charset="0"/>
              </a:rPr>
              <a:t>Altering the internal assessors used, or providing existing assessors with identified training to address deficiencies in their practice</a:t>
            </a:r>
          </a:p>
          <a:p>
            <a:pPr>
              <a:spcBef>
                <a:spcPts val="400"/>
              </a:spcBef>
              <a:spcAft>
                <a:spcPts val="400"/>
              </a:spcAft>
            </a:pPr>
            <a:r>
              <a:rPr lang="en-AU" sz="1500" dirty="0" smtClean="0">
                <a:latin typeface="Helvetica" pitchFamily="34" charset="0"/>
                <a:cs typeface="Helvetica" pitchFamily="34" charset="0"/>
              </a:rPr>
              <a:t>Modifying existing assessments system components due to findings from the evaluation including changing assessment methods, venues, timings, assessment tools</a:t>
            </a:r>
          </a:p>
          <a:p>
            <a:pPr marL="360000" indent="-360000">
              <a:spcBef>
                <a:spcPts val="400"/>
              </a:spcBef>
              <a:spcAft>
                <a:spcPts val="400"/>
              </a:spcAft>
              <a:buNone/>
            </a:pPr>
            <a:endParaRPr lang="en-AU" sz="15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51440" cy="1143000"/>
          </a:xfrm>
        </p:spPr>
        <p:txBody>
          <a:bodyPr>
            <a:normAutofit/>
          </a:bodyPr>
          <a:lstStyle/>
          <a:p>
            <a:pPr marL="804863" indent="-804863"/>
            <a:r>
              <a:rPr lang="en-AU" sz="3100" b="1" smtClean="0">
                <a:solidFill>
                  <a:srgbClr val="FF6600"/>
                </a:solidFill>
                <a:latin typeface="Helvetica" pitchFamily="34" charset="0"/>
              </a:rPr>
              <a:t>3.6	Determine action to be taken as a result of the evaluation cont’d</a:t>
            </a:r>
            <a:endParaRPr lang="en-AU" sz="3100" b="1">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graphicFrame>
        <p:nvGraphicFramePr>
          <p:cNvPr id="7" name="Table 6"/>
          <p:cNvGraphicFramePr>
            <a:graphicFrameLocks noGrp="1"/>
          </p:cNvGraphicFramePr>
          <p:nvPr/>
        </p:nvGraphicFramePr>
        <p:xfrm>
          <a:off x="762000" y="1905000"/>
          <a:ext cx="7391400" cy="3012354"/>
        </p:xfrm>
        <a:graphic>
          <a:graphicData uri="http://schemas.openxmlformats.org/drawingml/2006/table">
            <a:tbl>
              <a:tblPr/>
              <a:tblGrid>
                <a:gridCol w="923925"/>
                <a:gridCol w="923925"/>
                <a:gridCol w="923925"/>
                <a:gridCol w="923925"/>
                <a:gridCol w="923925"/>
                <a:gridCol w="923925"/>
                <a:gridCol w="923925"/>
                <a:gridCol w="923925"/>
              </a:tblGrid>
              <a:tr h="521421">
                <a:tc>
                  <a:txBody>
                    <a:bodyPr/>
                    <a:lstStyle/>
                    <a:p>
                      <a:pPr marL="0" marR="0" algn="l">
                        <a:spcBef>
                          <a:spcPts val="400"/>
                        </a:spcBef>
                        <a:spcAft>
                          <a:spcPts val="400"/>
                        </a:spcAft>
                      </a:pPr>
                      <a:r>
                        <a:rPr lang="en-AU" sz="1200" b="1" dirty="0">
                          <a:solidFill>
                            <a:srgbClr val="FFFFFF"/>
                          </a:solidFill>
                          <a:latin typeface="Helvetica"/>
                          <a:ea typeface="Calibri"/>
                          <a:cs typeface="Calibri"/>
                        </a:rPr>
                        <a:t>Action</a:t>
                      </a:r>
                      <a:br>
                        <a:rPr lang="en-AU" sz="1200" b="1" dirty="0">
                          <a:solidFill>
                            <a:srgbClr val="FFFFFF"/>
                          </a:solidFill>
                          <a:latin typeface="Helvetica"/>
                          <a:ea typeface="Calibri"/>
                          <a:cs typeface="Calibri"/>
                        </a:rPr>
                      </a:br>
                      <a:r>
                        <a:rPr lang="en-AU" sz="1200" b="1" dirty="0">
                          <a:solidFill>
                            <a:srgbClr val="FFFFFF"/>
                          </a:solidFill>
                          <a:latin typeface="Helvetica"/>
                          <a:ea typeface="Calibri"/>
                          <a:cs typeface="Calibri"/>
                        </a:rPr>
                        <a:t> Needed</a:t>
                      </a:r>
                      <a:endParaRPr lang="en-US" sz="1200" b="1" dirty="0">
                        <a:solidFill>
                          <a:srgbClr val="000000"/>
                        </a:solidFill>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l">
                        <a:spcBef>
                          <a:spcPts val="400"/>
                        </a:spcBef>
                        <a:spcAft>
                          <a:spcPts val="400"/>
                        </a:spcAft>
                      </a:pPr>
                      <a:r>
                        <a:rPr lang="en-AU" sz="1200" b="1" dirty="0">
                          <a:solidFill>
                            <a:srgbClr val="FFFFFF"/>
                          </a:solidFill>
                          <a:latin typeface="Helvetica"/>
                          <a:ea typeface="Calibri"/>
                          <a:cs typeface="Calibri"/>
                        </a:rPr>
                        <a:t>Estimated</a:t>
                      </a:r>
                      <a:br>
                        <a:rPr lang="en-AU" sz="1200" b="1" dirty="0">
                          <a:solidFill>
                            <a:srgbClr val="FFFFFF"/>
                          </a:solidFill>
                          <a:latin typeface="Helvetica"/>
                          <a:ea typeface="Calibri"/>
                          <a:cs typeface="Calibri"/>
                        </a:rPr>
                      </a:br>
                      <a:r>
                        <a:rPr lang="en-AU" sz="1200" b="1" dirty="0">
                          <a:solidFill>
                            <a:srgbClr val="FFFFFF"/>
                          </a:solidFill>
                          <a:latin typeface="Helvetica"/>
                          <a:ea typeface="Calibri"/>
                          <a:cs typeface="Calibri"/>
                        </a:rPr>
                        <a:t>Time </a:t>
                      </a:r>
                      <a:br>
                        <a:rPr lang="en-AU" sz="1200" b="1" dirty="0">
                          <a:solidFill>
                            <a:srgbClr val="FFFFFF"/>
                          </a:solidFill>
                          <a:latin typeface="Helvetica"/>
                          <a:ea typeface="Calibri"/>
                          <a:cs typeface="Calibri"/>
                        </a:rPr>
                      </a:br>
                      <a:r>
                        <a:rPr lang="en-AU" sz="1200" b="1" dirty="0">
                          <a:solidFill>
                            <a:srgbClr val="FFFFFF"/>
                          </a:solidFill>
                          <a:latin typeface="Helvetica"/>
                          <a:ea typeface="Calibri"/>
                          <a:cs typeface="Calibri"/>
                        </a:rPr>
                        <a:t>Frame</a:t>
                      </a:r>
                      <a:endParaRPr lang="en-US" sz="1200" b="1" dirty="0">
                        <a:solidFill>
                          <a:srgbClr val="000000"/>
                        </a:solidFill>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l">
                        <a:spcBef>
                          <a:spcPts val="400"/>
                        </a:spcBef>
                        <a:spcAft>
                          <a:spcPts val="400"/>
                        </a:spcAft>
                      </a:pPr>
                      <a:r>
                        <a:rPr lang="en-AU" sz="1200" b="1" dirty="0">
                          <a:solidFill>
                            <a:srgbClr val="FFFFFF"/>
                          </a:solidFill>
                          <a:latin typeface="Helvetica"/>
                          <a:ea typeface="Calibri"/>
                          <a:cs typeface="Calibri"/>
                        </a:rPr>
                        <a:t>Actual </a:t>
                      </a:r>
                      <a:br>
                        <a:rPr lang="en-AU" sz="1200" b="1" dirty="0">
                          <a:solidFill>
                            <a:srgbClr val="FFFFFF"/>
                          </a:solidFill>
                          <a:latin typeface="Helvetica"/>
                          <a:ea typeface="Calibri"/>
                          <a:cs typeface="Calibri"/>
                        </a:rPr>
                      </a:br>
                      <a:r>
                        <a:rPr lang="en-AU" sz="1200" b="1" dirty="0">
                          <a:solidFill>
                            <a:srgbClr val="FFFFFF"/>
                          </a:solidFill>
                          <a:latin typeface="Helvetica"/>
                          <a:ea typeface="Calibri"/>
                          <a:cs typeface="Calibri"/>
                        </a:rPr>
                        <a:t>Time</a:t>
                      </a:r>
                      <a:br>
                        <a:rPr lang="en-AU" sz="1200" b="1" dirty="0">
                          <a:solidFill>
                            <a:srgbClr val="FFFFFF"/>
                          </a:solidFill>
                          <a:latin typeface="Helvetica"/>
                          <a:ea typeface="Calibri"/>
                          <a:cs typeface="Calibri"/>
                        </a:rPr>
                      </a:br>
                      <a:r>
                        <a:rPr lang="en-AU" sz="1200" b="1" dirty="0">
                          <a:solidFill>
                            <a:srgbClr val="FFFFFF"/>
                          </a:solidFill>
                          <a:latin typeface="Helvetica"/>
                          <a:ea typeface="Calibri"/>
                          <a:cs typeface="Calibri"/>
                        </a:rPr>
                        <a:t>Frame</a:t>
                      </a:r>
                      <a:endParaRPr lang="en-US" sz="1200" b="1" dirty="0">
                        <a:solidFill>
                          <a:srgbClr val="000000"/>
                        </a:solidFill>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l">
                        <a:spcBef>
                          <a:spcPts val="400"/>
                        </a:spcBef>
                        <a:spcAft>
                          <a:spcPts val="400"/>
                        </a:spcAft>
                      </a:pPr>
                      <a:r>
                        <a:rPr lang="en-AU" sz="1200" b="1" dirty="0">
                          <a:solidFill>
                            <a:srgbClr val="FFFFFF"/>
                          </a:solidFill>
                          <a:latin typeface="Helvetica"/>
                          <a:ea typeface="Calibri"/>
                          <a:cs typeface="Calibri"/>
                        </a:rPr>
                        <a:t>Budget</a:t>
                      </a:r>
                      <a:endParaRPr lang="en-US" sz="1200" b="1" dirty="0">
                        <a:solidFill>
                          <a:srgbClr val="000000"/>
                        </a:solidFill>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l">
                        <a:spcBef>
                          <a:spcPts val="400"/>
                        </a:spcBef>
                        <a:spcAft>
                          <a:spcPts val="400"/>
                        </a:spcAft>
                      </a:pPr>
                      <a:r>
                        <a:rPr lang="en-AU" sz="1200" b="1" dirty="0">
                          <a:solidFill>
                            <a:srgbClr val="FFFFFF"/>
                          </a:solidFill>
                          <a:latin typeface="Helvetica"/>
                          <a:ea typeface="Calibri"/>
                          <a:cs typeface="Calibri"/>
                        </a:rPr>
                        <a:t>$ Spent</a:t>
                      </a:r>
                      <a:endParaRPr lang="en-US" sz="1200" b="1" dirty="0">
                        <a:solidFill>
                          <a:srgbClr val="000000"/>
                        </a:solidFill>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l">
                        <a:spcBef>
                          <a:spcPts val="400"/>
                        </a:spcBef>
                        <a:spcAft>
                          <a:spcPts val="400"/>
                        </a:spcAft>
                      </a:pPr>
                      <a:r>
                        <a:rPr lang="en-AU" sz="1200" b="1" dirty="0">
                          <a:solidFill>
                            <a:srgbClr val="FFFFFF"/>
                          </a:solidFill>
                          <a:latin typeface="Helvetica"/>
                          <a:ea typeface="Calibri"/>
                          <a:cs typeface="Calibri"/>
                        </a:rPr>
                        <a:t>Action taken</a:t>
                      </a:r>
                      <a:endParaRPr lang="en-US" sz="1200" b="1" dirty="0">
                        <a:solidFill>
                          <a:srgbClr val="000000"/>
                        </a:solidFill>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l">
                        <a:spcBef>
                          <a:spcPts val="400"/>
                        </a:spcBef>
                        <a:spcAft>
                          <a:spcPts val="400"/>
                        </a:spcAft>
                      </a:pPr>
                      <a:r>
                        <a:rPr lang="en-AU" sz="1200" b="1" dirty="0">
                          <a:solidFill>
                            <a:srgbClr val="FFFFFF"/>
                          </a:solidFill>
                          <a:latin typeface="Helvetica"/>
                          <a:ea typeface="Calibri"/>
                          <a:cs typeface="Calibri"/>
                        </a:rPr>
                        <a:t>Evaluation</a:t>
                      </a:r>
                      <a:endParaRPr lang="en-US" sz="1200" b="1" dirty="0">
                        <a:solidFill>
                          <a:srgbClr val="000000"/>
                        </a:solidFill>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gn="l">
                        <a:spcBef>
                          <a:spcPts val="400"/>
                        </a:spcBef>
                        <a:spcAft>
                          <a:spcPts val="400"/>
                        </a:spcAft>
                      </a:pPr>
                      <a:r>
                        <a:rPr lang="en-AU" sz="1200" b="1" dirty="0">
                          <a:solidFill>
                            <a:srgbClr val="FFFFFF"/>
                          </a:solidFill>
                          <a:latin typeface="Helvetica"/>
                          <a:ea typeface="Calibri"/>
                          <a:cs typeface="Calibri"/>
                        </a:rPr>
                        <a:t>Further Action Needed</a:t>
                      </a:r>
                      <a:endParaRPr lang="en-US" sz="1200" b="1" dirty="0">
                        <a:solidFill>
                          <a:srgbClr val="000000"/>
                        </a:solidFill>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r>
              <a:tr h="410619">
                <a:tc>
                  <a:txBody>
                    <a:bodyPr/>
                    <a:lstStyle/>
                    <a:p>
                      <a:pPr marL="0" marR="0" indent="0" algn="l">
                        <a:spcBef>
                          <a:spcPts val="300"/>
                        </a:spcBef>
                        <a:spcAft>
                          <a:spcPts val="400"/>
                        </a:spcAft>
                      </a:pPr>
                      <a:endParaRPr lang="en-AU" sz="1200" b="1" dirty="0">
                        <a:latin typeface="Helvetica"/>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spcBef>
                          <a:spcPts val="300"/>
                        </a:spcBef>
                        <a:spcAft>
                          <a:spcPts val="400"/>
                        </a:spcAft>
                      </a:pPr>
                      <a:endParaRPr lang="en-AU" sz="1200" b="1" dirty="0">
                        <a:latin typeface="Helvetica"/>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3390" marR="0" indent="-226695" algn="l">
                        <a:spcBef>
                          <a:spcPts val="300"/>
                        </a:spcBef>
                        <a:spcAft>
                          <a:spcPts val="400"/>
                        </a:spcAft>
                      </a:pPr>
                      <a:endParaRPr lang="en-AU" sz="1200" b="1" dirty="0">
                        <a:latin typeface="Helvetica"/>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spcBef>
                          <a:spcPts val="300"/>
                        </a:spcBef>
                        <a:spcAft>
                          <a:spcPts val="400"/>
                        </a:spcAft>
                      </a:pPr>
                      <a:endParaRPr lang="en-AU" sz="1200" b="1" dirty="0">
                        <a:latin typeface="Helvetica"/>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0619">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0619">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0619">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0619">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0619">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00"/>
                        </a:spcBef>
                        <a:spcAft>
                          <a:spcPts val="400"/>
                        </a:spcAft>
                      </a:pPr>
                      <a:endParaRPr lang="en-AU" sz="1200" b="1" dirty="0">
                        <a:latin typeface="Helvetica"/>
                        <a:ea typeface="Calibri"/>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PPT_FO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PPT_FO_template_250612</Template>
  <TotalTime>22</TotalTime>
  <Words>3569</Words>
  <Application>Microsoft Office PowerPoint</Application>
  <PresentationFormat>On-screen Show (4:3)</PresentationFormat>
  <Paragraphs>455</Paragraphs>
  <Slides>35</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Franklin Gothic Book</vt:lpstr>
      <vt:lpstr>Helvetica</vt:lpstr>
      <vt:lpstr>Times New Roman</vt:lpstr>
      <vt:lpstr>Wingdings</vt:lpstr>
      <vt:lpstr>Wingdings 2</vt:lpstr>
      <vt:lpstr>PPT_FO_template_250612</vt:lpstr>
      <vt:lpstr>EVALUATE THE EFFECTIVENESS OF AN ASSESSMENT SYSTEM</vt:lpstr>
      <vt:lpstr>1. Plan the evaluation of the assessment system</vt:lpstr>
      <vt:lpstr>1.1 Identify the purpose and role of the evaluation</vt:lpstr>
      <vt:lpstr>1.2 Define the assessment system </vt:lpstr>
      <vt:lpstr>1.3 Identify the needs of the stakeholders</vt:lpstr>
      <vt:lpstr>1.3 Identify the needs of the stakeholders cont’d</vt:lpstr>
      <vt:lpstr>1.4 Identify and obtain resources to enable the evaluation </vt:lpstr>
      <vt:lpstr>1.5 Develop an evaluation plan</vt:lpstr>
      <vt:lpstr>1.5 Develop an evaluation plan cont’d</vt:lpstr>
      <vt:lpstr>1.6 Determine the evidence that needs to be captured during the evaluation</vt:lpstr>
      <vt:lpstr>1.7 Define the criteria for determining the effectiveness of the assessment system</vt:lpstr>
      <vt:lpstr>1.7 Define the criteria for determining the effectiveness of the assessment system</vt:lpstr>
      <vt:lpstr>1.8 Identify cost-effective methods for capturing and analysing evaluation data</vt:lpstr>
      <vt:lpstr>1.9 Develop tools to capture identified evidence regarding the effectiveness of the assessment system</vt:lpstr>
      <vt:lpstr>1.9 Develop tools to capture identified evidence regarding the effectiveness of the assessment system </vt:lpstr>
      <vt:lpstr>2. Undertake the evaluation of the assessment system</vt:lpstr>
      <vt:lpstr>2.1 Trial the data gathering tools and techniques</vt:lpstr>
      <vt:lpstr>2.2 Revise the data gathering tools and techniques on the basis of trials conducted </vt:lpstr>
      <vt:lpstr>2.3 Collect the identified evidence in accordance with the approved evaluation plan</vt:lpstr>
      <vt:lpstr>2.3 Collect the identified evidence in accordance with the approved evaluation plan </vt:lpstr>
      <vt:lpstr>2.4 Store data</vt:lpstr>
      <vt:lpstr>2.5 Analyse the data</vt:lpstr>
      <vt:lpstr>2.5 Analyse the data cont’d</vt:lpstr>
      <vt:lpstr>3. Prepare an evaluation report</vt:lpstr>
      <vt:lpstr>3.1 Produce a written evaluation report</vt:lpstr>
      <vt:lpstr>3.1 Produce a written evaluation report cont’d</vt:lpstr>
      <vt:lpstr>3.2 Distribute report to stakeholders for comment</vt:lpstr>
      <vt:lpstr>3.2 Distribute report to stakeholders for comment </vt:lpstr>
      <vt:lpstr>3.2 Distribute report to stakeholders for comment</vt:lpstr>
      <vt:lpstr>3.3 Make a verbal presentation</vt:lpstr>
      <vt:lpstr>3.3 Make a verbal presentation</vt:lpstr>
      <vt:lpstr>3.4 Gather feedback on the report </vt:lpstr>
      <vt:lpstr>3.5 Revising draft recommendations on the basis of feedback received</vt:lpstr>
      <vt:lpstr>3.6 Determine action to be taken as a result of the evaluation</vt:lpstr>
      <vt:lpstr>3.6 Determine action to be taken as a result of the evaluation cont’d</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EVALUATE THE EFFECTIVENESS OF AN ASSESSMENT SYSTEM</dc:title>
  <dc:creator>Administrator</dc:creator>
  <cp:lastModifiedBy>Carla Angelica Co</cp:lastModifiedBy>
  <cp:revision>3</cp:revision>
  <dcterms:created xsi:type="dcterms:W3CDTF">2013-08-01T00:11:00Z</dcterms:created>
  <dcterms:modified xsi:type="dcterms:W3CDTF">2015-03-28T07:08:56Z</dcterms:modified>
</cp:coreProperties>
</file>