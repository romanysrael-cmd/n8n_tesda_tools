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1"/>
  </p:notesMasterIdLst>
  <p:handoutMasterIdLst>
    <p:handoutMasterId r:id="rId72"/>
  </p:handoutMasterIdLst>
  <p:sldIdLst>
    <p:sldId id="256" r:id="rId2"/>
    <p:sldId id="300" r:id="rId3"/>
    <p:sldId id="301" r:id="rId4"/>
    <p:sldId id="302" r:id="rId5"/>
    <p:sldId id="257" r:id="rId6"/>
    <p:sldId id="331" r:id="rId7"/>
    <p:sldId id="258" r:id="rId8"/>
    <p:sldId id="321" r:id="rId9"/>
    <p:sldId id="259" r:id="rId10"/>
    <p:sldId id="322" r:id="rId11"/>
    <p:sldId id="323" r:id="rId12"/>
    <p:sldId id="260" r:id="rId13"/>
    <p:sldId id="324" r:id="rId14"/>
    <p:sldId id="334" r:id="rId15"/>
    <p:sldId id="333" r:id="rId16"/>
    <p:sldId id="332" r:id="rId17"/>
    <p:sldId id="325" r:id="rId18"/>
    <p:sldId id="327" r:id="rId19"/>
    <p:sldId id="328" r:id="rId20"/>
    <p:sldId id="347" r:id="rId21"/>
    <p:sldId id="330" r:id="rId22"/>
    <p:sldId id="329" r:id="rId23"/>
    <p:sldId id="337" r:id="rId24"/>
    <p:sldId id="336" r:id="rId25"/>
    <p:sldId id="335" r:id="rId26"/>
    <p:sldId id="338" r:id="rId27"/>
    <p:sldId id="339" r:id="rId28"/>
    <p:sldId id="340" r:id="rId29"/>
    <p:sldId id="303" r:id="rId30"/>
    <p:sldId id="261" r:id="rId31"/>
    <p:sldId id="341" r:id="rId32"/>
    <p:sldId id="263" r:id="rId33"/>
    <p:sldId id="348" r:id="rId34"/>
    <p:sldId id="349" r:id="rId35"/>
    <p:sldId id="342" r:id="rId36"/>
    <p:sldId id="343" r:id="rId37"/>
    <p:sldId id="344" r:id="rId38"/>
    <p:sldId id="345" r:id="rId39"/>
    <p:sldId id="264" r:id="rId40"/>
    <p:sldId id="350" r:id="rId41"/>
    <p:sldId id="353" r:id="rId42"/>
    <p:sldId id="355" r:id="rId43"/>
    <p:sldId id="265" r:id="rId44"/>
    <p:sldId id="266" r:id="rId45"/>
    <p:sldId id="267" r:id="rId46"/>
    <p:sldId id="356" r:id="rId47"/>
    <p:sldId id="357" r:id="rId48"/>
    <p:sldId id="268" r:id="rId49"/>
    <p:sldId id="358" r:id="rId50"/>
    <p:sldId id="270" r:id="rId51"/>
    <p:sldId id="359" r:id="rId52"/>
    <p:sldId id="271" r:id="rId53"/>
    <p:sldId id="272" r:id="rId54"/>
    <p:sldId id="273" r:id="rId55"/>
    <p:sldId id="360" r:id="rId56"/>
    <p:sldId id="274" r:id="rId57"/>
    <p:sldId id="361" r:id="rId58"/>
    <p:sldId id="362" r:id="rId59"/>
    <p:sldId id="363" r:id="rId60"/>
    <p:sldId id="364" r:id="rId61"/>
    <p:sldId id="365" r:id="rId62"/>
    <p:sldId id="275" r:id="rId63"/>
    <p:sldId id="276" r:id="rId64"/>
    <p:sldId id="277" r:id="rId65"/>
    <p:sldId id="368" r:id="rId66"/>
    <p:sldId id="369" r:id="rId67"/>
    <p:sldId id="370" r:id="rId68"/>
    <p:sldId id="278" r:id="rId69"/>
    <p:sldId id="299" r:id="rId7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90493" autoAdjust="0"/>
  </p:normalViewPr>
  <p:slideViewPr>
    <p:cSldViewPr>
      <p:cViewPr varScale="1">
        <p:scale>
          <a:sx n="83" d="100"/>
          <a:sy n="83" d="100"/>
        </p:scale>
        <p:origin x="144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7/4/2016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7/4/2016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themselves</a:t>
            </a:r>
            <a:r>
              <a:rPr lang="en-AU" baseline="0" noProof="0" dirty="0" smtClean="0"/>
              <a:t> and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023189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Helvetica" pitchFamily="34" charset="0"/>
                <a:ea typeface="+mn-ea"/>
                <a:cs typeface="+mn-cs"/>
              </a:rPr>
              <a:t>Trainer advises this Unit comprises five Elements, as listed on the slide explaining:</a:t>
            </a:r>
          </a:p>
          <a:p>
            <a:r>
              <a:rPr lang="en-AU" sz="1200" kern="1200" baseline="0" dirty="0" smtClean="0">
                <a:solidFill>
                  <a:schemeClr val="tx1"/>
                </a:solidFill>
                <a:latin typeface="Helvetica" pitchFamily="34" charset="0"/>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Helvetica" pitchFamily="34" charset="0"/>
                <a:ea typeface="+mn-ea"/>
                <a:cs typeface="+mn-cs"/>
              </a:rPr>
              <a:t>• Trainees can obtain more detail from their Trainee Manual(TM)</a:t>
            </a:r>
          </a:p>
          <a:p>
            <a:r>
              <a:rPr lang="en-AU" sz="1200" kern="1200" baseline="0" dirty="0" smtClean="0">
                <a:solidFill>
                  <a:schemeClr val="tx1"/>
                </a:solidFill>
                <a:latin typeface="Helvetica" pitchFamily="34" charset="0"/>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sz="1200" kern="1200" baseline="0" dirty="0" smtClean="0">
              <a:solidFill>
                <a:schemeClr val="tx1"/>
              </a:solidFill>
              <a:latin typeface="Helvetica" pitchFamily="34" charset="0"/>
              <a:ea typeface="+mn-ea"/>
              <a:cs typeface="+mn-cs"/>
            </a:endParaRPr>
          </a:p>
          <a:p>
            <a:endParaRPr kumimoji="0" lang="en-US" sz="1200" b="0"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171450" indent="-171450">
              <a:buFont typeface="Arial" panose="020B0604020202020204" pitchFamily="34" charset="0"/>
              <a:buChar char="•"/>
            </a:pPr>
            <a:r>
              <a:rPr kumimoji="0" lang="en-US" sz="1200" b="0" i="0" u="none" strike="noStrike" kern="1200" cap="none" spc="0" normalizeH="0" baseline="0" noProof="0" dirty="0" smtClean="0">
                <a:ln>
                  <a:noFill/>
                </a:ln>
                <a:solidFill>
                  <a:prstClr val="black"/>
                </a:solidFill>
                <a:effectLst/>
                <a:uLnTx/>
                <a:uFillTx/>
                <a:latin typeface="Helvetica" pitchFamily="34" charset="0"/>
              </a:rPr>
              <a:t>Discuss housekeeping issues such as times of attendance, expected classroom behavior, contact details, any resources required such as a calculator.</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Helvetica" pitchFamily="34" charset="0"/>
              </a:rPr>
              <a:t>Explain that the trainees will be assessed and the requirements of those assessments.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a:t>
            </a:fld>
            <a:endParaRPr lang="en-US" dirty="0">
              <a:solidFill>
                <a:prstClr val="black"/>
              </a:solidFill>
            </a:endParaRPr>
          </a:p>
        </p:txBody>
      </p:sp>
    </p:spTree>
    <p:extLst>
      <p:ext uri="{BB962C8B-B14F-4D97-AF65-F5344CB8AC3E}">
        <p14:creationId xmlns:p14="http://schemas.microsoft.com/office/powerpoint/2010/main" val="710282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7552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Trainer introduces the four performance criteria which make up</a:t>
            </a:r>
            <a:r>
              <a:rPr lang="en-AU" baseline="0" noProof="0" dirty="0" smtClean="0"/>
              <a:t> Element 1</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101318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Working through the associated pages in the Trainee</a:t>
            </a:r>
            <a:r>
              <a:rPr lang="en-AU" baseline="0" noProof="0" dirty="0" smtClean="0"/>
              <a:t> Manual (TM) have discussion about each topic; types of information sourced. Regularity of use.</a:t>
            </a:r>
          </a:p>
          <a:p>
            <a:pPr>
              <a:buFont typeface="Arial" pitchFamily="34" charset="0"/>
              <a:buChar char="•"/>
            </a:pPr>
            <a:r>
              <a:rPr lang="en-AU" baseline="0" noProof="0" dirty="0" smtClean="0"/>
              <a:t>(CRS image on next slide)</a:t>
            </a:r>
          </a:p>
          <a:p>
            <a:pPr>
              <a:buFont typeface="Arial" pitchFamily="34" charset="0"/>
              <a:buChar char="•"/>
            </a:pPr>
            <a:endParaRPr lang="en-AU" baseline="0" noProof="0" dirty="0" smtClean="0"/>
          </a:p>
          <a:p>
            <a:pPr>
              <a:buFont typeface="Arial" pitchFamily="34" charset="0"/>
              <a:buChar char="•"/>
            </a:pPr>
            <a:r>
              <a:rPr lang="en-AU" baseline="0" noProof="0" dirty="0" smtClean="0"/>
              <a:t>You may choose for trainees to conduct searches from various systems if they are available to you</a:t>
            </a:r>
          </a:p>
          <a:p>
            <a:pPr>
              <a:buFont typeface="Arial" pitchFamily="34" charset="0"/>
              <a:buChar char="•"/>
            </a:pPr>
            <a:endParaRPr lang="en-AU" noProof="0" dirty="0" smtClean="0"/>
          </a:p>
          <a:p>
            <a:pPr>
              <a:buFont typeface="Arial" pitchFamily="34" charset="0"/>
              <a:buChar char="•"/>
            </a:pPr>
            <a:r>
              <a:rPr lang="en-AU" noProof="0" dirty="0" smtClean="0"/>
              <a:t>Complete Activity 1</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382416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Trainer to lead a class discussion to</a:t>
            </a:r>
            <a:r>
              <a:rPr lang="en-AU" baseline="0" dirty="0" smtClean="0"/>
              <a:t> compile a list of systems and sources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646433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Obtain a copy of your IT policy and procedures for comparison.</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smtClean="0"/>
          </a:p>
          <a:p>
            <a:pPr>
              <a:buFont typeface="Arial" pitchFamily="34" charset="0"/>
              <a:buChar char="•"/>
            </a:pPr>
            <a:r>
              <a:rPr lang="en-AU" noProof="0" dirty="0" smtClean="0"/>
              <a:t>Work through each of the points in the TM. Compare these</a:t>
            </a:r>
            <a:r>
              <a:rPr lang="en-AU" baseline="0" noProof="0" dirty="0" smtClean="0"/>
              <a:t> notes against what is listed in your IT policy.</a:t>
            </a:r>
          </a:p>
          <a:p>
            <a:pPr>
              <a:buFont typeface="Arial" pitchFamily="34" charset="0"/>
              <a:buChar char="•"/>
            </a:pPr>
            <a:r>
              <a:rPr lang="en-AU" baseline="0" noProof="0" dirty="0" smtClean="0"/>
              <a:t>Check trainee knowledge and experience in this area – from current/previous workplace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trainees are aware of  the following</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Licenses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Software licensing</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Intellectual property (IP)</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Confidentially laws/requirements</a:t>
            </a:r>
          </a:p>
          <a:p>
            <a:pPr>
              <a:buFont typeface="Arial" pitchFamily="34" charset="0"/>
              <a:buChar char="•"/>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335920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baseline="0" noProof="0" dirty="0" smtClean="0"/>
              <a:t>From previous slide</a:t>
            </a:r>
          </a:p>
          <a:p>
            <a:pPr>
              <a:buFont typeface="Arial" pitchFamily="34" charset="0"/>
              <a:buChar char="•"/>
            </a:pPr>
            <a:r>
              <a:rPr lang="en-AU" baseline="0" noProof="0" dirty="0" smtClean="0"/>
              <a:t>Ensure trainees are aware of  the following</a:t>
            </a:r>
          </a:p>
          <a:p>
            <a:pPr lvl="1">
              <a:buFont typeface="Arial" pitchFamily="34" charset="0"/>
              <a:buChar char="•"/>
            </a:pPr>
            <a:r>
              <a:rPr lang="en-AU" baseline="0" noProof="0" dirty="0" smtClean="0"/>
              <a:t>Licenses</a:t>
            </a:r>
          </a:p>
          <a:p>
            <a:pPr lvl="1">
              <a:buFont typeface="Arial" pitchFamily="34" charset="0"/>
              <a:buChar char="•"/>
            </a:pPr>
            <a:r>
              <a:rPr lang="en-AU" baseline="0" noProof="0" dirty="0" smtClean="0"/>
              <a:t>Software licensing</a:t>
            </a:r>
          </a:p>
          <a:p>
            <a:pPr lvl="1">
              <a:buFont typeface="Arial" pitchFamily="34" charset="0"/>
              <a:buChar char="•"/>
            </a:pPr>
            <a:r>
              <a:rPr lang="en-AU" baseline="0" noProof="0" dirty="0" smtClean="0"/>
              <a:t>Intellectual property (IP)</a:t>
            </a:r>
          </a:p>
          <a:p>
            <a:pPr lvl="1">
              <a:buFont typeface="Arial" pitchFamily="34" charset="0"/>
              <a:buChar char="•"/>
            </a:pPr>
            <a:r>
              <a:rPr lang="en-AU" baseline="0" noProof="0" dirty="0" smtClean="0"/>
              <a:t>Confidentially laws/requirements</a:t>
            </a:r>
          </a:p>
          <a:p>
            <a:pPr lvl="1">
              <a:buFont typeface="Arial" pitchFamily="34" charset="0"/>
              <a:buChar char="•"/>
            </a:pPr>
            <a:endParaRPr lang="en-AU" baseline="0" noProof="0" dirty="0" smtClean="0"/>
          </a:p>
          <a:p>
            <a:pPr>
              <a:buFont typeface="Arial" pitchFamily="34" charset="0"/>
              <a:buChar char="•"/>
            </a:pPr>
            <a:r>
              <a:rPr lang="en-AU" baseline="0" noProof="0" dirty="0" smtClean="0"/>
              <a:t>Complete Activity 2</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1747457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Brainstorm what other information can be obtained.</a:t>
            </a:r>
            <a:r>
              <a:rPr lang="en-AU" baseline="0" noProof="0" dirty="0" smtClean="0"/>
              <a:t> Will one system provide information that another cannot?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845975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baseline="0" noProof="0" dirty="0" smtClean="0"/>
              <a:t>Provide information to trainees about the role of tour operators and wholesalers and the services they provide.</a:t>
            </a:r>
          </a:p>
          <a:p>
            <a:pPr>
              <a:buFont typeface="Arial" pitchFamily="34" charset="0"/>
              <a:buChar char="•"/>
            </a:pPr>
            <a:r>
              <a:rPr lang="en-AU" baseline="0" noProof="0" dirty="0" smtClean="0"/>
              <a:t>Log onto the websites listed in the TM to demonstrate services and offers available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10</a:t>
            </a:fld>
            <a:endParaRPr lang="en-US" dirty="0">
              <a:solidFill>
                <a:prstClr val="black"/>
              </a:solidFill>
            </a:endParaRPr>
          </a:p>
        </p:txBody>
      </p:sp>
    </p:spTree>
    <p:extLst>
      <p:ext uri="{BB962C8B-B14F-4D97-AF65-F5344CB8AC3E}">
        <p14:creationId xmlns:p14="http://schemas.microsoft.com/office/powerpoint/2010/main" val="3104261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Have discussion about company</a:t>
            </a:r>
            <a:r>
              <a:rPr lang="en-AU" baseline="0" noProof="0" dirty="0" smtClean="0"/>
              <a:t> intranets and any trainee knowledge or experience in this area.</a:t>
            </a:r>
          </a:p>
          <a:p>
            <a:pPr>
              <a:buFont typeface="Arial" pitchFamily="34" charset="0"/>
              <a:buChar char="•"/>
            </a:pPr>
            <a:r>
              <a:rPr lang="en-AU" baseline="0" noProof="0" dirty="0" smtClean="0"/>
              <a:t>Use the internet to demonstrate your own company intranet page and key information areas. (Trainees will need to access the student page for Activity 3.)</a:t>
            </a:r>
          </a:p>
          <a:p>
            <a:pPr>
              <a:buFont typeface="Arial" pitchFamily="34" charset="0"/>
              <a:buChar char="•"/>
            </a:pPr>
            <a:r>
              <a:rPr lang="en-AU" baseline="0" noProof="0" dirty="0" smtClean="0"/>
              <a:t>Discuss the many types of information available from a CRS or have trainees brainstorm this on the board. (This is covered in detail on next slide)</a:t>
            </a:r>
          </a:p>
          <a:p>
            <a:pPr>
              <a:buFont typeface="Arial" pitchFamily="34" charset="0"/>
              <a:buChar char="•"/>
            </a:pPr>
            <a:endParaRPr lang="en-AU" baseline="0" noProof="0" dirty="0" smtClean="0"/>
          </a:p>
          <a:p>
            <a:pPr>
              <a:buFont typeface="Arial" pitchFamily="34" charset="0"/>
              <a:buChar char="•"/>
            </a:pPr>
            <a:r>
              <a:rPr lang="en-AU" baseline="0" noProof="0" dirty="0" smtClean="0"/>
              <a:t>Complete activity 3</a:t>
            </a:r>
          </a:p>
          <a:p>
            <a:pPr>
              <a:buFont typeface="Arial" pitchFamily="34" charset="0"/>
              <a:buChar char="•"/>
            </a:pPr>
            <a:endParaRPr lang="en-AU" baseline="0" noProof="0" dirty="0" smtClean="0"/>
          </a:p>
          <a:p>
            <a:pPr>
              <a:buFont typeface="Arial" pitchFamily="34" charset="0"/>
              <a:buChar char="•"/>
            </a:pPr>
            <a:r>
              <a:rPr lang="en-AU" baseline="0" noProof="0" dirty="0" smtClean="0"/>
              <a:t>Discuss Activity 4 to ensure trainees understand what is required</a:t>
            </a:r>
          </a:p>
          <a:p>
            <a:pPr>
              <a:buFont typeface="Arial" pitchFamily="34" charset="0"/>
              <a:buChar char="•"/>
            </a:pPr>
            <a:r>
              <a:rPr lang="en-AU" baseline="0" noProof="0" dirty="0" smtClean="0"/>
              <a:t>Have trainees present this back to the group</a:t>
            </a:r>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3098990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Take time to review the index</a:t>
            </a:r>
            <a:r>
              <a:rPr lang="en-AU" baseline="0" noProof="0" dirty="0" smtClean="0"/>
              <a:t> </a:t>
            </a:r>
            <a:r>
              <a:rPr lang="en-AU" noProof="0" dirty="0" smtClean="0"/>
              <a:t>of the Galileo training handbook as this indicates the functions of the system.</a:t>
            </a:r>
            <a:endParaRPr lang="en-AU" baseline="0" noProof="0" dirty="0" smtClean="0"/>
          </a:p>
          <a:p>
            <a:pPr>
              <a:buFont typeface="Arial" pitchFamily="34" charset="0"/>
              <a:buChar char="•"/>
            </a:pPr>
            <a:r>
              <a:rPr lang="en-AU" baseline="0" noProof="0" dirty="0" smtClean="0"/>
              <a:t>E</a:t>
            </a:r>
            <a:r>
              <a:rPr lang="en-AU" noProof="0" dirty="0" smtClean="0"/>
              <a:t>nsure trainees understand all terminology used</a:t>
            </a:r>
          </a:p>
          <a:p>
            <a:pPr>
              <a:buFont typeface="Arial" pitchFamily="34" charset="0"/>
              <a:buChar char="•"/>
            </a:pPr>
            <a:r>
              <a:rPr lang="en-AU" noProof="0" dirty="0" smtClean="0"/>
              <a:t>Review the pages in the TM which indicate</a:t>
            </a:r>
            <a:r>
              <a:rPr lang="en-AU" baseline="0" noProof="0" dirty="0" smtClean="0"/>
              <a:t> how information is displayed including hotel and car reservations </a:t>
            </a:r>
          </a:p>
          <a:p>
            <a:pPr>
              <a:buFont typeface="Arial" pitchFamily="34" charset="0"/>
              <a:buChar char="•"/>
            </a:pPr>
            <a:r>
              <a:rPr lang="en-AU" baseline="0" noProof="0" dirty="0" smtClean="0"/>
              <a:t>Discuss these pages as necessary.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465016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Take time to review the index</a:t>
            </a:r>
            <a:r>
              <a:rPr lang="en-AU" baseline="0" noProof="0" dirty="0" smtClean="0"/>
              <a:t> </a:t>
            </a:r>
            <a:r>
              <a:rPr lang="en-AU" noProof="0" dirty="0" smtClean="0"/>
              <a:t>of the Galileo training handbook as this indicates the functions of the system.</a:t>
            </a:r>
            <a:endParaRPr lang="en-AU" baseline="0" noProof="0" dirty="0" smtClean="0"/>
          </a:p>
          <a:p>
            <a:pPr>
              <a:buFont typeface="Arial" pitchFamily="34" charset="0"/>
              <a:buChar char="•"/>
            </a:pPr>
            <a:r>
              <a:rPr lang="en-AU" baseline="0" noProof="0" dirty="0" smtClean="0"/>
              <a:t>E</a:t>
            </a:r>
            <a:r>
              <a:rPr lang="en-AU" noProof="0" dirty="0" smtClean="0"/>
              <a:t>nsure trainees understand all terminology used</a:t>
            </a:r>
          </a:p>
          <a:p>
            <a:pPr>
              <a:buFont typeface="Arial" pitchFamily="34" charset="0"/>
              <a:buChar char="•"/>
            </a:pPr>
            <a:r>
              <a:rPr lang="en-AU" noProof="0" dirty="0" smtClean="0"/>
              <a:t>Review the pages in the TM which indicate</a:t>
            </a:r>
            <a:r>
              <a:rPr lang="en-AU" baseline="0" noProof="0" dirty="0" smtClean="0"/>
              <a:t> how information is displayed including hotel and car reservations </a:t>
            </a:r>
          </a:p>
          <a:p>
            <a:pPr>
              <a:buFont typeface="Arial" pitchFamily="34" charset="0"/>
              <a:buChar char="•"/>
            </a:pPr>
            <a:r>
              <a:rPr lang="en-AU" baseline="0" noProof="0" dirty="0" smtClean="0"/>
              <a:t>Discuss these pages as necessary.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3482340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Image</a:t>
            </a:r>
            <a:r>
              <a:rPr lang="en-AU" baseline="0" dirty="0" smtClean="0"/>
              <a:t> from TM. Discuss as necessary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3547069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Image from TM. Discuss as necessary</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412312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Image from TM. Discuss as necessary</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913593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Take time to review the index</a:t>
            </a:r>
            <a:r>
              <a:rPr lang="en-AU" baseline="0" noProof="0" dirty="0" smtClean="0"/>
              <a:t> </a:t>
            </a:r>
            <a:r>
              <a:rPr lang="en-AU" noProof="0" dirty="0" smtClean="0"/>
              <a:t>of the Galileo training handbook as this indicates the functions of the system.</a:t>
            </a:r>
            <a:endParaRPr lang="en-AU" baseline="0" noProof="0" dirty="0" smtClean="0"/>
          </a:p>
          <a:p>
            <a:pPr>
              <a:buFont typeface="Arial" pitchFamily="34" charset="0"/>
              <a:buChar char="•"/>
            </a:pPr>
            <a:r>
              <a:rPr lang="en-AU" baseline="0" noProof="0" dirty="0" smtClean="0"/>
              <a:t>E</a:t>
            </a:r>
            <a:r>
              <a:rPr lang="en-AU" noProof="0" dirty="0" smtClean="0"/>
              <a:t>nsure trainees understand all terminology used</a:t>
            </a:r>
          </a:p>
          <a:p>
            <a:pPr>
              <a:buFont typeface="Arial" pitchFamily="34" charset="0"/>
              <a:buChar char="•"/>
            </a:pPr>
            <a:r>
              <a:rPr lang="en-AU" noProof="0" dirty="0" smtClean="0"/>
              <a:t>Review the pages in the TM which indicate</a:t>
            </a:r>
            <a:r>
              <a:rPr lang="en-AU" baseline="0" noProof="0" dirty="0" smtClean="0"/>
              <a:t> how information is displayed including hotel and car reservations </a:t>
            </a:r>
          </a:p>
          <a:p>
            <a:pPr>
              <a:buFont typeface="Arial" pitchFamily="34" charset="0"/>
              <a:buChar char="•"/>
            </a:pPr>
            <a:r>
              <a:rPr lang="en-AU" baseline="0" noProof="0" dirty="0" smtClean="0"/>
              <a:t>Discuss these pages as necessary.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2602144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A simple visual</a:t>
            </a:r>
            <a:r>
              <a:rPr lang="en-AU" baseline="0" noProof="0" dirty="0" smtClean="0"/>
              <a:t> image of how it all works.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4084532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Ensure</a:t>
            </a:r>
            <a:r>
              <a:rPr lang="en-AU" baseline="0" dirty="0" smtClean="0"/>
              <a:t> trainees are familiar with terminology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825488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Ensure</a:t>
            </a:r>
            <a:r>
              <a:rPr lang="en-AU" baseline="0" dirty="0" smtClean="0"/>
              <a:t> trainees are familiar with terminology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825488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as necessary.</a:t>
            </a:r>
            <a:r>
              <a:rPr lang="en-AU" baseline="0" dirty="0" smtClean="0"/>
              <a:t> Bring attention to terminology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4007101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as necessary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740467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Lead a class discussion on student’s use of the internet in their</a:t>
            </a:r>
            <a:r>
              <a:rPr lang="en-AU" baseline="0" dirty="0" smtClean="0"/>
              <a:t> personal lives; then take the discussion to their professional lives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41181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It</a:t>
            </a:r>
            <a:r>
              <a:rPr lang="en-AU" baseline="0" dirty="0" smtClean="0"/>
              <a:t> is likely most trainees will be familiar with this content. If so, use this opportunity to have them explain their understanding.</a:t>
            </a:r>
          </a:p>
          <a:p>
            <a:r>
              <a:rPr lang="en-AU" baseline="0" dirty="0" smtClean="0"/>
              <a:t>Ensure everyone understands these functions as computer skills can vary greatly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737494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Discuss as needed. Compare against program  in use in your workplace or study area</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130905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Discuss as needed. Compare against program  in use in your workplace or study area</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565217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Access</a:t>
            </a:r>
            <a:r>
              <a:rPr lang="en-AU" baseline="0" dirty="0" smtClean="0"/>
              <a:t> this web page will take you to the image displayed in the TM in order to demonstrate the hyperlinks. Many trainees will already be familiar with this function</a:t>
            </a:r>
          </a:p>
          <a:p>
            <a:endParaRPr lang="en-AU" baseline="0" dirty="0" smtClean="0"/>
          </a:p>
          <a:p>
            <a:r>
              <a:rPr lang="en-AU" baseline="0" dirty="0" smtClean="0"/>
              <a:t>Complete Activity 5</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598279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aseline="0" dirty="0" smtClean="0"/>
              <a:t>Again, it is likely trainees will be familiar with this content however take time to ensure no one is left behind.</a:t>
            </a:r>
          </a:p>
          <a:p>
            <a:r>
              <a:rPr lang="en-AU" baseline="0" dirty="0" smtClean="0"/>
              <a:t>After reviewing the information ask trainees (even if they thought they knew it all) if they were able to learn one new thing they didn’t know before, no matter how small</a:t>
            </a:r>
          </a:p>
          <a:p>
            <a:endParaRPr lang="en-AU" baseline="0" dirty="0" smtClean="0"/>
          </a:p>
          <a:p>
            <a:endParaRPr lang="en-AU"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all work projects have been completed and handed into trainer ensuring cover page details are attached for assessment tracking.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Review the summary page for Element 1 to confirm what has been completed for this element.</a:t>
            </a:r>
          </a:p>
          <a:p>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598279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noProof="0" dirty="0" smtClean="0"/>
              <a:t>Introduce the five</a:t>
            </a:r>
            <a:r>
              <a:rPr lang="en-AU" baseline="0" noProof="0" dirty="0" smtClean="0"/>
              <a:t> performance criteria which make up Element 2</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17525763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Can trainees add anything more to this list?</a:t>
            </a:r>
          </a:p>
          <a:p>
            <a:pPr>
              <a:buFont typeface="Arial" pitchFamily="34" charset="0"/>
              <a:buChar char="•"/>
            </a:pPr>
            <a:r>
              <a:rPr lang="en-US" dirty="0" smtClean="0"/>
              <a:t>Refer</a:t>
            </a:r>
            <a:r>
              <a:rPr lang="en-US" baseline="0" dirty="0" smtClean="0"/>
              <a:t> to the example in the TM of differing client needs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3680041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Take time to discuss customer service skills.</a:t>
            </a:r>
          </a:p>
          <a:p>
            <a:pPr>
              <a:buFont typeface="Arial" pitchFamily="34" charset="0"/>
              <a:buChar char="•"/>
            </a:pPr>
            <a:r>
              <a:rPr lang="en-US" dirty="0" smtClean="0"/>
              <a:t>Refer to the example for consideration in TM</a:t>
            </a:r>
          </a:p>
          <a:p>
            <a:pPr>
              <a:buFont typeface="Arial" pitchFamily="34" charset="0"/>
              <a:buChar char="•"/>
            </a:pPr>
            <a:r>
              <a:rPr lang="en-US" dirty="0" smtClean="0"/>
              <a:t>Each client</a:t>
            </a:r>
            <a:r>
              <a:rPr lang="en-US" baseline="0" dirty="0" smtClean="0"/>
              <a:t> is different</a:t>
            </a:r>
          </a:p>
          <a:p>
            <a:pPr>
              <a:buFont typeface="Arial" pitchFamily="34" charset="0"/>
              <a:buChar char="•"/>
            </a:pPr>
            <a:r>
              <a:rPr lang="en-US" baseline="0" dirty="0" smtClean="0"/>
              <a:t>Discuss sales skills required when dealing with initial enquiries and clarifying wants and needs. Types of questions to use.</a:t>
            </a:r>
          </a:p>
          <a:p>
            <a:pPr>
              <a:buFont typeface="Arial" pitchFamily="34" charset="0"/>
              <a:buChar char="•"/>
            </a:pPr>
            <a:r>
              <a:rPr lang="en-US" baseline="0" dirty="0" smtClean="0"/>
              <a:t>Provide examples of how to phrase questions to obtain more in-depth answers</a:t>
            </a:r>
          </a:p>
          <a:p>
            <a:pPr>
              <a:buFont typeface="Arial" pitchFamily="34" charset="0"/>
              <a:buChar char="•"/>
            </a:pPr>
            <a:r>
              <a:rPr lang="en-US" baseline="0" dirty="0" smtClean="0"/>
              <a:t>Importance of continuing to qualify client wants and needs to gain their satisfaction.</a:t>
            </a:r>
          </a:p>
          <a:p>
            <a:pPr>
              <a:buFont typeface="Arial" pitchFamily="34" charset="0"/>
              <a:buChar char="•"/>
            </a:pPr>
            <a:r>
              <a:rPr lang="en-US" baseline="0" dirty="0" smtClean="0"/>
              <a:t>Role play in pairs or small groups a client enquiry and practice asking suitable questions to qualify client preference and offer suitable recommendation</a:t>
            </a:r>
          </a:p>
          <a:p>
            <a:pPr>
              <a:buFont typeface="Arial" pitchFamily="34" charset="0"/>
              <a:buChar char="•"/>
            </a:pPr>
            <a:endParaRPr lang="en-US" baseline="0" dirty="0" smtClean="0"/>
          </a:p>
          <a:p>
            <a:pPr>
              <a:buFont typeface="Arial" pitchFamily="34" charset="0"/>
              <a:buChar char="•"/>
            </a:pPr>
            <a:r>
              <a:rPr lang="en-US" baseline="0" dirty="0" smtClean="0"/>
              <a:t>Complete Activity 6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8400354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Share your experience with trainees on how to best approach enquiries and which</a:t>
            </a:r>
            <a:r>
              <a:rPr lang="en-US" baseline="0" dirty="0" smtClean="0"/>
              <a:t> search methods might be a best first approach. Ask trainees to share any experience they may have.</a:t>
            </a:r>
          </a:p>
          <a:p>
            <a:pPr>
              <a:buFont typeface="Arial" pitchFamily="34" charset="0"/>
              <a:buChar char="•"/>
            </a:pPr>
            <a:r>
              <a:rPr lang="en-US" baseline="0" dirty="0" smtClean="0"/>
              <a:t>Enquire if trainees have a preferred search engine and why it is so.</a:t>
            </a:r>
          </a:p>
          <a:p>
            <a:pPr>
              <a:buFont typeface="Arial" pitchFamily="34" charset="0"/>
              <a:buChar char="•"/>
            </a:pPr>
            <a:r>
              <a:rPr lang="en-US" baseline="0" dirty="0" smtClean="0"/>
              <a:t>Review the 5 most poplar search engines in TM</a:t>
            </a:r>
          </a:p>
          <a:p>
            <a:pPr>
              <a:buFont typeface="Arial" pitchFamily="34" charset="0"/>
              <a:buChar char="•"/>
            </a:pPr>
            <a:r>
              <a:rPr lang="en-US" baseline="0" dirty="0" smtClean="0"/>
              <a:t>Review making an enquiry in a search engine and the results presented. If you have access to the internet conduct a different enquiry for the group and interpret the results page for them</a:t>
            </a:r>
          </a:p>
          <a:p>
            <a:pPr>
              <a:buFont typeface="Arial" pitchFamily="34" charset="0"/>
              <a:buChar char="•"/>
            </a:pPr>
            <a:r>
              <a:rPr lang="en-US" baseline="0" dirty="0" smtClean="0"/>
              <a:t>Answer any questions trainees may have about this before asking them to </a:t>
            </a:r>
          </a:p>
          <a:p>
            <a:pPr>
              <a:buFont typeface="Arial" pitchFamily="34" charset="0"/>
              <a:buNone/>
            </a:pPr>
            <a:r>
              <a:rPr lang="en-US" baseline="0" dirty="0" smtClean="0"/>
              <a:t>Complete Activity 7</a:t>
            </a:r>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380424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as needed. Select images as needed.</a:t>
            </a: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4765399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If access to internet is available, enter a search topic to demonstrate how to access web pages and images</a:t>
            </a: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962805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Share your experience with trainees on phrasing enquiries and discuss further</a:t>
            </a:r>
            <a:r>
              <a:rPr lang="en-US" baseline="0" dirty="0" smtClean="0"/>
              <a:t> as needed</a:t>
            </a:r>
            <a:endParaRPr lang="en-US" dirty="0" smtClean="0"/>
          </a:p>
          <a:p>
            <a:pPr>
              <a:buFont typeface="Arial" pitchFamily="34" charset="0"/>
              <a:buChar char="•"/>
            </a:pP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0333193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Continued from previous slide.</a:t>
            </a:r>
          </a:p>
          <a:p>
            <a:pPr>
              <a:buFont typeface="Arial" pitchFamily="34" charset="0"/>
              <a:buChar char="•"/>
            </a:pPr>
            <a:r>
              <a:rPr lang="en-US" dirty="0" smtClean="0"/>
              <a:t>Ask trainees to consider their search enquiry phrase or key words for Activity 8. Provide a time allowance for completion</a:t>
            </a:r>
          </a:p>
          <a:p>
            <a:pPr>
              <a:buFont typeface="Arial" pitchFamily="34" charset="0"/>
              <a:buChar char="•"/>
            </a:pPr>
            <a:endParaRPr lang="en-US" dirty="0" smtClean="0"/>
          </a:p>
          <a:p>
            <a:pPr>
              <a:buFont typeface="Arial" pitchFamily="34" charset="0"/>
              <a:buChar char="•"/>
            </a:pPr>
            <a:r>
              <a:rPr lang="en-US" dirty="0" smtClean="0"/>
              <a:t>Complete</a:t>
            </a:r>
            <a:r>
              <a:rPr lang="en-US" baseline="0" dirty="0" smtClean="0"/>
              <a:t> Activity 8. Once completed randomly ask for answers to each question. Did anyone approach the question differently? Which search engine was used?</a:t>
            </a:r>
            <a:endParaRPr lang="en-US" dirty="0" smtClean="0"/>
          </a:p>
          <a:p>
            <a:pPr>
              <a:buFont typeface="Arial" pitchFamily="34" charset="0"/>
              <a:buChar char="•"/>
            </a:pPr>
            <a:endParaRPr lang="en-US" dirty="0" smtClean="0"/>
          </a:p>
          <a:p>
            <a:pPr>
              <a:buFont typeface="Arial" pitchFamily="34" charset="0"/>
              <a:buChar char="•"/>
            </a:pP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2469811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the example from the TM listed here.</a:t>
            </a:r>
          </a:p>
          <a:p>
            <a:pPr>
              <a:buFont typeface="Arial" pitchFamily="34" charset="0"/>
              <a:buChar char="•"/>
            </a:pPr>
            <a:r>
              <a:rPr lang="en-US" dirty="0" smtClean="0"/>
              <a:t>Brainstorm suggestions for</a:t>
            </a:r>
            <a:r>
              <a:rPr lang="en-US" baseline="0" dirty="0" smtClean="0"/>
              <a:t> Activity 9. You may choose to provide more examples to highlight how you can refine queries to be time efficient.</a:t>
            </a:r>
          </a:p>
          <a:p>
            <a:pPr>
              <a:buFont typeface="Arial" pitchFamily="34" charset="0"/>
              <a:buChar char="•"/>
            </a:pPr>
            <a:r>
              <a:rPr lang="en-US" baseline="0" dirty="0" smtClean="0"/>
              <a:t>Have trainees complete Activity 9</a:t>
            </a:r>
          </a:p>
          <a:p>
            <a:pPr>
              <a:buFont typeface="Arial" pitchFamily="34" charset="0"/>
              <a:buChar char="•"/>
            </a:pPr>
            <a:endParaRPr lang="en-US" baseline="0" dirty="0" smtClean="0"/>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Char char="•"/>
            </a:pP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42733912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mn-lt"/>
              </a:rPr>
              <a:t>Enquire how many trademarks are recognised, how many used by trainee.</a:t>
            </a:r>
          </a:p>
          <a:p>
            <a:pPr marL="0" marR="0" lvl="0" indent="0" algn="l" defTabSz="914400" rtl="0" eaLnBrk="1" fontAlgn="auto" latinLnBrk="0" hangingPunct="1">
              <a:lnSpc>
                <a:spcPct val="100000"/>
              </a:lnSpc>
              <a:spcBef>
                <a:spcPts val="600"/>
              </a:spcBef>
              <a:spcAft>
                <a:spcPts val="1200"/>
              </a:spcAft>
              <a:buClr>
                <a:srgbClr val="7FD13B"/>
              </a:buClr>
              <a:buSzPct val="80000"/>
              <a:buFont typeface="Wingdings 2"/>
              <a:buNone/>
              <a:tabLst/>
              <a:defRPr/>
            </a:pPr>
            <a:endParaRPr kumimoji="0" lang="en-AU" sz="2400" b="0" i="0" u="none" strike="noStrike" kern="1200" cap="none" spc="0" normalizeH="0" baseline="0" noProof="0" dirty="0" smtClean="0">
              <a:ln>
                <a:noFill/>
              </a:ln>
              <a:solidFill>
                <a:prstClr val="black"/>
              </a:solidFill>
              <a:effectLst/>
              <a:uLnTx/>
              <a:uFillTx/>
              <a:latin typeface="Helvetica" pitchFamily="34" charset="0"/>
              <a:ea typeface="Times New Roman"/>
              <a:cs typeface="Times New Roman"/>
            </a:endParaRPr>
          </a:p>
          <a:p>
            <a:pPr marL="0" marR="0" lvl="0" indent="0" algn="l" defTabSz="914400" rtl="0" eaLnBrk="1" fontAlgn="auto" latinLnBrk="0" hangingPunct="1">
              <a:lnSpc>
                <a:spcPct val="100000"/>
              </a:lnSpc>
              <a:spcBef>
                <a:spcPts val="600"/>
              </a:spcBef>
              <a:spcAft>
                <a:spcPts val="1200"/>
              </a:spcAft>
              <a:buClr>
                <a:srgbClr val="7FD13B"/>
              </a:buClr>
              <a:buSzPct val="80000"/>
              <a:buFont typeface="Wingdings 2"/>
              <a:buNone/>
              <a:tabLst/>
              <a:defRPr/>
            </a:pPr>
            <a:r>
              <a:rPr kumimoji="0" lang="en-AU" sz="2400" b="0" i="0" u="none" strike="noStrike" kern="1200" cap="none" spc="0" normalizeH="0" baseline="0" noProof="0" dirty="0" smtClean="0">
                <a:ln>
                  <a:noFill/>
                </a:ln>
                <a:solidFill>
                  <a:prstClr val="black"/>
                </a:solidFill>
                <a:effectLst/>
                <a:uLnTx/>
                <a:uFillTx/>
                <a:latin typeface="Helvetica" pitchFamily="34" charset="0"/>
                <a:ea typeface="Times New Roman"/>
                <a:cs typeface="Times New Roman"/>
              </a:rPr>
              <a:t>Work through each of the social media platforms discussing pro’s and cons of each. </a:t>
            </a:r>
          </a:p>
          <a:p>
            <a:pPr>
              <a:buFont typeface="Arial" pitchFamily="34" charset="0"/>
              <a:buChar char="•"/>
            </a:pPr>
            <a:r>
              <a:rPr lang="en-US" baseline="0" dirty="0" smtClean="0"/>
              <a:t>Trainees will be able to offer personal opinion and experience here. </a:t>
            </a:r>
          </a:p>
          <a:p>
            <a:pPr>
              <a:buFont typeface="Arial" pitchFamily="34" charset="0"/>
              <a:buChar char="•"/>
            </a:pPr>
            <a:endParaRPr lang="en-US" baseline="0" dirty="0" smtClean="0"/>
          </a:p>
          <a:p>
            <a:pPr>
              <a:buFont typeface="Arial" pitchFamily="34" charset="0"/>
              <a:buChar char="•"/>
            </a:pPr>
            <a:r>
              <a:rPr lang="en-US" baseline="0" dirty="0" smtClean="0"/>
              <a:t>Complete Activity 10</a:t>
            </a:r>
            <a:endParaRPr lang="en-US" dirty="0" smtClean="0"/>
          </a:p>
          <a:p>
            <a:pPr>
              <a:buFont typeface="Arial" pitchFamily="34" charset="0"/>
              <a:buChar char="•"/>
            </a:pPr>
            <a:endParaRPr lang="en-US" dirty="0" smtClean="0"/>
          </a:p>
          <a:p>
            <a:pPr>
              <a:buFont typeface="Arial" pitchFamily="34" charset="0"/>
              <a:buChar char="•"/>
            </a:pPr>
            <a:endParaRPr lang="en-US" baseline="0" dirty="0" smtClean="0"/>
          </a:p>
          <a:p>
            <a:pPr>
              <a:buFont typeface="Arial" pitchFamily="34" charset="0"/>
              <a:buNone/>
            </a:pP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3622190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as necessary, focusing on how to</a:t>
            </a:r>
            <a:r>
              <a:rPr lang="en-US" baseline="0" dirty="0" smtClean="0"/>
              <a:t> find your way through the maze of information to what is most suitable to you for your client.</a:t>
            </a:r>
          </a:p>
          <a:p>
            <a:pPr>
              <a:buFont typeface="Arial" pitchFamily="34" charset="0"/>
              <a:buChar cha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3869524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mn-lt"/>
              </a:rPr>
              <a:t>This slide demonstrates search tools. Use the next slide to show drop boxes within Search Tools options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mn-lt"/>
              </a:rPr>
              <a:t>Discuss further as necessary.</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200" b="0" i="0" u="none" strike="noStrike" kern="1200" cap="none" spc="0" normalizeH="0" baseline="0" noProof="0" dirty="0" smtClean="0">
                <a:ln>
                  <a:noFill/>
                </a:ln>
                <a:solidFill>
                  <a:prstClr val="black"/>
                </a:solidFill>
                <a:effectLst/>
                <a:uLnTx/>
                <a:uFillTx/>
                <a:latin typeface="+mn-lt"/>
              </a:rPr>
              <a:t>If access to the internet conduct a different search and discuss as a group how to organise the returned content before asking trainees to complete Activity 11</a:t>
            </a:r>
          </a:p>
          <a:p>
            <a:endParaRPr lang="en-AU" dirty="0" smtClean="0"/>
          </a:p>
          <a:p>
            <a:r>
              <a:rPr lang="en-AU" dirty="0" smtClean="0"/>
              <a:t>Complete Activity 11</a:t>
            </a:r>
          </a:p>
          <a:p>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1321079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Links to previous slide.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Now discuss ‘conducting further search’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If access to internet a search can be conducted to demonstrate these tools for the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Follow TM and discuss and explain the advanced search functions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latin typeface="+mn-lt"/>
              </a:rPr>
              <a:t>Complete Activity 12</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8046677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Working from the TM discuss the information displayed on this</a:t>
            </a:r>
            <a:r>
              <a:rPr lang="en-AU" baseline="0" dirty="0" smtClean="0"/>
              <a:t> web page (which is from the TM)</a:t>
            </a:r>
          </a:p>
          <a:p>
            <a:r>
              <a:rPr lang="en-AU" baseline="0" dirty="0" smtClean="0"/>
              <a:t>If access to internet, bring up the site and navigate it for the group showing the different information able to be sourced.</a:t>
            </a:r>
          </a:p>
          <a:p>
            <a:r>
              <a:rPr lang="en-AU" baseline="0" dirty="0" smtClean="0"/>
              <a:t>Demonstrate the ‘Back’ and ‘refresh’ buttons, hyperlinks and opening additional tabs</a:t>
            </a:r>
          </a:p>
          <a:p>
            <a:endParaRPr lang="en-AU" baseline="0" dirty="0" smtClean="0"/>
          </a:p>
          <a:p>
            <a:r>
              <a:rPr lang="en-AU" baseline="0" dirty="0" smtClean="0"/>
              <a:t>Answer any questions trainees have.</a:t>
            </a:r>
          </a:p>
          <a:p>
            <a:r>
              <a:rPr lang="en-AU" baseline="0" dirty="0" smtClean="0"/>
              <a:t>Complete Activity 13 – provide a time allowance and have trainees present back to the group. Discuss search methods and findings.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962461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varying job roles from travel agencies to visitor information centres – small and large. How much would you need to know in a particular role?</a:t>
            </a:r>
          </a:p>
          <a:p>
            <a:pPr>
              <a:buFont typeface="Arial" pitchFamily="34" charset="0"/>
              <a:buChar char="•"/>
            </a:pPr>
            <a:r>
              <a:rPr lang="en-US" dirty="0" smtClean="0"/>
              <a:t>Discuss Activity 14</a:t>
            </a:r>
          </a:p>
          <a:p>
            <a:pPr lvl="1">
              <a:buFont typeface="Arial" pitchFamily="34" charset="0"/>
              <a:buChar char="•"/>
            </a:pPr>
            <a:r>
              <a:rPr lang="en-US" dirty="0" smtClean="0"/>
              <a:t>Wealthy couple/on a budget</a:t>
            </a:r>
          </a:p>
          <a:p>
            <a:pPr lvl="1">
              <a:buFont typeface="Arial" pitchFamily="34" charset="0"/>
              <a:buChar char="•"/>
            </a:pPr>
            <a:r>
              <a:rPr lang="en-US" dirty="0" smtClean="0"/>
              <a:t>Retired/on holiday</a:t>
            </a:r>
          </a:p>
          <a:p>
            <a:pPr lvl="1">
              <a:buFont typeface="Arial" pitchFamily="34" charset="0"/>
              <a:buChar char="•"/>
            </a:pPr>
            <a:r>
              <a:rPr lang="en-US" dirty="0" smtClean="0"/>
              <a:t>Easy going/very particular on preference</a:t>
            </a:r>
          </a:p>
          <a:p>
            <a:pPr lvl="1">
              <a:buFont typeface="Arial" pitchFamily="34" charset="0"/>
              <a:buChar char="•"/>
            </a:pPr>
            <a:r>
              <a:rPr lang="en-US" dirty="0" smtClean="0"/>
              <a:t>Experienced golfers?</a:t>
            </a:r>
          </a:p>
          <a:p>
            <a:pPr>
              <a:buFont typeface="Arial" pitchFamily="34" charset="0"/>
              <a:buNone/>
            </a:pPr>
            <a:endParaRPr lang="en-US" dirty="0" smtClean="0"/>
          </a:p>
          <a:p>
            <a:pPr>
              <a:buFont typeface="Arial" pitchFamily="34" charset="0"/>
              <a:buChar char="•"/>
            </a:pPr>
            <a:r>
              <a:rPr lang="en-US" dirty="0" smtClean="0"/>
              <a:t>Complete Activity 14</a:t>
            </a:r>
          </a:p>
          <a:p>
            <a:pPr>
              <a:buFont typeface="Arial"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all work projects have been completed and handed into trainer ensuring cover page details are attached for assessment tracking.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Review the summary page for Element 2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0276312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introduces the performance criteria which make up Element 3</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720637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Share your experience on the most common purchases made.</a:t>
            </a:r>
          </a:p>
          <a:p>
            <a:pPr>
              <a:buFont typeface="Arial" pitchFamily="34" charset="0"/>
              <a:buChar char="•"/>
            </a:pPr>
            <a:r>
              <a:rPr lang="en-US" dirty="0" smtClean="0"/>
              <a:t>Discuss purchasing processes and protocols.</a:t>
            </a:r>
          </a:p>
          <a:p>
            <a:pPr lvl="1">
              <a:buFont typeface="Arial" pitchFamily="34" charset="0"/>
              <a:buNone/>
            </a:pPr>
            <a:r>
              <a:rPr lang="en-US" dirty="0" smtClean="0"/>
              <a:t>Using</a:t>
            </a:r>
            <a:r>
              <a:rPr lang="en-US" baseline="0" dirty="0" smtClean="0"/>
              <a:t> a CRS</a:t>
            </a:r>
          </a:p>
          <a:p>
            <a:pPr lvl="1">
              <a:buFont typeface="Arial" pitchFamily="34" charset="0"/>
              <a:buNone/>
            </a:pPr>
            <a:r>
              <a:rPr lang="en-US" baseline="0" dirty="0" smtClean="0"/>
              <a:t>Using a wholesaler</a:t>
            </a:r>
          </a:p>
          <a:p>
            <a:pPr lvl="1">
              <a:buFont typeface="Arial" pitchFamily="34" charset="0"/>
              <a:buNone/>
            </a:pPr>
            <a:r>
              <a:rPr lang="en-US" baseline="0" dirty="0" smtClean="0"/>
              <a:t>Booking tours and cruises</a:t>
            </a:r>
          </a:p>
          <a:p>
            <a:pPr lvl="1">
              <a:buFont typeface="Arial" pitchFamily="34" charset="0"/>
              <a:buNone/>
            </a:pPr>
            <a:r>
              <a:rPr lang="en-US" baseline="0" dirty="0" smtClean="0"/>
              <a:t>Hotel booking</a:t>
            </a:r>
          </a:p>
          <a:p>
            <a:pPr lvl="1">
              <a:buFont typeface="Arial" pitchFamily="34" charset="0"/>
              <a:buNone/>
            </a:pPr>
            <a:r>
              <a:rPr lang="en-US" baseline="0" dirty="0" smtClean="0"/>
              <a:t>Car hire booking</a:t>
            </a:r>
          </a:p>
          <a:p>
            <a:pPr>
              <a:buFont typeface="Arial" pitchFamily="34" charset="0"/>
              <a:buNone/>
            </a:pPr>
            <a:r>
              <a:rPr lang="en-US" baseline="0" dirty="0" smtClean="0"/>
              <a:t>Quote or receipts for payment</a:t>
            </a:r>
          </a:p>
          <a:p>
            <a:pPr>
              <a:buFont typeface="Arial" pitchFamily="34" charset="0"/>
              <a:buNone/>
            </a:pPr>
            <a:r>
              <a:rPr lang="en-US" baseline="0" dirty="0" smtClean="0"/>
              <a:t>Discuss security when purchasing online.</a:t>
            </a:r>
          </a:p>
          <a:p>
            <a:pPr>
              <a:buFont typeface="Arial" pitchFamily="34" charset="0"/>
              <a:buNone/>
            </a:pPr>
            <a:r>
              <a:rPr lang="en-US" baseline="0" dirty="0" smtClean="0"/>
              <a:t>If access to the internet search a hotel or airline website and demonstrate the various screens to the payment page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5967684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aseline="0" dirty="0" smtClean="0"/>
              <a:t>Discuss as necessary adding any personal knowledge or experience of things that may have gone wrong.</a:t>
            </a:r>
          </a:p>
          <a:p>
            <a:pPr>
              <a:buFont typeface="Arial" pitchFamily="34" charset="0"/>
              <a:buNone/>
            </a:pPr>
            <a:r>
              <a:rPr lang="en-US" baseline="0" dirty="0" smtClean="0"/>
              <a:t>Ensure all trainees are familiar with the security icons to look for when making payment online.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21304634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Work through each of the types of information sites</a:t>
            </a:r>
            <a:r>
              <a:rPr lang="en-AU" baseline="0" dirty="0" smtClean="0"/>
              <a:t> seeking any knowledge or experience trainees have in these fields.</a:t>
            </a:r>
          </a:p>
          <a:p>
            <a:r>
              <a:rPr lang="en-AU" baseline="0" dirty="0" smtClean="0"/>
              <a:t>Include the CRS as one of the information systems</a:t>
            </a:r>
          </a:p>
          <a:p>
            <a:endParaRPr lang="en-AU" baseline="0" dirty="0" smtClean="0"/>
          </a:p>
          <a:p>
            <a:r>
              <a:rPr lang="en-AU" baseline="0" dirty="0" smtClean="0"/>
              <a:t>Complete Activity 15</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9093778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This</a:t>
            </a:r>
            <a:r>
              <a:rPr lang="en-US" baseline="0" dirty="0" smtClean="0"/>
              <a:t> performance criteria revisits material already covered and the opportunity can be taken to have trainees share their new knowledge on what process they would follow.</a:t>
            </a:r>
          </a:p>
          <a:p>
            <a:pPr>
              <a:buFont typeface="Arial" pitchFamily="34" charset="0"/>
              <a:buChar char="•"/>
            </a:pPr>
            <a:r>
              <a:rPr lang="en-US" baseline="0" dirty="0" smtClean="0"/>
              <a:t>Complete Activity 16 – (you may wish to indicate different ages for the children in the scenario to different trainees in order to vary the information returned)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0877322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Break</a:t>
            </a:r>
            <a:r>
              <a:rPr lang="en-AU" baseline="0" dirty="0" smtClean="0"/>
              <a:t> class into smaller groups and have groups work through these questions from their knowledge of their workplaces. Each group then to present on their responses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41353926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Explain the printing page and emphasise the areas where people generally make silly mistakes</a:t>
            </a:r>
          </a:p>
          <a:p>
            <a:pPr lvl="1">
              <a:buFont typeface="Arial" pitchFamily="34" charset="0"/>
              <a:buChar char="•"/>
            </a:pPr>
            <a:r>
              <a:rPr lang="en-US" dirty="0" smtClean="0"/>
              <a:t>Too many copies</a:t>
            </a:r>
          </a:p>
          <a:p>
            <a:pPr lvl="1">
              <a:buFont typeface="Arial" pitchFamily="34" charset="0"/>
              <a:buChar char="•"/>
            </a:pPr>
            <a:r>
              <a:rPr lang="en-US" dirty="0" smtClean="0"/>
              <a:t>Wrong page</a:t>
            </a:r>
            <a:r>
              <a:rPr lang="en-US" baseline="0" dirty="0" smtClean="0"/>
              <a:t> numbers</a:t>
            </a:r>
          </a:p>
          <a:p>
            <a:pPr lvl="1">
              <a:buFont typeface="Arial" pitchFamily="34" charset="0"/>
              <a:buChar char="•"/>
            </a:pPr>
            <a:r>
              <a:rPr lang="en-US" baseline="0" dirty="0" smtClean="0"/>
              <a:t>Not printing a sample copy</a:t>
            </a:r>
          </a:p>
          <a:p>
            <a:pPr lvl="1">
              <a:buFont typeface="Arial" pitchFamily="34" charset="0"/>
              <a:buChar char="•"/>
            </a:pPr>
            <a:r>
              <a:rPr lang="en-US" baseline="0" dirty="0" smtClean="0"/>
              <a:t>Printing in colour when not necessary</a:t>
            </a:r>
          </a:p>
          <a:p>
            <a:pPr lvl="1">
              <a:buFont typeface="Arial" pitchFamily="34" charset="0"/>
              <a:buChar char="•"/>
            </a:pPr>
            <a:r>
              <a:rPr lang="en-US" baseline="0" dirty="0" smtClean="0"/>
              <a:t>Not doing a print preview</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0808801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Explain various</a:t>
            </a:r>
            <a:r>
              <a:rPr lang="en-AU" baseline="0" dirty="0" smtClean="0"/>
              <a:t> basic uses from this page.</a:t>
            </a:r>
          </a:p>
          <a:p>
            <a:r>
              <a:rPr lang="en-AU" baseline="0" dirty="0" smtClean="0"/>
              <a:t>Always review you have selected all the correct choices before activating large print jobs.</a:t>
            </a:r>
          </a:p>
          <a:p>
            <a:r>
              <a:rPr lang="en-AU" baseline="0" dirty="0" smtClean="0"/>
              <a:t>Have samples available for trainees to view.</a:t>
            </a:r>
          </a:p>
          <a:p>
            <a:pPr lvl="1"/>
            <a:r>
              <a:rPr lang="en-AU" baseline="0" dirty="0" smtClean="0"/>
              <a:t>Double sided</a:t>
            </a:r>
          </a:p>
          <a:p>
            <a:pPr lvl="1"/>
            <a:r>
              <a:rPr lang="en-AU" baseline="0" dirty="0" smtClean="0"/>
              <a:t>Two pages on one page (2in1)</a:t>
            </a:r>
          </a:p>
          <a:p>
            <a:pPr lvl="1"/>
            <a:r>
              <a:rPr lang="en-AU" baseline="0" dirty="0" smtClean="0"/>
              <a:t>Stapled – top corner, two on left side</a:t>
            </a:r>
          </a:p>
          <a:p>
            <a:pPr lvl="1"/>
            <a:r>
              <a:rPr lang="en-AU" baseline="0" dirty="0" smtClean="0"/>
              <a:t>Hole punched and stapled</a:t>
            </a:r>
          </a:p>
          <a:p>
            <a:pPr lvl="1"/>
            <a:r>
              <a:rPr lang="en-AU" baseline="0" dirty="0" smtClean="0"/>
              <a:t>Water marking</a:t>
            </a:r>
          </a:p>
          <a:p>
            <a:endParaRPr lang="en-AU" baseline="0" dirty="0" smtClean="0"/>
          </a:p>
          <a:p>
            <a:r>
              <a:rPr lang="en-AU" dirty="0" smtClean="0"/>
              <a:t>Complete Activity 17</a:t>
            </a:r>
          </a:p>
          <a:p>
            <a:endParaRPr lang="en-AU"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all work projects have been completed and handed into trainer ensuring cover page details are attached for assessment tracking.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Review the summary page for Element 3 to confirm what has been completed for this element.</a:t>
            </a:r>
          </a:p>
          <a:p>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3549642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introduce the performance</a:t>
            </a:r>
            <a:r>
              <a:rPr lang="en-US" baseline="0" dirty="0" smtClean="0"/>
              <a:t> criteria which make up Element 4</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1064347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Discuss as needed</a:t>
            </a:r>
            <a:r>
              <a:rPr lang="en-US" baseline="0" dirty="0" smtClean="0"/>
              <a:t> taking into consideration requirements required for Activity 18.</a:t>
            </a:r>
          </a:p>
          <a:p>
            <a:pPr>
              <a:buFont typeface="Arial" pitchFamily="34" charset="0"/>
              <a:buChar char="•"/>
            </a:pPr>
            <a:endParaRPr lang="en-US" baseline="0" dirty="0" smtClean="0"/>
          </a:p>
          <a:p>
            <a:pPr>
              <a:buFont typeface="Arial" pitchFamily="34" charset="0"/>
              <a:buChar char="•"/>
            </a:pPr>
            <a:r>
              <a:rPr lang="en-US" baseline="0" dirty="0" smtClean="0"/>
              <a:t>Complete Activity 18</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42792943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Explain</a:t>
            </a:r>
            <a:r>
              <a:rPr lang="en-US" baseline="0" dirty="0" smtClean="0"/>
              <a:t> why you need to consider company policy, Intellectual property and copyright</a:t>
            </a:r>
            <a:endParaRPr lang="en-US" dirty="0" smtClean="0"/>
          </a:p>
          <a:p>
            <a:pPr>
              <a:buFont typeface="Arial" pitchFamily="34" charset="0"/>
              <a:buChar char="•"/>
            </a:pPr>
            <a:r>
              <a:rPr lang="en-US" dirty="0" smtClean="0"/>
              <a:t>Discuss as needed</a:t>
            </a:r>
            <a:r>
              <a:rPr lang="en-US" baseline="0" dirty="0" smtClean="0"/>
              <a:t> paying attention to the importance of clicking ‘save’ on software that is downloaded (and approved by management to do so). It is important to save material to suitable locations so maintain order to your filing systems.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7903393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It</a:t>
            </a:r>
            <a:r>
              <a:rPr lang="en-AU" baseline="0" dirty="0" smtClean="0"/>
              <a:t> is likely trainees will be familiar with these procedures however take time to explain correct procedures to anyone who may be new to the information</a:t>
            </a:r>
          </a:p>
          <a:p>
            <a:r>
              <a:rPr lang="en-AU" baseline="0" dirty="0" smtClean="0"/>
              <a:t>In this example ‘my passport’ is an external hard drive and the removable disk is of course a USB stick (thumb drive).</a:t>
            </a:r>
          </a:p>
          <a:p>
            <a:r>
              <a:rPr lang="en-AU" baseline="0" dirty="0" smtClean="0"/>
              <a:t>Auto save is useful as a backup but don’t rely on it!</a:t>
            </a:r>
          </a:p>
          <a:p>
            <a:r>
              <a:rPr lang="en-AU" baseline="0" dirty="0" smtClean="0"/>
              <a:t>Again emphasise the importance of labeling and saving files to correct locations. It doesn’t take long for your computer to become a filing mess because you thought you would fix it later.</a:t>
            </a:r>
          </a:p>
          <a:p>
            <a:r>
              <a:rPr lang="en-AU" baseline="0" dirty="0" smtClean="0"/>
              <a:t>Complete Activity 19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57882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Ideally this training should be conducted in a computer room or an area where trainees can work into a computer or personal laptop.</a:t>
            </a:r>
          </a:p>
          <a:p>
            <a:pPr>
              <a:buFont typeface="Arial" pitchFamily="34" charset="0"/>
              <a:buChar char="•"/>
            </a:pPr>
            <a:r>
              <a:rPr lang="en-US" dirty="0" smtClean="0"/>
              <a:t>Some trainees may be familiar with Excel already. If this is the case ask</a:t>
            </a:r>
            <a:r>
              <a:rPr lang="en-US" baseline="0" dirty="0" smtClean="0"/>
              <a:t> them to assist someone who is new to the program.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1971947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Trainer</a:t>
            </a:r>
            <a:r>
              <a:rPr lang="en-AU" baseline="0" dirty="0" smtClean="0"/>
              <a:t> to lead students through the process, or ask an experienced student to do so</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7643329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00"/>
              </a:spcBef>
              <a:spcAft>
                <a:spcPts val="800"/>
              </a:spcAft>
            </a:pPr>
            <a:r>
              <a:rPr lang="en-AU" sz="1050" spc="-5" dirty="0" smtClean="0">
                <a:effectLst/>
                <a:latin typeface="Verdana"/>
                <a:ea typeface="Calibri"/>
                <a:cs typeface="Calibri"/>
              </a:rPr>
              <a:t>Record Number</a:t>
            </a:r>
            <a:r>
              <a:rPr lang="en-AU" sz="1050" spc="125" dirty="0" smtClean="0">
                <a:effectLst/>
                <a:latin typeface="Times New Roman"/>
                <a:ea typeface="Calibri"/>
                <a:cs typeface="Calibri"/>
              </a:rPr>
              <a:t> </a:t>
            </a:r>
            <a:r>
              <a:rPr lang="en-AU" sz="1050" spc="-5" dirty="0" smtClean="0">
                <a:effectLst/>
                <a:latin typeface="Verdana"/>
                <a:ea typeface="Calibri"/>
                <a:cs typeface="Calibri"/>
              </a:rPr>
              <a:t>Indicator</a:t>
            </a:r>
            <a:endParaRPr lang="en-AU" sz="1200" dirty="0" smtClean="0">
              <a:effectLst/>
              <a:latin typeface="Helvetica"/>
              <a:ea typeface="Calibri"/>
              <a:cs typeface="Calibri"/>
            </a:endParaRPr>
          </a:p>
          <a:p>
            <a:pPr>
              <a:spcBef>
                <a:spcPts val="400"/>
              </a:spcBef>
              <a:spcAft>
                <a:spcPts val="800"/>
              </a:spcAft>
            </a:pPr>
            <a:r>
              <a:rPr lang="en-AU" sz="1200" dirty="0" smtClean="0">
                <a:effectLst/>
                <a:latin typeface="Helvetica"/>
                <a:ea typeface="Calibri"/>
                <a:cs typeface="Calibri"/>
              </a:rPr>
              <a:t>A data form can display up to 32 fields.</a:t>
            </a:r>
          </a:p>
          <a:p>
            <a:pPr>
              <a:spcBef>
                <a:spcPts val="400"/>
              </a:spcBef>
              <a:spcAft>
                <a:spcPts val="800"/>
              </a:spcAft>
            </a:pPr>
            <a:r>
              <a:rPr lang="en-AU" sz="1200" dirty="0" smtClean="0">
                <a:effectLst/>
                <a:latin typeface="Helvetica"/>
                <a:ea typeface="Calibri"/>
                <a:cs typeface="Calibri"/>
              </a:rPr>
              <a:t>The record number indicator is displayed in the upper right-hand corner of the data form. This indicates which record is being displayed and how many records are in the database.</a:t>
            </a:r>
          </a:p>
          <a:p>
            <a:pPr>
              <a:spcBef>
                <a:spcPts val="400"/>
              </a:spcBef>
              <a:spcAft>
                <a:spcPts val="800"/>
              </a:spcAft>
            </a:pPr>
            <a:r>
              <a:rPr lang="en-AU" sz="1200" dirty="0" smtClean="0">
                <a:effectLst/>
                <a:latin typeface="Helvetica"/>
                <a:ea typeface="Calibri"/>
                <a:cs typeface="Calibri"/>
              </a:rPr>
              <a:t>Explain the command tabs as listed in the TM</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6005123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Follow the exercise in the TM explaining each step to trainees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30517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Using</a:t>
            </a:r>
            <a:r>
              <a:rPr lang="en-AU" baseline="0" dirty="0" smtClean="0"/>
              <a:t> your laptop and data projector d</a:t>
            </a:r>
            <a:r>
              <a:rPr lang="en-AU" dirty="0" smtClean="0"/>
              <a:t>isplay</a:t>
            </a:r>
            <a:r>
              <a:rPr lang="en-AU" baseline="0" dirty="0" smtClean="0"/>
              <a:t> an excel spread sheet for the group and demonstrate each of the above listed steps. If trainees have access to computers or laptops have them work through each step with you.</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4479299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Work through automatic subtotals and subsequent steps as listed in TM. Allow trainees to follow each step on the computer screen having time for questions along the way. Ensure everyone is at the same point</a:t>
            </a:r>
            <a:r>
              <a:rPr lang="en-AU" baseline="0" dirty="0" smtClean="0"/>
              <a:t> of progression.</a:t>
            </a:r>
          </a:p>
          <a:p>
            <a:r>
              <a:rPr lang="en-AU" baseline="0" dirty="0" smtClean="0"/>
              <a:t>Have trainees save their work to a USB.</a:t>
            </a:r>
          </a:p>
          <a:p>
            <a:endParaRPr lang="en-AU" baseline="0" dirty="0" smtClean="0"/>
          </a:p>
          <a:p>
            <a:r>
              <a:rPr lang="en-AU" baseline="0" dirty="0" smtClean="0"/>
              <a:t>Complete Activity 20</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34479299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Have discussion on the various types of reporting that may be required in the workplace.</a:t>
            </a:r>
          </a:p>
          <a:p>
            <a:pPr>
              <a:buFont typeface="Arial" pitchFamily="34" charset="0"/>
              <a:buChar char="•"/>
            </a:pPr>
            <a:r>
              <a:rPr lang="en-US" dirty="0" smtClean="0"/>
              <a:t>Most common is likely to be to clients.</a:t>
            </a:r>
          </a:p>
          <a:p>
            <a:pPr>
              <a:buFont typeface="Arial" pitchFamily="34" charset="0"/>
              <a:buChar char="•"/>
            </a:pPr>
            <a:r>
              <a:rPr lang="en-US" dirty="0" smtClean="0"/>
              <a:t>Explain</a:t>
            </a:r>
            <a:r>
              <a:rPr lang="en-US" baseline="0" dirty="0" smtClean="0"/>
              <a:t> how to create sequence and structure so the client is not lost along the way.</a:t>
            </a:r>
          </a:p>
          <a:p>
            <a:pPr>
              <a:buFont typeface="Arial" pitchFamily="34" charset="0"/>
              <a:buChar char="•"/>
            </a:pPr>
            <a:r>
              <a:rPr lang="en-US" baseline="0" dirty="0" smtClean="0"/>
              <a:t>Have a copy of the report for the client to follow and make any notes on as explanation is conducted.</a:t>
            </a:r>
          </a:p>
          <a:p>
            <a:pPr>
              <a:buFont typeface="Arial" pitchFamily="34" charset="0"/>
              <a:buChar char="•"/>
            </a:pPr>
            <a:r>
              <a:rPr lang="en-US" baseline="0" dirty="0" smtClean="0"/>
              <a:t>Complete Activity 21</a:t>
            </a:r>
          </a:p>
          <a:p>
            <a:pPr>
              <a:buFont typeface="Arial" pitchFamily="34" charset="0"/>
              <a:buChar char="•"/>
            </a:pPr>
            <a:endParaRPr lang="en-US" baseline="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all work projects have been completed and handed into trainer ensuring cover page details are attached for assessment tracking.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Review the summary page for Element 4 to confirm what has been completed for this element.</a:t>
            </a:r>
          </a:p>
          <a:p>
            <a:pPr>
              <a:buFont typeface="Arial" pitchFamily="34" charset="0"/>
              <a:buChar char="•"/>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771628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to introduce the performance criteria which make up Element 5</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1708692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It is likely trainees will know how to complete these tasks. Confirm</a:t>
            </a:r>
            <a:r>
              <a:rPr lang="en-US" baseline="0" dirty="0" smtClean="0"/>
              <a:t> this as fact before moving 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8856659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The previous slide contained relatively basic skills there is likely to be one or more skill identified here that not all trainees are familiar with. </a:t>
            </a:r>
          </a:p>
          <a:p>
            <a:r>
              <a:rPr lang="en-AU" dirty="0" smtClean="0"/>
              <a:t>Take</a:t>
            </a:r>
            <a:r>
              <a:rPr lang="en-AU" baseline="0" dirty="0" smtClean="0"/>
              <a:t> time to i</a:t>
            </a:r>
            <a:r>
              <a:rPr lang="en-AU" dirty="0" smtClean="0"/>
              <a:t>dentify where each of these tools are located on the tool bar and how to use</a:t>
            </a:r>
            <a:r>
              <a:rPr lang="en-AU" baseline="0" dirty="0" smtClean="0"/>
              <a:t> them.</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8852993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Demonstrate how to conduct</a:t>
            </a:r>
            <a:r>
              <a:rPr lang="en-US" baseline="0" dirty="0" smtClean="0"/>
              <a:t> a ‘Find’ search.</a:t>
            </a:r>
          </a:p>
          <a:p>
            <a:pPr>
              <a:buFont typeface="Arial" pitchFamily="34" charset="0"/>
              <a:buChar char="•"/>
            </a:pPr>
            <a:r>
              <a:rPr lang="en-US" baseline="0" dirty="0" smtClean="0"/>
              <a:t>Click on “Find’ and enter a phrase or key words in the search bar to demonstrate that it will take you to a particular part of a document.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1566264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Demonstrate searching for documents.</a:t>
            </a:r>
          </a:p>
          <a:p>
            <a:r>
              <a:rPr lang="en-AU" dirty="0" smtClean="0"/>
              <a:t>Have something prepared that</a:t>
            </a:r>
            <a:r>
              <a:rPr lang="en-AU" baseline="0" dirty="0" smtClean="0"/>
              <a:t> you can suitably demonstrate on your own folders or computer.</a:t>
            </a:r>
          </a:p>
          <a:p>
            <a:endParaRPr lang="en-AU" baseline="0" dirty="0" smtClean="0"/>
          </a:p>
          <a:p>
            <a:r>
              <a:rPr lang="en-AU" baseline="0" dirty="0" smtClean="0"/>
              <a:t>Activity 22 should have been completed already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5096941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Have discussion on where trainees save files to.</a:t>
            </a:r>
          </a:p>
          <a:p>
            <a:pPr>
              <a:buFont typeface="Arial" pitchFamily="34" charset="0"/>
              <a:buChar char="•"/>
            </a:pPr>
            <a:r>
              <a:rPr lang="en-US" dirty="0" smtClean="0"/>
              <a:t>Any</a:t>
            </a:r>
            <a:r>
              <a:rPr lang="en-US" baseline="0" dirty="0" smtClean="0"/>
              <a:t> trainees who have work experience? – what is or was the company policy in this area?</a:t>
            </a:r>
          </a:p>
          <a:p>
            <a:pPr>
              <a:buFont typeface="Arial" pitchFamily="34" charset="0"/>
              <a:buChar char="•"/>
            </a:pPr>
            <a:r>
              <a:rPr lang="en-US" baseline="0" dirty="0" smtClean="0"/>
              <a:t>Who backs up their work?</a:t>
            </a:r>
          </a:p>
          <a:p>
            <a:pPr>
              <a:buFont typeface="Arial" pitchFamily="34" charset="0"/>
              <a:buChar char="•"/>
            </a:pPr>
            <a:r>
              <a:rPr lang="en-US" baseline="0" dirty="0" smtClean="0"/>
              <a:t>Des anyone keep a hard copy as backup?</a:t>
            </a:r>
          </a:p>
          <a:p>
            <a:pPr>
              <a:buFont typeface="Arial" pitchFamily="34" charset="0"/>
              <a:buChar char="•"/>
            </a:pPr>
            <a:r>
              <a:rPr lang="en-US" baseline="0" dirty="0" smtClean="0"/>
              <a:t>Who has lost files due to computer crashing, virus, fire or other problem?</a:t>
            </a:r>
          </a:p>
          <a:p>
            <a:pPr>
              <a:buFont typeface="Arial" pitchFamily="34" charset="0"/>
              <a:buChar char="•"/>
            </a:pPr>
            <a:r>
              <a:rPr lang="en-US" baseline="0" dirty="0" smtClean="0"/>
              <a:t>Have discussion on archiving and the importance of this being conducted to company standards.</a:t>
            </a:r>
          </a:p>
          <a:p>
            <a:pPr>
              <a:buFont typeface="Arial" pitchFamily="34" charset="0"/>
              <a:buChar char="•"/>
            </a:pPr>
            <a:r>
              <a:rPr lang="en-US" baseline="0" dirty="0" smtClean="0"/>
              <a:t>Discuss the common ways of archiving and associated business/tax law for your country.</a:t>
            </a:r>
          </a:p>
          <a:p>
            <a:pPr>
              <a:buFont typeface="Arial" pitchFamily="34" charset="0"/>
              <a:buChar char="•"/>
            </a:pPr>
            <a:endParaRPr lang="en-US" baseline="0" dirty="0" smtClean="0"/>
          </a:p>
          <a:p>
            <a:pPr>
              <a:buFont typeface="Arial" pitchFamily="34" charset="0"/>
              <a:buChar char="•"/>
            </a:pPr>
            <a:r>
              <a:rPr lang="en-US" baseline="0" dirty="0" smtClean="0"/>
              <a:t>Complete Activity 23 – ensure trainees understand requirements. Demonstrate how to do a screen shot if needed.</a:t>
            </a:r>
          </a:p>
          <a:p>
            <a:pPr>
              <a:buFont typeface="Arial"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Ensure all work projects have been completed and handed into trainer ensuring cover page details are attached for assessment tracking.</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latin typeface="+mn-lt"/>
              </a:rPr>
              <a:t>Review the summary page for Element 5 to confirm what has been completed for this element.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400450542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learners on what assessment is required and how it is to be conducted.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69</a:t>
            </a:fld>
            <a:endParaRPr lang="en-US" dirty="0">
              <a:solidFill>
                <a:prstClr val="black"/>
              </a:solidFill>
            </a:endParaRPr>
          </a:p>
        </p:txBody>
      </p:sp>
    </p:spTree>
    <p:extLst>
      <p:ext uri="{BB962C8B-B14F-4D97-AF65-F5344CB8AC3E}">
        <p14:creationId xmlns:p14="http://schemas.microsoft.com/office/powerpoint/2010/main" val="845035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7/4/2016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7/4/2016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7/4/2016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7/4/2016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7/4/2016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7/4/2016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cato.asn.au/members" TargetMode="External"/><Relationship Id="rId7"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www.asiaescapeholidays.com.au/" TargetMode="External"/><Relationship Id="rId5" Type="http://schemas.openxmlformats.org/officeDocument/2006/relationships/hyperlink" Target="http://www.ttgasia.com/article.php?article_id=4817" TargetMode="External"/><Relationship Id="rId4" Type="http://schemas.openxmlformats.org/officeDocument/2006/relationships/hyperlink" Target="http://websitetravel.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angliss.edu.au/"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60.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188640"/>
            <a:ext cx="7488160" cy="1152128"/>
          </a:xfrm>
        </p:spPr>
        <p:txBody>
          <a:bodyPr>
            <a:noAutofit/>
          </a:bodyPr>
          <a:lstStyle/>
          <a:p>
            <a:r>
              <a:rPr lang="en-AU" sz="3600" dirty="0">
                <a:ln w="5000" cmpd="sng">
                  <a:noFill/>
                  <a:prstDash val="solid"/>
                </a:ln>
                <a:solidFill>
                  <a:srgbClr val="FF6600"/>
                </a:solidFill>
                <a:latin typeface="Helvetica" pitchFamily="34" charset="0"/>
              </a:rPr>
              <a:t>OPERATE AN AUTOMATED INFORMATION </a:t>
            </a:r>
            <a:r>
              <a:rPr lang="en-AU" sz="3600" dirty="0" smtClean="0">
                <a:ln w="5000" cmpd="sng">
                  <a:noFill/>
                  <a:prstDash val="solid"/>
                </a:ln>
                <a:solidFill>
                  <a:srgbClr val="FF6600"/>
                </a:solidFill>
                <a:latin typeface="Helvetica" pitchFamily="34" charset="0"/>
              </a:rPr>
              <a:t>SYSTEM</a:t>
            </a:r>
            <a:endParaRPr lang="en-AU" sz="36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1556792"/>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555082"/>
            <a:ext cx="2541268" cy="577774"/>
          </a:xfrm>
        </p:spPr>
        <p:txBody>
          <a:bodyPr>
            <a:noAutofit/>
          </a:bodyPr>
          <a:lstStyle/>
          <a:p>
            <a:r>
              <a:rPr lang="en-AU" b="1" dirty="0" smtClean="0">
                <a:latin typeface="Helvetica" pitchFamily="34" charset="0"/>
              </a:rPr>
              <a:t>D2.TTA.CL2.14</a:t>
            </a:r>
            <a:br>
              <a:rPr lang="en-AU" b="1" dirty="0" smtClean="0">
                <a:latin typeface="Helvetica" pitchFamily="34" charset="0"/>
              </a:rPr>
            </a:br>
            <a:r>
              <a:rPr lang="en-AU" b="1" dirty="0" smtClean="0">
                <a:latin typeface="Helvetica" pitchFamily="34" charset="0"/>
              </a:rPr>
              <a:t>D2.TGA.CL6.06</a:t>
            </a:r>
            <a:endParaRPr lang="en-AU" b="1" dirty="0">
              <a:latin typeface="Helvetic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920880" cy="5373216"/>
          </a:xfrm>
        </p:spPr>
        <p:txBody>
          <a:bodyPr>
            <a:normAutofit/>
          </a:bodyPr>
          <a:lstStyle/>
          <a:p>
            <a:pPr marL="0" indent="0">
              <a:spcBef>
                <a:spcPts val="600"/>
              </a:spcBef>
              <a:spcAft>
                <a:spcPts val="1200"/>
              </a:spcAft>
              <a:buNone/>
            </a:pPr>
            <a:r>
              <a:rPr lang="en-AU" sz="2400" b="1" dirty="0" smtClean="0">
                <a:latin typeface="Helvetica" pitchFamily="34" charset="0"/>
              </a:rPr>
              <a:t>This unit comprises five Elements:</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a:t>
            </a:fld>
            <a:endParaRPr lang="en-US" dirty="0">
              <a:solidFill>
                <a:srgbClr val="4E5B6F">
                  <a:shade val="50000"/>
                </a:srgbClr>
              </a:solidFill>
              <a:latin typeface="Helvetica" pitchFamily="34" charset="0"/>
            </a:endParaRPr>
          </a:p>
        </p:txBody>
      </p:sp>
      <p:grpSp>
        <p:nvGrpSpPr>
          <p:cNvPr id="25" name="Group 24"/>
          <p:cNvGrpSpPr/>
          <p:nvPr/>
        </p:nvGrpSpPr>
        <p:grpSpPr>
          <a:xfrm>
            <a:off x="-3838759" y="1068409"/>
            <a:ext cx="10635148" cy="5472816"/>
            <a:chOff x="-3838759" y="1068409"/>
            <a:chExt cx="10635148" cy="5472816"/>
          </a:xfrm>
        </p:grpSpPr>
        <p:grpSp>
          <p:nvGrpSpPr>
            <p:cNvPr id="13" name="Group 12"/>
            <p:cNvGrpSpPr/>
            <p:nvPr/>
          </p:nvGrpSpPr>
          <p:grpSpPr>
            <a:xfrm>
              <a:off x="-3838759" y="1068409"/>
              <a:ext cx="10635148" cy="5472816"/>
              <a:chOff x="-3838759" y="1068409"/>
              <a:chExt cx="10635148" cy="5472816"/>
            </a:xfrm>
          </p:grpSpPr>
          <p:sp>
            <p:nvSpPr>
              <p:cNvPr id="14" name="Block Arc 13"/>
              <p:cNvSpPr/>
              <p:nvPr/>
            </p:nvSpPr>
            <p:spPr>
              <a:xfrm>
                <a:off x="-3838759" y="1068409"/>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5" name="Freeform 14"/>
              <p:cNvSpPr/>
              <p:nvPr/>
            </p:nvSpPr>
            <p:spPr>
              <a:xfrm>
                <a:off x="1140114" y="202673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03354" tIns="40640" rIns="40640" bIns="40640" numCol="1" spcCol="1270" anchor="ctr" anchorCtr="0">
                <a:noAutofit/>
              </a:bodyPr>
              <a:lstStyle/>
              <a:p>
                <a:pPr lvl="0" algn="l" defTabSz="711200">
                  <a:lnSpc>
                    <a:spcPct val="90000"/>
                  </a:lnSpc>
                  <a:spcBef>
                    <a:spcPct val="0"/>
                  </a:spcBef>
                  <a:spcAft>
                    <a:spcPct val="35000"/>
                  </a:spcAft>
                </a:pPr>
                <a:r>
                  <a:rPr lang="en-AU" sz="1600" kern="1200" dirty="0" smtClean="0">
                    <a:latin typeface="Helvetica" pitchFamily="34" charset="0"/>
                  </a:rPr>
                  <a:t>Identify the context for use of an automated information system</a:t>
                </a:r>
                <a:endParaRPr lang="en-AU" sz="1600" kern="1200" dirty="0">
                  <a:latin typeface="Helvetica" pitchFamily="34" charset="0"/>
                </a:endParaRPr>
              </a:p>
            </p:txBody>
          </p:sp>
          <p:sp>
            <p:nvSpPr>
              <p:cNvPr id="16" name="Oval 15"/>
              <p:cNvSpPr/>
              <p:nvPr/>
            </p:nvSpPr>
            <p:spPr>
              <a:xfrm>
                <a:off x="822512" y="1963214"/>
                <a:ext cx="635203" cy="635203"/>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Freeform 16"/>
              <p:cNvSpPr/>
              <p:nvPr/>
            </p:nvSpPr>
            <p:spPr>
              <a:xfrm>
                <a:off x="1504248" y="278873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txBody>
              <a:bodyPr spcFirstLastPara="0" vert="horz" wrap="square" lIns="403354" tIns="40640" rIns="40640" bIns="40640" numCol="1" spcCol="1270" anchor="ctr" anchorCtr="0">
                <a:noAutofit/>
              </a:bodyPr>
              <a:lstStyle/>
              <a:p>
                <a:pPr lvl="0" algn="l" defTabSz="711200">
                  <a:lnSpc>
                    <a:spcPct val="90000"/>
                  </a:lnSpc>
                  <a:spcBef>
                    <a:spcPct val="0"/>
                  </a:spcBef>
                  <a:spcAft>
                    <a:spcPct val="35000"/>
                  </a:spcAft>
                </a:pPr>
                <a:r>
                  <a:rPr lang="en-AU" sz="1600" kern="1200" dirty="0" smtClean="0">
                    <a:latin typeface="Helvetica" pitchFamily="34" charset="0"/>
                  </a:rPr>
                  <a:t>Access information using an automated information system</a:t>
                </a:r>
                <a:endParaRPr lang="en-AU" sz="1600" kern="1200" dirty="0">
                  <a:latin typeface="Helvetica" pitchFamily="34" charset="0"/>
                </a:endParaRPr>
              </a:p>
            </p:txBody>
          </p:sp>
          <p:sp>
            <p:nvSpPr>
              <p:cNvPr id="18" name="Oval 17"/>
              <p:cNvSpPr/>
              <p:nvPr/>
            </p:nvSpPr>
            <p:spPr>
              <a:xfrm>
                <a:off x="1186647" y="2725214"/>
                <a:ext cx="635203" cy="635203"/>
              </a:xfrm>
              <a:prstGeom prst="ellipse">
                <a:avLst/>
              </a:prstGeom>
            </p:spPr>
            <p:style>
              <a:lnRef idx="2">
                <a:schemeClr val="accent5">
                  <a:hueOff val="-774129"/>
                  <a:satOff val="7761"/>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9" name="Freeform 18"/>
              <p:cNvSpPr/>
              <p:nvPr/>
            </p:nvSpPr>
            <p:spPr>
              <a:xfrm>
                <a:off x="1616008" y="3550734"/>
                <a:ext cx="5180380" cy="508162"/>
              </a:xfrm>
              <a:custGeom>
                <a:avLst/>
                <a:gdLst>
                  <a:gd name="connsiteX0" fmla="*/ 0 w 5180380"/>
                  <a:gd name="connsiteY0" fmla="*/ 0 h 508162"/>
                  <a:gd name="connsiteX1" fmla="*/ 5180380 w 5180380"/>
                  <a:gd name="connsiteY1" fmla="*/ 0 h 508162"/>
                  <a:gd name="connsiteX2" fmla="*/ 5180380 w 5180380"/>
                  <a:gd name="connsiteY2" fmla="*/ 508162 h 508162"/>
                  <a:gd name="connsiteX3" fmla="*/ 0 w 5180380"/>
                  <a:gd name="connsiteY3" fmla="*/ 508162 h 508162"/>
                  <a:gd name="connsiteX4" fmla="*/ 0 w 518038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508162">
                    <a:moveTo>
                      <a:pt x="0" y="0"/>
                    </a:moveTo>
                    <a:lnTo>
                      <a:pt x="5180380" y="0"/>
                    </a:lnTo>
                    <a:lnTo>
                      <a:pt x="5180380" y="508162"/>
                    </a:lnTo>
                    <a:lnTo>
                      <a:pt x="0" y="508162"/>
                    </a:lnTo>
                    <a:lnTo>
                      <a:pt x="0" y="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403354" tIns="40640" rIns="40640" bIns="40640" numCol="1" spcCol="1270" anchor="ctr" anchorCtr="0">
                <a:noAutofit/>
              </a:bodyPr>
              <a:lstStyle/>
              <a:p>
                <a:pPr lvl="0" algn="l" defTabSz="711200">
                  <a:lnSpc>
                    <a:spcPct val="90000"/>
                  </a:lnSpc>
                  <a:spcBef>
                    <a:spcPct val="0"/>
                  </a:spcBef>
                  <a:spcAft>
                    <a:spcPct val="35000"/>
                  </a:spcAft>
                </a:pPr>
                <a:r>
                  <a:rPr lang="en-AU" sz="1600" kern="1200" dirty="0" smtClean="0">
                    <a:latin typeface="Helvetica" pitchFamily="34" charset="0"/>
                  </a:rPr>
                  <a:t>Obtain information using an automated information system</a:t>
                </a:r>
                <a:endParaRPr lang="en-AU" sz="1600" kern="1200" dirty="0">
                  <a:latin typeface="Helvetica" pitchFamily="34" charset="0"/>
                </a:endParaRPr>
              </a:p>
            </p:txBody>
          </p:sp>
          <p:sp>
            <p:nvSpPr>
              <p:cNvPr id="20" name="Oval 19"/>
              <p:cNvSpPr/>
              <p:nvPr/>
            </p:nvSpPr>
            <p:spPr>
              <a:xfrm>
                <a:off x="1298407" y="3487214"/>
                <a:ext cx="635203" cy="635203"/>
              </a:xfrm>
              <a:prstGeom prst="ellipse">
                <a:avLst/>
              </a:prstGeom>
            </p:spPr>
            <p:style>
              <a:lnRef idx="2">
                <a:schemeClr val="accent5">
                  <a:hueOff val="-1548258"/>
                  <a:satOff val="15522"/>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1" name="Freeform 20"/>
              <p:cNvSpPr/>
              <p:nvPr/>
            </p:nvSpPr>
            <p:spPr>
              <a:xfrm>
                <a:off x="1504248" y="431273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txBody>
              <a:bodyPr spcFirstLastPara="0" vert="horz" wrap="square" lIns="403354" tIns="40640" rIns="40640" bIns="40640" numCol="1" spcCol="1270" anchor="ctr" anchorCtr="0">
                <a:noAutofit/>
              </a:bodyPr>
              <a:lstStyle/>
              <a:p>
                <a:pPr lvl="0" algn="l" defTabSz="711200">
                  <a:lnSpc>
                    <a:spcPct val="90000"/>
                  </a:lnSpc>
                  <a:spcBef>
                    <a:spcPct val="0"/>
                  </a:spcBef>
                  <a:spcAft>
                    <a:spcPct val="35000"/>
                  </a:spcAft>
                </a:pPr>
                <a:r>
                  <a:rPr lang="en-AU" sz="1600" kern="1200" dirty="0" smtClean="0">
                    <a:latin typeface="Helvetica" pitchFamily="34" charset="0"/>
                  </a:rPr>
                  <a:t>Use information from information an automated information system</a:t>
                </a:r>
                <a:endParaRPr lang="en-AU" sz="1600" kern="1200" dirty="0">
                  <a:latin typeface="Helvetica" pitchFamily="34" charset="0"/>
                </a:endParaRPr>
              </a:p>
            </p:txBody>
          </p:sp>
          <p:sp>
            <p:nvSpPr>
              <p:cNvPr id="22" name="Oval 21"/>
              <p:cNvSpPr/>
              <p:nvPr/>
            </p:nvSpPr>
            <p:spPr>
              <a:xfrm>
                <a:off x="1186647" y="4249214"/>
                <a:ext cx="635203" cy="635203"/>
              </a:xfrm>
              <a:prstGeom prst="ellipse">
                <a:avLst/>
              </a:prstGeom>
            </p:spPr>
            <p:style>
              <a:lnRef idx="2">
                <a:schemeClr val="accent5">
                  <a:hueOff val="-2322388"/>
                  <a:satOff val="23283"/>
                  <a:lumOff val="-16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3" name="Freeform 22"/>
              <p:cNvSpPr/>
              <p:nvPr/>
            </p:nvSpPr>
            <p:spPr>
              <a:xfrm>
                <a:off x="1140114" y="507473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03354" tIns="40640" rIns="40640" bIns="40640" numCol="1" spcCol="1270" anchor="ctr" anchorCtr="0">
                <a:noAutofit/>
              </a:bodyPr>
              <a:lstStyle/>
              <a:p>
                <a:pPr lvl="0" algn="l" defTabSz="711200">
                  <a:lnSpc>
                    <a:spcPct val="90000"/>
                  </a:lnSpc>
                  <a:spcBef>
                    <a:spcPct val="0"/>
                  </a:spcBef>
                  <a:spcAft>
                    <a:spcPct val="35000"/>
                  </a:spcAft>
                </a:pPr>
                <a:r>
                  <a:rPr lang="en-AU" sz="1600" kern="1200" dirty="0" smtClean="0">
                    <a:latin typeface="Helvetica" pitchFamily="34" charset="0"/>
                  </a:rPr>
                  <a:t>Up-date and maintain information on an automated information system </a:t>
                </a:r>
                <a:endParaRPr lang="en-AU" sz="1600" kern="1200" dirty="0">
                  <a:latin typeface="Helvetica" pitchFamily="34" charset="0"/>
                </a:endParaRPr>
              </a:p>
            </p:txBody>
          </p:sp>
          <p:sp>
            <p:nvSpPr>
              <p:cNvPr id="24" name="Oval 23"/>
              <p:cNvSpPr/>
              <p:nvPr/>
            </p:nvSpPr>
            <p:spPr>
              <a:xfrm>
                <a:off x="822512" y="5011214"/>
                <a:ext cx="635203" cy="635203"/>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8" name="TextBox 7"/>
            <p:cNvSpPr txBox="1"/>
            <p:nvPr/>
          </p:nvSpPr>
          <p:spPr>
            <a:xfrm>
              <a:off x="899592" y="2132856"/>
              <a:ext cx="504056" cy="369332"/>
            </a:xfrm>
            <a:prstGeom prst="rect">
              <a:avLst/>
            </a:prstGeom>
            <a:noFill/>
          </p:spPr>
          <p:txBody>
            <a:bodyPr wrap="square" rtlCol="0">
              <a:spAutoFit/>
            </a:bodyPr>
            <a:lstStyle/>
            <a:p>
              <a:pPr algn="ctr"/>
              <a:r>
                <a:rPr lang="en-AU" b="1" dirty="0" smtClean="0">
                  <a:latin typeface="Helvetica" pitchFamily="34" charset="0"/>
                </a:rPr>
                <a:t>1</a:t>
              </a:r>
              <a:endParaRPr lang="en-AU" b="1" dirty="0">
                <a:latin typeface="Helvetica" pitchFamily="34" charset="0"/>
              </a:endParaRPr>
            </a:p>
          </p:txBody>
        </p:sp>
        <p:sp>
          <p:nvSpPr>
            <p:cNvPr id="9" name="TextBox 8"/>
            <p:cNvSpPr txBox="1"/>
            <p:nvPr/>
          </p:nvSpPr>
          <p:spPr>
            <a:xfrm>
              <a:off x="1259632" y="2852936"/>
              <a:ext cx="504056" cy="369332"/>
            </a:xfrm>
            <a:prstGeom prst="rect">
              <a:avLst/>
            </a:prstGeom>
            <a:noFill/>
          </p:spPr>
          <p:txBody>
            <a:bodyPr wrap="square" rtlCol="0">
              <a:spAutoFit/>
            </a:bodyPr>
            <a:lstStyle/>
            <a:p>
              <a:pPr algn="ctr"/>
              <a:r>
                <a:rPr lang="en-AU" b="1" dirty="0">
                  <a:latin typeface="Helvetica" pitchFamily="34" charset="0"/>
                </a:rPr>
                <a:t>2</a:t>
              </a:r>
            </a:p>
          </p:txBody>
        </p:sp>
        <p:sp>
          <p:nvSpPr>
            <p:cNvPr id="10" name="TextBox 9"/>
            <p:cNvSpPr txBox="1"/>
            <p:nvPr/>
          </p:nvSpPr>
          <p:spPr>
            <a:xfrm>
              <a:off x="1401577" y="3645024"/>
              <a:ext cx="504056" cy="369332"/>
            </a:xfrm>
            <a:prstGeom prst="rect">
              <a:avLst/>
            </a:prstGeom>
            <a:noFill/>
          </p:spPr>
          <p:txBody>
            <a:bodyPr wrap="square" rtlCol="0">
              <a:spAutoFit/>
            </a:bodyPr>
            <a:lstStyle/>
            <a:p>
              <a:pPr algn="ctr"/>
              <a:r>
                <a:rPr lang="en-AU" b="1" dirty="0" smtClean="0">
                  <a:latin typeface="Helvetica" pitchFamily="34" charset="0"/>
                </a:rPr>
                <a:t>3</a:t>
              </a:r>
              <a:endParaRPr lang="en-AU" b="1" dirty="0">
                <a:latin typeface="Helvetica" pitchFamily="34" charset="0"/>
              </a:endParaRPr>
            </a:p>
          </p:txBody>
        </p:sp>
        <p:sp>
          <p:nvSpPr>
            <p:cNvPr id="11" name="TextBox 10"/>
            <p:cNvSpPr txBox="1"/>
            <p:nvPr/>
          </p:nvSpPr>
          <p:spPr>
            <a:xfrm>
              <a:off x="1259632" y="4365104"/>
              <a:ext cx="504056" cy="369332"/>
            </a:xfrm>
            <a:prstGeom prst="rect">
              <a:avLst/>
            </a:prstGeom>
            <a:noFill/>
          </p:spPr>
          <p:txBody>
            <a:bodyPr wrap="square" rtlCol="0">
              <a:spAutoFit/>
            </a:bodyPr>
            <a:lstStyle/>
            <a:p>
              <a:pPr algn="ctr"/>
              <a:r>
                <a:rPr lang="en-AU" b="1" dirty="0">
                  <a:latin typeface="Helvetica" pitchFamily="34" charset="0"/>
                </a:rPr>
                <a:t>4</a:t>
              </a:r>
            </a:p>
          </p:txBody>
        </p:sp>
        <p:sp>
          <p:nvSpPr>
            <p:cNvPr id="12" name="TextBox 11"/>
            <p:cNvSpPr txBox="1"/>
            <p:nvPr/>
          </p:nvSpPr>
          <p:spPr>
            <a:xfrm>
              <a:off x="897521" y="5157192"/>
              <a:ext cx="504056" cy="369332"/>
            </a:xfrm>
            <a:prstGeom prst="rect">
              <a:avLst/>
            </a:prstGeom>
            <a:noFill/>
          </p:spPr>
          <p:txBody>
            <a:bodyPr wrap="square" rtlCol="0">
              <a:spAutoFit/>
            </a:bodyPr>
            <a:lstStyle/>
            <a:p>
              <a:pPr algn="ctr"/>
              <a:r>
                <a:rPr lang="en-AU" b="1" dirty="0">
                  <a:latin typeface="Helvetica" pitchFamily="34" charset="0"/>
                </a:rPr>
                <a:t>5</a:t>
              </a:r>
            </a:p>
          </p:txBody>
        </p:sp>
      </p:grpSp>
    </p:spTree>
    <p:extLst>
      <p:ext uri="{BB962C8B-B14F-4D97-AF65-F5344CB8AC3E}">
        <p14:creationId xmlns:p14="http://schemas.microsoft.com/office/powerpoint/2010/main" val="1576960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56584"/>
          </a:xfrm>
        </p:spPr>
        <p:txBody>
          <a:bodyPr>
            <a:normAutofit/>
          </a:bodyPr>
          <a:lstStyle/>
          <a:p>
            <a:pPr marL="0" indent="0">
              <a:spcBef>
                <a:spcPts val="600"/>
              </a:spcBef>
              <a:spcAft>
                <a:spcPts val="1200"/>
              </a:spcAft>
              <a:buNone/>
            </a:pPr>
            <a:r>
              <a:rPr lang="en-AU" sz="2200" b="1" dirty="0" smtClean="0">
                <a:latin typeface="Helvetica" pitchFamily="34" charset="0"/>
              </a:rPr>
              <a:t>Assessment for this unit may include:</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a:t>
            </a:fld>
            <a:endParaRPr lang="en-US" dirty="0">
              <a:solidFill>
                <a:srgbClr val="4E5B6F">
                  <a:shade val="50000"/>
                </a:srgbClr>
              </a:solidFill>
              <a:latin typeface="Helvetica" pitchFamily="34" charset="0"/>
            </a:endParaRPr>
          </a:p>
        </p:txBody>
      </p:sp>
      <p:grpSp>
        <p:nvGrpSpPr>
          <p:cNvPr id="6" name="Group 5"/>
          <p:cNvGrpSpPr/>
          <p:nvPr/>
        </p:nvGrpSpPr>
        <p:grpSpPr>
          <a:xfrm>
            <a:off x="755576" y="1804115"/>
            <a:ext cx="6096000" cy="4001401"/>
            <a:chOff x="755576" y="1804115"/>
            <a:chExt cx="6096000" cy="4001401"/>
          </a:xfrm>
        </p:grpSpPr>
        <p:sp>
          <p:nvSpPr>
            <p:cNvPr id="7" name="Rectangle 6"/>
            <p:cNvSpPr/>
            <p:nvPr/>
          </p:nvSpPr>
          <p:spPr>
            <a:xfrm>
              <a:off x="755576" y="2025515"/>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8" name="Freeform 7"/>
            <p:cNvSpPr/>
            <p:nvPr/>
          </p:nvSpPr>
          <p:spPr>
            <a:xfrm>
              <a:off x="1060376" y="1804115"/>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Oral questions</a:t>
              </a:r>
              <a:endParaRPr lang="en-AU" kern="1200" dirty="0">
                <a:latin typeface="Helvetica" pitchFamily="34" charset="0"/>
              </a:endParaRPr>
            </a:p>
          </p:txBody>
        </p:sp>
        <p:sp>
          <p:nvSpPr>
            <p:cNvPr id="9" name="Rectangle 8"/>
            <p:cNvSpPr/>
            <p:nvPr/>
          </p:nvSpPr>
          <p:spPr>
            <a:xfrm>
              <a:off x="755576" y="2705916"/>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1060376" y="2484515"/>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Written questions</a:t>
              </a:r>
              <a:endParaRPr lang="en-AU" kern="1200" dirty="0">
                <a:latin typeface="Helvetica" pitchFamily="34" charset="0"/>
              </a:endParaRPr>
            </a:p>
          </p:txBody>
        </p:sp>
        <p:sp>
          <p:nvSpPr>
            <p:cNvPr id="11" name="Rectangle 10"/>
            <p:cNvSpPr/>
            <p:nvPr/>
          </p:nvSpPr>
          <p:spPr>
            <a:xfrm>
              <a:off x="755576" y="3386316"/>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060376" y="3164916"/>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Work projects</a:t>
              </a:r>
              <a:endParaRPr lang="en-AU" kern="1200" dirty="0">
                <a:latin typeface="Helvetica" pitchFamily="34" charset="0"/>
              </a:endParaRPr>
            </a:p>
          </p:txBody>
        </p:sp>
        <p:sp>
          <p:nvSpPr>
            <p:cNvPr id="13" name="Rectangle 12"/>
            <p:cNvSpPr/>
            <p:nvPr/>
          </p:nvSpPr>
          <p:spPr>
            <a:xfrm>
              <a:off x="755576" y="4066716"/>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060376" y="3845316"/>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Workplace observation of  practical skills</a:t>
              </a:r>
              <a:endParaRPr lang="en-AU" kern="1200" dirty="0">
                <a:latin typeface="Helvetica" pitchFamily="34" charset="0"/>
              </a:endParaRPr>
            </a:p>
          </p:txBody>
        </p:sp>
        <p:sp>
          <p:nvSpPr>
            <p:cNvPr id="15" name="Rectangle 14"/>
            <p:cNvSpPr/>
            <p:nvPr/>
          </p:nvSpPr>
          <p:spPr>
            <a:xfrm>
              <a:off x="755576" y="4747116"/>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060376" y="4525716"/>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Practical exercises</a:t>
              </a:r>
              <a:endParaRPr lang="en-AU" kern="1200" dirty="0">
                <a:latin typeface="Helvetica" pitchFamily="34" charset="0"/>
              </a:endParaRPr>
            </a:p>
          </p:txBody>
        </p:sp>
        <p:sp>
          <p:nvSpPr>
            <p:cNvPr id="17" name="Rectangle 16"/>
            <p:cNvSpPr/>
            <p:nvPr/>
          </p:nvSpPr>
          <p:spPr>
            <a:xfrm>
              <a:off x="755576" y="5427516"/>
              <a:ext cx="6096000" cy="378000"/>
            </a:xfrm>
            <a:prstGeom prst="rect">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8" name="Freeform 17"/>
            <p:cNvSpPr/>
            <p:nvPr/>
          </p:nvSpPr>
          <p:spPr>
            <a:xfrm>
              <a:off x="1060376" y="5206116"/>
              <a:ext cx="4680000" cy="442800"/>
            </a:xfrm>
            <a:custGeom>
              <a:avLst/>
              <a:gdLst>
                <a:gd name="connsiteX0" fmla="*/ 0 w 4267200"/>
                <a:gd name="connsiteY0" fmla="*/ 73801 h 442800"/>
                <a:gd name="connsiteX1" fmla="*/ 73801 w 4267200"/>
                <a:gd name="connsiteY1" fmla="*/ 0 h 442800"/>
                <a:gd name="connsiteX2" fmla="*/ 4193399 w 4267200"/>
                <a:gd name="connsiteY2" fmla="*/ 0 h 442800"/>
                <a:gd name="connsiteX3" fmla="*/ 4267200 w 4267200"/>
                <a:gd name="connsiteY3" fmla="*/ 73801 h 442800"/>
                <a:gd name="connsiteX4" fmla="*/ 4267200 w 4267200"/>
                <a:gd name="connsiteY4" fmla="*/ 368999 h 442800"/>
                <a:gd name="connsiteX5" fmla="*/ 4193399 w 4267200"/>
                <a:gd name="connsiteY5" fmla="*/ 442800 h 442800"/>
                <a:gd name="connsiteX6" fmla="*/ 73801 w 4267200"/>
                <a:gd name="connsiteY6" fmla="*/ 442800 h 442800"/>
                <a:gd name="connsiteX7" fmla="*/ 0 w 4267200"/>
                <a:gd name="connsiteY7" fmla="*/ 368999 h 442800"/>
                <a:gd name="connsiteX8" fmla="*/ 0 w 4267200"/>
                <a:gd name="connsiteY8" fmla="*/ 73801 h 44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442800">
                  <a:moveTo>
                    <a:pt x="0" y="73801"/>
                  </a:moveTo>
                  <a:cubicBezTo>
                    <a:pt x="0" y="33042"/>
                    <a:pt x="33042" y="0"/>
                    <a:pt x="73801" y="0"/>
                  </a:cubicBezTo>
                  <a:lnTo>
                    <a:pt x="4193399" y="0"/>
                  </a:lnTo>
                  <a:cubicBezTo>
                    <a:pt x="4234158" y="0"/>
                    <a:pt x="4267200" y="33042"/>
                    <a:pt x="4267200" y="73801"/>
                  </a:cubicBezTo>
                  <a:lnTo>
                    <a:pt x="4267200" y="368999"/>
                  </a:lnTo>
                  <a:cubicBezTo>
                    <a:pt x="4267200" y="409758"/>
                    <a:pt x="4234158" y="442800"/>
                    <a:pt x="4193399" y="442800"/>
                  </a:cubicBezTo>
                  <a:lnTo>
                    <a:pt x="73801" y="442800"/>
                  </a:lnTo>
                  <a:cubicBezTo>
                    <a:pt x="33042" y="442800"/>
                    <a:pt x="0" y="409758"/>
                    <a:pt x="0" y="368999"/>
                  </a:cubicBezTo>
                  <a:lnTo>
                    <a:pt x="0" y="73801"/>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182906" tIns="21616" rIns="182906" bIns="21616" numCol="1" spcCol="1270" anchor="ctr" anchorCtr="0">
              <a:noAutofit/>
            </a:bodyPr>
            <a:lstStyle/>
            <a:p>
              <a:pPr lvl="0" algn="l" defTabSz="666750">
                <a:lnSpc>
                  <a:spcPct val="90000"/>
                </a:lnSpc>
                <a:spcBef>
                  <a:spcPct val="0"/>
                </a:spcBef>
                <a:spcAft>
                  <a:spcPct val="35000"/>
                </a:spcAft>
              </a:pPr>
              <a:r>
                <a:rPr lang="en-AU" kern="1200" dirty="0" smtClean="0">
                  <a:latin typeface="Helvetica" pitchFamily="34" charset="0"/>
                </a:rPr>
                <a:t>Formal report from supervisor</a:t>
              </a:r>
              <a:endParaRPr lang="en-AU" kern="1200" dirty="0">
                <a:latin typeface="Helvetica" pitchFamily="34" charset="0"/>
              </a:endParaRPr>
            </a:p>
          </p:txBody>
        </p:sp>
      </p:grpSp>
    </p:spTree>
    <p:extLst>
      <p:ext uri="{BB962C8B-B14F-4D97-AF65-F5344CB8AC3E}">
        <p14:creationId xmlns:p14="http://schemas.microsoft.com/office/powerpoint/2010/main" val="29181914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8280920" cy="1472208"/>
          </a:xfrm>
        </p:spPr>
        <p:txBody>
          <a:bodyPr>
            <a:normAutofit/>
          </a:bodyPr>
          <a:lstStyle/>
          <a:p>
            <a:r>
              <a:rPr lang="en-AU" sz="3000" b="1" dirty="0">
                <a:solidFill>
                  <a:srgbClr val="FF6600"/>
                </a:solidFill>
                <a:latin typeface="Helvetica" pitchFamily="34" charset="0"/>
              </a:rPr>
              <a:t>Element </a:t>
            </a:r>
            <a:r>
              <a:rPr lang="en-AU" sz="3000" b="1" dirty="0" smtClean="0">
                <a:solidFill>
                  <a:srgbClr val="FF6600"/>
                </a:solidFill>
                <a:latin typeface="Helvetica" pitchFamily="34" charset="0"/>
              </a:rPr>
              <a:t>1:</a:t>
            </a:r>
            <a:br>
              <a:rPr lang="en-AU" sz="3000" b="1" dirty="0" smtClean="0">
                <a:solidFill>
                  <a:srgbClr val="FF6600"/>
                </a:solidFill>
                <a:latin typeface="Helvetica" pitchFamily="34" charset="0"/>
              </a:rPr>
            </a:br>
            <a:r>
              <a:rPr lang="en-AU" sz="3000" b="1" dirty="0" smtClean="0">
                <a:solidFill>
                  <a:srgbClr val="FF6600"/>
                </a:solidFill>
                <a:latin typeface="Helvetica" pitchFamily="34" charset="0"/>
              </a:rPr>
              <a:t>Identify </a:t>
            </a:r>
            <a:r>
              <a:rPr lang="en-AU" sz="3000" b="1" dirty="0">
                <a:solidFill>
                  <a:srgbClr val="FF6600"/>
                </a:solidFill>
                <a:latin typeface="Helvetica" pitchFamily="34" charset="0"/>
              </a:rPr>
              <a:t>the context for use of </a:t>
            </a:r>
            <a:r>
              <a:rPr lang="en-AU" sz="3000" b="1" dirty="0" smtClean="0">
                <a:solidFill>
                  <a:srgbClr val="FF6600"/>
                </a:solidFill>
                <a:latin typeface="Helvetica" pitchFamily="34" charset="0"/>
              </a:rPr>
              <a:t>an automated </a:t>
            </a:r>
            <a:r>
              <a:rPr lang="en-AU" sz="3000" b="1" dirty="0">
                <a:solidFill>
                  <a:srgbClr val="FF6600"/>
                </a:solidFill>
                <a:latin typeface="Helvetica" pitchFamily="34" charset="0"/>
              </a:rPr>
              <a:t>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694240" cy="4555976"/>
          </a:xfrm>
        </p:spPr>
        <p:txBody>
          <a:bodyPr>
            <a:normAutofit/>
          </a:bodyPr>
          <a:lstStyle/>
          <a:p>
            <a:pPr marL="723900" indent="-687388">
              <a:lnSpc>
                <a:spcPct val="150000"/>
              </a:lnSpc>
              <a:buNone/>
            </a:pPr>
            <a:r>
              <a:rPr lang="en-AU" sz="2200" dirty="0" smtClean="0">
                <a:latin typeface="Helvetica" pitchFamily="34" charset="0"/>
              </a:rPr>
              <a:t>1.1</a:t>
            </a:r>
            <a:r>
              <a:rPr lang="en-AU" sz="2200" dirty="0">
                <a:latin typeface="Helvetica" pitchFamily="34" charset="0"/>
              </a:rPr>
              <a:t>	Identify a range of information systems and sources in use within the </a:t>
            </a:r>
            <a:r>
              <a:rPr lang="en-AU" sz="2200" dirty="0" smtClean="0">
                <a:latin typeface="Helvetica" pitchFamily="34" charset="0"/>
              </a:rPr>
              <a:t>industry</a:t>
            </a:r>
          </a:p>
          <a:p>
            <a:pPr marL="723900" indent="-687388">
              <a:lnSpc>
                <a:spcPct val="150000"/>
              </a:lnSpc>
              <a:buNone/>
            </a:pPr>
            <a:r>
              <a:rPr lang="en-AU" sz="2200" dirty="0" smtClean="0">
                <a:latin typeface="Helvetica" pitchFamily="34" charset="0"/>
              </a:rPr>
              <a:t>1.2</a:t>
            </a:r>
            <a:r>
              <a:rPr lang="en-AU" sz="2200" dirty="0">
                <a:latin typeface="Helvetica" pitchFamily="34" charset="0"/>
              </a:rPr>
              <a:t>	Describe policies and procedures for operating an automated information </a:t>
            </a:r>
            <a:r>
              <a:rPr lang="en-AU" sz="2200" dirty="0" smtClean="0">
                <a:latin typeface="Helvetica" pitchFamily="34" charset="0"/>
              </a:rPr>
              <a:t>system</a:t>
            </a:r>
          </a:p>
          <a:p>
            <a:pPr marL="723900" indent="-687388">
              <a:lnSpc>
                <a:spcPct val="150000"/>
              </a:lnSpc>
              <a:buNone/>
            </a:pPr>
            <a:r>
              <a:rPr lang="en-AU" sz="2200" dirty="0" smtClean="0">
                <a:latin typeface="Helvetica" pitchFamily="34" charset="0"/>
              </a:rPr>
              <a:t>1.3</a:t>
            </a:r>
            <a:r>
              <a:rPr lang="en-AU" sz="2200" dirty="0">
                <a:latin typeface="Helvetica" pitchFamily="34" charset="0"/>
              </a:rPr>
              <a:t>	List information that may be available through an automated information </a:t>
            </a:r>
            <a:r>
              <a:rPr lang="en-AU" sz="2200" dirty="0" smtClean="0">
                <a:latin typeface="Helvetica" pitchFamily="34" charset="0"/>
              </a:rPr>
              <a:t>system</a:t>
            </a:r>
          </a:p>
          <a:p>
            <a:pPr marL="723900" indent="-687388">
              <a:lnSpc>
                <a:spcPct val="150000"/>
              </a:lnSpc>
              <a:buNone/>
            </a:pPr>
            <a:r>
              <a:rPr lang="en-AU" sz="2200" dirty="0" smtClean="0">
                <a:latin typeface="Helvetica" pitchFamily="34" charset="0"/>
              </a:rPr>
              <a:t>1.4</a:t>
            </a:r>
            <a:r>
              <a:rPr lang="en-AU" sz="2200" dirty="0">
                <a:latin typeface="Helvetica" pitchFamily="34" charset="0"/>
              </a:rPr>
              <a:t>	Identify the functions of an automated information system</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234277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8208912" cy="1143000"/>
          </a:xfrm>
        </p:spPr>
        <p:txBody>
          <a:bodyPr>
            <a:noAutofit/>
          </a:bodyPr>
          <a:lstStyle/>
          <a:p>
            <a:pPr marL="900113" indent="-900113"/>
            <a:r>
              <a:rPr lang="en-AU" sz="3000" b="1" dirty="0" smtClean="0">
                <a:solidFill>
                  <a:srgbClr val="FF6600"/>
                </a:solidFill>
                <a:latin typeface="Helvetica" pitchFamily="34" charset="0"/>
              </a:rPr>
              <a:t>1.1	Identify </a:t>
            </a:r>
            <a:r>
              <a:rPr lang="en-AU" sz="3000" b="1" dirty="0">
                <a:solidFill>
                  <a:srgbClr val="FF6600"/>
                </a:solidFill>
                <a:latin typeface="Helvetica" pitchFamily="34" charset="0"/>
              </a:rPr>
              <a:t>a range of information systems and sources in use within the industry</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lvl="0" indent="0">
              <a:spcBef>
                <a:spcPts val="600"/>
              </a:spcBef>
              <a:spcAft>
                <a:spcPts val="1200"/>
              </a:spcAft>
              <a:buClr>
                <a:srgbClr val="7FD13B"/>
              </a:buClr>
              <a:buNone/>
            </a:pPr>
            <a:r>
              <a:rPr lang="en-US" altLang="en-US" sz="2200" b="1" kern="0" dirty="0">
                <a:solidFill>
                  <a:srgbClr val="000000"/>
                </a:solidFill>
              </a:rPr>
              <a:t>Identify different types of automated information </a:t>
            </a:r>
            <a:r>
              <a:rPr lang="en-US" altLang="en-US" sz="2200" b="1" kern="0" dirty="0" smtClean="0">
                <a:solidFill>
                  <a:srgbClr val="000000"/>
                </a:solidFill>
              </a:rPr>
              <a:t>systems</a:t>
            </a:r>
            <a:endParaRPr lang="en-US" sz="2200" dirty="0" smtClean="0"/>
          </a:p>
          <a:p>
            <a:pPr marL="360000" indent="-360000">
              <a:spcBef>
                <a:spcPts val="600"/>
              </a:spcBef>
              <a:spcAft>
                <a:spcPts val="1200"/>
              </a:spcAft>
            </a:pPr>
            <a:r>
              <a:rPr lang="en-AU" sz="2200" dirty="0"/>
              <a:t>CRS (GDS)</a:t>
            </a:r>
          </a:p>
          <a:p>
            <a:pPr marL="360000" indent="-360000">
              <a:spcBef>
                <a:spcPts val="600"/>
              </a:spcBef>
              <a:spcAft>
                <a:spcPts val="1200"/>
              </a:spcAft>
            </a:pPr>
            <a:r>
              <a:rPr lang="en-AU" sz="2200" dirty="0"/>
              <a:t>Specific company designed </a:t>
            </a:r>
            <a:r>
              <a:rPr lang="en-AU" sz="2200" dirty="0" smtClean="0"/>
              <a:t>systems:</a:t>
            </a:r>
          </a:p>
          <a:p>
            <a:pPr marL="661752" lvl="1" indent="-360000">
              <a:spcBef>
                <a:spcPts val="600"/>
              </a:spcBef>
              <a:spcAft>
                <a:spcPts val="1200"/>
              </a:spcAft>
            </a:pPr>
            <a:r>
              <a:rPr lang="en-AU" sz="2200" dirty="0" smtClean="0"/>
              <a:t>Intranet</a:t>
            </a:r>
            <a:endParaRPr lang="en-AU" sz="2200" dirty="0"/>
          </a:p>
          <a:p>
            <a:pPr marL="360000" indent="-360000">
              <a:spcBef>
                <a:spcPts val="600"/>
              </a:spcBef>
              <a:spcAft>
                <a:spcPts val="1200"/>
              </a:spcAft>
            </a:pPr>
            <a:r>
              <a:rPr lang="en-AU" sz="2200" dirty="0"/>
              <a:t>Internet</a:t>
            </a:r>
          </a:p>
          <a:p>
            <a:pPr marL="360000" indent="-360000">
              <a:spcBef>
                <a:spcPts val="600"/>
              </a:spcBef>
              <a:spcAft>
                <a:spcPts val="1200"/>
              </a:spcAft>
            </a:pPr>
            <a:r>
              <a:rPr lang="en-AU" sz="2200" dirty="0"/>
              <a:t>Government tourism </a:t>
            </a:r>
            <a:r>
              <a:rPr lang="en-AU" sz="2200" dirty="0" smtClean="0"/>
              <a:t>bodies</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24128" y="3719315"/>
            <a:ext cx="2687960" cy="17928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520" y="1916831"/>
            <a:ext cx="8681361" cy="3470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611560" y="188640"/>
            <a:ext cx="8208912" cy="1143000"/>
          </a:xfrm>
        </p:spPr>
        <p:txBody>
          <a:bodyPr>
            <a:noAutofit/>
          </a:bodyPr>
          <a:lstStyle/>
          <a:p>
            <a:pPr marL="900113" indent="-900113"/>
            <a:r>
              <a:rPr lang="en-AU" sz="3000" b="1" dirty="0" smtClean="0">
                <a:solidFill>
                  <a:srgbClr val="FF6600"/>
                </a:solidFill>
                <a:latin typeface="Helvetica" pitchFamily="34" charset="0"/>
              </a:rPr>
              <a:t>1.1	Identify </a:t>
            </a:r>
            <a:r>
              <a:rPr lang="en-AU" sz="3000" b="1" dirty="0">
                <a:solidFill>
                  <a:srgbClr val="FF6600"/>
                </a:solidFill>
                <a:latin typeface="Helvetica" pitchFamily="34" charset="0"/>
              </a:rPr>
              <a:t>a range of information systems and sources in use within the industry</a:t>
            </a:r>
            <a:endParaRPr lang="en-US" sz="3000" b="1" dirty="0">
              <a:solidFill>
                <a:srgbClr val="FF6600"/>
              </a:solidFill>
              <a:latin typeface="Helvetica"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9618522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354488" cy="1143000"/>
          </a:xfrm>
        </p:spPr>
        <p:txBody>
          <a:bodyPr>
            <a:noAutofit/>
          </a:bodyPr>
          <a:lstStyle/>
          <a:p>
            <a:pPr marL="900113" indent="-900113"/>
            <a:r>
              <a:rPr lang="en-AU" sz="3000" b="1" dirty="0">
                <a:solidFill>
                  <a:srgbClr val="FF6600"/>
                </a:solidFill>
                <a:latin typeface="Helvetica" pitchFamily="34" charset="0"/>
              </a:rPr>
              <a:t>1.2	Describe policies and procedures for operating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680520"/>
          </a:xfrm>
        </p:spPr>
        <p:txBody>
          <a:bodyPr>
            <a:normAutofit fontScale="92500"/>
          </a:bodyPr>
          <a:lstStyle/>
          <a:p>
            <a:pPr marL="0" indent="0">
              <a:spcBef>
                <a:spcPts val="600"/>
              </a:spcBef>
              <a:spcAft>
                <a:spcPts val="1200"/>
              </a:spcAft>
              <a:buNone/>
            </a:pPr>
            <a:r>
              <a:rPr lang="en-AU" sz="2400" dirty="0" smtClean="0">
                <a:latin typeface="Helvetica" pitchFamily="34" charset="0"/>
                <a:ea typeface="Times New Roman"/>
                <a:cs typeface="Times New Roman"/>
              </a:rPr>
              <a:t>Policy and procedure manuals determine </a:t>
            </a:r>
            <a:r>
              <a:rPr lang="en-AU" sz="2400" dirty="0">
                <a:latin typeface="Helvetica" pitchFamily="34" charset="0"/>
                <a:ea typeface="Times New Roman"/>
                <a:cs typeface="Times New Roman"/>
              </a:rPr>
              <a:t>the basis for achieving consistent standards of behaviour, operating procedures, quality of products and services </a:t>
            </a:r>
            <a:r>
              <a:rPr lang="en-AU" sz="2400" dirty="0" smtClean="0">
                <a:latin typeface="Helvetica" pitchFamily="34" charset="0"/>
                <a:ea typeface="Times New Roman"/>
                <a:cs typeface="Times New Roman"/>
              </a:rPr>
              <a:t>provided</a:t>
            </a:r>
            <a:r>
              <a:rPr lang="en-AU" sz="2400" dirty="0">
                <a:latin typeface="Helvetica" pitchFamily="34" charset="0"/>
                <a:ea typeface="Times New Roman"/>
                <a:cs typeface="Times New Roman"/>
              </a:rPr>
              <a:t>:</a:t>
            </a:r>
            <a:endParaRPr lang="en-AU" sz="2400" dirty="0" smtClean="0">
              <a:latin typeface="Helvetica" pitchFamily="34" charset="0"/>
              <a:ea typeface="Times New Roman"/>
              <a:cs typeface="Times New Roman"/>
            </a:endParaRPr>
          </a:p>
          <a:p>
            <a:pPr marL="360000" indent="-360000">
              <a:spcBef>
                <a:spcPts val="600"/>
              </a:spcBef>
              <a:spcAft>
                <a:spcPts val="1200"/>
              </a:spcAft>
            </a:pPr>
            <a:r>
              <a:rPr lang="en-AU" sz="2400" dirty="0" smtClean="0">
                <a:latin typeface="Helvetica" pitchFamily="34" charset="0"/>
                <a:ea typeface="Times New Roman"/>
                <a:cs typeface="Times New Roman"/>
              </a:rPr>
              <a:t>System </a:t>
            </a:r>
            <a:r>
              <a:rPr lang="en-AU" sz="2400" dirty="0">
                <a:latin typeface="Helvetica" pitchFamily="34" charset="0"/>
                <a:ea typeface="Times New Roman"/>
                <a:cs typeface="Times New Roman"/>
              </a:rPr>
              <a:t>access </a:t>
            </a:r>
            <a:r>
              <a:rPr lang="en-AU" sz="2400" dirty="0" smtClean="0">
                <a:latin typeface="Helvetica" pitchFamily="34" charset="0"/>
                <a:ea typeface="Times New Roman"/>
                <a:cs typeface="Times New Roman"/>
              </a:rPr>
              <a:t>protocols</a:t>
            </a:r>
          </a:p>
          <a:p>
            <a:pPr marL="360000" indent="-360000">
              <a:spcBef>
                <a:spcPts val="600"/>
              </a:spcBef>
              <a:spcAft>
                <a:spcPts val="1200"/>
              </a:spcAft>
            </a:pPr>
            <a:r>
              <a:rPr lang="en-US" sz="2400" dirty="0" smtClean="0">
                <a:latin typeface="Helvetica" pitchFamily="34" charset="0"/>
              </a:rPr>
              <a:t>Password controls</a:t>
            </a:r>
          </a:p>
          <a:p>
            <a:pPr marL="360000" indent="-360000">
              <a:spcBef>
                <a:spcPts val="600"/>
              </a:spcBef>
              <a:spcAft>
                <a:spcPts val="1200"/>
              </a:spcAft>
            </a:pPr>
            <a:r>
              <a:rPr lang="en-AU" sz="2400" dirty="0">
                <a:latin typeface="Helvetica"/>
                <a:ea typeface="Times New Roman"/>
                <a:cs typeface="Times New Roman"/>
              </a:rPr>
              <a:t>Licences </a:t>
            </a:r>
          </a:p>
          <a:p>
            <a:pPr marL="360000" indent="-360000">
              <a:spcBef>
                <a:spcPts val="600"/>
              </a:spcBef>
              <a:spcAft>
                <a:spcPts val="1200"/>
              </a:spcAft>
            </a:pPr>
            <a:r>
              <a:rPr lang="en-AU" sz="2400" dirty="0">
                <a:latin typeface="Helvetica"/>
                <a:ea typeface="Times New Roman"/>
                <a:cs typeface="Times New Roman"/>
              </a:rPr>
              <a:t>Software Licensing </a:t>
            </a:r>
          </a:p>
          <a:p>
            <a:pPr marL="360000" indent="-360000">
              <a:spcBef>
                <a:spcPts val="600"/>
              </a:spcBef>
              <a:spcAft>
                <a:spcPts val="1200"/>
              </a:spcAft>
            </a:pPr>
            <a:r>
              <a:rPr lang="en-AU" sz="2400" dirty="0">
                <a:latin typeface="Helvetica"/>
                <a:ea typeface="Times New Roman"/>
                <a:cs typeface="Times New Roman"/>
              </a:rPr>
              <a:t>Intellectual property </a:t>
            </a:r>
          </a:p>
          <a:p>
            <a:pPr marL="360000" indent="-360000">
              <a:spcBef>
                <a:spcPts val="600"/>
              </a:spcBef>
              <a:spcAft>
                <a:spcPts val="1200"/>
              </a:spcAft>
            </a:pPr>
            <a:r>
              <a:rPr lang="en-AU" sz="2400" dirty="0">
                <a:latin typeface="Helvetica"/>
                <a:ea typeface="Times New Roman"/>
                <a:cs typeface="Times New Roman"/>
              </a:rPr>
              <a:t>C</a:t>
            </a:r>
            <a:r>
              <a:rPr lang="en-AU" sz="2400" dirty="0" smtClean="0">
                <a:latin typeface="Helvetica"/>
                <a:ea typeface="Times New Roman"/>
                <a:cs typeface="Times New Roman"/>
              </a:rPr>
              <a:t>onfidentiality </a:t>
            </a:r>
            <a:endParaRPr lang="en-AU" sz="2400" dirty="0">
              <a:latin typeface="Helvetica"/>
              <a:ea typeface="Times New Roman"/>
              <a:cs typeface="Times New Roman"/>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3717032"/>
            <a:ext cx="3048000" cy="20330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88840"/>
            <a:ext cx="7467600" cy="4093915"/>
          </a:xfrm>
        </p:spPr>
        <p:txBody>
          <a:bodyPr>
            <a:normAutofit/>
          </a:bodyPr>
          <a:lstStyle/>
          <a:p>
            <a:pPr marL="360000" lvl="0" indent="-360000">
              <a:spcBef>
                <a:spcPts val="1200"/>
              </a:spcBef>
              <a:spcAft>
                <a:spcPts val="800"/>
              </a:spcAft>
              <a:buClr>
                <a:srgbClr val="7FD13B"/>
              </a:buClr>
            </a:pPr>
            <a:r>
              <a:rPr lang="en-AU" sz="2200" dirty="0">
                <a:latin typeface="Helvetica"/>
                <a:ea typeface="Times New Roman"/>
                <a:cs typeface="Times New Roman"/>
              </a:rPr>
              <a:t>Security and integrity of </a:t>
            </a:r>
            <a:r>
              <a:rPr lang="en-AU" sz="2200" dirty="0" smtClean="0">
                <a:latin typeface="Helvetica"/>
                <a:ea typeface="Times New Roman"/>
                <a:cs typeface="Times New Roman"/>
              </a:rPr>
              <a:t>information</a:t>
            </a:r>
          </a:p>
          <a:p>
            <a:pPr marL="360000" indent="-360000">
              <a:spcBef>
                <a:spcPts val="1200"/>
              </a:spcBef>
              <a:spcAft>
                <a:spcPts val="800"/>
              </a:spcAft>
            </a:pPr>
            <a:r>
              <a:rPr lang="en-AU" sz="2200" dirty="0" smtClean="0">
                <a:latin typeface="Helvetica"/>
                <a:ea typeface="Times New Roman"/>
                <a:cs typeface="Times New Roman"/>
              </a:rPr>
              <a:t>Storing </a:t>
            </a:r>
            <a:r>
              <a:rPr lang="en-AU" sz="2200" dirty="0">
                <a:latin typeface="Helvetica"/>
                <a:ea typeface="Times New Roman"/>
                <a:cs typeface="Times New Roman"/>
              </a:rPr>
              <a:t>of Files </a:t>
            </a:r>
          </a:p>
          <a:p>
            <a:pPr marL="360000" indent="-360000">
              <a:spcBef>
                <a:spcPts val="1200"/>
              </a:spcBef>
              <a:spcAft>
                <a:spcPts val="800"/>
              </a:spcAft>
            </a:pPr>
            <a:r>
              <a:rPr lang="en-AU" sz="2200" dirty="0">
                <a:latin typeface="Helvetica"/>
                <a:ea typeface="Times New Roman"/>
                <a:cs typeface="Times New Roman"/>
              </a:rPr>
              <a:t>Prohibited Activities </a:t>
            </a:r>
          </a:p>
          <a:p>
            <a:pPr marL="360000" indent="-360000">
              <a:spcBef>
                <a:spcPts val="1200"/>
              </a:spcBef>
              <a:spcAft>
                <a:spcPts val="800"/>
              </a:spcAft>
            </a:pPr>
            <a:r>
              <a:rPr lang="en-AU" sz="2200" dirty="0">
                <a:latin typeface="Helvetica"/>
                <a:ea typeface="Times New Roman"/>
                <a:cs typeface="Times New Roman"/>
              </a:rPr>
              <a:t>Legal considerations</a:t>
            </a:r>
          </a:p>
          <a:p>
            <a:pPr marL="360000" indent="-360000">
              <a:spcBef>
                <a:spcPts val="600"/>
              </a:spcBef>
              <a:spcAft>
                <a:spcPts val="1200"/>
              </a:spcAft>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8</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8354488" cy="1143000"/>
          </a:xfrm>
        </p:spPr>
        <p:txBody>
          <a:bodyPr>
            <a:noAutofit/>
          </a:bodyPr>
          <a:lstStyle/>
          <a:p>
            <a:pPr marL="900113" indent="-900113"/>
            <a:r>
              <a:rPr lang="en-AU" sz="3000" b="1" dirty="0">
                <a:solidFill>
                  <a:srgbClr val="FF6600"/>
                </a:solidFill>
                <a:latin typeface="Helvetica" pitchFamily="34" charset="0"/>
              </a:rPr>
              <a:t>1.2	Describe policies and procedures for operating an automated information system</a:t>
            </a:r>
            <a:endParaRPr lang="en-US" sz="3000" b="1" dirty="0">
              <a:solidFill>
                <a:srgbClr val="FF6600"/>
              </a:solidFill>
              <a:latin typeface="Helvetica"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168" y="2049895"/>
            <a:ext cx="1800200" cy="2987768"/>
          </a:xfrm>
          <a:prstGeom prst="rect">
            <a:avLst/>
          </a:prstGeom>
        </p:spPr>
      </p:pic>
    </p:spTree>
    <p:extLst>
      <p:ext uri="{BB962C8B-B14F-4D97-AF65-F5344CB8AC3E}">
        <p14:creationId xmlns:p14="http://schemas.microsoft.com/office/powerpoint/2010/main" val="528929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496944" cy="1152128"/>
          </a:xfrm>
        </p:spPr>
        <p:txBody>
          <a:bodyPr>
            <a:noAutofit/>
          </a:bodyPr>
          <a:lstStyle/>
          <a:p>
            <a:pPr marL="900113" indent="-900113" defTabSz="900113"/>
            <a:r>
              <a:rPr lang="en-AU" sz="2800" b="1" dirty="0" smtClean="0">
                <a:solidFill>
                  <a:srgbClr val="FF6600"/>
                </a:solidFill>
                <a:latin typeface="Helvetica" pitchFamily="34" charset="0"/>
              </a:rPr>
              <a:t>1.3   List </a:t>
            </a:r>
            <a:r>
              <a:rPr lang="en-AU" sz="2800" b="1" dirty="0">
                <a:solidFill>
                  <a:srgbClr val="FF6600"/>
                </a:solidFill>
                <a:latin typeface="Helvetica" pitchFamily="34" charset="0"/>
              </a:rPr>
              <a:t>information that may be available through </a:t>
            </a:r>
            <a:r>
              <a:rPr lang="en-AU" sz="2800" b="1" dirty="0" smtClean="0">
                <a:solidFill>
                  <a:srgbClr val="FF6600"/>
                </a:solidFill>
                <a:latin typeface="Helvetica" pitchFamily="34" charset="0"/>
              </a:rPr>
              <a:t>an automated </a:t>
            </a:r>
            <a:r>
              <a:rPr lang="en-AU" sz="2800" b="1" dirty="0">
                <a:solidFill>
                  <a:srgbClr val="FF6600"/>
                </a:solidFill>
                <a:latin typeface="Helvetica" pitchFamily="34" charset="0"/>
              </a:rPr>
              <a:t>information </a:t>
            </a:r>
            <a:r>
              <a:rPr lang="en-AU" sz="2800" b="1" dirty="0" smtClean="0">
                <a:solidFill>
                  <a:srgbClr val="FF6600"/>
                </a:solidFill>
                <a:latin typeface="Helvetica" pitchFamily="34" charset="0"/>
              </a:rPr>
              <a:t>system</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646993"/>
            <a:ext cx="7467600" cy="3878351"/>
          </a:xfrm>
        </p:spPr>
        <p:txBody>
          <a:bodyPr>
            <a:normAutofit/>
          </a:bodyPr>
          <a:lstStyle/>
          <a:p>
            <a:pPr marL="0" indent="0">
              <a:spcBef>
                <a:spcPts val="600"/>
              </a:spcBef>
              <a:spcAft>
                <a:spcPts val="1200"/>
              </a:spcAft>
              <a:buNone/>
            </a:pPr>
            <a:r>
              <a:rPr lang="en-AU" sz="2000" dirty="0" smtClean="0">
                <a:latin typeface="Helvetica" pitchFamily="34" charset="0"/>
              </a:rPr>
              <a:t>What </a:t>
            </a:r>
            <a:r>
              <a:rPr lang="en-AU" sz="2000" dirty="0">
                <a:latin typeface="Helvetica" pitchFamily="34" charset="0"/>
              </a:rPr>
              <a:t>information can be obtained through an automated </a:t>
            </a:r>
            <a:r>
              <a:rPr lang="en-AU" sz="2000" dirty="0" smtClean="0">
                <a:latin typeface="Helvetica" pitchFamily="34" charset="0"/>
              </a:rPr>
              <a:t>system?</a:t>
            </a:r>
          </a:p>
          <a:p>
            <a:pPr marL="360000" indent="-360000">
              <a:spcBef>
                <a:spcPts val="600"/>
              </a:spcBef>
              <a:spcAft>
                <a:spcPts val="1200"/>
              </a:spcAft>
            </a:pPr>
            <a:r>
              <a:rPr lang="en-US" sz="2000" dirty="0" smtClean="0">
                <a:latin typeface="Helvetica" pitchFamily="34" charset="0"/>
              </a:rPr>
              <a:t>Pricing </a:t>
            </a:r>
          </a:p>
          <a:p>
            <a:pPr marL="360000" indent="-360000">
              <a:spcBef>
                <a:spcPts val="600"/>
              </a:spcBef>
              <a:spcAft>
                <a:spcPts val="1200"/>
              </a:spcAft>
            </a:pPr>
            <a:r>
              <a:rPr lang="en-US" sz="2000" dirty="0" smtClean="0">
                <a:latin typeface="Helvetica" pitchFamily="34" charset="0"/>
              </a:rPr>
              <a:t>Availability</a:t>
            </a:r>
          </a:p>
          <a:p>
            <a:pPr marL="360000" indent="-360000">
              <a:spcBef>
                <a:spcPts val="600"/>
              </a:spcBef>
              <a:spcAft>
                <a:spcPts val="1200"/>
              </a:spcAft>
            </a:pPr>
            <a:r>
              <a:rPr lang="en-US" sz="2000" dirty="0" smtClean="0">
                <a:latin typeface="Helvetica" pitchFamily="34" charset="0"/>
              </a:rPr>
              <a:t>Destination information</a:t>
            </a:r>
          </a:p>
          <a:p>
            <a:pPr marL="360000" lvl="0" indent="-360000">
              <a:spcBef>
                <a:spcPts val="600"/>
              </a:spcBef>
              <a:spcAft>
                <a:spcPts val="1200"/>
              </a:spcAft>
              <a:buClr>
                <a:srgbClr val="7FD13B"/>
              </a:buClr>
            </a:pPr>
            <a:r>
              <a:rPr lang="en-US" sz="2000" dirty="0">
                <a:solidFill>
                  <a:prstClr val="black"/>
                </a:solidFill>
                <a:latin typeface="Helvetica" pitchFamily="34" charset="0"/>
              </a:rPr>
              <a:t>Visa </a:t>
            </a:r>
            <a:r>
              <a:rPr lang="en-US" sz="2000" dirty="0" smtClean="0">
                <a:solidFill>
                  <a:prstClr val="black"/>
                </a:solidFill>
                <a:latin typeface="Helvetica" pitchFamily="34" charset="0"/>
              </a:rPr>
              <a:t>information</a:t>
            </a:r>
            <a:endParaRPr lang="en-US" sz="2000" dirty="0" smtClean="0">
              <a:latin typeface="Helvetica" pitchFamily="34" charset="0"/>
            </a:endParaRPr>
          </a:p>
          <a:p>
            <a:pPr marL="360000" indent="-360000">
              <a:spcBef>
                <a:spcPts val="600"/>
              </a:spcBef>
              <a:spcAft>
                <a:spcPts val="1200"/>
              </a:spcAft>
            </a:pPr>
            <a:r>
              <a:rPr lang="en-US" sz="2000" dirty="0" smtClean="0">
                <a:latin typeface="Helvetica" pitchFamily="34" charset="0"/>
              </a:rPr>
              <a:t>Product information</a:t>
            </a:r>
            <a:endParaRPr lang="en-US" sz="2000" dirty="0">
              <a:latin typeface="Helvetica" pitchFamily="34" charset="0"/>
            </a:endParaRPr>
          </a:p>
          <a:p>
            <a:pPr marL="360000" indent="-360000">
              <a:spcBef>
                <a:spcPts val="600"/>
              </a:spcBef>
              <a:spcAft>
                <a:spcPts val="1200"/>
              </a:spcAft>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
        <p:nvSpPr>
          <p:cNvPr id="7" name="Title 1"/>
          <p:cNvSpPr txBox="1">
            <a:spLocks/>
          </p:cNvSpPr>
          <p:nvPr/>
        </p:nvSpPr>
        <p:spPr>
          <a:xfrm>
            <a:off x="611560" y="1340768"/>
            <a:ext cx="8496944" cy="1224136"/>
          </a:xfrm>
          <a:prstGeom prst="rect">
            <a:avLst/>
          </a:prstGeom>
        </p:spPr>
        <p:txBody>
          <a:bodyPr vert="horz" lIns="45720" rIns="45720" anchor="ctr">
            <a:no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900113" indent="-900113"/>
            <a:r>
              <a:rPr lang="en-AU" sz="2800" b="1" dirty="0" smtClean="0">
                <a:solidFill>
                  <a:srgbClr val="FF6600"/>
                </a:solidFill>
                <a:latin typeface="Helvetica" pitchFamily="34" charset="0"/>
              </a:rPr>
              <a:t>2.2   Identify and select appropriate sources of information</a:t>
            </a:r>
            <a:endParaRPr lang="en-US" sz="2800" b="1" dirty="0">
              <a:solidFill>
                <a:srgbClr val="FF6600"/>
              </a:solidFill>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7944" y="3284984"/>
            <a:ext cx="3048000" cy="20330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2420888"/>
            <a:ext cx="7467600" cy="4032448"/>
          </a:xfrm>
        </p:spPr>
        <p:txBody>
          <a:bodyPr>
            <a:noAutofit/>
          </a:bodyPr>
          <a:lstStyle/>
          <a:p>
            <a:pPr marL="0" indent="0">
              <a:spcBef>
                <a:spcPts val="1200"/>
              </a:spcBef>
              <a:spcAft>
                <a:spcPts val="600"/>
              </a:spcAft>
              <a:buNone/>
            </a:pPr>
            <a:r>
              <a:rPr lang="en-AU" sz="1800" b="1" dirty="0">
                <a:latin typeface="Helvetica"/>
                <a:ea typeface="Times New Roman"/>
                <a:cs typeface="Times New Roman"/>
              </a:rPr>
              <a:t>Information from third parties </a:t>
            </a:r>
          </a:p>
          <a:p>
            <a:pPr marL="360000" indent="-360000">
              <a:spcBef>
                <a:spcPts val="1200"/>
              </a:spcBef>
              <a:spcAft>
                <a:spcPts val="600"/>
              </a:spcAft>
            </a:pPr>
            <a:r>
              <a:rPr lang="en-AU" sz="1800" dirty="0" smtClean="0">
                <a:latin typeface="Helvetica"/>
                <a:ea typeface="Times New Roman"/>
                <a:cs typeface="Times New Roman"/>
              </a:rPr>
              <a:t>Tour </a:t>
            </a:r>
            <a:r>
              <a:rPr lang="en-AU" sz="1800" dirty="0">
                <a:latin typeface="Helvetica"/>
                <a:ea typeface="Times New Roman"/>
                <a:cs typeface="Times New Roman"/>
              </a:rPr>
              <a:t>operators </a:t>
            </a:r>
          </a:p>
          <a:p>
            <a:pPr marL="360000" indent="-360000">
              <a:spcBef>
                <a:spcPts val="1200"/>
              </a:spcBef>
              <a:spcAft>
                <a:spcPts val="600"/>
              </a:spcAft>
            </a:pPr>
            <a:r>
              <a:rPr lang="en-AU" sz="1800" dirty="0">
                <a:latin typeface="Helvetica"/>
                <a:ea typeface="Times New Roman"/>
                <a:cs typeface="Times New Roman"/>
              </a:rPr>
              <a:t>Wholesalers </a:t>
            </a:r>
            <a:endParaRPr lang="en-AU" sz="1800" dirty="0" smtClean="0">
              <a:latin typeface="Helvetica"/>
              <a:ea typeface="Times New Roman"/>
              <a:cs typeface="Times New Roman"/>
            </a:endParaRPr>
          </a:p>
          <a:p>
            <a:pPr marL="36576" indent="0">
              <a:spcBef>
                <a:spcPts val="400"/>
              </a:spcBef>
              <a:spcAft>
                <a:spcPts val="600"/>
              </a:spcAft>
              <a:buNone/>
            </a:pPr>
            <a:r>
              <a:rPr lang="en-AU" sz="1800" dirty="0">
                <a:latin typeface="Helvetica"/>
                <a:ea typeface="Calibri"/>
                <a:cs typeface="Calibri"/>
              </a:rPr>
              <a:t>For an extensive list of tour wholesalers search the following</a:t>
            </a:r>
            <a:r>
              <a:rPr lang="en-AU" sz="1800" dirty="0" smtClean="0">
                <a:latin typeface="Helvetica"/>
                <a:ea typeface="Calibri"/>
                <a:cs typeface="Calibri"/>
              </a:rPr>
              <a:t>:</a:t>
            </a:r>
          </a:p>
          <a:p>
            <a:pPr marL="360000" indent="-360000">
              <a:spcBef>
                <a:spcPts val="1200"/>
              </a:spcBef>
              <a:spcAft>
                <a:spcPts val="600"/>
              </a:spcAft>
            </a:pPr>
            <a:r>
              <a:rPr lang="en-AU" sz="1800" u="sng" dirty="0" smtClean="0">
                <a:latin typeface="HelveticaNeueLT Std Lt Cn"/>
                <a:ea typeface="Times New Roman"/>
                <a:cs typeface="HelveticaNeueLT Std Lt Cn"/>
                <a:hlinkClick r:id="rId3"/>
              </a:rPr>
              <a:t>http</a:t>
            </a:r>
            <a:r>
              <a:rPr lang="en-AU" sz="1800" u="sng" dirty="0">
                <a:latin typeface="HelveticaNeueLT Std Lt Cn"/>
                <a:ea typeface="Times New Roman"/>
                <a:cs typeface="HelveticaNeueLT Std Lt Cn"/>
                <a:hlinkClick r:id="rId3"/>
              </a:rPr>
              <a:t>://</a:t>
            </a:r>
            <a:r>
              <a:rPr lang="en-AU" sz="1800" u="sng" dirty="0" smtClean="0">
                <a:latin typeface="HelveticaNeueLT Std Lt Cn"/>
                <a:ea typeface="Times New Roman"/>
                <a:cs typeface="HelveticaNeueLT Std Lt Cn"/>
                <a:hlinkClick r:id="rId3"/>
              </a:rPr>
              <a:t>www.cato.asn.au/members</a:t>
            </a:r>
            <a:endParaRPr lang="en-AU" sz="1800" u="sng" dirty="0" smtClean="0">
              <a:latin typeface="HelveticaNeueLT Std Lt Cn"/>
              <a:ea typeface="Times New Roman"/>
              <a:cs typeface="HelveticaNeueLT Std Lt Cn"/>
            </a:endParaRPr>
          </a:p>
          <a:p>
            <a:pPr marL="360000" indent="-360000">
              <a:spcBef>
                <a:spcPts val="1200"/>
              </a:spcBef>
              <a:spcAft>
                <a:spcPts val="600"/>
              </a:spcAft>
            </a:pPr>
            <a:r>
              <a:rPr lang="en-AU" sz="1800" u="sng" dirty="0" smtClean="0">
                <a:latin typeface="HelveticaNeueLT Std Lt Cn"/>
                <a:ea typeface="Times New Roman"/>
                <a:cs typeface="HelveticaNeueLT Std Lt Cn"/>
                <a:hlinkClick r:id="rId4"/>
              </a:rPr>
              <a:t>http</a:t>
            </a:r>
            <a:r>
              <a:rPr lang="en-AU" sz="1800" u="sng" dirty="0">
                <a:latin typeface="HelveticaNeueLT Std Lt Cn"/>
                <a:ea typeface="Times New Roman"/>
                <a:cs typeface="HelveticaNeueLT Std Lt Cn"/>
                <a:hlinkClick r:id="rId4"/>
              </a:rPr>
              <a:t>://</a:t>
            </a:r>
            <a:r>
              <a:rPr lang="en-AU" sz="1800" u="sng" dirty="0" smtClean="0">
                <a:latin typeface="HelveticaNeueLT Std Lt Cn"/>
                <a:ea typeface="Times New Roman"/>
                <a:cs typeface="HelveticaNeueLT Std Lt Cn"/>
                <a:hlinkClick r:id="rId4"/>
              </a:rPr>
              <a:t>websitetravel.com/</a:t>
            </a:r>
            <a:endParaRPr lang="en-AU" sz="1800" u="sng" dirty="0" smtClean="0">
              <a:latin typeface="HelveticaNeueLT Std Lt Cn"/>
              <a:ea typeface="Times New Roman"/>
              <a:cs typeface="HelveticaNeueLT Std Lt Cn"/>
            </a:endParaRPr>
          </a:p>
          <a:p>
            <a:pPr marL="360000" indent="-360000">
              <a:spcBef>
                <a:spcPts val="1200"/>
              </a:spcBef>
              <a:spcAft>
                <a:spcPts val="600"/>
              </a:spcAft>
            </a:pPr>
            <a:r>
              <a:rPr lang="en-AU" sz="1800" u="sng" dirty="0" smtClean="0">
                <a:latin typeface="HelveticaNeueLT Std Lt Cn"/>
                <a:ea typeface="Times New Roman"/>
                <a:cs typeface="HelveticaNeueLT Std Lt Cn"/>
                <a:hlinkClick r:id="rId5"/>
              </a:rPr>
              <a:t>http</a:t>
            </a:r>
            <a:r>
              <a:rPr lang="en-AU" sz="1800" u="sng" dirty="0">
                <a:latin typeface="HelveticaNeueLT Std Lt Cn"/>
                <a:ea typeface="Times New Roman"/>
                <a:cs typeface="HelveticaNeueLT Std Lt Cn"/>
                <a:hlinkClick r:id="rId5"/>
              </a:rPr>
              <a:t>://</a:t>
            </a:r>
            <a:r>
              <a:rPr lang="en-AU" sz="1800" u="sng" dirty="0" smtClean="0">
                <a:latin typeface="HelveticaNeueLT Std Lt Cn"/>
                <a:ea typeface="Times New Roman"/>
                <a:cs typeface="HelveticaNeueLT Std Lt Cn"/>
                <a:hlinkClick r:id="rId5"/>
              </a:rPr>
              <a:t>www.ttgasia.com/article.php?article_id=4817</a:t>
            </a:r>
            <a:endParaRPr lang="en-AU" sz="1800" u="sng" dirty="0" smtClean="0">
              <a:latin typeface="HelveticaNeueLT Std Lt Cn"/>
              <a:ea typeface="Times New Roman"/>
              <a:cs typeface="HelveticaNeueLT Std Lt Cn"/>
            </a:endParaRPr>
          </a:p>
          <a:p>
            <a:pPr marL="360000" indent="-360000">
              <a:spcBef>
                <a:spcPts val="1200"/>
              </a:spcBef>
              <a:spcAft>
                <a:spcPts val="600"/>
              </a:spcAft>
            </a:pPr>
            <a:r>
              <a:rPr lang="en-AU" sz="1800" u="sng" dirty="0" smtClean="0">
                <a:latin typeface="HelveticaNeueLT Std Lt Cn"/>
                <a:ea typeface="Times New Roman"/>
                <a:cs typeface="HelveticaNeueLT Std Lt Cn"/>
                <a:hlinkClick r:id="rId6"/>
              </a:rPr>
              <a:t>http</a:t>
            </a:r>
            <a:r>
              <a:rPr lang="en-AU" sz="1800" u="sng" dirty="0">
                <a:latin typeface="HelveticaNeueLT Std Lt Cn"/>
                <a:ea typeface="Times New Roman"/>
                <a:cs typeface="HelveticaNeueLT Std Lt Cn"/>
                <a:hlinkClick r:id="rId6"/>
              </a:rPr>
              <a:t>://www.asiaescapeholidays.com.au</a:t>
            </a:r>
            <a:r>
              <a:rPr lang="en-AU" sz="1800" u="sng" dirty="0" smtClean="0">
                <a:latin typeface="HelveticaNeueLT Std Lt Cn"/>
                <a:ea typeface="Times New Roman"/>
                <a:cs typeface="HelveticaNeueLT Std Lt Cn"/>
                <a:hlinkClick r:id="rId6"/>
              </a:rPr>
              <a:t>/</a:t>
            </a:r>
            <a:endParaRPr lang="en-AU" sz="1800" dirty="0">
              <a:latin typeface="Helvetica"/>
              <a:ea typeface="Times New Roman"/>
              <a:cs typeface="Times New Roman"/>
            </a:endParaRPr>
          </a:p>
          <a:p>
            <a:pPr marL="360000" indent="-360000">
              <a:spcBef>
                <a:spcPts val="600"/>
              </a:spcBef>
              <a:spcAft>
                <a:spcPts val="600"/>
              </a:spcAft>
            </a:pPr>
            <a:endParaRPr lang="en-US" sz="1800" dirty="0" smtClean="0"/>
          </a:p>
          <a:p>
            <a:pPr marL="360000" indent="-360000">
              <a:spcBef>
                <a:spcPts val="600"/>
              </a:spcBef>
              <a:spcAft>
                <a:spcPts val="600"/>
              </a:spcAft>
            </a:pPr>
            <a:endParaRPr lang="en-US" sz="1800" dirty="0" smtClean="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10</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539552" y="260648"/>
            <a:ext cx="8496944" cy="1152128"/>
          </a:xfrm>
        </p:spPr>
        <p:txBody>
          <a:bodyPr>
            <a:noAutofit/>
          </a:bodyPr>
          <a:lstStyle/>
          <a:p>
            <a:pPr marL="900113" indent="-900113" defTabSz="900113"/>
            <a:r>
              <a:rPr lang="en-AU" sz="2800" b="1" dirty="0" smtClean="0">
                <a:solidFill>
                  <a:srgbClr val="FF6600"/>
                </a:solidFill>
                <a:latin typeface="Helvetica" pitchFamily="34" charset="0"/>
              </a:rPr>
              <a:t>1.3   List </a:t>
            </a:r>
            <a:r>
              <a:rPr lang="en-AU" sz="2800" b="1" dirty="0">
                <a:solidFill>
                  <a:srgbClr val="FF6600"/>
                </a:solidFill>
                <a:latin typeface="Helvetica" pitchFamily="34" charset="0"/>
              </a:rPr>
              <a:t>information that may be available through </a:t>
            </a:r>
            <a:r>
              <a:rPr lang="en-AU" sz="2800" b="1" dirty="0" smtClean="0">
                <a:solidFill>
                  <a:srgbClr val="FF6600"/>
                </a:solidFill>
                <a:latin typeface="Helvetica" pitchFamily="34" charset="0"/>
              </a:rPr>
              <a:t>an automated </a:t>
            </a:r>
            <a:r>
              <a:rPr lang="en-AU" sz="2800" b="1" dirty="0">
                <a:solidFill>
                  <a:srgbClr val="FF6600"/>
                </a:solidFill>
                <a:latin typeface="Helvetica" pitchFamily="34" charset="0"/>
              </a:rPr>
              <a:t>information </a:t>
            </a:r>
            <a:r>
              <a:rPr lang="en-AU" sz="2800" b="1" dirty="0" smtClean="0">
                <a:solidFill>
                  <a:srgbClr val="FF6600"/>
                </a:solidFill>
                <a:latin typeface="Helvetica" pitchFamily="34" charset="0"/>
              </a:rPr>
              <a:t>system</a:t>
            </a:r>
            <a:endParaRPr lang="en-US" sz="2800" b="1" dirty="0">
              <a:solidFill>
                <a:srgbClr val="FF6600"/>
              </a:solidFill>
              <a:latin typeface="Helvetica" pitchFamily="34" charset="0"/>
            </a:endParaRPr>
          </a:p>
        </p:txBody>
      </p:sp>
      <p:sp>
        <p:nvSpPr>
          <p:cNvPr id="8" name="Title 1"/>
          <p:cNvSpPr txBox="1">
            <a:spLocks/>
          </p:cNvSpPr>
          <p:nvPr/>
        </p:nvSpPr>
        <p:spPr>
          <a:xfrm>
            <a:off x="539552" y="1268760"/>
            <a:ext cx="8496944" cy="1224136"/>
          </a:xfrm>
          <a:prstGeom prst="rect">
            <a:avLst/>
          </a:prstGeom>
        </p:spPr>
        <p:txBody>
          <a:bodyPr vert="horz" lIns="45720" rIns="45720" anchor="ctr">
            <a:no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900113" indent="-900113"/>
            <a:r>
              <a:rPr lang="en-AU" sz="2800" b="1" dirty="0" smtClean="0">
                <a:solidFill>
                  <a:srgbClr val="FF6600"/>
                </a:solidFill>
                <a:latin typeface="Helvetica" pitchFamily="34" charset="0"/>
              </a:rPr>
              <a:t>2.2   Identify and select appropriate sources of information</a:t>
            </a:r>
            <a:endParaRPr lang="en-US" sz="2800" b="1" dirty="0">
              <a:solidFill>
                <a:srgbClr val="FF6600"/>
              </a:solidFill>
              <a:latin typeface="Helvetica" pitchFamily="34" charset="0"/>
            </a:endParaRPr>
          </a:p>
        </p:txBody>
      </p:sp>
      <p:pic>
        <p:nvPicPr>
          <p:cNvPr id="2" name="Picture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00192" y="4365104"/>
            <a:ext cx="2111896" cy="1583922"/>
          </a:xfrm>
          <a:prstGeom prst="rect">
            <a:avLst/>
          </a:prstGeom>
        </p:spPr>
      </p:pic>
    </p:spTree>
    <p:extLst>
      <p:ext uri="{BB962C8B-B14F-4D97-AF65-F5344CB8AC3E}">
        <p14:creationId xmlns:p14="http://schemas.microsoft.com/office/powerpoint/2010/main" val="1747797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2780928"/>
            <a:ext cx="7467600" cy="3672408"/>
          </a:xfrm>
        </p:spPr>
        <p:txBody>
          <a:bodyPr>
            <a:normAutofit/>
          </a:bodyPr>
          <a:lstStyle/>
          <a:p>
            <a:pPr marL="360000" indent="-360000">
              <a:spcBef>
                <a:spcPts val="1200"/>
              </a:spcBef>
              <a:spcAft>
                <a:spcPts val="600"/>
              </a:spcAft>
            </a:pPr>
            <a:r>
              <a:rPr lang="en-AU" sz="2200" dirty="0" smtClean="0">
                <a:latin typeface="Helvetica"/>
                <a:ea typeface="Times New Roman"/>
                <a:cs typeface="Times New Roman"/>
              </a:rPr>
              <a:t>Intranet </a:t>
            </a:r>
            <a:r>
              <a:rPr lang="en-AU" sz="2200" dirty="0">
                <a:latin typeface="Helvetica"/>
                <a:ea typeface="Times New Roman"/>
                <a:cs typeface="Times New Roman"/>
              </a:rPr>
              <a:t>(company designed information system)</a:t>
            </a:r>
          </a:p>
          <a:p>
            <a:pPr marL="360000" indent="-360000">
              <a:spcBef>
                <a:spcPts val="1200"/>
              </a:spcBef>
              <a:spcAft>
                <a:spcPts val="600"/>
              </a:spcAft>
            </a:pPr>
            <a:r>
              <a:rPr lang="en-AU" sz="2200" dirty="0">
                <a:latin typeface="Helvetica"/>
                <a:ea typeface="Times New Roman"/>
                <a:cs typeface="Times New Roman"/>
              </a:rPr>
              <a:t>Employee information </a:t>
            </a:r>
          </a:p>
          <a:p>
            <a:pPr marL="360000" indent="-360000">
              <a:spcBef>
                <a:spcPts val="1200"/>
              </a:spcBef>
              <a:spcAft>
                <a:spcPts val="600"/>
              </a:spcAft>
            </a:pPr>
            <a:r>
              <a:rPr lang="en-AU" sz="2200" dirty="0">
                <a:latin typeface="Helvetica"/>
                <a:ea typeface="Times New Roman"/>
                <a:cs typeface="Times New Roman"/>
              </a:rPr>
              <a:t>Company information </a:t>
            </a:r>
          </a:p>
          <a:p>
            <a:pPr marL="360000" indent="-360000">
              <a:spcBef>
                <a:spcPts val="1200"/>
              </a:spcBef>
              <a:spcAft>
                <a:spcPts val="600"/>
              </a:spcAft>
            </a:pPr>
            <a:r>
              <a:rPr lang="en-AU" sz="2200" dirty="0">
                <a:latin typeface="Helvetica"/>
                <a:ea typeface="Times New Roman"/>
                <a:cs typeface="Times New Roman"/>
              </a:rPr>
              <a:t>Computer Reservation System (CRS) </a:t>
            </a:r>
          </a:p>
          <a:p>
            <a:pPr marL="360000" indent="-360000">
              <a:spcBef>
                <a:spcPts val="600"/>
              </a:spcBef>
              <a:spcAft>
                <a:spcPts val="1200"/>
              </a:spcAft>
            </a:pPr>
            <a:endParaRPr lang="en-US" sz="2200" dirty="0" smtClean="0"/>
          </a:p>
          <a:p>
            <a:pPr marL="360000" indent="-360000">
              <a:spcBef>
                <a:spcPts val="600"/>
              </a:spcBef>
              <a:spcAft>
                <a:spcPts val="1200"/>
              </a:spcAft>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11</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260648"/>
            <a:ext cx="8496944" cy="1152128"/>
          </a:xfrm>
        </p:spPr>
        <p:txBody>
          <a:bodyPr>
            <a:noAutofit/>
          </a:bodyPr>
          <a:lstStyle/>
          <a:p>
            <a:pPr marL="900113" indent="-900113" defTabSz="900113"/>
            <a:r>
              <a:rPr lang="en-AU" sz="2800" b="1" dirty="0" smtClean="0">
                <a:solidFill>
                  <a:srgbClr val="FF6600"/>
                </a:solidFill>
                <a:latin typeface="Helvetica" pitchFamily="34" charset="0"/>
              </a:rPr>
              <a:t>1.3   List </a:t>
            </a:r>
            <a:r>
              <a:rPr lang="en-AU" sz="2800" b="1" dirty="0">
                <a:solidFill>
                  <a:srgbClr val="FF6600"/>
                </a:solidFill>
                <a:latin typeface="Helvetica" pitchFamily="34" charset="0"/>
              </a:rPr>
              <a:t>information that may be available through </a:t>
            </a:r>
            <a:r>
              <a:rPr lang="en-AU" sz="2800" b="1" dirty="0" smtClean="0">
                <a:solidFill>
                  <a:srgbClr val="FF6600"/>
                </a:solidFill>
                <a:latin typeface="Helvetica" pitchFamily="34" charset="0"/>
              </a:rPr>
              <a:t>an automated </a:t>
            </a:r>
            <a:r>
              <a:rPr lang="en-AU" sz="2800" b="1" dirty="0">
                <a:solidFill>
                  <a:srgbClr val="FF6600"/>
                </a:solidFill>
                <a:latin typeface="Helvetica" pitchFamily="34" charset="0"/>
              </a:rPr>
              <a:t>information </a:t>
            </a:r>
            <a:r>
              <a:rPr lang="en-AU" sz="2800" b="1" dirty="0" smtClean="0">
                <a:solidFill>
                  <a:srgbClr val="FF6600"/>
                </a:solidFill>
                <a:latin typeface="Helvetica" pitchFamily="34" charset="0"/>
              </a:rPr>
              <a:t>system</a:t>
            </a:r>
            <a:endParaRPr lang="en-US" sz="2800" b="1" dirty="0">
              <a:solidFill>
                <a:srgbClr val="FF6600"/>
              </a:solidFill>
              <a:latin typeface="Helvetica" pitchFamily="34" charset="0"/>
            </a:endParaRPr>
          </a:p>
        </p:txBody>
      </p:sp>
      <p:sp>
        <p:nvSpPr>
          <p:cNvPr id="8" name="Title 1"/>
          <p:cNvSpPr txBox="1">
            <a:spLocks/>
          </p:cNvSpPr>
          <p:nvPr/>
        </p:nvSpPr>
        <p:spPr>
          <a:xfrm>
            <a:off x="611560" y="1340768"/>
            <a:ext cx="8496944" cy="1224136"/>
          </a:xfrm>
          <a:prstGeom prst="rect">
            <a:avLst/>
          </a:prstGeom>
        </p:spPr>
        <p:txBody>
          <a:bodyPr vert="horz" lIns="45720" rIns="45720" anchor="ctr">
            <a:noAutofit/>
          </a:bodyPr>
          <a:lstStyle>
            <a:lvl1pPr algn="l" rtl="0" eaLnBrk="1" latinLnBrk="0" hangingPunct="1">
              <a:spcBef>
                <a:spcPct val="0"/>
              </a:spcBef>
              <a:buNone/>
              <a:defRPr kumimoji="0" sz="4600" kern="1200">
                <a:solidFill>
                  <a:schemeClr val="tx1"/>
                </a:solidFill>
                <a:latin typeface="+mj-lt"/>
                <a:ea typeface="+mj-ea"/>
                <a:cs typeface="+mj-cs"/>
              </a:defRPr>
            </a:lvl1pPr>
          </a:lstStyle>
          <a:p>
            <a:pPr marL="900113" indent="-900113"/>
            <a:r>
              <a:rPr lang="en-AU" sz="2800" b="1" dirty="0" smtClean="0">
                <a:solidFill>
                  <a:srgbClr val="FF6600"/>
                </a:solidFill>
                <a:latin typeface="Helvetica" pitchFamily="34" charset="0"/>
              </a:rPr>
              <a:t>2.2   Identify and select appropriate sources of information</a:t>
            </a:r>
            <a:endParaRPr lang="en-US" sz="2800" b="1" dirty="0">
              <a:solidFill>
                <a:srgbClr val="FF6600"/>
              </a:solidFill>
              <a:latin typeface="Helvetica"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3861048"/>
            <a:ext cx="2471936" cy="1648781"/>
          </a:xfrm>
          <a:prstGeom prst="rect">
            <a:avLst/>
          </a:prstGeom>
        </p:spPr>
      </p:pic>
    </p:spTree>
    <p:extLst>
      <p:ext uri="{BB962C8B-B14F-4D97-AF65-F5344CB8AC3E}">
        <p14:creationId xmlns:p14="http://schemas.microsoft.com/office/powerpoint/2010/main" val="2143003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AU" sz="2200" dirty="0">
                <a:latin typeface="Helvetica" pitchFamily="34" charset="0"/>
                <a:ea typeface="Times New Roman"/>
                <a:cs typeface="Times New Roman"/>
              </a:rPr>
              <a:t>A central reservation system (CRS) is the most common system used today by travel agents as it is the most reliable for ensuring information is always </a:t>
            </a:r>
            <a:r>
              <a:rPr lang="en-AU" sz="2200" dirty="0" smtClean="0">
                <a:latin typeface="Helvetica" pitchFamily="34" charset="0"/>
                <a:ea typeface="Times New Roman"/>
                <a:cs typeface="Times New Roman"/>
              </a:rPr>
              <a:t>current</a:t>
            </a:r>
            <a:r>
              <a:rPr lang="en-AU" sz="2200" dirty="0">
                <a:latin typeface="Helvetica" pitchFamily="34" charset="0"/>
                <a:ea typeface="Times New Roman"/>
                <a:cs typeface="Times New Roman"/>
              </a:rPr>
              <a:t>:</a:t>
            </a:r>
            <a:endParaRPr lang="en-AU" sz="2200" dirty="0" smtClean="0">
              <a:latin typeface="Helvetica" pitchFamily="34" charset="0"/>
              <a:ea typeface="Times New Roman"/>
              <a:cs typeface="Times New Roman"/>
            </a:endParaRPr>
          </a:p>
          <a:p>
            <a:pPr marL="360000" indent="-360000">
              <a:spcBef>
                <a:spcPts val="600"/>
              </a:spcBef>
              <a:spcAft>
                <a:spcPts val="1200"/>
              </a:spcAft>
            </a:pPr>
            <a:r>
              <a:rPr lang="en-US" sz="2200" dirty="0" smtClean="0">
                <a:latin typeface="Helvetica" pitchFamily="34" charset="0"/>
              </a:rPr>
              <a:t>Central </a:t>
            </a:r>
            <a:r>
              <a:rPr lang="en-US" sz="2200" dirty="0">
                <a:latin typeface="Helvetica" pitchFamily="34" charset="0"/>
              </a:rPr>
              <a:t>Reservation System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3768" y="3933056"/>
            <a:ext cx="2759968" cy="183537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a:latin typeface="Helvetica" pitchFamily="34" charset="0"/>
                <a:ea typeface="Times New Roman"/>
                <a:cs typeface="Times New Roman"/>
              </a:rPr>
              <a:t>A central reservation system (CRS) is the most common system used today by travel agents as it is the most reliable for ensuring information is always </a:t>
            </a:r>
            <a:r>
              <a:rPr lang="en-AU" sz="2200" dirty="0" smtClean="0">
                <a:latin typeface="Helvetica" pitchFamily="34" charset="0"/>
                <a:ea typeface="Times New Roman"/>
                <a:cs typeface="Times New Roman"/>
              </a:rPr>
              <a:t>current</a:t>
            </a:r>
            <a:r>
              <a:rPr lang="en-AU" sz="2200" dirty="0">
                <a:latin typeface="Helvetica" pitchFamily="34" charset="0"/>
                <a:ea typeface="Times New Roman"/>
                <a:cs typeface="Times New Roman"/>
              </a:rPr>
              <a:t>:</a:t>
            </a:r>
            <a:endParaRPr lang="en-AU" sz="2200" dirty="0" smtClean="0">
              <a:latin typeface="Helvetica" pitchFamily="34" charset="0"/>
              <a:ea typeface="Times New Roman"/>
              <a:cs typeface="Times New Roman"/>
            </a:endParaRPr>
          </a:p>
          <a:p>
            <a:pPr marL="360000" indent="-360000">
              <a:spcBef>
                <a:spcPts val="600"/>
              </a:spcBef>
              <a:spcAft>
                <a:spcPts val="1200"/>
              </a:spcAft>
            </a:pPr>
            <a:r>
              <a:rPr lang="en-US" sz="2200" dirty="0" smtClean="0">
                <a:latin typeface="Helvetica" pitchFamily="34" charset="0"/>
              </a:rPr>
              <a:t>Central </a:t>
            </a:r>
            <a:r>
              <a:rPr lang="en-US" sz="2200" dirty="0">
                <a:latin typeface="Helvetica" pitchFamily="34" charset="0"/>
              </a:rPr>
              <a:t>Reservation System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13</a:t>
            </a:fld>
            <a:endParaRPr lang="en-US" dirty="0">
              <a:solidFill>
                <a:srgbClr val="4E5B6F">
                  <a:shade val="50000"/>
                </a:srgbClr>
              </a:solidFill>
              <a:latin typeface="Helvetica"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3040771"/>
            <a:ext cx="2925950" cy="233244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78165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91264"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AU" sz="3000" dirty="0"/>
          </a:p>
        </p:txBody>
      </p:sp>
      <p:sp>
        <p:nvSpPr>
          <p:cNvPr id="3" name="Content Placeholder 2"/>
          <p:cNvSpPr>
            <a:spLocks noGrp="1"/>
          </p:cNvSpPr>
          <p:nvPr>
            <p:ph idx="1"/>
          </p:nvPr>
        </p:nvSpPr>
        <p:spPr/>
        <p:txBody>
          <a:bodyPr/>
          <a:lstStyle/>
          <a:p>
            <a:pPr marL="36576" indent="0">
              <a:buNone/>
            </a:pPr>
            <a:r>
              <a:rPr lang="en-AU" sz="2400" b="1" dirty="0" smtClean="0"/>
              <a:t>Fare reservation</a:t>
            </a:r>
          </a:p>
          <a:p>
            <a:endParaRPr lang="en-AU" dirty="0"/>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157847"/>
            <a:ext cx="8452445" cy="4226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5019654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28800"/>
            <a:ext cx="7467600" cy="4497363"/>
          </a:xfrm>
        </p:spPr>
        <p:txBody>
          <a:bodyPr/>
          <a:lstStyle/>
          <a:p>
            <a:pPr marL="36576" indent="0">
              <a:buNone/>
            </a:pPr>
            <a:r>
              <a:rPr lang="en-AU" sz="2400" b="1" dirty="0" smtClean="0"/>
              <a:t>Hotel reservation</a:t>
            </a:r>
          </a:p>
          <a:p>
            <a:endParaRPr lang="en-AU" dirty="0" smtClean="0"/>
          </a:p>
          <a:p>
            <a:endParaRPr lang="en-AU" dirty="0"/>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76871"/>
            <a:ext cx="9024937" cy="4162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0359774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4784"/>
            <a:ext cx="7467600" cy="4641379"/>
          </a:xfrm>
        </p:spPr>
        <p:txBody>
          <a:bodyPr>
            <a:normAutofit/>
          </a:bodyPr>
          <a:lstStyle/>
          <a:p>
            <a:pPr marL="36576" indent="0">
              <a:buNone/>
            </a:pPr>
            <a:r>
              <a:rPr lang="en-AU" sz="2400" b="1" dirty="0" smtClean="0"/>
              <a:t>Car reservation</a:t>
            </a:r>
          </a:p>
          <a:p>
            <a:endParaRPr lang="en-AU" sz="2400" b="1" dirty="0" smtClean="0"/>
          </a:p>
          <a:p>
            <a:endParaRPr lang="en-AU" sz="2400" b="1" dirty="0"/>
          </a:p>
          <a:p>
            <a:endParaRPr lang="en-AU" sz="2400" b="1"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132856"/>
            <a:ext cx="8820472" cy="42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68710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180000" lvl="0" indent="-360000" fontAlgn="base">
              <a:lnSpc>
                <a:spcPct val="90000"/>
              </a:lnSpc>
              <a:spcAft>
                <a:spcPct val="0"/>
              </a:spcAft>
              <a:buClrTx/>
              <a:buSzTx/>
              <a:buNone/>
            </a:pPr>
            <a:r>
              <a:rPr lang="en-AU" altLang="en-US" sz="2200" b="1" kern="0" dirty="0" smtClean="0">
                <a:solidFill>
                  <a:srgbClr val="000000"/>
                </a:solidFill>
              </a:rPr>
              <a:t>Internet</a:t>
            </a:r>
          </a:p>
          <a:p>
            <a:pPr marL="180000" lvl="0" indent="-360000" fontAlgn="base">
              <a:lnSpc>
                <a:spcPct val="90000"/>
              </a:lnSpc>
              <a:spcAft>
                <a:spcPct val="0"/>
              </a:spcAft>
              <a:buClrTx/>
              <a:buSzTx/>
              <a:buNone/>
            </a:pPr>
            <a:endParaRPr lang="en-AU" altLang="en-US" sz="2200" kern="0" dirty="0" smtClean="0">
              <a:solidFill>
                <a:srgbClr val="000000"/>
              </a:solidFill>
            </a:endParaRPr>
          </a:p>
          <a:p>
            <a:pPr marL="360000" lvl="0" indent="-360000">
              <a:spcBef>
                <a:spcPts val="600"/>
              </a:spcBef>
              <a:spcAft>
                <a:spcPts val="1200"/>
              </a:spcAft>
              <a:buClr>
                <a:srgbClr val="7FD13B"/>
              </a:buClr>
            </a:pPr>
            <a:r>
              <a:rPr lang="en-AU" altLang="en-US" sz="2200" kern="0" dirty="0" smtClean="0">
                <a:solidFill>
                  <a:srgbClr val="000000"/>
                </a:solidFill>
              </a:rPr>
              <a:t>The </a:t>
            </a:r>
            <a:r>
              <a:rPr lang="en-AU" altLang="en-US" sz="2200" b="1" kern="0" dirty="0">
                <a:solidFill>
                  <a:srgbClr val="000000"/>
                </a:solidFill>
              </a:rPr>
              <a:t>World Wide Web</a:t>
            </a:r>
            <a:r>
              <a:rPr lang="en-AU" altLang="en-US" sz="2200" kern="0" dirty="0">
                <a:solidFill>
                  <a:srgbClr val="000000"/>
                </a:solidFill>
              </a:rPr>
              <a:t> is a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collection of electronic documents </a:t>
            </a:r>
            <a:br>
              <a:rPr lang="en-AU" altLang="en-US" sz="2200" kern="0" dirty="0" smtClean="0">
                <a:solidFill>
                  <a:srgbClr val="000000"/>
                </a:solidFill>
              </a:rPr>
            </a:br>
            <a:r>
              <a:rPr lang="en-AU" altLang="en-US" sz="2200" kern="0" dirty="0" smtClean="0">
                <a:solidFill>
                  <a:srgbClr val="000000"/>
                </a:solidFill>
              </a:rPr>
              <a:t>that </a:t>
            </a:r>
            <a:r>
              <a:rPr lang="en-AU" altLang="en-US" sz="2200" kern="0" dirty="0">
                <a:solidFill>
                  <a:srgbClr val="000000"/>
                </a:solidFill>
              </a:rPr>
              <a:t>are linked </a:t>
            </a:r>
            <a:r>
              <a:rPr lang="en-AU" altLang="en-US" sz="2200" kern="0" dirty="0" smtClean="0">
                <a:solidFill>
                  <a:srgbClr val="000000"/>
                </a:solidFill>
              </a:rPr>
              <a:t>together </a:t>
            </a:r>
            <a:r>
              <a:rPr lang="en-AU" altLang="en-US" sz="2200" kern="0" dirty="0">
                <a:solidFill>
                  <a:srgbClr val="000000"/>
                </a:solidFill>
              </a:rPr>
              <a:t>like a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spider web</a:t>
            </a:r>
          </a:p>
          <a:p>
            <a:pPr marL="360000" lvl="0" indent="-360000">
              <a:spcBef>
                <a:spcPts val="600"/>
              </a:spcBef>
              <a:spcAft>
                <a:spcPts val="1200"/>
              </a:spcAft>
              <a:buClr>
                <a:srgbClr val="7FD13B"/>
              </a:buClr>
            </a:pPr>
            <a:r>
              <a:rPr lang="en-AU" altLang="en-US" sz="2200" kern="0" dirty="0" smtClean="0">
                <a:solidFill>
                  <a:srgbClr val="000000"/>
                </a:solidFill>
              </a:rPr>
              <a:t>These </a:t>
            </a:r>
            <a:r>
              <a:rPr lang="en-AU" altLang="en-US" sz="2200" kern="0" dirty="0">
                <a:solidFill>
                  <a:srgbClr val="000000"/>
                </a:solidFill>
              </a:rPr>
              <a:t>documents are stored </a:t>
            </a:r>
            <a:r>
              <a:rPr lang="en-AU" altLang="en-US" sz="2200" kern="0" dirty="0" smtClean="0">
                <a:solidFill>
                  <a:srgbClr val="000000"/>
                </a:solidFill>
              </a:rPr>
              <a:t>on </a:t>
            </a:r>
            <a:br>
              <a:rPr lang="en-AU" altLang="en-US" sz="2200" kern="0" dirty="0" smtClean="0">
                <a:solidFill>
                  <a:srgbClr val="000000"/>
                </a:solidFill>
              </a:rPr>
            </a:br>
            <a:r>
              <a:rPr lang="en-AU" altLang="en-US" sz="2200" kern="0" dirty="0" smtClean="0">
                <a:solidFill>
                  <a:srgbClr val="000000"/>
                </a:solidFill>
              </a:rPr>
              <a:t>computers </a:t>
            </a:r>
            <a:r>
              <a:rPr lang="en-AU" altLang="en-US" sz="2200" kern="0" dirty="0">
                <a:solidFill>
                  <a:srgbClr val="000000"/>
                </a:solidFill>
              </a:rPr>
              <a:t>called </a:t>
            </a:r>
            <a:r>
              <a:rPr lang="en-AU" altLang="en-US" sz="2200" b="1" kern="0" dirty="0">
                <a:solidFill>
                  <a:srgbClr val="000000"/>
                </a:solidFill>
              </a:rPr>
              <a:t>servers</a:t>
            </a:r>
            <a:r>
              <a:rPr lang="en-AU" altLang="en-US" sz="2200" kern="0" dirty="0">
                <a:solidFill>
                  <a:srgbClr val="000000"/>
                </a:solidFill>
              </a:rPr>
              <a:t> located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around </a:t>
            </a:r>
            <a:r>
              <a:rPr lang="en-AU" altLang="en-US" sz="2200" kern="0" dirty="0">
                <a:solidFill>
                  <a:srgbClr val="000000"/>
                </a:solidFill>
              </a:rPr>
              <a:t>the world</a:t>
            </a: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17</a:t>
            </a:fld>
            <a:endParaRPr lang="en-US" dirty="0">
              <a:solidFill>
                <a:srgbClr val="4E5B6F">
                  <a:shade val="50000"/>
                </a:srgbClr>
              </a:solidFill>
              <a:latin typeface="Helvetica" pitchFamily="34"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2132855"/>
            <a:ext cx="266382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21548613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18</a:t>
            </a:fld>
            <a:endParaRPr lang="en-US" dirty="0">
              <a:solidFill>
                <a:srgbClr val="4E5B6F">
                  <a:shade val="50000"/>
                </a:srgbClr>
              </a:solidFill>
              <a:latin typeface="Helvetica"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65402"/>
            <a:ext cx="5648523" cy="4105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3756964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0" y="1844824"/>
            <a:ext cx="3601553" cy="3240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8" name="Content Placeholder 2"/>
          <p:cNvSpPr txBox="1">
            <a:spLocks/>
          </p:cNvSpPr>
          <p:nvPr/>
        </p:nvSpPr>
        <p:spPr>
          <a:xfrm>
            <a:off x="611560" y="1844824"/>
            <a:ext cx="4392488" cy="4381947"/>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lvl="0" fontAlgn="base">
              <a:spcBef>
                <a:spcPts val="600"/>
              </a:spcBef>
              <a:spcAft>
                <a:spcPts val="1200"/>
              </a:spcAft>
              <a:buClrTx/>
              <a:buSzTx/>
              <a:buNone/>
              <a:defRPr/>
            </a:pPr>
            <a:r>
              <a:rPr lang="en-AU" altLang="en-US" sz="2000" b="1" kern="0" dirty="0">
                <a:solidFill>
                  <a:srgbClr val="000000"/>
                </a:solidFill>
              </a:rPr>
              <a:t>The Web consists of:</a:t>
            </a:r>
          </a:p>
          <a:p>
            <a:pPr marL="360000" indent="-360000">
              <a:spcBef>
                <a:spcPts val="600"/>
              </a:spcBef>
              <a:spcAft>
                <a:spcPts val="1200"/>
              </a:spcAft>
              <a:buClr>
                <a:srgbClr val="7FD13B"/>
              </a:buClr>
            </a:pPr>
            <a:r>
              <a:rPr lang="en-AU" altLang="en-US" sz="2000" kern="0" dirty="0" smtClean="0">
                <a:solidFill>
                  <a:srgbClr val="000000"/>
                </a:solidFill>
              </a:rPr>
              <a:t>Your </a:t>
            </a:r>
            <a:r>
              <a:rPr lang="en-AU" altLang="en-US" sz="2000" b="1" kern="0" dirty="0">
                <a:solidFill>
                  <a:srgbClr val="000000"/>
                </a:solidFill>
              </a:rPr>
              <a:t>personal </a:t>
            </a:r>
            <a:r>
              <a:rPr lang="en-AU" altLang="en-US" sz="2000" b="1" kern="0" dirty="0" smtClean="0">
                <a:solidFill>
                  <a:srgbClr val="000000"/>
                </a:solidFill>
              </a:rPr>
              <a:t>computer</a:t>
            </a:r>
          </a:p>
          <a:p>
            <a:pPr marL="360000" indent="-360000">
              <a:spcBef>
                <a:spcPts val="600"/>
              </a:spcBef>
              <a:spcAft>
                <a:spcPts val="1200"/>
              </a:spcAft>
              <a:buClr>
                <a:srgbClr val="7FD13B"/>
              </a:buClr>
            </a:pPr>
            <a:r>
              <a:rPr lang="en-AU" altLang="en-US" sz="2000" b="1" kern="0" dirty="0" smtClean="0">
                <a:solidFill>
                  <a:srgbClr val="000000"/>
                </a:solidFill>
              </a:rPr>
              <a:t>Web </a:t>
            </a:r>
            <a:r>
              <a:rPr lang="en-AU" altLang="en-US" sz="2000" b="1" kern="0" dirty="0">
                <a:solidFill>
                  <a:srgbClr val="000000"/>
                </a:solidFill>
              </a:rPr>
              <a:t>browser software</a:t>
            </a:r>
            <a:r>
              <a:rPr lang="en-AU" altLang="en-US" sz="2000" kern="0" dirty="0">
                <a:solidFill>
                  <a:srgbClr val="000000"/>
                </a:solidFill>
              </a:rPr>
              <a:t> to </a:t>
            </a:r>
            <a:r>
              <a:rPr lang="en-AU" altLang="en-US" sz="2000" kern="0" dirty="0" smtClean="0">
                <a:solidFill>
                  <a:srgbClr val="000000"/>
                </a:solidFill>
              </a:rPr>
              <a:t/>
            </a:r>
            <a:br>
              <a:rPr lang="en-AU" altLang="en-US" sz="2000" kern="0" dirty="0" smtClean="0">
                <a:solidFill>
                  <a:srgbClr val="000000"/>
                </a:solidFill>
              </a:rPr>
            </a:br>
            <a:r>
              <a:rPr lang="en-AU" altLang="en-US" sz="2000" kern="0" dirty="0" smtClean="0">
                <a:solidFill>
                  <a:srgbClr val="000000"/>
                </a:solidFill>
              </a:rPr>
              <a:t>access </a:t>
            </a:r>
            <a:r>
              <a:rPr lang="en-AU" altLang="en-US" sz="2000" kern="0" dirty="0">
                <a:solidFill>
                  <a:srgbClr val="000000"/>
                </a:solidFill>
              </a:rPr>
              <a:t>the </a:t>
            </a:r>
            <a:r>
              <a:rPr lang="en-AU" altLang="en-US" sz="2000" kern="0" dirty="0" smtClean="0">
                <a:solidFill>
                  <a:srgbClr val="000000"/>
                </a:solidFill>
              </a:rPr>
              <a:t>Web</a:t>
            </a:r>
          </a:p>
          <a:p>
            <a:pPr marL="360000" indent="-360000">
              <a:spcBef>
                <a:spcPts val="600"/>
              </a:spcBef>
              <a:spcAft>
                <a:spcPts val="1200"/>
              </a:spcAft>
              <a:buClr>
                <a:srgbClr val="7FD13B"/>
              </a:buClr>
            </a:pPr>
            <a:r>
              <a:rPr lang="en-AU" altLang="en-US" sz="2000" kern="0" dirty="0" smtClean="0">
                <a:solidFill>
                  <a:srgbClr val="000000"/>
                </a:solidFill>
              </a:rPr>
              <a:t>A </a:t>
            </a:r>
            <a:r>
              <a:rPr lang="en-AU" altLang="en-US" sz="2000" kern="0" dirty="0">
                <a:solidFill>
                  <a:srgbClr val="000000"/>
                </a:solidFill>
              </a:rPr>
              <a:t>connection to the </a:t>
            </a:r>
            <a:r>
              <a:rPr lang="en-AU" altLang="en-US" sz="2000" b="1" kern="0" dirty="0" smtClean="0">
                <a:solidFill>
                  <a:srgbClr val="000000"/>
                </a:solidFill>
              </a:rPr>
              <a:t>Internet Service </a:t>
            </a:r>
            <a:r>
              <a:rPr lang="en-AU" altLang="en-US" sz="2000" b="1" kern="0" dirty="0">
                <a:solidFill>
                  <a:srgbClr val="000000"/>
                </a:solidFill>
              </a:rPr>
              <a:t>provider </a:t>
            </a:r>
            <a:r>
              <a:rPr lang="en-AU" altLang="en-US" sz="2000" kern="0" dirty="0">
                <a:solidFill>
                  <a:srgbClr val="000000"/>
                </a:solidFill>
              </a:rPr>
              <a:t>(</a:t>
            </a:r>
            <a:r>
              <a:rPr lang="en-AU" altLang="en-US" sz="2000" kern="0" dirty="0" smtClean="0">
                <a:solidFill>
                  <a:srgbClr val="000000"/>
                </a:solidFill>
              </a:rPr>
              <a:t>ISP)</a:t>
            </a:r>
          </a:p>
          <a:p>
            <a:pPr marL="360000" indent="-360000">
              <a:spcBef>
                <a:spcPts val="600"/>
              </a:spcBef>
              <a:spcAft>
                <a:spcPts val="1200"/>
              </a:spcAft>
              <a:buClr>
                <a:srgbClr val="7FD13B"/>
              </a:buClr>
            </a:pPr>
            <a:r>
              <a:rPr lang="en-AU" altLang="en-US" sz="2000" b="1" kern="0" dirty="0" smtClean="0">
                <a:solidFill>
                  <a:srgbClr val="000000"/>
                </a:solidFill>
              </a:rPr>
              <a:t>Servers</a:t>
            </a:r>
            <a:r>
              <a:rPr lang="en-AU" altLang="en-US" sz="2000" kern="0" dirty="0" smtClean="0">
                <a:solidFill>
                  <a:srgbClr val="000000"/>
                </a:solidFill>
              </a:rPr>
              <a:t> </a:t>
            </a:r>
            <a:r>
              <a:rPr lang="en-AU" altLang="en-US" sz="2000" kern="0" dirty="0">
                <a:solidFill>
                  <a:srgbClr val="000000"/>
                </a:solidFill>
              </a:rPr>
              <a:t>to host the </a:t>
            </a:r>
            <a:r>
              <a:rPr lang="en-AU" altLang="en-US" sz="2000" kern="0" dirty="0" smtClean="0">
                <a:solidFill>
                  <a:srgbClr val="000000"/>
                </a:solidFill>
              </a:rPr>
              <a:t>data</a:t>
            </a:r>
          </a:p>
          <a:p>
            <a:pPr marL="360000" indent="-360000">
              <a:spcBef>
                <a:spcPts val="600"/>
              </a:spcBef>
              <a:spcAft>
                <a:spcPts val="1200"/>
              </a:spcAft>
              <a:buClr>
                <a:srgbClr val="7FD13B"/>
              </a:buClr>
            </a:pPr>
            <a:r>
              <a:rPr lang="en-AU" altLang="en-US" sz="2000" b="1" kern="0" dirty="0" smtClean="0">
                <a:solidFill>
                  <a:srgbClr val="000000"/>
                </a:solidFill>
              </a:rPr>
              <a:t>Routers</a:t>
            </a:r>
            <a:r>
              <a:rPr lang="en-AU" altLang="en-US" sz="2000" kern="0" dirty="0" smtClean="0">
                <a:solidFill>
                  <a:srgbClr val="000000"/>
                </a:solidFill>
              </a:rPr>
              <a:t> </a:t>
            </a:r>
            <a:r>
              <a:rPr lang="en-AU" altLang="en-US" sz="2000" kern="0" dirty="0">
                <a:solidFill>
                  <a:srgbClr val="000000"/>
                </a:solidFill>
              </a:rPr>
              <a:t>and </a:t>
            </a:r>
            <a:r>
              <a:rPr lang="en-AU" altLang="en-US" sz="2000" b="1" kern="0" dirty="0">
                <a:solidFill>
                  <a:srgbClr val="000000"/>
                </a:solidFill>
              </a:rPr>
              <a:t>switches</a:t>
            </a:r>
            <a:r>
              <a:rPr lang="en-AU" altLang="en-US" sz="2000" kern="0" dirty="0">
                <a:solidFill>
                  <a:srgbClr val="000000"/>
                </a:solidFill>
              </a:rPr>
              <a:t> </a:t>
            </a:r>
            <a:r>
              <a:rPr lang="en-AU" altLang="en-US" sz="2000" kern="0" dirty="0" smtClean="0">
                <a:solidFill>
                  <a:srgbClr val="000000"/>
                </a:solidFill>
              </a:rPr>
              <a:t>to direct </a:t>
            </a:r>
            <a:r>
              <a:rPr lang="en-AU" altLang="en-US" sz="2000" kern="0" dirty="0">
                <a:solidFill>
                  <a:srgbClr val="000000"/>
                </a:solidFill>
              </a:rPr>
              <a:t>the flow of data</a:t>
            </a:r>
          </a:p>
          <a:p>
            <a:pPr marL="360000" indent="-360000">
              <a:spcBef>
                <a:spcPts val="600"/>
              </a:spcBef>
              <a:spcAft>
                <a:spcPts val="1200"/>
              </a:spcAft>
              <a:buClr>
                <a:srgbClr val="7FD13B"/>
              </a:buClr>
            </a:pPr>
            <a:endParaRPr lang="en-US" sz="2000" dirty="0" smtClean="0"/>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19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356891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8072" y="1772816"/>
            <a:ext cx="3491880" cy="4367349"/>
          </a:xfrm>
          <a:prstGeom prst="rect">
            <a:avLst/>
          </a:prstGeom>
        </p:spPr>
        <p:txBody>
          <a:bodyPr wrap="square">
            <a:spAutoFit/>
          </a:bodyPr>
          <a:lstStyle/>
          <a:p>
            <a:pPr marL="342900" lvl="0" indent="-342900" fontAlgn="base">
              <a:lnSpc>
                <a:spcPct val="90000"/>
              </a:lnSpc>
              <a:spcBef>
                <a:spcPts val="600"/>
              </a:spcBef>
              <a:spcAft>
                <a:spcPts val="1200"/>
              </a:spcAft>
            </a:pPr>
            <a:r>
              <a:rPr lang="en-AU" altLang="en-US" sz="2200" kern="0" dirty="0">
                <a:solidFill>
                  <a:srgbClr val="000000"/>
                </a:solidFill>
                <a:latin typeface="Helvetica" pitchFamily="34" charset="0"/>
              </a:rPr>
              <a:t>A </a:t>
            </a:r>
            <a:r>
              <a:rPr lang="en-AU" altLang="en-US" sz="2200" b="1" kern="0" dirty="0">
                <a:solidFill>
                  <a:srgbClr val="000000"/>
                </a:solidFill>
                <a:latin typeface="Helvetica" pitchFamily="34" charset="0"/>
              </a:rPr>
              <a:t>website</a:t>
            </a:r>
            <a:r>
              <a:rPr lang="en-AU" altLang="en-US" sz="2200" kern="0" dirty="0">
                <a:solidFill>
                  <a:srgbClr val="000000"/>
                </a:solidFill>
                <a:latin typeface="Helvetica" pitchFamily="34" charset="0"/>
              </a:rPr>
              <a:t> is one or more</a:t>
            </a:r>
          </a:p>
          <a:p>
            <a:pPr marL="342900" lvl="0" indent="-342900" fontAlgn="base">
              <a:lnSpc>
                <a:spcPct val="90000"/>
              </a:lnSpc>
              <a:spcBef>
                <a:spcPts val="600"/>
              </a:spcBef>
              <a:spcAft>
                <a:spcPts val="1200"/>
              </a:spcAft>
            </a:pPr>
            <a:r>
              <a:rPr lang="en-AU" altLang="en-US" sz="2200" kern="0" dirty="0">
                <a:solidFill>
                  <a:srgbClr val="000000"/>
                </a:solidFill>
                <a:latin typeface="Helvetica" pitchFamily="34" charset="0"/>
              </a:rPr>
              <a:t>web pages that relate to a</a:t>
            </a:r>
          </a:p>
          <a:p>
            <a:pPr marL="342900" lvl="0" indent="-342900" fontAlgn="base">
              <a:lnSpc>
                <a:spcPct val="90000"/>
              </a:lnSpc>
              <a:spcBef>
                <a:spcPts val="600"/>
              </a:spcBef>
              <a:spcAft>
                <a:spcPts val="1200"/>
              </a:spcAft>
            </a:pPr>
            <a:r>
              <a:rPr lang="en-AU" altLang="en-US" sz="2200" kern="0" dirty="0">
                <a:solidFill>
                  <a:srgbClr val="000000"/>
                </a:solidFill>
                <a:latin typeface="Helvetica" pitchFamily="34" charset="0"/>
              </a:rPr>
              <a:t>common theme, such as a</a:t>
            </a:r>
          </a:p>
          <a:p>
            <a:pPr lvl="0" fontAlgn="base">
              <a:lnSpc>
                <a:spcPct val="90000"/>
              </a:lnSpc>
              <a:spcBef>
                <a:spcPts val="600"/>
              </a:spcBef>
              <a:spcAft>
                <a:spcPts val="1200"/>
              </a:spcAft>
            </a:pPr>
            <a:r>
              <a:rPr lang="en-AU" altLang="en-US" sz="2200" kern="0" dirty="0">
                <a:solidFill>
                  <a:srgbClr val="000000"/>
                </a:solidFill>
                <a:latin typeface="Helvetica" pitchFamily="34" charset="0"/>
              </a:rPr>
              <a:t>person, business, </a:t>
            </a:r>
            <a:r>
              <a:rPr lang="en-AU" altLang="en-US" sz="2200" kern="0" dirty="0" smtClean="0">
                <a:solidFill>
                  <a:srgbClr val="000000"/>
                </a:solidFill>
                <a:latin typeface="Helvetica" pitchFamily="34" charset="0"/>
              </a:rPr>
              <a:t>organization</a:t>
            </a:r>
            <a:r>
              <a:rPr lang="en-AU" altLang="en-US" sz="2200" kern="0" dirty="0">
                <a:solidFill>
                  <a:srgbClr val="000000"/>
                </a:solidFill>
                <a:latin typeface="Helvetica" pitchFamily="34" charset="0"/>
              </a:rPr>
              <a:t>, </a:t>
            </a:r>
            <a:r>
              <a:rPr lang="en-AU" altLang="en-US" sz="2200" kern="0" dirty="0" smtClean="0">
                <a:solidFill>
                  <a:srgbClr val="000000"/>
                </a:solidFill>
                <a:latin typeface="Helvetica" pitchFamily="34" charset="0"/>
              </a:rPr>
              <a:t/>
            </a:r>
            <a:br>
              <a:rPr lang="en-AU" altLang="en-US" sz="2200" kern="0" dirty="0" smtClean="0">
                <a:solidFill>
                  <a:srgbClr val="000000"/>
                </a:solidFill>
                <a:latin typeface="Helvetica" pitchFamily="34" charset="0"/>
              </a:rPr>
            </a:br>
            <a:r>
              <a:rPr lang="en-AU" altLang="en-US" sz="2200" kern="0" dirty="0" smtClean="0">
                <a:solidFill>
                  <a:srgbClr val="000000"/>
                </a:solidFill>
                <a:latin typeface="Helvetica" pitchFamily="34" charset="0"/>
              </a:rPr>
              <a:t>or </a:t>
            </a:r>
            <a:r>
              <a:rPr lang="en-AU" altLang="en-US" sz="2200" kern="0" dirty="0">
                <a:solidFill>
                  <a:srgbClr val="000000"/>
                </a:solidFill>
                <a:latin typeface="Helvetica" pitchFamily="34" charset="0"/>
              </a:rPr>
              <a:t>a subject, such as sports.</a:t>
            </a:r>
          </a:p>
          <a:p>
            <a:pPr lvl="0" fontAlgn="base">
              <a:lnSpc>
                <a:spcPct val="90000"/>
              </a:lnSpc>
              <a:spcBef>
                <a:spcPts val="600"/>
              </a:spcBef>
              <a:spcAft>
                <a:spcPts val="1200"/>
              </a:spcAft>
            </a:pPr>
            <a:r>
              <a:rPr lang="en-AU" altLang="en-US" sz="2200" kern="0" dirty="0" smtClean="0">
                <a:solidFill>
                  <a:srgbClr val="000000"/>
                </a:solidFill>
                <a:latin typeface="Helvetica" pitchFamily="34" charset="0"/>
              </a:rPr>
              <a:t>The </a:t>
            </a:r>
            <a:r>
              <a:rPr lang="en-AU" altLang="en-US" sz="2200" kern="0" dirty="0">
                <a:solidFill>
                  <a:srgbClr val="000000"/>
                </a:solidFill>
                <a:latin typeface="Helvetica" pitchFamily="34" charset="0"/>
              </a:rPr>
              <a:t>first page is called the </a:t>
            </a:r>
            <a:r>
              <a:rPr lang="en-AU" altLang="en-US" sz="2200" b="1" kern="0" dirty="0">
                <a:solidFill>
                  <a:srgbClr val="000000"/>
                </a:solidFill>
                <a:latin typeface="Helvetica" pitchFamily="34" charset="0"/>
              </a:rPr>
              <a:t>home page</a:t>
            </a:r>
            <a:r>
              <a:rPr lang="en-AU" altLang="en-US" sz="2200" kern="0" dirty="0">
                <a:solidFill>
                  <a:srgbClr val="000000"/>
                </a:solidFill>
                <a:latin typeface="Helvetica" pitchFamily="34" charset="0"/>
              </a:rPr>
              <a:t>, which acts like an index, indicating the content on the site.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808328"/>
            <a:ext cx="3549402" cy="329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005951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72816"/>
            <a:ext cx="7467600" cy="4353347"/>
          </a:xfrm>
        </p:spPr>
        <p:txBody>
          <a:bodyPr>
            <a:normAutofit/>
          </a:bodyPr>
          <a:lstStyle/>
          <a:p>
            <a:pPr marL="0" lvl="0" indent="0" fontAlgn="base">
              <a:lnSpc>
                <a:spcPct val="80000"/>
              </a:lnSpc>
              <a:spcAft>
                <a:spcPct val="0"/>
              </a:spcAft>
              <a:buClrTx/>
              <a:buSzTx/>
              <a:buNone/>
            </a:pPr>
            <a:r>
              <a:rPr lang="en-AU" altLang="en-US" sz="2000" kern="0" dirty="0">
                <a:solidFill>
                  <a:srgbClr val="000000"/>
                </a:solidFill>
              </a:rPr>
              <a:t>A </a:t>
            </a:r>
            <a:r>
              <a:rPr lang="en-AU" altLang="en-US" sz="2000" b="1" kern="0" dirty="0">
                <a:solidFill>
                  <a:srgbClr val="000000"/>
                </a:solidFill>
              </a:rPr>
              <a:t>web page</a:t>
            </a:r>
            <a:r>
              <a:rPr lang="en-AU" altLang="en-US" sz="2000" kern="0" dirty="0">
                <a:solidFill>
                  <a:srgbClr val="000000"/>
                </a:solidFill>
              </a:rPr>
              <a:t> is an electronic document written in a computer language called </a:t>
            </a:r>
            <a:r>
              <a:rPr lang="en-AU" altLang="en-US" sz="2000" b="1" kern="0" dirty="0">
                <a:solidFill>
                  <a:srgbClr val="000000"/>
                </a:solidFill>
              </a:rPr>
              <a:t>HTML</a:t>
            </a:r>
            <a:r>
              <a:rPr lang="en-AU" altLang="en-US" sz="2000" kern="0" dirty="0">
                <a:solidFill>
                  <a:srgbClr val="000000"/>
                </a:solidFill>
              </a:rPr>
              <a:t> (Hypertext Markup Language).</a:t>
            </a:r>
          </a:p>
          <a:p>
            <a:pPr marL="0" lvl="0" indent="0" fontAlgn="base">
              <a:lnSpc>
                <a:spcPct val="80000"/>
              </a:lnSpc>
              <a:spcAft>
                <a:spcPct val="0"/>
              </a:spcAft>
              <a:buClrTx/>
              <a:buSzTx/>
              <a:buNone/>
            </a:pPr>
            <a:endParaRPr lang="en-AU" altLang="en-US" sz="2000" kern="0" dirty="0">
              <a:solidFill>
                <a:srgbClr val="000000"/>
              </a:solidFill>
            </a:endParaRPr>
          </a:p>
          <a:p>
            <a:pPr marL="0" lvl="0" indent="0" fontAlgn="base">
              <a:lnSpc>
                <a:spcPct val="80000"/>
              </a:lnSpc>
              <a:spcAft>
                <a:spcPct val="0"/>
              </a:spcAft>
              <a:buClrTx/>
              <a:buSzTx/>
              <a:buNone/>
            </a:pPr>
            <a:r>
              <a:rPr lang="en-AU" altLang="en-US" sz="2000" kern="0" dirty="0">
                <a:solidFill>
                  <a:srgbClr val="000000"/>
                </a:solidFill>
              </a:rPr>
              <a:t>Web pages can contain text, </a:t>
            </a:r>
            <a:r>
              <a:rPr lang="en-AU" altLang="en-US" sz="2000" kern="0" dirty="0" smtClean="0">
                <a:solidFill>
                  <a:srgbClr val="000000"/>
                </a:solidFill>
              </a:rPr>
              <a:t>graphics, </a:t>
            </a:r>
            <a:br>
              <a:rPr lang="en-AU" altLang="en-US" sz="2000" kern="0" dirty="0" smtClean="0">
                <a:solidFill>
                  <a:srgbClr val="000000"/>
                </a:solidFill>
              </a:rPr>
            </a:br>
            <a:r>
              <a:rPr lang="en-AU" altLang="en-US" sz="2000" kern="0" dirty="0" smtClean="0">
                <a:solidFill>
                  <a:srgbClr val="000000"/>
                </a:solidFill>
              </a:rPr>
              <a:t>video </a:t>
            </a:r>
            <a:r>
              <a:rPr lang="en-AU" altLang="en-US" sz="2000" kern="0" dirty="0">
                <a:solidFill>
                  <a:srgbClr val="000000"/>
                </a:solidFill>
              </a:rPr>
              <a:t>and sound, as well as interactive </a:t>
            </a:r>
            <a:r>
              <a:rPr lang="en-AU" altLang="en-US" sz="2000" kern="0" dirty="0" smtClean="0">
                <a:solidFill>
                  <a:srgbClr val="000000"/>
                </a:solidFill>
              </a:rPr>
              <a:t/>
            </a:r>
            <a:br>
              <a:rPr lang="en-AU" altLang="en-US" sz="2000" kern="0" dirty="0" smtClean="0">
                <a:solidFill>
                  <a:srgbClr val="000000"/>
                </a:solidFill>
              </a:rPr>
            </a:br>
            <a:r>
              <a:rPr lang="en-AU" altLang="en-US" sz="2000" kern="0" dirty="0" smtClean="0">
                <a:solidFill>
                  <a:srgbClr val="000000"/>
                </a:solidFill>
              </a:rPr>
              <a:t>features</a:t>
            </a:r>
            <a:r>
              <a:rPr lang="en-AU" altLang="en-US" sz="2000" kern="0" dirty="0">
                <a:solidFill>
                  <a:srgbClr val="000000"/>
                </a:solidFill>
              </a:rPr>
              <a:t>, such as data </a:t>
            </a:r>
            <a:r>
              <a:rPr lang="en-AU" altLang="en-US" sz="2000" kern="0" dirty="0" smtClean="0">
                <a:solidFill>
                  <a:srgbClr val="000000"/>
                </a:solidFill>
              </a:rPr>
              <a:t>entry </a:t>
            </a:r>
            <a:r>
              <a:rPr lang="en-AU" altLang="en-US" sz="2000" kern="0" dirty="0">
                <a:solidFill>
                  <a:srgbClr val="000000"/>
                </a:solidFill>
              </a:rPr>
              <a:t>forms.</a:t>
            </a:r>
          </a:p>
          <a:p>
            <a:pPr marL="0" lvl="0" indent="0" fontAlgn="base">
              <a:lnSpc>
                <a:spcPct val="80000"/>
              </a:lnSpc>
              <a:spcAft>
                <a:spcPct val="0"/>
              </a:spcAft>
              <a:buClrTx/>
              <a:buSzTx/>
              <a:buNone/>
            </a:pPr>
            <a:endParaRPr lang="en-AU" altLang="en-US" sz="2000" kern="0" dirty="0">
              <a:solidFill>
                <a:srgbClr val="000000"/>
              </a:solidFill>
            </a:endParaRPr>
          </a:p>
          <a:p>
            <a:pPr marL="0" lvl="0" indent="0" fontAlgn="base">
              <a:lnSpc>
                <a:spcPct val="80000"/>
              </a:lnSpc>
              <a:spcAft>
                <a:spcPct val="0"/>
              </a:spcAft>
              <a:buClrTx/>
              <a:buSzTx/>
              <a:buNone/>
            </a:pPr>
            <a:r>
              <a:rPr lang="en-AU" altLang="en-US" sz="2000" kern="0" dirty="0">
                <a:solidFill>
                  <a:srgbClr val="000000"/>
                </a:solidFill>
              </a:rPr>
              <a:t>Each page has a unique address known </a:t>
            </a:r>
            <a:r>
              <a:rPr lang="en-AU" altLang="en-US" sz="2000" kern="0" dirty="0" smtClean="0">
                <a:solidFill>
                  <a:srgbClr val="000000"/>
                </a:solidFill>
              </a:rPr>
              <a:t> as </a:t>
            </a:r>
            <a:br>
              <a:rPr lang="en-AU" altLang="en-US" sz="2000" kern="0" dirty="0" smtClean="0">
                <a:solidFill>
                  <a:srgbClr val="000000"/>
                </a:solidFill>
              </a:rPr>
            </a:br>
            <a:r>
              <a:rPr lang="en-AU" altLang="en-US" sz="2000" kern="0" dirty="0" smtClean="0">
                <a:solidFill>
                  <a:srgbClr val="000000"/>
                </a:solidFill>
              </a:rPr>
              <a:t>a </a:t>
            </a:r>
            <a:r>
              <a:rPr lang="en-AU" altLang="en-US" sz="2000" b="1" kern="0" dirty="0">
                <a:solidFill>
                  <a:srgbClr val="000000"/>
                </a:solidFill>
              </a:rPr>
              <a:t>URL</a:t>
            </a:r>
            <a:r>
              <a:rPr lang="en-AU" altLang="en-US" sz="2000" kern="0" dirty="0">
                <a:solidFill>
                  <a:srgbClr val="000000"/>
                </a:solidFill>
              </a:rPr>
              <a:t> (Uniform Resource Locator), which </a:t>
            </a:r>
            <a:r>
              <a:rPr lang="en-AU" altLang="en-US" sz="2000" kern="0" dirty="0" smtClean="0">
                <a:solidFill>
                  <a:srgbClr val="000000"/>
                </a:solidFill>
              </a:rPr>
              <a:t/>
            </a:r>
            <a:br>
              <a:rPr lang="en-AU" altLang="en-US" sz="2000" kern="0" dirty="0" smtClean="0">
                <a:solidFill>
                  <a:srgbClr val="000000"/>
                </a:solidFill>
              </a:rPr>
            </a:br>
            <a:r>
              <a:rPr lang="en-AU" altLang="en-US" sz="2000" kern="0" dirty="0" smtClean="0">
                <a:solidFill>
                  <a:srgbClr val="000000"/>
                </a:solidFill>
              </a:rPr>
              <a:t>identifies </a:t>
            </a:r>
            <a:r>
              <a:rPr lang="en-AU" altLang="en-US" sz="2000" kern="0" dirty="0">
                <a:solidFill>
                  <a:srgbClr val="000000"/>
                </a:solidFill>
              </a:rPr>
              <a:t>its location on the server.</a:t>
            </a:r>
            <a:br>
              <a:rPr lang="en-AU" altLang="en-US" sz="2000" kern="0" dirty="0">
                <a:solidFill>
                  <a:srgbClr val="000000"/>
                </a:solidFill>
              </a:rPr>
            </a:br>
            <a:endParaRPr lang="en-AU" altLang="en-US" sz="2000" kern="0" dirty="0">
              <a:solidFill>
                <a:srgbClr val="000000"/>
              </a:solidFill>
            </a:endParaRPr>
          </a:p>
          <a:p>
            <a:endParaRPr lang="en-AU" sz="2000"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2" y="2492896"/>
            <a:ext cx="2293003" cy="259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178128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492896"/>
            <a:ext cx="2519604" cy="2270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611560" y="1772816"/>
            <a:ext cx="6419056" cy="4608512"/>
          </a:xfrm>
        </p:spPr>
        <p:txBody>
          <a:bodyPr>
            <a:normAutofit/>
          </a:bodyPr>
          <a:lstStyle/>
          <a:p>
            <a:pPr marL="0" lvl="0" indent="0" fontAlgn="base">
              <a:lnSpc>
                <a:spcPct val="90000"/>
              </a:lnSpc>
              <a:spcBef>
                <a:spcPts val="600"/>
              </a:spcBef>
              <a:spcAft>
                <a:spcPts val="1200"/>
              </a:spcAft>
              <a:buClrTx/>
              <a:buSzTx/>
              <a:buNone/>
            </a:pPr>
            <a:r>
              <a:rPr lang="en-AU" altLang="en-US" sz="2200" b="1" kern="0" dirty="0">
                <a:solidFill>
                  <a:srgbClr val="000000"/>
                </a:solidFill>
              </a:rPr>
              <a:t>Web pages</a:t>
            </a:r>
            <a:r>
              <a:rPr lang="en-AU" altLang="en-US" sz="2200" kern="0" dirty="0">
                <a:solidFill>
                  <a:srgbClr val="000000"/>
                </a:solidFill>
              </a:rPr>
              <a:t> are stored on </a:t>
            </a:r>
            <a:r>
              <a:rPr lang="en-AU" altLang="en-US" sz="2200" b="1" kern="0" dirty="0">
                <a:solidFill>
                  <a:srgbClr val="000000"/>
                </a:solidFill>
              </a:rPr>
              <a:t>web servers</a:t>
            </a:r>
            <a:r>
              <a:rPr lang="en-AU" altLang="en-US" sz="2200" kern="0" dirty="0">
                <a:solidFill>
                  <a:srgbClr val="000000"/>
                </a:solidFill>
              </a:rPr>
              <a:t> located around the </a:t>
            </a:r>
            <a:r>
              <a:rPr lang="en-AU" altLang="en-US" sz="2200" kern="0" dirty="0" smtClean="0">
                <a:solidFill>
                  <a:srgbClr val="000000"/>
                </a:solidFill>
              </a:rPr>
              <a:t>globe</a:t>
            </a:r>
          </a:p>
          <a:p>
            <a:pPr marL="0" lvl="0" indent="0" fontAlgn="base">
              <a:lnSpc>
                <a:spcPct val="90000"/>
              </a:lnSpc>
              <a:spcBef>
                <a:spcPts val="600"/>
              </a:spcBef>
              <a:spcAft>
                <a:spcPts val="1200"/>
              </a:spcAft>
              <a:buClrTx/>
              <a:buSzTx/>
              <a:buNone/>
            </a:pPr>
            <a:r>
              <a:rPr lang="en-AU" altLang="en-US" sz="2200" kern="0" dirty="0" smtClean="0">
                <a:solidFill>
                  <a:srgbClr val="000000"/>
                </a:solidFill>
              </a:rPr>
              <a:t>Entering </a:t>
            </a:r>
            <a:r>
              <a:rPr lang="en-AU" altLang="en-US" sz="2200" kern="0" dirty="0">
                <a:solidFill>
                  <a:srgbClr val="000000"/>
                </a:solidFill>
              </a:rPr>
              <a:t>the (Uniform Resource Locator) </a:t>
            </a:r>
            <a:r>
              <a:rPr lang="en-AU" altLang="en-US" sz="2200" kern="0" dirty="0" smtClean="0">
                <a:solidFill>
                  <a:srgbClr val="000000"/>
                </a:solidFill>
              </a:rPr>
              <a:t/>
            </a:r>
            <a:br>
              <a:rPr lang="en-AU" altLang="en-US" sz="2200" kern="0" dirty="0" smtClean="0">
                <a:solidFill>
                  <a:srgbClr val="000000"/>
                </a:solidFill>
              </a:rPr>
            </a:br>
            <a:r>
              <a:rPr lang="en-AU" altLang="en-US" sz="2200" b="1" kern="0" dirty="0" smtClean="0">
                <a:solidFill>
                  <a:srgbClr val="000000"/>
                </a:solidFill>
              </a:rPr>
              <a:t>URL</a:t>
            </a:r>
            <a:r>
              <a:rPr lang="en-AU" altLang="en-US" sz="2200" kern="0" dirty="0" smtClean="0">
                <a:solidFill>
                  <a:srgbClr val="000000"/>
                </a:solidFill>
              </a:rPr>
              <a:t> </a:t>
            </a:r>
            <a:r>
              <a:rPr lang="en-AU" altLang="en-US" sz="2200" kern="0" dirty="0">
                <a:solidFill>
                  <a:srgbClr val="000000"/>
                </a:solidFill>
              </a:rPr>
              <a:t>address of a web page in your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web </a:t>
            </a:r>
            <a:r>
              <a:rPr lang="en-AU" altLang="en-US" sz="2200" kern="0" dirty="0">
                <a:solidFill>
                  <a:srgbClr val="000000"/>
                </a:solidFill>
              </a:rPr>
              <a:t>browser or clicking a link sends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a </a:t>
            </a:r>
            <a:r>
              <a:rPr lang="en-AU" altLang="en-US" sz="2200" kern="0" dirty="0">
                <a:solidFill>
                  <a:srgbClr val="000000"/>
                </a:solidFill>
              </a:rPr>
              <a:t>request to the server which hosts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the </a:t>
            </a:r>
            <a:r>
              <a:rPr lang="en-AU" altLang="en-US" sz="2200" kern="0" dirty="0">
                <a:solidFill>
                  <a:srgbClr val="000000"/>
                </a:solidFill>
              </a:rPr>
              <a:t>page.</a:t>
            </a:r>
          </a:p>
          <a:p>
            <a:pPr marL="0" lvl="0" indent="0" fontAlgn="base">
              <a:lnSpc>
                <a:spcPct val="90000"/>
              </a:lnSpc>
              <a:spcBef>
                <a:spcPts val="600"/>
              </a:spcBef>
              <a:spcAft>
                <a:spcPts val="1200"/>
              </a:spcAft>
              <a:buClrTx/>
              <a:buSzTx/>
              <a:buNone/>
            </a:pPr>
            <a:r>
              <a:rPr lang="en-AU" altLang="en-US" sz="2200" kern="0" dirty="0" smtClean="0">
                <a:solidFill>
                  <a:srgbClr val="000000"/>
                </a:solidFill>
              </a:rPr>
              <a:t>The </a:t>
            </a:r>
            <a:r>
              <a:rPr lang="en-AU" altLang="en-US" sz="2200" kern="0" dirty="0">
                <a:solidFill>
                  <a:srgbClr val="000000"/>
                </a:solidFill>
              </a:rPr>
              <a:t>server sends the web page to your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computer </a:t>
            </a:r>
            <a:r>
              <a:rPr lang="en-AU" altLang="en-US" sz="2200" kern="0" dirty="0">
                <a:solidFill>
                  <a:srgbClr val="000000"/>
                </a:solidFill>
              </a:rPr>
              <a:t>and your </a:t>
            </a:r>
            <a:r>
              <a:rPr lang="en-AU" altLang="en-US" sz="2200" b="1" kern="0" dirty="0">
                <a:solidFill>
                  <a:srgbClr val="000000"/>
                </a:solidFill>
              </a:rPr>
              <a:t>web browser</a:t>
            </a:r>
            <a:r>
              <a:rPr lang="en-AU" altLang="en-US" sz="2200" kern="0" dirty="0">
                <a:solidFill>
                  <a:srgbClr val="000000"/>
                </a:solidFill>
              </a:rPr>
              <a:t> displays </a:t>
            </a:r>
            <a:r>
              <a:rPr lang="en-AU" altLang="en-US" sz="2200" kern="0" dirty="0" smtClean="0">
                <a:solidFill>
                  <a:srgbClr val="000000"/>
                </a:solidFill>
              </a:rPr>
              <a:t/>
            </a:r>
            <a:br>
              <a:rPr lang="en-AU" altLang="en-US" sz="2200" kern="0" dirty="0" smtClean="0">
                <a:solidFill>
                  <a:srgbClr val="000000"/>
                </a:solidFill>
              </a:rPr>
            </a:br>
            <a:r>
              <a:rPr lang="en-AU" altLang="en-US" sz="2200" kern="0" dirty="0" smtClean="0">
                <a:solidFill>
                  <a:srgbClr val="000000"/>
                </a:solidFill>
              </a:rPr>
              <a:t>it </a:t>
            </a:r>
            <a:r>
              <a:rPr lang="en-AU" altLang="en-US" sz="2200" kern="0" dirty="0">
                <a:solidFill>
                  <a:srgbClr val="000000"/>
                </a:solidFill>
              </a:rPr>
              <a:t>on your screen</a:t>
            </a:r>
            <a:endParaRPr lang="en-AU" sz="2200" dirty="0"/>
          </a:p>
        </p:txBody>
      </p:sp>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375180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224" y="1700808"/>
            <a:ext cx="8075240" cy="4752528"/>
          </a:xfrm>
        </p:spPr>
        <p:txBody>
          <a:bodyPr>
            <a:normAutofit/>
          </a:bodyPr>
          <a:lstStyle/>
          <a:p>
            <a:pPr marL="0" lvl="0" indent="0">
              <a:spcBef>
                <a:spcPts val="600"/>
              </a:spcBef>
              <a:spcAft>
                <a:spcPts val="1200"/>
              </a:spcAft>
              <a:buNone/>
            </a:pPr>
            <a:r>
              <a:rPr lang="en-AU" sz="2200" dirty="0">
                <a:ea typeface="Times New Roman"/>
                <a:cs typeface="Times New Roman"/>
              </a:rPr>
              <a:t>Internet </a:t>
            </a:r>
            <a:r>
              <a:rPr lang="en-AU" sz="2200" dirty="0" smtClean="0">
                <a:ea typeface="Times New Roman"/>
                <a:cs typeface="Times New Roman"/>
              </a:rPr>
              <a:t>allows </a:t>
            </a:r>
            <a:r>
              <a:rPr lang="en-AU" sz="2200" dirty="0">
                <a:ea typeface="Times New Roman"/>
                <a:cs typeface="Times New Roman"/>
              </a:rPr>
              <a:t>users to: </a:t>
            </a:r>
            <a:endParaRPr lang="en-AU" sz="2200" dirty="0" smtClean="0">
              <a:ea typeface="Times New Roman"/>
              <a:cs typeface="Times New Roman"/>
            </a:endParaRPr>
          </a:p>
          <a:p>
            <a:pPr marL="360000" indent="-360000">
              <a:spcBef>
                <a:spcPts val="600"/>
              </a:spcBef>
              <a:spcAft>
                <a:spcPts val="1200"/>
              </a:spcAft>
              <a:buClr>
                <a:srgbClr val="7FD13B"/>
              </a:buClr>
            </a:pPr>
            <a:r>
              <a:rPr lang="en-AU" sz="2200" dirty="0" smtClean="0">
                <a:ea typeface="Calibri"/>
                <a:cs typeface="Times New Roman"/>
              </a:rPr>
              <a:t>Connect </a:t>
            </a:r>
            <a:r>
              <a:rPr lang="en-AU" sz="2200" dirty="0">
                <a:ea typeface="Calibri"/>
                <a:cs typeface="Times New Roman"/>
              </a:rPr>
              <a:t>easily </a:t>
            </a:r>
            <a:r>
              <a:rPr lang="en-AU" sz="2200" dirty="0" smtClean="0">
                <a:ea typeface="Calibri"/>
                <a:cs typeface="Times New Roman"/>
              </a:rPr>
              <a:t>through </a:t>
            </a:r>
            <a:r>
              <a:rPr lang="en-AU" sz="2200" dirty="0">
                <a:ea typeface="Calibri"/>
                <a:cs typeface="Times New Roman"/>
              </a:rPr>
              <a:t>personal computers and other </a:t>
            </a:r>
            <a:r>
              <a:rPr lang="en-AU" sz="2200" dirty="0" smtClean="0">
                <a:ea typeface="Calibri"/>
                <a:cs typeface="Times New Roman"/>
              </a:rPr>
              <a:t>devices</a:t>
            </a:r>
          </a:p>
          <a:p>
            <a:pPr marL="360000" indent="-360000">
              <a:spcBef>
                <a:spcPts val="600"/>
              </a:spcBef>
              <a:spcAft>
                <a:spcPts val="1200"/>
              </a:spcAft>
              <a:buClr>
                <a:srgbClr val="7FD13B"/>
              </a:buClr>
            </a:pPr>
            <a:r>
              <a:rPr lang="en-AU" sz="2200" dirty="0" smtClean="0">
                <a:ea typeface="Calibri"/>
                <a:cs typeface="Times New Roman"/>
              </a:rPr>
              <a:t>Exchange </a:t>
            </a:r>
            <a:r>
              <a:rPr lang="en-AU" sz="2200" dirty="0">
                <a:ea typeface="Calibri"/>
                <a:cs typeface="Times New Roman"/>
              </a:rPr>
              <a:t>electronic mail (E-mail) worldwide, nearly instantaneously </a:t>
            </a:r>
            <a:endParaRPr lang="en-AU" sz="2200" dirty="0" smtClean="0">
              <a:ea typeface="Calibri"/>
              <a:cs typeface="Times New Roman"/>
            </a:endParaRPr>
          </a:p>
          <a:p>
            <a:pPr marL="360000" indent="-360000">
              <a:spcBef>
                <a:spcPts val="600"/>
              </a:spcBef>
              <a:spcAft>
                <a:spcPts val="1200"/>
              </a:spcAft>
              <a:buClr>
                <a:srgbClr val="7FD13B"/>
              </a:buClr>
            </a:pPr>
            <a:r>
              <a:rPr lang="en-AU" sz="2200" dirty="0" smtClean="0">
                <a:ea typeface="Calibri"/>
                <a:cs typeface="Times New Roman"/>
              </a:rPr>
              <a:t>Access</a:t>
            </a:r>
            <a:r>
              <a:rPr lang="en-AU" sz="2200" dirty="0">
                <a:ea typeface="Calibri"/>
                <a:cs typeface="Times New Roman"/>
              </a:rPr>
              <a:t>, review and create information </a:t>
            </a:r>
            <a:endParaRPr lang="en-AU" sz="2200" dirty="0" smtClean="0">
              <a:ea typeface="Calibri"/>
              <a:cs typeface="Times New Roman"/>
            </a:endParaRPr>
          </a:p>
          <a:p>
            <a:pPr marL="360000" indent="-360000">
              <a:spcBef>
                <a:spcPts val="600"/>
              </a:spcBef>
              <a:spcAft>
                <a:spcPts val="1200"/>
              </a:spcAft>
              <a:buClr>
                <a:srgbClr val="7FD13B"/>
              </a:buClr>
            </a:pPr>
            <a:r>
              <a:rPr lang="en-AU" sz="2200" dirty="0" smtClean="0">
                <a:ea typeface="Calibri"/>
                <a:cs typeface="Times New Roman"/>
              </a:rPr>
              <a:t>Access multimedia information that includes sound, photos &amp; video </a:t>
            </a:r>
          </a:p>
          <a:p>
            <a:pPr marL="360000" indent="-360000">
              <a:spcBef>
                <a:spcPts val="600"/>
              </a:spcBef>
              <a:spcAft>
                <a:spcPts val="1200"/>
              </a:spcAft>
              <a:buClr>
                <a:srgbClr val="7FD13B"/>
              </a:buClr>
            </a:pPr>
            <a:r>
              <a:rPr lang="en-AU" sz="2200" dirty="0" smtClean="0">
                <a:ea typeface="Calibri"/>
                <a:cs typeface="Times New Roman"/>
              </a:rPr>
              <a:t>Access </a:t>
            </a:r>
            <a:r>
              <a:rPr lang="en-AU" sz="2200" dirty="0">
                <a:ea typeface="Calibri"/>
                <a:cs typeface="Times New Roman"/>
              </a:rPr>
              <a:t>diverse perspectives from around the </a:t>
            </a:r>
            <a:r>
              <a:rPr lang="en-AU" sz="2200" dirty="0" smtClean="0">
                <a:ea typeface="Calibri"/>
                <a:cs typeface="Times New Roman"/>
              </a:rPr>
              <a:t>world</a:t>
            </a:r>
            <a:endParaRPr lang="en-AU" sz="2200" dirty="0">
              <a:ea typeface="Calibri"/>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23</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587075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32792" y="1772816"/>
            <a:ext cx="7467600" cy="4353347"/>
          </a:xfrm>
        </p:spPr>
        <p:txBody>
          <a:bodyPr/>
          <a:lstStyle/>
          <a:p>
            <a:pPr marL="36576" indent="0">
              <a:buNone/>
            </a:pPr>
            <a:r>
              <a:rPr lang="en-AU" sz="2400" b="1" dirty="0" smtClean="0"/>
              <a:t>Internet explorer</a:t>
            </a:r>
          </a:p>
          <a:p>
            <a:endParaRPr lang="en-AU" dirty="0"/>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636912"/>
            <a:ext cx="8024373" cy="421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24</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8713914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600200"/>
            <a:ext cx="7467600" cy="4525963"/>
          </a:xfrm>
        </p:spPr>
        <p:txBody>
          <a:bodyPr/>
          <a:lstStyle/>
          <a:p>
            <a:pPr marL="36576" indent="0">
              <a:buNone/>
            </a:pPr>
            <a:r>
              <a:rPr lang="en-AU" sz="2400" b="1" dirty="0" smtClean="0"/>
              <a:t>Google </a:t>
            </a:r>
            <a:r>
              <a:rPr lang="en-AU" sz="2400" b="1" dirty="0"/>
              <a:t>C</a:t>
            </a:r>
            <a:r>
              <a:rPr lang="en-AU" sz="2400" b="1" dirty="0" smtClean="0"/>
              <a:t>hrome bookmarks</a:t>
            </a:r>
          </a:p>
          <a:p>
            <a:endParaRPr lang="en-AU" dirty="0"/>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37" y="2445050"/>
            <a:ext cx="7099027" cy="444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2892285" y="2794275"/>
            <a:ext cx="5256584" cy="2520280"/>
          </a:xfrm>
          <a:prstGeom prst="ellipse">
            <a:avLst/>
          </a:prstGeom>
          <a:noFill/>
          <a:ln w="254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8"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5633254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600200"/>
            <a:ext cx="7467600" cy="4525963"/>
          </a:xfrm>
        </p:spPr>
        <p:txBody>
          <a:bodyPr/>
          <a:lstStyle/>
          <a:p>
            <a:pPr marL="36576" indent="0">
              <a:buNone/>
            </a:pPr>
            <a:r>
              <a:rPr lang="en-AU" sz="2400" b="1" dirty="0" smtClean="0"/>
              <a:t>Internet explorer bookmarks</a:t>
            </a:r>
          </a:p>
          <a:p>
            <a:endParaRPr lang="en-AU" dirty="0" smtClean="0"/>
          </a:p>
          <a:p>
            <a:endParaRPr lang="en-AU"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776" y="2206291"/>
            <a:ext cx="7022534" cy="4392488"/>
          </a:xfrm>
          <a:prstGeom prst="rect">
            <a:avLst/>
          </a:prstGeom>
          <a:ln w="25400" cmpd="sng"/>
        </p:spPr>
        <p:style>
          <a:lnRef idx="2">
            <a:schemeClr val="accent2"/>
          </a:lnRef>
          <a:fillRef idx="1">
            <a:schemeClr val="lt1"/>
          </a:fillRef>
          <a:effectRef idx="0">
            <a:schemeClr val="accent2"/>
          </a:effectRef>
          <a:fontRef idx="minor">
            <a:schemeClr val="dk1"/>
          </a:fontRef>
        </p:style>
      </p:pic>
      <p:sp>
        <p:nvSpPr>
          <p:cNvPr id="5" name="Oval 4"/>
          <p:cNvSpPr/>
          <p:nvPr/>
        </p:nvSpPr>
        <p:spPr>
          <a:xfrm>
            <a:off x="6300192" y="2206291"/>
            <a:ext cx="1944216" cy="151074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8"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26</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7893237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60848"/>
            <a:ext cx="7467600" cy="4065315"/>
          </a:xfrm>
        </p:spPr>
        <p:txBody>
          <a:bodyPr>
            <a:normAutofit/>
          </a:bodyPr>
          <a:lstStyle/>
          <a:p>
            <a:pPr>
              <a:spcBef>
                <a:spcPts val="1200"/>
              </a:spcBef>
              <a:spcAft>
                <a:spcPts val="1200"/>
              </a:spcAft>
            </a:pPr>
            <a:r>
              <a:rPr lang="en-AU" sz="2200" dirty="0" smtClean="0"/>
              <a:t>Search engines</a:t>
            </a:r>
          </a:p>
          <a:p>
            <a:pPr>
              <a:spcBef>
                <a:spcPts val="1200"/>
              </a:spcBef>
              <a:spcAft>
                <a:spcPts val="1200"/>
              </a:spcAft>
            </a:pPr>
            <a:r>
              <a:rPr lang="en-AU" sz="2200" dirty="0" smtClean="0"/>
              <a:t>Hyperlinks</a:t>
            </a:r>
          </a:p>
          <a:p>
            <a:pPr marL="36576" indent="0">
              <a:spcBef>
                <a:spcPts val="1200"/>
              </a:spcBef>
              <a:spcAft>
                <a:spcPts val="1200"/>
              </a:spcAft>
              <a:buNone/>
            </a:pPr>
            <a:r>
              <a:rPr lang="en-AU" sz="2200" dirty="0">
                <a:hlinkClick r:id="rId3"/>
              </a:rPr>
              <a:t>http://www.angliss.edu.au</a:t>
            </a:r>
            <a:r>
              <a:rPr lang="en-AU" sz="2200" dirty="0" smtClean="0">
                <a:hlinkClick r:id="rId3"/>
              </a:rPr>
              <a:t>/</a:t>
            </a:r>
            <a:endParaRPr lang="en-AU" sz="2200" dirty="0" smtClean="0"/>
          </a:p>
          <a:p>
            <a:pPr>
              <a:spcBef>
                <a:spcPts val="1200"/>
              </a:spcBef>
              <a:spcAft>
                <a:spcPts val="1200"/>
              </a:spcAft>
            </a:pPr>
            <a:endParaRPr lang="en-AU" sz="2200" dirty="0"/>
          </a:p>
        </p:txBody>
      </p:sp>
      <p:sp>
        <p:nvSpPr>
          <p:cNvPr id="6"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32040" y="2132856"/>
            <a:ext cx="2759968" cy="2069976"/>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979697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72816"/>
            <a:ext cx="7467600" cy="4353347"/>
          </a:xfrm>
        </p:spPr>
        <p:txBody>
          <a:bodyPr>
            <a:normAutofit/>
          </a:bodyPr>
          <a:lstStyle/>
          <a:p>
            <a:pPr>
              <a:spcBef>
                <a:spcPts val="600"/>
              </a:spcBef>
              <a:spcAft>
                <a:spcPts val="1200"/>
              </a:spcAft>
            </a:pPr>
            <a:r>
              <a:rPr lang="en-AU" sz="2200" dirty="0" smtClean="0"/>
              <a:t>My computer</a:t>
            </a:r>
          </a:p>
          <a:p>
            <a:pPr>
              <a:spcBef>
                <a:spcPts val="600"/>
              </a:spcBef>
              <a:spcAft>
                <a:spcPts val="1200"/>
              </a:spcAft>
            </a:pPr>
            <a:r>
              <a:rPr lang="en-AU" sz="2200" dirty="0" smtClean="0"/>
              <a:t>File folders</a:t>
            </a:r>
          </a:p>
          <a:p>
            <a:pPr>
              <a:spcBef>
                <a:spcPts val="600"/>
              </a:spcBef>
              <a:spcAft>
                <a:spcPts val="1200"/>
              </a:spcAft>
            </a:pPr>
            <a:r>
              <a:rPr lang="en-AU" sz="2200" dirty="0" smtClean="0"/>
              <a:t>Files</a:t>
            </a:r>
          </a:p>
          <a:p>
            <a:pPr>
              <a:spcBef>
                <a:spcPts val="600"/>
              </a:spcBef>
              <a:spcAft>
                <a:spcPts val="1200"/>
              </a:spcAft>
            </a:pPr>
            <a:r>
              <a:rPr lang="en-AU" sz="2200" dirty="0" smtClean="0"/>
              <a:t>File naming</a:t>
            </a:r>
          </a:p>
          <a:p>
            <a:pPr>
              <a:spcBef>
                <a:spcPts val="600"/>
              </a:spcBef>
              <a:spcAft>
                <a:spcPts val="1200"/>
              </a:spcAft>
            </a:pPr>
            <a:r>
              <a:rPr lang="en-AU" sz="2200" dirty="0" smtClean="0"/>
              <a:t>Minimise, restore and close windows</a:t>
            </a:r>
          </a:p>
          <a:p>
            <a:pPr>
              <a:spcBef>
                <a:spcPts val="600"/>
              </a:spcBef>
              <a:spcAft>
                <a:spcPts val="1200"/>
              </a:spcAft>
            </a:pPr>
            <a:r>
              <a:rPr lang="en-AU" sz="2200" dirty="0" smtClean="0"/>
              <a:t>Typing tips</a:t>
            </a:r>
          </a:p>
          <a:p>
            <a:pPr>
              <a:spcBef>
                <a:spcPts val="600"/>
              </a:spcBef>
              <a:spcAft>
                <a:spcPts val="1200"/>
              </a:spcAft>
            </a:pPr>
            <a:endParaRPr lang="en-AU" sz="2200" dirty="0" smtClean="0"/>
          </a:p>
          <a:p>
            <a:pPr>
              <a:spcBef>
                <a:spcPts val="600"/>
              </a:spcBef>
              <a:spcAft>
                <a:spcPts val="1200"/>
              </a:spcAft>
            </a:pPr>
            <a:endParaRPr lang="en-AU" sz="2200" dirty="0" smtClean="0"/>
          </a:p>
          <a:p>
            <a:pPr>
              <a:spcBef>
                <a:spcPts val="600"/>
              </a:spcBef>
              <a:spcAft>
                <a:spcPts val="1200"/>
              </a:spcAft>
            </a:pPr>
            <a:endParaRPr lang="en-AU" sz="2200" dirty="0" smtClean="0"/>
          </a:p>
          <a:p>
            <a:pPr>
              <a:spcBef>
                <a:spcPts val="600"/>
              </a:spcBef>
              <a:spcAft>
                <a:spcPts val="1200"/>
              </a:spcAft>
            </a:pPr>
            <a:endParaRPr lang="en-AU" sz="2200" dirty="0"/>
          </a:p>
        </p:txBody>
      </p:sp>
      <p:sp>
        <p:nvSpPr>
          <p:cNvPr id="6" name="Title 1"/>
          <p:cNvSpPr>
            <a:spLocks noGrp="1"/>
          </p:cNvSpPr>
          <p:nvPr>
            <p:ph type="title"/>
          </p:nvPr>
        </p:nvSpPr>
        <p:spPr>
          <a:xfrm>
            <a:off x="611560" y="332656"/>
            <a:ext cx="7632848" cy="1143000"/>
          </a:xfrm>
        </p:spPr>
        <p:txBody>
          <a:bodyPr>
            <a:normAutofit/>
          </a:bodyPr>
          <a:lstStyle/>
          <a:p>
            <a:pPr marL="900113" indent="-900113"/>
            <a:r>
              <a:rPr lang="en-AU" sz="3000" b="1" dirty="0">
                <a:solidFill>
                  <a:srgbClr val="FF6600"/>
                </a:solidFill>
                <a:latin typeface="Helvetica" pitchFamily="34" charset="0"/>
              </a:rPr>
              <a:t>1.4	Identify the functions of an automated information system</a:t>
            </a:r>
            <a:endParaRPr lang="en-US" sz="3000" b="1" dirty="0">
              <a:solidFill>
                <a:srgbClr val="FF6600"/>
              </a:solidFill>
              <a:latin typeface="Helvetica"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856788"/>
            <a:ext cx="2064520" cy="2064520"/>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837095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770440" cy="1247056"/>
          </a:xfrm>
        </p:spPr>
        <p:txBody>
          <a:bodyPr>
            <a:noAutofit/>
          </a:bodyPr>
          <a:lstStyle/>
          <a:p>
            <a:r>
              <a:rPr lang="en-AU" sz="3000" b="1" dirty="0">
                <a:solidFill>
                  <a:srgbClr val="FF6600"/>
                </a:solidFill>
                <a:latin typeface="Helvetica" pitchFamily="34" charset="0"/>
              </a:rPr>
              <a:t>Element </a:t>
            </a:r>
            <a:r>
              <a:rPr lang="en-AU" sz="3000" b="1" dirty="0" smtClean="0">
                <a:solidFill>
                  <a:srgbClr val="FF6600"/>
                </a:solidFill>
                <a:latin typeface="Helvetica" pitchFamily="34" charset="0"/>
              </a:rPr>
              <a:t>2: </a:t>
            </a:r>
            <a:br>
              <a:rPr lang="en-AU" sz="3000" b="1" dirty="0" smtClean="0">
                <a:solidFill>
                  <a:srgbClr val="FF6600"/>
                </a:solidFill>
                <a:latin typeface="Helvetica" pitchFamily="34" charset="0"/>
              </a:rPr>
            </a:br>
            <a:r>
              <a:rPr lang="en-AU" sz="3000" b="1" dirty="0" smtClean="0">
                <a:solidFill>
                  <a:srgbClr val="FF6600"/>
                </a:solidFill>
                <a:latin typeface="Helvetica" pitchFamily="34" charset="0"/>
              </a:rPr>
              <a:t>Access </a:t>
            </a:r>
            <a:r>
              <a:rPr lang="en-AU" sz="3000" b="1" dirty="0">
                <a:solidFill>
                  <a:srgbClr val="FF6600"/>
                </a:solidFill>
                <a:latin typeface="Helvetica" pitchFamily="34" charset="0"/>
              </a:rPr>
              <a:t>information using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694240" cy="4555976"/>
          </a:xfrm>
        </p:spPr>
        <p:txBody>
          <a:bodyPr>
            <a:normAutofit fontScale="85000" lnSpcReduction="10000"/>
          </a:bodyPr>
          <a:lstStyle/>
          <a:p>
            <a:pPr marL="687388" indent="-687388">
              <a:lnSpc>
                <a:spcPct val="200000"/>
              </a:lnSpc>
              <a:buNone/>
            </a:pPr>
            <a:r>
              <a:rPr lang="en-AU" sz="2400" dirty="0">
                <a:latin typeface="Helvetica" pitchFamily="34" charset="0"/>
              </a:rPr>
              <a:t>2.1	Identify information </a:t>
            </a:r>
            <a:r>
              <a:rPr lang="en-AU" sz="2400" dirty="0" smtClean="0">
                <a:latin typeface="Helvetica" pitchFamily="34" charset="0"/>
              </a:rPr>
              <a:t>requirements</a:t>
            </a:r>
          </a:p>
          <a:p>
            <a:pPr marL="687388" indent="-687388">
              <a:lnSpc>
                <a:spcPct val="200000"/>
              </a:lnSpc>
              <a:buNone/>
            </a:pPr>
            <a:r>
              <a:rPr lang="en-AU" sz="2400" dirty="0">
                <a:latin typeface="Helvetica" pitchFamily="34" charset="0"/>
              </a:rPr>
              <a:t>2.2	Identify and select appropriate sources of </a:t>
            </a:r>
            <a:r>
              <a:rPr lang="en-AU" sz="2400" dirty="0" smtClean="0">
                <a:latin typeface="Helvetica" pitchFamily="34" charset="0"/>
              </a:rPr>
              <a:t>information</a:t>
            </a:r>
          </a:p>
          <a:p>
            <a:pPr marL="687388" indent="-687388">
              <a:lnSpc>
                <a:spcPct val="200000"/>
              </a:lnSpc>
              <a:buNone/>
            </a:pPr>
            <a:r>
              <a:rPr lang="en-AU" sz="2400" dirty="0">
                <a:latin typeface="Helvetica" pitchFamily="34" charset="0"/>
              </a:rPr>
              <a:t>2.3	Apply search techniques to locate identified </a:t>
            </a:r>
            <a:r>
              <a:rPr lang="en-AU" sz="2400" dirty="0" smtClean="0">
                <a:latin typeface="Helvetica" pitchFamily="34" charset="0"/>
              </a:rPr>
              <a:t>information</a:t>
            </a:r>
          </a:p>
          <a:p>
            <a:pPr marL="687388" indent="-687388">
              <a:lnSpc>
                <a:spcPct val="200000"/>
              </a:lnSpc>
              <a:buNone/>
            </a:pPr>
            <a:r>
              <a:rPr lang="en-AU" sz="2400" dirty="0">
                <a:latin typeface="Helvetica" pitchFamily="34" charset="0"/>
              </a:rPr>
              <a:t>2.4	Interrogate the system to secure full range of information available on the </a:t>
            </a:r>
            <a:r>
              <a:rPr lang="en-AU" sz="2400" dirty="0" smtClean="0">
                <a:latin typeface="Helvetica" pitchFamily="34" charset="0"/>
              </a:rPr>
              <a:t>system</a:t>
            </a:r>
          </a:p>
          <a:p>
            <a:pPr marL="687388" indent="-687388">
              <a:lnSpc>
                <a:spcPct val="200000"/>
              </a:lnSpc>
              <a:buNone/>
            </a:pPr>
            <a:r>
              <a:rPr lang="en-AU" sz="2400" dirty="0">
                <a:latin typeface="Helvetica" pitchFamily="34" charset="0"/>
              </a:rPr>
              <a:t>2.5	Verify captured information meets identified need</a:t>
            </a:r>
            <a:endParaRPr lang="en-AU" sz="24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29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08012206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936104"/>
          </a:xfrm>
        </p:spPr>
        <p:txBody>
          <a:bodyPr>
            <a:normAutofit/>
          </a:bodyPr>
          <a:lstStyle/>
          <a:p>
            <a:pPr marL="900113" indent="-900113"/>
            <a:r>
              <a:rPr lang="en-US" sz="3000" b="1" dirty="0">
                <a:solidFill>
                  <a:srgbClr val="FF6600"/>
                </a:solidFill>
                <a:latin typeface="Helvetica" pitchFamily="34" charset="0"/>
              </a:rPr>
              <a:t>2.1	Identify information requirements</a:t>
            </a:r>
          </a:p>
        </p:txBody>
      </p:sp>
      <p:sp>
        <p:nvSpPr>
          <p:cNvPr id="3" name="Content Placeholder 2"/>
          <p:cNvSpPr>
            <a:spLocks noGrp="1"/>
          </p:cNvSpPr>
          <p:nvPr>
            <p:ph idx="1"/>
          </p:nvPr>
        </p:nvSpPr>
        <p:spPr>
          <a:xfrm>
            <a:off x="611560" y="1340768"/>
            <a:ext cx="7467600" cy="5517232"/>
          </a:xfrm>
        </p:spPr>
        <p:txBody>
          <a:bodyPr>
            <a:noAutofit/>
          </a:bodyPr>
          <a:lstStyle/>
          <a:p>
            <a:pPr marL="0" indent="0">
              <a:spcBef>
                <a:spcPts val="600"/>
              </a:spcBef>
              <a:spcAft>
                <a:spcPts val="600"/>
              </a:spcAft>
              <a:buNone/>
            </a:pPr>
            <a:r>
              <a:rPr lang="en-AU" sz="1800" dirty="0">
                <a:latin typeface="Helvetica" pitchFamily="34" charset="0"/>
                <a:ea typeface="Times New Roman"/>
                <a:cs typeface="Times New Roman"/>
              </a:rPr>
              <a:t>The information requirements of your customer will depend on a range of different factors </a:t>
            </a:r>
            <a:endParaRPr lang="en-AU" sz="1800" dirty="0" smtClean="0">
              <a:latin typeface="Helvetica" pitchFamily="34" charset="0"/>
              <a:ea typeface="Times New Roman"/>
              <a:cs typeface="Times New Roman"/>
            </a:endParaRPr>
          </a:p>
          <a:p>
            <a:pPr marL="36576" indent="0">
              <a:spcBef>
                <a:spcPts val="600"/>
              </a:spcBef>
              <a:spcAft>
                <a:spcPts val="600"/>
              </a:spcAft>
              <a:buNone/>
            </a:pPr>
            <a:r>
              <a:rPr lang="en-AU" sz="1800" dirty="0" smtClean="0">
                <a:latin typeface="Helvetica" pitchFamily="34" charset="0"/>
              </a:rPr>
              <a:t>The </a:t>
            </a:r>
            <a:r>
              <a:rPr lang="en-AU" sz="1800" dirty="0">
                <a:latin typeface="Helvetica" pitchFamily="34" charset="0"/>
              </a:rPr>
              <a:t>types of information you may need to investigate may include: </a:t>
            </a:r>
          </a:p>
          <a:p>
            <a:pPr lvl="0">
              <a:spcBef>
                <a:spcPts val="600"/>
              </a:spcBef>
              <a:spcAft>
                <a:spcPts val="600"/>
              </a:spcAft>
            </a:pPr>
            <a:r>
              <a:rPr lang="en-AU" sz="1800" dirty="0">
                <a:latin typeface="Helvetica" pitchFamily="34" charset="0"/>
              </a:rPr>
              <a:t>Pricing of products and services </a:t>
            </a:r>
          </a:p>
          <a:p>
            <a:pPr lvl="0">
              <a:spcBef>
                <a:spcPts val="600"/>
              </a:spcBef>
              <a:spcAft>
                <a:spcPts val="600"/>
              </a:spcAft>
            </a:pPr>
            <a:r>
              <a:rPr lang="en-AU" sz="1800" dirty="0">
                <a:latin typeface="Helvetica" pitchFamily="34" charset="0"/>
              </a:rPr>
              <a:t>Availability </a:t>
            </a:r>
          </a:p>
          <a:p>
            <a:pPr lvl="0">
              <a:spcBef>
                <a:spcPts val="600"/>
              </a:spcBef>
              <a:spcAft>
                <a:spcPts val="600"/>
              </a:spcAft>
            </a:pPr>
            <a:r>
              <a:rPr lang="en-AU" sz="1800" dirty="0">
                <a:latin typeface="Helvetica" pitchFamily="34" charset="0"/>
              </a:rPr>
              <a:t>General destination information </a:t>
            </a:r>
          </a:p>
          <a:p>
            <a:pPr lvl="0">
              <a:spcBef>
                <a:spcPts val="600"/>
              </a:spcBef>
              <a:spcAft>
                <a:spcPts val="600"/>
              </a:spcAft>
            </a:pPr>
            <a:r>
              <a:rPr lang="en-AU" sz="1800" dirty="0" smtClean="0">
                <a:latin typeface="Helvetica" pitchFamily="34" charset="0"/>
              </a:rPr>
              <a:t>Product </a:t>
            </a:r>
            <a:r>
              <a:rPr lang="en-AU" sz="1800" dirty="0">
                <a:latin typeface="Helvetica" pitchFamily="34" charset="0"/>
              </a:rPr>
              <a:t>information:</a:t>
            </a:r>
          </a:p>
          <a:p>
            <a:pPr lvl="1">
              <a:spcBef>
                <a:spcPts val="600"/>
              </a:spcBef>
              <a:spcAft>
                <a:spcPts val="600"/>
              </a:spcAft>
            </a:pPr>
            <a:r>
              <a:rPr lang="en-AU" sz="1800" dirty="0">
                <a:latin typeface="Helvetica" pitchFamily="34" charset="0"/>
              </a:rPr>
              <a:t>Accommodation </a:t>
            </a:r>
          </a:p>
          <a:p>
            <a:pPr lvl="1">
              <a:spcBef>
                <a:spcPts val="600"/>
              </a:spcBef>
              <a:spcAft>
                <a:spcPts val="600"/>
              </a:spcAft>
            </a:pPr>
            <a:r>
              <a:rPr lang="en-AU" sz="1800" dirty="0">
                <a:latin typeface="Helvetica" pitchFamily="34" charset="0"/>
              </a:rPr>
              <a:t>Transport </a:t>
            </a:r>
          </a:p>
          <a:p>
            <a:pPr lvl="1">
              <a:spcBef>
                <a:spcPts val="600"/>
              </a:spcBef>
              <a:spcAft>
                <a:spcPts val="600"/>
              </a:spcAft>
            </a:pPr>
            <a:r>
              <a:rPr lang="en-AU" sz="1800" dirty="0">
                <a:latin typeface="Helvetica" pitchFamily="34" charset="0"/>
              </a:rPr>
              <a:t>Attractions </a:t>
            </a:r>
          </a:p>
          <a:p>
            <a:pPr lvl="1">
              <a:spcBef>
                <a:spcPts val="600"/>
              </a:spcBef>
              <a:spcAft>
                <a:spcPts val="600"/>
              </a:spcAft>
            </a:pPr>
            <a:r>
              <a:rPr lang="en-AU" sz="1800" dirty="0">
                <a:latin typeface="Helvetica" pitchFamily="34" charset="0"/>
              </a:rPr>
              <a:t>Amenities </a:t>
            </a:r>
          </a:p>
          <a:p>
            <a:pPr lvl="1">
              <a:spcBef>
                <a:spcPts val="600"/>
              </a:spcBef>
              <a:spcAft>
                <a:spcPts val="600"/>
              </a:spcAft>
            </a:pPr>
            <a:r>
              <a:rPr lang="en-AU" sz="1800" dirty="0">
                <a:latin typeface="Helvetica" pitchFamily="34" charset="0"/>
              </a:rPr>
              <a:t>Events and festivals</a:t>
            </a: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522" y="3904084"/>
            <a:ext cx="2615952" cy="174484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12776"/>
            <a:ext cx="7467600" cy="4824536"/>
          </a:xfrm>
        </p:spPr>
        <p:txBody>
          <a:bodyPr>
            <a:normAutofit/>
          </a:bodyPr>
          <a:lstStyle/>
          <a:p>
            <a:pPr marL="36576" indent="0">
              <a:spcBef>
                <a:spcPts val="600"/>
              </a:spcBef>
              <a:spcAft>
                <a:spcPts val="1200"/>
              </a:spcAft>
              <a:buNone/>
            </a:pPr>
            <a:r>
              <a:rPr lang="en-AU" sz="2200" dirty="0" smtClean="0">
                <a:latin typeface="Helvetica" pitchFamily="34" charset="0"/>
                <a:ea typeface="Times New Roman"/>
                <a:cs typeface="Times New Roman"/>
              </a:rPr>
              <a:t>Asking </a:t>
            </a:r>
            <a:r>
              <a:rPr lang="en-AU" sz="2200" dirty="0">
                <a:latin typeface="Helvetica" pitchFamily="34" charset="0"/>
                <a:ea typeface="Times New Roman"/>
                <a:cs typeface="Times New Roman"/>
              </a:rPr>
              <a:t>questions and taking notes helps you to get a clear picture of what your client </a:t>
            </a:r>
            <a:r>
              <a:rPr lang="en-AU" sz="2200" dirty="0" smtClean="0">
                <a:latin typeface="Helvetica" pitchFamily="34" charset="0"/>
                <a:ea typeface="Times New Roman"/>
                <a:cs typeface="Times New Roman"/>
              </a:rPr>
              <a:t>needs</a:t>
            </a:r>
            <a:r>
              <a:rPr lang="en-AU" sz="2200" dirty="0">
                <a:ea typeface="Times New Roman"/>
                <a:cs typeface="Times New Roman"/>
              </a:rPr>
              <a: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Ask questions</a:t>
            </a:r>
          </a:p>
          <a:p>
            <a:pPr lvl="0">
              <a:spcBef>
                <a:spcPts val="600"/>
              </a:spcBef>
              <a:spcAft>
                <a:spcPts val="1200"/>
              </a:spcAft>
            </a:pPr>
            <a:r>
              <a:rPr lang="en-AU" sz="2200" dirty="0" smtClean="0">
                <a:latin typeface="Helvetica" pitchFamily="34" charset="0"/>
              </a:rPr>
              <a:t>Qualifying customer wants</a:t>
            </a:r>
          </a:p>
          <a:p>
            <a:pPr lvl="0">
              <a:spcBef>
                <a:spcPts val="600"/>
              </a:spcBef>
              <a:spcAft>
                <a:spcPts val="1200"/>
              </a:spcAft>
            </a:pPr>
            <a:r>
              <a:rPr lang="en-AU" sz="2200" dirty="0" smtClean="0">
                <a:latin typeface="Helvetica" pitchFamily="34" charset="0"/>
              </a:rPr>
              <a:t>Sales skills</a:t>
            </a:r>
          </a:p>
          <a:p>
            <a:pPr lvl="0">
              <a:spcBef>
                <a:spcPts val="600"/>
              </a:spcBef>
              <a:spcAft>
                <a:spcPts val="1200"/>
              </a:spcAft>
            </a:pPr>
            <a:r>
              <a:rPr lang="en-AU" sz="2200" dirty="0" smtClean="0">
                <a:latin typeface="Helvetica" pitchFamily="34" charset="0"/>
              </a:rPr>
              <a:t>Types of questions</a:t>
            </a:r>
          </a:p>
          <a:p>
            <a:pPr lvl="0">
              <a:spcBef>
                <a:spcPts val="600"/>
              </a:spcBef>
              <a:spcAft>
                <a:spcPts val="1200"/>
              </a:spcAft>
            </a:pPr>
            <a:r>
              <a:rPr lang="en-AU" sz="2200" dirty="0" smtClean="0">
                <a:latin typeface="Helvetica" pitchFamily="34" charset="0"/>
              </a:rPr>
              <a:t>Continue qualifying</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31</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7992888" cy="936104"/>
          </a:xfrm>
        </p:spPr>
        <p:txBody>
          <a:bodyPr>
            <a:normAutofit/>
          </a:bodyPr>
          <a:lstStyle/>
          <a:p>
            <a:pPr marL="900113" indent="-900113"/>
            <a:r>
              <a:rPr lang="en-US" sz="3000" b="1" dirty="0" smtClean="0">
                <a:solidFill>
                  <a:srgbClr val="FF6600"/>
                </a:solidFill>
                <a:latin typeface="Helvetica" pitchFamily="34" charset="0"/>
              </a:rPr>
              <a:t>2.1	Identify </a:t>
            </a:r>
            <a:r>
              <a:rPr lang="en-US" sz="3000" b="1" dirty="0">
                <a:solidFill>
                  <a:srgbClr val="FF6600"/>
                </a:solidFill>
                <a:latin typeface="Helvetica" pitchFamily="34" charset="0"/>
              </a:rPr>
              <a:t>information requirements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64857" y="3813522"/>
            <a:ext cx="2687960" cy="1795557"/>
          </a:xfrm>
          <a:prstGeom prst="rect">
            <a:avLst/>
          </a:prstGeom>
        </p:spPr>
      </p:pic>
    </p:spTree>
    <p:extLst>
      <p:ext uri="{BB962C8B-B14F-4D97-AF65-F5344CB8AC3E}">
        <p14:creationId xmlns:p14="http://schemas.microsoft.com/office/powerpoint/2010/main" val="32720916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320480"/>
          </a:xfrm>
        </p:spPr>
        <p:txBody>
          <a:bodyPr>
            <a:noAutofit/>
          </a:bodyPr>
          <a:lstStyle/>
          <a:p>
            <a:pPr marL="0" indent="0">
              <a:spcBef>
                <a:spcPts val="600"/>
              </a:spcBef>
              <a:spcAft>
                <a:spcPts val="1200"/>
              </a:spcAft>
              <a:buNone/>
            </a:pPr>
            <a:r>
              <a:rPr lang="en-AU" sz="2200" dirty="0">
                <a:latin typeface="Helvetica" pitchFamily="34" charset="0"/>
                <a:ea typeface="Times New Roman"/>
                <a:cs typeface="Times New Roman"/>
              </a:rPr>
              <a:t>you will need to make a decision on where to start </a:t>
            </a:r>
            <a:r>
              <a:rPr lang="en-AU" sz="2200" dirty="0" smtClean="0">
                <a:latin typeface="Helvetica" pitchFamily="34" charset="0"/>
                <a:ea typeface="Times New Roman"/>
                <a:cs typeface="Times New Roman"/>
              </a:rPr>
              <a:t>looking:</a:t>
            </a:r>
          </a:p>
          <a:p>
            <a:pPr marL="360000" indent="-360000">
              <a:spcBef>
                <a:spcPts val="600"/>
              </a:spcBef>
              <a:spcAft>
                <a:spcPts val="1200"/>
              </a:spcAft>
            </a:pPr>
            <a:r>
              <a:rPr lang="en-AU" sz="2200" dirty="0" smtClean="0">
                <a:latin typeface="Helvetica" pitchFamily="34" charset="0"/>
                <a:ea typeface="Times New Roman"/>
                <a:cs typeface="Times New Roman"/>
              </a:rPr>
              <a:t>Computer </a:t>
            </a:r>
            <a:r>
              <a:rPr lang="en-AU" sz="2200" dirty="0">
                <a:latin typeface="Helvetica" pitchFamily="34" charset="0"/>
                <a:ea typeface="Times New Roman"/>
                <a:cs typeface="Times New Roman"/>
              </a:rPr>
              <a:t>Reservation System </a:t>
            </a:r>
            <a:endParaRPr lang="en-AU" sz="2200" dirty="0" smtClean="0">
              <a:latin typeface="Helvetica" pitchFamily="34" charset="0"/>
              <a:ea typeface="Times New Roman"/>
              <a:cs typeface="Times New Roman"/>
            </a:endParaRPr>
          </a:p>
          <a:p>
            <a:pPr marL="360000" indent="-360000">
              <a:spcBef>
                <a:spcPts val="600"/>
              </a:spcBef>
              <a:spcAft>
                <a:spcPts val="1200"/>
              </a:spcAft>
            </a:pPr>
            <a:r>
              <a:rPr lang="en-AU" sz="2200" dirty="0" smtClean="0">
                <a:latin typeface="Helvetica" pitchFamily="34" charset="0"/>
                <a:ea typeface="Times New Roman"/>
                <a:cs typeface="Times New Roman"/>
              </a:rPr>
              <a:t>A </a:t>
            </a:r>
            <a:r>
              <a:rPr lang="en-AU" sz="2200" dirty="0">
                <a:latin typeface="Helvetica" pitchFamily="34" charset="0"/>
                <a:ea typeface="Times New Roman"/>
                <a:cs typeface="Times New Roman"/>
              </a:rPr>
              <a:t>‘preferred’ </a:t>
            </a:r>
            <a:r>
              <a:rPr lang="en-AU" sz="2200" dirty="0" smtClean="0">
                <a:latin typeface="Helvetica" pitchFamily="34" charset="0"/>
                <a:ea typeface="Times New Roman"/>
                <a:cs typeface="Times New Roman"/>
              </a:rPr>
              <a:t>supplier</a:t>
            </a:r>
          </a:p>
          <a:p>
            <a:pPr marL="360000" indent="-360000">
              <a:spcBef>
                <a:spcPts val="600"/>
              </a:spcBef>
              <a:spcAft>
                <a:spcPts val="1200"/>
              </a:spcAft>
            </a:pPr>
            <a:r>
              <a:rPr lang="en-AU" sz="2200" dirty="0" smtClean="0">
                <a:latin typeface="Helvetica" pitchFamily="34" charset="0"/>
                <a:ea typeface="Times New Roman"/>
                <a:cs typeface="Times New Roman"/>
              </a:rPr>
              <a:t>A search engine – Google, Yahoo</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53025" y="2564904"/>
            <a:ext cx="2399928" cy="1600752"/>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784" y="1844825"/>
            <a:ext cx="7467600" cy="4687432"/>
          </a:xfrm>
        </p:spPr>
        <p:txBody>
          <a:bodyPr>
            <a:normAutofit/>
          </a:bodyPr>
          <a:lstStyle/>
          <a:p>
            <a:pPr marL="0" indent="0">
              <a:spcBef>
                <a:spcPts val="600"/>
              </a:spcBef>
              <a:spcAft>
                <a:spcPts val="1200"/>
              </a:spcAft>
              <a:buNone/>
            </a:pPr>
            <a:r>
              <a:rPr lang="en-AU" sz="2400" b="1" dirty="0" smtClean="0">
                <a:latin typeface="Helvetica" pitchFamily="34" charset="0"/>
                <a:ea typeface="Times New Roman"/>
                <a:cs typeface="Times New Roman"/>
              </a:rPr>
              <a:t>Search engine - Google</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33</a:t>
            </a:fld>
            <a:endParaRPr lang="en-US" dirty="0">
              <a:solidFill>
                <a:srgbClr val="4E5B6F">
                  <a:shade val="50000"/>
                </a:srgbClr>
              </a:solidFill>
              <a:latin typeface="Helvetica" pitchFamily="34" charset="0"/>
            </a:endParaRPr>
          </a:p>
        </p:txBody>
      </p:sp>
      <p:grpSp>
        <p:nvGrpSpPr>
          <p:cNvPr id="6" name="Group 5"/>
          <p:cNvGrpSpPr/>
          <p:nvPr/>
        </p:nvGrpSpPr>
        <p:grpSpPr>
          <a:xfrm>
            <a:off x="720019" y="2463123"/>
            <a:ext cx="7162970" cy="4350253"/>
            <a:chOff x="746357" y="2510349"/>
            <a:chExt cx="7162970" cy="4350253"/>
          </a:xfrm>
        </p:grpSpPr>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357" y="2510349"/>
              <a:ext cx="6955011" cy="4350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8892" y="2745845"/>
              <a:ext cx="1770435" cy="467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20942645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400" b="1" dirty="0" smtClean="0">
                <a:latin typeface="Helvetica" pitchFamily="34" charset="0"/>
                <a:ea typeface="Times New Roman"/>
                <a:cs typeface="Times New Roman"/>
              </a:rPr>
              <a:t>Search engine - Yahoo</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34</a:t>
            </a:fld>
            <a:endParaRPr lang="en-US" dirty="0">
              <a:solidFill>
                <a:srgbClr val="4E5B6F">
                  <a:shade val="50000"/>
                </a:srgbClr>
              </a:solidFill>
              <a:latin typeface="Helvetica"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276872"/>
            <a:ext cx="7312598" cy="4570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20942645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848872" cy="4752528"/>
          </a:xfrm>
        </p:spPr>
        <p:txBody>
          <a:bodyPr>
            <a:normAutofit/>
          </a:bodyPr>
          <a:lstStyle/>
          <a:p>
            <a:pPr marL="0" indent="0">
              <a:spcBef>
                <a:spcPts val="600"/>
              </a:spcBef>
              <a:spcAft>
                <a:spcPts val="1200"/>
              </a:spcAft>
              <a:buNone/>
            </a:pPr>
            <a:r>
              <a:rPr lang="en-AU" sz="2000" b="1" dirty="0" smtClean="0">
                <a:ea typeface="Times New Roman"/>
                <a:cs typeface="Times New Roman"/>
              </a:rPr>
              <a:t>Key words and phrases</a:t>
            </a:r>
          </a:p>
          <a:p>
            <a:pPr marL="360000" indent="-360000">
              <a:spcBef>
                <a:spcPts val="600"/>
              </a:spcBef>
              <a:spcAft>
                <a:spcPts val="1200"/>
              </a:spcAft>
            </a:pPr>
            <a:r>
              <a:rPr lang="en-AU" sz="2000" dirty="0" smtClean="0">
                <a:latin typeface="Helvetica"/>
                <a:ea typeface="Calibri"/>
                <a:cs typeface="Times New Roman"/>
              </a:rPr>
              <a:t>Use </a:t>
            </a:r>
            <a:r>
              <a:rPr lang="en-AU" sz="2000" dirty="0">
                <a:latin typeface="Helvetica"/>
                <a:ea typeface="Calibri"/>
                <a:cs typeface="Times New Roman"/>
              </a:rPr>
              <a:t>the words likely to appear on the </a:t>
            </a:r>
            <a:r>
              <a:rPr lang="en-AU" sz="2000" spc="-10" dirty="0">
                <a:latin typeface="Helvetica"/>
                <a:ea typeface="Calibri"/>
                <a:cs typeface="Times New Roman"/>
              </a:rPr>
              <a:t>pages</a:t>
            </a:r>
            <a:r>
              <a:rPr lang="en-AU" sz="2000" dirty="0">
                <a:latin typeface="Helvetica"/>
                <a:ea typeface="Calibri"/>
                <a:cs typeface="Times New Roman"/>
              </a:rPr>
              <a:t> you want; i.e.—</a:t>
            </a:r>
            <a:r>
              <a:rPr lang="en-AU" sz="2000" b="1" dirty="0">
                <a:latin typeface="Helvetica"/>
                <a:ea typeface="Calibri"/>
                <a:cs typeface="Times New Roman"/>
              </a:rPr>
              <a:t>Singapore Car</a:t>
            </a:r>
            <a:r>
              <a:rPr lang="en-AU" sz="2000" b="1" spc="-10" dirty="0">
                <a:latin typeface="Helvetica"/>
                <a:ea typeface="Calibri"/>
                <a:cs typeface="Times New Roman"/>
              </a:rPr>
              <a:t> </a:t>
            </a:r>
            <a:r>
              <a:rPr lang="en-AU" sz="2000" b="1" dirty="0">
                <a:latin typeface="Helvetica"/>
                <a:ea typeface="Calibri"/>
                <a:cs typeface="Times New Roman"/>
              </a:rPr>
              <a:t>Hire</a:t>
            </a:r>
            <a:r>
              <a:rPr lang="en-AU" sz="2000" dirty="0">
                <a:latin typeface="Helvetica"/>
                <a:ea typeface="Calibri"/>
                <a:cs typeface="Times New Roman"/>
              </a:rPr>
              <a:t>; </a:t>
            </a:r>
            <a:r>
              <a:rPr lang="en-AU" sz="2000" b="1" dirty="0">
                <a:latin typeface="Helvetica"/>
                <a:ea typeface="Calibri"/>
                <a:cs typeface="Times New Roman"/>
              </a:rPr>
              <a:t>Brunei cheap </a:t>
            </a:r>
            <a:r>
              <a:rPr lang="en-AU" sz="2000" b="1" dirty="0" smtClean="0">
                <a:latin typeface="Helvetica"/>
                <a:ea typeface="Calibri"/>
                <a:cs typeface="Times New Roman"/>
              </a:rPr>
              <a:t>hotels</a:t>
            </a:r>
          </a:p>
          <a:p>
            <a:pPr marL="360000" indent="-360000">
              <a:spcBef>
                <a:spcPts val="600"/>
              </a:spcBef>
              <a:spcAft>
                <a:spcPts val="1200"/>
              </a:spcAft>
            </a:pPr>
            <a:r>
              <a:rPr lang="en-AU" sz="2000" dirty="0" smtClean="0">
                <a:latin typeface="Helvetica"/>
                <a:ea typeface="Calibri"/>
                <a:cs typeface="Times New Roman"/>
              </a:rPr>
              <a:t>Avoid </a:t>
            </a:r>
            <a:r>
              <a:rPr lang="en-AU" sz="2000" dirty="0">
                <a:latin typeface="Helvetica"/>
                <a:ea typeface="Calibri"/>
                <a:cs typeface="Times New Roman"/>
              </a:rPr>
              <a:t>using a question</a:t>
            </a:r>
            <a:r>
              <a:rPr lang="en-AU" sz="2000" spc="-10" dirty="0">
                <a:latin typeface="Helvetica"/>
                <a:ea typeface="Calibri"/>
                <a:cs typeface="Times New Roman"/>
              </a:rPr>
              <a:t> </a:t>
            </a:r>
            <a:r>
              <a:rPr lang="en-AU" sz="2000" dirty="0">
                <a:latin typeface="Helvetica"/>
                <a:ea typeface="Calibri"/>
                <a:cs typeface="Times New Roman"/>
              </a:rPr>
              <a:t>as a query. For example, the query </a:t>
            </a:r>
            <a:r>
              <a:rPr lang="en-AU" sz="2000" b="1" dirty="0">
                <a:latin typeface="Helvetica"/>
                <a:ea typeface="Calibri"/>
                <a:cs typeface="Times New Roman"/>
              </a:rPr>
              <a:t>‘Does Hanoi have</a:t>
            </a:r>
            <a:r>
              <a:rPr lang="en-AU" sz="2000" b="1" spc="-15" dirty="0">
                <a:latin typeface="Helvetica"/>
                <a:ea typeface="Calibri"/>
                <a:cs typeface="Times New Roman"/>
              </a:rPr>
              <a:t> </a:t>
            </a:r>
            <a:r>
              <a:rPr lang="en-AU" sz="2000" b="1" dirty="0">
                <a:latin typeface="Helvetica"/>
                <a:ea typeface="Calibri"/>
                <a:cs typeface="Times New Roman"/>
              </a:rPr>
              <a:t>a Hilton</a:t>
            </a:r>
            <a:r>
              <a:rPr lang="en-AU" sz="2000" b="1" spc="170" dirty="0">
                <a:latin typeface="Helvetica"/>
                <a:ea typeface="Calibri"/>
                <a:cs typeface="Times New Roman"/>
              </a:rPr>
              <a:t> </a:t>
            </a:r>
            <a:r>
              <a:rPr lang="en-AU" sz="2000" b="1" dirty="0">
                <a:latin typeface="Helvetica"/>
                <a:ea typeface="Calibri"/>
                <a:cs typeface="Times New Roman"/>
              </a:rPr>
              <a:t>Hotel’ </a:t>
            </a:r>
            <a:r>
              <a:rPr lang="en-AU" sz="2000" dirty="0">
                <a:latin typeface="Helvetica"/>
                <a:ea typeface="Calibri"/>
                <a:cs typeface="Times New Roman"/>
              </a:rPr>
              <a:t>instructs the search engine to find </a:t>
            </a:r>
            <a:r>
              <a:rPr lang="en-AU" sz="2000" spc="-10" dirty="0">
                <a:latin typeface="Helvetica"/>
                <a:ea typeface="Calibri"/>
                <a:cs typeface="Times New Roman"/>
              </a:rPr>
              <a:t>all</a:t>
            </a:r>
            <a:r>
              <a:rPr lang="en-AU" sz="2000" dirty="0">
                <a:latin typeface="Helvetica"/>
                <a:ea typeface="Calibri"/>
                <a:cs typeface="Times New Roman"/>
              </a:rPr>
              <a:t> these words. Such a query won’t </a:t>
            </a:r>
            <a:r>
              <a:rPr lang="en-AU" sz="2000" spc="-10" dirty="0">
                <a:latin typeface="Helvetica"/>
                <a:ea typeface="Calibri"/>
                <a:cs typeface="Times New Roman"/>
              </a:rPr>
              <a:t>necessarily</a:t>
            </a:r>
            <a:r>
              <a:rPr lang="en-AU" sz="2000" spc="210" dirty="0">
                <a:latin typeface="Helvetica"/>
                <a:ea typeface="Calibri"/>
                <a:cs typeface="Times New Roman"/>
              </a:rPr>
              <a:t> </a:t>
            </a:r>
            <a:r>
              <a:rPr lang="en-AU" sz="2000" dirty="0">
                <a:latin typeface="Helvetica"/>
                <a:ea typeface="Calibri"/>
                <a:cs typeface="Times New Roman"/>
              </a:rPr>
              <a:t>find pages answering your </a:t>
            </a:r>
            <a:r>
              <a:rPr lang="en-AU" sz="2000" spc="-10" dirty="0">
                <a:latin typeface="Helvetica"/>
                <a:ea typeface="Calibri"/>
                <a:cs typeface="Times New Roman"/>
              </a:rPr>
              <a:t>question.</a:t>
            </a:r>
            <a:r>
              <a:rPr lang="en-AU" sz="2000" dirty="0">
                <a:latin typeface="Helvetica"/>
                <a:ea typeface="Calibri"/>
                <a:cs typeface="Times New Roman"/>
              </a:rPr>
              <a:t> A better,</a:t>
            </a:r>
            <a:r>
              <a:rPr lang="en-AU" sz="2000" spc="-10" dirty="0">
                <a:latin typeface="Helvetica"/>
                <a:ea typeface="Calibri"/>
                <a:cs typeface="Times New Roman"/>
              </a:rPr>
              <a:t> </a:t>
            </a:r>
            <a:r>
              <a:rPr lang="en-AU" sz="2000" dirty="0">
                <a:latin typeface="Helvetica"/>
                <a:ea typeface="Calibri"/>
                <a:cs typeface="Times New Roman"/>
              </a:rPr>
              <a:t>or more effective, query may be </a:t>
            </a:r>
            <a:r>
              <a:rPr lang="en-AU" sz="2000" b="1" dirty="0">
                <a:latin typeface="Helvetica"/>
                <a:ea typeface="Calibri"/>
                <a:cs typeface="Times New Roman"/>
              </a:rPr>
              <a:t>‘Hanoi</a:t>
            </a:r>
            <a:r>
              <a:rPr lang="en-AU" sz="2000" b="1" spc="245" dirty="0">
                <a:latin typeface="Helvetica"/>
                <a:ea typeface="Calibri"/>
                <a:cs typeface="Times New Roman"/>
              </a:rPr>
              <a:t> </a:t>
            </a:r>
            <a:r>
              <a:rPr lang="en-AU" sz="2000" b="1" dirty="0">
                <a:latin typeface="Helvetica"/>
                <a:ea typeface="Calibri"/>
                <a:cs typeface="Times New Roman"/>
              </a:rPr>
              <a:t>Hilton </a:t>
            </a:r>
            <a:r>
              <a:rPr lang="en-AU" sz="2000" b="1" dirty="0" smtClean="0">
                <a:latin typeface="Helvetica"/>
                <a:ea typeface="Calibri"/>
                <a:cs typeface="Times New Roman"/>
              </a:rPr>
              <a:t>Hotel’</a:t>
            </a:r>
          </a:p>
          <a:p>
            <a:pPr marL="360000" indent="-360000">
              <a:spcBef>
                <a:spcPts val="600"/>
              </a:spcBef>
              <a:spcAft>
                <a:spcPts val="1200"/>
              </a:spcAft>
            </a:pPr>
            <a:r>
              <a:rPr lang="en-AU" sz="2000" dirty="0" smtClean="0">
                <a:latin typeface="Helvetica"/>
                <a:ea typeface="Calibri"/>
                <a:cs typeface="Times New Roman"/>
              </a:rPr>
              <a:t>When </a:t>
            </a:r>
            <a:r>
              <a:rPr lang="en-AU" sz="2000" dirty="0">
                <a:latin typeface="Helvetica"/>
                <a:ea typeface="Calibri"/>
                <a:cs typeface="Times New Roman"/>
              </a:rPr>
              <a:t>a</a:t>
            </a:r>
            <a:r>
              <a:rPr lang="en-AU" sz="2000" spc="-10" dirty="0">
                <a:latin typeface="Helvetica"/>
                <a:ea typeface="Calibri"/>
                <a:cs typeface="Times New Roman"/>
              </a:rPr>
              <a:t> </a:t>
            </a:r>
            <a:r>
              <a:rPr lang="en-AU" sz="2000" dirty="0">
                <a:latin typeface="Helvetica"/>
                <a:ea typeface="Calibri"/>
                <a:cs typeface="Times New Roman"/>
              </a:rPr>
              <a:t>search engine registers common words </a:t>
            </a:r>
            <a:r>
              <a:rPr lang="en-AU" sz="2000" spc="-10" dirty="0">
                <a:latin typeface="Helvetica"/>
                <a:ea typeface="Calibri"/>
                <a:cs typeface="Times New Roman"/>
              </a:rPr>
              <a:t>such</a:t>
            </a:r>
            <a:r>
              <a:rPr lang="en-AU" sz="2000" dirty="0">
                <a:latin typeface="Helvetica"/>
                <a:ea typeface="Calibri"/>
                <a:cs typeface="Times New Roman"/>
              </a:rPr>
              <a:t> as ‘where’, ‘do’, ‘I’, ‘for’ and ‘a’ it</a:t>
            </a:r>
            <a:r>
              <a:rPr lang="en-AU" sz="2000" spc="145" dirty="0">
                <a:latin typeface="Helvetica"/>
                <a:ea typeface="Calibri"/>
                <a:cs typeface="Times New Roman"/>
              </a:rPr>
              <a:t> </a:t>
            </a:r>
            <a:r>
              <a:rPr lang="en-AU" sz="2000" dirty="0">
                <a:latin typeface="Helvetica"/>
                <a:ea typeface="Calibri"/>
                <a:cs typeface="Times New Roman"/>
              </a:rPr>
              <a:t>ignores them so that the engine can return</a:t>
            </a:r>
            <a:r>
              <a:rPr lang="en-AU" sz="2000" spc="-10" dirty="0">
                <a:latin typeface="Helvetica"/>
                <a:ea typeface="Calibri"/>
                <a:cs typeface="Times New Roman"/>
              </a:rPr>
              <a:t> </a:t>
            </a:r>
            <a:r>
              <a:rPr lang="en-AU" sz="2000" dirty="0">
                <a:latin typeface="Helvetica"/>
                <a:ea typeface="Calibri"/>
                <a:cs typeface="Times New Roman"/>
              </a:rPr>
              <a:t>more targeted </a:t>
            </a:r>
            <a:r>
              <a:rPr lang="en-AU" sz="2000" dirty="0" smtClean="0">
                <a:latin typeface="Helvetica"/>
                <a:ea typeface="Calibri"/>
                <a:cs typeface="Times New Roman"/>
              </a:rPr>
              <a:t>results</a:t>
            </a:r>
            <a:endParaRPr lang="en-AU" sz="2000" dirty="0">
              <a:latin typeface="Helvetica"/>
              <a:ea typeface="Calibri"/>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35</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43788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704856" cy="4968552"/>
          </a:xfrm>
        </p:spPr>
        <p:txBody>
          <a:bodyPr>
            <a:normAutofit/>
          </a:bodyPr>
          <a:lstStyle/>
          <a:p>
            <a:pPr marL="0" indent="0">
              <a:spcBef>
                <a:spcPts val="600"/>
              </a:spcBef>
              <a:spcAft>
                <a:spcPts val="1200"/>
              </a:spcAft>
              <a:buNone/>
            </a:pPr>
            <a:r>
              <a:rPr lang="en-AU" sz="2000" b="1" dirty="0" smtClean="0">
                <a:ea typeface="Times New Roman"/>
                <a:cs typeface="Times New Roman"/>
              </a:rPr>
              <a:t>Key words and phrases continued</a:t>
            </a:r>
          </a:p>
          <a:p>
            <a:pPr marL="360000" indent="-360000">
              <a:spcBef>
                <a:spcPts val="600"/>
              </a:spcBef>
              <a:spcAft>
                <a:spcPts val="1200"/>
              </a:spcAft>
            </a:pPr>
            <a:r>
              <a:rPr lang="en-AU" sz="2000" dirty="0" smtClean="0">
                <a:latin typeface="Helvetica"/>
                <a:ea typeface="Calibri"/>
                <a:cs typeface="Times New Roman"/>
              </a:rPr>
              <a:t>Does </a:t>
            </a:r>
            <a:r>
              <a:rPr lang="en-AU" sz="2000" dirty="0">
                <a:latin typeface="Helvetica"/>
                <a:ea typeface="Calibri"/>
                <a:cs typeface="Times New Roman"/>
              </a:rPr>
              <a:t>your</a:t>
            </a:r>
            <a:r>
              <a:rPr lang="en-AU" sz="2000" spc="-10" dirty="0">
                <a:latin typeface="Helvetica"/>
                <a:ea typeface="Calibri"/>
                <a:cs typeface="Times New Roman"/>
              </a:rPr>
              <a:t> </a:t>
            </a:r>
            <a:r>
              <a:rPr lang="en-AU" sz="2000" dirty="0">
                <a:latin typeface="Helvetica"/>
                <a:ea typeface="Calibri"/>
                <a:cs typeface="Times New Roman"/>
              </a:rPr>
              <a:t>query have enough specific terms;</a:t>
            </a:r>
            <a:r>
              <a:rPr lang="en-AU" sz="2000" spc="-25" dirty="0">
                <a:latin typeface="Helvetica"/>
                <a:ea typeface="Calibri"/>
                <a:cs typeface="Times New Roman"/>
              </a:rPr>
              <a:t> </a:t>
            </a:r>
            <a:r>
              <a:rPr lang="en-AU" sz="2000" dirty="0">
                <a:latin typeface="Helvetica"/>
                <a:ea typeface="Calibri"/>
                <a:cs typeface="Times New Roman"/>
              </a:rPr>
              <a:t>i.e. </a:t>
            </a:r>
            <a:r>
              <a:rPr lang="en-AU" sz="2000" b="1" dirty="0">
                <a:latin typeface="Helvetica"/>
                <a:ea typeface="Calibri"/>
                <a:cs typeface="Times New Roman"/>
              </a:rPr>
              <a:t>‘Hanoi’, ‘Hanoi Hotels’, </a:t>
            </a:r>
            <a:r>
              <a:rPr lang="en-AU" sz="2000" dirty="0">
                <a:latin typeface="Helvetica"/>
                <a:ea typeface="Calibri"/>
                <a:cs typeface="Times New Roman"/>
              </a:rPr>
              <a:t>or </a:t>
            </a:r>
            <a:r>
              <a:rPr lang="en-AU" sz="2000" b="1" dirty="0">
                <a:latin typeface="Helvetica"/>
                <a:ea typeface="Calibri"/>
                <a:cs typeface="Times New Roman"/>
              </a:rPr>
              <a:t>‘Hanoi</a:t>
            </a:r>
            <a:r>
              <a:rPr lang="en-AU" sz="2000" b="1" spc="150" dirty="0">
                <a:latin typeface="Helvetica"/>
                <a:ea typeface="Calibri"/>
                <a:cs typeface="Times New Roman"/>
              </a:rPr>
              <a:t> </a:t>
            </a:r>
            <a:r>
              <a:rPr lang="en-AU" sz="2000" b="1" dirty="0">
                <a:latin typeface="Helvetica"/>
                <a:ea typeface="Calibri"/>
                <a:cs typeface="Times New Roman"/>
              </a:rPr>
              <a:t>Cheap </a:t>
            </a:r>
            <a:r>
              <a:rPr lang="en-AU" sz="2000" b="1" dirty="0" smtClean="0">
                <a:latin typeface="Helvetica"/>
                <a:ea typeface="Calibri"/>
                <a:cs typeface="Times New Roman"/>
              </a:rPr>
              <a:t>Hotels’</a:t>
            </a:r>
          </a:p>
          <a:p>
            <a:pPr marL="360000" indent="-360000">
              <a:spcBef>
                <a:spcPts val="600"/>
              </a:spcBef>
              <a:spcAft>
                <a:spcPts val="1200"/>
              </a:spcAft>
            </a:pPr>
            <a:r>
              <a:rPr lang="en-AU" sz="2000" dirty="0" smtClean="0">
                <a:latin typeface="Helvetica"/>
                <a:ea typeface="Calibri"/>
                <a:cs typeface="Times New Roman"/>
              </a:rPr>
              <a:t>If </a:t>
            </a:r>
            <a:r>
              <a:rPr lang="en-AU" sz="2000" dirty="0">
                <a:latin typeface="Helvetica"/>
                <a:ea typeface="Calibri"/>
                <a:cs typeface="Times New Roman"/>
              </a:rPr>
              <a:t>you are searching for</a:t>
            </a:r>
            <a:r>
              <a:rPr lang="en-AU" sz="2000" spc="-10" dirty="0">
                <a:latin typeface="Helvetica"/>
                <a:ea typeface="Calibri"/>
                <a:cs typeface="Times New Roman"/>
              </a:rPr>
              <a:t> </a:t>
            </a:r>
            <a:r>
              <a:rPr lang="en-AU" sz="2000" dirty="0">
                <a:latin typeface="Helvetica"/>
                <a:ea typeface="Calibri"/>
                <a:cs typeface="Times New Roman"/>
              </a:rPr>
              <a:t>something that returns many</a:t>
            </a:r>
            <a:r>
              <a:rPr lang="en-AU" sz="2000" spc="-10" dirty="0">
                <a:latin typeface="Helvetica"/>
                <a:ea typeface="Calibri"/>
                <a:cs typeface="Times New Roman"/>
              </a:rPr>
              <a:t> </a:t>
            </a:r>
            <a:r>
              <a:rPr lang="en-AU" sz="2000" dirty="0">
                <a:latin typeface="Helvetica"/>
                <a:ea typeface="Calibri"/>
                <a:cs typeface="Times New Roman"/>
              </a:rPr>
              <a:t>different types of results, you should</a:t>
            </a:r>
            <a:r>
              <a:rPr lang="en-AU" sz="2000" spc="140" dirty="0">
                <a:latin typeface="Helvetica"/>
                <a:ea typeface="Calibri"/>
                <a:cs typeface="Times New Roman"/>
              </a:rPr>
              <a:t> </a:t>
            </a:r>
            <a:r>
              <a:rPr lang="en-AU" sz="2000" dirty="0">
                <a:latin typeface="Helvetica"/>
                <a:ea typeface="Calibri"/>
                <a:cs typeface="Times New Roman"/>
              </a:rPr>
              <a:t>add a word that distinguishes </a:t>
            </a:r>
            <a:r>
              <a:rPr lang="en-AU" sz="2000" dirty="0" smtClean="0">
                <a:latin typeface="Helvetica"/>
                <a:ea typeface="Calibri"/>
                <a:cs typeface="Times New Roman"/>
              </a:rPr>
              <a:t>them</a:t>
            </a:r>
          </a:p>
          <a:p>
            <a:pPr marL="360000" indent="-360000">
              <a:spcBef>
                <a:spcPts val="600"/>
              </a:spcBef>
              <a:spcAft>
                <a:spcPts val="1200"/>
              </a:spcAft>
            </a:pPr>
            <a:r>
              <a:rPr lang="en-AU" sz="2000" dirty="0" smtClean="0">
                <a:latin typeface="Helvetica"/>
                <a:ea typeface="Calibri"/>
                <a:cs typeface="Times New Roman"/>
              </a:rPr>
              <a:t>For </a:t>
            </a:r>
            <a:r>
              <a:rPr lang="en-AU" sz="2000" dirty="0">
                <a:latin typeface="Helvetica"/>
                <a:ea typeface="Calibri"/>
                <a:cs typeface="Times New Roman"/>
              </a:rPr>
              <a:t>best results, use a few specific words.</a:t>
            </a:r>
            <a:r>
              <a:rPr lang="en-AU" sz="2000" spc="-15" dirty="0">
                <a:latin typeface="Helvetica"/>
                <a:ea typeface="Calibri"/>
                <a:cs typeface="Times New Roman"/>
              </a:rPr>
              <a:t> </a:t>
            </a:r>
            <a:r>
              <a:rPr lang="en-AU" sz="2000" dirty="0">
                <a:latin typeface="Helvetica"/>
                <a:ea typeface="Calibri"/>
                <a:cs typeface="Times New Roman"/>
              </a:rPr>
              <a:t>For example, </a:t>
            </a:r>
            <a:r>
              <a:rPr lang="en-AU" sz="2000" b="1" dirty="0">
                <a:latin typeface="Helvetica"/>
                <a:ea typeface="Calibri"/>
                <a:cs typeface="Times New Roman"/>
              </a:rPr>
              <a:t>‘Cheap Hanoi Hotels’ </a:t>
            </a:r>
            <a:r>
              <a:rPr lang="en-AU" sz="2000" dirty="0">
                <a:latin typeface="Helvetica"/>
                <a:ea typeface="Calibri"/>
                <a:cs typeface="Times New Roman"/>
              </a:rPr>
              <a:t>will</a:t>
            </a:r>
            <a:r>
              <a:rPr lang="en-AU" sz="2000" spc="195" dirty="0">
                <a:latin typeface="Helvetica"/>
                <a:ea typeface="Calibri"/>
                <a:cs typeface="Times New Roman"/>
              </a:rPr>
              <a:t> </a:t>
            </a:r>
            <a:r>
              <a:rPr lang="en-AU" sz="2000" dirty="0">
                <a:latin typeface="Helvetica"/>
                <a:ea typeface="Calibri"/>
                <a:cs typeface="Times New Roman"/>
              </a:rPr>
              <a:t>return a better result than </a:t>
            </a:r>
            <a:r>
              <a:rPr lang="en-AU" sz="2000" b="1" dirty="0">
                <a:latin typeface="Helvetica"/>
                <a:ea typeface="Calibri"/>
                <a:cs typeface="Times New Roman"/>
              </a:rPr>
              <a:t>‘List of Cheapest Hanoi Hotels with Swimming </a:t>
            </a:r>
            <a:r>
              <a:rPr lang="en-AU" sz="2000" b="1" dirty="0" smtClean="0">
                <a:latin typeface="Helvetica"/>
                <a:ea typeface="Calibri"/>
                <a:cs typeface="Times New Roman"/>
              </a:rPr>
              <a:t>Pools’</a:t>
            </a:r>
          </a:p>
          <a:p>
            <a:pPr marL="360000" indent="-360000">
              <a:spcBef>
                <a:spcPts val="600"/>
              </a:spcBef>
              <a:spcAft>
                <a:spcPts val="1200"/>
              </a:spcAft>
            </a:pPr>
            <a:r>
              <a:rPr lang="en-AU" sz="2000" dirty="0" smtClean="0">
                <a:latin typeface="Helvetica"/>
                <a:ea typeface="Calibri"/>
                <a:cs typeface="Times New Roman"/>
              </a:rPr>
              <a:t>Search </a:t>
            </a:r>
            <a:r>
              <a:rPr lang="en-AU" sz="2000" dirty="0">
                <a:latin typeface="Helvetica"/>
                <a:ea typeface="Calibri"/>
                <a:cs typeface="Times New Roman"/>
              </a:rPr>
              <a:t>engines will usually recognise any spelling mistakes and suggest a more common</a:t>
            </a:r>
            <a:r>
              <a:rPr lang="en-AU" sz="2000" spc="220" dirty="0">
                <a:latin typeface="Helvetica"/>
                <a:ea typeface="Calibri"/>
                <a:cs typeface="Times New Roman"/>
              </a:rPr>
              <a:t> </a:t>
            </a:r>
            <a:r>
              <a:rPr lang="en-AU" sz="2000" spc="-10" dirty="0">
                <a:latin typeface="Helvetica"/>
                <a:ea typeface="Calibri"/>
                <a:cs typeface="Times New Roman"/>
              </a:rPr>
              <a:t>spelling</a:t>
            </a:r>
            <a:r>
              <a:rPr lang="en-AU" sz="2000" dirty="0">
                <a:latin typeface="Helvetica"/>
                <a:ea typeface="Calibri"/>
                <a:cs typeface="Times New Roman"/>
              </a:rPr>
              <a:t> </a:t>
            </a:r>
            <a:r>
              <a:rPr lang="en-AU" sz="2000" spc="-10" dirty="0" smtClean="0">
                <a:latin typeface="Helvetica"/>
                <a:ea typeface="Calibri"/>
                <a:cs typeface="Times New Roman"/>
              </a:rPr>
              <a:t>quickly</a:t>
            </a:r>
            <a:r>
              <a:rPr lang="en-AU" sz="2000" dirty="0" smtClean="0">
                <a:latin typeface="Helvetica"/>
                <a:ea typeface="Calibri"/>
                <a:cs typeface="Times New Roman"/>
              </a:rPr>
              <a:t> </a:t>
            </a:r>
            <a:endParaRPr lang="en-AU" sz="2000" dirty="0">
              <a:effectLst/>
              <a:latin typeface="Helvetica"/>
              <a:ea typeface="Calibri"/>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36</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9391901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3178" y="1700807"/>
            <a:ext cx="7467600" cy="4555467"/>
          </a:xfrm>
        </p:spPr>
        <p:txBody>
          <a:bodyPr>
            <a:normAutofit/>
          </a:bodyPr>
          <a:lstStyle/>
          <a:p>
            <a:pPr marL="0" indent="0">
              <a:spcBef>
                <a:spcPts val="600"/>
              </a:spcBef>
              <a:spcAft>
                <a:spcPts val="1200"/>
              </a:spcAft>
              <a:buNone/>
            </a:pPr>
            <a:r>
              <a:rPr lang="en-AU" sz="2000" b="1" dirty="0" smtClean="0">
                <a:latin typeface="Helvetica" pitchFamily="34" charset="0"/>
                <a:ea typeface="Times New Roman"/>
                <a:cs typeface="Times New Roman"/>
              </a:rPr>
              <a:t>Refining a query</a:t>
            </a:r>
          </a:p>
          <a:p>
            <a:pPr marL="360000" indent="-360000">
              <a:spcBef>
                <a:spcPts val="600"/>
              </a:spcBef>
              <a:spcAft>
                <a:spcPts val="1200"/>
              </a:spcAft>
            </a:pPr>
            <a:r>
              <a:rPr lang="en-AU" sz="2000" dirty="0">
                <a:latin typeface="Helvetica" pitchFamily="34" charset="0"/>
                <a:ea typeface="Times New Roman"/>
                <a:cs typeface="Times New Roman"/>
              </a:rPr>
              <a:t>Y</a:t>
            </a:r>
            <a:r>
              <a:rPr lang="en-AU" sz="2000" dirty="0" smtClean="0">
                <a:latin typeface="Helvetica" pitchFamily="34" charset="0"/>
                <a:ea typeface="Times New Roman"/>
                <a:cs typeface="Times New Roman"/>
              </a:rPr>
              <a:t>ou </a:t>
            </a:r>
            <a:r>
              <a:rPr lang="en-AU" sz="2000" dirty="0">
                <a:latin typeface="Helvetica" pitchFamily="34" charset="0"/>
                <a:ea typeface="Times New Roman"/>
                <a:cs typeface="Times New Roman"/>
              </a:rPr>
              <a:t>are looking for information on car hire in Thailand for a corporate client who needs a limousine service. You could enter </a:t>
            </a:r>
            <a:r>
              <a:rPr lang="en-AU" sz="2000" b="1" dirty="0">
                <a:latin typeface="Helvetica" pitchFamily="34" charset="0"/>
                <a:ea typeface="Times New Roman"/>
                <a:cs typeface="Times New Roman"/>
              </a:rPr>
              <a:t>‘Thailand Car Hire’, </a:t>
            </a:r>
            <a:r>
              <a:rPr lang="en-AU" sz="2000" dirty="0">
                <a:latin typeface="Helvetica" pitchFamily="34" charset="0"/>
                <a:ea typeface="Times New Roman"/>
                <a:cs typeface="Times New Roman"/>
              </a:rPr>
              <a:t>but many results will come back referring to general Thailand car </a:t>
            </a:r>
            <a:r>
              <a:rPr lang="en-AU" sz="2000" dirty="0" smtClean="0">
                <a:latin typeface="Helvetica" pitchFamily="34" charset="0"/>
                <a:ea typeface="Times New Roman"/>
                <a:cs typeface="Times New Roman"/>
              </a:rPr>
              <a:t>hire</a:t>
            </a:r>
          </a:p>
          <a:p>
            <a:pPr marL="360000" indent="-360000">
              <a:spcBef>
                <a:spcPts val="600"/>
              </a:spcBef>
              <a:spcAft>
                <a:spcPts val="1200"/>
              </a:spcAft>
            </a:pPr>
            <a:r>
              <a:rPr lang="en-AU" sz="2000" dirty="0" smtClean="0">
                <a:latin typeface="Helvetica" pitchFamily="34" charset="0"/>
                <a:ea typeface="Times New Roman"/>
                <a:cs typeface="Times New Roman"/>
              </a:rPr>
              <a:t> </a:t>
            </a:r>
            <a:r>
              <a:rPr lang="en-AU" sz="2000" dirty="0">
                <a:latin typeface="Helvetica" pitchFamily="34" charset="0"/>
                <a:ea typeface="Times New Roman"/>
                <a:cs typeface="Times New Roman"/>
              </a:rPr>
              <a:t>You would need to refine your entry by putting in </a:t>
            </a:r>
            <a:r>
              <a:rPr lang="en-AU" sz="2000" b="1" dirty="0">
                <a:latin typeface="Helvetica" pitchFamily="34" charset="0"/>
                <a:ea typeface="Times New Roman"/>
                <a:cs typeface="Times New Roman"/>
              </a:rPr>
              <a:t>‘Thailand Car Hire Limousine Service’ </a:t>
            </a:r>
            <a:r>
              <a:rPr lang="en-AU" sz="2000" dirty="0">
                <a:latin typeface="Helvetica" pitchFamily="34" charset="0"/>
                <a:ea typeface="Times New Roman"/>
                <a:cs typeface="Times New Roman"/>
              </a:rPr>
              <a:t>as the search description in order to get the level of detail you </a:t>
            </a:r>
            <a:r>
              <a:rPr lang="en-AU" sz="2000" dirty="0" smtClean="0">
                <a:latin typeface="Helvetica" pitchFamily="34" charset="0"/>
                <a:ea typeface="Times New Roman"/>
                <a:cs typeface="Times New Roman"/>
              </a:rPr>
              <a:t>want</a:t>
            </a:r>
            <a:endParaRPr lang="en-AU" sz="2000" dirty="0">
              <a:effectLst/>
              <a:latin typeface="Helvetica" pitchFamily="34" charset="0"/>
              <a:ea typeface="Calibri"/>
              <a:cs typeface="Times New Roman"/>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37</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1070656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752528"/>
          </a:xfrm>
        </p:spPr>
        <p:txBody>
          <a:bodyPr>
            <a:normAutofit/>
          </a:bodyPr>
          <a:lstStyle/>
          <a:p>
            <a:pPr marL="0" indent="0">
              <a:spcBef>
                <a:spcPts val="600"/>
              </a:spcBef>
              <a:spcAft>
                <a:spcPts val="1200"/>
              </a:spcAft>
              <a:buNone/>
            </a:pPr>
            <a:r>
              <a:rPr lang="en-AU" sz="2400" b="1" dirty="0" smtClean="0">
                <a:latin typeface="Helvetica" pitchFamily="34" charset="0"/>
                <a:ea typeface="Times New Roman"/>
                <a:cs typeface="Times New Roman"/>
              </a:rPr>
              <a:t>Social media platforms</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38</a:t>
            </a:fld>
            <a:endParaRPr lang="en-US" dirty="0">
              <a:solidFill>
                <a:srgbClr val="4E5B6F">
                  <a:shade val="50000"/>
                </a:srgbClr>
              </a:solidFill>
              <a:latin typeface="Helvetica" pitchFamily="34"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5201" y="2197476"/>
            <a:ext cx="1633537"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2197476"/>
            <a:ext cx="197485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187" y="3245638"/>
            <a:ext cx="1725613"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7719" y="3024433"/>
            <a:ext cx="1865313"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5994" y="3118918"/>
            <a:ext cx="168910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0800" y="3946902"/>
            <a:ext cx="1036637"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0620" y="3946902"/>
            <a:ext cx="1096963"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2558" y="5364623"/>
            <a:ext cx="1401763"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21164" y="5332873"/>
            <a:ext cx="108585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25994" y="5357479"/>
            <a:ext cx="1146175" cy="103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2.3	Apply </a:t>
            </a:r>
            <a:r>
              <a:rPr lang="en-AU" sz="3000" b="1" dirty="0">
                <a:solidFill>
                  <a:srgbClr val="FF6600"/>
                </a:solidFill>
                <a:latin typeface="Helvetica" pitchFamily="34" charset="0"/>
              </a:rPr>
              <a:t>search techniques to locate identified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4802137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080120"/>
          </a:xfrm>
        </p:spPr>
        <p:txBody>
          <a:bodyPr>
            <a:noAutofit/>
          </a:bodyPr>
          <a:lstStyle/>
          <a:p>
            <a:pPr marL="900113" indent="-900113"/>
            <a:r>
              <a:rPr lang="en-AU" sz="2800" b="1" dirty="0">
                <a:solidFill>
                  <a:srgbClr val="FF6600"/>
                </a:solidFill>
                <a:latin typeface="Helvetica" pitchFamily="34" charset="0"/>
              </a:rPr>
              <a:t>2.4	Interrogate the system to secure full range of information available on the system</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752528"/>
          </a:xfrm>
        </p:spPr>
        <p:txBody>
          <a:bodyPr>
            <a:normAutofit/>
          </a:bodyPr>
          <a:lstStyle/>
          <a:p>
            <a:pPr marL="0" indent="0">
              <a:spcBef>
                <a:spcPts val="600"/>
              </a:spcBef>
              <a:spcAft>
                <a:spcPts val="1200"/>
              </a:spcAft>
              <a:buNone/>
            </a:pPr>
            <a:r>
              <a:rPr lang="en-AU" sz="2200" b="1" dirty="0" smtClean="0">
                <a:latin typeface="Helvetica" pitchFamily="34" charset="0"/>
                <a:ea typeface="Times New Roman"/>
                <a:cs typeface="Times New Roman"/>
              </a:rPr>
              <a:t>The internet</a:t>
            </a:r>
          </a:p>
          <a:p>
            <a:pPr marL="360000" indent="-360000">
              <a:spcBef>
                <a:spcPts val="600"/>
              </a:spcBef>
              <a:spcAft>
                <a:spcPts val="1200"/>
              </a:spcAft>
            </a:pPr>
            <a:r>
              <a:rPr lang="en-AU" sz="2200" dirty="0" smtClean="0">
                <a:latin typeface="Helvetica" pitchFamily="34" charset="0"/>
                <a:ea typeface="Times New Roman"/>
                <a:cs typeface="Times New Roman"/>
              </a:rPr>
              <a:t>The internet is </a:t>
            </a:r>
            <a:r>
              <a:rPr lang="en-AU" sz="2200" dirty="0">
                <a:latin typeface="Helvetica" pitchFamily="34" charset="0"/>
                <a:ea typeface="Times New Roman"/>
                <a:cs typeface="Times New Roman"/>
              </a:rPr>
              <a:t>a valuable automated information </a:t>
            </a:r>
            <a:r>
              <a:rPr lang="en-AU" sz="2200" dirty="0" smtClean="0">
                <a:latin typeface="Helvetica" pitchFamily="34" charset="0"/>
                <a:ea typeface="Times New Roman"/>
                <a:cs typeface="Times New Roman"/>
              </a:rPr>
              <a:t>tool</a:t>
            </a:r>
          </a:p>
          <a:p>
            <a:pPr marL="360000" indent="-360000">
              <a:spcBef>
                <a:spcPts val="600"/>
              </a:spcBef>
              <a:spcAft>
                <a:spcPts val="1200"/>
              </a:spcAft>
            </a:pPr>
            <a:r>
              <a:rPr lang="en-AU" sz="2200" dirty="0" smtClean="0">
                <a:latin typeface="Helvetica" pitchFamily="34" charset="0"/>
                <a:ea typeface="Times New Roman"/>
                <a:cs typeface="Times New Roman"/>
              </a:rPr>
              <a:t>The internet will </a:t>
            </a:r>
            <a:r>
              <a:rPr lang="en-AU" sz="2200" dirty="0">
                <a:latin typeface="Helvetica" pitchFamily="34" charset="0"/>
                <a:ea typeface="Times New Roman"/>
                <a:cs typeface="Times New Roman"/>
              </a:rPr>
              <a:t>return a great deal of information to </a:t>
            </a:r>
            <a:r>
              <a:rPr lang="en-AU" sz="2200" dirty="0" smtClean="0">
                <a:latin typeface="Helvetica" pitchFamily="34" charset="0"/>
                <a:ea typeface="Times New Roman"/>
                <a:cs typeface="Times New Roman"/>
              </a:rPr>
              <a:t>you</a:t>
            </a:r>
          </a:p>
          <a:p>
            <a:pPr marL="360000" indent="-360000">
              <a:spcBef>
                <a:spcPts val="600"/>
              </a:spcBef>
              <a:spcAft>
                <a:spcPts val="1200"/>
              </a:spcAft>
            </a:pPr>
            <a:r>
              <a:rPr lang="en-AU" sz="2200" dirty="0" smtClean="0">
                <a:latin typeface="Helvetica" pitchFamily="34" charset="0"/>
                <a:ea typeface="Times New Roman"/>
                <a:cs typeface="Times New Roman"/>
              </a:rPr>
              <a:t>From </a:t>
            </a:r>
            <a:r>
              <a:rPr lang="en-AU" sz="2200" dirty="0">
                <a:latin typeface="Helvetica" pitchFamily="34" charset="0"/>
                <a:ea typeface="Times New Roman"/>
                <a:cs typeface="Times New Roman"/>
              </a:rPr>
              <a:t>all the information you find or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spc="-10" dirty="0" smtClean="0">
                <a:latin typeface="Helvetica" pitchFamily="34" charset="0"/>
                <a:ea typeface="Times New Roman"/>
                <a:cs typeface="Times New Roman"/>
              </a:rPr>
              <a:t>purchase</a:t>
            </a:r>
            <a:r>
              <a:rPr lang="en-AU" sz="2200" spc="-10" dirty="0">
                <a:latin typeface="Helvetica" pitchFamily="34" charset="0"/>
                <a:ea typeface="Times New Roman"/>
                <a:cs typeface="Times New Roman"/>
              </a:rPr>
              <a:t>,</a:t>
            </a:r>
            <a:r>
              <a:rPr lang="en-AU" sz="2200" dirty="0">
                <a:latin typeface="Helvetica" pitchFamily="34" charset="0"/>
                <a:ea typeface="Times New Roman"/>
                <a:cs typeface="Times New Roman"/>
              </a:rPr>
              <a:t> you can then select, download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and</a:t>
            </a:r>
            <a:r>
              <a:rPr lang="en-AU" sz="2200" spc="-10" dirty="0" smtClean="0">
                <a:latin typeface="Helvetica" pitchFamily="34" charset="0"/>
                <a:ea typeface="Times New Roman"/>
                <a:cs typeface="Times New Roman"/>
              </a:rPr>
              <a:t> </a:t>
            </a:r>
            <a:r>
              <a:rPr lang="en-AU" sz="2200" dirty="0">
                <a:latin typeface="Helvetica" pitchFamily="34" charset="0"/>
                <a:ea typeface="Times New Roman"/>
                <a:cs typeface="Times New Roman"/>
              </a:rPr>
              <a:t>organise</a:t>
            </a:r>
            <a:r>
              <a:rPr lang="en-AU" sz="2200" spc="140" dirty="0">
                <a:latin typeface="Helvetica" pitchFamily="34" charset="0"/>
                <a:ea typeface="Times New Roman"/>
                <a:cs typeface="Times New Roman"/>
              </a:rPr>
              <a:t> </a:t>
            </a:r>
            <a:r>
              <a:rPr lang="en-AU" sz="2200" dirty="0">
                <a:latin typeface="Helvetica" pitchFamily="34" charset="0"/>
                <a:ea typeface="Times New Roman"/>
                <a:cs typeface="Times New Roman"/>
              </a:rPr>
              <a:t>what is most relevant to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the </a:t>
            </a:r>
            <a:r>
              <a:rPr lang="en-AU" sz="2200" spc="-10" dirty="0">
                <a:latin typeface="Helvetica" pitchFamily="34" charset="0"/>
                <a:ea typeface="Times New Roman"/>
                <a:cs typeface="Times New Roman"/>
              </a:rPr>
              <a:t>customer’s</a:t>
            </a:r>
            <a:r>
              <a:rPr lang="en-AU" sz="2200" dirty="0">
                <a:latin typeface="Helvetica" pitchFamily="34" charset="0"/>
                <a:ea typeface="Times New Roman"/>
                <a:cs typeface="Times New Roman"/>
              </a:rPr>
              <a:t> query and requirements</a:t>
            </a:r>
            <a:endParaRPr lang="en-AU" sz="2200" dirty="0" smtClean="0">
              <a:latin typeface="Helvetica" pitchFamily="34" charset="0"/>
              <a:ea typeface="Times New Roman"/>
              <a:cs typeface="Times New Roman"/>
            </a:endParaRP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184" y="3840470"/>
            <a:ext cx="2275840" cy="170688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AU"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556792"/>
            <a:ext cx="4100752" cy="4831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556791"/>
            <a:ext cx="4064123" cy="4834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Oval 4"/>
          <p:cNvSpPr/>
          <p:nvPr/>
        </p:nvSpPr>
        <p:spPr>
          <a:xfrm>
            <a:off x="7956376" y="1988840"/>
            <a:ext cx="864096" cy="4635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7" name="Oval 6"/>
          <p:cNvSpPr/>
          <p:nvPr/>
        </p:nvSpPr>
        <p:spPr>
          <a:xfrm>
            <a:off x="4860032" y="2452390"/>
            <a:ext cx="3960440" cy="4005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8" name="Oval 7"/>
          <p:cNvSpPr/>
          <p:nvPr/>
        </p:nvSpPr>
        <p:spPr>
          <a:xfrm>
            <a:off x="323528" y="2452390"/>
            <a:ext cx="2304256" cy="328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3" name="Title 1"/>
          <p:cNvSpPr>
            <a:spLocks noGrp="1"/>
          </p:cNvSpPr>
          <p:nvPr>
            <p:ph type="title"/>
          </p:nvPr>
        </p:nvSpPr>
        <p:spPr>
          <a:xfrm>
            <a:off x="611560" y="332656"/>
            <a:ext cx="8532440" cy="1080120"/>
          </a:xfrm>
        </p:spPr>
        <p:txBody>
          <a:bodyPr>
            <a:noAutofit/>
          </a:bodyPr>
          <a:lstStyle/>
          <a:p>
            <a:pPr marL="900113" indent="-900113"/>
            <a:r>
              <a:rPr lang="en-AU" sz="2800" b="1" dirty="0">
                <a:solidFill>
                  <a:srgbClr val="FF6600"/>
                </a:solidFill>
                <a:latin typeface="Helvetica" pitchFamily="34" charset="0"/>
              </a:rPr>
              <a:t>2.4	Interrogate the system to secure full range of information available on the system</a:t>
            </a:r>
            <a:endParaRPr lang="en-US" sz="2800" b="1" dirty="0">
              <a:solidFill>
                <a:srgbClr val="FF6600"/>
              </a:solidFill>
              <a:latin typeface="Helvetica" pitchFamily="34" charset="0"/>
            </a:endParaRPr>
          </a:p>
        </p:txBody>
      </p:sp>
      <p:sp>
        <p:nvSpPr>
          <p:cNvPr id="14"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spTree>
    <p:extLst>
      <p:ext uri="{BB962C8B-B14F-4D97-AF65-F5344CB8AC3E}">
        <p14:creationId xmlns:p14="http://schemas.microsoft.com/office/powerpoint/2010/main" val="32022473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51920" y="3573016"/>
            <a:ext cx="4580555" cy="2705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571289"/>
            <a:ext cx="5392613" cy="2034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248848" y="2591895"/>
            <a:ext cx="1730863" cy="12741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7" name="Oval 6"/>
          <p:cNvSpPr/>
          <p:nvPr/>
        </p:nvSpPr>
        <p:spPr>
          <a:xfrm>
            <a:off x="4499992" y="3923536"/>
            <a:ext cx="1858731" cy="20300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9" name="Title 1"/>
          <p:cNvSpPr>
            <a:spLocks noGrp="1"/>
          </p:cNvSpPr>
          <p:nvPr>
            <p:ph type="title"/>
          </p:nvPr>
        </p:nvSpPr>
        <p:spPr>
          <a:xfrm>
            <a:off x="611560" y="332656"/>
            <a:ext cx="8532440" cy="1080120"/>
          </a:xfrm>
        </p:spPr>
        <p:txBody>
          <a:bodyPr>
            <a:noAutofit/>
          </a:bodyPr>
          <a:lstStyle/>
          <a:p>
            <a:pPr marL="900113" indent="-900113"/>
            <a:r>
              <a:rPr lang="en-AU" sz="2800" b="1" dirty="0">
                <a:solidFill>
                  <a:srgbClr val="FF6600"/>
                </a:solidFill>
                <a:latin typeface="Helvetica" pitchFamily="34" charset="0"/>
              </a:rPr>
              <a:t>2.4	Interrogate the system to secure full range of information available on the system</a:t>
            </a:r>
            <a:endParaRPr lang="en-US" sz="2800" b="1" dirty="0">
              <a:solidFill>
                <a:srgbClr val="FF6600"/>
              </a:solidFill>
              <a:latin typeface="Helvetica" pitchFamily="34" charset="0"/>
            </a:endParaRPr>
          </a:p>
        </p:txBody>
      </p:sp>
      <p:sp>
        <p:nvSpPr>
          <p:cNvPr id="8"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6970394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72815"/>
            <a:ext cx="7467600" cy="4353348"/>
          </a:xfrm>
        </p:spPr>
        <p:txBody>
          <a:bodyPr>
            <a:normAutofit/>
          </a:bodyPr>
          <a:lstStyle/>
          <a:p>
            <a:pPr marL="360000" indent="-360000">
              <a:spcBef>
                <a:spcPts val="1200"/>
              </a:spcBef>
              <a:spcAft>
                <a:spcPts val="800"/>
              </a:spcAft>
            </a:pPr>
            <a:r>
              <a:rPr lang="en-AU" sz="2200" dirty="0">
                <a:latin typeface="Helvetica"/>
                <a:ea typeface="Times New Roman"/>
                <a:cs typeface="Times New Roman"/>
              </a:rPr>
              <a:t>Available information </a:t>
            </a:r>
          </a:p>
          <a:p>
            <a:pPr marL="360000" indent="-360000">
              <a:spcBef>
                <a:spcPts val="1200"/>
              </a:spcBef>
              <a:spcAft>
                <a:spcPts val="800"/>
              </a:spcAft>
            </a:pPr>
            <a:r>
              <a:rPr lang="en-AU" sz="2200" dirty="0">
                <a:latin typeface="Helvetica"/>
                <a:ea typeface="Times New Roman"/>
                <a:cs typeface="Times New Roman"/>
              </a:rPr>
              <a:t>Displaying </a:t>
            </a:r>
            <a:r>
              <a:rPr lang="en-AU" sz="2200" dirty="0" smtClean="0">
                <a:latin typeface="Helvetica"/>
                <a:ea typeface="Times New Roman"/>
                <a:cs typeface="Times New Roman"/>
              </a:rPr>
              <a:t>information:</a:t>
            </a:r>
          </a:p>
          <a:p>
            <a:pPr marL="644652" lvl="1" indent="-342900">
              <a:spcBef>
                <a:spcPts val="300"/>
              </a:spcBef>
              <a:spcAft>
                <a:spcPts val="600"/>
              </a:spcAft>
              <a:buFont typeface="Symbol"/>
              <a:buChar char=""/>
            </a:pPr>
            <a:r>
              <a:rPr lang="en-AU" sz="2200" dirty="0" smtClean="0">
                <a:latin typeface="Helvetica"/>
                <a:ea typeface="Calibri"/>
                <a:cs typeface="Times New Roman"/>
              </a:rPr>
              <a:t>By </a:t>
            </a:r>
            <a:r>
              <a:rPr lang="en-AU" sz="2200" dirty="0">
                <a:latin typeface="Helvetica"/>
                <a:ea typeface="Calibri"/>
                <a:cs typeface="Times New Roman"/>
              </a:rPr>
              <a:t>star rating </a:t>
            </a:r>
          </a:p>
          <a:p>
            <a:pPr marL="644652" lvl="1" indent="-342900">
              <a:spcBef>
                <a:spcPts val="300"/>
              </a:spcBef>
              <a:spcAft>
                <a:spcPts val="600"/>
              </a:spcAft>
              <a:buFont typeface="Symbol"/>
              <a:buChar char=""/>
            </a:pPr>
            <a:r>
              <a:rPr lang="en-AU" sz="2200" dirty="0">
                <a:latin typeface="Helvetica"/>
                <a:ea typeface="Calibri"/>
                <a:cs typeface="Times New Roman"/>
              </a:rPr>
              <a:t>By price </a:t>
            </a:r>
          </a:p>
          <a:p>
            <a:pPr marL="644652" lvl="1" indent="-342900">
              <a:spcBef>
                <a:spcPts val="300"/>
              </a:spcBef>
              <a:spcAft>
                <a:spcPts val="600"/>
              </a:spcAft>
              <a:buFont typeface="Symbol"/>
              <a:buChar char=""/>
            </a:pPr>
            <a:r>
              <a:rPr lang="en-AU" sz="2200" dirty="0">
                <a:latin typeface="Helvetica"/>
                <a:ea typeface="Calibri"/>
                <a:cs typeface="Times New Roman"/>
              </a:rPr>
              <a:t>By location (distance)</a:t>
            </a:r>
          </a:p>
          <a:p>
            <a:pPr marL="644652" lvl="1" indent="-342900">
              <a:spcBef>
                <a:spcPts val="300"/>
              </a:spcBef>
              <a:spcAft>
                <a:spcPts val="600"/>
              </a:spcAft>
              <a:buFont typeface="Symbol"/>
              <a:buChar char=""/>
            </a:pPr>
            <a:r>
              <a:rPr lang="en-AU" sz="2200" dirty="0">
                <a:latin typeface="Helvetica"/>
                <a:ea typeface="Calibri"/>
                <a:cs typeface="Times New Roman"/>
              </a:rPr>
              <a:t>By deal </a:t>
            </a:r>
          </a:p>
          <a:p>
            <a:pPr marL="360000" indent="-360000">
              <a:spcBef>
                <a:spcPts val="1200"/>
              </a:spcBef>
              <a:spcAft>
                <a:spcPts val="800"/>
              </a:spcAft>
            </a:pPr>
            <a:endParaRPr lang="en-AU" sz="2200" dirty="0">
              <a:latin typeface="Helvetica"/>
              <a:ea typeface="Times New Roman"/>
              <a:cs typeface="Times New Roman"/>
            </a:endParaRPr>
          </a:p>
          <a:p>
            <a:endParaRPr lang="en-AU" sz="22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1772815"/>
            <a:ext cx="3553032" cy="3856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8532440" cy="1080120"/>
          </a:xfrm>
        </p:spPr>
        <p:txBody>
          <a:bodyPr>
            <a:noAutofit/>
          </a:bodyPr>
          <a:lstStyle/>
          <a:p>
            <a:pPr marL="900113" indent="-900113"/>
            <a:r>
              <a:rPr lang="en-AU" sz="2800" b="1" dirty="0">
                <a:solidFill>
                  <a:srgbClr val="FF6600"/>
                </a:solidFill>
                <a:latin typeface="Helvetica" pitchFamily="34" charset="0"/>
              </a:rPr>
              <a:t>2.4	Interrogate the system to secure full range of information available on the system</a:t>
            </a:r>
            <a:endParaRPr lang="en-US" sz="2800" b="1" dirty="0">
              <a:solidFill>
                <a:srgbClr val="FF6600"/>
              </a:solidFill>
              <a:latin typeface="Helvetica"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42</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3192993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pPr marL="900113" indent="-900113"/>
            <a:r>
              <a:rPr lang="en-AU" sz="3000" b="1" dirty="0">
                <a:solidFill>
                  <a:srgbClr val="FF6600"/>
                </a:solidFill>
                <a:latin typeface="Helvetica" pitchFamily="34" charset="0"/>
              </a:rPr>
              <a:t>2.5	Verify captured information meets identified need</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896544"/>
          </a:xfrm>
        </p:spPr>
        <p:txBody>
          <a:bodyPr>
            <a:normAutofit/>
          </a:bodyPr>
          <a:lstStyle/>
          <a:p>
            <a:pPr marL="0" indent="0">
              <a:spcBef>
                <a:spcPts val="600"/>
              </a:spcBef>
              <a:spcAft>
                <a:spcPts val="1200"/>
              </a:spcAft>
              <a:buNone/>
            </a:pPr>
            <a:r>
              <a:rPr lang="en-AU" sz="2200" dirty="0">
                <a:latin typeface="Helvetica" pitchFamily="34" charset="0"/>
                <a:ea typeface="Times New Roman"/>
                <a:cs typeface="Times New Roman"/>
              </a:rPr>
              <a:t>Once you have decided what information you need to provide to your customer, you need to ensure the scope and depth are </a:t>
            </a:r>
            <a:r>
              <a:rPr lang="en-AU" sz="2200" dirty="0" smtClean="0">
                <a:latin typeface="Helvetica" pitchFamily="34" charset="0"/>
                <a:ea typeface="Times New Roman"/>
                <a:cs typeface="Times New Roman"/>
              </a:rPr>
              <a:t>appropriate:</a:t>
            </a:r>
          </a:p>
          <a:p>
            <a:pPr marL="360000" indent="-360000">
              <a:spcBef>
                <a:spcPts val="600"/>
              </a:spcBef>
              <a:spcAft>
                <a:spcPts val="1200"/>
              </a:spcAft>
            </a:pPr>
            <a:r>
              <a:rPr lang="en-AU" sz="2200" dirty="0" smtClean="0">
                <a:latin typeface="Helvetica" pitchFamily="34" charset="0"/>
                <a:ea typeface="Times New Roman"/>
                <a:cs typeface="Times New Roman"/>
              </a:rPr>
              <a:t>It </a:t>
            </a:r>
            <a:r>
              <a:rPr lang="en-AU" sz="2200" dirty="0">
                <a:latin typeface="Helvetica" pitchFamily="34" charset="0"/>
                <a:ea typeface="Times New Roman"/>
                <a:cs typeface="Times New Roman"/>
              </a:rPr>
              <a:t>is up to your discretion to decide how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much information </a:t>
            </a:r>
            <a:r>
              <a:rPr lang="en-AU" sz="2200" dirty="0">
                <a:latin typeface="Helvetica" pitchFamily="34" charset="0"/>
                <a:ea typeface="Times New Roman"/>
                <a:cs typeface="Times New Roman"/>
              </a:rPr>
              <a:t>you need to </a:t>
            </a:r>
            <a:r>
              <a:rPr lang="en-AU" sz="2200" dirty="0" smtClean="0">
                <a:latin typeface="Helvetica" pitchFamily="34" charset="0"/>
                <a:ea typeface="Times New Roman"/>
                <a:cs typeface="Times New Roman"/>
              </a:rPr>
              <a:t>provide</a:t>
            </a:r>
          </a:p>
          <a:p>
            <a:pPr marL="360000" indent="-360000">
              <a:spcBef>
                <a:spcPts val="600"/>
              </a:spcBef>
              <a:spcAft>
                <a:spcPts val="1200"/>
              </a:spcAft>
            </a:pPr>
            <a:r>
              <a:rPr lang="en-AU" sz="2200" dirty="0">
                <a:latin typeface="Helvetica" pitchFamily="34" charset="0"/>
                <a:ea typeface="Times New Roman"/>
                <a:cs typeface="Times New Roman"/>
              </a:rPr>
              <a:t>You need to consider your customer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needs </a:t>
            </a:r>
            <a:r>
              <a:rPr lang="en-AU" sz="2200" dirty="0">
                <a:latin typeface="Helvetica" pitchFamily="34" charset="0"/>
                <a:ea typeface="Times New Roman"/>
                <a:cs typeface="Times New Roman"/>
              </a:rPr>
              <a:t>but also it will depend on </a:t>
            </a:r>
            <a:r>
              <a:rPr lang="en-AU" sz="2200" dirty="0" smtClean="0">
                <a:latin typeface="Helvetica" pitchFamily="34" charset="0"/>
                <a:ea typeface="Times New Roman"/>
                <a:cs typeface="Times New Roman"/>
              </a:rPr>
              <a:t/>
            </a:r>
            <a:br>
              <a:rPr lang="en-AU" sz="2200" dirty="0" smtClean="0">
                <a:latin typeface="Helvetica" pitchFamily="34" charset="0"/>
                <a:ea typeface="Times New Roman"/>
                <a:cs typeface="Times New Roman"/>
              </a:rPr>
            </a:br>
            <a:r>
              <a:rPr lang="en-AU" sz="2200" dirty="0" smtClean="0">
                <a:latin typeface="Helvetica" pitchFamily="34" charset="0"/>
                <a:ea typeface="Times New Roman"/>
                <a:cs typeface="Times New Roman"/>
              </a:rPr>
              <a:t>what </a:t>
            </a:r>
            <a:r>
              <a:rPr lang="en-AU" sz="2200" dirty="0">
                <a:latin typeface="Helvetica" pitchFamily="34" charset="0"/>
                <a:ea typeface="Times New Roman"/>
                <a:cs typeface="Times New Roman"/>
              </a:rPr>
              <a:t>your job role is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520" y="3196452"/>
            <a:ext cx="2039888" cy="167270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512168"/>
          </a:xfrm>
        </p:spPr>
        <p:txBody>
          <a:bodyPr>
            <a:noAutofit/>
          </a:bodyPr>
          <a:lstStyle/>
          <a:p>
            <a:r>
              <a:rPr lang="en-AU" sz="3000" b="1" dirty="0">
                <a:solidFill>
                  <a:srgbClr val="FF6600"/>
                </a:solidFill>
                <a:latin typeface="Helvetica" pitchFamily="34" charset="0"/>
              </a:rPr>
              <a:t>Element </a:t>
            </a:r>
            <a:r>
              <a:rPr lang="en-AU" sz="3000" b="1" dirty="0" smtClean="0">
                <a:solidFill>
                  <a:srgbClr val="FF6600"/>
                </a:solidFill>
                <a:latin typeface="Helvetica" pitchFamily="34" charset="0"/>
              </a:rPr>
              <a:t>3:</a:t>
            </a:r>
            <a:br>
              <a:rPr lang="en-AU" sz="3000" b="1" dirty="0" smtClean="0">
                <a:solidFill>
                  <a:srgbClr val="FF6600"/>
                </a:solidFill>
                <a:latin typeface="Helvetica" pitchFamily="34" charset="0"/>
              </a:rPr>
            </a:br>
            <a:r>
              <a:rPr lang="en-AU" sz="3000" b="1" dirty="0" smtClean="0">
                <a:solidFill>
                  <a:srgbClr val="FF6600"/>
                </a:solidFill>
                <a:latin typeface="Helvetica" pitchFamily="34" charset="0"/>
              </a:rPr>
              <a:t>Obtain </a:t>
            </a:r>
            <a:r>
              <a:rPr lang="en-AU" sz="3000" b="1" dirty="0">
                <a:solidFill>
                  <a:srgbClr val="FF6600"/>
                </a:solidFill>
                <a:latin typeface="Helvetica" pitchFamily="34" charset="0"/>
              </a:rPr>
              <a:t>information using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7776864" cy="4464496"/>
          </a:xfrm>
        </p:spPr>
        <p:txBody>
          <a:bodyPr>
            <a:normAutofit/>
          </a:bodyPr>
          <a:lstStyle/>
          <a:p>
            <a:pPr marL="723900" indent="-723900">
              <a:lnSpc>
                <a:spcPct val="200000"/>
              </a:lnSpc>
              <a:spcBef>
                <a:spcPts val="600"/>
              </a:spcBef>
              <a:spcAft>
                <a:spcPts val="1200"/>
              </a:spcAft>
              <a:buNone/>
            </a:pPr>
            <a:r>
              <a:rPr lang="en-AU" sz="2200" dirty="0" smtClean="0">
                <a:latin typeface="Helvetica" pitchFamily="34" charset="0"/>
              </a:rPr>
              <a:t>3.1</a:t>
            </a:r>
            <a:r>
              <a:rPr lang="en-AU" sz="2200" dirty="0">
                <a:latin typeface="Helvetica" pitchFamily="34" charset="0"/>
              </a:rPr>
              <a:t>	Enable access to required system and/or information</a:t>
            </a:r>
          </a:p>
          <a:p>
            <a:pPr marL="723900" indent="-723900">
              <a:lnSpc>
                <a:spcPct val="200000"/>
              </a:lnSpc>
              <a:spcBef>
                <a:spcPts val="600"/>
              </a:spcBef>
              <a:spcAft>
                <a:spcPts val="1200"/>
              </a:spcAft>
              <a:buNone/>
            </a:pPr>
            <a:r>
              <a:rPr lang="en-AU" sz="2200" dirty="0">
                <a:latin typeface="Helvetica" pitchFamily="34" charset="0"/>
              </a:rPr>
              <a:t>3.2	Select required information</a:t>
            </a:r>
          </a:p>
          <a:p>
            <a:pPr marL="723900" indent="-723900">
              <a:lnSpc>
                <a:spcPct val="200000"/>
              </a:lnSpc>
              <a:spcBef>
                <a:spcPts val="600"/>
              </a:spcBef>
              <a:spcAft>
                <a:spcPts val="1200"/>
              </a:spcAft>
              <a:buNone/>
            </a:pPr>
            <a:r>
              <a:rPr lang="en-AU" sz="2200" dirty="0">
                <a:latin typeface="Helvetica" pitchFamily="34" charset="0"/>
              </a:rPr>
              <a:t>3.3	Download information</a:t>
            </a:r>
          </a:p>
          <a:p>
            <a:pPr marL="723900" indent="-723900">
              <a:lnSpc>
                <a:spcPct val="200000"/>
              </a:lnSpc>
              <a:spcBef>
                <a:spcPts val="600"/>
              </a:spcBef>
              <a:spcAft>
                <a:spcPts val="1200"/>
              </a:spcAft>
              <a:buNone/>
            </a:pPr>
            <a:r>
              <a:rPr lang="en-AU" sz="2200" dirty="0">
                <a:latin typeface="Helvetica" pitchFamily="34" charset="0"/>
              </a:rPr>
              <a:t>3.4	Print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3429000"/>
            <a:ext cx="1967880" cy="196788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3.1	Enable </a:t>
            </a:r>
            <a:r>
              <a:rPr lang="en-AU" sz="3000" b="1" dirty="0">
                <a:solidFill>
                  <a:srgbClr val="FF6600"/>
                </a:solidFill>
                <a:latin typeface="Helvetica" pitchFamily="34" charset="0"/>
              </a:rPr>
              <a:t>access to required system and/or information</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1200"/>
              </a:spcBef>
              <a:spcAft>
                <a:spcPts val="800"/>
              </a:spcAft>
            </a:pPr>
            <a:r>
              <a:rPr lang="en-AU" sz="2200" dirty="0" smtClean="0">
                <a:ea typeface="Times New Roman"/>
                <a:cs typeface="Times New Roman"/>
              </a:rPr>
              <a:t>Information </a:t>
            </a:r>
            <a:r>
              <a:rPr lang="en-AU" sz="2200" dirty="0">
                <a:ea typeface="Times New Roman"/>
                <a:cs typeface="Times New Roman"/>
              </a:rPr>
              <a:t>purchased for your organisation </a:t>
            </a:r>
          </a:p>
          <a:p>
            <a:pPr marL="360000" indent="-360000">
              <a:spcBef>
                <a:spcPts val="1200"/>
              </a:spcBef>
              <a:spcAft>
                <a:spcPts val="800"/>
              </a:spcAft>
            </a:pPr>
            <a:r>
              <a:rPr lang="en-AU" sz="2200" dirty="0" smtClean="0">
                <a:ea typeface="Times New Roman"/>
                <a:cs typeface="Times New Roman"/>
              </a:rPr>
              <a:t>Making </a:t>
            </a:r>
            <a:r>
              <a:rPr lang="en-AU" sz="2200" dirty="0">
                <a:ea typeface="Times New Roman"/>
                <a:cs typeface="Times New Roman"/>
              </a:rPr>
              <a:t>purchases for your </a:t>
            </a:r>
            <a:r>
              <a:rPr lang="en-AU" sz="2200" dirty="0" smtClean="0">
                <a:ea typeface="Times New Roman"/>
                <a:cs typeface="Times New Roman"/>
              </a:rPr>
              <a:t>clients</a:t>
            </a:r>
          </a:p>
          <a:p>
            <a:pPr marL="360000" indent="0">
              <a:spcBef>
                <a:spcPts val="1200"/>
              </a:spcBef>
              <a:spcAft>
                <a:spcPts val="800"/>
              </a:spcAft>
              <a:buNone/>
            </a:pPr>
            <a:r>
              <a:rPr lang="en-AU" sz="2200" dirty="0" smtClean="0">
                <a:ea typeface="Times New Roman"/>
                <a:cs typeface="Times New Roman"/>
              </a:rPr>
              <a:t> </a:t>
            </a:r>
            <a:r>
              <a:rPr lang="en-AU" sz="2200" dirty="0">
                <a:ea typeface="Times New Roman"/>
                <a:cs typeface="Times New Roman"/>
              </a:rPr>
              <a:t>purchasing online varies depending on a number of factors including: </a:t>
            </a:r>
            <a:endParaRPr lang="en-AU" sz="2200" dirty="0" smtClean="0">
              <a:ea typeface="Times New Roman"/>
              <a:cs typeface="Times New Roman"/>
            </a:endParaRPr>
          </a:p>
          <a:p>
            <a:pPr marL="644652" lvl="1" indent="-342900">
              <a:spcBef>
                <a:spcPts val="300"/>
              </a:spcBef>
              <a:spcAft>
                <a:spcPts val="600"/>
              </a:spcAft>
              <a:buFont typeface="Symbol"/>
              <a:buChar char=""/>
            </a:pPr>
            <a:r>
              <a:rPr lang="en-AU" sz="2200" dirty="0">
                <a:ea typeface="Calibri"/>
                <a:cs typeface="Times New Roman"/>
              </a:rPr>
              <a:t>The system you are using</a:t>
            </a:r>
          </a:p>
          <a:p>
            <a:pPr marL="644652" lvl="1" indent="-342900">
              <a:spcBef>
                <a:spcPts val="300"/>
              </a:spcBef>
              <a:spcAft>
                <a:spcPts val="600"/>
              </a:spcAft>
              <a:buFont typeface="Symbol"/>
              <a:buChar char=""/>
            </a:pPr>
            <a:r>
              <a:rPr lang="en-AU" sz="2200" dirty="0">
                <a:ea typeface="Calibri"/>
                <a:cs typeface="Times New Roman"/>
              </a:rPr>
              <a:t>The product or service you are purchasing</a:t>
            </a:r>
          </a:p>
          <a:p>
            <a:pPr marL="644652" lvl="1" indent="-342900">
              <a:spcBef>
                <a:spcPts val="300"/>
              </a:spcBef>
              <a:spcAft>
                <a:spcPts val="600"/>
              </a:spcAft>
              <a:buFont typeface="Symbol"/>
              <a:buChar char=""/>
            </a:pPr>
            <a:r>
              <a:rPr lang="en-AU" sz="2200" dirty="0">
                <a:ea typeface="Calibri"/>
                <a:cs typeface="Times New Roman"/>
              </a:rPr>
              <a:t>The availability of the product or </a:t>
            </a:r>
            <a:r>
              <a:rPr lang="en-AU" sz="2200" dirty="0" smtClean="0">
                <a:ea typeface="Calibri"/>
                <a:cs typeface="Times New Roman"/>
              </a:rPr>
              <a:t>service</a:t>
            </a:r>
            <a:endParaRPr lang="en-AU" sz="2200" dirty="0">
              <a:ea typeface="Calibri"/>
              <a:cs typeface="Times New Roman"/>
            </a:endParaRPr>
          </a:p>
          <a:p>
            <a:pPr marL="360000" indent="-360000">
              <a:spcBef>
                <a:spcPts val="1200"/>
              </a:spcBef>
              <a:spcAft>
                <a:spcPts val="800"/>
              </a:spcAft>
            </a:pPr>
            <a:r>
              <a:rPr lang="en-AU" sz="2200" dirty="0">
                <a:latin typeface="Helvetica"/>
                <a:ea typeface="Times New Roman"/>
                <a:cs typeface="Times New Roman"/>
              </a:rPr>
              <a:t>Security and automated purchasing</a:t>
            </a:r>
          </a:p>
          <a:p>
            <a:pPr marL="644652" lvl="1" indent="-342900">
              <a:spcBef>
                <a:spcPts val="300"/>
              </a:spcBef>
              <a:spcAft>
                <a:spcPts val="600"/>
              </a:spcAft>
              <a:buFont typeface="Symbol"/>
              <a:buChar char=""/>
            </a:pPr>
            <a:endParaRPr lang="en-AU" sz="2200" dirty="0">
              <a:ea typeface="Calibri"/>
              <a:cs typeface="Times New Roman"/>
            </a:endParaRPr>
          </a:p>
          <a:p>
            <a:pPr marL="935990" indent="-935990">
              <a:spcBef>
                <a:spcPts val="1200"/>
              </a:spcBef>
              <a:spcAft>
                <a:spcPts val="800"/>
              </a:spcAft>
            </a:pPr>
            <a:endParaRPr lang="en-AU" sz="2200" dirty="0">
              <a:latin typeface="Helvetica"/>
              <a:ea typeface="Times New Roman"/>
              <a:cs typeface="Times New Roman"/>
            </a:endParaRP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8063588" cy="4968552"/>
          </a:xfrm>
        </p:spPr>
        <p:txBody>
          <a:bodyPr>
            <a:noAutofit/>
          </a:bodyPr>
          <a:lstStyle/>
          <a:p>
            <a:pPr marL="360000" indent="-360000">
              <a:spcBef>
                <a:spcPts val="600"/>
              </a:spcBef>
              <a:spcAft>
                <a:spcPts val="1200"/>
              </a:spcAft>
            </a:pPr>
            <a:r>
              <a:rPr lang="en-AU" sz="2200" dirty="0">
                <a:latin typeface="Helvetica"/>
                <a:ea typeface="Times New Roman"/>
                <a:cs typeface="Times New Roman"/>
              </a:rPr>
              <a:t>Points to remember when purchasing </a:t>
            </a:r>
            <a:r>
              <a:rPr lang="en-AU" sz="2200" dirty="0" smtClean="0">
                <a:latin typeface="Helvetica"/>
                <a:ea typeface="Times New Roman"/>
                <a:cs typeface="Times New Roman"/>
              </a:rPr>
              <a:t>online:</a:t>
            </a:r>
            <a:endParaRPr lang="en-AU" sz="2200" dirty="0">
              <a:latin typeface="Helvetica"/>
              <a:ea typeface="Times New Roman"/>
              <a:cs typeface="Times New Roman"/>
            </a:endParaRPr>
          </a:p>
          <a:p>
            <a:pPr marL="644652" lvl="1" indent="-342900">
              <a:spcBef>
                <a:spcPts val="600"/>
              </a:spcBef>
              <a:spcAft>
                <a:spcPts val="1200"/>
              </a:spcAft>
              <a:buFont typeface="Symbol"/>
              <a:buChar char=""/>
            </a:pPr>
            <a:r>
              <a:rPr lang="en-AU" sz="2200" dirty="0" smtClean="0">
                <a:latin typeface="Helvetica"/>
                <a:ea typeface="Calibri"/>
                <a:cs typeface="Times New Roman"/>
              </a:rPr>
              <a:t>Double </a:t>
            </a:r>
            <a:r>
              <a:rPr lang="en-AU" sz="2200" dirty="0">
                <a:latin typeface="Helvetica"/>
                <a:ea typeface="Calibri"/>
                <a:cs typeface="Times New Roman"/>
              </a:rPr>
              <a:t>check </a:t>
            </a:r>
            <a:r>
              <a:rPr lang="en-AU" sz="2200" dirty="0" smtClean="0">
                <a:latin typeface="Helvetica"/>
                <a:ea typeface="Calibri"/>
                <a:cs typeface="Times New Roman"/>
              </a:rPr>
              <a:t>pricing </a:t>
            </a:r>
          </a:p>
          <a:p>
            <a:pPr marL="644652" lvl="1" indent="-342900">
              <a:spcBef>
                <a:spcPts val="600"/>
              </a:spcBef>
              <a:spcAft>
                <a:spcPts val="1200"/>
              </a:spcAft>
              <a:buFont typeface="Symbol"/>
              <a:buChar char=""/>
            </a:pPr>
            <a:r>
              <a:rPr lang="en-AU" sz="2200" dirty="0" smtClean="0">
                <a:latin typeface="Helvetica"/>
                <a:ea typeface="Calibri"/>
                <a:cs typeface="Times New Roman"/>
              </a:rPr>
              <a:t>Find </a:t>
            </a:r>
            <a:r>
              <a:rPr lang="en-AU" sz="2200" dirty="0">
                <a:latin typeface="Helvetica"/>
                <a:ea typeface="Calibri"/>
                <a:cs typeface="Times New Roman"/>
              </a:rPr>
              <a:t>and read the privacy policy</a:t>
            </a:r>
            <a:r>
              <a:rPr lang="en-AU" sz="2200" dirty="0" smtClean="0">
                <a:latin typeface="Helvetica"/>
                <a:ea typeface="Calibri"/>
                <a:cs typeface="Times New Roman"/>
              </a:rPr>
              <a:t>.</a:t>
            </a:r>
          </a:p>
          <a:p>
            <a:pPr marL="644652" lvl="1" indent="-342900">
              <a:spcBef>
                <a:spcPts val="600"/>
              </a:spcBef>
              <a:spcAft>
                <a:spcPts val="1200"/>
              </a:spcAft>
              <a:buFont typeface="Symbol"/>
              <a:buChar char=""/>
            </a:pPr>
            <a:r>
              <a:rPr lang="en-AU" sz="2200" dirty="0" smtClean="0">
                <a:latin typeface="Helvetica"/>
                <a:ea typeface="Calibri"/>
                <a:cs typeface="Times New Roman"/>
              </a:rPr>
              <a:t>Review </a:t>
            </a:r>
            <a:r>
              <a:rPr lang="en-AU" sz="2200" dirty="0">
                <a:latin typeface="Helvetica"/>
                <a:ea typeface="Calibri"/>
                <a:cs typeface="Times New Roman"/>
              </a:rPr>
              <a:t>the return, refund, and shipping and handling policies as well as the other legal </a:t>
            </a:r>
            <a:r>
              <a:rPr lang="en-AU" sz="2200" dirty="0" smtClean="0">
                <a:latin typeface="Helvetica"/>
                <a:ea typeface="Calibri"/>
                <a:cs typeface="Times New Roman"/>
              </a:rPr>
              <a:t>terms </a:t>
            </a:r>
          </a:p>
          <a:p>
            <a:pPr marL="644652" lvl="1" indent="-342900">
              <a:spcBef>
                <a:spcPts val="600"/>
              </a:spcBef>
              <a:spcAft>
                <a:spcPts val="1200"/>
              </a:spcAft>
              <a:buFont typeface="Symbol"/>
              <a:buChar char=""/>
            </a:pPr>
            <a:r>
              <a:rPr lang="en-AU" sz="2200" dirty="0" smtClean="0">
                <a:latin typeface="Helvetica"/>
                <a:ea typeface="Calibri"/>
                <a:cs typeface="Times New Roman"/>
              </a:rPr>
              <a:t>Print </a:t>
            </a:r>
            <a:r>
              <a:rPr lang="en-AU" sz="2200" dirty="0">
                <a:latin typeface="Helvetica"/>
                <a:ea typeface="Calibri"/>
                <a:cs typeface="Times New Roman"/>
              </a:rPr>
              <a:t>the </a:t>
            </a:r>
            <a:r>
              <a:rPr lang="en-AU" sz="2200" dirty="0" smtClean="0">
                <a:latin typeface="Helvetica"/>
                <a:ea typeface="Calibri"/>
                <a:cs typeface="Times New Roman"/>
              </a:rPr>
              <a:t>terms</a:t>
            </a:r>
          </a:p>
          <a:p>
            <a:pPr marL="644652" lvl="1" indent="-342900">
              <a:spcBef>
                <a:spcPts val="600"/>
              </a:spcBef>
              <a:spcAft>
                <a:spcPts val="1200"/>
              </a:spcAft>
              <a:buFont typeface="Symbol"/>
              <a:buChar char=""/>
            </a:pPr>
            <a:r>
              <a:rPr lang="en-AU" sz="2200" dirty="0" smtClean="0">
                <a:latin typeface="Helvetica"/>
                <a:ea typeface="Calibri"/>
                <a:cs typeface="Times New Roman"/>
              </a:rPr>
              <a:t>Make </a:t>
            </a:r>
            <a:r>
              <a:rPr lang="en-AU" sz="2200" dirty="0">
                <a:latin typeface="Helvetica"/>
                <a:ea typeface="Calibri"/>
                <a:cs typeface="Times New Roman"/>
              </a:rPr>
              <a:t>sure the internet connection is </a:t>
            </a:r>
            <a:r>
              <a:rPr lang="en-AU" sz="2200" dirty="0" smtClean="0">
                <a:latin typeface="Helvetica"/>
                <a:ea typeface="Calibri"/>
                <a:cs typeface="Times New Roman"/>
              </a:rPr>
              <a:t>secure</a:t>
            </a:r>
          </a:p>
          <a:p>
            <a:pPr marL="644652" lvl="1" indent="-342900">
              <a:spcBef>
                <a:spcPts val="600"/>
              </a:spcBef>
              <a:spcAft>
                <a:spcPts val="1200"/>
              </a:spcAft>
              <a:buFont typeface="Symbol"/>
              <a:buChar char=""/>
            </a:pPr>
            <a:r>
              <a:rPr lang="en-AU" sz="2200" dirty="0" smtClean="0">
                <a:latin typeface="Helvetica"/>
                <a:ea typeface="Calibri"/>
                <a:cs typeface="Times New Roman"/>
              </a:rPr>
              <a:t>Use </a:t>
            </a:r>
            <a:r>
              <a:rPr lang="en-AU" sz="2200" dirty="0">
                <a:latin typeface="Helvetica"/>
                <a:ea typeface="Calibri"/>
                <a:cs typeface="Times New Roman"/>
              </a:rPr>
              <a:t>the safest on-line payment </a:t>
            </a:r>
            <a:r>
              <a:rPr lang="en-AU" sz="2200" dirty="0" smtClean="0">
                <a:latin typeface="Helvetica"/>
                <a:ea typeface="Calibri"/>
                <a:cs typeface="Times New Roman"/>
              </a:rPr>
              <a:t>method</a:t>
            </a:r>
          </a:p>
          <a:p>
            <a:pPr marL="342900" lvl="0" indent="-342900">
              <a:spcBef>
                <a:spcPts val="600"/>
              </a:spcBef>
              <a:spcAft>
                <a:spcPts val="1200"/>
              </a:spcAft>
              <a:buFont typeface="Symbol"/>
              <a:buChar char=""/>
            </a:pPr>
            <a:endParaRPr lang="en-AU" sz="2200" dirty="0">
              <a:ea typeface="Calibri"/>
              <a:cs typeface="Times New Roman"/>
            </a:endParaRPr>
          </a:p>
          <a:p>
            <a:pPr marL="935990" indent="-935990">
              <a:spcBef>
                <a:spcPts val="600"/>
              </a:spcBef>
              <a:spcAft>
                <a:spcPts val="1200"/>
              </a:spcAft>
            </a:pPr>
            <a:endParaRPr lang="en-AU" sz="2200" dirty="0">
              <a:latin typeface="Helvetica"/>
              <a:ea typeface="Times New Roman"/>
              <a:cs typeface="Times New Roman"/>
            </a:endParaRP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46</a:t>
            </a:fld>
            <a:endParaRPr lang="en-US" dirty="0">
              <a:solidFill>
                <a:srgbClr val="4E5B6F">
                  <a:shade val="50000"/>
                </a:srgbClr>
              </a:solidFill>
              <a:latin typeface="Helvetica" pitchFamily="34" charset="0"/>
            </a:endParaRPr>
          </a:p>
        </p:txBody>
      </p:sp>
      <p:sp>
        <p:nvSpPr>
          <p:cNvPr id="7"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3.1	Enable </a:t>
            </a:r>
            <a:r>
              <a:rPr lang="en-AU" sz="3000" b="1" dirty="0">
                <a:solidFill>
                  <a:srgbClr val="FF6600"/>
                </a:solidFill>
                <a:latin typeface="Helvetica" pitchFamily="34" charset="0"/>
              </a:rPr>
              <a:t>access to required system and/or information</a:t>
            </a:r>
            <a:endParaRPr lang="en-US" sz="3000" b="1" dirty="0">
              <a:solidFill>
                <a:srgbClr val="FF6600"/>
              </a:solidFill>
              <a:latin typeface="Helvetica" pitchFamily="34" charset="0"/>
            </a:endParaRPr>
          </a:p>
        </p:txBody>
      </p:sp>
    </p:spTree>
    <p:extLst>
      <p:ext uri="{BB962C8B-B14F-4D97-AF65-F5344CB8AC3E}">
        <p14:creationId xmlns:p14="http://schemas.microsoft.com/office/powerpoint/2010/main" val="18887429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772816"/>
            <a:ext cx="7467600" cy="4353347"/>
          </a:xfrm>
        </p:spPr>
        <p:txBody>
          <a:bodyPr>
            <a:normAutofit/>
          </a:bodyPr>
          <a:lstStyle/>
          <a:p>
            <a:pPr marL="360000" indent="-360000">
              <a:spcBef>
                <a:spcPts val="600"/>
              </a:spcBef>
              <a:spcAft>
                <a:spcPts val="1200"/>
              </a:spcAft>
            </a:pPr>
            <a:r>
              <a:rPr lang="en-AU" sz="2200" dirty="0">
                <a:latin typeface="Helvetica"/>
                <a:ea typeface="Times New Roman"/>
                <a:cs typeface="Times New Roman"/>
              </a:rPr>
              <a:t>Type of information </a:t>
            </a:r>
            <a:r>
              <a:rPr lang="en-AU" sz="2200" dirty="0" smtClean="0">
                <a:latin typeface="Helvetica"/>
                <a:ea typeface="Times New Roman"/>
                <a:cs typeface="Times New Roman"/>
              </a:rPr>
              <a:t>sites:</a:t>
            </a:r>
          </a:p>
          <a:p>
            <a:pPr lvl="1">
              <a:spcBef>
                <a:spcPts val="600"/>
              </a:spcBef>
              <a:spcAft>
                <a:spcPts val="1200"/>
              </a:spcAft>
            </a:pPr>
            <a:r>
              <a:rPr lang="en-AU" sz="2200" dirty="0">
                <a:latin typeface="Helvetica"/>
                <a:ea typeface="Times New Roman"/>
                <a:cs typeface="Times New Roman"/>
              </a:rPr>
              <a:t>Bookmarking sites</a:t>
            </a:r>
          </a:p>
          <a:p>
            <a:pPr lvl="1">
              <a:spcBef>
                <a:spcPts val="600"/>
              </a:spcBef>
              <a:spcAft>
                <a:spcPts val="1200"/>
              </a:spcAft>
            </a:pPr>
            <a:r>
              <a:rPr lang="en-AU" sz="2200" dirty="0">
                <a:latin typeface="Helvetica"/>
                <a:ea typeface="Times New Roman"/>
                <a:cs typeface="Times New Roman"/>
              </a:rPr>
              <a:t>Social news</a:t>
            </a:r>
          </a:p>
          <a:p>
            <a:pPr lvl="1">
              <a:spcBef>
                <a:spcPts val="600"/>
              </a:spcBef>
              <a:spcAft>
                <a:spcPts val="1200"/>
              </a:spcAft>
            </a:pPr>
            <a:r>
              <a:rPr lang="en-AU" sz="2200" dirty="0">
                <a:latin typeface="Helvetica"/>
                <a:ea typeface="Times New Roman"/>
                <a:cs typeface="Times New Roman"/>
              </a:rPr>
              <a:t>Media sharing</a:t>
            </a:r>
          </a:p>
          <a:p>
            <a:pPr lvl="1">
              <a:spcBef>
                <a:spcPts val="600"/>
              </a:spcBef>
              <a:spcAft>
                <a:spcPts val="1200"/>
              </a:spcAft>
            </a:pPr>
            <a:r>
              <a:rPr lang="en-AU" sz="2200" dirty="0" smtClean="0">
                <a:latin typeface="Helvetica"/>
                <a:ea typeface="Times New Roman"/>
                <a:cs typeface="Times New Roman"/>
              </a:rPr>
              <a:t>Micro-blogging</a:t>
            </a:r>
            <a:endParaRPr lang="en-AU" sz="2200" dirty="0">
              <a:latin typeface="Helvetica"/>
              <a:ea typeface="Times New Roman"/>
              <a:cs typeface="Times New Roman"/>
            </a:endParaRPr>
          </a:p>
          <a:p>
            <a:pPr lvl="1">
              <a:spcBef>
                <a:spcPts val="600"/>
              </a:spcBef>
              <a:spcAft>
                <a:spcPts val="1200"/>
              </a:spcAft>
            </a:pPr>
            <a:r>
              <a:rPr lang="en-AU" sz="2200" dirty="0">
                <a:latin typeface="Helvetica"/>
                <a:ea typeface="Times New Roman"/>
                <a:cs typeface="Times New Roman"/>
              </a:rPr>
              <a:t>Blog comments and forums</a:t>
            </a:r>
          </a:p>
          <a:p>
            <a:pPr marL="935990" indent="-935990">
              <a:spcBef>
                <a:spcPts val="600"/>
              </a:spcBef>
              <a:spcAft>
                <a:spcPts val="1200"/>
              </a:spcAft>
            </a:pPr>
            <a:endParaRPr lang="en-AU" sz="2200" dirty="0">
              <a:latin typeface="Helvetica"/>
              <a:ea typeface="Times New Roman"/>
              <a:cs typeface="Times New Roman"/>
            </a:endParaRPr>
          </a:p>
          <a:p>
            <a:pPr>
              <a:spcBef>
                <a:spcPts val="600"/>
              </a:spcBef>
              <a:spcAft>
                <a:spcPts val="1200"/>
              </a:spcAft>
            </a:pPr>
            <a:endParaRPr lang="en-AU" sz="2200" dirty="0"/>
          </a:p>
        </p:txBody>
      </p:sp>
      <p:sp>
        <p:nvSpPr>
          <p:cNvPr id="6" name="Title 1"/>
          <p:cNvSpPr>
            <a:spLocks noGrp="1"/>
          </p:cNvSpPr>
          <p:nvPr>
            <p:ph type="title"/>
          </p:nvPr>
        </p:nvSpPr>
        <p:spPr>
          <a:xfrm>
            <a:off x="611560" y="332656"/>
            <a:ext cx="8208912" cy="1143000"/>
          </a:xfrm>
        </p:spPr>
        <p:txBody>
          <a:bodyPr>
            <a:normAutofit/>
          </a:bodyPr>
          <a:lstStyle/>
          <a:p>
            <a:pPr marL="900113" indent="-900113"/>
            <a:r>
              <a:rPr lang="en-AU" sz="3000" b="1" dirty="0" smtClean="0">
                <a:solidFill>
                  <a:srgbClr val="FF6600"/>
                </a:solidFill>
                <a:latin typeface="Helvetica" pitchFamily="34" charset="0"/>
              </a:rPr>
              <a:t>3.1	Enable </a:t>
            </a:r>
            <a:r>
              <a:rPr lang="en-AU" sz="3000" b="1" dirty="0">
                <a:solidFill>
                  <a:srgbClr val="FF6600"/>
                </a:solidFill>
                <a:latin typeface="Helvetica" pitchFamily="34" charset="0"/>
              </a:rPr>
              <a:t>access to required system and/or information</a:t>
            </a:r>
            <a:endParaRPr lang="en-US" sz="3000" b="1" dirty="0">
              <a:solidFill>
                <a:srgbClr val="FF6600"/>
              </a:solidFill>
              <a:latin typeface="Helvetica" pitchFamily="34"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8602" y="2492896"/>
            <a:ext cx="3048000" cy="2033016"/>
          </a:xfrm>
          <a:prstGeom prst="rect">
            <a:avLst/>
          </a:prstGeom>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18876360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000" b="1" dirty="0">
                <a:solidFill>
                  <a:srgbClr val="FF6600"/>
                </a:solidFill>
                <a:latin typeface="Helvetica" pitchFamily="34" charset="0"/>
              </a:rPr>
              <a:t>3.2	Select required information</a:t>
            </a: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a:ea typeface="Times New Roman"/>
                <a:cs typeface="Times New Roman"/>
              </a:rPr>
              <a:t>C</a:t>
            </a:r>
            <a:r>
              <a:rPr lang="en-AU" sz="2200" dirty="0" smtClean="0">
                <a:ea typeface="Times New Roman"/>
                <a:cs typeface="Times New Roman"/>
              </a:rPr>
              <a:t>onsider </a:t>
            </a:r>
            <a:r>
              <a:rPr lang="en-AU" sz="2200" dirty="0">
                <a:ea typeface="Times New Roman"/>
                <a:cs typeface="Times New Roman"/>
              </a:rPr>
              <a:t>the reliability and reputation of the information </a:t>
            </a:r>
            <a:r>
              <a:rPr lang="en-AU" sz="2200" dirty="0" smtClean="0">
                <a:ea typeface="Times New Roman"/>
                <a:cs typeface="Times New Roman"/>
              </a:rPr>
              <a:t>source </a:t>
            </a:r>
          </a:p>
          <a:p>
            <a:pPr marL="360000" lvl="0" indent="-360000">
              <a:spcBef>
                <a:spcPts val="1200"/>
              </a:spcBef>
              <a:spcAft>
                <a:spcPts val="800"/>
              </a:spcAft>
              <a:buClr>
                <a:srgbClr val="7FD13B"/>
              </a:buClr>
            </a:pPr>
            <a:r>
              <a:rPr lang="en-AU" sz="2200" dirty="0">
                <a:latin typeface="Helvetica"/>
                <a:ea typeface="Times New Roman"/>
                <a:cs typeface="Times New Roman"/>
              </a:rPr>
              <a:t>Preferred </a:t>
            </a:r>
            <a:r>
              <a:rPr lang="en-AU" sz="2200" dirty="0" smtClean="0">
                <a:latin typeface="Helvetica"/>
                <a:ea typeface="Times New Roman"/>
                <a:cs typeface="Times New Roman"/>
              </a:rPr>
              <a:t>suppliers</a:t>
            </a:r>
          </a:p>
          <a:p>
            <a:pPr marL="360000" indent="-360000">
              <a:spcBef>
                <a:spcPts val="1200"/>
              </a:spcBef>
              <a:spcAft>
                <a:spcPts val="800"/>
              </a:spcAft>
            </a:pPr>
            <a:r>
              <a:rPr lang="en-AU" sz="2200" dirty="0">
                <a:latin typeface="Helvetica"/>
                <a:ea typeface="Times New Roman"/>
                <a:cs typeface="Times New Roman"/>
              </a:rPr>
              <a:t>Best option </a:t>
            </a:r>
            <a:r>
              <a:rPr lang="en-AU" sz="2200" dirty="0" smtClean="0">
                <a:latin typeface="Helvetica"/>
                <a:ea typeface="Times New Roman"/>
                <a:cs typeface="Times New Roman"/>
              </a:rPr>
              <a:t>data</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132856"/>
            <a:ext cx="2276856" cy="187840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224" y="274638"/>
            <a:ext cx="7467600" cy="1143000"/>
          </a:xfrm>
        </p:spPr>
        <p:txBody>
          <a:bodyPr>
            <a:normAutofit/>
          </a:bodyPr>
          <a:lstStyle/>
          <a:p>
            <a:pPr marL="900113" indent="-900113"/>
            <a:r>
              <a:rPr lang="en-US" sz="3000" b="1" dirty="0">
                <a:solidFill>
                  <a:srgbClr val="FF6600"/>
                </a:solidFill>
                <a:latin typeface="Helvetica" pitchFamily="34" charset="0"/>
              </a:rPr>
              <a:t>3.3	Download information</a:t>
            </a:r>
            <a:endParaRPr lang="en-AU" sz="3000" dirty="0"/>
          </a:p>
        </p:txBody>
      </p:sp>
      <p:sp>
        <p:nvSpPr>
          <p:cNvPr id="3" name="Content Placeholder 2"/>
          <p:cNvSpPr>
            <a:spLocks noGrp="1"/>
          </p:cNvSpPr>
          <p:nvPr>
            <p:ph idx="1"/>
          </p:nvPr>
        </p:nvSpPr>
        <p:spPr>
          <a:xfrm>
            <a:off x="673224" y="1412776"/>
            <a:ext cx="7931224" cy="5184576"/>
          </a:xfrm>
        </p:spPr>
        <p:txBody>
          <a:bodyPr>
            <a:normAutofit/>
          </a:bodyPr>
          <a:lstStyle/>
          <a:p>
            <a:pPr>
              <a:lnSpc>
                <a:spcPct val="150000"/>
              </a:lnSpc>
            </a:pPr>
            <a:r>
              <a:rPr lang="en-AU" sz="2200" dirty="0" smtClean="0">
                <a:latin typeface="Helvetica" pitchFamily="34" charset="0"/>
                <a:ea typeface="Times New Roman"/>
                <a:cs typeface="Times New Roman"/>
              </a:rPr>
              <a:t>What is your company policy on this?</a:t>
            </a:r>
          </a:p>
          <a:p>
            <a:pPr>
              <a:lnSpc>
                <a:spcPct val="150000"/>
              </a:lnSpc>
            </a:pPr>
            <a:r>
              <a:rPr lang="en-AU" sz="2200" dirty="0" smtClean="0">
                <a:latin typeface="Helvetica" pitchFamily="34" charset="0"/>
                <a:ea typeface="Times New Roman"/>
                <a:cs typeface="Times New Roman"/>
              </a:rPr>
              <a:t>When </a:t>
            </a:r>
            <a:r>
              <a:rPr lang="en-AU" sz="2200" dirty="0">
                <a:latin typeface="Helvetica" pitchFamily="34" charset="0"/>
                <a:ea typeface="Times New Roman"/>
                <a:cs typeface="Times New Roman"/>
              </a:rPr>
              <a:t>downloading, you should always check the size of the files and estimate the time required to download </a:t>
            </a:r>
            <a:r>
              <a:rPr lang="en-AU" sz="2200" dirty="0" smtClean="0">
                <a:latin typeface="Helvetica" pitchFamily="34" charset="0"/>
                <a:ea typeface="Times New Roman"/>
                <a:cs typeface="Times New Roman"/>
              </a:rPr>
              <a:t>them</a:t>
            </a:r>
          </a:p>
          <a:p>
            <a:pPr>
              <a:lnSpc>
                <a:spcPct val="150000"/>
              </a:lnSpc>
            </a:pPr>
            <a:r>
              <a:rPr lang="en-AU" sz="2200" dirty="0">
                <a:latin typeface="Helvetica" pitchFamily="34" charset="0"/>
                <a:ea typeface="Times New Roman"/>
                <a:cs typeface="Times New Roman"/>
              </a:rPr>
              <a:t>Does your enterprise have broadband or wireless access </a:t>
            </a:r>
            <a:r>
              <a:rPr lang="en-AU" sz="2200" dirty="0" smtClean="0">
                <a:latin typeface="Helvetica" pitchFamily="34" charset="0"/>
                <a:ea typeface="Times New Roman"/>
                <a:cs typeface="Times New Roman"/>
              </a:rPr>
              <a:t>- relatively </a:t>
            </a:r>
            <a:r>
              <a:rPr lang="en-AU" sz="2200" dirty="0">
                <a:latin typeface="Helvetica" pitchFamily="34" charset="0"/>
                <a:ea typeface="Times New Roman"/>
                <a:cs typeface="Times New Roman"/>
              </a:rPr>
              <a:t>fast </a:t>
            </a:r>
            <a:r>
              <a:rPr lang="en-AU" sz="2200" dirty="0" smtClean="0">
                <a:latin typeface="Helvetica" pitchFamily="34" charset="0"/>
                <a:ea typeface="Times New Roman"/>
                <a:cs typeface="Times New Roman"/>
              </a:rPr>
              <a:t>downloading?</a:t>
            </a:r>
          </a:p>
          <a:p>
            <a:pPr lvl="0">
              <a:lnSpc>
                <a:spcPct val="150000"/>
              </a:lnSpc>
              <a:buClr>
                <a:srgbClr val="7FD13B"/>
              </a:buClr>
            </a:pPr>
            <a:r>
              <a:rPr lang="en-AU" sz="2200" dirty="0">
                <a:latin typeface="Helvetica" pitchFamily="34" charset="0"/>
                <a:ea typeface="Calibri"/>
                <a:cs typeface="Calibri"/>
              </a:rPr>
              <a:t>or dial up access </a:t>
            </a:r>
            <a:r>
              <a:rPr lang="en-AU" sz="2200" dirty="0" smtClean="0">
                <a:latin typeface="Helvetica" pitchFamily="34" charset="0"/>
                <a:ea typeface="Calibri"/>
                <a:cs typeface="Calibri"/>
              </a:rPr>
              <a:t>- relatively slow </a:t>
            </a:r>
            <a:r>
              <a:rPr lang="en-AU" sz="2200" dirty="0" smtClean="0">
                <a:solidFill>
                  <a:prstClr val="black"/>
                </a:solidFill>
                <a:latin typeface="Helvetica" pitchFamily="34" charset="0"/>
                <a:ea typeface="Times New Roman"/>
                <a:cs typeface="Times New Roman"/>
              </a:rPr>
              <a:t>downloading</a:t>
            </a:r>
          </a:p>
          <a:p>
            <a:pPr lvl="0">
              <a:lnSpc>
                <a:spcPct val="150000"/>
              </a:lnSpc>
              <a:buClr>
                <a:srgbClr val="7FD13B"/>
              </a:buClr>
            </a:pPr>
            <a:r>
              <a:rPr lang="en-AU" sz="2200" dirty="0" smtClean="0">
                <a:solidFill>
                  <a:prstClr val="black"/>
                </a:solidFill>
                <a:ea typeface="Times New Roman"/>
                <a:cs typeface="Times New Roman"/>
              </a:rPr>
              <a:t>Are</a:t>
            </a:r>
            <a:r>
              <a:rPr lang="en-AU" sz="2200" dirty="0" smtClean="0">
                <a:solidFill>
                  <a:prstClr val="black"/>
                </a:solidFill>
                <a:latin typeface="Helvetica" pitchFamily="34" charset="0"/>
                <a:ea typeface="Times New Roman"/>
                <a:cs typeface="Times New Roman"/>
              </a:rPr>
              <a:t> there any copyright issues?</a:t>
            </a:r>
            <a:endParaRPr lang="en-AU" sz="2200" dirty="0">
              <a:solidFill>
                <a:prstClr val="black"/>
              </a:solidFill>
              <a:latin typeface="Helvetica" pitchFamily="34" charset="0"/>
              <a:ea typeface="Times New Roman"/>
              <a:cs typeface="Times New Roman"/>
            </a:endParaRPr>
          </a:p>
          <a:p>
            <a:pPr>
              <a:spcBef>
                <a:spcPts val="400"/>
              </a:spcBef>
              <a:spcAft>
                <a:spcPts val="800"/>
              </a:spcAft>
            </a:pPr>
            <a:endParaRPr lang="en-AU" sz="2200" dirty="0">
              <a:effectLst/>
              <a:latin typeface="Helvetica" pitchFamily="34" charset="0"/>
              <a:ea typeface="Calibri"/>
              <a:cs typeface="Calibri"/>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49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1023361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02878"/>
            <a:ext cx="7467600" cy="1143000"/>
          </a:xfrm>
        </p:spPr>
        <p:txBody>
          <a:bodyPr>
            <a:normAutofit/>
          </a:bodyPr>
          <a:lstStyle/>
          <a:p>
            <a:pPr marL="900113" indent="-900113"/>
            <a:r>
              <a:rPr lang="en-US" sz="3000" b="1" dirty="0">
                <a:solidFill>
                  <a:srgbClr val="FF6600"/>
                </a:solidFill>
                <a:latin typeface="Helvetica" pitchFamily="34" charset="0"/>
              </a:rPr>
              <a:t>3.4	Print information</a:t>
            </a:r>
          </a:p>
        </p:txBody>
      </p:sp>
      <p:sp>
        <p:nvSpPr>
          <p:cNvPr id="3" name="Content Placeholder 2"/>
          <p:cNvSpPr>
            <a:spLocks noGrp="1"/>
          </p:cNvSpPr>
          <p:nvPr>
            <p:ph idx="1"/>
          </p:nvPr>
        </p:nvSpPr>
        <p:spPr>
          <a:xfrm>
            <a:off x="611560" y="1340768"/>
            <a:ext cx="4032448" cy="4724825"/>
          </a:xfrm>
        </p:spPr>
        <p:txBody>
          <a:bodyPr>
            <a:normAutofit/>
          </a:bodyPr>
          <a:lstStyle/>
          <a:p>
            <a:pPr marL="360000" indent="-360000">
              <a:spcBef>
                <a:spcPts val="600"/>
              </a:spcBef>
              <a:spcAft>
                <a:spcPts val="1200"/>
              </a:spcAft>
            </a:pPr>
            <a:r>
              <a:rPr lang="en-AU" sz="2200" dirty="0">
                <a:latin typeface="Helvetica" pitchFamily="34" charset="0"/>
                <a:ea typeface="Times New Roman"/>
                <a:cs typeface="Times New Roman"/>
              </a:rPr>
              <a:t>S</a:t>
            </a:r>
            <a:r>
              <a:rPr lang="en-AU" sz="2200" dirty="0" smtClean="0">
                <a:latin typeface="Helvetica" pitchFamily="34" charset="0"/>
                <a:ea typeface="Times New Roman"/>
                <a:cs typeface="Times New Roman"/>
              </a:rPr>
              <a:t>elected </a:t>
            </a:r>
            <a:r>
              <a:rPr lang="en-AU" sz="2200" dirty="0">
                <a:latin typeface="Helvetica" pitchFamily="34" charset="0"/>
                <a:ea typeface="Times New Roman"/>
                <a:cs typeface="Times New Roman"/>
              </a:rPr>
              <a:t>the correct printer </a:t>
            </a:r>
          </a:p>
          <a:p>
            <a:pPr marL="360000" indent="-360000">
              <a:spcBef>
                <a:spcPts val="600"/>
              </a:spcBef>
              <a:spcAft>
                <a:spcPts val="1200"/>
              </a:spcAft>
            </a:pPr>
            <a:r>
              <a:rPr lang="en-AU" sz="2200" dirty="0">
                <a:latin typeface="Helvetica" pitchFamily="34" charset="0"/>
                <a:ea typeface="Times New Roman"/>
                <a:cs typeface="Times New Roman"/>
              </a:rPr>
              <a:t>B</a:t>
            </a:r>
            <a:r>
              <a:rPr lang="en-AU" sz="2200" dirty="0" smtClean="0">
                <a:latin typeface="Helvetica" pitchFamily="34" charset="0"/>
                <a:ea typeface="Times New Roman"/>
                <a:cs typeface="Times New Roman"/>
              </a:rPr>
              <a:t>lack </a:t>
            </a:r>
            <a:r>
              <a:rPr lang="en-AU" sz="2200" dirty="0">
                <a:latin typeface="Helvetica" pitchFamily="34" charset="0"/>
                <a:ea typeface="Times New Roman"/>
                <a:cs typeface="Times New Roman"/>
              </a:rPr>
              <a:t>and white or colour </a:t>
            </a:r>
            <a:r>
              <a:rPr lang="en-AU" sz="2200" dirty="0" smtClean="0">
                <a:latin typeface="Helvetica" pitchFamily="34" charset="0"/>
                <a:ea typeface="Times New Roman"/>
                <a:cs typeface="Times New Roman"/>
              </a:rPr>
              <a:t>copy</a:t>
            </a:r>
          </a:p>
          <a:p>
            <a:pPr marL="360000" indent="-360000">
              <a:spcBef>
                <a:spcPts val="600"/>
              </a:spcBef>
              <a:spcAft>
                <a:spcPts val="1200"/>
              </a:spcAft>
            </a:pPr>
            <a:r>
              <a:rPr lang="en-AU" sz="2200" dirty="0" smtClean="0">
                <a:latin typeface="Helvetica" pitchFamily="34" charset="0"/>
                <a:ea typeface="Times New Roman"/>
                <a:cs typeface="Times New Roman"/>
              </a:rPr>
              <a:t>Which </a:t>
            </a:r>
            <a:r>
              <a:rPr lang="en-AU" sz="2200" dirty="0">
                <a:latin typeface="Helvetica" pitchFamily="34" charset="0"/>
                <a:ea typeface="Times New Roman"/>
                <a:cs typeface="Times New Roman"/>
              </a:rPr>
              <a:t>page numbers </a:t>
            </a:r>
            <a:endParaRPr lang="en-AU" sz="2200" dirty="0" smtClean="0">
              <a:latin typeface="Helvetica" pitchFamily="34" charset="0"/>
              <a:ea typeface="Times New Roman"/>
              <a:cs typeface="Times New Roman"/>
            </a:endParaRPr>
          </a:p>
          <a:p>
            <a:pPr marL="360000" indent="-360000">
              <a:spcBef>
                <a:spcPts val="600"/>
              </a:spcBef>
              <a:spcAft>
                <a:spcPts val="1200"/>
              </a:spcAft>
            </a:pPr>
            <a:r>
              <a:rPr lang="en-AU" sz="2200" dirty="0" smtClean="0">
                <a:latin typeface="Helvetica" pitchFamily="34" charset="0"/>
                <a:ea typeface="Times New Roman"/>
                <a:cs typeface="Times New Roman"/>
              </a:rPr>
              <a:t>Portrait or landscape printing</a:t>
            </a:r>
          </a:p>
          <a:p>
            <a:pPr marL="360000" indent="-360000">
              <a:spcBef>
                <a:spcPts val="600"/>
              </a:spcBef>
              <a:spcAft>
                <a:spcPts val="1200"/>
              </a:spcAft>
            </a:pPr>
            <a:r>
              <a:rPr lang="en-US" sz="2200" dirty="0" smtClean="0">
                <a:latin typeface="Helvetica" pitchFamily="34" charset="0"/>
              </a:rPr>
              <a:t>Single or double sided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414" y="1484784"/>
            <a:ext cx="3865660"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6516216" y="1772816"/>
            <a:ext cx="504056"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6" name="Oval 5"/>
          <p:cNvSpPr/>
          <p:nvPr/>
        </p:nvSpPr>
        <p:spPr>
          <a:xfrm>
            <a:off x="5652120" y="2276872"/>
            <a:ext cx="648072" cy="360040"/>
          </a:xfrm>
          <a:prstGeom prst="ellipse">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7" name="Oval 6"/>
          <p:cNvSpPr/>
          <p:nvPr/>
        </p:nvSpPr>
        <p:spPr>
          <a:xfrm>
            <a:off x="5976156" y="4797152"/>
            <a:ext cx="1044116" cy="288032"/>
          </a:xfrm>
          <a:prstGeom prst="ellipse">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0" name="Oval 9"/>
          <p:cNvSpPr/>
          <p:nvPr/>
        </p:nvSpPr>
        <p:spPr>
          <a:xfrm>
            <a:off x="5976156" y="4077072"/>
            <a:ext cx="972108" cy="216024"/>
          </a:xfrm>
          <a:prstGeom prst="ellipse">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1" name="Oval 10"/>
          <p:cNvSpPr/>
          <p:nvPr/>
        </p:nvSpPr>
        <p:spPr>
          <a:xfrm>
            <a:off x="5652120" y="3717032"/>
            <a:ext cx="504056" cy="360040"/>
          </a:xfrm>
          <a:prstGeom prst="ellipse">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12" name="Oval 11"/>
          <p:cNvSpPr/>
          <p:nvPr/>
        </p:nvSpPr>
        <p:spPr>
          <a:xfrm>
            <a:off x="7884368" y="2924944"/>
            <a:ext cx="996766" cy="288032"/>
          </a:xfrm>
          <a:prstGeom prst="ellipse">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268760"/>
            <a:ext cx="7467600" cy="4857403"/>
          </a:xfrm>
        </p:spPr>
        <p:txBody>
          <a:bodyPr/>
          <a:lstStyle/>
          <a:p>
            <a:pPr marL="36576" indent="0">
              <a:buNone/>
            </a:pPr>
            <a:r>
              <a:rPr lang="en-AU" sz="2400" b="1" dirty="0" smtClean="0"/>
              <a:t>Printer properties</a:t>
            </a:r>
          </a:p>
          <a:p>
            <a:endParaRPr lang="en-AU"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988840"/>
            <a:ext cx="6441736"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202878"/>
            <a:ext cx="7467600" cy="1143000"/>
          </a:xfrm>
        </p:spPr>
        <p:txBody>
          <a:bodyPr>
            <a:normAutofit/>
          </a:bodyPr>
          <a:lstStyle/>
          <a:p>
            <a:pPr marL="900113" indent="-900113"/>
            <a:r>
              <a:rPr lang="en-US" sz="3000" b="1" dirty="0">
                <a:solidFill>
                  <a:srgbClr val="FF6600"/>
                </a:solidFill>
                <a:latin typeface="Helvetica" pitchFamily="34" charset="0"/>
              </a:rPr>
              <a:t>3.4	Print information</a:t>
            </a: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354490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2564904"/>
            <a:ext cx="3020499" cy="2008632"/>
          </a:xfrm>
          <a:prstGeom prst="rect">
            <a:avLst/>
          </a:prstGeom>
        </p:spPr>
      </p:pic>
      <p:sp>
        <p:nvSpPr>
          <p:cNvPr id="2" name="Title 1"/>
          <p:cNvSpPr>
            <a:spLocks noGrp="1"/>
          </p:cNvSpPr>
          <p:nvPr>
            <p:ph type="title"/>
          </p:nvPr>
        </p:nvSpPr>
        <p:spPr>
          <a:xfrm>
            <a:off x="611560" y="332656"/>
            <a:ext cx="7994448" cy="1440160"/>
          </a:xfrm>
        </p:spPr>
        <p:txBody>
          <a:bodyPr>
            <a:noAutofit/>
          </a:bodyPr>
          <a:lstStyle/>
          <a:p>
            <a:r>
              <a:rPr lang="en-AU" sz="3000" b="1" dirty="0">
                <a:solidFill>
                  <a:srgbClr val="FF6600"/>
                </a:solidFill>
                <a:latin typeface="Helvetica" pitchFamily="34" charset="0"/>
              </a:rPr>
              <a:t>Element </a:t>
            </a:r>
            <a:r>
              <a:rPr lang="en-AU" sz="3000" b="1" dirty="0" smtClean="0">
                <a:solidFill>
                  <a:srgbClr val="FF6600"/>
                </a:solidFill>
                <a:latin typeface="Helvetica" pitchFamily="34" charset="0"/>
              </a:rPr>
              <a:t>4:</a:t>
            </a:r>
            <a:br>
              <a:rPr lang="en-AU" sz="3000" b="1" dirty="0" smtClean="0">
                <a:solidFill>
                  <a:srgbClr val="FF6600"/>
                </a:solidFill>
                <a:latin typeface="Helvetica" pitchFamily="34" charset="0"/>
              </a:rPr>
            </a:br>
            <a:r>
              <a:rPr lang="en-AU" sz="3000" b="1" dirty="0" smtClean="0">
                <a:solidFill>
                  <a:srgbClr val="FF6600"/>
                </a:solidFill>
                <a:latin typeface="Helvetica" pitchFamily="34" charset="0"/>
              </a:rPr>
              <a:t>Use </a:t>
            </a:r>
            <a:r>
              <a:rPr lang="en-AU" sz="3000" b="1" dirty="0">
                <a:solidFill>
                  <a:srgbClr val="FF6600"/>
                </a:solidFill>
                <a:latin typeface="Helvetica" pitchFamily="34" charset="0"/>
              </a:rPr>
              <a:t>information from information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900113" indent="-900113">
              <a:lnSpc>
                <a:spcPct val="150000"/>
              </a:lnSpc>
              <a:spcBef>
                <a:spcPts val="600"/>
              </a:spcBef>
              <a:spcAft>
                <a:spcPts val="1200"/>
              </a:spcAft>
              <a:buNone/>
            </a:pPr>
            <a:r>
              <a:rPr lang="en-AU" sz="2200" dirty="0" smtClean="0">
                <a:latin typeface="Helvetica" pitchFamily="34" charset="0"/>
              </a:rPr>
              <a:t>4.1</a:t>
            </a:r>
            <a:r>
              <a:rPr lang="en-AU" sz="2200" dirty="0">
                <a:latin typeface="Helvetica" pitchFamily="34" charset="0"/>
              </a:rPr>
              <a:t>	Forward information as required</a:t>
            </a:r>
          </a:p>
          <a:p>
            <a:pPr marL="900113" indent="-900113">
              <a:lnSpc>
                <a:spcPct val="150000"/>
              </a:lnSpc>
              <a:spcBef>
                <a:spcPts val="600"/>
              </a:spcBef>
              <a:spcAft>
                <a:spcPts val="1200"/>
              </a:spcAft>
              <a:buNone/>
            </a:pPr>
            <a:r>
              <a:rPr lang="en-AU" sz="2200" dirty="0">
                <a:latin typeface="Helvetica" pitchFamily="34" charset="0"/>
              </a:rPr>
              <a:t>4.2	Save identified information</a:t>
            </a:r>
          </a:p>
          <a:p>
            <a:pPr marL="900113" indent="-900113">
              <a:lnSpc>
                <a:spcPct val="150000"/>
              </a:lnSpc>
              <a:spcBef>
                <a:spcPts val="600"/>
              </a:spcBef>
              <a:spcAft>
                <a:spcPts val="1200"/>
              </a:spcAft>
              <a:buNone/>
            </a:pPr>
            <a:r>
              <a:rPr lang="en-AU" sz="2200" dirty="0">
                <a:latin typeface="Helvetica" pitchFamily="34" charset="0"/>
              </a:rPr>
              <a:t>4.3	Manipulate accessed information</a:t>
            </a:r>
          </a:p>
          <a:p>
            <a:pPr marL="900113" indent="-900113">
              <a:lnSpc>
                <a:spcPct val="150000"/>
              </a:lnSpc>
              <a:spcBef>
                <a:spcPts val="600"/>
              </a:spcBef>
              <a:spcAft>
                <a:spcPts val="1200"/>
              </a:spcAft>
              <a:buNone/>
            </a:pPr>
            <a:r>
              <a:rPr lang="en-AU" sz="2200" dirty="0">
                <a:latin typeface="Helvetica" pitchFamily="34" charset="0"/>
              </a:rPr>
              <a:t>4.4	Report on findings</a:t>
            </a:r>
          </a:p>
          <a:p>
            <a:pPr marL="360000" indent="-360000">
              <a:lnSpc>
                <a:spcPct val="150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08112"/>
          </a:xfrm>
        </p:spPr>
        <p:txBody>
          <a:bodyPr>
            <a:normAutofit/>
          </a:bodyPr>
          <a:lstStyle/>
          <a:p>
            <a:pPr marL="900113" indent="-900113" algn="ctr"/>
            <a:r>
              <a:rPr lang="en-AU" sz="3000" b="1" dirty="0">
                <a:solidFill>
                  <a:srgbClr val="FF6600"/>
                </a:solidFill>
                <a:latin typeface="Helvetica" pitchFamily="34" charset="0"/>
              </a:rPr>
              <a:t>4.1	Forward information as required</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marL="360000" indent="-360000">
              <a:spcBef>
                <a:spcPts val="600"/>
              </a:spcBef>
              <a:spcAft>
                <a:spcPts val="1200"/>
              </a:spcAft>
            </a:pPr>
            <a:r>
              <a:rPr lang="en-AU" sz="2000" dirty="0" smtClean="0">
                <a:latin typeface="Helvetica" pitchFamily="34" charset="0"/>
                <a:ea typeface="Times New Roman"/>
                <a:cs typeface="Times New Roman"/>
              </a:rPr>
              <a:t>There </a:t>
            </a:r>
            <a:r>
              <a:rPr lang="en-AU" sz="2000" dirty="0">
                <a:latin typeface="Helvetica" pitchFamily="34" charset="0"/>
                <a:ea typeface="Times New Roman"/>
                <a:cs typeface="Times New Roman"/>
              </a:rPr>
              <a:t>may be times where you decide to send information to your client via </a:t>
            </a:r>
            <a:r>
              <a:rPr lang="en-AU" sz="2000" dirty="0" smtClean="0">
                <a:latin typeface="Helvetica" pitchFamily="34" charset="0"/>
                <a:ea typeface="Times New Roman"/>
                <a:cs typeface="Times New Roman"/>
              </a:rPr>
              <a:t>email</a:t>
            </a:r>
          </a:p>
          <a:p>
            <a:pPr marL="360000" indent="-360000">
              <a:spcBef>
                <a:spcPts val="600"/>
              </a:spcBef>
              <a:spcAft>
                <a:spcPts val="1200"/>
              </a:spcAft>
            </a:pPr>
            <a:r>
              <a:rPr lang="en-AU" sz="2000" dirty="0" smtClean="0">
                <a:latin typeface="Helvetica" pitchFamily="34" charset="0"/>
                <a:ea typeface="Times New Roman"/>
                <a:cs typeface="Times New Roman"/>
              </a:rPr>
              <a:t>Include </a:t>
            </a:r>
            <a:r>
              <a:rPr lang="en-AU" sz="2000" dirty="0">
                <a:latin typeface="Helvetica" pitchFamily="34" charset="0"/>
                <a:ea typeface="Times New Roman"/>
                <a:cs typeface="Times New Roman"/>
              </a:rPr>
              <a:t>a clear explanation of why you are forwarding the </a:t>
            </a:r>
            <a:r>
              <a:rPr lang="en-AU" sz="2000" dirty="0" smtClean="0">
                <a:latin typeface="Helvetica" pitchFamily="34" charset="0"/>
                <a:ea typeface="Times New Roman"/>
                <a:cs typeface="Times New Roman"/>
              </a:rPr>
              <a:t>information</a:t>
            </a:r>
          </a:p>
          <a:p>
            <a:pPr marL="360000" indent="-360000">
              <a:spcBef>
                <a:spcPts val="600"/>
              </a:spcBef>
              <a:spcAft>
                <a:spcPts val="1200"/>
              </a:spcAft>
            </a:pPr>
            <a:r>
              <a:rPr lang="en-AU" sz="2000" dirty="0">
                <a:latin typeface="Helvetica" pitchFamily="34" charset="0"/>
                <a:ea typeface="Times New Roman"/>
                <a:cs typeface="Times New Roman"/>
              </a:rPr>
              <a:t>If </a:t>
            </a:r>
            <a:r>
              <a:rPr lang="en-AU" sz="2000" dirty="0" smtClean="0">
                <a:latin typeface="Helvetica" pitchFamily="34" charset="0"/>
                <a:ea typeface="Times New Roman"/>
                <a:cs typeface="Times New Roman"/>
              </a:rPr>
              <a:t>forwarding </a:t>
            </a:r>
            <a:r>
              <a:rPr lang="en-AU" sz="2000" dirty="0">
                <a:latin typeface="Helvetica" pitchFamily="34" charset="0"/>
                <a:ea typeface="Times New Roman"/>
                <a:cs typeface="Times New Roman"/>
              </a:rPr>
              <a:t>information to several people, </a:t>
            </a:r>
            <a:r>
              <a:rPr lang="en-AU" sz="2000" dirty="0" smtClean="0">
                <a:latin typeface="Helvetica" pitchFamily="34" charset="0"/>
                <a:ea typeface="Times New Roman"/>
                <a:cs typeface="Times New Roman"/>
              </a:rPr>
              <a:t>use the Bcc function</a:t>
            </a:r>
          </a:p>
          <a:p>
            <a:pPr marL="360000" indent="-360000">
              <a:spcBef>
                <a:spcPts val="600"/>
              </a:spcBef>
              <a:spcAft>
                <a:spcPts val="1200"/>
              </a:spcAft>
            </a:pPr>
            <a:r>
              <a:rPr lang="en-AU" sz="2000" dirty="0">
                <a:latin typeface="Helvetica" pitchFamily="34" charset="0"/>
                <a:ea typeface="Times New Roman"/>
                <a:cs typeface="Times New Roman"/>
              </a:rPr>
              <a:t>Keep notes of the information you are giving to clients so that it can be easily retrieved in the future</a:t>
            </a:r>
            <a:endParaRPr lang="en-AU" sz="2000" dirty="0" smtClean="0">
              <a:latin typeface="Helvetica" pitchFamily="34" charset="0"/>
              <a:ea typeface="Times New Roman"/>
              <a:cs typeface="Times New Roman"/>
            </a:endParaRPr>
          </a:p>
          <a:p>
            <a:pPr marL="360000" indent="-360000">
              <a:spcBef>
                <a:spcPts val="600"/>
              </a:spcBef>
              <a:spcAft>
                <a:spcPts val="1200"/>
              </a:spcAft>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000" b="1" dirty="0">
                <a:solidFill>
                  <a:srgbClr val="FF6600"/>
                </a:solidFill>
                <a:latin typeface="Helvetica" pitchFamily="34" charset="0"/>
              </a:rPr>
              <a:t>4.2	Save identified information</a:t>
            </a:r>
          </a:p>
        </p:txBody>
      </p:sp>
      <p:sp>
        <p:nvSpPr>
          <p:cNvPr id="3" name="Content Placeholder 2"/>
          <p:cNvSpPr>
            <a:spLocks noGrp="1"/>
          </p:cNvSpPr>
          <p:nvPr>
            <p:ph idx="1"/>
          </p:nvPr>
        </p:nvSpPr>
        <p:spPr>
          <a:xfrm>
            <a:off x="611560" y="1556792"/>
            <a:ext cx="7467600" cy="4752528"/>
          </a:xfrm>
        </p:spPr>
        <p:txBody>
          <a:bodyPr>
            <a:normAutofit/>
          </a:bodyPr>
          <a:lstStyle/>
          <a:p>
            <a:pPr marL="360000" indent="-360000">
              <a:spcBef>
                <a:spcPts val="600"/>
              </a:spcBef>
              <a:spcAft>
                <a:spcPts val="1200"/>
              </a:spcAft>
            </a:pPr>
            <a:r>
              <a:rPr lang="en-US" sz="2200" dirty="0" smtClean="0"/>
              <a:t>Information you have conducted searches for</a:t>
            </a:r>
          </a:p>
          <a:p>
            <a:pPr marL="360000" indent="-360000">
              <a:spcBef>
                <a:spcPts val="600"/>
              </a:spcBef>
              <a:spcAft>
                <a:spcPts val="1200"/>
              </a:spcAft>
            </a:pPr>
            <a:r>
              <a:rPr lang="en-US" sz="2200" dirty="0" smtClean="0"/>
              <a:t>Documents you have created or altered</a:t>
            </a:r>
          </a:p>
          <a:p>
            <a:pPr marL="360000" indent="-360000">
              <a:spcBef>
                <a:spcPts val="600"/>
              </a:spcBef>
              <a:spcAft>
                <a:spcPts val="1200"/>
              </a:spcAft>
            </a:pPr>
            <a:r>
              <a:rPr lang="en-US" sz="2200" dirty="0" smtClean="0"/>
              <a:t>Consider company policies, IP and copyright</a:t>
            </a:r>
          </a:p>
          <a:p>
            <a:pPr marL="360000" indent="-360000">
              <a:spcBef>
                <a:spcPts val="600"/>
              </a:spcBef>
              <a:spcAft>
                <a:spcPts val="1200"/>
              </a:spcAft>
            </a:pPr>
            <a:endParaRPr lang="en-US" sz="2200" dirty="0"/>
          </a:p>
          <a:p>
            <a:pPr marL="360000" indent="-360000">
              <a:spcBef>
                <a:spcPts val="600"/>
              </a:spcBef>
              <a:spcAft>
                <a:spcPts val="1200"/>
              </a:spcAft>
            </a:pPr>
            <a:endParaRPr lang="en-US" sz="2200" dirty="0" smtClean="0"/>
          </a:p>
          <a:p>
            <a:pPr marL="360000" indent="-360000">
              <a:spcBef>
                <a:spcPts val="600"/>
              </a:spcBef>
              <a:spcAft>
                <a:spcPts val="1200"/>
              </a:spcAft>
            </a:pPr>
            <a:endParaRPr lang="en-US" sz="2200" dirty="0"/>
          </a:p>
          <a:p>
            <a:pPr marL="360000" indent="-360000">
              <a:spcBef>
                <a:spcPts val="1200"/>
              </a:spcBef>
              <a:spcAft>
                <a:spcPts val="800"/>
              </a:spcAft>
            </a:pPr>
            <a:r>
              <a:rPr lang="en-US" sz="2200" dirty="0" smtClean="0"/>
              <a:t> </a:t>
            </a:r>
            <a:r>
              <a:rPr lang="en-AU" sz="2200" dirty="0">
                <a:latin typeface="Helvetica"/>
                <a:ea typeface="Times New Roman"/>
                <a:cs typeface="Times New Roman"/>
              </a:rPr>
              <a:t>Downloading and saving </a:t>
            </a:r>
            <a:r>
              <a:rPr lang="en-AU" sz="2200" spc="-10" dirty="0">
                <a:latin typeface="Helvetica"/>
                <a:ea typeface="Times New Roman"/>
                <a:cs typeface="Times New Roman"/>
              </a:rPr>
              <a:t>software</a:t>
            </a:r>
            <a:endParaRPr lang="en-AU" sz="2200" dirty="0">
              <a:latin typeface="Helvetica"/>
              <a:ea typeface="Times New Roman"/>
              <a:cs typeface="Times New Roman"/>
            </a:endParaRPr>
          </a:p>
          <a:p>
            <a:pPr marL="360000" indent="-360000">
              <a:spcBef>
                <a:spcPts val="600"/>
              </a:spcBef>
              <a:spcAft>
                <a:spcPts val="1200"/>
              </a:spcAft>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956" y="3418666"/>
            <a:ext cx="8621327" cy="1301557"/>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611560" y="3356992"/>
            <a:ext cx="432048" cy="4073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
        <p:nvSpPr>
          <p:cNvPr id="6" name="Oval 5"/>
          <p:cNvSpPr/>
          <p:nvPr/>
        </p:nvSpPr>
        <p:spPr>
          <a:xfrm>
            <a:off x="467544" y="4032476"/>
            <a:ext cx="1008112" cy="9086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atin typeface="Helvetica"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484784"/>
            <a:ext cx="7467600" cy="4641379"/>
          </a:xfrm>
        </p:spPr>
        <p:txBody>
          <a:bodyPr>
            <a:normAutofit/>
          </a:bodyPr>
          <a:lstStyle/>
          <a:p>
            <a:pPr marL="0" indent="0">
              <a:spcBef>
                <a:spcPts val="1200"/>
              </a:spcBef>
              <a:spcAft>
                <a:spcPts val="800"/>
              </a:spcAft>
              <a:buNone/>
            </a:pPr>
            <a:r>
              <a:rPr lang="en-AU" sz="2400" b="1" dirty="0">
                <a:latin typeface="Helvetica"/>
                <a:ea typeface="Times New Roman"/>
                <a:cs typeface="Times New Roman"/>
              </a:rPr>
              <a:t>Saving files in Word</a:t>
            </a:r>
          </a:p>
          <a:p>
            <a:endParaRPr lang="en-AU" sz="2400" b="1" dirty="0" smtClean="0"/>
          </a:p>
          <a:p>
            <a:endParaRPr lang="en-AU" sz="2400" b="1" dirty="0"/>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4106" y="2253860"/>
            <a:ext cx="2986126" cy="2687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5186776"/>
            <a:ext cx="7848872" cy="608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2214110"/>
            <a:ext cx="2489934" cy="2687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itle 1"/>
          <p:cNvSpPr>
            <a:spLocks noGrp="1"/>
          </p:cNvSpPr>
          <p:nvPr>
            <p:ph type="title"/>
          </p:nvPr>
        </p:nvSpPr>
        <p:spPr>
          <a:xfrm>
            <a:off x="611560" y="332656"/>
            <a:ext cx="7467600" cy="1143000"/>
          </a:xfrm>
        </p:spPr>
        <p:txBody>
          <a:bodyPr>
            <a:normAutofit/>
          </a:bodyPr>
          <a:lstStyle/>
          <a:p>
            <a:pPr marL="900113" indent="-900113"/>
            <a:r>
              <a:rPr lang="en-US" sz="3000" b="1" dirty="0">
                <a:solidFill>
                  <a:srgbClr val="FF6600"/>
                </a:solidFill>
                <a:latin typeface="Helvetica" pitchFamily="34" charset="0"/>
              </a:rPr>
              <a:t>4.2	Save identified information</a:t>
            </a: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78869944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AU" sz="2200" dirty="0" smtClean="0">
                <a:latin typeface="Helvetica" pitchFamily="34" charset="0"/>
              </a:rPr>
              <a:t>Body Copy:</a:t>
            </a:r>
          </a:p>
          <a:p>
            <a:pPr marL="360000" indent="-360000">
              <a:spcBef>
                <a:spcPts val="600"/>
              </a:spcBef>
              <a:spcAft>
                <a:spcPts val="1200"/>
              </a:spcAft>
            </a:pPr>
            <a:r>
              <a:rPr lang="en-AU" sz="2200" dirty="0" smtClean="0">
                <a:latin typeface="Helvetica" pitchFamily="34" charset="0"/>
              </a:rPr>
              <a:t>Customer databases:</a:t>
            </a:r>
          </a:p>
          <a:p>
            <a:pPr marL="661752" lvl="1" indent="-360000">
              <a:spcBef>
                <a:spcPts val="600"/>
              </a:spcBef>
              <a:spcAft>
                <a:spcPts val="1200"/>
              </a:spcAft>
            </a:pPr>
            <a:r>
              <a:rPr lang="en-AU" sz="2200" dirty="0" smtClean="0">
                <a:latin typeface="Helvetica" pitchFamily="34" charset="0"/>
              </a:rPr>
              <a:t>Organising Data</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915880"/>
            <a:ext cx="6431618" cy="3522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6971170" y="4077072"/>
            <a:ext cx="1921310" cy="646331"/>
          </a:xfrm>
          <a:prstGeom prst="rect">
            <a:avLst/>
          </a:prstGeom>
          <a:noFill/>
        </p:spPr>
        <p:txBody>
          <a:bodyPr wrap="square" rtlCol="0">
            <a:spAutoFit/>
          </a:bodyPr>
          <a:lstStyle/>
          <a:p>
            <a:r>
              <a:rPr lang="en-AU" b="1" dirty="0">
                <a:solidFill>
                  <a:srgbClr val="FF0000"/>
                </a:solidFill>
                <a:latin typeface="Helvetica" pitchFamily="34" charset="0"/>
              </a:rPr>
              <a:t>Column labels are field names</a:t>
            </a:r>
          </a:p>
        </p:txBody>
      </p:sp>
      <p:sp>
        <p:nvSpPr>
          <p:cNvPr id="6" name="TextBox 5"/>
          <p:cNvSpPr txBox="1"/>
          <p:nvPr/>
        </p:nvSpPr>
        <p:spPr>
          <a:xfrm>
            <a:off x="6971170" y="5517232"/>
            <a:ext cx="1777294" cy="923330"/>
          </a:xfrm>
          <a:prstGeom prst="rect">
            <a:avLst/>
          </a:prstGeom>
          <a:noFill/>
        </p:spPr>
        <p:txBody>
          <a:bodyPr wrap="square" rtlCol="0">
            <a:spAutoFit/>
          </a:bodyPr>
          <a:lstStyle/>
          <a:p>
            <a:r>
              <a:rPr lang="en-AU" b="1" dirty="0">
                <a:solidFill>
                  <a:srgbClr val="FF0000"/>
                </a:solidFill>
                <a:latin typeface="Helvetica" pitchFamily="34" charset="0"/>
              </a:rPr>
              <a:t>A record is a single row in the list</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968" y="1695253"/>
            <a:ext cx="4678195" cy="321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sp>
        <p:nvSpPr>
          <p:cNvPr id="9" name="Content Placeholder 2"/>
          <p:cNvSpPr txBox="1">
            <a:spLocks/>
          </p:cNvSpPr>
          <p:nvPr/>
        </p:nvSpPr>
        <p:spPr>
          <a:xfrm>
            <a:off x="611560" y="1412776"/>
            <a:ext cx="3528392" cy="4669979"/>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0" indent="0">
              <a:spcBef>
                <a:spcPts val="600"/>
              </a:spcBef>
              <a:spcAft>
                <a:spcPts val="1200"/>
              </a:spcAft>
              <a:buNone/>
            </a:pPr>
            <a:r>
              <a:rPr lang="en-AU" sz="2000" dirty="0" smtClean="0"/>
              <a:t>To </a:t>
            </a:r>
            <a:r>
              <a:rPr lang="en-AU" sz="2000" dirty="0"/>
              <a:t>open a data </a:t>
            </a:r>
            <a:r>
              <a:rPr lang="en-AU" sz="2000" dirty="0" smtClean="0"/>
              <a:t>form:</a:t>
            </a:r>
          </a:p>
          <a:p>
            <a:pPr marL="360000" indent="-360000">
              <a:spcBef>
                <a:spcPts val="600"/>
              </a:spcBef>
              <a:spcAft>
                <a:spcPts val="1200"/>
              </a:spcAft>
            </a:pPr>
            <a:r>
              <a:rPr lang="en-AU" sz="2000" dirty="0" smtClean="0"/>
              <a:t>Click </a:t>
            </a:r>
            <a:r>
              <a:rPr lang="en-AU" sz="2000" dirty="0"/>
              <a:t>A3 to select </a:t>
            </a:r>
            <a:r>
              <a:rPr lang="en-AU" sz="2000" dirty="0" smtClean="0"/>
              <a:t>it</a:t>
            </a:r>
          </a:p>
          <a:p>
            <a:pPr marL="360000" indent="-360000">
              <a:spcBef>
                <a:spcPts val="600"/>
              </a:spcBef>
              <a:spcAft>
                <a:spcPts val="1200"/>
              </a:spcAft>
            </a:pPr>
            <a:r>
              <a:rPr lang="en-AU" sz="2000" dirty="0" smtClean="0"/>
              <a:t>Choose </a:t>
            </a:r>
            <a:r>
              <a:rPr lang="en-AU" sz="2000" dirty="0"/>
              <a:t>the Data menu, then the Form </a:t>
            </a:r>
            <a:r>
              <a:rPr lang="en-AU" sz="2000" dirty="0" smtClean="0"/>
              <a:t>command.</a:t>
            </a:r>
          </a:p>
          <a:p>
            <a:pPr marL="360000" indent="-360000">
              <a:spcBef>
                <a:spcPts val="600"/>
              </a:spcBef>
              <a:spcAft>
                <a:spcPts val="1200"/>
              </a:spcAft>
            </a:pPr>
            <a:r>
              <a:rPr lang="en-AU" sz="2000" dirty="0" smtClean="0"/>
              <a:t>Remember </a:t>
            </a:r>
            <a:r>
              <a:rPr lang="en-AU" sz="2000" dirty="0"/>
              <a:t>if the Form command is not visible, you may have to click .., to display all the commands under this menu</a:t>
            </a:r>
            <a:r>
              <a:rPr lang="en-AU" sz="2400" dirty="0"/>
              <a:t>.</a:t>
            </a:r>
          </a:p>
          <a:p>
            <a:pPr marL="360000" indent="-360000">
              <a:spcBef>
                <a:spcPts val="600"/>
              </a:spcBef>
              <a:spcAft>
                <a:spcPts val="1200"/>
              </a:spcAft>
            </a:pPr>
            <a:endParaRPr lang="en-AU" sz="2200" dirty="0" smtClean="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2205058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0572" y="1340768"/>
            <a:ext cx="7467600" cy="4399729"/>
          </a:xfrm>
        </p:spPr>
        <p:txBody>
          <a:bodyPr/>
          <a:lstStyle/>
          <a:p>
            <a:pPr marL="36576" indent="0">
              <a:buNone/>
            </a:pPr>
            <a:r>
              <a:rPr lang="en-AU" sz="2400" dirty="0">
                <a:ea typeface="Times New Roman"/>
                <a:cs typeface="Times New Roman"/>
              </a:rPr>
              <a:t>A</a:t>
            </a:r>
            <a:r>
              <a:rPr lang="en-AU" sz="2400" spc="-30" dirty="0">
                <a:ea typeface="Times New Roman"/>
                <a:cs typeface="Times New Roman"/>
              </a:rPr>
              <a:t> </a:t>
            </a:r>
            <a:r>
              <a:rPr lang="en-AU" sz="2400" dirty="0">
                <a:ea typeface="Times New Roman"/>
                <a:cs typeface="Times New Roman"/>
              </a:rPr>
              <a:t>data</a:t>
            </a:r>
            <a:r>
              <a:rPr lang="en-AU" sz="2400" spc="-30" dirty="0">
                <a:ea typeface="Times New Roman"/>
                <a:cs typeface="Times New Roman"/>
              </a:rPr>
              <a:t> </a:t>
            </a:r>
            <a:r>
              <a:rPr lang="en-AU" sz="2400" dirty="0">
                <a:ea typeface="Times New Roman"/>
                <a:cs typeface="Times New Roman"/>
              </a:rPr>
              <a:t>form</a:t>
            </a:r>
            <a:r>
              <a:rPr lang="en-AU" sz="2400" spc="-30" dirty="0">
                <a:ea typeface="Times New Roman"/>
                <a:cs typeface="Times New Roman"/>
              </a:rPr>
              <a:t> </a:t>
            </a:r>
            <a:r>
              <a:rPr lang="en-AU" sz="2400" dirty="0">
                <a:ea typeface="Times New Roman"/>
                <a:cs typeface="Times New Roman"/>
              </a:rPr>
              <a:t>appears</a:t>
            </a:r>
            <a:r>
              <a:rPr lang="en-AU" sz="2400" spc="-25" dirty="0">
                <a:ea typeface="Times New Roman"/>
                <a:cs typeface="Times New Roman"/>
              </a:rPr>
              <a:t> </a:t>
            </a:r>
            <a:r>
              <a:rPr lang="en-AU" sz="2400" spc="-5" dirty="0">
                <a:ea typeface="Times New Roman"/>
                <a:cs typeface="Times New Roman"/>
              </a:rPr>
              <a:t>displaying</a:t>
            </a:r>
            <a:r>
              <a:rPr lang="en-AU" sz="2400" spc="-30" dirty="0">
                <a:ea typeface="Times New Roman"/>
                <a:cs typeface="Times New Roman"/>
              </a:rPr>
              <a:t> </a:t>
            </a:r>
            <a:r>
              <a:rPr lang="en-AU" sz="2400" dirty="0">
                <a:ea typeface="Times New Roman"/>
                <a:cs typeface="Times New Roman"/>
              </a:rPr>
              <a:t>the</a:t>
            </a:r>
            <a:r>
              <a:rPr lang="en-AU" sz="2400" spc="-30" dirty="0">
                <a:ea typeface="Times New Roman"/>
                <a:cs typeface="Times New Roman"/>
              </a:rPr>
              <a:t> </a:t>
            </a:r>
            <a:r>
              <a:rPr lang="en-AU" sz="2400" dirty="0">
                <a:ea typeface="Times New Roman"/>
                <a:cs typeface="Times New Roman"/>
              </a:rPr>
              <a:t>first</a:t>
            </a:r>
            <a:r>
              <a:rPr lang="en-AU" sz="2400" spc="-25" dirty="0">
                <a:ea typeface="Times New Roman"/>
                <a:cs typeface="Times New Roman"/>
              </a:rPr>
              <a:t> </a:t>
            </a:r>
            <a:r>
              <a:rPr lang="en-AU" sz="2400" dirty="0">
                <a:ea typeface="Times New Roman"/>
                <a:cs typeface="Times New Roman"/>
              </a:rPr>
              <a:t>record</a:t>
            </a:r>
            <a:r>
              <a:rPr lang="en-AU" sz="2400" spc="-30" dirty="0">
                <a:ea typeface="Times New Roman"/>
                <a:cs typeface="Times New Roman"/>
              </a:rPr>
              <a:t> </a:t>
            </a:r>
            <a:r>
              <a:rPr lang="en-AU" sz="2400" dirty="0">
                <a:ea typeface="Times New Roman"/>
                <a:cs typeface="Times New Roman"/>
              </a:rPr>
              <a:t>in</a:t>
            </a:r>
            <a:r>
              <a:rPr lang="en-AU" sz="2400" spc="-35" dirty="0">
                <a:ea typeface="Times New Roman"/>
                <a:cs typeface="Times New Roman"/>
              </a:rPr>
              <a:t> </a:t>
            </a:r>
            <a:r>
              <a:rPr lang="en-AU" sz="2400" dirty="0">
                <a:ea typeface="Times New Roman"/>
                <a:cs typeface="Times New Roman"/>
              </a:rPr>
              <a:t>the</a:t>
            </a:r>
            <a:r>
              <a:rPr lang="en-AU" sz="2400" spc="-25" dirty="0">
                <a:ea typeface="Times New Roman"/>
                <a:cs typeface="Times New Roman"/>
              </a:rPr>
              <a:t> </a:t>
            </a:r>
            <a:r>
              <a:rPr lang="en-AU" sz="2400" spc="-5" dirty="0" smtClean="0">
                <a:ea typeface="Times New Roman"/>
                <a:cs typeface="Times New Roman"/>
              </a:rPr>
              <a:t>database.</a:t>
            </a:r>
          </a:p>
          <a:p>
            <a:endParaRPr lang="en-AU" dirty="0"/>
          </a:p>
        </p:txBody>
      </p:sp>
      <p:grpSp>
        <p:nvGrpSpPr>
          <p:cNvPr id="6" name="Group 5"/>
          <p:cNvGrpSpPr>
            <a:grpSpLocks/>
          </p:cNvGrpSpPr>
          <p:nvPr/>
        </p:nvGrpSpPr>
        <p:grpSpPr bwMode="auto">
          <a:xfrm>
            <a:off x="1402211" y="2420888"/>
            <a:ext cx="5704321" cy="4034898"/>
            <a:chOff x="1800" y="-401"/>
            <a:chExt cx="7020" cy="4176"/>
          </a:xfrm>
        </p:grpSpPr>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0" y="-401"/>
              <a:ext cx="6662" cy="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p:cNvGrpSpPr>
              <a:grpSpLocks/>
            </p:cNvGrpSpPr>
            <p:nvPr/>
          </p:nvGrpSpPr>
          <p:grpSpPr bwMode="auto">
            <a:xfrm>
              <a:off x="8100" y="229"/>
              <a:ext cx="720" cy="120"/>
              <a:chOff x="8100" y="229"/>
              <a:chExt cx="720" cy="120"/>
            </a:xfrm>
          </p:grpSpPr>
          <p:sp>
            <p:nvSpPr>
              <p:cNvPr id="11" name="Freeform 10"/>
              <p:cNvSpPr>
                <a:spLocks/>
              </p:cNvSpPr>
              <p:nvPr/>
            </p:nvSpPr>
            <p:spPr bwMode="auto">
              <a:xfrm>
                <a:off x="8100" y="229"/>
                <a:ext cx="720" cy="120"/>
              </a:xfrm>
              <a:custGeom>
                <a:avLst/>
                <a:gdLst>
                  <a:gd name="T0" fmla="+- 0 8220 8100"/>
                  <a:gd name="T1" fmla="*/ T0 w 720"/>
                  <a:gd name="T2" fmla="+- 0 229 229"/>
                  <a:gd name="T3" fmla="*/ 229 h 120"/>
                  <a:gd name="T4" fmla="+- 0 8100 8100"/>
                  <a:gd name="T5" fmla="*/ T4 w 720"/>
                  <a:gd name="T6" fmla="+- 0 289 229"/>
                  <a:gd name="T7" fmla="*/ 289 h 120"/>
                  <a:gd name="T8" fmla="+- 0 8220 8100"/>
                  <a:gd name="T9" fmla="*/ T8 w 720"/>
                  <a:gd name="T10" fmla="+- 0 349 229"/>
                  <a:gd name="T11" fmla="*/ 349 h 120"/>
                  <a:gd name="T12" fmla="+- 0 8220 8100"/>
                  <a:gd name="T13" fmla="*/ T12 w 720"/>
                  <a:gd name="T14" fmla="+- 0 303 229"/>
                  <a:gd name="T15" fmla="*/ 303 h 120"/>
                  <a:gd name="T16" fmla="+- 0 8200 8100"/>
                  <a:gd name="T17" fmla="*/ T16 w 720"/>
                  <a:gd name="T18" fmla="+- 0 303 229"/>
                  <a:gd name="T19" fmla="*/ 303 h 120"/>
                  <a:gd name="T20" fmla="+- 0 8200 8100"/>
                  <a:gd name="T21" fmla="*/ T20 w 720"/>
                  <a:gd name="T22" fmla="+- 0 273 229"/>
                  <a:gd name="T23" fmla="*/ 273 h 120"/>
                  <a:gd name="T24" fmla="+- 0 8220 8100"/>
                  <a:gd name="T25" fmla="*/ T24 w 720"/>
                  <a:gd name="T26" fmla="+- 0 273 229"/>
                  <a:gd name="T27" fmla="*/ 273 h 120"/>
                  <a:gd name="T28" fmla="+- 0 8220 8100"/>
                  <a:gd name="T29" fmla="*/ T28 w 720"/>
                  <a:gd name="T30" fmla="+- 0 229 229"/>
                  <a:gd name="T31" fmla="*/ 229 h 120"/>
                </a:gdLst>
                <a:ahLst/>
                <a:cxnLst>
                  <a:cxn ang="0">
                    <a:pos x="T1" y="T3"/>
                  </a:cxn>
                  <a:cxn ang="0">
                    <a:pos x="T5" y="T7"/>
                  </a:cxn>
                  <a:cxn ang="0">
                    <a:pos x="T9" y="T11"/>
                  </a:cxn>
                  <a:cxn ang="0">
                    <a:pos x="T13" y="T15"/>
                  </a:cxn>
                  <a:cxn ang="0">
                    <a:pos x="T17" y="T19"/>
                  </a:cxn>
                  <a:cxn ang="0">
                    <a:pos x="T21" y="T23"/>
                  </a:cxn>
                  <a:cxn ang="0">
                    <a:pos x="T25" y="T27"/>
                  </a:cxn>
                  <a:cxn ang="0">
                    <a:pos x="T29" y="T31"/>
                  </a:cxn>
                </a:cxnLst>
                <a:rect l="0" t="0" r="r" b="b"/>
                <a:pathLst>
                  <a:path w="720" h="120">
                    <a:moveTo>
                      <a:pt x="120" y="0"/>
                    </a:moveTo>
                    <a:lnTo>
                      <a:pt x="0" y="60"/>
                    </a:lnTo>
                    <a:lnTo>
                      <a:pt x="120" y="120"/>
                    </a:lnTo>
                    <a:lnTo>
                      <a:pt x="120" y="74"/>
                    </a:lnTo>
                    <a:lnTo>
                      <a:pt x="100" y="74"/>
                    </a:lnTo>
                    <a:lnTo>
                      <a:pt x="100" y="44"/>
                    </a:lnTo>
                    <a:lnTo>
                      <a:pt x="120" y="44"/>
                    </a:lnTo>
                    <a:lnTo>
                      <a:pt x="1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ysClr val="windowText" lastClr="000000"/>
                  </a:solidFill>
                  <a:effectLst/>
                  <a:uLnTx/>
                  <a:uFillTx/>
                  <a:latin typeface="Helvetica" pitchFamily="34" charset="0"/>
                </a:endParaRPr>
              </a:p>
            </p:txBody>
          </p:sp>
          <p:sp>
            <p:nvSpPr>
              <p:cNvPr id="12" name="Freeform 11"/>
              <p:cNvSpPr>
                <a:spLocks/>
              </p:cNvSpPr>
              <p:nvPr/>
            </p:nvSpPr>
            <p:spPr bwMode="auto">
              <a:xfrm>
                <a:off x="8100" y="229"/>
                <a:ext cx="720" cy="120"/>
              </a:xfrm>
              <a:custGeom>
                <a:avLst/>
                <a:gdLst>
                  <a:gd name="T0" fmla="+- 0 8220 8100"/>
                  <a:gd name="T1" fmla="*/ T0 w 720"/>
                  <a:gd name="T2" fmla="+- 0 273 229"/>
                  <a:gd name="T3" fmla="*/ 273 h 120"/>
                  <a:gd name="T4" fmla="+- 0 8200 8100"/>
                  <a:gd name="T5" fmla="*/ T4 w 720"/>
                  <a:gd name="T6" fmla="+- 0 273 229"/>
                  <a:gd name="T7" fmla="*/ 273 h 120"/>
                  <a:gd name="T8" fmla="+- 0 8200 8100"/>
                  <a:gd name="T9" fmla="*/ T8 w 720"/>
                  <a:gd name="T10" fmla="+- 0 303 229"/>
                  <a:gd name="T11" fmla="*/ 303 h 120"/>
                  <a:gd name="T12" fmla="+- 0 8220 8100"/>
                  <a:gd name="T13" fmla="*/ T12 w 720"/>
                  <a:gd name="T14" fmla="+- 0 303 229"/>
                  <a:gd name="T15" fmla="*/ 303 h 120"/>
                  <a:gd name="T16" fmla="+- 0 8220 8100"/>
                  <a:gd name="T17" fmla="*/ T16 w 720"/>
                  <a:gd name="T18" fmla="+- 0 273 229"/>
                  <a:gd name="T19" fmla="*/ 273 h 120"/>
                </a:gdLst>
                <a:ahLst/>
                <a:cxnLst>
                  <a:cxn ang="0">
                    <a:pos x="T1" y="T3"/>
                  </a:cxn>
                  <a:cxn ang="0">
                    <a:pos x="T5" y="T7"/>
                  </a:cxn>
                  <a:cxn ang="0">
                    <a:pos x="T9" y="T11"/>
                  </a:cxn>
                  <a:cxn ang="0">
                    <a:pos x="T13" y="T15"/>
                  </a:cxn>
                  <a:cxn ang="0">
                    <a:pos x="T17" y="T19"/>
                  </a:cxn>
                </a:cxnLst>
                <a:rect l="0" t="0" r="r" b="b"/>
                <a:pathLst>
                  <a:path w="720" h="120">
                    <a:moveTo>
                      <a:pt x="120" y="44"/>
                    </a:moveTo>
                    <a:lnTo>
                      <a:pt x="100" y="44"/>
                    </a:lnTo>
                    <a:lnTo>
                      <a:pt x="100" y="74"/>
                    </a:lnTo>
                    <a:lnTo>
                      <a:pt x="120" y="74"/>
                    </a:lnTo>
                    <a:lnTo>
                      <a:pt x="120"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ysClr val="windowText" lastClr="000000"/>
                  </a:solidFill>
                  <a:effectLst/>
                  <a:uLnTx/>
                  <a:uFillTx/>
                  <a:latin typeface="Helvetica" pitchFamily="34" charset="0"/>
                </a:endParaRPr>
              </a:p>
            </p:txBody>
          </p:sp>
          <p:sp>
            <p:nvSpPr>
              <p:cNvPr id="13" name="Freeform 12"/>
              <p:cNvSpPr>
                <a:spLocks/>
              </p:cNvSpPr>
              <p:nvPr/>
            </p:nvSpPr>
            <p:spPr bwMode="auto">
              <a:xfrm>
                <a:off x="8100" y="229"/>
                <a:ext cx="720" cy="120"/>
              </a:xfrm>
              <a:custGeom>
                <a:avLst/>
                <a:gdLst>
                  <a:gd name="T0" fmla="+- 0 8820 8100"/>
                  <a:gd name="T1" fmla="*/ T0 w 720"/>
                  <a:gd name="T2" fmla="+- 0 273 229"/>
                  <a:gd name="T3" fmla="*/ 273 h 120"/>
                  <a:gd name="T4" fmla="+- 0 8220 8100"/>
                  <a:gd name="T5" fmla="*/ T4 w 720"/>
                  <a:gd name="T6" fmla="+- 0 273 229"/>
                  <a:gd name="T7" fmla="*/ 273 h 120"/>
                  <a:gd name="T8" fmla="+- 0 8220 8100"/>
                  <a:gd name="T9" fmla="*/ T8 w 720"/>
                  <a:gd name="T10" fmla="+- 0 303 229"/>
                  <a:gd name="T11" fmla="*/ 303 h 120"/>
                  <a:gd name="T12" fmla="+- 0 8820 8100"/>
                  <a:gd name="T13" fmla="*/ T12 w 720"/>
                  <a:gd name="T14" fmla="+- 0 303 229"/>
                  <a:gd name="T15" fmla="*/ 303 h 120"/>
                  <a:gd name="T16" fmla="+- 0 8820 8100"/>
                  <a:gd name="T17" fmla="*/ T16 w 720"/>
                  <a:gd name="T18" fmla="+- 0 273 229"/>
                  <a:gd name="T19" fmla="*/ 273 h 120"/>
                </a:gdLst>
                <a:ahLst/>
                <a:cxnLst>
                  <a:cxn ang="0">
                    <a:pos x="T1" y="T3"/>
                  </a:cxn>
                  <a:cxn ang="0">
                    <a:pos x="T5" y="T7"/>
                  </a:cxn>
                  <a:cxn ang="0">
                    <a:pos x="T9" y="T11"/>
                  </a:cxn>
                  <a:cxn ang="0">
                    <a:pos x="T13" y="T15"/>
                  </a:cxn>
                  <a:cxn ang="0">
                    <a:pos x="T17" y="T19"/>
                  </a:cxn>
                </a:cxnLst>
                <a:rect l="0" t="0" r="r" b="b"/>
                <a:pathLst>
                  <a:path w="720" h="120">
                    <a:moveTo>
                      <a:pt x="720" y="44"/>
                    </a:moveTo>
                    <a:lnTo>
                      <a:pt x="120" y="44"/>
                    </a:lnTo>
                    <a:lnTo>
                      <a:pt x="120" y="74"/>
                    </a:lnTo>
                    <a:lnTo>
                      <a:pt x="720" y="74"/>
                    </a:lnTo>
                    <a:lnTo>
                      <a:pt x="720"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ysClr val="windowText" lastClr="000000"/>
                  </a:solidFill>
                  <a:effectLst/>
                  <a:uLnTx/>
                  <a:uFillTx/>
                  <a:latin typeface="Helvetica" pitchFamily="34" charset="0"/>
                </a:endParaRPr>
              </a:p>
            </p:txBody>
          </p:sp>
        </p:grpSp>
        <p:grpSp>
          <p:nvGrpSpPr>
            <p:cNvPr id="9" name="Group 8"/>
            <p:cNvGrpSpPr>
              <a:grpSpLocks/>
            </p:cNvGrpSpPr>
            <p:nvPr/>
          </p:nvGrpSpPr>
          <p:grpSpPr bwMode="auto">
            <a:xfrm>
              <a:off x="7380" y="109"/>
              <a:ext cx="720" cy="360"/>
              <a:chOff x="7380" y="109"/>
              <a:chExt cx="720" cy="360"/>
            </a:xfrm>
          </p:grpSpPr>
          <p:sp>
            <p:nvSpPr>
              <p:cNvPr id="10" name="Freeform 9"/>
              <p:cNvSpPr>
                <a:spLocks/>
              </p:cNvSpPr>
              <p:nvPr/>
            </p:nvSpPr>
            <p:spPr bwMode="auto">
              <a:xfrm>
                <a:off x="7380" y="109"/>
                <a:ext cx="720" cy="360"/>
              </a:xfrm>
              <a:custGeom>
                <a:avLst/>
                <a:gdLst>
                  <a:gd name="T0" fmla="+- 0 7740 7380"/>
                  <a:gd name="T1" fmla="*/ T0 w 720"/>
                  <a:gd name="T2" fmla="+- 0 109 109"/>
                  <a:gd name="T3" fmla="*/ 109 h 360"/>
                  <a:gd name="T4" fmla="+- 0 7653 7380"/>
                  <a:gd name="T5" fmla="*/ T4 w 720"/>
                  <a:gd name="T6" fmla="+- 0 114 109"/>
                  <a:gd name="T7" fmla="*/ 114 h 360"/>
                  <a:gd name="T8" fmla="+- 0 7574 7380"/>
                  <a:gd name="T9" fmla="*/ T8 w 720"/>
                  <a:gd name="T10" fmla="+- 0 129 109"/>
                  <a:gd name="T11" fmla="*/ 129 h 360"/>
                  <a:gd name="T12" fmla="+- 0 7506 7380"/>
                  <a:gd name="T13" fmla="*/ T12 w 720"/>
                  <a:gd name="T14" fmla="+- 0 152 109"/>
                  <a:gd name="T15" fmla="*/ 152 h 360"/>
                  <a:gd name="T16" fmla="+- 0 7449 7380"/>
                  <a:gd name="T17" fmla="*/ T16 w 720"/>
                  <a:gd name="T18" fmla="+- 0 182 109"/>
                  <a:gd name="T19" fmla="*/ 182 h 360"/>
                  <a:gd name="T20" fmla="+- 0 7398 7380"/>
                  <a:gd name="T21" fmla="*/ T20 w 720"/>
                  <a:gd name="T22" fmla="+- 0 232 109"/>
                  <a:gd name="T23" fmla="*/ 232 h 360"/>
                  <a:gd name="T24" fmla="+- 0 7380 7380"/>
                  <a:gd name="T25" fmla="*/ T24 w 720"/>
                  <a:gd name="T26" fmla="+- 0 289 109"/>
                  <a:gd name="T27" fmla="*/ 289 h 360"/>
                  <a:gd name="T28" fmla="+- 0 7381 7380"/>
                  <a:gd name="T29" fmla="*/ T28 w 720"/>
                  <a:gd name="T30" fmla="+- 0 303 109"/>
                  <a:gd name="T31" fmla="*/ 303 h 360"/>
                  <a:gd name="T32" fmla="+- 0 7408 7380"/>
                  <a:gd name="T33" fmla="*/ T32 w 720"/>
                  <a:gd name="T34" fmla="+- 0 359 109"/>
                  <a:gd name="T35" fmla="*/ 359 h 360"/>
                  <a:gd name="T36" fmla="+- 0 7467 7380"/>
                  <a:gd name="T37" fmla="*/ T36 w 720"/>
                  <a:gd name="T38" fmla="+- 0 406 109"/>
                  <a:gd name="T39" fmla="*/ 406 h 360"/>
                  <a:gd name="T40" fmla="+- 0 7527 7380"/>
                  <a:gd name="T41" fmla="*/ T40 w 720"/>
                  <a:gd name="T42" fmla="+- 0 434 109"/>
                  <a:gd name="T43" fmla="*/ 434 h 360"/>
                  <a:gd name="T44" fmla="+- 0 7600 7380"/>
                  <a:gd name="T45" fmla="*/ T44 w 720"/>
                  <a:gd name="T46" fmla="+- 0 455 109"/>
                  <a:gd name="T47" fmla="*/ 455 h 360"/>
                  <a:gd name="T48" fmla="+- 0 7682 7380"/>
                  <a:gd name="T49" fmla="*/ T48 w 720"/>
                  <a:gd name="T50" fmla="+- 0 466 109"/>
                  <a:gd name="T51" fmla="*/ 466 h 360"/>
                  <a:gd name="T52" fmla="+- 0 7740 7380"/>
                  <a:gd name="T53" fmla="*/ T52 w 720"/>
                  <a:gd name="T54" fmla="+- 0 469 109"/>
                  <a:gd name="T55" fmla="*/ 469 h 360"/>
                  <a:gd name="T56" fmla="+- 0 7770 7380"/>
                  <a:gd name="T57" fmla="*/ T56 w 720"/>
                  <a:gd name="T58" fmla="+- 0 468 109"/>
                  <a:gd name="T59" fmla="*/ 468 h 360"/>
                  <a:gd name="T60" fmla="+- 0 7854 7380"/>
                  <a:gd name="T61" fmla="*/ T60 w 720"/>
                  <a:gd name="T62" fmla="+- 0 460 109"/>
                  <a:gd name="T63" fmla="*/ 460 h 360"/>
                  <a:gd name="T64" fmla="+- 0 7930 7380"/>
                  <a:gd name="T65" fmla="*/ T64 w 720"/>
                  <a:gd name="T66" fmla="+- 0 442 109"/>
                  <a:gd name="T67" fmla="*/ 442 h 360"/>
                  <a:gd name="T68" fmla="+- 0 7995 7380"/>
                  <a:gd name="T69" fmla="*/ T68 w 720"/>
                  <a:gd name="T70" fmla="+- 0 416 109"/>
                  <a:gd name="T71" fmla="*/ 416 h 360"/>
                  <a:gd name="T72" fmla="+- 0 8046 7380"/>
                  <a:gd name="T73" fmla="*/ T72 w 720"/>
                  <a:gd name="T74" fmla="+- 0 384 109"/>
                  <a:gd name="T75" fmla="*/ 384 h 360"/>
                  <a:gd name="T76" fmla="+- 0 8090 7380"/>
                  <a:gd name="T77" fmla="*/ T76 w 720"/>
                  <a:gd name="T78" fmla="+- 0 332 109"/>
                  <a:gd name="T79" fmla="*/ 332 h 360"/>
                  <a:gd name="T80" fmla="+- 0 8100 7380"/>
                  <a:gd name="T81" fmla="*/ T80 w 720"/>
                  <a:gd name="T82" fmla="+- 0 289 109"/>
                  <a:gd name="T83" fmla="*/ 289 h 360"/>
                  <a:gd name="T84" fmla="+- 0 8099 7380"/>
                  <a:gd name="T85" fmla="*/ T84 w 720"/>
                  <a:gd name="T86" fmla="+- 0 274 109"/>
                  <a:gd name="T87" fmla="*/ 274 h 360"/>
                  <a:gd name="T88" fmla="+- 0 8072 7380"/>
                  <a:gd name="T89" fmla="*/ T88 w 720"/>
                  <a:gd name="T90" fmla="+- 0 219 109"/>
                  <a:gd name="T91" fmla="*/ 219 h 360"/>
                  <a:gd name="T92" fmla="+- 0 8013 7380"/>
                  <a:gd name="T93" fmla="*/ T92 w 720"/>
                  <a:gd name="T94" fmla="+- 0 171 109"/>
                  <a:gd name="T95" fmla="*/ 171 h 360"/>
                  <a:gd name="T96" fmla="+- 0 7953 7380"/>
                  <a:gd name="T97" fmla="*/ T96 w 720"/>
                  <a:gd name="T98" fmla="+- 0 143 109"/>
                  <a:gd name="T99" fmla="*/ 143 h 360"/>
                  <a:gd name="T100" fmla="+- 0 7880 7380"/>
                  <a:gd name="T101" fmla="*/ T100 w 720"/>
                  <a:gd name="T102" fmla="+- 0 123 109"/>
                  <a:gd name="T103" fmla="*/ 123 h 360"/>
                  <a:gd name="T104" fmla="+- 0 7798 7380"/>
                  <a:gd name="T105" fmla="*/ T104 w 720"/>
                  <a:gd name="T106" fmla="+- 0 111 109"/>
                  <a:gd name="T107" fmla="*/ 111 h 360"/>
                  <a:gd name="T108" fmla="+- 0 7740 7380"/>
                  <a:gd name="T109" fmla="*/ T108 w 720"/>
                  <a:gd name="T110" fmla="+- 0 109 109"/>
                  <a:gd name="T111" fmla="*/ 109 h 360"/>
                </a:gdLst>
                <a:ahLst/>
                <a:cxnLst>
                  <a:cxn ang="0">
                    <a:pos x="T1" y="T3"/>
                  </a:cxn>
                  <a:cxn ang="0">
                    <a:pos x="T5" y="T7"/>
                  </a:cxn>
                  <a:cxn ang="0">
                    <a:pos x="T9" y="T11"/>
                  </a:cxn>
                  <a:cxn ang="0">
                    <a:pos x="T13" y="T15"/>
                  </a:cxn>
                  <a:cxn ang="0">
                    <a:pos x="T17" y="T19"/>
                  </a:cxn>
                  <a:cxn ang="0">
                    <a:pos x="T21" y="T23"/>
                  </a:cxn>
                  <a:cxn ang="0">
                    <a:pos x="T25" y="T27"/>
                  </a:cxn>
                  <a:cxn ang="0">
                    <a:pos x="T29" y="T31"/>
                  </a:cxn>
                  <a:cxn ang="0">
                    <a:pos x="T33" y="T35"/>
                  </a:cxn>
                  <a:cxn ang="0">
                    <a:pos x="T37" y="T39"/>
                  </a:cxn>
                  <a:cxn ang="0">
                    <a:pos x="T41" y="T43"/>
                  </a:cxn>
                  <a:cxn ang="0">
                    <a:pos x="T45" y="T47"/>
                  </a:cxn>
                  <a:cxn ang="0">
                    <a:pos x="T49" y="T51"/>
                  </a:cxn>
                  <a:cxn ang="0">
                    <a:pos x="T53" y="T55"/>
                  </a:cxn>
                  <a:cxn ang="0">
                    <a:pos x="T57" y="T59"/>
                  </a:cxn>
                  <a:cxn ang="0">
                    <a:pos x="T61" y="T63"/>
                  </a:cxn>
                  <a:cxn ang="0">
                    <a:pos x="T65" y="T67"/>
                  </a:cxn>
                  <a:cxn ang="0">
                    <a:pos x="T69" y="T71"/>
                  </a:cxn>
                  <a:cxn ang="0">
                    <a:pos x="T73" y="T75"/>
                  </a:cxn>
                  <a:cxn ang="0">
                    <a:pos x="T77" y="T79"/>
                  </a:cxn>
                  <a:cxn ang="0">
                    <a:pos x="T81" y="T83"/>
                  </a:cxn>
                  <a:cxn ang="0">
                    <a:pos x="T85" y="T87"/>
                  </a:cxn>
                  <a:cxn ang="0">
                    <a:pos x="T89" y="T91"/>
                  </a:cxn>
                  <a:cxn ang="0">
                    <a:pos x="T93" y="T95"/>
                  </a:cxn>
                  <a:cxn ang="0">
                    <a:pos x="T97" y="T99"/>
                  </a:cxn>
                  <a:cxn ang="0">
                    <a:pos x="T101" y="T103"/>
                  </a:cxn>
                  <a:cxn ang="0">
                    <a:pos x="T105" y="T107"/>
                  </a:cxn>
                  <a:cxn ang="0">
                    <a:pos x="T109" y="T111"/>
                  </a:cxn>
                </a:cxnLst>
                <a:rect l="0" t="0" r="r" b="b"/>
                <a:pathLst>
                  <a:path w="720" h="360">
                    <a:moveTo>
                      <a:pt x="360" y="0"/>
                    </a:moveTo>
                    <a:lnTo>
                      <a:pt x="273" y="5"/>
                    </a:lnTo>
                    <a:lnTo>
                      <a:pt x="194" y="20"/>
                    </a:lnTo>
                    <a:lnTo>
                      <a:pt x="126" y="43"/>
                    </a:lnTo>
                    <a:lnTo>
                      <a:pt x="69" y="73"/>
                    </a:lnTo>
                    <a:lnTo>
                      <a:pt x="18" y="123"/>
                    </a:lnTo>
                    <a:lnTo>
                      <a:pt x="0" y="180"/>
                    </a:lnTo>
                    <a:lnTo>
                      <a:pt x="1" y="194"/>
                    </a:lnTo>
                    <a:lnTo>
                      <a:pt x="28" y="250"/>
                    </a:lnTo>
                    <a:lnTo>
                      <a:pt x="87" y="297"/>
                    </a:lnTo>
                    <a:lnTo>
                      <a:pt x="147" y="325"/>
                    </a:lnTo>
                    <a:lnTo>
                      <a:pt x="220" y="346"/>
                    </a:lnTo>
                    <a:lnTo>
                      <a:pt x="302" y="357"/>
                    </a:lnTo>
                    <a:lnTo>
                      <a:pt x="360" y="360"/>
                    </a:lnTo>
                    <a:lnTo>
                      <a:pt x="390" y="359"/>
                    </a:lnTo>
                    <a:lnTo>
                      <a:pt x="474" y="351"/>
                    </a:lnTo>
                    <a:lnTo>
                      <a:pt x="550" y="333"/>
                    </a:lnTo>
                    <a:lnTo>
                      <a:pt x="615" y="307"/>
                    </a:lnTo>
                    <a:lnTo>
                      <a:pt x="666" y="275"/>
                    </a:lnTo>
                    <a:lnTo>
                      <a:pt x="710" y="223"/>
                    </a:lnTo>
                    <a:lnTo>
                      <a:pt x="720" y="180"/>
                    </a:lnTo>
                    <a:lnTo>
                      <a:pt x="719" y="165"/>
                    </a:lnTo>
                    <a:lnTo>
                      <a:pt x="692" y="110"/>
                    </a:lnTo>
                    <a:lnTo>
                      <a:pt x="633" y="62"/>
                    </a:lnTo>
                    <a:lnTo>
                      <a:pt x="573" y="34"/>
                    </a:lnTo>
                    <a:lnTo>
                      <a:pt x="500" y="14"/>
                    </a:lnTo>
                    <a:lnTo>
                      <a:pt x="418" y="2"/>
                    </a:lnTo>
                    <a:lnTo>
                      <a:pt x="360"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ysClr val="windowText" lastClr="000000"/>
                  </a:solidFill>
                  <a:effectLst/>
                  <a:uLnTx/>
                  <a:uFillTx/>
                  <a:latin typeface="Helvetica" pitchFamily="34" charset="0"/>
                </a:endParaRPr>
              </a:p>
            </p:txBody>
          </p:sp>
        </p:grpSp>
      </p:grpSp>
      <p:sp>
        <p:nvSpPr>
          <p:cNvPr id="14"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sp>
        <p:nvSpPr>
          <p:cNvPr id="1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58</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33025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spcBef>
                <a:spcPts val="600"/>
              </a:spcBef>
              <a:spcAft>
                <a:spcPts val="1200"/>
              </a:spcAft>
            </a:pPr>
            <a:r>
              <a:rPr lang="en-AU" sz="2200" dirty="0"/>
              <a:t>Using a data form to edit </a:t>
            </a:r>
            <a:r>
              <a:rPr lang="en-AU" sz="2200" dirty="0" smtClean="0"/>
              <a:t>records</a:t>
            </a:r>
          </a:p>
          <a:p>
            <a:pPr>
              <a:spcBef>
                <a:spcPts val="600"/>
              </a:spcBef>
              <a:spcAft>
                <a:spcPts val="1200"/>
              </a:spcAft>
            </a:pPr>
            <a:r>
              <a:rPr lang="en-AU" sz="2200" dirty="0">
                <a:latin typeface="Helvetica"/>
                <a:ea typeface="Calibri"/>
                <a:cs typeface="Calibri"/>
              </a:rPr>
              <a:t>To change the Age field of the displayed record from 41 to 42: </a:t>
            </a:r>
            <a:endParaRPr lang="en-AU" sz="2200" dirty="0" smtClean="0">
              <a:latin typeface="Helvetica"/>
              <a:ea typeface="Calibri"/>
              <a:cs typeface="Calibri"/>
            </a:endParaRPr>
          </a:p>
          <a:p>
            <a:pPr marL="36576" indent="0">
              <a:spcBef>
                <a:spcPts val="600"/>
              </a:spcBef>
              <a:spcAft>
                <a:spcPts val="1200"/>
              </a:spcAft>
              <a:buNone/>
            </a:pPr>
            <a:r>
              <a:rPr lang="en-AU" sz="2200" dirty="0"/>
              <a:t>  </a:t>
            </a:r>
            <a:r>
              <a:rPr lang="en-AU" sz="2200" dirty="0">
                <a:latin typeface="Helvetica"/>
                <a:ea typeface="Calibri"/>
                <a:cs typeface="Calibri"/>
              </a:rPr>
              <a:t> </a:t>
            </a:r>
          </a:p>
          <a:p>
            <a:pPr>
              <a:spcBef>
                <a:spcPts val="600"/>
              </a:spcBef>
              <a:spcAft>
                <a:spcPts val="1200"/>
              </a:spcAft>
            </a:pPr>
            <a:r>
              <a:rPr lang="en-AU" sz="2200" dirty="0" smtClean="0">
                <a:latin typeface="Helvetica"/>
                <a:ea typeface="Calibri"/>
                <a:cs typeface="Calibri"/>
              </a:rPr>
              <a:t>Click: worksheet</a:t>
            </a:r>
            <a:endParaRPr lang="en-AU" sz="2200" dirty="0">
              <a:latin typeface="Helvetica"/>
              <a:ea typeface="Calibri"/>
              <a:cs typeface="Calibri"/>
            </a:endParaRPr>
          </a:p>
          <a:p>
            <a:pPr>
              <a:spcBef>
                <a:spcPts val="600"/>
              </a:spcBef>
              <a:spcAft>
                <a:spcPts val="1200"/>
              </a:spcAft>
            </a:pPr>
            <a:r>
              <a:rPr lang="en-AU" sz="2200" dirty="0" smtClean="0">
                <a:latin typeface="Helvetica"/>
                <a:ea typeface="Calibri"/>
                <a:cs typeface="Calibri"/>
              </a:rPr>
              <a:t>Type: 42 </a:t>
            </a:r>
            <a:r>
              <a:rPr lang="en-AU" sz="2200" dirty="0">
                <a:latin typeface="Helvetica"/>
                <a:ea typeface="Calibri"/>
                <a:cs typeface="Calibri"/>
              </a:rPr>
              <a:t>to alter the </a:t>
            </a:r>
            <a:r>
              <a:rPr lang="en-AU" sz="2200" dirty="0" smtClean="0">
                <a:latin typeface="Helvetica"/>
                <a:ea typeface="Calibri"/>
                <a:cs typeface="Calibri"/>
              </a:rPr>
              <a:t>Age</a:t>
            </a:r>
          </a:p>
          <a:p>
            <a:pPr>
              <a:spcBef>
                <a:spcPts val="600"/>
              </a:spcBef>
              <a:spcAft>
                <a:spcPts val="1200"/>
              </a:spcAft>
            </a:pPr>
            <a:r>
              <a:rPr lang="en-AU" sz="2200" dirty="0">
                <a:latin typeface="Helvetica"/>
                <a:ea typeface="Calibri"/>
                <a:cs typeface="Calibri"/>
              </a:rPr>
              <a:t>Using a data form to add records</a:t>
            </a:r>
          </a:p>
          <a:p>
            <a:pPr>
              <a:spcBef>
                <a:spcPts val="600"/>
              </a:spcBef>
              <a:spcAft>
                <a:spcPts val="1200"/>
              </a:spcAft>
            </a:pPr>
            <a:r>
              <a:rPr lang="en-AU" sz="2200" dirty="0">
                <a:latin typeface="Helvetica"/>
                <a:ea typeface="Calibri"/>
                <a:cs typeface="Calibri"/>
              </a:rPr>
              <a:t>You may add records to the database </a:t>
            </a:r>
            <a:r>
              <a:rPr lang="en-AU" sz="2200" dirty="0" smtClean="0">
                <a:latin typeface="Helvetica"/>
                <a:ea typeface="Calibri"/>
                <a:cs typeface="Calibri"/>
              </a:rPr>
              <a:t>by clicking </a:t>
            </a:r>
            <a:r>
              <a:rPr lang="en-AU" sz="2200" dirty="0">
                <a:latin typeface="Helvetica"/>
                <a:ea typeface="Calibri"/>
                <a:cs typeface="Calibri"/>
              </a:rPr>
              <a:t>the button </a:t>
            </a:r>
            <a:r>
              <a:rPr lang="en-AU" sz="2200" dirty="0" smtClean="0">
                <a:latin typeface="Helvetica"/>
                <a:ea typeface="Calibri"/>
                <a:cs typeface="Calibri"/>
              </a:rPr>
              <a:t>                  in </a:t>
            </a:r>
            <a:r>
              <a:rPr lang="en-AU" sz="2200" dirty="0">
                <a:latin typeface="Helvetica"/>
                <a:ea typeface="Calibri"/>
                <a:cs typeface="Calibri"/>
              </a:rPr>
              <a:t>the data </a:t>
            </a:r>
            <a:r>
              <a:rPr lang="en-AU" sz="2200" dirty="0" smtClean="0">
                <a:latin typeface="Helvetica"/>
                <a:ea typeface="Calibri"/>
                <a:cs typeface="Calibri"/>
              </a:rPr>
              <a:t>form</a:t>
            </a:r>
            <a:endParaRPr lang="en-AU" sz="2200" dirty="0">
              <a:latin typeface="Helvetica"/>
              <a:ea typeface="Calibri"/>
              <a:cs typeface="Calibri"/>
            </a:endParaRPr>
          </a:p>
          <a:p>
            <a:pPr marL="36576" indent="0">
              <a:spcBef>
                <a:spcPts val="600"/>
              </a:spcBef>
              <a:spcAft>
                <a:spcPts val="1200"/>
              </a:spcAft>
              <a:buNone/>
            </a:pPr>
            <a:r>
              <a:rPr lang="en-AU" sz="2200" dirty="0"/>
              <a:t>  </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637" y="3042667"/>
            <a:ext cx="456247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5735987"/>
            <a:ext cx="12747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59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2402193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0850" indent="-450850">
              <a:spcBef>
                <a:spcPts val="1200"/>
              </a:spcBef>
              <a:spcAft>
                <a:spcPts val="800"/>
              </a:spcAft>
            </a:pPr>
            <a:r>
              <a:rPr lang="en-AU" sz="2200" spc="-10" dirty="0">
                <a:latin typeface="Helvetica"/>
                <a:ea typeface="Arial"/>
                <a:cs typeface="Times New Roman"/>
              </a:rPr>
              <a:t>U</a:t>
            </a:r>
            <a:r>
              <a:rPr lang="en-AU" sz="2200" dirty="0">
                <a:latin typeface="Helvetica"/>
                <a:ea typeface="Arial"/>
                <a:cs typeface="Times New Roman"/>
              </a:rPr>
              <a:t>sing</a:t>
            </a:r>
            <a:r>
              <a:rPr lang="en-AU" sz="2200" spc="-80" dirty="0">
                <a:latin typeface="Helvetica"/>
                <a:ea typeface="Arial"/>
                <a:cs typeface="Times New Roman"/>
              </a:rPr>
              <a:t> </a:t>
            </a:r>
            <a:r>
              <a:rPr lang="en-AU" sz="2200" dirty="0">
                <a:latin typeface="Helvetica"/>
                <a:ea typeface="Arial"/>
                <a:cs typeface="Times New Roman"/>
              </a:rPr>
              <a:t>a</a:t>
            </a:r>
            <a:r>
              <a:rPr lang="en-AU" sz="2200" spc="-70" dirty="0">
                <a:latin typeface="Helvetica"/>
                <a:ea typeface="Arial"/>
                <a:cs typeface="Times New Roman"/>
              </a:rPr>
              <a:t> </a:t>
            </a:r>
            <a:r>
              <a:rPr lang="en-AU" sz="2200" dirty="0">
                <a:latin typeface="Helvetica"/>
                <a:ea typeface="Arial"/>
                <a:cs typeface="Times New Roman"/>
              </a:rPr>
              <a:t>d</a:t>
            </a:r>
            <a:r>
              <a:rPr lang="en-AU" sz="2200" spc="-10" dirty="0">
                <a:latin typeface="Helvetica"/>
                <a:ea typeface="Arial"/>
                <a:cs typeface="Times New Roman"/>
              </a:rPr>
              <a:t>a</a:t>
            </a:r>
            <a:r>
              <a:rPr lang="en-AU" sz="2200" dirty="0">
                <a:latin typeface="Helvetica"/>
                <a:ea typeface="Arial"/>
                <a:cs typeface="Times New Roman"/>
              </a:rPr>
              <a:t>t</a:t>
            </a:r>
            <a:r>
              <a:rPr lang="en-AU" sz="2200" spc="-10" dirty="0">
                <a:latin typeface="Helvetica"/>
                <a:ea typeface="Arial"/>
                <a:cs typeface="Times New Roman"/>
              </a:rPr>
              <a:t>a</a:t>
            </a:r>
            <a:r>
              <a:rPr lang="en-AU" sz="2200" spc="-75" dirty="0">
                <a:latin typeface="Helvetica"/>
                <a:ea typeface="Arial"/>
                <a:cs typeface="Times New Roman"/>
              </a:rPr>
              <a:t> </a:t>
            </a:r>
            <a:r>
              <a:rPr lang="en-AU" sz="2200" dirty="0">
                <a:latin typeface="Helvetica"/>
                <a:ea typeface="Arial"/>
                <a:cs typeface="Times New Roman"/>
              </a:rPr>
              <a:t>for</a:t>
            </a:r>
            <a:r>
              <a:rPr lang="en-AU" sz="2200" spc="-10" dirty="0">
                <a:latin typeface="Helvetica"/>
                <a:ea typeface="Arial"/>
                <a:cs typeface="Times New Roman"/>
              </a:rPr>
              <a:t>m</a:t>
            </a:r>
            <a:r>
              <a:rPr lang="en-AU" sz="2200" spc="-75" dirty="0">
                <a:latin typeface="Helvetica"/>
                <a:ea typeface="Arial"/>
                <a:cs typeface="Times New Roman"/>
              </a:rPr>
              <a:t> </a:t>
            </a:r>
            <a:r>
              <a:rPr lang="en-AU" sz="2200" dirty="0">
                <a:latin typeface="Helvetica"/>
                <a:ea typeface="Arial"/>
                <a:cs typeface="Times New Roman"/>
              </a:rPr>
              <a:t>to</a:t>
            </a:r>
            <a:r>
              <a:rPr lang="en-AU" sz="2200" spc="-80" dirty="0">
                <a:latin typeface="Helvetica"/>
                <a:ea typeface="Arial"/>
                <a:cs typeface="Times New Roman"/>
              </a:rPr>
              <a:t> </a:t>
            </a:r>
            <a:r>
              <a:rPr lang="en-AU" sz="2200" dirty="0">
                <a:latin typeface="Helvetica"/>
                <a:ea typeface="Arial"/>
                <a:cs typeface="Times New Roman"/>
              </a:rPr>
              <a:t>find</a:t>
            </a:r>
            <a:r>
              <a:rPr lang="en-AU" sz="2200" spc="-75" dirty="0">
                <a:latin typeface="Helvetica"/>
                <a:ea typeface="Arial"/>
                <a:cs typeface="Times New Roman"/>
              </a:rPr>
              <a:t> </a:t>
            </a:r>
            <a:r>
              <a:rPr lang="en-AU" sz="2200" dirty="0" smtClean="0">
                <a:latin typeface="Helvetica"/>
                <a:ea typeface="Arial"/>
                <a:cs typeface="Times New Roman"/>
              </a:rPr>
              <a:t>r</a:t>
            </a:r>
            <a:r>
              <a:rPr lang="en-AU" sz="2200" spc="-10" dirty="0" smtClean="0">
                <a:latin typeface="Helvetica"/>
                <a:ea typeface="Arial"/>
                <a:cs typeface="Times New Roman"/>
              </a:rPr>
              <a:t>e</a:t>
            </a:r>
            <a:r>
              <a:rPr lang="en-AU" sz="2200" dirty="0" smtClean="0">
                <a:latin typeface="Helvetica"/>
                <a:ea typeface="Arial"/>
                <a:cs typeface="Times New Roman"/>
              </a:rPr>
              <a:t>cords</a:t>
            </a:r>
          </a:p>
          <a:p>
            <a:pPr marL="450850" indent="-450850">
              <a:spcBef>
                <a:spcPts val="1200"/>
              </a:spcBef>
              <a:spcAft>
                <a:spcPts val="800"/>
              </a:spcAft>
            </a:pPr>
            <a:r>
              <a:rPr lang="en-AU" sz="2200" dirty="0">
                <a:latin typeface="Helvetica"/>
                <a:ea typeface="Times New Roman"/>
                <a:cs typeface="Times New Roman"/>
              </a:rPr>
              <a:t>Sorting on one field</a:t>
            </a:r>
          </a:p>
          <a:p>
            <a:pPr marL="450850" indent="-450850">
              <a:spcBef>
                <a:spcPts val="1200"/>
              </a:spcBef>
              <a:spcAft>
                <a:spcPts val="800"/>
              </a:spcAft>
            </a:pPr>
            <a:r>
              <a:rPr lang="en-AU" sz="2200" dirty="0">
                <a:latin typeface="Helvetica"/>
                <a:ea typeface="Times New Roman"/>
                <a:cs typeface="Times New Roman"/>
              </a:rPr>
              <a:t>Sorting on multiple fields</a:t>
            </a:r>
          </a:p>
          <a:p>
            <a:pPr marL="935990" indent="-935990">
              <a:spcBef>
                <a:spcPts val="1200"/>
              </a:spcBef>
              <a:spcAft>
                <a:spcPts val="800"/>
              </a:spcAft>
            </a:pPr>
            <a:endParaRPr lang="en-AU" sz="2200" dirty="0">
              <a:latin typeface="Helvetica"/>
              <a:ea typeface="Times New Roman"/>
              <a:cs typeface="Times New Roman"/>
            </a:endParaRPr>
          </a:p>
          <a:p>
            <a:endParaRPr lang="en-AU" sz="2200" dirty="0"/>
          </a:p>
        </p:txBody>
      </p:sp>
      <p:sp>
        <p:nvSpPr>
          <p:cNvPr id="6"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1776981"/>
            <a:ext cx="2400252" cy="1592637"/>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60</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1314405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1600200"/>
            <a:ext cx="7467600" cy="4525963"/>
          </a:xfrm>
        </p:spPr>
        <p:txBody>
          <a:bodyPr>
            <a:normAutofit/>
          </a:bodyPr>
          <a:lstStyle/>
          <a:p>
            <a:pPr marL="0" indent="0">
              <a:spcBef>
                <a:spcPts val="1200"/>
              </a:spcBef>
              <a:spcAft>
                <a:spcPts val="800"/>
              </a:spcAft>
              <a:buNone/>
            </a:pPr>
            <a:r>
              <a:rPr lang="en-AU" sz="2400" b="1" dirty="0">
                <a:latin typeface="Helvetica"/>
                <a:ea typeface="Times New Roman"/>
                <a:cs typeface="Times New Roman"/>
              </a:rPr>
              <a:t>Automatic subtotals</a:t>
            </a:r>
          </a:p>
          <a:p>
            <a:pPr marL="935990" indent="-935990">
              <a:spcBef>
                <a:spcPts val="1200"/>
              </a:spcBef>
              <a:spcAft>
                <a:spcPts val="800"/>
              </a:spcAft>
            </a:pPr>
            <a:endParaRPr lang="en-AU" sz="2400" b="1" dirty="0">
              <a:latin typeface="Helvetica"/>
              <a:ea typeface="Times New Roman"/>
              <a:cs typeface="Times New Roman"/>
            </a:endParaRPr>
          </a:p>
          <a:p>
            <a:endParaRPr lang="en-AU" sz="2400"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891" y="2564904"/>
            <a:ext cx="5824572" cy="186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868" y="2832100"/>
            <a:ext cx="17240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611560" y="332656"/>
            <a:ext cx="7992888" cy="864096"/>
          </a:xfrm>
        </p:spPr>
        <p:txBody>
          <a:bodyPr>
            <a:normAutofit/>
          </a:bodyPr>
          <a:lstStyle/>
          <a:p>
            <a:pPr marL="900113" indent="-900113"/>
            <a:r>
              <a:rPr lang="en-US" sz="3000" b="1" dirty="0">
                <a:solidFill>
                  <a:srgbClr val="FF6600"/>
                </a:solidFill>
                <a:latin typeface="Helvetica" pitchFamily="34" charset="0"/>
              </a:rPr>
              <a:t>4.3	Manipulate accessed information</a:t>
            </a: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61</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3741887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0113" indent="-900113"/>
            <a:r>
              <a:rPr lang="en-US" sz="3000" b="1" dirty="0">
                <a:solidFill>
                  <a:srgbClr val="FF6600"/>
                </a:solidFill>
                <a:latin typeface="Helvetica" pitchFamily="34" charset="0"/>
              </a:rPr>
              <a:t>4.4	Report on findings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1200"/>
              </a:spcBef>
              <a:spcAft>
                <a:spcPts val="800"/>
              </a:spcAft>
              <a:buNone/>
            </a:pPr>
            <a:r>
              <a:rPr lang="en-AU" sz="2200" dirty="0" smtClean="0">
                <a:solidFill>
                  <a:srgbClr val="45545F"/>
                </a:solidFill>
                <a:latin typeface="Helvetica"/>
                <a:ea typeface="Times New Roman"/>
                <a:cs typeface="Times New Roman"/>
              </a:rPr>
              <a:t>Making recommendations:</a:t>
            </a:r>
          </a:p>
          <a:p>
            <a:pPr marL="360000" indent="-360000">
              <a:spcBef>
                <a:spcPts val="1200"/>
              </a:spcBef>
              <a:spcAft>
                <a:spcPts val="800"/>
              </a:spcAft>
            </a:pPr>
            <a:r>
              <a:rPr lang="en-US" sz="2200" dirty="0" smtClean="0"/>
              <a:t>To colleagues</a:t>
            </a:r>
          </a:p>
          <a:p>
            <a:pPr marL="360000" indent="-360000">
              <a:spcBef>
                <a:spcPts val="1200"/>
              </a:spcBef>
              <a:spcAft>
                <a:spcPts val="800"/>
              </a:spcAft>
            </a:pPr>
            <a:r>
              <a:rPr lang="en-US" sz="2200" dirty="0" smtClean="0"/>
              <a:t>To management</a:t>
            </a:r>
          </a:p>
          <a:p>
            <a:pPr marL="360000" indent="-360000">
              <a:spcBef>
                <a:spcPts val="1200"/>
              </a:spcBef>
              <a:spcAft>
                <a:spcPts val="800"/>
              </a:spcAft>
            </a:pPr>
            <a:r>
              <a:rPr lang="en-US" sz="2200" dirty="0" smtClean="0"/>
              <a:t>To clients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7944" y="2132856"/>
            <a:ext cx="3048000" cy="2033016"/>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994448" cy="1512168"/>
          </a:xfrm>
        </p:spPr>
        <p:txBody>
          <a:bodyPr>
            <a:normAutofit/>
          </a:bodyPr>
          <a:lstStyle/>
          <a:p>
            <a:r>
              <a:rPr lang="en-AU" sz="3000" b="1" dirty="0">
                <a:solidFill>
                  <a:srgbClr val="FF6600"/>
                </a:solidFill>
                <a:latin typeface="Helvetica" pitchFamily="34" charset="0"/>
              </a:rPr>
              <a:t>Element </a:t>
            </a:r>
            <a:r>
              <a:rPr lang="en-AU" sz="3000" b="1" dirty="0" smtClean="0">
                <a:solidFill>
                  <a:srgbClr val="FF6600"/>
                </a:solidFill>
                <a:latin typeface="Helvetica" pitchFamily="34" charset="0"/>
              </a:rPr>
              <a:t>5:</a:t>
            </a:r>
            <a:br>
              <a:rPr lang="en-AU" sz="3000" b="1" dirty="0" smtClean="0">
                <a:solidFill>
                  <a:srgbClr val="FF6600"/>
                </a:solidFill>
                <a:latin typeface="Helvetica" pitchFamily="34" charset="0"/>
              </a:rPr>
            </a:br>
            <a:r>
              <a:rPr lang="en-AU" sz="3000" b="1" dirty="0" smtClean="0">
                <a:solidFill>
                  <a:srgbClr val="FF6600"/>
                </a:solidFill>
                <a:latin typeface="Helvetica" pitchFamily="34" charset="0"/>
              </a:rPr>
              <a:t>Up-date </a:t>
            </a:r>
            <a:r>
              <a:rPr lang="en-AU" sz="3000" b="1" dirty="0">
                <a:solidFill>
                  <a:srgbClr val="FF6600"/>
                </a:solidFill>
                <a:latin typeface="Helvetica" pitchFamily="34" charset="0"/>
              </a:rPr>
              <a:t>and maintain information on an automated information system</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723900" indent="-723900">
              <a:lnSpc>
                <a:spcPct val="150000"/>
              </a:lnSpc>
              <a:spcBef>
                <a:spcPts val="600"/>
              </a:spcBef>
              <a:spcAft>
                <a:spcPts val="1200"/>
              </a:spcAft>
              <a:buNone/>
            </a:pPr>
            <a:r>
              <a:rPr lang="en-AU" sz="2200" dirty="0" smtClean="0">
                <a:latin typeface="Helvetica" pitchFamily="34" charset="0"/>
              </a:rPr>
              <a:t>5.1</a:t>
            </a:r>
            <a:r>
              <a:rPr lang="en-AU" sz="2200" dirty="0">
                <a:latin typeface="Helvetica" pitchFamily="34" charset="0"/>
              </a:rPr>
              <a:t>	Enter data onto automated information system</a:t>
            </a:r>
          </a:p>
          <a:p>
            <a:pPr marL="723900" indent="-723900">
              <a:lnSpc>
                <a:spcPct val="150000"/>
              </a:lnSpc>
              <a:spcBef>
                <a:spcPts val="600"/>
              </a:spcBef>
              <a:spcAft>
                <a:spcPts val="1200"/>
              </a:spcAft>
              <a:buNone/>
            </a:pPr>
            <a:r>
              <a:rPr lang="en-AU" sz="2200" dirty="0">
                <a:latin typeface="Helvetica" pitchFamily="34" charset="0"/>
              </a:rPr>
              <a:t>5.2	Save and back-up data</a:t>
            </a:r>
          </a:p>
          <a:p>
            <a:pPr marL="360000" indent="-360000">
              <a:lnSpc>
                <a:spcPct val="150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636912"/>
            <a:ext cx="2543944" cy="169681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1143000"/>
          </a:xfrm>
        </p:spPr>
        <p:txBody>
          <a:bodyPr>
            <a:normAutofit/>
          </a:bodyPr>
          <a:lstStyle/>
          <a:p>
            <a:pPr marL="900113" indent="-900113"/>
            <a:r>
              <a:rPr lang="en-US" sz="3000" b="1" dirty="0">
                <a:solidFill>
                  <a:srgbClr val="FF6600"/>
                </a:solidFill>
                <a:latin typeface="Helvetica" pitchFamily="34" charset="0"/>
              </a:rPr>
              <a:t>5.1	Enter data onto automated information system</a:t>
            </a: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a:latin typeface="Helvetica" pitchFamily="34" charset="0"/>
                <a:ea typeface="Times New Roman"/>
                <a:cs typeface="Times New Roman"/>
              </a:rPr>
              <a:t>You will be required to open, generate and amend data, according to task and organisational </a:t>
            </a:r>
            <a:r>
              <a:rPr lang="en-AU" sz="2200" dirty="0" smtClean="0">
                <a:latin typeface="Helvetica" pitchFamily="34" charset="0"/>
                <a:ea typeface="Times New Roman"/>
                <a:cs typeface="Times New Roman"/>
              </a:rPr>
              <a:t>requirements:</a:t>
            </a:r>
          </a:p>
          <a:p>
            <a:pPr marL="360000" indent="-360000">
              <a:spcBef>
                <a:spcPts val="600"/>
              </a:spcBef>
              <a:spcAft>
                <a:spcPts val="1200"/>
              </a:spcAft>
            </a:pPr>
            <a:r>
              <a:rPr lang="en-US" sz="2200" dirty="0" smtClean="0">
                <a:latin typeface="Helvetica" pitchFamily="34" charset="0"/>
              </a:rPr>
              <a:t>Update </a:t>
            </a:r>
            <a:r>
              <a:rPr lang="en-US" sz="2200" dirty="0">
                <a:latin typeface="Helvetica" pitchFamily="34" charset="0"/>
              </a:rPr>
              <a:t>and maintain </a:t>
            </a:r>
            <a:r>
              <a:rPr lang="en-US" sz="2200" dirty="0" smtClean="0">
                <a:latin typeface="Helvetica" pitchFamily="34" charset="0"/>
              </a:rPr>
              <a:t>information:</a:t>
            </a:r>
          </a:p>
          <a:p>
            <a:pPr lvl="1">
              <a:spcBef>
                <a:spcPts val="400"/>
              </a:spcBef>
              <a:spcAft>
                <a:spcPts val="800"/>
              </a:spcAft>
            </a:pPr>
            <a:r>
              <a:rPr lang="en-AU" sz="2200" dirty="0">
                <a:latin typeface="Helvetica" pitchFamily="34" charset="0"/>
                <a:ea typeface="Times New Roman"/>
                <a:cs typeface="Times New Roman"/>
              </a:rPr>
              <a:t>Retrieve, view and close a word document;</a:t>
            </a:r>
          </a:p>
          <a:p>
            <a:pPr lvl="1">
              <a:spcBef>
                <a:spcPts val="400"/>
              </a:spcBef>
              <a:spcAft>
                <a:spcPts val="800"/>
              </a:spcAft>
            </a:pPr>
            <a:r>
              <a:rPr lang="en-AU" sz="2200" dirty="0">
                <a:latin typeface="Helvetica" pitchFamily="34" charset="0"/>
                <a:ea typeface="Times New Roman"/>
                <a:cs typeface="Times New Roman"/>
              </a:rPr>
              <a:t>Create, save and print a word processing document</a:t>
            </a:r>
          </a:p>
          <a:p>
            <a:pPr lvl="1">
              <a:spcBef>
                <a:spcPts val="400"/>
              </a:spcBef>
              <a:spcAft>
                <a:spcPts val="800"/>
              </a:spcAft>
            </a:pPr>
            <a:r>
              <a:rPr lang="en-AU" sz="2200" dirty="0">
                <a:latin typeface="Helvetica" pitchFamily="34" charset="0"/>
                <a:ea typeface="Times New Roman"/>
                <a:cs typeface="Times New Roman"/>
              </a:rPr>
              <a:t>Retrieve, amend, save and print a word document</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11560" y="332656"/>
            <a:ext cx="7488832" cy="1143000"/>
          </a:xfrm>
        </p:spPr>
        <p:txBody>
          <a:bodyPr>
            <a:normAutofit/>
          </a:bodyPr>
          <a:lstStyle/>
          <a:p>
            <a:pPr marL="900113" indent="-900113"/>
            <a:r>
              <a:rPr lang="en-US" sz="3000" b="1" dirty="0">
                <a:solidFill>
                  <a:srgbClr val="FF6600"/>
                </a:solidFill>
                <a:latin typeface="Helvetica" pitchFamily="34" charset="0"/>
              </a:rPr>
              <a:t>5.1	Enter data onto automated information system</a:t>
            </a:r>
          </a:p>
        </p:txBody>
      </p:sp>
      <p:sp>
        <p:nvSpPr>
          <p:cNvPr id="9" name="Content Placeholder 2"/>
          <p:cNvSpPr txBox="1">
            <a:spLocks/>
          </p:cNvSpPr>
          <p:nvPr/>
        </p:nvSpPr>
        <p:spPr>
          <a:xfrm>
            <a:off x="611560" y="1778857"/>
            <a:ext cx="4095488" cy="4525963"/>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26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2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0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18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18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0000" indent="-360000">
              <a:spcBef>
                <a:spcPts val="600"/>
              </a:spcBef>
              <a:spcAft>
                <a:spcPts val="1200"/>
              </a:spcAft>
            </a:pPr>
            <a:r>
              <a:rPr lang="en-AU" sz="2200" dirty="0" smtClean="0">
                <a:ea typeface="Calibri"/>
                <a:cs typeface="Calibri"/>
              </a:rPr>
              <a:t>Directories</a:t>
            </a:r>
            <a:r>
              <a:rPr lang="en-AU" sz="2200" dirty="0">
                <a:ea typeface="Calibri"/>
                <a:cs typeface="Calibri"/>
              </a:rPr>
              <a:t>, sub directories and </a:t>
            </a:r>
            <a:r>
              <a:rPr lang="en-AU" sz="2200" dirty="0" smtClean="0">
                <a:ea typeface="Calibri"/>
                <a:cs typeface="Calibri"/>
              </a:rPr>
              <a:t>folders</a:t>
            </a:r>
          </a:p>
          <a:p>
            <a:pPr marL="360000" indent="-360000">
              <a:spcBef>
                <a:spcPts val="600"/>
              </a:spcBef>
              <a:spcAft>
                <a:spcPts val="1200"/>
              </a:spcAft>
            </a:pPr>
            <a:r>
              <a:rPr lang="en-AU" sz="2200" dirty="0" smtClean="0">
                <a:ea typeface="Calibri"/>
                <a:cs typeface="Calibri"/>
              </a:rPr>
              <a:t>Records </a:t>
            </a:r>
            <a:r>
              <a:rPr lang="en-AU" sz="2200" dirty="0">
                <a:ea typeface="Calibri"/>
                <a:cs typeface="Calibri"/>
              </a:rPr>
              <a:t>and </a:t>
            </a:r>
            <a:r>
              <a:rPr lang="en-AU" sz="2200" dirty="0" smtClean="0">
                <a:ea typeface="Calibri"/>
                <a:cs typeface="Calibri"/>
              </a:rPr>
              <a:t>fields</a:t>
            </a:r>
          </a:p>
          <a:p>
            <a:pPr marL="360000" indent="-360000">
              <a:spcBef>
                <a:spcPts val="600"/>
              </a:spcBef>
              <a:spcAft>
                <a:spcPts val="1200"/>
              </a:spcAft>
            </a:pPr>
            <a:r>
              <a:rPr lang="en-AU" sz="2200" dirty="0" smtClean="0">
                <a:ea typeface="Calibri"/>
                <a:cs typeface="Calibri"/>
              </a:rPr>
              <a:t>Log-in/log-out protocols</a:t>
            </a:r>
          </a:p>
          <a:p>
            <a:pPr marL="360000" indent="-360000">
              <a:spcBef>
                <a:spcPts val="600"/>
              </a:spcBef>
              <a:spcAft>
                <a:spcPts val="1200"/>
              </a:spcAft>
            </a:pPr>
            <a:r>
              <a:rPr lang="en-AU" sz="2200" dirty="0" smtClean="0">
                <a:ea typeface="Calibri"/>
                <a:cs typeface="Calibri"/>
              </a:rPr>
              <a:t>Proofreading</a:t>
            </a:r>
          </a:p>
          <a:p>
            <a:pPr marL="360000" indent="-360000">
              <a:spcBef>
                <a:spcPts val="600"/>
              </a:spcBef>
              <a:spcAft>
                <a:spcPts val="1200"/>
              </a:spcAft>
            </a:pPr>
            <a:r>
              <a:rPr lang="en-AU" sz="2200" dirty="0" smtClean="0">
                <a:ea typeface="Calibri"/>
                <a:cs typeface="Calibri"/>
              </a:rPr>
              <a:t>Spellcheck </a:t>
            </a:r>
            <a:r>
              <a:rPr lang="en-AU" sz="2200" dirty="0">
                <a:ea typeface="Calibri"/>
                <a:cs typeface="Calibri"/>
              </a:rPr>
              <a:t>and </a:t>
            </a:r>
            <a:r>
              <a:rPr lang="en-AU" sz="2200" dirty="0" smtClean="0">
                <a:ea typeface="Calibri"/>
                <a:cs typeface="Calibri"/>
              </a:rPr>
              <a:t>thesaurus</a:t>
            </a:r>
          </a:p>
          <a:p>
            <a:pPr marL="360000" indent="-360000">
              <a:spcBef>
                <a:spcPts val="600"/>
              </a:spcBef>
              <a:spcAft>
                <a:spcPts val="1200"/>
              </a:spcAft>
            </a:pPr>
            <a:r>
              <a:rPr lang="en-AU" sz="2200" dirty="0" smtClean="0">
                <a:ea typeface="Calibri"/>
                <a:cs typeface="Calibri"/>
              </a:rPr>
              <a:t>Accessing </a:t>
            </a:r>
            <a:r>
              <a:rPr lang="en-AU" sz="2200" dirty="0">
                <a:ea typeface="Calibri"/>
                <a:cs typeface="Calibri"/>
              </a:rPr>
              <a:t>recent </a:t>
            </a:r>
            <a:r>
              <a:rPr lang="en-AU" sz="2200" dirty="0" smtClean="0">
                <a:ea typeface="Calibri"/>
                <a:cs typeface="Calibri"/>
              </a:rPr>
              <a:t>records</a:t>
            </a:r>
          </a:p>
          <a:p>
            <a:pPr marL="360000" indent="-360000">
              <a:spcBef>
                <a:spcPts val="600"/>
              </a:spcBef>
              <a:spcAft>
                <a:spcPts val="1200"/>
              </a:spcAft>
            </a:pPr>
            <a:r>
              <a:rPr lang="en-AU" sz="2200" dirty="0">
                <a:solidFill>
                  <a:prstClr val="black"/>
                </a:solidFill>
                <a:ea typeface="Times New Roman"/>
                <a:cs typeface="Times New Roman"/>
              </a:rPr>
              <a:t>Deleting </a:t>
            </a:r>
            <a:r>
              <a:rPr lang="en-AU" sz="2200" dirty="0" smtClean="0">
                <a:solidFill>
                  <a:prstClr val="black"/>
                </a:solidFill>
                <a:ea typeface="Times New Roman"/>
                <a:cs typeface="Times New Roman"/>
              </a:rPr>
              <a:t>files</a:t>
            </a:r>
            <a:endParaRPr lang="en-AU" sz="2200" dirty="0">
              <a:ea typeface="Calibri"/>
              <a:cs typeface="Calibri"/>
            </a:endParaRPr>
          </a:p>
          <a:p>
            <a:pPr marL="360000" indent="-360000">
              <a:spcBef>
                <a:spcPts val="600"/>
              </a:spcBef>
              <a:spcAft>
                <a:spcPts val="1200"/>
              </a:spcAft>
            </a:pPr>
            <a:endParaRPr lang="en-US" sz="2200" dirty="0" smtClean="0"/>
          </a:p>
          <a:p>
            <a:pPr marL="360000" indent="-360000">
              <a:spcBef>
                <a:spcPts val="600"/>
              </a:spcBef>
              <a:spcAft>
                <a:spcPts val="1200"/>
              </a:spcAft>
              <a:buFont typeface="Wingdings 2"/>
              <a:buNone/>
            </a:pPr>
            <a:endParaRPr lang="en-US" sz="2200" dirty="0" smtClean="0"/>
          </a:p>
        </p:txBody>
      </p:sp>
      <p:sp>
        <p:nvSpPr>
          <p:cNvPr id="11" name="Content Placeholder 2"/>
          <p:cNvSpPr txBox="1">
            <a:spLocks/>
          </p:cNvSpPr>
          <p:nvPr/>
        </p:nvSpPr>
        <p:spPr>
          <a:xfrm>
            <a:off x="4716016" y="1786712"/>
            <a:ext cx="4095488" cy="4518108"/>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26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2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0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18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18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0000" indent="-360000">
              <a:spcBef>
                <a:spcPts val="600"/>
              </a:spcBef>
              <a:spcAft>
                <a:spcPts val="1200"/>
              </a:spcAft>
            </a:pPr>
            <a:r>
              <a:rPr lang="en-AU" sz="2200" dirty="0" smtClean="0">
                <a:ea typeface="Calibri"/>
                <a:cs typeface="Calibri"/>
              </a:rPr>
              <a:t>Menus </a:t>
            </a:r>
            <a:r>
              <a:rPr lang="en-AU" sz="2200" dirty="0">
                <a:ea typeface="Calibri"/>
                <a:cs typeface="Calibri"/>
              </a:rPr>
              <a:t>and </a:t>
            </a:r>
            <a:r>
              <a:rPr lang="en-AU" sz="2200" dirty="0" smtClean="0">
                <a:ea typeface="Calibri"/>
                <a:cs typeface="Calibri"/>
              </a:rPr>
              <a:t>prompts</a:t>
            </a:r>
          </a:p>
          <a:p>
            <a:pPr marL="360000" indent="-360000">
              <a:spcBef>
                <a:spcPts val="600"/>
              </a:spcBef>
              <a:spcAft>
                <a:spcPts val="1200"/>
              </a:spcAft>
            </a:pPr>
            <a:r>
              <a:rPr lang="en-AU" sz="2200" dirty="0" smtClean="0">
                <a:ea typeface="Calibri"/>
                <a:cs typeface="Calibri"/>
              </a:rPr>
              <a:t>Default settings</a:t>
            </a:r>
          </a:p>
          <a:p>
            <a:pPr marL="360000" indent="-360000">
              <a:spcBef>
                <a:spcPts val="600"/>
              </a:spcBef>
              <a:spcAft>
                <a:spcPts val="1200"/>
              </a:spcAft>
            </a:pPr>
            <a:r>
              <a:rPr lang="en-AU" sz="2200" dirty="0" smtClean="0">
                <a:ea typeface="Calibri"/>
                <a:cs typeface="Calibri"/>
              </a:rPr>
              <a:t>Error correction</a:t>
            </a:r>
          </a:p>
          <a:p>
            <a:pPr marL="360000" indent="-360000">
              <a:spcBef>
                <a:spcPts val="600"/>
              </a:spcBef>
              <a:spcAft>
                <a:spcPts val="1200"/>
              </a:spcAft>
            </a:pPr>
            <a:r>
              <a:rPr lang="en-AU" sz="2200" dirty="0" smtClean="0">
                <a:ea typeface="Calibri"/>
                <a:cs typeface="Calibri"/>
              </a:rPr>
              <a:t>Keying techniques</a:t>
            </a:r>
          </a:p>
          <a:p>
            <a:pPr marL="360000" indent="-360000">
              <a:spcBef>
                <a:spcPts val="600"/>
              </a:spcBef>
              <a:spcAft>
                <a:spcPts val="1200"/>
              </a:spcAft>
            </a:pPr>
            <a:r>
              <a:rPr lang="en-AU" sz="2200" dirty="0" smtClean="0">
                <a:ea typeface="Calibri"/>
                <a:cs typeface="Calibri"/>
              </a:rPr>
              <a:t>Screen sizing</a:t>
            </a:r>
          </a:p>
          <a:p>
            <a:pPr marL="360000" indent="-360000">
              <a:spcBef>
                <a:spcPts val="600"/>
              </a:spcBef>
              <a:spcAft>
                <a:spcPts val="1200"/>
              </a:spcAft>
            </a:pPr>
            <a:r>
              <a:rPr lang="en-AU" sz="2200" dirty="0" smtClean="0">
                <a:ea typeface="Calibri"/>
                <a:cs typeface="Calibri"/>
              </a:rPr>
              <a:t>Copying </a:t>
            </a:r>
            <a:r>
              <a:rPr lang="en-AU" sz="2200" dirty="0">
                <a:ea typeface="Calibri"/>
                <a:cs typeface="Calibri"/>
              </a:rPr>
              <a:t>to thumbdrive / pendrive / </a:t>
            </a:r>
            <a:r>
              <a:rPr lang="en-AU" sz="2200" dirty="0" smtClean="0">
                <a:ea typeface="Calibri"/>
                <a:cs typeface="Calibri"/>
              </a:rPr>
              <a:t>USB</a:t>
            </a:r>
          </a:p>
          <a:p>
            <a:pPr marL="360000" indent="-360000">
              <a:spcBef>
                <a:spcPts val="600"/>
              </a:spcBef>
              <a:spcAft>
                <a:spcPts val="1200"/>
              </a:spcAft>
            </a:pPr>
            <a:r>
              <a:rPr lang="en-AU" sz="2200" dirty="0" smtClean="0">
                <a:ea typeface="Times New Roman"/>
                <a:cs typeface="Times New Roman"/>
              </a:rPr>
              <a:t>Fonts </a:t>
            </a:r>
            <a:r>
              <a:rPr lang="en-AU" sz="2200" dirty="0">
                <a:ea typeface="Times New Roman"/>
                <a:cs typeface="Times New Roman"/>
              </a:rPr>
              <a:t>and font </a:t>
            </a:r>
            <a:r>
              <a:rPr lang="en-AU" sz="2200" dirty="0" smtClean="0">
                <a:ea typeface="Times New Roman"/>
                <a:cs typeface="Times New Roman"/>
              </a:rPr>
              <a:t>size</a:t>
            </a:r>
            <a:endParaRPr lang="en-US" sz="2200" dirty="0" smtClean="0"/>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65</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18688381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2792" y="1628800"/>
            <a:ext cx="7467600" cy="4334742"/>
          </a:xfrm>
        </p:spPr>
        <p:txBody>
          <a:bodyPr>
            <a:normAutofit/>
          </a:bodyPr>
          <a:lstStyle/>
          <a:p>
            <a:pPr marL="0" indent="0">
              <a:spcBef>
                <a:spcPts val="1200"/>
              </a:spcBef>
              <a:spcAft>
                <a:spcPts val="800"/>
              </a:spcAft>
              <a:buNone/>
            </a:pPr>
            <a:r>
              <a:rPr lang="en-AU" sz="2400" b="1" dirty="0" smtClean="0">
                <a:latin typeface="Helvetica"/>
                <a:ea typeface="Times New Roman"/>
                <a:cs typeface="Times New Roman"/>
              </a:rPr>
              <a:t>Locating </a:t>
            </a:r>
            <a:r>
              <a:rPr lang="en-AU" sz="2400" b="1" dirty="0">
                <a:latin typeface="Helvetica"/>
                <a:ea typeface="Times New Roman"/>
                <a:cs typeface="Times New Roman"/>
              </a:rPr>
              <a:t>data</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66</a:t>
            </a:fld>
            <a:endParaRPr lang="en-US" dirty="0">
              <a:solidFill>
                <a:srgbClr val="4E5B6F">
                  <a:shade val="50000"/>
                </a:srgbClr>
              </a:solidFill>
              <a:latin typeface="Helvetica" pitchFamily="34" charset="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584" y="2420888"/>
            <a:ext cx="5467414" cy="3206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488832" cy="1143000"/>
          </a:xfrm>
        </p:spPr>
        <p:txBody>
          <a:bodyPr>
            <a:normAutofit/>
          </a:bodyPr>
          <a:lstStyle/>
          <a:p>
            <a:pPr marL="900113" indent="-900113"/>
            <a:r>
              <a:rPr lang="en-US" sz="3000" b="1" dirty="0">
                <a:solidFill>
                  <a:srgbClr val="FF6600"/>
                </a:solidFill>
                <a:latin typeface="Helvetica" pitchFamily="34" charset="0"/>
              </a:rPr>
              <a:t>5.1	Enter data onto automated information system</a:t>
            </a:r>
          </a:p>
        </p:txBody>
      </p:sp>
    </p:spTree>
    <p:extLst>
      <p:ext uri="{BB962C8B-B14F-4D97-AF65-F5344CB8AC3E}">
        <p14:creationId xmlns:p14="http://schemas.microsoft.com/office/powerpoint/2010/main" val="5055314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784" y="1916832"/>
            <a:ext cx="7467600" cy="4209331"/>
          </a:xfrm>
        </p:spPr>
        <p:txBody>
          <a:bodyPr/>
          <a:lstStyle/>
          <a:p>
            <a:pPr marL="0" lvl="0" indent="0">
              <a:spcBef>
                <a:spcPts val="1200"/>
              </a:spcBef>
              <a:spcAft>
                <a:spcPts val="800"/>
              </a:spcAft>
              <a:buClr>
                <a:srgbClr val="7FD13B"/>
              </a:buClr>
              <a:buNone/>
            </a:pPr>
            <a:r>
              <a:rPr lang="en-AU" sz="2400" b="1" dirty="0">
                <a:latin typeface="Helvetica"/>
                <a:ea typeface="Times New Roman"/>
                <a:cs typeface="Times New Roman"/>
              </a:rPr>
              <a:t>Locating data</a:t>
            </a:r>
          </a:p>
          <a:p>
            <a:endParaRPr lang="en-AU" dirty="0"/>
          </a:p>
        </p:txBody>
      </p:sp>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708920"/>
            <a:ext cx="7812360" cy="1366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itle 1"/>
          <p:cNvSpPr>
            <a:spLocks noGrp="1"/>
          </p:cNvSpPr>
          <p:nvPr>
            <p:ph type="title"/>
          </p:nvPr>
        </p:nvSpPr>
        <p:spPr>
          <a:xfrm>
            <a:off x="611560" y="332656"/>
            <a:ext cx="7488832" cy="1143000"/>
          </a:xfrm>
        </p:spPr>
        <p:txBody>
          <a:bodyPr>
            <a:normAutofit/>
          </a:bodyPr>
          <a:lstStyle/>
          <a:p>
            <a:pPr marL="900113" indent="-900113"/>
            <a:r>
              <a:rPr lang="en-US" sz="3000" b="1" dirty="0">
                <a:solidFill>
                  <a:srgbClr val="FF6600"/>
                </a:solidFill>
                <a:latin typeface="Helvetica" pitchFamily="34" charset="0"/>
              </a:rPr>
              <a:t>5.1	Enter data onto automated information system</a:t>
            </a: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67</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2247614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467600" cy="4680520"/>
          </a:xfrm>
        </p:spPr>
        <p:txBody>
          <a:bodyPr>
            <a:normAutofit/>
          </a:bodyPr>
          <a:lstStyle/>
          <a:p>
            <a:pPr marL="360000" indent="-360000">
              <a:spcBef>
                <a:spcPts val="600"/>
              </a:spcBef>
              <a:spcAft>
                <a:spcPts val="1200"/>
              </a:spcAft>
            </a:pPr>
            <a:r>
              <a:rPr lang="en-AU" sz="2200" dirty="0" smtClean="0"/>
              <a:t>Save</a:t>
            </a:r>
            <a:r>
              <a:rPr lang="en-AU" sz="2200" dirty="0"/>
              <a:t>, close and backup </a:t>
            </a:r>
            <a:r>
              <a:rPr lang="en-AU" sz="2200" dirty="0" smtClean="0"/>
              <a:t>data</a:t>
            </a:r>
          </a:p>
          <a:p>
            <a:pPr marL="360000" indent="-360000">
              <a:spcBef>
                <a:spcPts val="600"/>
              </a:spcBef>
              <a:spcAft>
                <a:spcPts val="1200"/>
              </a:spcAft>
            </a:pPr>
            <a:r>
              <a:rPr lang="en-US" sz="2200" dirty="0"/>
              <a:t>Storing reference </a:t>
            </a:r>
            <a:r>
              <a:rPr lang="en-US" sz="2200" dirty="0" smtClean="0"/>
              <a:t>information:</a:t>
            </a:r>
          </a:p>
          <a:p>
            <a:pPr lvl="1">
              <a:lnSpc>
                <a:spcPct val="115000"/>
              </a:lnSpc>
              <a:spcAft>
                <a:spcPts val="1000"/>
              </a:spcAft>
            </a:pPr>
            <a:r>
              <a:rPr lang="en-AU" sz="2200" dirty="0" smtClean="0">
                <a:ea typeface="Times New Roman"/>
                <a:cs typeface="Times New Roman"/>
              </a:rPr>
              <a:t>on </a:t>
            </a:r>
            <a:r>
              <a:rPr lang="en-AU" sz="2200" dirty="0">
                <a:ea typeface="Times New Roman"/>
                <a:cs typeface="Times New Roman"/>
              </a:rPr>
              <a:t>hard drives </a:t>
            </a:r>
          </a:p>
          <a:p>
            <a:pPr lvl="1">
              <a:lnSpc>
                <a:spcPct val="115000"/>
              </a:lnSpc>
              <a:spcAft>
                <a:spcPts val="1000"/>
              </a:spcAft>
            </a:pPr>
            <a:r>
              <a:rPr lang="en-AU" sz="2200" dirty="0" smtClean="0">
                <a:ea typeface="Times New Roman"/>
                <a:cs typeface="Times New Roman"/>
              </a:rPr>
              <a:t>on </a:t>
            </a:r>
            <a:r>
              <a:rPr lang="en-AU" sz="2200" dirty="0">
                <a:ea typeface="Times New Roman"/>
                <a:cs typeface="Times New Roman"/>
              </a:rPr>
              <a:t>USB/thumb drives </a:t>
            </a:r>
          </a:p>
          <a:p>
            <a:pPr lvl="1">
              <a:lnSpc>
                <a:spcPct val="115000"/>
              </a:lnSpc>
              <a:spcAft>
                <a:spcPts val="1000"/>
              </a:spcAft>
            </a:pPr>
            <a:r>
              <a:rPr lang="en-AU" sz="2200" dirty="0" smtClean="0">
                <a:ea typeface="Times New Roman"/>
                <a:cs typeface="Times New Roman"/>
              </a:rPr>
              <a:t>on </a:t>
            </a:r>
            <a:r>
              <a:rPr lang="en-AU" sz="2200" dirty="0">
                <a:ea typeface="Times New Roman"/>
                <a:cs typeface="Times New Roman"/>
              </a:rPr>
              <a:t>networked computers </a:t>
            </a:r>
            <a:endParaRPr lang="en-US" sz="2200" dirty="0" smtClean="0"/>
          </a:p>
          <a:p>
            <a:pPr marL="360000" indent="-360000">
              <a:spcBef>
                <a:spcPts val="600"/>
              </a:spcBef>
              <a:spcAft>
                <a:spcPts val="1200"/>
              </a:spcAft>
            </a:pPr>
            <a:r>
              <a:rPr lang="en-US" sz="2200" dirty="0"/>
              <a:t>Archiving</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sp>
        <p:nvSpPr>
          <p:cNvPr id="7" name="Title 1"/>
          <p:cNvSpPr>
            <a:spLocks noGrp="1"/>
          </p:cNvSpPr>
          <p:nvPr>
            <p:ph type="title"/>
          </p:nvPr>
        </p:nvSpPr>
        <p:spPr>
          <a:xfrm>
            <a:off x="611560" y="332656"/>
            <a:ext cx="7488832" cy="1143000"/>
          </a:xfrm>
        </p:spPr>
        <p:txBody>
          <a:bodyPr>
            <a:normAutofit/>
          </a:bodyPr>
          <a:lstStyle/>
          <a:p>
            <a:pPr marL="900113" indent="-900113"/>
            <a:r>
              <a:rPr lang="en-US" sz="3000" b="1" dirty="0">
                <a:solidFill>
                  <a:srgbClr val="FF6600"/>
                </a:solidFill>
                <a:latin typeface="Helvetica" pitchFamily="34" charset="0"/>
              </a:rPr>
              <a:t>5.1	Enter data onto automated information system</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0112" y="2204864"/>
            <a:ext cx="2278069" cy="2271504"/>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000" b="1" dirty="0" smtClean="0">
                <a:solidFill>
                  <a:srgbClr val="FF6600"/>
                </a:solidFill>
                <a:latin typeface="Helvetica" pitchFamily="34" charset="0"/>
              </a:rPr>
              <a:t>The End</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8208912" cy="5400600"/>
          </a:xfrm>
        </p:spPr>
        <p:txBody>
          <a:bodyPr>
            <a:noAutofit/>
          </a:bodyPr>
          <a:lstStyle/>
          <a:p>
            <a:pPr marL="0" indent="0">
              <a:spcBef>
                <a:spcPts val="600"/>
              </a:spcBef>
              <a:spcAft>
                <a:spcPts val="1200"/>
              </a:spcAft>
              <a:buNone/>
            </a:pPr>
            <a:r>
              <a:rPr lang="en-AU" sz="2000" b="1" dirty="0" smtClean="0">
                <a:latin typeface="Helvetica" pitchFamily="34" charset="0"/>
              </a:rPr>
              <a:t>This unit comprised five Elements:</a:t>
            </a:r>
          </a:p>
          <a:p>
            <a:pPr marL="531813" lvl="0" indent="-495300">
              <a:spcBef>
                <a:spcPts val="600"/>
              </a:spcBef>
              <a:spcAft>
                <a:spcPts val="1200"/>
              </a:spcAft>
              <a:buClr>
                <a:srgbClr val="7FD13B"/>
              </a:buClr>
              <a:buNone/>
              <a:tabLst>
                <a:tab pos="95250" algn="l"/>
              </a:tabLst>
            </a:pPr>
            <a:r>
              <a:rPr lang="en-AU" sz="2000" dirty="0" smtClean="0">
                <a:solidFill>
                  <a:prstClr val="black"/>
                </a:solidFill>
                <a:latin typeface="Helvetica" pitchFamily="34" charset="0"/>
              </a:rPr>
              <a:t>1.	Identify </a:t>
            </a:r>
            <a:r>
              <a:rPr lang="en-AU" sz="2000" dirty="0">
                <a:solidFill>
                  <a:prstClr val="black"/>
                </a:solidFill>
                <a:latin typeface="Helvetica" pitchFamily="34" charset="0"/>
              </a:rPr>
              <a:t>the context for use of an automated </a:t>
            </a:r>
            <a:r>
              <a:rPr lang="en-AU" sz="2000" dirty="0" smtClean="0">
                <a:solidFill>
                  <a:prstClr val="black"/>
                </a:solidFill>
                <a:latin typeface="Helvetica" pitchFamily="34" charset="0"/>
              </a:rPr>
              <a:t> information </a:t>
            </a:r>
            <a:r>
              <a:rPr lang="en-AU" sz="2000" dirty="0">
                <a:solidFill>
                  <a:prstClr val="black"/>
                </a:solidFill>
                <a:latin typeface="Helvetica" pitchFamily="34" charset="0"/>
              </a:rPr>
              <a:t>system</a:t>
            </a:r>
          </a:p>
          <a:p>
            <a:pPr marL="531813" lvl="0" indent="-495300">
              <a:spcBef>
                <a:spcPts val="600"/>
              </a:spcBef>
              <a:spcAft>
                <a:spcPts val="1200"/>
              </a:spcAft>
              <a:buClr>
                <a:srgbClr val="7FD13B"/>
              </a:buClr>
              <a:buNone/>
              <a:tabLst>
                <a:tab pos="95250" algn="l"/>
              </a:tabLst>
            </a:pPr>
            <a:r>
              <a:rPr lang="en-AU" sz="2000" dirty="0" smtClean="0">
                <a:solidFill>
                  <a:prstClr val="black"/>
                </a:solidFill>
                <a:latin typeface="Helvetica" pitchFamily="34" charset="0"/>
              </a:rPr>
              <a:t>2.	Access </a:t>
            </a:r>
            <a:r>
              <a:rPr lang="en-AU" sz="2000" dirty="0">
                <a:solidFill>
                  <a:prstClr val="black"/>
                </a:solidFill>
                <a:latin typeface="Helvetica" pitchFamily="34" charset="0"/>
              </a:rPr>
              <a:t>information using an automated </a:t>
            </a:r>
            <a:r>
              <a:rPr lang="en-AU" sz="2000" dirty="0" smtClean="0">
                <a:solidFill>
                  <a:prstClr val="black"/>
                </a:solidFill>
                <a:latin typeface="Helvetica" pitchFamily="34" charset="0"/>
              </a:rPr>
              <a:t> information </a:t>
            </a:r>
            <a:r>
              <a:rPr lang="en-AU" sz="2000" dirty="0">
                <a:solidFill>
                  <a:prstClr val="black"/>
                </a:solidFill>
                <a:latin typeface="Helvetica" pitchFamily="34" charset="0"/>
              </a:rPr>
              <a:t>system</a:t>
            </a:r>
          </a:p>
          <a:p>
            <a:pPr marL="531813" lvl="0" indent="-495300">
              <a:spcBef>
                <a:spcPts val="600"/>
              </a:spcBef>
              <a:spcAft>
                <a:spcPts val="1200"/>
              </a:spcAft>
              <a:buClr>
                <a:srgbClr val="7FD13B"/>
              </a:buClr>
              <a:buNone/>
              <a:tabLst>
                <a:tab pos="95250" algn="l"/>
              </a:tabLst>
            </a:pPr>
            <a:r>
              <a:rPr lang="en-AU" sz="2000" dirty="0" smtClean="0">
                <a:solidFill>
                  <a:prstClr val="black"/>
                </a:solidFill>
                <a:latin typeface="Helvetica" pitchFamily="34" charset="0"/>
              </a:rPr>
              <a:t>3.	Obtain </a:t>
            </a:r>
            <a:r>
              <a:rPr lang="en-AU" sz="2000" dirty="0">
                <a:solidFill>
                  <a:prstClr val="black"/>
                </a:solidFill>
                <a:latin typeface="Helvetica" pitchFamily="34" charset="0"/>
              </a:rPr>
              <a:t>information using an automated </a:t>
            </a:r>
            <a:r>
              <a:rPr lang="en-AU" sz="2000" dirty="0" smtClean="0">
                <a:solidFill>
                  <a:prstClr val="black"/>
                </a:solidFill>
                <a:latin typeface="Helvetica" pitchFamily="34" charset="0"/>
              </a:rPr>
              <a:t>information </a:t>
            </a:r>
            <a:r>
              <a:rPr lang="en-AU" sz="2000" dirty="0">
                <a:solidFill>
                  <a:prstClr val="black"/>
                </a:solidFill>
                <a:latin typeface="Helvetica" pitchFamily="34" charset="0"/>
              </a:rPr>
              <a:t>system</a:t>
            </a:r>
          </a:p>
          <a:p>
            <a:pPr marL="531813" lvl="0" indent="-495300">
              <a:spcBef>
                <a:spcPts val="600"/>
              </a:spcBef>
              <a:spcAft>
                <a:spcPts val="1200"/>
              </a:spcAft>
              <a:buClr>
                <a:srgbClr val="7FD13B"/>
              </a:buClr>
              <a:buNone/>
              <a:tabLst>
                <a:tab pos="95250" algn="l"/>
              </a:tabLst>
            </a:pPr>
            <a:r>
              <a:rPr lang="en-AU" sz="2000" dirty="0" smtClean="0">
                <a:solidFill>
                  <a:prstClr val="black"/>
                </a:solidFill>
                <a:latin typeface="Helvetica" pitchFamily="34" charset="0"/>
              </a:rPr>
              <a:t>4.	Use </a:t>
            </a:r>
            <a:r>
              <a:rPr lang="en-AU" sz="2000" dirty="0">
                <a:solidFill>
                  <a:prstClr val="black"/>
                </a:solidFill>
                <a:latin typeface="Helvetica" pitchFamily="34" charset="0"/>
              </a:rPr>
              <a:t>information from information an automated </a:t>
            </a:r>
            <a:r>
              <a:rPr lang="en-AU" sz="2000" dirty="0" smtClean="0">
                <a:solidFill>
                  <a:prstClr val="black"/>
                </a:solidFill>
                <a:latin typeface="Helvetica" pitchFamily="34" charset="0"/>
              </a:rPr>
              <a:t> information </a:t>
            </a:r>
            <a:r>
              <a:rPr lang="en-AU" sz="2000" dirty="0">
                <a:solidFill>
                  <a:prstClr val="black"/>
                </a:solidFill>
                <a:latin typeface="Helvetica" pitchFamily="34" charset="0"/>
              </a:rPr>
              <a:t>system</a:t>
            </a:r>
          </a:p>
          <a:p>
            <a:pPr marL="531813" lvl="0" indent="-495300">
              <a:spcBef>
                <a:spcPts val="600"/>
              </a:spcBef>
              <a:spcAft>
                <a:spcPts val="1200"/>
              </a:spcAft>
              <a:buClr>
                <a:srgbClr val="7FD13B"/>
              </a:buClr>
              <a:buNone/>
              <a:tabLst>
                <a:tab pos="95250" algn="l"/>
              </a:tabLst>
            </a:pPr>
            <a:r>
              <a:rPr lang="en-AU" sz="2000" dirty="0" smtClean="0">
                <a:solidFill>
                  <a:prstClr val="black"/>
                </a:solidFill>
                <a:latin typeface="Helvetica" pitchFamily="34" charset="0"/>
              </a:rPr>
              <a:t>5.	Up-date </a:t>
            </a:r>
            <a:r>
              <a:rPr lang="en-AU" sz="2000" dirty="0">
                <a:solidFill>
                  <a:prstClr val="black"/>
                </a:solidFill>
                <a:latin typeface="Helvetica" pitchFamily="34" charset="0"/>
              </a:rPr>
              <a:t>and maintain information on an </a:t>
            </a:r>
            <a:r>
              <a:rPr lang="en-AU" sz="2000" dirty="0" smtClean="0">
                <a:solidFill>
                  <a:prstClr val="black"/>
                </a:solidFill>
                <a:latin typeface="Helvetica" pitchFamily="34" charset="0"/>
              </a:rPr>
              <a:t>automated </a:t>
            </a:r>
            <a:r>
              <a:rPr lang="en-AU" sz="2000" dirty="0">
                <a:solidFill>
                  <a:prstClr val="black"/>
                </a:solidFill>
                <a:latin typeface="Helvetica" pitchFamily="34" charset="0"/>
              </a:rPr>
              <a:t>information system</a:t>
            </a:r>
          </a:p>
          <a:p>
            <a:pPr marL="36576" indent="0">
              <a:spcBef>
                <a:spcPts val="600"/>
              </a:spcBef>
              <a:spcAft>
                <a:spcPts val="1200"/>
              </a:spcAft>
              <a:buNone/>
            </a:pPr>
            <a:r>
              <a:rPr lang="en-AU" sz="2000" dirty="0" smtClean="0">
                <a:latin typeface="Helvetica" pitchFamily="34" charset="0"/>
              </a:rPr>
              <a:t>You have now completed this unit and the trainer will provide details on assessment.		</a:t>
            </a:r>
          </a:p>
          <a:p>
            <a:pPr marL="36576" indent="0" algn="ctr">
              <a:spcBef>
                <a:spcPts val="600"/>
              </a:spcBef>
              <a:spcAft>
                <a:spcPts val="1200"/>
              </a:spcAft>
              <a:buNone/>
            </a:pPr>
            <a:r>
              <a:rPr lang="en-AU" sz="2500" b="1" i="1" dirty="0">
                <a:solidFill>
                  <a:srgbClr val="FF6600"/>
                </a:solidFill>
                <a:ea typeface="+mj-ea"/>
                <a:cs typeface="+mj-cs"/>
              </a:rPr>
              <a:t>Good Luck</a:t>
            </a:r>
          </a:p>
        </p:txBody>
      </p:sp>
      <p:sp>
        <p:nvSpPr>
          <p:cNvPr id="4" name="Slide Number Placeholder 3"/>
          <p:cNvSpPr>
            <a:spLocks noGrp="1"/>
          </p:cNvSpPr>
          <p:nvPr>
            <p:ph type="sldNum" sz="quarter" idx="12"/>
          </p:nvPr>
        </p:nvSpPr>
        <p:spPr/>
        <p:txBody>
          <a:bodyPr/>
          <a:lstStyle/>
          <a:p>
            <a:r>
              <a:rPr lang="en-US" dirty="0" smtClean="0">
                <a:solidFill>
                  <a:srgbClr val="4E5B6F">
                    <a:shade val="50000"/>
                  </a:srgbClr>
                </a:solidFill>
              </a:rPr>
              <a:t> </a:t>
            </a:r>
            <a:r>
              <a:rPr lang="en-US" dirty="0" smtClean="0">
                <a:solidFill>
                  <a:srgbClr val="4E5B6F">
                    <a:shade val="50000"/>
                  </a:srgbClr>
                </a:solidFill>
                <a:latin typeface="Helvetica" pitchFamily="34" charset="0"/>
              </a:rPr>
              <a:t>Slide </a:t>
            </a:r>
            <a:fld id="{90BDF71C-F485-43AE-8825-5070AF1EA8C9}" type="slidenum">
              <a:rPr lang="en-US" smtClean="0">
                <a:solidFill>
                  <a:srgbClr val="4E5B6F">
                    <a:shade val="50000"/>
                  </a:srgbClr>
                </a:solidFill>
                <a:latin typeface="Helvetica" pitchFamily="34" charset="0"/>
              </a:rPr>
              <a:pPr/>
              <a:t>69</a:t>
            </a:fld>
            <a:endParaRPr lang="en-US" dirty="0">
              <a:solidFill>
                <a:srgbClr val="4E5B6F">
                  <a:shade val="50000"/>
                </a:srgbClr>
              </a:solidFill>
              <a:latin typeface="Helvetica" pitchFamily="34" charset="0"/>
            </a:endParaRPr>
          </a:p>
        </p:txBody>
      </p:sp>
    </p:spTree>
    <p:extLst>
      <p:ext uri="{BB962C8B-B14F-4D97-AF65-F5344CB8AC3E}">
        <p14:creationId xmlns:p14="http://schemas.microsoft.com/office/powerpoint/2010/main" val="4021251367"/>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1422</TotalTime>
  <Words>4669</Words>
  <Application>Microsoft Office PowerPoint</Application>
  <PresentationFormat>On-screen Show (4:3)</PresentationFormat>
  <Paragraphs>742</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Arial</vt:lpstr>
      <vt:lpstr>Calibri</vt:lpstr>
      <vt:lpstr>Helvetica</vt:lpstr>
      <vt:lpstr>HelveticaNeueLT Std Lt Cn</vt:lpstr>
      <vt:lpstr>Symbol</vt:lpstr>
      <vt:lpstr>Times New Roman</vt:lpstr>
      <vt:lpstr>Verdana</vt:lpstr>
      <vt:lpstr>Wingdings 2</vt:lpstr>
      <vt:lpstr>PPT_Tour_operation_&amp;_travel_agencies_template_130214</vt:lpstr>
      <vt:lpstr>OPERATE AN AUTOMATED INFORMATION SYSTEM</vt:lpstr>
      <vt:lpstr>Subject elements</vt:lpstr>
      <vt:lpstr>Assessment</vt:lpstr>
      <vt:lpstr>Element 1: Identify the context for use of an automated information system</vt:lpstr>
      <vt:lpstr>1.1 Identify a range of information systems and sources in use within the industry</vt:lpstr>
      <vt:lpstr>1.1 Identify a range of information systems and sources in use within the industry</vt:lpstr>
      <vt:lpstr>1.2 Describe policies and procedures for operating an automated information system</vt:lpstr>
      <vt:lpstr>1.2 Describe policies and procedures for operating an automated information system</vt:lpstr>
      <vt:lpstr>1.3   List information that may be available through an automated information system</vt:lpstr>
      <vt:lpstr>1.3   List information that may be available through an automated information system</vt:lpstr>
      <vt:lpstr>1.3   List information that may be available through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1.4 Identify the functions of an automated information system</vt:lpstr>
      <vt:lpstr>Element 2:  Access information using an automated information system</vt:lpstr>
      <vt:lpstr>2.1 Identify information requirements</vt:lpstr>
      <vt:lpstr>2.1 Identify information requirements</vt:lpstr>
      <vt:lpstr>2.3 Apply search techniques to locate identified information</vt:lpstr>
      <vt:lpstr>2.3 Apply search techniques to locate identified information</vt:lpstr>
      <vt:lpstr>2.3 Apply search techniques to locate identified information</vt:lpstr>
      <vt:lpstr>2.3 Apply search techniques to locate identified information</vt:lpstr>
      <vt:lpstr>2.3 Apply search techniques to locate identified information</vt:lpstr>
      <vt:lpstr>2.3 Apply search techniques to locate identified information</vt:lpstr>
      <vt:lpstr>2.3 Apply search techniques to locate identified information</vt:lpstr>
      <vt:lpstr>2.4 Interrogate the system to secure full range of information available on the system</vt:lpstr>
      <vt:lpstr>2.4 Interrogate the system to secure full range of information available on the system</vt:lpstr>
      <vt:lpstr>2.4 Interrogate the system to secure full range of information available on the system</vt:lpstr>
      <vt:lpstr>2.4 Interrogate the system to secure full range of information available on the system</vt:lpstr>
      <vt:lpstr>2.5 Verify captured information meets identified need</vt:lpstr>
      <vt:lpstr>Element 3: Obtain information using an automated information system</vt:lpstr>
      <vt:lpstr>3.1 Enable access to required system and/or information</vt:lpstr>
      <vt:lpstr>3.1 Enable access to required system and/or information</vt:lpstr>
      <vt:lpstr>3.1 Enable access to required system and/or information</vt:lpstr>
      <vt:lpstr>3.2 Select required information</vt:lpstr>
      <vt:lpstr>3.3 Download information</vt:lpstr>
      <vt:lpstr>3.4 Print information</vt:lpstr>
      <vt:lpstr>3.4 Print information</vt:lpstr>
      <vt:lpstr>Element 4: Use information from information an automated information system</vt:lpstr>
      <vt:lpstr>4.1 Forward information as required</vt:lpstr>
      <vt:lpstr>4.2 Save identified information</vt:lpstr>
      <vt:lpstr>4.2 Save identified information</vt:lpstr>
      <vt:lpstr>4.3 Manipulate accessed information</vt:lpstr>
      <vt:lpstr>4.3 Manipulate accessed information</vt:lpstr>
      <vt:lpstr>4.3 Manipulate accessed information</vt:lpstr>
      <vt:lpstr>4.3 Manipulate accessed information</vt:lpstr>
      <vt:lpstr>4.3 Manipulate accessed information</vt:lpstr>
      <vt:lpstr>4.3 Manipulate accessed information</vt:lpstr>
      <vt:lpstr>4.4 Report on findings</vt:lpstr>
      <vt:lpstr>Element 5: Up-date and maintain information on an automated information system</vt:lpstr>
      <vt:lpstr>5.1 Enter data onto automated information system</vt:lpstr>
      <vt:lpstr>5.1 Enter data onto automated information system</vt:lpstr>
      <vt:lpstr>5.1 Enter data onto automated information system</vt:lpstr>
      <vt:lpstr>5.1 Enter data onto automated information system</vt:lpstr>
      <vt:lpstr>5.1 Enter data onto automated information system</vt:lpstr>
      <vt:lpstr>The End</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OPERATE AN AUTOMATED INFORMATION SYSTEM</dc:title>
  <dc:creator>Mai Vu</dc:creator>
  <cp:lastModifiedBy>Carla Angelica Co</cp:lastModifiedBy>
  <cp:revision>100</cp:revision>
  <dcterms:created xsi:type="dcterms:W3CDTF">2014-03-25T03:58:01Z</dcterms:created>
  <dcterms:modified xsi:type="dcterms:W3CDTF">2016-07-04T01:43:54Z</dcterms:modified>
</cp:coreProperties>
</file>