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docx" ContentType="application/vnd.openxmlformats-officedocument.wordprocessingml.document"/>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63"/>
  </p:notesMasterIdLst>
  <p:handoutMasterIdLst>
    <p:handoutMasterId r:id="rId64"/>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3" r:id="rId56"/>
    <p:sldId id="312" r:id="rId57"/>
    <p:sldId id="314" r:id="rId58"/>
    <p:sldId id="315" r:id="rId59"/>
    <p:sldId id="316" r:id="rId60"/>
    <p:sldId id="295" r:id="rId61"/>
    <p:sldId id="296" r:id="rId62"/>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156" autoAdjust="0"/>
    <p:restoredTop sz="73138" autoAdjust="0"/>
  </p:normalViewPr>
  <p:slideViewPr>
    <p:cSldViewPr>
      <p:cViewPr varScale="1">
        <p:scale>
          <a:sx n="67" d="100"/>
          <a:sy n="67" d="100"/>
        </p:scale>
        <p:origin x="2022"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4.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latin typeface="Helvetica" pitchFamily="34" charset="0"/>
            </a:endParaRPr>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latin typeface="Helvetica" pitchFamily="34" charset="0"/>
              </a:rPr>
              <a:pPr/>
              <a:t>7/18/2016</a:t>
            </a:fld>
            <a:endParaRPr lang="en-GB" dirty="0">
              <a:latin typeface="Helvetica" pitchFamily="34" charset="0"/>
            </a:endParaRPr>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latin typeface="Helvetica" pitchFamily="34" charset="0"/>
            </a:endParaRPr>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latin typeface="Helvetica" pitchFamily="34" charset="0"/>
              </a:rPr>
              <a:pPr/>
              <a:t>‹#›</a:t>
            </a:fld>
            <a:endParaRPr lang="en-GB" dirty="0">
              <a:latin typeface="Helvetica" pitchFamily="34" charset="0"/>
            </a:endParaRPr>
          </a:p>
        </p:txBody>
      </p:sp>
    </p:spTree>
    <p:extLst>
      <p:ext uri="{BB962C8B-B14F-4D97-AF65-F5344CB8AC3E}">
        <p14:creationId xmlns:p14="http://schemas.microsoft.com/office/powerpoint/2010/main" val="1493299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atin typeface="Helvetica" pitchFamily="34" charset="0"/>
              </a:defRPr>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atin typeface="Helvetica" pitchFamily="34" charset="0"/>
              </a:defRPr>
            </a:lvl1pPr>
          </a:lstStyle>
          <a:p>
            <a:fld id="{BC34F173-2430-41D6-9CA5-C9CD3BDF7E96}" type="datetimeFigureOut">
              <a:rPr lang="en-US" smtClean="0"/>
              <a:pPr/>
              <a:t>7/18/2016</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atin typeface="Helvetica" pitchFamily="34" charset="0"/>
              </a:defRPr>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atin typeface="Helvetica" pitchFamily="34" charset="0"/>
              </a:defRPr>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3155990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Helvetica" pitchFamily="34" charset="0"/>
        <a:ea typeface="+mn-ea"/>
        <a:cs typeface="+mn-cs"/>
      </a:defRPr>
    </a:lvl1pPr>
    <a:lvl2pPr marL="457200" algn="l" defTabSz="914400" rtl="0" eaLnBrk="1" latinLnBrk="0" hangingPunct="1">
      <a:defRPr sz="1200" kern="1200">
        <a:solidFill>
          <a:schemeClr val="tx1"/>
        </a:solidFill>
        <a:latin typeface="Helvetica" pitchFamily="34" charset="0"/>
        <a:ea typeface="+mn-ea"/>
        <a:cs typeface="+mn-cs"/>
      </a:defRPr>
    </a:lvl2pPr>
    <a:lvl3pPr marL="914400" algn="l" defTabSz="914400" rtl="0" eaLnBrk="1" latinLnBrk="0" hangingPunct="1">
      <a:defRPr sz="1200" kern="1200">
        <a:solidFill>
          <a:schemeClr val="tx1"/>
        </a:solidFill>
        <a:latin typeface="Helvetica" pitchFamily="34" charset="0"/>
        <a:ea typeface="+mn-ea"/>
        <a:cs typeface="+mn-cs"/>
      </a:defRPr>
    </a:lvl3pPr>
    <a:lvl4pPr marL="1371600" algn="l" defTabSz="914400" rtl="0" eaLnBrk="1" latinLnBrk="0" hangingPunct="1">
      <a:defRPr sz="1200" kern="1200">
        <a:solidFill>
          <a:schemeClr val="tx1"/>
        </a:solidFill>
        <a:latin typeface="Helvetica" pitchFamily="34" charset="0"/>
        <a:ea typeface="+mn-ea"/>
        <a:cs typeface="+mn-cs"/>
      </a:defRPr>
    </a:lvl4pPr>
    <a:lvl5pPr marL="1828800" algn="l" defTabSz="914400" rtl="0" eaLnBrk="1" latinLnBrk="0" hangingPunct="1">
      <a:defRPr sz="1200" kern="1200">
        <a:solidFill>
          <a:schemeClr val="tx1"/>
        </a:solidFill>
        <a:latin typeface="Helvetic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effectLst/>
                <a:latin typeface="Helvetica" pitchFamily="34" charset="0"/>
                <a:ea typeface="+mn-ea"/>
                <a:cs typeface="+mn-cs"/>
              </a:rPr>
              <a:t>Trainer introduces himself/herself and welcomes the class.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1898561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Trainer advises students that the unit comprises five elements, as listed on the slide explaining:</a:t>
            </a:r>
          </a:p>
          <a:p>
            <a:pPr marL="171450" lvl="0" indent="-171450">
              <a:buFont typeface="Arial" pitchFamily="34" charset="0"/>
              <a:buChar char="•"/>
            </a:pPr>
            <a:r>
              <a:rPr lang="en-AU" sz="1200" kern="1200" dirty="0" smtClean="0">
                <a:solidFill>
                  <a:schemeClr val="tx1"/>
                </a:solidFill>
                <a:effectLst/>
                <a:latin typeface="Helvetica" pitchFamily="34" charset="0"/>
                <a:ea typeface="+mn-ea"/>
                <a:cs typeface="+mn-cs"/>
              </a:rPr>
              <a:t>Each element has a number of performance criteria which will be identified throughout the class and explained in detail</a:t>
            </a:r>
          </a:p>
          <a:p>
            <a:pPr marL="171450" lvl="0" indent="-171450">
              <a:buFont typeface="Arial" pitchFamily="34" charset="0"/>
              <a:buChar char="•"/>
            </a:pPr>
            <a:r>
              <a:rPr lang="en-AU" sz="1200" kern="1200" dirty="0" smtClean="0">
                <a:solidFill>
                  <a:schemeClr val="tx1"/>
                </a:solidFill>
                <a:effectLst/>
                <a:latin typeface="Helvetica" pitchFamily="34" charset="0"/>
                <a:ea typeface="+mn-ea"/>
                <a:cs typeface="+mn-cs"/>
              </a:rPr>
              <a:t>Students can obtain more information from their Trainee Manual</a:t>
            </a:r>
          </a:p>
          <a:p>
            <a:pPr marL="171450" indent="-171450">
              <a:buFont typeface="Arial" pitchFamily="34" charset="0"/>
              <a:buChar char="•"/>
            </a:pPr>
            <a:r>
              <a:rPr lang="en-AU" sz="1200" kern="1200" dirty="0" smtClean="0">
                <a:solidFill>
                  <a:schemeClr val="tx1"/>
                </a:solidFill>
                <a:effectLst/>
                <a:latin typeface="Helvetica" pitchFamily="34" charset="0"/>
                <a:ea typeface="+mn-ea"/>
                <a:cs typeface="+mn-cs"/>
              </a:rPr>
              <a:t>The course presents advice and information but where the workplace requirements differ to what is presented, the workplace practices and standards must be observed.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6814159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Trainer advises students that assessment for this unit may take several forms all of which are aimed at verifying they have achieved competency for the unit as required.</a:t>
            </a:r>
          </a:p>
          <a:p>
            <a:r>
              <a:rPr lang="en-AU" sz="1200" kern="1200" dirty="0" smtClean="0">
                <a:solidFill>
                  <a:schemeClr val="tx1"/>
                </a:solidFill>
                <a:effectLst/>
                <a:latin typeface="Helvetica" pitchFamily="34" charset="0"/>
                <a:ea typeface="+mn-ea"/>
                <a:cs typeface="+mn-cs"/>
              </a:rPr>
              <a:t>Trainer outlines to students the methods of assessment that will be applied to them for this unit.</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26944434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sz="1200" kern="1200" dirty="0" smtClean="0">
                <a:solidFill>
                  <a:schemeClr val="tx1"/>
                </a:solidFill>
                <a:effectLst/>
                <a:latin typeface="Helvetica" pitchFamily="34" charset="0"/>
                <a:ea typeface="+mn-ea"/>
                <a:cs typeface="+mn-cs"/>
              </a:rPr>
              <a:t>Trainer outlines for students the Performance criteria for this Element, as listed on the slide.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18516845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effectLst/>
                <a:latin typeface="Helvetica" pitchFamily="34" charset="0"/>
                <a:ea typeface="+mn-ea"/>
                <a:cs typeface="+mn-cs"/>
              </a:rPr>
              <a:t>Go to page 9 of Trainee manual and read the example in the introduction.</a:t>
            </a:r>
            <a:endParaRPr lang="en-AU" sz="1200" kern="1200" dirty="0" smtClean="0">
              <a:solidFill>
                <a:schemeClr val="tx1"/>
              </a:solidFill>
              <a:effectLst/>
              <a:latin typeface="Helvetica" pitchFamily="34" charset="0"/>
              <a:ea typeface="+mn-ea"/>
              <a:cs typeface="+mn-cs"/>
            </a:endParaRPr>
          </a:p>
          <a:p>
            <a:r>
              <a:rPr lang="en-AU" sz="1200" kern="1200" dirty="0" smtClean="0">
                <a:solidFill>
                  <a:schemeClr val="tx1"/>
                </a:solidFill>
                <a:effectLst/>
                <a:latin typeface="Helvetica" pitchFamily="34" charset="0"/>
                <a:ea typeface="+mn-ea"/>
                <a:cs typeface="+mn-cs"/>
              </a:rPr>
              <a:t>Discuss the situation Lan and Jo are dealing with. </a:t>
            </a:r>
          </a:p>
          <a:p>
            <a:r>
              <a:rPr lang="en-AU" sz="1200" kern="1200" dirty="0" smtClean="0">
                <a:solidFill>
                  <a:schemeClr val="tx1"/>
                </a:solidFill>
                <a:effectLst/>
                <a:latin typeface="Helvetica" pitchFamily="34" charset="0"/>
                <a:ea typeface="+mn-ea"/>
                <a:cs typeface="+mn-cs"/>
              </a:rPr>
              <a:t>How many of you have experienced similar situations? </a:t>
            </a:r>
          </a:p>
          <a:p>
            <a:r>
              <a:rPr lang="en-AU" sz="1200" kern="1200" dirty="0" smtClean="0">
                <a:solidFill>
                  <a:schemeClr val="tx1"/>
                </a:solidFill>
                <a:effectLst/>
                <a:latin typeface="Helvetica" pitchFamily="34" charset="0"/>
                <a:ea typeface="+mn-ea"/>
                <a:cs typeface="+mn-cs"/>
              </a:rPr>
              <a:t>How has Po ‘s action transformed the situation? </a:t>
            </a:r>
          </a:p>
          <a:p>
            <a:r>
              <a:rPr lang="en-AU" sz="1200" kern="1200" dirty="0" smtClean="0">
                <a:solidFill>
                  <a:schemeClr val="tx1"/>
                </a:solidFill>
                <a:effectLst/>
                <a:latin typeface="Helvetica" pitchFamily="34" charset="0"/>
                <a:ea typeface="+mn-ea"/>
                <a:cs typeface="+mn-cs"/>
              </a:rPr>
              <a:t>How can we each become more like Po?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28575295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Explain the ISO definition of risk to the group. </a:t>
            </a:r>
          </a:p>
          <a:p>
            <a:r>
              <a:rPr lang="en-AU" sz="1200" kern="1200" dirty="0" smtClean="0">
                <a:solidFill>
                  <a:schemeClr val="tx1"/>
                </a:solidFill>
                <a:effectLst/>
                <a:latin typeface="Helvetica" pitchFamily="34" charset="0"/>
                <a:ea typeface="+mn-ea"/>
                <a:cs typeface="+mn-cs"/>
              </a:rPr>
              <a:t>Get them to provide their own definitions of risk with particular emphasis on how it relates to their own work areas.</a:t>
            </a:r>
          </a:p>
          <a:p>
            <a:r>
              <a:rPr lang="en-AU" sz="1200" kern="1200" dirty="0" smtClean="0">
                <a:solidFill>
                  <a:schemeClr val="tx1"/>
                </a:solidFill>
                <a:effectLst/>
                <a:latin typeface="Helvetica" pitchFamily="34" charset="0"/>
                <a:ea typeface="+mn-ea"/>
                <a:cs typeface="+mn-cs"/>
              </a:rPr>
              <a:t>This is a simpler definition:</a:t>
            </a:r>
          </a:p>
          <a:p>
            <a:r>
              <a:rPr lang="en-AU" sz="1200" kern="1200" dirty="0" smtClean="0">
                <a:solidFill>
                  <a:schemeClr val="tx1"/>
                </a:solidFill>
                <a:effectLst/>
                <a:latin typeface="Helvetica" pitchFamily="34" charset="0"/>
                <a:ea typeface="+mn-ea"/>
                <a:cs typeface="+mn-cs"/>
              </a:rPr>
              <a:t>“A risk is the potential (or possibility) for a hazard to cause injury or illness in the workplace.”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19568202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sz="1200" kern="1200" dirty="0" smtClean="0">
                <a:solidFill>
                  <a:schemeClr val="tx1"/>
                </a:solidFill>
                <a:effectLst/>
                <a:latin typeface="Helvetica" pitchFamily="34" charset="0"/>
                <a:ea typeface="+mn-ea"/>
                <a:cs typeface="+mn-cs"/>
              </a:rPr>
              <a:t>The trainer can go through each of these questions with the group and ask them to relate these questions back to their workplace.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17633049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Explain the four levels of risk:</a:t>
            </a:r>
          </a:p>
          <a:p>
            <a:r>
              <a:rPr lang="en-AU" sz="1200" kern="1200" dirty="0" smtClean="0">
                <a:solidFill>
                  <a:schemeClr val="tx1"/>
                </a:solidFill>
                <a:effectLst/>
                <a:latin typeface="Helvetica" pitchFamily="34" charset="0"/>
                <a:ea typeface="+mn-ea"/>
                <a:cs typeface="+mn-cs"/>
              </a:rPr>
              <a:t>Strategic – relates to actions taken at senior management level such as decisions to open a new hotel, start a new tour etc.</a:t>
            </a:r>
          </a:p>
          <a:p>
            <a:r>
              <a:rPr lang="en-AU" sz="1200" kern="1200" dirty="0" smtClean="0">
                <a:solidFill>
                  <a:schemeClr val="tx1"/>
                </a:solidFill>
                <a:effectLst/>
                <a:latin typeface="Helvetica" pitchFamily="34" charset="0"/>
                <a:ea typeface="+mn-ea"/>
                <a:cs typeface="+mn-cs"/>
              </a:rPr>
              <a:t>Organisational – which relate to the management structures, systems and processes that the organisation adopts to achieve its strategic goals.</a:t>
            </a:r>
          </a:p>
          <a:p>
            <a:r>
              <a:rPr lang="en-AU" sz="1200" kern="1200" dirty="0" smtClean="0">
                <a:solidFill>
                  <a:schemeClr val="tx1"/>
                </a:solidFill>
                <a:effectLst/>
                <a:latin typeface="Helvetica" pitchFamily="34" charset="0"/>
                <a:ea typeface="+mn-ea"/>
                <a:cs typeface="+mn-cs"/>
              </a:rPr>
              <a:t>Operational – which is linked to breakdown in systems within an organisation e.g. fraud, IT system failure, power outages.</a:t>
            </a:r>
          </a:p>
          <a:p>
            <a:r>
              <a:rPr lang="en-AU" sz="1200" kern="1200" dirty="0" smtClean="0">
                <a:solidFill>
                  <a:schemeClr val="tx1"/>
                </a:solidFill>
                <a:effectLst/>
                <a:latin typeface="Helvetica" pitchFamily="34" charset="0"/>
                <a:ea typeface="+mn-ea"/>
                <a:cs typeface="+mn-cs"/>
              </a:rPr>
              <a:t>Task risks – result from an individuals work tasks e.g. a team member forgetting to fulfil an F&amp;B order so the hotel gets a poor reputation.   </a:t>
            </a:r>
          </a:p>
          <a:p>
            <a:r>
              <a:rPr lang="en-AU" sz="1200" kern="1200" dirty="0" smtClean="0">
                <a:solidFill>
                  <a:schemeClr val="tx1"/>
                </a:solidFill>
                <a:effectLst/>
                <a:latin typeface="Helvetica" pitchFamily="34" charset="0"/>
                <a:ea typeface="+mn-ea"/>
                <a:cs typeface="+mn-cs"/>
              </a:rPr>
              <a:t>Get the group to provide an example of each within the hospitality industry.</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40268990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kern="1200" dirty="0" smtClean="0">
                <a:solidFill>
                  <a:schemeClr val="tx1"/>
                </a:solidFill>
                <a:effectLst/>
                <a:latin typeface="Helvetica" pitchFamily="34" charset="0"/>
                <a:ea typeface="+mn-ea"/>
                <a:cs typeface="+mn-cs"/>
              </a:rPr>
              <a:t>Ask the group to break down these steps involved in understanding the context of risk as a group activity.</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19296276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Explain how a PESTL analysis can be used to establish external factors which may impact upon risk within the organisation. These can be looked at in a local, regional and international level.</a:t>
            </a:r>
          </a:p>
          <a:p>
            <a:r>
              <a:rPr lang="en-AU" sz="1200" kern="1200" dirty="0" smtClean="0">
                <a:solidFill>
                  <a:schemeClr val="tx1"/>
                </a:solidFill>
                <a:effectLst/>
                <a:latin typeface="Helvetica" pitchFamily="34" charset="0"/>
                <a:ea typeface="+mn-ea"/>
                <a:cs typeface="+mn-cs"/>
              </a:rPr>
              <a:t>Every organisation operates in an external environment which impacts greatly on its ability to achieve objectives.</a:t>
            </a:r>
          </a:p>
          <a:p>
            <a:r>
              <a:rPr lang="en-AU" sz="1200" kern="1200" dirty="0" smtClean="0">
                <a:solidFill>
                  <a:schemeClr val="tx1"/>
                </a:solidFill>
                <a:effectLst/>
                <a:latin typeface="Helvetica" pitchFamily="34" charset="0"/>
                <a:ea typeface="+mn-ea"/>
                <a:cs typeface="+mn-cs"/>
              </a:rPr>
              <a:t>Imagine a travel business with key operations in a region in Africa which becomes politically unstable. There are sizable risks associated with conducting business in this sort of environment.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10963668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The trainer explains the internal context of risk.</a:t>
            </a:r>
          </a:p>
          <a:p>
            <a:r>
              <a:rPr lang="en-AU" sz="1200" kern="1200" dirty="0" smtClean="0">
                <a:solidFill>
                  <a:schemeClr val="tx1"/>
                </a:solidFill>
                <a:effectLst/>
                <a:latin typeface="Helvetica" pitchFamily="34" charset="0"/>
                <a:ea typeface="+mn-ea"/>
                <a:cs typeface="+mn-cs"/>
              </a:rPr>
              <a:t>The internal workings of the organisation also need to be considered in terms of the risks associated with its culture, structure, processes and how it sets out to achieve its objectives. This involves understanding areas such as the resources and knowledge available to the organisation, how information is used, policies and systems used, standards adhered to and governance issues and perceptions of internal stakeholders.</a:t>
            </a:r>
          </a:p>
          <a:p>
            <a:r>
              <a:rPr lang="en-AU" sz="1200" kern="1200" dirty="0" smtClean="0">
                <a:solidFill>
                  <a:schemeClr val="tx1"/>
                </a:solidFill>
                <a:effectLst/>
                <a:latin typeface="Helvetica" pitchFamily="34" charset="0"/>
                <a:ea typeface="+mn-ea"/>
                <a:cs typeface="+mn-cs"/>
              </a:rPr>
              <a:t>Get the class to break up into groups and consider the External and Internal risk context of the organisations they work in.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18375484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effectLst/>
                <a:latin typeface="Helvetica" pitchFamily="34" charset="0"/>
                <a:ea typeface="+mn-ea"/>
                <a:cs typeface="+mn-cs"/>
              </a:rPr>
              <a:t>Ask the group how each of these may impact.  This can be done as a question to the group and they discuss or they are broken into groups where they must present their answers.</a:t>
            </a:r>
            <a:endParaRPr lang="en-AU" sz="1200" kern="1200" dirty="0" smtClean="0">
              <a:solidFill>
                <a:schemeClr val="tx1"/>
              </a:solidFill>
              <a:effectLst/>
              <a:latin typeface="Helvetica" pitchFamily="34" charset="0"/>
              <a:ea typeface="+mn-ea"/>
              <a:cs typeface="+mn-cs"/>
            </a:endParaRPr>
          </a:p>
          <a:p>
            <a:r>
              <a:rPr lang="en-US" sz="1200" kern="1200" dirty="0" smtClean="0">
                <a:solidFill>
                  <a:schemeClr val="tx1"/>
                </a:solidFill>
                <a:effectLst/>
                <a:latin typeface="Helvetica" pitchFamily="34" charset="0"/>
                <a:ea typeface="+mn-ea"/>
                <a:cs typeface="+mn-cs"/>
              </a:rPr>
              <a:t>Refer to page 10/11 of Trainee Manual for more information.</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40518418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Go through the list with the group. Refer to page 11 of Trainee Manual for an explanation of each.</a:t>
            </a:r>
          </a:p>
          <a:p>
            <a:r>
              <a:rPr lang="en-AU" sz="1200" kern="1200" dirty="0" smtClean="0">
                <a:solidFill>
                  <a:schemeClr val="tx1"/>
                </a:solidFill>
                <a:effectLst/>
                <a:latin typeface="Helvetica" pitchFamily="34" charset="0"/>
                <a:ea typeface="+mn-ea"/>
                <a:cs typeface="+mn-cs"/>
              </a:rPr>
              <a:t>Has anyone experienced any of these?</a:t>
            </a:r>
          </a:p>
          <a:p>
            <a:r>
              <a:rPr lang="en-AU" sz="1200" kern="1200" dirty="0" smtClean="0">
                <a:solidFill>
                  <a:schemeClr val="tx1"/>
                </a:solidFill>
                <a:effectLst/>
                <a:latin typeface="Helvetica" pitchFamily="34" charset="0"/>
                <a:ea typeface="+mn-ea"/>
                <a:cs typeface="+mn-cs"/>
              </a:rPr>
              <a:t>Is there anything we could add to this list?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29644471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Explain how the different compliance requirements can vary in different jurisdictions, but that increasingly the hospitality industry must adhere to similar standards such as hygiene etc every where in the world. </a:t>
            </a:r>
          </a:p>
          <a:p>
            <a:r>
              <a:rPr lang="en-AU" sz="1200" kern="1200" dirty="0" smtClean="0">
                <a:solidFill>
                  <a:schemeClr val="tx1"/>
                </a:solidFill>
                <a:effectLst/>
                <a:latin typeface="Helvetica" pitchFamily="34" charset="0"/>
                <a:ea typeface="+mn-ea"/>
                <a:cs typeface="+mn-cs"/>
              </a:rPr>
              <a:t>Using a whiteboard work up a list of all the regulations and rules the group is aware of and which are being followed in their own organisations. Do this for the hospitality and tourism/travel industries.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24465374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sz="1200" kern="1200" dirty="0" smtClean="0">
                <a:solidFill>
                  <a:schemeClr val="tx1"/>
                </a:solidFill>
                <a:effectLst/>
                <a:latin typeface="Helvetica" pitchFamily="34" charset="0"/>
                <a:ea typeface="+mn-ea"/>
                <a:cs typeface="+mn-cs"/>
              </a:rPr>
              <a:t>Trainer to ask the group: What stakeholders may be at risk?</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4870934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effectLst/>
                <a:latin typeface="Helvetica" pitchFamily="34" charset="0"/>
                <a:ea typeface="+mn-ea"/>
                <a:cs typeface="+mn-cs"/>
              </a:rPr>
              <a:t>Activity 1 is in the Work Project section for this element on page 24 of the Trainee Manual.</a:t>
            </a:r>
            <a:endParaRPr lang="en-AU" sz="1200" kern="1200" dirty="0" smtClean="0">
              <a:solidFill>
                <a:schemeClr val="tx1"/>
              </a:solidFill>
              <a:effectLst/>
              <a:latin typeface="Helvetica" pitchFamily="34" charset="0"/>
              <a:ea typeface="+mn-ea"/>
              <a:cs typeface="+mn-cs"/>
            </a:endParaRPr>
          </a:p>
          <a:p>
            <a:r>
              <a:rPr lang="en-US" sz="1200" kern="1200" dirty="0" smtClean="0">
                <a:solidFill>
                  <a:schemeClr val="tx1"/>
                </a:solidFill>
                <a:effectLst/>
                <a:latin typeface="Helvetica" pitchFamily="34" charset="0"/>
                <a:ea typeface="+mn-ea"/>
                <a:cs typeface="+mn-cs"/>
              </a:rPr>
              <a:t>It is recommended this is completed during class as a group activity.</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14181974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Trainer to go through each and explain the root causes of risk. </a:t>
            </a:r>
          </a:p>
          <a:p>
            <a:r>
              <a:rPr lang="en-AU" sz="1200" kern="1200" dirty="0" smtClean="0">
                <a:solidFill>
                  <a:schemeClr val="tx1"/>
                </a:solidFill>
                <a:effectLst/>
                <a:latin typeface="Helvetica" pitchFamily="34" charset="0"/>
                <a:ea typeface="+mn-ea"/>
                <a:cs typeface="+mn-cs"/>
              </a:rPr>
              <a:t>Get the group to provide an example of each.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9319418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Trainer to take the group through the where, when, how, why and what approach with respect to examples from the hospitality and tourism/travel industries.</a:t>
            </a:r>
          </a:p>
          <a:p>
            <a:r>
              <a:rPr lang="en-AU" sz="1200" kern="1200" dirty="0" smtClean="0">
                <a:solidFill>
                  <a:schemeClr val="tx1"/>
                </a:solidFill>
                <a:effectLst/>
                <a:latin typeface="Helvetica" pitchFamily="34" charset="0"/>
                <a:ea typeface="+mn-ea"/>
                <a:cs typeface="+mn-cs"/>
              </a:rPr>
              <a:t>Refer to page 13 of Trainee Manual.</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39693919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Trainer to take the group through the techniques above. Refer to page 14 of the Trainee Manual.</a:t>
            </a:r>
          </a:p>
          <a:p>
            <a:r>
              <a:rPr lang="en-AU" sz="1200" kern="1200" dirty="0" smtClean="0">
                <a:solidFill>
                  <a:schemeClr val="tx1"/>
                </a:solidFill>
                <a:effectLst/>
                <a:latin typeface="Helvetica" pitchFamily="34" charset="0"/>
                <a:ea typeface="+mn-ea"/>
                <a:cs typeface="+mn-cs"/>
              </a:rPr>
              <a:t>Has anyone used any of these techniques in the workplace? </a:t>
            </a:r>
          </a:p>
          <a:p>
            <a:r>
              <a:rPr lang="en-AU" sz="1200" kern="1200" dirty="0" smtClean="0">
                <a:solidFill>
                  <a:schemeClr val="tx1"/>
                </a:solidFill>
                <a:effectLst/>
                <a:latin typeface="Helvetica" pitchFamily="34" charset="0"/>
                <a:ea typeface="+mn-ea"/>
                <a:cs typeface="+mn-cs"/>
              </a:rPr>
              <a:t>Group work: Divide into groups and pick out one technique (per group) and workshop with the group how it could be used in their own industry to identify risk.</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14283796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effectLst/>
                <a:latin typeface="Helvetica" pitchFamily="34" charset="0"/>
                <a:ea typeface="+mn-ea"/>
                <a:cs typeface="+mn-cs"/>
              </a:rPr>
              <a:t>Activity 2 is in the Work Project section for this element on page 24 of the Trainee Manual.</a:t>
            </a:r>
            <a:endParaRPr lang="en-AU" sz="1200" kern="1200" dirty="0" smtClean="0">
              <a:solidFill>
                <a:schemeClr val="tx1"/>
              </a:solidFill>
              <a:effectLst/>
              <a:latin typeface="Helvetica" pitchFamily="34" charset="0"/>
              <a:ea typeface="+mn-ea"/>
              <a:cs typeface="+mn-cs"/>
            </a:endParaRPr>
          </a:p>
          <a:p>
            <a:r>
              <a:rPr lang="en-US" sz="1200" kern="1200" dirty="0" smtClean="0">
                <a:solidFill>
                  <a:schemeClr val="tx1"/>
                </a:solidFill>
                <a:effectLst/>
                <a:latin typeface="Helvetica" pitchFamily="34" charset="0"/>
                <a:ea typeface="+mn-ea"/>
                <a:cs typeface="+mn-cs"/>
              </a:rPr>
              <a:t>It is recommended this is completed during class as a group or individual activity.</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24691976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Likelihood can be expressed via the following Category rankings which classify risks into categories.</a:t>
            </a:r>
          </a:p>
          <a:p>
            <a:r>
              <a:rPr lang="en-AU" sz="1200" kern="1200" dirty="0" smtClean="0">
                <a:solidFill>
                  <a:schemeClr val="tx1"/>
                </a:solidFill>
                <a:effectLst/>
                <a:latin typeface="Helvetica" pitchFamily="34" charset="0"/>
                <a:ea typeface="+mn-ea"/>
                <a:cs typeface="+mn-cs"/>
              </a:rPr>
              <a:t>Go through the likelihood levels on page 15 of Trainee Manual.</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22598956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kern="1200" dirty="0" smtClean="0">
                <a:solidFill>
                  <a:schemeClr val="tx1"/>
                </a:solidFill>
                <a:effectLst/>
                <a:latin typeface="Helvetica" pitchFamily="34" charset="0"/>
                <a:ea typeface="+mn-ea"/>
                <a:cs typeface="+mn-cs"/>
              </a:rPr>
              <a:t>Trainer to discuss the consequences level with the group.</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26045259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kern="1200" dirty="0" smtClean="0">
                <a:solidFill>
                  <a:schemeClr val="tx1"/>
                </a:solidFill>
                <a:effectLst/>
                <a:latin typeface="Helvetica" pitchFamily="34" charset="0"/>
                <a:ea typeface="+mn-ea"/>
                <a:cs typeface="+mn-cs"/>
              </a:rPr>
              <a:t>Talk with the group about the risk equation and how it can assist us to determine what action should be taken with regard to risks.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23094860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effectLst/>
                <a:latin typeface="Helvetica" pitchFamily="34" charset="0"/>
                <a:ea typeface="+mn-ea"/>
                <a:cs typeface="+mn-cs"/>
              </a:rPr>
              <a:t>Trainer to </a:t>
            </a:r>
            <a:r>
              <a:rPr lang="en-AU" sz="1200" kern="1200" dirty="0" smtClean="0">
                <a:solidFill>
                  <a:schemeClr val="tx1"/>
                </a:solidFill>
                <a:effectLst/>
                <a:latin typeface="Helvetica" pitchFamily="34" charset="0"/>
                <a:ea typeface="+mn-ea"/>
                <a:cs typeface="+mn-cs"/>
              </a:rPr>
              <a:t>show participants the risk matrix table and explain to them the relationship between likelihood and consequences.</a:t>
            </a:r>
          </a:p>
          <a:p>
            <a:r>
              <a:rPr lang="en-AU" sz="1200" kern="1200" dirty="0" smtClean="0">
                <a:solidFill>
                  <a:schemeClr val="tx1"/>
                </a:solidFill>
                <a:effectLst/>
                <a:latin typeface="Helvetica" pitchFamily="34" charset="0"/>
                <a:ea typeface="+mn-ea"/>
                <a:cs typeface="+mn-cs"/>
              </a:rPr>
              <a:t>By using this table you can prioritise the risks which are most likely to require action on your part and allocate resources where required. This information can then be used to assess the exposure of the business to damage or claims arising from the such risks eventuating.</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40832459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Trainer to explain to the group the three main exposure areas a business faces with regards to risk.</a:t>
            </a:r>
          </a:p>
          <a:p>
            <a:r>
              <a:rPr lang="en-AU" sz="1200" b="1" kern="1200" dirty="0" smtClean="0">
                <a:solidFill>
                  <a:schemeClr val="tx1"/>
                </a:solidFill>
                <a:effectLst/>
                <a:latin typeface="Helvetica" pitchFamily="34" charset="0"/>
                <a:ea typeface="+mn-ea"/>
                <a:cs typeface="+mn-cs"/>
              </a:rPr>
              <a:t>Legal</a:t>
            </a:r>
            <a:r>
              <a:rPr lang="en-AU" sz="1200" kern="1200" dirty="0" smtClean="0">
                <a:solidFill>
                  <a:schemeClr val="tx1"/>
                </a:solidFill>
                <a:effectLst/>
                <a:latin typeface="Helvetica" pitchFamily="34" charset="0"/>
                <a:ea typeface="+mn-ea"/>
                <a:cs typeface="+mn-cs"/>
              </a:rPr>
              <a:t> - could risk events if realised lead to legal liabilities, either through the business being non compliant with legislation/regulation and facing fines, or via legal proceedings being initiated against it as a result of a stakeholder suffering loss which could be traced back to a risk the business should have provisioned for. Legal also implies a reputational loss if the business is seen to be negligent in managing its own risks effectively.  </a:t>
            </a:r>
          </a:p>
          <a:p>
            <a:r>
              <a:rPr lang="en-AU" sz="1200" b="1" kern="1200" dirty="0" smtClean="0">
                <a:solidFill>
                  <a:schemeClr val="tx1"/>
                </a:solidFill>
                <a:effectLst/>
                <a:latin typeface="Helvetica" pitchFamily="34" charset="0"/>
                <a:ea typeface="+mn-ea"/>
                <a:cs typeface="+mn-cs"/>
              </a:rPr>
              <a:t>Material</a:t>
            </a:r>
            <a:r>
              <a:rPr lang="en-AU" sz="1200" kern="1200" dirty="0" smtClean="0">
                <a:solidFill>
                  <a:schemeClr val="tx1"/>
                </a:solidFill>
                <a:effectLst/>
                <a:latin typeface="Helvetica" pitchFamily="34" charset="0"/>
                <a:ea typeface="+mn-ea"/>
                <a:cs typeface="+mn-cs"/>
              </a:rPr>
              <a:t> - risk events could result in physical damage to the business premises, equipment and other physical assets such as vehicles and perishable (foods that spoil, rot and go bad quickly e.g. dairy) and non-perishable (foods that don’t spoil or decay e.g. flour) items. </a:t>
            </a:r>
          </a:p>
          <a:p>
            <a:r>
              <a:rPr lang="en-AU" sz="1200" b="1" kern="1200" dirty="0" smtClean="0">
                <a:solidFill>
                  <a:schemeClr val="tx1"/>
                </a:solidFill>
                <a:effectLst/>
                <a:latin typeface="Helvetica" pitchFamily="34" charset="0"/>
                <a:ea typeface="+mn-ea"/>
                <a:cs typeface="+mn-cs"/>
              </a:rPr>
              <a:t>Financial</a:t>
            </a:r>
            <a:r>
              <a:rPr lang="en-AU" sz="1200" kern="1200" dirty="0" smtClean="0">
                <a:solidFill>
                  <a:schemeClr val="tx1"/>
                </a:solidFill>
                <a:effectLst/>
                <a:latin typeface="Helvetica" pitchFamily="34" charset="0"/>
                <a:ea typeface="+mn-ea"/>
                <a:cs typeface="+mn-cs"/>
              </a:rPr>
              <a:t> - what costs in financial terms would the business experience if a risk was realised. This cost may relate to compensating stakeholders, paying fines or having to effect repairs or reconstruction.</a:t>
            </a:r>
          </a:p>
          <a:p>
            <a:r>
              <a:rPr lang="en-AU" sz="1200" kern="1200" dirty="0" smtClean="0">
                <a:solidFill>
                  <a:schemeClr val="tx1"/>
                </a:solidFill>
                <a:effectLst/>
                <a:latin typeface="Helvetica" pitchFamily="34" charset="0"/>
                <a:ea typeface="+mn-ea"/>
                <a:cs typeface="+mn-cs"/>
              </a:rPr>
              <a:t>Once the risk has been considered the business must decide whether the identified risk should be addressed?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12807760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effectLst/>
                <a:latin typeface="Helvetica" pitchFamily="34" charset="0"/>
                <a:ea typeface="+mn-ea"/>
                <a:cs typeface="+mn-cs"/>
              </a:rPr>
              <a:t>Ask the group these questions.</a:t>
            </a:r>
            <a:endParaRPr lang="en-AU" sz="1200" kern="1200" dirty="0" smtClean="0">
              <a:solidFill>
                <a:schemeClr val="tx1"/>
              </a:solidFill>
              <a:effectLst/>
              <a:latin typeface="Helvetica" pitchFamily="34" charset="0"/>
              <a:ea typeface="+mn-ea"/>
              <a:cs typeface="+mn-cs"/>
            </a:endParaRPr>
          </a:p>
          <a:p>
            <a:r>
              <a:rPr lang="en-AU" sz="1200" kern="1200" dirty="0" smtClean="0">
                <a:solidFill>
                  <a:schemeClr val="tx1"/>
                </a:solidFill>
                <a:effectLst/>
                <a:latin typeface="Helvetica" pitchFamily="34" charset="0"/>
                <a:ea typeface="+mn-ea"/>
                <a:cs typeface="+mn-cs"/>
              </a:rPr>
              <a:t>One option a business may consider in situations where it has to carry a significant risk is known as “sharing”.  It may share with another party such as an insurer in exchange for a financial cost.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29316085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Go through risk control options with group getting them to provide an example of each.</a:t>
            </a:r>
          </a:p>
          <a:p>
            <a:r>
              <a:rPr lang="en-AU" sz="1200" kern="1200" dirty="0" smtClean="0">
                <a:solidFill>
                  <a:schemeClr val="tx1"/>
                </a:solidFill>
                <a:effectLst/>
                <a:latin typeface="Helvetica" pitchFamily="34" charset="0"/>
                <a:ea typeface="+mn-ea"/>
                <a:cs typeface="+mn-cs"/>
              </a:rPr>
              <a:t>Refer to page 18 of the Trainee Manual. </a:t>
            </a:r>
          </a:p>
          <a:p>
            <a:r>
              <a:rPr lang="en-AU" sz="1200" kern="1200" dirty="0" smtClean="0">
                <a:solidFill>
                  <a:schemeClr val="tx1"/>
                </a:solidFill>
                <a:effectLst/>
                <a:latin typeface="Helvetica" pitchFamily="34" charset="0"/>
                <a:ea typeface="+mn-ea"/>
                <a:cs typeface="+mn-cs"/>
              </a:rPr>
              <a:t>The business will need to carefully evaluate its existing control options and decide if they need amending due to various changes taking place in both the internal and external operational environment.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32816027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effectLst/>
                <a:latin typeface="Helvetica" pitchFamily="34" charset="0"/>
                <a:ea typeface="+mn-ea"/>
                <a:cs typeface="+mn-cs"/>
              </a:rPr>
              <a:t>Activity 3 is in the Work Project section for this element on page 24 of the Trainee Manual.</a:t>
            </a:r>
            <a:endParaRPr lang="en-AU" sz="1200" kern="1200" dirty="0" smtClean="0">
              <a:solidFill>
                <a:schemeClr val="tx1"/>
              </a:solidFill>
              <a:effectLst/>
              <a:latin typeface="Helvetica" pitchFamily="34" charset="0"/>
              <a:ea typeface="+mn-ea"/>
              <a:cs typeface="+mn-cs"/>
            </a:endParaRPr>
          </a:p>
          <a:p>
            <a:r>
              <a:rPr lang="en-US" sz="1200" kern="1200" dirty="0" smtClean="0">
                <a:solidFill>
                  <a:schemeClr val="tx1"/>
                </a:solidFill>
                <a:effectLst/>
                <a:latin typeface="Helvetica" pitchFamily="34" charset="0"/>
                <a:ea typeface="+mn-ea"/>
                <a:cs typeface="+mn-cs"/>
              </a:rPr>
              <a:t>It is recommended this is completed during class as a group activity.</a:t>
            </a:r>
            <a:endParaRPr lang="en-AU" sz="1200" kern="1200" dirty="0" smtClean="0">
              <a:solidFill>
                <a:schemeClr val="tx1"/>
              </a:solidFill>
              <a:effectLst/>
              <a:latin typeface="Helvetica" pitchFamily="34" charset="0"/>
              <a:ea typeface="+mn-ea"/>
              <a:cs typeface="+mn-cs"/>
            </a:endParaRPr>
          </a:p>
          <a:p>
            <a:r>
              <a:rPr lang="en-AU" sz="1200" kern="1200" dirty="0" smtClean="0">
                <a:solidFill>
                  <a:schemeClr val="tx1"/>
                </a:solidFill>
                <a:effectLst/>
                <a:latin typeface="Helvetica" pitchFamily="34" charset="0"/>
                <a:ea typeface="+mn-ea"/>
                <a:cs typeface="+mn-cs"/>
              </a:rPr>
              <a:t>Get participants to select a risk in their own workplaces and using the risk matrix assign it a likelihood and consequence rating.</a:t>
            </a:r>
          </a:p>
          <a:p>
            <a:r>
              <a:rPr lang="en-AU" sz="1200" kern="1200" dirty="0" smtClean="0">
                <a:solidFill>
                  <a:schemeClr val="tx1"/>
                </a:solidFill>
                <a:effectLst/>
                <a:latin typeface="Helvetica" pitchFamily="34" charset="0"/>
                <a:ea typeface="+mn-ea"/>
                <a:cs typeface="+mn-cs"/>
              </a:rPr>
              <a:t>Debrief people’s results with an emphasis on what steps they would take based on their rating.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37583884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“Risk reduction” or what is sometimes known as “risk treatment” aims to lower risk through a hierarchy of control. This is the most common way of controlling risks. </a:t>
            </a:r>
          </a:p>
          <a:p>
            <a:r>
              <a:rPr lang="en-AU" sz="1200" kern="1200" dirty="0" smtClean="0">
                <a:solidFill>
                  <a:schemeClr val="tx1"/>
                </a:solidFill>
                <a:effectLst/>
                <a:latin typeface="Helvetica" pitchFamily="34" charset="0"/>
                <a:ea typeface="+mn-ea"/>
                <a:cs typeface="+mn-cs"/>
              </a:rPr>
              <a:t>Trainer to through the hierarchy of risk control with the group on page19 of Trainee Manual.</a:t>
            </a:r>
          </a:p>
          <a:p>
            <a:r>
              <a:rPr lang="en-AU" sz="1200" kern="1200" dirty="0" smtClean="0">
                <a:solidFill>
                  <a:schemeClr val="tx1"/>
                </a:solidFill>
                <a:effectLst/>
                <a:latin typeface="Helvetica" pitchFamily="34" charset="0"/>
                <a:ea typeface="+mn-ea"/>
                <a:cs typeface="+mn-cs"/>
              </a:rPr>
              <a:t>Read the Raj work example on page 20 of the Trainee Manual so participants can see the flow from identifying the hazard all the way to the control measure being put in place.</a:t>
            </a:r>
          </a:p>
          <a:p>
            <a:r>
              <a:rPr lang="en-AU" sz="1200" kern="1200" dirty="0" smtClean="0">
                <a:solidFill>
                  <a:schemeClr val="tx1"/>
                </a:solidFill>
                <a:effectLst/>
                <a:latin typeface="Helvetica" pitchFamily="34" charset="0"/>
                <a:ea typeface="+mn-ea"/>
                <a:cs typeface="+mn-cs"/>
              </a:rPr>
              <a:t>Get the class to split into groups and agree on examples of each they have experienced in the workplace.  Get each group to present their findings to the class.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19797327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sz="1200" kern="1200" dirty="0" smtClean="0">
                <a:solidFill>
                  <a:schemeClr val="tx1"/>
                </a:solidFill>
                <a:effectLst/>
                <a:latin typeface="Helvetica" pitchFamily="34" charset="0"/>
                <a:ea typeface="+mn-ea"/>
                <a:cs typeface="+mn-cs"/>
              </a:rPr>
              <a:t>Go through potential sources of risk control requirements. Page 20 of Trainee Manual.</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36797247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Trainer to ask the group who they think a business’ main stakeholders would be? </a:t>
            </a:r>
          </a:p>
          <a:p>
            <a:r>
              <a:rPr lang="en-AU" sz="1200" kern="1200" dirty="0" smtClean="0">
                <a:solidFill>
                  <a:schemeClr val="tx1"/>
                </a:solidFill>
                <a:effectLst/>
                <a:latin typeface="Helvetica" pitchFamily="34" charset="0"/>
                <a:ea typeface="+mn-ea"/>
                <a:cs typeface="+mn-cs"/>
              </a:rPr>
              <a:t>Why should we seek input from them? How might we do this? </a:t>
            </a:r>
          </a:p>
          <a:p>
            <a:r>
              <a:rPr lang="en-AU" sz="1200" kern="1200" dirty="0" smtClean="0">
                <a:solidFill>
                  <a:schemeClr val="tx1"/>
                </a:solidFill>
                <a:effectLst/>
                <a:latin typeface="Helvetica" pitchFamily="34" charset="0"/>
                <a:ea typeface="+mn-ea"/>
                <a:cs typeface="+mn-cs"/>
              </a:rPr>
              <a:t>Go through different ways of getting input from stakeholders and discuss how effective they would be.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7319842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effectLst/>
                <a:latin typeface="Helvetica" pitchFamily="34" charset="0"/>
                <a:ea typeface="+mn-ea"/>
                <a:cs typeface="+mn-cs"/>
              </a:rPr>
              <a:t>Review the risk assessment tool on page 22 of the Trainee Manual.  Give them this as a word document and get them to change and put in the context of their industry/department/task.</a:t>
            </a:r>
            <a:endParaRPr lang="en-AU" sz="1200" kern="1200" dirty="0" smtClean="0">
              <a:solidFill>
                <a:schemeClr val="tx1"/>
              </a:solidFill>
              <a:effectLst/>
              <a:latin typeface="Helvetica" pitchFamily="34" charset="0"/>
              <a:ea typeface="+mn-ea"/>
              <a:cs typeface="+mn-cs"/>
            </a:endParaRPr>
          </a:p>
          <a:p>
            <a:r>
              <a:rPr lang="en-US" sz="1200" kern="1200" dirty="0" smtClean="0">
                <a:solidFill>
                  <a:schemeClr val="tx1"/>
                </a:solidFill>
                <a:effectLst/>
                <a:latin typeface="Helvetica" pitchFamily="34" charset="0"/>
                <a:ea typeface="+mn-ea"/>
                <a:cs typeface="+mn-cs"/>
              </a:rPr>
              <a:t>This activity would be done if time permits.  If not get the participants to review it and suggest it is a reference for them.</a:t>
            </a:r>
            <a:endParaRPr lang="en-AU" sz="1200" kern="1200" dirty="0" smtClean="0">
              <a:solidFill>
                <a:schemeClr val="tx1"/>
              </a:solidFill>
              <a:effectLst/>
              <a:latin typeface="Helvetica" pitchFamily="34" charset="0"/>
              <a:ea typeface="+mn-ea"/>
              <a:cs typeface="+mn-cs"/>
            </a:endParaRPr>
          </a:p>
          <a:p>
            <a:r>
              <a:rPr lang="en-US" sz="1200" kern="1200" dirty="0" smtClean="0">
                <a:solidFill>
                  <a:schemeClr val="tx1"/>
                </a:solidFill>
                <a:effectLst/>
                <a:latin typeface="Helvetica" pitchFamily="34" charset="0"/>
                <a:ea typeface="+mn-ea"/>
                <a:cs typeface="+mn-cs"/>
              </a:rPr>
              <a:t>They are also required to complete 1.3 in the Work Projects on page 24 of the Trainee Manual.</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23720090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effectLst/>
                <a:latin typeface="Helvetica" pitchFamily="34" charset="0"/>
                <a:ea typeface="+mn-ea"/>
                <a:cs typeface="+mn-cs"/>
              </a:rPr>
              <a:t>Ask what a policy is?</a:t>
            </a:r>
            <a:endParaRPr lang="en-AU" sz="1200" kern="1200" dirty="0" smtClean="0">
              <a:solidFill>
                <a:schemeClr val="tx1"/>
              </a:solidFill>
              <a:effectLst/>
              <a:latin typeface="Helvetica" pitchFamily="34" charset="0"/>
              <a:ea typeface="+mn-ea"/>
              <a:cs typeface="+mn-cs"/>
            </a:endParaRPr>
          </a:p>
          <a:p>
            <a:r>
              <a:rPr lang="en-US" sz="1200" kern="1200" dirty="0" smtClean="0">
                <a:solidFill>
                  <a:schemeClr val="tx1"/>
                </a:solidFill>
                <a:effectLst/>
                <a:latin typeface="Helvetica" pitchFamily="34" charset="0"/>
                <a:ea typeface="+mn-ea"/>
                <a:cs typeface="+mn-cs"/>
              </a:rPr>
              <a:t>Answer: </a:t>
            </a:r>
            <a:r>
              <a:rPr lang="en-AU" sz="1200" kern="1200" dirty="0" smtClean="0">
                <a:solidFill>
                  <a:schemeClr val="tx1"/>
                </a:solidFill>
                <a:effectLst/>
                <a:latin typeface="Helvetica" pitchFamily="34" charset="0"/>
                <a:ea typeface="+mn-ea"/>
                <a:cs typeface="+mn-cs"/>
              </a:rPr>
              <a:t>A policy is a statement about the culture of an organisation and gives an explanation of why activities are to be undertaken.  They will also provide guidelines for action and a mechanism for dealing with issues as they arise.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201280967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Ask the group who has ever seen a risk management policy before?</a:t>
            </a:r>
          </a:p>
          <a:p>
            <a:r>
              <a:rPr lang="en-AU" sz="1200" kern="1200" dirty="0" smtClean="0">
                <a:solidFill>
                  <a:schemeClr val="tx1"/>
                </a:solidFill>
                <a:effectLst/>
                <a:latin typeface="Helvetica" pitchFamily="34" charset="0"/>
                <a:ea typeface="+mn-ea"/>
                <a:cs typeface="+mn-cs"/>
              </a:rPr>
              <a:t>Review the risk management policy information on page 26 of the Trainee Manual. </a:t>
            </a:r>
          </a:p>
          <a:p>
            <a:r>
              <a:rPr lang="en-AU" sz="1200" kern="1200" dirty="0" smtClean="0">
                <a:solidFill>
                  <a:schemeClr val="tx1"/>
                </a:solidFill>
                <a:effectLst/>
                <a:latin typeface="Helvetica" pitchFamily="34" charset="0"/>
                <a:ea typeface="+mn-ea"/>
                <a:cs typeface="+mn-cs"/>
              </a:rPr>
              <a:t>Give out examples and get the group to review it using the criteria above. You can use the Bullying Policy on page 28 to review.</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352134932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effectLst/>
                <a:latin typeface="Helvetica" pitchFamily="34" charset="0"/>
                <a:ea typeface="+mn-ea"/>
                <a:cs typeface="+mn-cs"/>
              </a:rPr>
              <a:t>Activity is in the Work Project section for this element on page 36 of the Trainee Manual.</a:t>
            </a:r>
            <a:endParaRPr lang="en-AU" sz="1200" kern="1200" dirty="0" smtClean="0">
              <a:solidFill>
                <a:schemeClr val="tx1"/>
              </a:solidFill>
              <a:effectLst/>
              <a:latin typeface="Helvetica" pitchFamily="34" charset="0"/>
              <a:ea typeface="+mn-ea"/>
              <a:cs typeface="+mn-cs"/>
            </a:endParaRPr>
          </a:p>
          <a:p>
            <a:r>
              <a:rPr lang="en-US" sz="1200" kern="1200" dirty="0" smtClean="0">
                <a:solidFill>
                  <a:schemeClr val="tx1"/>
                </a:solidFill>
                <a:effectLst/>
                <a:latin typeface="Helvetica" pitchFamily="34" charset="0"/>
                <a:ea typeface="+mn-ea"/>
                <a:cs typeface="+mn-cs"/>
              </a:rPr>
              <a:t>It is recommended this is completed during class as a group activity. However the candidate will need access to their organisations risk management policy to complete this activity.</a:t>
            </a:r>
            <a:endParaRPr lang="en-AU" sz="1200" kern="1200" dirty="0" smtClean="0">
              <a:solidFill>
                <a:schemeClr val="tx1"/>
              </a:solidFill>
              <a:effectLst/>
              <a:latin typeface="Helvetica" pitchFamily="34" charset="0"/>
              <a:ea typeface="+mn-ea"/>
              <a:cs typeface="+mn-cs"/>
            </a:endParaRPr>
          </a:p>
          <a:p>
            <a:r>
              <a:rPr lang="en-AU" sz="1200" kern="1200" dirty="0" smtClean="0">
                <a:solidFill>
                  <a:schemeClr val="tx1"/>
                </a:solidFill>
                <a:effectLst/>
                <a:latin typeface="Helvetica" pitchFamily="34" charset="0"/>
                <a:ea typeface="+mn-ea"/>
                <a:cs typeface="+mn-cs"/>
              </a:rPr>
              <a:t>Get participants to review their organisations risk management policy and provide an overview of how it is set out and its contents.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250547905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effectLst/>
                <a:latin typeface="Helvetica" pitchFamily="34" charset="0"/>
                <a:ea typeface="+mn-ea"/>
                <a:cs typeface="+mn-cs"/>
              </a:rPr>
              <a:t>Trainer to discuss each point with the group.</a:t>
            </a:r>
            <a:endParaRPr lang="en-AU" sz="1200" kern="1200" dirty="0" smtClean="0">
              <a:solidFill>
                <a:schemeClr val="tx1"/>
              </a:solidFill>
              <a:effectLst/>
              <a:latin typeface="Helvetica" pitchFamily="34" charset="0"/>
              <a:ea typeface="+mn-ea"/>
              <a:cs typeface="+mn-cs"/>
            </a:endParaRPr>
          </a:p>
          <a:p>
            <a:r>
              <a:rPr lang="en-AU" sz="1200" kern="1200" dirty="0" smtClean="0">
                <a:solidFill>
                  <a:schemeClr val="tx1"/>
                </a:solidFill>
                <a:effectLst/>
                <a:latin typeface="Helvetica" pitchFamily="34" charset="0"/>
                <a:ea typeface="+mn-ea"/>
                <a:cs typeface="+mn-cs"/>
              </a:rPr>
              <a:t>An effective Risk Management Plan can assist a business in preventing issues developing into major emergencies. These plans can assist in calculating the likelihood of an event, how it might impact on the business and how to mitigate the problems associated with such risks. Having such a plan will help with dealing with such circumstances and hopefully prevent them happening in the first place.</a:t>
            </a:r>
          </a:p>
          <a:p>
            <a:r>
              <a:rPr lang="en-AU" sz="1200" kern="1200" dirty="0" smtClean="0">
                <a:solidFill>
                  <a:schemeClr val="tx1"/>
                </a:solidFill>
                <a:effectLst/>
                <a:latin typeface="Helvetica" pitchFamily="34" charset="0"/>
                <a:ea typeface="+mn-ea"/>
                <a:cs typeface="+mn-cs"/>
              </a:rPr>
              <a:t>Complete 2.1 in the Work Projects on page 37 of the Trainee Manual.</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317835712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Trainer to go through the key features a plan needs to have.</a:t>
            </a:r>
          </a:p>
          <a:p>
            <a:r>
              <a:rPr lang="en-AU" sz="1200" kern="1200" dirty="0" smtClean="0">
                <a:solidFill>
                  <a:schemeClr val="tx1"/>
                </a:solidFill>
                <a:effectLst/>
                <a:latin typeface="Helvetica" pitchFamily="34" charset="0"/>
                <a:ea typeface="+mn-ea"/>
                <a:cs typeface="+mn-cs"/>
              </a:rPr>
              <a:t>Refer to page 32 of Trainee Manual for more information. Review the Risk Management Action Plan template on page 33.</a:t>
            </a:r>
          </a:p>
          <a:p>
            <a:r>
              <a:rPr lang="en-AU" sz="1200" kern="1200" dirty="0" smtClean="0">
                <a:solidFill>
                  <a:schemeClr val="tx1"/>
                </a:solidFill>
                <a:effectLst/>
                <a:latin typeface="Helvetica" pitchFamily="34" charset="0"/>
                <a:ea typeface="+mn-ea"/>
                <a:cs typeface="+mn-cs"/>
              </a:rPr>
              <a:t>Complete 2.2 in the Work Projects on page 36 of the Trainee Manual.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211424465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Explain a contingency plan to the group and ask them what sort of situations they think it would be used in. </a:t>
            </a:r>
          </a:p>
          <a:p>
            <a:r>
              <a:rPr lang="en-AU" sz="1200" kern="1200" dirty="0" smtClean="0">
                <a:solidFill>
                  <a:schemeClr val="tx1"/>
                </a:solidFill>
                <a:effectLst/>
                <a:latin typeface="Helvetica" pitchFamily="34" charset="0"/>
                <a:ea typeface="+mn-ea"/>
                <a:cs typeface="+mn-cs"/>
              </a:rPr>
              <a:t>Ask the group for some situations.</a:t>
            </a:r>
          </a:p>
          <a:p>
            <a:r>
              <a:rPr lang="en-AU" sz="1200" kern="1200" dirty="0" smtClean="0">
                <a:solidFill>
                  <a:schemeClr val="tx1"/>
                </a:solidFill>
                <a:effectLst/>
                <a:latin typeface="Helvetica" pitchFamily="34" charset="0"/>
                <a:ea typeface="+mn-ea"/>
                <a:cs typeface="+mn-cs"/>
              </a:rPr>
              <a:t>Some situations might be:</a:t>
            </a:r>
          </a:p>
          <a:p>
            <a:pPr lvl="0"/>
            <a:r>
              <a:rPr lang="en-AU" sz="1200" kern="1200" dirty="0" smtClean="0">
                <a:solidFill>
                  <a:schemeClr val="tx1"/>
                </a:solidFill>
                <a:effectLst/>
                <a:latin typeface="Helvetica" pitchFamily="34" charset="0"/>
                <a:ea typeface="+mn-ea"/>
                <a:cs typeface="+mn-cs"/>
              </a:rPr>
              <a:t>unforeseen incidents such as natural disasters, blackouts, gas leaks etc</a:t>
            </a:r>
          </a:p>
          <a:p>
            <a:pPr lvl="0"/>
            <a:r>
              <a:rPr lang="en-AU" sz="1200" kern="1200" dirty="0" smtClean="0">
                <a:solidFill>
                  <a:schemeClr val="tx1"/>
                </a:solidFill>
                <a:effectLst/>
                <a:latin typeface="Helvetica" pitchFamily="34" charset="0"/>
                <a:ea typeface="+mn-ea"/>
                <a:cs typeface="+mn-cs"/>
              </a:rPr>
              <a:t>personnel issues such as a number of staff being absent due to illness or key personnel resigning</a:t>
            </a:r>
          </a:p>
          <a:p>
            <a:pPr lvl="0"/>
            <a:r>
              <a:rPr lang="en-AU" sz="1200" kern="1200" dirty="0" smtClean="0">
                <a:solidFill>
                  <a:schemeClr val="tx1"/>
                </a:solidFill>
                <a:effectLst/>
                <a:latin typeface="Helvetica" pitchFamily="34" charset="0"/>
                <a:ea typeface="+mn-ea"/>
                <a:cs typeface="+mn-cs"/>
              </a:rPr>
              <a:t>environmental factors including sudden changes in the business environment due to an economic downturn</a:t>
            </a:r>
          </a:p>
          <a:p>
            <a:pPr lvl="0"/>
            <a:r>
              <a:rPr lang="en-AU" sz="1200" kern="1200" dirty="0" smtClean="0">
                <a:solidFill>
                  <a:schemeClr val="tx1"/>
                </a:solidFill>
                <a:effectLst/>
                <a:latin typeface="Helvetica" pitchFamily="34" charset="0"/>
                <a:ea typeface="+mn-ea"/>
                <a:cs typeface="+mn-cs"/>
              </a:rPr>
              <a:t>resource availability where such resources required for the operation of the business are hard to obtain</a:t>
            </a:r>
          </a:p>
          <a:p>
            <a:r>
              <a:rPr lang="en-AU" sz="1200" kern="1200" dirty="0" smtClean="0">
                <a:solidFill>
                  <a:schemeClr val="tx1"/>
                </a:solidFill>
                <a:effectLst/>
                <a:latin typeface="Helvetica" pitchFamily="34" charset="0"/>
                <a:ea typeface="+mn-ea"/>
                <a:cs typeface="+mn-cs"/>
              </a:rPr>
              <a:t>budget constraints such as limited funding for operations due to a range of factors.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103014399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Take the group through a process to develop a Contingency plan using a hospitality/tourism/travel example. </a:t>
            </a:r>
          </a:p>
          <a:p>
            <a:r>
              <a:rPr lang="en-AU" sz="1200" kern="1200" dirty="0" smtClean="0">
                <a:solidFill>
                  <a:schemeClr val="tx1"/>
                </a:solidFill>
                <a:effectLst/>
                <a:latin typeface="Helvetica" pitchFamily="34" charset="0"/>
                <a:ea typeface="+mn-ea"/>
                <a:cs typeface="+mn-cs"/>
              </a:rPr>
              <a:t>Page 34 of the Trainee Manual has more information.</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63190849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Pose these questions to the group and get them to answer in the context of their own workplaces.</a:t>
            </a:r>
          </a:p>
          <a:p>
            <a:r>
              <a:rPr lang="en-AU" sz="1200" kern="1200" dirty="0" smtClean="0">
                <a:solidFill>
                  <a:schemeClr val="tx1"/>
                </a:solidFill>
                <a:effectLst/>
                <a:latin typeface="Helvetica" pitchFamily="34" charset="0"/>
                <a:ea typeface="+mn-ea"/>
                <a:cs typeface="+mn-cs"/>
              </a:rPr>
              <a:t>Look at the simple contingency plans on page 35 of the Trainee Manual.  Show some other examples. </a:t>
            </a:r>
          </a:p>
          <a:p>
            <a:r>
              <a:rPr lang="en-AU" sz="1200" kern="1200" dirty="0" smtClean="0">
                <a:solidFill>
                  <a:schemeClr val="tx1"/>
                </a:solidFill>
                <a:effectLst/>
                <a:latin typeface="Helvetica" pitchFamily="34" charset="0"/>
                <a:ea typeface="+mn-ea"/>
                <a:cs typeface="+mn-cs"/>
              </a:rPr>
              <a:t>Complete 2.3 in the Work Projects on page 36 of the Trainee Manual.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36046665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Ask the group how often they have been asked to be involved in the risk management process? </a:t>
            </a:r>
          </a:p>
          <a:p>
            <a:r>
              <a:rPr lang="en-AU" sz="1200" kern="1200" dirty="0" smtClean="0">
                <a:solidFill>
                  <a:schemeClr val="tx1"/>
                </a:solidFill>
                <a:effectLst/>
                <a:latin typeface="Helvetica" pitchFamily="34" charset="0"/>
                <a:ea typeface="+mn-ea"/>
                <a:cs typeface="+mn-cs"/>
              </a:rPr>
              <a:t>What experience do they think they have which could assist in the future management of risk in their workplaces?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83958638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sz="1200" kern="1200" dirty="0" smtClean="0">
                <a:solidFill>
                  <a:schemeClr val="tx1"/>
                </a:solidFill>
                <a:effectLst/>
                <a:latin typeface="Helvetica" pitchFamily="34" charset="0"/>
                <a:ea typeface="+mn-ea"/>
                <a:cs typeface="+mn-cs"/>
              </a:rPr>
              <a:t>Ask the group what happens in their organisation</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335905691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Trainer to describe each procedure to the group. </a:t>
            </a:r>
          </a:p>
          <a:p>
            <a:r>
              <a:rPr lang="en-AU" sz="1200" kern="1200" dirty="0" smtClean="0">
                <a:solidFill>
                  <a:schemeClr val="tx1"/>
                </a:solidFill>
                <a:effectLst/>
                <a:latin typeface="Helvetica" pitchFamily="34" charset="0"/>
                <a:ea typeface="+mn-ea"/>
                <a:cs typeface="+mn-cs"/>
              </a:rPr>
              <a:t>Ask them for the pros and cons of each.</a:t>
            </a:r>
          </a:p>
          <a:p>
            <a:r>
              <a:rPr lang="en-AU" sz="1200" kern="1200" dirty="0" smtClean="0">
                <a:solidFill>
                  <a:schemeClr val="tx1"/>
                </a:solidFill>
                <a:effectLst/>
                <a:latin typeface="Helvetica" pitchFamily="34" charset="0"/>
                <a:ea typeface="+mn-ea"/>
                <a:cs typeface="+mn-cs"/>
              </a:rPr>
              <a:t>Review the sample Hazard report form on page 41 of the Trainee Manual.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17194376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Provide information on each training approach.</a:t>
            </a:r>
          </a:p>
          <a:p>
            <a:r>
              <a:rPr lang="en-AU" sz="1200" kern="1200" dirty="0" smtClean="0">
                <a:solidFill>
                  <a:schemeClr val="tx1"/>
                </a:solidFill>
                <a:effectLst/>
                <a:latin typeface="Helvetica" pitchFamily="34" charset="0"/>
                <a:ea typeface="+mn-ea"/>
                <a:cs typeface="+mn-cs"/>
              </a:rPr>
              <a:t>Ask the group which they feel would be most effective in their own workplace.</a:t>
            </a:r>
          </a:p>
          <a:p>
            <a:r>
              <a:rPr lang="en-AU" sz="1200" kern="1200" dirty="0" smtClean="0">
                <a:solidFill>
                  <a:schemeClr val="tx1"/>
                </a:solidFill>
                <a:effectLst/>
                <a:latin typeface="Helvetica" pitchFamily="34" charset="0"/>
                <a:ea typeface="+mn-ea"/>
                <a:cs typeface="+mn-cs"/>
              </a:rPr>
              <a:t>There is more information on pages 42/43 of the Trainee Manual.</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414820766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sz="1200" kern="1200" dirty="0" smtClean="0">
                <a:solidFill>
                  <a:schemeClr val="tx1"/>
                </a:solidFill>
                <a:effectLst/>
                <a:latin typeface="Helvetica" pitchFamily="34" charset="0"/>
                <a:ea typeface="+mn-ea"/>
                <a:cs typeface="+mn-cs"/>
              </a:rPr>
              <a:t>Trainer to refer to the Emergency Management Plan template on page 45 of Trainee Manual.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418966824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Discuss with the group the ways their businesses keep customers informed of their services and plans.</a:t>
            </a:r>
          </a:p>
          <a:p>
            <a:r>
              <a:rPr lang="en-AU" sz="1200" kern="1200" dirty="0" smtClean="0">
                <a:solidFill>
                  <a:schemeClr val="tx1"/>
                </a:solidFill>
                <a:effectLst/>
                <a:latin typeface="Helvetica" pitchFamily="34" charset="0"/>
                <a:ea typeface="+mn-ea"/>
                <a:cs typeface="+mn-cs"/>
              </a:rPr>
              <a:t>Pose the question, why would customers be interested in our risk and contingency management plans?</a:t>
            </a:r>
          </a:p>
          <a:p>
            <a:r>
              <a:rPr lang="en-AU" sz="1200" kern="1200" dirty="0" smtClean="0">
                <a:solidFill>
                  <a:schemeClr val="tx1"/>
                </a:solidFill>
                <a:effectLst/>
                <a:latin typeface="Helvetica" pitchFamily="34" charset="0"/>
                <a:ea typeface="+mn-ea"/>
                <a:cs typeface="+mn-cs"/>
              </a:rPr>
              <a:t>Generate discussion around this and work up suggestions on the whiteboard.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4711773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Explain the importance of staff meetings to get staff on board with Risk Management planning.</a:t>
            </a:r>
          </a:p>
          <a:p>
            <a:r>
              <a:rPr lang="en-AU" sz="1200" kern="1200" dirty="0" smtClean="0">
                <a:solidFill>
                  <a:schemeClr val="tx1"/>
                </a:solidFill>
                <a:effectLst/>
                <a:latin typeface="Helvetica" pitchFamily="34" charset="0"/>
                <a:ea typeface="+mn-ea"/>
                <a:cs typeface="+mn-cs"/>
              </a:rPr>
              <a:t>Ask the group, who attends meetings regularly? How effective are they? </a:t>
            </a:r>
          </a:p>
          <a:p>
            <a:r>
              <a:rPr lang="en-AU" sz="1200" kern="1200" dirty="0" smtClean="0">
                <a:solidFill>
                  <a:schemeClr val="tx1"/>
                </a:solidFill>
                <a:effectLst/>
                <a:latin typeface="Helvetica" pitchFamily="34" charset="0"/>
                <a:ea typeface="+mn-ea"/>
                <a:cs typeface="+mn-cs"/>
              </a:rPr>
              <a:t>Go through the key points of running an effective meeting.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58451854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Explain each of these resources and how they can contribute to staff being able to support risk management efforts.</a:t>
            </a:r>
          </a:p>
          <a:p>
            <a:r>
              <a:rPr lang="en-AU" sz="1200" kern="1200" dirty="0" smtClean="0">
                <a:solidFill>
                  <a:schemeClr val="tx1"/>
                </a:solidFill>
                <a:effectLst/>
                <a:latin typeface="Helvetica" pitchFamily="34" charset="0"/>
                <a:ea typeface="+mn-ea"/>
                <a:cs typeface="+mn-cs"/>
              </a:rPr>
              <a:t>More information is provided on page 48 of the Trainee Manual.</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178550125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Explain the process whereby plans can be enforced. More information is on page 50 of the Trainee Manual.</a:t>
            </a:r>
          </a:p>
          <a:p>
            <a:r>
              <a:rPr lang="en-AU" sz="1200" kern="1200" dirty="0" smtClean="0">
                <a:solidFill>
                  <a:schemeClr val="tx1"/>
                </a:solidFill>
                <a:effectLst/>
                <a:latin typeface="Helvetica" pitchFamily="34" charset="0"/>
                <a:ea typeface="+mn-ea"/>
                <a:cs typeface="+mn-cs"/>
              </a:rPr>
              <a:t>Ask the group: How would you deal with a staff member who was not managing risk according to the plan?</a:t>
            </a:r>
          </a:p>
          <a:p>
            <a:r>
              <a:rPr lang="en-AU" sz="1200" kern="1200" dirty="0" smtClean="0">
                <a:solidFill>
                  <a:schemeClr val="tx1"/>
                </a:solidFill>
                <a:effectLst/>
                <a:latin typeface="Helvetica" pitchFamily="34" charset="0"/>
                <a:ea typeface="+mn-ea"/>
                <a:cs typeface="+mn-cs"/>
              </a:rPr>
              <a:t>Generate discussion on effective options to get someone like this on board.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p14="http://schemas.microsoft.com/office/powerpoint/2010/main" val="88008107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effectLst/>
                <a:latin typeface="Helvetica" pitchFamily="34" charset="0"/>
                <a:ea typeface="+mn-ea"/>
                <a:cs typeface="+mn-cs"/>
              </a:rPr>
              <a:t>Complete Activity on page 51 in Work Projects in Trainee Manual.</a:t>
            </a:r>
            <a:endParaRPr lang="en-AU" sz="1200" kern="1200" dirty="0" smtClean="0">
              <a:solidFill>
                <a:schemeClr val="tx1"/>
              </a:solidFill>
              <a:effectLst/>
              <a:latin typeface="Helvetica" pitchFamily="34" charset="0"/>
              <a:ea typeface="+mn-ea"/>
              <a:cs typeface="+mn-cs"/>
            </a:endParaRPr>
          </a:p>
          <a:p>
            <a:r>
              <a:rPr lang="en-US" sz="1200" kern="1200" dirty="0" smtClean="0">
                <a:solidFill>
                  <a:schemeClr val="tx1"/>
                </a:solidFill>
                <a:effectLst/>
                <a:latin typeface="Helvetica" pitchFamily="34" charset="0"/>
                <a:ea typeface="+mn-ea"/>
                <a:cs typeface="+mn-cs"/>
              </a:rPr>
              <a:t>4.1, 4.2 and 4.3 can also be completed at this stage.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extLst>
      <p:ext uri="{BB962C8B-B14F-4D97-AF65-F5344CB8AC3E}">
        <p14:creationId xmlns:p14="http://schemas.microsoft.com/office/powerpoint/2010/main" val="378610847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Refer to page 53 of the Trainee Manual for more information. Explain that staff will only wish to be involved if they feel a real connection with what the business is trying to achieve. </a:t>
            </a:r>
          </a:p>
          <a:p>
            <a:r>
              <a:rPr lang="en-AU" sz="1200" kern="1200" dirty="0" smtClean="0">
                <a:solidFill>
                  <a:schemeClr val="tx1"/>
                </a:solidFill>
                <a:effectLst/>
                <a:latin typeface="Helvetica" pitchFamily="34" charset="0"/>
                <a:ea typeface="+mn-ea"/>
                <a:cs typeface="+mn-cs"/>
              </a:rPr>
              <a:t>When discussing this list with the group ask them for their own ideas on other ways that staff could be encouraged to look for new risks.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extLst>
      <p:ext uri="{BB962C8B-B14F-4D97-AF65-F5344CB8AC3E}">
        <p14:creationId xmlns:p14="http://schemas.microsoft.com/office/powerpoint/2010/main" val="228430782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sz="1200" kern="1200" dirty="0" smtClean="0">
                <a:solidFill>
                  <a:schemeClr val="tx1"/>
                </a:solidFill>
                <a:effectLst/>
                <a:latin typeface="Helvetica" pitchFamily="34" charset="0"/>
                <a:ea typeface="+mn-ea"/>
                <a:cs typeface="+mn-cs"/>
              </a:rPr>
              <a:t>Discuss the important role that customers also have in determining changes in the risk environment and how a business needs to tap in to this if it is to successfully manage this element of risk.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p14="http://schemas.microsoft.com/office/powerpoint/2010/main" val="129925349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Talk about how we can carry out inspections of these four things to determine what has changed compared to when our original risk plan was developed. This will provide insights into new risks which may have developed. </a:t>
            </a:r>
          </a:p>
          <a:p>
            <a:r>
              <a:rPr lang="en-AU" sz="1200" kern="1200" dirty="0" smtClean="0">
                <a:solidFill>
                  <a:schemeClr val="tx1"/>
                </a:solidFill>
                <a:effectLst/>
                <a:latin typeface="Helvetica" pitchFamily="34" charset="0"/>
                <a:ea typeface="+mn-ea"/>
                <a:cs typeface="+mn-cs"/>
              </a:rPr>
              <a:t>Refer to page 54 of the Trainee Manual.</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123542713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A streamlined process needs to be in place to ensure that management are notified promptly of any changes to the nature of risk faced by the business. Internal systems need to be designed in such a way so as to ensure that a new risk can be promptly and accurately recorded, forwarded to a management representative and then accorded a high priority for consideration.</a:t>
            </a:r>
          </a:p>
          <a:p>
            <a:r>
              <a:rPr lang="en-AU" sz="1200" kern="1200" dirty="0" smtClean="0">
                <a:solidFill>
                  <a:schemeClr val="tx1"/>
                </a:solidFill>
                <a:effectLst/>
                <a:latin typeface="Helvetica" pitchFamily="34" charset="0"/>
                <a:ea typeface="+mn-ea"/>
                <a:cs typeface="+mn-cs"/>
              </a:rPr>
              <a:t>The speed with which management responds to such communication will have an impact on how seriously staff view this important part of operational risk management.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31260972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More information on page 55 and 56 of Trainee Manual. </a:t>
            </a:r>
          </a:p>
          <a:p>
            <a:r>
              <a:rPr lang="en-AU" sz="1200" kern="1200" dirty="0" smtClean="0">
                <a:solidFill>
                  <a:schemeClr val="tx1"/>
                </a:solidFill>
                <a:effectLst/>
                <a:latin typeface="Helvetica" pitchFamily="34" charset="0"/>
                <a:ea typeface="+mn-ea"/>
                <a:cs typeface="+mn-cs"/>
              </a:rPr>
              <a:t>Go through these points with the group emphasising how each can assist us in ensuring compliance with the risk plan.</a:t>
            </a:r>
          </a:p>
          <a:p>
            <a:r>
              <a:rPr lang="en-AU" sz="1200" kern="1200" dirty="0" smtClean="0">
                <a:solidFill>
                  <a:schemeClr val="tx1"/>
                </a:solidFill>
                <a:effectLst/>
                <a:latin typeface="Helvetica" pitchFamily="34" charset="0"/>
                <a:ea typeface="+mn-ea"/>
                <a:cs typeface="+mn-cs"/>
              </a:rPr>
              <a:t>Ask how are staff rewarded for reporting in their workplaces?</a:t>
            </a:r>
          </a:p>
          <a:p>
            <a:r>
              <a:rPr lang="en-AU" sz="1200" kern="1200" dirty="0" smtClean="0">
                <a:solidFill>
                  <a:schemeClr val="tx1"/>
                </a:solidFill>
                <a:effectLst/>
                <a:latin typeface="Helvetica" pitchFamily="34" charset="0"/>
                <a:ea typeface="+mn-ea"/>
                <a:cs typeface="+mn-cs"/>
              </a:rPr>
              <a:t>What happens if staff are non-compliant?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25671391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Read the scenario on page 57 of the Trainee Manual.</a:t>
            </a:r>
          </a:p>
          <a:p>
            <a:r>
              <a:rPr lang="en-AU" sz="1200" kern="1200" dirty="0" smtClean="0">
                <a:solidFill>
                  <a:schemeClr val="tx1"/>
                </a:solidFill>
                <a:effectLst/>
                <a:latin typeface="Helvetica" pitchFamily="34" charset="0"/>
                <a:ea typeface="+mn-ea"/>
                <a:cs typeface="+mn-cs"/>
              </a:rPr>
              <a:t>Take the group through the process of handling a near miss and look at the incident report form on page 58 of their Trainee Manual. </a:t>
            </a:r>
          </a:p>
          <a:p>
            <a:r>
              <a:rPr lang="en-AU" sz="1200" kern="1200" dirty="0" smtClean="0">
                <a:solidFill>
                  <a:schemeClr val="tx1"/>
                </a:solidFill>
                <a:effectLst/>
                <a:latin typeface="Helvetica" pitchFamily="34" charset="0"/>
                <a:ea typeface="+mn-ea"/>
                <a:cs typeface="+mn-cs"/>
              </a:rPr>
              <a:t>Give them a scenario and ask them to complete an incident report and analyse what needs to be done.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134508779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Talk with the group about how the plan should be assessed against these criteria as a preliminary to making changes to it.</a:t>
            </a:r>
          </a:p>
          <a:p>
            <a:r>
              <a:rPr lang="en-AU" sz="1200" kern="1200" dirty="0" smtClean="0">
                <a:solidFill>
                  <a:schemeClr val="tx1"/>
                </a:solidFill>
                <a:effectLst/>
                <a:latin typeface="Helvetica" pitchFamily="34" charset="0"/>
                <a:ea typeface="+mn-ea"/>
                <a:cs typeface="+mn-cs"/>
              </a:rPr>
              <a:t>When the plan was set up these objectives would have been developed to measure effectiveness. </a:t>
            </a:r>
          </a:p>
          <a:p>
            <a:r>
              <a:rPr lang="en-AU" sz="1200" kern="1200" dirty="0" smtClean="0">
                <a:solidFill>
                  <a:schemeClr val="tx1"/>
                </a:solidFill>
                <a:effectLst/>
                <a:latin typeface="Helvetica" pitchFamily="34" charset="0"/>
                <a:ea typeface="+mn-ea"/>
                <a:cs typeface="+mn-cs"/>
              </a:rPr>
              <a:t>How well are potential risk events identified?</a:t>
            </a:r>
          </a:p>
          <a:p>
            <a:r>
              <a:rPr lang="en-AU" sz="1200" kern="1200" dirty="0" smtClean="0">
                <a:solidFill>
                  <a:schemeClr val="tx1"/>
                </a:solidFill>
                <a:effectLst/>
                <a:latin typeface="Helvetica" pitchFamily="34" charset="0"/>
                <a:ea typeface="+mn-ea"/>
                <a:cs typeface="+mn-cs"/>
              </a:rPr>
              <a:t>How well are identified potential risk events prioritised and treated?</a:t>
            </a:r>
          </a:p>
          <a:p>
            <a:r>
              <a:rPr lang="en-AU" sz="1200" kern="1200" dirty="0" smtClean="0">
                <a:solidFill>
                  <a:schemeClr val="tx1"/>
                </a:solidFill>
                <a:effectLst/>
                <a:latin typeface="Helvetica" pitchFamily="34" charset="0"/>
                <a:ea typeface="+mn-ea"/>
                <a:cs typeface="+mn-cs"/>
              </a:rPr>
              <a:t>How well risk management tools and methods are utilised?</a:t>
            </a:r>
          </a:p>
          <a:p>
            <a:r>
              <a:rPr lang="en-AU" sz="1200" kern="1200" dirty="0" smtClean="0">
                <a:solidFill>
                  <a:schemeClr val="tx1"/>
                </a:solidFill>
                <a:effectLst/>
                <a:latin typeface="Helvetica" pitchFamily="34" charset="0"/>
                <a:ea typeface="+mn-ea"/>
                <a:cs typeface="+mn-cs"/>
              </a:rPr>
              <a:t>A high level of staff involvement in the implementation of the strategy</a:t>
            </a:r>
          </a:p>
          <a:p>
            <a:r>
              <a:rPr lang="en-AU" sz="1200" kern="1200" dirty="0" smtClean="0">
                <a:solidFill>
                  <a:schemeClr val="tx1"/>
                </a:solidFill>
                <a:effectLst/>
                <a:latin typeface="Helvetica" pitchFamily="34" charset="0"/>
                <a:ea typeface="+mn-ea"/>
                <a:cs typeface="+mn-cs"/>
              </a:rPr>
              <a:t>We now need to measure against these objectives.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135849601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Go through the steps in determining what changes the risk plan may require.</a:t>
            </a:r>
          </a:p>
          <a:p>
            <a:r>
              <a:rPr lang="en-AU" sz="1200" kern="1200" dirty="0" smtClean="0">
                <a:solidFill>
                  <a:schemeClr val="tx1"/>
                </a:solidFill>
                <a:effectLst/>
                <a:latin typeface="Helvetica" pitchFamily="34" charset="0"/>
                <a:ea typeface="+mn-ea"/>
                <a:cs typeface="+mn-cs"/>
              </a:rPr>
              <a:t>More information is on pages 59/60 of Trainee Manual.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217336852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AU" sz="1200" kern="1200" dirty="0" smtClean="0">
                <a:solidFill>
                  <a:schemeClr val="tx1"/>
                </a:solidFill>
                <a:effectLst/>
                <a:latin typeface="Helvetica" pitchFamily="34" charset="0"/>
                <a:ea typeface="+mn-ea"/>
                <a:cs typeface="+mn-cs"/>
              </a:rPr>
              <a:t>More information is on page 61 of Trainee Manual.  Go through the steps required to change the plan.</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125605246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sz="1200" kern="1200" dirty="0" smtClean="0">
                <a:solidFill>
                  <a:schemeClr val="tx1"/>
                </a:solidFill>
                <a:effectLst/>
                <a:latin typeface="Helvetica" pitchFamily="34" charset="0"/>
                <a:ea typeface="+mn-ea"/>
                <a:cs typeface="+mn-cs"/>
              </a:rPr>
              <a:t>Complete the activity on page 61 of Trainee Manual in the Work Project section for this element.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19298447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sz="1200" kern="1200" dirty="0" smtClean="0">
                <a:solidFill>
                  <a:schemeClr val="tx1"/>
                </a:solidFill>
                <a:effectLst/>
                <a:latin typeface="Helvetica" pitchFamily="34" charset="0"/>
                <a:ea typeface="+mn-ea"/>
                <a:cs typeface="+mn-cs"/>
              </a:rPr>
              <a:t>Thank the students and deliver assessments as required.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p14="http://schemas.microsoft.com/office/powerpoint/2010/main" val="34368698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7/18/2016</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7/18/2016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7/18/2016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7/18/2016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7/18/2016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7/18/2016</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7/18/2016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7/18/2016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7/18/2016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7/18/2016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7/18/2016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7/18/2016</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Helvetica" pitchFamily="34" charset="0"/>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1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4.png"/><Relationship Id="rId5" Type="http://schemas.openxmlformats.org/officeDocument/2006/relationships/package" Target="../embeddings/Microsoft_Word_Document1.docx"/><Relationship Id="rId4" Type="http://schemas.openxmlformats.org/officeDocument/2006/relationships/oleObject" Target="../embeddings/oleObject1.bin"/></Relationships>
</file>

<file path=ppt/slides/_rels/slide2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microsoft.com/office/2007/relationships/hdphoto" Target="../media/hdphoto1.wdp"/></Relationships>
</file>

<file path=ppt/slides/_rels/slide37.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microsoft.com/office/2007/relationships/hdphoto" Target="../media/hdphoto2.wdp"/></Relationships>
</file>

<file path=ppt/slides/_rels/slide53.x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07704" y="548680"/>
            <a:ext cx="6480048" cy="936104"/>
          </a:xfrm>
        </p:spPr>
        <p:txBody>
          <a:bodyPr>
            <a:normAutofit fontScale="90000"/>
          </a:bodyPr>
          <a:lstStyle/>
          <a:p>
            <a:r>
              <a:rPr lang="en-AU" sz="4000" dirty="0" smtClean="0">
                <a:ln w="5000" cmpd="sng">
                  <a:noFill/>
                  <a:prstDash val="solid"/>
                </a:ln>
                <a:solidFill>
                  <a:srgbClr val="FF6600"/>
                </a:solidFill>
                <a:latin typeface="Helvetica" pitchFamily="34" charset="0"/>
              </a:rPr>
              <a:t>Manage operational risk</a:t>
            </a:r>
            <a:endParaRPr lang="en-AU"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5868144" y="1987130"/>
            <a:ext cx="2541268" cy="289742"/>
          </a:xfrm>
        </p:spPr>
        <p:txBody>
          <a:bodyPr>
            <a:normAutofit lnSpcReduction="10000"/>
          </a:bodyPr>
          <a:lstStyle/>
          <a:p>
            <a:r>
              <a:rPr lang="en-AU" b="1" dirty="0" smtClean="0">
                <a:latin typeface="Helvetica" pitchFamily="34" charset="0"/>
              </a:rPr>
              <a:t>D2.TTO.CL4.11</a:t>
            </a:r>
            <a:endParaRPr lang="en-AU" b="1" dirty="0">
              <a:latin typeface="Helvetica" pitchFamily="34" charset="0"/>
            </a:endParaRP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grpSp>
        <p:nvGrpSpPr>
          <p:cNvPr id="6" name="Group 5"/>
          <p:cNvGrpSpPr/>
          <p:nvPr/>
        </p:nvGrpSpPr>
        <p:grpSpPr>
          <a:xfrm>
            <a:off x="733490" y="1700808"/>
            <a:ext cx="5422686" cy="3919438"/>
            <a:chOff x="0" y="0"/>
            <a:chExt cx="7533431" cy="6059171"/>
          </a:xfrm>
        </p:grpSpPr>
        <p:grpSp>
          <p:nvGrpSpPr>
            <p:cNvPr id="7" name="Group 6"/>
            <p:cNvGrpSpPr/>
            <p:nvPr/>
          </p:nvGrpSpPr>
          <p:grpSpPr>
            <a:xfrm>
              <a:off x="2156346" y="13648"/>
              <a:ext cx="3028870" cy="6045523"/>
              <a:chOff x="-13650" y="0"/>
              <a:chExt cx="3029805" cy="6045958"/>
            </a:xfrm>
          </p:grpSpPr>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l="7457" r="17632"/>
              <a:stretch/>
            </p:blipFill>
            <p:spPr bwMode="auto">
              <a:xfrm>
                <a:off x="0" y="0"/>
                <a:ext cx="3016155" cy="3029803"/>
              </a:xfrm>
              <a:prstGeom prst="rect">
                <a:avLst/>
              </a:prstGeom>
              <a:noFill/>
              <a:ln>
                <a:noFill/>
              </a:ln>
              <a:extLst>
                <a:ext uri="{53640926-AAD7-44D8-BBD7-CCE9431645EC}">
                  <a14:shadowObscured xmlns:a14="http://schemas.microsoft.com/office/drawing/2010/main"/>
                </a:ext>
              </a:extLst>
            </p:spPr>
          </p:pic>
          <p:pic>
            <p:nvPicPr>
              <p:cNvPr id="15" name="Picture 14"/>
              <p:cNvPicPr>
                <a:picLocks noChangeAspect="1"/>
              </p:cNvPicPr>
              <p:nvPr/>
            </p:nvPicPr>
            <p:blipFill rotWithShape="1">
              <a:blip r:embed="rId4" cstate="print">
                <a:extLst>
                  <a:ext uri="{28A0092B-C50C-407E-A947-70E740481C1C}">
                    <a14:useLocalDpi xmlns:a14="http://schemas.microsoft.com/office/drawing/2010/main" val="0"/>
                  </a:ext>
                </a:extLst>
              </a:blip>
              <a:srcRect l="2502" t="3750" r="36049" b="3750"/>
              <a:stretch/>
            </p:blipFill>
            <p:spPr bwMode="auto">
              <a:xfrm>
                <a:off x="-13650" y="3016155"/>
                <a:ext cx="3016155" cy="3029803"/>
              </a:xfrm>
              <a:prstGeom prst="rect">
                <a:avLst/>
              </a:prstGeom>
              <a:ln>
                <a:noFill/>
              </a:ln>
              <a:extLst>
                <a:ext uri="{53640926-AAD7-44D8-BBD7-CCE9431645EC}">
                  <a14:shadowObscured xmlns:a14="http://schemas.microsoft.com/office/drawing/2010/main"/>
                </a:ext>
              </a:extLst>
            </p:spPr>
          </p:pic>
        </p:grpSp>
        <p:grpSp>
          <p:nvGrpSpPr>
            <p:cNvPr id="8" name="Group 7"/>
            <p:cNvGrpSpPr/>
            <p:nvPr/>
          </p:nvGrpSpPr>
          <p:grpSpPr>
            <a:xfrm>
              <a:off x="0" y="0"/>
              <a:ext cx="2565332" cy="6045522"/>
              <a:chOff x="0" y="0"/>
              <a:chExt cx="2565779" cy="6045958"/>
            </a:xfrm>
          </p:grpSpPr>
          <p:pic>
            <p:nvPicPr>
              <p:cNvPr id="12" name="Picture 11"/>
              <p:cNvPicPr>
                <a:picLocks noChangeAspect="1"/>
              </p:cNvPicPr>
              <p:nvPr/>
            </p:nvPicPr>
            <p:blipFill rotWithShape="1">
              <a:blip r:embed="rId5" cstate="print">
                <a:extLst>
                  <a:ext uri="{28A0092B-C50C-407E-A947-70E740481C1C}">
                    <a14:useLocalDpi xmlns:a14="http://schemas.microsoft.com/office/drawing/2010/main" val="0"/>
                  </a:ext>
                </a:extLst>
              </a:blip>
              <a:srcRect t="3586" b="9122"/>
              <a:stretch/>
            </p:blipFill>
            <p:spPr bwMode="auto">
              <a:xfrm>
                <a:off x="0" y="0"/>
                <a:ext cx="2565779" cy="3302758"/>
              </a:xfrm>
              <a:prstGeom prst="rect">
                <a:avLst/>
              </a:prstGeom>
              <a:ln>
                <a:noFill/>
              </a:ln>
              <a:extLst>
                <a:ext uri="{53640926-AAD7-44D8-BBD7-CCE9431645EC}">
                  <a14:shadowObscured xmlns:a14="http://schemas.microsoft.com/office/drawing/2010/main"/>
                </a:ext>
              </a:extLst>
            </p:spPr>
          </p:pic>
          <p:pic>
            <p:nvPicPr>
              <p:cNvPr id="13" name="Picture 12"/>
              <p:cNvPicPr>
                <a:picLocks noChangeAspect="1"/>
              </p:cNvPicPr>
              <p:nvPr/>
            </p:nvPicPr>
            <p:blipFill rotWithShape="1">
              <a:blip r:embed="rId6" cstate="print">
                <a:extLst>
                  <a:ext uri="{28A0092B-C50C-407E-A947-70E740481C1C}">
                    <a14:useLocalDpi xmlns:a14="http://schemas.microsoft.com/office/drawing/2010/main" val="0"/>
                  </a:ext>
                </a:extLst>
              </a:blip>
              <a:srcRect l="23275" r="19761"/>
              <a:stretch/>
            </p:blipFill>
            <p:spPr bwMode="auto">
              <a:xfrm>
                <a:off x="0" y="3043451"/>
                <a:ext cx="2565779" cy="3002507"/>
              </a:xfrm>
              <a:prstGeom prst="rect">
                <a:avLst/>
              </a:prstGeom>
              <a:ln>
                <a:noFill/>
              </a:ln>
              <a:extLst>
                <a:ext uri="{53640926-AAD7-44D8-BBD7-CCE9431645EC}">
                  <a14:shadowObscured xmlns:a14="http://schemas.microsoft.com/office/drawing/2010/main"/>
                </a:ext>
              </a:extLst>
            </p:spPr>
          </p:pic>
        </p:grpSp>
        <p:grpSp>
          <p:nvGrpSpPr>
            <p:cNvPr id="9" name="Group 8"/>
            <p:cNvGrpSpPr/>
            <p:nvPr/>
          </p:nvGrpSpPr>
          <p:grpSpPr>
            <a:xfrm>
              <a:off x="5172501" y="0"/>
              <a:ext cx="2360930" cy="6045835"/>
              <a:chOff x="0" y="0"/>
              <a:chExt cx="2361063" cy="6045959"/>
            </a:xfrm>
          </p:grpSpPr>
          <p:pic>
            <p:nvPicPr>
              <p:cNvPr id="10" name="Picture 9"/>
              <p:cNvPicPr>
                <a:picLocks noChangeAspect="1"/>
              </p:cNvPicPr>
              <p:nvPr/>
            </p:nvPicPr>
            <p:blipFill rotWithShape="1">
              <a:blip r:embed="rId7" cstate="print">
                <a:extLst>
                  <a:ext uri="{28A0092B-C50C-407E-A947-70E740481C1C}">
                    <a14:useLocalDpi xmlns:a14="http://schemas.microsoft.com/office/drawing/2010/main" val="0"/>
                  </a:ext>
                </a:extLst>
              </a:blip>
              <a:srcRect l="1653" t="2048" r="15231" b="6503"/>
              <a:stretch/>
            </p:blipFill>
            <p:spPr bwMode="auto">
              <a:xfrm>
                <a:off x="0" y="2934269"/>
                <a:ext cx="2347415" cy="3111690"/>
              </a:xfrm>
              <a:prstGeom prst="rect">
                <a:avLst/>
              </a:prstGeom>
              <a:ln>
                <a:noFill/>
              </a:ln>
              <a:extLst>
                <a:ext uri="{53640926-AAD7-44D8-BBD7-CCE9431645EC}">
                  <a14:shadowObscured xmlns:a14="http://schemas.microsoft.com/office/drawing/2010/main"/>
                </a:ext>
              </a:extLst>
            </p:spPr>
          </p:pic>
          <p:pic>
            <p:nvPicPr>
              <p:cNvPr id="11" name="Picture 10"/>
              <p:cNvPicPr>
                <a:picLocks noChangeAspect="1"/>
              </p:cNvPicPr>
              <p:nvPr/>
            </p:nvPicPr>
            <p:blipFill rotWithShape="1">
              <a:blip r:embed="rId8" cstate="print">
                <a:extLst>
                  <a:ext uri="{28A0092B-C50C-407E-A947-70E740481C1C}">
                    <a14:useLocalDpi xmlns:a14="http://schemas.microsoft.com/office/drawing/2010/main" val="0"/>
                  </a:ext>
                </a:extLst>
              </a:blip>
              <a:srcRect t="9604" b="4786"/>
              <a:stretch/>
            </p:blipFill>
            <p:spPr bwMode="auto">
              <a:xfrm>
                <a:off x="0" y="0"/>
                <a:ext cx="2361063" cy="3043451"/>
              </a:xfrm>
              <a:prstGeom prst="rect">
                <a:avLst/>
              </a:prstGeom>
              <a:ln>
                <a:noFill/>
              </a:ln>
              <a:extLst>
                <a:ext uri="{53640926-AAD7-44D8-BBD7-CCE9431645EC}">
                  <a14:shadowObscured xmlns:a14="http://schemas.microsoft.com/office/drawing/2010/main"/>
                </a:ext>
              </a:extLst>
            </p:spPr>
          </p:pic>
        </p:gr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Manage operational risk</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04856" cy="4525963"/>
          </a:xfrm>
        </p:spPr>
        <p:txBody>
          <a:bodyPr>
            <a:normAutofit/>
          </a:bodyPr>
          <a:lstStyle/>
          <a:p>
            <a:pPr marL="0" indent="0">
              <a:spcBef>
                <a:spcPts val="600"/>
              </a:spcBef>
              <a:spcAft>
                <a:spcPts val="1200"/>
              </a:spcAft>
              <a:buNone/>
            </a:pPr>
            <a:r>
              <a:rPr lang="en-AU" sz="2200" dirty="0"/>
              <a:t>This unit is comprised of </a:t>
            </a:r>
            <a:r>
              <a:rPr lang="en-AU" sz="2200" b="1" dirty="0"/>
              <a:t>5</a:t>
            </a:r>
            <a:r>
              <a:rPr lang="en-AU" sz="2200" dirty="0"/>
              <a:t> elements:</a:t>
            </a:r>
          </a:p>
          <a:p>
            <a:pPr marL="457200" indent="-457200">
              <a:spcBef>
                <a:spcPts val="600"/>
              </a:spcBef>
              <a:spcAft>
                <a:spcPts val="1200"/>
              </a:spcAft>
              <a:buSzPct val="100000"/>
              <a:buFont typeface="+mj-lt"/>
              <a:buAutoNum type="arabicPeriod"/>
            </a:pPr>
            <a:r>
              <a:rPr lang="en-AU" sz="2200" dirty="0" smtClean="0"/>
              <a:t>Undertake </a:t>
            </a:r>
            <a:r>
              <a:rPr lang="en-AU" sz="2200" dirty="0"/>
              <a:t>initial operational risk management procedures</a:t>
            </a:r>
          </a:p>
          <a:p>
            <a:pPr marL="457200" indent="-457200">
              <a:spcBef>
                <a:spcPts val="600"/>
              </a:spcBef>
              <a:spcAft>
                <a:spcPts val="1200"/>
              </a:spcAft>
              <a:buSzPct val="100000"/>
              <a:buFont typeface="+mj-lt"/>
              <a:buAutoNum type="arabicPeriod"/>
            </a:pPr>
            <a:r>
              <a:rPr lang="en-AU" sz="2200" dirty="0" smtClean="0"/>
              <a:t>Prepare </a:t>
            </a:r>
            <a:r>
              <a:rPr lang="en-AU" sz="2200" dirty="0"/>
              <a:t>risk management strategies</a:t>
            </a:r>
          </a:p>
          <a:p>
            <a:pPr marL="457200" indent="-457200">
              <a:spcBef>
                <a:spcPts val="600"/>
              </a:spcBef>
              <a:spcAft>
                <a:spcPts val="1200"/>
              </a:spcAft>
              <a:buSzPct val="100000"/>
              <a:buFont typeface="+mj-lt"/>
              <a:buAutoNum type="arabicPeriod"/>
            </a:pPr>
            <a:r>
              <a:rPr lang="en-AU" sz="2200" dirty="0" smtClean="0"/>
              <a:t>Communicate </a:t>
            </a:r>
            <a:r>
              <a:rPr lang="en-AU" sz="2200" dirty="0"/>
              <a:t>risk management strategies</a:t>
            </a:r>
          </a:p>
          <a:p>
            <a:pPr marL="457200" indent="-457200">
              <a:spcBef>
                <a:spcPts val="600"/>
              </a:spcBef>
              <a:spcAft>
                <a:spcPts val="1200"/>
              </a:spcAft>
              <a:buSzPct val="100000"/>
              <a:buFont typeface="+mj-lt"/>
              <a:buAutoNum type="arabicPeriod"/>
            </a:pPr>
            <a:r>
              <a:rPr lang="en-AU" sz="2200" dirty="0" smtClean="0"/>
              <a:t>Implement </a:t>
            </a:r>
            <a:r>
              <a:rPr lang="en-AU" sz="2200" dirty="0"/>
              <a:t>risk management strategies</a:t>
            </a:r>
          </a:p>
          <a:p>
            <a:pPr marL="457200" indent="-457200">
              <a:spcBef>
                <a:spcPts val="600"/>
              </a:spcBef>
              <a:spcAft>
                <a:spcPts val="1200"/>
              </a:spcAft>
              <a:buSzPct val="100000"/>
              <a:buFont typeface="+mj-lt"/>
              <a:buAutoNum type="arabicPeriod"/>
            </a:pPr>
            <a:r>
              <a:rPr lang="en-AU" sz="2200" dirty="0" smtClean="0"/>
              <a:t>Manage </a:t>
            </a:r>
            <a:r>
              <a:rPr lang="en-AU" sz="2200" dirty="0"/>
              <a:t>on-going risk exposure</a:t>
            </a:r>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dirty="0"/>
              <a:t>Assessment for this unit may include</a:t>
            </a:r>
            <a:r>
              <a:rPr lang="en-AU" sz="2200" dirty="0" smtClean="0"/>
              <a:t>:</a:t>
            </a:r>
            <a:endParaRPr lang="en-US" sz="2200" dirty="0" smtClean="0"/>
          </a:p>
          <a:p>
            <a:pPr>
              <a:spcBef>
                <a:spcPts val="600"/>
              </a:spcBef>
              <a:spcAft>
                <a:spcPts val="1200"/>
              </a:spcAft>
            </a:pPr>
            <a:r>
              <a:rPr lang="en-AU" sz="2200" dirty="0" smtClean="0"/>
              <a:t>Oral </a:t>
            </a:r>
            <a:r>
              <a:rPr lang="en-AU" sz="2200" dirty="0"/>
              <a:t>questions</a:t>
            </a:r>
          </a:p>
          <a:p>
            <a:pPr>
              <a:spcBef>
                <a:spcPts val="600"/>
              </a:spcBef>
              <a:spcAft>
                <a:spcPts val="1200"/>
              </a:spcAft>
            </a:pPr>
            <a:r>
              <a:rPr lang="en-AU" sz="2200" dirty="0"/>
              <a:t>Written questions</a:t>
            </a:r>
          </a:p>
          <a:p>
            <a:pPr>
              <a:spcBef>
                <a:spcPts val="600"/>
              </a:spcBef>
              <a:spcAft>
                <a:spcPts val="1200"/>
              </a:spcAft>
            </a:pPr>
            <a:r>
              <a:rPr lang="en-AU" sz="2200" dirty="0"/>
              <a:t>Work projects</a:t>
            </a:r>
          </a:p>
          <a:p>
            <a:pPr>
              <a:spcBef>
                <a:spcPts val="600"/>
              </a:spcBef>
              <a:spcAft>
                <a:spcPts val="1200"/>
              </a:spcAft>
            </a:pPr>
            <a:r>
              <a:rPr lang="en-AU" sz="2200" dirty="0"/>
              <a:t>Practical activities</a:t>
            </a:r>
          </a:p>
          <a:p>
            <a:pPr>
              <a:spcBef>
                <a:spcPts val="600"/>
              </a:spcBef>
              <a:spcAft>
                <a:spcPts val="1200"/>
              </a:spcAft>
            </a:pPr>
            <a:r>
              <a:rPr lang="en-AU" sz="2200" dirty="0"/>
              <a:t>3</a:t>
            </a:r>
            <a:r>
              <a:rPr lang="en-AU" sz="2200" baseline="30000" dirty="0"/>
              <a:t>rd</a:t>
            </a:r>
            <a:r>
              <a:rPr lang="en-AU" sz="2200" dirty="0"/>
              <a:t> party report</a:t>
            </a:r>
          </a:p>
          <a:p>
            <a:pPr>
              <a:spcBef>
                <a:spcPts val="600"/>
              </a:spcBef>
              <a:spcAft>
                <a:spcPts val="1200"/>
              </a:spcAft>
            </a:pPr>
            <a:r>
              <a:rPr lang="en-AU" sz="2200" dirty="0"/>
              <a:t>Observation checklist</a:t>
            </a:r>
          </a:p>
          <a:p>
            <a:pPr marL="360000" indent="-360000">
              <a:spcBef>
                <a:spcPts val="600"/>
              </a:spcBef>
              <a:spcAft>
                <a:spcPts val="1200"/>
              </a:spcAft>
            </a:pPr>
            <a:endParaRPr lang="en-US" sz="2200" dirty="0" smtClean="0"/>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Autofit/>
          </a:bodyPr>
          <a:lstStyle/>
          <a:p>
            <a:r>
              <a:rPr lang="en-AU" sz="3200" b="1" dirty="0">
                <a:solidFill>
                  <a:srgbClr val="FF6600"/>
                </a:solidFill>
                <a:latin typeface="Helvetica"/>
                <a:cs typeface="Helvetica"/>
              </a:rPr>
              <a:t>Element 1: Undertake initial operational risk management procedures</a:t>
            </a:r>
            <a:r>
              <a:rPr lang="en-AU" sz="3200" dirty="0">
                <a:solidFill>
                  <a:srgbClr val="FF6600"/>
                </a:solidFill>
                <a:latin typeface="Helvetica"/>
                <a:cs typeface="Helvetica"/>
              </a:rPr>
              <a:t/>
            </a:r>
            <a:br>
              <a:rPr lang="en-AU" sz="3200" dirty="0">
                <a:solidFill>
                  <a:srgbClr val="FF6600"/>
                </a:solidFill>
                <a:latin typeface="Helvetica"/>
                <a:cs typeface="Helvetica"/>
              </a:rPr>
            </a:br>
            <a:endParaRPr lang="en-US" sz="3200" b="1" dirty="0">
              <a:solidFill>
                <a:srgbClr val="FF6600"/>
              </a:solidFill>
              <a:latin typeface="Helvetica"/>
              <a:cs typeface="Helvetica"/>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dirty="0" smtClean="0"/>
              <a:t>Performance </a:t>
            </a:r>
            <a:r>
              <a:rPr lang="en-AU" sz="2200" dirty="0"/>
              <a:t>criteria for this element are:</a:t>
            </a:r>
          </a:p>
          <a:p>
            <a:pPr marL="0" indent="-226800">
              <a:spcBef>
                <a:spcPts val="600"/>
              </a:spcBef>
              <a:spcAft>
                <a:spcPts val="1200"/>
              </a:spcAft>
              <a:buNone/>
            </a:pPr>
            <a:r>
              <a:rPr lang="en-AU" sz="2200" dirty="0" smtClean="0">
                <a:solidFill>
                  <a:srgbClr val="92D050"/>
                </a:solidFill>
              </a:rPr>
              <a:t>1.1	</a:t>
            </a:r>
            <a:r>
              <a:rPr lang="en-AU" sz="2200" dirty="0" smtClean="0"/>
              <a:t>Establish </a:t>
            </a:r>
            <a:r>
              <a:rPr lang="en-AU" sz="2200" dirty="0"/>
              <a:t>the context for operational risk</a:t>
            </a:r>
          </a:p>
          <a:p>
            <a:pPr marL="0" indent="-226800">
              <a:spcBef>
                <a:spcPts val="600"/>
              </a:spcBef>
              <a:spcAft>
                <a:spcPts val="1200"/>
              </a:spcAft>
              <a:buNone/>
            </a:pPr>
            <a:r>
              <a:rPr lang="en-AU" sz="2200" dirty="0" smtClean="0">
                <a:solidFill>
                  <a:srgbClr val="92D050"/>
                </a:solidFill>
              </a:rPr>
              <a:t>1.2</a:t>
            </a:r>
            <a:r>
              <a:rPr lang="en-AU" sz="2200" dirty="0" smtClean="0"/>
              <a:t>	Identify </a:t>
            </a:r>
            <a:r>
              <a:rPr lang="en-AU" sz="2200" dirty="0"/>
              <a:t>operational risk</a:t>
            </a:r>
          </a:p>
          <a:p>
            <a:pPr marL="0" indent="-226800">
              <a:spcBef>
                <a:spcPts val="600"/>
              </a:spcBef>
              <a:spcAft>
                <a:spcPts val="1200"/>
              </a:spcAft>
              <a:buNone/>
            </a:pPr>
            <a:r>
              <a:rPr lang="en-AU" sz="2200" dirty="0" smtClean="0">
                <a:solidFill>
                  <a:srgbClr val="92D050"/>
                </a:solidFill>
              </a:rPr>
              <a:t>1.3</a:t>
            </a:r>
            <a:r>
              <a:rPr lang="en-AU" sz="2200" dirty="0" smtClean="0"/>
              <a:t>	Assess </a:t>
            </a:r>
            <a:r>
              <a:rPr lang="en-AU" sz="2200" dirty="0"/>
              <a:t>operational risk</a:t>
            </a:r>
          </a:p>
          <a:p>
            <a:pPr marL="0" indent="-226800">
              <a:spcBef>
                <a:spcPts val="600"/>
              </a:spcBef>
              <a:spcAft>
                <a:spcPts val="1200"/>
              </a:spcAft>
              <a:buNone/>
            </a:pPr>
            <a:r>
              <a:rPr lang="en-AU" sz="2200" dirty="0" smtClean="0">
                <a:solidFill>
                  <a:srgbClr val="92D050"/>
                </a:solidFill>
              </a:rPr>
              <a:t>1.4</a:t>
            </a:r>
            <a:r>
              <a:rPr lang="en-AU" sz="2200" dirty="0" smtClean="0"/>
              <a:t>	Identify </a:t>
            </a:r>
            <a:r>
              <a:rPr lang="en-AU" sz="2200" dirty="0"/>
              <a:t>operational risk control procedures</a:t>
            </a:r>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332656"/>
            <a:ext cx="8424936" cy="1143000"/>
          </a:xfrm>
        </p:spPr>
        <p:txBody>
          <a:bodyPr>
            <a:normAutofit/>
          </a:bodyPr>
          <a:lstStyle/>
          <a:p>
            <a:pPr indent="-457200"/>
            <a:r>
              <a:rPr lang="en-AU" sz="3200" b="1" dirty="0" smtClean="0">
                <a:solidFill>
                  <a:srgbClr val="FF6600"/>
                </a:solidFill>
                <a:latin typeface="Helvetica"/>
                <a:cs typeface="Helvetica"/>
              </a:rPr>
              <a:t>1.1	Establishing </a:t>
            </a:r>
            <a:r>
              <a:rPr lang="en-AU" sz="3200" b="1" dirty="0">
                <a:solidFill>
                  <a:srgbClr val="FF6600"/>
                </a:solidFill>
                <a:latin typeface="Helvetica"/>
                <a:cs typeface="Helvetica"/>
              </a:rPr>
              <a:t>the context for </a:t>
            </a:r>
            <a:r>
              <a:rPr lang="en-AU" sz="3200" b="1" dirty="0" smtClean="0">
                <a:solidFill>
                  <a:srgbClr val="FF6600"/>
                </a:solidFill>
                <a:latin typeface="Helvetica"/>
                <a:cs typeface="Helvetica"/>
              </a:rPr>
              <a:t>	operational risk</a:t>
            </a:r>
            <a:endParaRPr lang="en-US" sz="3400" b="1" dirty="0">
              <a:solidFill>
                <a:srgbClr val="FF6600"/>
              </a:solidFill>
              <a:latin typeface="Helvetica"/>
              <a:cs typeface="Helvetica"/>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AU" sz="2400" dirty="0" smtClean="0"/>
          </a:p>
          <a:p>
            <a:pPr marL="360000" indent="-360000" algn="ctr">
              <a:spcBef>
                <a:spcPts val="600"/>
              </a:spcBef>
              <a:spcAft>
                <a:spcPts val="1200"/>
              </a:spcAft>
              <a:buNone/>
            </a:pPr>
            <a:r>
              <a:rPr lang="en-AU" sz="4400" dirty="0" smtClean="0"/>
              <a:t>Lan </a:t>
            </a:r>
            <a:r>
              <a:rPr lang="en-AU" sz="4400" dirty="0"/>
              <a:t>and Jo</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700808"/>
            <a:ext cx="6192688" cy="4525963"/>
          </a:xfrm>
        </p:spPr>
        <p:txBody>
          <a:bodyPr>
            <a:normAutofit/>
          </a:bodyPr>
          <a:lstStyle/>
          <a:p>
            <a:pPr marL="360000" indent="-457200">
              <a:spcBef>
                <a:spcPts val="600"/>
              </a:spcBef>
              <a:spcAft>
                <a:spcPts val="1200"/>
              </a:spcAft>
            </a:pPr>
            <a:r>
              <a:rPr lang="en-AU" sz="2200" dirty="0"/>
              <a:t>What is risk?</a:t>
            </a:r>
          </a:p>
          <a:p>
            <a:pPr marL="360000" indent="-457200">
              <a:spcBef>
                <a:spcPts val="600"/>
              </a:spcBef>
              <a:spcAft>
                <a:spcPts val="1200"/>
              </a:spcAft>
            </a:pPr>
            <a:r>
              <a:rPr lang="en-AU" sz="2200" dirty="0" smtClean="0"/>
              <a:t>“</a:t>
            </a:r>
            <a:r>
              <a:rPr lang="en-AU" sz="2200" dirty="0"/>
              <a:t>The effect of uncertainty on objectives.”</a:t>
            </a:r>
          </a:p>
          <a:p>
            <a:pPr marL="360000" indent="-457200">
              <a:spcBef>
                <a:spcPts val="600"/>
              </a:spcBef>
              <a:spcAft>
                <a:spcPts val="1200"/>
              </a:spcAft>
            </a:pPr>
            <a:r>
              <a:rPr lang="en-AU" sz="2200" dirty="0" smtClean="0"/>
              <a:t>International </a:t>
            </a:r>
            <a:r>
              <a:rPr lang="en-AU" sz="2200" dirty="0"/>
              <a:t>Organisation for </a:t>
            </a:r>
            <a:r>
              <a:rPr lang="en-AU" sz="2200" dirty="0" smtClean="0"/>
              <a:t>Standardisation </a:t>
            </a:r>
            <a:r>
              <a:rPr lang="en-AU" sz="2200" dirty="0"/>
              <a:t>(ISO)</a:t>
            </a:r>
          </a:p>
          <a:p>
            <a:pPr indent="-457200">
              <a:buNone/>
            </a:pPr>
            <a:endParaRPr lang="en-AU" sz="2200" dirty="0"/>
          </a:p>
          <a:p>
            <a:pPr indent="-457200" algn="ctr">
              <a:buNone/>
            </a:pPr>
            <a:r>
              <a:rPr lang="en-AU" sz="2200" b="1" dirty="0"/>
              <a:t>What is your definition of risk?</a:t>
            </a: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a:t>
            </a:fld>
            <a:endParaRPr lang="en-US" dirty="0">
              <a:latin typeface="Helvetica" pitchFamily="34" charset="0"/>
            </a:endParaRPr>
          </a:p>
        </p:txBody>
      </p:sp>
      <p:sp>
        <p:nvSpPr>
          <p:cNvPr id="7" name="Title 1"/>
          <p:cNvSpPr>
            <a:spLocks noGrp="1"/>
          </p:cNvSpPr>
          <p:nvPr>
            <p:ph type="title"/>
          </p:nvPr>
        </p:nvSpPr>
        <p:spPr>
          <a:xfrm>
            <a:off x="251520" y="332656"/>
            <a:ext cx="8424936" cy="1143000"/>
          </a:xfrm>
        </p:spPr>
        <p:txBody>
          <a:bodyPr>
            <a:normAutofit/>
          </a:bodyPr>
          <a:lstStyle/>
          <a:p>
            <a:pPr indent="-457200"/>
            <a:r>
              <a:rPr lang="en-AU" sz="3200" b="1" dirty="0" smtClean="0">
                <a:solidFill>
                  <a:srgbClr val="FF6600"/>
                </a:solidFill>
                <a:latin typeface="Helvetica"/>
                <a:cs typeface="Helvetica"/>
              </a:rPr>
              <a:t>1.1	Establishing </a:t>
            </a:r>
            <a:r>
              <a:rPr lang="en-AU" sz="3200" b="1" dirty="0">
                <a:solidFill>
                  <a:srgbClr val="FF6600"/>
                </a:solidFill>
                <a:latin typeface="Helvetica"/>
                <a:cs typeface="Helvetica"/>
              </a:rPr>
              <a:t>the context for </a:t>
            </a:r>
            <a:r>
              <a:rPr lang="en-AU" sz="3200" b="1" dirty="0" smtClean="0">
                <a:solidFill>
                  <a:srgbClr val="FF6600"/>
                </a:solidFill>
                <a:latin typeface="Helvetica"/>
                <a:cs typeface="Helvetica"/>
              </a:rPr>
              <a:t>	operational risk</a:t>
            </a:r>
            <a:endParaRPr lang="en-US" sz="3400" b="1" dirty="0">
              <a:solidFill>
                <a:srgbClr val="FF6600"/>
              </a:solidFill>
              <a:latin typeface="Helvetica"/>
              <a:cs typeface="Helvetica"/>
            </a:endParaRPr>
          </a:p>
        </p:txBody>
      </p:sp>
      <p:pic>
        <p:nvPicPr>
          <p:cNvPr id="8" name="Picture 7" descr="I:\Overseas Projects\PHOTOS\2012\Front office 2012\shutterstock_94701796.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5319" y="2492896"/>
            <a:ext cx="1724025" cy="1945005"/>
          </a:xfrm>
          <a:prstGeom prst="rect">
            <a:avLst/>
          </a:prstGeom>
          <a:noFill/>
          <a:ln>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628800"/>
            <a:ext cx="7848872" cy="4525963"/>
          </a:xfrm>
        </p:spPr>
        <p:txBody>
          <a:bodyPr>
            <a:normAutofit/>
          </a:bodyPr>
          <a:lstStyle/>
          <a:p>
            <a:pPr marL="0" indent="0">
              <a:spcBef>
                <a:spcPts val="600"/>
              </a:spcBef>
              <a:spcAft>
                <a:spcPts val="1200"/>
              </a:spcAft>
              <a:buNone/>
            </a:pPr>
            <a:r>
              <a:rPr lang="en-US" sz="2200" dirty="0"/>
              <a:t>Risk Management can be simplified into these 4 questions:</a:t>
            </a:r>
          </a:p>
          <a:p>
            <a:pPr marL="514350" lvl="0" indent="-514350">
              <a:spcBef>
                <a:spcPts val="600"/>
              </a:spcBef>
              <a:spcAft>
                <a:spcPts val="1200"/>
              </a:spcAft>
              <a:buSzPct val="100000"/>
              <a:buFont typeface="+mj-lt"/>
              <a:buAutoNum type="arabicPeriod"/>
            </a:pPr>
            <a:r>
              <a:rPr lang="en-US" sz="2200" dirty="0"/>
              <a:t>What untoward things could happen?</a:t>
            </a:r>
            <a:endParaRPr lang="en-AU" sz="2200" dirty="0"/>
          </a:p>
          <a:p>
            <a:pPr marL="514350" lvl="0" indent="-514350">
              <a:spcBef>
                <a:spcPts val="600"/>
              </a:spcBef>
              <a:spcAft>
                <a:spcPts val="1200"/>
              </a:spcAft>
              <a:buSzPct val="100000"/>
              <a:buFont typeface="+mj-lt"/>
              <a:buAutoNum type="arabicPeriod"/>
            </a:pPr>
            <a:r>
              <a:rPr lang="en-US" sz="2200" dirty="0"/>
              <a:t>What would be the impact?</a:t>
            </a:r>
            <a:endParaRPr lang="en-AU" sz="2200" dirty="0"/>
          </a:p>
          <a:p>
            <a:pPr marL="514350" lvl="0" indent="-514350">
              <a:spcBef>
                <a:spcPts val="600"/>
              </a:spcBef>
              <a:spcAft>
                <a:spcPts val="1200"/>
              </a:spcAft>
              <a:buSzPct val="100000"/>
              <a:buFont typeface="+mj-lt"/>
              <a:buAutoNum type="arabicPeriod"/>
            </a:pPr>
            <a:r>
              <a:rPr lang="en-US" sz="2200" dirty="0"/>
              <a:t>What can we do about it?</a:t>
            </a:r>
            <a:endParaRPr lang="en-AU" sz="2200" dirty="0"/>
          </a:p>
          <a:p>
            <a:pPr marL="514350" lvl="0" indent="-514350">
              <a:spcBef>
                <a:spcPts val="600"/>
              </a:spcBef>
              <a:spcAft>
                <a:spcPts val="1200"/>
              </a:spcAft>
              <a:buSzPct val="100000"/>
              <a:buFont typeface="+mj-lt"/>
              <a:buAutoNum type="arabicPeriod"/>
            </a:pPr>
            <a:r>
              <a:rPr lang="en-US" sz="2200" dirty="0"/>
              <a:t>How do we tell everyone involved?</a:t>
            </a:r>
            <a:endParaRPr lang="en-AU" sz="2200" dirty="0"/>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a:t>
            </a:fld>
            <a:endParaRPr lang="en-US" dirty="0">
              <a:latin typeface="Helvetica" pitchFamily="34" charset="0"/>
            </a:endParaRPr>
          </a:p>
        </p:txBody>
      </p:sp>
      <p:sp>
        <p:nvSpPr>
          <p:cNvPr id="7" name="Title 1"/>
          <p:cNvSpPr>
            <a:spLocks noGrp="1"/>
          </p:cNvSpPr>
          <p:nvPr>
            <p:ph type="title"/>
          </p:nvPr>
        </p:nvSpPr>
        <p:spPr>
          <a:xfrm>
            <a:off x="251520" y="332656"/>
            <a:ext cx="8424936" cy="1143000"/>
          </a:xfrm>
        </p:spPr>
        <p:txBody>
          <a:bodyPr>
            <a:normAutofit/>
          </a:bodyPr>
          <a:lstStyle/>
          <a:p>
            <a:pPr indent="-457200"/>
            <a:r>
              <a:rPr lang="en-AU" sz="3200" b="1" dirty="0" smtClean="0">
                <a:solidFill>
                  <a:srgbClr val="FF6600"/>
                </a:solidFill>
                <a:latin typeface="Helvetica"/>
                <a:cs typeface="Helvetica"/>
              </a:rPr>
              <a:t>1.1	Establishing </a:t>
            </a:r>
            <a:r>
              <a:rPr lang="en-AU" sz="3200" b="1" dirty="0">
                <a:solidFill>
                  <a:srgbClr val="FF6600"/>
                </a:solidFill>
                <a:latin typeface="Helvetica"/>
                <a:cs typeface="Helvetica"/>
              </a:rPr>
              <a:t>the context for </a:t>
            </a:r>
            <a:r>
              <a:rPr lang="en-AU" sz="3200" b="1" dirty="0" smtClean="0">
                <a:solidFill>
                  <a:srgbClr val="FF6600"/>
                </a:solidFill>
                <a:latin typeface="Helvetica"/>
                <a:cs typeface="Helvetica"/>
              </a:rPr>
              <a:t>	operational risk</a:t>
            </a:r>
            <a:endParaRPr lang="en-US" sz="3400" b="1" dirty="0">
              <a:solidFill>
                <a:srgbClr val="FF6600"/>
              </a:solidFill>
              <a:latin typeface="Helvetica"/>
              <a:cs typeface="Helvetica"/>
            </a:endParaRPr>
          </a:p>
        </p:txBody>
      </p:sp>
      <p:pic>
        <p:nvPicPr>
          <p:cNvPr id="2050" name="Picture 2" descr="C:\Users\danielc\AppData\Local\Microsoft\Windows\Temporary Internet Files\Content.IE5\OXJ8PWEK\large-Emoticons-Question-face-0-11146[1].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88224" y="2708920"/>
            <a:ext cx="1497887" cy="144546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783357"/>
            <a:ext cx="7467600" cy="4525963"/>
          </a:xfrm>
        </p:spPr>
        <p:txBody>
          <a:bodyPr>
            <a:normAutofit/>
          </a:bodyPr>
          <a:lstStyle/>
          <a:p>
            <a:pPr marL="0" indent="-457200">
              <a:spcBef>
                <a:spcPts val="600"/>
              </a:spcBef>
              <a:spcAft>
                <a:spcPts val="1200"/>
              </a:spcAft>
              <a:buNone/>
            </a:pPr>
            <a:r>
              <a:rPr lang="en-AU" sz="2200" dirty="0" smtClean="0"/>
              <a:t>The </a:t>
            </a:r>
            <a:r>
              <a:rPr lang="en-AU" sz="2200" dirty="0"/>
              <a:t>four levels of </a:t>
            </a:r>
            <a:r>
              <a:rPr lang="en-AU" sz="2200" dirty="0" smtClean="0"/>
              <a:t>risk:</a:t>
            </a:r>
            <a:endParaRPr lang="en-AU" sz="2200" dirty="0"/>
          </a:p>
          <a:p>
            <a:pPr indent="-457200">
              <a:spcBef>
                <a:spcPts val="600"/>
              </a:spcBef>
              <a:spcAft>
                <a:spcPts val="1200"/>
              </a:spcAft>
            </a:pPr>
            <a:r>
              <a:rPr lang="en-AU" sz="2200" dirty="0"/>
              <a:t>Strategic level</a:t>
            </a:r>
          </a:p>
          <a:p>
            <a:pPr indent="-457200">
              <a:spcBef>
                <a:spcPts val="600"/>
              </a:spcBef>
              <a:spcAft>
                <a:spcPts val="1200"/>
              </a:spcAft>
            </a:pPr>
            <a:r>
              <a:rPr lang="en-AU" sz="2200" dirty="0"/>
              <a:t>Organisational level</a:t>
            </a:r>
          </a:p>
          <a:p>
            <a:pPr indent="-457200">
              <a:spcBef>
                <a:spcPts val="600"/>
              </a:spcBef>
              <a:spcAft>
                <a:spcPts val="1200"/>
              </a:spcAft>
            </a:pPr>
            <a:r>
              <a:rPr lang="en-AU" sz="2200" dirty="0"/>
              <a:t>Operational level</a:t>
            </a:r>
          </a:p>
          <a:p>
            <a:pPr indent="-457200">
              <a:spcBef>
                <a:spcPts val="600"/>
              </a:spcBef>
              <a:spcAft>
                <a:spcPts val="1200"/>
              </a:spcAft>
            </a:pPr>
            <a:r>
              <a:rPr lang="en-AU" sz="2200" dirty="0"/>
              <a:t>Task </a:t>
            </a:r>
            <a:r>
              <a:rPr lang="en-AU" sz="2200" dirty="0" smtClean="0"/>
              <a:t>level</a:t>
            </a:r>
            <a:endParaRPr lang="en-AU" sz="22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a:t>
            </a:fld>
            <a:endParaRPr lang="en-US" dirty="0">
              <a:latin typeface="Helvetica" pitchFamily="34" charset="0"/>
            </a:endParaRPr>
          </a:p>
        </p:txBody>
      </p:sp>
      <p:sp>
        <p:nvSpPr>
          <p:cNvPr id="7" name="Title 1"/>
          <p:cNvSpPr>
            <a:spLocks noGrp="1"/>
          </p:cNvSpPr>
          <p:nvPr>
            <p:ph type="title"/>
          </p:nvPr>
        </p:nvSpPr>
        <p:spPr>
          <a:xfrm>
            <a:off x="251520" y="332656"/>
            <a:ext cx="8424936" cy="1143000"/>
          </a:xfrm>
        </p:spPr>
        <p:txBody>
          <a:bodyPr>
            <a:normAutofit/>
          </a:bodyPr>
          <a:lstStyle/>
          <a:p>
            <a:pPr indent="-457200"/>
            <a:r>
              <a:rPr lang="en-AU" sz="3200" b="1" dirty="0" smtClean="0">
                <a:solidFill>
                  <a:srgbClr val="FF6600"/>
                </a:solidFill>
                <a:latin typeface="Helvetica"/>
                <a:cs typeface="Helvetica"/>
              </a:rPr>
              <a:t>1.1	Establishing </a:t>
            </a:r>
            <a:r>
              <a:rPr lang="en-AU" sz="3200" b="1" dirty="0">
                <a:solidFill>
                  <a:srgbClr val="FF6600"/>
                </a:solidFill>
                <a:latin typeface="Helvetica"/>
                <a:cs typeface="Helvetica"/>
              </a:rPr>
              <a:t>the context for </a:t>
            </a:r>
            <a:r>
              <a:rPr lang="en-AU" sz="3200" b="1" dirty="0" smtClean="0">
                <a:solidFill>
                  <a:srgbClr val="FF6600"/>
                </a:solidFill>
                <a:latin typeface="Helvetica"/>
                <a:cs typeface="Helvetica"/>
              </a:rPr>
              <a:t>	operational risk</a:t>
            </a:r>
            <a:endParaRPr lang="en-US" sz="3400" b="1" dirty="0">
              <a:solidFill>
                <a:srgbClr val="FF6600"/>
              </a:solidFill>
              <a:latin typeface="Helvetica"/>
              <a:cs typeface="Helvetica"/>
            </a:endParaRPr>
          </a:p>
        </p:txBody>
      </p:sp>
      <p:pic>
        <p:nvPicPr>
          <p:cNvPr id="3074" name="Picture 2" descr="C:\Users\danielc\AppData\Local\Microsoft\Windows\Temporary Internet Files\Content.IE5\EZ04WUTG\Risk[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98876" y="2132856"/>
            <a:ext cx="3203848" cy="200440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783357"/>
            <a:ext cx="6840760" cy="4525963"/>
          </a:xfrm>
        </p:spPr>
        <p:txBody>
          <a:bodyPr>
            <a:normAutofit/>
          </a:bodyPr>
          <a:lstStyle/>
          <a:p>
            <a:pPr marL="0" indent="0">
              <a:spcBef>
                <a:spcPts val="600"/>
              </a:spcBef>
              <a:spcAft>
                <a:spcPts val="1200"/>
              </a:spcAft>
              <a:buNone/>
            </a:pPr>
            <a:r>
              <a:rPr lang="en-AU" sz="2200" dirty="0"/>
              <a:t>Understanding the context of </a:t>
            </a:r>
            <a:r>
              <a:rPr lang="en-AU" sz="2200" dirty="0" smtClean="0"/>
              <a:t>risk:</a:t>
            </a:r>
            <a:endParaRPr lang="en-AU" sz="2200" dirty="0"/>
          </a:p>
          <a:p>
            <a:pPr marL="514350" indent="-514350">
              <a:spcBef>
                <a:spcPts val="600"/>
              </a:spcBef>
              <a:spcAft>
                <a:spcPts val="1200"/>
              </a:spcAft>
              <a:buSzPct val="100000"/>
              <a:buAutoNum type="arabicPeriod"/>
            </a:pPr>
            <a:r>
              <a:rPr lang="en-AU" sz="2200" dirty="0"/>
              <a:t>What is the </a:t>
            </a:r>
            <a:r>
              <a:rPr lang="en-AU" sz="2200" dirty="0" smtClean="0"/>
              <a:t>organisation’s </a:t>
            </a:r>
            <a:r>
              <a:rPr lang="en-AU" sz="2200" dirty="0"/>
              <a:t>background?</a:t>
            </a:r>
          </a:p>
          <a:p>
            <a:pPr marL="514350" indent="-514350">
              <a:spcBef>
                <a:spcPts val="600"/>
              </a:spcBef>
              <a:spcAft>
                <a:spcPts val="1200"/>
              </a:spcAft>
              <a:buSzPct val="100000"/>
              <a:buAutoNum type="arabicPeriod"/>
            </a:pPr>
            <a:r>
              <a:rPr lang="en-AU" sz="2200" dirty="0"/>
              <a:t>What environment does it operate in?</a:t>
            </a:r>
          </a:p>
          <a:p>
            <a:pPr marL="514350" indent="-514350">
              <a:spcBef>
                <a:spcPts val="600"/>
              </a:spcBef>
              <a:spcAft>
                <a:spcPts val="1200"/>
              </a:spcAft>
              <a:buSzPct val="100000"/>
              <a:buAutoNum type="arabicPeriod"/>
            </a:pPr>
            <a:r>
              <a:rPr lang="en-AU" sz="2200" dirty="0"/>
              <a:t>What risk management activities will be undertaken?</a:t>
            </a:r>
          </a:p>
          <a:p>
            <a:pPr marL="514350" indent="-514350">
              <a:spcBef>
                <a:spcPts val="600"/>
              </a:spcBef>
              <a:spcAft>
                <a:spcPts val="1200"/>
              </a:spcAft>
              <a:buSzPct val="100000"/>
              <a:buAutoNum type="arabicPeriod"/>
            </a:pPr>
            <a:r>
              <a:rPr lang="en-AU" sz="2200" dirty="0"/>
              <a:t>What is the appropriate structure in which to manage this risk?</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a:t>
            </a:fld>
            <a:endParaRPr lang="en-US" dirty="0">
              <a:latin typeface="Helvetica" pitchFamily="34" charset="0"/>
            </a:endParaRPr>
          </a:p>
        </p:txBody>
      </p:sp>
      <p:sp>
        <p:nvSpPr>
          <p:cNvPr id="7" name="Title 1"/>
          <p:cNvSpPr>
            <a:spLocks noGrp="1"/>
          </p:cNvSpPr>
          <p:nvPr>
            <p:ph type="title"/>
          </p:nvPr>
        </p:nvSpPr>
        <p:spPr>
          <a:xfrm>
            <a:off x="251520" y="332656"/>
            <a:ext cx="8424936" cy="1143000"/>
          </a:xfrm>
        </p:spPr>
        <p:txBody>
          <a:bodyPr>
            <a:normAutofit/>
          </a:bodyPr>
          <a:lstStyle/>
          <a:p>
            <a:pPr indent="-457200"/>
            <a:r>
              <a:rPr lang="en-AU" sz="3200" b="1" dirty="0" smtClean="0">
                <a:solidFill>
                  <a:srgbClr val="FF6600"/>
                </a:solidFill>
                <a:latin typeface="Helvetica"/>
                <a:cs typeface="Helvetica"/>
              </a:rPr>
              <a:t>1.1	Establishing </a:t>
            </a:r>
            <a:r>
              <a:rPr lang="en-AU" sz="3200" b="1" dirty="0">
                <a:solidFill>
                  <a:srgbClr val="FF6600"/>
                </a:solidFill>
                <a:latin typeface="Helvetica"/>
                <a:cs typeface="Helvetica"/>
              </a:rPr>
              <a:t>the context for </a:t>
            </a:r>
            <a:r>
              <a:rPr lang="en-AU" sz="3200" b="1" dirty="0" smtClean="0">
                <a:solidFill>
                  <a:srgbClr val="FF6600"/>
                </a:solidFill>
                <a:latin typeface="Helvetica"/>
                <a:cs typeface="Helvetica"/>
              </a:rPr>
              <a:t>	operational risk</a:t>
            </a:r>
            <a:endParaRPr lang="en-US" sz="3400" b="1" dirty="0">
              <a:solidFill>
                <a:srgbClr val="FF6600"/>
              </a:solidFill>
              <a:latin typeface="Helvetica"/>
              <a:cs typeface="Helvetica"/>
            </a:endParaRPr>
          </a:p>
        </p:txBody>
      </p:sp>
      <p:pic>
        <p:nvPicPr>
          <p:cNvPr id="8" name="Picture 7" descr="I:\Overseas Projects\PHOTOS\2014\Shutterstock 25-a-day\shutterstock_79128547.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32239" y="2132856"/>
            <a:ext cx="1438275" cy="2006600"/>
          </a:xfrm>
          <a:prstGeom prst="rect">
            <a:avLst/>
          </a:prstGeom>
          <a:noFill/>
          <a:ln>
            <a:noFill/>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927373"/>
            <a:ext cx="7467600" cy="4525963"/>
          </a:xfrm>
        </p:spPr>
        <p:txBody>
          <a:bodyPr>
            <a:normAutofit/>
          </a:bodyPr>
          <a:lstStyle/>
          <a:p>
            <a:pPr>
              <a:spcBef>
                <a:spcPts val="600"/>
              </a:spcBef>
              <a:spcAft>
                <a:spcPts val="1200"/>
              </a:spcAft>
              <a:buNone/>
            </a:pPr>
            <a:r>
              <a:rPr lang="en-AU" sz="2200" dirty="0" smtClean="0"/>
              <a:t>The </a:t>
            </a:r>
            <a:r>
              <a:rPr lang="en-AU" sz="2200" dirty="0"/>
              <a:t>external context of risk: PESTL</a:t>
            </a:r>
          </a:p>
          <a:p>
            <a:pPr>
              <a:spcBef>
                <a:spcPts val="600"/>
              </a:spcBef>
              <a:spcAft>
                <a:spcPts val="1200"/>
              </a:spcAft>
            </a:pPr>
            <a:r>
              <a:rPr lang="en-AU" sz="2200" u="sng" dirty="0"/>
              <a:t>P</a:t>
            </a:r>
            <a:r>
              <a:rPr lang="en-AU" sz="2200" dirty="0"/>
              <a:t>olitical</a:t>
            </a:r>
          </a:p>
          <a:p>
            <a:pPr>
              <a:spcBef>
                <a:spcPts val="600"/>
              </a:spcBef>
              <a:spcAft>
                <a:spcPts val="1200"/>
              </a:spcAft>
            </a:pPr>
            <a:r>
              <a:rPr lang="en-AU" sz="2200" u="sng" dirty="0"/>
              <a:t>E</a:t>
            </a:r>
            <a:r>
              <a:rPr lang="en-AU" sz="2200" dirty="0"/>
              <a:t>conomic</a:t>
            </a:r>
          </a:p>
          <a:p>
            <a:pPr>
              <a:spcBef>
                <a:spcPts val="600"/>
              </a:spcBef>
              <a:spcAft>
                <a:spcPts val="1200"/>
              </a:spcAft>
            </a:pPr>
            <a:r>
              <a:rPr lang="en-AU" sz="2200" u="sng" dirty="0"/>
              <a:t>S</a:t>
            </a:r>
            <a:r>
              <a:rPr lang="en-AU" sz="2200" dirty="0"/>
              <a:t>ocial</a:t>
            </a:r>
          </a:p>
          <a:p>
            <a:pPr>
              <a:spcBef>
                <a:spcPts val="600"/>
              </a:spcBef>
              <a:spcAft>
                <a:spcPts val="1200"/>
              </a:spcAft>
            </a:pPr>
            <a:r>
              <a:rPr lang="en-AU" sz="2200" u="sng" dirty="0"/>
              <a:t>T</a:t>
            </a:r>
            <a:r>
              <a:rPr lang="en-AU" sz="2200" dirty="0"/>
              <a:t>echnological</a:t>
            </a:r>
          </a:p>
          <a:p>
            <a:pPr>
              <a:spcBef>
                <a:spcPts val="600"/>
              </a:spcBef>
              <a:spcAft>
                <a:spcPts val="1200"/>
              </a:spcAft>
            </a:pPr>
            <a:r>
              <a:rPr lang="en-AU" sz="2200" u="sng" dirty="0"/>
              <a:t>L</a:t>
            </a:r>
            <a:r>
              <a:rPr lang="en-AU" sz="2200" dirty="0"/>
              <a:t>egal</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a:t>
            </a:fld>
            <a:endParaRPr lang="en-US" dirty="0">
              <a:latin typeface="Helvetica" pitchFamily="34" charset="0"/>
            </a:endParaRPr>
          </a:p>
        </p:txBody>
      </p:sp>
      <p:sp>
        <p:nvSpPr>
          <p:cNvPr id="7" name="Title 1"/>
          <p:cNvSpPr>
            <a:spLocks noGrp="1"/>
          </p:cNvSpPr>
          <p:nvPr>
            <p:ph type="title"/>
          </p:nvPr>
        </p:nvSpPr>
        <p:spPr>
          <a:xfrm>
            <a:off x="251520" y="332656"/>
            <a:ext cx="8424936" cy="1143000"/>
          </a:xfrm>
        </p:spPr>
        <p:txBody>
          <a:bodyPr>
            <a:normAutofit/>
          </a:bodyPr>
          <a:lstStyle/>
          <a:p>
            <a:pPr indent="-457200"/>
            <a:r>
              <a:rPr lang="en-AU" sz="3200" b="1" dirty="0" smtClean="0">
                <a:solidFill>
                  <a:srgbClr val="FF6600"/>
                </a:solidFill>
                <a:latin typeface="Helvetica"/>
                <a:cs typeface="Helvetica"/>
              </a:rPr>
              <a:t>1.1	Establishing </a:t>
            </a:r>
            <a:r>
              <a:rPr lang="en-AU" sz="3200" b="1" dirty="0">
                <a:solidFill>
                  <a:srgbClr val="FF6600"/>
                </a:solidFill>
                <a:latin typeface="Helvetica"/>
                <a:cs typeface="Helvetica"/>
              </a:rPr>
              <a:t>the context for </a:t>
            </a:r>
            <a:r>
              <a:rPr lang="en-AU" sz="3200" b="1" dirty="0" smtClean="0">
                <a:solidFill>
                  <a:srgbClr val="FF6600"/>
                </a:solidFill>
                <a:latin typeface="Helvetica"/>
                <a:cs typeface="Helvetica"/>
              </a:rPr>
              <a:t>	operational risk</a:t>
            </a:r>
            <a:endParaRPr lang="en-US" sz="3400" b="1" dirty="0">
              <a:solidFill>
                <a:srgbClr val="FF6600"/>
              </a:solidFill>
              <a:latin typeface="Helvetica"/>
              <a:cs typeface="Helvetica"/>
            </a:endParaRPr>
          </a:p>
        </p:txBody>
      </p:sp>
      <p:pic>
        <p:nvPicPr>
          <p:cNvPr id="4098" name="Picture 2" descr="I:\Overseas Projects\PHOTOS\2014\Shutterstock 25-a-day\shutterstock_16254194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12160" y="2060848"/>
            <a:ext cx="1739675" cy="261974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711349"/>
            <a:ext cx="7467600" cy="4525963"/>
          </a:xfrm>
        </p:spPr>
        <p:txBody>
          <a:bodyPr>
            <a:normAutofit/>
          </a:bodyPr>
          <a:lstStyle/>
          <a:p>
            <a:pPr marL="0" indent="0">
              <a:spcBef>
                <a:spcPts val="600"/>
              </a:spcBef>
              <a:spcAft>
                <a:spcPts val="1200"/>
              </a:spcAft>
              <a:buNone/>
            </a:pPr>
            <a:r>
              <a:rPr lang="en-AU" sz="2200" dirty="0" smtClean="0"/>
              <a:t>The </a:t>
            </a:r>
            <a:r>
              <a:rPr lang="en-AU" sz="2200" dirty="0"/>
              <a:t>internal context of risk needs to be considered in terms of the risks associated with its:</a:t>
            </a:r>
          </a:p>
          <a:p>
            <a:pPr>
              <a:spcBef>
                <a:spcPts val="600"/>
              </a:spcBef>
              <a:spcAft>
                <a:spcPts val="1200"/>
              </a:spcAft>
            </a:pPr>
            <a:r>
              <a:rPr lang="en-AU" sz="2200" dirty="0"/>
              <a:t>Culture</a:t>
            </a:r>
          </a:p>
          <a:p>
            <a:pPr>
              <a:spcBef>
                <a:spcPts val="600"/>
              </a:spcBef>
              <a:spcAft>
                <a:spcPts val="1200"/>
              </a:spcAft>
            </a:pPr>
            <a:r>
              <a:rPr lang="en-AU" sz="2200" dirty="0"/>
              <a:t>Structure</a:t>
            </a:r>
          </a:p>
          <a:p>
            <a:pPr>
              <a:spcBef>
                <a:spcPts val="600"/>
              </a:spcBef>
              <a:spcAft>
                <a:spcPts val="1200"/>
              </a:spcAft>
            </a:pPr>
            <a:r>
              <a:rPr lang="en-AU" sz="2200" dirty="0"/>
              <a:t>Processes</a:t>
            </a:r>
          </a:p>
          <a:p>
            <a:pPr>
              <a:spcBef>
                <a:spcPts val="600"/>
              </a:spcBef>
              <a:spcAft>
                <a:spcPts val="1200"/>
              </a:spcAft>
            </a:pPr>
            <a:r>
              <a:rPr lang="en-AU" sz="2200" dirty="0"/>
              <a:t>Objectives</a:t>
            </a:r>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a:t>
            </a:fld>
            <a:endParaRPr lang="en-US" dirty="0">
              <a:latin typeface="Helvetica" pitchFamily="34" charset="0"/>
            </a:endParaRPr>
          </a:p>
        </p:txBody>
      </p:sp>
      <p:sp>
        <p:nvSpPr>
          <p:cNvPr id="7" name="Title 1"/>
          <p:cNvSpPr>
            <a:spLocks noGrp="1"/>
          </p:cNvSpPr>
          <p:nvPr>
            <p:ph type="title"/>
          </p:nvPr>
        </p:nvSpPr>
        <p:spPr>
          <a:xfrm>
            <a:off x="251520" y="332656"/>
            <a:ext cx="8640960" cy="1143000"/>
          </a:xfrm>
        </p:spPr>
        <p:txBody>
          <a:bodyPr>
            <a:normAutofit/>
          </a:bodyPr>
          <a:lstStyle/>
          <a:p>
            <a:pPr indent="-457200"/>
            <a:r>
              <a:rPr lang="en-AU" sz="3200" b="1" dirty="0" smtClean="0">
                <a:solidFill>
                  <a:srgbClr val="FF6600"/>
                </a:solidFill>
                <a:latin typeface="Helvetica"/>
                <a:cs typeface="Helvetica"/>
              </a:rPr>
              <a:t>1.1	Establishing </a:t>
            </a:r>
            <a:r>
              <a:rPr lang="en-AU" sz="3200" b="1" dirty="0">
                <a:solidFill>
                  <a:srgbClr val="FF6600"/>
                </a:solidFill>
                <a:latin typeface="Helvetica"/>
                <a:cs typeface="Helvetica"/>
              </a:rPr>
              <a:t>the context for </a:t>
            </a:r>
            <a:r>
              <a:rPr lang="en-AU" sz="3200" b="1" dirty="0" smtClean="0">
                <a:solidFill>
                  <a:srgbClr val="FF6600"/>
                </a:solidFill>
                <a:latin typeface="Helvetica"/>
                <a:cs typeface="Helvetica"/>
              </a:rPr>
              <a:t>	operational risk</a:t>
            </a:r>
            <a:endParaRPr lang="en-US" sz="3400" b="1" dirty="0">
              <a:solidFill>
                <a:srgbClr val="FF6600"/>
              </a:solidFill>
              <a:latin typeface="Helvetica"/>
              <a:cs typeface="Helvetica"/>
            </a:endParaRPr>
          </a:p>
        </p:txBody>
      </p:sp>
      <p:pic>
        <p:nvPicPr>
          <p:cNvPr id="5122" name="Picture 2" descr="I:\Overseas Projects\PHOTOS\2014\Shutterstock 25-a-day\shutterstock_107073617.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83721" y="2492896"/>
            <a:ext cx="1798340" cy="134875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I:\Overseas Projects\PHOTOS\2014\Shutterstock 25-a-day\shutterstock_105421988.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83721" y="3922313"/>
            <a:ext cx="1798340" cy="119983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628800"/>
            <a:ext cx="7467600" cy="4525963"/>
          </a:xfrm>
        </p:spPr>
        <p:txBody>
          <a:bodyPr>
            <a:noAutofit/>
          </a:bodyPr>
          <a:lstStyle/>
          <a:p>
            <a:pPr marL="0" indent="0">
              <a:spcBef>
                <a:spcPts val="600"/>
              </a:spcBef>
              <a:spcAft>
                <a:spcPts val="600"/>
              </a:spcAft>
              <a:buNone/>
            </a:pPr>
            <a:r>
              <a:rPr lang="en-US" sz="2200" dirty="0"/>
              <a:t>A number of factors can impact on the operational environment and may have risks:</a:t>
            </a:r>
          </a:p>
          <a:p>
            <a:pPr>
              <a:spcBef>
                <a:spcPts val="600"/>
              </a:spcBef>
              <a:spcAft>
                <a:spcPts val="600"/>
              </a:spcAft>
            </a:pPr>
            <a:r>
              <a:rPr lang="en-US" sz="2200" dirty="0"/>
              <a:t>Weather</a:t>
            </a:r>
          </a:p>
          <a:p>
            <a:pPr>
              <a:spcBef>
                <a:spcPts val="600"/>
              </a:spcBef>
              <a:spcAft>
                <a:spcPts val="600"/>
              </a:spcAft>
            </a:pPr>
            <a:r>
              <a:rPr lang="en-US" sz="2200" dirty="0"/>
              <a:t>Customer numbers</a:t>
            </a:r>
          </a:p>
          <a:p>
            <a:pPr>
              <a:spcBef>
                <a:spcPts val="600"/>
              </a:spcBef>
              <a:spcAft>
                <a:spcPts val="600"/>
              </a:spcAft>
            </a:pPr>
            <a:r>
              <a:rPr lang="en-US" sz="2200" dirty="0"/>
              <a:t>Time of day</a:t>
            </a:r>
          </a:p>
          <a:p>
            <a:pPr>
              <a:spcBef>
                <a:spcPts val="600"/>
              </a:spcBef>
              <a:spcAft>
                <a:spcPts val="600"/>
              </a:spcAft>
            </a:pPr>
            <a:r>
              <a:rPr lang="en-US" sz="2200" dirty="0"/>
              <a:t>Seasonality</a:t>
            </a:r>
          </a:p>
          <a:p>
            <a:pPr>
              <a:spcBef>
                <a:spcPts val="600"/>
              </a:spcBef>
              <a:spcAft>
                <a:spcPts val="600"/>
              </a:spcAft>
            </a:pPr>
            <a:r>
              <a:rPr lang="en-US" sz="2200" dirty="0"/>
              <a:t>Type of activity or tour</a:t>
            </a:r>
          </a:p>
          <a:p>
            <a:pPr>
              <a:spcBef>
                <a:spcPts val="600"/>
              </a:spcBef>
              <a:spcAft>
                <a:spcPts val="600"/>
              </a:spcAft>
            </a:pPr>
            <a:r>
              <a:rPr lang="en-US" sz="2200" dirty="0"/>
              <a:t>Experience and age of customers</a:t>
            </a:r>
          </a:p>
          <a:p>
            <a:pPr>
              <a:spcBef>
                <a:spcPts val="600"/>
              </a:spcBef>
              <a:spcAft>
                <a:spcPts val="600"/>
              </a:spcAft>
            </a:pPr>
            <a:r>
              <a:rPr lang="en-US" sz="2200" dirty="0"/>
              <a:t>Ability and physical condition of customers</a:t>
            </a:r>
          </a:p>
          <a:p>
            <a:pPr>
              <a:spcBef>
                <a:spcPts val="600"/>
              </a:spcBef>
              <a:spcAft>
                <a:spcPts val="600"/>
              </a:spcAft>
            </a:pPr>
            <a:r>
              <a:rPr lang="en-US" sz="2200" dirty="0"/>
              <a:t>Equipment being used and location</a:t>
            </a:r>
          </a:p>
          <a:p>
            <a:pPr marL="360000" indent="-360000">
              <a:spcBef>
                <a:spcPts val="600"/>
              </a:spcBef>
              <a:spcAft>
                <a:spcPts val="6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a:t>
            </a:fld>
            <a:endParaRPr lang="en-US" dirty="0">
              <a:latin typeface="Helvetica" pitchFamily="34" charset="0"/>
            </a:endParaRPr>
          </a:p>
        </p:txBody>
      </p:sp>
      <p:sp>
        <p:nvSpPr>
          <p:cNvPr id="7" name="Title 1"/>
          <p:cNvSpPr>
            <a:spLocks noGrp="1"/>
          </p:cNvSpPr>
          <p:nvPr>
            <p:ph type="title"/>
          </p:nvPr>
        </p:nvSpPr>
        <p:spPr>
          <a:xfrm>
            <a:off x="251520" y="332656"/>
            <a:ext cx="8424936" cy="1143000"/>
          </a:xfrm>
        </p:spPr>
        <p:txBody>
          <a:bodyPr>
            <a:normAutofit/>
          </a:bodyPr>
          <a:lstStyle/>
          <a:p>
            <a:pPr indent="-457200"/>
            <a:r>
              <a:rPr lang="en-AU" sz="3200" b="1" dirty="0" smtClean="0">
                <a:solidFill>
                  <a:srgbClr val="FF6600"/>
                </a:solidFill>
                <a:latin typeface="Helvetica"/>
                <a:cs typeface="Helvetica"/>
              </a:rPr>
              <a:t>1.1	Establishing </a:t>
            </a:r>
            <a:r>
              <a:rPr lang="en-AU" sz="3200" b="1" dirty="0">
                <a:solidFill>
                  <a:srgbClr val="FF6600"/>
                </a:solidFill>
                <a:latin typeface="Helvetica"/>
                <a:cs typeface="Helvetica"/>
              </a:rPr>
              <a:t>the context for </a:t>
            </a:r>
            <a:r>
              <a:rPr lang="en-AU" sz="3200" b="1" dirty="0" smtClean="0">
                <a:solidFill>
                  <a:srgbClr val="FF6600"/>
                </a:solidFill>
                <a:latin typeface="Helvetica"/>
                <a:cs typeface="Helvetica"/>
              </a:rPr>
              <a:t>	operational risk</a:t>
            </a:r>
            <a:endParaRPr lang="en-US" sz="3400" b="1" dirty="0">
              <a:solidFill>
                <a:srgbClr val="FF6600"/>
              </a:solidFill>
              <a:latin typeface="Helvetica"/>
              <a:cs typeface="Helvetica"/>
            </a:endParaRPr>
          </a:p>
        </p:txBody>
      </p:sp>
      <p:pic>
        <p:nvPicPr>
          <p:cNvPr id="6146" name="Picture 2" descr="I:\Overseas Projects\PHOTOS\2014\Shutterstock 25-a-day\shutterstock_10236867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11391" y="2780928"/>
            <a:ext cx="1915319" cy="165894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5576" y="1639341"/>
            <a:ext cx="8280920" cy="4525963"/>
          </a:xfrm>
        </p:spPr>
        <p:txBody>
          <a:bodyPr>
            <a:noAutofit/>
          </a:bodyPr>
          <a:lstStyle/>
          <a:p>
            <a:pPr marL="0" indent="0">
              <a:spcBef>
                <a:spcPts val="600"/>
              </a:spcBef>
              <a:spcAft>
                <a:spcPts val="600"/>
              </a:spcAft>
              <a:buNone/>
            </a:pPr>
            <a:r>
              <a:rPr lang="en-AU" sz="2000" dirty="0"/>
              <a:t>What are some events that could lead to </a:t>
            </a:r>
            <a:r>
              <a:rPr lang="en-AU" sz="2000" dirty="0" smtClean="0"/>
              <a:t>risk?:</a:t>
            </a:r>
            <a:endParaRPr lang="en-AU" sz="2000" dirty="0"/>
          </a:p>
          <a:p>
            <a:pPr>
              <a:spcBef>
                <a:spcPts val="600"/>
              </a:spcBef>
              <a:spcAft>
                <a:spcPts val="600"/>
              </a:spcAft>
            </a:pPr>
            <a:r>
              <a:rPr lang="en-AU" sz="2000" dirty="0"/>
              <a:t>Personal health and injury</a:t>
            </a:r>
          </a:p>
          <a:p>
            <a:pPr>
              <a:spcBef>
                <a:spcPts val="600"/>
              </a:spcBef>
              <a:spcAft>
                <a:spcPts val="600"/>
              </a:spcAft>
            </a:pPr>
            <a:r>
              <a:rPr lang="en-AU" sz="2000" dirty="0"/>
              <a:t>Product malfunction or failure, including systems and equipment</a:t>
            </a:r>
          </a:p>
          <a:p>
            <a:pPr>
              <a:spcBef>
                <a:spcPts val="600"/>
              </a:spcBef>
              <a:spcAft>
                <a:spcPts val="600"/>
              </a:spcAft>
            </a:pPr>
            <a:r>
              <a:rPr lang="en-AU" sz="2000" dirty="0"/>
              <a:t>Damage to property and equipment, including customer property</a:t>
            </a:r>
          </a:p>
          <a:p>
            <a:pPr>
              <a:spcBef>
                <a:spcPts val="600"/>
              </a:spcBef>
              <a:spcAft>
                <a:spcPts val="600"/>
              </a:spcAft>
            </a:pPr>
            <a:r>
              <a:rPr lang="en-AU" sz="2000" dirty="0"/>
              <a:t>Industrial dispute</a:t>
            </a:r>
          </a:p>
          <a:p>
            <a:pPr>
              <a:spcBef>
                <a:spcPts val="600"/>
              </a:spcBef>
              <a:spcAft>
                <a:spcPts val="600"/>
              </a:spcAft>
            </a:pPr>
            <a:r>
              <a:rPr lang="en-AU" sz="2000" dirty="0"/>
              <a:t>Professional incompetence</a:t>
            </a:r>
          </a:p>
          <a:p>
            <a:pPr>
              <a:spcBef>
                <a:spcPts val="600"/>
              </a:spcBef>
              <a:spcAft>
                <a:spcPts val="600"/>
              </a:spcAft>
            </a:pPr>
            <a:r>
              <a:rPr lang="en-AU" sz="2000" dirty="0"/>
              <a:t>Natural disasters</a:t>
            </a:r>
          </a:p>
          <a:p>
            <a:pPr>
              <a:spcBef>
                <a:spcPts val="600"/>
              </a:spcBef>
              <a:spcAft>
                <a:spcPts val="600"/>
              </a:spcAft>
            </a:pPr>
            <a:r>
              <a:rPr lang="en-AU" sz="2000" dirty="0"/>
              <a:t>Security failure</a:t>
            </a:r>
          </a:p>
          <a:p>
            <a:pPr>
              <a:spcBef>
                <a:spcPts val="600"/>
              </a:spcBef>
              <a:spcAft>
                <a:spcPts val="600"/>
              </a:spcAft>
            </a:pPr>
            <a:r>
              <a:rPr lang="en-AU" sz="2000" dirty="0"/>
              <a:t>Financial loss</a:t>
            </a:r>
          </a:p>
          <a:p>
            <a:pPr>
              <a:spcBef>
                <a:spcPts val="600"/>
              </a:spcBef>
              <a:spcAft>
                <a:spcPts val="600"/>
              </a:spcAft>
            </a:pPr>
            <a:r>
              <a:rPr lang="en-AU" sz="2000" dirty="0"/>
              <a:t>Political events</a:t>
            </a:r>
          </a:p>
          <a:p>
            <a:pPr>
              <a:spcBef>
                <a:spcPts val="600"/>
              </a:spcBef>
              <a:spcAft>
                <a:spcPts val="600"/>
              </a:spcAft>
            </a:pPr>
            <a:r>
              <a:rPr lang="en-AU" sz="2000" dirty="0"/>
              <a:t>Terrorism</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a:t>
            </a:fld>
            <a:endParaRPr lang="en-US" dirty="0">
              <a:latin typeface="Helvetica" pitchFamily="34" charset="0"/>
            </a:endParaRPr>
          </a:p>
        </p:txBody>
      </p:sp>
      <p:sp>
        <p:nvSpPr>
          <p:cNvPr id="7" name="Title 1"/>
          <p:cNvSpPr>
            <a:spLocks noGrp="1"/>
          </p:cNvSpPr>
          <p:nvPr>
            <p:ph type="title"/>
          </p:nvPr>
        </p:nvSpPr>
        <p:spPr>
          <a:xfrm>
            <a:off x="251520" y="332656"/>
            <a:ext cx="8424936" cy="1143000"/>
          </a:xfrm>
        </p:spPr>
        <p:txBody>
          <a:bodyPr>
            <a:normAutofit/>
          </a:bodyPr>
          <a:lstStyle/>
          <a:p>
            <a:pPr indent="-457200"/>
            <a:r>
              <a:rPr lang="en-AU" sz="3200" b="1" dirty="0" smtClean="0">
                <a:solidFill>
                  <a:srgbClr val="FF6600"/>
                </a:solidFill>
                <a:latin typeface="Helvetica"/>
                <a:cs typeface="Helvetica"/>
              </a:rPr>
              <a:t>1.1	Establishing </a:t>
            </a:r>
            <a:r>
              <a:rPr lang="en-AU" sz="3200" b="1" dirty="0">
                <a:solidFill>
                  <a:srgbClr val="FF6600"/>
                </a:solidFill>
                <a:latin typeface="Helvetica"/>
                <a:cs typeface="Helvetica"/>
              </a:rPr>
              <a:t>the context for </a:t>
            </a:r>
            <a:r>
              <a:rPr lang="en-AU" sz="3200" b="1" dirty="0" smtClean="0">
                <a:solidFill>
                  <a:srgbClr val="FF6600"/>
                </a:solidFill>
                <a:latin typeface="Helvetica"/>
                <a:cs typeface="Helvetica"/>
              </a:rPr>
              <a:t>	operational risk</a:t>
            </a:r>
            <a:endParaRPr lang="en-US" sz="3400" b="1" dirty="0">
              <a:solidFill>
                <a:srgbClr val="FF6600"/>
              </a:solidFill>
              <a:latin typeface="Helvetica"/>
              <a:cs typeface="Helvetica"/>
            </a:endParaRPr>
          </a:p>
        </p:txBody>
      </p:sp>
      <p:pic>
        <p:nvPicPr>
          <p:cNvPr id="8" name="Picture 7" descr="I:\Overseas Projects\PHOTOS\2014\Shutterstock 25-a-day\shutterstock_65093608.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32240" y="3717032"/>
            <a:ext cx="1839595" cy="1315720"/>
          </a:xfrm>
          <a:prstGeom prst="rect">
            <a:avLst/>
          </a:prstGeom>
          <a:noFill/>
          <a:ln>
            <a:noFill/>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628800"/>
            <a:ext cx="7467600" cy="4525963"/>
          </a:xfrm>
        </p:spPr>
        <p:txBody>
          <a:bodyPr>
            <a:normAutofit/>
          </a:bodyPr>
          <a:lstStyle/>
          <a:p>
            <a:pPr marL="0" indent="0">
              <a:spcBef>
                <a:spcPts val="600"/>
              </a:spcBef>
              <a:spcAft>
                <a:spcPts val="1200"/>
              </a:spcAft>
              <a:buNone/>
            </a:pPr>
            <a:r>
              <a:rPr lang="en-AU" sz="2200" dirty="0"/>
              <a:t>Compliance requirements:</a:t>
            </a:r>
          </a:p>
          <a:p>
            <a:pPr>
              <a:spcBef>
                <a:spcPts val="600"/>
              </a:spcBef>
              <a:spcAft>
                <a:spcPts val="1200"/>
              </a:spcAft>
            </a:pPr>
            <a:r>
              <a:rPr lang="en-AU" sz="2200" dirty="0"/>
              <a:t>Government Legislation</a:t>
            </a:r>
          </a:p>
          <a:p>
            <a:pPr>
              <a:spcBef>
                <a:spcPts val="600"/>
              </a:spcBef>
              <a:spcAft>
                <a:spcPts val="1200"/>
              </a:spcAft>
            </a:pPr>
            <a:r>
              <a:rPr lang="en-AU" sz="2200" dirty="0"/>
              <a:t>Industry regulations</a:t>
            </a:r>
          </a:p>
          <a:p>
            <a:pPr>
              <a:spcBef>
                <a:spcPts val="600"/>
              </a:spcBef>
              <a:spcAft>
                <a:spcPts val="1200"/>
              </a:spcAft>
            </a:pPr>
            <a:r>
              <a:rPr lang="en-AU" sz="2200" dirty="0"/>
              <a:t>Industry codes of practice</a:t>
            </a:r>
          </a:p>
          <a:p>
            <a:pPr>
              <a:spcBef>
                <a:spcPts val="600"/>
              </a:spcBef>
              <a:spcAft>
                <a:spcPts val="1200"/>
              </a:spcAft>
            </a:pPr>
            <a:r>
              <a:rPr lang="en-AU" sz="2200" dirty="0"/>
              <a:t>Company standards</a:t>
            </a:r>
          </a:p>
          <a:p>
            <a:pPr>
              <a:spcBef>
                <a:spcPts val="600"/>
              </a:spcBef>
              <a:spcAft>
                <a:spcPts val="1200"/>
              </a:spcAft>
            </a:pPr>
            <a:r>
              <a:rPr lang="en-AU" sz="2200" dirty="0"/>
              <a:t>ISO </a:t>
            </a:r>
            <a:r>
              <a:rPr lang="en-AU" sz="2200" dirty="0" smtClean="0"/>
              <a:t>Certification</a:t>
            </a:r>
            <a:endParaRPr lang="en-AU" sz="22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a:t>
            </a:fld>
            <a:endParaRPr lang="en-US" dirty="0">
              <a:latin typeface="Helvetica" pitchFamily="34" charset="0"/>
            </a:endParaRPr>
          </a:p>
        </p:txBody>
      </p:sp>
      <p:sp>
        <p:nvSpPr>
          <p:cNvPr id="7" name="Title 1"/>
          <p:cNvSpPr>
            <a:spLocks noGrp="1"/>
          </p:cNvSpPr>
          <p:nvPr>
            <p:ph type="title"/>
          </p:nvPr>
        </p:nvSpPr>
        <p:spPr>
          <a:xfrm>
            <a:off x="395536" y="332656"/>
            <a:ext cx="8424936" cy="1143000"/>
          </a:xfrm>
        </p:spPr>
        <p:txBody>
          <a:bodyPr>
            <a:normAutofit/>
          </a:bodyPr>
          <a:lstStyle/>
          <a:p>
            <a:pPr indent="-457200"/>
            <a:r>
              <a:rPr lang="en-AU" sz="3200" b="1" dirty="0" smtClean="0">
                <a:solidFill>
                  <a:srgbClr val="FF6600"/>
                </a:solidFill>
                <a:latin typeface="Helvetica"/>
                <a:cs typeface="Helvetica"/>
              </a:rPr>
              <a:t>1.1	Establishing </a:t>
            </a:r>
            <a:r>
              <a:rPr lang="en-AU" sz="3200" b="1" dirty="0">
                <a:solidFill>
                  <a:srgbClr val="FF6600"/>
                </a:solidFill>
                <a:latin typeface="Helvetica"/>
                <a:cs typeface="Helvetica"/>
              </a:rPr>
              <a:t>the context for </a:t>
            </a:r>
            <a:r>
              <a:rPr lang="en-AU" sz="3200" b="1" dirty="0" smtClean="0">
                <a:solidFill>
                  <a:srgbClr val="FF6600"/>
                </a:solidFill>
                <a:latin typeface="Helvetica"/>
                <a:cs typeface="Helvetica"/>
              </a:rPr>
              <a:t>	operational risk</a:t>
            </a:r>
            <a:endParaRPr lang="en-US" sz="3400" b="1" dirty="0">
              <a:solidFill>
                <a:srgbClr val="FF6600"/>
              </a:solidFill>
              <a:latin typeface="Helvetica"/>
              <a:cs typeface="Helvetica"/>
            </a:endParaRPr>
          </a:p>
        </p:txBody>
      </p:sp>
      <p:pic>
        <p:nvPicPr>
          <p:cNvPr id="7170" name="Picture 2" descr="I:\Overseas Projects\PHOTOS\2014\Shutterstock 25-a-day\shutterstock_155045228.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59176" y="1988840"/>
            <a:ext cx="2156073" cy="215607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467600" cy="4525963"/>
          </a:xfrm>
        </p:spPr>
        <p:txBody>
          <a:bodyPr>
            <a:normAutofit/>
          </a:bodyPr>
          <a:lstStyle/>
          <a:p>
            <a:pPr marL="0" indent="0" algn="ctr">
              <a:buNone/>
            </a:pPr>
            <a:endParaRPr lang="en-US" sz="2400" dirty="0" smtClean="0"/>
          </a:p>
          <a:p>
            <a:pPr marL="342900" indent="-453600">
              <a:spcBef>
                <a:spcPts val="600"/>
              </a:spcBef>
              <a:spcAft>
                <a:spcPts val="1200"/>
              </a:spcAft>
            </a:pPr>
            <a:r>
              <a:rPr lang="en-US" sz="2400" dirty="0" smtClean="0"/>
              <a:t>What </a:t>
            </a:r>
            <a:r>
              <a:rPr lang="en-US" sz="2400" dirty="0"/>
              <a:t>stakeholders may be at risk?</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a:t>
            </a:fld>
            <a:endParaRPr lang="en-US" dirty="0">
              <a:latin typeface="Helvetica" pitchFamily="34" charset="0"/>
            </a:endParaRPr>
          </a:p>
        </p:txBody>
      </p:sp>
      <p:sp>
        <p:nvSpPr>
          <p:cNvPr id="7" name="Title 1"/>
          <p:cNvSpPr>
            <a:spLocks noGrp="1"/>
          </p:cNvSpPr>
          <p:nvPr>
            <p:ph type="title"/>
          </p:nvPr>
        </p:nvSpPr>
        <p:spPr>
          <a:xfrm>
            <a:off x="251520" y="332656"/>
            <a:ext cx="8424936" cy="1143000"/>
          </a:xfrm>
        </p:spPr>
        <p:txBody>
          <a:bodyPr>
            <a:normAutofit/>
          </a:bodyPr>
          <a:lstStyle/>
          <a:p>
            <a:pPr indent="-457200"/>
            <a:r>
              <a:rPr lang="en-AU" sz="3200" b="1" dirty="0" smtClean="0">
                <a:solidFill>
                  <a:srgbClr val="FF6600"/>
                </a:solidFill>
                <a:latin typeface="Helvetica"/>
                <a:cs typeface="Helvetica"/>
              </a:rPr>
              <a:t>1.1	Establishing </a:t>
            </a:r>
            <a:r>
              <a:rPr lang="en-AU" sz="3200" b="1" dirty="0">
                <a:solidFill>
                  <a:srgbClr val="FF6600"/>
                </a:solidFill>
                <a:latin typeface="Helvetica"/>
                <a:cs typeface="Helvetica"/>
              </a:rPr>
              <a:t>the context for </a:t>
            </a:r>
            <a:r>
              <a:rPr lang="en-AU" sz="3200" b="1" dirty="0" smtClean="0">
                <a:solidFill>
                  <a:srgbClr val="FF6600"/>
                </a:solidFill>
                <a:latin typeface="Helvetica"/>
                <a:cs typeface="Helvetica"/>
              </a:rPr>
              <a:t>	operational risk</a:t>
            </a:r>
            <a:endParaRPr lang="en-US" sz="3400" b="1" dirty="0">
              <a:solidFill>
                <a:srgbClr val="FF6600"/>
              </a:solidFill>
              <a:latin typeface="Helvetica"/>
              <a:cs typeface="Helvetica"/>
            </a:endParaRPr>
          </a:p>
        </p:txBody>
      </p:sp>
      <p:pic>
        <p:nvPicPr>
          <p:cNvPr id="8194" name="Picture 2" descr="I:\Overseas Projects\PHOTOS\2014\Shutterstock 25-a-day\shutterstock_2433437.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40460" y="3068960"/>
            <a:ext cx="3048000" cy="20272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467600" cy="4525963"/>
          </a:xfrm>
        </p:spPr>
        <p:txBody>
          <a:bodyPr>
            <a:normAutofit/>
          </a:bodyPr>
          <a:lstStyle/>
          <a:p>
            <a:pPr algn="ctr">
              <a:buNone/>
            </a:pPr>
            <a:endParaRPr lang="en-AU" sz="2400" b="1" i="1" dirty="0" smtClean="0"/>
          </a:p>
          <a:p>
            <a:pPr>
              <a:spcBef>
                <a:spcPts val="600"/>
              </a:spcBef>
              <a:spcAft>
                <a:spcPts val="600"/>
              </a:spcAft>
              <a:buNone/>
            </a:pPr>
            <a:r>
              <a:rPr lang="en-AU" sz="2400" b="1" i="1" dirty="0" smtClean="0"/>
              <a:t>Activity </a:t>
            </a:r>
            <a:r>
              <a:rPr lang="en-AU" sz="2400" b="1" i="1" dirty="0"/>
              <a:t>1 - Far East Travel</a:t>
            </a:r>
          </a:p>
          <a:p>
            <a:pPr>
              <a:spcBef>
                <a:spcPts val="600"/>
              </a:spcBef>
              <a:spcAft>
                <a:spcPts val="1200"/>
              </a:spcAft>
            </a:pPr>
            <a:r>
              <a:rPr lang="en-AU" sz="2400" dirty="0" smtClean="0"/>
              <a:t>What </a:t>
            </a:r>
            <a:r>
              <a:rPr lang="en-AU" sz="2400" dirty="0"/>
              <a:t>are the risks this business faces? </a:t>
            </a:r>
          </a:p>
          <a:p>
            <a:pPr>
              <a:spcBef>
                <a:spcPts val="600"/>
              </a:spcBef>
              <a:spcAft>
                <a:spcPts val="1200"/>
              </a:spcAft>
            </a:pPr>
            <a:r>
              <a:rPr lang="en-AU" sz="2400" dirty="0" smtClean="0"/>
              <a:t>How </a:t>
            </a:r>
            <a:r>
              <a:rPr lang="en-AU" sz="2400" dirty="0"/>
              <a:t>can we explain them to staff?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a:t>
            </a:fld>
            <a:endParaRPr lang="en-US" dirty="0">
              <a:latin typeface="Helvetica" pitchFamily="34" charset="0"/>
            </a:endParaRPr>
          </a:p>
        </p:txBody>
      </p:sp>
      <p:sp>
        <p:nvSpPr>
          <p:cNvPr id="7" name="Title 1"/>
          <p:cNvSpPr>
            <a:spLocks noGrp="1"/>
          </p:cNvSpPr>
          <p:nvPr>
            <p:ph type="title"/>
          </p:nvPr>
        </p:nvSpPr>
        <p:spPr>
          <a:xfrm>
            <a:off x="251520" y="332656"/>
            <a:ext cx="8424936" cy="1143000"/>
          </a:xfrm>
        </p:spPr>
        <p:txBody>
          <a:bodyPr>
            <a:normAutofit/>
          </a:bodyPr>
          <a:lstStyle/>
          <a:p>
            <a:pPr indent="-457200"/>
            <a:r>
              <a:rPr lang="en-AU" sz="3200" b="1" dirty="0" smtClean="0">
                <a:solidFill>
                  <a:srgbClr val="FF6600"/>
                </a:solidFill>
                <a:latin typeface="Helvetica"/>
                <a:cs typeface="Helvetica"/>
              </a:rPr>
              <a:t>1.1	Establishing </a:t>
            </a:r>
            <a:r>
              <a:rPr lang="en-AU" sz="3200" b="1" dirty="0">
                <a:solidFill>
                  <a:srgbClr val="FF6600"/>
                </a:solidFill>
                <a:latin typeface="Helvetica"/>
                <a:cs typeface="Helvetica"/>
              </a:rPr>
              <a:t>the context for </a:t>
            </a:r>
            <a:r>
              <a:rPr lang="en-AU" sz="3200" b="1" dirty="0" smtClean="0">
                <a:solidFill>
                  <a:srgbClr val="FF6600"/>
                </a:solidFill>
                <a:latin typeface="Helvetica"/>
                <a:cs typeface="Helvetica"/>
              </a:rPr>
              <a:t>	operational risk</a:t>
            </a:r>
            <a:endParaRPr lang="en-US" sz="3400" b="1" dirty="0">
              <a:solidFill>
                <a:srgbClr val="FF6600"/>
              </a:solidFill>
              <a:latin typeface="Helvetica"/>
              <a:cs typeface="Helvetica"/>
            </a:endParaRPr>
          </a:p>
        </p:txBody>
      </p:sp>
      <p:pic>
        <p:nvPicPr>
          <p:cNvPr id="8" name="Picture 7" descr="user_edit"/>
          <p:cNvPicPr/>
          <p:nvPr/>
        </p:nvPicPr>
        <p:blipFill>
          <a:blip r:embed="rId3" cstate="print"/>
          <a:srcRect/>
          <a:stretch>
            <a:fillRect/>
          </a:stretch>
        </p:blipFill>
        <p:spPr bwMode="auto">
          <a:xfrm>
            <a:off x="7047284" y="2276872"/>
            <a:ext cx="1152128" cy="1152128"/>
          </a:xfrm>
          <a:prstGeom prst="rect">
            <a:avLst/>
          </a:prstGeom>
          <a:noFill/>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indent="-457200"/>
            <a:r>
              <a:rPr lang="en-AU" sz="3200" b="1" dirty="0" smtClean="0">
                <a:solidFill>
                  <a:srgbClr val="FF6600"/>
                </a:solidFill>
                <a:latin typeface="Helvetica"/>
                <a:cs typeface="Helvetica"/>
              </a:rPr>
              <a:t>1.2	Identify </a:t>
            </a:r>
            <a:r>
              <a:rPr lang="en-AU" sz="3200" b="1" dirty="0">
                <a:solidFill>
                  <a:srgbClr val="FF6600"/>
                </a:solidFill>
                <a:latin typeface="Helvetica"/>
                <a:cs typeface="Helvetica"/>
              </a:rPr>
              <a:t>Operational Risk </a:t>
            </a:r>
            <a:endParaRPr lang="en-US" sz="3200" b="1" dirty="0">
              <a:solidFill>
                <a:srgbClr val="FF6600"/>
              </a:solidFill>
              <a:latin typeface="Helvetica"/>
              <a:cs typeface="Helvetica"/>
            </a:endParaRPr>
          </a:p>
        </p:txBody>
      </p:sp>
      <p:sp>
        <p:nvSpPr>
          <p:cNvPr id="3" name="Content Placeholder 2"/>
          <p:cNvSpPr>
            <a:spLocks noGrp="1"/>
          </p:cNvSpPr>
          <p:nvPr>
            <p:ph idx="1"/>
          </p:nvPr>
        </p:nvSpPr>
        <p:spPr>
          <a:xfrm>
            <a:off x="611560" y="1412776"/>
            <a:ext cx="5904656" cy="4525963"/>
          </a:xfrm>
        </p:spPr>
        <p:txBody>
          <a:bodyPr>
            <a:noAutofit/>
          </a:bodyPr>
          <a:lstStyle/>
          <a:p>
            <a:pPr marL="0" indent="0">
              <a:spcBef>
                <a:spcPts val="600"/>
              </a:spcBef>
              <a:spcAft>
                <a:spcPts val="900"/>
              </a:spcAft>
              <a:buNone/>
            </a:pPr>
            <a:r>
              <a:rPr lang="en-AU" sz="2000" dirty="0"/>
              <a:t>Four root causes of risk:</a:t>
            </a:r>
          </a:p>
          <a:p>
            <a:pPr>
              <a:spcBef>
                <a:spcPts val="600"/>
              </a:spcBef>
              <a:spcAft>
                <a:spcPts val="900"/>
              </a:spcAft>
            </a:pPr>
            <a:r>
              <a:rPr lang="en-AU" sz="2000" b="1" dirty="0"/>
              <a:t>People</a:t>
            </a:r>
            <a:r>
              <a:rPr lang="en-AU" sz="2000" dirty="0"/>
              <a:t> - How do the actions of people working in the business/organisation contribute to creating potential risks? </a:t>
            </a:r>
          </a:p>
          <a:p>
            <a:pPr>
              <a:spcBef>
                <a:spcPts val="600"/>
              </a:spcBef>
              <a:spcAft>
                <a:spcPts val="900"/>
              </a:spcAft>
            </a:pPr>
            <a:r>
              <a:rPr lang="en-AU" sz="2000" b="1" dirty="0"/>
              <a:t>Process</a:t>
            </a:r>
            <a:r>
              <a:rPr lang="en-AU" sz="2000" dirty="0"/>
              <a:t> - What processes are currently being employed and what kinds of risks might be present in these processes? </a:t>
            </a:r>
          </a:p>
          <a:p>
            <a:pPr>
              <a:spcBef>
                <a:spcPts val="600"/>
              </a:spcBef>
              <a:spcAft>
                <a:spcPts val="900"/>
              </a:spcAft>
            </a:pPr>
            <a:r>
              <a:rPr lang="en-AU" sz="2000" b="1" dirty="0"/>
              <a:t>Technology</a:t>
            </a:r>
            <a:r>
              <a:rPr lang="en-AU" sz="2000" dirty="0"/>
              <a:t> - The use of technology will represent many advantages for the organisation but it may also come with the potential for significant </a:t>
            </a:r>
            <a:r>
              <a:rPr lang="en-AU" sz="2000" dirty="0" smtClean="0"/>
              <a:t>risk</a:t>
            </a:r>
            <a:endParaRPr lang="en-AU" sz="2000" dirty="0"/>
          </a:p>
          <a:p>
            <a:pPr>
              <a:spcBef>
                <a:spcPts val="600"/>
              </a:spcBef>
              <a:spcAft>
                <a:spcPts val="900"/>
              </a:spcAft>
            </a:pPr>
            <a:r>
              <a:rPr lang="en-AU" sz="2000" b="1" dirty="0"/>
              <a:t>Environment</a:t>
            </a:r>
            <a:r>
              <a:rPr lang="en-AU" sz="2000" dirty="0"/>
              <a:t> - The operating environment of the organisation needs to be carefully scrutinised to identify potential </a:t>
            </a:r>
            <a:r>
              <a:rPr lang="en-AU" sz="2000" dirty="0" smtClean="0"/>
              <a:t>risk</a:t>
            </a:r>
            <a:endParaRPr lang="en-AU" sz="2000" dirty="0"/>
          </a:p>
          <a:p>
            <a:pPr marL="360000" indent="-360000">
              <a:spcBef>
                <a:spcPts val="600"/>
              </a:spcBef>
              <a:spcAft>
                <a:spcPts val="9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a:t>
            </a:fld>
            <a:endParaRPr lang="en-US" dirty="0">
              <a:latin typeface="Helvetica" pitchFamily="34" charset="0"/>
            </a:endParaRPr>
          </a:p>
        </p:txBody>
      </p:sp>
      <p:pic>
        <p:nvPicPr>
          <p:cNvPr id="9219" name="Picture 3" descr="I:\Overseas Projects\PHOTOS\2014\Shutterstock 25-a-day\shutterstock_16572865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16216" y="2852936"/>
            <a:ext cx="1884624" cy="12573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dirty="0" smtClean="0"/>
              <a:t>Identifying </a:t>
            </a:r>
            <a:r>
              <a:rPr lang="en-AU" sz="2200" dirty="0"/>
              <a:t>risk:</a:t>
            </a:r>
          </a:p>
          <a:p>
            <a:pPr>
              <a:spcBef>
                <a:spcPts val="600"/>
              </a:spcBef>
              <a:spcAft>
                <a:spcPts val="1200"/>
              </a:spcAft>
            </a:pPr>
            <a:r>
              <a:rPr lang="en-AU" sz="2200" dirty="0"/>
              <a:t>Where is the risk within the organisation? </a:t>
            </a:r>
          </a:p>
          <a:p>
            <a:pPr>
              <a:spcBef>
                <a:spcPts val="600"/>
              </a:spcBef>
              <a:spcAft>
                <a:spcPts val="1200"/>
              </a:spcAft>
            </a:pPr>
            <a:r>
              <a:rPr lang="en-AU" sz="2200" dirty="0"/>
              <a:t>When is the risk most likely to be present?</a:t>
            </a:r>
          </a:p>
          <a:p>
            <a:pPr>
              <a:spcBef>
                <a:spcPts val="600"/>
              </a:spcBef>
              <a:spcAft>
                <a:spcPts val="1200"/>
              </a:spcAft>
            </a:pPr>
            <a:r>
              <a:rPr lang="en-AU" sz="2200" dirty="0"/>
              <a:t>How is the risk manifested?</a:t>
            </a:r>
          </a:p>
          <a:p>
            <a:pPr>
              <a:spcBef>
                <a:spcPts val="600"/>
              </a:spcBef>
              <a:spcAft>
                <a:spcPts val="1200"/>
              </a:spcAft>
            </a:pPr>
            <a:r>
              <a:rPr lang="en-AU" sz="2200" dirty="0"/>
              <a:t>Why is the risk present?</a:t>
            </a:r>
          </a:p>
          <a:p>
            <a:pPr>
              <a:spcBef>
                <a:spcPts val="600"/>
              </a:spcBef>
              <a:spcAft>
                <a:spcPts val="1200"/>
              </a:spcAft>
            </a:pPr>
            <a:r>
              <a:rPr lang="en-AU" sz="2200" dirty="0"/>
              <a:t>What effects does the risk have?</a:t>
            </a:r>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a:t>
            </a:fld>
            <a:endParaRPr lang="en-US" dirty="0">
              <a:latin typeface="Helvetica" pitchFamily="34" charset="0"/>
            </a:endParaRPr>
          </a:p>
        </p:txBody>
      </p:sp>
      <p:sp>
        <p:nvSpPr>
          <p:cNvPr id="7" name="Title 1"/>
          <p:cNvSpPr>
            <a:spLocks noGrp="1"/>
          </p:cNvSpPr>
          <p:nvPr>
            <p:ph type="title"/>
          </p:nvPr>
        </p:nvSpPr>
        <p:spPr>
          <a:xfrm>
            <a:off x="611560" y="332656"/>
            <a:ext cx="7467600" cy="1143000"/>
          </a:xfrm>
        </p:spPr>
        <p:txBody>
          <a:bodyPr>
            <a:normAutofit/>
          </a:bodyPr>
          <a:lstStyle/>
          <a:p>
            <a:pPr indent="-457200"/>
            <a:r>
              <a:rPr lang="en-AU" sz="3200" b="1" dirty="0" smtClean="0">
                <a:solidFill>
                  <a:srgbClr val="FF6600"/>
                </a:solidFill>
                <a:latin typeface="Helvetica"/>
                <a:cs typeface="Helvetica"/>
              </a:rPr>
              <a:t>1.2	Identify </a:t>
            </a:r>
            <a:r>
              <a:rPr lang="en-AU" sz="3200" b="1" dirty="0">
                <a:solidFill>
                  <a:srgbClr val="FF6600"/>
                </a:solidFill>
                <a:latin typeface="Helvetica"/>
                <a:cs typeface="Helvetica"/>
              </a:rPr>
              <a:t>Operational Risk </a:t>
            </a:r>
            <a:endParaRPr lang="en-US" sz="3200" b="1" dirty="0">
              <a:solidFill>
                <a:srgbClr val="FF6600"/>
              </a:solidFill>
              <a:latin typeface="Helvetica"/>
              <a:cs typeface="Helvetica"/>
            </a:endParaRPr>
          </a:p>
        </p:txBody>
      </p:sp>
      <p:pic>
        <p:nvPicPr>
          <p:cNvPr id="10242" name="Picture 2" descr="C:\Users\danielc\AppData\Local\Microsoft\Windows\Temporary Internet Files\Content.IE5\OXJ8PWEK\high-low-no-risk[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36793" y="4005064"/>
            <a:ext cx="1588194" cy="107624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3" descr="I:\Overseas Projects\PHOTOS\2014\Shutterstock 25-a-day\shutterstock_165728654.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44208" y="2747666"/>
            <a:ext cx="1884624" cy="12573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900"/>
              </a:spcAft>
              <a:buNone/>
            </a:pPr>
            <a:r>
              <a:rPr lang="en-AU" sz="2200" dirty="0"/>
              <a:t>Identifying techniques:</a:t>
            </a:r>
          </a:p>
          <a:p>
            <a:pPr>
              <a:spcBef>
                <a:spcPts val="600"/>
              </a:spcBef>
              <a:spcAft>
                <a:spcPts val="900"/>
              </a:spcAft>
            </a:pPr>
            <a:r>
              <a:rPr lang="en-AU" sz="2200" dirty="0"/>
              <a:t>Analysing incidents</a:t>
            </a:r>
          </a:p>
          <a:p>
            <a:pPr>
              <a:spcBef>
                <a:spcPts val="600"/>
              </a:spcBef>
              <a:spcAft>
                <a:spcPts val="900"/>
              </a:spcAft>
            </a:pPr>
            <a:r>
              <a:rPr lang="en-AU" sz="2200" dirty="0"/>
              <a:t>Looking at historical data</a:t>
            </a:r>
          </a:p>
          <a:p>
            <a:pPr>
              <a:spcBef>
                <a:spcPts val="600"/>
              </a:spcBef>
              <a:spcAft>
                <a:spcPts val="900"/>
              </a:spcAft>
            </a:pPr>
            <a:r>
              <a:rPr lang="en-AU" sz="2200" dirty="0"/>
              <a:t>Using SWOT analyses</a:t>
            </a:r>
          </a:p>
          <a:p>
            <a:pPr>
              <a:spcBef>
                <a:spcPts val="600"/>
              </a:spcBef>
              <a:spcAft>
                <a:spcPts val="900"/>
              </a:spcAft>
            </a:pPr>
            <a:r>
              <a:rPr lang="en-AU" sz="2200" dirty="0"/>
              <a:t>Audits and inspections</a:t>
            </a:r>
          </a:p>
          <a:p>
            <a:pPr>
              <a:spcBef>
                <a:spcPts val="600"/>
              </a:spcBef>
              <a:spcAft>
                <a:spcPts val="900"/>
              </a:spcAft>
            </a:pPr>
            <a:r>
              <a:rPr lang="en-AU" sz="2200" dirty="0"/>
              <a:t>Surveys and questionnaires</a:t>
            </a:r>
          </a:p>
          <a:p>
            <a:pPr>
              <a:spcBef>
                <a:spcPts val="600"/>
              </a:spcBef>
              <a:spcAft>
                <a:spcPts val="900"/>
              </a:spcAft>
            </a:pPr>
            <a:r>
              <a:rPr lang="en-AU" sz="2200" dirty="0"/>
              <a:t>Reviewing legislation</a:t>
            </a:r>
          </a:p>
          <a:p>
            <a:pPr>
              <a:spcBef>
                <a:spcPts val="600"/>
              </a:spcBef>
              <a:spcAft>
                <a:spcPts val="900"/>
              </a:spcAft>
            </a:pPr>
            <a:r>
              <a:rPr lang="en-AU" sz="2200" dirty="0"/>
              <a:t>Running risk identification workshops</a:t>
            </a:r>
          </a:p>
          <a:p>
            <a:pPr>
              <a:spcBef>
                <a:spcPts val="600"/>
              </a:spcBef>
              <a:spcAft>
                <a:spcPts val="900"/>
              </a:spcAft>
            </a:pPr>
            <a:r>
              <a:rPr lang="en-AU" sz="2200" dirty="0"/>
              <a:t>Collecting best practice statistics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a:t>
            </a:fld>
            <a:endParaRPr lang="en-US" dirty="0">
              <a:latin typeface="Helvetica" pitchFamily="34" charset="0"/>
            </a:endParaRPr>
          </a:p>
        </p:txBody>
      </p:sp>
      <p:sp>
        <p:nvSpPr>
          <p:cNvPr id="7" name="Title 1"/>
          <p:cNvSpPr>
            <a:spLocks noGrp="1"/>
          </p:cNvSpPr>
          <p:nvPr>
            <p:ph type="title"/>
          </p:nvPr>
        </p:nvSpPr>
        <p:spPr>
          <a:xfrm>
            <a:off x="611560" y="332656"/>
            <a:ext cx="7467600" cy="1143000"/>
          </a:xfrm>
        </p:spPr>
        <p:txBody>
          <a:bodyPr>
            <a:normAutofit/>
          </a:bodyPr>
          <a:lstStyle/>
          <a:p>
            <a:pPr indent="-457200"/>
            <a:r>
              <a:rPr lang="en-AU" sz="3200" b="1" dirty="0" smtClean="0">
                <a:solidFill>
                  <a:srgbClr val="FF6600"/>
                </a:solidFill>
                <a:latin typeface="Helvetica"/>
                <a:cs typeface="Helvetica"/>
              </a:rPr>
              <a:t>1.2	Identify </a:t>
            </a:r>
            <a:r>
              <a:rPr lang="en-AU" sz="3200" b="1" dirty="0">
                <a:solidFill>
                  <a:srgbClr val="FF6600"/>
                </a:solidFill>
                <a:latin typeface="Helvetica"/>
                <a:cs typeface="Helvetica"/>
              </a:rPr>
              <a:t>Operational Risk </a:t>
            </a:r>
            <a:endParaRPr lang="en-US" sz="3200" b="1" dirty="0">
              <a:solidFill>
                <a:srgbClr val="FF6600"/>
              </a:solidFill>
              <a:latin typeface="Helvetica"/>
              <a:cs typeface="Helvetica"/>
            </a:endParaRPr>
          </a:p>
        </p:txBody>
      </p:sp>
      <p:pic>
        <p:nvPicPr>
          <p:cNvPr id="8" name="Picture 7" descr="I:\Overseas Projects\PHOTOS\2012\Front office 2012\shutterstock_92731135.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40152" y="2276872"/>
            <a:ext cx="2199640" cy="1917700"/>
          </a:xfrm>
          <a:prstGeom prst="rect">
            <a:avLst/>
          </a:prstGeom>
          <a:noFill/>
          <a:ln>
            <a:noFill/>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i="1" dirty="0" smtClean="0"/>
              <a:t>Activity </a:t>
            </a:r>
            <a:r>
              <a:rPr lang="en-US" sz="2200" b="1" i="1" dirty="0"/>
              <a:t>2 Consider your own </a:t>
            </a:r>
            <a:r>
              <a:rPr lang="en-US" sz="2200" b="1" i="1" dirty="0" smtClean="0"/>
              <a:t>organisation</a:t>
            </a:r>
            <a:endParaRPr lang="en-US" sz="2200" dirty="0"/>
          </a:p>
          <a:p>
            <a:pPr marL="342900" indent="-342900">
              <a:spcBef>
                <a:spcPts val="600"/>
              </a:spcBef>
              <a:spcAft>
                <a:spcPts val="1200"/>
              </a:spcAft>
            </a:pPr>
            <a:r>
              <a:rPr lang="en-US" sz="2200" dirty="0"/>
              <a:t>Identify and describe some risks</a:t>
            </a:r>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a:t>
            </a:fld>
            <a:endParaRPr lang="en-US" dirty="0">
              <a:latin typeface="Helvetica" pitchFamily="34" charset="0"/>
            </a:endParaRPr>
          </a:p>
        </p:txBody>
      </p:sp>
      <p:sp>
        <p:nvSpPr>
          <p:cNvPr id="7" name="Title 1"/>
          <p:cNvSpPr>
            <a:spLocks noGrp="1"/>
          </p:cNvSpPr>
          <p:nvPr>
            <p:ph type="title"/>
          </p:nvPr>
        </p:nvSpPr>
        <p:spPr>
          <a:xfrm>
            <a:off x="611560" y="332656"/>
            <a:ext cx="7467600" cy="1143000"/>
          </a:xfrm>
        </p:spPr>
        <p:txBody>
          <a:bodyPr>
            <a:normAutofit/>
          </a:bodyPr>
          <a:lstStyle/>
          <a:p>
            <a:pPr indent="-457200"/>
            <a:r>
              <a:rPr lang="en-AU" sz="3200" b="1" dirty="0" smtClean="0">
                <a:solidFill>
                  <a:srgbClr val="FF6600"/>
                </a:solidFill>
                <a:latin typeface="Helvetica"/>
                <a:cs typeface="Helvetica"/>
              </a:rPr>
              <a:t>1.2	Identify </a:t>
            </a:r>
            <a:r>
              <a:rPr lang="en-AU" sz="3200" b="1" dirty="0">
                <a:solidFill>
                  <a:srgbClr val="FF6600"/>
                </a:solidFill>
                <a:latin typeface="Helvetica"/>
                <a:cs typeface="Helvetica"/>
              </a:rPr>
              <a:t>Operational Risk </a:t>
            </a:r>
            <a:endParaRPr lang="en-US" sz="3200" b="1" dirty="0">
              <a:solidFill>
                <a:srgbClr val="FF6600"/>
              </a:solidFill>
              <a:latin typeface="Helvetica"/>
              <a:cs typeface="Helvetica"/>
            </a:endParaRPr>
          </a:p>
        </p:txBody>
      </p:sp>
      <p:pic>
        <p:nvPicPr>
          <p:cNvPr id="8" name="Picture 7" descr="user_edit"/>
          <p:cNvPicPr/>
          <p:nvPr/>
        </p:nvPicPr>
        <p:blipFill>
          <a:blip r:embed="rId3" cstate="print"/>
          <a:srcRect/>
          <a:stretch>
            <a:fillRect/>
          </a:stretch>
        </p:blipFill>
        <p:spPr bwMode="auto">
          <a:xfrm>
            <a:off x="6804248" y="1628800"/>
            <a:ext cx="1095236" cy="1095236"/>
          </a:xfrm>
          <a:prstGeom prst="rect">
            <a:avLst/>
          </a:prstGeom>
          <a:noFill/>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indent="-457200"/>
            <a:r>
              <a:rPr lang="en-AU" sz="3200" b="1" dirty="0" smtClean="0">
                <a:solidFill>
                  <a:srgbClr val="FF6600"/>
                </a:solidFill>
                <a:latin typeface="Helvetica"/>
                <a:cs typeface="Helvetica"/>
              </a:rPr>
              <a:t>1.3	Assess </a:t>
            </a:r>
            <a:r>
              <a:rPr lang="en-AU" sz="3200" b="1" dirty="0">
                <a:solidFill>
                  <a:srgbClr val="FF6600"/>
                </a:solidFill>
                <a:latin typeface="Helvetica"/>
                <a:cs typeface="Helvetica"/>
              </a:rPr>
              <a:t>Operational Risk</a:t>
            </a:r>
            <a:endParaRPr lang="en-US" sz="3200" b="1" dirty="0">
              <a:solidFill>
                <a:srgbClr val="FF6600"/>
              </a:solidFill>
              <a:latin typeface="Helvetica"/>
              <a:cs typeface="Helvetica"/>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dirty="0"/>
              <a:t>Once risk has been identified, its nature needs to be assessed. What is the likelihood of risk?</a:t>
            </a:r>
          </a:p>
          <a:p>
            <a:pPr>
              <a:spcBef>
                <a:spcPts val="600"/>
              </a:spcBef>
              <a:spcAft>
                <a:spcPts val="1200"/>
              </a:spcAft>
            </a:pPr>
            <a:r>
              <a:rPr lang="en-AU" sz="2200" dirty="0"/>
              <a:t>Almost certain – denotes 80% probability</a:t>
            </a:r>
          </a:p>
          <a:p>
            <a:pPr>
              <a:spcBef>
                <a:spcPts val="600"/>
              </a:spcBef>
              <a:spcAft>
                <a:spcPts val="1200"/>
              </a:spcAft>
            </a:pPr>
            <a:r>
              <a:rPr lang="en-AU" sz="2200" dirty="0"/>
              <a:t>Likely – denotes &gt;50% probability </a:t>
            </a:r>
          </a:p>
          <a:p>
            <a:pPr>
              <a:spcBef>
                <a:spcPts val="600"/>
              </a:spcBef>
              <a:spcAft>
                <a:spcPts val="1200"/>
              </a:spcAft>
            </a:pPr>
            <a:r>
              <a:rPr lang="en-AU" sz="2200" dirty="0"/>
              <a:t>Possible - denotes a &gt;20% probability </a:t>
            </a:r>
          </a:p>
          <a:p>
            <a:pPr>
              <a:spcBef>
                <a:spcPts val="600"/>
              </a:spcBef>
              <a:spcAft>
                <a:spcPts val="1200"/>
              </a:spcAft>
            </a:pPr>
            <a:r>
              <a:rPr lang="en-AU" sz="2200" dirty="0"/>
              <a:t>Unlikely - denotes a &gt;10% probability </a:t>
            </a:r>
          </a:p>
          <a:p>
            <a:pPr>
              <a:spcBef>
                <a:spcPts val="600"/>
              </a:spcBef>
              <a:spcAft>
                <a:spcPts val="1200"/>
              </a:spcAft>
            </a:pPr>
            <a:r>
              <a:rPr lang="en-AU" sz="2200" dirty="0"/>
              <a:t>Rare - denotes a 1% probability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a:t>
            </a:fld>
            <a:endParaRPr lang="en-US" dirty="0">
              <a:latin typeface="Helvetica" pitchFamily="34" charset="0"/>
            </a:endParaRPr>
          </a:p>
        </p:txBody>
      </p:sp>
      <p:pic>
        <p:nvPicPr>
          <p:cNvPr id="7" name="Picture 6" descr="I:\Overseas Projects\PHOTOS\2011\iStock_walkie talkie.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88224" y="2708920"/>
            <a:ext cx="1740411" cy="1160274"/>
          </a:xfrm>
          <a:prstGeom prst="rect">
            <a:avLst/>
          </a:prstGeom>
          <a:noFill/>
          <a:ln>
            <a:noFill/>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200" b="1" dirty="0" smtClean="0">
                <a:solidFill>
                  <a:srgbClr val="FF6600"/>
                </a:solidFill>
                <a:latin typeface="Helvetica"/>
                <a:cs typeface="Helvetica"/>
              </a:rPr>
              <a:t>1.3	Assess </a:t>
            </a:r>
            <a:r>
              <a:rPr lang="en-AU" sz="3200" b="1" dirty="0">
                <a:solidFill>
                  <a:srgbClr val="FF6600"/>
                </a:solidFill>
                <a:latin typeface="Helvetica"/>
                <a:cs typeface="Helvetica"/>
              </a:rPr>
              <a:t>Operational Risk</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120680" cy="4525963"/>
          </a:xfrm>
        </p:spPr>
        <p:txBody>
          <a:bodyPr>
            <a:normAutofit/>
          </a:bodyPr>
          <a:lstStyle/>
          <a:p>
            <a:pPr marL="0" indent="0">
              <a:spcBef>
                <a:spcPts val="600"/>
              </a:spcBef>
              <a:spcAft>
                <a:spcPts val="1200"/>
              </a:spcAft>
              <a:buNone/>
            </a:pPr>
            <a:r>
              <a:rPr lang="en-AU" sz="2200" dirty="0"/>
              <a:t>What are the consequences of risk?</a:t>
            </a:r>
          </a:p>
          <a:p>
            <a:pPr>
              <a:spcBef>
                <a:spcPts val="600"/>
              </a:spcBef>
              <a:spcAft>
                <a:spcPts val="1200"/>
              </a:spcAft>
            </a:pPr>
            <a:r>
              <a:rPr lang="en-AU" sz="2200" dirty="0"/>
              <a:t>Death or permanent disability</a:t>
            </a:r>
          </a:p>
          <a:p>
            <a:pPr>
              <a:spcBef>
                <a:spcPts val="600"/>
              </a:spcBef>
              <a:spcAft>
                <a:spcPts val="1200"/>
              </a:spcAft>
            </a:pPr>
            <a:r>
              <a:rPr lang="en-AU" sz="2200" dirty="0"/>
              <a:t>Very serious injury or long term illness requiring specialist treatment or hospitalisation</a:t>
            </a:r>
          </a:p>
          <a:p>
            <a:pPr>
              <a:spcBef>
                <a:spcPts val="600"/>
              </a:spcBef>
              <a:spcAft>
                <a:spcPts val="1200"/>
              </a:spcAft>
            </a:pPr>
            <a:r>
              <a:rPr lang="en-AU" sz="2200" dirty="0"/>
              <a:t>Medical attention and several days of work</a:t>
            </a:r>
          </a:p>
          <a:p>
            <a:pPr>
              <a:spcBef>
                <a:spcPts val="600"/>
              </a:spcBef>
              <a:spcAft>
                <a:spcPts val="1200"/>
              </a:spcAft>
            </a:pPr>
            <a:r>
              <a:rPr lang="en-AU" sz="2200" dirty="0"/>
              <a:t>Minor injury requiring first aid but no time off work</a:t>
            </a:r>
          </a:p>
          <a:p>
            <a:pPr>
              <a:spcBef>
                <a:spcPts val="600"/>
              </a:spcBef>
              <a:spcAft>
                <a:spcPts val="1200"/>
              </a:spcAft>
            </a:pPr>
            <a:r>
              <a:rPr lang="en-AU" sz="2200" dirty="0"/>
              <a:t>Insignificant so no treatment required</a:t>
            </a:r>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a:t>
            </a:fld>
            <a:endParaRPr lang="en-US" dirty="0">
              <a:latin typeface="Helvetica" pitchFamily="34" charset="0"/>
            </a:endParaRPr>
          </a:p>
        </p:txBody>
      </p:sp>
      <p:pic>
        <p:nvPicPr>
          <p:cNvPr id="6" name="Picture 5" descr="I:\Overseas Projects\PHOTOS\2011\Third degree burns.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20272" y="2636912"/>
            <a:ext cx="1917700" cy="1269365"/>
          </a:xfrm>
          <a:prstGeom prst="rect">
            <a:avLst/>
          </a:prstGeom>
          <a:noFill/>
          <a:ln>
            <a:noFill/>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467600" cy="4525963"/>
          </a:xfrm>
        </p:spPr>
        <p:txBody>
          <a:bodyPr>
            <a:normAutofit/>
          </a:bodyPr>
          <a:lstStyle/>
          <a:p>
            <a:pPr algn="ctr">
              <a:buNone/>
            </a:pPr>
            <a:endParaRPr lang="en-AU" sz="2400" b="1" dirty="0" smtClean="0"/>
          </a:p>
          <a:p>
            <a:pPr algn="ctr">
              <a:buNone/>
            </a:pPr>
            <a:endParaRPr lang="en-AU" sz="2400" b="1" dirty="0" smtClean="0"/>
          </a:p>
          <a:p>
            <a:pPr algn="ctr">
              <a:buNone/>
            </a:pPr>
            <a:r>
              <a:rPr lang="en-AU" sz="2400" b="1" dirty="0" smtClean="0"/>
              <a:t>The </a:t>
            </a:r>
            <a:r>
              <a:rPr lang="en-AU" sz="2400" b="1" dirty="0"/>
              <a:t>Risk Equation              </a:t>
            </a:r>
          </a:p>
          <a:p>
            <a:pPr>
              <a:buNone/>
            </a:pPr>
            <a:endParaRPr lang="en-AU" sz="2400" dirty="0"/>
          </a:p>
          <a:p>
            <a:pPr algn="ctr">
              <a:buNone/>
            </a:pPr>
            <a:r>
              <a:rPr lang="en-AU" sz="2400" dirty="0"/>
              <a:t>Risk = Consequence + Likelihood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a:t>
            </a:fld>
            <a:endParaRPr lang="en-US" dirty="0">
              <a:latin typeface="Helvetica" pitchFamily="34" charset="0"/>
            </a:endParaRPr>
          </a:p>
        </p:txBody>
      </p:sp>
      <p:sp>
        <p:nvSpPr>
          <p:cNvPr id="7" name="Title 1"/>
          <p:cNvSpPr>
            <a:spLocks noGrp="1"/>
          </p:cNvSpPr>
          <p:nvPr>
            <p:ph type="title"/>
          </p:nvPr>
        </p:nvSpPr>
        <p:spPr>
          <a:xfrm>
            <a:off x="611560" y="332656"/>
            <a:ext cx="7467600" cy="1143000"/>
          </a:xfrm>
        </p:spPr>
        <p:txBody>
          <a:bodyPr>
            <a:normAutofit/>
          </a:bodyPr>
          <a:lstStyle/>
          <a:p>
            <a:pPr indent="-457200"/>
            <a:r>
              <a:rPr lang="en-AU" sz="3200" b="1" dirty="0" smtClean="0">
                <a:solidFill>
                  <a:srgbClr val="FF6600"/>
                </a:solidFill>
                <a:latin typeface="Helvetica"/>
                <a:cs typeface="Helvetica"/>
              </a:rPr>
              <a:t>1.3	Assess </a:t>
            </a:r>
            <a:r>
              <a:rPr lang="en-AU" sz="3200" b="1" dirty="0">
                <a:solidFill>
                  <a:srgbClr val="FF6600"/>
                </a:solidFill>
                <a:latin typeface="Helvetica"/>
                <a:cs typeface="Helvetica"/>
              </a:rPr>
              <a:t>Operational Risk</a:t>
            </a:r>
            <a:endParaRPr lang="en-US" sz="3200" b="1" dirty="0">
              <a:solidFill>
                <a:srgbClr val="FF6600"/>
              </a:solidFill>
              <a:latin typeface="Helvetica"/>
              <a:cs typeface="Helvetica"/>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24</a:t>
            </a:fld>
            <a:endParaRPr lang="en-US" dirty="0">
              <a:latin typeface="Helvetica" pitchFamily="34" charset="0"/>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3218392960"/>
              </p:ext>
            </p:extLst>
          </p:nvPr>
        </p:nvGraphicFramePr>
        <p:xfrm>
          <a:off x="611560" y="1438254"/>
          <a:ext cx="7217296" cy="3574922"/>
        </p:xfrm>
        <a:graphic>
          <a:graphicData uri="http://schemas.openxmlformats.org/presentationml/2006/ole">
            <mc:AlternateContent xmlns:mc="http://schemas.openxmlformats.org/markup-compatibility/2006">
              <mc:Choice xmlns:v="urn:schemas-microsoft-com:vml" Requires="v">
                <p:oleObj spid="_x0000_s1085" name="Document" r:id="rId5" imgW="5702090" imgH="3416174" progId="Word.Document.12">
                  <p:embed/>
                </p:oleObj>
              </mc:Choice>
              <mc:Fallback>
                <p:oleObj name="Document" r:id="rId5" imgW="5702090" imgH="3416174" progId="Word.Document.12">
                  <p:embed/>
                  <p:pic>
                    <p:nvPicPr>
                      <p:cNvPr id="0" name="Picture 6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560" y="1438254"/>
                        <a:ext cx="7217296" cy="35749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6"/>
          <p:cNvSpPr/>
          <p:nvPr/>
        </p:nvSpPr>
        <p:spPr>
          <a:xfrm>
            <a:off x="683568" y="4941168"/>
            <a:ext cx="7056784" cy="1800200"/>
          </a:xfrm>
          <a:prstGeom prst="rect">
            <a:avLst/>
          </a:prstGeom>
          <a:solidFill>
            <a:schemeClr val="accent6">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200"/>
              </a:spcBef>
              <a:spcAft>
                <a:spcPts val="200"/>
              </a:spcAft>
            </a:pPr>
            <a:r>
              <a:rPr lang="en-US" sz="1600" b="1" dirty="0" smtClean="0">
                <a:solidFill>
                  <a:schemeClr val="tx1"/>
                </a:solidFill>
                <a:latin typeface="Helvetica" pitchFamily="34" charset="0"/>
              </a:rPr>
              <a:t>Action</a:t>
            </a:r>
          </a:p>
          <a:p>
            <a:pPr marL="285750" indent="-285750">
              <a:spcBef>
                <a:spcPts val="200"/>
              </a:spcBef>
              <a:spcAft>
                <a:spcPts val="200"/>
              </a:spcAft>
              <a:buFont typeface="Arial" pitchFamily="34" charset="0"/>
              <a:buChar char="•"/>
            </a:pPr>
            <a:r>
              <a:rPr lang="en-US" sz="1600" dirty="0" smtClean="0">
                <a:solidFill>
                  <a:schemeClr val="tx1"/>
                </a:solidFill>
                <a:latin typeface="Helvetica" pitchFamily="34" charset="0"/>
              </a:rPr>
              <a:t>If rated 1, 2 or 3 (red – high risk) you must consider alternatives to doing the action.  Controls will need to be in place to ensure safety</a:t>
            </a:r>
          </a:p>
          <a:p>
            <a:pPr marL="285750" indent="-285750">
              <a:spcBef>
                <a:spcPts val="200"/>
              </a:spcBef>
              <a:spcAft>
                <a:spcPts val="200"/>
              </a:spcAft>
              <a:buFont typeface="Arial" pitchFamily="34" charset="0"/>
              <a:buChar char="•"/>
            </a:pPr>
            <a:r>
              <a:rPr lang="en-US" sz="1600" dirty="0" smtClean="0">
                <a:solidFill>
                  <a:schemeClr val="tx1"/>
                </a:solidFill>
                <a:latin typeface="Helvetica" pitchFamily="34" charset="0"/>
              </a:rPr>
              <a:t>If rated 4 (orange – medium risk) additional controls may be needed to undertake the task safely</a:t>
            </a:r>
          </a:p>
          <a:p>
            <a:pPr marL="285750" indent="-285750">
              <a:spcBef>
                <a:spcPts val="200"/>
              </a:spcBef>
              <a:spcAft>
                <a:spcPts val="200"/>
              </a:spcAft>
              <a:buFont typeface="Arial" pitchFamily="34" charset="0"/>
              <a:buChar char="•"/>
            </a:pPr>
            <a:r>
              <a:rPr lang="en-US" sz="1600" dirty="0" smtClean="0">
                <a:solidFill>
                  <a:schemeClr val="tx1"/>
                </a:solidFill>
                <a:latin typeface="Helvetica" pitchFamily="34" charset="0"/>
              </a:rPr>
              <a:t>If rated 5, 6, 7 or 8 </a:t>
            </a:r>
            <a:r>
              <a:rPr lang="en-US" sz="1600" dirty="0">
                <a:solidFill>
                  <a:schemeClr val="tx1"/>
                </a:solidFill>
                <a:latin typeface="Helvetica" pitchFamily="34" charset="0"/>
              </a:rPr>
              <a:t>(</a:t>
            </a:r>
            <a:r>
              <a:rPr lang="en-US" sz="1600" dirty="0" smtClean="0">
                <a:solidFill>
                  <a:schemeClr val="tx1"/>
                </a:solidFill>
                <a:latin typeface="Helvetica" pitchFamily="34" charset="0"/>
              </a:rPr>
              <a:t>yellow – low risk) it is okay to undertake the tasks safely with the existing controls in place</a:t>
            </a:r>
            <a:endParaRPr lang="en-US" sz="1600" dirty="0">
              <a:solidFill>
                <a:schemeClr val="tx1"/>
              </a:solidFill>
              <a:latin typeface="Helvetica" pitchFamily="34" charset="0"/>
            </a:endParaRPr>
          </a:p>
        </p:txBody>
      </p:sp>
      <p:sp>
        <p:nvSpPr>
          <p:cNvPr id="8" name="Title 1"/>
          <p:cNvSpPr>
            <a:spLocks noGrp="1"/>
          </p:cNvSpPr>
          <p:nvPr>
            <p:ph type="title"/>
          </p:nvPr>
        </p:nvSpPr>
        <p:spPr>
          <a:xfrm>
            <a:off x="611560" y="332656"/>
            <a:ext cx="7467600" cy="1143000"/>
          </a:xfrm>
        </p:spPr>
        <p:txBody>
          <a:bodyPr>
            <a:normAutofit/>
          </a:bodyPr>
          <a:lstStyle/>
          <a:p>
            <a:pPr indent="-457200"/>
            <a:r>
              <a:rPr lang="en-AU" sz="3200" b="1" dirty="0" smtClean="0">
                <a:solidFill>
                  <a:srgbClr val="FF6600"/>
                </a:solidFill>
                <a:latin typeface="Helvetica"/>
                <a:cs typeface="Helvetica"/>
              </a:rPr>
              <a:t>1.3	Assess </a:t>
            </a:r>
            <a:r>
              <a:rPr lang="en-AU" sz="3200" b="1" dirty="0">
                <a:solidFill>
                  <a:srgbClr val="FF6600"/>
                </a:solidFill>
                <a:latin typeface="Helvetica"/>
                <a:cs typeface="Helvetica"/>
              </a:rPr>
              <a:t>Operational Risk</a:t>
            </a:r>
            <a:endParaRPr lang="en-US" sz="3200" b="1" dirty="0">
              <a:solidFill>
                <a:srgbClr val="FF6600"/>
              </a:solidFill>
              <a:latin typeface="Helvetica"/>
              <a:cs typeface="Helvetica"/>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dirty="0" smtClean="0"/>
              <a:t>Risk exposure:</a:t>
            </a:r>
            <a:endParaRPr lang="en-AU" sz="2200" dirty="0"/>
          </a:p>
          <a:p>
            <a:pPr>
              <a:spcBef>
                <a:spcPts val="600"/>
              </a:spcBef>
              <a:spcAft>
                <a:spcPts val="1200"/>
              </a:spcAft>
            </a:pPr>
            <a:r>
              <a:rPr lang="en-AU" sz="2200" dirty="0"/>
              <a:t>Legal </a:t>
            </a:r>
          </a:p>
          <a:p>
            <a:pPr>
              <a:spcBef>
                <a:spcPts val="600"/>
              </a:spcBef>
              <a:spcAft>
                <a:spcPts val="1200"/>
              </a:spcAft>
            </a:pPr>
            <a:r>
              <a:rPr lang="en-AU" sz="2200" dirty="0"/>
              <a:t>Material </a:t>
            </a:r>
          </a:p>
          <a:p>
            <a:pPr>
              <a:spcBef>
                <a:spcPts val="600"/>
              </a:spcBef>
              <a:spcAft>
                <a:spcPts val="1200"/>
              </a:spcAft>
            </a:pPr>
            <a:r>
              <a:rPr lang="en-AU" sz="2200" dirty="0"/>
              <a:t>Financial</a:t>
            </a:r>
          </a:p>
          <a:p>
            <a:pPr marL="0" indent="0" algn="ctr">
              <a:spcBef>
                <a:spcPts val="600"/>
              </a:spcBef>
              <a:spcAft>
                <a:spcPts val="1200"/>
              </a:spcAft>
              <a:buNone/>
            </a:pPr>
            <a:r>
              <a:rPr lang="en-AU" sz="2200" b="1" dirty="0" smtClean="0"/>
              <a:t>Should </a:t>
            </a:r>
            <a:r>
              <a:rPr lang="en-AU" sz="2200" b="1" dirty="0"/>
              <a:t>the risk be addressed? </a:t>
            </a:r>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25</a:t>
            </a:fld>
            <a:endParaRPr lang="en-US" dirty="0">
              <a:latin typeface="Helvetica" pitchFamily="34" charset="0"/>
            </a:endParaRPr>
          </a:p>
        </p:txBody>
      </p:sp>
      <p:sp>
        <p:nvSpPr>
          <p:cNvPr id="7" name="Title 1"/>
          <p:cNvSpPr>
            <a:spLocks noGrp="1"/>
          </p:cNvSpPr>
          <p:nvPr>
            <p:ph type="title"/>
          </p:nvPr>
        </p:nvSpPr>
        <p:spPr>
          <a:xfrm>
            <a:off x="611560" y="332656"/>
            <a:ext cx="7467600" cy="1143000"/>
          </a:xfrm>
        </p:spPr>
        <p:txBody>
          <a:bodyPr>
            <a:normAutofit/>
          </a:bodyPr>
          <a:lstStyle/>
          <a:p>
            <a:pPr indent="-457200"/>
            <a:r>
              <a:rPr lang="en-AU" sz="3200" b="1" dirty="0" smtClean="0">
                <a:solidFill>
                  <a:srgbClr val="FF6600"/>
                </a:solidFill>
                <a:latin typeface="Helvetica"/>
                <a:cs typeface="Helvetica"/>
              </a:rPr>
              <a:t>1.3	Assess </a:t>
            </a:r>
            <a:r>
              <a:rPr lang="en-AU" sz="3200" b="1" dirty="0">
                <a:solidFill>
                  <a:srgbClr val="FF6600"/>
                </a:solidFill>
                <a:latin typeface="Helvetica"/>
                <a:cs typeface="Helvetica"/>
              </a:rPr>
              <a:t>Operational Risk</a:t>
            </a:r>
            <a:endParaRPr lang="en-US" sz="3200" b="1" dirty="0">
              <a:solidFill>
                <a:srgbClr val="FF6600"/>
              </a:solidFill>
              <a:latin typeface="Helvetica"/>
              <a:cs typeface="Helvetica"/>
            </a:endParaRPr>
          </a:p>
        </p:txBody>
      </p:sp>
      <p:pic>
        <p:nvPicPr>
          <p:cNvPr id="11267" name="Picture 3" descr="I:\Overseas Projects\PHOTOS\2014\Shutterstock 25-a-day\shutterstock_18170216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48063" y="1700808"/>
            <a:ext cx="2184123" cy="197026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639341"/>
            <a:ext cx="7467600" cy="4525963"/>
          </a:xfrm>
        </p:spPr>
        <p:txBody>
          <a:bodyPr>
            <a:normAutofit/>
          </a:bodyPr>
          <a:lstStyle/>
          <a:p>
            <a:pPr marL="342900" indent="-453600">
              <a:spcBef>
                <a:spcPts val="600"/>
              </a:spcBef>
              <a:spcAft>
                <a:spcPts val="1200"/>
              </a:spcAft>
            </a:pPr>
            <a:r>
              <a:rPr lang="en-US" sz="2200" dirty="0" smtClean="0"/>
              <a:t>What </a:t>
            </a:r>
            <a:r>
              <a:rPr lang="en-US" sz="2200" dirty="0"/>
              <a:t>is risk sharing</a:t>
            </a:r>
            <a:r>
              <a:rPr lang="en-US" sz="2200" dirty="0" smtClean="0"/>
              <a:t>?</a:t>
            </a:r>
          </a:p>
          <a:p>
            <a:pPr marL="342900" indent="-453600">
              <a:spcBef>
                <a:spcPts val="600"/>
              </a:spcBef>
              <a:spcAft>
                <a:spcPts val="1200"/>
              </a:spcAft>
            </a:pPr>
            <a:r>
              <a:rPr lang="en-US" sz="2200" dirty="0" smtClean="0"/>
              <a:t>Why </a:t>
            </a:r>
            <a:r>
              <a:rPr lang="en-US" sz="2200" dirty="0"/>
              <a:t>would a business do this</a:t>
            </a:r>
            <a:r>
              <a:rPr lang="en-US" sz="2200" dirty="0" smtClean="0"/>
              <a:t>?</a:t>
            </a:r>
            <a:endParaRPr lang="en-US" sz="22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26</a:t>
            </a:fld>
            <a:endParaRPr lang="en-US" dirty="0">
              <a:latin typeface="Helvetica" pitchFamily="34" charset="0"/>
            </a:endParaRPr>
          </a:p>
        </p:txBody>
      </p:sp>
      <p:sp>
        <p:nvSpPr>
          <p:cNvPr id="7" name="Title 1"/>
          <p:cNvSpPr>
            <a:spLocks noGrp="1"/>
          </p:cNvSpPr>
          <p:nvPr>
            <p:ph type="title"/>
          </p:nvPr>
        </p:nvSpPr>
        <p:spPr>
          <a:xfrm>
            <a:off x="611560" y="332656"/>
            <a:ext cx="7467600" cy="1143000"/>
          </a:xfrm>
        </p:spPr>
        <p:txBody>
          <a:bodyPr>
            <a:normAutofit/>
          </a:bodyPr>
          <a:lstStyle/>
          <a:p>
            <a:pPr indent="-457200"/>
            <a:r>
              <a:rPr lang="en-AU" sz="3200" b="1" dirty="0" smtClean="0">
                <a:solidFill>
                  <a:srgbClr val="FF6600"/>
                </a:solidFill>
                <a:latin typeface="Helvetica"/>
                <a:cs typeface="Helvetica"/>
              </a:rPr>
              <a:t>1.3	Assess </a:t>
            </a:r>
            <a:r>
              <a:rPr lang="en-AU" sz="3200" b="1" dirty="0">
                <a:solidFill>
                  <a:srgbClr val="FF6600"/>
                </a:solidFill>
                <a:latin typeface="Helvetica"/>
                <a:cs typeface="Helvetica"/>
              </a:rPr>
              <a:t>Operational Risk</a:t>
            </a:r>
            <a:endParaRPr lang="en-US" sz="3200" b="1" dirty="0">
              <a:solidFill>
                <a:srgbClr val="FF6600"/>
              </a:solidFill>
              <a:latin typeface="Helvetica"/>
              <a:cs typeface="Helvetica"/>
            </a:endParaRPr>
          </a:p>
        </p:txBody>
      </p:sp>
      <p:pic>
        <p:nvPicPr>
          <p:cNvPr id="8" name="Picture 7" descr="I:\Overseas Projects\PHOTOS\2014\Shutterstock 25-a-day\shutterstock_184389518.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68143" y="1556792"/>
            <a:ext cx="2140585" cy="1426845"/>
          </a:xfrm>
          <a:prstGeom prst="rect">
            <a:avLst/>
          </a:prstGeom>
          <a:noFill/>
          <a:ln>
            <a:noFill/>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5740557" cy="4525963"/>
          </a:xfrm>
        </p:spPr>
        <p:txBody>
          <a:bodyPr>
            <a:normAutofit/>
          </a:bodyPr>
          <a:lstStyle/>
          <a:p>
            <a:pPr marL="0" indent="0">
              <a:spcBef>
                <a:spcPts val="600"/>
              </a:spcBef>
              <a:spcAft>
                <a:spcPts val="1200"/>
              </a:spcAft>
              <a:buNone/>
            </a:pPr>
            <a:r>
              <a:rPr lang="en-AU" sz="2200" dirty="0"/>
              <a:t>Risk control </a:t>
            </a:r>
            <a:r>
              <a:rPr lang="en-AU" sz="2200" dirty="0" smtClean="0"/>
              <a:t>options:</a:t>
            </a:r>
            <a:endParaRPr lang="en-AU" sz="2200" dirty="0"/>
          </a:p>
          <a:p>
            <a:pPr>
              <a:spcBef>
                <a:spcPts val="600"/>
              </a:spcBef>
              <a:spcAft>
                <a:spcPts val="1200"/>
              </a:spcAft>
            </a:pPr>
            <a:r>
              <a:rPr lang="en-AU" sz="2200" dirty="0"/>
              <a:t>Avoidance – don’t involve the business in certain high risk areas</a:t>
            </a:r>
          </a:p>
          <a:p>
            <a:pPr>
              <a:spcBef>
                <a:spcPts val="600"/>
              </a:spcBef>
              <a:spcAft>
                <a:spcPts val="1200"/>
              </a:spcAft>
            </a:pPr>
            <a:r>
              <a:rPr lang="en-AU" sz="2200" dirty="0"/>
              <a:t>Reduction – use the risk control hierarchy to reduce likelihood of risk</a:t>
            </a:r>
          </a:p>
          <a:p>
            <a:pPr>
              <a:spcBef>
                <a:spcPts val="600"/>
              </a:spcBef>
              <a:spcAft>
                <a:spcPts val="1200"/>
              </a:spcAft>
            </a:pPr>
            <a:r>
              <a:rPr lang="en-AU" sz="2200" dirty="0"/>
              <a:t>Retention – accept the risk and be prepared to absorb its costs if realised</a:t>
            </a:r>
          </a:p>
          <a:p>
            <a:pPr>
              <a:spcBef>
                <a:spcPts val="600"/>
              </a:spcBef>
              <a:spcAft>
                <a:spcPts val="1200"/>
              </a:spcAft>
            </a:pPr>
            <a:r>
              <a:rPr lang="en-AU" sz="2200" dirty="0"/>
              <a:t>Sharing – use insurance or third parties to spread the costs of risk control</a:t>
            </a:r>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27</a:t>
            </a:fld>
            <a:endParaRPr lang="en-US" dirty="0">
              <a:latin typeface="Helvetica" pitchFamily="34" charset="0"/>
            </a:endParaRPr>
          </a:p>
        </p:txBody>
      </p:sp>
      <p:sp>
        <p:nvSpPr>
          <p:cNvPr id="7" name="Title 1"/>
          <p:cNvSpPr>
            <a:spLocks noGrp="1"/>
          </p:cNvSpPr>
          <p:nvPr>
            <p:ph type="title"/>
          </p:nvPr>
        </p:nvSpPr>
        <p:spPr>
          <a:xfrm>
            <a:off x="611560" y="332656"/>
            <a:ext cx="7467600" cy="1143000"/>
          </a:xfrm>
        </p:spPr>
        <p:txBody>
          <a:bodyPr>
            <a:normAutofit/>
          </a:bodyPr>
          <a:lstStyle/>
          <a:p>
            <a:pPr indent="-457200"/>
            <a:r>
              <a:rPr lang="en-AU" sz="3200" b="1" dirty="0" smtClean="0">
                <a:solidFill>
                  <a:srgbClr val="FF6600"/>
                </a:solidFill>
                <a:latin typeface="Helvetica"/>
                <a:cs typeface="Helvetica"/>
              </a:rPr>
              <a:t>1.3	Assess </a:t>
            </a:r>
            <a:r>
              <a:rPr lang="en-AU" sz="3200" b="1" dirty="0">
                <a:solidFill>
                  <a:srgbClr val="FF6600"/>
                </a:solidFill>
                <a:latin typeface="Helvetica"/>
                <a:cs typeface="Helvetica"/>
              </a:rPr>
              <a:t>Operational Risk</a:t>
            </a:r>
            <a:endParaRPr lang="en-US" sz="3200" b="1" dirty="0">
              <a:solidFill>
                <a:srgbClr val="FF6600"/>
              </a:solidFill>
              <a:latin typeface="Helvetica"/>
              <a:cs typeface="Helvetica"/>
            </a:endParaRPr>
          </a:p>
        </p:txBody>
      </p:sp>
      <p:pic>
        <p:nvPicPr>
          <p:cNvPr id="12290" name="Picture 2" descr="C:\Users\danielc\AppData\Local\Microsoft\Windows\Temporary Internet Files\Content.IE5\LGZL5L44\risk-reducer[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82630" y="2780928"/>
            <a:ext cx="2760232" cy="13801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200" b="1" dirty="0" smtClean="0">
                <a:solidFill>
                  <a:srgbClr val="FF6600"/>
                </a:solidFill>
                <a:latin typeface="Helvetica"/>
                <a:cs typeface="Helvetica"/>
              </a:rPr>
              <a:t>1.3	Assess </a:t>
            </a:r>
            <a:r>
              <a:rPr lang="en-AU" sz="3200" b="1" dirty="0">
                <a:solidFill>
                  <a:srgbClr val="FF6600"/>
                </a:solidFill>
                <a:latin typeface="Helvetica"/>
                <a:cs typeface="Helvetica"/>
              </a:rPr>
              <a:t>Operational Risk</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467544" y="1639341"/>
            <a:ext cx="7467600" cy="4525963"/>
          </a:xfrm>
        </p:spPr>
        <p:txBody>
          <a:bodyPr>
            <a:normAutofit/>
          </a:bodyPr>
          <a:lstStyle/>
          <a:p>
            <a:pPr marL="36576" indent="0">
              <a:spcBef>
                <a:spcPts val="600"/>
              </a:spcBef>
              <a:spcAft>
                <a:spcPts val="1200"/>
              </a:spcAft>
              <a:buNone/>
            </a:pPr>
            <a:r>
              <a:rPr lang="en-AU" sz="2400" b="1" i="1" dirty="0" smtClean="0"/>
              <a:t>Activity </a:t>
            </a:r>
            <a:r>
              <a:rPr lang="en-AU" sz="2400" b="1" i="1" dirty="0"/>
              <a:t>3 Using the Risk </a:t>
            </a:r>
            <a:r>
              <a:rPr lang="en-AU" sz="2400" b="1" i="1" dirty="0" smtClean="0"/>
              <a:t>Matrix</a:t>
            </a:r>
            <a:endParaRPr lang="en-AU" sz="2400" dirty="0"/>
          </a:p>
          <a:p>
            <a:pPr>
              <a:spcBef>
                <a:spcPts val="600"/>
              </a:spcBef>
              <a:spcAft>
                <a:spcPts val="1200"/>
              </a:spcAft>
            </a:pPr>
            <a:r>
              <a:rPr lang="en-AU" sz="2400" dirty="0"/>
              <a:t>What action should you take regarding a risk </a:t>
            </a:r>
            <a:r>
              <a:rPr lang="en-AU" sz="2400" dirty="0" smtClean="0"/>
              <a:t>in your </a:t>
            </a:r>
            <a:r>
              <a:rPr lang="en-AU" sz="2400" dirty="0"/>
              <a:t>workplace? </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28</a:t>
            </a:fld>
            <a:endParaRPr lang="en-US" dirty="0">
              <a:latin typeface="Helvetica" pitchFamily="34" charset="0"/>
            </a:endParaRPr>
          </a:p>
        </p:txBody>
      </p:sp>
      <p:pic>
        <p:nvPicPr>
          <p:cNvPr id="6" name="Picture 5" descr="user_edit"/>
          <p:cNvPicPr/>
          <p:nvPr/>
        </p:nvPicPr>
        <p:blipFill>
          <a:blip r:embed="rId3" cstate="print"/>
          <a:srcRect/>
          <a:stretch>
            <a:fillRect/>
          </a:stretch>
        </p:blipFill>
        <p:spPr bwMode="auto">
          <a:xfrm>
            <a:off x="6372200" y="3009900"/>
            <a:ext cx="1383268" cy="1383268"/>
          </a:xfrm>
          <a:prstGeom prst="rect">
            <a:avLst/>
          </a:prstGeom>
          <a:noFill/>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pPr indent="-457200"/>
            <a:r>
              <a:rPr lang="en-AU" sz="3600" b="1" dirty="0" smtClean="0">
                <a:solidFill>
                  <a:srgbClr val="FF6600"/>
                </a:solidFill>
                <a:latin typeface="Helvetica"/>
                <a:cs typeface="Helvetica"/>
              </a:rPr>
              <a:t>1.4	Identify </a:t>
            </a:r>
            <a:r>
              <a:rPr lang="en-AU" sz="3600" b="1" dirty="0">
                <a:solidFill>
                  <a:srgbClr val="FF6600"/>
                </a:solidFill>
                <a:latin typeface="Helvetica"/>
                <a:cs typeface="Helvetica"/>
              </a:rPr>
              <a:t>Operational Risk Control </a:t>
            </a:r>
            <a:r>
              <a:rPr lang="en-AU" sz="3600" b="1" dirty="0" smtClean="0">
                <a:solidFill>
                  <a:srgbClr val="FF6600"/>
                </a:solidFill>
                <a:latin typeface="Helvetica"/>
                <a:cs typeface="Helvetica"/>
              </a:rPr>
              <a:t>	Procedures</a:t>
            </a:r>
            <a:endParaRPr lang="en-US" sz="3400" b="1" dirty="0">
              <a:solidFill>
                <a:srgbClr val="FF6600"/>
              </a:solidFill>
              <a:latin typeface="Helvetica"/>
              <a:cs typeface="Helvetica"/>
            </a:endParaRPr>
          </a:p>
        </p:txBody>
      </p:sp>
      <p:sp>
        <p:nvSpPr>
          <p:cNvPr id="3" name="Content Placeholder 2"/>
          <p:cNvSpPr>
            <a:spLocks noGrp="1"/>
          </p:cNvSpPr>
          <p:nvPr>
            <p:ph idx="1"/>
          </p:nvPr>
        </p:nvSpPr>
        <p:spPr>
          <a:xfrm>
            <a:off x="611560" y="1700808"/>
            <a:ext cx="7467600" cy="4525963"/>
          </a:xfrm>
        </p:spPr>
        <p:txBody>
          <a:bodyPr>
            <a:normAutofit fontScale="92500" lnSpcReduction="20000"/>
          </a:bodyPr>
          <a:lstStyle/>
          <a:p>
            <a:pPr marL="0" indent="0">
              <a:spcBef>
                <a:spcPts val="600"/>
              </a:spcBef>
              <a:spcAft>
                <a:spcPts val="1200"/>
              </a:spcAft>
              <a:buNone/>
            </a:pPr>
            <a:r>
              <a:rPr lang="en-AU" sz="2400" dirty="0"/>
              <a:t>The Hierarchy of Risk Control:</a:t>
            </a:r>
          </a:p>
          <a:p>
            <a:pPr>
              <a:spcBef>
                <a:spcPts val="600"/>
              </a:spcBef>
              <a:spcAft>
                <a:spcPts val="1200"/>
              </a:spcAft>
            </a:pPr>
            <a:r>
              <a:rPr lang="en-AU" sz="2400" dirty="0"/>
              <a:t>Elimination</a:t>
            </a:r>
          </a:p>
          <a:p>
            <a:pPr>
              <a:spcBef>
                <a:spcPts val="600"/>
              </a:spcBef>
              <a:spcAft>
                <a:spcPts val="1200"/>
              </a:spcAft>
            </a:pPr>
            <a:r>
              <a:rPr lang="en-AU" sz="2400" dirty="0"/>
              <a:t>Substitution</a:t>
            </a:r>
          </a:p>
          <a:p>
            <a:pPr>
              <a:spcBef>
                <a:spcPts val="600"/>
              </a:spcBef>
              <a:spcAft>
                <a:spcPts val="1200"/>
              </a:spcAft>
            </a:pPr>
            <a:r>
              <a:rPr lang="en-AU" sz="2400" dirty="0"/>
              <a:t>Isolation</a:t>
            </a:r>
          </a:p>
          <a:p>
            <a:pPr>
              <a:spcBef>
                <a:spcPts val="600"/>
              </a:spcBef>
              <a:spcAft>
                <a:spcPts val="1200"/>
              </a:spcAft>
            </a:pPr>
            <a:r>
              <a:rPr lang="en-AU" sz="2400" dirty="0"/>
              <a:t>Changes to procedures</a:t>
            </a:r>
          </a:p>
          <a:p>
            <a:pPr>
              <a:spcBef>
                <a:spcPts val="600"/>
              </a:spcBef>
              <a:spcAft>
                <a:spcPts val="1200"/>
              </a:spcAft>
            </a:pPr>
            <a:r>
              <a:rPr lang="en-AU" sz="2400" dirty="0"/>
              <a:t>Administrative controls</a:t>
            </a:r>
          </a:p>
          <a:p>
            <a:pPr>
              <a:spcBef>
                <a:spcPts val="600"/>
              </a:spcBef>
              <a:spcAft>
                <a:spcPts val="1200"/>
              </a:spcAft>
            </a:pPr>
            <a:r>
              <a:rPr lang="en-AU" sz="2400" dirty="0"/>
              <a:t>Personal protective equipment</a:t>
            </a:r>
          </a:p>
          <a:p>
            <a:pPr>
              <a:spcBef>
                <a:spcPts val="600"/>
              </a:spcBef>
              <a:spcAft>
                <a:spcPts val="1200"/>
              </a:spcAft>
            </a:pPr>
            <a:endParaRPr lang="en-AU" sz="2400" dirty="0"/>
          </a:p>
          <a:p>
            <a:pPr marL="0" indent="0" algn="ctr">
              <a:spcBef>
                <a:spcPts val="600"/>
              </a:spcBef>
              <a:spcAft>
                <a:spcPts val="1200"/>
              </a:spcAft>
              <a:buNone/>
            </a:pPr>
            <a:r>
              <a:rPr lang="en-AU" sz="2400" dirty="0"/>
              <a:t>Rate the cost of implementation.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29</a:t>
            </a:fld>
            <a:endParaRPr lang="en-US" dirty="0">
              <a:latin typeface="Helvetica" pitchFamily="34" charset="0"/>
            </a:endParaRPr>
          </a:p>
        </p:txBody>
      </p:sp>
      <p:pic>
        <p:nvPicPr>
          <p:cNvPr id="6" name="Picture 5" descr="I:\Overseas Projects\PHOTOS\2012\Front office 2012\shutterstock_102376840.jpg"/>
          <p:cNvPicPr/>
          <p:nvPr/>
        </p:nvPicPr>
        <p:blipFill rotWithShape="1">
          <a:blip r:embed="rId3" cstate="print">
            <a:extLst>
              <a:ext uri="{28A0092B-C50C-407E-A947-70E740481C1C}">
                <a14:useLocalDpi xmlns:a14="http://schemas.microsoft.com/office/drawing/2010/main" val="0"/>
              </a:ext>
            </a:extLst>
          </a:blip>
          <a:srcRect l="10172" t="10339" r="11859" b="7739"/>
          <a:stretch/>
        </p:blipFill>
        <p:spPr bwMode="auto">
          <a:xfrm>
            <a:off x="5724128" y="2564904"/>
            <a:ext cx="1181735" cy="1322705"/>
          </a:xfrm>
          <a:prstGeom prst="rect">
            <a:avLst/>
          </a:prstGeom>
          <a:noFill/>
          <a:ln>
            <a:noFill/>
          </a:ln>
          <a:extLst>
            <a:ext uri="{53640926-AAD7-44D8-BBD7-CCE9431645EC}">
              <a14:shadowObscured xmlns:a14="http://schemas.microsoft.com/office/drawing/2010/main"/>
            </a:ext>
          </a:ex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484784"/>
            <a:ext cx="7467600" cy="4525963"/>
          </a:xfrm>
        </p:spPr>
        <p:txBody>
          <a:bodyPr>
            <a:normAutofit/>
          </a:bodyPr>
          <a:lstStyle/>
          <a:p>
            <a:pPr algn="ctr">
              <a:buNone/>
            </a:pPr>
            <a:endParaRPr lang="en-AU" sz="2200" dirty="0" smtClean="0"/>
          </a:p>
          <a:p>
            <a:pPr>
              <a:spcBef>
                <a:spcPts val="600"/>
              </a:spcBef>
              <a:spcAft>
                <a:spcPts val="1200"/>
              </a:spcAft>
            </a:pPr>
            <a:r>
              <a:rPr lang="en-AU" sz="2200" dirty="0" smtClean="0"/>
              <a:t>Sourcing </a:t>
            </a:r>
            <a:r>
              <a:rPr lang="en-AU" sz="2200" dirty="0"/>
              <a:t>risk control requirements</a:t>
            </a:r>
          </a:p>
          <a:p>
            <a:pPr>
              <a:spcBef>
                <a:spcPts val="600"/>
              </a:spcBef>
              <a:spcAft>
                <a:spcPts val="1200"/>
              </a:spcAft>
            </a:pPr>
            <a:r>
              <a:rPr lang="en-AU" sz="2200" dirty="0" smtClean="0"/>
              <a:t>Where </a:t>
            </a:r>
            <a:r>
              <a:rPr lang="en-AU" sz="2200" dirty="0"/>
              <a:t>can you obtain:</a:t>
            </a:r>
          </a:p>
          <a:p>
            <a:pPr marL="972000" lvl="2" indent="-514350">
              <a:spcBef>
                <a:spcPts val="600"/>
              </a:spcBef>
              <a:spcAft>
                <a:spcPts val="1200"/>
              </a:spcAft>
              <a:buAutoNum type="arabicPeriod"/>
            </a:pPr>
            <a:r>
              <a:rPr lang="en-AU" sz="2000" dirty="0"/>
              <a:t>Expertise on risk methods</a:t>
            </a:r>
          </a:p>
          <a:p>
            <a:pPr marL="972000" lvl="2" indent="-514350">
              <a:spcBef>
                <a:spcPts val="600"/>
              </a:spcBef>
              <a:spcAft>
                <a:spcPts val="1200"/>
              </a:spcAft>
              <a:buAutoNum type="arabicPeriod"/>
            </a:pPr>
            <a:r>
              <a:rPr lang="en-AU" sz="2000" dirty="0"/>
              <a:t>Physical resources to treat risk</a:t>
            </a:r>
          </a:p>
          <a:p>
            <a:pPr marL="972000" lvl="2" indent="-514350">
              <a:spcBef>
                <a:spcPts val="600"/>
              </a:spcBef>
              <a:spcAft>
                <a:spcPts val="1200"/>
              </a:spcAft>
              <a:buAutoNum type="arabicPeriod"/>
            </a:pPr>
            <a:r>
              <a:rPr lang="en-AU" sz="2000" dirty="0"/>
              <a:t>Sources of knowledge on risk </a:t>
            </a:r>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30</a:t>
            </a:fld>
            <a:endParaRPr lang="en-US" dirty="0">
              <a:latin typeface="Helvetica" pitchFamily="34" charset="0"/>
            </a:endParaRPr>
          </a:p>
        </p:txBody>
      </p:sp>
      <p:sp>
        <p:nvSpPr>
          <p:cNvPr id="7" name="Title 1"/>
          <p:cNvSpPr>
            <a:spLocks noGrp="1"/>
          </p:cNvSpPr>
          <p:nvPr>
            <p:ph type="title"/>
          </p:nvPr>
        </p:nvSpPr>
        <p:spPr>
          <a:xfrm>
            <a:off x="611560" y="332656"/>
            <a:ext cx="7467600" cy="1143000"/>
          </a:xfrm>
        </p:spPr>
        <p:txBody>
          <a:bodyPr>
            <a:normAutofit fontScale="90000"/>
          </a:bodyPr>
          <a:lstStyle/>
          <a:p>
            <a:pPr indent="-457200"/>
            <a:r>
              <a:rPr lang="en-AU" sz="3600" b="1" dirty="0" smtClean="0">
                <a:solidFill>
                  <a:srgbClr val="FF6600"/>
                </a:solidFill>
                <a:latin typeface="Helvetica"/>
                <a:cs typeface="Helvetica"/>
              </a:rPr>
              <a:t>1.4	Identify </a:t>
            </a:r>
            <a:r>
              <a:rPr lang="en-AU" sz="3600" b="1" dirty="0">
                <a:solidFill>
                  <a:srgbClr val="FF6600"/>
                </a:solidFill>
                <a:latin typeface="Helvetica"/>
                <a:cs typeface="Helvetica"/>
              </a:rPr>
              <a:t>Operational Risk Control </a:t>
            </a:r>
            <a:r>
              <a:rPr lang="en-AU" sz="3600" b="1" dirty="0" smtClean="0">
                <a:solidFill>
                  <a:srgbClr val="FF6600"/>
                </a:solidFill>
                <a:latin typeface="Helvetica"/>
                <a:cs typeface="Helvetica"/>
              </a:rPr>
              <a:t>	Procedures</a:t>
            </a:r>
            <a:endParaRPr lang="en-US" sz="3400" b="1" dirty="0">
              <a:solidFill>
                <a:srgbClr val="FF6600"/>
              </a:solidFill>
              <a:latin typeface="Helvetica"/>
              <a:cs typeface="Helvetica"/>
            </a:endParaRPr>
          </a:p>
        </p:txBody>
      </p:sp>
      <p:pic>
        <p:nvPicPr>
          <p:cNvPr id="13314" name="Picture 2" descr="I:\Overseas Projects\PHOTOS\2014\Shutterstock 25-a-day\shutterstock_179800007.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84168" y="2924944"/>
            <a:ext cx="2160687" cy="14415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639341"/>
            <a:ext cx="7467600" cy="4525963"/>
          </a:xfrm>
        </p:spPr>
        <p:txBody>
          <a:bodyPr>
            <a:normAutofit/>
          </a:bodyPr>
          <a:lstStyle/>
          <a:p>
            <a:pPr marL="0" indent="0">
              <a:spcBef>
                <a:spcPts val="600"/>
              </a:spcBef>
              <a:spcAft>
                <a:spcPts val="1200"/>
              </a:spcAft>
              <a:buNone/>
            </a:pPr>
            <a:r>
              <a:rPr lang="en-AU" sz="2200" dirty="0" smtClean="0"/>
              <a:t>Seeking </a:t>
            </a:r>
            <a:r>
              <a:rPr lang="en-AU" sz="2200" dirty="0"/>
              <a:t>input from stakeholders on risk:</a:t>
            </a:r>
          </a:p>
          <a:p>
            <a:pPr>
              <a:spcBef>
                <a:spcPts val="600"/>
              </a:spcBef>
              <a:spcAft>
                <a:spcPts val="1200"/>
              </a:spcAft>
            </a:pPr>
            <a:r>
              <a:rPr lang="en-AU" sz="2200" dirty="0"/>
              <a:t>One on one consultation</a:t>
            </a:r>
          </a:p>
          <a:p>
            <a:pPr>
              <a:spcBef>
                <a:spcPts val="600"/>
              </a:spcBef>
              <a:spcAft>
                <a:spcPts val="1200"/>
              </a:spcAft>
            </a:pPr>
            <a:r>
              <a:rPr lang="en-AU" sz="2200" dirty="0"/>
              <a:t>Team meetings </a:t>
            </a:r>
          </a:p>
          <a:p>
            <a:pPr>
              <a:spcBef>
                <a:spcPts val="600"/>
              </a:spcBef>
              <a:spcAft>
                <a:spcPts val="1200"/>
              </a:spcAft>
            </a:pPr>
            <a:r>
              <a:rPr lang="en-AU" sz="2200" dirty="0" smtClean="0"/>
              <a:t>Online </a:t>
            </a:r>
            <a:r>
              <a:rPr lang="en-AU" sz="2200" dirty="0"/>
              <a:t>forums</a:t>
            </a:r>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31</a:t>
            </a:fld>
            <a:endParaRPr lang="en-US" dirty="0">
              <a:latin typeface="Helvetica" pitchFamily="34" charset="0"/>
            </a:endParaRPr>
          </a:p>
        </p:txBody>
      </p:sp>
      <p:sp>
        <p:nvSpPr>
          <p:cNvPr id="7" name="Title 1"/>
          <p:cNvSpPr>
            <a:spLocks noGrp="1"/>
          </p:cNvSpPr>
          <p:nvPr>
            <p:ph type="title"/>
          </p:nvPr>
        </p:nvSpPr>
        <p:spPr>
          <a:xfrm>
            <a:off x="611560" y="332656"/>
            <a:ext cx="7467600" cy="1143000"/>
          </a:xfrm>
        </p:spPr>
        <p:txBody>
          <a:bodyPr>
            <a:normAutofit fontScale="90000"/>
          </a:bodyPr>
          <a:lstStyle/>
          <a:p>
            <a:pPr indent="-457200"/>
            <a:r>
              <a:rPr lang="en-AU" sz="3600" b="1" dirty="0" smtClean="0">
                <a:solidFill>
                  <a:srgbClr val="FF6600"/>
                </a:solidFill>
                <a:latin typeface="Helvetica"/>
                <a:cs typeface="Helvetica"/>
              </a:rPr>
              <a:t>1.4	Identify </a:t>
            </a:r>
            <a:r>
              <a:rPr lang="en-AU" sz="3600" b="1" dirty="0">
                <a:solidFill>
                  <a:srgbClr val="FF6600"/>
                </a:solidFill>
                <a:latin typeface="Helvetica"/>
                <a:cs typeface="Helvetica"/>
              </a:rPr>
              <a:t>Operational Risk Control </a:t>
            </a:r>
            <a:r>
              <a:rPr lang="en-AU" sz="3600" b="1" dirty="0" smtClean="0">
                <a:solidFill>
                  <a:srgbClr val="FF6600"/>
                </a:solidFill>
                <a:latin typeface="Helvetica"/>
                <a:cs typeface="Helvetica"/>
              </a:rPr>
              <a:t>	Procedures</a:t>
            </a:r>
            <a:endParaRPr lang="en-US" sz="3400" b="1" dirty="0">
              <a:solidFill>
                <a:srgbClr val="FF6600"/>
              </a:solidFill>
              <a:latin typeface="Helvetica"/>
              <a:cs typeface="Helvetica"/>
            </a:endParaRPr>
          </a:p>
        </p:txBody>
      </p:sp>
      <p:pic>
        <p:nvPicPr>
          <p:cNvPr id="8" name="Picture 7" descr="I:\Overseas Projects\PHOTOS\2014\Shutterstock 25-a-day\shutterstock_55184434.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56176" y="2348880"/>
            <a:ext cx="1973580" cy="1315085"/>
          </a:xfrm>
          <a:prstGeom prst="rect">
            <a:avLst/>
          </a:prstGeom>
          <a:noFill/>
          <a:ln>
            <a:noFill/>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467600" cy="4525963"/>
          </a:xfrm>
        </p:spPr>
        <p:txBody>
          <a:bodyPr>
            <a:normAutofit/>
          </a:bodyPr>
          <a:lstStyle/>
          <a:p>
            <a:pPr marL="0" indent="0" algn="ctr">
              <a:buNone/>
            </a:pPr>
            <a:endParaRPr lang="en-US" sz="2400" dirty="0" smtClean="0"/>
          </a:p>
          <a:p>
            <a:pPr marL="0" indent="0" algn="ctr">
              <a:buNone/>
            </a:pPr>
            <a:endParaRPr lang="en-US" sz="2400" dirty="0"/>
          </a:p>
          <a:p>
            <a:pPr marL="0" indent="0" algn="ctr">
              <a:buNone/>
            </a:pPr>
            <a:endParaRPr lang="en-US" sz="2400" dirty="0" smtClean="0"/>
          </a:p>
          <a:p>
            <a:pPr marL="0" indent="0" algn="ctr">
              <a:buNone/>
            </a:pPr>
            <a:r>
              <a:rPr lang="en-US" sz="2400" b="1" dirty="0" smtClean="0"/>
              <a:t>Risk </a:t>
            </a:r>
            <a:r>
              <a:rPr lang="en-US" sz="2400" b="1" dirty="0"/>
              <a:t>assessment tool review and </a:t>
            </a:r>
            <a:r>
              <a:rPr lang="en-US" sz="2400" b="1" dirty="0" smtClean="0"/>
              <a:t>activity</a:t>
            </a:r>
            <a:endParaRPr lang="en-US" sz="2400" b="1"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32</a:t>
            </a:fld>
            <a:endParaRPr lang="en-US" dirty="0">
              <a:latin typeface="Helvetica" pitchFamily="34" charset="0"/>
            </a:endParaRPr>
          </a:p>
        </p:txBody>
      </p:sp>
      <p:sp>
        <p:nvSpPr>
          <p:cNvPr id="7" name="Title 1"/>
          <p:cNvSpPr>
            <a:spLocks noGrp="1"/>
          </p:cNvSpPr>
          <p:nvPr>
            <p:ph type="title"/>
          </p:nvPr>
        </p:nvSpPr>
        <p:spPr>
          <a:xfrm>
            <a:off x="611560" y="332656"/>
            <a:ext cx="7467600" cy="1143000"/>
          </a:xfrm>
        </p:spPr>
        <p:txBody>
          <a:bodyPr>
            <a:normAutofit fontScale="90000"/>
          </a:bodyPr>
          <a:lstStyle/>
          <a:p>
            <a:pPr indent="-457200"/>
            <a:r>
              <a:rPr lang="en-AU" sz="3600" b="1" dirty="0" smtClean="0">
                <a:solidFill>
                  <a:srgbClr val="FF6600"/>
                </a:solidFill>
                <a:latin typeface="Helvetica"/>
                <a:cs typeface="Helvetica"/>
              </a:rPr>
              <a:t>1.4	Identify </a:t>
            </a:r>
            <a:r>
              <a:rPr lang="en-AU" sz="3600" b="1" dirty="0">
                <a:solidFill>
                  <a:srgbClr val="FF6600"/>
                </a:solidFill>
                <a:latin typeface="Helvetica"/>
                <a:cs typeface="Helvetica"/>
              </a:rPr>
              <a:t>Operational Risk Control </a:t>
            </a:r>
            <a:r>
              <a:rPr lang="en-AU" sz="3600" b="1" dirty="0" smtClean="0">
                <a:solidFill>
                  <a:srgbClr val="FF6600"/>
                </a:solidFill>
                <a:latin typeface="Helvetica"/>
                <a:cs typeface="Helvetica"/>
              </a:rPr>
              <a:t>	Procedures</a:t>
            </a:r>
            <a:endParaRPr lang="en-US" sz="3400" b="1" dirty="0">
              <a:solidFill>
                <a:srgbClr val="FF6600"/>
              </a:solidFill>
              <a:latin typeface="Helvetica"/>
              <a:cs typeface="Helvetica"/>
            </a:endParaRPr>
          </a:p>
        </p:txBody>
      </p:sp>
      <p:pic>
        <p:nvPicPr>
          <p:cNvPr id="8" name="Picture 7" descr="user_edit"/>
          <p:cNvPicPr/>
          <p:nvPr/>
        </p:nvPicPr>
        <p:blipFill>
          <a:blip r:embed="rId3" cstate="print"/>
          <a:srcRect/>
          <a:stretch>
            <a:fillRect/>
          </a:stretch>
        </p:blipFill>
        <p:spPr bwMode="auto">
          <a:xfrm>
            <a:off x="4067944" y="4143794"/>
            <a:ext cx="1254368" cy="1254368"/>
          </a:xfrm>
          <a:prstGeom prst="rect">
            <a:avLst/>
          </a:prstGeom>
          <a:noFill/>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332656"/>
            <a:ext cx="8640960" cy="1143000"/>
          </a:xfrm>
        </p:spPr>
        <p:txBody>
          <a:bodyPr>
            <a:normAutofit fontScale="90000"/>
          </a:bodyPr>
          <a:lstStyle/>
          <a:p>
            <a:r>
              <a:rPr lang="en-AU" sz="3600" b="1" dirty="0" smtClean="0">
                <a:solidFill>
                  <a:srgbClr val="FF6600"/>
                </a:solidFill>
                <a:latin typeface="Helvetica"/>
                <a:cs typeface="Helvetica"/>
              </a:rPr>
              <a:t>2.1	Develop </a:t>
            </a:r>
            <a:r>
              <a:rPr lang="en-AU" sz="3600" b="1" dirty="0">
                <a:solidFill>
                  <a:srgbClr val="FF6600"/>
                </a:solidFill>
                <a:latin typeface="Helvetica"/>
                <a:cs typeface="Helvetica"/>
              </a:rPr>
              <a:t>operational risk management </a:t>
            </a:r>
            <a:r>
              <a:rPr lang="en-AU" sz="3600" b="1" dirty="0" smtClean="0">
                <a:solidFill>
                  <a:srgbClr val="FF6600"/>
                </a:solidFill>
                <a:latin typeface="Helvetica"/>
                <a:cs typeface="Helvetica"/>
              </a:rPr>
              <a:t>	policy</a:t>
            </a:r>
            <a:endParaRPr lang="en-US" sz="3400" b="1" dirty="0">
              <a:solidFill>
                <a:srgbClr val="FF6600"/>
              </a:solidFill>
              <a:latin typeface="Helvetica"/>
              <a:cs typeface="Helvetica"/>
            </a:endParaRPr>
          </a:p>
        </p:txBody>
      </p:sp>
      <p:sp>
        <p:nvSpPr>
          <p:cNvPr id="3" name="Content Placeholder 2"/>
          <p:cNvSpPr>
            <a:spLocks noGrp="1"/>
          </p:cNvSpPr>
          <p:nvPr>
            <p:ph idx="1"/>
          </p:nvPr>
        </p:nvSpPr>
        <p:spPr>
          <a:xfrm>
            <a:off x="611560" y="1783357"/>
            <a:ext cx="7467600" cy="4525963"/>
          </a:xfrm>
        </p:spPr>
        <p:txBody>
          <a:bodyPr>
            <a:normAutofit/>
          </a:bodyPr>
          <a:lstStyle/>
          <a:p>
            <a:pPr marL="0" indent="0">
              <a:spcBef>
                <a:spcPts val="600"/>
              </a:spcBef>
              <a:spcAft>
                <a:spcPts val="1200"/>
              </a:spcAft>
              <a:buNone/>
            </a:pPr>
            <a:r>
              <a:rPr lang="en-AU" sz="2200" b="1" dirty="0"/>
              <a:t>What is a policy?</a:t>
            </a:r>
          </a:p>
          <a:p>
            <a:pPr marL="0" indent="0">
              <a:spcBef>
                <a:spcPts val="600"/>
              </a:spcBef>
              <a:spcAft>
                <a:spcPts val="1200"/>
              </a:spcAft>
              <a:buNone/>
            </a:pPr>
            <a:r>
              <a:rPr lang="en-AU" sz="2200" dirty="0" smtClean="0"/>
              <a:t>The Risk </a:t>
            </a:r>
            <a:r>
              <a:rPr lang="en-AU" sz="2200" dirty="0"/>
              <a:t>Management Policy has 2 purposes:</a:t>
            </a:r>
          </a:p>
          <a:p>
            <a:pPr marL="514350" indent="-514350">
              <a:spcBef>
                <a:spcPts val="600"/>
              </a:spcBef>
              <a:spcAft>
                <a:spcPts val="1200"/>
              </a:spcAft>
              <a:buSzPct val="100000"/>
              <a:buFont typeface="+mj-lt"/>
              <a:buAutoNum type="arabicPeriod"/>
            </a:pPr>
            <a:r>
              <a:rPr lang="en-AU" sz="2200" dirty="0" smtClean="0"/>
              <a:t>To identify, reduce and prevent incidents</a:t>
            </a:r>
          </a:p>
          <a:p>
            <a:pPr marL="514350" indent="-514350">
              <a:spcBef>
                <a:spcPts val="600"/>
              </a:spcBef>
              <a:spcAft>
                <a:spcPts val="1200"/>
              </a:spcAft>
              <a:buSzPct val="100000"/>
              <a:buFont typeface="+mj-lt"/>
              <a:buAutoNum type="arabicPeriod"/>
            </a:pPr>
            <a:r>
              <a:rPr lang="en-AU" sz="2200" dirty="0" smtClean="0"/>
              <a:t>To review past incidents and to prevent future occurrences</a:t>
            </a:r>
            <a:endParaRPr lang="en-AU" sz="22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33</a:t>
            </a:fld>
            <a:endParaRPr lang="en-US" dirty="0">
              <a:latin typeface="Helvetica" pitchFamily="34" charset="0"/>
            </a:endParaRPr>
          </a:p>
        </p:txBody>
      </p:sp>
      <p:pic>
        <p:nvPicPr>
          <p:cNvPr id="6" name="Picture 5"/>
          <p:cNvPicPr/>
          <p:nvPr/>
        </p:nvPicPr>
        <p:blipFill>
          <a:blip r:embed="rId3" cstate="print">
            <a:duotone>
              <a:prstClr val="black"/>
              <a:schemeClr val="tx2">
                <a:tint val="45000"/>
                <a:satMod val="400000"/>
              </a:schemeClr>
            </a:duotone>
          </a:blip>
          <a:srcRect l="4809" t="8800"/>
          <a:stretch>
            <a:fillRect/>
          </a:stretch>
        </p:blipFill>
        <p:spPr bwMode="auto">
          <a:xfrm>
            <a:off x="3635896" y="4629868"/>
            <a:ext cx="1996440" cy="1654175"/>
          </a:xfrm>
          <a:prstGeom prst="rect">
            <a:avLst/>
          </a:prstGeom>
          <a:noFill/>
          <a:ln w="12700" cap="flat">
            <a:noFill/>
            <a:miter lim="800000"/>
            <a:headEnd/>
            <a:tailEnd/>
          </a:ln>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844824"/>
            <a:ext cx="7467600" cy="4525963"/>
          </a:xfrm>
        </p:spPr>
        <p:txBody>
          <a:bodyPr>
            <a:normAutofit/>
          </a:bodyPr>
          <a:lstStyle/>
          <a:p>
            <a:pPr>
              <a:spcBef>
                <a:spcPts val="600"/>
              </a:spcBef>
              <a:spcAft>
                <a:spcPts val="1200"/>
              </a:spcAft>
              <a:buNone/>
            </a:pPr>
            <a:r>
              <a:rPr lang="en-AU" sz="2200" b="1" dirty="0"/>
              <a:t>Activity – Reviewing a Risk Management </a:t>
            </a:r>
            <a:r>
              <a:rPr lang="en-AU" sz="2200" b="1" dirty="0" smtClean="0"/>
              <a:t>Policy</a:t>
            </a:r>
            <a:endParaRPr lang="en-AU" sz="2200" dirty="0"/>
          </a:p>
          <a:p>
            <a:pPr>
              <a:spcBef>
                <a:spcPts val="600"/>
              </a:spcBef>
              <a:spcAft>
                <a:spcPts val="1200"/>
              </a:spcAft>
            </a:pPr>
            <a:r>
              <a:rPr lang="en-AU" sz="2200" dirty="0"/>
              <a:t>How is it set out? </a:t>
            </a:r>
          </a:p>
          <a:p>
            <a:pPr>
              <a:spcBef>
                <a:spcPts val="600"/>
              </a:spcBef>
              <a:spcAft>
                <a:spcPts val="1200"/>
              </a:spcAft>
            </a:pPr>
            <a:r>
              <a:rPr lang="en-AU" sz="2200" dirty="0"/>
              <a:t>How well has it served the business? </a:t>
            </a:r>
          </a:p>
          <a:p>
            <a:pPr>
              <a:spcBef>
                <a:spcPts val="600"/>
              </a:spcBef>
              <a:spcAft>
                <a:spcPts val="1200"/>
              </a:spcAft>
            </a:pPr>
            <a:r>
              <a:rPr lang="en-AU" sz="2200" dirty="0"/>
              <a:t>Does it contain detail on a previous policy?</a:t>
            </a:r>
          </a:p>
          <a:p>
            <a:pPr>
              <a:spcBef>
                <a:spcPts val="600"/>
              </a:spcBef>
              <a:spcAft>
                <a:spcPts val="1200"/>
              </a:spcAft>
            </a:pPr>
            <a:r>
              <a:rPr lang="en-AU" sz="2200" dirty="0"/>
              <a:t>Is there a statement of management </a:t>
            </a:r>
            <a:r>
              <a:rPr lang="en-AU" sz="2200" dirty="0" smtClean="0"/>
              <a:t>commitment</a:t>
            </a:r>
            <a:r>
              <a:rPr lang="en-AU" sz="2200" dirty="0"/>
              <a:t>? </a:t>
            </a:r>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34</a:t>
            </a:fld>
            <a:endParaRPr lang="en-US" dirty="0">
              <a:latin typeface="Helvetica" pitchFamily="34" charset="0"/>
            </a:endParaRPr>
          </a:p>
        </p:txBody>
      </p:sp>
      <p:sp>
        <p:nvSpPr>
          <p:cNvPr id="7" name="Title 1"/>
          <p:cNvSpPr>
            <a:spLocks noGrp="1"/>
          </p:cNvSpPr>
          <p:nvPr>
            <p:ph type="title"/>
          </p:nvPr>
        </p:nvSpPr>
        <p:spPr>
          <a:xfrm>
            <a:off x="251520" y="332656"/>
            <a:ext cx="8640960" cy="1143000"/>
          </a:xfrm>
        </p:spPr>
        <p:txBody>
          <a:bodyPr>
            <a:normAutofit fontScale="90000"/>
          </a:bodyPr>
          <a:lstStyle/>
          <a:p>
            <a:r>
              <a:rPr lang="en-AU" sz="3600" b="1" dirty="0" smtClean="0">
                <a:solidFill>
                  <a:srgbClr val="FF6600"/>
                </a:solidFill>
                <a:latin typeface="Helvetica"/>
                <a:cs typeface="Helvetica"/>
              </a:rPr>
              <a:t>2.1	Develop </a:t>
            </a:r>
            <a:r>
              <a:rPr lang="en-AU" sz="3600" b="1" dirty="0">
                <a:solidFill>
                  <a:srgbClr val="FF6600"/>
                </a:solidFill>
                <a:latin typeface="Helvetica"/>
                <a:cs typeface="Helvetica"/>
              </a:rPr>
              <a:t>operational risk management </a:t>
            </a:r>
            <a:r>
              <a:rPr lang="en-AU" sz="3600" b="1" dirty="0" smtClean="0">
                <a:solidFill>
                  <a:srgbClr val="FF6600"/>
                </a:solidFill>
                <a:latin typeface="Helvetica"/>
                <a:cs typeface="Helvetica"/>
              </a:rPr>
              <a:t>	policy</a:t>
            </a:r>
            <a:endParaRPr lang="en-US" sz="3400" b="1" dirty="0">
              <a:solidFill>
                <a:srgbClr val="FF6600"/>
              </a:solidFill>
              <a:latin typeface="Helvetica"/>
              <a:cs typeface="Helvetica"/>
            </a:endParaRPr>
          </a:p>
        </p:txBody>
      </p:sp>
      <p:pic>
        <p:nvPicPr>
          <p:cNvPr id="8" name="Picture 7" descr="user_edit"/>
          <p:cNvPicPr/>
          <p:nvPr/>
        </p:nvPicPr>
        <p:blipFill>
          <a:blip r:embed="rId3" cstate="print"/>
          <a:srcRect/>
          <a:stretch>
            <a:fillRect/>
          </a:stretch>
        </p:blipFill>
        <p:spPr bwMode="auto">
          <a:xfrm>
            <a:off x="6989437" y="2492896"/>
            <a:ext cx="1254368" cy="1254368"/>
          </a:xfrm>
          <a:prstGeom prst="rect">
            <a:avLst/>
          </a:prstGeom>
          <a:noFill/>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1556792"/>
            <a:ext cx="7467600" cy="4525963"/>
          </a:xfrm>
        </p:spPr>
        <p:txBody>
          <a:bodyPr>
            <a:normAutofit/>
          </a:bodyPr>
          <a:lstStyle/>
          <a:p>
            <a:pPr marL="0" indent="0" algn="ctr">
              <a:buNone/>
            </a:pPr>
            <a:endParaRPr lang="en-US" sz="2400" b="1" i="1" dirty="0" smtClean="0"/>
          </a:p>
          <a:p>
            <a:pPr marL="0" indent="0" algn="ctr">
              <a:buNone/>
            </a:pPr>
            <a:endParaRPr lang="en-US" sz="2400" b="1" i="1" dirty="0"/>
          </a:p>
          <a:p>
            <a:pPr marL="0" indent="0" algn="ctr">
              <a:buNone/>
            </a:pPr>
            <a:endParaRPr lang="en-US" sz="2400" b="1" i="1" dirty="0" smtClean="0"/>
          </a:p>
          <a:p>
            <a:pPr marL="0" indent="0" algn="ctr">
              <a:buNone/>
            </a:pPr>
            <a:endParaRPr lang="en-US" sz="2400" b="1" i="1" dirty="0"/>
          </a:p>
          <a:p>
            <a:pPr marL="0" indent="0" algn="ctr">
              <a:buNone/>
            </a:pPr>
            <a:r>
              <a:rPr lang="en-US" sz="2400" b="1" i="1" dirty="0" smtClean="0"/>
              <a:t>Activity </a:t>
            </a:r>
            <a:r>
              <a:rPr lang="en-US" sz="2400" b="1" i="1" dirty="0"/>
              <a:t>Risk Management Policy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35</a:t>
            </a:fld>
            <a:endParaRPr lang="en-US" dirty="0">
              <a:latin typeface="Helvetica" pitchFamily="34" charset="0"/>
            </a:endParaRPr>
          </a:p>
        </p:txBody>
      </p:sp>
      <p:sp>
        <p:nvSpPr>
          <p:cNvPr id="7" name="Title 1"/>
          <p:cNvSpPr>
            <a:spLocks noGrp="1"/>
          </p:cNvSpPr>
          <p:nvPr>
            <p:ph type="title"/>
          </p:nvPr>
        </p:nvSpPr>
        <p:spPr>
          <a:xfrm>
            <a:off x="251520" y="332656"/>
            <a:ext cx="8640960" cy="1143000"/>
          </a:xfrm>
        </p:spPr>
        <p:txBody>
          <a:bodyPr>
            <a:normAutofit fontScale="90000"/>
          </a:bodyPr>
          <a:lstStyle/>
          <a:p>
            <a:r>
              <a:rPr lang="en-AU" sz="3600" b="1" dirty="0" smtClean="0">
                <a:solidFill>
                  <a:srgbClr val="FF6600"/>
                </a:solidFill>
                <a:latin typeface="Helvetica"/>
                <a:cs typeface="Helvetica"/>
              </a:rPr>
              <a:t>2.1	Develop </a:t>
            </a:r>
            <a:r>
              <a:rPr lang="en-AU" sz="3600" b="1" dirty="0">
                <a:solidFill>
                  <a:srgbClr val="FF6600"/>
                </a:solidFill>
                <a:latin typeface="Helvetica"/>
                <a:cs typeface="Helvetica"/>
              </a:rPr>
              <a:t>operational risk management </a:t>
            </a:r>
            <a:r>
              <a:rPr lang="en-AU" sz="3600" b="1" dirty="0" smtClean="0">
                <a:solidFill>
                  <a:srgbClr val="FF6600"/>
                </a:solidFill>
                <a:latin typeface="Helvetica"/>
                <a:cs typeface="Helvetica"/>
              </a:rPr>
              <a:t>	policy</a:t>
            </a:r>
            <a:endParaRPr lang="en-US" sz="3400" b="1" dirty="0">
              <a:solidFill>
                <a:srgbClr val="FF6600"/>
              </a:solidFill>
              <a:latin typeface="Helvetica"/>
              <a:cs typeface="Helvetica"/>
            </a:endParaRPr>
          </a:p>
        </p:txBody>
      </p:sp>
      <p:pic>
        <p:nvPicPr>
          <p:cNvPr id="8" name="Picture 7" descr="user_edit"/>
          <p:cNvPicPr/>
          <p:nvPr/>
        </p:nvPicPr>
        <p:blipFill>
          <a:blip r:embed="rId3" cstate="print"/>
          <a:srcRect/>
          <a:stretch>
            <a:fillRect/>
          </a:stretch>
        </p:blipFill>
        <p:spPr bwMode="auto">
          <a:xfrm>
            <a:off x="4067944" y="4143794"/>
            <a:ext cx="1254368" cy="1254368"/>
          </a:xfrm>
          <a:prstGeom prst="rect">
            <a:avLst/>
          </a:prstGeom>
          <a:noFill/>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pPr indent="-457200"/>
            <a:r>
              <a:rPr lang="en-AU" sz="3600" b="1" dirty="0">
                <a:solidFill>
                  <a:srgbClr val="FF6600"/>
                </a:solidFill>
                <a:latin typeface="Helvetica"/>
                <a:cs typeface="Helvetica"/>
              </a:rPr>
              <a:t>2.2 </a:t>
            </a:r>
            <a:r>
              <a:rPr lang="en-AU" sz="3600" b="1" dirty="0" smtClean="0">
                <a:solidFill>
                  <a:srgbClr val="FF6600"/>
                </a:solidFill>
                <a:latin typeface="Helvetica"/>
                <a:cs typeface="Helvetica"/>
              </a:rPr>
              <a:t>	Develop </a:t>
            </a:r>
            <a:r>
              <a:rPr lang="en-AU" sz="3600" b="1" dirty="0">
                <a:solidFill>
                  <a:srgbClr val="FF6600"/>
                </a:solidFill>
                <a:latin typeface="Helvetica"/>
                <a:cs typeface="Helvetica"/>
              </a:rPr>
              <a:t>written Operational Risk </a:t>
            </a:r>
            <a:r>
              <a:rPr lang="en-AU" sz="3600" b="1" dirty="0" smtClean="0">
                <a:solidFill>
                  <a:srgbClr val="FF6600"/>
                </a:solidFill>
                <a:latin typeface="Helvetica"/>
                <a:cs typeface="Helvetica"/>
              </a:rPr>
              <a:t>	Management </a:t>
            </a:r>
            <a:r>
              <a:rPr lang="en-AU" sz="3600" b="1" dirty="0">
                <a:solidFill>
                  <a:srgbClr val="FF6600"/>
                </a:solidFill>
                <a:latin typeface="Helvetica"/>
                <a:cs typeface="Helvetica"/>
              </a:rPr>
              <a:t>Plans</a:t>
            </a:r>
            <a:endParaRPr lang="en-US" sz="3400" b="1" dirty="0">
              <a:solidFill>
                <a:srgbClr val="FF6600"/>
              </a:solidFill>
              <a:latin typeface="Helvetica"/>
              <a:cs typeface="Helvetica"/>
            </a:endParaRP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400"/>
              </a:spcBef>
              <a:spcAft>
                <a:spcPts val="600"/>
              </a:spcAft>
              <a:buNone/>
            </a:pPr>
            <a:r>
              <a:rPr lang="en-AU" sz="2000" dirty="0"/>
              <a:t>10-step process to developing a Risk Management Plan.</a:t>
            </a:r>
          </a:p>
          <a:p>
            <a:pPr lvl="0">
              <a:spcBef>
                <a:spcPts val="400"/>
              </a:spcBef>
              <a:spcAft>
                <a:spcPts val="600"/>
              </a:spcAft>
            </a:pPr>
            <a:r>
              <a:rPr lang="en-US" sz="2000" dirty="0"/>
              <a:t>Make a commitment, as an organisation, to risk </a:t>
            </a:r>
            <a:r>
              <a:rPr lang="en-US" sz="2000" dirty="0" smtClean="0"/>
              <a:t>management</a:t>
            </a:r>
            <a:endParaRPr lang="en-AU" sz="2000" dirty="0"/>
          </a:p>
          <a:p>
            <a:pPr lvl="0">
              <a:spcBef>
                <a:spcPts val="400"/>
              </a:spcBef>
              <a:spcAft>
                <a:spcPts val="600"/>
              </a:spcAft>
            </a:pPr>
            <a:r>
              <a:rPr lang="en-US" sz="2000" dirty="0"/>
              <a:t>Identify all possible threats and </a:t>
            </a:r>
            <a:r>
              <a:rPr lang="en-US" sz="2000" dirty="0" smtClean="0"/>
              <a:t>risks</a:t>
            </a:r>
            <a:endParaRPr lang="en-AU" sz="2000" dirty="0"/>
          </a:p>
          <a:p>
            <a:pPr lvl="0">
              <a:spcBef>
                <a:spcPts val="400"/>
              </a:spcBef>
              <a:spcAft>
                <a:spcPts val="600"/>
              </a:spcAft>
            </a:pPr>
            <a:r>
              <a:rPr lang="en-US" sz="2000" dirty="0"/>
              <a:t>Assess the level of each </a:t>
            </a:r>
            <a:r>
              <a:rPr lang="en-US" sz="2000" dirty="0" smtClean="0"/>
              <a:t>risk</a:t>
            </a:r>
            <a:endParaRPr lang="en-AU" sz="2000" dirty="0"/>
          </a:p>
          <a:p>
            <a:pPr lvl="0">
              <a:spcBef>
                <a:spcPts val="400"/>
              </a:spcBef>
              <a:spcAft>
                <a:spcPts val="600"/>
              </a:spcAft>
            </a:pPr>
            <a:r>
              <a:rPr lang="en-US" sz="2000" dirty="0"/>
              <a:t>Decide to accept, treat or transfer each </a:t>
            </a:r>
            <a:r>
              <a:rPr lang="en-US" sz="2000" dirty="0" smtClean="0"/>
              <a:t>risk</a:t>
            </a:r>
            <a:endParaRPr lang="en-AU" sz="2000" dirty="0"/>
          </a:p>
          <a:p>
            <a:pPr lvl="0">
              <a:spcBef>
                <a:spcPts val="400"/>
              </a:spcBef>
              <a:spcAft>
                <a:spcPts val="600"/>
              </a:spcAft>
            </a:pPr>
            <a:r>
              <a:rPr lang="en-US" sz="2000" dirty="0"/>
              <a:t>Determine treatment options for all unacceptable </a:t>
            </a:r>
            <a:r>
              <a:rPr lang="en-US" sz="2000" dirty="0" smtClean="0"/>
              <a:t>risks</a:t>
            </a:r>
            <a:endParaRPr lang="en-AU" sz="2000" dirty="0"/>
          </a:p>
          <a:p>
            <a:pPr lvl="0">
              <a:spcBef>
                <a:spcPts val="400"/>
              </a:spcBef>
              <a:spcAft>
                <a:spcPts val="600"/>
              </a:spcAft>
            </a:pPr>
            <a:r>
              <a:rPr lang="en-US" sz="2000" dirty="0"/>
              <a:t>Formalise your Risk Management </a:t>
            </a:r>
            <a:r>
              <a:rPr lang="en-US" sz="2000" dirty="0" smtClean="0"/>
              <a:t>Plan</a:t>
            </a:r>
            <a:endParaRPr lang="en-AU" sz="2000" dirty="0"/>
          </a:p>
          <a:p>
            <a:pPr lvl="0">
              <a:spcBef>
                <a:spcPts val="400"/>
              </a:spcBef>
              <a:spcAft>
                <a:spcPts val="600"/>
              </a:spcAft>
            </a:pPr>
            <a:r>
              <a:rPr lang="en-US" sz="2000" dirty="0"/>
              <a:t>Implement your treatment </a:t>
            </a:r>
            <a:r>
              <a:rPr lang="en-US" sz="2000" dirty="0" smtClean="0"/>
              <a:t>options</a:t>
            </a:r>
            <a:endParaRPr lang="en-AU" sz="2000" dirty="0"/>
          </a:p>
          <a:p>
            <a:pPr lvl="0">
              <a:spcBef>
                <a:spcPts val="400"/>
              </a:spcBef>
              <a:spcAft>
                <a:spcPts val="600"/>
              </a:spcAft>
            </a:pPr>
            <a:r>
              <a:rPr lang="en-US" sz="2000" dirty="0"/>
              <a:t>Communicate information to everyone </a:t>
            </a:r>
            <a:r>
              <a:rPr lang="en-US" sz="2000" dirty="0" smtClean="0"/>
              <a:t>affected</a:t>
            </a:r>
            <a:endParaRPr lang="en-AU" sz="2000" dirty="0"/>
          </a:p>
          <a:p>
            <a:pPr lvl="0">
              <a:spcBef>
                <a:spcPts val="400"/>
              </a:spcBef>
              <a:spcAft>
                <a:spcPts val="600"/>
              </a:spcAft>
            </a:pPr>
            <a:r>
              <a:rPr lang="en-US" sz="2000" dirty="0"/>
              <a:t>Review your Risk Management Plan after 6 </a:t>
            </a:r>
            <a:r>
              <a:rPr lang="en-US" sz="2000" dirty="0" smtClean="0"/>
              <a:t>months</a:t>
            </a:r>
            <a:endParaRPr lang="en-AU" sz="2000" dirty="0"/>
          </a:p>
          <a:p>
            <a:pPr lvl="0">
              <a:spcBef>
                <a:spcPts val="400"/>
              </a:spcBef>
              <a:spcAft>
                <a:spcPts val="600"/>
              </a:spcAft>
            </a:pPr>
            <a:r>
              <a:rPr lang="en-US" sz="2000" dirty="0"/>
              <a:t>Identify any new risks and update your </a:t>
            </a:r>
            <a:r>
              <a:rPr lang="en-US" sz="2000" dirty="0" smtClean="0"/>
              <a:t>plan</a:t>
            </a:r>
            <a:endParaRPr lang="en-AU" sz="2000" dirty="0"/>
          </a:p>
          <a:p>
            <a:pPr marL="360000" indent="-360000">
              <a:spcBef>
                <a:spcPts val="400"/>
              </a:spcBef>
              <a:spcAft>
                <a:spcPts val="6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36</a:t>
            </a:fld>
            <a:endParaRPr lang="en-US" dirty="0">
              <a:latin typeface="Helvetica" pitchFamily="34" charset="0"/>
            </a:endParaRPr>
          </a:p>
        </p:txBody>
      </p:sp>
      <p:pic>
        <p:nvPicPr>
          <p:cNvPr id="14338" name="Picture 2" descr="I:\Overseas Projects\PHOTOS\2012\Front office 2012\shutterstock_71651842.jpg"/>
          <p:cNvPicPr>
            <a:picLocks noChangeAspect="1" noChangeArrowheads="1"/>
          </p:cNvPicPr>
          <p:nvPr/>
        </p:nvPicPr>
        <p:blipFill>
          <a:blip r:embed="rId3" cstate="print">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6732240" y="2276872"/>
            <a:ext cx="1306835" cy="130683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772816"/>
            <a:ext cx="7467600" cy="4525963"/>
          </a:xfrm>
        </p:spPr>
        <p:txBody>
          <a:bodyPr>
            <a:normAutofit/>
          </a:bodyPr>
          <a:lstStyle/>
          <a:p>
            <a:pPr marL="0" indent="0">
              <a:spcBef>
                <a:spcPts val="600"/>
              </a:spcBef>
              <a:spcAft>
                <a:spcPts val="1200"/>
              </a:spcAft>
              <a:buNone/>
            </a:pPr>
            <a:r>
              <a:rPr lang="en-AU" sz="2200" dirty="0"/>
              <a:t>Operational Risk Management Plans need to include:</a:t>
            </a:r>
            <a:endParaRPr lang="en-AU" sz="2200" b="1" dirty="0"/>
          </a:p>
          <a:p>
            <a:pPr>
              <a:spcBef>
                <a:spcPts val="600"/>
              </a:spcBef>
              <a:spcAft>
                <a:spcPts val="1200"/>
              </a:spcAft>
            </a:pPr>
            <a:r>
              <a:rPr lang="en-AU" sz="2200" dirty="0"/>
              <a:t>Description of the risks to be managed</a:t>
            </a:r>
          </a:p>
          <a:p>
            <a:pPr>
              <a:spcBef>
                <a:spcPts val="600"/>
              </a:spcBef>
              <a:spcAft>
                <a:spcPts val="1200"/>
              </a:spcAft>
            </a:pPr>
            <a:r>
              <a:rPr lang="en-AU" sz="2200" dirty="0"/>
              <a:t>Allocation of resources and responsibilities</a:t>
            </a:r>
          </a:p>
          <a:p>
            <a:pPr>
              <a:spcBef>
                <a:spcPts val="600"/>
              </a:spcBef>
              <a:spcAft>
                <a:spcPts val="1200"/>
              </a:spcAft>
            </a:pPr>
            <a:r>
              <a:rPr lang="en-AU" sz="2200" dirty="0"/>
              <a:t>Action to take should risk be realised</a:t>
            </a:r>
          </a:p>
          <a:p>
            <a:pPr>
              <a:spcBef>
                <a:spcPts val="600"/>
              </a:spcBef>
              <a:spcAft>
                <a:spcPts val="1200"/>
              </a:spcAft>
            </a:pPr>
            <a:r>
              <a:rPr lang="en-AU" sz="2200" dirty="0"/>
              <a:t>Preventative action to be taken</a:t>
            </a:r>
          </a:p>
          <a:p>
            <a:pPr>
              <a:spcBef>
                <a:spcPts val="600"/>
              </a:spcBef>
              <a:spcAft>
                <a:spcPts val="1200"/>
              </a:spcAft>
            </a:pPr>
            <a:r>
              <a:rPr lang="en-AU" sz="2200" dirty="0"/>
              <a:t>Steps to eliminate unacceptable operational risks</a:t>
            </a:r>
          </a:p>
          <a:p>
            <a:pPr>
              <a:spcBef>
                <a:spcPts val="600"/>
              </a:spcBef>
              <a:spcAft>
                <a:spcPts val="1200"/>
              </a:spcAft>
            </a:pPr>
            <a:r>
              <a:rPr lang="en-AU" sz="2200" dirty="0"/>
              <a:t>Risks that can not be eliminated</a:t>
            </a:r>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37</a:t>
            </a:fld>
            <a:endParaRPr lang="en-US" dirty="0">
              <a:latin typeface="Helvetica" pitchFamily="34" charset="0"/>
            </a:endParaRPr>
          </a:p>
        </p:txBody>
      </p:sp>
      <p:sp>
        <p:nvSpPr>
          <p:cNvPr id="7" name="Title 1"/>
          <p:cNvSpPr>
            <a:spLocks noGrp="1"/>
          </p:cNvSpPr>
          <p:nvPr>
            <p:ph type="title"/>
          </p:nvPr>
        </p:nvSpPr>
        <p:spPr>
          <a:xfrm>
            <a:off x="611560" y="332656"/>
            <a:ext cx="7467600" cy="1143000"/>
          </a:xfrm>
        </p:spPr>
        <p:txBody>
          <a:bodyPr>
            <a:normAutofit fontScale="90000"/>
          </a:bodyPr>
          <a:lstStyle/>
          <a:p>
            <a:pPr indent="-457200"/>
            <a:r>
              <a:rPr lang="en-AU" sz="3600" b="1" dirty="0">
                <a:solidFill>
                  <a:srgbClr val="FF6600"/>
                </a:solidFill>
                <a:latin typeface="Helvetica"/>
                <a:cs typeface="Helvetica"/>
              </a:rPr>
              <a:t>2.2 </a:t>
            </a:r>
            <a:r>
              <a:rPr lang="en-AU" sz="3600" b="1" dirty="0" smtClean="0">
                <a:solidFill>
                  <a:srgbClr val="FF6600"/>
                </a:solidFill>
                <a:latin typeface="Helvetica"/>
                <a:cs typeface="Helvetica"/>
              </a:rPr>
              <a:t>	Develop </a:t>
            </a:r>
            <a:r>
              <a:rPr lang="en-AU" sz="3600" b="1" dirty="0">
                <a:solidFill>
                  <a:srgbClr val="FF6600"/>
                </a:solidFill>
                <a:latin typeface="Helvetica"/>
                <a:cs typeface="Helvetica"/>
              </a:rPr>
              <a:t>written Operational Risk </a:t>
            </a:r>
            <a:r>
              <a:rPr lang="en-AU" sz="3600" b="1" dirty="0" smtClean="0">
                <a:solidFill>
                  <a:srgbClr val="FF6600"/>
                </a:solidFill>
                <a:latin typeface="Helvetica"/>
                <a:cs typeface="Helvetica"/>
              </a:rPr>
              <a:t>	Management </a:t>
            </a:r>
            <a:r>
              <a:rPr lang="en-AU" sz="3600" b="1" dirty="0">
                <a:solidFill>
                  <a:srgbClr val="FF6600"/>
                </a:solidFill>
                <a:latin typeface="Helvetica"/>
                <a:cs typeface="Helvetica"/>
              </a:rPr>
              <a:t>Plans</a:t>
            </a:r>
            <a:endParaRPr lang="en-US" sz="3400" b="1" dirty="0">
              <a:solidFill>
                <a:srgbClr val="FF6600"/>
              </a:solidFill>
              <a:latin typeface="Helvetica"/>
              <a:cs typeface="Helvetica"/>
            </a:endParaRPr>
          </a:p>
        </p:txBody>
      </p:sp>
      <p:pic>
        <p:nvPicPr>
          <p:cNvPr id="8" name="Picture 7" descr="I:\Overseas Projects\PHOTOS\2013\Office\freeimage-5156682.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92280" y="2636912"/>
            <a:ext cx="1188596" cy="1783969"/>
          </a:xfrm>
          <a:prstGeom prst="rect">
            <a:avLst/>
          </a:prstGeom>
          <a:noFill/>
          <a:ln>
            <a:noFill/>
          </a:ln>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1143000"/>
          </a:xfrm>
        </p:spPr>
        <p:txBody>
          <a:bodyPr>
            <a:normAutofit fontScale="90000"/>
          </a:bodyPr>
          <a:lstStyle/>
          <a:p>
            <a:pPr indent="-457200"/>
            <a:r>
              <a:rPr lang="en-AU" sz="3600" b="1" dirty="0" smtClean="0">
                <a:solidFill>
                  <a:srgbClr val="FF6600"/>
                </a:solidFill>
                <a:latin typeface="Helvetica"/>
                <a:cs typeface="Helvetica"/>
              </a:rPr>
              <a:t>2.3	Develop </a:t>
            </a:r>
            <a:r>
              <a:rPr lang="en-AU" sz="3600" b="1" dirty="0">
                <a:solidFill>
                  <a:srgbClr val="FF6600"/>
                </a:solidFill>
                <a:latin typeface="Helvetica"/>
                <a:cs typeface="Helvetica"/>
              </a:rPr>
              <a:t>written Operational </a:t>
            </a:r>
            <a:r>
              <a:rPr lang="en-AU" sz="3600" b="1" dirty="0" smtClean="0">
                <a:solidFill>
                  <a:srgbClr val="FF6600"/>
                </a:solidFill>
                <a:latin typeface="Helvetica"/>
                <a:cs typeface="Helvetica"/>
              </a:rPr>
              <a:t>	Contingency </a:t>
            </a:r>
            <a:r>
              <a:rPr lang="en-AU" sz="3600" b="1" dirty="0">
                <a:solidFill>
                  <a:srgbClr val="FF6600"/>
                </a:solidFill>
                <a:latin typeface="Helvetica"/>
                <a:cs typeface="Helvetica"/>
              </a:rPr>
              <a:t>Plans</a:t>
            </a:r>
            <a:endParaRPr lang="en-US" sz="3400" b="1" dirty="0">
              <a:solidFill>
                <a:srgbClr val="FF6600"/>
              </a:solidFill>
              <a:latin typeface="Helvetica"/>
              <a:cs typeface="Helvetica"/>
            </a:endParaRPr>
          </a:p>
        </p:txBody>
      </p:sp>
      <p:sp>
        <p:nvSpPr>
          <p:cNvPr id="3" name="Content Placeholder 2"/>
          <p:cNvSpPr>
            <a:spLocks noGrp="1"/>
          </p:cNvSpPr>
          <p:nvPr>
            <p:ph idx="1"/>
          </p:nvPr>
        </p:nvSpPr>
        <p:spPr>
          <a:xfrm>
            <a:off x="611560" y="1700808"/>
            <a:ext cx="7467600" cy="4525963"/>
          </a:xfrm>
        </p:spPr>
        <p:txBody>
          <a:bodyPr>
            <a:normAutofit/>
          </a:bodyPr>
          <a:lstStyle/>
          <a:p>
            <a:pPr marL="36576" indent="0">
              <a:spcBef>
                <a:spcPts val="600"/>
              </a:spcBef>
              <a:spcAft>
                <a:spcPts val="1200"/>
              </a:spcAft>
              <a:buNone/>
            </a:pPr>
            <a:r>
              <a:rPr lang="en-AU" sz="2200" b="1" dirty="0"/>
              <a:t>What is a Contingency Plan?</a:t>
            </a:r>
          </a:p>
          <a:p>
            <a:pPr>
              <a:spcBef>
                <a:spcPts val="600"/>
              </a:spcBef>
              <a:spcAft>
                <a:spcPts val="1200"/>
              </a:spcAft>
            </a:pPr>
            <a:r>
              <a:rPr lang="en-AU" sz="2200" dirty="0" smtClean="0"/>
              <a:t>A </a:t>
            </a:r>
            <a:r>
              <a:rPr lang="en-AU" sz="2200" dirty="0"/>
              <a:t>plan which provides detail and directions in </a:t>
            </a:r>
            <a:r>
              <a:rPr lang="en-AU" sz="2200" dirty="0" smtClean="0"/>
              <a:t>the </a:t>
            </a:r>
            <a:r>
              <a:rPr lang="en-AU" sz="2200" dirty="0"/>
              <a:t>event that a major risk is realised and </a:t>
            </a:r>
            <a:r>
              <a:rPr lang="en-AU" sz="2200" dirty="0" smtClean="0"/>
              <a:t>begins to </a:t>
            </a:r>
            <a:r>
              <a:rPr lang="en-AU" sz="2200" dirty="0"/>
              <a:t>impact on normal </a:t>
            </a:r>
            <a:r>
              <a:rPr lang="en-AU" sz="2200" dirty="0" smtClean="0"/>
              <a:t>operations</a:t>
            </a:r>
            <a:endParaRPr lang="en-AU" sz="2200" dirty="0"/>
          </a:p>
          <a:p>
            <a:pPr>
              <a:spcBef>
                <a:spcPts val="600"/>
              </a:spcBef>
              <a:spcAft>
                <a:spcPts val="1200"/>
              </a:spcAft>
            </a:pPr>
            <a:r>
              <a:rPr lang="en-AU" sz="2200" dirty="0" smtClean="0"/>
              <a:t>What </a:t>
            </a:r>
            <a:r>
              <a:rPr lang="en-AU" sz="2200" dirty="0"/>
              <a:t>situations might occur that require a contingency?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38</a:t>
            </a:fld>
            <a:endParaRPr lang="en-US" dirty="0">
              <a:latin typeface="Helvetica" pitchFamily="34" charset="0"/>
            </a:endParaRPr>
          </a:p>
        </p:txBody>
      </p:sp>
      <p:pic>
        <p:nvPicPr>
          <p:cNvPr id="7" name="Picture 6" descr="C:\Documents and Settings\danielc\Desktop\36319_team_meeting.jpg"/>
          <p:cNvPicPr/>
          <p:nvPr/>
        </p:nvPicPr>
        <p:blipFill>
          <a:blip r:embed="rId3" cstate="print"/>
          <a:srcRect/>
          <a:stretch>
            <a:fillRect/>
          </a:stretch>
        </p:blipFill>
        <p:spPr bwMode="auto">
          <a:xfrm>
            <a:off x="6948264" y="3415774"/>
            <a:ext cx="1775460" cy="130937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6264696" cy="4525963"/>
          </a:xfrm>
        </p:spPr>
        <p:txBody>
          <a:bodyPr>
            <a:normAutofit/>
          </a:bodyPr>
          <a:lstStyle/>
          <a:p>
            <a:pPr marL="0" indent="0">
              <a:spcBef>
                <a:spcPts val="600"/>
              </a:spcBef>
              <a:spcAft>
                <a:spcPts val="1200"/>
              </a:spcAft>
              <a:buNone/>
            </a:pPr>
            <a:r>
              <a:rPr lang="en-AU" sz="2200" dirty="0"/>
              <a:t>Developing a plan</a:t>
            </a:r>
          </a:p>
          <a:p>
            <a:pPr>
              <a:spcBef>
                <a:spcPts val="600"/>
              </a:spcBef>
              <a:spcAft>
                <a:spcPts val="1200"/>
              </a:spcAft>
            </a:pPr>
            <a:r>
              <a:rPr lang="en-AU" sz="2200" dirty="0"/>
              <a:t>Get a representative group together</a:t>
            </a:r>
          </a:p>
          <a:p>
            <a:pPr>
              <a:spcBef>
                <a:spcPts val="600"/>
              </a:spcBef>
              <a:spcAft>
                <a:spcPts val="1200"/>
              </a:spcAft>
            </a:pPr>
            <a:r>
              <a:rPr lang="en-AU" sz="2200" dirty="0"/>
              <a:t>Consider processes for which contingencies need to be made</a:t>
            </a:r>
          </a:p>
          <a:p>
            <a:pPr>
              <a:spcBef>
                <a:spcPts val="600"/>
              </a:spcBef>
              <a:spcAft>
                <a:spcPts val="1200"/>
              </a:spcAft>
            </a:pPr>
            <a:r>
              <a:rPr lang="en-AU" sz="2200" dirty="0"/>
              <a:t>Determine events which could impact on them</a:t>
            </a:r>
          </a:p>
          <a:p>
            <a:pPr>
              <a:spcBef>
                <a:spcPts val="600"/>
              </a:spcBef>
              <a:spcAft>
                <a:spcPts val="1200"/>
              </a:spcAft>
            </a:pPr>
            <a:r>
              <a:rPr lang="en-AU" sz="2200" dirty="0"/>
              <a:t>Develop steps to deal with these impacts</a:t>
            </a:r>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39</a:t>
            </a:fld>
            <a:endParaRPr lang="en-US" dirty="0">
              <a:latin typeface="Helvetica" pitchFamily="34" charset="0"/>
            </a:endParaRPr>
          </a:p>
        </p:txBody>
      </p:sp>
      <p:sp>
        <p:nvSpPr>
          <p:cNvPr id="7" name="Title 1"/>
          <p:cNvSpPr>
            <a:spLocks noGrp="1"/>
          </p:cNvSpPr>
          <p:nvPr>
            <p:ph type="title"/>
          </p:nvPr>
        </p:nvSpPr>
        <p:spPr>
          <a:xfrm>
            <a:off x="611560" y="332656"/>
            <a:ext cx="7920880" cy="1143000"/>
          </a:xfrm>
        </p:spPr>
        <p:txBody>
          <a:bodyPr>
            <a:normAutofit fontScale="90000"/>
          </a:bodyPr>
          <a:lstStyle/>
          <a:p>
            <a:pPr indent="-457200"/>
            <a:r>
              <a:rPr lang="en-AU" sz="3600" b="1" dirty="0" smtClean="0">
                <a:solidFill>
                  <a:srgbClr val="FF6600"/>
                </a:solidFill>
                <a:latin typeface="Helvetica"/>
                <a:cs typeface="Helvetica"/>
              </a:rPr>
              <a:t>2.3	Develop </a:t>
            </a:r>
            <a:r>
              <a:rPr lang="en-AU" sz="3600" b="1" dirty="0">
                <a:solidFill>
                  <a:srgbClr val="FF6600"/>
                </a:solidFill>
                <a:latin typeface="Helvetica"/>
                <a:cs typeface="Helvetica"/>
              </a:rPr>
              <a:t>written Operational </a:t>
            </a:r>
            <a:r>
              <a:rPr lang="en-AU" sz="3600" b="1" dirty="0" smtClean="0">
                <a:solidFill>
                  <a:srgbClr val="FF6600"/>
                </a:solidFill>
                <a:latin typeface="Helvetica"/>
                <a:cs typeface="Helvetica"/>
              </a:rPr>
              <a:t>	Contingency </a:t>
            </a:r>
            <a:r>
              <a:rPr lang="en-AU" sz="3600" b="1" dirty="0">
                <a:solidFill>
                  <a:srgbClr val="FF6600"/>
                </a:solidFill>
                <a:latin typeface="Helvetica"/>
                <a:cs typeface="Helvetica"/>
              </a:rPr>
              <a:t>Plans</a:t>
            </a:r>
            <a:endParaRPr lang="en-US" sz="3400" b="1" dirty="0">
              <a:solidFill>
                <a:srgbClr val="FF6600"/>
              </a:solidFill>
              <a:latin typeface="Helvetica"/>
              <a:cs typeface="Helvetica"/>
            </a:endParaRPr>
          </a:p>
        </p:txBody>
      </p:sp>
      <p:pic>
        <p:nvPicPr>
          <p:cNvPr id="8" name="Picture 7" descr="I:\Overseas Projects\PHOTOS\2012\Office\36322_people.jpg"/>
          <p:cNvPicPr/>
          <p:nvPr/>
        </p:nvPicPr>
        <p:blipFill>
          <a:blip r:embed="rId3" cstate="print"/>
          <a:srcRect/>
          <a:stretch>
            <a:fillRect/>
          </a:stretch>
        </p:blipFill>
        <p:spPr bwMode="auto">
          <a:xfrm>
            <a:off x="7022132" y="2636912"/>
            <a:ext cx="1852451" cy="138573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467600" cy="4525963"/>
          </a:xfrm>
        </p:spPr>
        <p:txBody>
          <a:bodyPr>
            <a:normAutofit/>
          </a:bodyPr>
          <a:lstStyle/>
          <a:p>
            <a:pPr algn="ctr">
              <a:buNone/>
            </a:pPr>
            <a:endParaRPr lang="en-AU" sz="2400" dirty="0" smtClean="0"/>
          </a:p>
          <a:p>
            <a:pPr marL="36576" indent="0">
              <a:spcBef>
                <a:spcPts val="600"/>
              </a:spcBef>
              <a:spcAft>
                <a:spcPts val="1200"/>
              </a:spcAft>
              <a:buNone/>
            </a:pPr>
            <a:r>
              <a:rPr lang="en-AU" sz="2400" b="1" dirty="0" smtClean="0"/>
              <a:t>Testing </a:t>
            </a:r>
            <a:r>
              <a:rPr lang="en-AU" sz="2400" b="1" dirty="0"/>
              <a:t>the Contingency Plan</a:t>
            </a:r>
          </a:p>
          <a:p>
            <a:pPr>
              <a:spcBef>
                <a:spcPts val="600"/>
              </a:spcBef>
              <a:spcAft>
                <a:spcPts val="1200"/>
              </a:spcAft>
            </a:pPr>
            <a:r>
              <a:rPr lang="en-AU" sz="2400" dirty="0" smtClean="0"/>
              <a:t>How </a:t>
            </a:r>
            <a:r>
              <a:rPr lang="en-AU" sz="2400" dirty="0"/>
              <a:t>do we know our plan will work? </a:t>
            </a:r>
          </a:p>
          <a:p>
            <a:pPr>
              <a:spcBef>
                <a:spcPts val="600"/>
              </a:spcBef>
              <a:spcAft>
                <a:spcPts val="1200"/>
              </a:spcAft>
            </a:pPr>
            <a:r>
              <a:rPr lang="en-AU" sz="2400" dirty="0" smtClean="0"/>
              <a:t>How </a:t>
            </a:r>
            <a:r>
              <a:rPr lang="en-AU" sz="2400" dirty="0"/>
              <a:t>should we prepare for an actual test? </a:t>
            </a:r>
          </a:p>
          <a:p>
            <a:pPr>
              <a:spcBef>
                <a:spcPts val="600"/>
              </a:spcBef>
              <a:spcAft>
                <a:spcPts val="1200"/>
              </a:spcAft>
            </a:pPr>
            <a:r>
              <a:rPr lang="en-AU" sz="2400" dirty="0" smtClean="0"/>
              <a:t>What </a:t>
            </a:r>
            <a:r>
              <a:rPr lang="en-AU" sz="2400" dirty="0"/>
              <a:t>are the risks in doing this? </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40</a:t>
            </a:fld>
            <a:endParaRPr lang="en-US" dirty="0">
              <a:latin typeface="Helvetica" pitchFamily="34" charset="0"/>
            </a:endParaRPr>
          </a:p>
        </p:txBody>
      </p:sp>
      <p:sp>
        <p:nvSpPr>
          <p:cNvPr id="7" name="Title 1"/>
          <p:cNvSpPr>
            <a:spLocks noGrp="1"/>
          </p:cNvSpPr>
          <p:nvPr>
            <p:ph type="title"/>
          </p:nvPr>
        </p:nvSpPr>
        <p:spPr>
          <a:xfrm>
            <a:off x="611560" y="332656"/>
            <a:ext cx="7920880" cy="1143000"/>
          </a:xfrm>
        </p:spPr>
        <p:txBody>
          <a:bodyPr>
            <a:normAutofit fontScale="90000"/>
          </a:bodyPr>
          <a:lstStyle/>
          <a:p>
            <a:pPr indent="-457200"/>
            <a:r>
              <a:rPr lang="en-AU" sz="3600" b="1" dirty="0" smtClean="0">
                <a:solidFill>
                  <a:srgbClr val="FF6600"/>
                </a:solidFill>
                <a:latin typeface="Helvetica"/>
                <a:cs typeface="Helvetica"/>
              </a:rPr>
              <a:t>2.3	Develop </a:t>
            </a:r>
            <a:r>
              <a:rPr lang="en-AU" sz="3600" b="1" dirty="0">
                <a:solidFill>
                  <a:srgbClr val="FF6600"/>
                </a:solidFill>
                <a:latin typeface="Helvetica"/>
                <a:cs typeface="Helvetica"/>
              </a:rPr>
              <a:t>written Operational </a:t>
            </a:r>
            <a:r>
              <a:rPr lang="en-AU" sz="3600" b="1" dirty="0" smtClean="0">
                <a:solidFill>
                  <a:srgbClr val="FF6600"/>
                </a:solidFill>
                <a:latin typeface="Helvetica"/>
                <a:cs typeface="Helvetica"/>
              </a:rPr>
              <a:t>	Contingency </a:t>
            </a:r>
            <a:r>
              <a:rPr lang="en-AU" sz="3600" b="1" dirty="0">
                <a:solidFill>
                  <a:srgbClr val="FF6600"/>
                </a:solidFill>
                <a:latin typeface="Helvetica"/>
                <a:cs typeface="Helvetica"/>
              </a:rPr>
              <a:t>Plans</a:t>
            </a:r>
            <a:endParaRPr lang="en-US" sz="3400" b="1" dirty="0">
              <a:solidFill>
                <a:srgbClr val="FF6600"/>
              </a:solidFill>
              <a:latin typeface="Helvetica"/>
              <a:cs typeface="Helvetica"/>
            </a:endParaRPr>
          </a:p>
        </p:txBody>
      </p:sp>
      <p:pic>
        <p:nvPicPr>
          <p:cNvPr id="15362" name="Picture 2" descr="I:\Overseas Projects\PHOTOS\2014\Shutterstock 25-a-day\shutterstock_17487595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35896" y="4581128"/>
            <a:ext cx="2485653" cy="1658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409160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9776"/>
            <a:ext cx="8280920" cy="1143000"/>
          </a:xfrm>
        </p:spPr>
        <p:txBody>
          <a:bodyPr>
            <a:normAutofit fontScale="90000"/>
          </a:bodyPr>
          <a:lstStyle/>
          <a:p>
            <a:pPr indent="-457200"/>
            <a:r>
              <a:rPr lang="en-AU" sz="3600" b="1" dirty="0" smtClean="0">
                <a:solidFill>
                  <a:srgbClr val="FF6600"/>
                </a:solidFill>
                <a:latin typeface="Helvetica"/>
                <a:cs typeface="Helvetica"/>
              </a:rPr>
              <a:t>3.1	Inform </a:t>
            </a:r>
            <a:r>
              <a:rPr lang="en-AU" sz="3600" b="1" dirty="0">
                <a:solidFill>
                  <a:srgbClr val="FF6600"/>
                </a:solidFill>
                <a:latin typeface="Helvetica"/>
                <a:cs typeface="Helvetica"/>
              </a:rPr>
              <a:t>staff of operational risk </a:t>
            </a:r>
            <a:r>
              <a:rPr lang="en-AU" sz="3600" b="1" dirty="0" smtClean="0">
                <a:solidFill>
                  <a:srgbClr val="FF6600"/>
                </a:solidFill>
                <a:latin typeface="Helvetica"/>
                <a:cs typeface="Helvetica"/>
              </a:rPr>
              <a:t>	management </a:t>
            </a:r>
            <a:r>
              <a:rPr lang="en-AU" sz="3600" b="1" dirty="0">
                <a:solidFill>
                  <a:srgbClr val="FF6600"/>
                </a:solidFill>
                <a:latin typeface="Helvetica"/>
                <a:cs typeface="Helvetica"/>
              </a:rPr>
              <a:t>and contingency plans</a:t>
            </a:r>
            <a:endParaRPr lang="en-US" sz="3400" b="1" dirty="0">
              <a:solidFill>
                <a:srgbClr val="FF6600"/>
              </a:solidFill>
              <a:latin typeface="Helvetica"/>
              <a:cs typeface="Helvetica"/>
            </a:endParaRPr>
          </a:p>
        </p:txBody>
      </p:sp>
      <p:sp>
        <p:nvSpPr>
          <p:cNvPr id="3" name="Content Placeholder 2"/>
          <p:cNvSpPr>
            <a:spLocks noGrp="1"/>
          </p:cNvSpPr>
          <p:nvPr>
            <p:ph idx="1"/>
          </p:nvPr>
        </p:nvSpPr>
        <p:spPr>
          <a:xfrm>
            <a:off x="611560" y="1556792"/>
            <a:ext cx="6192688" cy="4525963"/>
          </a:xfrm>
        </p:spPr>
        <p:txBody>
          <a:bodyPr>
            <a:normAutofit/>
          </a:bodyPr>
          <a:lstStyle/>
          <a:p>
            <a:pPr marL="0" indent="0">
              <a:spcBef>
                <a:spcPts val="600"/>
              </a:spcBef>
              <a:spcAft>
                <a:spcPts val="1200"/>
              </a:spcAft>
              <a:buNone/>
            </a:pPr>
            <a:r>
              <a:rPr lang="en-AU" sz="2200" dirty="0"/>
              <a:t>Staff have valuable knowledge to contribute to </a:t>
            </a:r>
            <a:r>
              <a:rPr lang="en-AU" sz="2200" dirty="0" smtClean="0"/>
              <a:t>the </a:t>
            </a:r>
            <a:r>
              <a:rPr lang="en-AU" sz="2200" dirty="0"/>
              <a:t>Risk and Contingency planning process like:</a:t>
            </a:r>
          </a:p>
          <a:p>
            <a:pPr marL="514350" indent="-514350">
              <a:spcBef>
                <a:spcPts val="600"/>
              </a:spcBef>
              <a:spcAft>
                <a:spcPts val="1200"/>
              </a:spcAft>
              <a:buSzPct val="100000"/>
              <a:buAutoNum type="arabicPeriod"/>
            </a:pPr>
            <a:r>
              <a:rPr lang="en-AU" sz="2200" dirty="0"/>
              <a:t>Knowledge of issues with workplace issues</a:t>
            </a:r>
          </a:p>
          <a:p>
            <a:pPr marL="514350" indent="-514350">
              <a:spcBef>
                <a:spcPts val="600"/>
              </a:spcBef>
              <a:spcAft>
                <a:spcPts val="1200"/>
              </a:spcAft>
              <a:buSzPct val="100000"/>
              <a:buAutoNum type="arabicPeriod"/>
            </a:pPr>
            <a:r>
              <a:rPr lang="en-AU" sz="2200" dirty="0"/>
              <a:t>Awareness of faults with work processes</a:t>
            </a:r>
          </a:p>
          <a:p>
            <a:pPr marL="514350" indent="-514350">
              <a:spcBef>
                <a:spcPts val="600"/>
              </a:spcBef>
              <a:spcAft>
                <a:spcPts val="1200"/>
              </a:spcAft>
              <a:buSzPct val="100000"/>
              <a:buAutoNum type="arabicPeriod"/>
            </a:pPr>
            <a:r>
              <a:rPr lang="en-AU" sz="2200" dirty="0"/>
              <a:t>Workplace design/layout issues</a:t>
            </a:r>
          </a:p>
          <a:p>
            <a:pPr marL="514350" indent="-514350">
              <a:spcBef>
                <a:spcPts val="600"/>
              </a:spcBef>
              <a:spcAft>
                <a:spcPts val="1200"/>
              </a:spcAft>
              <a:buSzPct val="100000"/>
              <a:buAutoNum type="arabicPeriod"/>
            </a:pPr>
            <a:r>
              <a:rPr lang="en-AU" sz="2200" dirty="0"/>
              <a:t>Experience with the type, seriousness and frequency of workplace events</a:t>
            </a:r>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41</a:t>
            </a:fld>
            <a:endParaRPr lang="en-US" dirty="0">
              <a:latin typeface="Helvetica" pitchFamily="34" charset="0"/>
            </a:endParaRPr>
          </a:p>
        </p:txBody>
      </p:sp>
      <p:pic>
        <p:nvPicPr>
          <p:cNvPr id="16386" name="Picture 2" descr="I:\Overseas Projects\PHOTOS\2012\Front office 2012\BW_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54913" y="2636912"/>
            <a:ext cx="1422118" cy="18918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409160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711349"/>
            <a:ext cx="7467600" cy="4525963"/>
          </a:xfrm>
        </p:spPr>
        <p:txBody>
          <a:bodyPr>
            <a:normAutofit/>
          </a:bodyPr>
          <a:lstStyle/>
          <a:p>
            <a:pPr marL="342900" indent="-342900">
              <a:spcBef>
                <a:spcPts val="600"/>
              </a:spcBef>
              <a:spcAft>
                <a:spcPts val="1200"/>
              </a:spcAft>
            </a:pPr>
            <a:r>
              <a:rPr lang="en-US" sz="2200" dirty="0" smtClean="0"/>
              <a:t>How </a:t>
            </a:r>
            <a:r>
              <a:rPr lang="en-US" sz="2200" dirty="0"/>
              <a:t>do staff access their organisation’s Risk Management and Contingency Plans?</a:t>
            </a:r>
          </a:p>
          <a:p>
            <a:pPr marL="342900" indent="-342900">
              <a:spcBef>
                <a:spcPts val="600"/>
              </a:spcBef>
              <a:spcAft>
                <a:spcPts val="1200"/>
              </a:spcAft>
            </a:pPr>
            <a:r>
              <a:rPr lang="en-AU" sz="2200" dirty="0" smtClean="0"/>
              <a:t>Does </a:t>
            </a:r>
            <a:r>
              <a:rPr lang="en-AU" sz="2200" dirty="0"/>
              <a:t>a business make it easy for staff to understand what is required of them in the Risk Management and Contingency Process?</a:t>
            </a:r>
          </a:p>
          <a:p>
            <a:pPr marL="360000" indent="-360000">
              <a:spcBef>
                <a:spcPts val="600"/>
              </a:spcBef>
              <a:spcAft>
                <a:spcPts val="1200"/>
              </a:spcAft>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42</a:t>
            </a:fld>
            <a:endParaRPr lang="en-US" dirty="0">
              <a:latin typeface="Helvetica" pitchFamily="34" charset="0"/>
            </a:endParaRPr>
          </a:p>
        </p:txBody>
      </p:sp>
      <p:sp>
        <p:nvSpPr>
          <p:cNvPr id="7" name="Title 1"/>
          <p:cNvSpPr>
            <a:spLocks noGrp="1"/>
          </p:cNvSpPr>
          <p:nvPr>
            <p:ph type="title"/>
          </p:nvPr>
        </p:nvSpPr>
        <p:spPr>
          <a:xfrm>
            <a:off x="611560" y="269776"/>
            <a:ext cx="8280920" cy="1143000"/>
          </a:xfrm>
        </p:spPr>
        <p:txBody>
          <a:bodyPr>
            <a:normAutofit fontScale="90000"/>
          </a:bodyPr>
          <a:lstStyle/>
          <a:p>
            <a:pPr indent="-457200"/>
            <a:r>
              <a:rPr lang="en-AU" sz="3600" b="1" dirty="0" smtClean="0">
                <a:solidFill>
                  <a:srgbClr val="FF6600"/>
                </a:solidFill>
                <a:latin typeface="Helvetica"/>
                <a:cs typeface="Helvetica"/>
              </a:rPr>
              <a:t>3.1	Inform </a:t>
            </a:r>
            <a:r>
              <a:rPr lang="en-AU" sz="3600" b="1" dirty="0">
                <a:solidFill>
                  <a:srgbClr val="FF6600"/>
                </a:solidFill>
                <a:latin typeface="Helvetica"/>
                <a:cs typeface="Helvetica"/>
              </a:rPr>
              <a:t>staff of operational risk </a:t>
            </a:r>
            <a:r>
              <a:rPr lang="en-AU" sz="3600" b="1" dirty="0" smtClean="0">
                <a:solidFill>
                  <a:srgbClr val="FF6600"/>
                </a:solidFill>
                <a:latin typeface="Helvetica"/>
                <a:cs typeface="Helvetica"/>
              </a:rPr>
              <a:t>	management </a:t>
            </a:r>
            <a:r>
              <a:rPr lang="en-AU" sz="3600" b="1" dirty="0">
                <a:solidFill>
                  <a:srgbClr val="FF6600"/>
                </a:solidFill>
                <a:latin typeface="Helvetica"/>
                <a:cs typeface="Helvetica"/>
              </a:rPr>
              <a:t>and contingency plans</a:t>
            </a:r>
            <a:endParaRPr lang="en-US" sz="3400" b="1" dirty="0">
              <a:solidFill>
                <a:srgbClr val="FF6600"/>
              </a:solidFill>
              <a:latin typeface="Helvetica"/>
              <a:cs typeface="Helvetica"/>
            </a:endParaRPr>
          </a:p>
        </p:txBody>
      </p:sp>
      <p:pic>
        <p:nvPicPr>
          <p:cNvPr id="8" name="Picture 7" descr="C:\Documents and Settings\danielc\Local Settings\Temporary Internet Files\Content.IE5\V9A2RTT8\MC900071416[1].wmf"/>
          <p:cNvPicPr/>
          <p:nvPr/>
        </p:nvPicPr>
        <p:blipFill>
          <a:blip r:embed="rId3" cstate="print"/>
          <a:srcRect/>
          <a:stretch>
            <a:fillRect/>
          </a:stretch>
        </p:blipFill>
        <p:spPr bwMode="auto">
          <a:xfrm>
            <a:off x="3707904" y="3967631"/>
            <a:ext cx="2520280" cy="1582383"/>
          </a:xfrm>
          <a:prstGeom prst="rect">
            <a:avLst/>
          </a:prstGeom>
          <a:noFill/>
          <a:ln w="9525">
            <a:noFill/>
            <a:miter lim="800000"/>
            <a:headEnd/>
            <a:tailEnd/>
          </a:ln>
        </p:spPr>
      </p:pic>
    </p:spTree>
    <p:extLst>
      <p:ext uri="{BB962C8B-B14F-4D97-AF65-F5344CB8AC3E}">
        <p14:creationId xmlns:p14="http://schemas.microsoft.com/office/powerpoint/2010/main" val="247409160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639341"/>
            <a:ext cx="7467600" cy="4525963"/>
          </a:xfrm>
        </p:spPr>
        <p:txBody>
          <a:bodyPr>
            <a:normAutofit/>
          </a:bodyPr>
          <a:lstStyle/>
          <a:p>
            <a:pPr marL="0" indent="0">
              <a:spcBef>
                <a:spcPts val="600"/>
              </a:spcBef>
              <a:spcAft>
                <a:spcPts val="1200"/>
              </a:spcAft>
              <a:buNone/>
            </a:pPr>
            <a:r>
              <a:rPr lang="en-AU" sz="2200" dirty="0" smtClean="0"/>
              <a:t>Procedures </a:t>
            </a:r>
            <a:r>
              <a:rPr lang="en-AU" sz="2200" dirty="0"/>
              <a:t>for staff to notify of risk:</a:t>
            </a:r>
          </a:p>
          <a:p>
            <a:pPr>
              <a:spcBef>
                <a:spcPts val="600"/>
              </a:spcBef>
              <a:spcAft>
                <a:spcPts val="1200"/>
              </a:spcAft>
            </a:pPr>
            <a:r>
              <a:rPr lang="en-AU" sz="2200" dirty="0"/>
              <a:t>Verbal reports to supervisors</a:t>
            </a:r>
          </a:p>
          <a:p>
            <a:pPr>
              <a:spcBef>
                <a:spcPts val="600"/>
              </a:spcBef>
              <a:spcAft>
                <a:spcPts val="1200"/>
              </a:spcAft>
            </a:pPr>
            <a:r>
              <a:rPr lang="en-AU" sz="2200" dirty="0"/>
              <a:t>Completion of a report form</a:t>
            </a:r>
          </a:p>
          <a:p>
            <a:pPr>
              <a:spcBef>
                <a:spcPts val="600"/>
              </a:spcBef>
              <a:spcAft>
                <a:spcPts val="1200"/>
              </a:spcAft>
            </a:pPr>
            <a:r>
              <a:rPr lang="en-AU" sz="2200" dirty="0"/>
              <a:t>Raising the issue at staff meetings</a:t>
            </a:r>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43</a:t>
            </a:fld>
            <a:endParaRPr lang="en-US" dirty="0">
              <a:latin typeface="Helvetica" pitchFamily="34" charset="0"/>
            </a:endParaRPr>
          </a:p>
        </p:txBody>
      </p:sp>
      <p:sp>
        <p:nvSpPr>
          <p:cNvPr id="6" name="Rectangle 5"/>
          <p:cNvSpPr/>
          <p:nvPr/>
        </p:nvSpPr>
        <p:spPr>
          <a:xfrm>
            <a:off x="971600" y="5229200"/>
            <a:ext cx="6629400" cy="609600"/>
          </a:xfrm>
          <a:prstGeom prst="rect">
            <a:avLst/>
          </a:prstGeom>
          <a:solidFill>
            <a:srgbClr val="D9D9D9"/>
          </a:solidFill>
          <a:ln>
            <a:solidFill>
              <a:srgbClr val="B61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rgbClr val="000000"/>
                </a:solidFill>
                <a:latin typeface="Helvetica" pitchFamily="34" charset="0"/>
              </a:rPr>
              <a:t>Now look at the Sample Hazard Report Form in your </a:t>
            </a:r>
          </a:p>
          <a:p>
            <a:pPr algn="ctr"/>
            <a:r>
              <a:rPr lang="en-US" dirty="0" smtClean="0">
                <a:solidFill>
                  <a:srgbClr val="000000"/>
                </a:solidFill>
                <a:latin typeface="Helvetica" pitchFamily="34" charset="0"/>
              </a:rPr>
              <a:t>Trainee Manual.</a:t>
            </a:r>
            <a:endParaRPr lang="en-US" dirty="0">
              <a:solidFill>
                <a:srgbClr val="000000"/>
              </a:solidFill>
              <a:latin typeface="Helvetica" pitchFamily="34" charset="0"/>
            </a:endParaRPr>
          </a:p>
        </p:txBody>
      </p:sp>
      <p:sp>
        <p:nvSpPr>
          <p:cNvPr id="8" name="Title 1"/>
          <p:cNvSpPr>
            <a:spLocks noGrp="1"/>
          </p:cNvSpPr>
          <p:nvPr>
            <p:ph type="title"/>
          </p:nvPr>
        </p:nvSpPr>
        <p:spPr>
          <a:xfrm>
            <a:off x="611560" y="269776"/>
            <a:ext cx="8280920" cy="1143000"/>
          </a:xfrm>
        </p:spPr>
        <p:txBody>
          <a:bodyPr>
            <a:normAutofit fontScale="90000"/>
          </a:bodyPr>
          <a:lstStyle/>
          <a:p>
            <a:pPr indent="-457200"/>
            <a:r>
              <a:rPr lang="en-AU" sz="3600" b="1" dirty="0" smtClean="0">
                <a:solidFill>
                  <a:srgbClr val="FF6600"/>
                </a:solidFill>
                <a:latin typeface="Helvetica"/>
                <a:cs typeface="Helvetica"/>
              </a:rPr>
              <a:t>3.1	Inform </a:t>
            </a:r>
            <a:r>
              <a:rPr lang="en-AU" sz="3600" b="1" dirty="0">
                <a:solidFill>
                  <a:srgbClr val="FF6600"/>
                </a:solidFill>
                <a:latin typeface="Helvetica"/>
                <a:cs typeface="Helvetica"/>
              </a:rPr>
              <a:t>staff of operational risk </a:t>
            </a:r>
            <a:r>
              <a:rPr lang="en-AU" sz="3600" b="1" dirty="0" smtClean="0">
                <a:solidFill>
                  <a:srgbClr val="FF6600"/>
                </a:solidFill>
                <a:latin typeface="Helvetica"/>
                <a:cs typeface="Helvetica"/>
              </a:rPr>
              <a:t>	management </a:t>
            </a:r>
            <a:r>
              <a:rPr lang="en-AU" sz="3600" b="1" dirty="0">
                <a:solidFill>
                  <a:srgbClr val="FF6600"/>
                </a:solidFill>
                <a:latin typeface="Helvetica"/>
                <a:cs typeface="Helvetica"/>
              </a:rPr>
              <a:t>and contingency plans</a:t>
            </a:r>
            <a:endParaRPr lang="en-US" sz="3400" b="1" dirty="0">
              <a:solidFill>
                <a:srgbClr val="FF6600"/>
              </a:solidFill>
              <a:latin typeface="Helvetica"/>
              <a:cs typeface="Helvetica"/>
            </a:endParaRPr>
          </a:p>
        </p:txBody>
      </p:sp>
      <p:pic>
        <p:nvPicPr>
          <p:cNvPr id="9" name="Picture 8" descr="C:\Documents and Settings\danielc\Local Settings\Temporary Internet Files\Content.IE5\3Y3SDCJX\MC900071393[1].wmf"/>
          <p:cNvPicPr/>
          <p:nvPr/>
        </p:nvPicPr>
        <p:blipFill>
          <a:blip r:embed="rId3" cstate="print"/>
          <a:srcRect/>
          <a:stretch>
            <a:fillRect/>
          </a:stretch>
        </p:blipFill>
        <p:spPr bwMode="auto">
          <a:xfrm>
            <a:off x="6228184" y="2348880"/>
            <a:ext cx="1737995" cy="1337945"/>
          </a:xfrm>
          <a:prstGeom prst="rect">
            <a:avLst/>
          </a:prstGeom>
          <a:noFill/>
          <a:ln w="9525">
            <a:noFill/>
            <a:miter lim="800000"/>
            <a:headEnd/>
            <a:tailEnd/>
          </a:ln>
        </p:spPr>
      </p:pic>
    </p:spTree>
    <p:extLst>
      <p:ext uri="{BB962C8B-B14F-4D97-AF65-F5344CB8AC3E}">
        <p14:creationId xmlns:p14="http://schemas.microsoft.com/office/powerpoint/2010/main" val="247409160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fontScale="90000"/>
          </a:bodyPr>
          <a:lstStyle/>
          <a:p>
            <a:pPr indent="-457200"/>
            <a:r>
              <a:rPr lang="en-AU" sz="3600" b="1" dirty="0" smtClean="0">
                <a:solidFill>
                  <a:srgbClr val="FF6600"/>
                </a:solidFill>
                <a:latin typeface="Helvetica"/>
                <a:cs typeface="Helvetica"/>
              </a:rPr>
              <a:t>3.2	Conduct </a:t>
            </a:r>
            <a:r>
              <a:rPr lang="en-AU" sz="3600" b="1" dirty="0">
                <a:solidFill>
                  <a:srgbClr val="FF6600"/>
                </a:solidFill>
                <a:latin typeface="Helvetica"/>
                <a:cs typeface="Helvetica"/>
              </a:rPr>
              <a:t>staff training in Risk </a:t>
            </a:r>
            <a:r>
              <a:rPr lang="en-AU" sz="3600" b="1" dirty="0" smtClean="0">
                <a:solidFill>
                  <a:srgbClr val="FF6600"/>
                </a:solidFill>
                <a:latin typeface="Helvetica"/>
                <a:cs typeface="Helvetica"/>
              </a:rPr>
              <a:t>	Management</a:t>
            </a:r>
            <a:endParaRPr lang="en-US" sz="3400" b="1" dirty="0">
              <a:solidFill>
                <a:srgbClr val="FF6600"/>
              </a:solidFill>
              <a:latin typeface="Helvetica"/>
              <a:cs typeface="Helvetica"/>
            </a:endParaRPr>
          </a:p>
        </p:txBody>
      </p:sp>
      <p:sp>
        <p:nvSpPr>
          <p:cNvPr id="3" name="Content Placeholder 2"/>
          <p:cNvSpPr>
            <a:spLocks noGrp="1"/>
          </p:cNvSpPr>
          <p:nvPr>
            <p:ph idx="1"/>
          </p:nvPr>
        </p:nvSpPr>
        <p:spPr>
          <a:xfrm>
            <a:off x="611560" y="1711349"/>
            <a:ext cx="7467600" cy="4525963"/>
          </a:xfrm>
        </p:spPr>
        <p:txBody>
          <a:bodyPr>
            <a:normAutofit/>
          </a:bodyPr>
          <a:lstStyle/>
          <a:p>
            <a:pPr marL="0" indent="0">
              <a:spcBef>
                <a:spcPts val="600"/>
              </a:spcBef>
              <a:spcAft>
                <a:spcPts val="1200"/>
              </a:spcAft>
              <a:buNone/>
            </a:pPr>
            <a:r>
              <a:rPr lang="en-AU" sz="2200" dirty="0"/>
              <a:t>Ways to train staff in risk:</a:t>
            </a:r>
          </a:p>
          <a:p>
            <a:pPr>
              <a:spcBef>
                <a:spcPts val="600"/>
              </a:spcBef>
              <a:spcAft>
                <a:spcPts val="1200"/>
              </a:spcAft>
            </a:pPr>
            <a:r>
              <a:rPr lang="en-AU" sz="2200" dirty="0"/>
              <a:t>Emergency drills</a:t>
            </a:r>
          </a:p>
          <a:p>
            <a:pPr>
              <a:spcBef>
                <a:spcPts val="600"/>
              </a:spcBef>
              <a:spcAft>
                <a:spcPts val="1200"/>
              </a:spcAft>
            </a:pPr>
            <a:r>
              <a:rPr lang="en-AU" sz="2200" dirty="0"/>
              <a:t>Case studies</a:t>
            </a:r>
          </a:p>
          <a:p>
            <a:pPr>
              <a:spcBef>
                <a:spcPts val="600"/>
              </a:spcBef>
              <a:spcAft>
                <a:spcPts val="1200"/>
              </a:spcAft>
            </a:pPr>
            <a:r>
              <a:rPr lang="en-AU" sz="2200" dirty="0"/>
              <a:t>Role plays</a:t>
            </a:r>
          </a:p>
          <a:p>
            <a:pPr>
              <a:spcBef>
                <a:spcPts val="600"/>
              </a:spcBef>
              <a:spcAft>
                <a:spcPts val="1200"/>
              </a:spcAft>
            </a:pPr>
            <a:r>
              <a:rPr lang="en-AU" sz="2200" dirty="0"/>
              <a:t>Simulations of risk events</a:t>
            </a:r>
          </a:p>
          <a:p>
            <a:pPr>
              <a:spcBef>
                <a:spcPts val="600"/>
              </a:spcBef>
              <a:spcAft>
                <a:spcPts val="1200"/>
              </a:spcAft>
            </a:pPr>
            <a:r>
              <a:rPr lang="en-AU" sz="2200" dirty="0"/>
              <a:t>Workplace application</a:t>
            </a:r>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44</a:t>
            </a:fld>
            <a:endParaRPr lang="en-US" dirty="0">
              <a:latin typeface="Helvetica" pitchFamily="34" charset="0"/>
            </a:endParaRPr>
          </a:p>
        </p:txBody>
      </p:sp>
      <p:pic>
        <p:nvPicPr>
          <p:cNvPr id="6" name="Picture 5" descr="C:\Documents and Settings\danielc\Local Settings\Temporary Internet Files\Content.IE5\3DV3UKH9\MP900422638[1].jpg"/>
          <p:cNvPicPr/>
          <p:nvPr/>
        </p:nvPicPr>
        <p:blipFill>
          <a:blip r:embed="rId3" cstate="print"/>
          <a:srcRect/>
          <a:stretch>
            <a:fillRect/>
          </a:stretch>
        </p:blipFill>
        <p:spPr bwMode="auto">
          <a:xfrm>
            <a:off x="5442608" y="2420888"/>
            <a:ext cx="2464898" cy="1679312"/>
          </a:xfrm>
          <a:prstGeom prst="rect">
            <a:avLst/>
          </a:prstGeom>
          <a:noFill/>
          <a:ln w="9525">
            <a:noFill/>
            <a:miter lim="800000"/>
            <a:headEnd/>
            <a:tailEnd/>
          </a:ln>
        </p:spPr>
      </p:pic>
    </p:spTree>
    <p:extLst>
      <p:ext uri="{BB962C8B-B14F-4D97-AF65-F5344CB8AC3E}">
        <p14:creationId xmlns:p14="http://schemas.microsoft.com/office/powerpoint/2010/main" val="247409160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332656"/>
            <a:ext cx="8676456" cy="1143000"/>
          </a:xfrm>
        </p:spPr>
        <p:txBody>
          <a:bodyPr>
            <a:normAutofit fontScale="90000"/>
          </a:bodyPr>
          <a:lstStyle/>
          <a:p>
            <a:pPr indent="-457200"/>
            <a:r>
              <a:rPr lang="en-AU" sz="3600" b="1" dirty="0" smtClean="0">
                <a:solidFill>
                  <a:srgbClr val="FF6600"/>
                </a:solidFill>
                <a:latin typeface="Helvetica"/>
                <a:cs typeface="Helvetica"/>
              </a:rPr>
              <a:t>3.3	Prepare </a:t>
            </a:r>
            <a:r>
              <a:rPr lang="en-AU" sz="3600" b="1" dirty="0">
                <a:solidFill>
                  <a:srgbClr val="FF6600"/>
                </a:solidFill>
                <a:latin typeface="Helvetica"/>
                <a:cs typeface="Helvetica"/>
              </a:rPr>
              <a:t>resources to inform customers </a:t>
            </a:r>
            <a:r>
              <a:rPr lang="en-AU" sz="3600" b="1" dirty="0" smtClean="0">
                <a:solidFill>
                  <a:srgbClr val="FF6600"/>
                </a:solidFill>
                <a:latin typeface="Helvetica"/>
                <a:cs typeface="Helvetica"/>
              </a:rPr>
              <a:t>	of operational </a:t>
            </a:r>
            <a:r>
              <a:rPr lang="en-AU" sz="3600" b="1" dirty="0">
                <a:solidFill>
                  <a:srgbClr val="FF6600"/>
                </a:solidFill>
                <a:latin typeface="Helvetica"/>
                <a:cs typeface="Helvetica"/>
              </a:rPr>
              <a:t>risk management plans </a:t>
            </a:r>
            <a:r>
              <a:rPr lang="en-AU" sz="3600" b="1" dirty="0" smtClean="0">
                <a:solidFill>
                  <a:srgbClr val="FF6600"/>
                </a:solidFill>
                <a:latin typeface="Helvetica"/>
                <a:cs typeface="Helvetica"/>
              </a:rPr>
              <a:t>	and operational </a:t>
            </a:r>
            <a:r>
              <a:rPr lang="en-AU" sz="3600" b="1" dirty="0">
                <a:solidFill>
                  <a:srgbClr val="FF6600"/>
                </a:solidFill>
                <a:latin typeface="Helvetica"/>
                <a:cs typeface="Helvetica"/>
              </a:rPr>
              <a:t>contingency plans</a:t>
            </a:r>
            <a:endParaRPr lang="en-US" sz="3400" b="1" dirty="0">
              <a:solidFill>
                <a:srgbClr val="FF6600"/>
              </a:solidFill>
              <a:latin typeface="Helvetica"/>
              <a:cs typeface="Helvetica"/>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endParaRPr lang="en-US" sz="2200" dirty="0" smtClean="0"/>
          </a:p>
          <a:p>
            <a:pPr marL="0" indent="0">
              <a:spcBef>
                <a:spcPts val="600"/>
              </a:spcBef>
              <a:spcAft>
                <a:spcPts val="1200"/>
              </a:spcAft>
              <a:buNone/>
            </a:pPr>
            <a:r>
              <a:rPr lang="en-US" sz="2200" dirty="0" smtClean="0"/>
              <a:t>Emergency </a:t>
            </a:r>
            <a:r>
              <a:rPr lang="en-US" sz="2200" dirty="0"/>
              <a:t>Management Plans:</a:t>
            </a:r>
          </a:p>
          <a:p>
            <a:pPr>
              <a:spcBef>
                <a:spcPts val="600"/>
              </a:spcBef>
              <a:spcAft>
                <a:spcPts val="1200"/>
              </a:spcAft>
            </a:pPr>
            <a:r>
              <a:rPr lang="en-US" sz="2200" dirty="0"/>
              <a:t>Provides information on how to deal with significant disruptions to </a:t>
            </a:r>
            <a:r>
              <a:rPr lang="en-US" sz="2200" dirty="0" smtClean="0"/>
              <a:t>operations</a:t>
            </a:r>
            <a:endParaRPr lang="en-US" sz="2200" dirty="0"/>
          </a:p>
          <a:p>
            <a:pPr>
              <a:spcBef>
                <a:spcPts val="600"/>
              </a:spcBef>
              <a:spcAft>
                <a:spcPts val="1200"/>
              </a:spcAft>
            </a:pPr>
            <a:r>
              <a:rPr lang="en-US" sz="2200" dirty="0"/>
              <a:t>Addresses the means by which service levels will be maintained or the speed with which they will be </a:t>
            </a:r>
            <a:r>
              <a:rPr lang="en-US" sz="2200" dirty="0" smtClean="0"/>
              <a:t>reinstated</a:t>
            </a:r>
            <a:endParaRPr lang="en-US" sz="2200" dirty="0"/>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45</a:t>
            </a:fld>
            <a:endParaRPr lang="en-US" dirty="0">
              <a:latin typeface="Helvetica" pitchFamily="34" charset="0"/>
            </a:endParaRPr>
          </a:p>
        </p:txBody>
      </p:sp>
      <p:pic>
        <p:nvPicPr>
          <p:cNvPr id="6" name="Picture 5" descr="I:\Overseas Projects\PHOTOS\2014\Shutterstock 25-a-day\shutterstock_122825407.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74097" y="4797152"/>
            <a:ext cx="1995805" cy="1330325"/>
          </a:xfrm>
          <a:prstGeom prst="rect">
            <a:avLst/>
          </a:prstGeom>
          <a:noFill/>
          <a:ln>
            <a:noFill/>
          </a:ln>
        </p:spPr>
      </p:pic>
    </p:spTree>
    <p:extLst>
      <p:ext uri="{BB962C8B-B14F-4D97-AF65-F5344CB8AC3E}">
        <p14:creationId xmlns:p14="http://schemas.microsoft.com/office/powerpoint/2010/main" val="247409160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927373"/>
            <a:ext cx="7467600" cy="4525963"/>
          </a:xfrm>
        </p:spPr>
        <p:txBody>
          <a:bodyPr>
            <a:normAutofit/>
          </a:bodyPr>
          <a:lstStyle/>
          <a:p>
            <a:pPr marL="0" indent="0">
              <a:spcBef>
                <a:spcPts val="600"/>
              </a:spcBef>
              <a:spcAft>
                <a:spcPts val="1200"/>
              </a:spcAft>
              <a:buNone/>
            </a:pPr>
            <a:r>
              <a:rPr lang="en-AU" sz="2200" dirty="0" smtClean="0"/>
              <a:t>Keeping </a:t>
            </a:r>
            <a:r>
              <a:rPr lang="en-AU" sz="2200" dirty="0"/>
              <a:t>customers informed:</a:t>
            </a:r>
          </a:p>
          <a:p>
            <a:pPr>
              <a:spcBef>
                <a:spcPts val="600"/>
              </a:spcBef>
              <a:spcAft>
                <a:spcPts val="1200"/>
              </a:spcAft>
            </a:pPr>
            <a:r>
              <a:rPr lang="en-AU" sz="2200" dirty="0"/>
              <a:t>Emergency management plans</a:t>
            </a:r>
          </a:p>
          <a:p>
            <a:pPr>
              <a:spcBef>
                <a:spcPts val="600"/>
              </a:spcBef>
              <a:spcAft>
                <a:spcPts val="1200"/>
              </a:spcAft>
            </a:pPr>
            <a:r>
              <a:rPr lang="en-AU" sz="2200" dirty="0"/>
              <a:t>Inductions and in house training</a:t>
            </a:r>
          </a:p>
          <a:p>
            <a:pPr>
              <a:spcBef>
                <a:spcPts val="600"/>
              </a:spcBef>
              <a:spcAft>
                <a:spcPts val="1200"/>
              </a:spcAft>
            </a:pPr>
            <a:r>
              <a:rPr lang="en-AU" sz="2200" dirty="0"/>
              <a:t>Prepared statements for use if risk event occurs</a:t>
            </a:r>
          </a:p>
          <a:p>
            <a:pPr>
              <a:spcBef>
                <a:spcPts val="600"/>
              </a:spcBef>
              <a:spcAft>
                <a:spcPts val="1200"/>
              </a:spcAft>
            </a:pPr>
            <a:r>
              <a:rPr lang="en-AU" sz="2200" dirty="0"/>
              <a:t>Flyers and bulletins to distribute to customers</a:t>
            </a:r>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46</a:t>
            </a:fld>
            <a:endParaRPr lang="en-US" dirty="0">
              <a:latin typeface="Helvetica" pitchFamily="34" charset="0"/>
            </a:endParaRPr>
          </a:p>
        </p:txBody>
      </p:sp>
      <p:sp>
        <p:nvSpPr>
          <p:cNvPr id="7" name="Title 1"/>
          <p:cNvSpPr>
            <a:spLocks noGrp="1"/>
          </p:cNvSpPr>
          <p:nvPr>
            <p:ph type="title"/>
          </p:nvPr>
        </p:nvSpPr>
        <p:spPr>
          <a:xfrm>
            <a:off x="251520" y="332656"/>
            <a:ext cx="8676456" cy="1143000"/>
          </a:xfrm>
        </p:spPr>
        <p:txBody>
          <a:bodyPr>
            <a:normAutofit fontScale="90000"/>
          </a:bodyPr>
          <a:lstStyle/>
          <a:p>
            <a:pPr indent="-457200"/>
            <a:r>
              <a:rPr lang="en-AU" sz="3600" b="1" dirty="0" smtClean="0">
                <a:solidFill>
                  <a:srgbClr val="FF6600"/>
                </a:solidFill>
                <a:latin typeface="Helvetica"/>
                <a:cs typeface="Helvetica"/>
              </a:rPr>
              <a:t>3.3	Prepare </a:t>
            </a:r>
            <a:r>
              <a:rPr lang="en-AU" sz="3600" b="1" dirty="0">
                <a:solidFill>
                  <a:srgbClr val="FF6600"/>
                </a:solidFill>
                <a:latin typeface="Helvetica"/>
                <a:cs typeface="Helvetica"/>
              </a:rPr>
              <a:t>resources to inform customers </a:t>
            </a:r>
            <a:r>
              <a:rPr lang="en-AU" sz="3600" b="1" dirty="0" smtClean="0">
                <a:solidFill>
                  <a:srgbClr val="FF6600"/>
                </a:solidFill>
                <a:latin typeface="Helvetica"/>
                <a:cs typeface="Helvetica"/>
              </a:rPr>
              <a:t>	of operational </a:t>
            </a:r>
            <a:r>
              <a:rPr lang="en-AU" sz="3600" b="1" dirty="0">
                <a:solidFill>
                  <a:srgbClr val="FF6600"/>
                </a:solidFill>
                <a:latin typeface="Helvetica"/>
                <a:cs typeface="Helvetica"/>
              </a:rPr>
              <a:t>risk management plans </a:t>
            </a:r>
            <a:r>
              <a:rPr lang="en-AU" sz="3600" b="1" dirty="0" smtClean="0">
                <a:solidFill>
                  <a:srgbClr val="FF6600"/>
                </a:solidFill>
                <a:latin typeface="Helvetica"/>
                <a:cs typeface="Helvetica"/>
              </a:rPr>
              <a:t>	and operational </a:t>
            </a:r>
            <a:r>
              <a:rPr lang="en-AU" sz="3600" b="1" dirty="0">
                <a:solidFill>
                  <a:srgbClr val="FF6600"/>
                </a:solidFill>
                <a:latin typeface="Helvetica"/>
                <a:cs typeface="Helvetica"/>
              </a:rPr>
              <a:t>contingency plans</a:t>
            </a:r>
            <a:endParaRPr lang="en-US" sz="3400" b="1" dirty="0">
              <a:solidFill>
                <a:srgbClr val="FF6600"/>
              </a:solidFill>
              <a:latin typeface="Helvetica"/>
              <a:cs typeface="Helvetica"/>
            </a:endParaRPr>
          </a:p>
        </p:txBody>
      </p:sp>
      <p:pic>
        <p:nvPicPr>
          <p:cNvPr id="8" name="Picture 7" descr="C:\Documents and Settings\danielc\Local Settings\Temporary Internet Files\Content.IE5\WOYKSSHU\MC900153728[1].wmf"/>
          <p:cNvPicPr/>
          <p:nvPr/>
        </p:nvPicPr>
        <p:blipFill>
          <a:blip r:embed="rId3" cstate="print"/>
          <a:srcRect/>
          <a:stretch>
            <a:fillRect/>
          </a:stretch>
        </p:blipFill>
        <p:spPr bwMode="auto">
          <a:xfrm>
            <a:off x="6444208" y="2276872"/>
            <a:ext cx="1579880" cy="1257300"/>
          </a:xfrm>
          <a:prstGeom prst="rect">
            <a:avLst/>
          </a:prstGeom>
          <a:noFill/>
        </p:spPr>
      </p:pic>
    </p:spTree>
    <p:extLst>
      <p:ext uri="{BB962C8B-B14F-4D97-AF65-F5344CB8AC3E}">
        <p14:creationId xmlns:p14="http://schemas.microsoft.com/office/powerpoint/2010/main" val="247409160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pPr indent="-457200"/>
            <a:r>
              <a:rPr lang="en-AU" sz="3600" b="1" dirty="0" smtClean="0">
                <a:solidFill>
                  <a:srgbClr val="FF6600"/>
                </a:solidFill>
                <a:latin typeface="Helvetica"/>
                <a:cs typeface="Helvetica"/>
              </a:rPr>
              <a:t>4.1	Plan </a:t>
            </a:r>
            <a:r>
              <a:rPr lang="en-AU" sz="3600" b="1" dirty="0">
                <a:solidFill>
                  <a:srgbClr val="FF6600"/>
                </a:solidFill>
                <a:latin typeface="Helvetica"/>
                <a:cs typeface="Helvetica"/>
              </a:rPr>
              <a:t>for the introduction of </a:t>
            </a:r>
            <a:r>
              <a:rPr lang="en-AU" sz="3600" b="1" dirty="0" smtClean="0">
                <a:solidFill>
                  <a:srgbClr val="FF6600"/>
                </a:solidFill>
                <a:latin typeface="Helvetica"/>
                <a:cs typeface="Helvetica"/>
              </a:rPr>
              <a:t>	written </a:t>
            </a:r>
            <a:r>
              <a:rPr lang="en-AU" sz="3600" b="1" dirty="0">
                <a:solidFill>
                  <a:srgbClr val="FF6600"/>
                </a:solidFill>
                <a:latin typeface="Helvetica"/>
                <a:cs typeface="Helvetica"/>
              </a:rPr>
              <a:t>risk management plans</a:t>
            </a:r>
            <a:endParaRPr lang="en-US" sz="3400" b="1" dirty="0">
              <a:solidFill>
                <a:srgbClr val="FF6600"/>
              </a:solidFill>
              <a:latin typeface="Helvetica"/>
              <a:cs typeface="Helvetica"/>
            </a:endParaRPr>
          </a:p>
        </p:txBody>
      </p:sp>
      <p:sp>
        <p:nvSpPr>
          <p:cNvPr id="3" name="Content Placeholder 2"/>
          <p:cNvSpPr>
            <a:spLocks noGrp="1"/>
          </p:cNvSpPr>
          <p:nvPr>
            <p:ph idx="1"/>
          </p:nvPr>
        </p:nvSpPr>
        <p:spPr>
          <a:xfrm>
            <a:off x="611560" y="1772816"/>
            <a:ext cx="7467600" cy="4525963"/>
          </a:xfrm>
        </p:spPr>
        <p:txBody>
          <a:bodyPr>
            <a:normAutofit/>
          </a:bodyPr>
          <a:lstStyle/>
          <a:p>
            <a:pPr marL="0" indent="0">
              <a:spcBef>
                <a:spcPts val="600"/>
              </a:spcBef>
              <a:spcAft>
                <a:spcPts val="1200"/>
              </a:spcAft>
              <a:buNone/>
            </a:pPr>
            <a:r>
              <a:rPr lang="en-AU" sz="2200" dirty="0" smtClean="0"/>
              <a:t>Conducting </a:t>
            </a:r>
            <a:r>
              <a:rPr lang="en-AU" sz="2200" dirty="0"/>
              <a:t>staff meetings to introduce Risk Management Plans:</a:t>
            </a:r>
          </a:p>
          <a:p>
            <a:pPr>
              <a:spcBef>
                <a:spcPts val="600"/>
              </a:spcBef>
              <a:spcAft>
                <a:spcPts val="1200"/>
              </a:spcAft>
            </a:pPr>
            <a:r>
              <a:rPr lang="en-AU" sz="2200" dirty="0"/>
              <a:t>Distribute and agenda</a:t>
            </a:r>
          </a:p>
          <a:p>
            <a:pPr>
              <a:spcBef>
                <a:spcPts val="600"/>
              </a:spcBef>
              <a:spcAft>
                <a:spcPts val="1200"/>
              </a:spcAft>
            </a:pPr>
            <a:r>
              <a:rPr lang="en-AU" sz="2200" dirty="0"/>
              <a:t>Make objectives clear</a:t>
            </a:r>
          </a:p>
          <a:p>
            <a:pPr>
              <a:spcBef>
                <a:spcPts val="600"/>
              </a:spcBef>
              <a:spcAft>
                <a:spcPts val="1200"/>
              </a:spcAft>
            </a:pPr>
            <a:r>
              <a:rPr lang="en-AU" sz="2200" dirty="0"/>
              <a:t>Only invite people who need to be there</a:t>
            </a:r>
          </a:p>
          <a:p>
            <a:pPr>
              <a:spcBef>
                <a:spcPts val="600"/>
              </a:spcBef>
              <a:spcAft>
                <a:spcPts val="1200"/>
              </a:spcAft>
            </a:pPr>
            <a:r>
              <a:rPr lang="en-AU" sz="2200" dirty="0"/>
              <a:t>Stick to the agenda</a:t>
            </a:r>
          </a:p>
          <a:p>
            <a:pPr>
              <a:spcBef>
                <a:spcPts val="600"/>
              </a:spcBef>
              <a:spcAft>
                <a:spcPts val="1200"/>
              </a:spcAft>
            </a:pPr>
            <a:r>
              <a:rPr lang="en-AU" sz="2200" dirty="0"/>
              <a:t>Summarise outcome via minutes</a:t>
            </a:r>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47</a:t>
            </a:fld>
            <a:endParaRPr lang="en-US" dirty="0">
              <a:latin typeface="Helvetica" pitchFamily="34" charset="0"/>
            </a:endParaRPr>
          </a:p>
        </p:txBody>
      </p:sp>
      <p:pic>
        <p:nvPicPr>
          <p:cNvPr id="17410" name="Picture 2" descr="I:\Overseas Projects\PHOTOS\2014\Shutterstock 25-a-day\shutterstock_177291365.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60232" y="2852936"/>
            <a:ext cx="2217068" cy="147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409160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772816"/>
            <a:ext cx="7467600" cy="4525963"/>
          </a:xfrm>
        </p:spPr>
        <p:txBody>
          <a:bodyPr>
            <a:normAutofit/>
          </a:bodyPr>
          <a:lstStyle/>
          <a:p>
            <a:pPr marL="0" indent="0">
              <a:spcBef>
                <a:spcPts val="600"/>
              </a:spcBef>
              <a:spcAft>
                <a:spcPts val="1200"/>
              </a:spcAft>
              <a:buNone/>
            </a:pPr>
            <a:r>
              <a:rPr lang="en-AU" sz="2200" dirty="0" smtClean="0"/>
              <a:t>Resources </a:t>
            </a:r>
            <a:r>
              <a:rPr lang="en-AU" sz="2200" dirty="0"/>
              <a:t>to support staff during the introduction of plans:</a:t>
            </a:r>
          </a:p>
          <a:p>
            <a:pPr>
              <a:spcBef>
                <a:spcPts val="600"/>
              </a:spcBef>
              <a:spcAft>
                <a:spcPts val="1200"/>
              </a:spcAft>
            </a:pPr>
            <a:r>
              <a:rPr lang="en-AU" sz="2200" dirty="0"/>
              <a:t>External consultants</a:t>
            </a:r>
          </a:p>
          <a:p>
            <a:pPr>
              <a:spcBef>
                <a:spcPts val="600"/>
              </a:spcBef>
              <a:spcAft>
                <a:spcPts val="1200"/>
              </a:spcAft>
            </a:pPr>
            <a:r>
              <a:rPr lang="en-AU" sz="2200" dirty="0"/>
              <a:t>Physical assets i.e. Tablets, iPads</a:t>
            </a:r>
          </a:p>
          <a:p>
            <a:pPr>
              <a:spcBef>
                <a:spcPts val="600"/>
              </a:spcBef>
              <a:spcAft>
                <a:spcPts val="1200"/>
              </a:spcAft>
            </a:pPr>
            <a:r>
              <a:rPr lang="en-AU" sz="2200" dirty="0"/>
              <a:t>Appropriate training </a:t>
            </a:r>
          </a:p>
          <a:p>
            <a:pPr>
              <a:spcBef>
                <a:spcPts val="600"/>
              </a:spcBef>
              <a:spcAft>
                <a:spcPts val="1200"/>
              </a:spcAft>
            </a:pPr>
            <a:r>
              <a:rPr lang="en-AU" sz="2200" dirty="0"/>
              <a:t>A Management Information System (MIS)</a:t>
            </a:r>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48</a:t>
            </a:fld>
            <a:endParaRPr lang="en-US" dirty="0">
              <a:latin typeface="Helvetica" pitchFamily="34" charset="0"/>
            </a:endParaRPr>
          </a:p>
        </p:txBody>
      </p:sp>
      <p:sp>
        <p:nvSpPr>
          <p:cNvPr id="7" name="Title 1"/>
          <p:cNvSpPr>
            <a:spLocks noGrp="1"/>
          </p:cNvSpPr>
          <p:nvPr>
            <p:ph type="title"/>
          </p:nvPr>
        </p:nvSpPr>
        <p:spPr>
          <a:xfrm>
            <a:off x="611560" y="332656"/>
            <a:ext cx="7467600" cy="1143000"/>
          </a:xfrm>
        </p:spPr>
        <p:txBody>
          <a:bodyPr>
            <a:normAutofit fontScale="90000"/>
          </a:bodyPr>
          <a:lstStyle/>
          <a:p>
            <a:pPr indent="-457200"/>
            <a:r>
              <a:rPr lang="en-AU" sz="3600" b="1" dirty="0" smtClean="0">
                <a:solidFill>
                  <a:srgbClr val="FF6600"/>
                </a:solidFill>
                <a:latin typeface="Helvetica"/>
                <a:cs typeface="Helvetica"/>
              </a:rPr>
              <a:t>4.1	Plan </a:t>
            </a:r>
            <a:r>
              <a:rPr lang="en-AU" sz="3600" b="1" dirty="0">
                <a:solidFill>
                  <a:srgbClr val="FF6600"/>
                </a:solidFill>
                <a:latin typeface="Helvetica"/>
                <a:cs typeface="Helvetica"/>
              </a:rPr>
              <a:t>for the introduction of </a:t>
            </a:r>
            <a:r>
              <a:rPr lang="en-AU" sz="3600" b="1" dirty="0" smtClean="0">
                <a:solidFill>
                  <a:srgbClr val="FF6600"/>
                </a:solidFill>
                <a:latin typeface="Helvetica"/>
                <a:cs typeface="Helvetica"/>
              </a:rPr>
              <a:t>	written </a:t>
            </a:r>
            <a:r>
              <a:rPr lang="en-AU" sz="3600" b="1" dirty="0">
                <a:solidFill>
                  <a:srgbClr val="FF6600"/>
                </a:solidFill>
                <a:latin typeface="Helvetica"/>
                <a:cs typeface="Helvetica"/>
              </a:rPr>
              <a:t>risk management plans</a:t>
            </a:r>
            <a:endParaRPr lang="en-US" sz="3400" b="1" dirty="0">
              <a:solidFill>
                <a:srgbClr val="FF6600"/>
              </a:solidFill>
              <a:latin typeface="Helvetica"/>
              <a:cs typeface="Helvetica"/>
            </a:endParaRPr>
          </a:p>
        </p:txBody>
      </p:sp>
      <p:pic>
        <p:nvPicPr>
          <p:cNvPr id="8" name="Picture 7" descr="I:\Overseas Projects\PHOTOS\2014\Shutterstock 25-a-day\shutterstock_134127854.jpg"/>
          <p:cNvPicPr/>
          <p:nvPr/>
        </p:nvPicPr>
        <p:blipFill rotWithShape="1">
          <a:blip r:embed="rId3" cstate="print">
            <a:extLst>
              <a:ext uri="{28A0092B-C50C-407E-A947-70E740481C1C}">
                <a14:useLocalDpi xmlns:a14="http://schemas.microsoft.com/office/drawing/2010/main" val="0"/>
              </a:ext>
            </a:extLst>
          </a:blip>
          <a:srcRect l="8122" t="15319" r="8630" b="8063"/>
          <a:stretch/>
        </p:blipFill>
        <p:spPr bwMode="auto">
          <a:xfrm>
            <a:off x="7164288" y="3136265"/>
            <a:ext cx="1494155" cy="100139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47409160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pPr indent="-457200"/>
            <a:r>
              <a:rPr lang="en-AU" sz="3600" b="1" dirty="0" smtClean="0">
                <a:solidFill>
                  <a:srgbClr val="FF6600"/>
                </a:solidFill>
                <a:latin typeface="Helvetica"/>
                <a:cs typeface="Helvetica"/>
              </a:rPr>
              <a:t>4.2	Implement </a:t>
            </a:r>
            <a:r>
              <a:rPr lang="en-AU" sz="3600" b="1" dirty="0">
                <a:solidFill>
                  <a:srgbClr val="FF6600"/>
                </a:solidFill>
                <a:latin typeface="Helvetica"/>
                <a:cs typeface="Helvetica"/>
              </a:rPr>
              <a:t>Risk Management </a:t>
            </a:r>
            <a:r>
              <a:rPr lang="en-AU" sz="3600" b="1" dirty="0" smtClean="0">
                <a:solidFill>
                  <a:srgbClr val="FF6600"/>
                </a:solidFill>
                <a:latin typeface="Helvetica"/>
                <a:cs typeface="Helvetica"/>
              </a:rPr>
              <a:t>	Plans </a:t>
            </a:r>
            <a:r>
              <a:rPr lang="en-AU" sz="3600" b="1" dirty="0">
                <a:solidFill>
                  <a:srgbClr val="FF6600"/>
                </a:solidFill>
                <a:latin typeface="Helvetica"/>
                <a:cs typeface="Helvetica"/>
              </a:rPr>
              <a:t>as written</a:t>
            </a:r>
            <a:endParaRPr lang="en-US" sz="3400" b="1" dirty="0">
              <a:solidFill>
                <a:srgbClr val="FF6600"/>
              </a:solidFill>
              <a:latin typeface="Helvetica"/>
              <a:cs typeface="Helvetica"/>
            </a:endParaRPr>
          </a:p>
        </p:txBody>
      </p:sp>
      <p:sp>
        <p:nvSpPr>
          <p:cNvPr id="3" name="Content Placeholder 2"/>
          <p:cNvSpPr>
            <a:spLocks noGrp="1"/>
          </p:cNvSpPr>
          <p:nvPr>
            <p:ph idx="1"/>
          </p:nvPr>
        </p:nvSpPr>
        <p:spPr>
          <a:xfrm>
            <a:off x="611560" y="1844824"/>
            <a:ext cx="7467600" cy="4525963"/>
          </a:xfrm>
        </p:spPr>
        <p:txBody>
          <a:bodyPr>
            <a:normAutofit/>
          </a:bodyPr>
          <a:lstStyle/>
          <a:p>
            <a:pPr marL="0" indent="0">
              <a:spcBef>
                <a:spcPts val="600"/>
              </a:spcBef>
              <a:spcAft>
                <a:spcPts val="1200"/>
              </a:spcAft>
              <a:buNone/>
            </a:pPr>
            <a:r>
              <a:rPr lang="en-AU" sz="2200" dirty="0" smtClean="0"/>
              <a:t>Ensuring </a:t>
            </a:r>
            <a:r>
              <a:rPr lang="en-AU" sz="2200" dirty="0"/>
              <a:t>plans are adhered to:</a:t>
            </a:r>
          </a:p>
          <a:p>
            <a:pPr>
              <a:spcBef>
                <a:spcPts val="600"/>
              </a:spcBef>
              <a:spcAft>
                <a:spcPts val="1200"/>
              </a:spcAft>
            </a:pPr>
            <a:r>
              <a:rPr lang="en-AU" sz="2200" dirty="0"/>
              <a:t>Formally introduce the plan</a:t>
            </a:r>
          </a:p>
          <a:p>
            <a:pPr>
              <a:spcBef>
                <a:spcPts val="600"/>
              </a:spcBef>
              <a:spcAft>
                <a:spcPts val="1200"/>
              </a:spcAft>
            </a:pPr>
            <a:r>
              <a:rPr lang="en-AU" sz="2200" dirty="0"/>
              <a:t>Monitor uptake and level of commitment</a:t>
            </a:r>
          </a:p>
          <a:p>
            <a:pPr>
              <a:spcBef>
                <a:spcPts val="600"/>
              </a:spcBef>
              <a:spcAft>
                <a:spcPts val="1200"/>
              </a:spcAft>
            </a:pPr>
            <a:r>
              <a:rPr lang="en-AU" sz="2200" dirty="0"/>
              <a:t>Intervene where need to ensure plan is being implemented</a:t>
            </a:r>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49</a:t>
            </a:fld>
            <a:endParaRPr lang="en-US" dirty="0">
              <a:latin typeface="Helvetica" pitchFamily="34" charset="0"/>
            </a:endParaRPr>
          </a:p>
        </p:txBody>
      </p:sp>
      <p:pic>
        <p:nvPicPr>
          <p:cNvPr id="6" name="Picture 5" descr="I:\Overseas Projects\PHOTOS\2014\Shutterstock 25-a-day\shutterstock_150075068.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04248" y="1988840"/>
            <a:ext cx="1973580" cy="1315085"/>
          </a:xfrm>
          <a:prstGeom prst="rect">
            <a:avLst/>
          </a:prstGeom>
          <a:noFill/>
          <a:ln>
            <a:noFill/>
          </a:ln>
        </p:spPr>
      </p:pic>
    </p:spTree>
    <p:extLst>
      <p:ext uri="{BB962C8B-B14F-4D97-AF65-F5344CB8AC3E}">
        <p14:creationId xmlns:p14="http://schemas.microsoft.com/office/powerpoint/2010/main" val="247409160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endParaRPr lang="en-US" sz="2200" dirty="0" smtClean="0">
              <a:latin typeface="Helvetica" pitchFamily="34" charset="0"/>
            </a:endParaRPr>
          </a:p>
          <a:p>
            <a:pPr marL="0" indent="0" algn="ctr">
              <a:buNone/>
            </a:pPr>
            <a:endParaRPr lang="en-US" sz="2400" b="1" i="1" dirty="0"/>
          </a:p>
          <a:p>
            <a:pPr marL="0" indent="0" algn="ctr">
              <a:buNone/>
            </a:pPr>
            <a:r>
              <a:rPr lang="en-US" sz="2400" b="1" i="1" dirty="0" smtClean="0"/>
              <a:t>Activity - Communicating </a:t>
            </a:r>
            <a:r>
              <a:rPr lang="en-US" sz="2400" b="1" i="1" dirty="0"/>
              <a:t>risk management plan trial </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50</a:t>
            </a:fld>
            <a:endParaRPr lang="en-US" dirty="0">
              <a:latin typeface="Helvetica" pitchFamily="34" charset="0"/>
            </a:endParaRPr>
          </a:p>
        </p:txBody>
      </p:sp>
      <p:sp>
        <p:nvSpPr>
          <p:cNvPr id="7" name="Title 1"/>
          <p:cNvSpPr>
            <a:spLocks noGrp="1"/>
          </p:cNvSpPr>
          <p:nvPr>
            <p:ph type="title"/>
          </p:nvPr>
        </p:nvSpPr>
        <p:spPr>
          <a:xfrm>
            <a:off x="611560" y="332656"/>
            <a:ext cx="7467600" cy="1143000"/>
          </a:xfrm>
        </p:spPr>
        <p:txBody>
          <a:bodyPr>
            <a:normAutofit fontScale="90000"/>
          </a:bodyPr>
          <a:lstStyle/>
          <a:p>
            <a:pPr indent="-457200"/>
            <a:r>
              <a:rPr lang="en-AU" sz="3600" b="1" dirty="0" smtClean="0">
                <a:solidFill>
                  <a:srgbClr val="FF6600"/>
                </a:solidFill>
                <a:latin typeface="Helvetica"/>
                <a:cs typeface="Helvetica"/>
              </a:rPr>
              <a:t>4.2	Implement </a:t>
            </a:r>
            <a:r>
              <a:rPr lang="en-AU" sz="3600" b="1" dirty="0">
                <a:solidFill>
                  <a:srgbClr val="FF6600"/>
                </a:solidFill>
                <a:latin typeface="Helvetica"/>
                <a:cs typeface="Helvetica"/>
              </a:rPr>
              <a:t>Risk Management </a:t>
            </a:r>
            <a:r>
              <a:rPr lang="en-AU" sz="3600" b="1" dirty="0" smtClean="0">
                <a:solidFill>
                  <a:srgbClr val="FF6600"/>
                </a:solidFill>
                <a:latin typeface="Helvetica"/>
                <a:cs typeface="Helvetica"/>
              </a:rPr>
              <a:t>	Plans </a:t>
            </a:r>
            <a:r>
              <a:rPr lang="en-AU" sz="3600" b="1" dirty="0">
                <a:solidFill>
                  <a:srgbClr val="FF6600"/>
                </a:solidFill>
                <a:latin typeface="Helvetica"/>
                <a:cs typeface="Helvetica"/>
              </a:rPr>
              <a:t>as written</a:t>
            </a:r>
            <a:endParaRPr lang="en-US" sz="3400" b="1" dirty="0">
              <a:solidFill>
                <a:srgbClr val="FF6600"/>
              </a:solidFill>
              <a:latin typeface="Helvetica"/>
              <a:cs typeface="Helvetica"/>
            </a:endParaRPr>
          </a:p>
        </p:txBody>
      </p:sp>
      <p:pic>
        <p:nvPicPr>
          <p:cNvPr id="8" name="Picture 7" descr="user_edit"/>
          <p:cNvPicPr/>
          <p:nvPr/>
        </p:nvPicPr>
        <p:blipFill>
          <a:blip r:embed="rId3" cstate="print"/>
          <a:srcRect/>
          <a:stretch>
            <a:fillRect/>
          </a:stretch>
        </p:blipFill>
        <p:spPr bwMode="auto">
          <a:xfrm>
            <a:off x="3851920" y="3573016"/>
            <a:ext cx="1456228" cy="1456228"/>
          </a:xfrm>
          <a:prstGeom prst="rect">
            <a:avLst/>
          </a:prstGeom>
          <a:noFill/>
        </p:spPr>
      </p:pic>
    </p:spTree>
    <p:extLst>
      <p:ext uri="{BB962C8B-B14F-4D97-AF65-F5344CB8AC3E}">
        <p14:creationId xmlns:p14="http://schemas.microsoft.com/office/powerpoint/2010/main" val="247409160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8280920" cy="1143000"/>
          </a:xfrm>
        </p:spPr>
        <p:txBody>
          <a:bodyPr>
            <a:normAutofit fontScale="90000"/>
          </a:bodyPr>
          <a:lstStyle/>
          <a:p>
            <a:pPr indent="-457200"/>
            <a:r>
              <a:rPr lang="en-AU" sz="3600" b="1" dirty="0" smtClean="0">
                <a:solidFill>
                  <a:srgbClr val="FF6600"/>
                </a:solidFill>
                <a:latin typeface="Helvetica"/>
                <a:cs typeface="Helvetica"/>
              </a:rPr>
              <a:t>5.1	Identify </a:t>
            </a:r>
            <a:r>
              <a:rPr lang="en-AU" sz="3600" b="1" dirty="0">
                <a:solidFill>
                  <a:srgbClr val="FF6600"/>
                </a:solidFill>
                <a:latin typeface="Helvetica"/>
                <a:cs typeface="Helvetica"/>
              </a:rPr>
              <a:t>new operational </a:t>
            </a:r>
            <a:r>
              <a:rPr lang="en-AU" sz="3600" b="1" dirty="0" smtClean="0">
                <a:solidFill>
                  <a:srgbClr val="FF6600"/>
                </a:solidFill>
                <a:latin typeface="Helvetica"/>
                <a:cs typeface="Helvetica"/>
              </a:rPr>
              <a:t>risks and 	changes </a:t>
            </a:r>
            <a:r>
              <a:rPr lang="en-AU" sz="3600" b="1" dirty="0">
                <a:solidFill>
                  <a:srgbClr val="FF6600"/>
                </a:solidFill>
                <a:latin typeface="Helvetica"/>
                <a:cs typeface="Helvetica"/>
              </a:rPr>
              <a:t>in </a:t>
            </a:r>
            <a:r>
              <a:rPr lang="en-AU" sz="3600" b="1" dirty="0" smtClean="0">
                <a:solidFill>
                  <a:srgbClr val="FF6600"/>
                </a:solidFill>
                <a:latin typeface="Helvetica"/>
                <a:cs typeface="Helvetica"/>
              </a:rPr>
              <a:t>identified operational </a:t>
            </a:r>
            <a:r>
              <a:rPr lang="en-AU" sz="3600" b="1" dirty="0">
                <a:solidFill>
                  <a:srgbClr val="FF6600"/>
                </a:solidFill>
                <a:latin typeface="Helvetica"/>
                <a:cs typeface="Helvetica"/>
              </a:rPr>
              <a:t>risk </a:t>
            </a:r>
            <a:endParaRPr lang="en-US" sz="3400" b="1" dirty="0">
              <a:solidFill>
                <a:srgbClr val="FF6600"/>
              </a:solidFill>
              <a:latin typeface="Helvetica"/>
              <a:cs typeface="Helvetica"/>
            </a:endParaRPr>
          </a:p>
        </p:txBody>
      </p:sp>
      <p:sp>
        <p:nvSpPr>
          <p:cNvPr id="3" name="Content Placeholder 2"/>
          <p:cNvSpPr>
            <a:spLocks noGrp="1"/>
          </p:cNvSpPr>
          <p:nvPr>
            <p:ph idx="1"/>
          </p:nvPr>
        </p:nvSpPr>
        <p:spPr>
          <a:xfrm>
            <a:off x="611560" y="1639341"/>
            <a:ext cx="7467600" cy="4525963"/>
          </a:xfrm>
        </p:spPr>
        <p:txBody>
          <a:bodyPr>
            <a:normAutofit/>
          </a:bodyPr>
          <a:lstStyle/>
          <a:p>
            <a:pPr marL="0" indent="0">
              <a:spcBef>
                <a:spcPts val="600"/>
              </a:spcBef>
              <a:spcAft>
                <a:spcPts val="1200"/>
              </a:spcAft>
              <a:buNone/>
            </a:pPr>
            <a:r>
              <a:rPr lang="en-AU" sz="2200" dirty="0" smtClean="0"/>
              <a:t>Encouraging </a:t>
            </a:r>
            <a:r>
              <a:rPr lang="en-AU" sz="2200" dirty="0"/>
              <a:t>participation of staff to identifying new risks:</a:t>
            </a:r>
          </a:p>
          <a:p>
            <a:pPr>
              <a:spcBef>
                <a:spcPts val="600"/>
              </a:spcBef>
              <a:spcAft>
                <a:spcPts val="1200"/>
              </a:spcAft>
            </a:pPr>
            <a:r>
              <a:rPr lang="en-AU" sz="2200" dirty="0"/>
              <a:t>Empower staff by involving them in the process</a:t>
            </a:r>
          </a:p>
          <a:p>
            <a:pPr>
              <a:spcBef>
                <a:spcPts val="600"/>
              </a:spcBef>
              <a:spcAft>
                <a:spcPts val="1200"/>
              </a:spcAft>
            </a:pPr>
            <a:r>
              <a:rPr lang="en-AU" sz="2200" dirty="0"/>
              <a:t>Keep them informed of developments</a:t>
            </a:r>
          </a:p>
          <a:p>
            <a:pPr>
              <a:spcBef>
                <a:spcPts val="600"/>
              </a:spcBef>
              <a:spcAft>
                <a:spcPts val="1200"/>
              </a:spcAft>
            </a:pPr>
            <a:r>
              <a:rPr lang="en-AU" sz="2200" dirty="0"/>
              <a:t>Utilise their suggestions</a:t>
            </a:r>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51</a:t>
            </a:fld>
            <a:endParaRPr lang="en-US" dirty="0">
              <a:latin typeface="Helvetica" pitchFamily="34" charset="0"/>
            </a:endParaRPr>
          </a:p>
        </p:txBody>
      </p:sp>
      <p:pic>
        <p:nvPicPr>
          <p:cNvPr id="18434" name="Picture 2" descr="I:\Overseas Projects\PHOTOS\2014\Shutterstock 25-a-day\shutterstock_2942809.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28184" y="2924944"/>
            <a:ext cx="2020466" cy="20204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409160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628800"/>
            <a:ext cx="7467600" cy="4525963"/>
          </a:xfrm>
        </p:spPr>
        <p:txBody>
          <a:bodyPr>
            <a:normAutofit/>
          </a:bodyPr>
          <a:lstStyle/>
          <a:p>
            <a:pPr marL="0" indent="0">
              <a:spcBef>
                <a:spcPts val="600"/>
              </a:spcBef>
              <a:spcAft>
                <a:spcPts val="1200"/>
              </a:spcAft>
              <a:buNone/>
            </a:pPr>
            <a:r>
              <a:rPr lang="en-AU" sz="2200" dirty="0"/>
              <a:t>Getting feedback from customers to assist with identifying risk changes</a:t>
            </a:r>
          </a:p>
          <a:p>
            <a:pPr>
              <a:spcBef>
                <a:spcPts val="600"/>
              </a:spcBef>
              <a:spcAft>
                <a:spcPts val="1200"/>
              </a:spcAft>
            </a:pPr>
            <a:r>
              <a:rPr lang="en-AU" sz="2200" dirty="0"/>
              <a:t>Direct approach to canvass their opinion</a:t>
            </a:r>
          </a:p>
          <a:p>
            <a:pPr>
              <a:spcBef>
                <a:spcPts val="600"/>
              </a:spcBef>
              <a:spcAft>
                <a:spcPts val="1200"/>
              </a:spcAft>
            </a:pPr>
            <a:r>
              <a:rPr lang="en-AU" sz="2200" dirty="0"/>
              <a:t>Put yourself in their shoes</a:t>
            </a:r>
          </a:p>
          <a:p>
            <a:pPr>
              <a:spcBef>
                <a:spcPts val="600"/>
              </a:spcBef>
              <a:spcAft>
                <a:spcPts val="1200"/>
              </a:spcAft>
            </a:pPr>
            <a:r>
              <a:rPr lang="en-AU" sz="2200" dirty="0"/>
              <a:t>Questionnaires and surveys</a:t>
            </a:r>
          </a:p>
          <a:p>
            <a:pPr>
              <a:spcBef>
                <a:spcPts val="600"/>
              </a:spcBef>
              <a:spcAft>
                <a:spcPts val="1200"/>
              </a:spcAft>
            </a:pPr>
            <a:r>
              <a:rPr lang="en-AU" sz="2200" dirty="0"/>
              <a:t>Make sure feedback is formally </a:t>
            </a:r>
            <a:r>
              <a:rPr lang="en-AU" sz="2200" dirty="0" smtClean="0"/>
              <a:t>recorded</a:t>
            </a:r>
            <a:endParaRPr lang="en-AU" sz="22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52</a:t>
            </a:fld>
            <a:endParaRPr lang="en-US" dirty="0">
              <a:latin typeface="Helvetica" pitchFamily="34" charset="0"/>
            </a:endParaRPr>
          </a:p>
        </p:txBody>
      </p:sp>
      <p:sp>
        <p:nvSpPr>
          <p:cNvPr id="7" name="Title 1"/>
          <p:cNvSpPr>
            <a:spLocks noGrp="1"/>
          </p:cNvSpPr>
          <p:nvPr>
            <p:ph type="title"/>
          </p:nvPr>
        </p:nvSpPr>
        <p:spPr>
          <a:xfrm>
            <a:off x="611560" y="260648"/>
            <a:ext cx="8280920" cy="1143000"/>
          </a:xfrm>
        </p:spPr>
        <p:txBody>
          <a:bodyPr>
            <a:normAutofit fontScale="90000"/>
          </a:bodyPr>
          <a:lstStyle/>
          <a:p>
            <a:pPr indent="-457200"/>
            <a:r>
              <a:rPr lang="en-AU" sz="3600" b="1" dirty="0" smtClean="0">
                <a:solidFill>
                  <a:srgbClr val="FF6600"/>
                </a:solidFill>
                <a:latin typeface="Helvetica"/>
                <a:cs typeface="Helvetica"/>
              </a:rPr>
              <a:t>5.1	Identify </a:t>
            </a:r>
            <a:r>
              <a:rPr lang="en-AU" sz="3600" b="1" dirty="0">
                <a:solidFill>
                  <a:srgbClr val="FF6600"/>
                </a:solidFill>
                <a:latin typeface="Helvetica"/>
                <a:cs typeface="Helvetica"/>
              </a:rPr>
              <a:t>new operational </a:t>
            </a:r>
            <a:r>
              <a:rPr lang="en-AU" sz="3600" b="1" dirty="0" smtClean="0">
                <a:solidFill>
                  <a:srgbClr val="FF6600"/>
                </a:solidFill>
                <a:latin typeface="Helvetica"/>
                <a:cs typeface="Helvetica"/>
              </a:rPr>
              <a:t>risks and 	changes </a:t>
            </a:r>
            <a:r>
              <a:rPr lang="en-AU" sz="3600" b="1" dirty="0">
                <a:solidFill>
                  <a:srgbClr val="FF6600"/>
                </a:solidFill>
                <a:latin typeface="Helvetica"/>
                <a:cs typeface="Helvetica"/>
              </a:rPr>
              <a:t>in </a:t>
            </a:r>
            <a:r>
              <a:rPr lang="en-AU" sz="3600" b="1" dirty="0" smtClean="0">
                <a:solidFill>
                  <a:srgbClr val="FF6600"/>
                </a:solidFill>
                <a:latin typeface="Helvetica"/>
                <a:cs typeface="Helvetica"/>
              </a:rPr>
              <a:t>identified operational </a:t>
            </a:r>
            <a:r>
              <a:rPr lang="en-AU" sz="3600" b="1" dirty="0">
                <a:solidFill>
                  <a:srgbClr val="FF6600"/>
                </a:solidFill>
                <a:latin typeface="Helvetica"/>
                <a:cs typeface="Helvetica"/>
              </a:rPr>
              <a:t>risk </a:t>
            </a:r>
            <a:endParaRPr lang="en-US" sz="3400" b="1" dirty="0">
              <a:solidFill>
                <a:srgbClr val="FF6600"/>
              </a:solidFill>
              <a:latin typeface="Helvetica"/>
              <a:cs typeface="Helvetica"/>
            </a:endParaRPr>
          </a:p>
        </p:txBody>
      </p:sp>
      <p:pic>
        <p:nvPicPr>
          <p:cNvPr id="19458" name="Picture 2" descr="C:\Users\danielc\AppData\Local\Microsoft\Windows\Temporary Internet Files\Content.IE5\LGZL5L44\feedback200px[1].jpg"/>
          <p:cNvPicPr>
            <a:picLocks noChangeAspect="1" noChangeArrowheads="1"/>
          </p:cNvPicPr>
          <p:nvPr/>
        </p:nvPicPr>
        <p:blipFill>
          <a:blip r:embed="rId3" cstate="print">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6758111" y="2852936"/>
            <a:ext cx="1558032" cy="1558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409160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639341"/>
            <a:ext cx="6624736" cy="4525963"/>
          </a:xfrm>
        </p:spPr>
        <p:txBody>
          <a:bodyPr>
            <a:normAutofit/>
          </a:bodyPr>
          <a:lstStyle/>
          <a:p>
            <a:pPr marL="0" indent="0">
              <a:spcBef>
                <a:spcPts val="600"/>
              </a:spcBef>
              <a:spcAft>
                <a:spcPts val="1200"/>
              </a:spcAft>
              <a:buNone/>
            </a:pPr>
            <a:r>
              <a:rPr lang="en-AU" sz="2200" dirty="0"/>
              <a:t>Changes to risk can also be detected through inspections of:</a:t>
            </a:r>
          </a:p>
          <a:p>
            <a:pPr>
              <a:spcBef>
                <a:spcPts val="600"/>
              </a:spcBef>
              <a:spcAft>
                <a:spcPts val="1200"/>
              </a:spcAft>
            </a:pPr>
            <a:r>
              <a:rPr lang="en-AU" sz="2200" b="1" dirty="0"/>
              <a:t>Processes</a:t>
            </a:r>
            <a:r>
              <a:rPr lang="en-AU" sz="2200" dirty="0"/>
              <a:t> – Has the way work is done changed?</a:t>
            </a:r>
          </a:p>
          <a:p>
            <a:pPr>
              <a:spcBef>
                <a:spcPts val="600"/>
              </a:spcBef>
              <a:spcAft>
                <a:spcPts val="1200"/>
              </a:spcAft>
            </a:pPr>
            <a:r>
              <a:rPr lang="en-AU" sz="2200" b="1" dirty="0"/>
              <a:t>Equipment</a:t>
            </a:r>
            <a:r>
              <a:rPr lang="en-AU" sz="2200" dirty="0"/>
              <a:t> – What is new and being used differently?</a:t>
            </a:r>
          </a:p>
          <a:p>
            <a:pPr>
              <a:spcBef>
                <a:spcPts val="600"/>
              </a:spcBef>
              <a:spcAft>
                <a:spcPts val="1200"/>
              </a:spcAft>
            </a:pPr>
            <a:r>
              <a:rPr lang="en-AU" sz="2200" b="1" dirty="0"/>
              <a:t>Facilities</a:t>
            </a:r>
            <a:r>
              <a:rPr lang="en-AU" sz="2200" dirty="0"/>
              <a:t> – Have they been altered?</a:t>
            </a:r>
          </a:p>
          <a:p>
            <a:pPr>
              <a:spcBef>
                <a:spcPts val="600"/>
              </a:spcBef>
              <a:spcAft>
                <a:spcPts val="1200"/>
              </a:spcAft>
            </a:pPr>
            <a:r>
              <a:rPr lang="en-AU" sz="2200" b="1" dirty="0"/>
              <a:t>Business environment </a:t>
            </a:r>
            <a:r>
              <a:rPr lang="en-AU" sz="2200" dirty="0"/>
              <a:t>– What is different in the wider environment now?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53</a:t>
            </a:fld>
            <a:endParaRPr lang="en-US" dirty="0">
              <a:latin typeface="Helvetica" pitchFamily="34" charset="0"/>
            </a:endParaRPr>
          </a:p>
        </p:txBody>
      </p:sp>
      <p:sp>
        <p:nvSpPr>
          <p:cNvPr id="7" name="Title 1"/>
          <p:cNvSpPr>
            <a:spLocks noGrp="1"/>
          </p:cNvSpPr>
          <p:nvPr>
            <p:ph type="title"/>
          </p:nvPr>
        </p:nvSpPr>
        <p:spPr>
          <a:xfrm>
            <a:off x="611560" y="260648"/>
            <a:ext cx="8280920" cy="1143000"/>
          </a:xfrm>
        </p:spPr>
        <p:txBody>
          <a:bodyPr>
            <a:normAutofit fontScale="90000"/>
          </a:bodyPr>
          <a:lstStyle/>
          <a:p>
            <a:pPr indent="-457200"/>
            <a:r>
              <a:rPr lang="en-AU" sz="3600" b="1" dirty="0" smtClean="0">
                <a:solidFill>
                  <a:srgbClr val="FF6600"/>
                </a:solidFill>
                <a:latin typeface="Helvetica"/>
                <a:cs typeface="Helvetica"/>
              </a:rPr>
              <a:t>5.1	Identify </a:t>
            </a:r>
            <a:r>
              <a:rPr lang="en-AU" sz="3600" b="1" dirty="0">
                <a:solidFill>
                  <a:srgbClr val="FF6600"/>
                </a:solidFill>
                <a:latin typeface="Helvetica"/>
                <a:cs typeface="Helvetica"/>
              </a:rPr>
              <a:t>new operational </a:t>
            </a:r>
            <a:r>
              <a:rPr lang="en-AU" sz="3600" b="1" dirty="0" smtClean="0">
                <a:solidFill>
                  <a:srgbClr val="FF6600"/>
                </a:solidFill>
                <a:latin typeface="Helvetica"/>
                <a:cs typeface="Helvetica"/>
              </a:rPr>
              <a:t>risks and 	changes </a:t>
            </a:r>
            <a:r>
              <a:rPr lang="en-AU" sz="3600" b="1" dirty="0">
                <a:solidFill>
                  <a:srgbClr val="FF6600"/>
                </a:solidFill>
                <a:latin typeface="Helvetica"/>
                <a:cs typeface="Helvetica"/>
              </a:rPr>
              <a:t>in </a:t>
            </a:r>
            <a:r>
              <a:rPr lang="en-AU" sz="3600" b="1" dirty="0" smtClean="0">
                <a:solidFill>
                  <a:srgbClr val="FF6600"/>
                </a:solidFill>
                <a:latin typeface="Helvetica"/>
                <a:cs typeface="Helvetica"/>
              </a:rPr>
              <a:t>identified operational </a:t>
            </a:r>
            <a:r>
              <a:rPr lang="en-AU" sz="3600" b="1" dirty="0">
                <a:solidFill>
                  <a:srgbClr val="FF6600"/>
                </a:solidFill>
                <a:latin typeface="Helvetica"/>
                <a:cs typeface="Helvetica"/>
              </a:rPr>
              <a:t>risk </a:t>
            </a:r>
            <a:endParaRPr lang="en-US" sz="3400" b="1" dirty="0">
              <a:solidFill>
                <a:srgbClr val="FF6600"/>
              </a:solidFill>
              <a:latin typeface="Helvetica"/>
              <a:cs typeface="Helvetica"/>
            </a:endParaRPr>
          </a:p>
        </p:txBody>
      </p:sp>
      <p:pic>
        <p:nvPicPr>
          <p:cNvPr id="9" name="Picture 8" descr="C:\Documents and Settings\danielc\Local Settings\Temporary Internet Files\Content.IE5\UMECW9PM\MC900198073[1].wmf"/>
          <p:cNvPicPr/>
          <p:nvPr/>
        </p:nvPicPr>
        <p:blipFill>
          <a:blip r:embed="rId3" cstate="print"/>
          <a:srcRect/>
          <a:stretch>
            <a:fillRect/>
          </a:stretch>
        </p:blipFill>
        <p:spPr bwMode="auto">
          <a:xfrm>
            <a:off x="6948264" y="2780928"/>
            <a:ext cx="1741805" cy="1489710"/>
          </a:xfrm>
          <a:prstGeom prst="rect">
            <a:avLst/>
          </a:prstGeom>
          <a:noFill/>
          <a:ln w="9525">
            <a:noFill/>
            <a:miter lim="800000"/>
            <a:headEnd/>
            <a:tailEnd/>
          </a:ln>
        </p:spPr>
      </p:pic>
    </p:spTree>
    <p:extLst>
      <p:ext uri="{BB962C8B-B14F-4D97-AF65-F5344CB8AC3E}">
        <p14:creationId xmlns:p14="http://schemas.microsoft.com/office/powerpoint/2010/main" val="247409160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639341"/>
            <a:ext cx="7467600" cy="4525963"/>
          </a:xfrm>
        </p:spPr>
        <p:txBody>
          <a:bodyPr>
            <a:normAutofit/>
          </a:bodyPr>
          <a:lstStyle/>
          <a:p>
            <a:pPr marL="0" indent="0">
              <a:spcBef>
                <a:spcPts val="600"/>
              </a:spcBef>
              <a:spcAft>
                <a:spcPts val="1200"/>
              </a:spcAft>
              <a:buNone/>
            </a:pPr>
            <a:r>
              <a:rPr lang="en-US" sz="2400" b="1" dirty="0" smtClean="0"/>
              <a:t>Recording </a:t>
            </a:r>
            <a:r>
              <a:rPr lang="en-US" sz="2400" b="1" dirty="0"/>
              <a:t>and reporting identified risks to management</a:t>
            </a:r>
          </a:p>
          <a:p>
            <a:pPr marL="342900" indent="-342900">
              <a:spcBef>
                <a:spcPts val="600"/>
              </a:spcBef>
              <a:spcAft>
                <a:spcPts val="1200"/>
              </a:spcAft>
            </a:pPr>
            <a:r>
              <a:rPr lang="en-US" sz="2400" dirty="0" smtClean="0"/>
              <a:t>What </a:t>
            </a:r>
            <a:r>
              <a:rPr lang="en-US" sz="2400" dirty="0"/>
              <a:t>recording and reporting processes do you have in place?</a:t>
            </a:r>
          </a:p>
          <a:p>
            <a:pPr marL="360000" indent="-360000">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54</a:t>
            </a:fld>
            <a:endParaRPr lang="en-US" dirty="0">
              <a:latin typeface="Helvetica" pitchFamily="34" charset="0"/>
            </a:endParaRPr>
          </a:p>
        </p:txBody>
      </p:sp>
      <p:sp>
        <p:nvSpPr>
          <p:cNvPr id="7" name="Title 1"/>
          <p:cNvSpPr>
            <a:spLocks noGrp="1"/>
          </p:cNvSpPr>
          <p:nvPr>
            <p:ph type="title"/>
          </p:nvPr>
        </p:nvSpPr>
        <p:spPr>
          <a:xfrm>
            <a:off x="611560" y="260648"/>
            <a:ext cx="8280920" cy="1143000"/>
          </a:xfrm>
        </p:spPr>
        <p:txBody>
          <a:bodyPr>
            <a:normAutofit fontScale="90000"/>
          </a:bodyPr>
          <a:lstStyle/>
          <a:p>
            <a:pPr indent="-457200"/>
            <a:r>
              <a:rPr lang="en-AU" sz="3600" b="1" dirty="0" smtClean="0">
                <a:solidFill>
                  <a:srgbClr val="FF6600"/>
                </a:solidFill>
                <a:latin typeface="Helvetica"/>
                <a:cs typeface="Helvetica"/>
              </a:rPr>
              <a:t>5.1	Identify </a:t>
            </a:r>
            <a:r>
              <a:rPr lang="en-AU" sz="3600" b="1" dirty="0">
                <a:solidFill>
                  <a:srgbClr val="FF6600"/>
                </a:solidFill>
                <a:latin typeface="Helvetica"/>
                <a:cs typeface="Helvetica"/>
              </a:rPr>
              <a:t>new operational </a:t>
            </a:r>
            <a:r>
              <a:rPr lang="en-AU" sz="3600" b="1" dirty="0" smtClean="0">
                <a:solidFill>
                  <a:srgbClr val="FF6600"/>
                </a:solidFill>
                <a:latin typeface="Helvetica"/>
                <a:cs typeface="Helvetica"/>
              </a:rPr>
              <a:t>risks and 	changes </a:t>
            </a:r>
            <a:r>
              <a:rPr lang="en-AU" sz="3600" b="1" dirty="0">
                <a:solidFill>
                  <a:srgbClr val="FF6600"/>
                </a:solidFill>
                <a:latin typeface="Helvetica"/>
                <a:cs typeface="Helvetica"/>
              </a:rPr>
              <a:t>in </a:t>
            </a:r>
            <a:r>
              <a:rPr lang="en-AU" sz="3600" b="1" dirty="0" smtClean="0">
                <a:solidFill>
                  <a:srgbClr val="FF6600"/>
                </a:solidFill>
                <a:latin typeface="Helvetica"/>
                <a:cs typeface="Helvetica"/>
              </a:rPr>
              <a:t>identified operational </a:t>
            </a:r>
            <a:r>
              <a:rPr lang="en-AU" sz="3600" b="1" dirty="0">
                <a:solidFill>
                  <a:srgbClr val="FF6600"/>
                </a:solidFill>
                <a:latin typeface="Helvetica"/>
                <a:cs typeface="Helvetica"/>
              </a:rPr>
              <a:t>risk </a:t>
            </a:r>
            <a:endParaRPr lang="en-US" sz="3400" b="1" dirty="0">
              <a:solidFill>
                <a:srgbClr val="FF6600"/>
              </a:solidFill>
              <a:latin typeface="Helvetica"/>
              <a:cs typeface="Helvetica"/>
            </a:endParaRPr>
          </a:p>
        </p:txBody>
      </p:sp>
      <p:pic>
        <p:nvPicPr>
          <p:cNvPr id="8" name="Picture 7" descr="I:\Overseas Projects\PHOTOS\2014\Shutterstock 25-a-day\shutterstock_156813770.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79912" y="4005064"/>
            <a:ext cx="1449070" cy="1354455"/>
          </a:xfrm>
          <a:prstGeom prst="rect">
            <a:avLst/>
          </a:prstGeom>
          <a:noFill/>
          <a:ln>
            <a:noFill/>
          </a:ln>
        </p:spPr>
      </p:pic>
    </p:spTree>
    <p:extLst>
      <p:ext uri="{BB962C8B-B14F-4D97-AF65-F5344CB8AC3E}">
        <p14:creationId xmlns:p14="http://schemas.microsoft.com/office/powerpoint/2010/main" val="247409160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fontScale="90000"/>
          </a:bodyPr>
          <a:lstStyle/>
          <a:p>
            <a:pPr indent="-457200"/>
            <a:r>
              <a:rPr lang="en-AU" sz="3600" b="1" dirty="0" smtClean="0">
                <a:solidFill>
                  <a:srgbClr val="FF6600"/>
                </a:solidFill>
                <a:latin typeface="Helvetica"/>
                <a:cs typeface="Helvetica"/>
              </a:rPr>
              <a:t>5.2	Monitor </a:t>
            </a:r>
            <a:r>
              <a:rPr lang="en-AU" sz="3600" b="1" dirty="0">
                <a:solidFill>
                  <a:srgbClr val="FF6600"/>
                </a:solidFill>
                <a:latin typeface="Helvetica"/>
                <a:cs typeface="Helvetica"/>
              </a:rPr>
              <a:t>implementation of existing </a:t>
            </a:r>
            <a:r>
              <a:rPr lang="en-AU" sz="3600" b="1" dirty="0" smtClean="0">
                <a:solidFill>
                  <a:srgbClr val="FF6600"/>
                </a:solidFill>
                <a:latin typeface="Helvetica"/>
                <a:cs typeface="Helvetica"/>
              </a:rPr>
              <a:t>	plans </a:t>
            </a:r>
            <a:r>
              <a:rPr lang="en-AU" sz="3600" b="1" dirty="0">
                <a:solidFill>
                  <a:srgbClr val="FF6600"/>
                </a:solidFill>
                <a:latin typeface="Helvetica"/>
                <a:cs typeface="Helvetica"/>
              </a:rPr>
              <a:t>and strategies</a:t>
            </a:r>
            <a:endParaRPr lang="en-US" sz="3400" b="1" dirty="0">
              <a:solidFill>
                <a:srgbClr val="FF6600"/>
              </a:solidFill>
              <a:latin typeface="Helvetica"/>
              <a:cs typeface="Helvetica"/>
            </a:endParaRPr>
          </a:p>
        </p:txBody>
      </p:sp>
      <p:sp>
        <p:nvSpPr>
          <p:cNvPr id="3" name="Content Placeholder 2"/>
          <p:cNvSpPr>
            <a:spLocks noGrp="1"/>
          </p:cNvSpPr>
          <p:nvPr>
            <p:ph idx="1"/>
          </p:nvPr>
        </p:nvSpPr>
        <p:spPr>
          <a:xfrm>
            <a:off x="611560" y="1772816"/>
            <a:ext cx="7632848" cy="4525963"/>
          </a:xfrm>
        </p:spPr>
        <p:txBody>
          <a:bodyPr>
            <a:normAutofit/>
          </a:bodyPr>
          <a:lstStyle/>
          <a:p>
            <a:pPr marL="0" indent="0">
              <a:spcBef>
                <a:spcPts val="600"/>
              </a:spcBef>
              <a:spcAft>
                <a:spcPts val="1200"/>
              </a:spcAft>
              <a:buNone/>
            </a:pPr>
            <a:r>
              <a:rPr lang="en-AU" sz="2200" dirty="0"/>
              <a:t>How can we ensure that the risk plan is being implemented properly?</a:t>
            </a:r>
          </a:p>
          <a:p>
            <a:pPr>
              <a:spcBef>
                <a:spcPts val="600"/>
              </a:spcBef>
              <a:spcAft>
                <a:spcPts val="1200"/>
              </a:spcAft>
            </a:pPr>
            <a:r>
              <a:rPr lang="en-AU" sz="2200" dirty="0"/>
              <a:t>Observe current practices</a:t>
            </a:r>
          </a:p>
          <a:p>
            <a:pPr>
              <a:spcBef>
                <a:spcPts val="600"/>
              </a:spcBef>
              <a:spcAft>
                <a:spcPts val="1200"/>
              </a:spcAft>
            </a:pPr>
            <a:r>
              <a:rPr lang="en-AU" sz="2200" dirty="0"/>
              <a:t>Identify and reward compliance</a:t>
            </a:r>
          </a:p>
          <a:p>
            <a:pPr>
              <a:spcBef>
                <a:spcPts val="600"/>
              </a:spcBef>
              <a:spcAft>
                <a:spcPts val="1200"/>
              </a:spcAft>
            </a:pPr>
            <a:r>
              <a:rPr lang="en-AU" sz="2200" dirty="0"/>
              <a:t>Modify behaviour if non-compliant</a:t>
            </a:r>
          </a:p>
          <a:p>
            <a:pPr>
              <a:spcBef>
                <a:spcPts val="600"/>
              </a:spcBef>
              <a:spcAft>
                <a:spcPts val="1200"/>
              </a:spcAft>
            </a:pPr>
            <a:r>
              <a:rPr lang="en-AU" sz="2200" dirty="0"/>
              <a:t>Support efforts of staff via financial support, time release and ongoing training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55</a:t>
            </a:fld>
            <a:endParaRPr lang="en-US" dirty="0">
              <a:latin typeface="Helvetica" pitchFamily="34" charset="0"/>
            </a:endParaRPr>
          </a:p>
        </p:txBody>
      </p:sp>
      <p:pic>
        <p:nvPicPr>
          <p:cNvPr id="21506" name="Picture 2" descr="I:\Overseas Projects\PHOTOS\2014\Shutterstock 25-a-day\shutterstock_171189125.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04248" y="2348880"/>
            <a:ext cx="1302408" cy="18159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409160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pPr indent="-457200"/>
            <a:r>
              <a:rPr lang="en-AU" sz="3600" b="1" dirty="0" smtClean="0">
                <a:solidFill>
                  <a:srgbClr val="FF6600"/>
                </a:solidFill>
                <a:latin typeface="Helvetica"/>
                <a:cs typeface="Helvetica"/>
              </a:rPr>
              <a:t>5.3	Ensure </a:t>
            </a:r>
            <a:r>
              <a:rPr lang="en-AU" sz="3600" b="1" dirty="0">
                <a:solidFill>
                  <a:srgbClr val="FF6600"/>
                </a:solidFill>
                <a:latin typeface="Helvetica"/>
                <a:cs typeface="Helvetica"/>
              </a:rPr>
              <a:t>near miss events are </a:t>
            </a:r>
            <a:r>
              <a:rPr lang="en-AU" sz="3600" b="1" dirty="0" smtClean="0">
                <a:solidFill>
                  <a:srgbClr val="FF6600"/>
                </a:solidFill>
                <a:latin typeface="Helvetica"/>
                <a:cs typeface="Helvetica"/>
              </a:rPr>
              <a:t>	identified</a:t>
            </a:r>
            <a:r>
              <a:rPr lang="en-AU" sz="3600" b="1" dirty="0">
                <a:solidFill>
                  <a:srgbClr val="FF6600"/>
                </a:solidFill>
                <a:latin typeface="Helvetica"/>
                <a:cs typeface="Helvetica"/>
              </a:rPr>
              <a:t>, recorded and analysed</a:t>
            </a:r>
            <a:endParaRPr lang="en-US" sz="3400" b="1" dirty="0">
              <a:solidFill>
                <a:srgbClr val="FF6600"/>
              </a:solidFill>
              <a:latin typeface="Helvetica"/>
              <a:cs typeface="Helvetica"/>
            </a:endParaRPr>
          </a:p>
        </p:txBody>
      </p:sp>
      <p:sp>
        <p:nvSpPr>
          <p:cNvPr id="3" name="Content Placeholder 2"/>
          <p:cNvSpPr>
            <a:spLocks noGrp="1"/>
          </p:cNvSpPr>
          <p:nvPr>
            <p:ph idx="1"/>
          </p:nvPr>
        </p:nvSpPr>
        <p:spPr>
          <a:xfrm>
            <a:off x="611560" y="1639341"/>
            <a:ext cx="6552728" cy="4525963"/>
          </a:xfrm>
        </p:spPr>
        <p:txBody>
          <a:bodyPr>
            <a:normAutofit/>
          </a:bodyPr>
          <a:lstStyle/>
          <a:p>
            <a:pPr marL="0" indent="0">
              <a:spcBef>
                <a:spcPts val="600"/>
              </a:spcBef>
              <a:spcAft>
                <a:spcPts val="1200"/>
              </a:spcAft>
              <a:buNone/>
            </a:pPr>
            <a:r>
              <a:rPr lang="en-AU" sz="2200" dirty="0"/>
              <a:t>What to do after a near miss?</a:t>
            </a:r>
          </a:p>
          <a:p>
            <a:pPr>
              <a:spcBef>
                <a:spcPts val="600"/>
              </a:spcBef>
              <a:spcAft>
                <a:spcPts val="1200"/>
              </a:spcAft>
            </a:pPr>
            <a:r>
              <a:rPr lang="en-AU" sz="2200" dirty="0"/>
              <a:t>Understand the circumstances that lead to the near miss via </a:t>
            </a:r>
            <a:r>
              <a:rPr lang="en-AU" sz="2200" dirty="0" smtClean="0"/>
              <a:t>investigation</a:t>
            </a:r>
            <a:endParaRPr lang="en-AU" sz="2200" dirty="0"/>
          </a:p>
          <a:p>
            <a:pPr>
              <a:spcBef>
                <a:spcPts val="600"/>
              </a:spcBef>
              <a:spcAft>
                <a:spcPts val="1200"/>
              </a:spcAft>
            </a:pPr>
            <a:r>
              <a:rPr lang="en-AU" sz="2200" dirty="0"/>
              <a:t>Analyse the event to see what the root causes </a:t>
            </a:r>
            <a:r>
              <a:rPr lang="en-AU" sz="2200" dirty="0" smtClean="0"/>
              <a:t>were</a:t>
            </a:r>
            <a:endParaRPr lang="en-AU" sz="2200" dirty="0"/>
          </a:p>
          <a:p>
            <a:pPr>
              <a:spcBef>
                <a:spcPts val="600"/>
              </a:spcBef>
              <a:spcAft>
                <a:spcPts val="1200"/>
              </a:spcAft>
            </a:pPr>
            <a:r>
              <a:rPr lang="en-AU" sz="2200" dirty="0"/>
              <a:t>Take remedial action and seek to amend the risk plan if </a:t>
            </a:r>
            <a:r>
              <a:rPr lang="en-AU" sz="2200" dirty="0" smtClean="0"/>
              <a:t>necessary</a:t>
            </a:r>
            <a:endParaRPr lang="en-AU" sz="22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56</a:t>
            </a:fld>
            <a:endParaRPr lang="en-US" dirty="0">
              <a:latin typeface="Helvetica" pitchFamily="34" charset="0"/>
            </a:endParaRPr>
          </a:p>
        </p:txBody>
      </p:sp>
      <p:pic>
        <p:nvPicPr>
          <p:cNvPr id="6" name="Picture 5" descr="C:\Documents and Settings\danielc\Local Settings\Temporary Internet Files\Content.IE5\V9A2RTT8\MC900383610[1].wmf"/>
          <p:cNvPicPr/>
          <p:nvPr/>
        </p:nvPicPr>
        <p:blipFill>
          <a:blip r:embed="rId3" cstate="print"/>
          <a:srcRect/>
          <a:stretch>
            <a:fillRect/>
          </a:stretch>
        </p:blipFill>
        <p:spPr bwMode="auto">
          <a:xfrm>
            <a:off x="7524328" y="3212976"/>
            <a:ext cx="1238250" cy="1120140"/>
          </a:xfrm>
          <a:prstGeom prst="rect">
            <a:avLst/>
          </a:prstGeom>
          <a:noFill/>
          <a:ln w="9525">
            <a:noFill/>
            <a:miter lim="800000"/>
            <a:headEnd/>
            <a:tailEnd/>
          </a:ln>
        </p:spPr>
      </p:pic>
    </p:spTree>
    <p:extLst>
      <p:ext uri="{BB962C8B-B14F-4D97-AF65-F5344CB8AC3E}">
        <p14:creationId xmlns:p14="http://schemas.microsoft.com/office/powerpoint/2010/main" val="247409160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pPr indent="-457200"/>
            <a:r>
              <a:rPr lang="en-AU" sz="3600" b="1" dirty="0" smtClean="0">
                <a:solidFill>
                  <a:srgbClr val="FF6600"/>
                </a:solidFill>
                <a:latin typeface="Helvetica"/>
                <a:cs typeface="Helvetica"/>
              </a:rPr>
              <a:t>5.4	Evaluate </a:t>
            </a:r>
            <a:r>
              <a:rPr lang="en-AU" sz="3600" b="1" dirty="0">
                <a:solidFill>
                  <a:srgbClr val="FF6600"/>
                </a:solidFill>
                <a:latin typeface="Helvetica"/>
                <a:cs typeface="Helvetica"/>
              </a:rPr>
              <a:t>implementation of </a:t>
            </a:r>
            <a:r>
              <a:rPr lang="en-AU" sz="3600" b="1" dirty="0" smtClean="0">
                <a:solidFill>
                  <a:srgbClr val="FF6600"/>
                </a:solidFill>
                <a:latin typeface="Helvetica"/>
                <a:cs typeface="Helvetica"/>
              </a:rPr>
              <a:t>	existing </a:t>
            </a:r>
            <a:r>
              <a:rPr lang="en-AU" sz="3600" b="1" dirty="0">
                <a:solidFill>
                  <a:srgbClr val="FF6600"/>
                </a:solidFill>
                <a:latin typeface="Helvetica"/>
                <a:cs typeface="Helvetica"/>
              </a:rPr>
              <a:t>plans and strategies</a:t>
            </a:r>
            <a:endParaRPr lang="en-US" sz="3400" b="1" dirty="0">
              <a:solidFill>
                <a:srgbClr val="FF6600"/>
              </a:solidFill>
              <a:latin typeface="Helvetica"/>
              <a:cs typeface="Helvetica"/>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buNone/>
            </a:pPr>
            <a:endParaRPr lang="en-AU" sz="2200" dirty="0" smtClean="0"/>
          </a:p>
          <a:p>
            <a:pPr marL="0" indent="0">
              <a:spcBef>
                <a:spcPts val="600"/>
              </a:spcBef>
              <a:spcAft>
                <a:spcPts val="1200"/>
              </a:spcAft>
              <a:buNone/>
            </a:pPr>
            <a:r>
              <a:rPr lang="en-AU" sz="2200" dirty="0" smtClean="0"/>
              <a:t>How </a:t>
            </a:r>
            <a:r>
              <a:rPr lang="en-AU" sz="2200" dirty="0"/>
              <a:t>well is the current plan</a:t>
            </a:r>
            <a:r>
              <a:rPr lang="en-AU" sz="2200" dirty="0" smtClean="0"/>
              <a:t>?</a:t>
            </a:r>
            <a:endParaRPr lang="en-AU" sz="2200" dirty="0"/>
          </a:p>
          <a:p>
            <a:pPr>
              <a:spcBef>
                <a:spcPts val="600"/>
              </a:spcBef>
              <a:spcAft>
                <a:spcPts val="1200"/>
              </a:spcAft>
            </a:pPr>
            <a:r>
              <a:rPr lang="en-AU" sz="2200" dirty="0"/>
              <a:t>Identifying potential risk events</a:t>
            </a:r>
          </a:p>
          <a:p>
            <a:pPr>
              <a:spcBef>
                <a:spcPts val="600"/>
              </a:spcBef>
              <a:spcAft>
                <a:spcPts val="1200"/>
              </a:spcAft>
            </a:pPr>
            <a:r>
              <a:rPr lang="en-AU" sz="2200" dirty="0"/>
              <a:t>Prioritising and treating risk events</a:t>
            </a:r>
          </a:p>
          <a:p>
            <a:pPr>
              <a:spcBef>
                <a:spcPts val="600"/>
              </a:spcBef>
              <a:spcAft>
                <a:spcPts val="1200"/>
              </a:spcAft>
            </a:pPr>
            <a:r>
              <a:rPr lang="en-AU" sz="2200" dirty="0"/>
              <a:t>Utilising risk </a:t>
            </a:r>
            <a:r>
              <a:rPr lang="en-AU" sz="2200" dirty="0" smtClean="0"/>
              <a:t>management </a:t>
            </a:r>
            <a:r>
              <a:rPr lang="en-AU" sz="2200" dirty="0"/>
              <a:t>tools and methods</a:t>
            </a:r>
          </a:p>
          <a:p>
            <a:pPr>
              <a:spcBef>
                <a:spcPts val="600"/>
              </a:spcBef>
              <a:spcAft>
                <a:spcPts val="1200"/>
              </a:spcAft>
            </a:pPr>
            <a:r>
              <a:rPr lang="en-AU" sz="2200" dirty="0"/>
              <a:t>Involving staff in its implementation</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57</a:t>
            </a:fld>
            <a:endParaRPr lang="en-US" dirty="0">
              <a:latin typeface="Helvetica" pitchFamily="34" charset="0"/>
            </a:endParaRPr>
          </a:p>
        </p:txBody>
      </p:sp>
      <p:pic>
        <p:nvPicPr>
          <p:cNvPr id="22530" name="Picture 2" descr="I:\Overseas Projects\PHOTOS\2014\Shutterstock 25-a-day\shutterstock_179245358.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56176" y="2060848"/>
            <a:ext cx="1969418" cy="13139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409160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639341"/>
            <a:ext cx="7467600" cy="4525963"/>
          </a:xfrm>
        </p:spPr>
        <p:txBody>
          <a:bodyPr>
            <a:normAutofit/>
          </a:bodyPr>
          <a:lstStyle/>
          <a:p>
            <a:pPr marL="0" indent="0">
              <a:spcBef>
                <a:spcPts val="600"/>
              </a:spcBef>
              <a:spcAft>
                <a:spcPts val="1200"/>
              </a:spcAft>
              <a:buNone/>
            </a:pPr>
            <a:r>
              <a:rPr lang="en-AU" sz="2200" dirty="0"/>
              <a:t>Making changes to the strategy</a:t>
            </a:r>
          </a:p>
          <a:p>
            <a:pPr>
              <a:spcBef>
                <a:spcPts val="600"/>
              </a:spcBef>
              <a:spcAft>
                <a:spcPts val="1200"/>
              </a:spcAft>
            </a:pPr>
            <a:r>
              <a:rPr lang="en-AU" sz="2200" dirty="0"/>
              <a:t>What are its advantages and disadvantages in its current form?</a:t>
            </a:r>
          </a:p>
          <a:p>
            <a:pPr>
              <a:spcBef>
                <a:spcPts val="600"/>
              </a:spcBef>
              <a:spcAft>
                <a:spcPts val="1200"/>
              </a:spcAft>
            </a:pPr>
            <a:r>
              <a:rPr lang="en-AU" sz="2200" dirty="0"/>
              <a:t>Based on this what changes should be implemented? </a:t>
            </a:r>
          </a:p>
          <a:p>
            <a:pPr>
              <a:spcBef>
                <a:spcPts val="600"/>
              </a:spcBef>
              <a:spcAft>
                <a:spcPts val="1200"/>
              </a:spcAft>
            </a:pPr>
            <a:r>
              <a:rPr lang="en-AU" sz="2200" dirty="0"/>
              <a:t>How will changes in the risk environment influence this? </a:t>
            </a:r>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58</a:t>
            </a:fld>
            <a:endParaRPr lang="en-US" dirty="0">
              <a:latin typeface="Helvetica" pitchFamily="34" charset="0"/>
            </a:endParaRPr>
          </a:p>
        </p:txBody>
      </p:sp>
      <p:sp>
        <p:nvSpPr>
          <p:cNvPr id="7" name="Title 1"/>
          <p:cNvSpPr>
            <a:spLocks noGrp="1"/>
          </p:cNvSpPr>
          <p:nvPr>
            <p:ph type="title"/>
          </p:nvPr>
        </p:nvSpPr>
        <p:spPr>
          <a:xfrm>
            <a:off x="611560" y="332656"/>
            <a:ext cx="7467600" cy="1143000"/>
          </a:xfrm>
        </p:spPr>
        <p:txBody>
          <a:bodyPr>
            <a:normAutofit fontScale="90000"/>
          </a:bodyPr>
          <a:lstStyle/>
          <a:p>
            <a:pPr indent="-457200"/>
            <a:r>
              <a:rPr lang="en-AU" sz="3600" b="1" dirty="0" smtClean="0">
                <a:solidFill>
                  <a:srgbClr val="FF6600"/>
                </a:solidFill>
                <a:latin typeface="Helvetica"/>
                <a:cs typeface="Helvetica"/>
              </a:rPr>
              <a:t>5.4	Evaluate </a:t>
            </a:r>
            <a:r>
              <a:rPr lang="en-AU" sz="3600" b="1" dirty="0">
                <a:solidFill>
                  <a:srgbClr val="FF6600"/>
                </a:solidFill>
                <a:latin typeface="Helvetica"/>
                <a:cs typeface="Helvetica"/>
              </a:rPr>
              <a:t>implementation of </a:t>
            </a:r>
            <a:r>
              <a:rPr lang="en-AU" sz="3600" b="1" dirty="0" smtClean="0">
                <a:solidFill>
                  <a:srgbClr val="FF6600"/>
                </a:solidFill>
                <a:latin typeface="Helvetica"/>
                <a:cs typeface="Helvetica"/>
              </a:rPr>
              <a:t>	existing </a:t>
            </a:r>
            <a:r>
              <a:rPr lang="en-AU" sz="3600" b="1" dirty="0">
                <a:solidFill>
                  <a:srgbClr val="FF6600"/>
                </a:solidFill>
                <a:latin typeface="Helvetica"/>
                <a:cs typeface="Helvetica"/>
              </a:rPr>
              <a:t>plans and strategies</a:t>
            </a:r>
            <a:endParaRPr lang="en-US" sz="3400" b="1" dirty="0">
              <a:solidFill>
                <a:srgbClr val="FF6600"/>
              </a:solidFill>
              <a:latin typeface="Helvetica"/>
              <a:cs typeface="Helvetica"/>
            </a:endParaRPr>
          </a:p>
        </p:txBody>
      </p:sp>
      <p:pic>
        <p:nvPicPr>
          <p:cNvPr id="23554" name="Picture 2" descr="I:\Overseas Projects\PHOTOS\2014\Shutterstock 25-a-day\shutterstock_188496518.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35896" y="4472905"/>
            <a:ext cx="2013595" cy="13434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4091605"/>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pPr indent="-457200"/>
            <a:r>
              <a:rPr lang="en-AU" sz="3600" b="1" dirty="0" smtClean="0">
                <a:solidFill>
                  <a:srgbClr val="FF6600"/>
                </a:solidFill>
                <a:latin typeface="Helvetica"/>
                <a:cs typeface="Helvetica"/>
              </a:rPr>
              <a:t>5.5	Revise </a:t>
            </a:r>
            <a:r>
              <a:rPr lang="en-AU" sz="3600" b="1" dirty="0">
                <a:solidFill>
                  <a:srgbClr val="FF6600"/>
                </a:solidFill>
                <a:latin typeface="Helvetica"/>
                <a:cs typeface="Helvetica"/>
              </a:rPr>
              <a:t>existing plans and </a:t>
            </a:r>
            <a:r>
              <a:rPr lang="en-AU" sz="3600" b="1" dirty="0" smtClean="0">
                <a:solidFill>
                  <a:srgbClr val="FF6600"/>
                </a:solidFill>
                <a:latin typeface="Helvetica"/>
                <a:cs typeface="Helvetica"/>
              </a:rPr>
              <a:t>  	strategies</a:t>
            </a:r>
            <a:endParaRPr lang="en-US" sz="3400" b="1" dirty="0">
              <a:solidFill>
                <a:srgbClr val="FF6600"/>
              </a:solidFill>
              <a:latin typeface="Helvetica"/>
              <a:cs typeface="Helvetica"/>
            </a:endParaRPr>
          </a:p>
        </p:txBody>
      </p:sp>
      <p:sp>
        <p:nvSpPr>
          <p:cNvPr id="3" name="Content Placeholder 2"/>
          <p:cNvSpPr>
            <a:spLocks noGrp="1"/>
          </p:cNvSpPr>
          <p:nvPr>
            <p:ph idx="1"/>
          </p:nvPr>
        </p:nvSpPr>
        <p:spPr>
          <a:xfrm>
            <a:off x="611560" y="1783357"/>
            <a:ext cx="6624736" cy="4525963"/>
          </a:xfrm>
        </p:spPr>
        <p:txBody>
          <a:bodyPr>
            <a:normAutofit/>
          </a:bodyPr>
          <a:lstStyle/>
          <a:p>
            <a:pPr marL="0" indent="0">
              <a:spcBef>
                <a:spcPts val="600"/>
              </a:spcBef>
              <a:spcAft>
                <a:spcPts val="1200"/>
              </a:spcAft>
              <a:buNone/>
            </a:pPr>
            <a:r>
              <a:rPr lang="en-AU" sz="2200" dirty="0" smtClean="0"/>
              <a:t>Changes </a:t>
            </a:r>
            <a:r>
              <a:rPr lang="en-AU" sz="2200" dirty="0"/>
              <a:t>to the plan will require:</a:t>
            </a:r>
          </a:p>
          <a:p>
            <a:pPr>
              <a:spcBef>
                <a:spcPts val="600"/>
              </a:spcBef>
              <a:spcAft>
                <a:spcPts val="1200"/>
              </a:spcAft>
            </a:pPr>
            <a:r>
              <a:rPr lang="en-AU" sz="2200" dirty="0"/>
              <a:t>The involvement of stakeholders</a:t>
            </a:r>
          </a:p>
          <a:p>
            <a:pPr>
              <a:spcBef>
                <a:spcPts val="600"/>
              </a:spcBef>
              <a:spcAft>
                <a:spcPts val="1200"/>
              </a:spcAft>
            </a:pPr>
            <a:r>
              <a:rPr lang="en-AU" sz="2200" dirty="0"/>
              <a:t>Rewriting the plan based on criteria covered </a:t>
            </a:r>
            <a:r>
              <a:rPr lang="en-AU" sz="2200" dirty="0" smtClean="0"/>
              <a:t/>
            </a:r>
            <a:br>
              <a:rPr lang="en-AU" sz="2200" dirty="0" smtClean="0"/>
            </a:br>
            <a:r>
              <a:rPr lang="en-AU" sz="2200" dirty="0" smtClean="0"/>
              <a:t>in </a:t>
            </a:r>
            <a:r>
              <a:rPr lang="en-AU" sz="2200" dirty="0"/>
              <a:t>5.4</a:t>
            </a:r>
          </a:p>
          <a:p>
            <a:pPr>
              <a:spcBef>
                <a:spcPts val="600"/>
              </a:spcBef>
              <a:spcAft>
                <a:spcPts val="1200"/>
              </a:spcAft>
            </a:pPr>
            <a:r>
              <a:rPr lang="en-AU" sz="2200" dirty="0"/>
              <a:t>Communicating changes to staff </a:t>
            </a:r>
          </a:p>
          <a:p>
            <a:pPr>
              <a:spcBef>
                <a:spcPts val="600"/>
              </a:spcBef>
              <a:spcAft>
                <a:spcPts val="1200"/>
              </a:spcAft>
            </a:pPr>
            <a:r>
              <a:rPr lang="en-AU" sz="2200" dirty="0"/>
              <a:t>Providing training to support any revisions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59</a:t>
            </a:fld>
            <a:endParaRPr lang="en-US" dirty="0">
              <a:latin typeface="Helvetica" pitchFamily="34" charset="0"/>
            </a:endParaRPr>
          </a:p>
        </p:txBody>
      </p:sp>
      <p:pic>
        <p:nvPicPr>
          <p:cNvPr id="7" name="Picture 6" descr="C:\Documents and Settings\danielc\Desktop\Maintain the security of premises and property imgs\freeimage-78195 copy.jpg"/>
          <p:cNvPicPr/>
          <p:nvPr/>
        </p:nvPicPr>
        <p:blipFill>
          <a:blip r:embed="rId3" cstate="print"/>
          <a:stretch>
            <a:fillRect/>
          </a:stretch>
        </p:blipFill>
        <p:spPr bwMode="auto">
          <a:xfrm>
            <a:off x="7164288" y="2780928"/>
            <a:ext cx="1714500" cy="1127760"/>
          </a:xfrm>
          <a:prstGeom prst="rect">
            <a:avLst/>
          </a:prstGeom>
          <a:noFill/>
          <a:ln>
            <a:noFill/>
          </a:ln>
        </p:spPr>
      </p:pic>
    </p:spTree>
    <p:extLst>
      <p:ext uri="{BB962C8B-B14F-4D97-AF65-F5344CB8AC3E}">
        <p14:creationId xmlns:p14="http://schemas.microsoft.com/office/powerpoint/2010/main" val="247409160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467600" cy="4525963"/>
          </a:xfrm>
        </p:spPr>
        <p:txBody>
          <a:bodyPr>
            <a:normAutofit/>
          </a:bodyPr>
          <a:lstStyle/>
          <a:p>
            <a:pPr marL="0" indent="0" algn="ctr">
              <a:buNone/>
            </a:pPr>
            <a:endParaRPr lang="en-US" sz="2400" b="1" i="1" dirty="0" smtClean="0"/>
          </a:p>
          <a:p>
            <a:pPr marL="0" indent="0" algn="ctr">
              <a:buNone/>
            </a:pPr>
            <a:endParaRPr lang="en-US" sz="2400" b="1" i="1" dirty="0"/>
          </a:p>
          <a:p>
            <a:pPr marL="0" indent="0" algn="ctr">
              <a:buNone/>
            </a:pPr>
            <a:endParaRPr lang="en-US" sz="2400" b="1" i="1" dirty="0" smtClean="0"/>
          </a:p>
          <a:p>
            <a:pPr marL="0" indent="0" algn="ctr">
              <a:buNone/>
            </a:pPr>
            <a:r>
              <a:rPr lang="en-US" sz="2400" b="1" i="1" dirty="0" smtClean="0"/>
              <a:t>Activity - Revise </a:t>
            </a:r>
            <a:r>
              <a:rPr lang="en-US" sz="2400" b="1" i="1" dirty="0"/>
              <a:t>the existing plan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60</a:t>
            </a:fld>
            <a:endParaRPr lang="en-US" dirty="0">
              <a:latin typeface="Helvetica" pitchFamily="34" charset="0"/>
            </a:endParaRPr>
          </a:p>
        </p:txBody>
      </p:sp>
      <p:sp>
        <p:nvSpPr>
          <p:cNvPr id="7" name="Title 1"/>
          <p:cNvSpPr>
            <a:spLocks noGrp="1"/>
          </p:cNvSpPr>
          <p:nvPr>
            <p:ph type="title"/>
          </p:nvPr>
        </p:nvSpPr>
        <p:spPr>
          <a:xfrm>
            <a:off x="611560" y="332656"/>
            <a:ext cx="7467600" cy="1143000"/>
          </a:xfrm>
        </p:spPr>
        <p:txBody>
          <a:bodyPr>
            <a:normAutofit fontScale="90000"/>
          </a:bodyPr>
          <a:lstStyle/>
          <a:p>
            <a:pPr indent="-457200"/>
            <a:r>
              <a:rPr lang="en-AU" sz="3600" b="1" dirty="0" smtClean="0">
                <a:solidFill>
                  <a:srgbClr val="FF6600"/>
                </a:solidFill>
                <a:latin typeface="Helvetica"/>
                <a:cs typeface="Helvetica"/>
              </a:rPr>
              <a:t>5.5	Revise </a:t>
            </a:r>
            <a:r>
              <a:rPr lang="en-AU" sz="3600" b="1" dirty="0">
                <a:solidFill>
                  <a:srgbClr val="FF6600"/>
                </a:solidFill>
                <a:latin typeface="Helvetica"/>
                <a:cs typeface="Helvetica"/>
              </a:rPr>
              <a:t>existing plans and </a:t>
            </a:r>
            <a:r>
              <a:rPr lang="en-AU" sz="3600" b="1" dirty="0" smtClean="0">
                <a:solidFill>
                  <a:srgbClr val="FF6600"/>
                </a:solidFill>
                <a:latin typeface="Helvetica"/>
                <a:cs typeface="Helvetica"/>
              </a:rPr>
              <a:t>  	strategies</a:t>
            </a:r>
            <a:endParaRPr lang="en-US" sz="3400" b="1" dirty="0">
              <a:solidFill>
                <a:srgbClr val="FF6600"/>
              </a:solidFill>
              <a:latin typeface="Helvetica"/>
              <a:cs typeface="Helvetica"/>
            </a:endParaRPr>
          </a:p>
        </p:txBody>
      </p:sp>
      <p:pic>
        <p:nvPicPr>
          <p:cNvPr id="8" name="Picture 7" descr="user_edit"/>
          <p:cNvPicPr/>
          <p:nvPr/>
        </p:nvPicPr>
        <p:blipFill>
          <a:blip r:embed="rId3" cstate="print"/>
          <a:srcRect/>
          <a:stretch>
            <a:fillRect/>
          </a:stretch>
        </p:blipFill>
        <p:spPr bwMode="auto">
          <a:xfrm>
            <a:off x="4139952" y="3877955"/>
            <a:ext cx="1384220" cy="1384220"/>
          </a:xfrm>
          <a:prstGeom prst="rect">
            <a:avLst/>
          </a:prstGeom>
          <a:noFill/>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600" b="1" dirty="0">
                <a:solidFill>
                  <a:srgbClr val="FF6600"/>
                </a:solidFill>
                <a:latin typeface="Helvetica"/>
                <a:cs typeface="Helvetica"/>
              </a:rPr>
              <a:t>Thank you!</a:t>
            </a:r>
            <a:endParaRPr lang="en-US" sz="3400" b="1" dirty="0">
              <a:solidFill>
                <a:srgbClr val="FF6600"/>
              </a:solidFill>
              <a:latin typeface="Helvetica"/>
              <a:cs typeface="Helvetica"/>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a:latin typeface="Helvetica" pitchFamily="34" charset="0"/>
            </a:endParaRPr>
          </a:p>
          <a:p>
            <a:pPr marL="360000" indent="-360000" algn="ctr">
              <a:spcBef>
                <a:spcPts val="600"/>
              </a:spcBef>
              <a:spcAft>
                <a:spcPts val="1200"/>
              </a:spcAft>
              <a:buNone/>
            </a:pPr>
            <a:r>
              <a:rPr lang="en-US" sz="2400" dirty="0" smtClean="0"/>
              <a:t>You’ve </a:t>
            </a:r>
            <a:r>
              <a:rPr lang="en-US" sz="2400" dirty="0"/>
              <a:t>completed the “Manage Operational Risk” unit.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61</a:t>
            </a:fld>
            <a:endParaRPr lang="en-US" dirty="0">
              <a:latin typeface="Helvetica" pitchFamily="34" charset="0"/>
            </a:endParaRPr>
          </a:p>
        </p:txBody>
      </p:sp>
      <p:pic>
        <p:nvPicPr>
          <p:cNvPr id="25602" name="Picture 2" descr="I:\Overseas Projects\PHOTOS\2014\Shutterstock 25-a-day\shutterstock_167211332.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47688"/>
          <a:stretch/>
        </p:blipFill>
        <p:spPr bwMode="auto">
          <a:xfrm>
            <a:off x="3635896" y="3429347"/>
            <a:ext cx="1594470" cy="23383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4091605"/>
      </p:ext>
    </p:extLst>
  </p:cSld>
  <p:clrMapOvr>
    <a:masterClrMapping/>
  </p:clrMapOvr>
  <p:timing>
    <p:tnLst>
      <p:par>
        <p:cTn id="1" dur="indefinite" restart="never" nodeType="tmRoot"/>
      </p:par>
    </p:tnLst>
  </p:timing>
</p:sld>
</file>

<file path=ppt/theme/theme1.xml><?xml version="1.0" encoding="utf-8"?>
<a:theme xmlns:a="http://schemas.openxmlformats.org/drawingml/2006/main" name="PPT_Tour_operation_templates_130214">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PPT_Tour_operation_templates_130214</Template>
  <TotalTime>217</TotalTime>
  <Words>5113</Words>
  <Application>Microsoft Office PowerPoint</Application>
  <PresentationFormat>On-screen Show (4:3)</PresentationFormat>
  <Paragraphs>643</Paragraphs>
  <Slides>61</Slides>
  <Notes>61</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61</vt:i4>
      </vt:variant>
    </vt:vector>
  </HeadingPairs>
  <TitlesOfParts>
    <vt:vector size="66" baseType="lpstr">
      <vt:lpstr>Arial</vt:lpstr>
      <vt:lpstr>Helvetica</vt:lpstr>
      <vt:lpstr>Wingdings 2</vt:lpstr>
      <vt:lpstr>PPT_Tour_operation_templates_130214</vt:lpstr>
      <vt:lpstr>Document</vt:lpstr>
      <vt:lpstr>Manage operational risk</vt:lpstr>
      <vt:lpstr>Manage operational risk</vt:lpstr>
      <vt:lpstr>Assessment</vt:lpstr>
      <vt:lpstr>Element 1: Undertake initial operational risk management procedures </vt:lpstr>
      <vt:lpstr>1.1 Establishing the context for  operational risk</vt:lpstr>
      <vt:lpstr>1.1 Establishing the context for  operational risk</vt:lpstr>
      <vt:lpstr>1.1 Establishing the context for  operational risk</vt:lpstr>
      <vt:lpstr>1.1 Establishing the context for  operational risk</vt:lpstr>
      <vt:lpstr>1.1 Establishing the context for  operational risk</vt:lpstr>
      <vt:lpstr>1.1 Establishing the context for  operational risk</vt:lpstr>
      <vt:lpstr>1.1 Establishing the context for  operational risk</vt:lpstr>
      <vt:lpstr>1.1 Establishing the context for  operational risk</vt:lpstr>
      <vt:lpstr>1.1 Establishing the context for  operational risk</vt:lpstr>
      <vt:lpstr>1.1 Establishing the context for  operational risk</vt:lpstr>
      <vt:lpstr>1.1 Establishing the context for  operational risk</vt:lpstr>
      <vt:lpstr>1.1 Establishing the context for  operational risk</vt:lpstr>
      <vt:lpstr>1.2 Identify Operational Risk </vt:lpstr>
      <vt:lpstr>1.2 Identify Operational Risk </vt:lpstr>
      <vt:lpstr>1.2 Identify Operational Risk </vt:lpstr>
      <vt:lpstr>1.2 Identify Operational Risk </vt:lpstr>
      <vt:lpstr>1.3 Assess Operational Risk</vt:lpstr>
      <vt:lpstr>1.3 Assess Operational Risk</vt:lpstr>
      <vt:lpstr>1.3 Assess Operational Risk</vt:lpstr>
      <vt:lpstr>1.3 Assess Operational Risk</vt:lpstr>
      <vt:lpstr>1.3 Assess Operational Risk</vt:lpstr>
      <vt:lpstr>1.3 Assess Operational Risk</vt:lpstr>
      <vt:lpstr>1.3 Assess Operational Risk</vt:lpstr>
      <vt:lpstr>1.3 Assess Operational Risk</vt:lpstr>
      <vt:lpstr>1.4 Identify Operational Risk Control  Procedures</vt:lpstr>
      <vt:lpstr>1.4 Identify Operational Risk Control  Procedures</vt:lpstr>
      <vt:lpstr>1.4 Identify Operational Risk Control  Procedures</vt:lpstr>
      <vt:lpstr>1.4 Identify Operational Risk Control  Procedures</vt:lpstr>
      <vt:lpstr>2.1 Develop operational risk management  policy</vt:lpstr>
      <vt:lpstr>2.1 Develop operational risk management  policy</vt:lpstr>
      <vt:lpstr>2.1 Develop operational risk management  policy</vt:lpstr>
      <vt:lpstr>2.2  Develop written Operational Risk  Management Plans</vt:lpstr>
      <vt:lpstr>2.2  Develop written Operational Risk  Management Plans</vt:lpstr>
      <vt:lpstr>2.3 Develop written Operational  Contingency Plans</vt:lpstr>
      <vt:lpstr>2.3 Develop written Operational  Contingency Plans</vt:lpstr>
      <vt:lpstr>2.3 Develop written Operational  Contingency Plans</vt:lpstr>
      <vt:lpstr>3.1 Inform staff of operational risk  management and contingency plans</vt:lpstr>
      <vt:lpstr>3.1 Inform staff of operational risk  management and contingency plans</vt:lpstr>
      <vt:lpstr>3.1 Inform staff of operational risk  management and contingency plans</vt:lpstr>
      <vt:lpstr>3.2 Conduct staff training in Risk  Management</vt:lpstr>
      <vt:lpstr>3.3 Prepare resources to inform customers  of operational risk management plans  and operational contingency plans</vt:lpstr>
      <vt:lpstr>3.3 Prepare resources to inform customers  of operational risk management plans  and operational contingency plans</vt:lpstr>
      <vt:lpstr>4.1 Plan for the introduction of  written risk management plans</vt:lpstr>
      <vt:lpstr>4.1 Plan for the introduction of  written risk management plans</vt:lpstr>
      <vt:lpstr>4.2 Implement Risk Management  Plans as written</vt:lpstr>
      <vt:lpstr>4.2 Implement Risk Management  Plans as written</vt:lpstr>
      <vt:lpstr>5.1 Identify new operational risks and  changes in identified operational risk </vt:lpstr>
      <vt:lpstr>5.1 Identify new operational risks and  changes in identified operational risk </vt:lpstr>
      <vt:lpstr>5.1 Identify new operational risks and  changes in identified operational risk </vt:lpstr>
      <vt:lpstr>5.1 Identify new operational risks and  changes in identified operational risk </vt:lpstr>
      <vt:lpstr>5.2 Monitor implementation of existing  plans and strategies</vt:lpstr>
      <vt:lpstr>5.3 Ensure near miss events are  identified, recorded and analysed</vt:lpstr>
      <vt:lpstr>5.4 Evaluate implementation of  existing plans and strategies</vt:lpstr>
      <vt:lpstr>5.4 Evaluate implementation of  existing plans and strategies</vt:lpstr>
      <vt:lpstr>5.5 Revise existing plans and    strategies</vt:lpstr>
      <vt:lpstr>5.5 Revise existing plans and    strategies</vt:lpstr>
      <vt:lpstr>Thank you!</vt:lpstr>
    </vt:vector>
  </TitlesOfParts>
  <Company>William Angliss TAFE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 operational risk</dc:title>
  <dc:creator>Kaly Quach</dc:creator>
  <cp:lastModifiedBy>Carla Angelica Co</cp:lastModifiedBy>
  <cp:revision>85</cp:revision>
  <dcterms:created xsi:type="dcterms:W3CDTF">2014-06-27T01:21:38Z</dcterms:created>
  <dcterms:modified xsi:type="dcterms:W3CDTF">2016-07-18T01:55:55Z</dcterms:modified>
</cp:coreProperties>
</file>