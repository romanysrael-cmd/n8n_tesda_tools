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66"/>
  </p:notesMasterIdLst>
  <p:handoutMasterIdLst>
    <p:handoutMasterId r:id="rId167"/>
  </p:handoutMasterIdLst>
  <p:sldIdLst>
    <p:sldId id="256" r:id="rId2"/>
    <p:sldId id="284" r:id="rId3"/>
    <p:sldId id="285" r:id="rId4"/>
    <p:sldId id="286" r:id="rId5"/>
    <p:sldId id="287" r:id="rId6"/>
    <p:sldId id="258" r:id="rId7"/>
    <p:sldId id="292" r:id="rId8"/>
    <p:sldId id="293" r:id="rId9"/>
    <p:sldId id="295" r:id="rId10"/>
    <p:sldId id="297" r:id="rId11"/>
    <p:sldId id="300" r:id="rId12"/>
    <p:sldId id="302" r:id="rId13"/>
    <p:sldId id="304" r:id="rId14"/>
    <p:sldId id="306" r:id="rId15"/>
    <p:sldId id="307" r:id="rId16"/>
    <p:sldId id="308" r:id="rId17"/>
    <p:sldId id="310" r:id="rId18"/>
    <p:sldId id="316" r:id="rId19"/>
    <p:sldId id="324" r:id="rId20"/>
    <p:sldId id="673" r:id="rId21"/>
    <p:sldId id="681" r:id="rId22"/>
    <p:sldId id="290" r:id="rId23"/>
    <p:sldId id="329" r:id="rId24"/>
    <p:sldId id="330" r:id="rId25"/>
    <p:sldId id="331" r:id="rId26"/>
    <p:sldId id="332" r:id="rId27"/>
    <p:sldId id="674" r:id="rId28"/>
    <p:sldId id="338" r:id="rId29"/>
    <p:sldId id="675" r:id="rId30"/>
    <p:sldId id="676" r:id="rId31"/>
    <p:sldId id="343" r:id="rId32"/>
    <p:sldId id="345" r:id="rId33"/>
    <p:sldId id="351" r:id="rId34"/>
    <p:sldId id="259" r:id="rId35"/>
    <p:sldId id="352" r:id="rId36"/>
    <p:sldId id="354" r:id="rId37"/>
    <p:sldId id="261" r:id="rId38"/>
    <p:sldId id="262" r:id="rId39"/>
    <p:sldId id="370" r:id="rId40"/>
    <p:sldId id="372" r:id="rId41"/>
    <p:sldId id="373" r:id="rId42"/>
    <p:sldId id="374" r:id="rId43"/>
    <p:sldId id="375" r:id="rId44"/>
    <p:sldId id="380" r:id="rId45"/>
    <p:sldId id="381" r:id="rId46"/>
    <p:sldId id="263" r:id="rId47"/>
    <p:sldId id="264" r:id="rId48"/>
    <p:sldId id="265" r:id="rId49"/>
    <p:sldId id="266" r:id="rId50"/>
    <p:sldId id="267" r:id="rId51"/>
    <p:sldId id="409" r:id="rId52"/>
    <p:sldId id="268" r:id="rId53"/>
    <p:sldId id="269" r:id="rId54"/>
    <p:sldId id="423" r:id="rId55"/>
    <p:sldId id="427" r:id="rId56"/>
    <p:sldId id="270" r:id="rId57"/>
    <p:sldId id="428" r:id="rId58"/>
    <p:sldId id="429" r:id="rId59"/>
    <p:sldId id="430" r:id="rId60"/>
    <p:sldId id="443" r:id="rId61"/>
    <p:sldId id="432" r:id="rId62"/>
    <p:sldId id="433" r:id="rId63"/>
    <p:sldId id="434" r:id="rId64"/>
    <p:sldId id="438" r:id="rId65"/>
    <p:sldId id="440" r:id="rId66"/>
    <p:sldId id="441" r:id="rId67"/>
    <p:sldId id="678" r:id="rId68"/>
    <p:sldId id="677" r:id="rId69"/>
    <p:sldId id="271" r:id="rId70"/>
    <p:sldId id="453" r:id="rId71"/>
    <p:sldId id="454" r:id="rId72"/>
    <p:sldId id="272" r:id="rId73"/>
    <p:sldId id="456" r:id="rId74"/>
    <p:sldId id="457" r:id="rId75"/>
    <p:sldId id="458" r:id="rId76"/>
    <p:sldId id="460" r:id="rId77"/>
    <p:sldId id="473" r:id="rId78"/>
    <p:sldId id="474" r:id="rId79"/>
    <p:sldId id="478" r:id="rId80"/>
    <p:sldId id="479" r:id="rId81"/>
    <p:sldId id="273" r:id="rId82"/>
    <p:sldId id="481" r:id="rId83"/>
    <p:sldId id="274" r:id="rId84"/>
    <p:sldId id="489" r:id="rId85"/>
    <p:sldId id="490" r:id="rId86"/>
    <p:sldId id="491" r:id="rId87"/>
    <p:sldId id="492" r:id="rId88"/>
    <p:sldId id="493" r:id="rId89"/>
    <p:sldId id="494" r:id="rId90"/>
    <p:sldId id="495" r:id="rId91"/>
    <p:sldId id="497" r:id="rId92"/>
    <p:sldId id="499" r:id="rId93"/>
    <p:sldId id="500" r:id="rId94"/>
    <p:sldId id="501" r:id="rId95"/>
    <p:sldId id="502" r:id="rId96"/>
    <p:sldId id="275" r:id="rId97"/>
    <p:sldId id="504" r:id="rId98"/>
    <p:sldId id="508" r:id="rId99"/>
    <p:sldId id="509" r:id="rId100"/>
    <p:sldId id="276" r:id="rId101"/>
    <p:sldId id="533" r:id="rId102"/>
    <p:sldId id="516" r:id="rId103"/>
    <p:sldId id="517" r:id="rId104"/>
    <p:sldId id="518" r:id="rId105"/>
    <p:sldId id="519" r:id="rId106"/>
    <p:sldId id="520" r:id="rId107"/>
    <p:sldId id="521" r:id="rId108"/>
    <p:sldId id="522" r:id="rId109"/>
    <p:sldId id="523" r:id="rId110"/>
    <p:sldId id="524" r:id="rId111"/>
    <p:sldId id="525" r:id="rId112"/>
    <p:sldId id="526" r:id="rId113"/>
    <p:sldId id="528" r:id="rId114"/>
    <p:sldId id="277" r:id="rId115"/>
    <p:sldId id="539" r:id="rId116"/>
    <p:sldId id="278" r:id="rId117"/>
    <p:sldId id="547" r:id="rId118"/>
    <p:sldId id="548" r:id="rId119"/>
    <p:sldId id="558" r:id="rId120"/>
    <p:sldId id="279" r:id="rId121"/>
    <p:sldId id="280" r:id="rId122"/>
    <p:sldId id="281" r:id="rId123"/>
    <p:sldId id="593" r:id="rId124"/>
    <p:sldId id="594" r:id="rId125"/>
    <p:sldId id="596" r:id="rId126"/>
    <p:sldId id="597" r:id="rId127"/>
    <p:sldId id="599" r:id="rId128"/>
    <p:sldId id="600" r:id="rId129"/>
    <p:sldId id="611" r:id="rId130"/>
    <p:sldId id="601" r:id="rId131"/>
    <p:sldId id="680" r:id="rId132"/>
    <p:sldId id="604" r:id="rId133"/>
    <p:sldId id="605" r:id="rId134"/>
    <p:sldId id="606" r:id="rId135"/>
    <p:sldId id="607" r:id="rId136"/>
    <p:sldId id="608" r:id="rId137"/>
    <p:sldId id="609" r:id="rId138"/>
    <p:sldId id="610" r:id="rId139"/>
    <p:sldId id="282" r:id="rId140"/>
    <p:sldId id="615" r:id="rId141"/>
    <p:sldId id="616" r:id="rId142"/>
    <p:sldId id="619" r:id="rId143"/>
    <p:sldId id="620" r:id="rId144"/>
    <p:sldId id="283" r:id="rId145"/>
    <p:sldId id="621" r:id="rId146"/>
    <p:sldId id="626" r:id="rId147"/>
    <p:sldId id="559" r:id="rId148"/>
    <p:sldId id="627" r:id="rId149"/>
    <p:sldId id="628" r:id="rId150"/>
    <p:sldId id="629" r:id="rId151"/>
    <p:sldId id="631" r:id="rId152"/>
    <p:sldId id="632" r:id="rId153"/>
    <p:sldId id="633" r:id="rId154"/>
    <p:sldId id="560" r:id="rId155"/>
    <p:sldId id="639" r:id="rId156"/>
    <p:sldId id="642" r:id="rId157"/>
    <p:sldId id="645" r:id="rId158"/>
    <p:sldId id="652" r:id="rId159"/>
    <p:sldId id="561" r:id="rId160"/>
    <p:sldId id="665" r:id="rId161"/>
    <p:sldId id="666" r:id="rId162"/>
    <p:sldId id="562" r:id="rId163"/>
    <p:sldId id="668" r:id="rId164"/>
    <p:sldId id="669" r:id="rId165"/>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3">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85163" autoAdjust="0"/>
  </p:normalViewPr>
  <p:slideViewPr>
    <p:cSldViewPr>
      <p:cViewPr varScale="1">
        <p:scale>
          <a:sx n="78" d="100"/>
          <a:sy n="78" d="100"/>
        </p:scale>
        <p:origin x="159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100" d="100"/>
          <a:sy n="100" d="100"/>
        </p:scale>
        <p:origin x="-1476" y="702"/>
      </p:cViewPr>
      <p:guideLst>
        <p:guide orient="horz" pos="3223"/>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0"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7/18/2016</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7/18/2016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www.serviceskills.com.au/becoming-a-registered-training-organisation"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www.rtosupport.com.au/rto-support-services/prospective-rtos"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www.serviceskills.com.au/becoming-a-registered-training-organisation"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www.asqa.gov.au/vet-registration/understand-the-requirements-for-registration/understand-the-requirements-for-registration.html"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www.comlaw.gov.au/Details/F2014L01377" TargetMode="Externa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vanguardvisions.com.au/six-steps-to-successfully-implementing-workplace-online-training/"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www.mindtools.com/pages/article/newTMC_05.htm"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mallbusiness.chron.com/swot-analysis-diversity-training-1850.html"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pestleanalysis.com/" TargetMode="External"/><Relationship Id="rId2" Type="http://schemas.openxmlformats.org/officeDocument/2006/relationships/slide" Target="../slides/slide25.xml"/><Relationship Id="rId1" Type="http://schemas.openxmlformats.org/officeDocument/2006/relationships/notesMaster" Target="../notesMasters/notesMaster1.xml"/><Relationship Id="rId4" Type="http://schemas.openxmlformats.org/officeDocument/2006/relationships/hyperlink" Target="http://www.slideshare.net/lconner/steeple" TargetMode="Externa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www.businessballs.com/jobdescription.htm" TargetMode="External"/><Relationship Id="rId2" Type="http://schemas.openxmlformats.org/officeDocument/2006/relationships/slide" Target="../slides/slide26.xml"/><Relationship Id="rId1" Type="http://schemas.openxmlformats.org/officeDocument/2006/relationships/notesMaster" Target="../notesMasters/notesMaster1.xml"/><Relationship Id="rId5" Type="http://schemas.openxmlformats.org/officeDocument/2006/relationships/hyperlink" Target="http://www.managementstudyguide.com/job-description-specification.htm" TargetMode="External"/><Relationship Id="rId4" Type="http://schemas.openxmlformats.org/officeDocument/2006/relationships/hyperlink" Target="http://humanresources.about.com/od/glossaryj/g/job_specification.htm"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www.serviceskills.com.au/rtos/support-materials" TargetMode="External"/><Relationship Id="rId2" Type="http://schemas.openxmlformats.org/officeDocument/2006/relationships/slide" Target="../slides/slide42.xml"/><Relationship Id="rId1" Type="http://schemas.openxmlformats.org/officeDocument/2006/relationships/notesMaster" Target="../notesMasters/notesMaster1.xml"/><Relationship Id="rId4" Type="http://schemas.openxmlformats.org/officeDocument/2006/relationships/hyperlink" Target="https://shop.tafesa.edu.au/LOR/Home.aspx" TargetMode="Externa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www.tourismtraining.com.au/contact/contact.html" TargetMode="External"/><Relationship Id="rId2" Type="http://schemas.openxmlformats.org/officeDocument/2006/relationships/slide" Target="../slides/slide43.xml"/><Relationship Id="rId1" Type="http://schemas.openxmlformats.org/officeDocument/2006/relationships/notesMaster" Target="../notesMasters/notesMaster1.xml"/><Relationship Id="rId5" Type="http://schemas.openxmlformats.org/officeDocument/2006/relationships/hyperlink" Target="http://www.tourism.australia.com/contact-us/student-resources.aspx" TargetMode="External"/><Relationship Id="rId4" Type="http://schemas.openxmlformats.org/officeDocument/2006/relationships/hyperlink" Target="http://www.tesaustralia.com/article.aspx?storyCode=6278198" TargetMode="Externa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3" Type="http://schemas.openxmlformats.org/officeDocument/2006/relationships/hyperlink" Target="http://www.industrialrelations.nsw.gov.au/oirwww/Employment_info/Managing_employees/Workplace_policies_and_procedures.page" TargetMode="External"/><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3" Type="http://schemas.openxmlformats.org/officeDocument/2006/relationships/hyperlink" Target="http://work.chron.com/workplace-training-policy-11928.html" TargetMode="External"/><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3" Type="http://schemas.openxmlformats.org/officeDocument/2006/relationships/hyperlink" Target="http://www.transformingtraining.com.au/storage/Records%20Management%20Policy_procedures.pdf" TargetMode="External"/><Relationship Id="rId2" Type="http://schemas.openxmlformats.org/officeDocument/2006/relationships/slide" Target="../slides/slide70.xml"/><Relationship Id="rId1" Type="http://schemas.openxmlformats.org/officeDocument/2006/relationships/notesMaster" Target="../notesMasters/notesMaster1.xml"/><Relationship Id="rId5" Type="http://schemas.openxmlformats.org/officeDocument/2006/relationships/hyperlink" Target="http://www.records.nsw.gov.au/recordkeeping/advice/information-security/how-records-management-techniques-and-skills-can-contribute-to-information-security-objectives" TargetMode="External"/><Relationship Id="rId4" Type="http://schemas.openxmlformats.org/officeDocument/2006/relationships/hyperlink" Target="http://www.records.nsw.gov.au/recordkeeping/advice/designing-implementing-and-managing-systems/dirks-manual/introducing-the-dirks-methodology" TargetMode="External"/></Relationships>
</file>

<file path=ppt/notesSlides/_rels/notesSlide71.xml.rels><?xml version="1.0" encoding="UTF-8" standalone="yes"?>
<Relationships xmlns="http://schemas.openxmlformats.org/package/2006/relationships"><Relationship Id="rId3" Type="http://schemas.openxmlformats.org/officeDocument/2006/relationships/hyperlink" Target="http://www.asqa.gov.au/verve/_resources/General_direction_Retaining_student_assessment.pdf" TargetMode="External"/><Relationship Id="rId2" Type="http://schemas.openxmlformats.org/officeDocument/2006/relationships/slide" Target="../slides/slide71.xml"/><Relationship Id="rId1" Type="http://schemas.openxmlformats.org/officeDocument/2006/relationships/notesMaster" Target="../notesMasters/notesMaster1.xml"/><Relationship Id="rId5" Type="http://schemas.openxmlformats.org/officeDocument/2006/relationships/hyperlink" Target="http://www.asqa.gov.au/users-guide-to-the-standards-for-registered-training-organisations-2015/about-the-standards-for-rtos/standard-eight/clauses/clauses-8.1--8.2.html" TargetMode="External"/><Relationship Id="rId4" Type="http://schemas.openxmlformats.org/officeDocument/2006/relationships/hyperlink" Target="http://www.asqa.gov.au/faqs/frequently-asked-questions.html" TargetMode="Externa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3" Type="http://schemas.openxmlformats.org/officeDocument/2006/relationships/hyperlink" Target="http://www.asqa.gov.au/forms.html" TargetMode="External"/><Relationship Id="rId2" Type="http://schemas.openxmlformats.org/officeDocument/2006/relationships/slide" Target="../slides/slide73.xml"/><Relationship Id="rId1" Type="http://schemas.openxmlformats.org/officeDocument/2006/relationships/notesMaster" Target="../notesMasters/notesMaster1.xml"/><Relationship Id="rId4" Type="http://schemas.openxmlformats.org/officeDocument/2006/relationships/hyperlink" Target="http://www.det.act.gov.au/__data/assets/pdf_file/0006/456351/Guide-1.pdf" TargetMode="External"/></Relationships>
</file>

<file path=ppt/notesSlides/_rels/notesSlide74.xml.rels><?xml version="1.0" encoding="UTF-8" standalone="yes"?>
<Relationships xmlns="http://schemas.openxmlformats.org/package/2006/relationships"><Relationship Id="rId3" Type="http://schemas.openxmlformats.org/officeDocument/2006/relationships/hyperlink" Target="http://www.ezyhr.com.au/training_logs.html?gclid=CI2ZgtvRxMMCFY4svQodJCMA7w" TargetMode="External"/><Relationship Id="rId2" Type="http://schemas.openxmlformats.org/officeDocument/2006/relationships/slide" Target="../slides/slide74.xml"/><Relationship Id="rId1" Type="http://schemas.openxmlformats.org/officeDocument/2006/relationships/notesMaster" Target="../notesMasters/notesMaster1.xml"/><Relationship Id="rId4" Type="http://schemas.openxmlformats.org/officeDocument/2006/relationships/hyperlink" Target="http://www.kzsoftware.com/products/training-manager/?gclid=CJSD5ffRxMMCFY8kvQodhxIATw" TargetMode="Externa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3" Type="http://schemas.openxmlformats.org/officeDocument/2006/relationships/hyperlink" Target="http://www.waseantourism.com/" TargetMode="External"/><Relationship Id="rId2" Type="http://schemas.openxmlformats.org/officeDocument/2006/relationships/slide" Target="../slides/slide77.xml"/><Relationship Id="rId1" Type="http://schemas.openxmlformats.org/officeDocument/2006/relationships/notesMaster" Target="../notesMasters/notesMaster1.xml"/><Relationship Id="rId5" Type="http://schemas.openxmlformats.org/officeDocument/2006/relationships/hyperlink" Target="http://www.training.nsw.gov.au/forms_documents/apprenticeships_traineeships/supervising_your_app_trainee.pdf" TargetMode="External"/><Relationship Id="rId4" Type="http://schemas.openxmlformats.org/officeDocument/2006/relationships/hyperlink" Target="https://www.jjkellertraining.com/TrainingResources/1812/OSHA" TargetMode="External"/></Relationships>
</file>

<file path=ppt/notesSlides/_rels/notesSlide78.xml.rels><?xml version="1.0" encoding="UTF-8" standalone="yes"?>
<Relationships xmlns="http://schemas.openxmlformats.org/package/2006/relationships"><Relationship Id="rId3" Type="http://schemas.openxmlformats.org/officeDocument/2006/relationships/hyperlink" Target="https://www.business.qld.gov.au/business/employing/employee-rights-awards-entitlements/obligation-as-employer/legal-training-obligations" TargetMode="External"/><Relationship Id="rId2" Type="http://schemas.openxmlformats.org/officeDocument/2006/relationships/slide" Target="../slides/slide78.xml"/><Relationship Id="rId1" Type="http://schemas.openxmlformats.org/officeDocument/2006/relationships/notesMaster" Target="../notesMasters/notesMaster1.xml"/><Relationship Id="rId4" Type="http://schemas.openxmlformats.org/officeDocument/2006/relationships/hyperlink" Target="http://www.training.qld.gov.au/resources/training-organisations/pdf/guide-training-plan-record.pdf" TargetMode="Externa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3" Type="http://schemas.openxmlformats.org/officeDocument/2006/relationships/hyperlink" Target="http://www.asqa.gov.au/users-guide-to-the-standards-for-registered-training-organisations-2015/about-the-standards-for-rtos/standard-one/clauses/clauses-1.8--1.12.html" TargetMode="External"/><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3" Type="http://schemas.openxmlformats.org/officeDocument/2006/relationships/hyperlink" Target="http://www.waseantourism.com/" TargetMode="External"/><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3" Type="http://schemas.openxmlformats.org/officeDocument/2006/relationships/hyperlink" Target="http://corporatetrainingmaterials.com/pages/training_library.asp" TargetMode="External"/><Relationship Id="rId2" Type="http://schemas.openxmlformats.org/officeDocument/2006/relationships/slide" Target="../slides/slide143.xml"/><Relationship Id="rId1" Type="http://schemas.openxmlformats.org/officeDocument/2006/relationships/notesMaster" Target="../notesMasters/notesMaster1.xml"/><Relationship Id="rId5" Type="http://schemas.openxmlformats.org/officeDocument/2006/relationships/hyperlink" Target="http://www.didasko.com/sit12.php" TargetMode="External"/><Relationship Id="rId4" Type="http://schemas.openxmlformats.org/officeDocument/2006/relationships/hyperlink" Target="http://www.futuragroup.com.au/" TargetMode="Externa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36702419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six Elements, as listed on the slide explaining:</a:t>
            </a:r>
          </a:p>
          <a:p>
            <a:pPr marL="171450" indent="-171450">
              <a:buFont typeface="Arial" panose="020B0604020202020204" pitchFamily="34" charset="0"/>
              <a:buChar char="•"/>
            </a:pPr>
            <a:r>
              <a:rPr lang="en-AU" sz="1200" kern="1200" baseline="0" dirty="0" smtClean="0">
                <a:solidFill>
                  <a:schemeClr val="tx1"/>
                </a:solidFill>
                <a:ea typeface="+mn-ea"/>
                <a:cs typeface="+mn-cs"/>
              </a:rPr>
              <a:t>Each Element comprises a number of Performance Criteria which will be identified throughout the class and explained in detail</a:t>
            </a:r>
          </a:p>
          <a:p>
            <a:pPr marL="171450" indent="-171450">
              <a:buFont typeface="Arial" panose="020B0604020202020204" pitchFamily="34" charset="0"/>
              <a:buChar char="•"/>
            </a:pPr>
            <a:r>
              <a:rPr lang="en-AU" sz="1200" kern="1200" baseline="0" dirty="0" smtClean="0">
                <a:solidFill>
                  <a:schemeClr val="tx1"/>
                </a:solidFill>
                <a:ea typeface="+mn-ea"/>
                <a:cs typeface="+mn-cs"/>
              </a:rPr>
              <a:t>Trainees can obtain more detail from their Trainee Manual</a:t>
            </a:r>
          </a:p>
          <a:p>
            <a:pPr marL="171450" indent="-171450">
              <a:buFont typeface="Arial" panose="020B0604020202020204" pitchFamily="34" charset="0"/>
              <a:buChar char="•"/>
            </a:pPr>
            <a:r>
              <a:rPr lang="en-AU" sz="1200" kern="1200" baseline="0" dirty="0" smtClean="0">
                <a:solidFill>
                  <a:schemeClr val="tx1"/>
                </a:solidFill>
                <a:ea typeface="+mn-ea"/>
                <a:cs typeface="+mn-cs"/>
              </a:rPr>
              <a:t>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486657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154878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316229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baseline="0" dirty="0" smtClean="0"/>
              <a:t>What experience do you have with workplace training systems?</a:t>
            </a:r>
          </a:p>
          <a:p>
            <a:pPr marL="171450" indent="-171450">
              <a:buFont typeface="Arial" pitchFamily="34" charset="0"/>
              <a:buChar char="•"/>
            </a:pPr>
            <a:r>
              <a:rPr lang="en-US" baseline="0" noProof="0" dirty="0" smtClean="0"/>
              <a:t>Where were the systems?</a:t>
            </a:r>
          </a:p>
          <a:p>
            <a:pPr marL="171450" indent="-171450">
              <a:buFont typeface="Arial" pitchFamily="34" charset="0"/>
              <a:buChar char="•"/>
            </a:pPr>
            <a:r>
              <a:rPr lang="en-US" baseline="0" noProof="0" dirty="0" smtClean="0"/>
              <a:t>What did they deliver? Who to?</a:t>
            </a:r>
          </a:p>
          <a:p>
            <a:pPr marL="171450" indent="-171450">
              <a:buFont typeface="Arial" pitchFamily="34" charset="0"/>
              <a:buChar char="•"/>
            </a:pPr>
            <a:r>
              <a:rPr lang="en-US" baseline="0" noProof="0" dirty="0" smtClean="0"/>
              <a:t>How effective were they?</a:t>
            </a:r>
          </a:p>
          <a:p>
            <a:pPr marL="171450" indent="-171450">
              <a:buFont typeface="Arial" pitchFamily="34" charset="0"/>
              <a:buChar char="•"/>
            </a:pPr>
            <a:r>
              <a:rPr lang="en-US" baseline="0" noProof="0" dirty="0" smtClean="0"/>
              <a:t>Were they recognised/accredited or not?</a:t>
            </a:r>
          </a:p>
          <a:p>
            <a:pPr marL="171450" indent="-171450">
              <a:buFont typeface="Arial" pitchFamily="34" charset="0"/>
              <a:buChar char="•"/>
            </a:pPr>
            <a:r>
              <a:rPr lang="en-US" baseline="0" noProof="0" dirty="0" smtClean="0"/>
              <a:t>Who were the personnel involved in operating the system?</a:t>
            </a:r>
          </a:p>
          <a:p>
            <a:pPr marL="171450" indent="-171450">
              <a:buFont typeface="Arial" pitchFamily="34" charset="0"/>
              <a:buChar char="•"/>
            </a:pPr>
            <a:r>
              <a:rPr lang="en-US" baseline="0" noProof="0" dirty="0" smtClean="0"/>
              <a:t>What parameters did the system operate within?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7901577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AU" noProof="0" dirty="0" smtClean="0"/>
              <a:t>Trainer observes when </a:t>
            </a:r>
            <a:r>
              <a:rPr lang="en-AU" sz="1200" kern="1200" dirty="0" smtClean="0">
                <a:solidFill>
                  <a:schemeClr val="tx1"/>
                </a:solidFill>
                <a:ea typeface="+mn-ea"/>
                <a:cs typeface="+mn-cs"/>
              </a:rPr>
              <a:t>working to determine the features of/for a workplace training which is to be established it is worth noting the following points:</a:t>
            </a:r>
          </a:p>
          <a:p>
            <a:pPr marL="171450" indent="-171450">
              <a:buFont typeface="Arial" pitchFamily="34" charset="0"/>
              <a:buChar char="•"/>
            </a:pPr>
            <a:r>
              <a:rPr lang="en-AU" sz="1200" kern="1200" dirty="0" smtClean="0">
                <a:solidFill>
                  <a:schemeClr val="tx1"/>
                </a:solidFill>
                <a:ea typeface="+mn-ea"/>
                <a:cs typeface="+mn-cs"/>
              </a:rPr>
              <a:t>Use a team approach – there should be a group of people who undertake the research and investigations required. It is not recommended that one person does all the work in this regard. A team approach:</a:t>
            </a:r>
          </a:p>
          <a:p>
            <a:pPr marL="628650" lvl="1" indent="-171450">
              <a:buFont typeface="Arial" pitchFamily="34" charset="0"/>
              <a:buChar char="•"/>
            </a:pPr>
            <a:r>
              <a:rPr lang="en-AU" sz="1200" kern="1200" dirty="0" smtClean="0">
                <a:solidFill>
                  <a:schemeClr val="tx1"/>
                </a:solidFill>
                <a:ea typeface="+mn-ea"/>
                <a:cs typeface="+mn-cs"/>
              </a:rPr>
              <a:t> Allows the workload to be shared</a:t>
            </a:r>
          </a:p>
          <a:p>
            <a:pPr marL="628650" lvl="1" indent="-171450">
              <a:buFont typeface="Arial" pitchFamily="34" charset="0"/>
              <a:buChar char="•"/>
            </a:pPr>
            <a:r>
              <a:rPr lang="en-AU" sz="1200" kern="1200" dirty="0" smtClean="0">
                <a:solidFill>
                  <a:schemeClr val="tx1"/>
                </a:solidFill>
                <a:ea typeface="+mn-ea"/>
                <a:cs typeface="+mn-cs"/>
              </a:rPr>
              <a:t>Gives the opportunity for ideas and information to be debated and ‘tested’ by others in the group</a:t>
            </a:r>
          </a:p>
          <a:p>
            <a:pPr marL="628650" lvl="1" indent="-171450">
              <a:buFont typeface="Arial" pitchFamily="34" charset="0"/>
              <a:buChar char="•"/>
            </a:pPr>
            <a:r>
              <a:rPr lang="en-AU" sz="1200" kern="1200" dirty="0" smtClean="0">
                <a:solidFill>
                  <a:schemeClr val="tx1"/>
                </a:solidFill>
                <a:ea typeface="+mn-ea"/>
                <a:cs typeface="+mn-cs"/>
              </a:rPr>
              <a:t>Decreases the time line needed for the overall research and development phase </a:t>
            </a:r>
          </a:p>
          <a:p>
            <a:pPr marL="171450" indent="-171450">
              <a:buFont typeface="Arial" pitchFamily="34" charset="0"/>
              <a:buChar char="•"/>
            </a:pPr>
            <a:r>
              <a:rPr lang="en-AU" sz="1200" kern="1200" dirty="0" smtClean="0">
                <a:solidFill>
                  <a:schemeClr val="tx1"/>
                </a:solidFill>
                <a:ea typeface="+mn-ea"/>
                <a:cs typeface="+mn-cs"/>
              </a:rPr>
              <a:t>Be prepared to work in a difficult and fraught environment – when researching  information to use as the basis for determining the features of a new workplace training system to be established, there will often be:</a:t>
            </a:r>
          </a:p>
          <a:p>
            <a:pPr marL="628650" lvl="1" indent="-171450">
              <a:buFont typeface="Arial" pitchFamily="34" charset="0"/>
              <a:buChar char="•"/>
            </a:pPr>
            <a:r>
              <a:rPr lang="en-AU" sz="1200" kern="1200" dirty="0" smtClean="0">
                <a:solidFill>
                  <a:schemeClr val="tx1"/>
                </a:solidFill>
                <a:ea typeface="+mn-ea"/>
                <a:cs typeface="+mn-cs"/>
              </a:rPr>
              <a:t>Changes over time in the opinions, ideas, needs, wants and preferences of the stakeholders </a:t>
            </a:r>
          </a:p>
          <a:p>
            <a:pPr marL="628650" lvl="1" indent="-171450">
              <a:buFont typeface="Arial" pitchFamily="34" charset="0"/>
              <a:buChar char="•"/>
            </a:pPr>
            <a:r>
              <a:rPr lang="en-AU" sz="1200" kern="1200" dirty="0" smtClean="0">
                <a:solidFill>
                  <a:schemeClr val="tx1"/>
                </a:solidFill>
                <a:ea typeface="+mn-ea"/>
                <a:cs typeface="+mn-cs"/>
              </a:rPr>
              <a:t>Changes in the operational parameters within which the system is expected to function</a:t>
            </a:r>
          </a:p>
          <a:p>
            <a:pPr marL="628650" lvl="1" indent="-171450">
              <a:buFont typeface="Arial" pitchFamily="34" charset="0"/>
              <a:buChar char="•"/>
            </a:pPr>
            <a:r>
              <a:rPr lang="en-AU" sz="1200" kern="1200" dirty="0" smtClean="0">
                <a:solidFill>
                  <a:schemeClr val="tx1"/>
                </a:solidFill>
                <a:ea typeface="+mn-ea"/>
                <a:cs typeface="+mn-cs"/>
              </a:rPr>
              <a:t>Conflict between stakeholders regarding which of various options available (such as, but not limited to, structural issue, delivery methodologies, operational protocols, content) should be selected as the one/s which will be used/applied in the final manifestation of the system</a:t>
            </a:r>
          </a:p>
          <a:p>
            <a:pPr marL="628650" lvl="1" indent="-171450">
              <a:buFont typeface="Arial" pitchFamily="34" charset="0"/>
              <a:buChar char="•"/>
            </a:pPr>
            <a:r>
              <a:rPr lang="en-AU" sz="1200" kern="1200" dirty="0" smtClean="0">
                <a:solidFill>
                  <a:schemeClr val="tx1"/>
                </a:solidFill>
                <a:ea typeface="+mn-ea"/>
                <a:cs typeface="+mn-cs"/>
              </a:rPr>
              <a:t>Situations where decisions have to be made but there appears to be insufficient information to make a genuinely informed decision</a:t>
            </a:r>
          </a:p>
          <a:p>
            <a:pPr marL="628650" lvl="1" indent="-171450">
              <a:buFont typeface="Arial" pitchFamily="34" charset="0"/>
              <a:buChar char="•"/>
            </a:pPr>
            <a:r>
              <a:rPr lang="en-AU" sz="1200" kern="1200" dirty="0" smtClean="0">
                <a:solidFill>
                  <a:schemeClr val="tx1"/>
                </a:solidFill>
                <a:ea typeface="+mn-ea"/>
                <a:cs typeface="+mn-cs"/>
              </a:rPr>
              <a:t>Confusion over a diverse range of very important topics</a:t>
            </a:r>
          </a:p>
          <a:p>
            <a:pPr marL="171450" indent="-171450">
              <a:buFont typeface="Arial" pitchFamily="34" charset="0"/>
              <a:buChar char="•"/>
            </a:pPr>
            <a:r>
              <a:rPr lang="en-AU" sz="1200" kern="1200" dirty="0" smtClean="0">
                <a:solidFill>
                  <a:schemeClr val="tx1"/>
                </a:solidFill>
                <a:ea typeface="+mn-ea"/>
                <a:cs typeface="+mn-cs"/>
              </a:rPr>
              <a:t>Document everything – in relation to:</a:t>
            </a:r>
          </a:p>
          <a:p>
            <a:pPr marL="628650" lvl="1" indent="-171450">
              <a:buFont typeface="Arial" pitchFamily="34" charset="0"/>
              <a:buChar char="•"/>
            </a:pPr>
            <a:r>
              <a:rPr lang="en-AU" sz="1200" kern="1200" dirty="0" smtClean="0">
                <a:solidFill>
                  <a:schemeClr val="tx1"/>
                </a:solidFill>
                <a:ea typeface="+mn-ea"/>
                <a:cs typeface="+mn-cs"/>
              </a:rPr>
              <a:t>Information obtained</a:t>
            </a:r>
          </a:p>
          <a:p>
            <a:pPr marL="628650" lvl="1" indent="-171450">
              <a:buFont typeface="Arial" pitchFamily="34" charset="0"/>
              <a:buChar char="•"/>
            </a:pPr>
            <a:r>
              <a:rPr lang="en-AU" sz="1200" kern="1200" dirty="0" smtClean="0">
                <a:solidFill>
                  <a:schemeClr val="tx1"/>
                </a:solidFill>
                <a:ea typeface="+mn-ea"/>
                <a:cs typeface="+mn-cs"/>
              </a:rPr>
              <a:t>Decisions made and reasons for same</a:t>
            </a:r>
          </a:p>
          <a:p>
            <a:pPr marL="628650" lvl="1" indent="-171450">
              <a:buFont typeface="Arial" pitchFamily="34" charset="0"/>
              <a:buChar char="•"/>
            </a:pPr>
            <a:r>
              <a:rPr lang="en-AU" sz="1200" kern="1200" dirty="0" smtClean="0">
                <a:solidFill>
                  <a:schemeClr val="tx1"/>
                </a:solidFill>
                <a:ea typeface="+mn-ea"/>
                <a:cs typeface="+mn-cs"/>
              </a:rPr>
              <a:t>Actions/research undertaken.</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4028423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stakeholders </a:t>
            </a:r>
            <a:r>
              <a:rPr lang="en-AU" sz="1200" kern="1200" dirty="0" smtClean="0">
                <a:solidFill>
                  <a:schemeClr val="tx1"/>
                </a:solidFill>
                <a:ea typeface="+mn-ea"/>
                <a:cs typeface="+mn-cs"/>
              </a:rPr>
              <a:t>in the design and establishment of a workplace training system will vary depending on:</a:t>
            </a:r>
          </a:p>
          <a:p>
            <a:pPr marL="171450" indent="-171450">
              <a:buFont typeface="Arial" pitchFamily="34" charset="0"/>
              <a:buChar char="•"/>
            </a:pPr>
            <a:r>
              <a:rPr lang="en-AU" sz="1200" kern="1200" dirty="0" smtClean="0">
                <a:solidFill>
                  <a:schemeClr val="tx1"/>
                </a:solidFill>
                <a:ea typeface="+mn-ea"/>
                <a:cs typeface="+mn-cs"/>
              </a:rPr>
              <a:t>Company size and structure</a:t>
            </a:r>
          </a:p>
          <a:p>
            <a:pPr marL="171450" indent="-171450">
              <a:buFont typeface="Arial" pitchFamily="34" charset="0"/>
              <a:buChar char="•"/>
            </a:pPr>
            <a:r>
              <a:rPr lang="en-AU" sz="1200" kern="1200" dirty="0" smtClean="0">
                <a:solidFill>
                  <a:schemeClr val="tx1"/>
                </a:solidFill>
                <a:ea typeface="+mn-ea"/>
                <a:cs typeface="+mn-cs"/>
              </a:rPr>
              <a:t>Whether or not the organisation wants to be a recognised training provider or not</a:t>
            </a:r>
          </a:p>
          <a:p>
            <a:pPr marL="171450" indent="-171450">
              <a:buFont typeface="Arial" pitchFamily="34" charset="0"/>
              <a:buChar char="•"/>
            </a:pPr>
            <a:r>
              <a:rPr lang="en-AU" sz="1200" kern="1200" dirty="0" smtClean="0">
                <a:solidFill>
                  <a:schemeClr val="tx1"/>
                </a:solidFill>
                <a:ea typeface="+mn-ea"/>
                <a:cs typeface="+mn-cs"/>
              </a:rPr>
              <a:t>Partnership arrangements and working agreements which exist between the organisation and other businesses.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8132012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in </a:t>
            </a:r>
            <a:r>
              <a:rPr lang="en-AU" sz="1200" kern="1200" dirty="0" smtClean="0">
                <a:solidFill>
                  <a:schemeClr val="tx1"/>
                </a:solidFill>
                <a:ea typeface="+mn-ea"/>
                <a:cs typeface="+mn-cs"/>
              </a:rPr>
              <a:t>overview key stakeholders may include:</a:t>
            </a:r>
          </a:p>
          <a:p>
            <a:pPr marL="171450" indent="-171450">
              <a:buFont typeface="Arial" pitchFamily="34" charset="0"/>
              <a:buChar char="•"/>
            </a:pPr>
            <a:r>
              <a:rPr lang="en-AU" sz="1200" kern="1200" dirty="0" smtClean="0">
                <a:solidFill>
                  <a:schemeClr val="tx1"/>
                </a:solidFill>
                <a:ea typeface="+mn-ea"/>
                <a:cs typeface="+mn-cs"/>
              </a:rPr>
              <a:t>Business owners</a:t>
            </a:r>
          </a:p>
          <a:p>
            <a:pPr marL="171450" indent="-171450">
              <a:buFont typeface="Arial" pitchFamily="34" charset="0"/>
              <a:buChar char="•"/>
            </a:pPr>
            <a:r>
              <a:rPr lang="en-AU" sz="1200" kern="1200" dirty="0" smtClean="0">
                <a:solidFill>
                  <a:schemeClr val="tx1"/>
                </a:solidFill>
                <a:ea typeface="+mn-ea"/>
                <a:cs typeface="+mn-cs"/>
              </a:rPr>
              <a:t>The Board of Management within the organisation</a:t>
            </a:r>
          </a:p>
          <a:p>
            <a:pPr marL="171450" indent="-171450">
              <a:buFont typeface="Arial" pitchFamily="34" charset="0"/>
              <a:buChar char="•"/>
            </a:pPr>
            <a:r>
              <a:rPr lang="en-AU" sz="1200" kern="1200" dirty="0" smtClean="0">
                <a:solidFill>
                  <a:schemeClr val="tx1"/>
                </a:solidFill>
                <a:ea typeface="+mn-ea"/>
                <a:cs typeface="+mn-cs"/>
              </a:rPr>
              <a:t>Industry, professional and trade associations and bodies</a:t>
            </a:r>
          </a:p>
          <a:p>
            <a:pPr marL="171450" indent="-171450">
              <a:buFont typeface="Arial" pitchFamily="34" charset="0"/>
              <a:buChar char="•"/>
            </a:pPr>
            <a:r>
              <a:rPr lang="en-AU" sz="1200" kern="1200" dirty="0" smtClean="0">
                <a:solidFill>
                  <a:schemeClr val="tx1"/>
                </a:solidFill>
                <a:ea typeface="+mn-ea"/>
                <a:cs typeface="+mn-cs"/>
              </a:rPr>
              <a:t>Qualified trainers and assessors</a:t>
            </a:r>
          </a:p>
          <a:p>
            <a:pPr marL="171450" indent="-171450">
              <a:buFont typeface="Arial" pitchFamily="34" charset="0"/>
              <a:buChar char="•"/>
            </a:pPr>
            <a:r>
              <a:rPr lang="en-AU" sz="1200" kern="1200" dirty="0" smtClean="0">
                <a:solidFill>
                  <a:schemeClr val="tx1"/>
                </a:solidFill>
                <a:ea typeface="+mn-ea"/>
                <a:cs typeface="+mn-cs"/>
              </a:rPr>
              <a:t>Team leaders, supervisors and managers</a:t>
            </a:r>
          </a:p>
          <a:p>
            <a:pPr>
              <a:buFont typeface="Arial" pitchFamily="34" charset="0"/>
              <a:buNone/>
            </a:pPr>
            <a:r>
              <a:rPr lang="en-AU" noProof="0" dirty="0" smtClean="0"/>
              <a:t>Trainer continues from points in TM</a:t>
            </a:r>
          </a:p>
          <a:p>
            <a:pPr marL="171450" indent="-171450">
              <a:buFont typeface="Arial" pitchFamily="34" charset="0"/>
              <a:buChar char="•"/>
            </a:pPr>
            <a:r>
              <a:rPr lang="en-AU" sz="1200" kern="1200" dirty="0" smtClean="0">
                <a:solidFill>
                  <a:schemeClr val="tx1"/>
                </a:solidFill>
                <a:ea typeface="+mn-ea"/>
                <a:cs typeface="+mn-cs"/>
              </a:rPr>
              <a:t>Training participants and employees – past and present</a:t>
            </a:r>
          </a:p>
          <a:p>
            <a:pPr marL="171450" indent="-171450">
              <a:buFont typeface="Arial" pitchFamily="34" charset="0"/>
              <a:buChar char="•"/>
            </a:pPr>
            <a:r>
              <a:rPr lang="en-AU" sz="1200" kern="1200" dirty="0" smtClean="0">
                <a:solidFill>
                  <a:schemeClr val="tx1"/>
                </a:solidFill>
                <a:ea typeface="+mn-ea"/>
                <a:cs typeface="+mn-cs"/>
              </a:rPr>
              <a:t>Technical experts</a:t>
            </a:r>
          </a:p>
          <a:p>
            <a:pPr marL="171450" indent="-171450">
              <a:buFont typeface="Arial" pitchFamily="34" charset="0"/>
              <a:buChar char="•"/>
            </a:pPr>
            <a:r>
              <a:rPr lang="en-AU" sz="1200" kern="1200" dirty="0" smtClean="0">
                <a:solidFill>
                  <a:schemeClr val="tx1"/>
                </a:solidFill>
                <a:ea typeface="+mn-ea"/>
                <a:cs typeface="+mn-cs"/>
              </a:rPr>
              <a:t>Union representatives</a:t>
            </a:r>
          </a:p>
          <a:p>
            <a:pPr marL="171450" indent="-171450">
              <a:buFont typeface="Arial" pitchFamily="34" charset="0"/>
              <a:buChar char="•"/>
            </a:pPr>
            <a:r>
              <a:rPr lang="en-AU" sz="1200" kern="1200" dirty="0" smtClean="0">
                <a:solidFill>
                  <a:schemeClr val="tx1"/>
                </a:solidFill>
                <a:ea typeface="+mn-ea"/>
                <a:cs typeface="+mn-cs"/>
              </a:rPr>
              <a:t>Consultative committees within the business</a:t>
            </a:r>
          </a:p>
          <a:p>
            <a:pPr marL="171450" indent="-171450">
              <a:buFont typeface="Arial" pitchFamily="34" charset="0"/>
              <a:buChar char="•"/>
            </a:pPr>
            <a:r>
              <a:rPr lang="en-AU" sz="1200" kern="1200" dirty="0" smtClean="0">
                <a:solidFill>
                  <a:schemeClr val="tx1"/>
                </a:solidFill>
                <a:ea typeface="+mn-ea"/>
                <a:cs typeface="+mn-cs"/>
              </a:rPr>
              <a:t>Relevant industry training providers and associated training agencies.</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sz="1200" kern="1200" noProof="0" dirty="0" smtClean="0">
              <a:solidFill>
                <a:schemeClr val="tx1"/>
              </a:solidFill>
              <a:ea typeface="+mn-ea"/>
              <a:cs typeface="+mn-cs"/>
            </a:endParaRPr>
          </a:p>
          <a:p>
            <a:pPr>
              <a:buFont typeface="Arial" pitchFamily="34" charset="0"/>
              <a:buNone/>
            </a:pPr>
            <a:r>
              <a:rPr lang="en-AU" sz="1200" b="1" kern="1200" noProof="0" dirty="0" smtClean="0">
                <a:solidFill>
                  <a:schemeClr val="tx1"/>
                </a:solidFill>
                <a:ea typeface="+mn-ea"/>
                <a:cs typeface="+mn-cs"/>
              </a:rPr>
              <a:t>Classroom Activity – Guest Speaker/s</a:t>
            </a:r>
          </a:p>
          <a:p>
            <a:pPr>
              <a:buFont typeface="Arial" pitchFamily="34" charset="0"/>
              <a:buNone/>
            </a:pPr>
            <a:r>
              <a:rPr lang="en-AU" sz="1200" b="0" kern="1200" noProof="0" dirty="0" smtClean="0">
                <a:solidFill>
                  <a:schemeClr val="tx1"/>
                </a:solidFill>
                <a:ea typeface="+mn-ea"/>
                <a:cs typeface="+mn-cs"/>
              </a:rPr>
              <a:t>Trainer arranges for people identified above to attend and:</a:t>
            </a:r>
          </a:p>
          <a:p>
            <a:pPr marL="171450" indent="-171450">
              <a:buFont typeface="Arial" pitchFamily="34" charset="0"/>
              <a:buChar char="•"/>
            </a:pPr>
            <a:r>
              <a:rPr lang="en-AU" sz="1200" b="0" kern="1200" noProof="0" dirty="0" smtClean="0">
                <a:solidFill>
                  <a:schemeClr val="tx1"/>
                </a:solidFill>
                <a:ea typeface="+mn-ea"/>
                <a:cs typeface="+mn-cs"/>
              </a:rPr>
              <a:t>Discuss</a:t>
            </a:r>
            <a:r>
              <a:rPr lang="en-AU" sz="1200" b="0" kern="1200" baseline="0" noProof="0" dirty="0" smtClean="0">
                <a:solidFill>
                  <a:schemeClr val="tx1"/>
                </a:solidFill>
                <a:ea typeface="+mn-ea"/>
                <a:cs typeface="+mn-cs"/>
              </a:rPr>
              <a:t> their experiences, roles and responsibilities with workplace training systems</a:t>
            </a:r>
          </a:p>
          <a:p>
            <a:pPr marL="171450" indent="-171450">
              <a:buFont typeface="Arial" pitchFamily="34" charset="0"/>
              <a:buChar char="•"/>
            </a:pPr>
            <a:r>
              <a:rPr lang="en-AU" sz="1200" b="0" kern="1200" baseline="0" noProof="0" dirty="0" smtClean="0">
                <a:solidFill>
                  <a:schemeClr val="tx1"/>
                </a:solidFill>
                <a:ea typeface="+mn-ea"/>
                <a:cs typeface="+mn-cs"/>
              </a:rPr>
              <a:t>Give advice for design and implementation of workplace training systems.</a:t>
            </a:r>
            <a:endParaRPr lang="en-AU" sz="1200" b="0" kern="1200" noProof="0" dirty="0" smtClean="0">
              <a:solidFill>
                <a:schemeClr val="tx1"/>
              </a:solidFill>
              <a:ea typeface="+mn-ea"/>
              <a:cs typeface="+mn-cs"/>
            </a:endParaRPr>
          </a:p>
          <a:p>
            <a:pPr>
              <a:buFont typeface="Arial" pitchFamily="34" charset="0"/>
              <a:buNone/>
            </a:pPr>
            <a:endParaRPr lang="en-AU" sz="1200" b="1" kern="1200" noProof="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3140795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notes:</a:t>
            </a:r>
          </a:p>
          <a:p>
            <a:pPr marL="171450" indent="-171450">
              <a:buFont typeface="Arial" pitchFamily="34" charset="0"/>
              <a:buChar char="•"/>
            </a:pPr>
            <a:r>
              <a:rPr lang="en-AU" sz="1200" kern="1200" dirty="0" smtClean="0">
                <a:solidFill>
                  <a:schemeClr val="tx1"/>
                </a:solidFill>
                <a:ea typeface="+mn-ea"/>
                <a:cs typeface="+mn-cs"/>
              </a:rPr>
              <a:t>The initial starting point for the development of any workplace training system must be the canvassing and consideration of all the operational features the system is expected to function within</a:t>
            </a:r>
          </a:p>
          <a:p>
            <a:pPr marL="171450" indent="-171450">
              <a:buFont typeface="Arial" pitchFamily="34" charset="0"/>
              <a:buChar char="•"/>
            </a:pPr>
            <a:r>
              <a:rPr lang="en-AU" sz="1200" kern="1200" dirty="0" smtClean="0">
                <a:solidFill>
                  <a:schemeClr val="tx1"/>
                </a:solidFill>
                <a:ea typeface="+mn-ea"/>
                <a:cs typeface="+mn-cs"/>
              </a:rPr>
              <a:t>Operational features may include:</a:t>
            </a:r>
          </a:p>
          <a:p>
            <a:pPr marL="628650" lvl="1" indent="-171450">
              <a:buFont typeface="Arial" pitchFamily="34" charset="0"/>
              <a:buChar char="•"/>
            </a:pPr>
            <a:r>
              <a:rPr lang="en-AU" sz="1200" kern="1200" dirty="0" smtClean="0">
                <a:solidFill>
                  <a:schemeClr val="tx1"/>
                </a:solidFill>
                <a:ea typeface="+mn-ea"/>
                <a:cs typeface="+mn-cs"/>
              </a:rPr>
              <a:t>Purpose of and identified outcomes for the training</a:t>
            </a:r>
          </a:p>
          <a:p>
            <a:pPr marL="628650" lvl="1" indent="-171450">
              <a:buFont typeface="Arial" pitchFamily="34" charset="0"/>
              <a:buChar char="•"/>
            </a:pPr>
            <a:r>
              <a:rPr lang="en-AU" sz="1200" kern="1200" dirty="0" smtClean="0">
                <a:solidFill>
                  <a:schemeClr val="tx1"/>
                </a:solidFill>
                <a:ea typeface="+mn-ea"/>
                <a:cs typeface="+mn-cs"/>
              </a:rPr>
              <a:t>Scope of the training system</a:t>
            </a:r>
          </a:p>
          <a:p>
            <a:pPr marL="628650" lvl="1" indent="-171450">
              <a:buFont typeface="Arial" pitchFamily="34" charset="0"/>
              <a:buChar char="•"/>
            </a:pPr>
            <a:r>
              <a:rPr lang="en-AU" sz="1200" kern="1200" dirty="0" smtClean="0">
                <a:solidFill>
                  <a:schemeClr val="tx1"/>
                </a:solidFill>
                <a:ea typeface="+mn-ea"/>
                <a:cs typeface="+mn-cs"/>
              </a:rPr>
              <a:t>Minimum requirements for training system staff</a:t>
            </a:r>
          </a:p>
          <a:p>
            <a:pPr marL="628650" lvl="1" indent="-171450">
              <a:buFont typeface="Arial" pitchFamily="34" charset="0"/>
              <a:buChar char="•"/>
            </a:pPr>
            <a:r>
              <a:rPr lang="en-AU" sz="1200" kern="1200" dirty="0" smtClean="0">
                <a:solidFill>
                  <a:schemeClr val="tx1"/>
                </a:solidFill>
                <a:ea typeface="+mn-ea"/>
                <a:cs typeface="+mn-cs"/>
              </a:rPr>
              <a:t>Record keeping requirements.</a:t>
            </a:r>
          </a:p>
          <a:p>
            <a:pPr marL="36576" lvl="0" indent="0">
              <a:buNone/>
            </a:pPr>
            <a:endParaRPr lang="en-US" sz="1400" dirty="0" smtClean="0"/>
          </a:p>
          <a:p>
            <a:pPr>
              <a:buFont typeface="Arial" pitchFamily="34" charset="0"/>
              <a:buNone/>
            </a:pPr>
            <a:r>
              <a:rPr lang="en-AU" sz="1400" noProof="0" dirty="0" smtClean="0"/>
              <a:t>Continue working through TM points and discuss each as necessary.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977824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r>
              <a:rPr lang="en-AU" sz="1200" b="1" kern="1200" dirty="0" smtClean="0">
                <a:solidFill>
                  <a:schemeClr val="tx1"/>
                </a:solidFill>
                <a:ea typeface="+mn-ea"/>
                <a:cs typeface="+mn-cs"/>
              </a:rPr>
              <a:t>Purpose of and identified outcomes for the training </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purpose of and identified outcomes for the training will directly relate to the primary reasons the organisation has decided to establish its own training system and will likely embrace diverse factors.</a:t>
            </a:r>
          </a:p>
          <a:p>
            <a:r>
              <a:rPr lang="en-AU" sz="1200" kern="1200" dirty="0" smtClean="0">
                <a:solidFill>
                  <a:schemeClr val="tx1"/>
                </a:solidFill>
                <a:ea typeface="+mn-ea"/>
                <a:cs typeface="+mn-cs"/>
              </a:rPr>
              <a:t>Work through each of the bullet points listed in TM explaining any</a:t>
            </a:r>
            <a:r>
              <a:rPr lang="en-AU" sz="1200" kern="1200" baseline="0" dirty="0" smtClean="0">
                <a:solidFill>
                  <a:schemeClr val="tx1"/>
                </a:solidFill>
                <a:ea typeface="+mn-ea"/>
                <a:cs typeface="+mn-cs"/>
              </a:rPr>
              <a:t> terminology and checking for trainee understanding along the way.</a:t>
            </a: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hlinkClick r:id="rId3"/>
              </a:rPr>
              <a:t>http://www.serviceskills.com.au/becoming-a-registered-training-organisation</a:t>
            </a:r>
            <a:r>
              <a:rPr lang="en-AU" sz="1200" kern="1200" dirty="0" smtClean="0">
                <a:solidFill>
                  <a:schemeClr val="tx1"/>
                </a:solidFill>
                <a:ea typeface="+mn-ea"/>
                <a:cs typeface="+mn-cs"/>
              </a:rPr>
              <a:t> - Becoming a registered training organisation</a:t>
            </a:r>
          </a:p>
          <a:p>
            <a:pPr>
              <a:buFont typeface="Arial" pitchFamily="34" charset="0"/>
              <a:buNone/>
            </a:pPr>
            <a:r>
              <a:rPr lang="en-AU" b="0" noProof="0" dirty="0" smtClean="0"/>
              <a:t> </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605673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discusses:</a:t>
            </a:r>
          </a:p>
          <a:p>
            <a:r>
              <a:rPr lang="en-AU" sz="1200" b="1" kern="1200" dirty="0" smtClean="0">
                <a:solidFill>
                  <a:schemeClr val="tx1"/>
                </a:solidFill>
                <a:ea typeface="+mn-ea"/>
                <a:cs typeface="+mn-cs"/>
              </a:rPr>
              <a:t>Scope of the training system</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Scope of the training system can force the organisation to determine matters such as:</a:t>
            </a:r>
          </a:p>
          <a:p>
            <a:pPr marL="171450" indent="-171450">
              <a:buFont typeface="Arial" pitchFamily="34" charset="0"/>
              <a:buChar char="•"/>
            </a:pPr>
            <a:r>
              <a:rPr lang="en-AU" sz="1200" kern="1200" dirty="0" smtClean="0">
                <a:solidFill>
                  <a:schemeClr val="tx1"/>
                </a:solidFill>
                <a:ea typeface="+mn-ea"/>
                <a:cs typeface="+mn-cs"/>
              </a:rPr>
              <a:t>Training orientation to be used by the business – with reference to whether or not the enterprise elects to follow the principles of:</a:t>
            </a:r>
          </a:p>
          <a:p>
            <a:pPr marL="628650" lvl="1" indent="-171450">
              <a:buFont typeface="Arial" pitchFamily="34" charset="0"/>
              <a:buChar char="•"/>
            </a:pPr>
            <a:r>
              <a:rPr lang="en-AU" sz="1200" kern="1200" dirty="0" smtClean="0">
                <a:solidFill>
                  <a:schemeClr val="tx1"/>
                </a:solidFill>
                <a:ea typeface="+mn-ea"/>
                <a:cs typeface="+mn-cs"/>
              </a:rPr>
              <a:t>CBT</a:t>
            </a:r>
          </a:p>
          <a:p>
            <a:pPr marL="628650" lvl="1" indent="-171450">
              <a:buFont typeface="Arial" pitchFamily="34" charset="0"/>
              <a:buChar char="•"/>
            </a:pPr>
            <a:r>
              <a:rPr lang="en-AU" sz="1200" kern="1200" dirty="0" smtClean="0">
                <a:solidFill>
                  <a:schemeClr val="tx1"/>
                </a:solidFill>
                <a:ea typeface="+mn-ea"/>
                <a:cs typeface="+mn-cs"/>
              </a:rPr>
              <a:t>CBA</a:t>
            </a:r>
          </a:p>
          <a:p>
            <a:pPr marL="628650" lvl="1" indent="-171450">
              <a:buFont typeface="Arial" pitchFamily="34" charset="0"/>
              <a:buChar char="•"/>
            </a:pPr>
            <a:r>
              <a:rPr lang="en-AU" sz="1200" kern="1200" dirty="0" smtClean="0">
                <a:solidFill>
                  <a:schemeClr val="tx1"/>
                </a:solidFill>
                <a:ea typeface="+mn-ea"/>
                <a:cs typeface="+mn-cs"/>
              </a:rPr>
              <a:t>Face-to-face training and/or assessment</a:t>
            </a:r>
          </a:p>
          <a:p>
            <a:pPr marL="628650" lvl="1" indent="-171450">
              <a:buFont typeface="Arial" pitchFamily="34" charset="0"/>
              <a:buChar char="•"/>
            </a:pPr>
            <a:r>
              <a:rPr lang="en-AU" sz="1200" kern="1200" dirty="0" smtClean="0">
                <a:solidFill>
                  <a:schemeClr val="tx1"/>
                </a:solidFill>
                <a:ea typeface="+mn-ea"/>
                <a:cs typeface="+mn-cs"/>
              </a:rPr>
              <a:t>Online training and/or assessment</a:t>
            </a:r>
          </a:p>
          <a:p>
            <a:pPr marL="171450" indent="-171450">
              <a:buFont typeface="Arial" pitchFamily="34" charset="0"/>
              <a:buChar char="•"/>
            </a:pPr>
            <a:r>
              <a:rPr lang="en-AU" sz="1200" kern="1200" dirty="0" smtClean="0">
                <a:solidFill>
                  <a:schemeClr val="tx1"/>
                </a:solidFill>
                <a:ea typeface="+mn-ea"/>
                <a:cs typeface="+mn-cs"/>
              </a:rPr>
              <a:t>Sites the training system will operate from – with traditional options including:</a:t>
            </a:r>
          </a:p>
          <a:p>
            <a:pPr marL="628650" lvl="1" indent="-171450">
              <a:buFont typeface="Arial" pitchFamily="34" charset="0"/>
              <a:buChar char="•"/>
            </a:pPr>
            <a:r>
              <a:rPr lang="en-AU" sz="1200" kern="1200" dirty="0" smtClean="0">
                <a:solidFill>
                  <a:schemeClr val="tx1"/>
                </a:solidFill>
                <a:ea typeface="+mn-ea"/>
                <a:cs typeface="+mn-cs"/>
              </a:rPr>
              <a:t>Operating out of one/single business premises</a:t>
            </a:r>
          </a:p>
          <a:p>
            <a:pPr marL="628650" lvl="1" indent="-171450">
              <a:buFont typeface="Arial" pitchFamily="34" charset="0"/>
              <a:buChar char="•"/>
            </a:pPr>
            <a:r>
              <a:rPr lang="en-AU" sz="1200" kern="1200" dirty="0" smtClean="0">
                <a:solidFill>
                  <a:schemeClr val="tx1"/>
                </a:solidFill>
                <a:ea typeface="+mn-ea"/>
                <a:cs typeface="+mn-cs"/>
              </a:rPr>
              <a:t>Running multiple training sites at different locations/branches/offices</a:t>
            </a:r>
          </a:p>
          <a:p>
            <a:pPr marL="628650" lvl="1" indent="-171450">
              <a:buFont typeface="Arial" pitchFamily="34" charset="0"/>
              <a:buChar char="•"/>
            </a:pPr>
            <a:r>
              <a:rPr lang="en-AU" sz="1200" kern="1200" dirty="0" smtClean="0">
                <a:solidFill>
                  <a:schemeClr val="tx1"/>
                </a:solidFill>
                <a:ea typeface="+mn-ea"/>
                <a:cs typeface="+mn-cs"/>
              </a:rPr>
              <a:t>Using a national site/training facility </a:t>
            </a:r>
          </a:p>
          <a:p>
            <a:pPr marL="628650" lvl="1" indent="-171450">
              <a:buFont typeface="Arial" pitchFamily="34" charset="0"/>
              <a:buChar char="•"/>
            </a:pPr>
            <a:r>
              <a:rPr lang="en-AU" sz="1200" kern="1200" dirty="0" smtClean="0">
                <a:solidFill>
                  <a:schemeClr val="tx1"/>
                </a:solidFill>
                <a:ea typeface="+mn-ea"/>
                <a:cs typeface="+mn-cs"/>
              </a:rPr>
              <a:t>Training through a network of international sites in different countries so local in-country businesses can be serviced</a:t>
            </a:r>
          </a:p>
          <a:p>
            <a:pPr marL="171450" indent="-171450">
              <a:buFont typeface="Arial" pitchFamily="34" charset="0"/>
              <a:buChar char="•"/>
            </a:pPr>
            <a:r>
              <a:rPr lang="en-AU" sz="1200" kern="1200" dirty="0" smtClean="0">
                <a:solidFill>
                  <a:schemeClr val="tx1"/>
                </a:solidFill>
                <a:ea typeface="+mn-ea"/>
                <a:cs typeface="+mn-cs"/>
              </a:rPr>
              <a:t>Physical location of training to be conducted in the workplace – with reference to, for example:</a:t>
            </a:r>
          </a:p>
          <a:p>
            <a:pPr marL="628650" lvl="1" indent="-171450">
              <a:buFont typeface="Arial" pitchFamily="34" charset="0"/>
              <a:buChar char="•"/>
            </a:pPr>
            <a:r>
              <a:rPr lang="en-AU" sz="1200" kern="1200" dirty="0" smtClean="0">
                <a:solidFill>
                  <a:schemeClr val="tx1"/>
                </a:solidFill>
                <a:ea typeface="+mn-ea"/>
                <a:cs typeface="+mn-cs"/>
              </a:rPr>
              <a:t>On-the-job training – undertaken physically at each work station with no formal training room</a:t>
            </a:r>
          </a:p>
          <a:p>
            <a:pPr marL="628650" lvl="1" indent="-171450">
              <a:buFont typeface="Arial" pitchFamily="34" charset="0"/>
              <a:buChar char="•"/>
            </a:pPr>
            <a:r>
              <a:rPr lang="en-AU" sz="1200" kern="1200" dirty="0" smtClean="0">
                <a:solidFill>
                  <a:schemeClr val="tx1"/>
                </a:solidFill>
                <a:ea typeface="+mn-ea"/>
                <a:cs typeface="+mn-cs"/>
              </a:rPr>
              <a:t>Off-the-job – where the training occurs in the workplace but takes place in a training room set aside for the purpose of training delivery and assessment purposes</a:t>
            </a:r>
          </a:p>
          <a:p>
            <a:pPr marL="628650" lvl="1" indent="-171450">
              <a:buFont typeface="Arial" pitchFamily="34" charset="0"/>
              <a:buChar char="•"/>
            </a:pPr>
            <a:r>
              <a:rPr lang="en-AU" sz="1200" kern="1200" dirty="0" smtClean="0">
                <a:solidFill>
                  <a:schemeClr val="tx1"/>
                </a:solidFill>
                <a:ea typeface="+mn-ea"/>
                <a:cs typeface="+mn-cs"/>
              </a:rPr>
              <a:t>Off-site training – where the training may be provided by, and in the rooms of:</a:t>
            </a:r>
          </a:p>
          <a:p>
            <a:pPr marL="1085850" lvl="2" indent="-171450">
              <a:buFont typeface="Arial" pitchFamily="34" charset="0"/>
              <a:buChar char="•"/>
            </a:pPr>
            <a:r>
              <a:rPr lang="en-AU" sz="1200" kern="1200" dirty="0" smtClean="0">
                <a:solidFill>
                  <a:schemeClr val="tx1"/>
                </a:solidFill>
                <a:ea typeface="+mn-ea"/>
                <a:cs typeface="+mn-cs"/>
              </a:rPr>
              <a:t>A registered/accredited provider</a:t>
            </a:r>
          </a:p>
          <a:p>
            <a:pPr marL="1085850" lvl="2" indent="-171450">
              <a:buFont typeface="Arial" pitchFamily="34" charset="0"/>
              <a:buChar char="•"/>
            </a:pPr>
            <a:r>
              <a:rPr lang="en-AU" sz="1200" kern="1200" dirty="0" smtClean="0">
                <a:solidFill>
                  <a:schemeClr val="tx1"/>
                </a:solidFill>
                <a:ea typeface="+mn-ea"/>
                <a:cs typeface="+mn-cs"/>
              </a:rPr>
              <a:t>An industry body</a:t>
            </a:r>
          </a:p>
          <a:p>
            <a:pPr marL="1085850" lvl="2" indent="-171450">
              <a:buFont typeface="Arial" pitchFamily="34" charset="0"/>
              <a:buChar char="•"/>
            </a:pPr>
            <a:r>
              <a:rPr lang="en-AU" sz="1200" kern="1200" dirty="0" smtClean="0">
                <a:solidFill>
                  <a:schemeClr val="tx1"/>
                </a:solidFill>
                <a:ea typeface="+mn-ea"/>
                <a:cs typeface="+mn-cs"/>
              </a:rPr>
              <a:t>A non-accredited third party provider – such as a carrier or supplier with whom the organisation does business.</a:t>
            </a:r>
          </a:p>
          <a:p>
            <a:pPr>
              <a:buFont typeface="Arial" pitchFamily="34" charset="0"/>
              <a:buNone/>
            </a:pPr>
            <a:endParaRPr lang="en-AU" noProof="0" dirty="0" smtClean="0"/>
          </a:p>
          <a:p>
            <a:pPr>
              <a:buFont typeface="Arial" pitchFamily="34" charset="0"/>
              <a:buNone/>
            </a:pPr>
            <a:r>
              <a:rPr lang="en-AU" noProof="0" dirty="0" smtClean="0"/>
              <a:t>Continue working through TM points and discuss each as necessary.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077728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a:t>
            </a:r>
            <a:r>
              <a:rPr lang="en-AU" noProof="0" dirty="0" smtClean="0"/>
              <a:t>discusses:</a:t>
            </a:r>
          </a:p>
          <a:p>
            <a:r>
              <a:rPr lang="en-AU" sz="1200" b="1" kern="1200" dirty="0" smtClean="0">
                <a:solidFill>
                  <a:schemeClr val="tx1"/>
                </a:solidFill>
                <a:ea typeface="+mn-ea"/>
                <a:cs typeface="+mn-cs"/>
              </a:rPr>
              <a:t>Minimum requirements for training system staff</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Minimum requirements for training system staff must address:</a:t>
            </a:r>
          </a:p>
          <a:p>
            <a:pPr marL="171450" indent="-171450">
              <a:buFont typeface="Arial" pitchFamily="34" charset="0"/>
              <a:buChar char="•"/>
            </a:pPr>
            <a:r>
              <a:rPr lang="en-AU" sz="1200" kern="1200" dirty="0" smtClean="0">
                <a:solidFill>
                  <a:schemeClr val="tx1"/>
                </a:solidFill>
                <a:ea typeface="+mn-ea"/>
                <a:cs typeface="+mn-cs"/>
              </a:rPr>
              <a:t>Establishing minimum requirements for competencies and certification of trainers</a:t>
            </a:r>
          </a:p>
          <a:p>
            <a:pPr marL="171450" indent="-171450">
              <a:buFont typeface="Arial" pitchFamily="34" charset="0"/>
              <a:buChar char="•"/>
            </a:pPr>
            <a:r>
              <a:rPr lang="en-AU" sz="1200" kern="1200" dirty="0" smtClean="0">
                <a:solidFill>
                  <a:schemeClr val="tx1"/>
                </a:solidFill>
                <a:ea typeface="+mn-ea"/>
                <a:cs typeface="+mn-cs"/>
              </a:rPr>
              <a:t>Establishing minimum requirements for competencies and certification of assessors </a:t>
            </a:r>
          </a:p>
          <a:p>
            <a:pPr marL="171450" indent="-171450">
              <a:buFont typeface="Arial" pitchFamily="34" charset="0"/>
              <a:buChar char="•"/>
            </a:pPr>
            <a:r>
              <a:rPr lang="en-AU" sz="1200" kern="1200" dirty="0" smtClean="0">
                <a:solidFill>
                  <a:schemeClr val="tx1"/>
                </a:solidFill>
                <a:ea typeface="+mn-ea"/>
                <a:cs typeface="+mn-cs"/>
              </a:rPr>
              <a:t>Calculating number of training staff required.</a:t>
            </a:r>
          </a:p>
          <a:p>
            <a:pPr>
              <a:buFont typeface="Arial" pitchFamily="34" charset="0"/>
              <a:buNone/>
            </a:pPr>
            <a:endParaRPr lang="en-AU" sz="1200" kern="1200" noProof="0" dirty="0" smtClean="0">
              <a:solidFill>
                <a:schemeClr val="tx1"/>
              </a:solidFill>
              <a:ea typeface="+mn-ea"/>
              <a:cs typeface="+mn-cs"/>
            </a:endParaRPr>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hlinkClick r:id="rId3"/>
              </a:rPr>
              <a:t>http://www.rtosupport.com.au/rto-support-services/prospective-rtos</a:t>
            </a:r>
            <a:r>
              <a:rPr lang="en-AU" sz="1200" kern="1200" dirty="0" smtClean="0">
                <a:solidFill>
                  <a:schemeClr val="tx1"/>
                </a:solidFill>
                <a:ea typeface="+mn-ea"/>
                <a:cs typeface="+mn-cs"/>
              </a:rPr>
              <a:t> - Prospective RTOs: thinking of becoming an RTO?</a:t>
            </a:r>
          </a:p>
          <a:p>
            <a:pPr>
              <a:buFont typeface="Arial" pitchFamily="34" charset="0"/>
              <a:buNone/>
            </a:pPr>
            <a:r>
              <a:rPr lang="en-AU" b="0" noProof="0" dirty="0" smtClean="0"/>
              <a:t> </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11301051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a:t>
            </a:r>
            <a:r>
              <a:rPr lang="en-AU" noProof="0" dirty="0" smtClean="0"/>
              <a:t>discusses:</a:t>
            </a:r>
          </a:p>
          <a:p>
            <a:r>
              <a:rPr lang="en-AU" sz="1200" b="1" kern="1200" dirty="0" smtClean="0">
                <a:solidFill>
                  <a:schemeClr val="tx1"/>
                </a:solidFill>
                <a:ea typeface="+mn-ea"/>
                <a:cs typeface="+mn-cs"/>
              </a:rPr>
              <a:t>Record keeping requirements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Considerations in this regard must centre on the following:</a:t>
            </a:r>
          </a:p>
          <a:p>
            <a:pPr marL="171450" indent="-171450">
              <a:buFont typeface="Arial" pitchFamily="34" charset="0"/>
              <a:buChar char="•"/>
            </a:pPr>
            <a:r>
              <a:rPr lang="en-AU" sz="1200" kern="1200" dirty="0" smtClean="0">
                <a:solidFill>
                  <a:schemeClr val="tx1"/>
                </a:solidFill>
                <a:ea typeface="+mn-ea"/>
                <a:cs typeface="+mn-cs"/>
              </a:rPr>
              <a:t>Integration of the generation and maintenance of training records with other internal documentation</a:t>
            </a:r>
          </a:p>
          <a:p>
            <a:pPr marL="171450" indent="-171450">
              <a:buFont typeface="Arial" pitchFamily="34" charset="0"/>
              <a:buChar char="•"/>
            </a:pPr>
            <a:r>
              <a:rPr lang="en-AU" sz="1200" kern="1200" dirty="0" smtClean="0">
                <a:solidFill>
                  <a:schemeClr val="tx1"/>
                </a:solidFill>
                <a:ea typeface="+mn-ea"/>
                <a:cs typeface="+mn-cs"/>
              </a:rPr>
              <a:t>Identification of statistics and other information required from the records to assist with operational and financial decision making regarding implementation of the training system</a:t>
            </a:r>
          </a:p>
          <a:p>
            <a:pPr marL="171450" indent="-171450">
              <a:buFont typeface="Arial" pitchFamily="34" charset="0"/>
              <a:buChar char="•"/>
            </a:pPr>
            <a:r>
              <a:rPr lang="en-AU" sz="1200" kern="1200" dirty="0" smtClean="0">
                <a:solidFill>
                  <a:schemeClr val="tx1"/>
                </a:solidFill>
                <a:ea typeface="+mn-ea"/>
                <a:cs typeface="+mn-cs"/>
              </a:rPr>
              <a:t>Determination of externally-imposed record keeping demands made by government authorities – if the organisation is a registered/accredited training organisation</a:t>
            </a:r>
          </a:p>
          <a:p>
            <a:pPr marL="171450" indent="-171450">
              <a:buFont typeface="Arial" pitchFamily="34" charset="0"/>
              <a:buChar char="•"/>
            </a:pPr>
            <a:r>
              <a:rPr lang="en-AU" sz="1200" kern="1200" dirty="0" smtClean="0">
                <a:solidFill>
                  <a:schemeClr val="tx1"/>
                </a:solidFill>
                <a:ea typeface="+mn-ea"/>
                <a:cs typeface="+mn-cs"/>
              </a:rPr>
              <a:t>Continue working through points in TM discussing as necessary.</a:t>
            </a:r>
          </a:p>
          <a:p>
            <a:pPr>
              <a:buFont typeface="Arial" pitchFamily="34" charset="0"/>
              <a:buChar char="•"/>
            </a:pPr>
            <a:endParaRPr lang="en-AU" sz="1200" kern="1200" dirty="0" smtClean="0">
              <a:solidFill>
                <a:schemeClr val="tx1"/>
              </a:solidFill>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Internet research</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supervises internet research and subsequent classroom discussion by visiting:</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sng" strike="noStrike" kern="1200" cap="none" spc="0" normalizeH="0" baseline="0" noProof="0" dirty="0" smtClean="0">
                <a:ln>
                  <a:noFill/>
                </a:ln>
                <a:solidFill>
                  <a:prstClr val="black"/>
                </a:solidFill>
                <a:effectLst/>
                <a:uLnTx/>
                <a:uFillTx/>
                <a:ea typeface="+mn-ea"/>
                <a:cs typeface="+mn-cs"/>
                <a:hlinkClick r:id="rId3"/>
              </a:rPr>
              <a:t>http://www.serviceskills.com.au/becoming-a-registered-training-organisation</a:t>
            </a:r>
            <a:r>
              <a:rPr kumimoji="0" lang="en-AU" sz="1200" b="0" i="0" u="none" strike="noStrike" kern="1200" cap="none" spc="0" normalizeH="0" baseline="0" noProof="0" dirty="0" smtClean="0">
                <a:ln>
                  <a:noFill/>
                </a:ln>
                <a:solidFill>
                  <a:prstClr val="black"/>
                </a:solidFill>
                <a:effectLst/>
                <a:uLnTx/>
                <a:uFillTx/>
                <a:ea typeface="+mn-ea"/>
                <a:cs typeface="+mn-cs"/>
              </a:rPr>
              <a:t> - Becoming a registered training organisation</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957139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a:t>
            </a:r>
            <a:r>
              <a:rPr lang="en-AU" noProof="0" dirty="0" smtClean="0"/>
              <a:t>discusses:</a:t>
            </a:r>
          </a:p>
          <a:p>
            <a:r>
              <a:rPr lang="en-AU" sz="1200" b="1" kern="1200" dirty="0" smtClean="0">
                <a:solidFill>
                  <a:schemeClr val="tx1"/>
                </a:solidFill>
                <a:ea typeface="+mn-ea"/>
                <a:cs typeface="+mn-cs"/>
              </a:rPr>
              <a:t>Characteristics of training participants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Characteristics of training participants may include:</a:t>
            </a:r>
          </a:p>
          <a:p>
            <a:pPr marL="171450" indent="-171450">
              <a:buFont typeface="Arial" pitchFamily="34" charset="0"/>
              <a:buChar char="•"/>
            </a:pPr>
            <a:r>
              <a:rPr lang="en-AU" sz="1200" kern="1200" dirty="0" smtClean="0">
                <a:solidFill>
                  <a:schemeClr val="tx1"/>
                </a:solidFill>
                <a:ea typeface="+mn-ea"/>
                <a:cs typeface="+mn-cs"/>
              </a:rPr>
              <a:t>History of learners – with reference to:</a:t>
            </a:r>
          </a:p>
          <a:p>
            <a:pPr marL="628650" lvl="1" indent="-171450">
              <a:buFont typeface="Arial" pitchFamily="34" charset="0"/>
              <a:buChar char="•"/>
            </a:pPr>
            <a:r>
              <a:rPr lang="en-AU" sz="1200" kern="1200" dirty="0" smtClean="0">
                <a:solidFill>
                  <a:schemeClr val="tx1"/>
                </a:solidFill>
                <a:ea typeface="+mn-ea"/>
                <a:cs typeface="+mn-cs"/>
              </a:rPr>
              <a:t>Length of service with organisation</a:t>
            </a:r>
          </a:p>
          <a:p>
            <a:pPr marL="628650" lvl="1" indent="-171450">
              <a:buFont typeface="Arial" pitchFamily="34" charset="0"/>
              <a:buChar char="•"/>
            </a:pPr>
            <a:r>
              <a:rPr lang="en-AU" sz="1200" kern="1200" dirty="0" smtClean="0">
                <a:solidFill>
                  <a:schemeClr val="tx1"/>
                </a:solidFill>
                <a:ea typeface="+mn-ea"/>
                <a:cs typeface="+mn-cs"/>
              </a:rPr>
              <a:t>Details of type and nature of previous engagement with training </a:t>
            </a:r>
          </a:p>
          <a:p>
            <a:pPr marL="628650" lvl="1" indent="-171450">
              <a:buFont typeface="Arial" pitchFamily="34" charset="0"/>
              <a:buChar char="•"/>
            </a:pPr>
            <a:r>
              <a:rPr lang="en-AU" sz="1200" kern="1200" dirty="0" smtClean="0">
                <a:solidFill>
                  <a:schemeClr val="tx1"/>
                </a:solidFill>
                <a:ea typeface="+mn-ea"/>
                <a:cs typeface="+mn-cs"/>
              </a:rPr>
              <a:t>Outcomes/results of previous training</a:t>
            </a:r>
          </a:p>
          <a:p>
            <a:pPr marL="171450" indent="-171450">
              <a:buFont typeface="Arial" pitchFamily="34" charset="0"/>
              <a:buChar char="•"/>
            </a:pPr>
            <a:r>
              <a:rPr lang="en-AU" sz="1200" kern="1200" dirty="0" smtClean="0">
                <a:solidFill>
                  <a:schemeClr val="tx1"/>
                </a:solidFill>
                <a:ea typeface="+mn-ea"/>
                <a:cs typeface="+mn-cs"/>
              </a:rPr>
              <a:t>Identification of individual differences that may affect training delivery – such as issues relating to:</a:t>
            </a:r>
          </a:p>
          <a:p>
            <a:pPr marL="628650" lvl="1" indent="-171450">
              <a:buFont typeface="Arial" pitchFamily="34" charset="0"/>
              <a:buChar char="•"/>
            </a:pPr>
            <a:r>
              <a:rPr lang="en-AU" sz="1200" kern="1200" dirty="0" smtClean="0">
                <a:solidFill>
                  <a:schemeClr val="tx1"/>
                </a:solidFill>
                <a:ea typeface="+mn-ea"/>
                <a:cs typeface="+mn-cs"/>
              </a:rPr>
              <a:t>Known or likely language, literacy and numeracy needs of learners</a:t>
            </a:r>
          </a:p>
          <a:p>
            <a:pPr marL="628650" lvl="1" indent="-171450">
              <a:buFont typeface="Arial" pitchFamily="34" charset="0"/>
              <a:buChar char="•"/>
            </a:pPr>
            <a:r>
              <a:rPr lang="en-AU" sz="1200" kern="1200" dirty="0" smtClean="0">
                <a:solidFill>
                  <a:schemeClr val="tx1"/>
                </a:solidFill>
                <a:ea typeface="+mn-ea"/>
                <a:cs typeface="+mn-cs"/>
              </a:rPr>
              <a:t>The anticipated or known cultural factors and educational background</a:t>
            </a:r>
          </a:p>
          <a:p>
            <a:pPr marL="628650" lvl="1" indent="-171450">
              <a:buFont typeface="Arial" pitchFamily="34" charset="0"/>
              <a:buChar char="•"/>
            </a:pPr>
            <a:r>
              <a:rPr lang="en-AU" sz="1200" kern="1200" dirty="0" smtClean="0">
                <a:solidFill>
                  <a:schemeClr val="tx1"/>
                </a:solidFill>
                <a:ea typeface="+mn-ea"/>
                <a:cs typeface="+mn-cs"/>
              </a:rPr>
              <a:t>Gender and age of learners</a:t>
            </a:r>
          </a:p>
          <a:p>
            <a:pPr marL="628650" lvl="1" indent="-171450">
              <a:buFont typeface="Arial" pitchFamily="34" charset="0"/>
              <a:buChar char="•"/>
            </a:pPr>
            <a:r>
              <a:rPr lang="en-AU" sz="1200" kern="1200" dirty="0" smtClean="0">
                <a:solidFill>
                  <a:schemeClr val="tx1"/>
                </a:solidFill>
                <a:ea typeface="+mn-ea"/>
                <a:cs typeface="+mn-cs"/>
              </a:rPr>
              <a:t>Physical abilities and/or disabilities which are expected/need to be accommodated</a:t>
            </a:r>
          </a:p>
          <a:p>
            <a:pPr marL="628650" lvl="1" indent="-171450">
              <a:buFont typeface="Arial" pitchFamily="34" charset="0"/>
              <a:buChar char="•"/>
            </a:pPr>
            <a:r>
              <a:rPr lang="en-AU" sz="1200" kern="1200" dirty="0" smtClean="0">
                <a:solidFill>
                  <a:schemeClr val="tx1"/>
                </a:solidFill>
                <a:ea typeface="+mn-ea"/>
                <a:cs typeface="+mn-cs"/>
              </a:rPr>
              <a:t>Workplace experience with the training topics</a:t>
            </a:r>
          </a:p>
          <a:p>
            <a:pPr marL="628650" lvl="1" indent="-171450">
              <a:buFont typeface="Arial" pitchFamily="34" charset="0"/>
              <a:buChar char="•"/>
            </a:pPr>
            <a:r>
              <a:rPr lang="en-AU" sz="1200" kern="1200" dirty="0" smtClean="0">
                <a:solidFill>
                  <a:schemeClr val="tx1"/>
                </a:solidFill>
                <a:ea typeface="+mn-ea"/>
                <a:cs typeface="+mn-cs"/>
              </a:rPr>
              <a:t>Preferred learning styles </a:t>
            </a:r>
          </a:p>
          <a:p>
            <a:pPr marL="628650" lvl="1" indent="-171450">
              <a:buFont typeface="Arial" pitchFamily="34" charset="0"/>
              <a:buChar char="•"/>
            </a:pPr>
            <a:r>
              <a:rPr lang="en-AU" sz="1200" kern="1200" dirty="0" smtClean="0">
                <a:solidFill>
                  <a:schemeClr val="tx1"/>
                </a:solidFill>
                <a:ea typeface="+mn-ea"/>
                <a:cs typeface="+mn-cs"/>
              </a:rPr>
              <a:t>Work, family, social and out-of-work commitments</a:t>
            </a:r>
          </a:p>
          <a:p>
            <a:pPr marL="628650" lvl="1" indent="-171450">
              <a:buFont typeface="Arial" pitchFamily="34" charset="0"/>
              <a:buChar char="•"/>
            </a:pPr>
            <a:r>
              <a:rPr lang="en-AU" sz="1200" kern="1200" dirty="0" smtClean="0">
                <a:solidFill>
                  <a:schemeClr val="tx1"/>
                </a:solidFill>
                <a:ea typeface="+mn-ea"/>
                <a:cs typeface="+mn-cs"/>
              </a:rPr>
              <a:t>Motivation learners are known or expected to have to undertake training</a:t>
            </a:r>
          </a:p>
          <a:p>
            <a:pPr marL="171450" indent="-171450">
              <a:buFont typeface="Arial" pitchFamily="34" charset="0"/>
              <a:buChar char="•"/>
            </a:pPr>
            <a:r>
              <a:rPr lang="en-AU" sz="1200" kern="1200" dirty="0" smtClean="0">
                <a:solidFill>
                  <a:schemeClr val="tx1"/>
                </a:solidFill>
                <a:ea typeface="+mn-ea"/>
                <a:cs typeface="+mn-cs"/>
              </a:rPr>
              <a:t>Allowable adjustments to training assessment – to accommodate:</a:t>
            </a:r>
          </a:p>
          <a:p>
            <a:pPr marL="628650" lvl="1" indent="-171450">
              <a:buFont typeface="Arial" pitchFamily="34" charset="0"/>
              <a:buChar char="•"/>
            </a:pPr>
            <a:r>
              <a:rPr lang="en-AU" sz="1200" kern="1200" dirty="0" smtClean="0">
                <a:solidFill>
                  <a:schemeClr val="tx1"/>
                </a:solidFill>
                <a:ea typeface="+mn-ea"/>
                <a:cs typeface="+mn-cs"/>
              </a:rPr>
              <a:t>Use of aides to assist special needs employees</a:t>
            </a:r>
          </a:p>
          <a:p>
            <a:pPr marL="628650" lvl="1" indent="-171450">
              <a:buFont typeface="Arial" pitchFamily="34" charset="0"/>
              <a:buChar char="•"/>
            </a:pPr>
            <a:r>
              <a:rPr lang="en-AU" sz="1200" kern="1200" dirty="0" smtClean="0">
                <a:solidFill>
                  <a:schemeClr val="tx1"/>
                </a:solidFill>
                <a:ea typeface="+mn-ea"/>
                <a:cs typeface="+mn-cs"/>
              </a:rPr>
              <a:t>Language issues </a:t>
            </a:r>
          </a:p>
          <a:p>
            <a:pPr marL="628650" lvl="1" indent="-171450">
              <a:buFont typeface="Arial" pitchFamily="34" charset="0"/>
              <a:buChar char="•"/>
            </a:pPr>
            <a:r>
              <a:rPr lang="en-AU" sz="1200" kern="1200" dirty="0" smtClean="0">
                <a:solidFill>
                  <a:schemeClr val="tx1"/>
                </a:solidFill>
                <a:ea typeface="+mn-ea"/>
                <a:cs typeface="+mn-cs"/>
              </a:rPr>
              <a:t>Literacy and/or numeracy problems. </a:t>
            </a: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16605650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a:t>
            </a:r>
            <a:r>
              <a:rPr lang="en-AU" baseline="0" noProof="0" dirty="0" smtClean="0"/>
              <a:t> </a:t>
            </a:r>
            <a:r>
              <a:rPr lang="en-AU" noProof="0" dirty="0" smtClean="0"/>
              <a:t>discusses:</a:t>
            </a:r>
          </a:p>
          <a:p>
            <a:r>
              <a:rPr lang="en-AU" sz="1200" b="1" kern="1200" dirty="0" smtClean="0">
                <a:solidFill>
                  <a:schemeClr val="tx1"/>
                </a:solidFill>
                <a:ea typeface="+mn-ea"/>
                <a:cs typeface="+mn-cs"/>
              </a:rPr>
              <a:t>Legislated requirements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Legislated requirements can relate to:</a:t>
            </a:r>
          </a:p>
          <a:p>
            <a:pPr marL="171450" indent="-171450">
              <a:buFont typeface="Arial" pitchFamily="34" charset="0"/>
              <a:buChar char="•"/>
            </a:pPr>
            <a:r>
              <a:rPr lang="en-AU" sz="1200" kern="1200" dirty="0" smtClean="0">
                <a:solidFill>
                  <a:schemeClr val="tx1"/>
                </a:solidFill>
                <a:ea typeface="+mn-ea"/>
                <a:cs typeface="+mn-cs"/>
              </a:rPr>
              <a:t>Legal obligations imposed by all countries where the organisation operates its training system</a:t>
            </a:r>
          </a:p>
          <a:p>
            <a:pPr marL="171450" indent="-171450">
              <a:buFont typeface="Arial" pitchFamily="34" charset="0"/>
              <a:buChar char="•"/>
            </a:pPr>
            <a:r>
              <a:rPr lang="en-AU" sz="1200" kern="1200" dirty="0" smtClean="0">
                <a:solidFill>
                  <a:schemeClr val="tx1"/>
                </a:solidFill>
                <a:ea typeface="+mn-ea"/>
                <a:cs typeface="+mn-cs"/>
              </a:rPr>
              <a:t>Industrial relations and employment-related issues as they affect training provision by the employer</a:t>
            </a:r>
          </a:p>
          <a:p>
            <a:pPr marL="171450" indent="-171450">
              <a:buFont typeface="Arial" pitchFamily="34" charset="0"/>
              <a:buChar char="•"/>
            </a:pPr>
            <a:r>
              <a:rPr lang="en-AU" sz="1200" kern="1200" dirty="0" smtClean="0">
                <a:solidFill>
                  <a:schemeClr val="tx1"/>
                </a:solidFill>
                <a:ea typeface="+mn-ea"/>
                <a:cs typeface="+mn-cs"/>
              </a:rPr>
              <a:t>Responsibilities relating to:</a:t>
            </a:r>
          </a:p>
          <a:p>
            <a:pPr marL="628650" lvl="1" indent="-171450">
              <a:buFont typeface="Arial" pitchFamily="34" charset="0"/>
              <a:buChar char="•"/>
            </a:pPr>
            <a:r>
              <a:rPr lang="en-AU" sz="1200" kern="1200" dirty="0" smtClean="0">
                <a:solidFill>
                  <a:schemeClr val="tx1"/>
                </a:solidFill>
                <a:ea typeface="+mn-ea"/>
                <a:cs typeface="+mn-cs"/>
              </a:rPr>
              <a:t>Compliance with workplace safety</a:t>
            </a:r>
          </a:p>
          <a:p>
            <a:pPr marL="628650" lvl="1" indent="-171450">
              <a:buFont typeface="Arial" pitchFamily="34" charset="0"/>
              <a:buChar char="•"/>
            </a:pPr>
            <a:r>
              <a:rPr lang="en-AU" sz="1200" kern="1200" dirty="0" smtClean="0">
                <a:solidFill>
                  <a:schemeClr val="tx1"/>
                </a:solidFill>
                <a:ea typeface="+mn-ea"/>
                <a:cs typeface="+mn-cs"/>
              </a:rPr>
              <a:t>Need to train employees in workplace safety </a:t>
            </a:r>
          </a:p>
          <a:p>
            <a:pPr marL="628650" lvl="1" indent="-171450">
              <a:buFont typeface="Arial" pitchFamily="34" charset="0"/>
              <a:buChar char="•"/>
            </a:pPr>
            <a:r>
              <a:rPr lang="en-AU" sz="1200" kern="1200" dirty="0" smtClean="0">
                <a:solidFill>
                  <a:schemeClr val="tx1"/>
                </a:solidFill>
                <a:ea typeface="+mn-ea"/>
                <a:cs typeface="+mn-cs"/>
              </a:rPr>
              <a:t>Mandated workplace licensing requirements </a:t>
            </a:r>
          </a:p>
          <a:p>
            <a:pPr marL="171450" indent="-171450">
              <a:buFont typeface="Arial" pitchFamily="34" charset="0"/>
              <a:buChar char="•"/>
            </a:pPr>
            <a:r>
              <a:rPr lang="en-AU" sz="1200" kern="1200" dirty="0" smtClean="0">
                <a:solidFill>
                  <a:schemeClr val="tx1"/>
                </a:solidFill>
                <a:ea typeface="+mn-ea"/>
                <a:cs typeface="+mn-cs"/>
              </a:rPr>
              <a:t>Compulsory equal opportunity requirements – in terms of:</a:t>
            </a:r>
          </a:p>
          <a:p>
            <a:pPr marL="628650" lvl="1" indent="-171450">
              <a:buFont typeface="Arial" pitchFamily="34" charset="0"/>
              <a:buChar char="•"/>
            </a:pPr>
            <a:r>
              <a:rPr lang="en-AU" sz="1200" kern="1200" dirty="0" smtClean="0">
                <a:solidFill>
                  <a:schemeClr val="tx1"/>
                </a:solidFill>
                <a:ea typeface="+mn-ea"/>
                <a:cs typeface="+mn-cs"/>
              </a:rPr>
              <a:t>Providing access to training for all employees</a:t>
            </a:r>
          </a:p>
          <a:p>
            <a:pPr marL="628650" lvl="1" indent="-171450">
              <a:buFont typeface="Arial" pitchFamily="34" charset="0"/>
              <a:buChar char="•"/>
            </a:pPr>
            <a:r>
              <a:rPr lang="en-AU" sz="1200" kern="1200" dirty="0" smtClean="0">
                <a:solidFill>
                  <a:schemeClr val="tx1"/>
                </a:solidFill>
                <a:ea typeface="+mn-ea"/>
                <a:cs typeface="+mn-cs"/>
              </a:rPr>
              <a:t>Accommodating social justice programs</a:t>
            </a:r>
          </a:p>
          <a:p>
            <a:pPr marL="628650" lvl="1" indent="-171450">
              <a:buFont typeface="Arial" pitchFamily="34" charset="0"/>
              <a:buChar char="•"/>
            </a:pPr>
            <a:r>
              <a:rPr lang="en-AU" sz="1200" kern="1200" dirty="0" smtClean="0">
                <a:solidFill>
                  <a:schemeClr val="tx1"/>
                </a:solidFill>
                <a:ea typeface="+mn-ea"/>
                <a:cs typeface="+mn-cs"/>
              </a:rPr>
              <a:t>Opening the potential for merit-based advancement/promotion to all workers.</a:t>
            </a:r>
          </a:p>
          <a:p>
            <a:pPr>
              <a:buFont typeface="Arial" pitchFamily="34" charset="0"/>
              <a:buChar char="•"/>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6402448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AU" noProof="0" dirty="0" smtClean="0"/>
              <a:t>Trainer</a:t>
            </a:r>
            <a:r>
              <a:rPr lang="en-AU" baseline="0" noProof="0" dirty="0" smtClean="0"/>
              <a:t> </a:t>
            </a:r>
            <a:r>
              <a:rPr lang="en-AU" noProof="0" dirty="0" smtClean="0"/>
              <a:t>discusses:</a:t>
            </a:r>
          </a:p>
          <a:p>
            <a:r>
              <a:rPr lang="en-AU" sz="1200" b="1" kern="1200" dirty="0" smtClean="0">
                <a:solidFill>
                  <a:schemeClr val="tx1"/>
                </a:solidFill>
                <a:ea typeface="+mn-ea"/>
                <a:cs typeface="+mn-cs"/>
              </a:rPr>
              <a:t>Allocation of fees and costs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Allocation of fees and costs commonly requires attention be paid to:</a:t>
            </a:r>
          </a:p>
          <a:p>
            <a:pPr marL="171450" indent="-171450">
              <a:buFont typeface="Arial" pitchFamily="34" charset="0"/>
              <a:buChar char="•"/>
            </a:pPr>
            <a:r>
              <a:rPr lang="en-AU" sz="1200" kern="1200" dirty="0" smtClean="0">
                <a:solidFill>
                  <a:schemeClr val="tx1"/>
                </a:solidFill>
                <a:ea typeface="+mn-ea"/>
                <a:cs typeface="+mn-cs"/>
              </a:rPr>
              <a:t>Legal requirements applying to organisations prohibiting them for charging for training which is specifically work-related</a:t>
            </a:r>
          </a:p>
          <a:p>
            <a:pPr marL="171450" indent="-171450">
              <a:buFont typeface="Arial" pitchFamily="34" charset="0"/>
              <a:buChar char="•"/>
            </a:pPr>
            <a:r>
              <a:rPr lang="en-AU" sz="1200" kern="1200" dirty="0" smtClean="0">
                <a:solidFill>
                  <a:schemeClr val="tx1"/>
                </a:solidFill>
                <a:ea typeface="+mn-ea"/>
                <a:cs typeface="+mn-cs"/>
              </a:rPr>
              <a:t>Business opportunities provided by the capacity of the organisation to act as a training provider for other businesses and/or for individuals wanting to obtain industry skills, knowledge and/or (if appropriate) certification and qualifications</a:t>
            </a:r>
          </a:p>
          <a:p>
            <a:pPr marL="171450" indent="-171450">
              <a:buFont typeface="Arial" pitchFamily="34" charset="0"/>
              <a:buChar char="•"/>
            </a:pPr>
            <a:r>
              <a:rPr lang="en-AU" sz="1200" kern="1200" dirty="0" smtClean="0">
                <a:solidFill>
                  <a:schemeClr val="tx1"/>
                </a:solidFill>
                <a:ea typeface="+mn-ea"/>
                <a:cs typeface="+mn-cs"/>
              </a:rPr>
              <a:t>Identification of possible funding options for vocational training and assessment from government and non-government sources</a:t>
            </a:r>
          </a:p>
          <a:p>
            <a:pPr marL="171450" indent="-171450">
              <a:buFont typeface="Arial" pitchFamily="34" charset="0"/>
              <a:buChar char="•"/>
            </a:pPr>
            <a:r>
              <a:rPr lang="en-AU" sz="1200" kern="1200" dirty="0" smtClean="0">
                <a:solidFill>
                  <a:schemeClr val="tx1"/>
                </a:solidFill>
                <a:ea typeface="+mn-ea"/>
                <a:cs typeface="+mn-cs"/>
              </a:rPr>
              <a:t>Work through remaining bullet points as</a:t>
            </a:r>
            <a:r>
              <a:rPr lang="en-AU" sz="1200" kern="1200" baseline="0" dirty="0" smtClean="0">
                <a:solidFill>
                  <a:schemeClr val="tx1"/>
                </a:solidFill>
                <a:ea typeface="+mn-ea"/>
                <a:cs typeface="+mn-cs"/>
              </a:rPr>
              <a:t> needed.</a:t>
            </a:r>
          </a:p>
          <a:p>
            <a:pPr marL="0" indent="0">
              <a:buFont typeface="Arial" pitchFamily="34" charset="0"/>
              <a:buNone/>
            </a:pPr>
            <a:endParaRPr lang="en-AU" sz="1200" kern="1200" baseline="0" dirty="0" smtClean="0">
              <a:solidFill>
                <a:schemeClr val="tx1"/>
              </a:solidFill>
              <a:ea typeface="+mn-ea"/>
              <a:cs typeface="+mn-cs"/>
            </a:endParaRPr>
          </a:p>
          <a:p>
            <a:pPr marL="0" indent="0">
              <a:buFont typeface="Arial" pitchFamily="34" charset="0"/>
              <a:buNone/>
            </a:pPr>
            <a:r>
              <a:rPr lang="en-AU" sz="1200" kern="1200" baseline="0" dirty="0" smtClean="0">
                <a:solidFill>
                  <a:schemeClr val="tx1"/>
                </a:solidFill>
                <a:ea typeface="+mn-ea"/>
                <a:cs typeface="+mn-cs"/>
              </a:rPr>
              <a:t>Complete classroom activities below.</a:t>
            </a:r>
            <a:endParaRPr lang="en-AU" sz="1200" kern="1200" dirty="0" smtClean="0">
              <a:solidFill>
                <a:schemeClr val="tx1"/>
              </a:solidFill>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pPr>
              <a:buFont typeface="Arial" pitchFamily="34" charset="0"/>
              <a:buNone/>
            </a:pPr>
            <a:r>
              <a:rPr lang="en-AU" sz="1200" u="sng" kern="1200" dirty="0" smtClean="0">
                <a:solidFill>
                  <a:schemeClr val="tx1"/>
                </a:solidFill>
                <a:ea typeface="+mn-ea"/>
                <a:cs typeface="+mn-cs"/>
                <a:hlinkClick r:id="rId3"/>
              </a:rPr>
              <a:t>http://www.asqa.gov.au/vet-registration/understand-the-requirements-for-registration/understand-the-requirements-for-registration.html</a:t>
            </a:r>
            <a:r>
              <a:rPr lang="en-AU" sz="1200" kern="1200" dirty="0" smtClean="0">
                <a:solidFill>
                  <a:schemeClr val="tx1"/>
                </a:solidFill>
                <a:ea typeface="+mn-ea"/>
                <a:cs typeface="+mn-cs"/>
              </a:rPr>
              <a:t> - Understand the requirements for registration.</a:t>
            </a:r>
          </a:p>
          <a:p>
            <a:pPr>
              <a:buFont typeface="Arial" pitchFamily="34" charset="0"/>
              <a:buNone/>
            </a:pPr>
            <a:endParaRPr lang="en-AU" sz="1200" kern="1200" noProof="0" dirty="0" smtClean="0">
              <a:solidFill>
                <a:schemeClr val="tx1"/>
              </a:solidFill>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Internet research</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supervises internet research and subsequent classroom discussion by visiting:</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sng" strike="noStrike" kern="1200" cap="none" spc="0" normalizeH="0" baseline="0" noProof="0" dirty="0" smtClean="0">
                <a:ln>
                  <a:noFill/>
                </a:ln>
                <a:solidFill>
                  <a:prstClr val="black"/>
                </a:solidFill>
                <a:effectLst/>
                <a:uLnTx/>
                <a:uFillTx/>
                <a:ea typeface="+mn-ea"/>
                <a:cs typeface="+mn-cs"/>
                <a:hlinkClick r:id="rId4"/>
              </a:rPr>
              <a:t>http://www.comlaw.gov.au/Details/F2014L01377</a:t>
            </a:r>
            <a:r>
              <a:rPr kumimoji="0" lang="en-AU" sz="1200" b="0" i="0" u="none" strike="noStrike" kern="1200" cap="none" spc="0" normalizeH="0" baseline="0" noProof="0" dirty="0" smtClean="0">
                <a:ln>
                  <a:noFill/>
                </a:ln>
                <a:solidFill>
                  <a:prstClr val="black"/>
                </a:solidFill>
                <a:effectLst/>
                <a:uLnTx/>
                <a:uFillTx/>
                <a:ea typeface="+mn-ea"/>
                <a:cs typeface="+mn-cs"/>
              </a:rPr>
              <a:t> - Standards for RTOs 2015</a:t>
            </a:r>
            <a:endParaRPr kumimoji="0" lang="en-AU" sz="1200" b="0" i="0" u="none" strike="noStrike" kern="1200" cap="none" spc="0" normalizeH="0" baseline="0" noProof="0" dirty="0" smtClean="0">
              <a:ln>
                <a:noFill/>
              </a:ln>
              <a:solidFill>
                <a:prstClr val="black"/>
              </a:solidFill>
              <a:effectLst/>
              <a:uLnTx/>
              <a:uFillTx/>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676052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r>
              <a:rPr lang="en-AU" sz="1200" b="1" kern="1200" dirty="0" smtClean="0">
                <a:solidFill>
                  <a:schemeClr val="tx1"/>
                </a:solidFill>
                <a:ea typeface="+mn-ea"/>
                <a:cs typeface="+mn-cs"/>
              </a:rPr>
              <a:t>Review and evaluation </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Work through the bullet points in the TM and discuss each as required.</a:t>
            </a:r>
          </a:p>
          <a:p>
            <a:endParaRPr lang="en-AU" sz="1200" kern="1200" dirty="0" smtClean="0">
              <a:solidFill>
                <a:schemeClr val="tx1"/>
              </a:solidFill>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Internet research</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supervises internet research and subsequent classroom discussion by visiting:</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sng" strike="noStrike" kern="1200" cap="none" spc="0" normalizeH="0" baseline="0" noProof="0" dirty="0" smtClean="0">
                <a:ln>
                  <a:noFill/>
                </a:ln>
                <a:solidFill>
                  <a:prstClr val="black"/>
                </a:solidFill>
                <a:effectLst/>
                <a:uLnTx/>
                <a:uFillTx/>
                <a:ea typeface="+mn-ea"/>
                <a:cs typeface="+mn-cs"/>
                <a:hlinkClick r:id="rId3"/>
              </a:rPr>
              <a:t>http://vanguardvisions.com.au/six-steps-to-successfully-implementing-workplace-online-training/</a:t>
            </a:r>
            <a:r>
              <a:rPr kumimoji="0" lang="en-AU" sz="1200" b="0" i="0" u="none" strike="noStrike" kern="1200" cap="none" spc="0" normalizeH="0" baseline="0" noProof="0" dirty="0" smtClean="0">
                <a:ln>
                  <a:noFill/>
                </a:ln>
                <a:solidFill>
                  <a:prstClr val="black"/>
                </a:solidFill>
                <a:effectLst/>
                <a:uLnTx/>
                <a:uFillTx/>
                <a:ea typeface="+mn-ea"/>
                <a:cs typeface="+mn-cs"/>
              </a:rPr>
              <a:t> - Six steps to successfully implementing workplace online training</a:t>
            </a:r>
          </a:p>
          <a:p>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2627939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r>
              <a:rPr lang="en-AU" sz="1200" b="1" kern="1200" dirty="0" smtClean="0">
                <a:solidFill>
                  <a:schemeClr val="tx1"/>
                </a:solidFill>
                <a:ea typeface="+mn-ea"/>
                <a:cs typeface="+mn-cs"/>
              </a:rPr>
              <a:t>Promotion of the training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dirty="0" smtClean="0">
              <a:ln>
                <a:noFill/>
              </a:ln>
              <a:solidFill>
                <a:prstClr val="black"/>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ea typeface="+mn-ea"/>
                <a:cs typeface="+mn-cs"/>
              </a:rPr>
              <a:t>Work through each of the bullet points listed in TM explaining any terminology and checking for trainee understanding along the way.</a:t>
            </a:r>
          </a:p>
          <a:p>
            <a:endParaRPr lang="en-AU" sz="1200" b="1" kern="1200" dirty="0" smtClean="0">
              <a:solidFill>
                <a:schemeClr val="tx1"/>
              </a:solidFill>
              <a:ea typeface="+mn-ea"/>
              <a:cs typeface="+mn-cs"/>
            </a:endParaRPr>
          </a:p>
          <a:p>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9036929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a:t>
            </a:r>
            <a:r>
              <a:rPr lang="en-AU" b="1" noProof="0" dirty="0" smtClean="0"/>
              <a:t>background information </a:t>
            </a:r>
            <a:r>
              <a:rPr lang="en-AU" noProof="0" dirty="0" smtClean="0"/>
              <a:t>regarding constraints which may impact the system</a:t>
            </a:r>
            <a:r>
              <a:rPr lang="en-AU" baseline="0" noProof="0" dirty="0" smtClean="0"/>
              <a:t> and also discusses </a:t>
            </a:r>
            <a:r>
              <a:rPr lang="en-AU" b="1" baseline="0" noProof="0" dirty="0" smtClean="0"/>
              <a:t>examples</a:t>
            </a:r>
            <a:r>
              <a:rPr lang="en-AU" baseline="0" noProof="0" dirty="0" smtClean="0"/>
              <a:t> with the group.</a:t>
            </a:r>
          </a:p>
          <a:p>
            <a:pPr>
              <a:buFont typeface="Arial" pitchFamily="34" charset="0"/>
              <a:buNone/>
            </a:pPr>
            <a:r>
              <a:rPr lang="en-AU" baseline="0" noProof="0" dirty="0" smtClean="0"/>
              <a:t>Continue working through points in TM seeking any relevant knowledge or experience trainees may wish to share</a:t>
            </a:r>
          </a:p>
          <a:p>
            <a:pPr>
              <a:buFont typeface="Arial" pitchFamily="34" charset="0"/>
              <a:buNone/>
            </a:pPr>
            <a:r>
              <a:rPr lang="en-AU" baseline="0" noProof="0" dirty="0" smtClean="0"/>
              <a:t>Visit websites listed on next slide as time allows.</a:t>
            </a:r>
            <a:endParaRPr lang="en-AU" noProof="0" dirty="0" smtClean="0"/>
          </a:p>
          <a:p>
            <a:pPr>
              <a:buFont typeface="Arial" pitchFamily="34" charset="0"/>
              <a:buNone/>
            </a:pPr>
            <a:endParaRPr lang="en-AU" sz="1200" kern="1200" dirty="0" smtClean="0">
              <a:solidFill>
                <a:schemeClr val="tx1"/>
              </a:solidFill>
              <a:ea typeface="+mn-ea"/>
              <a:cs typeface="+mn-cs"/>
            </a:endParaRPr>
          </a:p>
          <a:p>
            <a:pPr>
              <a:buFont typeface="Arial" pitchFamily="34" charset="0"/>
              <a:buChar char="•"/>
            </a:pP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9626117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Visit websites at trainer discretion to provide examples for trainees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7414001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Visit websites at trainer discretion to provide examples for trainees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7414001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research undertaken should include doing </a:t>
            </a:r>
            <a:r>
              <a:rPr lang="en-AU" sz="1200" kern="1200" dirty="0" smtClean="0">
                <a:solidFill>
                  <a:schemeClr val="tx1"/>
                </a:solidFill>
                <a:ea typeface="+mn-ea"/>
                <a:cs typeface="+mn-cs"/>
              </a:rPr>
              <a:t>qualitative and quantitative research</a:t>
            </a:r>
            <a:r>
              <a:rPr lang="en-AU" sz="1200" kern="1200" baseline="0" dirty="0" smtClean="0">
                <a:solidFill>
                  <a:schemeClr val="tx1"/>
                </a:solidFill>
                <a:ea typeface="+mn-ea"/>
                <a:cs typeface="+mn-cs"/>
              </a:rPr>
              <a:t> and secondary and primary research</a:t>
            </a:r>
            <a:endParaRPr lang="en-AU" sz="1200" kern="1200" dirty="0" smtClean="0">
              <a:solidFill>
                <a:schemeClr val="tx1"/>
              </a:solidFill>
              <a:ea typeface="+mn-ea"/>
              <a:cs typeface="+mn-cs"/>
            </a:endParaRPr>
          </a:p>
          <a:p>
            <a:pPr lvl="1">
              <a:buFont typeface="Arial" pitchFamily="34" charset="0"/>
              <a:buChar char="•"/>
            </a:pPr>
            <a:endParaRPr lang="en-AU" noProof="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Handouts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distributes and discusses: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Examples of qualitative and quantitative research/data</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Examples of secondary and primary research/data.</a:t>
            </a:r>
          </a:p>
          <a:p>
            <a:pPr lvl="1">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21308366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SWOT analysis stating:</a:t>
            </a:r>
          </a:p>
          <a:p>
            <a:pPr marL="171450" indent="-171450">
              <a:buFont typeface="Arial" pitchFamily="34" charset="0"/>
              <a:buChar char="•"/>
            </a:pPr>
            <a:r>
              <a:rPr lang="en-AU" sz="1200" kern="1200" dirty="0" smtClean="0">
                <a:solidFill>
                  <a:schemeClr val="tx1"/>
                </a:solidFill>
                <a:ea typeface="+mn-ea"/>
                <a:cs typeface="+mn-cs"/>
              </a:rPr>
              <a:t>A SWOT analysis is the process of gathering together information/data on both the internal and external environments of the organisation to determine the strengths, weaknesses, opportunities that are present as well as the threats relating to the situation being considered – in this case, the establishment of a workplace training system</a:t>
            </a:r>
          </a:p>
          <a:p>
            <a:pPr marL="171450" indent="-171450">
              <a:buFont typeface="Arial" pitchFamily="34" charset="0"/>
              <a:buChar char="•"/>
            </a:pPr>
            <a:r>
              <a:rPr lang="en-AU" sz="1200" kern="1200" dirty="0" smtClean="0">
                <a:solidFill>
                  <a:schemeClr val="tx1"/>
                </a:solidFill>
                <a:ea typeface="+mn-ea"/>
                <a:cs typeface="+mn-cs"/>
              </a:rPr>
              <a:t>A SWOT analysis is a fundamental pre-requisite for any research to help determine the situation being considered</a:t>
            </a:r>
          </a:p>
          <a:p>
            <a:pPr marL="171450" indent="-171450">
              <a:buFont typeface="Arial" pitchFamily="34" charset="0"/>
              <a:buChar char="•"/>
            </a:pPr>
            <a:r>
              <a:rPr lang="en-AU" sz="1200" kern="1200" dirty="0" smtClean="0">
                <a:solidFill>
                  <a:schemeClr val="tx1"/>
                </a:solidFill>
                <a:ea typeface="+mn-ea"/>
                <a:cs typeface="+mn-cs"/>
              </a:rPr>
              <a:t>A SWOT analysis may also be known as:</a:t>
            </a:r>
          </a:p>
          <a:p>
            <a:pPr marL="628650" lvl="1" indent="-171450">
              <a:buFont typeface="Arial" pitchFamily="34" charset="0"/>
              <a:buChar char="•"/>
            </a:pPr>
            <a:r>
              <a:rPr lang="en-AU" sz="1200" kern="1200" dirty="0" smtClean="0">
                <a:solidFill>
                  <a:schemeClr val="tx1"/>
                </a:solidFill>
                <a:ea typeface="+mn-ea"/>
                <a:cs typeface="+mn-cs"/>
              </a:rPr>
              <a:t>A Situational analysis</a:t>
            </a:r>
          </a:p>
          <a:p>
            <a:pPr marL="628650" lvl="1" indent="-171450">
              <a:buFont typeface="Arial" pitchFamily="34" charset="0"/>
              <a:buChar char="•"/>
            </a:pPr>
            <a:r>
              <a:rPr lang="en-AU" sz="1200" kern="1200" dirty="0" smtClean="0">
                <a:solidFill>
                  <a:schemeClr val="tx1"/>
                </a:solidFill>
                <a:ea typeface="+mn-ea"/>
                <a:cs typeface="+mn-cs"/>
              </a:rPr>
              <a:t>A Situation analysis</a:t>
            </a:r>
          </a:p>
          <a:p>
            <a:pPr marL="628650" lvl="1" indent="-171450">
              <a:buFont typeface="Arial" pitchFamily="34" charset="0"/>
              <a:buChar char="•"/>
            </a:pPr>
            <a:r>
              <a:rPr lang="en-AU" sz="1200" kern="1200" dirty="0" smtClean="0">
                <a:solidFill>
                  <a:schemeClr val="tx1"/>
                </a:solidFill>
                <a:ea typeface="+mn-ea"/>
                <a:cs typeface="+mn-cs"/>
              </a:rPr>
              <a:t>A SWOT matrix.</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hlinkClick r:id="rId3"/>
              </a:rPr>
              <a:t>http://www.mindtools.com/pages/article/newTMC_05.htm</a:t>
            </a:r>
            <a:r>
              <a:rPr lang="en-AU" sz="1200" kern="1200" dirty="0" smtClean="0">
                <a:solidFill>
                  <a:schemeClr val="tx1"/>
                </a:solidFill>
                <a:ea typeface="+mn-ea"/>
                <a:cs typeface="+mn-cs"/>
              </a:rPr>
              <a:t> - SWOT analysis.</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16700061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AU" noProof="0" dirty="0" smtClean="0"/>
              <a:t>Trainer continues discussing SWOT analysis:</a:t>
            </a:r>
          </a:p>
          <a:p>
            <a:r>
              <a:rPr lang="en-AU" sz="1200" b="1" i="1" kern="1200" dirty="0" smtClean="0">
                <a:solidFill>
                  <a:schemeClr val="tx1"/>
                </a:solidFill>
                <a:ea typeface="+mn-ea"/>
                <a:cs typeface="+mn-cs"/>
              </a:rPr>
              <a:t>Internal factors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internal factors in a SWOT analysis are the factors present within the organisation.</a:t>
            </a:r>
          </a:p>
          <a:p>
            <a:pPr marL="171450" indent="-171450">
              <a:buFont typeface="Arial" pitchFamily="34" charset="0"/>
              <a:buChar char="•"/>
            </a:pPr>
            <a:r>
              <a:rPr lang="en-AU" sz="1200" kern="1200" dirty="0" smtClean="0">
                <a:solidFill>
                  <a:schemeClr val="tx1"/>
                </a:solidFill>
                <a:ea typeface="+mn-ea"/>
                <a:cs typeface="+mn-cs"/>
              </a:rPr>
              <a:t>They are the ‘Strengths’ and ‘Weaknesses’ of the entity</a:t>
            </a:r>
          </a:p>
          <a:p>
            <a:pPr marL="171450" indent="-171450">
              <a:buFont typeface="Arial" pitchFamily="34" charset="0"/>
              <a:buChar char="•"/>
            </a:pPr>
            <a:r>
              <a:rPr lang="en-AU" sz="1200" kern="1200" dirty="0" smtClean="0">
                <a:solidFill>
                  <a:schemeClr val="tx1"/>
                </a:solidFill>
                <a:ea typeface="+mn-ea"/>
                <a:cs typeface="+mn-cs"/>
              </a:rPr>
              <a:t>What is a strength for one business may well be a weakness for another. For example:</a:t>
            </a:r>
          </a:p>
          <a:p>
            <a:pPr marL="628650" lvl="1" indent="-171450">
              <a:buFont typeface="Arial" pitchFamily="34" charset="0"/>
              <a:buChar char="•"/>
            </a:pPr>
            <a:r>
              <a:rPr lang="en-AU" sz="1200" kern="1200" dirty="0" smtClean="0">
                <a:solidFill>
                  <a:schemeClr val="tx1"/>
                </a:solidFill>
                <a:ea typeface="+mn-ea"/>
                <a:cs typeface="+mn-cs"/>
              </a:rPr>
              <a:t>One business may have loads of cash reserved to fund the establishment of a training system, while another could be cash-poor</a:t>
            </a:r>
          </a:p>
          <a:p>
            <a:pPr marL="628650" lvl="1" indent="-171450">
              <a:buFont typeface="Arial" pitchFamily="34" charset="0"/>
              <a:buChar char="•"/>
            </a:pPr>
            <a:r>
              <a:rPr lang="en-AU" sz="1200" kern="1200" dirty="0" smtClean="0">
                <a:solidFill>
                  <a:schemeClr val="tx1"/>
                </a:solidFill>
                <a:ea typeface="+mn-ea"/>
                <a:cs typeface="+mn-cs"/>
              </a:rPr>
              <a:t>One organisation may have a detailed knowledge of the formal in-country vocational training system while another operator knows little/nothing in this regard</a:t>
            </a:r>
          </a:p>
          <a:p>
            <a:pPr marL="171450" indent="-171450">
              <a:buFont typeface="Arial" pitchFamily="34" charset="0"/>
              <a:buChar char="•"/>
            </a:pPr>
            <a:r>
              <a:rPr lang="en-AU" sz="1200" kern="1200" dirty="0" smtClean="0">
                <a:solidFill>
                  <a:schemeClr val="tx1"/>
                </a:solidFill>
                <a:ea typeface="+mn-ea"/>
                <a:cs typeface="+mn-cs"/>
              </a:rPr>
              <a:t>To an extent these factors are controllable as the organisations have the power to impact them – they can (for example) take action to raise more money or obtain additional resources  and work to gain more experience regarding their national training system.</a:t>
            </a:r>
          </a:p>
          <a:p>
            <a:r>
              <a:rPr lang="en-AU" sz="1200" b="1" i="1" kern="1200" dirty="0" smtClean="0">
                <a:solidFill>
                  <a:schemeClr val="tx1"/>
                </a:solidFill>
                <a:ea typeface="+mn-ea"/>
                <a:cs typeface="+mn-cs"/>
              </a:rPr>
              <a:t>External factors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External factors are those which exist outside the business. They are divided into:</a:t>
            </a:r>
          </a:p>
          <a:p>
            <a:pPr marL="628650" lvl="1" indent="-171450">
              <a:buFont typeface="Arial" pitchFamily="34" charset="0"/>
              <a:buChar char="•"/>
            </a:pPr>
            <a:r>
              <a:rPr lang="en-AU" sz="1200" kern="1200" dirty="0" smtClean="0">
                <a:solidFill>
                  <a:schemeClr val="tx1"/>
                </a:solidFill>
                <a:ea typeface="+mn-ea"/>
                <a:cs typeface="+mn-cs"/>
              </a:rPr>
              <a:t>Opportunities – which are factors which can be exploited or taken advantage of in relation to the establishment of the training system</a:t>
            </a:r>
          </a:p>
          <a:p>
            <a:pPr marL="628650" lvl="1" indent="-171450">
              <a:buFont typeface="Arial" pitchFamily="34" charset="0"/>
              <a:buChar char="•"/>
            </a:pPr>
            <a:r>
              <a:rPr lang="en-AU" sz="1200" kern="1200" dirty="0" smtClean="0">
                <a:solidFill>
                  <a:schemeClr val="tx1"/>
                </a:solidFill>
                <a:ea typeface="+mn-ea"/>
                <a:cs typeface="+mn-cs"/>
              </a:rPr>
              <a:t>Threats – which represent things which might prejudice, jeopardise or otherwise negatively influence the establishment of the training system</a:t>
            </a:r>
          </a:p>
          <a:p>
            <a:pPr marL="171450" indent="-171450">
              <a:buFont typeface="Arial" pitchFamily="34" charset="0"/>
              <a:buChar char="•"/>
            </a:pPr>
            <a:r>
              <a:rPr lang="en-AU" sz="1200" kern="1200" dirty="0" smtClean="0">
                <a:solidFill>
                  <a:schemeClr val="tx1"/>
                </a:solidFill>
                <a:ea typeface="+mn-ea"/>
                <a:cs typeface="+mn-cs"/>
              </a:rPr>
              <a:t>Some threats cannot be effectively addressed</a:t>
            </a:r>
          </a:p>
          <a:p>
            <a:pPr marL="171450" indent="-171450">
              <a:buFont typeface="Arial" pitchFamily="34" charset="0"/>
              <a:buChar char="•"/>
            </a:pPr>
            <a:r>
              <a:rPr lang="en-AU" sz="1200" kern="1200" dirty="0" smtClean="0">
                <a:solidFill>
                  <a:schemeClr val="tx1"/>
                </a:solidFill>
                <a:ea typeface="+mn-ea"/>
                <a:cs typeface="+mn-cs"/>
              </a:rPr>
              <a:t>External factors are regarded as being uncontrollable in that the business/entity undertaking the research is unable to (significantly) impact the relevant factors.</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pPr>
              <a:buFont typeface="Arial" pitchFamily="34" charset="0"/>
              <a:buNone/>
            </a:pPr>
            <a:r>
              <a:rPr lang="en-AU" sz="1200" u="sng" kern="1200" dirty="0" smtClean="0">
                <a:solidFill>
                  <a:schemeClr val="tx1"/>
                </a:solidFill>
                <a:ea typeface="+mn-ea"/>
                <a:cs typeface="+mn-cs"/>
                <a:hlinkClick r:id="rId3"/>
              </a:rPr>
              <a:t>http://smallbusiness.chron.com/swot-analysis-diversity-training-1850.html</a:t>
            </a:r>
            <a:r>
              <a:rPr lang="en-AU" sz="1200" kern="1200" dirty="0" smtClean="0">
                <a:solidFill>
                  <a:schemeClr val="tx1"/>
                </a:solidFill>
                <a:ea typeface="+mn-ea"/>
                <a:cs typeface="+mn-cs"/>
              </a:rPr>
              <a:t> - SWOT analysis on diversity training</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41622731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other approaches to research/investigate organisation-specific factors and the organisational environment:</a:t>
            </a:r>
          </a:p>
          <a:p>
            <a:pPr marL="171450" indent="-171450">
              <a:buFont typeface="Arial" pitchFamily="34" charset="0"/>
              <a:buChar char="•"/>
            </a:pPr>
            <a:r>
              <a:rPr lang="en-AU" sz="1200" kern="1200" dirty="0" smtClean="0">
                <a:solidFill>
                  <a:schemeClr val="tx1"/>
                </a:solidFill>
                <a:ea typeface="+mn-ea"/>
                <a:cs typeface="+mn-cs"/>
              </a:rPr>
              <a:t>SLEPT analysis involves consideration of:</a:t>
            </a:r>
          </a:p>
          <a:p>
            <a:pPr marL="628650" lvl="1" indent="-171450">
              <a:buFont typeface="Arial" pitchFamily="34" charset="0"/>
              <a:buChar char="•"/>
            </a:pPr>
            <a:r>
              <a:rPr lang="en-AU" sz="1200" kern="1200" dirty="0" smtClean="0">
                <a:solidFill>
                  <a:schemeClr val="tx1"/>
                </a:solidFill>
                <a:ea typeface="+mn-ea"/>
                <a:cs typeface="+mn-cs"/>
              </a:rPr>
              <a:t>Social factors</a:t>
            </a:r>
          </a:p>
          <a:p>
            <a:pPr marL="628650" lvl="1" indent="-171450">
              <a:buFont typeface="Arial" pitchFamily="34" charset="0"/>
              <a:buChar char="•"/>
            </a:pPr>
            <a:r>
              <a:rPr lang="en-AU" sz="1200" kern="1200" dirty="0" smtClean="0">
                <a:solidFill>
                  <a:schemeClr val="tx1"/>
                </a:solidFill>
                <a:ea typeface="+mn-ea"/>
                <a:cs typeface="+mn-cs"/>
              </a:rPr>
              <a:t>Legal factors</a:t>
            </a:r>
          </a:p>
          <a:p>
            <a:pPr marL="628650" lvl="1" indent="-171450">
              <a:buFont typeface="Arial" pitchFamily="34" charset="0"/>
              <a:buChar char="•"/>
            </a:pPr>
            <a:r>
              <a:rPr lang="en-AU" sz="1200" kern="1200" dirty="0" smtClean="0">
                <a:solidFill>
                  <a:schemeClr val="tx1"/>
                </a:solidFill>
                <a:ea typeface="+mn-ea"/>
                <a:cs typeface="+mn-cs"/>
              </a:rPr>
              <a:t>Economic factors</a:t>
            </a:r>
          </a:p>
          <a:p>
            <a:pPr marL="628650" lvl="1" indent="-171450">
              <a:buFont typeface="Arial" pitchFamily="34" charset="0"/>
              <a:buChar char="•"/>
            </a:pPr>
            <a:r>
              <a:rPr lang="en-AU" sz="1200" kern="1200" dirty="0" smtClean="0">
                <a:solidFill>
                  <a:schemeClr val="tx1"/>
                </a:solidFill>
                <a:ea typeface="+mn-ea"/>
                <a:cs typeface="+mn-cs"/>
              </a:rPr>
              <a:t>Political factors</a:t>
            </a:r>
          </a:p>
          <a:p>
            <a:pPr marL="628650" lvl="1" indent="-171450">
              <a:buFont typeface="Arial" pitchFamily="34" charset="0"/>
              <a:buChar char="•"/>
            </a:pPr>
            <a:r>
              <a:rPr lang="en-AU" sz="1200" kern="1200" dirty="0" smtClean="0">
                <a:solidFill>
                  <a:schemeClr val="tx1"/>
                </a:solidFill>
                <a:ea typeface="+mn-ea"/>
                <a:cs typeface="+mn-cs"/>
              </a:rPr>
              <a:t>Technological factors</a:t>
            </a:r>
          </a:p>
          <a:p>
            <a:pPr marL="171450" indent="-171450">
              <a:buFont typeface="Arial" pitchFamily="34" charset="0"/>
              <a:buChar char="•"/>
            </a:pPr>
            <a:r>
              <a:rPr lang="en-AU" sz="1200" kern="1200" dirty="0" smtClean="0">
                <a:solidFill>
                  <a:schemeClr val="tx1"/>
                </a:solidFill>
                <a:ea typeface="+mn-ea"/>
                <a:cs typeface="+mn-cs"/>
              </a:rPr>
              <a:t>PESTEL analysis is the same as SLEPT but with the addition of ‘Environmental’ factors</a:t>
            </a:r>
          </a:p>
          <a:p>
            <a:pPr marL="171450" indent="-171450">
              <a:buFont typeface="Arial" pitchFamily="34" charset="0"/>
              <a:buChar char="•"/>
            </a:pPr>
            <a:r>
              <a:rPr lang="en-AU" sz="1200" kern="1200" dirty="0" smtClean="0">
                <a:solidFill>
                  <a:schemeClr val="tx1"/>
                </a:solidFill>
                <a:ea typeface="+mn-ea"/>
                <a:cs typeface="+mn-cs"/>
              </a:rPr>
              <a:t>STEEPLE analysis adds consideration of Ethics.</a:t>
            </a:r>
          </a:p>
          <a:p>
            <a:pPr>
              <a:buFont typeface="Arial" pitchFamily="34" charset="0"/>
              <a:buNone/>
            </a:pPr>
            <a:r>
              <a:rPr lang="en-AU" noProof="0" dirty="0" smtClean="0"/>
              <a:t> </a:t>
            </a:r>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r>
              <a:rPr lang="en-AU" sz="1200" u="sng" kern="1200" dirty="0" smtClean="0">
                <a:solidFill>
                  <a:schemeClr val="tx1"/>
                </a:solidFill>
                <a:ea typeface="+mn-ea"/>
                <a:cs typeface="+mn-cs"/>
                <a:hlinkClick r:id="rId3"/>
              </a:rPr>
              <a:t>http://pestleanalysis.com/</a:t>
            </a:r>
            <a:r>
              <a:rPr lang="en-AU" sz="1200" kern="1200" dirty="0" smtClean="0">
                <a:solidFill>
                  <a:schemeClr val="tx1"/>
                </a:solidFill>
                <a:ea typeface="+mn-ea"/>
                <a:cs typeface="+mn-cs"/>
              </a:rPr>
              <a:t> - PESTLE analysis</a:t>
            </a:r>
          </a:p>
          <a:p>
            <a:r>
              <a:rPr lang="en-AU" sz="1200" u="sng" kern="1200" dirty="0" smtClean="0">
                <a:solidFill>
                  <a:schemeClr val="tx1"/>
                </a:solidFill>
                <a:ea typeface="+mn-ea"/>
                <a:cs typeface="+mn-cs"/>
                <a:hlinkClick r:id="rId4"/>
              </a:rPr>
              <a:t>http://www.slideshare.net/lconner/steeple</a:t>
            </a:r>
            <a:r>
              <a:rPr lang="en-AU" sz="1200" kern="1200" dirty="0" smtClean="0">
                <a:solidFill>
                  <a:schemeClr val="tx1"/>
                </a:solidFill>
                <a:ea typeface="+mn-ea"/>
                <a:cs typeface="+mn-cs"/>
              </a:rPr>
              <a:t> - STEEPLE analysis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7656043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context of analysis of market trends as part of the research process and highlights key points listed within the TM notes</a:t>
            </a:r>
          </a:p>
          <a:p>
            <a:pPr>
              <a:buFont typeface="Arial" pitchFamily="34" charset="0"/>
              <a:buNone/>
            </a:pPr>
            <a:r>
              <a:rPr lang="en-AU" noProof="0" dirty="0" smtClean="0"/>
              <a:t>Work through licensing</a:t>
            </a:r>
            <a:r>
              <a:rPr lang="en-AU" baseline="0" noProof="0" dirty="0" smtClean="0"/>
              <a:t> requirements and consider what is required in your local region.</a:t>
            </a:r>
          </a:p>
          <a:p>
            <a:pPr>
              <a:buFont typeface="Arial" pitchFamily="34" charset="0"/>
              <a:buNone/>
            </a:pPr>
            <a:r>
              <a:rPr lang="en-AU" noProof="0" dirty="0" smtClean="0"/>
              <a:t>Discuss</a:t>
            </a:r>
            <a:r>
              <a:rPr lang="en-AU" baseline="0" noProof="0" dirty="0" smtClean="0"/>
              <a:t> the notes listed for reviewing job related documentation and complete the following activities</a:t>
            </a:r>
            <a:endParaRPr lang="en-AU" noProof="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Handouts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distributes and discusses examples of job descriptions and job specifications.</a:t>
            </a:r>
          </a:p>
          <a:p>
            <a:pPr>
              <a:buFont typeface="Arial" pitchFamily="34" charset="0"/>
              <a:buChar char="•"/>
            </a:pPr>
            <a:endParaRPr lang="en-AU" sz="1200" kern="1200" dirty="0" smtClean="0">
              <a:solidFill>
                <a:schemeClr val="tx1"/>
              </a:solidFill>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Internet research</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supervises internet research and subsequent classroom discussion by visiting: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sng" strike="noStrike" kern="1200" cap="none" spc="0" normalizeH="0" baseline="0" noProof="0" dirty="0" smtClean="0">
                <a:ln>
                  <a:noFill/>
                </a:ln>
                <a:solidFill>
                  <a:prstClr val="black"/>
                </a:solidFill>
                <a:effectLst/>
                <a:uLnTx/>
                <a:uFillTx/>
                <a:ea typeface="+mn-ea"/>
                <a:cs typeface="+mn-cs"/>
                <a:hlinkClick r:id="rId3"/>
              </a:rPr>
              <a:t>http://www.businessballs.com/jobdescription.htm</a:t>
            </a:r>
            <a:r>
              <a:rPr kumimoji="0" lang="en-AU" sz="1200" b="0" i="0" u="none" strike="noStrike" kern="1200" cap="none" spc="0" normalizeH="0" baseline="0" noProof="0" dirty="0" smtClean="0">
                <a:ln>
                  <a:noFill/>
                </a:ln>
                <a:solidFill>
                  <a:prstClr val="black"/>
                </a:solidFill>
                <a:effectLst/>
                <a:uLnTx/>
                <a:uFillTx/>
                <a:ea typeface="+mn-ea"/>
                <a:cs typeface="+mn-cs"/>
              </a:rPr>
              <a:t> - Job descriptions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sng" strike="noStrike" kern="1200" cap="none" spc="0" normalizeH="0" baseline="0" noProof="0" dirty="0" smtClean="0">
                <a:ln>
                  <a:noFill/>
                </a:ln>
                <a:solidFill>
                  <a:prstClr val="black"/>
                </a:solidFill>
                <a:effectLst/>
                <a:uLnTx/>
                <a:uFillTx/>
                <a:ea typeface="+mn-ea"/>
                <a:cs typeface="+mn-cs"/>
                <a:hlinkClick r:id="rId4"/>
              </a:rPr>
              <a:t>http://humanresources.about.com/od/glossaryj/g/job_specification.htm</a:t>
            </a:r>
            <a:r>
              <a:rPr kumimoji="0" lang="en-AU" sz="1200" b="0" i="0" u="none" strike="noStrike" kern="1200" cap="none" spc="0" normalizeH="0" baseline="0" noProof="0" dirty="0" smtClean="0">
                <a:ln>
                  <a:noFill/>
                </a:ln>
                <a:solidFill>
                  <a:prstClr val="black"/>
                </a:solidFill>
                <a:effectLst/>
                <a:uLnTx/>
                <a:uFillTx/>
                <a:ea typeface="+mn-ea"/>
                <a:cs typeface="+mn-cs"/>
              </a:rPr>
              <a:t> - Job specification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sng" strike="noStrike" kern="1200" cap="none" spc="0" normalizeH="0" baseline="0" noProof="0" dirty="0" smtClean="0">
                <a:ln>
                  <a:noFill/>
                </a:ln>
                <a:solidFill>
                  <a:prstClr val="black"/>
                </a:solidFill>
                <a:effectLst/>
                <a:uLnTx/>
                <a:uFillTx/>
                <a:ea typeface="+mn-ea"/>
                <a:cs typeface="+mn-cs"/>
                <a:hlinkClick r:id="rId5"/>
              </a:rPr>
              <a:t>http://www.managementstudyguide.com/job-description-specification.htm</a:t>
            </a:r>
            <a:r>
              <a:rPr kumimoji="0" lang="en-AU" sz="1200" b="0" i="0" u="none" strike="noStrike" kern="1200" cap="none" spc="0" normalizeH="0" baseline="0" noProof="0" dirty="0" smtClean="0">
                <a:ln>
                  <a:noFill/>
                </a:ln>
                <a:solidFill>
                  <a:prstClr val="black"/>
                </a:solidFill>
                <a:effectLst/>
                <a:uLnTx/>
                <a:uFillTx/>
                <a:ea typeface="+mn-ea"/>
                <a:cs typeface="+mn-cs"/>
              </a:rPr>
              <a:t> - Job description and job specification</a:t>
            </a:r>
            <a:endParaRPr kumimoji="0" lang="en-AU" sz="1200" b="0" i="0" u="none" strike="noStrike" kern="1200" cap="none" spc="0" normalizeH="0" baseline="0" noProof="0" dirty="0" smtClean="0">
              <a:ln>
                <a:noFill/>
              </a:ln>
              <a:solidFill>
                <a:prstClr val="black"/>
              </a:solidFill>
              <a:effectLst/>
              <a:uLnTx/>
              <a:uFillTx/>
            </a:endParaRP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35033517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Access the websites you wish to share with trainees for</a:t>
            </a:r>
            <a:r>
              <a:rPr lang="en-AU" baseline="0" dirty="0" smtClean="0"/>
              <a:t> further discussion or demonstration.</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8074782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meeting </a:t>
            </a:r>
            <a:r>
              <a:rPr lang="en-AU" sz="1200" kern="1200" dirty="0" smtClean="0">
                <a:solidFill>
                  <a:schemeClr val="tx1"/>
                </a:solidFill>
                <a:ea typeface="+mn-ea"/>
                <a:cs typeface="+mn-cs"/>
              </a:rPr>
              <a:t>with others as part of the research process may involve:</a:t>
            </a:r>
          </a:p>
          <a:p>
            <a:pPr marL="171450" indent="-171450">
              <a:buFont typeface="Arial" pitchFamily="34" charset="0"/>
              <a:buChar char="•"/>
            </a:pPr>
            <a:r>
              <a:rPr lang="en-AU" sz="1200" kern="1200" dirty="0" smtClean="0">
                <a:solidFill>
                  <a:schemeClr val="tx1"/>
                </a:solidFill>
                <a:ea typeface="+mn-ea"/>
                <a:cs typeface="+mn-cs"/>
              </a:rPr>
              <a:t>Talking to trainers and assessors who work within workplace training systems at other organisations</a:t>
            </a:r>
          </a:p>
          <a:p>
            <a:pPr marL="171450" indent="-171450">
              <a:buFont typeface="Arial" pitchFamily="34" charset="0"/>
              <a:buChar char="•"/>
            </a:pPr>
            <a:r>
              <a:rPr lang="en-AU" sz="1200" kern="1200" dirty="0" smtClean="0">
                <a:solidFill>
                  <a:schemeClr val="tx1"/>
                </a:solidFill>
                <a:ea typeface="+mn-ea"/>
                <a:cs typeface="+mn-cs"/>
              </a:rPr>
              <a:t>Speaking with management at businesses who operate their own workplace training systems</a:t>
            </a:r>
          </a:p>
          <a:p>
            <a:pPr marL="171450" indent="-171450">
              <a:buFont typeface="Arial" pitchFamily="34" charset="0"/>
              <a:buChar char="•"/>
            </a:pPr>
            <a:r>
              <a:rPr lang="en-AU" sz="1200" kern="1200" dirty="0" smtClean="0">
                <a:solidFill>
                  <a:schemeClr val="tx1"/>
                </a:solidFill>
                <a:ea typeface="+mn-ea"/>
                <a:cs typeface="+mn-cs"/>
              </a:rPr>
              <a:t>Consulting with past students/learners – who have trained:</a:t>
            </a:r>
          </a:p>
          <a:p>
            <a:pPr marL="628650" lvl="1" indent="-171450">
              <a:buFont typeface="Arial" pitchFamily="34" charset="0"/>
              <a:buChar char="•"/>
            </a:pPr>
            <a:r>
              <a:rPr lang="en-AU" sz="1200" kern="1200" dirty="0" smtClean="0">
                <a:solidFill>
                  <a:schemeClr val="tx1"/>
                </a:solidFill>
                <a:ea typeface="+mn-ea"/>
                <a:cs typeface="+mn-cs"/>
              </a:rPr>
              <a:t>Within the organisation</a:t>
            </a:r>
          </a:p>
          <a:p>
            <a:pPr marL="628650" lvl="1" indent="-171450">
              <a:buFont typeface="Arial" pitchFamily="34" charset="0"/>
              <a:buChar char="•"/>
            </a:pPr>
            <a:r>
              <a:rPr lang="en-AU" sz="1200" kern="1200" dirty="0" smtClean="0">
                <a:solidFill>
                  <a:schemeClr val="tx1"/>
                </a:solidFill>
                <a:ea typeface="+mn-ea"/>
                <a:cs typeface="+mn-cs"/>
              </a:rPr>
              <a:t>With/at other providers</a:t>
            </a:r>
          </a:p>
          <a:p>
            <a:pPr marL="171450" indent="-171450">
              <a:buFont typeface="Arial" pitchFamily="34" charset="0"/>
              <a:buChar char="•"/>
            </a:pPr>
            <a:r>
              <a:rPr lang="en-AU" sz="1200" kern="1200" dirty="0" smtClean="0">
                <a:solidFill>
                  <a:schemeClr val="tx1"/>
                </a:solidFill>
                <a:ea typeface="+mn-ea"/>
                <a:cs typeface="+mn-cs"/>
              </a:rPr>
              <a:t>Researching prospective learners who are expected to use the workplace training system – to:</a:t>
            </a:r>
          </a:p>
          <a:p>
            <a:pPr marL="628650" lvl="1" indent="-171450">
              <a:buFont typeface="Arial" pitchFamily="34" charset="0"/>
              <a:buChar char="•"/>
            </a:pPr>
            <a:r>
              <a:rPr lang="en-AU" sz="1200" kern="1200" dirty="0" smtClean="0">
                <a:solidFill>
                  <a:schemeClr val="tx1"/>
                </a:solidFill>
                <a:ea typeface="+mn-ea"/>
                <a:cs typeface="+mn-cs"/>
              </a:rPr>
              <a:t>Identify their needs, wants and preferences</a:t>
            </a:r>
          </a:p>
          <a:p>
            <a:pPr marL="628650" lvl="1" indent="-171450">
              <a:buFont typeface="Arial" pitchFamily="34" charset="0"/>
              <a:buChar char="•"/>
            </a:pPr>
            <a:r>
              <a:rPr lang="en-AU" sz="1200" kern="1200" dirty="0" smtClean="0">
                <a:solidFill>
                  <a:schemeClr val="tx1"/>
                </a:solidFill>
                <a:ea typeface="+mn-ea"/>
                <a:cs typeface="+mn-cs"/>
              </a:rPr>
              <a:t>Gain an insight into other/previous work-related training they have undertaken.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9443746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dirty="0" smtClean="0">
                <a:ln>
                  <a:noFill/>
                </a:ln>
                <a:solidFill>
                  <a:prstClr val="black"/>
                </a:solidFill>
                <a:effectLst/>
                <a:uLnTx/>
                <a:uFillTx/>
              </a:rPr>
              <a:t>Trainer explains the </a:t>
            </a:r>
            <a:r>
              <a:rPr kumimoji="0" lang="en-AU" sz="1200" b="0" i="0" u="none" strike="noStrike" kern="1200" cap="none" spc="0" normalizeH="0" baseline="0" noProof="0" dirty="0" smtClean="0">
                <a:ln>
                  <a:noFill/>
                </a:ln>
                <a:solidFill>
                  <a:prstClr val="black"/>
                </a:solidFill>
                <a:effectLst/>
                <a:uLnTx/>
                <a:uFillTx/>
                <a:ea typeface="+mn-ea"/>
                <a:cs typeface="+mn-cs"/>
              </a:rPr>
              <a:t>primary methods to apply when seeking to identify the legal and other requirements which apply to the establishment and operation of the workplace training system include:</a:t>
            </a:r>
          </a:p>
          <a:p>
            <a:pPr>
              <a:buFont typeface="Arial" pitchFamily="34" charset="0"/>
              <a:buNone/>
            </a:pPr>
            <a:endParaRPr lang="en-AU" noProof="0" dirty="0" smtClean="0"/>
          </a:p>
          <a:p>
            <a:pPr>
              <a:buFont typeface="Arial" pitchFamily="34" charset="0"/>
              <a:buNone/>
            </a:pPr>
            <a:r>
              <a:rPr lang="en-AU" noProof="0" dirty="0" smtClean="0"/>
              <a:t>Continue working through TM points and discuss each as necessary.</a:t>
            </a:r>
          </a:p>
          <a:p>
            <a:endParaRPr lang="en-AU"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Guest Speaker</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arranges for representative of national Training Authority to attend and:</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Discuss requirements for establishing a registered/recognised/accredited workplace training system</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Provide Training Authority materials/documentation to advise and assist with making an application to become a registered workplace training system.</a:t>
            </a:r>
          </a:p>
          <a:p>
            <a:pPr marL="935990" indent="-935990">
              <a:spcBef>
                <a:spcPts val="1200"/>
              </a:spcBef>
              <a:spcAft>
                <a:spcPts val="1200"/>
              </a:spcAft>
            </a:pPr>
            <a:endParaRPr lang="en-AU" sz="1600" b="1" dirty="0" smtClean="0">
              <a:solidFill>
                <a:srgbClr val="45545F"/>
              </a:solidFill>
              <a:effectLst/>
              <a:latin typeface="Helvetica"/>
              <a:ea typeface="Times New Roman"/>
              <a:cs typeface="Times New Roman"/>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5850378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indicates if the organisation chooses to operate an</a:t>
            </a:r>
            <a:r>
              <a:rPr kumimoji="0" lang="en-AU" sz="1200" b="0" i="0" u="none" strike="noStrike" kern="1200" cap="none" spc="0" normalizeH="0" baseline="0" noProof="0" dirty="0" smtClean="0">
                <a:ln>
                  <a:noFill/>
                </a:ln>
                <a:solidFill>
                  <a:prstClr val="black"/>
                </a:solidFill>
                <a:effectLst/>
                <a:uLnTx/>
                <a:uFillTx/>
                <a:ea typeface="+mn-ea"/>
                <a:cs typeface="+mn-cs"/>
              </a:rPr>
              <a:t> recognised system this means: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This means they will be authorised to deliver and assess accredited courses/qualifications: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Established/available under the qualifications framework that exists in the country </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In the competency disciplines/industry sectors they have been approved to deliver in (according to their Scope of Registration)</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The Scope of Registration is the list of qualifications a recognised training has been approved by the government to deliver – the organisation may </a:t>
            </a:r>
            <a:r>
              <a:rPr kumimoji="0" lang="en-AU" sz="1200" b="1" i="0" u="none" strike="noStrike" kern="1200" cap="none" spc="0" normalizeH="0" baseline="0" noProof="0" dirty="0" smtClean="0">
                <a:ln>
                  <a:noFill/>
                </a:ln>
                <a:solidFill>
                  <a:prstClr val="black"/>
                </a:solidFill>
                <a:effectLst/>
                <a:uLnTx/>
                <a:uFillTx/>
                <a:ea typeface="+mn-ea"/>
                <a:cs typeface="+mn-cs"/>
              </a:rPr>
              <a:t>only</a:t>
            </a:r>
            <a:r>
              <a:rPr kumimoji="0" lang="en-AU" sz="1200" b="0" i="0" u="none" strike="noStrike" kern="1200" cap="none" spc="0" normalizeH="0" baseline="0" noProof="0" dirty="0" smtClean="0">
                <a:ln>
                  <a:noFill/>
                </a:ln>
                <a:solidFill>
                  <a:prstClr val="black"/>
                </a:solidFill>
                <a:effectLst/>
                <a:uLnTx/>
                <a:uFillTx/>
                <a:ea typeface="+mn-ea"/>
                <a:cs typeface="+mn-cs"/>
              </a:rPr>
              <a:t> deliver qualifications which are on their Scope of Registration</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There will be a range of compliance obligations imposed by the relevant government body and the legislation which governs implementation of vocational training</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These requirements may be </a:t>
            </a:r>
            <a:r>
              <a:rPr kumimoji="0" lang="en-AU" sz="1200" b="0" i="1" u="none" strike="noStrike" kern="1200" cap="none" spc="0" normalizeH="0" baseline="0" noProof="0" dirty="0" smtClean="0">
                <a:ln>
                  <a:noFill/>
                </a:ln>
                <a:solidFill>
                  <a:prstClr val="black"/>
                </a:solidFill>
                <a:effectLst/>
                <a:uLnTx/>
                <a:uFillTx/>
                <a:ea typeface="+mn-ea"/>
                <a:cs typeface="+mn-cs"/>
              </a:rPr>
              <a:t>similar</a:t>
            </a:r>
            <a:r>
              <a:rPr kumimoji="0" lang="en-AU" sz="1200" b="0" i="0" u="none" strike="noStrike" kern="1200" cap="none" spc="0" normalizeH="0" baseline="0" noProof="0" dirty="0" smtClean="0">
                <a:ln>
                  <a:noFill/>
                </a:ln>
                <a:solidFill>
                  <a:prstClr val="black"/>
                </a:solidFill>
                <a:effectLst/>
                <a:uLnTx/>
                <a:uFillTx/>
                <a:ea typeface="+mn-ea"/>
                <a:cs typeface="+mn-cs"/>
              </a:rPr>
              <a:t> between countries but individual differences are to be expected.</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AU" sz="1200" b="0" i="0" u="none" strike="noStrike" kern="1200" cap="none" spc="0" normalizeH="0" baseline="0" noProof="0" dirty="0" smtClean="0">
              <a:ln>
                <a:noFill/>
              </a:ln>
              <a:solidFill>
                <a:prstClr val="black"/>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Handout</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distributes and discusses sample Scope of Registration for a workplace provider.</a:t>
            </a:r>
          </a:p>
          <a:p>
            <a:pPr marL="935990" indent="-935990">
              <a:spcBef>
                <a:spcPts val="1200"/>
              </a:spcBef>
              <a:spcAft>
                <a:spcPts val="1200"/>
              </a:spcAft>
            </a:pPr>
            <a:endParaRPr lang="en-AU" sz="1600" b="1" dirty="0" smtClean="0">
              <a:solidFill>
                <a:srgbClr val="45545F"/>
              </a:solidFill>
              <a:effectLst/>
              <a:latin typeface="Helvetica"/>
              <a:ea typeface="Times New Roman"/>
              <a:cs typeface="Times New Roman"/>
            </a:endParaRPr>
          </a:p>
          <a:p>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5850378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states:</a:t>
            </a:r>
          </a:p>
          <a:p>
            <a:pPr marL="171450" indent="-171450">
              <a:buFont typeface="Arial" pitchFamily="34" charset="0"/>
              <a:buChar char="•"/>
            </a:pPr>
            <a:r>
              <a:rPr lang="en-AU" sz="1200" kern="1200" dirty="0" smtClean="0">
                <a:solidFill>
                  <a:schemeClr val="tx1"/>
                </a:solidFill>
                <a:ea typeface="+mn-ea"/>
                <a:cs typeface="+mn-cs"/>
              </a:rPr>
              <a:t>It is critical to understand these requirements are mandatory – they are not optional, and they are not offered as ‘suggestions’</a:t>
            </a:r>
          </a:p>
          <a:p>
            <a:pPr marL="171450" indent="-171450">
              <a:buFont typeface="Arial" pitchFamily="34" charset="0"/>
              <a:buChar char="•"/>
            </a:pPr>
            <a:r>
              <a:rPr lang="en-AU" sz="1200" kern="1200" dirty="0" smtClean="0">
                <a:solidFill>
                  <a:schemeClr val="tx1"/>
                </a:solidFill>
                <a:ea typeface="+mn-ea"/>
                <a:cs typeface="+mn-cs"/>
              </a:rPr>
              <a:t>If requirements are not complied with/adhered to:</a:t>
            </a:r>
          </a:p>
          <a:p>
            <a:pPr marL="628650" lvl="1" indent="-171450">
              <a:buFont typeface="Arial" pitchFamily="34" charset="0"/>
              <a:buChar char="•"/>
            </a:pPr>
            <a:r>
              <a:rPr lang="en-AU" sz="1200" kern="1200" dirty="0" smtClean="0">
                <a:solidFill>
                  <a:schemeClr val="tx1"/>
                </a:solidFill>
                <a:ea typeface="+mn-ea"/>
                <a:cs typeface="+mn-cs"/>
              </a:rPr>
              <a:t>Initial registration may be disallowed for new applicants</a:t>
            </a:r>
          </a:p>
          <a:p>
            <a:pPr marL="628650" lvl="1" indent="-171450">
              <a:buFont typeface="Arial" pitchFamily="34" charset="0"/>
              <a:buChar char="•"/>
            </a:pPr>
            <a:r>
              <a:rPr lang="en-AU" sz="1200" kern="1200" dirty="0" smtClean="0">
                <a:solidFill>
                  <a:schemeClr val="tx1"/>
                </a:solidFill>
                <a:ea typeface="+mn-ea"/>
                <a:cs typeface="+mn-cs"/>
              </a:rPr>
              <a:t>Current registered providers may have their registration terminated.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30014889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requirements </a:t>
            </a:r>
            <a:r>
              <a:rPr lang="en-AU" sz="1200" kern="1200" dirty="0" smtClean="0">
                <a:solidFill>
                  <a:schemeClr val="tx1"/>
                </a:solidFill>
                <a:ea typeface="+mn-ea"/>
                <a:cs typeface="+mn-cs"/>
              </a:rPr>
              <a:t>must be complied with in order to:</a:t>
            </a:r>
          </a:p>
          <a:p>
            <a:pPr marL="171450" indent="-171450">
              <a:buFont typeface="Arial" pitchFamily="34" charset="0"/>
              <a:buChar char="•"/>
            </a:pPr>
            <a:r>
              <a:rPr lang="en-AU" sz="1200" kern="1200" dirty="0" smtClean="0">
                <a:solidFill>
                  <a:schemeClr val="tx1"/>
                </a:solidFill>
                <a:ea typeface="+mn-ea"/>
                <a:cs typeface="+mn-cs"/>
              </a:rPr>
              <a:t>Establish and maintain a high-level basic standard across all providers</a:t>
            </a:r>
          </a:p>
          <a:p>
            <a:pPr marL="171450" indent="-171450">
              <a:buFont typeface="Arial" pitchFamily="34" charset="0"/>
              <a:buChar char="•"/>
            </a:pPr>
            <a:r>
              <a:rPr lang="en-AU" sz="1200" kern="1200" dirty="0" smtClean="0">
                <a:solidFill>
                  <a:schemeClr val="tx1"/>
                </a:solidFill>
                <a:ea typeface="+mn-ea"/>
                <a:cs typeface="+mn-cs"/>
              </a:rPr>
              <a:t>Ensure quality and consistency in the provision of accredited training</a:t>
            </a:r>
          </a:p>
          <a:p>
            <a:pPr marL="171450" indent="-171450">
              <a:buFont typeface="Arial" pitchFamily="34" charset="0"/>
              <a:buChar char="•"/>
            </a:pPr>
            <a:r>
              <a:rPr lang="en-AU" sz="1200" kern="1200" dirty="0" smtClean="0">
                <a:solidFill>
                  <a:schemeClr val="tx1"/>
                </a:solidFill>
                <a:ea typeface="+mn-ea"/>
                <a:cs typeface="+mn-cs"/>
              </a:rPr>
              <a:t>Facilitate the management and control of vocational training and assessment, record keeping and issuing of certification</a:t>
            </a:r>
          </a:p>
          <a:p>
            <a:pPr marL="171450" indent="-171450">
              <a:buFont typeface="Arial" pitchFamily="34" charset="0"/>
              <a:buChar char="•"/>
            </a:pPr>
            <a:r>
              <a:rPr lang="en-AU" sz="1200" kern="1200" dirty="0" smtClean="0">
                <a:solidFill>
                  <a:schemeClr val="tx1"/>
                </a:solidFill>
                <a:ea typeface="+mn-ea"/>
                <a:cs typeface="+mn-cs"/>
              </a:rPr>
              <a:t>Give students and industry confidence in the quality, content and delivery of accredited vocational training and assessment.</a:t>
            </a:r>
          </a:p>
          <a:p>
            <a:pPr>
              <a:buFont typeface="Arial" pitchFamily="34" charset="0"/>
              <a:buChar char="•"/>
            </a:pPr>
            <a:endParaRPr lang="en-AU" sz="1200" kern="1200" dirty="0" smtClean="0">
              <a:solidFill>
                <a:schemeClr val="tx1"/>
              </a:solidFill>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Handout</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distributes and discusses application form to be completed by applicants who want to establish a recognised workplace training system.</a:t>
            </a:r>
          </a:p>
          <a:p>
            <a:pPr>
              <a:buFont typeface="Arial" pitchFamily="34" charset="0"/>
              <a:buChar char="•"/>
            </a:pPr>
            <a:endParaRPr lang="en-AU" sz="1200" kern="1200" dirty="0" smtClean="0">
              <a:solidFill>
                <a:schemeClr val="tx1"/>
              </a:solidFill>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Guest Speaker</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arranges for representative from national Training Authority to attend and discuss application requirements for registering a workplace training system as a recognised provider.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3003089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it</a:t>
            </a:r>
            <a:r>
              <a:rPr lang="en-AU" sz="1200" kern="1200" dirty="0" smtClean="0">
                <a:solidFill>
                  <a:schemeClr val="tx1"/>
                </a:solidFill>
                <a:ea typeface="+mn-ea"/>
                <a:cs typeface="+mn-cs"/>
              </a:rPr>
              <a:t> is always possible a workplace training system may be required to also comply with other obligations – for example there may be a need to: </a:t>
            </a:r>
          </a:p>
          <a:p>
            <a:pPr marL="171450" indent="-171450">
              <a:buFont typeface="Arial" pitchFamily="34" charset="0"/>
              <a:buChar char="•"/>
            </a:pPr>
            <a:r>
              <a:rPr lang="en-AU" sz="1200" kern="1200" dirty="0" smtClean="0">
                <a:solidFill>
                  <a:schemeClr val="tx1"/>
                </a:solidFill>
                <a:ea typeface="+mn-ea"/>
                <a:cs typeface="+mn-cs"/>
              </a:rPr>
              <a:t>Comply with training requirements contained in relevant employment contracts</a:t>
            </a:r>
          </a:p>
          <a:p>
            <a:pPr marL="171450" indent="-171450">
              <a:buFont typeface="Arial" pitchFamily="34" charset="0"/>
              <a:buChar char="•"/>
            </a:pPr>
            <a:r>
              <a:rPr lang="en-AU" sz="1200" kern="1200" dirty="0" smtClean="0">
                <a:solidFill>
                  <a:schemeClr val="tx1"/>
                </a:solidFill>
                <a:ea typeface="+mn-ea"/>
                <a:cs typeface="+mn-cs"/>
              </a:rPr>
              <a:t>Meet standards or specified requirements set by professional industry bodies in relation to:</a:t>
            </a:r>
          </a:p>
          <a:p>
            <a:pPr marL="628650" lvl="1" indent="-171450">
              <a:buFont typeface="Arial" pitchFamily="34" charset="0"/>
              <a:buChar char="•"/>
            </a:pPr>
            <a:r>
              <a:rPr lang="en-AU" sz="1200" kern="1200" dirty="0" smtClean="0">
                <a:solidFill>
                  <a:schemeClr val="tx1"/>
                </a:solidFill>
                <a:ea typeface="+mn-ea"/>
                <a:cs typeface="+mn-cs"/>
              </a:rPr>
              <a:t>The initial training of employees </a:t>
            </a:r>
          </a:p>
          <a:p>
            <a:pPr marL="628650" lvl="1" indent="-171450">
              <a:buFont typeface="Arial" pitchFamily="34" charset="0"/>
              <a:buChar char="•"/>
            </a:pPr>
            <a:r>
              <a:rPr lang="en-AU" sz="1200" kern="1200" dirty="0" smtClean="0">
                <a:solidFill>
                  <a:schemeClr val="tx1"/>
                </a:solidFill>
                <a:ea typeface="+mn-ea"/>
                <a:cs typeface="+mn-cs"/>
              </a:rPr>
              <a:t>The maintenance of skill and knowledge levels and standards</a:t>
            </a:r>
          </a:p>
          <a:p>
            <a:pPr marL="171450" indent="-171450">
              <a:buFont typeface="Arial" pitchFamily="34" charset="0"/>
              <a:buChar char="•"/>
            </a:pPr>
            <a:r>
              <a:rPr lang="en-AU" sz="1200" kern="1200" dirty="0" smtClean="0">
                <a:solidFill>
                  <a:schemeClr val="tx1"/>
                </a:solidFill>
                <a:ea typeface="+mn-ea"/>
                <a:cs typeface="+mn-cs"/>
              </a:rPr>
              <a:t>Deliver training and assessment services to other businesses/personnel – to meet obligations imposed by contracts or other non-binding ‘working agreements’ which have been negotiated with other organisations</a:t>
            </a:r>
          </a:p>
          <a:p>
            <a:pPr marL="171450" indent="-171450">
              <a:buFont typeface="Arial" pitchFamily="34" charset="0"/>
              <a:buChar char="•"/>
            </a:pPr>
            <a:r>
              <a:rPr lang="en-AU" sz="1200" kern="1200" dirty="0" smtClean="0">
                <a:solidFill>
                  <a:schemeClr val="tx1"/>
                </a:solidFill>
                <a:ea typeface="+mn-ea"/>
                <a:cs typeface="+mn-cs"/>
              </a:rPr>
              <a:t>Observe the standards prescribed by internal training-related policies which oblige the organisation to deliver certain services and/or achieve nominated outcomes over-and-above those which may be legislated or provided for under any other form of obligation.</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7708822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verifying identified issues stating:</a:t>
            </a:r>
          </a:p>
          <a:p>
            <a:pPr marL="171450" indent="-171450">
              <a:buFont typeface="Arial" pitchFamily="34" charset="0"/>
              <a:buChar char="•"/>
            </a:pPr>
            <a:r>
              <a:rPr lang="en-AU" sz="1200" kern="1200" dirty="0" smtClean="0">
                <a:solidFill>
                  <a:schemeClr val="tx1"/>
                </a:solidFill>
                <a:ea typeface="+mn-ea"/>
                <a:cs typeface="+mn-cs"/>
              </a:rPr>
              <a:t>Once operational features and constraints likely to impact the design and operation of a workplace training system have been identified, the issues need to be verified before the proposal goes any further</a:t>
            </a:r>
          </a:p>
          <a:p>
            <a:pPr marL="171450" indent="-171450">
              <a:buFont typeface="Arial" pitchFamily="34" charset="0"/>
              <a:buChar char="•"/>
            </a:pPr>
            <a:r>
              <a:rPr lang="en-AU" sz="1200" kern="1200" dirty="0" smtClean="0">
                <a:solidFill>
                  <a:schemeClr val="tx1"/>
                </a:solidFill>
                <a:ea typeface="+mn-ea"/>
                <a:cs typeface="+mn-cs"/>
              </a:rPr>
              <a:t>It is important to bear in mind this process necessitates the spending of a large amount of time and it is vital this step is not forgotten in the rush to proceed/get the system in place.</a:t>
            </a:r>
          </a:p>
          <a:p>
            <a:pPr>
              <a:buFont typeface="Arial" pitchFamily="34" charset="0"/>
              <a:buNone/>
            </a:pPr>
            <a:endParaRPr lang="en-AU" noProof="0" dirty="0" smtClean="0"/>
          </a:p>
          <a:p>
            <a:r>
              <a:rPr lang="en-AU" noProof="0" dirty="0" smtClean="0"/>
              <a:t>Trainer indicates </a:t>
            </a:r>
            <a:r>
              <a:rPr lang="en-AU" sz="1200" kern="1200" dirty="0" smtClean="0">
                <a:solidFill>
                  <a:schemeClr val="tx1"/>
                </a:solidFill>
                <a:ea typeface="+mn-ea"/>
                <a:cs typeface="+mn-cs"/>
              </a:rPr>
              <a:t>process seeks to:</a:t>
            </a:r>
          </a:p>
          <a:p>
            <a:pPr marL="171450" indent="-171450">
              <a:buFont typeface="Arial" pitchFamily="34" charset="0"/>
              <a:buChar char="•"/>
            </a:pPr>
            <a:r>
              <a:rPr lang="en-AU" sz="1200" kern="1200" dirty="0" smtClean="0">
                <a:solidFill>
                  <a:schemeClr val="tx1"/>
                </a:solidFill>
                <a:ea typeface="+mn-ea"/>
                <a:cs typeface="+mn-cs"/>
              </a:rPr>
              <a:t>Confirm all relevant features and constraints have been identified – and nothing vital or obvious has been forgotten or over-looked</a:t>
            </a:r>
          </a:p>
          <a:p>
            <a:pPr marL="171450" indent="-171450">
              <a:buFont typeface="Arial" pitchFamily="34" charset="0"/>
              <a:buChar char="•"/>
            </a:pPr>
            <a:r>
              <a:rPr lang="en-AU" sz="1200" kern="1200" dirty="0" smtClean="0">
                <a:solidFill>
                  <a:schemeClr val="tx1"/>
                </a:solidFill>
                <a:ea typeface="+mn-ea"/>
                <a:cs typeface="+mn-cs"/>
              </a:rPr>
              <a:t>Check each identified issue has been assessed – and its potential impact or influence has been correctly analysed</a:t>
            </a:r>
          </a:p>
          <a:p>
            <a:pPr marL="171450" indent="-171450">
              <a:buFont typeface="Arial" pitchFamily="34" charset="0"/>
              <a:buChar char="•"/>
            </a:pPr>
            <a:r>
              <a:rPr lang="en-AU" sz="1200" kern="1200" dirty="0" smtClean="0">
                <a:solidFill>
                  <a:schemeClr val="tx1"/>
                </a:solidFill>
                <a:ea typeface="+mn-ea"/>
                <a:cs typeface="+mn-cs"/>
              </a:rPr>
              <a:t>Validate data, research, findings and conclusions reached – as a result of the research process</a:t>
            </a:r>
          </a:p>
          <a:p>
            <a:pPr marL="171450" indent="-171450">
              <a:buFont typeface="Arial" pitchFamily="34" charset="0"/>
              <a:buChar char="•"/>
            </a:pPr>
            <a:r>
              <a:rPr lang="en-AU" sz="1200" kern="1200" dirty="0" smtClean="0">
                <a:solidFill>
                  <a:schemeClr val="tx1"/>
                </a:solidFill>
                <a:ea typeface="+mn-ea"/>
                <a:cs typeface="+mn-cs"/>
              </a:rPr>
              <a:t>Authenticate the detail of any information which remains dubious, unclear or ambiguous – so there is clarity of understanding about all pertinent aspects of the proposal/situation</a:t>
            </a:r>
          </a:p>
          <a:p>
            <a:pPr marL="171450" indent="-171450">
              <a:buFont typeface="Arial" pitchFamily="34" charset="0"/>
              <a:buChar char="•"/>
            </a:pPr>
            <a:r>
              <a:rPr lang="en-AU" sz="1200" kern="1200" dirty="0" smtClean="0">
                <a:solidFill>
                  <a:schemeClr val="tx1"/>
                </a:solidFill>
                <a:ea typeface="+mn-ea"/>
                <a:cs typeface="+mn-cs"/>
              </a:rPr>
              <a:t>Gain agreement from stakeholders about information obtained – so the analysis of the features and constraints can be approved/ratified by those who know the proposal and have a stake in its success/operation.</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8421276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lists practical aspects</a:t>
            </a:r>
            <a:r>
              <a:rPr lang="en-AU" baseline="0" noProof="0" dirty="0" smtClean="0"/>
              <a:t> </a:t>
            </a:r>
            <a:r>
              <a:rPr lang="en-AU" sz="1200" kern="1200" dirty="0" smtClean="0">
                <a:solidFill>
                  <a:schemeClr val="tx1"/>
                </a:solidFill>
                <a:ea typeface="+mn-ea"/>
                <a:cs typeface="+mn-cs"/>
              </a:rPr>
              <a:t>of verifying the issues:</a:t>
            </a:r>
          </a:p>
          <a:p>
            <a:pPr marL="171450" indent="-171450">
              <a:buFont typeface="Arial" pitchFamily="34" charset="0"/>
              <a:buChar char="•"/>
            </a:pPr>
            <a:r>
              <a:rPr lang="en-AU" sz="1200" kern="1200" dirty="0" smtClean="0">
                <a:solidFill>
                  <a:schemeClr val="tx1"/>
                </a:solidFill>
                <a:ea typeface="+mn-ea"/>
                <a:cs typeface="+mn-cs"/>
              </a:rPr>
              <a:t>Meeting with the research team – to:</a:t>
            </a:r>
          </a:p>
          <a:p>
            <a:pPr>
              <a:buFont typeface="Arial" pitchFamily="34" charset="0"/>
              <a:buNone/>
            </a:pPr>
            <a:endParaRPr lang="en-AU" noProof="0" dirty="0" smtClean="0"/>
          </a:p>
          <a:p>
            <a:pPr>
              <a:buFont typeface="Arial" pitchFamily="34" charset="0"/>
              <a:buNone/>
            </a:pPr>
            <a:r>
              <a:rPr lang="en-AU" noProof="0" dirty="0" smtClean="0"/>
              <a:t>Continue working through TM points and discuss each as necessary.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907139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need to document things:</a:t>
            </a:r>
          </a:p>
          <a:p>
            <a:pPr marL="171450" indent="-171450">
              <a:buFont typeface="Arial" pitchFamily="34" charset="0"/>
              <a:buChar char="•"/>
            </a:pPr>
            <a:r>
              <a:rPr lang="en-AU" sz="1200" kern="1200" dirty="0" smtClean="0">
                <a:solidFill>
                  <a:schemeClr val="tx1"/>
                </a:solidFill>
                <a:ea typeface="+mn-ea"/>
                <a:cs typeface="+mn-cs"/>
              </a:rPr>
              <a:t>Have discussion about why it is necessary to document features and constraints of the workplace training system and how you would go about doing</a:t>
            </a:r>
            <a:r>
              <a:rPr lang="en-AU" sz="1200" kern="1200" baseline="0" dirty="0" smtClean="0">
                <a:solidFill>
                  <a:schemeClr val="tx1"/>
                </a:solidFill>
                <a:ea typeface="+mn-ea"/>
                <a:cs typeface="+mn-cs"/>
              </a:rPr>
              <a:t> this to provide evidence about the training. </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37265983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To alter delivery method at this point, have trainees close their manual and brainstorm the next section</a:t>
            </a:r>
            <a:r>
              <a:rPr lang="en-AU" baseline="0" noProof="0" dirty="0" smtClean="0"/>
              <a:t>.</a:t>
            </a:r>
            <a:endParaRPr lang="en-AU" noProof="0" dirty="0" smtClean="0"/>
          </a:p>
          <a:p>
            <a:pPr marL="171450" indent="-171450">
              <a:buFont typeface="Arial" pitchFamily="34" charset="0"/>
              <a:buChar char="•"/>
            </a:pPr>
            <a:r>
              <a:rPr lang="en-AU" sz="1200" kern="1200" noProof="0" dirty="0" smtClean="0">
                <a:solidFill>
                  <a:schemeClr val="tx1"/>
                </a:solidFill>
                <a:ea typeface="+mn-ea"/>
                <a:cs typeface="+mn-cs"/>
              </a:rPr>
              <a:t>Brainstorm in groups the stakeholders in a training system</a:t>
            </a:r>
          </a:p>
          <a:p>
            <a:pPr marL="171450" indent="-171450">
              <a:buFont typeface="Arial" pitchFamily="34" charset="0"/>
              <a:buChar char="•"/>
            </a:pPr>
            <a:r>
              <a:rPr lang="en-AU" sz="1200" kern="1200" noProof="0" dirty="0" smtClean="0">
                <a:solidFill>
                  <a:schemeClr val="tx1"/>
                </a:solidFill>
                <a:ea typeface="+mn-ea"/>
                <a:cs typeface="+mn-cs"/>
              </a:rPr>
              <a:t>Brainstorm techniques to establish and maintain relationships</a:t>
            </a:r>
            <a:r>
              <a:rPr lang="en-AU" sz="1200" kern="1200" baseline="0" noProof="0" dirty="0" smtClean="0">
                <a:solidFill>
                  <a:schemeClr val="tx1"/>
                </a:solidFill>
                <a:ea typeface="+mn-ea"/>
                <a:cs typeface="+mn-cs"/>
              </a:rPr>
              <a:t> with those stakeholders</a:t>
            </a:r>
          </a:p>
          <a:p>
            <a:pPr marL="171450" indent="-171450">
              <a:buFont typeface="Arial" pitchFamily="34" charset="0"/>
              <a:buChar char="•"/>
            </a:pPr>
            <a:r>
              <a:rPr lang="en-AU" sz="1200" kern="1200" baseline="0" noProof="0" dirty="0" smtClean="0">
                <a:solidFill>
                  <a:schemeClr val="tx1"/>
                </a:solidFill>
                <a:ea typeface="+mn-ea"/>
                <a:cs typeface="+mn-cs"/>
              </a:rPr>
              <a:t>Have groups present their thoughts then compare against manual notes.</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7964506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t>
            </a:r>
            <a:r>
              <a:rPr lang="en-AU" sz="1200" kern="1200" dirty="0" smtClean="0">
                <a:solidFill>
                  <a:schemeClr val="tx1"/>
                </a:solidFill>
                <a:ea typeface="+mn-ea"/>
                <a:cs typeface="+mn-cs"/>
              </a:rPr>
              <a:t>resources required to support the design and implementation of a workplace training system fall into three categories: </a:t>
            </a:r>
          </a:p>
          <a:p>
            <a:pPr marL="171450" indent="-171450">
              <a:buFont typeface="Arial" pitchFamily="34" charset="0"/>
              <a:buChar char="•"/>
            </a:pPr>
            <a:r>
              <a:rPr lang="en-AU" sz="1200" kern="1200" dirty="0" smtClean="0">
                <a:solidFill>
                  <a:schemeClr val="tx1"/>
                </a:solidFill>
                <a:ea typeface="+mn-ea"/>
                <a:cs typeface="+mn-cs"/>
              </a:rPr>
              <a:t>Human resources</a:t>
            </a:r>
          </a:p>
          <a:p>
            <a:pPr marL="171450" indent="-171450">
              <a:buFont typeface="Arial" pitchFamily="34" charset="0"/>
              <a:buChar char="•"/>
            </a:pPr>
            <a:r>
              <a:rPr lang="en-AU" sz="1200" kern="1200" dirty="0" smtClean="0">
                <a:solidFill>
                  <a:schemeClr val="tx1"/>
                </a:solidFill>
                <a:ea typeface="+mn-ea"/>
                <a:cs typeface="+mn-cs"/>
              </a:rPr>
              <a:t>Physical resources</a:t>
            </a:r>
          </a:p>
          <a:p>
            <a:pPr marL="171450" indent="-171450">
              <a:buFont typeface="Arial" pitchFamily="34" charset="0"/>
              <a:buChar char="•"/>
            </a:pPr>
            <a:r>
              <a:rPr lang="en-AU" sz="1200" kern="1200" dirty="0" smtClean="0">
                <a:solidFill>
                  <a:schemeClr val="tx1"/>
                </a:solidFill>
                <a:ea typeface="+mn-ea"/>
                <a:cs typeface="+mn-cs"/>
              </a:rPr>
              <a:t>Financial resources.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0671290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r>
              <a:rPr lang="en-AU" sz="1200" b="1" kern="1200" dirty="0" smtClean="0">
                <a:solidFill>
                  <a:schemeClr val="tx1"/>
                </a:solidFill>
                <a:ea typeface="+mn-ea"/>
                <a:cs typeface="+mn-cs"/>
              </a:rPr>
              <a:t>Human resources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Human resources in this regard refers to staff required to operate the system. These may include:</a:t>
            </a:r>
          </a:p>
          <a:p>
            <a:pPr marL="171450" indent="-171450">
              <a:buFont typeface="Arial" pitchFamily="34" charset="0"/>
              <a:buChar char="•"/>
            </a:pPr>
            <a:r>
              <a:rPr lang="en-AU" sz="1200" kern="1200" dirty="0" smtClean="0">
                <a:solidFill>
                  <a:schemeClr val="tx1"/>
                </a:solidFill>
                <a:ea typeface="+mn-ea"/>
                <a:cs typeface="+mn-cs"/>
              </a:rPr>
              <a:t>Trainers</a:t>
            </a:r>
          </a:p>
          <a:p>
            <a:pPr marL="171450" indent="-171450">
              <a:buFont typeface="Arial" pitchFamily="34" charset="0"/>
              <a:buChar char="•"/>
            </a:pPr>
            <a:r>
              <a:rPr lang="en-AU" sz="1200" kern="1200" dirty="0" smtClean="0">
                <a:solidFill>
                  <a:schemeClr val="tx1"/>
                </a:solidFill>
                <a:ea typeface="+mn-ea"/>
                <a:cs typeface="+mn-cs"/>
              </a:rPr>
              <a:t>Assessors</a:t>
            </a:r>
          </a:p>
          <a:p>
            <a:pPr marL="171450" indent="-171450">
              <a:buFont typeface="Arial" pitchFamily="34" charset="0"/>
              <a:buChar char="•"/>
            </a:pPr>
            <a:r>
              <a:rPr lang="en-AU" sz="1200" kern="1200" dirty="0" smtClean="0">
                <a:solidFill>
                  <a:schemeClr val="tx1"/>
                </a:solidFill>
                <a:ea typeface="+mn-ea"/>
                <a:cs typeface="+mn-cs"/>
              </a:rPr>
              <a:t>Guest speakers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continues to identify human resources: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External professionals/consultants who may be required to assist with training provision or assessment tasks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Course developers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Resource writers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Administration support – to:</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Maintain required records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Undertake traditional office-related functions. </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AU" sz="1200" b="0" i="0" u="none" strike="noStrike" kern="1200" cap="none" spc="0" normalizeH="0" baseline="0" noProof="0" dirty="0" smtClean="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Guest Speaker/s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arranges for people identified on the slide to attend and:</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Discuss their role/contribution</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40758764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pPr>
              <a:buFont typeface="Arial" pitchFamily="34" charset="0"/>
              <a:buNone/>
            </a:pPr>
            <a:r>
              <a:rPr lang="en-AU" b="1" noProof="0" dirty="0" smtClean="0"/>
              <a:t>Physical resources</a:t>
            </a:r>
          </a:p>
          <a:p>
            <a:pPr>
              <a:buFont typeface="Arial" pitchFamily="34" charset="0"/>
              <a:buNone/>
            </a:pPr>
            <a:r>
              <a:rPr lang="en-AU" noProof="0" dirty="0" smtClean="0"/>
              <a:t>Physical resources may include:</a:t>
            </a:r>
          </a:p>
          <a:p>
            <a:pPr marL="171450" indent="-171450">
              <a:buFont typeface="Arial" pitchFamily="34" charset="0"/>
              <a:buChar char="•"/>
            </a:pPr>
            <a:r>
              <a:rPr lang="en-AU" sz="1200" kern="1200" dirty="0" smtClean="0">
                <a:solidFill>
                  <a:schemeClr val="tx1"/>
                </a:solidFill>
                <a:ea typeface="+mn-ea"/>
                <a:cs typeface="+mn-cs"/>
              </a:rPr>
              <a:t>Training delivery equipment – such as a training room with associated training equipment </a:t>
            </a:r>
          </a:p>
          <a:p>
            <a:pPr marL="171450" indent="-171450">
              <a:buFont typeface="Arial" pitchFamily="34" charset="0"/>
              <a:buChar char="•"/>
            </a:pPr>
            <a:r>
              <a:rPr lang="en-AU" sz="1200" kern="1200" dirty="0" smtClean="0">
                <a:solidFill>
                  <a:schemeClr val="tx1"/>
                </a:solidFill>
                <a:ea typeface="+mn-ea"/>
                <a:cs typeface="+mn-cs"/>
              </a:rPr>
              <a:t>Training and assessment resources – which are the materials used to help with delivery of training and conduct of assessments.</a:t>
            </a:r>
          </a:p>
          <a:p>
            <a:pPr>
              <a:buFont typeface="Arial" pitchFamily="34" charset="0"/>
              <a:buChar char="•"/>
            </a:pPr>
            <a:endParaRPr lang="en-AU" sz="1200" kern="1200" noProof="0" dirty="0" smtClean="0">
              <a:solidFill>
                <a:schemeClr val="tx1"/>
              </a:solidFill>
              <a:ea typeface="+mn-ea"/>
              <a:cs typeface="+mn-cs"/>
            </a:endParaRPr>
          </a:p>
          <a:p>
            <a:pPr>
              <a:buFont typeface="Arial" pitchFamily="34" charset="0"/>
              <a:buNone/>
            </a:pPr>
            <a:r>
              <a:rPr lang="en-AU" sz="1200" b="1" kern="1200" noProof="0" dirty="0" smtClean="0">
                <a:solidFill>
                  <a:schemeClr val="tx1"/>
                </a:solidFill>
                <a:ea typeface="+mn-ea"/>
                <a:cs typeface="+mn-cs"/>
              </a:rPr>
              <a:t>Classroom Activity (1) – Class Exercise/s</a:t>
            </a:r>
          </a:p>
          <a:p>
            <a:pPr>
              <a:buFont typeface="Arial" pitchFamily="34" charset="0"/>
              <a:buNone/>
            </a:pPr>
            <a:r>
              <a:rPr lang="en-AU" sz="1200" b="0" kern="1200" noProof="0" dirty="0" smtClean="0">
                <a:solidFill>
                  <a:schemeClr val="tx1"/>
                </a:solidFill>
                <a:ea typeface="+mn-ea"/>
                <a:cs typeface="+mn-cs"/>
              </a:rPr>
              <a:t>Trainer asks class to:</a:t>
            </a:r>
          </a:p>
          <a:p>
            <a:pPr marL="171450" indent="-171450">
              <a:buFont typeface="Arial" pitchFamily="34" charset="0"/>
              <a:buChar char="•"/>
            </a:pPr>
            <a:r>
              <a:rPr lang="en-AU" sz="1200" b="0" kern="1200" noProof="0" dirty="0" smtClean="0">
                <a:solidFill>
                  <a:schemeClr val="tx1"/>
                </a:solidFill>
                <a:ea typeface="+mn-ea"/>
                <a:cs typeface="+mn-cs"/>
              </a:rPr>
              <a:t>Identify examples of training delivery equipment – answers may include:</a:t>
            </a:r>
          </a:p>
          <a:p>
            <a:pPr marL="628650" lvl="1" indent="-171450">
              <a:buFont typeface="Arial" pitchFamily="34" charset="0"/>
              <a:buChar char="•"/>
            </a:pPr>
            <a:r>
              <a:rPr lang="en-AU" sz="1200" kern="1200" dirty="0" smtClean="0">
                <a:solidFill>
                  <a:schemeClr val="tx1"/>
                </a:solidFill>
                <a:ea typeface="+mn-ea"/>
                <a:cs typeface="+mn-cs"/>
              </a:rPr>
              <a:t>Desks/tables and chairs; Computers (personal computers and/or laptops) with software appropriate to the needs of the training; Data projectors; Laser pointers; Overhead projector; Screens (for projection of images); White boards (standard or electric); Printers; Photocopier; TV monitor; DVD player/video machine; Easels for flip charts </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noProof="0" dirty="0" smtClean="0">
                <a:solidFill>
                  <a:schemeClr val="tx1"/>
                </a:solidFill>
                <a:ea typeface="+mn-ea"/>
                <a:cs typeface="+mn-cs"/>
              </a:rPr>
              <a:t>Identify examples of training and assessment resources – answers may include:</a:t>
            </a:r>
          </a:p>
          <a:p>
            <a:pPr marL="628650" lvl="1" indent="-171450">
              <a:buFont typeface="Arial" pitchFamily="34" charset="0"/>
              <a:buChar char="•"/>
            </a:pPr>
            <a:r>
              <a:rPr lang="en-AU" sz="1200" kern="1200" dirty="0" smtClean="0">
                <a:solidFill>
                  <a:schemeClr val="tx1"/>
                </a:solidFill>
                <a:ea typeface="+mn-ea"/>
                <a:cs typeface="+mn-cs"/>
              </a:rPr>
              <a:t>Notes and handouts; Texts, manuals and reference books; Exercise books; Rolls/attendance registers; Consumables – such as paper, general stationery, chalk, whiteboard markers, disks; Assessment items – tests, checklist, question sheets, exercise sheets, case studies, work projects.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noProof="0" dirty="0" smtClean="0">
              <a:solidFill>
                <a:schemeClr val="tx1"/>
              </a:solidFill>
              <a:ea typeface="+mn-ea"/>
              <a:cs typeface="+mn-cs"/>
            </a:endParaRPr>
          </a:p>
          <a:p>
            <a:pPr>
              <a:buFont typeface="Arial" pitchFamily="34" charset="0"/>
              <a:buNone/>
            </a:pPr>
            <a:r>
              <a:rPr lang="en-AU" sz="1200" b="1" kern="1200" noProof="0" dirty="0" smtClean="0">
                <a:solidFill>
                  <a:schemeClr val="tx1"/>
                </a:solidFill>
                <a:ea typeface="+mn-ea"/>
                <a:cs typeface="+mn-cs"/>
              </a:rPr>
              <a:t>Classroom Activity (2) – Sample Items</a:t>
            </a:r>
          </a:p>
          <a:p>
            <a:pPr>
              <a:buFont typeface="Arial" pitchFamily="34" charset="0"/>
              <a:buNone/>
            </a:pPr>
            <a:r>
              <a:rPr lang="en-AU" sz="1200" b="0" kern="1200" noProof="0" dirty="0" smtClean="0">
                <a:solidFill>
                  <a:schemeClr val="tx1"/>
                </a:solidFill>
                <a:ea typeface="+mn-ea"/>
                <a:cs typeface="+mn-cs"/>
              </a:rPr>
              <a:t>Trainer presents samples of identified physical resources to class for their consideration and discussion, demonstrating use of items as necessary.</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23337242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pPr>
              <a:buFont typeface="Arial" pitchFamily="34" charset="0"/>
              <a:buNone/>
            </a:pPr>
            <a:r>
              <a:rPr lang="en-AU" b="1" noProof="0" dirty="0" smtClean="0"/>
              <a:t>Financial resources</a:t>
            </a:r>
          </a:p>
          <a:p>
            <a:r>
              <a:rPr lang="en-AU" sz="1200" kern="1200" dirty="0" smtClean="0">
                <a:solidFill>
                  <a:schemeClr val="tx1"/>
                </a:solidFill>
                <a:ea typeface="+mn-ea"/>
                <a:cs typeface="+mn-cs"/>
              </a:rPr>
              <a:t>Financial resources in this regard refers to the funding available to be spent on training and assessment activities.</a:t>
            </a:r>
          </a:p>
          <a:p>
            <a:r>
              <a:rPr lang="en-AU" sz="1200" kern="1200" dirty="0" smtClean="0">
                <a:solidFill>
                  <a:schemeClr val="tx1"/>
                </a:solidFill>
                <a:ea typeface="+mn-ea"/>
                <a:cs typeface="+mn-cs"/>
              </a:rPr>
              <a:t>Financial resources may be:</a:t>
            </a:r>
          </a:p>
          <a:p>
            <a:r>
              <a:rPr lang="en-AU" sz="1200" kern="1200" dirty="0" smtClean="0">
                <a:solidFill>
                  <a:schemeClr val="tx1"/>
                </a:solidFill>
                <a:ea typeface="+mn-ea"/>
                <a:cs typeface="+mn-cs"/>
              </a:rPr>
              <a:t>Internally based – in the form of:</a:t>
            </a:r>
          </a:p>
          <a:p>
            <a:pPr marL="171450" indent="-171450">
              <a:buFont typeface="Arial" pitchFamily="34" charset="0"/>
              <a:buChar char="•"/>
            </a:pPr>
            <a:r>
              <a:rPr lang="en-AU" sz="1200" kern="1200" dirty="0" smtClean="0">
                <a:solidFill>
                  <a:schemeClr val="tx1"/>
                </a:solidFill>
                <a:ea typeface="+mn-ea"/>
                <a:cs typeface="+mn-cs"/>
              </a:rPr>
              <a:t>Budgets for training and assessment</a:t>
            </a:r>
          </a:p>
          <a:p>
            <a:pPr marL="628650" lvl="1" indent="-171450">
              <a:buFont typeface="Arial" pitchFamily="34" charset="0"/>
              <a:buChar char="•"/>
            </a:pPr>
            <a:r>
              <a:rPr lang="en-AU" sz="1200" kern="1200" dirty="0" smtClean="0">
                <a:solidFill>
                  <a:schemeClr val="tx1"/>
                </a:solidFill>
                <a:ea typeface="+mn-ea"/>
                <a:cs typeface="+mn-cs"/>
              </a:rPr>
              <a:t>Cash from administration</a:t>
            </a:r>
          </a:p>
          <a:p>
            <a:pPr marL="628650" lvl="1" indent="-171450">
              <a:buFont typeface="Arial" pitchFamily="34" charset="0"/>
              <a:buChar char="•"/>
            </a:pPr>
            <a:r>
              <a:rPr lang="en-AU" sz="1200" kern="1200" dirty="0" smtClean="0">
                <a:solidFill>
                  <a:schemeClr val="tx1"/>
                </a:solidFill>
                <a:ea typeface="+mn-ea"/>
                <a:cs typeface="+mn-cs"/>
              </a:rPr>
              <a:t>Fees paid by students/learners</a:t>
            </a:r>
          </a:p>
          <a:p>
            <a:pPr marL="628650" lvl="1" indent="-171450">
              <a:buFont typeface="Arial" pitchFamily="34" charset="0"/>
              <a:buChar char="•"/>
            </a:pPr>
            <a:r>
              <a:rPr lang="en-AU" sz="1200" kern="1200" dirty="0" smtClean="0">
                <a:solidFill>
                  <a:schemeClr val="tx1"/>
                </a:solidFill>
                <a:ea typeface="+mn-ea"/>
                <a:cs typeface="+mn-cs"/>
              </a:rPr>
              <a:t>In the form of ‘product’ (or items) as opposed to the money needed to buy those things</a:t>
            </a:r>
          </a:p>
          <a:p>
            <a:pPr marL="171450" indent="-171450">
              <a:buFont typeface="Arial" pitchFamily="34" charset="0"/>
              <a:buChar char="•"/>
            </a:pPr>
            <a:r>
              <a:rPr lang="en-AU" sz="1200" kern="1200" dirty="0" smtClean="0">
                <a:solidFill>
                  <a:schemeClr val="tx1"/>
                </a:solidFill>
                <a:ea typeface="+mn-ea"/>
                <a:cs typeface="+mn-cs"/>
              </a:rPr>
              <a:t>Externally based – in the form of:</a:t>
            </a:r>
          </a:p>
          <a:p>
            <a:pPr marL="628650" lvl="1" indent="-171450">
              <a:buFont typeface="Arial" pitchFamily="34" charset="0"/>
              <a:buChar char="•"/>
            </a:pPr>
            <a:r>
              <a:rPr lang="en-AU" sz="1200" kern="1200" dirty="0" smtClean="0">
                <a:solidFill>
                  <a:schemeClr val="tx1"/>
                </a:solidFill>
                <a:ea typeface="+mn-ea"/>
                <a:cs typeface="+mn-cs"/>
              </a:rPr>
              <a:t>Co-contributions from partners</a:t>
            </a:r>
          </a:p>
          <a:p>
            <a:pPr marL="628650" lvl="1" indent="-171450">
              <a:buFont typeface="Arial" pitchFamily="34" charset="0"/>
              <a:buChar char="•"/>
            </a:pPr>
            <a:r>
              <a:rPr lang="en-AU" sz="1200" kern="1200" dirty="0" smtClean="0">
                <a:solidFill>
                  <a:schemeClr val="tx1"/>
                </a:solidFill>
                <a:ea typeface="+mn-ea"/>
                <a:cs typeface="+mn-cs"/>
              </a:rPr>
              <a:t>Donations from providers, suppliers, carriers or other industry bodies</a:t>
            </a:r>
          </a:p>
          <a:p>
            <a:pPr marL="628650" lvl="1" indent="-171450">
              <a:buFont typeface="Arial" pitchFamily="34" charset="0"/>
              <a:buChar char="•"/>
            </a:pPr>
            <a:r>
              <a:rPr lang="en-AU" sz="1200" kern="1200" dirty="0" smtClean="0">
                <a:solidFill>
                  <a:schemeClr val="tx1"/>
                </a:solidFill>
                <a:ea typeface="+mn-ea"/>
                <a:cs typeface="+mn-cs"/>
              </a:rPr>
              <a:t>Grants</a:t>
            </a:r>
          </a:p>
          <a:p>
            <a:pPr marL="628650" lvl="1" indent="-171450">
              <a:buFont typeface="Arial" pitchFamily="34" charset="0"/>
              <a:buChar char="•"/>
            </a:pPr>
            <a:r>
              <a:rPr lang="en-AU" sz="1200" kern="1200" dirty="0" smtClean="0">
                <a:solidFill>
                  <a:schemeClr val="tx1"/>
                </a:solidFill>
                <a:ea typeface="+mn-ea"/>
                <a:cs typeface="+mn-cs"/>
              </a:rPr>
              <a:t>Subsidies.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official from</a:t>
            </a:r>
            <a:r>
              <a:rPr lang="en-AU" b="0" baseline="0" noProof="0" dirty="0" smtClean="0"/>
              <a:t> local Training Authority to attend and:</a:t>
            </a:r>
          </a:p>
          <a:p>
            <a:pPr marL="171450" indent="-171450">
              <a:buFont typeface="Arial" pitchFamily="34" charset="0"/>
              <a:buChar char="•"/>
            </a:pPr>
            <a:r>
              <a:rPr lang="en-AU" b="0" noProof="0" dirty="0" smtClean="0"/>
              <a:t>Discuss funding options/support for workplace training systems</a:t>
            </a:r>
          </a:p>
          <a:p>
            <a:pPr marL="171450" indent="-171450">
              <a:buFont typeface="Arial" pitchFamily="34" charset="0"/>
              <a:buChar char="•"/>
            </a:pPr>
            <a:r>
              <a:rPr lang="en-AU" b="0" noProof="0" dirty="0" smtClean="0"/>
              <a:t>Explain how to apply</a:t>
            </a:r>
          </a:p>
          <a:p>
            <a:pPr marL="171450" indent="-171450">
              <a:buFont typeface="Arial" pitchFamily="34" charset="0"/>
              <a:buChar char="•"/>
            </a:pPr>
            <a:r>
              <a:rPr lang="en-AU" b="0" noProof="0" dirty="0" smtClean="0"/>
              <a:t>Detail terms and conditions which apply</a:t>
            </a:r>
          </a:p>
          <a:p>
            <a:pPr marL="171450" indent="-171450">
              <a:buFont typeface="Arial" pitchFamily="34" charset="0"/>
              <a:buChar char="•"/>
            </a:pPr>
            <a:r>
              <a:rPr lang="en-AU" b="0" noProof="0" dirty="0" smtClean="0"/>
              <a:t>Differentiate between grants and subsidies.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11776546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how to determine availability of resources:</a:t>
            </a:r>
          </a:p>
          <a:p>
            <a:pPr marL="171450" indent="-171450">
              <a:buFont typeface="Arial" pitchFamily="34" charset="0"/>
              <a:buChar char="•"/>
            </a:pPr>
            <a:r>
              <a:rPr lang="en-AU" sz="1200" kern="1200" dirty="0" smtClean="0">
                <a:solidFill>
                  <a:schemeClr val="tx1"/>
                </a:solidFill>
                <a:ea typeface="+mn-ea"/>
                <a:cs typeface="+mn-cs"/>
              </a:rPr>
              <a:t>Talking with management – to identify:</a:t>
            </a:r>
          </a:p>
          <a:p>
            <a:pPr marL="628650" lvl="1" indent="-171450">
              <a:buFont typeface="Arial" pitchFamily="34" charset="0"/>
              <a:buChar char="•"/>
            </a:pPr>
            <a:r>
              <a:rPr lang="en-AU" sz="1200" kern="1200" dirty="0" smtClean="0">
                <a:solidFill>
                  <a:schemeClr val="tx1"/>
                </a:solidFill>
                <a:ea typeface="+mn-ea"/>
                <a:cs typeface="+mn-cs"/>
              </a:rPr>
              <a:t>What they are prepared to spend/authorise</a:t>
            </a:r>
          </a:p>
          <a:p>
            <a:pPr marL="628650" lvl="1" indent="-171450">
              <a:buFont typeface="Arial" pitchFamily="34" charset="0"/>
              <a:buChar char="•"/>
            </a:pPr>
            <a:r>
              <a:rPr lang="en-AU" sz="1200" kern="1200" dirty="0" smtClean="0">
                <a:solidFill>
                  <a:schemeClr val="tx1"/>
                </a:solidFill>
                <a:ea typeface="+mn-ea"/>
                <a:cs typeface="+mn-cs"/>
              </a:rPr>
              <a:t>When it will be available</a:t>
            </a:r>
          </a:p>
          <a:p>
            <a:pPr marL="628650" lvl="1" indent="-171450">
              <a:buFont typeface="Arial" pitchFamily="34" charset="0"/>
              <a:buChar char="•"/>
            </a:pPr>
            <a:r>
              <a:rPr lang="en-AU" sz="1200" kern="1200" dirty="0" smtClean="0">
                <a:solidFill>
                  <a:schemeClr val="tx1"/>
                </a:solidFill>
                <a:ea typeface="+mn-ea"/>
                <a:cs typeface="+mn-cs"/>
              </a:rPr>
              <a:t>How it can be accessed</a:t>
            </a:r>
          </a:p>
          <a:p>
            <a:pPr marL="171450" indent="-171450">
              <a:buFont typeface="Arial" pitchFamily="34" charset="0"/>
              <a:buChar char="•"/>
            </a:pPr>
            <a:r>
              <a:rPr lang="en-AU" sz="1200" kern="1200" dirty="0" smtClean="0">
                <a:solidFill>
                  <a:schemeClr val="tx1"/>
                </a:solidFill>
                <a:ea typeface="+mn-ea"/>
                <a:cs typeface="+mn-cs"/>
              </a:rPr>
              <a:t>Speaking with the Finance Department/Head office – to identify:</a:t>
            </a:r>
          </a:p>
          <a:p>
            <a:pPr marL="628650" lvl="1" indent="-171450">
              <a:buFont typeface="Arial" pitchFamily="34" charset="0"/>
              <a:buChar char="•"/>
            </a:pPr>
            <a:r>
              <a:rPr lang="en-AU" sz="1200" kern="1200" dirty="0" smtClean="0">
                <a:solidFill>
                  <a:schemeClr val="tx1"/>
                </a:solidFill>
                <a:ea typeface="+mn-ea"/>
                <a:cs typeface="+mn-cs"/>
              </a:rPr>
              <a:t>What has been allocated/budgeted for the purposes of training and assessment</a:t>
            </a:r>
          </a:p>
          <a:p>
            <a:pPr marL="628650" lvl="1" indent="-171450">
              <a:buFont typeface="Arial" pitchFamily="34" charset="0"/>
              <a:buChar char="•"/>
            </a:pPr>
            <a:r>
              <a:rPr lang="en-AU" sz="1200" kern="1200" dirty="0" smtClean="0">
                <a:solidFill>
                  <a:schemeClr val="tx1"/>
                </a:solidFill>
                <a:ea typeface="+mn-ea"/>
                <a:cs typeface="+mn-cs"/>
              </a:rPr>
              <a:t>Requirements for spending same – such as need for quotations for amounts over a certain value, requirement to purchase from preferred suppliers, limits on individual spending ceilings/limits</a:t>
            </a:r>
          </a:p>
          <a:p>
            <a:pPr marL="171450" indent="-171450">
              <a:buFont typeface="Arial" pitchFamily="34" charset="0"/>
              <a:buChar char="•"/>
            </a:pPr>
            <a:r>
              <a:rPr lang="en-AU" sz="1200" kern="1200" dirty="0" smtClean="0">
                <a:solidFill>
                  <a:schemeClr val="tx1"/>
                </a:solidFill>
                <a:ea typeface="+mn-ea"/>
                <a:cs typeface="+mn-cs"/>
              </a:rPr>
              <a:t>Contacting industry bodies and organisations which represent the industry – to identify if they have:</a:t>
            </a:r>
          </a:p>
          <a:p>
            <a:pPr marL="628650" lvl="1" indent="-171450">
              <a:buFont typeface="Arial" pitchFamily="34" charset="0"/>
              <a:buChar char="•"/>
            </a:pPr>
            <a:r>
              <a:rPr lang="en-AU" sz="1200" kern="1200" dirty="0" smtClean="0">
                <a:solidFill>
                  <a:schemeClr val="tx1"/>
                </a:solidFill>
                <a:ea typeface="+mn-ea"/>
                <a:cs typeface="+mn-cs"/>
              </a:rPr>
              <a:t>Grants or subsidies available</a:t>
            </a:r>
          </a:p>
          <a:p>
            <a:pPr marL="628650" lvl="1" indent="-171450">
              <a:buFont typeface="Arial" pitchFamily="34" charset="0"/>
              <a:buChar char="•"/>
            </a:pPr>
            <a:r>
              <a:rPr lang="en-AU" sz="1200" kern="1200" dirty="0" smtClean="0">
                <a:solidFill>
                  <a:schemeClr val="tx1"/>
                </a:solidFill>
                <a:ea typeface="+mn-ea"/>
                <a:cs typeface="+mn-cs"/>
              </a:rPr>
              <a:t>Resources which can be borrowed or used.</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r>
              <a:rPr lang="en-AU" sz="1200" u="sng" kern="1200" dirty="0" smtClean="0">
                <a:solidFill>
                  <a:schemeClr val="tx1"/>
                </a:solidFill>
                <a:ea typeface="+mn-ea"/>
                <a:cs typeface="+mn-cs"/>
                <a:hlinkClick r:id="rId3"/>
              </a:rPr>
              <a:t>http://www.serviceskills.com.au/rtos/support-materials</a:t>
            </a:r>
            <a:r>
              <a:rPr lang="en-AU" sz="1200" kern="1200" dirty="0" smtClean="0">
                <a:solidFill>
                  <a:schemeClr val="tx1"/>
                </a:solidFill>
                <a:ea typeface="+mn-ea"/>
                <a:cs typeface="+mn-cs"/>
              </a:rPr>
              <a:t> - Support materials</a:t>
            </a:r>
          </a:p>
          <a:p>
            <a:r>
              <a:rPr lang="en-AU" sz="1200" u="sng" kern="1200" dirty="0" smtClean="0">
                <a:solidFill>
                  <a:schemeClr val="tx1"/>
                </a:solidFill>
                <a:ea typeface="+mn-ea"/>
                <a:cs typeface="+mn-cs"/>
                <a:hlinkClick r:id="rId4"/>
              </a:rPr>
              <a:t>https://shop.tafesa.edu.au/LOR/Home.aspx</a:t>
            </a:r>
            <a:r>
              <a:rPr lang="en-AU" sz="1200" kern="1200" dirty="0" smtClean="0">
                <a:solidFill>
                  <a:schemeClr val="tx1"/>
                </a:solidFill>
                <a:ea typeface="+mn-ea"/>
                <a:cs typeface="+mn-cs"/>
              </a:rPr>
              <a:t> - TAFEshop training resources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3946343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how to determine availability of resources:</a:t>
            </a:r>
          </a:p>
          <a:p>
            <a:pPr marL="171450" indent="-171450">
              <a:buFont typeface="Arial" pitchFamily="34" charset="0"/>
              <a:buChar char="•"/>
            </a:pPr>
            <a:r>
              <a:rPr lang="en-AU" sz="1200" kern="1200" dirty="0" smtClean="0">
                <a:solidFill>
                  <a:schemeClr val="tx1"/>
                </a:solidFill>
                <a:ea typeface="+mn-ea"/>
                <a:cs typeface="+mn-cs"/>
              </a:rPr>
              <a:t>Discussing resourcing of training with government agencies – to determine if they have:</a:t>
            </a:r>
          </a:p>
          <a:p>
            <a:pPr marL="628650" lvl="1" indent="-171450">
              <a:buFont typeface="Arial" pitchFamily="34" charset="0"/>
              <a:buChar char="•"/>
            </a:pPr>
            <a:r>
              <a:rPr lang="en-AU" sz="1200" kern="1200" dirty="0" smtClean="0">
                <a:solidFill>
                  <a:schemeClr val="tx1"/>
                </a:solidFill>
                <a:ea typeface="+mn-ea"/>
                <a:cs typeface="+mn-cs"/>
              </a:rPr>
              <a:t>Grants </a:t>
            </a:r>
          </a:p>
          <a:p>
            <a:pPr marL="628650" lvl="1" indent="-171450">
              <a:buFont typeface="Arial" pitchFamily="34" charset="0"/>
              <a:buChar char="•"/>
            </a:pPr>
            <a:r>
              <a:rPr lang="en-AU" sz="1200" kern="1200" dirty="0" smtClean="0">
                <a:solidFill>
                  <a:schemeClr val="tx1"/>
                </a:solidFill>
                <a:ea typeface="+mn-ea"/>
                <a:cs typeface="+mn-cs"/>
              </a:rPr>
              <a:t>Subsidies </a:t>
            </a:r>
          </a:p>
          <a:p>
            <a:pPr marL="628650" lvl="1" indent="-171450">
              <a:buFont typeface="Arial" pitchFamily="34" charset="0"/>
              <a:buChar char="•"/>
            </a:pPr>
            <a:r>
              <a:rPr lang="en-AU" sz="1200" kern="1200" dirty="0" smtClean="0">
                <a:solidFill>
                  <a:schemeClr val="tx1"/>
                </a:solidFill>
                <a:ea typeface="+mn-ea"/>
                <a:cs typeface="+mn-cs"/>
              </a:rPr>
              <a:t>Taxation concessions </a:t>
            </a:r>
          </a:p>
          <a:p>
            <a:pPr marL="628650" lvl="1" indent="-171450">
              <a:buFont typeface="Arial" pitchFamily="34" charset="0"/>
              <a:buChar char="•"/>
            </a:pPr>
            <a:r>
              <a:rPr lang="en-AU" sz="1200" kern="1200" dirty="0" smtClean="0">
                <a:solidFill>
                  <a:schemeClr val="tx1"/>
                </a:solidFill>
                <a:ea typeface="+mn-ea"/>
                <a:cs typeface="+mn-cs"/>
              </a:rPr>
              <a:t>Special schemes to support vocational and/or workplace training</a:t>
            </a:r>
          </a:p>
          <a:p>
            <a:pPr marL="171450" indent="-171450">
              <a:buFont typeface="Arial" pitchFamily="34" charset="0"/>
              <a:buChar char="•"/>
            </a:pPr>
            <a:r>
              <a:rPr lang="en-AU" sz="1200" kern="1200" dirty="0" smtClean="0">
                <a:solidFill>
                  <a:schemeClr val="tx1"/>
                </a:solidFill>
                <a:ea typeface="+mn-ea"/>
                <a:cs typeface="+mn-cs"/>
              </a:rPr>
              <a:t>Asking third parties for assistance – in relation to possibilities such as:</a:t>
            </a:r>
          </a:p>
          <a:p>
            <a:pPr marL="628650" lvl="1" indent="-171450">
              <a:buFont typeface="Arial" pitchFamily="34" charset="0"/>
              <a:buChar char="•"/>
            </a:pPr>
            <a:r>
              <a:rPr lang="en-AU" sz="1200" kern="1200" dirty="0" smtClean="0">
                <a:solidFill>
                  <a:schemeClr val="tx1"/>
                </a:solidFill>
                <a:ea typeface="+mn-ea"/>
                <a:cs typeface="+mn-cs"/>
              </a:rPr>
              <a:t>Donations of product and/or equipment</a:t>
            </a:r>
          </a:p>
          <a:p>
            <a:pPr marL="628650" lvl="1" indent="-171450">
              <a:buFont typeface="Arial" pitchFamily="34" charset="0"/>
              <a:buChar char="•"/>
            </a:pPr>
            <a:r>
              <a:rPr lang="en-AU" sz="1200" kern="1200" dirty="0" smtClean="0">
                <a:solidFill>
                  <a:schemeClr val="tx1"/>
                </a:solidFill>
                <a:ea typeface="+mn-ea"/>
                <a:cs typeface="+mn-cs"/>
              </a:rPr>
              <a:t>Discounts for training-related purchases</a:t>
            </a:r>
          </a:p>
          <a:p>
            <a:pPr marL="628650" lvl="1" indent="-171450">
              <a:buFont typeface="Arial" pitchFamily="34" charset="0"/>
              <a:buChar char="•"/>
            </a:pPr>
            <a:r>
              <a:rPr lang="en-AU" sz="1200" kern="1200" dirty="0" smtClean="0">
                <a:solidFill>
                  <a:schemeClr val="tx1"/>
                </a:solidFill>
                <a:ea typeface="+mn-ea"/>
                <a:cs typeface="+mn-cs"/>
              </a:rPr>
              <a:t>Loans of equipment and items</a:t>
            </a:r>
          </a:p>
          <a:p>
            <a:pPr marL="628650" lvl="1" indent="-171450">
              <a:buFont typeface="Arial" pitchFamily="34" charset="0"/>
              <a:buChar char="•"/>
            </a:pPr>
            <a:r>
              <a:rPr lang="en-AU" sz="1200" kern="1200" dirty="0" smtClean="0">
                <a:solidFill>
                  <a:schemeClr val="tx1"/>
                </a:solidFill>
                <a:ea typeface="+mn-ea"/>
                <a:cs typeface="+mn-cs"/>
              </a:rPr>
              <a:t>Providing guest speakers and other training-specific expertise.</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r>
              <a:rPr lang="en-AU" sz="1200" u="sng" kern="1200" dirty="0" smtClean="0">
                <a:solidFill>
                  <a:schemeClr val="tx1"/>
                </a:solidFill>
                <a:ea typeface="+mn-ea"/>
                <a:cs typeface="+mn-cs"/>
                <a:hlinkClick r:id="rId3"/>
              </a:rPr>
              <a:t>http://www.tourismtraining.com.au/contact/contact.html</a:t>
            </a:r>
            <a:r>
              <a:rPr lang="en-AU" sz="1200" kern="1200" dirty="0" smtClean="0">
                <a:solidFill>
                  <a:schemeClr val="tx1"/>
                </a:solidFill>
                <a:ea typeface="+mn-ea"/>
                <a:cs typeface="+mn-cs"/>
              </a:rPr>
              <a:t> - Tourism Training Australia</a:t>
            </a:r>
          </a:p>
          <a:p>
            <a:r>
              <a:rPr lang="en-AU" sz="1200" u="sng" kern="1200" dirty="0" smtClean="0">
                <a:solidFill>
                  <a:schemeClr val="tx1"/>
                </a:solidFill>
                <a:ea typeface="+mn-ea"/>
                <a:cs typeface="+mn-cs"/>
                <a:hlinkClick r:id="rId4"/>
              </a:rPr>
              <a:t>http://www.tesaustralia.com/article.aspx?storyCode=6278198</a:t>
            </a:r>
            <a:r>
              <a:rPr lang="en-AU" sz="1200" kern="1200" dirty="0" smtClean="0">
                <a:solidFill>
                  <a:schemeClr val="tx1"/>
                </a:solidFill>
                <a:ea typeface="+mn-ea"/>
                <a:cs typeface="+mn-cs"/>
              </a:rPr>
              <a:t> – Travel, tourism and leisure teaching resources</a:t>
            </a:r>
          </a:p>
          <a:p>
            <a:r>
              <a:rPr lang="en-AU" sz="1200" u="sng" kern="1200" dirty="0" smtClean="0">
                <a:solidFill>
                  <a:schemeClr val="tx1"/>
                </a:solidFill>
                <a:ea typeface="+mn-ea"/>
                <a:cs typeface="+mn-cs"/>
                <a:hlinkClick r:id="rId5"/>
              </a:rPr>
              <a:t>http://www.tourism.australia.com/contact-us/student-resources.aspx</a:t>
            </a:r>
            <a:r>
              <a:rPr lang="en-AU" sz="1200" kern="1200" dirty="0" smtClean="0">
                <a:solidFill>
                  <a:schemeClr val="tx1"/>
                </a:solidFill>
                <a:ea typeface="+mn-ea"/>
                <a:cs typeface="+mn-cs"/>
              </a:rPr>
              <a:t> - Student resources: Tourism Australia</a:t>
            </a:r>
          </a:p>
          <a:p>
            <a:endParaRPr lang="en-AU" sz="1200" b="0" kern="1200" noProof="0" dirty="0" smtClean="0">
              <a:solidFill>
                <a:schemeClr val="tx1"/>
              </a:solidFil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Ensure all work projects have been completed and handed into trainer ensuring cover page details are attached for assessment tracking</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Review the summary page for Element 1 to confirm what has been completed for this element.</a:t>
            </a:r>
          </a:p>
          <a:p>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41216135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7912483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is there a need to align resources with need?</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How can this be achieved?</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a budget and what is its role in relation to workplace training?</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options are there for obtaining and/or generating training and assessment resources?</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40984004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Have a group discussion about allocating</a:t>
            </a:r>
            <a:r>
              <a:rPr lang="en-AU" baseline="0" noProof="0" dirty="0" smtClean="0"/>
              <a:t> human resources, having a suitably qualified and experienced person, delivery schedule, availability and so on. Refer to the TM notes and encourage input from trainees.</a:t>
            </a:r>
          </a:p>
          <a:p>
            <a:pPr>
              <a:buFont typeface="Arial" pitchFamily="34" charset="0"/>
              <a:buNone/>
            </a:pPr>
            <a:endParaRPr lang="en-AU" sz="1200" kern="1200" baseline="0" noProof="0" dirty="0" smtClean="0">
              <a:solidFill>
                <a:schemeClr val="tx1"/>
              </a:solidFill>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Guest Speaker</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arranges for Training Manager from a workplace training system to attend and:</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Discuss staffing for workplace systems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Identify requirements for same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Provide advice in relation to staffing.</a:t>
            </a:r>
          </a:p>
          <a:p>
            <a:pPr>
              <a:buFont typeface="Arial" pitchFamily="34" charset="0"/>
              <a:buNone/>
            </a:pP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33620364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Brainstorm hat comes to mind with</a:t>
            </a:r>
            <a:r>
              <a:rPr lang="en-AU" baseline="0" noProof="0" dirty="0" smtClean="0"/>
              <a:t> these three topics.</a:t>
            </a:r>
          </a:p>
          <a:p>
            <a:pPr marL="171450" indent="-171450">
              <a:buFont typeface="Arial" panose="020B0604020202020204" pitchFamily="34" charset="0"/>
              <a:buChar char="•"/>
            </a:pPr>
            <a:r>
              <a:rPr lang="en-AU" sz="1200" kern="1200" baseline="0" noProof="0" dirty="0" smtClean="0">
                <a:solidFill>
                  <a:schemeClr val="tx1"/>
                </a:solidFill>
                <a:ea typeface="+mn-ea"/>
                <a:cs typeface="+mn-cs"/>
              </a:rPr>
              <a:t>Consider access to items</a:t>
            </a:r>
          </a:p>
          <a:p>
            <a:pPr marL="171450" indent="-171450">
              <a:buFont typeface="Arial" panose="020B0604020202020204" pitchFamily="34" charset="0"/>
              <a:buChar char="•"/>
            </a:pPr>
            <a:r>
              <a:rPr lang="en-AU" sz="1200" kern="1200" baseline="0" noProof="0" dirty="0" smtClean="0">
                <a:solidFill>
                  <a:schemeClr val="tx1"/>
                </a:solidFill>
                <a:ea typeface="+mn-ea"/>
                <a:cs typeface="+mn-cs"/>
              </a:rPr>
              <a:t>Safety</a:t>
            </a:r>
          </a:p>
          <a:p>
            <a:pPr marL="171450" indent="-171450">
              <a:buFont typeface="Arial" panose="020B0604020202020204" pitchFamily="34" charset="0"/>
              <a:buChar char="•"/>
            </a:pPr>
            <a:r>
              <a:rPr lang="en-AU" sz="1200" kern="1200" baseline="0" noProof="0" dirty="0" smtClean="0">
                <a:solidFill>
                  <a:schemeClr val="tx1"/>
                </a:solidFill>
                <a:ea typeface="+mn-ea"/>
                <a:cs typeface="+mn-cs"/>
              </a:rPr>
              <a:t>Availability – do they need to be ordered/printed/replaced?</a:t>
            </a:r>
          </a:p>
          <a:p>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273707428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Discuss financial resources and training needs.</a:t>
            </a:r>
          </a:p>
          <a:p>
            <a:pPr>
              <a:buFont typeface="Arial" pitchFamily="34" charset="0"/>
              <a:buNone/>
            </a:pPr>
            <a:endParaRPr lang="en-AU" noProof="0" dirty="0" smtClean="0"/>
          </a:p>
          <a:p>
            <a:pPr>
              <a:buFont typeface="Arial" pitchFamily="34" charset="0"/>
              <a:buNone/>
            </a:pPr>
            <a:r>
              <a:rPr lang="en-AU" sz="1200" kern="1200" noProof="0" dirty="0" smtClean="0">
                <a:solidFill>
                  <a:schemeClr val="tx1"/>
                </a:solidFill>
                <a:ea typeface="+mn-ea"/>
                <a:cs typeface="+mn-cs"/>
              </a:rPr>
              <a:t>What needs to be paid and accounted for.</a:t>
            </a:r>
            <a:endParaRPr lang="en-AU" sz="1200" kern="1200" dirty="0" smtClean="0">
              <a:solidFill>
                <a:schemeClr val="tx1"/>
              </a:solidFill>
              <a:ea typeface="+mn-ea"/>
              <a:cs typeface="+mn-cs"/>
            </a:endParaRPr>
          </a:p>
          <a:p>
            <a:pPr>
              <a:buFont typeface="Arial" pitchFamily="34" charset="0"/>
              <a:buNone/>
            </a:pPr>
            <a:endParaRPr lang="en-AU" noProof="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Guest Speaker</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arranges for Finance Manager from a relevant business to attend and:</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Discuss allocation of funds to the workplace training system</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Provide sample budget and related financial documentation</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Give advice regarding funding allocation.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41295603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potential external funding sources:</a:t>
            </a:r>
          </a:p>
          <a:p>
            <a:pPr marL="171450" indent="-171450">
              <a:buFont typeface="Arial" pitchFamily="34" charset="0"/>
              <a:buChar char="•"/>
            </a:pPr>
            <a:r>
              <a:rPr lang="en-AU" sz="1200" kern="1200" dirty="0" smtClean="0">
                <a:solidFill>
                  <a:schemeClr val="tx1"/>
                </a:solidFill>
                <a:ea typeface="+mn-ea"/>
                <a:cs typeface="+mn-cs"/>
              </a:rPr>
              <a:t>Other departments within the organisation</a:t>
            </a:r>
          </a:p>
          <a:p>
            <a:pPr marL="171450" indent="-171450">
              <a:buFont typeface="Arial" pitchFamily="34" charset="0"/>
              <a:buChar char="•"/>
            </a:pPr>
            <a:r>
              <a:rPr lang="en-AU" sz="1200" kern="1200" dirty="0" smtClean="0">
                <a:solidFill>
                  <a:schemeClr val="tx1"/>
                </a:solidFill>
                <a:ea typeface="+mn-ea"/>
                <a:cs typeface="+mn-cs"/>
              </a:rPr>
              <a:t>Head office</a:t>
            </a:r>
          </a:p>
          <a:p>
            <a:pPr marL="171450" indent="-171450">
              <a:buFont typeface="Arial" pitchFamily="34" charset="0"/>
              <a:buChar char="•"/>
            </a:pPr>
            <a:r>
              <a:rPr lang="en-AU" sz="1200" kern="1200" dirty="0" smtClean="0">
                <a:solidFill>
                  <a:schemeClr val="tx1"/>
                </a:solidFill>
                <a:ea typeface="+mn-ea"/>
                <a:cs typeface="+mn-cs"/>
              </a:rPr>
              <a:t>Sub-agencies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Suppliers, providers, carriers or destination operators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Government agencies </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Occasional funding made available through industry bodies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Learners.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39183894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ea typeface="+mn-ea"/>
                <a:cs typeface="+mn-cs"/>
              </a:rPr>
              <a:t>issues to address when considering budgets for a workplace training systems will depend on the accounting system being used by the organisation as well as related accounting issues highlighting the following is an indicative list of topics which need to be taken into account when initially preparing budgets for the proposal:</a:t>
            </a:r>
          </a:p>
          <a:p>
            <a:pPr marL="171450" indent="-171450">
              <a:buFont typeface="Arial" pitchFamily="34" charset="0"/>
              <a:buChar char="•"/>
            </a:pPr>
            <a:r>
              <a:rPr lang="en-AU" sz="1200" kern="1200" dirty="0" smtClean="0">
                <a:solidFill>
                  <a:schemeClr val="tx1"/>
                </a:solidFill>
                <a:ea typeface="+mn-ea"/>
                <a:cs typeface="+mn-cs"/>
              </a:rPr>
              <a:t>Access overall budgets and plans for the business – so the budgets for the training system can be put into a proper context against all other organisational budgets/financial obligations and goals</a:t>
            </a:r>
          </a:p>
          <a:p>
            <a:pPr marL="171450" indent="-171450">
              <a:buFont typeface="Arial" pitchFamily="34" charset="0"/>
              <a:buChar char="•"/>
            </a:pPr>
            <a:r>
              <a:rPr lang="en-AU" sz="1200" kern="1200" dirty="0" smtClean="0">
                <a:solidFill>
                  <a:schemeClr val="tx1"/>
                </a:solidFill>
                <a:ea typeface="+mn-ea"/>
                <a:cs typeface="+mn-cs"/>
              </a:rPr>
              <a:t>Name likely or known income sources which have been identified as part of the research process – which will require development of revenue budgets</a:t>
            </a:r>
          </a:p>
          <a:p>
            <a:pPr marL="171450" indent="-171450">
              <a:buFont typeface="Arial" pitchFamily="34" charset="0"/>
              <a:buChar char="•"/>
            </a:pPr>
            <a:r>
              <a:rPr lang="en-AU" sz="1200" kern="1200" dirty="0" smtClean="0">
                <a:solidFill>
                  <a:schemeClr val="tx1"/>
                </a:solidFill>
                <a:ea typeface="+mn-ea"/>
                <a:cs typeface="+mn-cs"/>
              </a:rPr>
              <a:t>Determine classification of expenditure budgets – to address expected costs for the initiative</a:t>
            </a:r>
          </a:p>
          <a:p>
            <a:pPr>
              <a:buFont typeface="Arial" pitchFamily="34" charset="0"/>
              <a:buNone/>
            </a:pPr>
            <a:endParaRPr lang="en-AU" noProof="0" dirty="0" smtClean="0"/>
          </a:p>
          <a:p>
            <a:pPr>
              <a:buFont typeface="Arial" pitchFamily="34" charset="0"/>
              <a:buNone/>
            </a:pPr>
            <a:r>
              <a:rPr lang="en-AU" noProof="0" dirty="0" smtClean="0"/>
              <a:t>Continue working through TM points and discuss each as necessary.</a:t>
            </a:r>
            <a:endParaRPr lang="en-AU" sz="1200" kern="1200" dirty="0" smtClean="0">
              <a:solidFill>
                <a:schemeClr val="tx1"/>
              </a:solidFill>
              <a:ea typeface="+mn-ea"/>
              <a:cs typeface="+mn-cs"/>
            </a:endParaRPr>
          </a:p>
          <a:p>
            <a:pPr>
              <a:buFont typeface="Arial" pitchFamily="34" charset="0"/>
              <a:buChar char="•"/>
            </a:pPr>
            <a:endParaRPr lang="en-AU" sz="1200" kern="1200" dirty="0" smtClean="0">
              <a:solidFill>
                <a:schemeClr val="tx1"/>
              </a:solidFill>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Guest Speaker</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arranges for Financial Manager of relevant business to attend and:</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Discuss budget negotiations for training budget</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Explain allocations of funds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Provide sample budget documents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Give advice for training budgets.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AU" sz="1200" b="0" i="0" u="none" strike="noStrike" kern="1200" cap="none" spc="0" normalizeH="0" baseline="0" noProof="0" dirty="0" smtClean="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Handouts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distributes and discusses sample budget manuals, and copies of budget lines and codes.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AU" sz="1200" b="0" i="0" u="none" strike="noStrike" kern="1200" cap="none" spc="0" normalizeH="0" baseline="0" noProof="0" dirty="0" smtClean="0">
              <a:ln>
                <a:noFill/>
              </a:ln>
              <a:solidFill>
                <a:prstClr val="black"/>
              </a:solidFill>
              <a:effectLst/>
              <a:uLnTx/>
              <a:uFillTx/>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29301801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illustrates general considerations relating to expenditure budgets noting there must be consideration of:</a:t>
            </a:r>
          </a:p>
          <a:p>
            <a:pPr marL="171450" indent="-171450">
              <a:buFont typeface="Arial" pitchFamily="34" charset="0"/>
              <a:buChar char="•"/>
            </a:pPr>
            <a:r>
              <a:rPr lang="en-AU" sz="1200" kern="1200" dirty="0" smtClean="0">
                <a:solidFill>
                  <a:schemeClr val="tx1"/>
                </a:solidFill>
                <a:ea typeface="+mn-ea"/>
                <a:cs typeface="+mn-cs"/>
              </a:rPr>
              <a:t>Development costs – in terms of costs involved in:</a:t>
            </a:r>
          </a:p>
          <a:p>
            <a:pPr marL="628650" lvl="1" indent="-171450">
              <a:buFont typeface="Arial" pitchFamily="34" charset="0"/>
              <a:buChar char="•"/>
            </a:pPr>
            <a:r>
              <a:rPr lang="en-AU" sz="1200" kern="1200" dirty="0" smtClean="0">
                <a:solidFill>
                  <a:schemeClr val="tx1"/>
                </a:solidFill>
                <a:ea typeface="+mn-ea"/>
                <a:cs typeface="+mn-cs"/>
              </a:rPr>
              <a:t>Establishing training facilities and physical resources</a:t>
            </a:r>
          </a:p>
          <a:p>
            <a:pPr marL="628650" lvl="1" indent="-171450">
              <a:buFont typeface="Arial" pitchFamily="34" charset="0"/>
              <a:buChar char="•"/>
            </a:pPr>
            <a:r>
              <a:rPr lang="en-AU" sz="1200" kern="1200" dirty="0" smtClean="0">
                <a:solidFill>
                  <a:schemeClr val="tx1"/>
                </a:solidFill>
                <a:ea typeface="+mn-ea"/>
                <a:cs typeface="+mn-cs"/>
              </a:rPr>
              <a:t>Creating the training infrastructure within the organisation</a:t>
            </a:r>
          </a:p>
          <a:p>
            <a:pPr marL="628650" lvl="1" indent="-171450">
              <a:buFont typeface="Arial" pitchFamily="34" charset="0"/>
              <a:buChar char="•"/>
            </a:pPr>
            <a:r>
              <a:rPr lang="en-AU" sz="1200" kern="1200" dirty="0" smtClean="0">
                <a:solidFill>
                  <a:schemeClr val="tx1"/>
                </a:solidFill>
                <a:ea typeface="+mn-ea"/>
                <a:cs typeface="+mn-cs"/>
              </a:rPr>
              <a:t>Training and preparing personnel to operate as trainers and assessors</a:t>
            </a:r>
          </a:p>
          <a:p>
            <a:pPr marL="628650" lvl="1" indent="-171450">
              <a:buFont typeface="Arial" pitchFamily="34" charset="0"/>
              <a:buChar char="•"/>
            </a:pPr>
            <a:r>
              <a:rPr lang="en-AU" sz="1200" kern="1200" dirty="0" smtClean="0">
                <a:solidFill>
                  <a:schemeClr val="tx1"/>
                </a:solidFill>
                <a:ea typeface="+mn-ea"/>
                <a:cs typeface="+mn-cs"/>
              </a:rPr>
              <a:t>Obtaining training resources and materials. </a:t>
            </a:r>
          </a:p>
          <a:p>
            <a:pPr>
              <a:buFont typeface="Arial" pitchFamily="34" charset="0"/>
              <a:buNone/>
            </a:pPr>
            <a:endParaRPr lang="en-AU" noProof="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Handout</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distributes and discusses sample reward and recognition scheme attaching to a workplace training system.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3813785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considerations </a:t>
            </a:r>
            <a:r>
              <a:rPr lang="en-AU" sz="1200" kern="1200" dirty="0" smtClean="0">
                <a:solidFill>
                  <a:schemeClr val="tx1"/>
                </a:solidFill>
                <a:ea typeface="+mn-ea"/>
                <a:cs typeface="+mn-cs"/>
              </a:rPr>
              <a:t>and activities inherent in obtaining management commitment to implementation and operation of a workplace training system include: </a:t>
            </a:r>
          </a:p>
          <a:p>
            <a:pPr>
              <a:buFont typeface="Arial" pitchFamily="34" charset="0"/>
              <a:buNone/>
            </a:pPr>
            <a:endParaRPr lang="en-AU" noProof="0" dirty="0" smtClean="0"/>
          </a:p>
          <a:p>
            <a:pPr>
              <a:buFont typeface="Arial" pitchFamily="34" charset="0"/>
              <a:buNone/>
            </a:pPr>
            <a:r>
              <a:rPr lang="en-AU" noProof="0" dirty="0" smtClean="0"/>
              <a:t>Continue working through TM points and discuss each as necessary.</a:t>
            </a:r>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340346800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sources </a:t>
            </a:r>
            <a:r>
              <a:rPr lang="en-AU" sz="1200" kern="1200" dirty="0" smtClean="0">
                <a:solidFill>
                  <a:schemeClr val="tx1"/>
                </a:solidFill>
                <a:ea typeface="+mn-ea"/>
                <a:cs typeface="+mn-cs"/>
              </a:rPr>
              <a:t>of provision may include:</a:t>
            </a:r>
          </a:p>
          <a:p>
            <a:pPr marL="171450" indent="-171450">
              <a:buFont typeface="Arial" pitchFamily="34" charset="0"/>
              <a:buChar char="•"/>
            </a:pPr>
            <a:r>
              <a:rPr lang="en-AU" sz="1200" kern="1200" dirty="0" smtClean="0">
                <a:solidFill>
                  <a:schemeClr val="tx1"/>
                </a:solidFill>
                <a:ea typeface="+mn-ea"/>
                <a:cs typeface="+mn-cs"/>
              </a:rPr>
              <a:t>Existing informal training unit within the organisation or workplace – it is possible:</a:t>
            </a:r>
          </a:p>
          <a:p>
            <a:pPr marL="628650" lvl="1" indent="-171450">
              <a:buFont typeface="Arial" pitchFamily="34" charset="0"/>
              <a:buChar char="•"/>
            </a:pPr>
            <a:r>
              <a:rPr lang="en-AU" sz="1200" kern="1200" dirty="0" smtClean="0">
                <a:solidFill>
                  <a:schemeClr val="tx1"/>
                </a:solidFill>
                <a:ea typeface="+mn-ea"/>
                <a:cs typeface="+mn-cs"/>
              </a:rPr>
              <a:t>The organisation operated an effective informal training branch before the decision to introduce a more formal system was made</a:t>
            </a:r>
          </a:p>
          <a:p>
            <a:pPr marL="628650" lvl="1" indent="-171450">
              <a:buFont typeface="Arial" pitchFamily="34" charset="0"/>
              <a:buChar char="•"/>
            </a:pPr>
            <a:r>
              <a:rPr lang="en-AU" sz="1200" kern="1200" dirty="0" smtClean="0">
                <a:solidFill>
                  <a:schemeClr val="tx1"/>
                </a:solidFill>
                <a:ea typeface="+mn-ea"/>
                <a:cs typeface="+mn-cs"/>
              </a:rPr>
              <a:t>This informal system nonetheless purchased, produced or otherwise acquired some extremely relevant and effective training materials which can continue to be used in the new, formal system</a:t>
            </a:r>
          </a:p>
          <a:p>
            <a:pPr marL="171450" indent="-171450">
              <a:buFont typeface="Arial" pitchFamily="34" charset="0"/>
              <a:buChar char="•"/>
            </a:pPr>
            <a:r>
              <a:rPr lang="en-AU" sz="1200" kern="1200" dirty="0" smtClean="0">
                <a:solidFill>
                  <a:schemeClr val="tx1"/>
                </a:solidFill>
                <a:ea typeface="+mn-ea"/>
                <a:cs typeface="+mn-cs"/>
              </a:rPr>
              <a:t>Outsourcing – which may:</a:t>
            </a:r>
          </a:p>
          <a:p>
            <a:pPr marL="628650" lvl="1" indent="-171450">
              <a:buFont typeface="Arial" pitchFamily="34" charset="0"/>
              <a:buChar char="•"/>
            </a:pPr>
            <a:r>
              <a:rPr lang="en-AU" sz="1200" kern="1200" dirty="0" smtClean="0">
                <a:solidFill>
                  <a:schemeClr val="tx1"/>
                </a:solidFill>
                <a:ea typeface="+mn-ea"/>
                <a:cs typeface="+mn-cs"/>
              </a:rPr>
              <a:t>Include use of materials which have been developed by and are being used by other private and/or public registered training providers</a:t>
            </a:r>
          </a:p>
          <a:p>
            <a:pPr marL="628650" lvl="1" indent="-171450">
              <a:buFont typeface="Arial" pitchFamily="34" charset="0"/>
              <a:buChar char="•"/>
            </a:pPr>
            <a:r>
              <a:rPr lang="en-AU" sz="1200" kern="1200" dirty="0" smtClean="0">
                <a:solidFill>
                  <a:schemeClr val="tx1"/>
                </a:solidFill>
                <a:ea typeface="+mn-ea"/>
                <a:cs typeface="+mn-cs"/>
              </a:rPr>
              <a:t>Involve purchasing commercially available training products and materials – which can include:</a:t>
            </a:r>
          </a:p>
          <a:p>
            <a:pPr marL="1085850" lvl="2" indent="-171450">
              <a:buFont typeface="Arial" pitchFamily="34" charset="0"/>
              <a:buChar char="•"/>
            </a:pPr>
            <a:r>
              <a:rPr lang="en-AU" sz="1200" kern="1200" dirty="0" smtClean="0">
                <a:solidFill>
                  <a:schemeClr val="tx1"/>
                </a:solidFill>
                <a:ea typeface="+mn-ea"/>
                <a:cs typeface="+mn-cs"/>
              </a:rPr>
              <a:t>Customised products available on a fee-for-service basis, produced specifically to meet the individual training requirements of specific workplaces</a:t>
            </a:r>
          </a:p>
          <a:p>
            <a:pPr marL="1085850" lvl="2" indent="-171450">
              <a:buFont typeface="Arial" pitchFamily="34" charset="0"/>
              <a:buChar char="•"/>
            </a:pPr>
            <a:r>
              <a:rPr lang="en-AU" sz="1200" kern="1200" dirty="0" smtClean="0">
                <a:solidFill>
                  <a:schemeClr val="tx1"/>
                </a:solidFill>
                <a:ea typeface="+mn-ea"/>
                <a:cs typeface="+mn-cs"/>
              </a:rPr>
              <a:t>Consideration of using ‘off the shelf’, generic, pre-prepared materials as opposed to developing organisation-specific customised materials or those which have been produced in-house </a:t>
            </a:r>
          </a:p>
          <a:p>
            <a:pPr marL="628650" lvl="1" indent="-171450">
              <a:buFont typeface="Arial" pitchFamily="34" charset="0"/>
              <a:buChar char="•"/>
            </a:pPr>
            <a:r>
              <a:rPr lang="en-AU" sz="1200" kern="1200" dirty="0" smtClean="0">
                <a:solidFill>
                  <a:schemeClr val="tx1"/>
                </a:solidFill>
                <a:ea typeface="+mn-ea"/>
                <a:cs typeface="+mn-cs"/>
              </a:rPr>
              <a:t>Where materials are obtained from other sources there can be a need to:</a:t>
            </a:r>
          </a:p>
          <a:p>
            <a:pPr marL="1085850" lvl="2" indent="-171450">
              <a:buFont typeface="Arial" pitchFamily="34" charset="0"/>
              <a:buChar char="•"/>
            </a:pPr>
            <a:r>
              <a:rPr lang="en-AU" sz="1200" kern="1200" dirty="0" smtClean="0">
                <a:solidFill>
                  <a:schemeClr val="tx1"/>
                </a:solidFill>
                <a:ea typeface="+mn-ea"/>
                <a:cs typeface="+mn-cs"/>
              </a:rPr>
              <a:t>Review the potential relevance of materials – to ensure they are actually meeting identified need and are if not workplace-specific at least industry-specific</a:t>
            </a:r>
          </a:p>
          <a:p>
            <a:pPr marL="1085850" lvl="2" indent="-171450">
              <a:buFont typeface="Arial" pitchFamily="34" charset="0"/>
              <a:buChar char="•"/>
            </a:pPr>
            <a:r>
              <a:rPr lang="en-AU" sz="1200" kern="1200" dirty="0" smtClean="0">
                <a:solidFill>
                  <a:schemeClr val="tx1"/>
                </a:solidFill>
                <a:ea typeface="+mn-ea"/>
                <a:cs typeface="+mn-cs"/>
              </a:rPr>
              <a:t>Be sensitive to culture cost associated with using materials/resources not produced by the business and seeming to have to rely on outside sources for expertise in this regard.</a:t>
            </a:r>
          </a:p>
          <a:p>
            <a:pPr lvl="2">
              <a:buFont typeface="Arial" pitchFamily="34" charset="0"/>
              <a:buChar char="•"/>
            </a:pPr>
            <a:endParaRPr lang="en-AU" sz="1200" kern="1200" dirty="0" smtClean="0">
              <a:solidFill>
                <a:schemeClr val="tx1"/>
              </a:solidFill>
              <a:ea typeface="+mn-ea"/>
              <a:cs typeface="+mn-cs"/>
            </a:endParaRPr>
          </a:p>
          <a:p>
            <a:pPr lvl="0">
              <a:buFont typeface="Arial" pitchFamily="34" charset="0"/>
              <a:buNone/>
            </a:pPr>
            <a:r>
              <a:rPr lang="en-AU" sz="1200" b="1" kern="1200" dirty="0" smtClean="0">
                <a:solidFill>
                  <a:schemeClr val="tx1"/>
                </a:solidFill>
                <a:ea typeface="+mn-ea"/>
                <a:cs typeface="+mn-cs"/>
              </a:rPr>
              <a:t>Classroom Activity – Guest Speaker</a:t>
            </a:r>
          </a:p>
          <a:p>
            <a:pPr lvl="0">
              <a:buFont typeface="Arial" pitchFamily="34" charset="0"/>
              <a:buNone/>
            </a:pPr>
            <a:r>
              <a:rPr lang="en-AU" sz="1200" b="0" kern="1200" dirty="0" smtClean="0">
                <a:solidFill>
                  <a:schemeClr val="tx1"/>
                </a:solidFill>
                <a:ea typeface="+mn-ea"/>
                <a:cs typeface="+mn-cs"/>
              </a:rPr>
              <a:t>Trainer arranges for representative from vocational training resource provider to attend and:</a:t>
            </a:r>
          </a:p>
          <a:p>
            <a:pPr marL="171450" lvl="0" indent="-171450">
              <a:buFont typeface="Arial" pitchFamily="34" charset="0"/>
              <a:buChar char="•"/>
            </a:pPr>
            <a:r>
              <a:rPr lang="en-AU" sz="1200" b="0" kern="1200" dirty="0" smtClean="0">
                <a:solidFill>
                  <a:schemeClr val="tx1"/>
                </a:solidFill>
                <a:ea typeface="+mn-ea"/>
                <a:cs typeface="+mn-cs"/>
              </a:rPr>
              <a:t>Explain and show examples of resources they have available</a:t>
            </a:r>
          </a:p>
          <a:p>
            <a:pPr marL="171450" lvl="0" indent="-171450">
              <a:buFont typeface="Arial" pitchFamily="34" charset="0"/>
              <a:buChar char="•"/>
            </a:pPr>
            <a:r>
              <a:rPr lang="en-AU" sz="1200" b="0" kern="1200" dirty="0" smtClean="0">
                <a:solidFill>
                  <a:schemeClr val="tx1"/>
                </a:solidFill>
                <a:ea typeface="+mn-ea"/>
                <a:cs typeface="+mn-cs"/>
              </a:rPr>
              <a:t>Detail prices</a:t>
            </a:r>
            <a:r>
              <a:rPr lang="en-AU" sz="1200" b="0" kern="1200" baseline="0" dirty="0" smtClean="0">
                <a:solidFill>
                  <a:schemeClr val="tx1"/>
                </a:solidFill>
                <a:ea typeface="+mn-ea"/>
                <a:cs typeface="+mn-cs"/>
              </a:rPr>
              <a:t> and ordering requirements</a:t>
            </a:r>
          </a:p>
          <a:p>
            <a:pPr marL="171450" lvl="0" indent="-171450">
              <a:buFont typeface="Arial" pitchFamily="34" charset="0"/>
              <a:buChar char="•"/>
            </a:pPr>
            <a:r>
              <a:rPr lang="en-AU" sz="1200" b="0" kern="1200" baseline="0" dirty="0" smtClean="0">
                <a:solidFill>
                  <a:schemeClr val="tx1"/>
                </a:solidFill>
                <a:ea typeface="+mn-ea"/>
                <a:cs typeface="+mn-cs"/>
              </a:rPr>
              <a:t>Describe protocols and costs for customising materials</a:t>
            </a:r>
          </a:p>
          <a:p>
            <a:pPr marL="171450" lvl="0" indent="-171450">
              <a:buFont typeface="Arial" pitchFamily="34" charset="0"/>
              <a:buChar char="•"/>
            </a:pPr>
            <a:r>
              <a:rPr lang="en-AU" sz="1200" b="0" kern="1200" baseline="0" dirty="0" smtClean="0">
                <a:solidFill>
                  <a:schemeClr val="tx1"/>
                </a:solidFill>
                <a:ea typeface="+mn-ea"/>
                <a:cs typeface="+mn-cs"/>
              </a:rPr>
              <a:t>Provide catalogues and samples.</a:t>
            </a:r>
          </a:p>
          <a:p>
            <a:pPr lvl="0">
              <a:buFont typeface="Arial" pitchFamily="34" charset="0"/>
              <a:buChar char="•"/>
            </a:pPr>
            <a:endParaRPr lang="en-AU" sz="1200" b="0" kern="1200" baseline="0" dirty="0" smtClean="0">
              <a:solidFill>
                <a:schemeClr val="tx1"/>
              </a:solidFill>
              <a:ea typeface="+mn-ea"/>
              <a:cs typeface="+mn-cs"/>
            </a:endParaRPr>
          </a:p>
          <a:p>
            <a:pPr>
              <a:buFont typeface="Arial" pitchFamily="34" charset="0"/>
              <a:buNone/>
            </a:pPr>
            <a:r>
              <a:rPr lang="en-AU" noProof="0" dirty="0" smtClean="0"/>
              <a:t>Trainer continues to identify sources </a:t>
            </a:r>
            <a:r>
              <a:rPr lang="en-AU" sz="1200" kern="1200" dirty="0" smtClean="0">
                <a:solidFill>
                  <a:schemeClr val="tx1"/>
                </a:solidFill>
                <a:ea typeface="+mn-ea"/>
                <a:cs typeface="+mn-cs"/>
              </a:rPr>
              <a:t>of provision :</a:t>
            </a:r>
          </a:p>
          <a:p>
            <a:pPr marL="171450" indent="-171450">
              <a:buFont typeface="Arial" pitchFamily="34" charset="0"/>
              <a:buChar char="•"/>
            </a:pPr>
            <a:r>
              <a:rPr lang="en-AU" sz="1200" kern="1200" dirty="0" smtClean="0">
                <a:solidFill>
                  <a:schemeClr val="tx1"/>
                </a:solidFill>
                <a:ea typeface="+mn-ea"/>
                <a:cs typeface="+mn-cs"/>
              </a:rPr>
              <a:t>Product suppliers – who may be prepared to:</a:t>
            </a:r>
          </a:p>
          <a:p>
            <a:pPr marL="628650" lvl="1" indent="-171450">
              <a:buFont typeface="Arial" pitchFamily="34" charset="0"/>
              <a:buChar char="•"/>
            </a:pPr>
            <a:r>
              <a:rPr lang="en-AU" sz="1200" kern="1200" dirty="0" smtClean="0">
                <a:solidFill>
                  <a:schemeClr val="tx1"/>
                </a:solidFill>
                <a:ea typeface="+mn-ea"/>
                <a:cs typeface="+mn-cs"/>
              </a:rPr>
              <a:t>Donate samples of materials they have developed and use in their business</a:t>
            </a:r>
          </a:p>
          <a:p>
            <a:pPr marL="628650" lvl="1" indent="-171450">
              <a:buFont typeface="Arial" pitchFamily="34" charset="0"/>
              <a:buChar char="•"/>
            </a:pPr>
            <a:r>
              <a:rPr lang="en-AU" sz="1200" kern="1200" dirty="0" smtClean="0">
                <a:solidFill>
                  <a:schemeClr val="tx1"/>
                </a:solidFill>
                <a:ea typeface="+mn-ea"/>
                <a:cs typeface="+mn-cs"/>
              </a:rPr>
              <a:t>Contribute examples of items they have accumulated over time</a:t>
            </a:r>
          </a:p>
          <a:p>
            <a:pPr marL="628650" lvl="1" indent="-171450">
              <a:buFont typeface="Arial" pitchFamily="34" charset="0"/>
              <a:buChar char="•"/>
            </a:pPr>
            <a:r>
              <a:rPr lang="en-AU" sz="1200" kern="1200" dirty="0" smtClean="0">
                <a:solidFill>
                  <a:schemeClr val="tx1"/>
                </a:solidFill>
                <a:ea typeface="+mn-ea"/>
                <a:cs typeface="+mn-cs"/>
              </a:rPr>
              <a:t>Lend materials for short-term periods or on long-term or permanent loan</a:t>
            </a:r>
          </a:p>
          <a:p>
            <a:pPr marL="628650" lvl="1" indent="-171450">
              <a:buFont typeface="Arial" pitchFamily="34" charset="0"/>
              <a:buChar char="•"/>
            </a:pPr>
            <a:r>
              <a:rPr lang="en-AU" sz="1200" kern="1200" dirty="0" smtClean="0">
                <a:solidFill>
                  <a:schemeClr val="tx1"/>
                </a:solidFill>
                <a:ea typeface="+mn-ea"/>
                <a:cs typeface="+mn-cs"/>
              </a:rPr>
              <a:t>Share materials they use or have access to</a:t>
            </a:r>
          </a:p>
          <a:p>
            <a:pPr marL="628650" lvl="1" indent="-171450">
              <a:buFont typeface="Arial" pitchFamily="34" charset="0"/>
              <a:buChar char="•"/>
            </a:pPr>
            <a:r>
              <a:rPr lang="en-AU" sz="1200" kern="1200" dirty="0" smtClean="0">
                <a:solidFill>
                  <a:schemeClr val="tx1"/>
                </a:solidFill>
                <a:ea typeface="+mn-ea"/>
                <a:cs typeface="+mn-cs"/>
              </a:rPr>
              <a:t>Offer materials in exchange for purchases made by the organisation</a:t>
            </a:r>
          </a:p>
          <a:p>
            <a:pPr marL="171450" indent="-171450">
              <a:buFont typeface="Arial" pitchFamily="34" charset="0"/>
              <a:buChar char="•"/>
            </a:pPr>
            <a:r>
              <a:rPr lang="en-AU" sz="1200" kern="1200" dirty="0" smtClean="0">
                <a:solidFill>
                  <a:schemeClr val="tx1"/>
                </a:solidFill>
                <a:ea typeface="+mn-ea"/>
                <a:cs typeface="+mn-cs"/>
              </a:rPr>
              <a:t>Service providers – who may be willing to:</a:t>
            </a:r>
          </a:p>
          <a:p>
            <a:pPr marL="628650" lvl="1" indent="-171450">
              <a:buFont typeface="Arial" pitchFamily="34" charset="0"/>
              <a:buChar char="•"/>
            </a:pPr>
            <a:r>
              <a:rPr lang="en-AU" sz="1200" kern="1200" dirty="0" smtClean="0">
                <a:solidFill>
                  <a:schemeClr val="tx1"/>
                </a:solidFill>
                <a:ea typeface="+mn-ea"/>
                <a:cs typeface="+mn-cs"/>
              </a:rPr>
              <a:t>Allow their staff to assist with resource development for the workplace</a:t>
            </a:r>
          </a:p>
          <a:p>
            <a:pPr marL="628650" lvl="1" indent="-171450">
              <a:buFont typeface="Arial" pitchFamily="34" charset="0"/>
              <a:buChar char="•"/>
            </a:pPr>
            <a:r>
              <a:rPr lang="en-AU" sz="1200" kern="1200" dirty="0" smtClean="0">
                <a:solidFill>
                  <a:schemeClr val="tx1"/>
                </a:solidFill>
                <a:ea typeface="+mn-ea"/>
                <a:cs typeface="+mn-cs"/>
              </a:rPr>
              <a:t>Let their staff visit and show/demonstrate use of relevant materials</a:t>
            </a:r>
          </a:p>
          <a:p>
            <a:pPr marL="628650" lvl="1" indent="-171450">
              <a:buFont typeface="Arial" pitchFamily="34" charset="0"/>
              <a:buChar char="•"/>
            </a:pPr>
            <a:r>
              <a:rPr lang="en-AU" sz="1200" kern="1200" dirty="0" smtClean="0">
                <a:solidFill>
                  <a:schemeClr val="tx1"/>
                </a:solidFill>
                <a:ea typeface="+mn-ea"/>
                <a:cs typeface="+mn-cs"/>
              </a:rPr>
              <a:t>Contribute in ways identified for ‘Product suppliers’ immediately above</a:t>
            </a:r>
          </a:p>
          <a:p>
            <a:pPr marL="171450" indent="-171450">
              <a:buFont typeface="Arial" pitchFamily="34" charset="0"/>
              <a:buChar char="•"/>
            </a:pPr>
            <a:r>
              <a:rPr lang="en-AU" sz="1200" kern="1200" dirty="0" smtClean="0">
                <a:solidFill>
                  <a:schemeClr val="tx1"/>
                </a:solidFill>
                <a:ea typeface="+mn-ea"/>
                <a:cs typeface="+mn-cs"/>
              </a:rPr>
              <a:t>Industry peak bodies – who may have:</a:t>
            </a:r>
          </a:p>
          <a:p>
            <a:pPr marL="628650" lvl="1" indent="-171450">
              <a:buFont typeface="Arial" pitchFamily="34" charset="0"/>
              <a:buChar char="•"/>
            </a:pPr>
            <a:r>
              <a:rPr lang="en-AU" sz="1200" kern="1200" dirty="0" smtClean="0">
                <a:solidFill>
                  <a:schemeClr val="tx1"/>
                </a:solidFill>
                <a:ea typeface="+mn-ea"/>
                <a:cs typeface="+mn-cs"/>
              </a:rPr>
              <a:t>A range of generic training materials available for loan or purchase</a:t>
            </a:r>
          </a:p>
          <a:p>
            <a:pPr marL="628650" lvl="1" indent="-171450">
              <a:buFont typeface="Arial" pitchFamily="34" charset="0"/>
              <a:buChar char="•"/>
            </a:pPr>
            <a:r>
              <a:rPr lang="en-AU" sz="1200" kern="1200" dirty="0" smtClean="0">
                <a:solidFill>
                  <a:schemeClr val="tx1"/>
                </a:solidFill>
                <a:ea typeface="+mn-ea"/>
                <a:cs typeface="+mn-cs"/>
              </a:rPr>
              <a:t>Materials contributed to them by other industry organisations for use/distribution as training resources</a:t>
            </a:r>
          </a:p>
          <a:p>
            <a:pPr marL="628650" lvl="1" indent="-171450">
              <a:buFont typeface="Arial" pitchFamily="34" charset="0"/>
              <a:buChar char="•"/>
            </a:pPr>
            <a:r>
              <a:rPr lang="en-AU" sz="1200" kern="1200" dirty="0" smtClean="0">
                <a:solidFill>
                  <a:schemeClr val="tx1"/>
                </a:solidFill>
                <a:ea typeface="+mn-ea"/>
                <a:cs typeface="+mn-cs"/>
              </a:rPr>
              <a:t>A library/resource centre of materials and resources.</a:t>
            </a:r>
          </a:p>
          <a:p>
            <a:pPr>
              <a:buFont typeface="Arial" pitchFamily="34" charset="0"/>
              <a:buNone/>
            </a:pPr>
            <a:endParaRPr lang="en-AU" noProof="0" dirty="0" smtClean="0"/>
          </a:p>
          <a:p>
            <a:pPr>
              <a:buFont typeface="Arial" pitchFamily="34" charset="0"/>
              <a:buNone/>
            </a:pPr>
            <a:r>
              <a:rPr lang="en-AU" b="1" noProof="0" dirty="0" smtClean="0"/>
              <a:t>Classroom Activity – Guest Speakers</a:t>
            </a:r>
          </a:p>
          <a:p>
            <a:pPr>
              <a:buFont typeface="Arial" pitchFamily="34" charset="0"/>
              <a:buNone/>
            </a:pPr>
            <a:r>
              <a:rPr lang="en-AU" b="0" noProof="0" dirty="0" smtClean="0"/>
              <a:t>Trainer arranges for representatives from organisations</a:t>
            </a:r>
            <a:r>
              <a:rPr lang="en-AU" b="0" baseline="0" noProof="0" dirty="0" smtClean="0"/>
              <a:t> listed on the slide to attend and:</a:t>
            </a:r>
          </a:p>
          <a:p>
            <a:pPr marL="171450" indent="-171450">
              <a:buFont typeface="Arial" pitchFamily="34" charset="0"/>
              <a:buChar char="•"/>
            </a:pPr>
            <a:r>
              <a:rPr lang="en-AU" b="0" noProof="0" dirty="0" smtClean="0"/>
              <a:t>Discuss the resources they can provide to workplace training systems</a:t>
            </a:r>
          </a:p>
          <a:p>
            <a:pPr marL="171450" indent="-171450">
              <a:buFont typeface="Arial" pitchFamily="34" charset="0"/>
              <a:buChar char="•"/>
            </a:pPr>
            <a:r>
              <a:rPr lang="en-AU" b="0" noProof="0" dirty="0" smtClean="0"/>
              <a:t>Provide examples of same</a:t>
            </a:r>
          </a:p>
          <a:p>
            <a:pPr marL="171450" indent="-171450">
              <a:buFont typeface="Arial" pitchFamily="34" charset="0"/>
              <a:buChar char="•"/>
            </a:pPr>
            <a:r>
              <a:rPr lang="en-AU" b="0" noProof="0" dirty="0" smtClean="0"/>
              <a:t>Explain how workplaces can requests these items.</a:t>
            </a:r>
          </a:p>
          <a:p>
            <a:pPr lvl="0">
              <a:buFont typeface="Arial" pitchFamily="34" charset="0"/>
              <a:buChar char="•"/>
            </a:pPr>
            <a:endParaRPr lang="en-AU" sz="1200" b="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6957105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sources </a:t>
            </a:r>
            <a:r>
              <a:rPr lang="en-AU" sz="1200" kern="1200" dirty="0" smtClean="0">
                <a:solidFill>
                  <a:schemeClr val="tx1"/>
                </a:solidFill>
                <a:ea typeface="+mn-ea"/>
                <a:cs typeface="+mn-cs"/>
              </a:rPr>
              <a:t>of provision :</a:t>
            </a:r>
          </a:p>
          <a:p>
            <a:pPr marL="171450" indent="-171450">
              <a:buFont typeface="Arial" pitchFamily="34" charset="0"/>
              <a:buChar char="•"/>
            </a:pPr>
            <a:r>
              <a:rPr lang="en-AU" sz="1200" kern="1200" dirty="0" smtClean="0">
                <a:solidFill>
                  <a:schemeClr val="tx1"/>
                </a:solidFill>
                <a:ea typeface="+mn-ea"/>
                <a:cs typeface="+mn-cs"/>
              </a:rPr>
              <a:t>Government agencies – who will often:</a:t>
            </a:r>
          </a:p>
          <a:p>
            <a:pPr marL="628650" lvl="1" indent="-171450">
              <a:buFont typeface="Arial" pitchFamily="34" charset="0"/>
              <a:buChar char="•"/>
            </a:pPr>
            <a:r>
              <a:rPr lang="en-AU" sz="1200" kern="1200" dirty="0" smtClean="0">
                <a:solidFill>
                  <a:schemeClr val="tx1"/>
                </a:solidFill>
                <a:ea typeface="+mn-ea"/>
                <a:cs typeface="+mn-cs"/>
              </a:rPr>
              <a:t>Be able to supply copies of legislation, regulations and mandatory Codes</a:t>
            </a:r>
          </a:p>
          <a:p>
            <a:pPr marL="628650" lvl="1" indent="-171450">
              <a:buFont typeface="Arial" pitchFamily="34" charset="0"/>
              <a:buChar char="•"/>
            </a:pPr>
            <a:r>
              <a:rPr lang="en-AU" sz="1200" kern="1200" dirty="0" smtClean="0">
                <a:solidFill>
                  <a:schemeClr val="tx1"/>
                </a:solidFill>
                <a:ea typeface="+mn-ea"/>
                <a:cs typeface="+mn-cs"/>
              </a:rPr>
              <a:t>Donate a range of handout materials, posters, charts and reports</a:t>
            </a:r>
          </a:p>
          <a:p>
            <a:pPr marL="628650" lvl="1" indent="-171450">
              <a:buFont typeface="Arial" pitchFamily="34" charset="0"/>
              <a:buChar char="•"/>
            </a:pPr>
            <a:r>
              <a:rPr lang="en-AU" sz="1200" kern="1200" dirty="0" smtClean="0">
                <a:solidFill>
                  <a:schemeClr val="tx1"/>
                </a:solidFill>
                <a:ea typeface="+mn-ea"/>
                <a:cs typeface="+mn-cs"/>
              </a:rPr>
              <a:t>Be able to identify other sources which could be followed up to determine if they have/are able to contribute required materials </a:t>
            </a:r>
          </a:p>
          <a:p>
            <a:pPr marL="171450" indent="-171450">
              <a:buFont typeface="Arial" pitchFamily="34" charset="0"/>
              <a:buChar char="•"/>
            </a:pPr>
            <a:r>
              <a:rPr lang="en-AU" sz="1200" kern="1200" dirty="0" smtClean="0">
                <a:solidFill>
                  <a:schemeClr val="tx1"/>
                </a:solidFill>
                <a:ea typeface="+mn-ea"/>
                <a:cs typeface="+mn-cs"/>
              </a:rPr>
              <a:t>Training institutions – who may be prepared to:</a:t>
            </a:r>
          </a:p>
          <a:p>
            <a:pPr marL="628650" lvl="1" indent="-171450">
              <a:buFont typeface="Arial" pitchFamily="34" charset="0"/>
              <a:buChar char="•"/>
            </a:pPr>
            <a:r>
              <a:rPr lang="en-AU" sz="1200" kern="1200" dirty="0" smtClean="0">
                <a:solidFill>
                  <a:schemeClr val="tx1"/>
                </a:solidFill>
                <a:ea typeface="+mn-ea"/>
                <a:cs typeface="+mn-cs"/>
              </a:rPr>
              <a:t>Share physical resources</a:t>
            </a:r>
          </a:p>
          <a:p>
            <a:pPr marL="628650" lvl="1" indent="-171450">
              <a:buFont typeface="Arial" pitchFamily="34" charset="0"/>
              <a:buChar char="•"/>
            </a:pPr>
            <a:r>
              <a:rPr lang="en-AU" sz="1200" kern="1200" dirty="0" smtClean="0">
                <a:solidFill>
                  <a:schemeClr val="tx1"/>
                </a:solidFill>
                <a:ea typeface="+mn-ea"/>
                <a:cs typeface="+mn-cs"/>
              </a:rPr>
              <a:t>Grant access to electronic resources</a:t>
            </a:r>
          </a:p>
          <a:p>
            <a:pPr marL="628650" lvl="1" indent="-171450">
              <a:buFont typeface="Arial" pitchFamily="34" charset="0"/>
              <a:buChar char="•"/>
            </a:pPr>
            <a:r>
              <a:rPr lang="en-AU" sz="1200" kern="1200" dirty="0" smtClean="0">
                <a:solidFill>
                  <a:schemeClr val="tx1"/>
                </a:solidFill>
                <a:ea typeface="+mn-ea"/>
                <a:cs typeface="+mn-cs"/>
              </a:rPr>
              <a:t>Suggest avenues to pursue</a:t>
            </a:r>
          </a:p>
          <a:p>
            <a:pPr marL="628650" lvl="1" indent="-171450">
              <a:buFont typeface="Arial" pitchFamily="34" charset="0"/>
              <a:buChar char="•"/>
            </a:pPr>
            <a:r>
              <a:rPr lang="en-AU" sz="1200" kern="1200" dirty="0" smtClean="0">
                <a:solidFill>
                  <a:schemeClr val="tx1"/>
                </a:solidFill>
                <a:ea typeface="+mn-ea"/>
                <a:cs typeface="+mn-cs"/>
              </a:rPr>
              <a:t>Offer materials in exchange for access to some aspect of the workplace training or assessment being provided in the workplace</a:t>
            </a:r>
          </a:p>
          <a:p>
            <a:pPr marL="171450" indent="-171450">
              <a:buFont typeface="Arial" pitchFamily="34" charset="0"/>
              <a:buChar char="•"/>
            </a:pPr>
            <a:r>
              <a:rPr lang="en-AU" sz="1200" kern="1200" dirty="0" smtClean="0">
                <a:solidFill>
                  <a:schemeClr val="tx1"/>
                </a:solidFill>
                <a:ea typeface="+mn-ea"/>
                <a:cs typeface="+mn-cs"/>
              </a:rPr>
              <a:t>Other workplaces – this relates to approaching similar/relevant other businesses with a view to:</a:t>
            </a:r>
          </a:p>
          <a:p>
            <a:pPr marL="628650" lvl="1" indent="-171450">
              <a:buFont typeface="Arial" pitchFamily="34" charset="0"/>
              <a:buChar char="•"/>
            </a:pPr>
            <a:r>
              <a:rPr lang="en-AU" sz="1200" kern="1200" dirty="0" smtClean="0">
                <a:solidFill>
                  <a:schemeClr val="tx1"/>
                </a:solidFill>
                <a:ea typeface="+mn-ea"/>
                <a:cs typeface="+mn-cs"/>
              </a:rPr>
              <a:t>Identifying if they have training materials they are willing to share</a:t>
            </a:r>
          </a:p>
          <a:p>
            <a:pPr marL="628650" lvl="1" indent="-171450">
              <a:buFont typeface="Arial" pitchFamily="34" charset="0"/>
              <a:buChar char="•"/>
            </a:pPr>
            <a:r>
              <a:rPr lang="en-AU" sz="1200" kern="1200" dirty="0" smtClean="0">
                <a:solidFill>
                  <a:schemeClr val="tx1"/>
                </a:solidFill>
                <a:ea typeface="+mn-ea"/>
                <a:cs typeface="+mn-cs"/>
              </a:rPr>
              <a:t>Determining if they are amenable to sharing costs for purchasing certain resources which can be jointly used</a:t>
            </a:r>
          </a:p>
          <a:p>
            <a:pPr marL="628650" lvl="1" indent="-171450">
              <a:buFont typeface="Arial" pitchFamily="34" charset="0"/>
              <a:buChar char="•"/>
            </a:pPr>
            <a:r>
              <a:rPr lang="en-AU" sz="1200" kern="1200" dirty="0" smtClean="0">
                <a:solidFill>
                  <a:schemeClr val="tx1"/>
                </a:solidFill>
                <a:ea typeface="+mn-ea"/>
                <a:cs typeface="+mn-cs"/>
              </a:rPr>
              <a:t>Negotiating a mutually-beneficial arrangement where both parties develop and then share nominated materials for training which is conducted at both workplaces.</a:t>
            </a:r>
          </a:p>
          <a:p>
            <a:pPr>
              <a:buFont typeface="Arial" pitchFamily="34" charset="0"/>
              <a:buNone/>
            </a:pPr>
            <a:endParaRPr lang="en-AU" noProof="0" dirty="0" smtClean="0"/>
          </a:p>
          <a:p>
            <a:pPr>
              <a:buFont typeface="Arial" pitchFamily="34" charset="0"/>
              <a:buNone/>
            </a:pPr>
            <a:r>
              <a:rPr lang="en-AU" b="1" noProof="0" dirty="0" smtClean="0"/>
              <a:t>Classroom Activity – Guest Speakers</a:t>
            </a:r>
          </a:p>
          <a:p>
            <a:pPr>
              <a:buFont typeface="Arial" pitchFamily="34" charset="0"/>
              <a:buNone/>
            </a:pPr>
            <a:r>
              <a:rPr lang="en-AU" b="0" noProof="0" dirty="0" smtClean="0"/>
              <a:t>Trainer arranges for representatives from organisations</a:t>
            </a:r>
            <a:r>
              <a:rPr lang="en-AU" b="0" baseline="0" noProof="0" dirty="0" smtClean="0"/>
              <a:t> listed on the slide to attend and:</a:t>
            </a:r>
          </a:p>
          <a:p>
            <a:pPr marL="171450" indent="-171450">
              <a:buFont typeface="Arial" pitchFamily="34" charset="0"/>
              <a:buChar char="•"/>
            </a:pPr>
            <a:r>
              <a:rPr lang="en-AU" b="0" noProof="0" dirty="0" smtClean="0"/>
              <a:t>Discuss the resources they can provide to workplace training systems</a:t>
            </a:r>
          </a:p>
          <a:p>
            <a:pPr marL="171450" indent="-171450">
              <a:buFont typeface="Arial" pitchFamily="34" charset="0"/>
              <a:buChar char="•"/>
            </a:pPr>
            <a:r>
              <a:rPr lang="en-AU" b="0" noProof="0" dirty="0" smtClean="0"/>
              <a:t>Provide examples of same</a:t>
            </a:r>
          </a:p>
          <a:p>
            <a:pPr marL="171450" indent="-171450">
              <a:buFont typeface="Arial" pitchFamily="34" charset="0"/>
              <a:buChar char="•"/>
            </a:pPr>
            <a:r>
              <a:rPr lang="en-AU" b="0" noProof="0" dirty="0" smtClean="0"/>
              <a:t>Explain how workplaces can requests these items.</a:t>
            </a:r>
          </a:p>
          <a:p>
            <a:pPr>
              <a:buFont typeface="Arial" pitchFamily="34" charset="0"/>
              <a:buChar char="•"/>
            </a:pPr>
            <a:endParaRPr lang="en-AU" b="0" noProof="0" dirty="0" smtClean="0"/>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Ensure all work projects have been completed and handed into trainer ensuring cover page details are attached for assessment tracking</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Review the summary page for Element 2 to confirm what has been completed for this element.</a:t>
            </a:r>
          </a:p>
          <a:p>
            <a:pPr>
              <a:buFont typeface="Arial" pitchFamily="34" charset="0"/>
              <a:buChar char="•"/>
            </a:pP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9725182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documents might be required?</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are they needed?</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the difference between a ‘policy’ and a ‘procedure’?</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318646965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factors determining </a:t>
            </a:r>
            <a:r>
              <a:rPr lang="en-AU" sz="1200" kern="1200" dirty="0" smtClean="0">
                <a:solidFill>
                  <a:schemeClr val="tx1"/>
                </a:solidFill>
                <a:ea typeface="+mn-ea"/>
                <a:cs typeface="+mn-cs"/>
              </a:rPr>
              <a:t>the policies and procedures to be developed include:</a:t>
            </a:r>
          </a:p>
          <a:p>
            <a:pPr marL="171450" indent="-171450">
              <a:buFont typeface="Arial" pitchFamily="34" charset="0"/>
              <a:buChar char="•"/>
            </a:pPr>
            <a:r>
              <a:rPr lang="en-AU" sz="1200" kern="1200" dirty="0" smtClean="0">
                <a:solidFill>
                  <a:schemeClr val="tx1"/>
                </a:solidFill>
                <a:ea typeface="+mn-ea"/>
                <a:cs typeface="+mn-cs"/>
              </a:rPr>
              <a:t>Whether or not the training system is a recognised training provider or a non-recognised one – in that:</a:t>
            </a:r>
          </a:p>
          <a:p>
            <a:pPr marL="628650" lvl="1" indent="-171450">
              <a:buFont typeface="Arial" pitchFamily="34" charset="0"/>
              <a:buChar char="•"/>
            </a:pPr>
            <a:r>
              <a:rPr lang="en-AU" sz="1200" kern="1200" dirty="0" smtClean="0">
                <a:solidFill>
                  <a:schemeClr val="tx1"/>
                </a:solidFill>
                <a:ea typeface="+mn-ea"/>
                <a:cs typeface="+mn-cs"/>
              </a:rPr>
              <a:t>Recognised training providers will:</a:t>
            </a:r>
          </a:p>
          <a:p>
            <a:pPr marL="1085850" lvl="2" indent="-171450">
              <a:buFont typeface="Arial" pitchFamily="34" charset="0"/>
              <a:buChar char="•"/>
            </a:pPr>
            <a:r>
              <a:rPr lang="en-AU" sz="1200" kern="1200" dirty="0" smtClean="0">
                <a:solidFill>
                  <a:schemeClr val="tx1"/>
                </a:solidFill>
                <a:ea typeface="+mn-ea"/>
                <a:cs typeface="+mn-cs"/>
              </a:rPr>
              <a:t>Traditionally require more policies and procedures than non-recognised providers</a:t>
            </a:r>
          </a:p>
          <a:p>
            <a:pPr marL="1085850" lvl="2" indent="-171450">
              <a:buFont typeface="Arial" pitchFamily="34" charset="0"/>
              <a:buChar char="•"/>
            </a:pPr>
            <a:r>
              <a:rPr lang="en-AU" sz="1200" kern="1200" dirty="0" smtClean="0">
                <a:solidFill>
                  <a:schemeClr val="tx1"/>
                </a:solidFill>
                <a:ea typeface="+mn-ea"/>
                <a:cs typeface="+mn-cs"/>
              </a:rPr>
              <a:t>Usually be </a:t>
            </a:r>
            <a:r>
              <a:rPr lang="en-AU" sz="1200" i="1" kern="1200" dirty="0" smtClean="0">
                <a:solidFill>
                  <a:schemeClr val="tx1"/>
                </a:solidFill>
                <a:ea typeface="+mn-ea"/>
                <a:cs typeface="+mn-cs"/>
              </a:rPr>
              <a:t>required</a:t>
            </a:r>
            <a:r>
              <a:rPr lang="en-AU" sz="1200" kern="1200" dirty="0" smtClean="0">
                <a:solidFill>
                  <a:schemeClr val="tx1"/>
                </a:solidFill>
                <a:ea typeface="+mn-ea"/>
                <a:cs typeface="+mn-cs"/>
              </a:rPr>
              <a:t> to create policies and/or procedures to address topics identified by the Training Authority – that is, it is compulsory for the workplace training system to produce certain policies and procedures as specified by the Training Authority in order (for example) to meet quality-related issues</a:t>
            </a:r>
          </a:p>
          <a:p>
            <a:pPr marL="1085850" lvl="2" indent="-171450">
              <a:buFont typeface="Arial" pitchFamily="34" charset="0"/>
              <a:buChar char="•"/>
            </a:pPr>
            <a:r>
              <a:rPr lang="en-AU" sz="1200" kern="1200" dirty="0" smtClean="0">
                <a:solidFill>
                  <a:schemeClr val="tx1"/>
                </a:solidFill>
                <a:ea typeface="+mn-ea"/>
                <a:cs typeface="+mn-cs"/>
              </a:rPr>
              <a:t>The workplace training system may, of course, develop other policies and procedures </a:t>
            </a:r>
            <a:r>
              <a:rPr lang="en-AU" sz="1200" i="1" kern="1200" dirty="0" smtClean="0">
                <a:solidFill>
                  <a:schemeClr val="tx1"/>
                </a:solidFill>
                <a:ea typeface="+mn-ea"/>
                <a:cs typeface="+mn-cs"/>
              </a:rPr>
              <a:t>in addition to the mandated ones</a:t>
            </a:r>
            <a:r>
              <a:rPr lang="en-AU" sz="1200" kern="1200" dirty="0" smtClean="0">
                <a:solidFill>
                  <a:schemeClr val="tx1"/>
                </a:solidFill>
                <a:ea typeface="+mn-ea"/>
                <a:cs typeface="+mn-cs"/>
              </a:rPr>
              <a:t> but they must at least generate the </a:t>
            </a:r>
            <a:r>
              <a:rPr lang="en-AU" sz="1200" i="1" kern="1200" dirty="0" smtClean="0">
                <a:solidFill>
                  <a:schemeClr val="tx1"/>
                </a:solidFill>
                <a:ea typeface="+mn-ea"/>
                <a:cs typeface="+mn-cs"/>
              </a:rPr>
              <a:t>required</a:t>
            </a:r>
            <a:r>
              <a:rPr lang="en-AU" sz="1200" kern="1200" dirty="0" smtClean="0">
                <a:solidFill>
                  <a:schemeClr val="tx1"/>
                </a:solidFill>
                <a:ea typeface="+mn-ea"/>
                <a:cs typeface="+mn-cs"/>
              </a:rPr>
              <a:t> ones</a:t>
            </a:r>
          </a:p>
          <a:p>
            <a:pPr marL="1085850" lvl="2" indent="-171450">
              <a:buFont typeface="Arial" pitchFamily="34" charset="0"/>
              <a:buChar char="•"/>
            </a:pPr>
            <a:r>
              <a:rPr lang="en-AU" sz="1200" kern="1200" dirty="0" smtClean="0">
                <a:solidFill>
                  <a:schemeClr val="tx1"/>
                </a:solidFill>
                <a:ea typeface="+mn-ea"/>
                <a:cs typeface="+mn-cs"/>
              </a:rPr>
              <a:t>Normally have to submit compulsory draft policies and procedures to the Training Authority for their approval – as part of the process of applying for registration as an approved/recognised provider</a:t>
            </a:r>
          </a:p>
          <a:p>
            <a:pPr marL="171450" indent="-171450">
              <a:buFont typeface="Arial" pitchFamily="34" charset="0"/>
              <a:buChar char="•"/>
            </a:pPr>
            <a:r>
              <a:rPr lang="en-AU" sz="1200" kern="1200" dirty="0" smtClean="0">
                <a:solidFill>
                  <a:schemeClr val="tx1"/>
                </a:solidFill>
                <a:ea typeface="+mn-ea"/>
                <a:cs typeface="+mn-cs"/>
              </a:rPr>
              <a:t>Non-recognised/accredited training providers:</a:t>
            </a:r>
          </a:p>
          <a:p>
            <a:pPr marL="1085850" lvl="2" indent="-171450">
              <a:buFont typeface="Arial" pitchFamily="34" charset="0"/>
              <a:buChar char="•"/>
            </a:pPr>
            <a:r>
              <a:rPr lang="en-AU" sz="1200" kern="1200" dirty="0" smtClean="0">
                <a:solidFill>
                  <a:schemeClr val="tx1"/>
                </a:solidFill>
                <a:ea typeface="+mn-ea"/>
                <a:cs typeface="+mn-cs"/>
              </a:rPr>
              <a:t>Are under no obligation to develop any training/assessment-related policies and procedures</a:t>
            </a:r>
          </a:p>
          <a:p>
            <a:pPr marL="1085850" lvl="2" indent="-171450">
              <a:buFont typeface="Arial" pitchFamily="34" charset="0"/>
              <a:buChar char="•"/>
            </a:pPr>
            <a:r>
              <a:rPr lang="en-AU" sz="1200" kern="1200" dirty="0" smtClean="0">
                <a:solidFill>
                  <a:schemeClr val="tx1"/>
                </a:solidFill>
                <a:ea typeface="+mn-ea"/>
                <a:cs typeface="+mn-cs"/>
              </a:rPr>
              <a:t>Can prepare policies and procedures to suit whatever they deem to be important from their point of view.</a:t>
            </a:r>
          </a:p>
          <a:p>
            <a:pPr marL="171450" indent="-171450">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141976747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identify factors determining </a:t>
            </a:r>
            <a:r>
              <a:rPr lang="en-AU" sz="1200" kern="1200" dirty="0" smtClean="0">
                <a:solidFill>
                  <a:schemeClr val="tx1"/>
                </a:solidFill>
                <a:ea typeface="+mn-ea"/>
                <a:cs typeface="+mn-cs"/>
              </a:rPr>
              <a:t>the policies and procedures to be developed:</a:t>
            </a:r>
          </a:p>
          <a:p>
            <a:pPr marL="171450" indent="-171450">
              <a:buFont typeface="Arial" pitchFamily="34" charset="0"/>
              <a:buChar char="•"/>
            </a:pPr>
            <a:r>
              <a:rPr lang="en-AU" sz="1200" kern="1200" dirty="0" smtClean="0">
                <a:solidFill>
                  <a:schemeClr val="tx1"/>
                </a:solidFill>
                <a:ea typeface="+mn-ea"/>
                <a:cs typeface="+mn-cs"/>
              </a:rPr>
              <a:t>The breadth and depth of policies and procedures existing in the organisation to address non-training issues</a:t>
            </a:r>
          </a:p>
          <a:p>
            <a:pPr marL="628650" lvl="1" indent="-171450">
              <a:buFont typeface="Arial" pitchFamily="34" charset="0"/>
              <a:buChar char="•"/>
            </a:pPr>
            <a:r>
              <a:rPr lang="en-AU" sz="1200" kern="1200" dirty="0" smtClean="0">
                <a:solidFill>
                  <a:schemeClr val="tx1"/>
                </a:solidFill>
                <a:ea typeface="+mn-ea"/>
                <a:cs typeface="+mn-cs"/>
              </a:rPr>
              <a:t>Some organisations rely heavily on policies and procedures and some do not</a:t>
            </a:r>
          </a:p>
          <a:p>
            <a:pPr marL="628650" lvl="1" indent="-171450">
              <a:buFont typeface="Arial" pitchFamily="34" charset="0"/>
              <a:buChar char="•"/>
            </a:pPr>
            <a:r>
              <a:rPr lang="en-AU" sz="1200" kern="1200" dirty="0" smtClean="0">
                <a:solidFill>
                  <a:schemeClr val="tx1"/>
                </a:solidFill>
                <a:ea typeface="+mn-ea"/>
                <a:cs typeface="+mn-cs"/>
              </a:rPr>
              <a:t>Larger organisations (with multiple outlets, departments and employees) often use the more structured approach of policies and procedures than smaller businesses</a:t>
            </a:r>
          </a:p>
          <a:p>
            <a:pPr marL="628650" lvl="1" indent="-171450">
              <a:buFont typeface="Arial" pitchFamily="34" charset="0"/>
              <a:buChar char="•"/>
            </a:pPr>
            <a:r>
              <a:rPr lang="en-AU" sz="1200" kern="1200" dirty="0" smtClean="0">
                <a:solidFill>
                  <a:schemeClr val="tx1"/>
                </a:solidFill>
                <a:ea typeface="+mn-ea"/>
                <a:cs typeface="+mn-cs"/>
              </a:rPr>
              <a:t>Commonly:</a:t>
            </a:r>
          </a:p>
          <a:p>
            <a:pPr marL="1085850" lvl="2" indent="-171450">
              <a:buFont typeface="Arial" pitchFamily="34" charset="0"/>
              <a:buChar char="•"/>
            </a:pPr>
            <a:r>
              <a:rPr lang="en-AU" sz="1200" kern="1200" dirty="0" smtClean="0">
                <a:solidFill>
                  <a:schemeClr val="tx1"/>
                </a:solidFill>
                <a:ea typeface="+mn-ea"/>
                <a:cs typeface="+mn-cs"/>
              </a:rPr>
              <a:t>Extensive policies and procedures for other </a:t>
            </a:r>
            <a:r>
              <a:rPr lang="en-AU" sz="1200" i="1" kern="1200" dirty="0" smtClean="0">
                <a:solidFill>
                  <a:schemeClr val="tx1"/>
                </a:solidFill>
                <a:ea typeface="+mn-ea"/>
                <a:cs typeface="+mn-cs"/>
              </a:rPr>
              <a:t>operational issues</a:t>
            </a:r>
            <a:r>
              <a:rPr lang="en-AU" sz="1200" kern="1200" dirty="0" smtClean="0">
                <a:solidFill>
                  <a:schemeClr val="tx1"/>
                </a:solidFill>
                <a:ea typeface="+mn-ea"/>
                <a:cs typeface="+mn-cs"/>
              </a:rPr>
              <a:t> elsewhere in the organisation will also mean extensive policies and procedures for training and assessment</a:t>
            </a:r>
          </a:p>
          <a:p>
            <a:pPr marL="1085850" lvl="2" indent="-171450">
              <a:buFont typeface="Arial" pitchFamily="34" charset="0"/>
              <a:buChar char="•"/>
            </a:pPr>
            <a:r>
              <a:rPr lang="en-AU" sz="1200" kern="1200" dirty="0" smtClean="0">
                <a:solidFill>
                  <a:schemeClr val="tx1"/>
                </a:solidFill>
                <a:ea typeface="+mn-ea"/>
                <a:cs typeface="+mn-cs"/>
              </a:rPr>
              <a:t>Few policies and procedures elsewhere in the business will mean few for training/assessment</a:t>
            </a:r>
          </a:p>
          <a:p>
            <a:pPr marL="171450" indent="-171450">
              <a:buFont typeface="Arial" pitchFamily="34" charset="0"/>
              <a:buChar char="•"/>
            </a:pPr>
            <a:r>
              <a:rPr lang="en-AU" sz="1200" kern="1200" dirty="0" smtClean="0">
                <a:solidFill>
                  <a:schemeClr val="tx1"/>
                </a:solidFill>
                <a:ea typeface="+mn-ea"/>
                <a:cs typeface="+mn-cs"/>
              </a:rPr>
              <a:t>Previous experience of the organisation with policies and procedures – for example:</a:t>
            </a:r>
          </a:p>
          <a:p>
            <a:pPr marL="628650" lvl="1" indent="-171450">
              <a:buFont typeface="Arial" pitchFamily="34" charset="0"/>
              <a:buChar char="•"/>
            </a:pPr>
            <a:r>
              <a:rPr lang="en-AU" sz="1200" kern="1200" dirty="0" smtClean="0">
                <a:solidFill>
                  <a:schemeClr val="tx1"/>
                </a:solidFill>
                <a:ea typeface="+mn-ea"/>
                <a:cs typeface="+mn-cs"/>
              </a:rPr>
              <a:t>Some businesses have protocols in place for developing, reviewing, updating and revising policies and procedures – so they are more able/willing to generate policies and procedures for any other topic</a:t>
            </a:r>
          </a:p>
          <a:p>
            <a:pPr marL="628650" lvl="1" indent="-171450">
              <a:buFont typeface="Arial" pitchFamily="34" charset="0"/>
              <a:buChar char="•"/>
            </a:pPr>
            <a:r>
              <a:rPr lang="en-AU" sz="1200" kern="1200" dirty="0" smtClean="0">
                <a:solidFill>
                  <a:schemeClr val="tx1"/>
                </a:solidFill>
                <a:ea typeface="+mn-ea"/>
                <a:cs typeface="+mn-cs"/>
              </a:rPr>
              <a:t>Some businesses despite their effort at developing and trying to use policies and procedures have found their implementation to be difficult to apply, hard to enforce and of little or no resulting benefit. </a:t>
            </a:r>
          </a:p>
          <a:p>
            <a:pPr marL="171450" indent="-171450">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106311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mentions:</a:t>
            </a:r>
          </a:p>
          <a:p>
            <a:pPr marL="171450" indent="-171450">
              <a:buFont typeface="Arial" pitchFamily="34" charset="0"/>
              <a:buChar char="•"/>
            </a:pPr>
            <a:r>
              <a:rPr lang="en-AU" sz="1200" kern="1200" dirty="0" smtClean="0">
                <a:solidFill>
                  <a:schemeClr val="tx1"/>
                </a:solidFill>
                <a:ea typeface="+mn-ea"/>
                <a:cs typeface="+mn-cs"/>
              </a:rPr>
              <a:t>Some organisations:</a:t>
            </a:r>
          </a:p>
          <a:p>
            <a:pPr marL="628650" lvl="1" indent="-171450">
              <a:buFont typeface="Arial" pitchFamily="34" charset="0"/>
              <a:buChar char="•"/>
            </a:pPr>
            <a:r>
              <a:rPr lang="en-AU" sz="1200" kern="1200" dirty="0" smtClean="0">
                <a:solidFill>
                  <a:schemeClr val="tx1"/>
                </a:solidFill>
                <a:ea typeface="+mn-ea"/>
                <a:cs typeface="+mn-cs"/>
              </a:rPr>
              <a:t>Prepare a separate document for policies and a separate one for procedures – other organisations may combine their policy and procedures into one document</a:t>
            </a:r>
          </a:p>
          <a:p>
            <a:pPr marL="628650" lvl="1" indent="-171450">
              <a:buFont typeface="Arial" pitchFamily="34" charset="0"/>
              <a:buChar char="•"/>
            </a:pPr>
            <a:r>
              <a:rPr lang="en-AU" sz="1200" kern="1200" dirty="0" smtClean="0">
                <a:solidFill>
                  <a:schemeClr val="tx1"/>
                </a:solidFill>
                <a:ea typeface="+mn-ea"/>
                <a:cs typeface="+mn-cs"/>
              </a:rPr>
              <a:t>Do not distinguish/differentiate between ‘policies’ and ‘procedures’ – they use the term ‘policies and procedures’ generically to refer to a combination of required protocols</a:t>
            </a:r>
          </a:p>
          <a:p>
            <a:pPr marL="171450" indent="-171450">
              <a:buFont typeface="Arial" pitchFamily="34" charset="0"/>
              <a:buChar char="•"/>
            </a:pPr>
            <a:r>
              <a:rPr lang="en-AU" sz="1200" kern="1200" dirty="0" smtClean="0">
                <a:solidFill>
                  <a:schemeClr val="tx1"/>
                </a:solidFill>
                <a:ea typeface="+mn-ea"/>
                <a:cs typeface="+mn-cs"/>
              </a:rPr>
              <a:t>While there is a direct link/relationship between policies and procedures it is important to understand the distinction between the two.</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hlinkClick r:id="rId3"/>
              </a:rPr>
              <a:t>http://www.industrialrelations.nsw.gov.au/oirwww/Employment_info/Managing_employees/Workplace_policies_and_procedures.page</a:t>
            </a:r>
            <a:r>
              <a:rPr lang="en-AU" sz="1200" kern="1200" dirty="0" smtClean="0">
                <a:solidFill>
                  <a:schemeClr val="tx1"/>
                </a:solidFill>
                <a:ea typeface="+mn-ea"/>
                <a:cs typeface="+mn-cs"/>
              </a:rPr>
              <a:t> - Workplace policies and procedures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99811799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ea typeface="+mn-ea"/>
                <a:cs typeface="+mn-cs"/>
              </a:rPr>
              <a:t>policies have the following characteristics - they:</a:t>
            </a:r>
          </a:p>
          <a:p>
            <a:pPr marL="171450" indent="-171450">
              <a:buFont typeface="Arial" pitchFamily="34" charset="0"/>
              <a:buChar char="•"/>
            </a:pPr>
            <a:r>
              <a:rPr lang="en-AU" sz="1200" kern="1200" dirty="0" smtClean="0">
                <a:solidFill>
                  <a:schemeClr val="tx1"/>
                </a:solidFill>
                <a:ea typeface="+mn-ea"/>
                <a:cs typeface="+mn-cs"/>
              </a:rPr>
              <a:t>Represent the thinking/philosophy of the business</a:t>
            </a:r>
          </a:p>
          <a:p>
            <a:pPr marL="171450" indent="-171450">
              <a:buFont typeface="Arial" pitchFamily="34" charset="0"/>
              <a:buChar char="•"/>
            </a:pPr>
            <a:r>
              <a:rPr lang="en-AU" sz="1200" kern="1200" dirty="0" smtClean="0">
                <a:solidFill>
                  <a:schemeClr val="tx1"/>
                </a:solidFill>
                <a:ea typeface="+mn-ea"/>
                <a:cs typeface="+mn-cs"/>
              </a:rPr>
              <a:t>Define the position of the organisation on issues which are covered by the policy</a:t>
            </a:r>
          </a:p>
          <a:p>
            <a:pPr marL="171450" indent="-171450">
              <a:buFont typeface="Arial" pitchFamily="34" charset="0"/>
              <a:buChar char="•"/>
            </a:pPr>
            <a:r>
              <a:rPr lang="en-AU" sz="1200" kern="1200" dirty="0" smtClean="0">
                <a:solidFill>
                  <a:schemeClr val="tx1"/>
                </a:solidFill>
                <a:ea typeface="+mn-ea"/>
                <a:cs typeface="+mn-cs"/>
              </a:rPr>
              <a:t>Are developed before procedures.</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a:t>
            </a:r>
            <a:r>
              <a:rPr lang="en-AU" b="0" baseline="0" noProof="0" dirty="0" smtClean="0"/>
              <a:t> and discusses sample policies for workplace training systems.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AU" sz="1200" b="0" i="0" u="none" strike="noStrike" kern="1200" cap="none" spc="0" normalizeH="0" baseline="0" noProof="0" dirty="0" smtClean="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continues to list characteristics of policies – they:</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State the intention and expectations of the organisation and staff in relation to the subject that is the title of the policy – they indicate:</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What the organisation wants to achieve</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How the organisation will act in given situations, if/when they arise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Are the rules the organisation seeks to operate by</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Give consistency in the way the organisation operates.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AU" sz="1200" b="0" i="0" u="none" strike="noStrike" kern="1200" cap="none" spc="0" normalizeH="0" baseline="0" noProof="0" dirty="0" smtClean="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Guest Speaker</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arranges for relevant business to attend and:</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Discuss formulation of policies and procedures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Provide samples of same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Explain roles of policies and procedures.</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45816534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list characteristics of policies – they:</a:t>
            </a:r>
          </a:p>
          <a:p>
            <a:pPr marL="171450" indent="-171450">
              <a:buFont typeface="Arial" pitchFamily="34" charset="0"/>
              <a:buChar char="•"/>
            </a:pPr>
            <a:r>
              <a:rPr lang="en-AU" sz="1200" kern="1200" dirty="0" smtClean="0">
                <a:solidFill>
                  <a:schemeClr val="tx1"/>
                </a:solidFill>
                <a:ea typeface="+mn-ea"/>
                <a:cs typeface="+mn-cs"/>
              </a:rPr>
              <a:t>Contain a statement explaining the reason the policy has been prepared</a:t>
            </a:r>
          </a:p>
          <a:p>
            <a:pPr marL="171450" indent="-171450">
              <a:buFont typeface="Arial" pitchFamily="34" charset="0"/>
              <a:buChar char="•"/>
            </a:pPr>
            <a:r>
              <a:rPr lang="en-AU" sz="1200" kern="1200" dirty="0" smtClean="0">
                <a:solidFill>
                  <a:schemeClr val="tx1"/>
                </a:solidFill>
                <a:ea typeface="+mn-ea"/>
                <a:cs typeface="+mn-cs"/>
              </a:rPr>
              <a:t>Provide guidance to employees about what the organisation wants – and how they should act to help achieve that outcome</a:t>
            </a:r>
          </a:p>
          <a:p>
            <a:pPr marL="171450" indent="-171450">
              <a:buFont typeface="Arial" pitchFamily="34" charset="0"/>
              <a:buChar char="•"/>
            </a:pPr>
            <a:r>
              <a:rPr lang="en-AU" sz="1200" kern="1200" dirty="0" smtClean="0">
                <a:solidFill>
                  <a:schemeClr val="tx1"/>
                </a:solidFill>
                <a:ea typeface="+mn-ea"/>
                <a:cs typeface="+mn-cs"/>
              </a:rPr>
              <a:t>Identify responsibilities for taking action to achieve the desired outcomes.</a:t>
            </a:r>
          </a:p>
          <a:p>
            <a:pPr marL="0" indent="0">
              <a:buFont typeface="Arial" pitchFamily="34" charset="0"/>
              <a:buNone/>
            </a:pPr>
            <a:endParaRPr lang="en-AU" sz="1200" kern="1200" dirty="0" smtClean="0">
              <a:solidFill>
                <a:schemeClr val="tx1"/>
              </a:solidFill>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continues to list characteristics of policies – they:</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Prescribe timing considerations relevant to the issue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Resolve anticipated problems in relation to the policy topic</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Identify documentation to be used or completed in relation to the topic</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Contain information on legal and regulatory requirements the organisation must meet.</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AU" sz="1200" b="1" i="0" u="none" strike="noStrike" kern="1200" cap="none" spc="0" normalizeH="0" baseline="0" noProof="0" dirty="0" smtClean="0">
              <a:ln>
                <a:noFill/>
              </a:ln>
              <a:solidFill>
                <a:prstClr val="black"/>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ea typeface="+mn-ea"/>
                <a:cs typeface="+mn-cs"/>
              </a:rPr>
              <a:t>Classroom Activity – Individual Exercise</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ea typeface="+mn-ea"/>
                <a:cs typeface="+mn-cs"/>
              </a:rPr>
              <a:t>Trainer asks students to develop draft policies on nominated industry-relevant topics.</a:t>
            </a:r>
            <a:endParaRPr kumimoji="0" lang="en-AU" sz="1200" b="1" i="0" u="none" strike="noStrike" kern="1200" cap="none" spc="0" normalizeH="0" baseline="0" noProof="0" dirty="0" smtClean="0">
              <a:ln>
                <a:noFill/>
              </a:ln>
              <a:solidFill>
                <a:prstClr val="black"/>
              </a:solidFill>
              <a:effectLst/>
              <a:uLnTx/>
              <a:uFillTx/>
            </a:endParaRP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02635013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ea typeface="+mn-ea"/>
                <a:cs typeface="+mn-cs"/>
              </a:rPr>
              <a:t>procedures have the following characteristics - they:</a:t>
            </a:r>
          </a:p>
          <a:p>
            <a:pPr marL="171450" indent="-171450">
              <a:buFont typeface="Arial" pitchFamily="34" charset="0"/>
              <a:buChar char="•"/>
            </a:pPr>
            <a:r>
              <a:rPr lang="en-AU" sz="1200" kern="1200" dirty="0" smtClean="0">
                <a:solidFill>
                  <a:schemeClr val="tx1"/>
                </a:solidFill>
                <a:ea typeface="+mn-ea"/>
                <a:cs typeface="+mn-cs"/>
              </a:rPr>
              <a:t>Flow from policies – and it is possible there can be multiple different procedures linked to the one policy</a:t>
            </a:r>
          </a:p>
          <a:p>
            <a:pPr marL="171450" indent="-171450">
              <a:buFont typeface="Arial" pitchFamily="34" charset="0"/>
              <a:buChar char="•"/>
            </a:pPr>
            <a:r>
              <a:rPr lang="en-AU" sz="1200" kern="1200" dirty="0" smtClean="0">
                <a:solidFill>
                  <a:schemeClr val="tx1"/>
                </a:solidFill>
                <a:ea typeface="+mn-ea"/>
                <a:cs typeface="+mn-cs"/>
              </a:rPr>
              <a:t>Enable organisational plans and policies to be implemented</a:t>
            </a:r>
          </a:p>
          <a:p>
            <a:pPr marL="171450" indent="-171450">
              <a:buFont typeface="Arial" pitchFamily="34" charset="0"/>
              <a:buChar char="•"/>
            </a:pPr>
            <a:r>
              <a:rPr lang="en-AU" sz="1200" kern="1200" dirty="0" smtClean="0">
                <a:solidFill>
                  <a:schemeClr val="tx1"/>
                </a:solidFill>
                <a:ea typeface="+mn-ea"/>
                <a:cs typeface="+mn-cs"/>
              </a:rPr>
              <a:t>Nominate whose responsibility it is to take the actions set out in the procedures.</a:t>
            </a:r>
          </a:p>
          <a:p>
            <a:endParaRPr lang="en-AU" sz="1200" kern="1200" dirty="0" smtClean="0">
              <a:solidFill>
                <a:schemeClr val="tx1"/>
              </a:solidFill>
              <a:ea typeface="+mn-ea"/>
              <a:cs typeface="+mn-cs"/>
            </a:endParaRPr>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a:t>
            </a:r>
            <a:r>
              <a:rPr lang="en-AU" b="0" baseline="0" noProof="0" dirty="0" smtClean="0"/>
              <a:t> and discusses sample procedures for workplace training systems.</a:t>
            </a:r>
            <a:endParaRPr lang="en-AU" b="0" noProof="0" dirty="0" smtClean="0"/>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19034654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list characteristics of procedures – they:</a:t>
            </a:r>
          </a:p>
          <a:p>
            <a:pPr marL="171450" indent="-171450">
              <a:buFont typeface="Arial" pitchFamily="34" charset="0"/>
              <a:buChar char="•"/>
            </a:pPr>
            <a:r>
              <a:rPr lang="en-AU" sz="1200" kern="1200" dirty="0" smtClean="0">
                <a:solidFill>
                  <a:schemeClr val="tx1"/>
                </a:solidFill>
                <a:ea typeface="+mn-ea"/>
                <a:cs typeface="+mn-cs"/>
              </a:rPr>
              <a:t>Explain action to take to enable the intentions of policies to be attained</a:t>
            </a:r>
          </a:p>
          <a:p>
            <a:pPr marL="171450" indent="-171450">
              <a:buFont typeface="Arial" pitchFamily="34" charset="0"/>
              <a:buChar char="•"/>
            </a:pPr>
            <a:r>
              <a:rPr lang="en-AU" sz="1200" kern="1200" dirty="0" smtClean="0">
                <a:solidFill>
                  <a:schemeClr val="tx1"/>
                </a:solidFill>
                <a:ea typeface="+mn-ea"/>
                <a:cs typeface="+mn-cs"/>
              </a:rPr>
              <a:t>Describe action to be taken in given situations/circumstances</a:t>
            </a:r>
          </a:p>
          <a:p>
            <a:pPr marL="171450" indent="-171450">
              <a:buFont typeface="Arial" pitchFamily="34" charset="0"/>
              <a:buChar char="•"/>
            </a:pPr>
            <a:r>
              <a:rPr lang="en-AU" sz="1200" kern="1200" dirty="0" smtClean="0">
                <a:solidFill>
                  <a:schemeClr val="tx1"/>
                </a:solidFill>
                <a:ea typeface="+mn-ea"/>
                <a:cs typeface="+mn-cs"/>
              </a:rPr>
              <a:t>May contain steps in a process in sequential order.</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ea typeface="+mn-ea"/>
                <a:cs typeface="+mn-cs"/>
                <a:hlinkClick r:id="rId3"/>
              </a:rPr>
              <a:t>http://work.chron.com/workplace-training-policy-11928.html</a:t>
            </a:r>
            <a:r>
              <a:rPr lang="en-AU" sz="1200" kern="1200" dirty="0" smtClean="0">
                <a:solidFill>
                  <a:schemeClr val="tx1"/>
                </a:solidFill>
                <a:ea typeface="+mn-ea"/>
                <a:cs typeface="+mn-cs"/>
              </a:rPr>
              <a:t> - Workplace training policy</a:t>
            </a:r>
          </a:p>
          <a:p>
            <a:pPr>
              <a:buFont typeface="Arial" pitchFamily="34" charset="0"/>
              <a:buNone/>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181201022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format and content noting there </a:t>
            </a:r>
            <a:r>
              <a:rPr lang="en-AU" sz="1200" kern="1200" dirty="0" smtClean="0">
                <a:solidFill>
                  <a:schemeClr val="tx1"/>
                </a:solidFill>
                <a:ea typeface="+mn-ea"/>
                <a:cs typeface="+mn-cs"/>
              </a:rPr>
              <a:t>is no universally accepted format for policies and procedures</a:t>
            </a:r>
            <a:r>
              <a:rPr lang="en-AU" noProof="0" dirty="0" smtClean="0"/>
              <a:t>:</a:t>
            </a:r>
          </a:p>
          <a:p>
            <a:r>
              <a:rPr lang="en-AU" sz="1200" b="1" kern="1200" dirty="0" smtClean="0">
                <a:solidFill>
                  <a:schemeClr val="tx1"/>
                </a:solidFill>
                <a:ea typeface="+mn-ea"/>
                <a:cs typeface="+mn-cs"/>
              </a:rPr>
              <a:t>Internal options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Organisations may have/generate a Style Guide which they use to govern/assist those who need to write internal policies and procedures. These Style Guides will/may contain information on topics such as:</a:t>
            </a:r>
          </a:p>
          <a:p>
            <a:pPr marL="171450" indent="-171450">
              <a:buFont typeface="Arial" pitchFamily="34" charset="0"/>
              <a:buChar char="•"/>
            </a:pPr>
            <a:r>
              <a:rPr lang="en-AU" sz="1200" kern="1200" dirty="0" smtClean="0">
                <a:solidFill>
                  <a:schemeClr val="tx1"/>
                </a:solidFill>
                <a:ea typeface="+mn-ea"/>
                <a:cs typeface="+mn-cs"/>
              </a:rPr>
              <a:t>Purpose of the Style Guide</a:t>
            </a:r>
          </a:p>
          <a:p>
            <a:pPr marL="171450" indent="-171450">
              <a:buFont typeface="Arial" pitchFamily="34" charset="0"/>
              <a:buChar char="•"/>
            </a:pPr>
            <a:r>
              <a:rPr lang="en-AU" sz="1200" kern="1200" dirty="0" smtClean="0">
                <a:solidFill>
                  <a:schemeClr val="tx1"/>
                </a:solidFill>
                <a:ea typeface="+mn-ea"/>
                <a:cs typeface="+mn-cs"/>
              </a:rPr>
              <a:t>Principles of and differentiation between policies and procedures</a:t>
            </a:r>
          </a:p>
          <a:p>
            <a:pPr marL="171450" indent="-171450">
              <a:buFont typeface="Arial" pitchFamily="34" charset="0"/>
              <a:buChar char="•"/>
            </a:pPr>
            <a:r>
              <a:rPr lang="en-AU" sz="1200" kern="1200" dirty="0" smtClean="0">
                <a:solidFill>
                  <a:schemeClr val="tx1"/>
                </a:solidFill>
                <a:ea typeface="+mn-ea"/>
                <a:cs typeface="+mn-cs"/>
              </a:rPr>
              <a:t>Styles of policies and procedures – in terms of:</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Criteria for developing policies and procedures – addressing, for example:</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Rationalisation of policies and procedures – to help avoid an excessive number of policies and procedures and to streamline their approach</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Version control information.</a:t>
            </a:r>
            <a:endParaRPr lang="en-AU" sz="1200" kern="1200" dirty="0" smtClean="0">
              <a:solidFill>
                <a:schemeClr val="tx1"/>
              </a:solidFill>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Handout</a:t>
            </a:r>
          </a:p>
          <a:p>
            <a:pPr>
              <a:buFont typeface="Arial" pitchFamily="34" charset="0"/>
              <a:buNone/>
            </a:pPr>
            <a:r>
              <a:rPr lang="en-AU" b="0" noProof="0" dirty="0" smtClean="0"/>
              <a:t>Trainer distributes and discusses example of Style Guide used by organisation to guide preparation of policies and procedures.</a:t>
            </a:r>
          </a:p>
          <a:p>
            <a:pPr>
              <a:buFont typeface="Arial" pitchFamily="34" charset="0"/>
              <a:buNone/>
            </a:pPr>
            <a:endParaRPr lang="en-AU" b="0" noProof="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External options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Where the organisation has elected to become a registered/accredited training provider the Training Authority may:</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Provide model policies and  procedures – for the organisation to use or adapt</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Supply templates – which can be used as the basis for developing policies and procedures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In most cases, organisations will prepare their training and assessment policies and  procedures using the same format as the other policies and  procedures they have developed.</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AU" sz="1200" b="0" i="0" u="none" strike="noStrike" kern="1200" cap="none" spc="0" normalizeH="0" baseline="0" noProof="0" dirty="0" smtClean="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Handouts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distributes and discusses sample ‘policies and procedures’ documentation from national Training Authority.</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399708990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standard content of policies:</a:t>
            </a:r>
          </a:p>
          <a:p>
            <a:pPr marL="171450" indent="-171450">
              <a:buFont typeface="Arial" pitchFamily="34" charset="0"/>
              <a:buChar char="•"/>
            </a:pPr>
            <a:r>
              <a:rPr lang="en-AU" sz="1200" kern="1200" dirty="0" smtClean="0">
                <a:solidFill>
                  <a:schemeClr val="tx1"/>
                </a:solidFill>
                <a:ea typeface="+mn-ea"/>
                <a:cs typeface="+mn-cs"/>
              </a:rPr>
              <a:t>Name/title of the policy</a:t>
            </a:r>
          </a:p>
          <a:p>
            <a:pPr marL="171450" indent="-171450">
              <a:buFont typeface="Arial" pitchFamily="34" charset="0"/>
              <a:buChar char="•"/>
            </a:pPr>
            <a:r>
              <a:rPr lang="en-AU" sz="1200" kern="1200" dirty="0" smtClean="0">
                <a:solidFill>
                  <a:schemeClr val="tx1"/>
                </a:solidFill>
                <a:ea typeface="+mn-ea"/>
                <a:cs typeface="+mn-cs"/>
              </a:rPr>
              <a:t>Purpose of the policy – explaining why the policy has been developed </a:t>
            </a:r>
          </a:p>
          <a:p>
            <a:pPr marL="171450" indent="-171450">
              <a:buFont typeface="Arial" pitchFamily="34" charset="0"/>
              <a:buChar char="•"/>
            </a:pPr>
            <a:r>
              <a:rPr lang="en-AU" sz="1200" kern="1200" dirty="0" smtClean="0">
                <a:solidFill>
                  <a:schemeClr val="tx1"/>
                </a:solidFill>
                <a:ea typeface="+mn-ea"/>
                <a:cs typeface="+mn-cs"/>
              </a:rPr>
              <a:t>Scope of the policy – identifying who the policy applies to/who is bound by it </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Date the policy applies – the date the policy becomes/became effective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Legislative authority – specifying statutes which govern implementation of the policy</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Policy statement/s – statement/s indicating</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Responsibilities for action – giving names/titles of those with specific responsibility under the policy in areas such as, for example:</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Compliance</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Monitoring</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Review</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Record management</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Reporting</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Consequences of non-compliance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Definitions – in relation to policy-specific terms </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Version control information.</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82927305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more information on procedures stating:</a:t>
            </a:r>
          </a:p>
          <a:p>
            <a:pPr marL="171450" indent="-171450">
              <a:buFont typeface="Arial" pitchFamily="34" charset="0"/>
              <a:buChar char="•"/>
            </a:pPr>
            <a:r>
              <a:rPr lang="en-AU" sz="1200" kern="1200" dirty="0" smtClean="0">
                <a:solidFill>
                  <a:schemeClr val="tx1"/>
                </a:solidFill>
                <a:ea typeface="+mn-ea"/>
                <a:cs typeface="+mn-cs"/>
              </a:rPr>
              <a:t>Content of procedures will depend on the topic/activity for which they are being produced</a:t>
            </a:r>
          </a:p>
          <a:p>
            <a:pPr marL="171450" indent="-171450">
              <a:buFont typeface="Arial" pitchFamily="34" charset="0"/>
              <a:buChar char="•"/>
            </a:pPr>
            <a:r>
              <a:rPr lang="en-AU" sz="1200" kern="1200" dirty="0" smtClean="0">
                <a:solidFill>
                  <a:schemeClr val="tx1"/>
                </a:solidFill>
                <a:ea typeface="+mn-ea"/>
                <a:cs typeface="+mn-cs"/>
              </a:rPr>
              <a:t>Procedures may be produced in the form of:</a:t>
            </a:r>
          </a:p>
          <a:p>
            <a:pPr marL="628650" lvl="1" indent="-171450">
              <a:buFont typeface="Arial" pitchFamily="34" charset="0"/>
              <a:buChar char="•"/>
            </a:pPr>
            <a:r>
              <a:rPr lang="en-AU" sz="1200" kern="1200" dirty="0" smtClean="0">
                <a:solidFill>
                  <a:schemeClr val="tx1"/>
                </a:solidFill>
                <a:ea typeface="+mn-ea"/>
                <a:cs typeface="+mn-cs"/>
              </a:rPr>
              <a:t>Checklists</a:t>
            </a:r>
          </a:p>
          <a:p>
            <a:pPr marL="628650" lvl="1" indent="-171450">
              <a:buFont typeface="Arial" pitchFamily="34" charset="0"/>
              <a:buChar char="•"/>
            </a:pPr>
            <a:r>
              <a:rPr lang="en-AU" sz="1200" kern="1200" dirty="0" smtClean="0">
                <a:solidFill>
                  <a:schemeClr val="tx1"/>
                </a:solidFill>
                <a:ea typeface="+mn-ea"/>
                <a:cs typeface="+mn-cs"/>
              </a:rPr>
              <a:t>List with bullet points/dot points</a:t>
            </a:r>
          </a:p>
          <a:p>
            <a:pPr marL="628650" lvl="1" indent="-171450">
              <a:buFont typeface="Arial" pitchFamily="34" charset="0"/>
              <a:buChar char="•"/>
            </a:pPr>
            <a:r>
              <a:rPr lang="en-AU" sz="1200" kern="1200" dirty="0" smtClean="0">
                <a:solidFill>
                  <a:schemeClr val="tx1"/>
                </a:solidFill>
                <a:ea typeface="+mn-ea"/>
                <a:cs typeface="+mn-cs"/>
              </a:rPr>
              <a:t>Written steps for a task</a:t>
            </a:r>
          </a:p>
          <a:p>
            <a:pPr marL="628650" lvl="1" indent="-171450">
              <a:buFont typeface="Arial" pitchFamily="34" charset="0"/>
              <a:buChar char="•"/>
            </a:pPr>
            <a:r>
              <a:rPr lang="en-AU" sz="1200" kern="1200" dirty="0" smtClean="0">
                <a:solidFill>
                  <a:schemeClr val="tx1"/>
                </a:solidFill>
                <a:ea typeface="+mn-ea"/>
                <a:cs typeface="+mn-cs"/>
              </a:rPr>
              <a:t>Flowcharts</a:t>
            </a:r>
          </a:p>
          <a:p>
            <a:pPr marL="628650" lvl="1" indent="-171450">
              <a:buFont typeface="Arial" pitchFamily="34" charset="0"/>
              <a:buChar char="•"/>
            </a:pPr>
            <a:r>
              <a:rPr lang="en-AU" sz="1200" kern="1200" dirty="0" smtClean="0">
                <a:solidFill>
                  <a:schemeClr val="tx1"/>
                </a:solidFill>
                <a:ea typeface="+mn-ea"/>
                <a:cs typeface="+mn-cs"/>
              </a:rPr>
              <a:t>Process charts</a:t>
            </a:r>
          </a:p>
          <a:p>
            <a:pPr marL="628650" lvl="1" indent="-171450">
              <a:buFont typeface="Arial" pitchFamily="34" charset="0"/>
              <a:buChar char="•"/>
            </a:pPr>
            <a:r>
              <a:rPr lang="en-AU" sz="1200" kern="1200" dirty="0" smtClean="0">
                <a:solidFill>
                  <a:schemeClr val="tx1"/>
                </a:solidFill>
                <a:ea typeface="+mn-ea"/>
                <a:cs typeface="+mn-cs"/>
              </a:rPr>
              <a:t>Procedural lists.</a:t>
            </a:r>
          </a:p>
          <a:p>
            <a:pPr>
              <a:buFont typeface="Arial" pitchFamily="34" charset="0"/>
              <a:buNone/>
            </a:pPr>
            <a:endParaRPr lang="en-AU" noProof="0" dirty="0" smtClean="0"/>
          </a:p>
          <a:p>
            <a:pPr>
              <a:buFont typeface="Arial" pitchFamily="34" charset="0"/>
              <a:buNone/>
            </a:pPr>
            <a:r>
              <a:rPr lang="en-AU" b="1" noProof="0" dirty="0" smtClean="0"/>
              <a:t>Classroom Activity (1) – Handouts </a:t>
            </a:r>
          </a:p>
          <a:p>
            <a:pPr>
              <a:buFont typeface="Arial" pitchFamily="34" charset="0"/>
              <a:buNone/>
            </a:pPr>
            <a:r>
              <a:rPr lang="en-AU" b="0" noProof="0" dirty="0" smtClean="0"/>
              <a:t>Trainer distributes and discusses sample procedures as identified on the slide.</a:t>
            </a:r>
          </a:p>
          <a:p>
            <a:pPr>
              <a:buFont typeface="Arial" pitchFamily="34" charset="0"/>
              <a:buNone/>
            </a:pPr>
            <a:endParaRPr lang="en-AU" b="0" noProof="0" dirty="0" smtClean="0"/>
          </a:p>
          <a:p>
            <a:pPr>
              <a:buFont typeface="Arial" pitchFamily="34" charset="0"/>
              <a:buNone/>
            </a:pPr>
            <a:r>
              <a:rPr lang="en-AU" sz="1200" b="1" kern="1200" noProof="0" dirty="0" smtClean="0">
                <a:solidFill>
                  <a:schemeClr val="tx1"/>
                </a:solidFill>
                <a:ea typeface="+mn-ea"/>
                <a:cs typeface="+mn-cs"/>
              </a:rPr>
              <a:t>Classroom Activity (2) – Individual Exercise</a:t>
            </a:r>
          </a:p>
          <a:p>
            <a:pPr>
              <a:buFont typeface="Arial" pitchFamily="34" charset="0"/>
              <a:buNone/>
            </a:pPr>
            <a:r>
              <a:rPr lang="en-AU" sz="1200" b="0" kern="1200" noProof="0" dirty="0" smtClean="0">
                <a:solidFill>
                  <a:schemeClr val="tx1"/>
                </a:solidFill>
                <a:ea typeface="+mn-ea"/>
                <a:cs typeface="+mn-cs"/>
              </a:rPr>
              <a:t>Trainer asks students to develop draft procedures on nominated industry-relevant topics.</a:t>
            </a:r>
            <a:endParaRPr lang="en-AU" b="1"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13474579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possible topics for policies for workplace training systems:</a:t>
            </a:r>
          </a:p>
          <a:p>
            <a:pPr marL="171450" indent="-171450">
              <a:buFont typeface="Arial" panose="020B0604020202020204" pitchFamily="34" charset="0"/>
              <a:buChar char="•"/>
            </a:pPr>
            <a:r>
              <a:rPr lang="en-AU" sz="1200" kern="1200" dirty="0" smtClean="0">
                <a:solidFill>
                  <a:schemeClr val="tx1"/>
                </a:solidFill>
                <a:ea typeface="+mn-ea"/>
                <a:cs typeface="+mn-cs"/>
              </a:rPr>
              <a:t>Discuss points listed in TM ensuring trainees are following and understanding</a:t>
            </a:r>
            <a:r>
              <a:rPr lang="en-AU" sz="1200" kern="1200" baseline="0" dirty="0" smtClean="0">
                <a:solidFill>
                  <a:schemeClr val="tx1"/>
                </a:solidFill>
                <a:ea typeface="+mn-ea"/>
                <a:cs typeface="+mn-cs"/>
              </a:rPr>
              <a:t> content</a:t>
            </a:r>
          </a:p>
          <a:p>
            <a:pPr marL="171450" indent="-171450">
              <a:buFont typeface="Arial" panose="020B0604020202020204" pitchFamily="34" charset="0"/>
              <a:buChar char="•"/>
            </a:pPr>
            <a:r>
              <a:rPr lang="en-AU" sz="1200" kern="1200" baseline="0" dirty="0" smtClean="0">
                <a:solidFill>
                  <a:schemeClr val="tx1"/>
                </a:solidFill>
                <a:ea typeface="+mn-ea"/>
                <a:cs typeface="+mn-cs"/>
              </a:rPr>
              <a:t>Have sample workplace policies available for viewing. Trainees may have relevant knowledge or experience to share.</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workplace training system policies as identified on the slide.</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23854649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identify other possible policies for workplace training systems: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Search websites on next slide.</a:t>
            </a:r>
            <a:endParaRPr lang="en-AU" sz="1200" kern="1200" dirty="0" smtClean="0">
              <a:solidFill>
                <a:schemeClr val="tx1"/>
              </a:solidFill>
              <a:ea typeface="+mn-ea"/>
              <a:cs typeface="+mn-cs"/>
            </a:endParaRP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workplace training system policies as identified on the slide.</a:t>
            </a:r>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solidFill>
                  <a:prstClr val="black"/>
                </a:solidFill>
              </a:rPr>
              <a:pPr/>
              <a:t>67</a:t>
            </a:fld>
            <a:endParaRPr lang="en-US" dirty="0">
              <a:solidFill>
                <a:prstClr val="black"/>
              </a:solidFill>
            </a:endParaRPr>
          </a:p>
        </p:txBody>
      </p:sp>
    </p:spTree>
    <p:extLst>
      <p:ext uri="{BB962C8B-B14F-4D97-AF65-F5344CB8AC3E}">
        <p14:creationId xmlns:p14="http://schemas.microsoft.com/office/powerpoint/2010/main" val="303740530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smtClean="0"/>
              <a:t>View the websites and discuss</a:t>
            </a:r>
            <a:r>
              <a:rPr lang="en-AU" baseline="0" dirty="0" smtClean="0"/>
              <a:t> as needed.</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348935943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standard record keeping requirements:</a:t>
            </a:r>
          </a:p>
          <a:p>
            <a:pPr marL="171450" indent="-171450">
              <a:buFont typeface="Arial" pitchFamily="34" charset="0"/>
              <a:buChar char="•"/>
            </a:pPr>
            <a:r>
              <a:rPr lang="en-AU" sz="1200" kern="1200" dirty="0" smtClean="0">
                <a:solidFill>
                  <a:schemeClr val="tx1"/>
                </a:solidFill>
                <a:ea typeface="+mn-ea"/>
                <a:cs typeface="+mn-cs"/>
              </a:rPr>
              <a:t>They must be user-friendly/easy to use – in terms of:</a:t>
            </a:r>
          </a:p>
          <a:p>
            <a:pPr marL="628650" lvl="1" indent="-171450">
              <a:buFont typeface="Arial" pitchFamily="34" charset="0"/>
              <a:buChar char="•"/>
            </a:pPr>
            <a:r>
              <a:rPr lang="en-AU" sz="1200" kern="1200" dirty="0" smtClean="0">
                <a:solidFill>
                  <a:schemeClr val="tx1"/>
                </a:solidFill>
                <a:ea typeface="+mn-ea"/>
                <a:cs typeface="+mn-cs"/>
              </a:rPr>
              <a:t>Initial creation/establishment</a:t>
            </a:r>
          </a:p>
          <a:p>
            <a:pPr marL="628650" lvl="1" indent="-171450">
              <a:buFont typeface="Arial" pitchFamily="34" charset="0"/>
              <a:buChar char="•"/>
            </a:pPr>
            <a:r>
              <a:rPr lang="en-AU" sz="1200" kern="1200" dirty="0" smtClean="0">
                <a:solidFill>
                  <a:schemeClr val="tx1"/>
                </a:solidFill>
                <a:ea typeface="+mn-ea"/>
                <a:cs typeface="+mn-cs"/>
              </a:rPr>
              <a:t>Ready access</a:t>
            </a:r>
          </a:p>
          <a:p>
            <a:pPr marL="628650" lvl="1" indent="-171450">
              <a:buFont typeface="Arial" pitchFamily="34" charset="0"/>
              <a:buChar char="•"/>
            </a:pPr>
            <a:r>
              <a:rPr lang="en-AU" sz="1200" kern="1200" dirty="0" smtClean="0">
                <a:solidFill>
                  <a:schemeClr val="tx1"/>
                </a:solidFill>
                <a:ea typeface="+mn-ea"/>
                <a:cs typeface="+mn-cs"/>
              </a:rPr>
              <a:t>Updating information and data</a:t>
            </a:r>
          </a:p>
          <a:p>
            <a:pPr marL="628650" lvl="1" indent="-171450">
              <a:buFont typeface="Arial" pitchFamily="34" charset="0"/>
              <a:buChar char="•"/>
            </a:pPr>
            <a:r>
              <a:rPr lang="en-AU" sz="1200" kern="1200" dirty="0" smtClean="0">
                <a:solidFill>
                  <a:schemeClr val="tx1"/>
                </a:solidFill>
                <a:ea typeface="+mn-ea"/>
                <a:cs typeface="+mn-cs"/>
              </a:rPr>
              <a:t>Storing and/or filing</a:t>
            </a:r>
          </a:p>
          <a:p>
            <a:pPr marL="628650" lvl="1" indent="-171450">
              <a:buFont typeface="Arial" pitchFamily="34" charset="0"/>
              <a:buChar char="•"/>
            </a:pPr>
            <a:r>
              <a:rPr lang="en-AU" sz="1200" kern="1200" dirty="0" smtClean="0">
                <a:solidFill>
                  <a:schemeClr val="tx1"/>
                </a:solidFill>
                <a:ea typeface="+mn-ea"/>
                <a:cs typeface="+mn-cs"/>
              </a:rPr>
              <a:t>Retrieval of information when required</a:t>
            </a:r>
          </a:p>
          <a:p>
            <a:pPr marL="628650" lvl="1" indent="-171450">
              <a:buFont typeface="Arial" pitchFamily="34" charset="0"/>
              <a:buChar char="•"/>
            </a:pPr>
            <a:r>
              <a:rPr lang="en-AU" sz="1200" kern="1200" dirty="0" smtClean="0">
                <a:solidFill>
                  <a:schemeClr val="tx1"/>
                </a:solidFill>
                <a:ea typeface="+mn-ea"/>
                <a:cs typeface="+mn-cs"/>
              </a:rPr>
              <a:t>Archiving for future reference</a:t>
            </a:r>
          </a:p>
          <a:p>
            <a:pPr marL="628650" lvl="1" indent="-171450">
              <a:buFont typeface="Arial" pitchFamily="34" charset="0"/>
              <a:buChar char="•"/>
            </a:pPr>
            <a:r>
              <a:rPr lang="en-AU" sz="1200" kern="1200" dirty="0" smtClean="0">
                <a:solidFill>
                  <a:schemeClr val="tx1"/>
                </a:solidFill>
                <a:ea typeface="+mn-ea"/>
                <a:cs typeface="+mn-cs"/>
              </a:rPr>
              <a:t>Administering the records</a:t>
            </a:r>
          </a:p>
          <a:p>
            <a:pPr marL="171450" indent="-171450">
              <a:buFont typeface="Arial" pitchFamily="34" charset="0"/>
              <a:buChar char="•"/>
            </a:pPr>
            <a:r>
              <a:rPr lang="en-AU" sz="1200" kern="1200" dirty="0" smtClean="0">
                <a:solidFill>
                  <a:schemeClr val="tx1"/>
                </a:solidFill>
                <a:ea typeface="+mn-ea"/>
                <a:cs typeface="+mn-cs"/>
              </a:rPr>
              <a:t>They must meet confidentiality standards – by:</a:t>
            </a:r>
          </a:p>
          <a:p>
            <a:pPr marL="628650" lvl="1" indent="-171450">
              <a:buFont typeface="Arial" pitchFamily="34" charset="0"/>
              <a:buChar char="•"/>
            </a:pPr>
            <a:r>
              <a:rPr lang="en-AU" sz="1200" kern="1200" dirty="0" smtClean="0">
                <a:solidFill>
                  <a:schemeClr val="tx1"/>
                </a:solidFill>
                <a:ea typeface="+mn-ea"/>
                <a:cs typeface="+mn-cs"/>
              </a:rPr>
              <a:t>Optimising privacy</a:t>
            </a:r>
          </a:p>
          <a:p>
            <a:pPr marL="628650" lvl="1" indent="-171450">
              <a:buFont typeface="Arial" pitchFamily="34" charset="0"/>
              <a:buChar char="•"/>
            </a:pPr>
            <a:r>
              <a:rPr lang="en-AU" sz="1200" kern="1200" dirty="0" smtClean="0">
                <a:solidFill>
                  <a:schemeClr val="tx1"/>
                </a:solidFill>
                <a:ea typeface="+mn-ea"/>
                <a:cs typeface="+mn-cs"/>
              </a:rPr>
              <a:t>Protecting personal and organisational information and data.</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representative from national Training Authority and:</a:t>
            </a:r>
          </a:p>
          <a:p>
            <a:pPr marL="171450" indent="-171450">
              <a:buFont typeface="Arial" pitchFamily="34" charset="0"/>
              <a:buChar char="•"/>
            </a:pPr>
            <a:r>
              <a:rPr lang="en-AU" b="0" noProof="0" dirty="0" smtClean="0"/>
              <a:t>Provide samples of records which need to be established by recognised workplace training systems</a:t>
            </a:r>
          </a:p>
          <a:p>
            <a:pPr marL="171450" indent="-171450">
              <a:buFont typeface="Arial" pitchFamily="34" charset="0"/>
              <a:buChar char="•"/>
            </a:pPr>
            <a:r>
              <a:rPr lang="en-AU" b="0" noProof="0" dirty="0" smtClean="0"/>
              <a:t>Explain reasons these records need to be maintained</a:t>
            </a:r>
          </a:p>
          <a:p>
            <a:pPr marL="171450" indent="-171450">
              <a:buFont typeface="Arial" pitchFamily="34" charset="0"/>
              <a:buChar char="•"/>
            </a:pPr>
            <a:r>
              <a:rPr lang="en-AU" b="0" noProof="0" dirty="0" smtClean="0"/>
              <a:t>Discusses protocols for keeping records.</a:t>
            </a: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4452129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standard record keeping requirements:</a:t>
            </a:r>
          </a:p>
          <a:p>
            <a:pPr marL="171450" indent="-171450">
              <a:buFont typeface="Arial" pitchFamily="34" charset="0"/>
              <a:buChar char="•"/>
            </a:pPr>
            <a:r>
              <a:rPr lang="en-AU" sz="1200" kern="1200" dirty="0" smtClean="0">
                <a:solidFill>
                  <a:schemeClr val="tx1"/>
                </a:solidFill>
                <a:ea typeface="+mn-ea"/>
                <a:cs typeface="+mn-cs"/>
              </a:rPr>
              <a:t>They must be maintained in a secure manner – which may require:</a:t>
            </a:r>
          </a:p>
          <a:p>
            <a:pPr marL="628650" lvl="1" indent="-171450">
              <a:buFont typeface="Arial" pitchFamily="34" charset="0"/>
              <a:buChar char="•"/>
            </a:pPr>
            <a:r>
              <a:rPr lang="en-AU" sz="1200" kern="1200" dirty="0" smtClean="0">
                <a:solidFill>
                  <a:schemeClr val="tx1"/>
                </a:solidFill>
                <a:ea typeface="+mn-ea"/>
                <a:cs typeface="+mn-cs"/>
              </a:rPr>
              <a:t>Protocols for issuing/releasing records and/information</a:t>
            </a:r>
          </a:p>
          <a:p>
            <a:pPr marL="628650" lvl="1" indent="-171450">
              <a:buFont typeface="Arial" pitchFamily="34" charset="0"/>
              <a:buChar char="•"/>
            </a:pPr>
            <a:r>
              <a:rPr lang="en-AU" sz="1200" kern="1200" dirty="0" smtClean="0">
                <a:solidFill>
                  <a:schemeClr val="tx1"/>
                </a:solidFill>
                <a:ea typeface="+mn-ea"/>
                <a:cs typeface="+mn-cs"/>
              </a:rPr>
              <a:t>Security of the records within the system – including protection from physical damage and/or electronic loss</a:t>
            </a:r>
          </a:p>
          <a:p>
            <a:pPr marL="171450" indent="-171450">
              <a:buFont typeface="Arial" pitchFamily="34" charset="0"/>
              <a:buChar char="•"/>
            </a:pPr>
            <a:r>
              <a:rPr lang="en-AU" sz="1200" kern="1200" dirty="0" smtClean="0">
                <a:solidFill>
                  <a:schemeClr val="tx1"/>
                </a:solidFill>
                <a:ea typeface="+mn-ea"/>
                <a:cs typeface="+mn-cs"/>
              </a:rPr>
              <a:t>They may have to be retained for a nominated period of time – to comply with internal protocols and/or external legislated requirements</a:t>
            </a:r>
          </a:p>
          <a:p>
            <a:pPr marL="171450" indent="-171450">
              <a:buFont typeface="Arial" pitchFamily="34" charset="0"/>
              <a:buChar char="•"/>
            </a:pPr>
            <a:r>
              <a:rPr lang="en-AU" sz="1200" kern="1200" dirty="0" smtClean="0">
                <a:solidFill>
                  <a:schemeClr val="tx1"/>
                </a:solidFill>
                <a:ea typeface="+mn-ea"/>
                <a:cs typeface="+mn-cs"/>
              </a:rPr>
              <a:t>They may be electronic or paper-based – or a combination of the two</a:t>
            </a:r>
          </a:p>
          <a:p>
            <a:pPr marL="628650" lvl="1" indent="-171450">
              <a:buFont typeface="Arial" pitchFamily="34" charset="0"/>
              <a:buChar char="•"/>
            </a:pPr>
            <a:r>
              <a:rPr lang="en-AU" sz="1200" kern="1200" dirty="0" smtClean="0">
                <a:solidFill>
                  <a:schemeClr val="tx1"/>
                </a:solidFill>
                <a:ea typeface="+mn-ea"/>
                <a:cs typeface="+mn-cs"/>
              </a:rPr>
              <a:t>Trainers and assessors may use/maintain paper-based records when working which are later converted/transcribed to electronic format </a:t>
            </a:r>
          </a:p>
          <a:p>
            <a:pPr marL="628650" lvl="1" indent="-171450">
              <a:buFont typeface="Arial" pitchFamily="34" charset="0"/>
              <a:buChar char="•"/>
            </a:pPr>
            <a:r>
              <a:rPr lang="en-AU" sz="1200" kern="1200" dirty="0" smtClean="0">
                <a:solidFill>
                  <a:schemeClr val="tx1"/>
                </a:solidFill>
                <a:ea typeface="+mn-ea"/>
                <a:cs typeface="+mn-cs"/>
              </a:rPr>
              <a:t>Some records that have to be completed for national training authorities may be available in an online format.</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r>
              <a:rPr lang="en-AU" sz="1200" u="sng" kern="1200" dirty="0" smtClean="0">
                <a:solidFill>
                  <a:schemeClr val="tx1"/>
                </a:solidFill>
                <a:ea typeface="+mn-ea"/>
                <a:cs typeface="+mn-cs"/>
                <a:hlinkClick r:id="rId3"/>
              </a:rPr>
              <a:t>http://www.transformingtraining.com.au/storage/Records%20Management%20Policy_procedures.pdf</a:t>
            </a:r>
            <a:r>
              <a:rPr lang="en-AU" sz="1200" kern="1200" dirty="0" smtClean="0">
                <a:solidFill>
                  <a:schemeClr val="tx1"/>
                </a:solidFill>
                <a:ea typeface="+mn-ea"/>
                <a:cs typeface="+mn-cs"/>
              </a:rPr>
              <a:t> – Records Management Policy/procedures (Transforming Training RTO)</a:t>
            </a:r>
          </a:p>
          <a:p>
            <a:r>
              <a:rPr lang="en-AU" sz="1200" u="sng" kern="1200" dirty="0" smtClean="0">
                <a:solidFill>
                  <a:schemeClr val="tx1"/>
                </a:solidFill>
                <a:ea typeface="+mn-ea"/>
                <a:cs typeface="+mn-cs"/>
                <a:hlinkClick r:id="rId4"/>
              </a:rPr>
              <a:t>http://www.records.nsw.gov.au/recordkeeping/advice/designing-implementing-and-managing-systems/dirks-manual/introducing-the-dirks-methodology</a:t>
            </a:r>
            <a:r>
              <a:rPr lang="en-AU" sz="1200" kern="1200" dirty="0" smtClean="0">
                <a:solidFill>
                  <a:schemeClr val="tx1"/>
                </a:solidFill>
                <a:ea typeface="+mn-ea"/>
                <a:cs typeface="+mn-cs"/>
              </a:rPr>
              <a:t> - Introducing the DIRKS methodology</a:t>
            </a:r>
          </a:p>
          <a:p>
            <a:r>
              <a:rPr lang="en-AU" sz="1200" u="sng" kern="1200" dirty="0" smtClean="0">
                <a:solidFill>
                  <a:schemeClr val="tx1"/>
                </a:solidFill>
                <a:ea typeface="+mn-ea"/>
                <a:cs typeface="+mn-cs"/>
                <a:hlinkClick r:id="rId5"/>
              </a:rPr>
              <a:t>http://www.records.nsw.gov.au/recordkeeping/advice/information-security/how-records-management-techniques-and-skills-can-contribute-to-information-security-objectives</a:t>
            </a:r>
            <a:r>
              <a:rPr lang="en-AU" sz="1200" kern="1200" dirty="0" smtClean="0">
                <a:solidFill>
                  <a:schemeClr val="tx1"/>
                </a:solidFill>
                <a:ea typeface="+mn-ea"/>
                <a:cs typeface="+mn-cs"/>
              </a:rPr>
              <a:t> - How records management techniques and skills can contribute to information security objectives</a:t>
            </a: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189198745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gives reasons for keeping records</a:t>
            </a:r>
            <a:r>
              <a:rPr lang="en-AU" baseline="0" noProof="0" dirty="0" smtClean="0">
                <a:sym typeface="Wingdings" panose="05000000000000000000" pitchFamily="2" charset="2"/>
              </a:rPr>
              <a:t> (</a:t>
            </a:r>
            <a:r>
              <a:rPr lang="en-AU" noProof="0" dirty="0" smtClean="0">
                <a:sym typeface="Wingdings" panose="05000000000000000000" pitchFamily="2" charset="2"/>
              </a:rPr>
              <a:t>Refer to TM notes)</a:t>
            </a:r>
            <a:endParaRPr lang="en-AU" noProof="0" dirty="0" smtClean="0"/>
          </a:p>
          <a:p>
            <a:pPr marL="171450" indent="-171450">
              <a:buFont typeface="Arial" pitchFamily="34" charset="0"/>
              <a:buChar char="•"/>
            </a:pPr>
            <a:r>
              <a:rPr lang="en-AU" sz="1200" kern="1200" dirty="0" smtClean="0">
                <a:solidFill>
                  <a:schemeClr val="tx1"/>
                </a:solidFill>
                <a:ea typeface="+mn-ea"/>
                <a:cs typeface="+mn-cs"/>
              </a:rPr>
              <a:t>Compliance with internal organisational requirements – as specified under:</a:t>
            </a:r>
          </a:p>
          <a:p>
            <a:pPr marL="171450" indent="-171450">
              <a:buFont typeface="Arial" pitchFamily="34" charset="0"/>
              <a:buChar char="•"/>
            </a:pPr>
            <a:r>
              <a:rPr lang="en-AU" sz="1200" kern="1200" dirty="0" smtClean="0">
                <a:solidFill>
                  <a:schemeClr val="tx1"/>
                </a:solidFill>
                <a:ea typeface="+mn-ea"/>
                <a:cs typeface="+mn-cs"/>
              </a:rPr>
              <a:t>Compliance with externally-imposed requirements – as stipulated by:</a:t>
            </a:r>
          </a:p>
          <a:p>
            <a:pPr marL="171450" indent="-171450">
              <a:buFont typeface="Arial" pitchFamily="34" charset="0"/>
              <a:buChar char="•"/>
            </a:pPr>
            <a:r>
              <a:rPr lang="en-AU" sz="1200" kern="1200" dirty="0" smtClean="0">
                <a:solidFill>
                  <a:schemeClr val="tx1"/>
                </a:solidFill>
                <a:ea typeface="+mn-ea"/>
                <a:cs typeface="+mn-cs"/>
              </a:rPr>
              <a:t>Recording attendance – with reference to:</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r>
              <a:rPr lang="en-AU" sz="1200" u="sng" kern="1200" dirty="0" smtClean="0">
                <a:solidFill>
                  <a:schemeClr val="tx1"/>
                </a:solidFill>
                <a:ea typeface="+mn-ea"/>
                <a:cs typeface="+mn-cs"/>
                <a:hlinkClick r:id="rId3"/>
              </a:rPr>
              <a:t>http://www.asqa.gov.au/verve/_resources/General_direction_Retaining_student_assessment.pdf</a:t>
            </a:r>
            <a:r>
              <a:rPr lang="en-AU" sz="1200" kern="1200" dirty="0" smtClean="0">
                <a:solidFill>
                  <a:schemeClr val="tx1"/>
                </a:solidFill>
                <a:ea typeface="+mn-ea"/>
                <a:cs typeface="+mn-cs"/>
              </a:rPr>
              <a:t> - General direction: retention requirements for completed student assessment items</a:t>
            </a:r>
          </a:p>
          <a:p>
            <a:r>
              <a:rPr lang="en-AU" sz="1200" u="sng" kern="1200" dirty="0" smtClean="0">
                <a:solidFill>
                  <a:schemeClr val="tx1"/>
                </a:solidFill>
                <a:ea typeface="+mn-ea"/>
                <a:cs typeface="+mn-cs"/>
                <a:hlinkClick r:id="rId4"/>
              </a:rPr>
              <a:t>http://www.asqa.gov.au/faqs/frequently-asked-questions.html#data-and-reporting-requirements</a:t>
            </a:r>
            <a:r>
              <a:rPr lang="en-AU" sz="1200" kern="1200" dirty="0" smtClean="0">
                <a:solidFill>
                  <a:schemeClr val="tx1"/>
                </a:solidFill>
                <a:ea typeface="+mn-ea"/>
                <a:cs typeface="+mn-cs"/>
              </a:rPr>
              <a:t> – FAQs: Data and reporting</a:t>
            </a:r>
          </a:p>
          <a:p>
            <a:r>
              <a:rPr lang="en-AU" sz="1200" u="sng" kern="1200" dirty="0" smtClean="0">
                <a:solidFill>
                  <a:schemeClr val="tx1"/>
                </a:solidFill>
                <a:ea typeface="+mn-ea"/>
                <a:cs typeface="+mn-cs"/>
                <a:hlinkClick r:id="rId5"/>
              </a:rPr>
              <a:t>http://www.asqa.gov.au/users-guide-to-the-standards-for-registered-training-organisations-2015/about-the-standards-for-rtos/standard-eight/clauses/clauses-8.1--8.2.html</a:t>
            </a:r>
            <a:r>
              <a:rPr lang="en-AU" sz="1200" kern="1200" dirty="0" smtClean="0">
                <a:solidFill>
                  <a:schemeClr val="tx1"/>
                </a:solidFill>
                <a:ea typeface="+mn-ea"/>
                <a:cs typeface="+mn-cs"/>
              </a:rPr>
              <a:t> - Provide requested information to ASQA’.</a:t>
            </a:r>
          </a:p>
          <a:p>
            <a:endParaRPr lang="en-AU" sz="1200" kern="1200" dirty="0" smtClean="0">
              <a:solidFill>
                <a:schemeClr val="tx1"/>
              </a:solidFill>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continues to give reasons for keeping records: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Tracking participant progress – in terms of:</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Indicating money spent – on training-related activities such as: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Providing objective data for system analysis – in terms of:</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AU" sz="1200" b="0" i="0" u="none" strike="noStrike" kern="1200" cap="none" spc="0" normalizeH="0" baseline="0" noProof="0" dirty="0" smtClean="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Excursion</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arranges visit to industry organisation with a workplace training system so students can:</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View facilities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Talk to staff</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Observe training and assessment practices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Obtain sample documentation.</a:t>
            </a:r>
          </a:p>
          <a:p>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25795904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notes training records and forms may be obtained in one of two ways:</a:t>
            </a:r>
          </a:p>
          <a:p>
            <a:pPr marL="171450" indent="-171450">
              <a:buFont typeface="Arial" pitchFamily="34" charset="0"/>
              <a:buChar char="•"/>
            </a:pPr>
            <a:r>
              <a:rPr lang="en-AU" noProof="0" dirty="0" smtClean="0"/>
              <a:t>They may be acquired</a:t>
            </a:r>
          </a:p>
          <a:p>
            <a:pPr marL="171450" indent="-171450">
              <a:buFont typeface="Arial" pitchFamily="34" charset="0"/>
              <a:buChar char="•"/>
            </a:pPr>
            <a:r>
              <a:rPr lang="en-AU" noProof="0" dirty="0" smtClean="0"/>
              <a:t>They</a:t>
            </a:r>
            <a:r>
              <a:rPr lang="en-AU" baseline="0" noProof="0" dirty="0" smtClean="0"/>
              <a:t> may be generated.</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87502856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acquisition of forms stating </a:t>
            </a:r>
            <a:r>
              <a:rPr lang="en-AU" sz="1200" b="0" kern="1200" dirty="0" smtClean="0">
                <a:solidFill>
                  <a:schemeClr val="tx1"/>
                </a:solidFill>
                <a:ea typeface="+mn-ea"/>
                <a:cs typeface="+mn-cs"/>
              </a:rPr>
              <a:t>this </a:t>
            </a:r>
            <a:r>
              <a:rPr lang="en-AU" sz="1200" kern="1200" dirty="0" smtClean="0">
                <a:solidFill>
                  <a:schemeClr val="tx1"/>
                </a:solidFill>
                <a:ea typeface="+mn-ea"/>
                <a:cs typeface="+mn-cs"/>
              </a:rPr>
              <a:t>refers to obtaining documents which have already been developed by someone else and identifying new workplace training systems may acquire required training and assessment documents in several ways – such as:</a:t>
            </a:r>
          </a:p>
          <a:p>
            <a:pPr marL="171450" indent="-171450">
              <a:buFont typeface="Arial" pitchFamily="34" charset="0"/>
              <a:buChar char="•"/>
            </a:pPr>
            <a:r>
              <a:rPr lang="en-AU" sz="1200" kern="1200" dirty="0" smtClean="0">
                <a:solidFill>
                  <a:schemeClr val="tx1"/>
                </a:solidFill>
                <a:ea typeface="+mn-ea"/>
                <a:cs typeface="+mn-cs"/>
              </a:rPr>
              <a:t>Obtaining standard forms or templates from the national Training Authority – these are often available as online downloads or in hard copy versions</a:t>
            </a:r>
          </a:p>
          <a:p>
            <a:pPr marL="171450" indent="-171450">
              <a:buFont typeface="Arial" pitchFamily="34" charset="0"/>
              <a:buChar char="•"/>
            </a:pPr>
            <a:r>
              <a:rPr lang="en-AU" sz="1200" kern="1200" dirty="0" smtClean="0">
                <a:solidFill>
                  <a:schemeClr val="tx1"/>
                </a:solidFill>
                <a:ea typeface="+mn-ea"/>
                <a:cs typeface="+mn-cs"/>
              </a:rPr>
              <a:t>Asking people in personal network of contacts for sample documents</a:t>
            </a:r>
          </a:p>
          <a:p>
            <a:pPr marL="171450" indent="-171450">
              <a:buFont typeface="Arial" pitchFamily="34" charset="0"/>
              <a:buChar char="•"/>
            </a:pPr>
            <a:r>
              <a:rPr lang="en-AU" sz="1200" kern="1200" dirty="0" smtClean="0">
                <a:solidFill>
                  <a:schemeClr val="tx1"/>
                </a:solidFill>
                <a:ea typeface="+mn-ea"/>
                <a:cs typeface="+mn-cs"/>
              </a:rPr>
              <a:t>Seeking input from industry bodies and associations.</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r>
              <a:rPr lang="en-AU" sz="1200" u="sng" kern="1200" dirty="0" smtClean="0">
                <a:solidFill>
                  <a:schemeClr val="tx1"/>
                </a:solidFill>
                <a:ea typeface="+mn-ea"/>
                <a:cs typeface="+mn-cs"/>
                <a:hlinkClick r:id="rId3"/>
              </a:rPr>
              <a:t>http://www.asqa.gov.au/forms.html</a:t>
            </a:r>
            <a:r>
              <a:rPr lang="en-AU" sz="1200" kern="1200" dirty="0" smtClean="0">
                <a:solidFill>
                  <a:schemeClr val="tx1"/>
                </a:solidFill>
                <a:ea typeface="+mn-ea"/>
                <a:cs typeface="+mn-cs"/>
              </a:rPr>
              <a:t> - Australian Government: ASQA – forms and guides</a:t>
            </a:r>
          </a:p>
          <a:p>
            <a:r>
              <a:rPr lang="en-AU" sz="1200" u="sng" kern="1200" dirty="0" smtClean="0">
                <a:solidFill>
                  <a:schemeClr val="tx1"/>
                </a:solidFill>
                <a:ea typeface="+mn-ea"/>
                <a:cs typeface="+mn-cs"/>
                <a:hlinkClick r:id="rId4"/>
              </a:rPr>
              <a:t>http://www.det.act.gov.au/__data/assets/pdf_file/0006/456351/Guide-1.pdf</a:t>
            </a:r>
            <a:r>
              <a:rPr lang="en-AU" sz="1200" kern="1200" dirty="0" smtClean="0">
                <a:solidFill>
                  <a:schemeClr val="tx1"/>
                </a:solidFill>
                <a:ea typeface="+mn-ea"/>
                <a:cs typeface="+mn-cs"/>
              </a:rPr>
              <a:t> - Training Package assessment materials kit</a:t>
            </a:r>
          </a:p>
          <a:p>
            <a:pPr>
              <a:buFont typeface="Arial" pitchFamily="34" charset="0"/>
              <a:buNone/>
            </a:pP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29668677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how to acquire copies of existing forms</a:t>
            </a:r>
            <a:r>
              <a:rPr lang="en-AU" baseline="0" noProof="0" dirty="0" smtClean="0"/>
              <a:t> and records:</a:t>
            </a:r>
          </a:p>
          <a:p>
            <a:pPr marL="171450" indent="-171450">
              <a:buFont typeface="Arial" pitchFamily="34" charset="0"/>
              <a:buChar char="•"/>
            </a:pPr>
            <a:r>
              <a:rPr lang="en-AU" sz="1200" kern="1200" dirty="0" smtClean="0">
                <a:solidFill>
                  <a:schemeClr val="tx1"/>
                </a:solidFill>
                <a:ea typeface="+mn-ea"/>
                <a:cs typeface="+mn-cs"/>
              </a:rPr>
              <a:t>Purchasing </a:t>
            </a:r>
            <a:r>
              <a:rPr lang="en-AU" sz="1200" i="1" kern="1200" dirty="0" smtClean="0">
                <a:solidFill>
                  <a:schemeClr val="tx1"/>
                </a:solidFill>
                <a:ea typeface="+mn-ea"/>
                <a:cs typeface="+mn-cs"/>
              </a:rPr>
              <a:t>pro forma</a:t>
            </a:r>
            <a:r>
              <a:rPr lang="en-AU" sz="1200" kern="1200" dirty="0" smtClean="0">
                <a:solidFill>
                  <a:schemeClr val="tx1"/>
                </a:solidFill>
                <a:ea typeface="+mn-ea"/>
                <a:cs typeface="+mn-cs"/>
              </a:rPr>
              <a:t> documents from commercial providers who specialise in supplying business documentation and records</a:t>
            </a:r>
          </a:p>
          <a:p>
            <a:pPr marL="171450" indent="-171450">
              <a:buFont typeface="Arial" pitchFamily="34" charset="0"/>
              <a:buChar char="•"/>
            </a:pPr>
            <a:r>
              <a:rPr lang="en-AU" sz="1200" kern="1200" dirty="0" smtClean="0">
                <a:solidFill>
                  <a:schemeClr val="tx1"/>
                </a:solidFill>
                <a:ea typeface="+mn-ea"/>
                <a:cs typeface="+mn-cs"/>
              </a:rPr>
              <a:t>Asking other workplaces for samples of their records</a:t>
            </a:r>
          </a:p>
          <a:p>
            <a:pPr marL="171450" indent="-171450">
              <a:buFont typeface="Arial" pitchFamily="34" charset="0"/>
              <a:buChar char="•"/>
            </a:pPr>
            <a:r>
              <a:rPr lang="en-AU" sz="1200" kern="1200" dirty="0" smtClean="0">
                <a:solidFill>
                  <a:schemeClr val="tx1"/>
                </a:solidFill>
                <a:ea typeface="+mn-ea"/>
                <a:cs typeface="+mn-cs"/>
              </a:rPr>
              <a:t>Asking recognised training institutions for copies of records they use</a:t>
            </a:r>
          </a:p>
          <a:p>
            <a:pPr marL="171450" indent="-171450">
              <a:buFont typeface="Arial" pitchFamily="34" charset="0"/>
              <a:buChar char="•"/>
            </a:pPr>
            <a:r>
              <a:rPr lang="en-AU" sz="1200" kern="1200" dirty="0" smtClean="0">
                <a:solidFill>
                  <a:schemeClr val="tx1"/>
                </a:solidFill>
                <a:ea typeface="+mn-ea"/>
                <a:cs typeface="+mn-cs"/>
              </a:rPr>
              <a:t>Searching online using searches targeted by individual record/document name.</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r>
              <a:rPr lang="en-AU" sz="1200" u="sng" kern="1200" dirty="0" smtClean="0">
                <a:solidFill>
                  <a:schemeClr val="tx1"/>
                </a:solidFill>
                <a:ea typeface="+mn-ea"/>
                <a:cs typeface="+mn-cs"/>
                <a:hlinkClick r:id="rId3"/>
              </a:rPr>
              <a:t>http://www.ezyhr.com.au/training_logs.html?gclid=CI2ZgtvRxMMCFY4svQodJCMA7w</a:t>
            </a:r>
            <a:r>
              <a:rPr lang="en-AU" sz="1200" kern="1200" dirty="0" smtClean="0">
                <a:solidFill>
                  <a:schemeClr val="tx1"/>
                </a:solidFill>
                <a:ea typeface="+mn-ea"/>
                <a:cs typeface="+mn-cs"/>
              </a:rPr>
              <a:t> – Commercial website: ezyHR</a:t>
            </a:r>
          </a:p>
          <a:p>
            <a:r>
              <a:rPr lang="en-AU" sz="1200" u="sng" kern="1200" dirty="0" smtClean="0">
                <a:solidFill>
                  <a:schemeClr val="tx1"/>
                </a:solidFill>
                <a:ea typeface="+mn-ea"/>
                <a:cs typeface="+mn-cs"/>
                <a:hlinkClick r:id="rId4"/>
              </a:rPr>
              <a:t>http://www.kzsoftware.com/products/training-manager/?gclid=CJSD5ffRxMMCFY8kvQodhxIATw</a:t>
            </a:r>
            <a:r>
              <a:rPr lang="en-AU" sz="1200" kern="1200" dirty="0" smtClean="0">
                <a:solidFill>
                  <a:schemeClr val="tx1"/>
                </a:solidFill>
                <a:ea typeface="+mn-ea"/>
                <a:cs typeface="+mn-cs"/>
              </a:rPr>
              <a:t> Commercial website: Kaizen Software Solutions – training records database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131148714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generating </a:t>
            </a:r>
            <a:r>
              <a:rPr lang="en-AU" sz="1200" kern="1200" dirty="0" smtClean="0">
                <a:solidFill>
                  <a:schemeClr val="tx1"/>
                </a:solidFill>
                <a:ea typeface="+mn-ea"/>
                <a:cs typeface="+mn-cs"/>
              </a:rPr>
              <a:t>records/forms refers to:</a:t>
            </a:r>
          </a:p>
          <a:p>
            <a:pPr marL="171450" indent="-171450">
              <a:buFont typeface="Arial" pitchFamily="34" charset="0"/>
              <a:buChar char="•"/>
            </a:pPr>
            <a:r>
              <a:rPr lang="en-AU" sz="1200" kern="1200" dirty="0" smtClean="0">
                <a:solidFill>
                  <a:schemeClr val="tx1"/>
                </a:solidFill>
                <a:ea typeface="+mn-ea"/>
                <a:cs typeface="+mn-cs"/>
              </a:rPr>
              <a:t>Creating new records from scratch</a:t>
            </a:r>
          </a:p>
          <a:p>
            <a:pPr marL="171450" indent="-171450">
              <a:buFont typeface="Arial" pitchFamily="34" charset="0"/>
              <a:buChar char="•"/>
            </a:pPr>
            <a:r>
              <a:rPr lang="en-AU" sz="1200" kern="1200" dirty="0" smtClean="0">
                <a:solidFill>
                  <a:schemeClr val="tx1"/>
                </a:solidFill>
                <a:ea typeface="+mn-ea"/>
                <a:cs typeface="+mn-cs"/>
              </a:rPr>
              <a:t>Modifying existing/model records in order meet individual need.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363097934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indicates the importance of files and documents being kept centrally located so all trainers have access and you do not re-invent the wheel!</a:t>
            </a:r>
          </a:p>
          <a:p>
            <a:pPr>
              <a:buFont typeface="Arial" pitchFamily="34" charset="0"/>
              <a:buNone/>
            </a:pPr>
            <a:r>
              <a:rPr lang="en-AU" noProof="0" dirty="0" smtClean="0"/>
              <a:t>Trainer identifies the names of forms/records which may be required:</a:t>
            </a:r>
          </a:p>
          <a:p>
            <a:pPr marL="171450" indent="-171450">
              <a:buFont typeface="Arial" pitchFamily="34" charset="0"/>
              <a:buChar char="•"/>
            </a:pPr>
            <a:r>
              <a:rPr lang="en-AU" sz="1200" kern="1200" dirty="0" smtClean="0">
                <a:solidFill>
                  <a:schemeClr val="tx1"/>
                </a:solidFill>
                <a:ea typeface="+mn-ea"/>
                <a:cs typeface="+mn-cs"/>
              </a:rPr>
              <a:t>Application forms – to enable/record:</a:t>
            </a:r>
          </a:p>
          <a:p>
            <a:pPr marL="628650" lvl="1" indent="-171450">
              <a:buFont typeface="Arial" pitchFamily="34" charset="0"/>
              <a:buChar char="•"/>
            </a:pPr>
            <a:r>
              <a:rPr lang="en-AU" sz="1200" kern="1200" dirty="0" smtClean="0">
                <a:solidFill>
                  <a:schemeClr val="tx1"/>
                </a:solidFill>
                <a:ea typeface="+mn-ea"/>
                <a:cs typeface="+mn-cs"/>
              </a:rPr>
              <a:t>Registrations of interest for training</a:t>
            </a:r>
          </a:p>
          <a:p>
            <a:pPr marL="628650" lvl="1" indent="-171450">
              <a:buFont typeface="Arial" pitchFamily="34" charset="0"/>
              <a:buChar char="•"/>
            </a:pPr>
            <a:r>
              <a:rPr lang="en-AU" sz="1200" kern="1200" dirty="0" smtClean="0">
                <a:solidFill>
                  <a:schemeClr val="tx1"/>
                </a:solidFill>
                <a:ea typeface="+mn-ea"/>
                <a:cs typeface="+mn-cs"/>
              </a:rPr>
              <a:t>Requests for assessment</a:t>
            </a:r>
          </a:p>
          <a:p>
            <a:pPr marL="171450" indent="-171450">
              <a:buFont typeface="Arial" pitchFamily="34" charset="0"/>
              <a:buChar char="•"/>
            </a:pPr>
            <a:r>
              <a:rPr lang="en-AU" sz="1200" kern="1200" dirty="0" smtClean="0">
                <a:solidFill>
                  <a:schemeClr val="tx1"/>
                </a:solidFill>
                <a:ea typeface="+mn-ea"/>
                <a:cs typeface="+mn-cs"/>
              </a:rPr>
              <a:t>Time-table </a:t>
            </a:r>
            <a:r>
              <a:rPr lang="en-AU" sz="1200" i="1" kern="1200" dirty="0" smtClean="0">
                <a:solidFill>
                  <a:schemeClr val="tx1"/>
                </a:solidFill>
                <a:ea typeface="+mn-ea"/>
                <a:cs typeface="+mn-cs"/>
              </a:rPr>
              <a:t>pro formas</a:t>
            </a:r>
            <a:r>
              <a:rPr lang="en-AU" sz="1200" kern="1200" dirty="0" smtClean="0">
                <a:solidFill>
                  <a:schemeClr val="tx1"/>
                </a:solidFill>
                <a:ea typeface="+mn-ea"/>
                <a:cs typeface="+mn-cs"/>
              </a:rPr>
              <a:t> – showing scheduled delivery dates and times</a:t>
            </a:r>
          </a:p>
          <a:p>
            <a:pPr marL="171450" indent="-171450">
              <a:buFont typeface="Arial" pitchFamily="34" charset="0"/>
              <a:buChar char="•"/>
            </a:pPr>
            <a:r>
              <a:rPr lang="en-AU" sz="1200" kern="1200" dirty="0" smtClean="0">
                <a:solidFill>
                  <a:schemeClr val="tx1"/>
                </a:solidFill>
                <a:ea typeface="+mn-ea"/>
                <a:cs typeface="+mn-cs"/>
              </a:rPr>
              <a:t>Training evaluation forms – designed to evaluate:</a:t>
            </a:r>
          </a:p>
          <a:p>
            <a:pPr marL="628650" lvl="1" indent="-171450">
              <a:buFont typeface="Arial" pitchFamily="34" charset="0"/>
              <a:buChar char="•"/>
            </a:pPr>
            <a:r>
              <a:rPr lang="en-AU" sz="1200" kern="1200" dirty="0" smtClean="0">
                <a:solidFill>
                  <a:schemeClr val="tx1"/>
                </a:solidFill>
                <a:ea typeface="+mn-ea"/>
                <a:cs typeface="+mn-cs"/>
              </a:rPr>
              <a:t>Training content</a:t>
            </a:r>
          </a:p>
          <a:p>
            <a:pPr marL="628650" lvl="1" indent="-171450">
              <a:buFont typeface="Arial" pitchFamily="34" charset="0"/>
              <a:buChar char="•"/>
            </a:pPr>
            <a:r>
              <a:rPr lang="en-AU" sz="1200" kern="1200" dirty="0" smtClean="0">
                <a:solidFill>
                  <a:schemeClr val="tx1"/>
                </a:solidFill>
                <a:ea typeface="+mn-ea"/>
                <a:cs typeface="+mn-cs"/>
              </a:rPr>
              <a:t>Training delivery methods</a:t>
            </a:r>
          </a:p>
          <a:p>
            <a:pPr marL="628650" lvl="1" indent="-171450">
              <a:buFont typeface="Arial" pitchFamily="34" charset="0"/>
              <a:buChar char="•"/>
            </a:pPr>
            <a:r>
              <a:rPr lang="en-AU" sz="1200" kern="1200" dirty="0" smtClean="0">
                <a:solidFill>
                  <a:schemeClr val="tx1"/>
                </a:solidFill>
                <a:ea typeface="+mn-ea"/>
                <a:cs typeface="+mn-cs"/>
              </a:rPr>
              <a:t>Training resources</a:t>
            </a:r>
          </a:p>
          <a:p>
            <a:pPr marL="628650" lvl="1" indent="-171450">
              <a:buFont typeface="Arial" pitchFamily="34" charset="0"/>
              <a:buChar char="•"/>
            </a:pPr>
            <a:r>
              <a:rPr lang="en-AU" sz="1200" kern="1200" dirty="0" smtClean="0">
                <a:solidFill>
                  <a:schemeClr val="tx1"/>
                </a:solidFill>
                <a:ea typeface="+mn-ea"/>
                <a:cs typeface="+mn-cs"/>
              </a:rPr>
              <a:t>Trainers.</a:t>
            </a:r>
          </a:p>
          <a:p>
            <a:pPr>
              <a:buFont typeface="Arial" pitchFamily="34" charset="0"/>
              <a:buNone/>
            </a:pPr>
            <a:endParaRPr lang="en-AU"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documents as identified on this slide and the continued list in TM.</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243449635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names of forms/records which may be required:</a:t>
            </a:r>
          </a:p>
          <a:p>
            <a:pPr marL="171450" indent="-171450">
              <a:buFont typeface="Arial" pitchFamily="34" charset="0"/>
              <a:buChar char="•"/>
            </a:pPr>
            <a:r>
              <a:rPr lang="en-AU" sz="1200" kern="1200" dirty="0" smtClean="0">
                <a:solidFill>
                  <a:schemeClr val="tx1"/>
                </a:solidFill>
                <a:ea typeface="+mn-ea"/>
                <a:cs typeface="+mn-cs"/>
              </a:rPr>
              <a:t>Completed applications made in relation to Complaints, Grievances and/or Appeals</a:t>
            </a:r>
          </a:p>
          <a:p>
            <a:pPr marL="171450" indent="-171450">
              <a:buFont typeface="Arial" pitchFamily="34" charset="0"/>
              <a:buChar char="•"/>
            </a:pPr>
            <a:r>
              <a:rPr lang="en-AU" sz="1200" kern="1200" dirty="0" smtClean="0">
                <a:solidFill>
                  <a:schemeClr val="tx1"/>
                </a:solidFill>
                <a:ea typeface="+mn-ea"/>
                <a:cs typeface="+mn-cs"/>
              </a:rPr>
              <a:t>Fees paid – by those who pay to learn or be assessed</a:t>
            </a:r>
          </a:p>
          <a:p>
            <a:pPr marL="171450" indent="-171450">
              <a:buFont typeface="Arial" pitchFamily="34" charset="0"/>
              <a:buChar char="•"/>
            </a:pPr>
            <a:r>
              <a:rPr lang="en-AU" sz="1200" kern="1200" dirty="0" smtClean="0">
                <a:solidFill>
                  <a:schemeClr val="tx1"/>
                </a:solidFill>
                <a:ea typeface="+mn-ea"/>
                <a:cs typeface="+mn-cs"/>
              </a:rPr>
              <a:t>Qualifications of trainers and assessors</a:t>
            </a:r>
          </a:p>
          <a:p>
            <a:pPr>
              <a:buFont typeface="Arial" pitchFamily="34" charset="0"/>
              <a:buNone/>
            </a:pPr>
            <a:endParaRPr lang="en-AU" noProof="0" dirty="0" smtClean="0"/>
          </a:p>
          <a:p>
            <a:pPr>
              <a:buFont typeface="Arial" pitchFamily="34" charset="0"/>
              <a:buNone/>
            </a:pPr>
            <a:r>
              <a:rPr lang="en-AU" b="1" noProof="0" dirty="0" smtClean="0"/>
              <a:t>Classroom Activity (1) – Handouts</a:t>
            </a:r>
          </a:p>
          <a:p>
            <a:pPr>
              <a:buFont typeface="Arial" pitchFamily="34" charset="0"/>
              <a:buNone/>
            </a:pPr>
            <a:r>
              <a:rPr lang="en-AU" b="0" noProof="0" dirty="0" smtClean="0"/>
              <a:t>Trainer distributes and discusses sample documents as identified on the slide.</a:t>
            </a:r>
          </a:p>
          <a:p>
            <a:pPr>
              <a:buFont typeface="Arial" pitchFamily="34" charset="0"/>
              <a:buNone/>
            </a:pPr>
            <a:endParaRPr lang="en-AU" noProof="0" dirty="0" smtClean="0"/>
          </a:p>
          <a:p>
            <a:pPr>
              <a:buFont typeface="Arial" pitchFamily="34" charset="0"/>
              <a:buNone/>
            </a:pPr>
            <a:r>
              <a:rPr lang="en-AU" b="1" noProof="0" dirty="0" smtClean="0"/>
              <a:t>Classroom Activity (2) – Internet Research</a:t>
            </a:r>
          </a:p>
          <a:p>
            <a:pPr>
              <a:buFont typeface="Arial" pitchFamily="34" charset="0"/>
              <a:buNone/>
            </a:pPr>
            <a:r>
              <a:rPr lang="en-AU" b="0" noProof="0" dirty="0" smtClean="0"/>
              <a:t>Trainer supervises internet research and subsequent classroom discussion by visiting:</a:t>
            </a:r>
          </a:p>
          <a:p>
            <a:r>
              <a:rPr lang="en-AU" sz="1200" u="sng" kern="1200" dirty="0" smtClean="0">
                <a:solidFill>
                  <a:schemeClr val="tx1"/>
                </a:solidFill>
                <a:ea typeface="+mn-ea"/>
                <a:cs typeface="+mn-cs"/>
                <a:hlinkClick r:id="rId3"/>
              </a:rPr>
              <a:t>http://www.waseantourism.com/</a:t>
            </a:r>
            <a:r>
              <a:rPr lang="en-AU" sz="1200" kern="1200" dirty="0" smtClean="0">
                <a:solidFill>
                  <a:schemeClr val="tx1"/>
                </a:solidFill>
                <a:ea typeface="+mn-ea"/>
                <a:cs typeface="+mn-cs"/>
              </a:rPr>
              <a:t> - Training resources and competency standards for ASEAN</a:t>
            </a:r>
          </a:p>
          <a:p>
            <a:r>
              <a:rPr lang="en-AU" sz="1200" u="sng" kern="1200" dirty="0" smtClean="0">
                <a:solidFill>
                  <a:schemeClr val="tx1"/>
                </a:solidFill>
                <a:ea typeface="+mn-ea"/>
                <a:cs typeface="+mn-cs"/>
                <a:hlinkClick r:id="rId4"/>
              </a:rPr>
              <a:t>https://www.jjkellertraining.com/TrainingResources/1812/OSHA</a:t>
            </a:r>
            <a:r>
              <a:rPr lang="en-AU" sz="1200" kern="1200" dirty="0" smtClean="0">
                <a:solidFill>
                  <a:schemeClr val="tx1"/>
                </a:solidFill>
                <a:ea typeface="+mn-ea"/>
                <a:cs typeface="+mn-cs"/>
              </a:rPr>
              <a:t> - Training records: going beyond the class sign-in sheet</a:t>
            </a:r>
          </a:p>
          <a:p>
            <a:r>
              <a:rPr lang="en-AU" sz="1200" u="sng" kern="1200" dirty="0" smtClean="0">
                <a:solidFill>
                  <a:schemeClr val="tx1"/>
                </a:solidFill>
                <a:ea typeface="+mn-ea"/>
                <a:cs typeface="+mn-cs"/>
                <a:hlinkClick r:id="rId5"/>
              </a:rPr>
              <a:t>http://www.training.nsw.gov.au/forms_documents/apprenticeships_traineeships/supervising_your_app_trainee.pdf</a:t>
            </a:r>
            <a:r>
              <a:rPr lang="en-AU" sz="1200" kern="1200" dirty="0" smtClean="0">
                <a:solidFill>
                  <a:schemeClr val="tx1"/>
                </a:solidFill>
                <a:ea typeface="+mn-ea"/>
                <a:cs typeface="+mn-cs"/>
              </a:rPr>
              <a:t> - Supervising your apprentice or trainee (with special attention to the section ‘What records do I need to keep?’)</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30518008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names of forms/records which may be required:</a:t>
            </a:r>
          </a:p>
          <a:p>
            <a:pPr marL="171450" indent="-171450">
              <a:buFont typeface="Arial" pitchFamily="34" charset="0"/>
              <a:buChar char="•"/>
            </a:pPr>
            <a:r>
              <a:rPr lang="en-AU" sz="1200" kern="1200" dirty="0" smtClean="0">
                <a:solidFill>
                  <a:schemeClr val="tx1"/>
                </a:solidFill>
                <a:ea typeface="+mn-ea"/>
                <a:cs typeface="+mn-cs"/>
              </a:rPr>
              <a:t>Agendas and Minutes of staff meetings</a:t>
            </a:r>
          </a:p>
          <a:p>
            <a:pPr marL="171450" indent="-171450">
              <a:buFont typeface="Arial" pitchFamily="34" charset="0"/>
              <a:buChar char="•"/>
            </a:pPr>
            <a:r>
              <a:rPr lang="en-AU" sz="1200" kern="1200" dirty="0" smtClean="0">
                <a:solidFill>
                  <a:schemeClr val="tx1"/>
                </a:solidFill>
                <a:ea typeface="+mn-ea"/>
                <a:cs typeface="+mn-cs"/>
              </a:rPr>
              <a:t>Employee suggestions – in relation to training delivery and/or future courses</a:t>
            </a:r>
          </a:p>
          <a:p>
            <a:pPr marL="171450" indent="-171450">
              <a:buFont typeface="Arial" pitchFamily="34" charset="0"/>
              <a:buChar char="•"/>
            </a:pPr>
            <a:r>
              <a:rPr lang="en-AU" sz="1200" kern="1200" dirty="0" smtClean="0">
                <a:solidFill>
                  <a:schemeClr val="tx1"/>
                </a:solidFill>
                <a:ea typeface="+mn-ea"/>
                <a:cs typeface="+mn-cs"/>
              </a:rPr>
              <a:t>Logbooks and workbooks – completed by learners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Registration documents of the organisation as an accredited/recognised training provider, where applicable – as required by the relevant Training Authority.</a:t>
            </a:r>
          </a:p>
          <a:p>
            <a:pPr>
              <a:buFont typeface="Arial" pitchFamily="34" charset="0"/>
              <a:buNone/>
            </a:pPr>
            <a:endParaRPr lang="en-AU" noProof="0" dirty="0" smtClean="0"/>
          </a:p>
          <a:p>
            <a:pPr>
              <a:buFont typeface="Arial" pitchFamily="34" charset="0"/>
              <a:buNone/>
            </a:pPr>
            <a:r>
              <a:rPr lang="en-AU" b="1" noProof="0" dirty="0" smtClean="0"/>
              <a:t>Classroom Activity (1) – Handouts</a:t>
            </a:r>
          </a:p>
          <a:p>
            <a:pPr>
              <a:buFont typeface="Arial" pitchFamily="34" charset="0"/>
              <a:buNone/>
            </a:pPr>
            <a:r>
              <a:rPr lang="en-AU" b="0" noProof="0" dirty="0" smtClean="0"/>
              <a:t>Trainer distributes and discusses sample documents as identified on the slide.</a:t>
            </a:r>
          </a:p>
          <a:p>
            <a:pPr>
              <a:buFont typeface="Arial" pitchFamily="34" charset="0"/>
              <a:buNone/>
            </a:pPr>
            <a:endParaRPr lang="en-AU" noProof="0" dirty="0" smtClean="0"/>
          </a:p>
          <a:p>
            <a:pPr>
              <a:buFont typeface="Arial" pitchFamily="34" charset="0"/>
              <a:buNone/>
            </a:pPr>
            <a:r>
              <a:rPr lang="en-AU" b="1" noProof="0" dirty="0" smtClean="0"/>
              <a:t>Classroom Activity (2) – Internet Research</a:t>
            </a:r>
          </a:p>
          <a:p>
            <a:pPr>
              <a:buFont typeface="Arial" pitchFamily="34" charset="0"/>
              <a:buNone/>
            </a:pPr>
            <a:r>
              <a:rPr lang="en-AU" b="0" noProof="0" dirty="0" smtClean="0"/>
              <a:t>Trainer supervises internet research and subsequent classroom discussion by visiting:</a:t>
            </a:r>
          </a:p>
          <a:p>
            <a:r>
              <a:rPr lang="en-AU" sz="1200" u="sng" kern="1200" dirty="0" smtClean="0">
                <a:solidFill>
                  <a:schemeClr val="tx1"/>
                </a:solidFill>
                <a:ea typeface="+mn-ea"/>
                <a:cs typeface="+mn-cs"/>
                <a:hlinkClick r:id="rId3"/>
              </a:rPr>
              <a:t>https://www.business.qld.gov.au/business/employing/employee-rights-awards-entitlements/obligation-as-employer/legal-training-obligations</a:t>
            </a:r>
            <a:r>
              <a:rPr lang="en-AU" sz="1200" kern="1200" dirty="0" smtClean="0">
                <a:solidFill>
                  <a:schemeClr val="tx1"/>
                </a:solidFill>
                <a:ea typeface="+mn-ea"/>
                <a:cs typeface="+mn-cs"/>
              </a:rPr>
              <a:t> - Legal obligations when training staff</a:t>
            </a:r>
          </a:p>
          <a:p>
            <a:r>
              <a:rPr lang="en-AU" sz="1200" u="sng" kern="1200" dirty="0" smtClean="0">
                <a:solidFill>
                  <a:schemeClr val="tx1"/>
                </a:solidFill>
                <a:ea typeface="+mn-ea"/>
                <a:cs typeface="+mn-cs"/>
                <a:hlinkClick r:id="rId4"/>
              </a:rPr>
              <a:t>http://www.training.qld.gov.au/resources/training-organisations/pdf/guide-training-plan-record.pdf</a:t>
            </a:r>
            <a:r>
              <a:rPr lang="en-AU" sz="1200" kern="1200" dirty="0" smtClean="0">
                <a:solidFill>
                  <a:schemeClr val="tx1"/>
                </a:solidFill>
                <a:ea typeface="+mn-ea"/>
                <a:cs typeface="+mn-cs"/>
              </a:rPr>
              <a:t> - Guide to training plans and training records.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kumimoji="0" lang="en-AU" sz="1200" b="0" i="0" u="none" strike="noStrike" kern="1200" cap="none" spc="0" normalizeH="0" baseline="0" noProof="0" dirty="0" smtClean="0">
              <a:ln>
                <a:noFill/>
              </a:ln>
              <a:solidFill>
                <a:prstClr val="black"/>
              </a:solidFill>
              <a:effectLst/>
              <a:uLnTx/>
              <a:uFillTx/>
            </a:endParaRP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Ensure all work projects have been completed and handed into trainer ensuring cover page details are attached for assessment tracking</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Review the summary page for Element 3 to confirm what has been completed for this element.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82185434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418273684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sz="1200" kern="1200" baseline="0" dirty="0" smtClean="0">
                <a:solidFill>
                  <a:schemeClr val="tx1"/>
                </a:solidFill>
                <a:ea typeface="+mn-ea"/>
                <a:cs typeface="+mn-cs"/>
              </a:rPr>
              <a:t>Why do reviews of workplace training systems need to occur?</a:t>
            </a:r>
          </a:p>
          <a:p>
            <a:pPr marL="171450" indent="-171450">
              <a:buFont typeface="Arial" pitchFamily="34" charset="0"/>
              <a:buChar char="•"/>
            </a:pPr>
            <a:r>
              <a:rPr lang="en-US" sz="1200" kern="1200" baseline="0" dirty="0" smtClean="0">
                <a:solidFill>
                  <a:schemeClr val="tx1"/>
                </a:solidFill>
                <a:ea typeface="+mn-ea"/>
                <a:cs typeface="+mn-cs"/>
              </a:rPr>
              <a:t>Who undertakes the reviews?</a:t>
            </a:r>
          </a:p>
          <a:p>
            <a:pPr marL="171450" indent="-171450">
              <a:buFont typeface="Arial" pitchFamily="34" charset="0"/>
              <a:buChar char="•"/>
            </a:pPr>
            <a:r>
              <a:rPr lang="en-US" sz="1200" kern="1200" baseline="0" dirty="0" smtClean="0">
                <a:solidFill>
                  <a:schemeClr val="tx1"/>
                </a:solidFill>
                <a:ea typeface="+mn-ea"/>
                <a:cs typeface="+mn-cs"/>
              </a:rPr>
              <a:t>When are they done?</a:t>
            </a:r>
          </a:p>
          <a:p>
            <a:pPr marL="171450" indent="-171450">
              <a:buFont typeface="Arial" pitchFamily="34" charset="0"/>
              <a:buChar char="•"/>
            </a:pPr>
            <a:r>
              <a:rPr lang="en-US" sz="1200" kern="1200" baseline="0" dirty="0" smtClean="0">
                <a:solidFill>
                  <a:schemeClr val="tx1"/>
                </a:solidFill>
                <a:ea typeface="+mn-ea"/>
                <a:cs typeface="+mn-cs"/>
              </a:rPr>
              <a:t>What is the process?</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110595551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reasons to review:</a:t>
            </a:r>
          </a:p>
          <a:p>
            <a:pPr marL="171450" indent="-171450">
              <a:buFont typeface="Arial" pitchFamily="34" charset="0"/>
              <a:buChar char="•"/>
            </a:pPr>
            <a:r>
              <a:rPr lang="en-AU" sz="1200" kern="1200" dirty="0" smtClean="0">
                <a:solidFill>
                  <a:schemeClr val="tx1"/>
                </a:solidFill>
                <a:ea typeface="+mn-ea"/>
                <a:cs typeface="+mn-cs"/>
              </a:rPr>
              <a:t>Meet compliance requirements imposed by the national Training Authority</a:t>
            </a:r>
          </a:p>
          <a:p>
            <a:pPr marL="171450" indent="-171450">
              <a:buFont typeface="Arial" pitchFamily="34" charset="0"/>
              <a:buChar char="•"/>
            </a:pPr>
            <a:r>
              <a:rPr lang="en-AU" sz="1200" kern="1200" dirty="0" smtClean="0">
                <a:solidFill>
                  <a:schemeClr val="tx1"/>
                </a:solidFill>
                <a:ea typeface="+mn-ea"/>
                <a:cs typeface="+mn-cs"/>
              </a:rPr>
              <a:t>Conform to internal review requirements contained in relevant policies</a:t>
            </a:r>
          </a:p>
          <a:p>
            <a:pPr marL="171450" indent="-171450">
              <a:buFont typeface="Arial" pitchFamily="34" charset="0"/>
              <a:buChar char="•"/>
            </a:pPr>
            <a:r>
              <a:rPr lang="en-AU" sz="1200" kern="1200" dirty="0" smtClean="0">
                <a:solidFill>
                  <a:schemeClr val="tx1"/>
                </a:solidFill>
                <a:ea typeface="+mn-ea"/>
                <a:cs typeface="+mn-cs"/>
              </a:rPr>
              <a:t>Determine whether or not training and assessment being conducted is meeting intended and/or actual workplace need.</a:t>
            </a:r>
          </a:p>
          <a:p>
            <a:pPr>
              <a:buFont typeface="Arial" pitchFamily="34" charset="0"/>
              <a:buNone/>
            </a:pPr>
            <a:endParaRPr lang="en-AU" noProof="0" dirty="0" smtClean="0"/>
          </a:p>
          <a:p>
            <a:pPr>
              <a:buFont typeface="Arial" pitchFamily="34" charset="0"/>
              <a:buNone/>
            </a:pPr>
            <a:r>
              <a:rPr lang="en-AU" noProof="0" dirty="0" smtClean="0"/>
              <a:t>Continue working through TM points and discuss each as necessary.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3732072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elements to review</a:t>
            </a:r>
            <a:r>
              <a:rPr lang="en-AU" baseline="0" noProof="0" dirty="0" smtClean="0"/>
              <a:t> and discusses each with as much detail as required.</a:t>
            </a:r>
            <a:endParaRPr lang="en-AU" noProof="0" dirty="0" smtClean="0"/>
          </a:p>
          <a:p>
            <a:pPr>
              <a:buFont typeface="Arial" pitchFamily="34" charset="0"/>
              <a:buChar char="•"/>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Training Manager or relevant other person</a:t>
            </a:r>
            <a:r>
              <a:rPr lang="en-AU" b="0" baseline="0" noProof="0" dirty="0" smtClean="0"/>
              <a:t> from a workplace training system to attend and:</a:t>
            </a:r>
          </a:p>
          <a:p>
            <a:pPr marL="171450" indent="-171450">
              <a:buFont typeface="Arial" pitchFamily="34" charset="0"/>
              <a:buChar char="•"/>
            </a:pPr>
            <a:r>
              <a:rPr lang="en-AU" b="0" baseline="0" noProof="0" dirty="0" smtClean="0"/>
              <a:t>Discuss review of the system</a:t>
            </a:r>
          </a:p>
          <a:p>
            <a:pPr marL="171450" indent="-171450">
              <a:buFont typeface="Arial" pitchFamily="34" charset="0"/>
              <a:buChar char="•"/>
            </a:pPr>
            <a:r>
              <a:rPr lang="en-AU" b="0" baseline="0" noProof="0" dirty="0" smtClean="0"/>
              <a:t>Explain frequency/timing of reviews</a:t>
            </a:r>
          </a:p>
          <a:p>
            <a:pPr marL="171450" indent="-171450">
              <a:buFont typeface="Arial" pitchFamily="34" charset="0"/>
              <a:buChar char="•"/>
            </a:pPr>
            <a:r>
              <a:rPr lang="en-AU" b="0" baseline="0" noProof="0" dirty="0" smtClean="0"/>
              <a:t>Describe processes</a:t>
            </a:r>
          </a:p>
          <a:p>
            <a:pPr marL="171450" indent="-171450">
              <a:buFont typeface="Arial" pitchFamily="34" charset="0"/>
              <a:buChar char="•"/>
            </a:pPr>
            <a:r>
              <a:rPr lang="en-AU" b="0" baseline="0" noProof="0" dirty="0" smtClean="0"/>
              <a:t>Identify personnel involved</a:t>
            </a:r>
          </a:p>
          <a:p>
            <a:pPr marL="171450" indent="-171450">
              <a:buFont typeface="Arial" pitchFamily="34" charset="0"/>
              <a:buChar char="•"/>
            </a:pPr>
            <a:r>
              <a:rPr lang="en-AU" b="0" baseline="0" noProof="0" dirty="0" smtClean="0"/>
              <a:t>Provide sample documentation.</a:t>
            </a:r>
          </a:p>
          <a:p>
            <a:pPr>
              <a:buFont typeface="Arial" pitchFamily="34" charset="0"/>
              <a:buChar char="•"/>
            </a:pPr>
            <a:endParaRPr lang="en-AU" b="0" baseline="0" noProof="0" dirty="0" smtClean="0"/>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80216655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options for review:</a:t>
            </a:r>
          </a:p>
          <a:p>
            <a:pPr marL="171450" indent="-171450">
              <a:buFont typeface="Arial" pitchFamily="34" charset="0"/>
              <a:buChar char="•"/>
            </a:pPr>
            <a:r>
              <a:rPr lang="en-AU" sz="1200" kern="1200" dirty="0" smtClean="0">
                <a:solidFill>
                  <a:schemeClr val="tx1"/>
                </a:solidFill>
                <a:ea typeface="+mn-ea"/>
                <a:cs typeface="+mn-cs"/>
              </a:rPr>
              <a:t>At the completion of individual units</a:t>
            </a:r>
          </a:p>
          <a:p>
            <a:pPr marL="171450" indent="-171450">
              <a:buFont typeface="Arial" pitchFamily="34" charset="0"/>
              <a:buChar char="•"/>
            </a:pPr>
            <a:r>
              <a:rPr lang="en-AU" sz="1200" kern="1200" dirty="0" smtClean="0">
                <a:solidFill>
                  <a:schemeClr val="tx1"/>
                </a:solidFill>
                <a:ea typeface="+mn-ea"/>
                <a:cs typeface="+mn-cs"/>
              </a:rPr>
              <a:t>At the completion of courses</a:t>
            </a:r>
          </a:p>
          <a:p>
            <a:pPr marL="171450" indent="-171450">
              <a:buFont typeface="Arial" pitchFamily="34" charset="0"/>
              <a:buChar char="•"/>
            </a:pPr>
            <a:r>
              <a:rPr lang="en-AU" sz="1200" kern="1200" dirty="0" smtClean="0">
                <a:solidFill>
                  <a:schemeClr val="tx1"/>
                </a:solidFill>
                <a:ea typeface="+mn-ea"/>
                <a:cs typeface="+mn-cs"/>
              </a:rPr>
              <a:t>When participants complete identified training</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In a cyclical manner</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At a designated time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Following significant workplace change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In response to workplace events.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2956273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r>
              <a:rPr lang="en-AU" sz="1200" b="1" kern="1200" dirty="0" smtClean="0">
                <a:solidFill>
                  <a:schemeClr val="tx1"/>
                </a:solidFill>
                <a:ea typeface="+mn-ea"/>
                <a:cs typeface="+mn-cs"/>
              </a:rPr>
              <a:t>At the completion of individual units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‘Units’ may refer to:</a:t>
            </a:r>
          </a:p>
          <a:p>
            <a:pPr marL="171450" indent="-171450">
              <a:buFont typeface="Arial" pitchFamily="34" charset="0"/>
              <a:buChar char="•"/>
            </a:pPr>
            <a:r>
              <a:rPr lang="en-AU" sz="1200" kern="1200" dirty="0" smtClean="0">
                <a:solidFill>
                  <a:schemeClr val="tx1"/>
                </a:solidFill>
                <a:ea typeface="+mn-ea"/>
                <a:cs typeface="+mn-cs"/>
              </a:rPr>
              <a:t>A competency standard – which is sometimes referred to as a unit</a:t>
            </a:r>
          </a:p>
          <a:p>
            <a:pPr marL="171450" indent="-171450">
              <a:buFont typeface="Arial" pitchFamily="34" charset="0"/>
              <a:buChar char="•"/>
            </a:pPr>
            <a:r>
              <a:rPr lang="en-AU" sz="1200" kern="1200" dirty="0" smtClean="0">
                <a:solidFill>
                  <a:schemeClr val="tx1"/>
                </a:solidFill>
                <a:ea typeface="+mn-ea"/>
                <a:cs typeface="+mn-cs"/>
              </a:rPr>
              <a:t>An amalgamation of training objectives on related topics which were bundled together in a logical entity.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324741161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reviewing </a:t>
            </a:r>
            <a:r>
              <a:rPr lang="en-AU" sz="1200" kern="1200" dirty="0" smtClean="0">
                <a:solidFill>
                  <a:schemeClr val="tx1"/>
                </a:solidFill>
                <a:ea typeface="+mn-ea"/>
                <a:cs typeface="+mn-cs"/>
              </a:rPr>
              <a:t>at the completion of individual units:</a:t>
            </a:r>
          </a:p>
          <a:p>
            <a:pPr marL="171450" indent="-171450">
              <a:buFont typeface="Arial" pitchFamily="34" charset="0"/>
              <a:buChar char="•"/>
            </a:pPr>
            <a:r>
              <a:rPr lang="en-AU" sz="1200" kern="1200" dirty="0" smtClean="0">
                <a:solidFill>
                  <a:schemeClr val="tx1"/>
                </a:solidFill>
                <a:ea typeface="+mn-ea"/>
                <a:cs typeface="+mn-cs"/>
              </a:rPr>
              <a:t>May be excessively expensive and time consuming – especially if it is apparent the training is proving effective</a:t>
            </a:r>
          </a:p>
          <a:p>
            <a:pPr marL="171450" indent="-171450">
              <a:buFont typeface="Arial" pitchFamily="34" charset="0"/>
              <a:buChar char="•"/>
            </a:pPr>
            <a:r>
              <a:rPr lang="en-AU" sz="1200" kern="1200" dirty="0" smtClean="0">
                <a:solidFill>
                  <a:schemeClr val="tx1"/>
                </a:solidFill>
                <a:ea typeface="+mn-ea"/>
                <a:cs typeface="+mn-cs"/>
              </a:rPr>
              <a:t>Allows regular analysis of all training delivered by the organisation – so immediate remedial action can be taken where required.</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144816666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r>
              <a:rPr lang="en-AU" sz="1200" b="1" kern="1200" dirty="0" smtClean="0">
                <a:solidFill>
                  <a:schemeClr val="tx1"/>
                </a:solidFill>
                <a:ea typeface="+mn-ea"/>
                <a:cs typeface="+mn-cs"/>
              </a:rPr>
              <a:t>At the completion of courses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These reviews will take place when learners:</a:t>
            </a:r>
          </a:p>
          <a:p>
            <a:pPr marL="171450" indent="-171450">
              <a:buFont typeface="Arial" pitchFamily="34" charset="0"/>
              <a:buChar char="•"/>
            </a:pPr>
            <a:r>
              <a:rPr lang="en-AU" sz="1200" kern="1200" dirty="0" smtClean="0">
                <a:solidFill>
                  <a:schemeClr val="tx1"/>
                </a:solidFill>
                <a:ea typeface="+mn-ea"/>
                <a:cs typeface="+mn-cs"/>
              </a:rPr>
              <a:t>Finish a qualification – meaning a formal/recognised certificate</a:t>
            </a:r>
          </a:p>
          <a:p>
            <a:pPr marL="171450" indent="-171450">
              <a:buFont typeface="Arial" pitchFamily="34" charset="0"/>
              <a:buChar char="•"/>
            </a:pPr>
            <a:r>
              <a:rPr lang="en-AU" sz="1200" kern="1200" dirty="0" smtClean="0">
                <a:solidFill>
                  <a:schemeClr val="tx1"/>
                </a:solidFill>
                <a:ea typeface="+mn-ea"/>
                <a:cs typeface="+mn-cs"/>
              </a:rPr>
              <a:t>Complete a course of training – as described by the organisation, for example a group of nominated units/competencies.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382122803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kern="1200" dirty="0" smtClean="0">
                <a:solidFill>
                  <a:schemeClr val="tx1"/>
                </a:solidFill>
                <a:ea typeface="+mn-ea"/>
                <a:cs typeface="+mn-cs"/>
              </a:rPr>
              <a:t>reviewing at the completion of courses:</a:t>
            </a:r>
          </a:p>
          <a:p>
            <a:pPr marL="171450" indent="-171450">
              <a:buFont typeface="Arial" pitchFamily="34" charset="0"/>
              <a:buChar char="•"/>
            </a:pPr>
            <a:r>
              <a:rPr lang="en-AU" sz="1200" kern="1200" dirty="0" smtClean="0">
                <a:solidFill>
                  <a:schemeClr val="tx1"/>
                </a:solidFill>
                <a:ea typeface="+mn-ea"/>
                <a:cs typeface="+mn-cs"/>
              </a:rPr>
              <a:t>Provides a more holistic picture</a:t>
            </a:r>
          </a:p>
          <a:p>
            <a:pPr marL="171450" indent="-171450">
              <a:buFont typeface="Arial" pitchFamily="34" charset="0"/>
              <a:buChar char="•"/>
            </a:pPr>
            <a:r>
              <a:rPr lang="en-AU" sz="1200" kern="1200" dirty="0" smtClean="0">
                <a:solidFill>
                  <a:schemeClr val="tx1"/>
                </a:solidFill>
                <a:ea typeface="+mn-ea"/>
                <a:cs typeface="+mn-cs"/>
              </a:rPr>
              <a:t>Takes less time and effort than reviewing after every unit</a:t>
            </a:r>
          </a:p>
          <a:p>
            <a:pPr marL="171450" indent="-171450">
              <a:buFont typeface="Arial" pitchFamily="34" charset="0"/>
              <a:buChar char="•"/>
            </a:pPr>
            <a:r>
              <a:rPr lang="en-AU" sz="1200" kern="1200" dirty="0" smtClean="0">
                <a:solidFill>
                  <a:schemeClr val="tx1"/>
                </a:solidFill>
                <a:ea typeface="+mn-ea"/>
                <a:cs typeface="+mn-cs"/>
              </a:rPr>
              <a:t>Enables a larger pool of evidence and feedback to be used as the basis for the review/evaluation</a:t>
            </a:r>
          </a:p>
          <a:p>
            <a:pPr marL="171450" indent="-171450">
              <a:buFont typeface="Arial" pitchFamily="34" charset="0"/>
              <a:buChar char="•"/>
            </a:pPr>
            <a:r>
              <a:rPr lang="en-AU" sz="1200" kern="1200" dirty="0" smtClean="0">
                <a:solidFill>
                  <a:schemeClr val="tx1"/>
                </a:solidFill>
                <a:ea typeface="+mn-ea"/>
                <a:cs typeface="+mn-cs"/>
              </a:rPr>
              <a:t>Allows remedial action to be taken if required prior to the commencement of the next course.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182157806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r>
              <a:rPr lang="en-AU" sz="1200" b="1" kern="1200" dirty="0" smtClean="0">
                <a:solidFill>
                  <a:schemeClr val="tx1"/>
                </a:solidFill>
                <a:ea typeface="+mn-ea"/>
                <a:cs typeface="+mn-cs"/>
              </a:rPr>
              <a:t>When participants complete identified training</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‘Identified training’ is usually short-term training provided specifically to:</a:t>
            </a:r>
          </a:p>
          <a:p>
            <a:pPr marL="171450" indent="-171450">
              <a:buFont typeface="Arial" pitchFamily="34" charset="0"/>
              <a:buChar char="•"/>
            </a:pPr>
            <a:r>
              <a:rPr lang="en-AU" sz="1200" kern="1200" dirty="0" smtClean="0">
                <a:solidFill>
                  <a:schemeClr val="tx1"/>
                </a:solidFill>
                <a:ea typeface="+mn-ea"/>
                <a:cs typeface="+mn-cs"/>
              </a:rPr>
              <a:t>Meet individual staff need – as identified as a result of internal performance management/appraisals</a:t>
            </a:r>
          </a:p>
          <a:p>
            <a:pPr marL="171450" indent="-171450">
              <a:buFont typeface="Arial" pitchFamily="34" charset="0"/>
              <a:buChar char="•"/>
            </a:pPr>
            <a:r>
              <a:rPr lang="en-AU" sz="1200" kern="1200" dirty="0" smtClean="0">
                <a:solidFill>
                  <a:schemeClr val="tx1"/>
                </a:solidFill>
                <a:ea typeface="+mn-ea"/>
                <a:cs typeface="+mn-cs"/>
              </a:rPr>
              <a:t>Address identified/emerging workplace needs for a group of employees</a:t>
            </a:r>
          </a:p>
          <a:p>
            <a:pPr marL="171450" indent="-171450">
              <a:buFont typeface="Arial" pitchFamily="34" charset="0"/>
              <a:buChar char="•"/>
            </a:pPr>
            <a:r>
              <a:rPr lang="en-AU" sz="1200" kern="1200" dirty="0" smtClean="0">
                <a:solidFill>
                  <a:schemeClr val="tx1"/>
                </a:solidFill>
                <a:ea typeface="+mn-ea"/>
                <a:cs typeface="+mn-cs"/>
              </a:rPr>
              <a:t>Address training gaps – as identified by TNAs.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92073789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kern="1200" dirty="0" smtClean="0">
                <a:solidFill>
                  <a:schemeClr val="tx1"/>
                </a:solidFill>
                <a:ea typeface="+mn-ea"/>
                <a:cs typeface="+mn-cs"/>
              </a:rPr>
              <a:t>reviewing at the completion of identified training:</a:t>
            </a:r>
          </a:p>
          <a:p>
            <a:pPr marL="171450" indent="-171450">
              <a:buFont typeface="Arial" pitchFamily="34" charset="0"/>
              <a:buChar char="•"/>
            </a:pPr>
            <a:r>
              <a:rPr lang="en-AU" sz="1200" kern="1200" dirty="0" smtClean="0">
                <a:solidFill>
                  <a:schemeClr val="tx1"/>
                </a:solidFill>
                <a:ea typeface="+mn-ea"/>
                <a:cs typeface="+mn-cs"/>
              </a:rPr>
              <a:t>Can be extremely time consuming – as theoretically every employee may require this type of training on potentially an on-going basis</a:t>
            </a:r>
          </a:p>
          <a:p>
            <a:pPr marL="171450" indent="-171450">
              <a:buFont typeface="Arial" pitchFamily="34" charset="0"/>
              <a:buChar char="•"/>
            </a:pPr>
            <a:r>
              <a:rPr lang="en-AU" sz="1200" kern="1200" dirty="0" smtClean="0">
                <a:solidFill>
                  <a:schemeClr val="tx1"/>
                </a:solidFill>
                <a:ea typeface="+mn-ea"/>
                <a:cs typeface="+mn-cs"/>
              </a:rPr>
              <a:t>Greatly assist in ensuring such training is properly targeted to individual need integrated with over-arching organisational goals and constraints.</a:t>
            </a: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348774446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r>
              <a:rPr lang="en-AU" sz="1200" b="1" kern="1200" dirty="0" smtClean="0">
                <a:solidFill>
                  <a:schemeClr val="tx1"/>
                </a:solidFill>
                <a:ea typeface="+mn-ea"/>
                <a:cs typeface="+mn-cs"/>
              </a:rPr>
              <a:t>In a cyclical manner</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review option:</a:t>
            </a:r>
          </a:p>
          <a:p>
            <a:pPr marL="171450" indent="-171450">
              <a:buFont typeface="Arial" pitchFamily="34" charset="0"/>
              <a:buChar char="•"/>
            </a:pPr>
            <a:r>
              <a:rPr lang="en-AU" sz="1200" kern="1200" dirty="0" smtClean="0">
                <a:solidFill>
                  <a:schemeClr val="tx1"/>
                </a:solidFill>
                <a:ea typeface="+mn-ea"/>
                <a:cs typeface="+mn-cs"/>
              </a:rPr>
              <a:t>Reviews nominated elements at pre-determined dates/times – as opposed to reviewing </a:t>
            </a:r>
            <a:r>
              <a:rPr lang="en-AU" sz="1200" i="1" kern="1200" dirty="0" smtClean="0">
                <a:solidFill>
                  <a:schemeClr val="tx1"/>
                </a:solidFill>
                <a:ea typeface="+mn-ea"/>
                <a:cs typeface="+mn-cs"/>
              </a:rPr>
              <a:t>all</a:t>
            </a:r>
            <a:r>
              <a:rPr lang="en-AU" sz="1200" kern="1200" dirty="0" smtClean="0">
                <a:solidFill>
                  <a:schemeClr val="tx1"/>
                </a:solidFill>
                <a:ea typeface="+mn-ea"/>
                <a:cs typeface="+mn-cs"/>
              </a:rPr>
              <a:t> elements at </a:t>
            </a:r>
            <a:r>
              <a:rPr lang="en-AU" sz="1200" i="1" kern="1200" dirty="0" smtClean="0">
                <a:solidFill>
                  <a:schemeClr val="tx1"/>
                </a:solidFill>
                <a:ea typeface="+mn-ea"/>
                <a:cs typeface="+mn-cs"/>
              </a:rPr>
              <a:t>every</a:t>
            </a:r>
            <a:r>
              <a:rPr lang="en-AU" sz="1200" kern="1200" dirty="0" smtClean="0">
                <a:solidFill>
                  <a:schemeClr val="tx1"/>
                </a:solidFill>
                <a:ea typeface="+mn-ea"/>
                <a:cs typeface="+mn-cs"/>
              </a:rPr>
              <a:t> review</a:t>
            </a:r>
          </a:p>
          <a:p>
            <a:pPr marL="171450" indent="-171450">
              <a:buFont typeface="Arial" pitchFamily="34" charset="0"/>
              <a:buChar char="•"/>
            </a:pPr>
            <a:r>
              <a:rPr lang="en-AU" sz="1200" kern="1200" dirty="0" smtClean="0">
                <a:solidFill>
                  <a:schemeClr val="tx1"/>
                </a:solidFill>
                <a:ea typeface="+mn-ea"/>
                <a:cs typeface="+mn-cs"/>
              </a:rPr>
              <a:t>Means all required elements will have been reviewed (at least once) by the end of the cycle – with the cycle commonly being 12 months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Reduces time and cost – compared to more regular reviews and/or reviewing all elements every time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Makes sure all necessary elements are reviewed within the given timeframe – so the gap between identification of issues and their resolution is not excessive.</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249503498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r>
              <a:rPr lang="en-AU" sz="1200" b="1" kern="1200" dirty="0" smtClean="0">
                <a:solidFill>
                  <a:schemeClr val="tx1"/>
                </a:solidFill>
                <a:ea typeface="+mn-ea"/>
                <a:cs typeface="+mn-cs"/>
              </a:rPr>
              <a:t>At a designated time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means the review occurs at a planned time – such as:</a:t>
            </a:r>
          </a:p>
          <a:p>
            <a:pPr marL="171450" indent="-171450">
              <a:buFont typeface="Arial" pitchFamily="34" charset="0"/>
              <a:buChar char="•"/>
            </a:pPr>
            <a:r>
              <a:rPr lang="en-AU" sz="1200" kern="1200" dirty="0" smtClean="0">
                <a:solidFill>
                  <a:schemeClr val="tx1"/>
                </a:solidFill>
                <a:ea typeface="+mn-ea"/>
                <a:cs typeface="+mn-cs"/>
              </a:rPr>
              <a:t>Every six months </a:t>
            </a:r>
          </a:p>
          <a:p>
            <a:pPr marL="171450" indent="-171450">
              <a:buFont typeface="Arial" pitchFamily="34" charset="0"/>
              <a:buChar char="•"/>
            </a:pPr>
            <a:r>
              <a:rPr lang="en-AU" sz="1200" kern="1200" dirty="0" smtClean="0">
                <a:solidFill>
                  <a:schemeClr val="tx1"/>
                </a:solidFill>
                <a:ea typeface="+mn-ea"/>
                <a:cs typeface="+mn-cs"/>
              </a:rPr>
              <a:t>Annually.</a:t>
            </a:r>
          </a:p>
          <a:p>
            <a:pPr>
              <a:buFont typeface="Arial" pitchFamily="34" charset="0"/>
              <a:buNone/>
            </a:pPr>
            <a:endParaRPr lang="en-AU" noProof="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notes </a:t>
            </a:r>
            <a:r>
              <a:rPr kumimoji="0" lang="en-AU" sz="1200" b="0" i="0" u="none" strike="noStrike" kern="1200" cap="none" spc="0" normalizeH="0" baseline="0" noProof="0" dirty="0" smtClean="0">
                <a:ln>
                  <a:noFill/>
                </a:ln>
                <a:solidFill>
                  <a:prstClr val="black"/>
                </a:solidFill>
                <a:effectLst/>
                <a:uLnTx/>
                <a:uFillTx/>
                <a:ea typeface="+mn-ea"/>
                <a:cs typeface="+mn-cs"/>
              </a:rPr>
              <a:t>reviewing at a designated time: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Enables better planning for the process – because the ‘date’ is always known well in advance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May result is incomplete evidence being captured – as reviews will often occur while training is still being delivered</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May mean important issues are not identified in a timely fashion – and problems are allowed to continue for an unacceptable period.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92485860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r>
              <a:rPr lang="en-AU" sz="1200" b="1" kern="1200" dirty="0" smtClean="0">
                <a:solidFill>
                  <a:schemeClr val="tx1"/>
                </a:solidFill>
                <a:ea typeface="+mn-ea"/>
                <a:cs typeface="+mn-cs"/>
              </a:rPr>
              <a:t>Following significant workplace change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Reviews following significant workplace change may take place:</a:t>
            </a:r>
          </a:p>
          <a:p>
            <a:pPr marL="171450" indent="-171450">
              <a:buFont typeface="Arial" pitchFamily="34" charset="0"/>
              <a:buChar char="•"/>
            </a:pPr>
            <a:r>
              <a:rPr lang="en-AU" sz="1200" kern="1200" dirty="0" smtClean="0">
                <a:solidFill>
                  <a:schemeClr val="tx1"/>
                </a:solidFill>
                <a:ea typeface="+mn-ea"/>
                <a:cs typeface="+mn-cs"/>
              </a:rPr>
              <a:t>After the introduction of new equipment</a:t>
            </a:r>
          </a:p>
          <a:p>
            <a:pPr marL="171450" indent="-171450">
              <a:buFont typeface="Arial" pitchFamily="34" charset="0"/>
              <a:buChar char="•"/>
            </a:pPr>
            <a:r>
              <a:rPr lang="en-AU" sz="1200" kern="1200" dirty="0" smtClean="0">
                <a:solidFill>
                  <a:schemeClr val="tx1"/>
                </a:solidFill>
                <a:ea typeface="+mn-ea"/>
                <a:cs typeface="+mn-cs"/>
              </a:rPr>
              <a:t>When changes are made to work practices</a:t>
            </a:r>
          </a:p>
          <a:p>
            <a:pPr marL="171450" indent="-171450">
              <a:buFont typeface="Arial" pitchFamily="34" charset="0"/>
              <a:buChar char="•"/>
            </a:pPr>
            <a:r>
              <a:rPr lang="en-AU" sz="1200" kern="1200" dirty="0" smtClean="0">
                <a:solidFill>
                  <a:schemeClr val="tx1"/>
                </a:solidFill>
                <a:ea typeface="+mn-ea"/>
                <a:cs typeface="+mn-cs"/>
              </a:rPr>
              <a:t>If there are substantial alterations to workplace layout</a:t>
            </a:r>
          </a:p>
          <a:p>
            <a:pPr marL="171450" indent="-171450">
              <a:buFont typeface="Arial" pitchFamily="34" charset="0"/>
              <a:buChar char="•"/>
            </a:pPr>
            <a:r>
              <a:rPr lang="en-AU" sz="1200" kern="1200" dirty="0" smtClean="0">
                <a:solidFill>
                  <a:schemeClr val="tx1"/>
                </a:solidFill>
                <a:ea typeface="+mn-ea"/>
                <a:cs typeface="+mn-cs"/>
              </a:rPr>
              <a:t>Where jobs are re-designed</a:t>
            </a:r>
          </a:p>
          <a:p>
            <a:pPr marL="171450" indent="-171450">
              <a:buFont typeface="Arial" pitchFamily="34" charset="0"/>
              <a:buChar char="•"/>
            </a:pPr>
            <a:r>
              <a:rPr lang="en-AU" sz="1200" kern="1200" dirty="0" smtClean="0">
                <a:solidFill>
                  <a:schemeClr val="tx1"/>
                </a:solidFill>
                <a:ea typeface="+mn-ea"/>
                <a:cs typeface="+mn-cs"/>
              </a:rPr>
              <a:t>As a consequence of newly imposed legislated or other compliance requirements.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50777467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notes </a:t>
            </a:r>
            <a:r>
              <a:rPr lang="en-AU" sz="1200" kern="1200" dirty="0" smtClean="0">
                <a:solidFill>
                  <a:schemeClr val="tx1"/>
                </a:solidFill>
                <a:ea typeface="+mn-ea"/>
                <a:cs typeface="+mn-cs"/>
              </a:rPr>
              <a:t>reviewing following significant workplace change:</a:t>
            </a:r>
          </a:p>
          <a:p>
            <a:pPr marL="171450" indent="-171450">
              <a:buFont typeface="Arial" pitchFamily="34" charset="0"/>
              <a:buChar char="•"/>
            </a:pPr>
            <a:r>
              <a:rPr lang="en-AU" sz="1200" kern="1200" dirty="0" smtClean="0">
                <a:solidFill>
                  <a:schemeClr val="tx1"/>
                </a:solidFill>
                <a:ea typeface="+mn-ea"/>
                <a:cs typeface="+mn-cs"/>
              </a:rPr>
              <a:t>Are necessary to ensure compliance issues are ensured</a:t>
            </a:r>
          </a:p>
          <a:p>
            <a:pPr marL="171450" indent="-171450">
              <a:buFont typeface="Arial" pitchFamily="34" charset="0"/>
              <a:buChar char="•"/>
            </a:pPr>
            <a:r>
              <a:rPr lang="en-AU" sz="1200" kern="1200" dirty="0" smtClean="0">
                <a:solidFill>
                  <a:schemeClr val="tx1"/>
                </a:solidFill>
                <a:ea typeface="+mn-ea"/>
                <a:cs typeface="+mn-cs"/>
              </a:rPr>
              <a:t>Are needed to maintain workforce competency with new systems, equipment and technology</a:t>
            </a:r>
          </a:p>
          <a:p>
            <a:pPr marL="171450" indent="-171450">
              <a:buFont typeface="Arial" pitchFamily="34" charset="0"/>
              <a:buChar char="•"/>
            </a:pPr>
            <a:r>
              <a:rPr lang="en-AU" sz="1200" kern="1200" dirty="0" smtClean="0">
                <a:solidFill>
                  <a:schemeClr val="tx1"/>
                </a:solidFill>
                <a:ea typeface="+mn-ea"/>
                <a:cs typeface="+mn-cs"/>
              </a:rPr>
              <a:t>Must be undertaken to integrate new/revised training content with other training content</a:t>
            </a:r>
          </a:p>
          <a:p>
            <a:pPr marL="171450" indent="-171450">
              <a:buFont typeface="Arial" pitchFamily="34" charset="0"/>
              <a:buChar char="•"/>
            </a:pPr>
            <a:r>
              <a:rPr lang="en-AU" sz="1200" kern="1200" dirty="0" smtClean="0">
                <a:solidFill>
                  <a:schemeClr val="tx1"/>
                </a:solidFill>
                <a:ea typeface="+mn-ea"/>
                <a:cs typeface="+mn-cs"/>
              </a:rPr>
              <a:t>Will optimise and update worker skills.</a:t>
            </a: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3609797945"/>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a:t>
            </a:r>
          </a:p>
          <a:p>
            <a:r>
              <a:rPr lang="en-AU" sz="1200" b="1" kern="1200" dirty="0" smtClean="0">
                <a:solidFill>
                  <a:schemeClr val="tx1"/>
                </a:solidFill>
                <a:ea typeface="+mn-ea"/>
                <a:cs typeface="+mn-cs"/>
              </a:rPr>
              <a:t>In response to workplace events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Reviews in response to workplace events may take place following:</a:t>
            </a:r>
          </a:p>
          <a:p>
            <a:pPr marL="171450" indent="-171450">
              <a:buFont typeface="Arial" pitchFamily="34" charset="0"/>
              <a:buChar char="•"/>
            </a:pPr>
            <a:r>
              <a:rPr lang="en-AU" sz="1200" kern="1200" dirty="0" smtClean="0">
                <a:solidFill>
                  <a:schemeClr val="tx1"/>
                </a:solidFill>
                <a:ea typeface="+mn-ea"/>
                <a:cs typeface="+mn-cs"/>
              </a:rPr>
              <a:t>Workplace accidents – where someone is injured and/or property is damaged</a:t>
            </a:r>
          </a:p>
          <a:p>
            <a:pPr marL="171450" indent="-171450">
              <a:buFont typeface="Arial" pitchFamily="34" charset="0"/>
              <a:buChar char="•"/>
            </a:pPr>
            <a:r>
              <a:rPr lang="en-AU" sz="1200" kern="1200" dirty="0" smtClean="0">
                <a:solidFill>
                  <a:schemeClr val="tx1"/>
                </a:solidFill>
                <a:ea typeface="+mn-ea"/>
                <a:cs typeface="+mn-cs"/>
              </a:rPr>
              <a:t>Identified unacceptable wastage </a:t>
            </a:r>
          </a:p>
          <a:p>
            <a:pPr marL="171450" indent="-171450">
              <a:buFont typeface="Arial" pitchFamily="34" charset="0"/>
              <a:buChar char="•"/>
            </a:pPr>
            <a:r>
              <a:rPr lang="en-AU" sz="1200" kern="1200" dirty="0" smtClean="0">
                <a:solidFill>
                  <a:schemeClr val="tx1"/>
                </a:solidFill>
                <a:ea typeface="+mn-ea"/>
                <a:cs typeface="+mn-cs"/>
              </a:rPr>
              <a:t>Near misses – where an incident occurred but no actual injury or damage resulted</a:t>
            </a:r>
          </a:p>
          <a:p>
            <a:pPr marL="171450" indent="-171450">
              <a:buFont typeface="Arial" pitchFamily="34" charset="0"/>
              <a:buChar char="•"/>
            </a:pPr>
            <a:r>
              <a:rPr lang="en-AU" sz="1200" kern="1200" dirty="0" smtClean="0">
                <a:solidFill>
                  <a:schemeClr val="tx1"/>
                </a:solidFill>
                <a:ea typeface="+mn-ea"/>
                <a:cs typeface="+mn-cs"/>
              </a:rPr>
              <a:t>Identification of risk which must be addressed</a:t>
            </a:r>
          </a:p>
          <a:p>
            <a:pPr marL="171450" indent="-171450">
              <a:buFont typeface="Arial" pitchFamily="34" charset="0"/>
              <a:buChar char="•"/>
            </a:pPr>
            <a:r>
              <a:rPr lang="en-AU" sz="1200" kern="1200" dirty="0" smtClean="0">
                <a:solidFill>
                  <a:schemeClr val="tx1"/>
                </a:solidFill>
                <a:ea typeface="+mn-ea"/>
                <a:cs typeface="+mn-cs"/>
              </a:rPr>
              <a:t>Legal action – being threatened or taken by authorities, other businesses or customers.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118572850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notes </a:t>
            </a:r>
            <a:r>
              <a:rPr lang="en-AU" sz="1200" kern="1200" dirty="0" smtClean="0">
                <a:solidFill>
                  <a:schemeClr val="tx1"/>
                </a:solidFill>
                <a:ea typeface="+mn-ea"/>
                <a:cs typeface="+mn-cs"/>
              </a:rPr>
              <a:t>reviewing in response to workplace events:</a:t>
            </a:r>
            <a:endParaRPr lang="en-AU" noProof="0" dirty="0" smtClean="0"/>
          </a:p>
          <a:p>
            <a:pPr marL="171450" indent="-171450">
              <a:buFont typeface="Arial" pitchFamily="34" charset="0"/>
              <a:buChar char="•"/>
            </a:pPr>
            <a:r>
              <a:rPr lang="en-AU" sz="1200" kern="1200" dirty="0" smtClean="0">
                <a:solidFill>
                  <a:schemeClr val="tx1"/>
                </a:solidFill>
                <a:ea typeface="+mn-ea"/>
                <a:cs typeface="+mn-cs"/>
              </a:rPr>
              <a:t>Allows targeted focus on causal factors</a:t>
            </a:r>
          </a:p>
          <a:p>
            <a:pPr marL="171450" indent="-171450">
              <a:buFont typeface="Arial" pitchFamily="34" charset="0"/>
              <a:buChar char="•"/>
            </a:pPr>
            <a:r>
              <a:rPr lang="en-AU" sz="1200" kern="1200" dirty="0" smtClean="0">
                <a:solidFill>
                  <a:schemeClr val="tx1"/>
                </a:solidFill>
                <a:ea typeface="+mn-ea"/>
                <a:cs typeface="+mn-cs"/>
              </a:rPr>
              <a:t>Facilitates identification and integration of preventative action into standard training delivery</a:t>
            </a:r>
          </a:p>
          <a:p>
            <a:pPr marL="171450" indent="-171450">
              <a:buFont typeface="Arial" pitchFamily="34" charset="0"/>
              <a:buChar char="•"/>
            </a:pPr>
            <a:r>
              <a:rPr lang="en-AU" sz="1200" kern="1200" dirty="0" smtClean="0">
                <a:solidFill>
                  <a:schemeClr val="tx1"/>
                </a:solidFill>
                <a:ea typeface="+mn-ea"/>
                <a:cs typeface="+mn-cs"/>
              </a:rPr>
              <a:t>Helps demonstrate the organisation is discharging its Duty of Care obligations.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027304564"/>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identified personnel who may be involved </a:t>
            </a:r>
            <a:r>
              <a:rPr lang="en-AU" sz="1200" kern="1200" dirty="0" smtClean="0">
                <a:solidFill>
                  <a:schemeClr val="tx1"/>
                </a:solidFill>
                <a:ea typeface="+mn-ea"/>
                <a:cs typeface="+mn-cs"/>
              </a:rPr>
              <a:t>will vary between organisations/workplaces based on factors such as:</a:t>
            </a:r>
          </a:p>
          <a:p>
            <a:pPr marL="171450" indent="-171450">
              <a:buFont typeface="Arial" pitchFamily="34" charset="0"/>
              <a:buChar char="•"/>
            </a:pPr>
            <a:r>
              <a:rPr lang="en-AU" sz="1200" kern="1200" dirty="0" smtClean="0">
                <a:solidFill>
                  <a:schemeClr val="tx1"/>
                </a:solidFill>
                <a:ea typeface="+mn-ea"/>
                <a:cs typeface="+mn-cs"/>
              </a:rPr>
              <a:t>Size of the business and its workforce</a:t>
            </a:r>
          </a:p>
          <a:p>
            <a:pPr marL="171450" indent="-171450">
              <a:buFont typeface="Arial" pitchFamily="34" charset="0"/>
              <a:buChar char="•"/>
            </a:pPr>
            <a:r>
              <a:rPr lang="en-AU" sz="1200" kern="1200" dirty="0" smtClean="0">
                <a:solidFill>
                  <a:schemeClr val="tx1"/>
                </a:solidFill>
                <a:ea typeface="+mn-ea"/>
                <a:cs typeface="+mn-cs"/>
              </a:rPr>
              <a:t>Numbers of staff undertaking training and number of units, courses or qualifications being provided</a:t>
            </a:r>
          </a:p>
          <a:p>
            <a:pPr marL="171450" indent="-171450">
              <a:buFont typeface="Arial" pitchFamily="34" charset="0"/>
              <a:buChar char="•"/>
            </a:pPr>
            <a:r>
              <a:rPr lang="en-AU" sz="1200" kern="1200" dirty="0" smtClean="0">
                <a:solidFill>
                  <a:schemeClr val="tx1"/>
                </a:solidFill>
                <a:ea typeface="+mn-ea"/>
                <a:cs typeface="+mn-cs"/>
              </a:rPr>
              <a:t>Whether the system is a recognised training provider or an unrecognised one. </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AU" sz="1200" b="0" i="0" u="none" strike="noStrike" kern="1200" cap="none" spc="0" normalizeH="0" baseline="0" noProof="0" dirty="0" smtClean="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continues to identify factors influencing who will be involved:</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Training and assessment-related workload of those engaged with the system</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Finance available to support the process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Compliance obligations imposed on the system.</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218995427"/>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people from within and outside the organisation who may be involved:</a:t>
            </a:r>
          </a:p>
          <a:p>
            <a:pPr marL="171450" indent="-171450">
              <a:buFont typeface="Arial" pitchFamily="34" charset="0"/>
              <a:buChar char="•"/>
            </a:pPr>
            <a:r>
              <a:rPr lang="en-AU" noProof="0" dirty="0" smtClean="0"/>
              <a:t>Discuss</a:t>
            </a:r>
            <a:r>
              <a:rPr lang="en-AU" baseline="0" noProof="0" dirty="0" smtClean="0"/>
              <a:t> how you would obtain from these people.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238979987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provides overview of notification to be provided to those with  responsibilities for reviews stating:</a:t>
            </a:r>
          </a:p>
          <a:p>
            <a:pPr marL="171450" indent="-171450">
              <a:buFont typeface="Arial" pitchFamily="34" charset="0"/>
              <a:buChar char="•"/>
            </a:pPr>
            <a:r>
              <a:rPr lang="en-AU" sz="1200" kern="1200" dirty="0" smtClean="0">
                <a:solidFill>
                  <a:schemeClr val="tx1"/>
                </a:solidFill>
                <a:ea typeface="+mn-ea"/>
                <a:cs typeface="+mn-cs"/>
              </a:rPr>
              <a:t>Internal staff and those from outside the organisation who are not officials or designated representatives of resource providers will need to be notified of their role in the review process</a:t>
            </a:r>
          </a:p>
          <a:p>
            <a:pPr marL="171450" indent="-171450">
              <a:buFont typeface="Arial" pitchFamily="34" charset="0"/>
              <a:buChar char="•"/>
            </a:pPr>
            <a:r>
              <a:rPr lang="en-AU" sz="1200" kern="1200" dirty="0" smtClean="0">
                <a:solidFill>
                  <a:schemeClr val="tx1"/>
                </a:solidFill>
                <a:ea typeface="+mn-ea"/>
                <a:cs typeface="+mn-cs"/>
              </a:rPr>
              <a:t>Officials or designated representatives of resource providers will undertake their review based on:</a:t>
            </a:r>
          </a:p>
          <a:p>
            <a:pPr marL="628650" lvl="1" indent="-171450">
              <a:buFont typeface="Arial" pitchFamily="34" charset="0"/>
              <a:buChar char="•"/>
            </a:pPr>
            <a:r>
              <a:rPr lang="en-AU" sz="1200" kern="1200" dirty="0" smtClean="0">
                <a:solidFill>
                  <a:schemeClr val="tx1"/>
                </a:solidFill>
                <a:ea typeface="+mn-ea"/>
                <a:cs typeface="+mn-cs"/>
              </a:rPr>
              <a:t>Compliance obligations imposed by law</a:t>
            </a:r>
          </a:p>
          <a:p>
            <a:pPr marL="628650" lvl="1" indent="-171450">
              <a:buFont typeface="Arial" pitchFamily="34" charset="0"/>
              <a:buChar char="•"/>
            </a:pPr>
            <a:r>
              <a:rPr lang="en-AU" sz="1200" kern="1200" dirty="0" smtClean="0">
                <a:solidFill>
                  <a:schemeClr val="tx1"/>
                </a:solidFill>
                <a:ea typeface="+mn-ea"/>
                <a:cs typeface="+mn-cs"/>
              </a:rPr>
              <a:t>Terms and conditions attaching to:</a:t>
            </a:r>
          </a:p>
          <a:p>
            <a:pPr marL="1085850" lvl="2" indent="-171450">
              <a:buFont typeface="Arial" pitchFamily="34" charset="0"/>
              <a:buChar char="•"/>
            </a:pPr>
            <a:r>
              <a:rPr lang="en-AU" sz="1200" kern="1200" dirty="0" smtClean="0">
                <a:solidFill>
                  <a:schemeClr val="tx1"/>
                </a:solidFill>
                <a:ea typeface="+mn-ea"/>
                <a:cs typeface="+mn-cs"/>
              </a:rPr>
              <a:t>Contracts and agreements</a:t>
            </a:r>
          </a:p>
          <a:p>
            <a:pPr marL="1085850" lvl="2" indent="-171450">
              <a:buFont typeface="Arial" pitchFamily="34" charset="0"/>
              <a:buChar char="•"/>
            </a:pPr>
            <a:r>
              <a:rPr lang="en-AU" sz="1200" kern="1200" dirty="0" smtClean="0">
                <a:solidFill>
                  <a:schemeClr val="tx1"/>
                </a:solidFill>
                <a:ea typeface="+mn-ea"/>
                <a:cs typeface="+mn-cs"/>
              </a:rPr>
              <a:t>Funding.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310359351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advises notification can occur by:</a:t>
            </a:r>
          </a:p>
          <a:p>
            <a:pPr marL="171450" indent="-171450">
              <a:buFont typeface="Arial" pitchFamily="34" charset="0"/>
              <a:buChar char="•"/>
            </a:pPr>
            <a:r>
              <a:rPr lang="en-AU" sz="1200" kern="1200" dirty="0" smtClean="0">
                <a:solidFill>
                  <a:schemeClr val="tx1"/>
                </a:solidFill>
                <a:ea typeface="+mn-ea"/>
                <a:cs typeface="+mn-cs"/>
              </a:rPr>
              <a:t>Distributing a hard or soft copy plan or list to individuals – detailing:</a:t>
            </a:r>
          </a:p>
          <a:p>
            <a:pPr marL="628650" lvl="1" indent="-171450">
              <a:buFont typeface="Arial" pitchFamily="34" charset="0"/>
              <a:buChar char="•"/>
            </a:pPr>
            <a:r>
              <a:rPr lang="en-AU" sz="1200" kern="1200" dirty="0" smtClean="0">
                <a:solidFill>
                  <a:schemeClr val="tx1"/>
                </a:solidFill>
                <a:ea typeface="+mn-ea"/>
                <a:cs typeface="+mn-cs"/>
              </a:rPr>
              <a:t>The specific tasks/duties each person is required to undertake</a:t>
            </a:r>
          </a:p>
          <a:p>
            <a:pPr marL="628650" lvl="1" indent="-171450">
              <a:buFont typeface="Arial" pitchFamily="34" charset="0"/>
              <a:buChar char="•"/>
            </a:pPr>
            <a:r>
              <a:rPr lang="en-AU" sz="1200" kern="1200" dirty="0" smtClean="0">
                <a:solidFill>
                  <a:schemeClr val="tx1"/>
                </a:solidFill>
                <a:ea typeface="+mn-ea"/>
                <a:cs typeface="+mn-cs"/>
              </a:rPr>
              <a:t>Others involved in the same process</a:t>
            </a:r>
          </a:p>
          <a:p>
            <a:pPr marL="628650" lvl="1" indent="-171450">
              <a:buFont typeface="Arial" pitchFamily="34" charset="0"/>
              <a:buChar char="•"/>
            </a:pPr>
            <a:r>
              <a:rPr lang="en-AU" sz="1200" kern="1200" dirty="0" smtClean="0">
                <a:solidFill>
                  <a:schemeClr val="tx1"/>
                </a:solidFill>
                <a:ea typeface="+mn-ea"/>
                <a:cs typeface="+mn-cs"/>
              </a:rPr>
              <a:t>Timing requirements – when actions can/must start and time/date by which they must be completed</a:t>
            </a:r>
          </a:p>
          <a:p>
            <a:pPr marL="628650" lvl="1" indent="-171450">
              <a:buFont typeface="Arial" pitchFamily="34" charset="0"/>
              <a:buChar char="•"/>
            </a:pPr>
            <a:r>
              <a:rPr lang="en-AU" sz="1200" kern="1200" dirty="0" smtClean="0">
                <a:solidFill>
                  <a:schemeClr val="tx1"/>
                </a:solidFill>
                <a:ea typeface="+mn-ea"/>
                <a:cs typeface="+mn-cs"/>
              </a:rPr>
              <a:t>Time allowance for undertaking required action</a:t>
            </a:r>
          </a:p>
          <a:p>
            <a:pPr marL="628650" lvl="1" indent="-171450">
              <a:buFont typeface="Arial" pitchFamily="34" charset="0"/>
              <a:buChar char="•"/>
            </a:pPr>
            <a:r>
              <a:rPr lang="en-AU" sz="1200" kern="1200" dirty="0" smtClean="0">
                <a:solidFill>
                  <a:schemeClr val="tx1"/>
                </a:solidFill>
                <a:ea typeface="+mn-ea"/>
                <a:cs typeface="+mn-cs"/>
              </a:rPr>
              <a:t>Resources available to support the identified/required actions</a:t>
            </a:r>
          </a:p>
          <a:p>
            <a:pPr marL="628650" lvl="1" indent="-171450">
              <a:buFont typeface="Arial" pitchFamily="34" charset="0"/>
              <a:buChar char="•"/>
            </a:pPr>
            <a:r>
              <a:rPr lang="en-AU" sz="1200" kern="1200" dirty="0" smtClean="0">
                <a:solidFill>
                  <a:schemeClr val="tx1"/>
                </a:solidFill>
                <a:ea typeface="+mn-ea"/>
                <a:cs typeface="+mn-cs"/>
              </a:rPr>
              <a:t>Authority to take designated action</a:t>
            </a:r>
          </a:p>
          <a:p>
            <a:pPr marL="171450" indent="-171450">
              <a:buFont typeface="Arial" pitchFamily="34" charset="0"/>
              <a:buChar char="•"/>
            </a:pPr>
            <a:r>
              <a:rPr lang="en-AU" sz="1200" kern="1200" dirty="0" smtClean="0">
                <a:solidFill>
                  <a:schemeClr val="tx1"/>
                </a:solidFill>
                <a:ea typeface="+mn-ea"/>
                <a:cs typeface="+mn-cs"/>
              </a:rPr>
              <a:t>Verbally explaining requirements – with reference to:</a:t>
            </a:r>
          </a:p>
          <a:p>
            <a:pPr marL="628650" lvl="1" indent="-171450">
              <a:buFont typeface="Arial" pitchFamily="34" charset="0"/>
              <a:buChar char="•"/>
            </a:pPr>
            <a:r>
              <a:rPr lang="en-AU" sz="1200" kern="1200" dirty="0" smtClean="0">
                <a:solidFill>
                  <a:schemeClr val="tx1"/>
                </a:solidFill>
                <a:ea typeface="+mn-ea"/>
                <a:cs typeface="+mn-cs"/>
              </a:rPr>
              <a:t>Using group meetings, one-on-one discussions and/or formal presentations</a:t>
            </a:r>
          </a:p>
          <a:p>
            <a:pPr marL="628650" lvl="1" indent="-171450">
              <a:buFont typeface="Arial" pitchFamily="34" charset="0"/>
              <a:buChar char="•"/>
            </a:pPr>
            <a:r>
              <a:rPr lang="en-AU" sz="1200" kern="1200" dirty="0" smtClean="0">
                <a:solidFill>
                  <a:schemeClr val="tx1"/>
                </a:solidFill>
                <a:ea typeface="+mn-ea"/>
                <a:cs typeface="+mn-cs"/>
              </a:rPr>
              <a:t>Detailing rationale/s for the review</a:t>
            </a:r>
          </a:p>
          <a:p>
            <a:pPr marL="628650" lvl="1" indent="-171450">
              <a:buFont typeface="Arial" pitchFamily="34" charset="0"/>
              <a:buChar char="•"/>
            </a:pPr>
            <a:r>
              <a:rPr lang="en-AU" sz="1200" kern="1200" dirty="0" smtClean="0">
                <a:solidFill>
                  <a:schemeClr val="tx1"/>
                </a:solidFill>
                <a:ea typeface="+mn-ea"/>
                <a:cs typeface="+mn-cs"/>
              </a:rPr>
              <a:t>Highlighting importance of the process</a:t>
            </a:r>
          </a:p>
          <a:p>
            <a:pPr marL="628650" lvl="1" indent="-171450">
              <a:buFont typeface="Arial" pitchFamily="34" charset="0"/>
              <a:buChar char="•"/>
            </a:pPr>
            <a:r>
              <a:rPr lang="en-AU" sz="1200" kern="1200" dirty="0" smtClean="0">
                <a:solidFill>
                  <a:schemeClr val="tx1"/>
                </a:solidFill>
                <a:ea typeface="+mn-ea"/>
                <a:cs typeface="+mn-cs"/>
              </a:rPr>
              <a:t>Stressing need to capture reliable and verifiable objective information to use as the basis for review-based decisions</a:t>
            </a:r>
          </a:p>
          <a:p>
            <a:pPr marL="628650" lvl="1" indent="-171450">
              <a:buFont typeface="Arial" pitchFamily="34" charset="0"/>
              <a:buChar char="•"/>
            </a:pPr>
            <a:r>
              <a:rPr lang="en-AU" sz="1200" kern="1200" dirty="0" smtClean="0">
                <a:solidFill>
                  <a:schemeClr val="tx1"/>
                </a:solidFill>
                <a:ea typeface="+mn-ea"/>
                <a:cs typeface="+mn-cs"/>
              </a:rPr>
              <a:t>Answering questions and concerns</a:t>
            </a:r>
          </a:p>
          <a:p>
            <a:pPr marL="171450" indent="-171450">
              <a:buFont typeface="Arial" pitchFamily="34" charset="0"/>
              <a:buChar char="•"/>
            </a:pPr>
            <a:r>
              <a:rPr lang="en-AU" sz="1200" kern="1200" dirty="0" smtClean="0">
                <a:solidFill>
                  <a:schemeClr val="tx1"/>
                </a:solidFill>
                <a:ea typeface="+mn-ea"/>
                <a:cs typeface="+mn-cs"/>
              </a:rPr>
              <a:t>Providing relevant internal training – comprising:</a:t>
            </a:r>
          </a:p>
          <a:p>
            <a:pPr marL="628650" lvl="1" indent="-171450">
              <a:buFont typeface="Arial" pitchFamily="34" charset="0"/>
              <a:buChar char="•"/>
            </a:pPr>
            <a:r>
              <a:rPr lang="en-AU" sz="1200" kern="1200" dirty="0" smtClean="0">
                <a:solidFill>
                  <a:schemeClr val="tx1"/>
                </a:solidFill>
                <a:ea typeface="+mn-ea"/>
                <a:cs typeface="+mn-cs"/>
              </a:rPr>
              <a:t>Demonstrations of activities required</a:t>
            </a:r>
          </a:p>
          <a:p>
            <a:pPr marL="628650" lvl="1" indent="-171450">
              <a:buFont typeface="Arial" pitchFamily="34" charset="0"/>
              <a:buChar char="•"/>
            </a:pPr>
            <a:r>
              <a:rPr lang="en-AU" sz="1200" kern="1200" dirty="0" smtClean="0">
                <a:solidFill>
                  <a:schemeClr val="tx1"/>
                </a:solidFill>
                <a:ea typeface="+mn-ea"/>
                <a:cs typeface="+mn-cs"/>
              </a:rPr>
              <a:t>Role plays</a:t>
            </a:r>
          </a:p>
          <a:p>
            <a:pPr marL="628650" lvl="1" indent="-171450">
              <a:buFont typeface="Arial" pitchFamily="34" charset="0"/>
              <a:buChar char="•"/>
            </a:pPr>
            <a:r>
              <a:rPr lang="en-AU" sz="1200" kern="1200" dirty="0" smtClean="0">
                <a:solidFill>
                  <a:schemeClr val="tx1"/>
                </a:solidFill>
                <a:ea typeface="+mn-ea"/>
                <a:cs typeface="+mn-cs"/>
              </a:rPr>
              <a:t>Practice and drill.</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Practice</a:t>
            </a:r>
          </a:p>
          <a:p>
            <a:pPr>
              <a:buFont typeface="Arial" pitchFamily="34" charset="0"/>
              <a:buNone/>
            </a:pPr>
            <a:r>
              <a:rPr lang="en-AU" b="0" noProof="0" dirty="0" smtClean="0"/>
              <a:t>Trainer demonstrates how to communicate review responsibilities to personnel and provides opportunity for students to do the same.</a:t>
            </a:r>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30667230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procedures </a:t>
            </a:r>
            <a:r>
              <a:rPr lang="en-AU" sz="1200" kern="1200" dirty="0" smtClean="0">
                <a:solidFill>
                  <a:schemeClr val="tx1"/>
                </a:solidFill>
                <a:ea typeface="+mn-ea"/>
                <a:cs typeface="+mn-cs"/>
              </a:rPr>
              <a:t>which may be used in reviews of the workplace training system may include:</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Analysis of materials and resources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Analysis of training content</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Analysis of participant evaluation forms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Interviews </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Analysis of operational data</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Observation</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Analysis of feedback received</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Meeting with stakeholders.</a:t>
            </a: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158426973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indicates procedures </a:t>
            </a:r>
            <a:r>
              <a:rPr lang="en-AU" sz="1200" kern="1200" dirty="0" smtClean="0">
                <a:solidFill>
                  <a:schemeClr val="tx1"/>
                </a:solidFill>
                <a:ea typeface="+mn-ea"/>
                <a:cs typeface="+mn-cs"/>
              </a:rPr>
              <a:t>which may be used in reviews of the workplace training system may include:</a:t>
            </a:r>
          </a:p>
          <a:p>
            <a:r>
              <a:rPr lang="en-AU" sz="1200" b="1" kern="1200" dirty="0" smtClean="0">
                <a:solidFill>
                  <a:schemeClr val="tx1"/>
                </a:solidFill>
                <a:ea typeface="+mn-ea"/>
                <a:cs typeface="+mn-cs"/>
              </a:rPr>
              <a:t>Analysis of materials and resources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will require: </a:t>
            </a:r>
          </a:p>
          <a:p>
            <a:pPr marL="171450" indent="-171450">
              <a:buFont typeface="Arial" pitchFamily="34" charset="0"/>
              <a:buChar char="•"/>
            </a:pPr>
            <a:r>
              <a:rPr lang="en-AU" sz="1200" kern="1200" dirty="0" smtClean="0">
                <a:solidFill>
                  <a:schemeClr val="tx1"/>
                </a:solidFill>
                <a:ea typeface="+mn-ea"/>
                <a:cs typeface="+mn-cs"/>
              </a:rPr>
              <a:t>Gathering together, reading and evaluating training and assessment items to determine:</a:t>
            </a:r>
          </a:p>
          <a:p>
            <a:pPr marL="628650" lvl="1" indent="-171450">
              <a:buFont typeface="Arial" pitchFamily="34" charset="0"/>
              <a:buChar char="•"/>
            </a:pPr>
            <a:r>
              <a:rPr lang="en-AU" sz="1200" kern="1200" dirty="0" smtClean="0">
                <a:solidFill>
                  <a:schemeClr val="tx1"/>
                </a:solidFill>
                <a:ea typeface="+mn-ea"/>
                <a:cs typeface="+mn-cs"/>
              </a:rPr>
              <a:t>Currency; Sufficiency; Clarity; Extent to which they meet individual and/or special needs; Relevancy to actual/required workplace practice; Utility</a:t>
            </a:r>
          </a:p>
          <a:p>
            <a:pPr marL="171450" indent="-171450">
              <a:buFont typeface="Arial" pitchFamily="34" charset="0"/>
              <a:buChar char="•"/>
            </a:pPr>
            <a:r>
              <a:rPr lang="en-AU" sz="1200" kern="1200" dirty="0" smtClean="0">
                <a:solidFill>
                  <a:schemeClr val="tx1"/>
                </a:solidFill>
                <a:ea typeface="+mn-ea"/>
                <a:cs typeface="+mn-cs"/>
              </a:rPr>
              <a:t>Evaluating physical equipment. systems and technology used to deliver training and assessment activities – to determine:</a:t>
            </a:r>
          </a:p>
          <a:p>
            <a:pPr marL="628650" lvl="1" indent="-171450">
              <a:buFont typeface="Arial" pitchFamily="34" charset="0"/>
              <a:buChar char="•"/>
            </a:pPr>
            <a:r>
              <a:rPr lang="en-AU" sz="1200" kern="1200" dirty="0" smtClean="0">
                <a:solidFill>
                  <a:schemeClr val="tx1"/>
                </a:solidFill>
                <a:ea typeface="+mn-ea"/>
                <a:cs typeface="+mn-cs"/>
              </a:rPr>
              <a:t>Access to these resources when they are required; Safety; All factors identified under ‘training and assessment items’ immediately above.</a:t>
            </a:r>
          </a:p>
          <a:p>
            <a:pPr lvl="1">
              <a:buFont typeface="Arial" pitchFamily="34" charset="0"/>
              <a:buChar char="•"/>
            </a:pPr>
            <a:endParaRPr lang="en-AU" sz="1200" kern="1200" noProof="0" dirty="0" smtClean="0">
              <a:solidFill>
                <a:schemeClr val="tx1"/>
              </a:solidFill>
              <a:ea typeface="+mn-ea"/>
              <a:cs typeface="+mn-cs"/>
            </a:endParaRPr>
          </a:p>
          <a:p>
            <a:pPr lvl="0">
              <a:buFont typeface="Arial" pitchFamily="34" charset="0"/>
              <a:buNone/>
            </a:pPr>
            <a:r>
              <a:rPr lang="en-AU" b="1" noProof="0" dirty="0" smtClean="0"/>
              <a:t>Classroom Activity – Exercise</a:t>
            </a:r>
          </a:p>
          <a:p>
            <a:pPr lvl="0">
              <a:buFont typeface="Arial" pitchFamily="34" charset="0"/>
              <a:buNone/>
            </a:pPr>
            <a:r>
              <a:rPr lang="en-AU" b="0" noProof="0" dirty="0" smtClean="0"/>
              <a:t>Trainer provides class with examples of training materials which are out-of-date and/or intentionally incorrect and asks them to review/up-date them.</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58228633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indicate procedures </a:t>
            </a:r>
            <a:r>
              <a:rPr lang="en-AU" sz="1200" kern="1200" dirty="0" smtClean="0">
                <a:solidFill>
                  <a:schemeClr val="tx1"/>
                </a:solidFill>
                <a:ea typeface="+mn-ea"/>
                <a:cs typeface="+mn-cs"/>
              </a:rPr>
              <a:t>which may be used in reviews of the workplace training system may include:</a:t>
            </a:r>
          </a:p>
          <a:p>
            <a:r>
              <a:rPr lang="en-AU" sz="1200" b="1" kern="1200" dirty="0" smtClean="0">
                <a:solidFill>
                  <a:schemeClr val="tx1"/>
                </a:solidFill>
                <a:ea typeface="+mn-ea"/>
                <a:cs typeface="+mn-cs"/>
              </a:rPr>
              <a:t>Analysis of training content</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Analysis of training content involves reading the training documentation and talking with trainers, assessors, learners and candidates as well as other stakeholders as appropriate to the organisation and the training system.</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aspect needs to address:</a:t>
            </a:r>
          </a:p>
          <a:p>
            <a:pPr marL="171450" indent="-171450">
              <a:buFont typeface="Arial" pitchFamily="34" charset="0"/>
              <a:buChar char="•"/>
            </a:pPr>
            <a:r>
              <a:rPr lang="en-AU" sz="1200" kern="1200" dirty="0" smtClean="0">
                <a:solidFill>
                  <a:schemeClr val="tx1"/>
                </a:solidFill>
                <a:ea typeface="+mn-ea"/>
                <a:cs typeface="+mn-cs"/>
              </a:rPr>
              <a:t>Comparisons of training content with current workplace practices and equipment used – to verify workplace relevance and applicability</a:t>
            </a:r>
          </a:p>
          <a:p>
            <a:pPr marL="171450" indent="-171450">
              <a:buFont typeface="Arial" pitchFamily="34" charset="0"/>
              <a:buChar char="•"/>
            </a:pPr>
            <a:r>
              <a:rPr lang="en-AU" sz="1200" kern="1200" dirty="0" smtClean="0">
                <a:solidFill>
                  <a:schemeClr val="tx1"/>
                </a:solidFill>
                <a:ea typeface="+mn-ea"/>
                <a:cs typeface="+mn-cs"/>
              </a:rPr>
              <a:t>Investigations to verify national competency standards (where used) are current versions – and they have not been superseded by a different version</a:t>
            </a:r>
          </a:p>
          <a:p>
            <a:pPr marL="171450" indent="-171450">
              <a:buFont typeface="Arial" pitchFamily="34" charset="0"/>
              <a:buChar char="•"/>
            </a:pPr>
            <a:r>
              <a:rPr lang="en-AU" sz="1200" kern="1200" dirty="0" smtClean="0">
                <a:solidFill>
                  <a:schemeClr val="tx1"/>
                </a:solidFill>
                <a:ea typeface="+mn-ea"/>
                <a:cs typeface="+mn-cs"/>
              </a:rPr>
              <a:t>Improvements or changes which may have taken place in the industry with reference to aspects deemed relevant by the organisation – such as:</a:t>
            </a:r>
          </a:p>
          <a:p>
            <a:pPr marL="628650" lvl="1" indent="-171450">
              <a:buFont typeface="Arial" pitchFamily="34" charset="0"/>
              <a:buChar char="•"/>
            </a:pPr>
            <a:r>
              <a:rPr lang="en-AU" sz="1200" kern="1200" dirty="0" smtClean="0">
                <a:solidFill>
                  <a:schemeClr val="tx1"/>
                </a:solidFill>
                <a:ea typeface="+mn-ea"/>
                <a:cs typeface="+mn-cs"/>
              </a:rPr>
              <a:t>Best Practice innovations</a:t>
            </a:r>
          </a:p>
          <a:p>
            <a:pPr marL="628650" lvl="1" indent="-171450">
              <a:buFont typeface="Arial" pitchFamily="34" charset="0"/>
              <a:buChar char="•"/>
            </a:pPr>
            <a:r>
              <a:rPr lang="en-AU" sz="1200" kern="1200" dirty="0" smtClean="0">
                <a:solidFill>
                  <a:schemeClr val="tx1"/>
                </a:solidFill>
                <a:ea typeface="+mn-ea"/>
                <a:cs typeface="+mn-cs"/>
              </a:rPr>
              <a:t>Industry benchmarks.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278272083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analysis</a:t>
            </a:r>
            <a:r>
              <a:rPr lang="en-AU" baseline="0" noProof="0" dirty="0" smtClean="0"/>
              <a:t> of content:</a:t>
            </a:r>
          </a:p>
          <a:p>
            <a:pPr marL="171450" indent="-171450">
              <a:buFont typeface="Arial" pitchFamily="34" charset="0"/>
              <a:buChar char="•"/>
            </a:pPr>
            <a:r>
              <a:rPr lang="en-AU" sz="1200" kern="1200" dirty="0" smtClean="0">
                <a:solidFill>
                  <a:schemeClr val="tx1"/>
                </a:solidFill>
                <a:ea typeface="+mn-ea"/>
                <a:cs typeface="+mn-cs"/>
              </a:rPr>
              <a:t>Amendments made by the organisation in relation to the competency/competencies being reviewed – in terms of:</a:t>
            </a:r>
          </a:p>
          <a:p>
            <a:pPr marL="628650" lvl="1" indent="-171450">
              <a:buFont typeface="Arial" pitchFamily="34" charset="0"/>
              <a:buChar char="•"/>
            </a:pPr>
            <a:r>
              <a:rPr lang="en-AU" sz="1200" kern="1200" dirty="0" smtClean="0">
                <a:solidFill>
                  <a:schemeClr val="tx1"/>
                </a:solidFill>
                <a:ea typeface="+mn-ea"/>
                <a:cs typeface="+mn-cs"/>
              </a:rPr>
              <a:t>Criteria to be used</a:t>
            </a:r>
          </a:p>
          <a:p>
            <a:pPr marL="628650" lvl="1" indent="-171450">
              <a:buFont typeface="Arial" pitchFamily="34" charset="0"/>
              <a:buChar char="•"/>
            </a:pPr>
            <a:r>
              <a:rPr lang="en-AU" sz="1200" kern="1200" dirty="0" smtClean="0">
                <a:solidFill>
                  <a:schemeClr val="tx1"/>
                </a:solidFill>
                <a:ea typeface="+mn-ea"/>
                <a:cs typeface="+mn-cs"/>
              </a:rPr>
              <a:t>Standards to be achieved</a:t>
            </a:r>
          </a:p>
          <a:p>
            <a:pPr marL="171450" indent="-171450">
              <a:buFont typeface="Arial" pitchFamily="34" charset="0"/>
              <a:buChar char="•"/>
            </a:pPr>
            <a:r>
              <a:rPr lang="en-AU" sz="1200" kern="1200" dirty="0" smtClean="0">
                <a:solidFill>
                  <a:schemeClr val="tx1"/>
                </a:solidFill>
                <a:ea typeface="+mn-ea"/>
                <a:cs typeface="+mn-cs"/>
              </a:rPr>
              <a:t>Sequencing of content – relating to:</a:t>
            </a:r>
          </a:p>
          <a:p>
            <a:pPr marL="628650" lvl="1" indent="-171450">
              <a:buFont typeface="Arial" pitchFamily="34" charset="0"/>
              <a:buChar char="•"/>
            </a:pPr>
            <a:r>
              <a:rPr lang="en-AU" sz="1200" kern="1200" dirty="0" smtClean="0">
                <a:solidFill>
                  <a:schemeClr val="tx1"/>
                </a:solidFill>
                <a:ea typeface="+mn-ea"/>
                <a:cs typeface="+mn-cs"/>
              </a:rPr>
              <a:t>Checking the order in which training topics are delivered </a:t>
            </a:r>
          </a:p>
          <a:p>
            <a:pPr marL="628650" lvl="1" indent="-171450">
              <a:buFont typeface="Arial" pitchFamily="34" charset="0"/>
              <a:buChar char="•"/>
            </a:pPr>
            <a:r>
              <a:rPr lang="en-AU" sz="1200" kern="1200" dirty="0" smtClean="0">
                <a:solidFill>
                  <a:schemeClr val="tx1"/>
                </a:solidFill>
                <a:ea typeface="+mn-ea"/>
                <a:cs typeface="+mn-cs"/>
              </a:rPr>
              <a:t>Verifying assessments occur sufficiently after training has occurred</a:t>
            </a:r>
          </a:p>
          <a:p>
            <a:pPr marL="171450" indent="-171450">
              <a:buFont typeface="Arial" pitchFamily="34" charset="0"/>
              <a:buChar char="•"/>
            </a:pPr>
            <a:r>
              <a:rPr lang="en-AU" sz="1200" kern="1200" dirty="0" smtClean="0">
                <a:solidFill>
                  <a:schemeClr val="tx1"/>
                </a:solidFill>
                <a:ea typeface="+mn-ea"/>
                <a:cs typeface="+mn-cs"/>
              </a:rPr>
              <a:t>Weighting of content – with reference to:</a:t>
            </a:r>
          </a:p>
          <a:p>
            <a:pPr marL="628650" lvl="1" indent="-171450">
              <a:buFont typeface="Arial" pitchFamily="34" charset="0"/>
              <a:buChar char="•"/>
            </a:pPr>
            <a:r>
              <a:rPr lang="en-AU" sz="1200" kern="1200" dirty="0" smtClean="0">
                <a:solidFill>
                  <a:schemeClr val="tx1"/>
                </a:solidFill>
                <a:ea typeface="+mn-ea"/>
                <a:cs typeface="+mn-cs"/>
              </a:rPr>
              <a:t>Ensuring correct proportionality for important topics – and topics of lesser importance</a:t>
            </a:r>
          </a:p>
          <a:p>
            <a:pPr marL="628650" lvl="1" indent="-171450">
              <a:buFont typeface="Arial" pitchFamily="34" charset="0"/>
              <a:buChar char="•"/>
            </a:pPr>
            <a:r>
              <a:rPr lang="en-AU" sz="1200" kern="1200" dirty="0" smtClean="0">
                <a:solidFill>
                  <a:schemeClr val="tx1"/>
                </a:solidFill>
                <a:ea typeface="+mn-ea"/>
                <a:cs typeface="+mn-cs"/>
              </a:rPr>
              <a:t>Checking time and resources are allocated according to the priority of content/topics.</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Training Manager from a workplace training system to attend and:</a:t>
            </a:r>
          </a:p>
          <a:p>
            <a:pPr marL="171450" indent="-171450">
              <a:buFont typeface="Arial" pitchFamily="34" charset="0"/>
              <a:buChar char="•"/>
            </a:pPr>
            <a:r>
              <a:rPr lang="en-AU" b="0" noProof="0" dirty="0" smtClean="0"/>
              <a:t>Discuss role of reviews of the system</a:t>
            </a:r>
          </a:p>
          <a:p>
            <a:pPr marL="171450" indent="-171450">
              <a:buFont typeface="Arial" pitchFamily="34" charset="0"/>
              <a:buChar char="•"/>
            </a:pPr>
            <a:r>
              <a:rPr lang="en-AU" b="0" noProof="0" dirty="0" smtClean="0"/>
              <a:t>Describe procedures used to review the system</a:t>
            </a:r>
          </a:p>
          <a:p>
            <a:pPr marL="171450" indent="-171450">
              <a:buFont typeface="Arial" pitchFamily="34" charset="0"/>
              <a:buChar char="•"/>
            </a:pPr>
            <a:r>
              <a:rPr lang="en-AU" b="0" noProof="0" dirty="0" smtClean="0"/>
              <a:t>Identify when reviews are conducted</a:t>
            </a:r>
          </a:p>
          <a:p>
            <a:pPr marL="171450" indent="-171450">
              <a:buFont typeface="Arial" pitchFamily="34" charset="0"/>
              <a:buChar char="•"/>
            </a:pPr>
            <a:r>
              <a:rPr lang="en-AU" b="0" noProof="0" dirty="0" smtClean="0"/>
              <a:t>Give examples of benefits which have flowed from reviews which have been completed.</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1770460643"/>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indicate procedures </a:t>
            </a:r>
            <a:r>
              <a:rPr lang="en-AU" sz="1200" kern="1200" dirty="0" smtClean="0">
                <a:solidFill>
                  <a:schemeClr val="tx1"/>
                </a:solidFill>
                <a:ea typeface="+mn-ea"/>
                <a:cs typeface="+mn-cs"/>
              </a:rPr>
              <a:t>which may be used in reviews of the workplace training system may include:</a:t>
            </a:r>
          </a:p>
          <a:p>
            <a:r>
              <a:rPr lang="en-AU" sz="1200" b="1" kern="1200" dirty="0" smtClean="0">
                <a:solidFill>
                  <a:schemeClr val="tx1"/>
                </a:solidFill>
                <a:ea typeface="+mn-ea"/>
                <a:cs typeface="+mn-cs"/>
              </a:rPr>
              <a:t>Analysis of participant evaluation forms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It is SOP for trainers in many workplace training systems to provide learners with evaluation forms so they can provide feedback on their thoughts and experiences with the training system.</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These forms may be distributed to learners for their completion:</a:t>
            </a:r>
          </a:p>
          <a:p>
            <a:pPr marL="171450" indent="-171450">
              <a:buFont typeface="Arial" pitchFamily="34" charset="0"/>
              <a:buChar char="•"/>
            </a:pPr>
            <a:r>
              <a:rPr lang="en-AU" sz="1200" kern="1200" dirty="0" smtClean="0">
                <a:solidFill>
                  <a:schemeClr val="tx1"/>
                </a:solidFill>
                <a:ea typeface="+mn-ea"/>
                <a:cs typeface="+mn-cs"/>
              </a:rPr>
              <a:t>After each training session</a:t>
            </a:r>
          </a:p>
          <a:p>
            <a:pPr marL="171450" indent="-171450">
              <a:buFont typeface="Arial" pitchFamily="34" charset="0"/>
              <a:buChar char="•"/>
            </a:pPr>
            <a:r>
              <a:rPr lang="en-AU" sz="1200" kern="1200" dirty="0" smtClean="0">
                <a:solidFill>
                  <a:schemeClr val="tx1"/>
                </a:solidFill>
                <a:ea typeface="+mn-ea"/>
                <a:cs typeface="+mn-cs"/>
              </a:rPr>
              <a:t>Following completion of each topic or unit</a:t>
            </a:r>
          </a:p>
          <a:p>
            <a:pPr marL="171450" indent="-171450">
              <a:buFont typeface="Arial" pitchFamily="34" charset="0"/>
              <a:buChar char="•"/>
            </a:pPr>
            <a:r>
              <a:rPr lang="en-AU" sz="1200" kern="1200" dirty="0" smtClean="0">
                <a:solidFill>
                  <a:schemeClr val="tx1"/>
                </a:solidFill>
                <a:ea typeface="+mn-ea"/>
                <a:cs typeface="+mn-cs"/>
              </a:rPr>
              <a:t>When a qualification or course has been finalised.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56999934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analysis of participant evaluation forms:</a:t>
            </a:r>
          </a:p>
          <a:p>
            <a:r>
              <a:rPr lang="en-AU" sz="1200" kern="1200" dirty="0" smtClean="0">
                <a:solidFill>
                  <a:schemeClr val="tx1"/>
                </a:solidFill>
                <a:ea typeface="+mn-ea"/>
                <a:cs typeface="+mn-cs"/>
              </a:rPr>
              <a:t>Analysis of participant evaluation forms requires:</a:t>
            </a:r>
          </a:p>
          <a:p>
            <a:pPr marL="171450" indent="-171450">
              <a:buFont typeface="Arial" pitchFamily="34" charset="0"/>
              <a:buChar char="•"/>
            </a:pPr>
            <a:r>
              <a:rPr lang="en-AU" sz="1200" kern="1200" dirty="0" smtClean="0">
                <a:solidFill>
                  <a:schemeClr val="tx1"/>
                </a:solidFill>
                <a:ea typeface="+mn-ea"/>
                <a:cs typeface="+mn-cs"/>
              </a:rPr>
              <a:t>Gathering together and reading all the forms that were completed and returned to the trainer</a:t>
            </a:r>
          </a:p>
          <a:p>
            <a:pPr marL="171450" indent="-171450">
              <a:buFont typeface="Arial" pitchFamily="34" charset="0"/>
              <a:buChar char="•"/>
            </a:pPr>
            <a:r>
              <a:rPr lang="en-AU" sz="1200" kern="1200" dirty="0" smtClean="0">
                <a:solidFill>
                  <a:schemeClr val="tx1"/>
                </a:solidFill>
                <a:ea typeface="+mn-ea"/>
                <a:cs typeface="+mn-cs"/>
              </a:rPr>
              <a:t>Looking for trends in the responses/criticisms and/or suggestions – as opposed to one-off comments</a:t>
            </a:r>
          </a:p>
          <a:p>
            <a:pPr marL="171450" indent="-171450">
              <a:buFont typeface="Arial" pitchFamily="34" charset="0"/>
              <a:buChar char="•"/>
            </a:pPr>
            <a:r>
              <a:rPr lang="en-AU" sz="1200" kern="1200" dirty="0" smtClean="0">
                <a:solidFill>
                  <a:schemeClr val="tx1"/>
                </a:solidFill>
                <a:ea typeface="+mn-ea"/>
                <a:cs typeface="+mn-cs"/>
              </a:rPr>
              <a:t>Matching the comments/feedback provided to actual delivery – as this may apply to:</a:t>
            </a:r>
          </a:p>
          <a:p>
            <a:pPr marL="628650" lvl="1" indent="-171450">
              <a:buFont typeface="Arial" pitchFamily="34" charset="0"/>
              <a:buChar char="•"/>
            </a:pPr>
            <a:r>
              <a:rPr lang="en-AU" sz="1200" kern="1200" dirty="0" smtClean="0">
                <a:solidFill>
                  <a:schemeClr val="tx1"/>
                </a:solidFill>
                <a:ea typeface="+mn-ea"/>
                <a:cs typeface="+mn-cs"/>
              </a:rPr>
              <a:t>Individual trainers and their attitudes, skills and training competency</a:t>
            </a:r>
          </a:p>
          <a:p>
            <a:pPr marL="628650" lvl="1" indent="-171450">
              <a:buFont typeface="Arial" pitchFamily="34" charset="0"/>
              <a:buChar char="•"/>
            </a:pPr>
            <a:r>
              <a:rPr lang="en-AU" sz="1200" kern="1200" dirty="0" smtClean="0">
                <a:solidFill>
                  <a:schemeClr val="tx1"/>
                </a:solidFill>
                <a:ea typeface="+mn-ea"/>
                <a:cs typeface="+mn-cs"/>
              </a:rPr>
              <a:t>Specific topics, courses or qualifications</a:t>
            </a:r>
          </a:p>
          <a:p>
            <a:pPr marL="628650" lvl="1" indent="-171450">
              <a:buFont typeface="Arial" pitchFamily="34" charset="0"/>
              <a:buChar char="•"/>
            </a:pPr>
            <a:r>
              <a:rPr lang="en-AU" sz="1200" kern="1200" dirty="0" smtClean="0">
                <a:solidFill>
                  <a:schemeClr val="tx1"/>
                </a:solidFill>
                <a:ea typeface="+mn-ea"/>
                <a:cs typeface="+mn-cs"/>
              </a:rPr>
              <a:t>Content</a:t>
            </a:r>
          </a:p>
          <a:p>
            <a:pPr marL="628650" lvl="1" indent="-171450">
              <a:buFont typeface="Arial" pitchFamily="34" charset="0"/>
              <a:buChar char="•"/>
            </a:pPr>
            <a:r>
              <a:rPr lang="en-AU" sz="1200" kern="1200" dirty="0" smtClean="0">
                <a:solidFill>
                  <a:schemeClr val="tx1"/>
                </a:solidFill>
                <a:ea typeface="+mn-ea"/>
                <a:cs typeface="+mn-cs"/>
              </a:rPr>
              <a:t>Resources and materials </a:t>
            </a:r>
          </a:p>
          <a:p>
            <a:pPr marL="628650" lvl="1" indent="-171450">
              <a:buFont typeface="Arial" pitchFamily="34" charset="0"/>
              <a:buChar char="•"/>
            </a:pPr>
            <a:r>
              <a:rPr lang="en-AU" sz="1200" kern="1200" dirty="0" smtClean="0">
                <a:solidFill>
                  <a:schemeClr val="tx1"/>
                </a:solidFill>
                <a:ea typeface="+mn-ea"/>
                <a:cs typeface="+mn-cs"/>
              </a:rPr>
              <a:t>Timing and sequencing</a:t>
            </a:r>
          </a:p>
          <a:p>
            <a:pPr marL="628650" lvl="1" indent="-171450">
              <a:buFont typeface="Arial" pitchFamily="34" charset="0"/>
              <a:buChar char="•"/>
            </a:pPr>
            <a:r>
              <a:rPr lang="en-AU" sz="1200" kern="1200" dirty="0" smtClean="0">
                <a:solidFill>
                  <a:schemeClr val="tx1"/>
                </a:solidFill>
                <a:ea typeface="+mn-ea"/>
                <a:cs typeface="+mn-cs"/>
              </a:rPr>
              <a:t>Extent to which training delivered skills and knowledge required by the participants to enable them to perform their allocated workplace duties.</a:t>
            </a:r>
          </a:p>
          <a:p>
            <a:pPr>
              <a:buFont typeface="Arial" pitchFamily="34" charset="0"/>
              <a:buChar char="•"/>
            </a:pPr>
            <a:endParaRPr lang="en-AU" noProof="0" dirty="0" smtClean="0"/>
          </a:p>
          <a:p>
            <a:pPr>
              <a:buFont typeface="Arial" pitchFamily="34" charset="0"/>
              <a:buNone/>
            </a:pPr>
            <a:r>
              <a:rPr lang="en-AU" b="1" noProof="0" dirty="0" smtClean="0"/>
              <a:t>Classroom Activity – Exercise</a:t>
            </a:r>
          </a:p>
          <a:p>
            <a:pPr>
              <a:buFont typeface="Arial" pitchFamily="34" charset="0"/>
              <a:buNone/>
            </a:pPr>
            <a:r>
              <a:rPr lang="en-AU" b="0" noProof="0" dirty="0" smtClean="0"/>
              <a:t>Trainer distributes and discusses anonymous batch of participant evaluation forms.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378692201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indicate procedures </a:t>
            </a:r>
            <a:r>
              <a:rPr lang="en-AU" sz="1200" kern="1200" dirty="0" smtClean="0">
                <a:solidFill>
                  <a:schemeClr val="tx1"/>
                </a:solidFill>
                <a:ea typeface="+mn-ea"/>
                <a:cs typeface="+mn-cs"/>
              </a:rPr>
              <a:t>which may be used in reviews of the workplace training system may include:</a:t>
            </a:r>
          </a:p>
          <a:p>
            <a:r>
              <a:rPr lang="en-AU" sz="1200" b="1" kern="1200" dirty="0" smtClean="0">
                <a:solidFill>
                  <a:schemeClr val="tx1"/>
                </a:solidFill>
                <a:ea typeface="+mn-ea"/>
                <a:cs typeface="+mn-cs"/>
              </a:rPr>
              <a:t>Interviews </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Interviews are face-to-face discussions with stakeholders.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There is a view which states many </a:t>
            </a:r>
            <a:r>
              <a:rPr lang="en-AU" sz="1200" i="1" kern="1200" dirty="0" smtClean="0">
                <a:solidFill>
                  <a:schemeClr val="tx1"/>
                </a:solidFill>
                <a:ea typeface="+mn-ea"/>
                <a:cs typeface="+mn-cs"/>
              </a:rPr>
              <a:t>current</a:t>
            </a:r>
            <a:r>
              <a:rPr lang="en-AU" sz="1200" kern="1200" dirty="0" smtClean="0">
                <a:solidFill>
                  <a:schemeClr val="tx1"/>
                </a:solidFill>
                <a:ea typeface="+mn-ea"/>
                <a:cs typeface="+mn-cs"/>
              </a:rPr>
              <a:t> learners (that is, those still engaged with the training process and yet to be assessed) may be reluctant to provide legitimate negative feedback in this setting as they can believe such a response may jeopardise their assessment outcomes. </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said, interviews are a valuable source of review information – as they:</a:t>
            </a:r>
          </a:p>
          <a:p>
            <a:pPr marL="171450" indent="-171450">
              <a:buFont typeface="Arial" pitchFamily="34" charset="0"/>
              <a:buChar char="•"/>
            </a:pPr>
            <a:r>
              <a:rPr lang="en-AU" sz="1200" kern="1200" dirty="0" smtClean="0">
                <a:solidFill>
                  <a:schemeClr val="tx1"/>
                </a:solidFill>
                <a:ea typeface="+mn-ea"/>
                <a:cs typeface="+mn-cs"/>
              </a:rPr>
              <a:t>Demonstrate reviews actually do occur in relation to the system – as opposed to simply being talked about</a:t>
            </a:r>
          </a:p>
          <a:p>
            <a:pPr marL="171450" indent="-171450">
              <a:buFont typeface="Arial" pitchFamily="34" charset="0"/>
              <a:buChar char="•"/>
            </a:pPr>
            <a:r>
              <a:rPr lang="en-AU" sz="1200" kern="1200" dirty="0" smtClean="0">
                <a:solidFill>
                  <a:schemeClr val="tx1"/>
                </a:solidFill>
                <a:ea typeface="+mn-ea"/>
                <a:cs typeface="+mn-cs"/>
              </a:rPr>
              <a:t>Allow the non-verbal language of interviewees to be factored into contributions – so the experienced interviewer can follow-up on what seems to be an important point</a:t>
            </a:r>
          </a:p>
          <a:p>
            <a:pPr marL="171450" indent="-171450">
              <a:buFont typeface="Arial" pitchFamily="34" charset="0"/>
              <a:buChar char="•"/>
            </a:pPr>
            <a:r>
              <a:rPr lang="en-AU" sz="1200" kern="1200" dirty="0" smtClean="0">
                <a:solidFill>
                  <a:schemeClr val="tx1"/>
                </a:solidFill>
                <a:ea typeface="+mn-ea"/>
                <a:cs typeface="+mn-cs"/>
              </a:rPr>
              <a:t>Encourage those interviewed to raise issues of their own – instead of only responding to topics identified by the interviewer.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182839499"/>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interviews noting </a:t>
            </a:r>
            <a:r>
              <a:rPr lang="en-AU" sz="1200" kern="1200" dirty="0" smtClean="0">
                <a:solidFill>
                  <a:schemeClr val="tx1"/>
                </a:solidFill>
                <a:ea typeface="+mn-ea"/>
                <a:cs typeface="+mn-cs"/>
              </a:rPr>
              <a:t>interviews may:</a:t>
            </a:r>
          </a:p>
          <a:p>
            <a:pPr marL="171450" indent="-171450">
              <a:buFont typeface="Arial" pitchFamily="34" charset="0"/>
              <a:buChar char="•"/>
            </a:pPr>
            <a:r>
              <a:rPr lang="en-AU" sz="1200" kern="1200" dirty="0" smtClean="0">
                <a:solidFill>
                  <a:schemeClr val="tx1"/>
                </a:solidFill>
                <a:ea typeface="+mn-ea"/>
                <a:cs typeface="+mn-cs"/>
              </a:rPr>
              <a:t>Feature current and past participants</a:t>
            </a:r>
          </a:p>
          <a:p>
            <a:pPr marL="171450" indent="-171450">
              <a:buFont typeface="Arial" pitchFamily="34" charset="0"/>
              <a:buChar char="•"/>
            </a:pPr>
            <a:r>
              <a:rPr lang="en-AU" sz="1200" kern="1200" dirty="0" smtClean="0">
                <a:solidFill>
                  <a:schemeClr val="tx1"/>
                </a:solidFill>
                <a:ea typeface="+mn-ea"/>
                <a:cs typeface="+mn-cs"/>
              </a:rPr>
              <a:t>Involve internal and external stakeholders</a:t>
            </a:r>
          </a:p>
          <a:p>
            <a:pPr marL="171450" indent="-171450">
              <a:buFont typeface="Arial" pitchFamily="34" charset="0"/>
              <a:buChar char="•"/>
            </a:pPr>
            <a:r>
              <a:rPr lang="en-AU" sz="1200" kern="1200" dirty="0" smtClean="0">
                <a:solidFill>
                  <a:schemeClr val="tx1"/>
                </a:solidFill>
                <a:ea typeface="+mn-ea"/>
                <a:cs typeface="+mn-cs"/>
              </a:rPr>
              <a:t>Be conducted one-on-one or in a group content</a:t>
            </a:r>
          </a:p>
          <a:p>
            <a:pPr marL="171450" indent="-171450">
              <a:buFont typeface="Arial" pitchFamily="34" charset="0"/>
              <a:buChar char="•"/>
            </a:pPr>
            <a:r>
              <a:rPr lang="en-AU" sz="1200" kern="1200" dirty="0" smtClean="0">
                <a:solidFill>
                  <a:schemeClr val="tx1"/>
                </a:solidFill>
                <a:ea typeface="+mn-ea"/>
                <a:cs typeface="+mn-cs"/>
              </a:rPr>
              <a:t>Be based on a standard set of questions/issues relating to the specific elements which are to be addressed by the individual review.</a:t>
            </a:r>
          </a:p>
          <a:p>
            <a:pPr>
              <a:buFont typeface="Arial" pitchFamily="34" charset="0"/>
              <a:buNone/>
            </a:pPr>
            <a:endParaRPr lang="en-AU" noProof="0" dirty="0" smtClean="0"/>
          </a:p>
          <a:p>
            <a:pPr>
              <a:buFont typeface="Arial" pitchFamily="34" charset="0"/>
              <a:buNone/>
            </a:pPr>
            <a:r>
              <a:rPr lang="en-AU" b="1" noProof="0" dirty="0" smtClean="0"/>
              <a:t>Classroom Activity – Demonstration and Practical</a:t>
            </a:r>
          </a:p>
          <a:p>
            <a:pPr>
              <a:buFont typeface="Arial" pitchFamily="34" charset="0"/>
              <a:buNone/>
            </a:pPr>
            <a:r>
              <a:rPr lang="en-AU" b="0" noProof="0" dirty="0" smtClean="0"/>
              <a:t>Trainer demonstrates how to conduct an interview as part of a review process and gives students an opportunity to do the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110157963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indicate procedures </a:t>
            </a:r>
            <a:r>
              <a:rPr lang="en-AU" sz="1200" kern="1200" dirty="0" smtClean="0">
                <a:solidFill>
                  <a:schemeClr val="tx1"/>
                </a:solidFill>
                <a:ea typeface="+mn-ea"/>
                <a:cs typeface="+mn-cs"/>
              </a:rPr>
              <a:t>which may be used in reviews of the workplace training system may include:</a:t>
            </a:r>
          </a:p>
          <a:p>
            <a:r>
              <a:rPr lang="en-AU" sz="1200" b="1" kern="1200" dirty="0" smtClean="0">
                <a:solidFill>
                  <a:schemeClr val="tx1"/>
                </a:solidFill>
                <a:ea typeface="+mn-ea"/>
                <a:cs typeface="+mn-cs"/>
              </a:rPr>
              <a:t>Analysis of operational data</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Depending on the identified objectives for the training, the review may necessitate analysis of internal operational information to determine the extent to which those objectives have been achieved. </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review of this data requires:</a:t>
            </a:r>
          </a:p>
          <a:p>
            <a:pPr marL="171450" indent="-171450">
              <a:buFont typeface="Arial" pitchFamily="34" charset="0"/>
              <a:buChar char="•"/>
            </a:pPr>
            <a:r>
              <a:rPr lang="en-AU" sz="1200" kern="1200" dirty="0" smtClean="0">
                <a:solidFill>
                  <a:schemeClr val="tx1"/>
                </a:solidFill>
                <a:ea typeface="+mn-ea"/>
                <a:cs typeface="+mn-cs"/>
              </a:rPr>
              <a:t>Acquiring base line data – which provides the benchmark against which later data can be compared</a:t>
            </a:r>
          </a:p>
          <a:p>
            <a:pPr marL="171450" indent="-171450">
              <a:buFont typeface="Arial" pitchFamily="34" charset="0"/>
              <a:buChar char="•"/>
            </a:pPr>
            <a:r>
              <a:rPr lang="en-AU" sz="1200" kern="1200" dirty="0" smtClean="0">
                <a:solidFill>
                  <a:schemeClr val="tx1"/>
                </a:solidFill>
                <a:ea typeface="+mn-ea"/>
                <a:cs typeface="+mn-cs"/>
              </a:rPr>
              <a:t>Obtaining and evaluating information relevant to the specific objectives/elements being considered – as prescribed for the individual review</a:t>
            </a:r>
          </a:p>
          <a:p>
            <a:pPr marL="171450" indent="-171450">
              <a:buFont typeface="Arial" pitchFamily="34" charset="0"/>
              <a:buChar char="•"/>
            </a:pPr>
            <a:r>
              <a:rPr lang="en-AU" sz="1200" kern="1200" dirty="0" smtClean="0">
                <a:solidFill>
                  <a:schemeClr val="tx1"/>
                </a:solidFill>
                <a:ea typeface="+mn-ea"/>
                <a:cs typeface="+mn-cs"/>
              </a:rPr>
              <a:t>Drawing comparisons between:</a:t>
            </a:r>
          </a:p>
          <a:p>
            <a:pPr marL="628650" lvl="1" indent="-171450">
              <a:buFont typeface="Arial" pitchFamily="34" charset="0"/>
              <a:buChar char="•"/>
            </a:pPr>
            <a:r>
              <a:rPr lang="en-AU" sz="1200" kern="1200" dirty="0" smtClean="0">
                <a:solidFill>
                  <a:schemeClr val="tx1"/>
                </a:solidFill>
                <a:ea typeface="+mn-ea"/>
                <a:cs typeface="+mn-cs"/>
              </a:rPr>
              <a:t>Progress/achievements made</a:t>
            </a:r>
          </a:p>
          <a:p>
            <a:pPr marL="628650" lvl="1" indent="-171450">
              <a:buFont typeface="Arial" pitchFamily="34" charset="0"/>
              <a:buChar char="•"/>
            </a:pPr>
            <a:r>
              <a:rPr lang="en-AU" sz="1200" kern="1200" dirty="0" smtClean="0">
                <a:solidFill>
                  <a:schemeClr val="tx1"/>
                </a:solidFill>
                <a:ea typeface="+mn-ea"/>
                <a:cs typeface="+mn-cs"/>
              </a:rPr>
              <a:t>‘Actual’ results as identified by the data and ‘projected’ outcomes as described in the plans/training proposals.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387837689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analysis of operational data noting </a:t>
            </a:r>
            <a:r>
              <a:rPr lang="en-AU" sz="1200" kern="1200" dirty="0" smtClean="0">
                <a:solidFill>
                  <a:schemeClr val="tx1"/>
                </a:solidFill>
                <a:ea typeface="+mn-ea"/>
                <a:cs typeface="+mn-cs"/>
              </a:rPr>
              <a:t>data which may be reviewed will need to reflect the identified objectives/projected outcomes and may relate to issues such as:</a:t>
            </a:r>
          </a:p>
          <a:p>
            <a:pPr marL="171450" indent="-171450">
              <a:buFont typeface="Arial" pitchFamily="34" charset="0"/>
              <a:buChar char="•"/>
            </a:pPr>
            <a:r>
              <a:rPr lang="en-AU" sz="1200" kern="1200" dirty="0" smtClean="0">
                <a:solidFill>
                  <a:schemeClr val="tx1"/>
                </a:solidFill>
                <a:ea typeface="+mn-ea"/>
                <a:cs typeface="+mn-cs"/>
              </a:rPr>
              <a:t>Reduction in wastage and accidents</a:t>
            </a:r>
          </a:p>
          <a:p>
            <a:pPr marL="171450" indent="-171450">
              <a:buFont typeface="Arial" pitchFamily="34" charset="0"/>
              <a:buChar char="•"/>
            </a:pPr>
            <a:r>
              <a:rPr lang="en-AU" sz="1200" kern="1200" dirty="0" smtClean="0">
                <a:solidFill>
                  <a:schemeClr val="tx1"/>
                </a:solidFill>
                <a:ea typeface="+mn-ea"/>
                <a:cs typeface="+mn-cs"/>
              </a:rPr>
              <a:t>Improvements in productivity and service levels</a:t>
            </a:r>
          </a:p>
          <a:p>
            <a:pPr marL="171450" indent="-171450">
              <a:buFont typeface="Arial" pitchFamily="34" charset="0"/>
              <a:buChar char="•"/>
            </a:pPr>
            <a:r>
              <a:rPr lang="en-AU" sz="1200" kern="1200" dirty="0" smtClean="0">
                <a:solidFill>
                  <a:schemeClr val="tx1"/>
                </a:solidFill>
                <a:ea typeface="+mn-ea"/>
                <a:cs typeface="+mn-cs"/>
              </a:rPr>
              <a:t>Increased sales and/or profit margins</a:t>
            </a:r>
          </a:p>
          <a:p>
            <a:pPr marL="171450" indent="-171450">
              <a:buFont typeface="Arial" pitchFamily="34" charset="0"/>
              <a:buChar char="•"/>
            </a:pPr>
            <a:r>
              <a:rPr lang="en-AU" sz="1200" kern="1200" dirty="0" smtClean="0">
                <a:solidFill>
                  <a:schemeClr val="tx1"/>
                </a:solidFill>
                <a:ea typeface="+mn-ea"/>
                <a:cs typeface="+mn-cs"/>
              </a:rPr>
              <a:t>Certification/compliance levels of employees.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359389053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indicate procedures </a:t>
            </a:r>
            <a:r>
              <a:rPr lang="en-AU" sz="1200" kern="1200" dirty="0" smtClean="0">
                <a:solidFill>
                  <a:schemeClr val="tx1"/>
                </a:solidFill>
                <a:ea typeface="+mn-ea"/>
                <a:cs typeface="+mn-cs"/>
              </a:rPr>
              <a:t>which may be used in reviews of the workplace training system may include:</a:t>
            </a:r>
          </a:p>
          <a:p>
            <a:r>
              <a:rPr lang="en-AU" sz="1200" b="1" kern="1200" dirty="0" smtClean="0">
                <a:solidFill>
                  <a:schemeClr val="tx1"/>
                </a:solidFill>
                <a:ea typeface="+mn-ea"/>
                <a:cs typeface="+mn-cs"/>
              </a:rPr>
              <a:t>Observation</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Observation refers to visual observation of identified people whose actions are relevant to the elements being addressed by the review.</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observation may be focussed on:</a:t>
            </a:r>
          </a:p>
          <a:p>
            <a:pPr marL="171450" indent="-171450">
              <a:buFont typeface="Arial" pitchFamily="34" charset="0"/>
              <a:buChar char="•"/>
            </a:pPr>
            <a:r>
              <a:rPr lang="en-AU" sz="1200" kern="1200" dirty="0" smtClean="0">
                <a:solidFill>
                  <a:schemeClr val="tx1"/>
                </a:solidFill>
                <a:ea typeface="+mn-ea"/>
                <a:cs typeface="+mn-cs"/>
              </a:rPr>
              <a:t>Trainers – and their training practices</a:t>
            </a:r>
          </a:p>
          <a:p>
            <a:pPr marL="171450" indent="-171450">
              <a:buFont typeface="Arial" pitchFamily="34" charset="0"/>
              <a:buChar char="•"/>
            </a:pPr>
            <a:r>
              <a:rPr lang="en-AU" sz="1200" kern="1200" dirty="0" smtClean="0">
                <a:solidFill>
                  <a:schemeClr val="tx1"/>
                </a:solidFill>
                <a:ea typeface="+mn-ea"/>
                <a:cs typeface="+mn-cs"/>
              </a:rPr>
              <a:t>Assessors – and their assessment practices </a:t>
            </a:r>
          </a:p>
          <a:p>
            <a:pPr marL="171450" indent="-171450">
              <a:buFont typeface="Arial" pitchFamily="34" charset="0"/>
              <a:buChar char="•"/>
            </a:pPr>
            <a:r>
              <a:rPr lang="en-AU" sz="1200" kern="1200" dirty="0" smtClean="0">
                <a:solidFill>
                  <a:schemeClr val="tx1"/>
                </a:solidFill>
                <a:ea typeface="+mn-ea"/>
                <a:cs typeface="+mn-cs"/>
              </a:rPr>
              <a:t>Workers – noting their level of competency in the workplace</a:t>
            </a:r>
          </a:p>
          <a:p>
            <a:pPr marL="171450" indent="-171450">
              <a:buFont typeface="Arial" pitchFamily="34" charset="0"/>
              <a:buChar char="•"/>
            </a:pPr>
            <a:r>
              <a:rPr lang="en-AU" sz="1200" kern="1200" dirty="0" smtClean="0">
                <a:solidFill>
                  <a:schemeClr val="tx1"/>
                </a:solidFill>
                <a:ea typeface="+mn-ea"/>
                <a:cs typeface="+mn-cs"/>
              </a:rPr>
              <a:t>Customers – noting their reaction/response to being served by staff who have been trained.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286430031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discuss observation noting it </a:t>
            </a:r>
            <a:r>
              <a:rPr lang="en-AU" sz="1200" kern="1200" dirty="0" smtClean="0">
                <a:solidFill>
                  <a:schemeClr val="tx1"/>
                </a:solidFill>
                <a:ea typeface="+mn-ea"/>
                <a:cs typeface="+mn-cs"/>
              </a:rPr>
              <a:t>may feature:</a:t>
            </a:r>
          </a:p>
          <a:p>
            <a:pPr marL="171450" indent="-171450">
              <a:buFont typeface="Arial" pitchFamily="34" charset="0"/>
              <a:buChar char="•"/>
            </a:pPr>
            <a:r>
              <a:rPr lang="en-AU" sz="1200" kern="1200" dirty="0" smtClean="0">
                <a:solidFill>
                  <a:schemeClr val="tx1"/>
                </a:solidFill>
                <a:ea typeface="+mn-ea"/>
                <a:cs typeface="+mn-cs"/>
              </a:rPr>
              <a:t>Physically watching people – individuals or groups</a:t>
            </a:r>
          </a:p>
          <a:p>
            <a:pPr marL="171450" indent="-171450">
              <a:buFont typeface="Arial" pitchFamily="34" charset="0"/>
              <a:buChar char="•"/>
            </a:pPr>
            <a:r>
              <a:rPr lang="en-AU" sz="1200" kern="1200" dirty="0" smtClean="0">
                <a:solidFill>
                  <a:schemeClr val="tx1"/>
                </a:solidFill>
                <a:ea typeface="+mn-ea"/>
                <a:cs typeface="+mn-cs"/>
              </a:rPr>
              <a:t>Using a checklist to record targeted data – as required in relation to the elements being covered by the review</a:t>
            </a:r>
          </a:p>
          <a:p>
            <a:pPr marL="171450" indent="-171450">
              <a:buFont typeface="Arial" pitchFamily="34" charset="0"/>
              <a:buChar char="•"/>
            </a:pPr>
            <a:r>
              <a:rPr lang="en-AU" sz="1200" kern="1200" dirty="0" smtClean="0">
                <a:solidFill>
                  <a:schemeClr val="tx1"/>
                </a:solidFill>
                <a:ea typeface="+mn-ea"/>
                <a:cs typeface="+mn-cs"/>
              </a:rPr>
              <a:t>Recording action observed – for later playback and more detailed analysis.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2164164628"/>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indicate procedures </a:t>
            </a:r>
            <a:r>
              <a:rPr lang="en-AU" sz="1200" kern="1200" dirty="0" smtClean="0">
                <a:solidFill>
                  <a:schemeClr val="tx1"/>
                </a:solidFill>
                <a:ea typeface="+mn-ea"/>
                <a:cs typeface="+mn-cs"/>
              </a:rPr>
              <a:t>which may be used in reviews of the workplace training system may include:</a:t>
            </a:r>
          </a:p>
          <a:p>
            <a:r>
              <a:rPr lang="en-AU" sz="1200" b="1" kern="1200" dirty="0" smtClean="0">
                <a:solidFill>
                  <a:schemeClr val="tx1"/>
                </a:solidFill>
                <a:ea typeface="+mn-ea"/>
                <a:cs typeface="+mn-cs"/>
              </a:rPr>
              <a:t>Analysis of feedback received</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Feedback provided to the system by those who are using and/or impacted by the system is valuable for all reviews.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It is important to ensure:</a:t>
            </a:r>
          </a:p>
          <a:p>
            <a:pPr marL="171450" indent="-171450">
              <a:buFont typeface="Arial" pitchFamily="34" charset="0"/>
              <a:buChar char="•"/>
            </a:pPr>
            <a:r>
              <a:rPr lang="en-AU" sz="1200" kern="1200" dirty="0" smtClean="0">
                <a:solidFill>
                  <a:schemeClr val="tx1"/>
                </a:solidFill>
                <a:ea typeface="+mn-ea"/>
                <a:cs typeface="+mn-cs"/>
              </a:rPr>
              <a:t>The system must be proactive in soliciting feedback – the system must never just rely on feedback which is </a:t>
            </a:r>
            <a:r>
              <a:rPr lang="en-AU" sz="1200" i="1" kern="1200" dirty="0" smtClean="0">
                <a:solidFill>
                  <a:schemeClr val="tx1"/>
                </a:solidFill>
                <a:ea typeface="+mn-ea"/>
                <a:cs typeface="+mn-cs"/>
              </a:rPr>
              <a:t>offered</a:t>
            </a:r>
            <a:r>
              <a:rPr lang="en-AU" sz="1200" kern="1200" dirty="0" smtClean="0">
                <a:solidFill>
                  <a:schemeClr val="tx1"/>
                </a:solidFill>
                <a:ea typeface="+mn-ea"/>
                <a:cs typeface="+mn-cs"/>
              </a:rPr>
              <a:t> to it</a:t>
            </a:r>
          </a:p>
          <a:p>
            <a:pPr marL="171450" indent="-171450">
              <a:buFont typeface="Arial" pitchFamily="34" charset="0"/>
              <a:buChar char="•"/>
            </a:pPr>
            <a:r>
              <a:rPr lang="en-AU" sz="1200" kern="1200" dirty="0" smtClean="0">
                <a:solidFill>
                  <a:schemeClr val="tx1"/>
                </a:solidFill>
                <a:ea typeface="+mn-ea"/>
                <a:cs typeface="+mn-cs"/>
              </a:rPr>
              <a:t>All feedback must be considered – not just the positive contributions</a:t>
            </a:r>
          </a:p>
          <a:p>
            <a:pPr marL="171450" indent="-171450">
              <a:buFont typeface="Arial" pitchFamily="34" charset="0"/>
              <a:buChar char="•"/>
            </a:pPr>
            <a:r>
              <a:rPr lang="en-AU" sz="1200" kern="1200" dirty="0" smtClean="0">
                <a:solidFill>
                  <a:schemeClr val="tx1"/>
                </a:solidFill>
                <a:ea typeface="+mn-ea"/>
                <a:cs typeface="+mn-cs"/>
              </a:rPr>
              <a:t>Stakeholders are given a variety of feedback options – as opposed to, for example, </a:t>
            </a:r>
            <a:r>
              <a:rPr lang="en-AU" sz="1200" i="1" kern="1200" dirty="0" smtClean="0">
                <a:solidFill>
                  <a:schemeClr val="tx1"/>
                </a:solidFill>
                <a:ea typeface="+mn-ea"/>
                <a:cs typeface="+mn-cs"/>
              </a:rPr>
              <a:t>requiring</a:t>
            </a:r>
            <a:r>
              <a:rPr lang="en-AU" sz="1200" kern="1200" dirty="0" smtClean="0">
                <a:solidFill>
                  <a:schemeClr val="tx1"/>
                </a:solidFill>
                <a:ea typeface="+mn-ea"/>
                <a:cs typeface="+mn-cs"/>
              </a:rPr>
              <a:t> them to provide formal/written input</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Contributions are sought from all stakeholders – as relevant to the nature of the review being conducted/the elements being researched</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Analysis of training-related feedback, including complaints, grievances, awards received.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416696694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noProof="0" dirty="0" smtClean="0"/>
              <a:t>Trainer continues to indicate procedures </a:t>
            </a:r>
            <a:r>
              <a:rPr lang="en-AU" sz="1200" kern="1200" dirty="0" smtClean="0">
                <a:solidFill>
                  <a:schemeClr val="tx1"/>
                </a:solidFill>
                <a:ea typeface="+mn-ea"/>
                <a:cs typeface="+mn-cs"/>
              </a:rPr>
              <a:t>which may be used in reviews of the workplace training system may include:</a:t>
            </a:r>
          </a:p>
          <a:p>
            <a:r>
              <a:rPr lang="en-AU" sz="1200" b="1" kern="1200" dirty="0" smtClean="0">
                <a:solidFill>
                  <a:schemeClr val="tx1"/>
                </a:solidFill>
                <a:ea typeface="+mn-ea"/>
                <a:cs typeface="+mn-cs"/>
              </a:rPr>
              <a:t>Meeting with stakeholders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Meetings with stakeholders for the purposes of review will require:</a:t>
            </a:r>
          </a:p>
          <a:p>
            <a:pPr marL="171450" indent="-171450">
              <a:buFont typeface="Arial" pitchFamily="34" charset="0"/>
              <a:buChar char="•"/>
            </a:pPr>
            <a:r>
              <a:rPr lang="en-AU" sz="1200" kern="1200" dirty="0" smtClean="0">
                <a:solidFill>
                  <a:schemeClr val="tx1"/>
                </a:solidFill>
                <a:ea typeface="+mn-ea"/>
                <a:cs typeface="+mn-cs"/>
              </a:rPr>
              <a:t>Organising and scheduling the meeting/s – to ensure all stakeholders attend and are given the opportunity to participate</a:t>
            </a:r>
          </a:p>
          <a:p>
            <a:pPr marL="171450" indent="-171450">
              <a:buFont typeface="Arial" pitchFamily="34" charset="0"/>
              <a:buChar char="•"/>
            </a:pPr>
            <a:r>
              <a:rPr lang="en-AU" sz="1200" kern="1200" dirty="0" smtClean="0">
                <a:solidFill>
                  <a:schemeClr val="tx1"/>
                </a:solidFill>
                <a:ea typeface="+mn-ea"/>
                <a:cs typeface="+mn-cs"/>
              </a:rPr>
              <a:t>Providing advance notice – with reference to:</a:t>
            </a:r>
          </a:p>
          <a:p>
            <a:pPr marL="628650" lvl="1" indent="-171450">
              <a:buFont typeface="Arial" pitchFamily="34" charset="0"/>
              <a:buChar char="•"/>
            </a:pPr>
            <a:r>
              <a:rPr lang="en-AU" sz="1200" kern="1200" dirty="0" smtClean="0">
                <a:solidFill>
                  <a:schemeClr val="tx1"/>
                </a:solidFill>
                <a:ea typeface="+mn-ea"/>
                <a:cs typeface="+mn-cs"/>
              </a:rPr>
              <a:t>Elements and issues to be addressed</a:t>
            </a:r>
          </a:p>
          <a:p>
            <a:pPr marL="628650" lvl="1" indent="-171450">
              <a:buFont typeface="Arial" pitchFamily="34" charset="0"/>
              <a:buChar char="•"/>
            </a:pPr>
            <a:r>
              <a:rPr lang="en-AU" sz="1200" kern="1200" dirty="0" smtClean="0">
                <a:solidFill>
                  <a:schemeClr val="tx1"/>
                </a:solidFill>
                <a:ea typeface="+mn-ea"/>
                <a:cs typeface="+mn-cs"/>
              </a:rPr>
              <a:t>Expectations about contributions the stakeholders will make – for example, that:</a:t>
            </a:r>
          </a:p>
          <a:p>
            <a:pPr marL="1085850" lvl="2" indent="-171450">
              <a:buFont typeface="Arial" pitchFamily="34" charset="0"/>
              <a:buChar char="•"/>
            </a:pPr>
            <a:r>
              <a:rPr lang="en-AU" sz="1200" kern="1200" dirty="0" smtClean="0">
                <a:solidFill>
                  <a:schemeClr val="tx1"/>
                </a:solidFill>
                <a:ea typeface="+mn-ea"/>
                <a:cs typeface="+mn-cs"/>
              </a:rPr>
              <a:t>Contributions are valid/legitimate</a:t>
            </a:r>
          </a:p>
          <a:p>
            <a:pPr marL="1085850" lvl="2" indent="-171450">
              <a:buFont typeface="Arial" pitchFamily="34" charset="0"/>
              <a:buChar char="•"/>
            </a:pPr>
            <a:r>
              <a:rPr lang="en-AU" sz="1200" kern="1200" dirty="0" smtClean="0">
                <a:solidFill>
                  <a:schemeClr val="tx1"/>
                </a:solidFill>
                <a:ea typeface="+mn-ea"/>
                <a:cs typeface="+mn-cs"/>
              </a:rPr>
              <a:t>Comments are honest and without bias or malice</a:t>
            </a:r>
          </a:p>
          <a:p>
            <a:pPr marL="1085850" lvl="2" indent="-171450">
              <a:buFont typeface="Arial" pitchFamily="34" charset="0"/>
              <a:buChar char="•"/>
            </a:pPr>
            <a:r>
              <a:rPr lang="en-AU" sz="1200" kern="1200" dirty="0" smtClean="0">
                <a:solidFill>
                  <a:schemeClr val="tx1"/>
                </a:solidFill>
                <a:ea typeface="+mn-ea"/>
                <a:cs typeface="+mn-cs"/>
              </a:rPr>
              <a:t>Input needs to be able to be justified/supported by evidence</a:t>
            </a:r>
          </a:p>
          <a:p>
            <a:pPr marL="171450" indent="-171450">
              <a:buFont typeface="Arial" pitchFamily="34" charset="0"/>
              <a:buChar char="•"/>
            </a:pPr>
            <a:r>
              <a:rPr lang="en-AU" sz="1200" kern="1200" dirty="0" smtClean="0">
                <a:solidFill>
                  <a:schemeClr val="tx1"/>
                </a:solidFill>
                <a:ea typeface="+mn-ea"/>
                <a:cs typeface="+mn-cs"/>
              </a:rPr>
              <a:t>Recording the contributions made – noting relevant remarks which may relate to:</a:t>
            </a:r>
          </a:p>
          <a:p>
            <a:pPr marL="628650" lvl="1" indent="-171450">
              <a:buFont typeface="Arial" pitchFamily="34" charset="0"/>
              <a:buChar char="•"/>
            </a:pPr>
            <a:r>
              <a:rPr lang="en-AU" sz="1200" kern="1200" dirty="0" smtClean="0">
                <a:solidFill>
                  <a:schemeClr val="tx1"/>
                </a:solidFill>
                <a:ea typeface="+mn-ea"/>
                <a:cs typeface="+mn-cs"/>
              </a:rPr>
              <a:t>Levels of satisfaction with training and assessment provision</a:t>
            </a:r>
          </a:p>
          <a:p>
            <a:pPr marL="628650" lvl="1" indent="-171450">
              <a:buFont typeface="Arial" pitchFamily="34" charset="0"/>
              <a:buChar char="•"/>
            </a:pPr>
            <a:r>
              <a:rPr lang="en-AU" sz="1200" kern="1200" dirty="0" smtClean="0">
                <a:solidFill>
                  <a:schemeClr val="tx1"/>
                </a:solidFill>
                <a:ea typeface="+mn-ea"/>
                <a:cs typeface="+mn-cs"/>
              </a:rPr>
              <a:t>Suggestions and reasons for change/improvements</a:t>
            </a:r>
          </a:p>
          <a:p>
            <a:pPr marL="628650" lvl="1" indent="-171450">
              <a:buFont typeface="Arial" pitchFamily="34" charset="0"/>
              <a:buChar char="•"/>
            </a:pPr>
            <a:r>
              <a:rPr lang="en-AU" sz="1200" kern="1200" dirty="0" smtClean="0">
                <a:solidFill>
                  <a:schemeClr val="tx1"/>
                </a:solidFill>
                <a:ea typeface="+mn-ea"/>
                <a:cs typeface="+mn-cs"/>
              </a:rPr>
              <a:t>Identification of who made contributions – because it is often a fact of life the thoughts of certain stakeholders carry more weight/influence than the feedback of others.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396699659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explains </a:t>
            </a:r>
            <a:r>
              <a:rPr lang="en-AU" sz="1200" kern="1200" dirty="0" smtClean="0">
                <a:solidFill>
                  <a:schemeClr val="tx1"/>
                </a:solidFill>
                <a:ea typeface="+mn-ea"/>
                <a:cs typeface="+mn-cs"/>
              </a:rPr>
              <a:t>‘Documenting the procedures to be used’ in the review process means developing them in written form, as opposed to allowing them to:</a:t>
            </a:r>
          </a:p>
          <a:p>
            <a:pPr marL="171450" indent="-171450">
              <a:buFont typeface="Arial" pitchFamily="34" charset="0"/>
              <a:buChar char="•"/>
            </a:pPr>
            <a:r>
              <a:rPr lang="en-AU" sz="1200" kern="1200" dirty="0" smtClean="0">
                <a:solidFill>
                  <a:schemeClr val="tx1"/>
                </a:solidFill>
                <a:ea typeface="+mn-ea"/>
                <a:cs typeface="+mn-cs"/>
              </a:rPr>
              <a:t>Discuss the points listed in the TM</a:t>
            </a:r>
            <a:r>
              <a:rPr lang="en-AU" sz="1200" kern="1200" baseline="0" dirty="0" smtClean="0">
                <a:solidFill>
                  <a:schemeClr val="tx1"/>
                </a:solidFill>
                <a:ea typeface="+mn-ea"/>
                <a:cs typeface="+mn-cs"/>
              </a:rPr>
              <a:t> highlighting key points</a:t>
            </a:r>
          </a:p>
          <a:p>
            <a:pPr marL="171450" indent="-171450">
              <a:buFont typeface="Arial" pitchFamily="34" charset="0"/>
              <a:buChar char="•"/>
            </a:pPr>
            <a:r>
              <a:rPr lang="en-AU" sz="1200" kern="1200" baseline="0" dirty="0" smtClean="0">
                <a:solidFill>
                  <a:schemeClr val="tx1"/>
                </a:solidFill>
                <a:ea typeface="+mn-ea"/>
                <a:cs typeface="+mn-cs"/>
              </a:rPr>
              <a:t>Discuss the importance of having evidence of conducting reviews and ensuring training is maintaining currency in the workplace.</a:t>
            </a:r>
          </a:p>
          <a:p>
            <a:pPr>
              <a:buFont typeface="Arial" pitchFamily="34" charset="0"/>
              <a:buChar char="•"/>
            </a:pPr>
            <a:endParaRPr lang="en-AU" sz="1200" kern="1200" baseline="0" dirty="0" smtClean="0">
              <a:solidFill>
                <a:schemeClr val="tx1"/>
              </a:solidFill>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Handouts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distributes and discusses sample procedures for the review of a workplace training system.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2486344312"/>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options </a:t>
            </a:r>
            <a:r>
              <a:rPr lang="en-AU" sz="1200" kern="1200" dirty="0" smtClean="0">
                <a:solidFill>
                  <a:schemeClr val="tx1"/>
                </a:solidFill>
                <a:ea typeface="+mn-ea"/>
                <a:cs typeface="+mn-cs"/>
              </a:rPr>
              <a:t>for sharing approved procedures with those who need to implement them may involve:</a:t>
            </a:r>
          </a:p>
          <a:p>
            <a:pPr marL="171450" indent="-171450">
              <a:buFont typeface="Arial" pitchFamily="34" charset="0"/>
              <a:buChar char="•"/>
            </a:pPr>
            <a:r>
              <a:rPr lang="en-AU" sz="1200" kern="1200" dirty="0" smtClean="0">
                <a:solidFill>
                  <a:schemeClr val="tx1"/>
                </a:solidFill>
                <a:ea typeface="+mn-ea"/>
                <a:cs typeface="+mn-cs"/>
              </a:rPr>
              <a:t>Distributing hard copy information – in the form of:</a:t>
            </a:r>
          </a:p>
          <a:p>
            <a:pPr marL="628650" lvl="1" indent="-171450">
              <a:buFont typeface="Arial" pitchFamily="34" charset="0"/>
              <a:buChar char="•"/>
            </a:pPr>
            <a:r>
              <a:rPr lang="en-AU" sz="1200" kern="1200" dirty="0" smtClean="0">
                <a:solidFill>
                  <a:schemeClr val="tx1"/>
                </a:solidFill>
                <a:ea typeface="+mn-ea"/>
                <a:cs typeface="+mn-cs"/>
              </a:rPr>
              <a:t>Checklists</a:t>
            </a:r>
          </a:p>
          <a:p>
            <a:pPr marL="628650" lvl="1" indent="-171450">
              <a:buFont typeface="Arial" pitchFamily="34" charset="0"/>
              <a:buChar char="•"/>
            </a:pPr>
            <a:r>
              <a:rPr lang="en-AU" sz="1200" kern="1200" dirty="0" smtClean="0">
                <a:solidFill>
                  <a:schemeClr val="tx1"/>
                </a:solidFill>
                <a:ea typeface="+mn-ea"/>
                <a:cs typeface="+mn-cs"/>
              </a:rPr>
              <a:t>Step-by-step actions</a:t>
            </a:r>
          </a:p>
          <a:p>
            <a:pPr marL="171450" indent="-171450">
              <a:buFont typeface="Arial" pitchFamily="34" charset="0"/>
              <a:buChar char="•"/>
            </a:pPr>
            <a:r>
              <a:rPr lang="en-AU" sz="1200" kern="1200" dirty="0" smtClean="0">
                <a:solidFill>
                  <a:schemeClr val="tx1"/>
                </a:solidFill>
                <a:ea typeface="+mn-ea"/>
                <a:cs typeface="+mn-cs"/>
              </a:rPr>
              <a:t>Verbally advising those involved – with a focus on:</a:t>
            </a:r>
          </a:p>
          <a:p>
            <a:pPr marL="628650" lvl="1" indent="-171450">
              <a:buFont typeface="Arial" pitchFamily="34" charset="0"/>
              <a:buChar char="•"/>
            </a:pPr>
            <a:r>
              <a:rPr lang="en-AU" sz="1200" kern="1200" dirty="0" smtClean="0">
                <a:solidFill>
                  <a:schemeClr val="tx1"/>
                </a:solidFill>
                <a:ea typeface="+mn-ea"/>
                <a:cs typeface="+mn-cs"/>
              </a:rPr>
              <a:t>Detailing requirements and describing actions</a:t>
            </a:r>
          </a:p>
          <a:p>
            <a:pPr marL="628650" lvl="1" indent="-171450">
              <a:buFont typeface="Arial" pitchFamily="34" charset="0"/>
              <a:buChar char="•"/>
            </a:pPr>
            <a:r>
              <a:rPr lang="en-AU" sz="1200" kern="1200" dirty="0" smtClean="0">
                <a:solidFill>
                  <a:schemeClr val="tx1"/>
                </a:solidFill>
                <a:ea typeface="+mn-ea"/>
                <a:cs typeface="+mn-cs"/>
              </a:rPr>
              <a:t>Explaining acceptable evidence</a:t>
            </a:r>
          </a:p>
          <a:p>
            <a:pPr marL="171450" indent="-171450">
              <a:buFont typeface="Arial" pitchFamily="34" charset="0"/>
              <a:buChar char="•"/>
            </a:pPr>
            <a:r>
              <a:rPr lang="en-AU" sz="1200" kern="1200" dirty="0" smtClean="0">
                <a:solidFill>
                  <a:schemeClr val="tx1"/>
                </a:solidFill>
                <a:ea typeface="+mn-ea"/>
                <a:cs typeface="+mn-cs"/>
              </a:rPr>
              <a:t>Supplementing hard copy and verbal information – with:</a:t>
            </a:r>
          </a:p>
          <a:p>
            <a:pPr marL="628650" lvl="1" indent="-171450">
              <a:buFont typeface="Arial" pitchFamily="34" charset="0"/>
              <a:buChar char="•"/>
            </a:pPr>
            <a:r>
              <a:rPr lang="en-AU" sz="1200" kern="1200" dirty="0" smtClean="0">
                <a:solidFill>
                  <a:schemeClr val="tx1"/>
                </a:solidFill>
                <a:ea typeface="+mn-ea"/>
                <a:cs typeface="+mn-cs"/>
              </a:rPr>
              <a:t>Training</a:t>
            </a:r>
          </a:p>
          <a:p>
            <a:pPr marL="628650" lvl="1" indent="-171450">
              <a:buFont typeface="Arial" pitchFamily="34" charset="0"/>
              <a:buChar char="•"/>
            </a:pPr>
            <a:r>
              <a:rPr lang="en-AU" sz="1200" kern="1200" dirty="0" smtClean="0">
                <a:solidFill>
                  <a:schemeClr val="tx1"/>
                </a:solidFill>
                <a:ea typeface="+mn-ea"/>
                <a:cs typeface="+mn-cs"/>
              </a:rPr>
              <a:t>Demonstrations</a:t>
            </a:r>
          </a:p>
          <a:p>
            <a:pPr marL="628650" lvl="1" indent="-171450">
              <a:buFont typeface="Arial" pitchFamily="34" charset="0"/>
              <a:buChar char="•"/>
            </a:pPr>
            <a:r>
              <a:rPr lang="en-AU" sz="1200" kern="1200" dirty="0" smtClean="0">
                <a:solidFill>
                  <a:schemeClr val="tx1"/>
                </a:solidFill>
                <a:ea typeface="+mn-ea"/>
                <a:cs typeface="+mn-cs"/>
              </a:rPr>
              <a:t>Drills.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251984740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advises the </a:t>
            </a:r>
            <a:r>
              <a:rPr lang="en-AU" sz="1200" kern="1200" dirty="0" smtClean="0">
                <a:solidFill>
                  <a:schemeClr val="tx1"/>
                </a:solidFill>
                <a:ea typeface="+mn-ea"/>
                <a:cs typeface="+mn-cs"/>
              </a:rPr>
              <a:t>following points will need to be considered in relation to gaining management approval to implement changes to a workplace training system:</a:t>
            </a:r>
          </a:p>
          <a:p>
            <a:pPr marL="171450" indent="-171450">
              <a:buFont typeface="Arial" pitchFamily="34" charset="0"/>
              <a:buChar char="•"/>
            </a:pPr>
            <a:r>
              <a:rPr lang="en-AU" sz="1200" kern="1200" dirty="0" smtClean="0">
                <a:solidFill>
                  <a:schemeClr val="tx1"/>
                </a:solidFill>
                <a:ea typeface="+mn-ea"/>
                <a:cs typeface="+mn-cs"/>
              </a:rPr>
              <a:t>Required changes issuing from certain sources will tend receive a more positive response from management – for example:</a:t>
            </a:r>
          </a:p>
          <a:p>
            <a:pPr marL="628650" lvl="1" indent="-171450">
              <a:buFont typeface="Arial" pitchFamily="34" charset="0"/>
              <a:buChar char="•"/>
            </a:pPr>
            <a:r>
              <a:rPr lang="en-AU" sz="1200" kern="1200" dirty="0" smtClean="0">
                <a:solidFill>
                  <a:schemeClr val="tx1"/>
                </a:solidFill>
                <a:ea typeface="+mn-ea"/>
                <a:cs typeface="+mn-cs"/>
              </a:rPr>
              <a:t>Findings made as a result  of an external audit by Training Authorities – as continued registration as a recognised provider (and potential to receive on-going government support/funding) depend on complying with these demands</a:t>
            </a:r>
          </a:p>
          <a:p>
            <a:pPr marL="628650" lvl="1" indent="-171450">
              <a:buFont typeface="Arial" pitchFamily="34" charset="0"/>
              <a:buChar char="•"/>
            </a:pPr>
            <a:r>
              <a:rPr lang="en-AU" sz="1200" kern="1200" dirty="0" smtClean="0">
                <a:solidFill>
                  <a:schemeClr val="tx1"/>
                </a:solidFill>
                <a:ea typeface="+mn-ea"/>
                <a:cs typeface="+mn-cs"/>
              </a:rPr>
              <a:t>Results of a QMS audit (or audit by an industry accreditation body) – in order to maintain the reputation, registration and/or credibility of the business</a:t>
            </a:r>
          </a:p>
          <a:p>
            <a:pPr marL="628650" lvl="1" indent="-171450">
              <a:buFont typeface="Arial" pitchFamily="34" charset="0"/>
              <a:buChar char="•"/>
            </a:pPr>
            <a:r>
              <a:rPr lang="en-AU" sz="1200" kern="1200" dirty="0" smtClean="0">
                <a:solidFill>
                  <a:schemeClr val="tx1"/>
                </a:solidFill>
                <a:ea typeface="+mn-ea"/>
                <a:cs typeface="+mn-cs"/>
              </a:rPr>
              <a:t>Key stakeholders always have more influence than non-key stakeholders </a:t>
            </a:r>
          </a:p>
          <a:p>
            <a:pPr marL="171450" indent="-171450">
              <a:buFont typeface="Arial" pitchFamily="34" charset="0"/>
              <a:buChar char="•"/>
            </a:pPr>
            <a:r>
              <a:rPr lang="en-AU" sz="1200" kern="1200" dirty="0" smtClean="0">
                <a:solidFill>
                  <a:schemeClr val="tx1"/>
                </a:solidFill>
                <a:ea typeface="+mn-ea"/>
                <a:cs typeface="+mn-cs"/>
              </a:rPr>
              <a:t>Those requesting the changes need to fully understand what is required – because they will/may have to:</a:t>
            </a:r>
          </a:p>
          <a:p>
            <a:pPr marL="628650" lvl="1" indent="-171450">
              <a:buFont typeface="Arial" pitchFamily="34" charset="0"/>
              <a:buChar char="•"/>
            </a:pPr>
            <a:r>
              <a:rPr lang="en-AU" sz="1200" kern="1200" dirty="0" smtClean="0">
                <a:solidFill>
                  <a:schemeClr val="tx1"/>
                </a:solidFill>
                <a:ea typeface="+mn-ea"/>
                <a:cs typeface="+mn-cs"/>
              </a:rPr>
              <a:t>Explain them to others</a:t>
            </a:r>
          </a:p>
          <a:p>
            <a:pPr marL="628650" lvl="1" indent="-171450">
              <a:buFont typeface="Arial" pitchFamily="34" charset="0"/>
              <a:buChar char="•"/>
            </a:pPr>
            <a:r>
              <a:rPr lang="en-AU" sz="1200" kern="1200" dirty="0" smtClean="0">
                <a:solidFill>
                  <a:schemeClr val="tx1"/>
                </a:solidFill>
                <a:ea typeface="+mn-ea"/>
                <a:cs typeface="+mn-cs"/>
              </a:rPr>
              <a:t>Generate options for solving/implementation</a:t>
            </a:r>
          </a:p>
          <a:p>
            <a:pPr marL="628650" lvl="1" indent="-171450">
              <a:buFont typeface="Arial" pitchFamily="34" charset="0"/>
              <a:buChar char="•"/>
            </a:pPr>
            <a:r>
              <a:rPr lang="en-AU" sz="1200" kern="1200" dirty="0" smtClean="0">
                <a:solidFill>
                  <a:schemeClr val="tx1"/>
                </a:solidFill>
                <a:ea typeface="+mn-ea"/>
                <a:cs typeface="+mn-cs"/>
              </a:rPr>
              <a:t>Actually implement the required/approved changes.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354396415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presents considerations for gaining management commitment to changes:</a:t>
            </a:r>
          </a:p>
          <a:p>
            <a:pPr marL="171450" indent="-171450">
              <a:buFont typeface="Arial" pitchFamily="34" charset="0"/>
              <a:buChar char="•"/>
            </a:pPr>
            <a:r>
              <a:rPr lang="en-AU" sz="1200" kern="1200" dirty="0" smtClean="0">
                <a:solidFill>
                  <a:schemeClr val="tx1"/>
                </a:solidFill>
                <a:ea typeface="+mn-ea"/>
                <a:cs typeface="+mn-cs"/>
              </a:rPr>
              <a:t>Management must be given sufficient advance notice of the need for change – so they can:</a:t>
            </a:r>
          </a:p>
          <a:p>
            <a:pPr marL="628650" lvl="1" indent="-171450">
              <a:buFont typeface="Arial" pitchFamily="34" charset="0"/>
              <a:buChar char="•"/>
            </a:pPr>
            <a:r>
              <a:rPr lang="en-AU" sz="1200" kern="1200" dirty="0" smtClean="0">
                <a:solidFill>
                  <a:schemeClr val="tx1"/>
                </a:solidFill>
                <a:ea typeface="+mn-ea"/>
                <a:cs typeface="+mn-cs"/>
              </a:rPr>
              <a:t>Consider the request/requirements</a:t>
            </a:r>
          </a:p>
          <a:p>
            <a:pPr marL="628650" lvl="1" indent="-171450">
              <a:buFont typeface="Arial" pitchFamily="34" charset="0"/>
              <a:buChar char="•"/>
            </a:pPr>
            <a:r>
              <a:rPr lang="en-AU" sz="1200" kern="1200" dirty="0" smtClean="0">
                <a:solidFill>
                  <a:schemeClr val="tx1"/>
                </a:solidFill>
                <a:ea typeface="+mn-ea"/>
                <a:cs typeface="+mn-cs"/>
              </a:rPr>
              <a:t>Determine options</a:t>
            </a:r>
          </a:p>
          <a:p>
            <a:pPr marL="628650" lvl="1" indent="-171450">
              <a:buFont typeface="Arial" pitchFamily="34" charset="0"/>
              <a:buChar char="•"/>
            </a:pPr>
            <a:r>
              <a:rPr lang="en-AU" sz="1200" kern="1200" dirty="0" smtClean="0">
                <a:solidFill>
                  <a:schemeClr val="tx1"/>
                </a:solidFill>
                <a:ea typeface="+mn-ea"/>
                <a:cs typeface="+mn-cs"/>
              </a:rPr>
              <a:t>Make decisions</a:t>
            </a:r>
          </a:p>
          <a:p>
            <a:pPr marL="171450" indent="-171450">
              <a:buFont typeface="Arial" pitchFamily="34" charset="0"/>
              <a:buChar char="•"/>
            </a:pPr>
            <a:r>
              <a:rPr lang="en-AU" sz="1200" kern="1200" dirty="0" smtClean="0">
                <a:solidFill>
                  <a:schemeClr val="tx1"/>
                </a:solidFill>
                <a:ea typeface="+mn-ea"/>
                <a:cs typeface="+mn-cs"/>
              </a:rPr>
              <a:t>The application for management approval to proceed and the request for them to commit to the required changes needs to be planned – time and effort needs to be taken to:</a:t>
            </a:r>
          </a:p>
          <a:p>
            <a:pPr marL="628650" lvl="1" indent="-171450">
              <a:buFont typeface="Arial" pitchFamily="34" charset="0"/>
              <a:buChar char="•"/>
            </a:pPr>
            <a:r>
              <a:rPr lang="en-AU" sz="1200" kern="1200" dirty="0" smtClean="0">
                <a:solidFill>
                  <a:schemeClr val="tx1"/>
                </a:solidFill>
                <a:ea typeface="+mn-ea"/>
                <a:cs typeface="+mn-cs"/>
              </a:rPr>
              <a:t>Determine the pitch</a:t>
            </a:r>
          </a:p>
          <a:p>
            <a:pPr marL="628650" lvl="1" indent="-171450">
              <a:buFont typeface="Arial" pitchFamily="34" charset="0"/>
              <a:buChar char="•"/>
            </a:pPr>
            <a:r>
              <a:rPr lang="en-AU" sz="1200" kern="1200" dirty="0" smtClean="0">
                <a:solidFill>
                  <a:schemeClr val="tx1"/>
                </a:solidFill>
                <a:ea typeface="+mn-ea"/>
                <a:cs typeface="+mn-cs"/>
              </a:rPr>
              <a:t>Decide timing and location for the request/s</a:t>
            </a:r>
          </a:p>
          <a:p>
            <a:pPr marL="628650" lvl="1" indent="-171450">
              <a:buFont typeface="Arial" pitchFamily="34" charset="0"/>
              <a:buChar char="•"/>
            </a:pPr>
            <a:r>
              <a:rPr lang="en-AU" sz="1200" kern="1200" dirty="0" smtClean="0">
                <a:solidFill>
                  <a:schemeClr val="tx1"/>
                </a:solidFill>
                <a:ea typeface="+mn-ea"/>
                <a:cs typeface="+mn-cs"/>
              </a:rPr>
              <a:t>Prepare supporting materials to prove/demonstrate need and/or benefits.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1225009385"/>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procedures for obtaining management approval and commitment:</a:t>
            </a:r>
          </a:p>
          <a:p>
            <a:pPr marL="171450" indent="-171450">
              <a:buFont typeface="Arial" pitchFamily="34" charset="0"/>
              <a:buChar char="•"/>
            </a:pPr>
            <a:r>
              <a:rPr lang="en-AU" sz="1200" kern="1200" dirty="0" smtClean="0">
                <a:solidFill>
                  <a:schemeClr val="tx1"/>
                </a:solidFill>
                <a:ea typeface="+mn-ea"/>
                <a:cs typeface="+mn-cs"/>
              </a:rPr>
              <a:t>Work through the points in the TM.</a:t>
            </a:r>
            <a:r>
              <a:rPr lang="en-AU" sz="1200" kern="1200" baseline="0" dirty="0" smtClean="0">
                <a:solidFill>
                  <a:schemeClr val="tx1"/>
                </a:solidFill>
                <a:ea typeface="+mn-ea"/>
                <a:cs typeface="+mn-cs"/>
              </a:rPr>
              <a:t> </a:t>
            </a:r>
          </a:p>
          <a:p>
            <a:pPr>
              <a:buFont typeface="Arial" pitchFamily="34" charset="0"/>
              <a:buChar char="•"/>
            </a:pPr>
            <a:endParaRPr lang="en-AU" noProof="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Small Group Exercise</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Divides class into small groups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Provides each group with proposed changes to a workplace system based on reviews conducted</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Asks groups to develop and deliver a presentation to ‘management’ regarding the proposed changes</a:t>
            </a:r>
            <a:endParaRPr lang="en-AU" noProof="0" dirty="0" smtClean="0"/>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Ensure all work projects have been completed and handed into trainer ensuring cover page details are attached for assessment tracking</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Review the summary page for Element 4 to confirm what has been completed for this element.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372399833"/>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sz="1200" kern="1200" baseline="0" dirty="0" smtClean="0">
                <a:solidFill>
                  <a:schemeClr val="tx1"/>
                </a:solidFill>
                <a:ea typeface="+mn-ea"/>
                <a:cs typeface="+mn-cs"/>
              </a:rPr>
              <a:t>What is an implementation plan? what might it contain?</a:t>
            </a:r>
          </a:p>
          <a:p>
            <a:pPr marL="171450" indent="-171450">
              <a:buFont typeface="Arial" pitchFamily="34" charset="0"/>
              <a:buChar char="•"/>
            </a:pPr>
            <a:r>
              <a:rPr lang="en-US" sz="1200" kern="1200" baseline="0" dirty="0" smtClean="0">
                <a:solidFill>
                  <a:schemeClr val="tx1"/>
                </a:solidFill>
                <a:ea typeface="+mn-ea"/>
                <a:cs typeface="+mn-cs"/>
              </a:rPr>
              <a:t>Who prepares it?</a:t>
            </a:r>
          </a:p>
          <a:p>
            <a:pPr marL="171450" indent="-171450">
              <a:buFont typeface="Arial" pitchFamily="34" charset="0"/>
              <a:buChar char="•"/>
            </a:pPr>
            <a:r>
              <a:rPr lang="en-US" sz="1200" kern="1200" baseline="0" dirty="0" smtClean="0">
                <a:solidFill>
                  <a:schemeClr val="tx1"/>
                </a:solidFill>
                <a:ea typeface="+mn-ea"/>
                <a:cs typeface="+mn-cs"/>
              </a:rPr>
              <a:t>Why is there a need for one?</a:t>
            </a:r>
          </a:p>
          <a:p>
            <a:pPr>
              <a:buFont typeface="Arial" pitchFamily="34" charset="0"/>
              <a:buChar char="•"/>
            </a:pPr>
            <a:endParaRPr lang="en-US" sz="120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83909106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reasons for an implementation plan:</a:t>
            </a:r>
          </a:p>
          <a:p>
            <a:pPr marL="171450" indent="-171450">
              <a:buFont typeface="Arial" pitchFamily="34" charset="0"/>
              <a:buChar char="•"/>
            </a:pPr>
            <a:r>
              <a:rPr lang="en-AU" sz="1200" kern="1200" dirty="0" smtClean="0">
                <a:solidFill>
                  <a:schemeClr val="tx1"/>
                </a:solidFill>
                <a:ea typeface="+mn-ea"/>
                <a:cs typeface="+mn-cs"/>
              </a:rPr>
              <a:t>Discuss relevant points in order to prepare trainees for</a:t>
            </a:r>
            <a:r>
              <a:rPr lang="en-AU" sz="1200" kern="1200" baseline="0" dirty="0" smtClean="0">
                <a:solidFill>
                  <a:schemeClr val="tx1"/>
                </a:solidFill>
                <a:ea typeface="+mn-ea"/>
                <a:cs typeface="+mn-cs"/>
              </a:rPr>
              <a:t> activity. Have trainees highlight key points in TM</a:t>
            </a:r>
          </a:p>
          <a:p>
            <a:pPr marL="171450" indent="-171450">
              <a:buFont typeface="Arial" pitchFamily="34" charset="0"/>
              <a:buChar char="•"/>
            </a:pPr>
            <a:r>
              <a:rPr lang="en-AU" sz="1200" kern="1200" baseline="0" dirty="0" smtClean="0">
                <a:solidFill>
                  <a:schemeClr val="tx1"/>
                </a:solidFill>
                <a:ea typeface="+mn-ea"/>
                <a:cs typeface="+mn-cs"/>
              </a:rPr>
              <a:t>Encourage trainees to view websites for useful information (trainer should have viewed websites to recommend preferred sites)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Handout</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distributes and discusses sample implementation plan for a workplace training system.</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 Handout</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distributes and discusses sample Communications Plan.</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r>
              <a:rPr lang="en-AU" sz="1200" b="1" kern="1200" baseline="0" dirty="0" smtClean="0">
                <a:solidFill>
                  <a:schemeClr val="tx1"/>
                </a:solidFill>
                <a:ea typeface="+mn-ea"/>
                <a:cs typeface="+mn-cs"/>
              </a:rPr>
              <a:t>Activity</a:t>
            </a:r>
          </a:p>
          <a:p>
            <a:pPr marL="171450" indent="-171450">
              <a:buFont typeface="Arial" pitchFamily="34" charset="0"/>
              <a:buChar char="•"/>
            </a:pPr>
            <a:r>
              <a:rPr lang="en-AU" sz="1200" kern="1200" baseline="0" dirty="0" smtClean="0">
                <a:solidFill>
                  <a:schemeClr val="tx1"/>
                </a:solidFill>
                <a:ea typeface="+mn-ea"/>
                <a:cs typeface="+mn-cs"/>
              </a:rPr>
              <a:t>In small groups trainees are to read the section and begin to implement  a training system in a chosen workplace. Trainees will need analyse the information in the TM and layout their plan. The trainer will circulate the room assisting with questions and direction</a:t>
            </a:r>
          </a:p>
          <a:p>
            <a:pPr marL="171450" indent="-171450">
              <a:buFont typeface="Arial" pitchFamily="34" charset="0"/>
              <a:buChar char="•"/>
            </a:pPr>
            <a:r>
              <a:rPr lang="en-AU" sz="1200" kern="1200" baseline="0" dirty="0" smtClean="0">
                <a:solidFill>
                  <a:schemeClr val="tx1"/>
                </a:solidFill>
                <a:ea typeface="+mn-ea"/>
                <a:cs typeface="+mn-cs"/>
              </a:rPr>
              <a:t>A time allowance is to be allocated.</a:t>
            </a:r>
            <a:endParaRPr lang="en-AU" sz="1200" kern="1200" dirty="0" smtClean="0">
              <a:solidFill>
                <a:schemeClr val="tx1"/>
              </a:solidFill>
              <a:ea typeface="+mn-ea"/>
              <a:cs typeface="+mn-cs"/>
            </a:endParaRP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1043474970"/>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reasons to prepare trainers and assessors:</a:t>
            </a:r>
          </a:p>
          <a:p>
            <a:pPr marL="171450" indent="-171450">
              <a:buFont typeface="Arial" pitchFamily="34" charset="0"/>
              <a:buChar char="•"/>
            </a:pPr>
            <a:r>
              <a:rPr lang="en-AU" sz="1200" kern="1200" dirty="0" smtClean="0">
                <a:solidFill>
                  <a:schemeClr val="tx1"/>
                </a:solidFill>
                <a:ea typeface="+mn-ea"/>
                <a:cs typeface="+mn-cs"/>
              </a:rPr>
              <a:t>Have trainees highlight key points to note in</a:t>
            </a:r>
            <a:r>
              <a:rPr lang="en-AU" sz="1200" kern="1200" baseline="0" dirty="0" smtClean="0">
                <a:solidFill>
                  <a:schemeClr val="tx1"/>
                </a:solidFill>
                <a:ea typeface="+mn-ea"/>
                <a:cs typeface="+mn-cs"/>
              </a:rPr>
              <a:t> TM in preparation for continuation of activity</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r>
              <a:rPr lang="en-AU" b="1" noProof="0" dirty="0" smtClean="0"/>
              <a:t>Activity</a:t>
            </a:r>
          </a:p>
          <a:p>
            <a:pPr>
              <a:buFont typeface="Arial" pitchFamily="34" charset="0"/>
              <a:buNone/>
            </a:pPr>
            <a:r>
              <a:rPr lang="en-AU" noProof="0" dirty="0" smtClean="0"/>
              <a:t>Following on from previous section, trainees (in their groups) will now identify a trainer for their workplace training system (perhaps someone from within the group).</a:t>
            </a:r>
          </a:p>
          <a:p>
            <a:pPr marL="171450" indent="-171450">
              <a:buFont typeface="Arial" pitchFamily="34" charset="0"/>
              <a:buChar char="•"/>
            </a:pPr>
            <a:r>
              <a:rPr lang="en-AU" noProof="0" dirty="0" smtClean="0"/>
              <a:t>The trainer needs to meet requirements as listed in TM notes</a:t>
            </a:r>
          </a:p>
          <a:p>
            <a:pPr marL="171450" indent="-171450">
              <a:buFont typeface="Arial" pitchFamily="34" charset="0"/>
              <a:buChar char="•"/>
            </a:pPr>
            <a:r>
              <a:rPr lang="en-AU" noProof="0" dirty="0" smtClean="0"/>
              <a:t>How will the group ensure the trainer and assessor are prepared. Review the TM notes and detail actions</a:t>
            </a:r>
            <a:r>
              <a:rPr lang="en-AU" baseline="0" noProof="0" dirty="0" smtClean="0"/>
              <a:t> as a group</a:t>
            </a:r>
          </a:p>
          <a:p>
            <a:pPr marL="171450" indent="-171450">
              <a:buFont typeface="Arial" pitchFamily="34" charset="0"/>
              <a:buChar char="•"/>
            </a:pPr>
            <a:r>
              <a:rPr lang="en-AU" baseline="0" noProof="0" dirty="0" smtClean="0"/>
              <a:t>Trainer will circulate the room assisting as needed and answering questions.</a:t>
            </a:r>
          </a:p>
          <a:p>
            <a:pPr>
              <a:buFont typeface="Arial" pitchFamily="34" charset="0"/>
              <a:buNone/>
            </a:pPr>
            <a:endParaRPr lang="en-AU" baseline="0" noProof="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Guest Speaker</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arranges for Training Manager in a workplace training system to attend and:</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Discuss their procedures for preparing training and assessors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Explain how procedures are applied/implemented</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Give advice regarding preparation of trainers and assessors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Supply copies of relevant documentation.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80625762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defines </a:t>
            </a:r>
            <a:r>
              <a:rPr lang="en-AU" sz="1200" kern="1200" dirty="0" smtClean="0">
                <a:solidFill>
                  <a:schemeClr val="tx1"/>
                </a:solidFill>
                <a:ea typeface="+mn-ea"/>
                <a:cs typeface="+mn-cs"/>
              </a:rPr>
              <a:t>training programs stating they may be seen as:</a:t>
            </a:r>
          </a:p>
          <a:p>
            <a:pPr marL="171450" indent="-171450">
              <a:buFont typeface="Arial" pitchFamily="34" charset="0"/>
              <a:buChar char="•"/>
            </a:pPr>
            <a:r>
              <a:rPr lang="en-AU" sz="1200" kern="1200" dirty="0" smtClean="0">
                <a:solidFill>
                  <a:schemeClr val="tx1"/>
                </a:solidFill>
                <a:ea typeface="+mn-ea"/>
                <a:cs typeface="+mn-cs"/>
              </a:rPr>
              <a:t>Courses/qualifications delivered by a provider</a:t>
            </a:r>
          </a:p>
          <a:p>
            <a:pPr marL="171450" indent="-171450">
              <a:buFont typeface="Arial" pitchFamily="34" charset="0"/>
              <a:buChar char="•"/>
            </a:pPr>
            <a:r>
              <a:rPr lang="en-AU" sz="1200" kern="1200" dirty="0" smtClean="0">
                <a:solidFill>
                  <a:schemeClr val="tx1"/>
                </a:solidFill>
                <a:ea typeface="+mn-ea"/>
                <a:cs typeface="+mn-cs"/>
              </a:rPr>
              <a:t>Topics/content delivered as part of wider training – for example, certain Elements of recognised competency standards</a:t>
            </a:r>
          </a:p>
          <a:p>
            <a:pPr marL="171450" indent="-171450">
              <a:buFont typeface="Arial" pitchFamily="34" charset="0"/>
              <a:buChar char="•"/>
            </a:pPr>
            <a:r>
              <a:rPr lang="en-AU" sz="1200" kern="1200" dirty="0" smtClean="0">
                <a:solidFill>
                  <a:schemeClr val="tx1"/>
                </a:solidFill>
                <a:ea typeface="+mn-ea"/>
                <a:cs typeface="+mn-cs"/>
              </a:rPr>
              <a:t>An individual competency standard/unit or a designated group of competency standards which is less than the requirements for the awarding of a qualification</a:t>
            </a:r>
          </a:p>
          <a:p>
            <a:pPr marL="171450" indent="-171450">
              <a:buFont typeface="Arial" pitchFamily="34" charset="0"/>
              <a:buChar char="•"/>
            </a:pPr>
            <a:r>
              <a:rPr lang="en-AU" sz="1200" kern="1200" dirty="0" smtClean="0">
                <a:solidFill>
                  <a:schemeClr val="tx1"/>
                </a:solidFill>
                <a:ea typeface="+mn-ea"/>
                <a:cs typeface="+mn-cs"/>
              </a:rPr>
              <a:t>Short courses or longer-term courses</a:t>
            </a:r>
          </a:p>
          <a:p>
            <a:pPr marL="171450" indent="-171450">
              <a:buFont typeface="Arial" pitchFamily="34" charset="0"/>
              <a:buChar char="•"/>
            </a:pPr>
            <a:r>
              <a:rPr lang="en-AU" sz="1200" kern="1200" dirty="0" smtClean="0">
                <a:solidFill>
                  <a:schemeClr val="tx1"/>
                </a:solidFill>
                <a:ea typeface="+mn-ea"/>
                <a:cs typeface="+mn-cs"/>
              </a:rPr>
              <a:t>Recognised/accredited training or non-recognised/accredited training.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306835410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it </a:t>
            </a:r>
            <a:r>
              <a:rPr lang="en-AU" sz="1200" kern="1200" dirty="0" smtClean="0">
                <a:solidFill>
                  <a:schemeClr val="tx1"/>
                </a:solidFill>
                <a:ea typeface="+mn-ea"/>
                <a:cs typeface="+mn-cs"/>
              </a:rPr>
              <a:t>is important to determine how this term is understood in the individual workplace so that: </a:t>
            </a:r>
          </a:p>
          <a:p>
            <a:pPr marL="171450" indent="-171450">
              <a:buFont typeface="Arial" pitchFamily="34" charset="0"/>
              <a:buChar char="•"/>
            </a:pPr>
            <a:r>
              <a:rPr lang="en-AU" sz="1200" kern="1200" dirty="0" smtClean="0">
                <a:solidFill>
                  <a:schemeClr val="tx1"/>
                </a:solidFill>
                <a:ea typeface="+mn-ea"/>
                <a:cs typeface="+mn-cs"/>
              </a:rPr>
              <a:t>There is clarity about its use</a:t>
            </a:r>
          </a:p>
          <a:p>
            <a:pPr marL="171450" indent="-171450">
              <a:buFont typeface="Arial" pitchFamily="34" charset="0"/>
              <a:buChar char="•"/>
            </a:pPr>
            <a:r>
              <a:rPr lang="en-AU" sz="1200" kern="1200" dirty="0" smtClean="0">
                <a:solidFill>
                  <a:schemeClr val="tx1"/>
                </a:solidFill>
                <a:ea typeface="+mn-ea"/>
                <a:cs typeface="+mn-cs"/>
              </a:rPr>
              <a:t>There is no confusion about what it means and what it includes</a:t>
            </a:r>
          </a:p>
          <a:p>
            <a:pPr marL="171450" indent="-171450">
              <a:buFont typeface="Arial" pitchFamily="34" charset="0"/>
              <a:buChar char="•"/>
            </a:pPr>
            <a:r>
              <a:rPr lang="en-AU" sz="1200" kern="1200" dirty="0" smtClean="0">
                <a:solidFill>
                  <a:schemeClr val="tx1"/>
                </a:solidFill>
                <a:ea typeface="+mn-ea"/>
                <a:cs typeface="+mn-cs"/>
              </a:rPr>
              <a:t>All people using the term are referring to the same thing.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306303868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basis for developing training programs:</a:t>
            </a:r>
          </a:p>
          <a:p>
            <a:pPr marL="171450" indent="-171450">
              <a:buFont typeface="Arial" pitchFamily="34" charset="0"/>
              <a:buChar char="•"/>
            </a:pPr>
            <a:r>
              <a:rPr lang="en-AU" sz="1200" kern="1200" dirty="0" smtClean="0">
                <a:solidFill>
                  <a:schemeClr val="tx1"/>
                </a:solidFill>
                <a:ea typeface="+mn-ea"/>
                <a:cs typeface="+mn-cs"/>
              </a:rPr>
              <a:t>Competency standards provided by the relevant Training Authority – where the workplace training system is a recognised/accredited training provider</a:t>
            </a:r>
          </a:p>
          <a:p>
            <a:pPr marL="171450" indent="-171450">
              <a:buFont typeface="Arial" pitchFamily="34" charset="0"/>
              <a:buChar char="•"/>
            </a:pPr>
            <a:r>
              <a:rPr lang="en-AU" sz="1200" kern="1200" dirty="0" smtClean="0">
                <a:solidFill>
                  <a:schemeClr val="tx1"/>
                </a:solidFill>
                <a:ea typeface="+mn-ea"/>
                <a:cs typeface="+mn-cs"/>
              </a:rPr>
              <a:t>Competencies, standards and criteria identified by the individual workplace – as this may apply to:</a:t>
            </a:r>
          </a:p>
          <a:p>
            <a:pPr marL="628650" lvl="1" indent="-171450">
              <a:buFont typeface="Arial" pitchFamily="34" charset="0"/>
              <a:buChar char="•"/>
            </a:pPr>
            <a:r>
              <a:rPr lang="en-AU" sz="1200" kern="1200" dirty="0" smtClean="0">
                <a:solidFill>
                  <a:schemeClr val="tx1"/>
                </a:solidFill>
                <a:ea typeface="+mn-ea"/>
                <a:cs typeface="+mn-cs"/>
              </a:rPr>
              <a:t>The right of recognised/accredited training providers to modify competency standards to suit individual workplace (or industry) need</a:t>
            </a:r>
          </a:p>
          <a:p>
            <a:pPr marL="628650" lvl="1" indent="-171450">
              <a:buFont typeface="Arial" pitchFamily="34" charset="0"/>
              <a:buChar char="•"/>
            </a:pPr>
            <a:r>
              <a:rPr lang="en-AU" sz="1200" kern="1200" dirty="0" smtClean="0">
                <a:solidFill>
                  <a:schemeClr val="tx1"/>
                </a:solidFill>
                <a:ea typeface="+mn-ea"/>
                <a:cs typeface="+mn-cs"/>
              </a:rPr>
              <a:t>Non-endorsed elements of accredited training packages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Trainer continues to identify basis for developing training programs: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Identified individual employee need – of learners as determined by, for example:</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TNAs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Skills audits and analysis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Compliance-related need</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Self-disclosure of need by individual workers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Observations of management and supervisors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Feedback/comments from customers and co-workers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Organisational need – as determined with reference to:</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Business plans </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Strategic targets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Operational imperatives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Identified Opportunities open to the business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Identified Threats facing the business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HR planning requirements.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1509396435"/>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relationship between training and assessment noting:</a:t>
            </a:r>
          </a:p>
          <a:p>
            <a:pPr marL="171450" indent="-171450">
              <a:buFont typeface="Arial" pitchFamily="34" charset="0"/>
              <a:buChar char="•"/>
            </a:pPr>
            <a:r>
              <a:rPr lang="en-AU" sz="1200" kern="1200" dirty="0" smtClean="0">
                <a:solidFill>
                  <a:schemeClr val="tx1"/>
                </a:solidFill>
                <a:ea typeface="+mn-ea"/>
                <a:cs typeface="+mn-cs"/>
              </a:rPr>
              <a:t>The workplace may opt to provide internal assessment for all the training programs delivered by the organisation – covering, as appropriate:</a:t>
            </a:r>
          </a:p>
          <a:p>
            <a:pPr marL="628650" lvl="1" indent="-171450">
              <a:buFont typeface="Arial" pitchFamily="34" charset="0"/>
              <a:buChar char="•"/>
            </a:pPr>
            <a:r>
              <a:rPr lang="en-AU" sz="1200" kern="1200" dirty="0" smtClean="0">
                <a:solidFill>
                  <a:schemeClr val="tx1"/>
                </a:solidFill>
                <a:ea typeface="+mn-ea"/>
                <a:cs typeface="+mn-cs"/>
              </a:rPr>
              <a:t>Recognised/accredited training</a:t>
            </a:r>
          </a:p>
          <a:p>
            <a:pPr marL="628650" lvl="1" indent="-171450">
              <a:buFont typeface="Arial" pitchFamily="34" charset="0"/>
              <a:buChar char="•"/>
            </a:pPr>
            <a:r>
              <a:rPr lang="en-AU" sz="1200" kern="1200" dirty="0" smtClean="0">
                <a:solidFill>
                  <a:schemeClr val="tx1"/>
                </a:solidFill>
                <a:ea typeface="+mn-ea"/>
                <a:cs typeface="+mn-cs"/>
              </a:rPr>
              <a:t>Non- recognised/accredited training</a:t>
            </a:r>
          </a:p>
          <a:p>
            <a:pPr marL="171450" indent="-171450">
              <a:buFont typeface="Arial" pitchFamily="34" charset="0"/>
              <a:buChar char="•"/>
            </a:pPr>
            <a:r>
              <a:rPr lang="en-AU" sz="1200" kern="1200" dirty="0" smtClean="0">
                <a:solidFill>
                  <a:schemeClr val="tx1"/>
                </a:solidFill>
                <a:ea typeface="+mn-ea"/>
                <a:cs typeface="+mn-cs"/>
              </a:rPr>
              <a:t>The organisation may decide to out-source all assessment services – to:</a:t>
            </a:r>
          </a:p>
          <a:p>
            <a:pPr marL="628650" lvl="1" indent="-171450">
              <a:buFont typeface="Arial" pitchFamily="34" charset="0"/>
              <a:buChar char="•"/>
            </a:pPr>
            <a:r>
              <a:rPr lang="en-AU" sz="1200" kern="1200" dirty="0" smtClean="0">
                <a:solidFill>
                  <a:schemeClr val="tx1"/>
                </a:solidFill>
                <a:ea typeface="+mn-ea"/>
                <a:cs typeface="+mn-cs"/>
              </a:rPr>
              <a:t>A professional external consultant with appropriate qualifications and experience</a:t>
            </a:r>
          </a:p>
          <a:p>
            <a:pPr marL="628650" lvl="1" indent="-171450">
              <a:buFont typeface="Arial" pitchFamily="34" charset="0"/>
              <a:buChar char="•"/>
            </a:pPr>
            <a:r>
              <a:rPr lang="en-AU" sz="1200" kern="1200" dirty="0" smtClean="0">
                <a:solidFill>
                  <a:schemeClr val="tx1"/>
                </a:solidFill>
                <a:ea typeface="+mn-ea"/>
                <a:cs typeface="+mn-cs"/>
              </a:rPr>
              <a:t>A suitable recognised/accredited training provider</a:t>
            </a:r>
          </a:p>
          <a:p>
            <a:pPr marL="171450" indent="-171450">
              <a:buFont typeface="Arial" pitchFamily="34" charset="0"/>
              <a:buChar char="•"/>
            </a:pPr>
            <a:r>
              <a:rPr lang="en-AU" sz="1200" kern="1200" dirty="0" smtClean="0">
                <a:solidFill>
                  <a:schemeClr val="tx1"/>
                </a:solidFill>
                <a:ea typeface="+mn-ea"/>
                <a:cs typeface="+mn-cs"/>
              </a:rPr>
              <a:t>Where the system is not a recognised/accredited provider the organisation may elect to conduct no formal assessment for those who have undertaken training – but may use an informal approach featuring, perhaps:</a:t>
            </a:r>
          </a:p>
          <a:p>
            <a:pPr marL="628650" lvl="1" indent="-171450">
              <a:buFont typeface="Arial" pitchFamily="34" charset="0"/>
              <a:buChar char="•"/>
            </a:pPr>
            <a:r>
              <a:rPr lang="en-AU" sz="1200" kern="1200" dirty="0" smtClean="0">
                <a:solidFill>
                  <a:schemeClr val="tx1"/>
                </a:solidFill>
                <a:ea typeface="+mn-ea"/>
                <a:cs typeface="+mn-cs"/>
              </a:rPr>
              <a:t>On-the-job observations of performance</a:t>
            </a:r>
          </a:p>
          <a:p>
            <a:pPr marL="628650" lvl="1" indent="-171450">
              <a:buFont typeface="Arial" pitchFamily="34" charset="0"/>
              <a:buChar char="•"/>
            </a:pPr>
            <a:r>
              <a:rPr lang="en-AU" sz="1200" kern="1200" dirty="0" smtClean="0">
                <a:solidFill>
                  <a:schemeClr val="tx1"/>
                </a:solidFill>
                <a:ea typeface="+mn-ea"/>
                <a:cs typeface="+mn-cs"/>
              </a:rPr>
              <a:t>Discussions with supervisors and co-workers regarding the competency of the individual</a:t>
            </a:r>
          </a:p>
          <a:p>
            <a:pPr marL="171450" indent="-171450">
              <a:buFont typeface="Arial" pitchFamily="34" charset="0"/>
              <a:buChar char="•"/>
            </a:pPr>
            <a:r>
              <a:rPr lang="en-AU" sz="1200" kern="1200" dirty="0" smtClean="0">
                <a:solidFill>
                  <a:schemeClr val="tx1"/>
                </a:solidFill>
                <a:ea typeface="+mn-ea"/>
                <a:cs typeface="+mn-cs"/>
              </a:rPr>
              <a:t>Use different people to provide the training and do the assessment for that training – so there is separation of responsibilities</a:t>
            </a:r>
          </a:p>
          <a:p>
            <a:pPr marL="628650" lvl="1" indent="-171450">
              <a:buFont typeface="Arial" pitchFamily="34" charset="0"/>
              <a:buChar char="•"/>
            </a:pPr>
            <a:r>
              <a:rPr lang="en-AU" sz="1200" kern="1200" dirty="0" smtClean="0">
                <a:solidFill>
                  <a:schemeClr val="tx1"/>
                </a:solidFill>
                <a:ea typeface="+mn-ea"/>
                <a:cs typeface="+mn-cs"/>
              </a:rPr>
              <a:t>Some people believe it is unacceptable for the person who conducts the assessment to be the same person who delivered the training</a:t>
            </a:r>
          </a:p>
          <a:p>
            <a:pPr marL="628650" lvl="1" indent="-171450">
              <a:buFont typeface="Arial" pitchFamily="34" charset="0"/>
              <a:buChar char="•"/>
            </a:pPr>
            <a:r>
              <a:rPr lang="en-AU" sz="1200" kern="1200" dirty="0" smtClean="0">
                <a:solidFill>
                  <a:schemeClr val="tx1"/>
                </a:solidFill>
                <a:ea typeface="+mn-ea"/>
                <a:cs typeface="+mn-cs"/>
              </a:rPr>
              <a:t>Some people are quite happy to use the same person to undertake both training and assessment for the same training program/content.</a:t>
            </a:r>
          </a:p>
          <a:p>
            <a:pPr>
              <a:buFont typeface="Arial" pitchFamily="34" charset="0"/>
              <a:buChar char="•"/>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workplace Trainer to attend and:</a:t>
            </a:r>
          </a:p>
          <a:p>
            <a:pPr marL="171450" indent="-171450">
              <a:buFont typeface="Arial" pitchFamily="34" charset="0"/>
              <a:buChar char="•"/>
            </a:pPr>
            <a:r>
              <a:rPr lang="en-AU" b="0" noProof="0" dirty="0" smtClean="0"/>
              <a:t>Discuss their experience with preparing workplace training programs</a:t>
            </a:r>
          </a:p>
          <a:p>
            <a:pPr marL="171450" indent="-171450">
              <a:buFont typeface="Arial" pitchFamily="34" charset="0"/>
              <a:buChar char="•"/>
            </a:pPr>
            <a:r>
              <a:rPr lang="en-AU" b="0" noProof="0" dirty="0" smtClean="0"/>
              <a:t>Show examples of programs they have developed</a:t>
            </a:r>
          </a:p>
          <a:p>
            <a:pPr marL="171450" indent="-171450">
              <a:buFont typeface="Arial" pitchFamily="34" charset="0"/>
              <a:buChar char="•"/>
            </a:pPr>
            <a:r>
              <a:rPr lang="en-AU" b="0" noProof="0" dirty="0" smtClean="0"/>
              <a:t>Give advice on how to develop workplace training programs.</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916118366"/>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activities in preparing training programs</a:t>
            </a:r>
            <a:r>
              <a:rPr lang="en-AU" baseline="0" noProof="0" dirty="0" smtClean="0"/>
              <a:t> referring to notes in TM.</a:t>
            </a:r>
          </a:p>
          <a:p>
            <a:pPr>
              <a:buFont typeface="Arial" pitchFamily="34" charset="0"/>
              <a:buNone/>
            </a:pPr>
            <a:r>
              <a:rPr lang="en-AU" baseline="0" noProof="0" dirty="0" smtClean="0"/>
              <a:t>Discuss any relevant points in associated with earlier activity conducted in small groups.</a:t>
            </a:r>
            <a:endParaRPr lang="en-AU" noProof="0" dirty="0" smtClean="0"/>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AU" sz="1200" b="0" i="0" u="none" strike="noStrike" kern="1200" cap="none" spc="0" normalizeH="0" baseline="0" noProof="0" dirty="0" smtClean="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Handouts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distributes and discusses sample documents as identified on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403412387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highlights important considerations when </a:t>
            </a:r>
            <a:r>
              <a:rPr lang="en-AU" sz="1200" kern="1200" dirty="0" smtClean="0">
                <a:solidFill>
                  <a:schemeClr val="tx1"/>
                </a:solidFill>
                <a:ea typeface="+mn-ea"/>
                <a:cs typeface="+mn-cs"/>
              </a:rPr>
              <a:t>selecting training methods/strategies: </a:t>
            </a:r>
          </a:p>
          <a:p>
            <a:pPr marL="171450" indent="-171450">
              <a:buFont typeface="Arial" pitchFamily="34" charset="0"/>
              <a:buChar char="•"/>
            </a:pPr>
            <a:r>
              <a:rPr lang="en-AU" sz="1200" kern="1200" dirty="0" smtClean="0">
                <a:solidFill>
                  <a:schemeClr val="tx1"/>
                </a:solidFill>
                <a:ea typeface="+mn-ea"/>
                <a:cs typeface="+mn-cs"/>
              </a:rPr>
              <a:t>Should reflect any known learning preferences of the learners – this is ideally the case but often not possible</a:t>
            </a:r>
          </a:p>
          <a:p>
            <a:pPr marL="171450" indent="-171450">
              <a:buFont typeface="Arial" pitchFamily="34" charset="0"/>
              <a:buChar char="•"/>
            </a:pPr>
            <a:r>
              <a:rPr lang="en-AU" sz="1200" kern="1200" dirty="0" smtClean="0">
                <a:solidFill>
                  <a:schemeClr val="tx1"/>
                </a:solidFill>
                <a:ea typeface="+mn-ea"/>
                <a:cs typeface="+mn-cs"/>
              </a:rPr>
              <a:t>Need to be appropriate to the content of the individual competency standard being presented</a:t>
            </a:r>
          </a:p>
          <a:p>
            <a:pPr marL="171450" indent="-171450">
              <a:buFont typeface="Arial" pitchFamily="34" charset="0"/>
              <a:buChar char="•"/>
            </a:pPr>
            <a:r>
              <a:rPr lang="en-AU" sz="1200" kern="1200" dirty="0" smtClean="0">
                <a:solidFill>
                  <a:schemeClr val="tx1"/>
                </a:solidFill>
                <a:ea typeface="+mn-ea"/>
                <a:cs typeface="+mn-cs"/>
              </a:rPr>
              <a:t>Must enable delivery to occur within the known parameters – especially in relation to budget and time.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398899467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highlight important considerations when </a:t>
            </a:r>
            <a:r>
              <a:rPr lang="en-AU" sz="1200" kern="1200" dirty="0" smtClean="0">
                <a:solidFill>
                  <a:schemeClr val="tx1"/>
                </a:solidFill>
                <a:ea typeface="+mn-ea"/>
                <a:cs typeface="+mn-cs"/>
              </a:rPr>
              <a:t>selecting training methods/strategies: </a:t>
            </a:r>
          </a:p>
          <a:p>
            <a:pPr marL="171450" indent="-171450">
              <a:buFont typeface="Arial" pitchFamily="34" charset="0"/>
              <a:buChar char="•"/>
            </a:pPr>
            <a:r>
              <a:rPr lang="en-AU" sz="1200" kern="1200" dirty="0" smtClean="0">
                <a:solidFill>
                  <a:schemeClr val="tx1"/>
                </a:solidFill>
                <a:ea typeface="+mn-ea"/>
                <a:cs typeface="+mn-cs"/>
              </a:rPr>
              <a:t>Should address and reflect the known assessment requirements for the competency standard – as discussed with the Assessor/s who will conduct assessments for the content</a:t>
            </a:r>
          </a:p>
          <a:p>
            <a:pPr marL="171450" indent="-171450">
              <a:buFont typeface="Arial" pitchFamily="34" charset="0"/>
              <a:buChar char="•"/>
            </a:pPr>
            <a:r>
              <a:rPr lang="en-AU" sz="1200" kern="1200" dirty="0" smtClean="0">
                <a:solidFill>
                  <a:schemeClr val="tx1"/>
                </a:solidFill>
                <a:ea typeface="+mn-ea"/>
                <a:cs typeface="+mn-cs"/>
              </a:rPr>
              <a:t>Should introduce diversity into the training and help motivate learners – to help avoid learner boredom</a:t>
            </a:r>
          </a:p>
          <a:p>
            <a:pPr marL="171450" indent="-171450">
              <a:buFont typeface="Arial" pitchFamily="34" charset="0"/>
              <a:buChar char="•"/>
            </a:pPr>
            <a:r>
              <a:rPr lang="en-AU" sz="1200" kern="1200" dirty="0" smtClean="0">
                <a:solidFill>
                  <a:schemeClr val="tx1"/>
                </a:solidFill>
                <a:ea typeface="+mn-ea"/>
                <a:cs typeface="+mn-cs"/>
              </a:rPr>
              <a:t>Must be able to be accommodate all the learners – and not just some/a selected few.</a:t>
            </a: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140372394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highlight important considerations when </a:t>
            </a:r>
            <a:r>
              <a:rPr lang="en-AU" sz="1200" kern="1200" dirty="0" smtClean="0">
                <a:solidFill>
                  <a:schemeClr val="tx1"/>
                </a:solidFill>
                <a:ea typeface="+mn-ea"/>
                <a:cs typeface="+mn-cs"/>
              </a:rPr>
              <a:t>selecting training methods/strategies: </a:t>
            </a:r>
          </a:p>
          <a:p>
            <a:pPr marL="171450" indent="-171450">
              <a:buFont typeface="Arial" pitchFamily="34" charset="0"/>
              <a:buChar char="•"/>
            </a:pPr>
            <a:r>
              <a:rPr lang="en-AU" sz="1200" kern="1200" dirty="0" smtClean="0">
                <a:solidFill>
                  <a:schemeClr val="tx1"/>
                </a:solidFill>
                <a:ea typeface="+mn-ea"/>
                <a:cs typeface="+mn-cs"/>
              </a:rPr>
              <a:t>Have to reflect the availability of supporting physical resources</a:t>
            </a:r>
          </a:p>
          <a:p>
            <a:pPr marL="171450" indent="-171450">
              <a:buFont typeface="Arial" pitchFamily="34" charset="0"/>
              <a:buChar char="•"/>
            </a:pPr>
            <a:r>
              <a:rPr lang="en-AU" sz="1200" kern="1200" dirty="0" smtClean="0">
                <a:solidFill>
                  <a:schemeClr val="tx1"/>
                </a:solidFill>
                <a:ea typeface="+mn-ea"/>
                <a:cs typeface="+mn-cs"/>
              </a:rPr>
              <a:t>Will often be selected to best fit with individual Trainer:</a:t>
            </a:r>
          </a:p>
          <a:p>
            <a:pPr marL="628650" lvl="1" indent="-171450">
              <a:buFont typeface="Arial" pitchFamily="34" charset="0"/>
              <a:buChar char="•"/>
            </a:pPr>
            <a:r>
              <a:rPr lang="en-AU" sz="1200" kern="1200" dirty="0" smtClean="0">
                <a:solidFill>
                  <a:schemeClr val="tx1"/>
                </a:solidFill>
                <a:ea typeface="+mn-ea"/>
                <a:cs typeface="+mn-cs"/>
              </a:rPr>
              <a:t>Personality</a:t>
            </a:r>
          </a:p>
          <a:p>
            <a:pPr marL="628650" lvl="1" indent="-171450">
              <a:buFont typeface="Arial" pitchFamily="34" charset="0"/>
              <a:buChar char="•"/>
            </a:pPr>
            <a:r>
              <a:rPr lang="en-AU" sz="1200" kern="1200" dirty="0" smtClean="0">
                <a:solidFill>
                  <a:schemeClr val="tx1"/>
                </a:solidFill>
                <a:ea typeface="+mn-ea"/>
                <a:cs typeface="+mn-cs"/>
              </a:rPr>
              <a:t>Preference for teaching methods.</a:t>
            </a: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413266892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different </a:t>
            </a:r>
            <a:r>
              <a:rPr lang="en-AU" sz="1200" kern="1200" dirty="0" smtClean="0">
                <a:solidFill>
                  <a:schemeClr val="tx1"/>
                </a:solidFill>
                <a:ea typeface="+mn-ea"/>
                <a:cs typeface="+mn-cs"/>
              </a:rPr>
              <a:t>methods have different applicability for training of:</a:t>
            </a:r>
          </a:p>
          <a:p>
            <a:pPr marL="171450" indent="-171450">
              <a:buFont typeface="Arial" pitchFamily="34" charset="0"/>
              <a:buChar char="•"/>
            </a:pPr>
            <a:r>
              <a:rPr lang="en-AU" sz="1200" kern="1200" dirty="0" smtClean="0">
                <a:solidFill>
                  <a:schemeClr val="tx1"/>
                </a:solidFill>
                <a:ea typeface="+mn-ea"/>
                <a:cs typeface="+mn-cs"/>
              </a:rPr>
              <a:t>Skill</a:t>
            </a:r>
          </a:p>
          <a:p>
            <a:pPr marL="171450" indent="-171450">
              <a:buFont typeface="Arial" pitchFamily="34" charset="0"/>
              <a:buChar char="•"/>
            </a:pPr>
            <a:r>
              <a:rPr lang="en-AU" sz="1200" kern="1200" dirty="0" smtClean="0">
                <a:solidFill>
                  <a:schemeClr val="tx1"/>
                </a:solidFill>
                <a:ea typeface="+mn-ea"/>
                <a:cs typeface="+mn-cs"/>
              </a:rPr>
              <a:t>Knowledge</a:t>
            </a:r>
          </a:p>
          <a:p>
            <a:pPr marL="171450" indent="-171450">
              <a:buFont typeface="Arial" pitchFamily="34" charset="0"/>
              <a:buChar char="•"/>
            </a:pPr>
            <a:r>
              <a:rPr lang="en-AU" sz="1200" kern="1200" dirty="0" smtClean="0">
                <a:solidFill>
                  <a:schemeClr val="tx1"/>
                </a:solidFill>
                <a:ea typeface="+mn-ea"/>
                <a:cs typeface="+mn-cs"/>
              </a:rPr>
              <a:t>Attitude.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194784651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identifies the sample training delivery options and explain each.</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endParaRPr kumimoji="0" lang="en-AU" sz="1200" b="0" i="0" u="none" strike="noStrike" kern="1200" cap="none" spc="0" normalizeH="0" baseline="0" noProof="0" dirty="0" smtClean="0">
              <a:ln>
                <a:noFill/>
              </a:ln>
              <a:solidFill>
                <a:prstClr val="black"/>
              </a:solidFill>
              <a:effectLst/>
              <a:uLnTx/>
              <a:uFillTx/>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1" i="0" u="none" strike="noStrike" kern="1200" cap="none" spc="0" normalizeH="0" baseline="0" noProof="0" dirty="0" smtClean="0">
                <a:ln>
                  <a:noFill/>
                </a:ln>
                <a:solidFill>
                  <a:prstClr val="black"/>
                </a:solidFill>
                <a:effectLst/>
                <a:uLnTx/>
                <a:uFillTx/>
              </a:rPr>
              <a:t>Classroom Activity – Demonstration</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0" lang="en-AU" sz="1200" b="0" i="0" u="none" strike="noStrike" kern="1200" cap="none" spc="0" normalizeH="0" baseline="0" noProof="0" dirty="0" smtClean="0">
                <a:ln>
                  <a:noFill/>
                </a:ln>
                <a:solidFill>
                  <a:prstClr val="black"/>
                </a:solidFill>
                <a:effectLst/>
                <a:uLnTx/>
                <a:uFillTx/>
              </a:rPr>
              <a:t>Trainer provides mini demonstration of the training options identified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3877648648"/>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assessment stating:</a:t>
            </a:r>
          </a:p>
          <a:p>
            <a:pPr marL="171450" indent="-171450">
              <a:buFont typeface="Arial" pitchFamily="34" charset="0"/>
              <a:buChar char="•"/>
            </a:pPr>
            <a:r>
              <a:rPr lang="en-AU" sz="1200" kern="1200" dirty="0" smtClean="0">
                <a:solidFill>
                  <a:schemeClr val="tx1"/>
                </a:solidFill>
                <a:ea typeface="+mn-ea"/>
                <a:cs typeface="+mn-cs"/>
              </a:rPr>
              <a:t>Planning of training programs also needs to consider the assessment to be provided</a:t>
            </a:r>
          </a:p>
          <a:p>
            <a:pPr marL="171450" indent="-171450">
              <a:buFont typeface="Arial" pitchFamily="34" charset="0"/>
              <a:buChar char="•"/>
            </a:pPr>
            <a:r>
              <a:rPr lang="en-AU" sz="1200" kern="1200" dirty="0" smtClean="0">
                <a:solidFill>
                  <a:schemeClr val="tx1"/>
                </a:solidFill>
                <a:ea typeface="+mn-ea"/>
                <a:cs typeface="+mn-cs"/>
              </a:rPr>
              <a:t>Evidence is gathered to demonstrate competence in the skills and knowledge required by the units of competency.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2282252138"/>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standard requirements regarding CBA observing </a:t>
            </a:r>
            <a:r>
              <a:rPr lang="en-AU" sz="1200" kern="1200" dirty="0" smtClean="0">
                <a:solidFill>
                  <a:schemeClr val="tx1"/>
                </a:solidFill>
                <a:ea typeface="+mn-ea"/>
                <a:cs typeface="+mn-cs"/>
              </a:rPr>
              <a:t>it is necessary where CBA is being undertaken that:</a:t>
            </a:r>
          </a:p>
          <a:p>
            <a:pPr marL="171450" indent="-171450">
              <a:buFont typeface="Arial" pitchFamily="34" charset="0"/>
              <a:buChar char="•"/>
            </a:pPr>
            <a:r>
              <a:rPr lang="en-AU" sz="1200" kern="1200" dirty="0" smtClean="0">
                <a:solidFill>
                  <a:schemeClr val="tx1"/>
                </a:solidFill>
                <a:ea typeface="+mn-ea"/>
                <a:cs typeface="+mn-cs"/>
              </a:rPr>
              <a:t>The recognised ‘Principles of Assessment’ are applied – that is:</a:t>
            </a:r>
          </a:p>
          <a:p>
            <a:pPr marL="628650" lvl="1" indent="-171450">
              <a:buFont typeface="Arial" pitchFamily="34" charset="0"/>
              <a:buChar char="•"/>
            </a:pPr>
            <a:r>
              <a:rPr lang="en-AU" sz="1200" kern="1200" dirty="0" smtClean="0">
                <a:solidFill>
                  <a:schemeClr val="tx1"/>
                </a:solidFill>
                <a:ea typeface="+mn-ea"/>
                <a:cs typeface="+mn-cs"/>
              </a:rPr>
              <a:t>Fairness</a:t>
            </a:r>
          </a:p>
          <a:p>
            <a:pPr marL="628650" lvl="1" indent="-171450">
              <a:buFont typeface="Arial" pitchFamily="34" charset="0"/>
              <a:buChar char="•"/>
            </a:pPr>
            <a:r>
              <a:rPr lang="en-AU" sz="1200" kern="1200" dirty="0" smtClean="0">
                <a:solidFill>
                  <a:schemeClr val="tx1"/>
                </a:solidFill>
                <a:ea typeface="+mn-ea"/>
                <a:cs typeface="+mn-cs"/>
              </a:rPr>
              <a:t>Flexibility</a:t>
            </a:r>
          </a:p>
          <a:p>
            <a:pPr marL="628650" lvl="1" indent="-171450">
              <a:buFont typeface="Arial" pitchFamily="34" charset="0"/>
              <a:buChar char="•"/>
            </a:pPr>
            <a:r>
              <a:rPr lang="en-AU" sz="1200" kern="1200" dirty="0" smtClean="0">
                <a:solidFill>
                  <a:schemeClr val="tx1"/>
                </a:solidFill>
                <a:ea typeface="+mn-ea"/>
                <a:cs typeface="+mn-cs"/>
              </a:rPr>
              <a:t>Validity</a:t>
            </a:r>
          </a:p>
          <a:p>
            <a:pPr marL="628650" lvl="1" indent="-171450">
              <a:buFont typeface="Arial" pitchFamily="34" charset="0"/>
              <a:buChar char="•"/>
            </a:pPr>
            <a:r>
              <a:rPr lang="en-AU" sz="1200" kern="1200" dirty="0" smtClean="0">
                <a:solidFill>
                  <a:schemeClr val="tx1"/>
                </a:solidFill>
                <a:ea typeface="+mn-ea"/>
                <a:cs typeface="+mn-cs"/>
              </a:rPr>
              <a:t>Reliability.</a:t>
            </a:r>
          </a:p>
          <a:p>
            <a:pPr>
              <a:buFont typeface="Arial" pitchFamily="34" charset="0"/>
              <a:buNone/>
            </a:pPr>
            <a:endParaRPr lang="en-AU" noProof="0" dirty="0" smtClean="0"/>
          </a:p>
          <a:p>
            <a:pPr>
              <a:buFont typeface="Arial" pitchFamily="34" charset="0"/>
              <a:buNone/>
            </a:pPr>
            <a:r>
              <a:rPr lang="en-AU" b="1" noProof="0" dirty="0" smtClean="0"/>
              <a:t>Classroom Activity (1) – Internet Research</a:t>
            </a:r>
          </a:p>
          <a:p>
            <a:pPr>
              <a:buFont typeface="Arial" pitchFamily="34" charset="0"/>
              <a:buNone/>
            </a:pPr>
            <a:r>
              <a:rPr lang="en-AU" b="0" noProof="0" dirty="0" smtClean="0"/>
              <a:t>Trainer supervises internet research and subsequent classroom discussion by visiting:</a:t>
            </a:r>
          </a:p>
          <a:p>
            <a:pPr>
              <a:buFont typeface="Arial" pitchFamily="34" charset="0"/>
              <a:buNone/>
            </a:pPr>
            <a:r>
              <a:rPr lang="en-AU" sz="1200" u="sng" kern="1200" dirty="0" smtClean="0">
                <a:solidFill>
                  <a:schemeClr val="tx1"/>
                </a:solidFill>
                <a:ea typeface="+mn-ea"/>
                <a:cs typeface="+mn-cs"/>
                <a:hlinkClick r:id="rId3"/>
              </a:rPr>
              <a:t>http://www.asqa.gov.au/users-guide-to-the-standards-for-registered-training-organisations-2015/about-the-standards-for-rtos/standard-one/clauses/clauses-1.8--1.12.html</a:t>
            </a:r>
            <a:r>
              <a:rPr lang="en-AU" sz="1200" kern="1200" dirty="0" smtClean="0">
                <a:solidFill>
                  <a:schemeClr val="tx1"/>
                </a:solidFill>
                <a:ea typeface="+mn-ea"/>
                <a:cs typeface="+mn-cs"/>
              </a:rPr>
              <a:t> - Users’ Guide to the Standards for RTOs 2015</a:t>
            </a:r>
            <a:endParaRPr lang="en-AU" b="0" noProof="0" dirty="0" smtClean="0"/>
          </a:p>
          <a:p>
            <a:pPr>
              <a:buFont typeface="Arial" pitchFamily="34" charset="0"/>
              <a:buNone/>
            </a:pPr>
            <a:endParaRPr lang="en-AU" b="1" noProof="0" dirty="0" smtClean="0"/>
          </a:p>
          <a:p>
            <a:pPr>
              <a:buFont typeface="Arial" pitchFamily="34" charset="0"/>
              <a:buNone/>
            </a:pPr>
            <a:r>
              <a:rPr lang="en-AU" b="1" noProof="0" dirty="0" smtClean="0"/>
              <a:t>Classroom</a:t>
            </a:r>
            <a:r>
              <a:rPr lang="en-AU" b="1" baseline="0" noProof="0" dirty="0" smtClean="0"/>
              <a:t> Activity (2) – Discussion</a:t>
            </a:r>
          </a:p>
          <a:p>
            <a:pPr>
              <a:buFont typeface="Arial" pitchFamily="34" charset="0"/>
              <a:buNone/>
            </a:pPr>
            <a:r>
              <a:rPr lang="en-AU" b="0" baseline="0" noProof="0" dirty="0" smtClean="0"/>
              <a:t>Trainer discusses how the Principles of Assessment can be implemented in a practical way.</a:t>
            </a:r>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1106000114"/>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present mandatory requirements for assessment:</a:t>
            </a:r>
          </a:p>
          <a:p>
            <a:pPr marL="171450" indent="-171450">
              <a:buFont typeface="Arial" pitchFamily="34" charset="0"/>
              <a:buChar char="•"/>
            </a:pPr>
            <a:r>
              <a:rPr lang="en-AU" sz="1200" kern="1200" dirty="0" smtClean="0">
                <a:solidFill>
                  <a:schemeClr val="tx1"/>
                </a:solidFill>
                <a:ea typeface="+mn-ea"/>
                <a:cs typeface="+mn-cs"/>
              </a:rPr>
              <a:t>The required ‘Rules of Evidence’ are followed – that is:</a:t>
            </a:r>
          </a:p>
          <a:p>
            <a:pPr marL="628650" lvl="1" indent="-171450">
              <a:buFont typeface="Arial" pitchFamily="34" charset="0"/>
              <a:buChar char="•"/>
            </a:pPr>
            <a:r>
              <a:rPr lang="en-AU" sz="1200" kern="1200" dirty="0" smtClean="0">
                <a:solidFill>
                  <a:schemeClr val="tx1"/>
                </a:solidFill>
                <a:ea typeface="+mn-ea"/>
                <a:cs typeface="+mn-cs"/>
              </a:rPr>
              <a:t>Validity</a:t>
            </a:r>
          </a:p>
          <a:p>
            <a:pPr marL="628650" lvl="1" indent="-171450">
              <a:buFont typeface="Arial" pitchFamily="34" charset="0"/>
              <a:buChar char="•"/>
            </a:pPr>
            <a:r>
              <a:rPr lang="en-AU" sz="1200" kern="1200" dirty="0" smtClean="0">
                <a:solidFill>
                  <a:schemeClr val="tx1"/>
                </a:solidFill>
                <a:ea typeface="+mn-ea"/>
                <a:cs typeface="+mn-cs"/>
              </a:rPr>
              <a:t>Sufficiency</a:t>
            </a:r>
          </a:p>
          <a:p>
            <a:pPr marL="628650" lvl="1" indent="-171450">
              <a:buFont typeface="Arial" pitchFamily="34" charset="0"/>
              <a:buChar char="•"/>
            </a:pPr>
            <a:r>
              <a:rPr lang="en-AU" sz="1200" kern="1200" dirty="0" smtClean="0">
                <a:solidFill>
                  <a:schemeClr val="tx1"/>
                </a:solidFill>
                <a:ea typeface="+mn-ea"/>
                <a:cs typeface="+mn-cs"/>
              </a:rPr>
              <a:t>Authenticity</a:t>
            </a:r>
          </a:p>
          <a:p>
            <a:pPr marL="628650" lvl="1" indent="-171450">
              <a:buFont typeface="Arial" pitchFamily="34" charset="0"/>
              <a:buChar char="•"/>
            </a:pPr>
            <a:r>
              <a:rPr lang="en-AU" sz="1200" kern="1200" dirty="0" smtClean="0">
                <a:solidFill>
                  <a:schemeClr val="tx1"/>
                </a:solidFill>
                <a:ea typeface="+mn-ea"/>
                <a:cs typeface="+mn-cs"/>
              </a:rPr>
              <a:t>Currency.</a:t>
            </a:r>
          </a:p>
          <a:p>
            <a:pPr>
              <a:buFont typeface="Arial" pitchFamily="34" charset="0"/>
              <a:buNone/>
            </a:pPr>
            <a:endParaRPr lang="en-AU" noProof="0" dirty="0" smtClean="0"/>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experienced workplace assessor to attend and:</a:t>
            </a:r>
          </a:p>
          <a:p>
            <a:pPr marL="171450" indent="-171450">
              <a:buFont typeface="Arial" pitchFamily="34" charset="0"/>
              <a:buChar char="•"/>
            </a:pPr>
            <a:r>
              <a:rPr lang="en-AU" b="0" noProof="0" dirty="0" smtClean="0"/>
              <a:t>Discuss their role and experience/s</a:t>
            </a:r>
          </a:p>
          <a:p>
            <a:pPr marL="171450" indent="-171450">
              <a:buFont typeface="Arial" pitchFamily="34" charset="0"/>
              <a:buChar char="•"/>
            </a:pPr>
            <a:r>
              <a:rPr lang="en-AU" b="0" noProof="0" dirty="0" smtClean="0"/>
              <a:t>Demonstrate how they apply Principles of Assessment</a:t>
            </a:r>
          </a:p>
          <a:p>
            <a:pPr marL="171450" indent="-171450">
              <a:buFont typeface="Arial" pitchFamily="34" charset="0"/>
              <a:buChar char="•"/>
            </a:pPr>
            <a:r>
              <a:rPr lang="en-AU" b="0" noProof="0" dirty="0" smtClean="0"/>
              <a:t>Explain how they comply with Rules of Evidence</a:t>
            </a:r>
          </a:p>
          <a:p>
            <a:pPr marL="171450" indent="-171450">
              <a:buFont typeface="Arial" pitchFamily="34" charset="0"/>
              <a:buChar char="•"/>
            </a:pPr>
            <a:r>
              <a:rPr lang="en-AU" b="0" noProof="0" dirty="0" smtClean="0"/>
              <a:t>Provide sample documentation.</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129578456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lists options for assessing practical skills:</a:t>
            </a:r>
          </a:p>
          <a:p>
            <a:pPr marL="171450" indent="-171450">
              <a:buFont typeface="Arial" pitchFamily="34" charset="0"/>
              <a:buChar char="•"/>
            </a:pPr>
            <a:r>
              <a:rPr lang="en-AU" sz="1200" kern="1200" dirty="0" smtClean="0">
                <a:solidFill>
                  <a:schemeClr val="tx1"/>
                </a:solidFill>
                <a:ea typeface="+mn-ea"/>
                <a:cs typeface="+mn-cs"/>
              </a:rPr>
              <a:t>Real work – observation, using:</a:t>
            </a:r>
          </a:p>
          <a:p>
            <a:pPr marL="628650" lvl="1" indent="-171450">
              <a:buFont typeface="Arial" pitchFamily="34" charset="0"/>
              <a:buChar char="•"/>
            </a:pPr>
            <a:r>
              <a:rPr lang="en-AU" sz="1200" kern="1200" dirty="0" smtClean="0">
                <a:solidFill>
                  <a:schemeClr val="tx1"/>
                </a:solidFill>
                <a:ea typeface="+mn-ea"/>
                <a:cs typeface="+mn-cs"/>
              </a:rPr>
              <a:t>Checklists</a:t>
            </a:r>
          </a:p>
          <a:p>
            <a:pPr marL="628650" lvl="1" indent="-171450">
              <a:buFont typeface="Arial" pitchFamily="34" charset="0"/>
              <a:buChar char="•"/>
            </a:pPr>
            <a:r>
              <a:rPr lang="en-AU" sz="1200" kern="1200" dirty="0" smtClean="0">
                <a:solidFill>
                  <a:schemeClr val="tx1"/>
                </a:solidFill>
                <a:ea typeface="+mn-ea"/>
                <a:cs typeface="+mn-cs"/>
              </a:rPr>
              <a:t>Projects </a:t>
            </a:r>
          </a:p>
          <a:p>
            <a:pPr marL="628650" lvl="1" indent="-171450">
              <a:buFont typeface="Arial" pitchFamily="34" charset="0"/>
              <a:buChar char="•"/>
            </a:pPr>
            <a:r>
              <a:rPr lang="en-AU" sz="1200" kern="1200" dirty="0" smtClean="0">
                <a:solidFill>
                  <a:schemeClr val="tx1"/>
                </a:solidFill>
                <a:ea typeface="+mn-ea"/>
                <a:cs typeface="+mn-cs"/>
              </a:rPr>
              <a:t>Project teams </a:t>
            </a:r>
          </a:p>
          <a:p>
            <a:pPr marL="628650" lvl="1" indent="-171450">
              <a:buFont typeface="Arial" pitchFamily="34" charset="0"/>
              <a:buChar char="•"/>
            </a:pPr>
            <a:r>
              <a:rPr lang="en-AU" sz="1200" kern="1200" dirty="0" smtClean="0">
                <a:solidFill>
                  <a:schemeClr val="tx1"/>
                </a:solidFill>
                <a:ea typeface="+mn-ea"/>
                <a:cs typeface="+mn-cs"/>
              </a:rPr>
              <a:t>On-the-job practical tasks</a:t>
            </a:r>
          </a:p>
          <a:p>
            <a:pPr marL="171450" indent="-171450">
              <a:buFont typeface="Arial" pitchFamily="34" charset="0"/>
              <a:buChar char="•"/>
            </a:pPr>
            <a:r>
              <a:rPr lang="en-AU" sz="1200" kern="1200" dirty="0" smtClean="0">
                <a:solidFill>
                  <a:schemeClr val="tx1"/>
                </a:solidFill>
                <a:ea typeface="+mn-ea"/>
                <a:cs typeface="+mn-cs"/>
              </a:rPr>
              <a:t>Simulated work/demonstrations – observation, using:</a:t>
            </a:r>
          </a:p>
          <a:p>
            <a:pPr marL="628650" lvl="1" indent="-171450">
              <a:buFont typeface="Arial" pitchFamily="34" charset="0"/>
              <a:buChar char="•"/>
            </a:pPr>
            <a:r>
              <a:rPr lang="en-AU" sz="1200" kern="1200" dirty="0" smtClean="0">
                <a:solidFill>
                  <a:schemeClr val="tx1"/>
                </a:solidFill>
                <a:ea typeface="+mn-ea"/>
                <a:cs typeface="+mn-cs"/>
              </a:rPr>
              <a:t>Checklists </a:t>
            </a:r>
          </a:p>
          <a:p>
            <a:pPr marL="628650" lvl="1" indent="-171450">
              <a:buFont typeface="Arial" pitchFamily="34" charset="0"/>
              <a:buChar char="•"/>
            </a:pPr>
            <a:r>
              <a:rPr lang="en-AU" sz="1200" kern="1200" dirty="0" smtClean="0">
                <a:solidFill>
                  <a:schemeClr val="tx1"/>
                </a:solidFill>
                <a:ea typeface="+mn-ea"/>
                <a:cs typeface="+mn-cs"/>
              </a:rPr>
              <a:t>Projects </a:t>
            </a:r>
          </a:p>
          <a:p>
            <a:pPr marL="628650" lvl="1" indent="-171450">
              <a:buFont typeface="Arial" pitchFamily="34" charset="0"/>
              <a:buChar char="•"/>
            </a:pPr>
            <a:r>
              <a:rPr lang="en-AU" sz="1200" kern="1200" dirty="0" smtClean="0">
                <a:solidFill>
                  <a:schemeClr val="tx1"/>
                </a:solidFill>
                <a:ea typeface="+mn-ea"/>
                <a:cs typeface="+mn-cs"/>
              </a:rPr>
              <a:t>Assignments </a:t>
            </a:r>
          </a:p>
          <a:p>
            <a:pPr marL="628650" lvl="1" indent="-171450">
              <a:buFont typeface="Arial" pitchFamily="34" charset="0"/>
              <a:buChar char="•"/>
            </a:pPr>
            <a:r>
              <a:rPr lang="en-AU" sz="1200" kern="1200" dirty="0" smtClean="0">
                <a:solidFill>
                  <a:schemeClr val="tx1"/>
                </a:solidFill>
                <a:ea typeface="+mn-ea"/>
                <a:cs typeface="+mn-cs"/>
              </a:rPr>
              <a:t>Role Plays</a:t>
            </a:r>
          </a:p>
          <a:p>
            <a:pPr marL="171450" indent="-171450">
              <a:buFont typeface="Arial" pitchFamily="34" charset="0"/>
              <a:buChar char="•"/>
            </a:pPr>
            <a:r>
              <a:rPr lang="en-AU" sz="1200" kern="1200" dirty="0" smtClean="0">
                <a:solidFill>
                  <a:schemeClr val="tx1"/>
                </a:solidFill>
                <a:ea typeface="+mn-ea"/>
                <a:cs typeface="+mn-cs"/>
              </a:rPr>
              <a:t>Analysis/evaluation of finished products, items, documentation – produced by candidates.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200365841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lists options for assessing knowledge:</a:t>
            </a:r>
          </a:p>
          <a:p>
            <a:pPr marL="171450" indent="-171450">
              <a:buFont typeface="Arial" pitchFamily="34" charset="0"/>
              <a:buChar char="•"/>
            </a:pPr>
            <a:r>
              <a:rPr lang="en-AU" sz="1200" kern="1200" dirty="0" smtClean="0">
                <a:solidFill>
                  <a:schemeClr val="tx1"/>
                </a:solidFill>
                <a:ea typeface="+mn-ea"/>
                <a:cs typeface="+mn-cs"/>
              </a:rPr>
              <a:t>Written format – such as:</a:t>
            </a:r>
          </a:p>
          <a:p>
            <a:pPr marL="628650" lvl="1" indent="-171450">
              <a:buFont typeface="Arial" pitchFamily="34" charset="0"/>
              <a:buChar char="•"/>
            </a:pPr>
            <a:r>
              <a:rPr lang="en-AU" sz="1200" kern="1200" dirty="0" smtClean="0">
                <a:solidFill>
                  <a:schemeClr val="tx1"/>
                </a:solidFill>
                <a:ea typeface="+mn-ea"/>
                <a:cs typeface="+mn-cs"/>
              </a:rPr>
              <a:t>Multiple choice questions</a:t>
            </a:r>
          </a:p>
          <a:p>
            <a:pPr marL="628650" lvl="1" indent="-171450">
              <a:buFont typeface="Arial" pitchFamily="34" charset="0"/>
              <a:buChar char="•"/>
            </a:pPr>
            <a:r>
              <a:rPr lang="en-AU" sz="1200" kern="1200" dirty="0" smtClean="0">
                <a:solidFill>
                  <a:schemeClr val="tx1"/>
                </a:solidFill>
                <a:ea typeface="+mn-ea"/>
                <a:cs typeface="+mn-cs"/>
              </a:rPr>
              <a:t>Short answer questions </a:t>
            </a:r>
          </a:p>
          <a:p>
            <a:pPr marL="628650" lvl="1" indent="-171450">
              <a:buFont typeface="Arial" pitchFamily="34" charset="0"/>
              <a:buChar char="•"/>
            </a:pPr>
            <a:r>
              <a:rPr lang="en-AU" sz="1200" kern="1200" dirty="0" smtClean="0">
                <a:solidFill>
                  <a:schemeClr val="tx1"/>
                </a:solidFill>
                <a:ea typeface="+mn-ea"/>
                <a:cs typeface="+mn-cs"/>
              </a:rPr>
              <a:t>Assignments </a:t>
            </a:r>
          </a:p>
          <a:p>
            <a:pPr marL="628650" lvl="1" indent="-171450">
              <a:buFont typeface="Arial" pitchFamily="34" charset="0"/>
              <a:buChar char="•"/>
            </a:pPr>
            <a:r>
              <a:rPr lang="en-AU" sz="1200" kern="1200" dirty="0" smtClean="0">
                <a:solidFill>
                  <a:schemeClr val="tx1"/>
                </a:solidFill>
                <a:ea typeface="+mn-ea"/>
                <a:cs typeface="+mn-cs"/>
              </a:rPr>
              <a:t>Projects </a:t>
            </a:r>
          </a:p>
          <a:p>
            <a:pPr marL="628650" lvl="1" indent="-171450">
              <a:buFont typeface="Arial" pitchFamily="34" charset="0"/>
              <a:buChar char="•"/>
            </a:pPr>
            <a:r>
              <a:rPr lang="en-AU" sz="1200" kern="1200" dirty="0" smtClean="0">
                <a:solidFill>
                  <a:schemeClr val="tx1"/>
                </a:solidFill>
                <a:ea typeface="+mn-ea"/>
                <a:cs typeface="+mn-cs"/>
              </a:rPr>
              <a:t>Essays </a:t>
            </a:r>
          </a:p>
          <a:p>
            <a:pPr marL="628650" lvl="1" indent="-171450">
              <a:buFont typeface="Arial" pitchFamily="34" charset="0"/>
              <a:buChar char="•"/>
            </a:pPr>
            <a:r>
              <a:rPr lang="en-AU" sz="1200" kern="1200" dirty="0" smtClean="0">
                <a:solidFill>
                  <a:schemeClr val="tx1"/>
                </a:solidFill>
                <a:ea typeface="+mn-ea"/>
                <a:cs typeface="+mn-cs"/>
              </a:rPr>
              <a:t>True/False questions</a:t>
            </a:r>
          </a:p>
          <a:p>
            <a:pPr marL="171450" indent="-171450">
              <a:buFont typeface="Arial" pitchFamily="34" charset="0"/>
              <a:buChar char="•"/>
            </a:pPr>
            <a:r>
              <a:rPr lang="en-AU" sz="1200" kern="1200" dirty="0" smtClean="0">
                <a:solidFill>
                  <a:schemeClr val="tx1"/>
                </a:solidFill>
                <a:ea typeface="+mn-ea"/>
                <a:cs typeface="+mn-cs"/>
              </a:rPr>
              <a:t>Oral format – such as:</a:t>
            </a:r>
          </a:p>
          <a:p>
            <a:pPr marL="628650" lvl="1" indent="-171450">
              <a:buFont typeface="Arial" pitchFamily="34" charset="0"/>
              <a:buChar char="•"/>
            </a:pPr>
            <a:r>
              <a:rPr lang="en-AU" sz="1200" kern="1200" dirty="0" smtClean="0">
                <a:solidFill>
                  <a:schemeClr val="tx1"/>
                </a:solidFill>
                <a:ea typeface="+mn-ea"/>
                <a:cs typeface="+mn-cs"/>
              </a:rPr>
              <a:t>Oral questions </a:t>
            </a:r>
          </a:p>
          <a:p>
            <a:pPr marL="628650" lvl="1" indent="-171450">
              <a:buFont typeface="Arial" pitchFamily="34" charset="0"/>
              <a:buChar char="•"/>
            </a:pPr>
            <a:r>
              <a:rPr lang="en-AU" sz="1200" kern="1200" dirty="0" smtClean="0">
                <a:solidFill>
                  <a:schemeClr val="tx1"/>
                </a:solidFill>
                <a:ea typeface="+mn-ea"/>
                <a:cs typeface="+mn-cs"/>
              </a:rPr>
              <a:t>Role plays</a:t>
            </a:r>
          </a:p>
          <a:p>
            <a:pPr marL="628650" lvl="1" indent="-171450">
              <a:buFont typeface="Arial" pitchFamily="34" charset="0"/>
              <a:buChar char="•"/>
            </a:pPr>
            <a:r>
              <a:rPr lang="en-AU" sz="1200" kern="1200" dirty="0" smtClean="0">
                <a:solidFill>
                  <a:schemeClr val="tx1"/>
                </a:solidFill>
                <a:ea typeface="+mn-ea"/>
                <a:cs typeface="+mn-cs"/>
              </a:rPr>
              <a:t>Interviews </a:t>
            </a:r>
          </a:p>
          <a:p>
            <a:pPr marL="628650" lvl="1" indent="-171450">
              <a:buFont typeface="Arial" pitchFamily="34" charset="0"/>
              <a:buChar char="•"/>
            </a:pPr>
            <a:r>
              <a:rPr lang="en-AU" sz="1200" kern="1200" dirty="0" smtClean="0">
                <a:solidFill>
                  <a:schemeClr val="tx1"/>
                </a:solidFill>
                <a:ea typeface="+mn-ea"/>
                <a:cs typeface="+mn-cs"/>
              </a:rPr>
              <a:t>Presentations by the learner </a:t>
            </a:r>
          </a:p>
          <a:p>
            <a:pPr marL="628650" lvl="1" indent="-171450">
              <a:buFont typeface="Arial" pitchFamily="34" charset="0"/>
              <a:buChar char="•"/>
            </a:pPr>
            <a:r>
              <a:rPr lang="en-AU" sz="1200" kern="1200" dirty="0" smtClean="0">
                <a:solidFill>
                  <a:schemeClr val="tx1"/>
                </a:solidFill>
                <a:ea typeface="+mn-ea"/>
                <a:cs typeface="+mn-cs"/>
              </a:rPr>
              <a:t>Discussion groups </a:t>
            </a:r>
          </a:p>
          <a:p>
            <a:pPr marL="628650" lvl="1" indent="-171450">
              <a:buFont typeface="Arial" pitchFamily="34" charset="0"/>
              <a:buChar char="•"/>
            </a:pPr>
            <a:r>
              <a:rPr lang="en-AU" sz="1200" kern="1200" dirty="0" smtClean="0">
                <a:solidFill>
                  <a:schemeClr val="tx1"/>
                </a:solidFill>
                <a:ea typeface="+mn-ea"/>
                <a:cs typeface="+mn-cs"/>
              </a:rPr>
              <a:t>On- and off-the-job questions.</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14048173"/>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assessment items observing:</a:t>
            </a:r>
          </a:p>
          <a:p>
            <a:pPr marL="171450" indent="-171450">
              <a:buFont typeface="Arial" pitchFamily="34" charset="0"/>
              <a:buChar char="•"/>
            </a:pPr>
            <a:r>
              <a:rPr lang="en-AU" sz="1200" kern="1200" dirty="0" smtClean="0">
                <a:solidFill>
                  <a:schemeClr val="tx1"/>
                </a:solidFill>
                <a:ea typeface="+mn-ea"/>
                <a:cs typeface="+mn-cs"/>
              </a:rPr>
              <a:t>To collect evidence ‘assessment tools’ (also known as ‘assessment items’) will need to be used</a:t>
            </a:r>
          </a:p>
          <a:p>
            <a:pPr marL="171450" indent="-171450">
              <a:buFont typeface="Arial" pitchFamily="34" charset="0"/>
              <a:buChar char="•"/>
            </a:pPr>
            <a:r>
              <a:rPr lang="en-AU" sz="1200" kern="1200" dirty="0" smtClean="0">
                <a:solidFill>
                  <a:schemeClr val="tx1"/>
                </a:solidFill>
                <a:ea typeface="+mn-ea"/>
                <a:cs typeface="+mn-cs"/>
              </a:rPr>
              <a:t>These tools are used to collect and interpret evidence of competence</a:t>
            </a:r>
          </a:p>
          <a:p>
            <a:pPr marL="171450" indent="-171450">
              <a:buFont typeface="Arial" pitchFamily="34" charset="0"/>
              <a:buChar char="•"/>
            </a:pPr>
            <a:r>
              <a:rPr lang="en-AU" sz="1200" kern="1200" dirty="0" smtClean="0">
                <a:solidFill>
                  <a:schemeClr val="tx1"/>
                </a:solidFill>
                <a:ea typeface="+mn-ea"/>
                <a:cs typeface="+mn-cs"/>
              </a:rPr>
              <a:t>Assessment tools can be used in combination or by themselves provided that they ‘test, measure’ the competency.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370282366"/>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kern="1200" dirty="0" smtClean="0">
                <a:solidFill>
                  <a:schemeClr val="tx1"/>
                </a:solidFill>
                <a:ea typeface="+mn-ea"/>
                <a:cs typeface="+mn-cs"/>
              </a:rPr>
              <a:t>Assessment tools will reflect the nature of the assessment method/s to be used – for example:</a:t>
            </a:r>
          </a:p>
          <a:p>
            <a:pPr marL="171450" indent="-171450">
              <a:buFont typeface="Arial" pitchFamily="34" charset="0"/>
              <a:buChar char="•"/>
            </a:pPr>
            <a:r>
              <a:rPr lang="en-AU" sz="1200" kern="1200" dirty="0" smtClean="0">
                <a:solidFill>
                  <a:schemeClr val="tx1"/>
                </a:solidFill>
                <a:ea typeface="+mn-ea"/>
                <a:cs typeface="+mn-cs"/>
              </a:rPr>
              <a:t>If doing an ‘Interview’ a Questionnaire might be used</a:t>
            </a:r>
          </a:p>
          <a:p>
            <a:pPr marL="171450" indent="-171450">
              <a:buFont typeface="Arial" pitchFamily="34" charset="0"/>
              <a:buChar char="•"/>
            </a:pPr>
            <a:r>
              <a:rPr lang="en-AU" sz="1200" kern="1200" dirty="0" smtClean="0">
                <a:solidFill>
                  <a:schemeClr val="tx1"/>
                </a:solidFill>
                <a:ea typeface="+mn-ea"/>
                <a:cs typeface="+mn-cs"/>
              </a:rPr>
              <a:t>If conducting an observation of learner actions, a Checklist could be used</a:t>
            </a:r>
          </a:p>
          <a:p>
            <a:pPr marL="171450" indent="-171450">
              <a:buFont typeface="Arial" pitchFamily="34" charset="0"/>
              <a:buChar char="•"/>
            </a:pPr>
            <a:r>
              <a:rPr lang="en-AU" sz="1200" kern="1200" dirty="0" smtClean="0">
                <a:solidFill>
                  <a:schemeClr val="tx1"/>
                </a:solidFill>
                <a:ea typeface="+mn-ea"/>
                <a:cs typeface="+mn-cs"/>
              </a:rPr>
              <a:t>If watching a demonstration, a Checklist would be suitable</a:t>
            </a:r>
          </a:p>
          <a:p>
            <a:pPr marL="171450" indent="-171450">
              <a:buFont typeface="Arial" pitchFamily="34" charset="0"/>
              <a:buChar char="•"/>
            </a:pPr>
            <a:r>
              <a:rPr lang="en-AU" sz="1200" kern="1200" dirty="0" smtClean="0">
                <a:solidFill>
                  <a:schemeClr val="tx1"/>
                </a:solidFill>
                <a:ea typeface="+mn-ea"/>
                <a:cs typeface="+mn-cs"/>
              </a:rPr>
              <a:t>If asking Oral Questions a sheet listing the questions and able to capture answers would be used.</a:t>
            </a:r>
          </a:p>
          <a:p>
            <a:pPr>
              <a:buFont typeface="Arial" pitchFamily="34" charset="0"/>
              <a:buNone/>
            </a:pPr>
            <a:endParaRPr lang="en-AU" noProof="0" dirty="0" smtClean="0"/>
          </a:p>
          <a:p>
            <a:pPr>
              <a:buFont typeface="Arial" pitchFamily="34" charset="0"/>
              <a:buNone/>
            </a:pPr>
            <a:r>
              <a:rPr lang="en-AU" b="1" noProof="0" dirty="0" smtClean="0"/>
              <a:t>Classroom Activity – Handouts and Demonstrations</a:t>
            </a:r>
          </a:p>
          <a:p>
            <a:pPr>
              <a:buFont typeface="Arial" pitchFamily="34" charset="0"/>
              <a:buNone/>
            </a:pPr>
            <a:r>
              <a:rPr lang="en-AU" b="0" noProof="0" dirty="0" smtClean="0"/>
              <a:t>Trainer distributes and discusses examples of assessment items as identified on the slide and demonstrates their use.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4162617840"/>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 and discusses resources. Remind trainees not to assume these items will be available. Always double check.</a:t>
            </a:r>
            <a:r>
              <a:rPr lang="en-AU" baseline="0" noProof="0" dirty="0" smtClean="0"/>
              <a:t> You may need to book, order, request or locate from another area or department. Always allow time to prepare your training space adequately.</a:t>
            </a:r>
            <a:endParaRPr lang="en-AU" noProof="0" dirty="0" smtClean="0"/>
          </a:p>
          <a:p>
            <a:pPr>
              <a:buFont typeface="Arial" pitchFamily="34" charset="0"/>
              <a:buNone/>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290680967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lists important considerations when obtaining resources:</a:t>
            </a:r>
          </a:p>
          <a:p>
            <a:pPr marL="171450" indent="-171450">
              <a:buFont typeface="Arial" pitchFamily="34" charset="0"/>
              <a:buChar char="•"/>
            </a:pPr>
            <a:r>
              <a:rPr lang="en-AU" sz="1200" kern="1200" dirty="0" smtClean="0">
                <a:solidFill>
                  <a:schemeClr val="tx1"/>
                </a:solidFill>
                <a:ea typeface="+mn-ea"/>
                <a:cs typeface="+mn-cs"/>
              </a:rPr>
              <a:t>Host country legislation is obtained – where competency standards refer to legislation there is a need to obtain the legislation applicable to the country where the qualification/unit is being delivered</a:t>
            </a:r>
          </a:p>
          <a:p>
            <a:pPr marL="171450" indent="-171450">
              <a:buFont typeface="Arial" pitchFamily="34" charset="0"/>
              <a:buChar char="•"/>
            </a:pPr>
            <a:r>
              <a:rPr lang="en-AU" sz="1200" kern="1200" dirty="0" smtClean="0">
                <a:solidFill>
                  <a:schemeClr val="tx1"/>
                </a:solidFill>
                <a:ea typeface="+mn-ea"/>
                <a:cs typeface="+mn-cs"/>
              </a:rPr>
              <a:t>Industry relevance – all forms, documentation, examples and samples must represent what is being used in the industry/organisation</a:t>
            </a:r>
          </a:p>
          <a:p>
            <a:pPr marL="171450" indent="-171450">
              <a:buFont typeface="Arial" pitchFamily="34" charset="0"/>
              <a:buChar char="•"/>
            </a:pPr>
            <a:r>
              <a:rPr lang="en-AU" sz="1200" kern="1200" dirty="0" smtClean="0">
                <a:solidFill>
                  <a:schemeClr val="tx1"/>
                </a:solidFill>
                <a:ea typeface="+mn-ea"/>
                <a:cs typeface="+mn-cs"/>
              </a:rPr>
              <a:t>‘Sufficient’ resources are available – there will nearly always be some need for learners to share certain resources and this requirement needs to be factored into the session plans which are developed but there will also always some basic minimum number of items which are essential and without which the training cannot take place</a:t>
            </a:r>
          </a:p>
          <a:p>
            <a:pPr marL="171450" indent="-171450">
              <a:buFont typeface="Arial" pitchFamily="34" charset="0"/>
              <a:buChar char="•"/>
            </a:pPr>
            <a:r>
              <a:rPr lang="en-AU" sz="1200" kern="1200" dirty="0" smtClean="0">
                <a:solidFill>
                  <a:schemeClr val="tx1"/>
                </a:solidFill>
                <a:ea typeface="+mn-ea"/>
                <a:cs typeface="+mn-cs"/>
              </a:rPr>
              <a:t>All resources are safe to use – this is the single most critical element relating to physical resources used for training</a:t>
            </a:r>
          </a:p>
          <a:p>
            <a:pPr marL="171450" indent="-171450">
              <a:buFont typeface="Arial" pitchFamily="34" charset="0"/>
              <a:buChar char="•"/>
            </a:pPr>
            <a:r>
              <a:rPr lang="en-AU" sz="1200" kern="1200" dirty="0" smtClean="0">
                <a:solidFill>
                  <a:schemeClr val="tx1"/>
                </a:solidFill>
                <a:ea typeface="+mn-ea"/>
                <a:cs typeface="+mn-cs"/>
              </a:rPr>
              <a:t>Resources are current – they need to reflect the items used in the industry/organisation the learners are working in.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1029439324"/>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 </a:t>
            </a:r>
            <a:r>
              <a:rPr lang="en-AU" sz="1200" b="0" kern="1200" dirty="0" smtClean="0">
                <a:solidFill>
                  <a:schemeClr val="tx1"/>
                </a:solidFill>
                <a:ea typeface="+mn-ea"/>
                <a:cs typeface="+mn-cs"/>
              </a:rPr>
              <a:t>preparation and development of resources noting </a:t>
            </a:r>
            <a:r>
              <a:rPr lang="en-AU" sz="1200" kern="1200" dirty="0" smtClean="0">
                <a:solidFill>
                  <a:schemeClr val="tx1"/>
                </a:solidFill>
                <a:ea typeface="+mn-ea"/>
                <a:cs typeface="+mn-cs"/>
              </a:rPr>
              <a:t>readying of resources and materials to support training may necessitate:</a:t>
            </a:r>
          </a:p>
          <a:p>
            <a:pPr>
              <a:buFont typeface="Arial" pitchFamily="34" charset="0"/>
              <a:buChar char="•"/>
            </a:pPr>
            <a:r>
              <a:rPr lang="en-AU" sz="1200" kern="1200" dirty="0" smtClean="0">
                <a:solidFill>
                  <a:schemeClr val="tx1"/>
                </a:solidFill>
                <a:ea typeface="+mn-ea"/>
                <a:cs typeface="+mn-cs"/>
              </a:rPr>
              <a:t>Generating them from scratch</a:t>
            </a:r>
          </a:p>
          <a:p>
            <a:pPr>
              <a:buFont typeface="Arial" pitchFamily="34" charset="0"/>
              <a:buChar char="•"/>
            </a:pPr>
            <a:r>
              <a:rPr lang="en-AU" sz="1200" kern="1200" dirty="0" smtClean="0">
                <a:solidFill>
                  <a:schemeClr val="tx1"/>
                </a:solidFill>
                <a:ea typeface="+mn-ea"/>
                <a:cs typeface="+mn-cs"/>
              </a:rPr>
              <a:t>Revising existing materials</a:t>
            </a:r>
          </a:p>
          <a:p>
            <a:pPr>
              <a:buFont typeface="Arial" pitchFamily="34" charset="0"/>
              <a:buChar char="•"/>
            </a:pPr>
            <a:r>
              <a:rPr lang="en-AU" sz="1200" kern="1200" dirty="0" smtClean="0">
                <a:solidFill>
                  <a:schemeClr val="tx1"/>
                </a:solidFill>
                <a:ea typeface="+mn-ea"/>
                <a:cs typeface="+mn-cs"/>
              </a:rPr>
              <a:t>Using again items which have been previously used.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2472471655"/>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options for acquiring resources:</a:t>
            </a:r>
          </a:p>
          <a:p>
            <a:pPr lvl="0">
              <a:buFont typeface="Arial" pitchFamily="34" charset="0"/>
              <a:buChar char="•"/>
            </a:pPr>
            <a:r>
              <a:rPr lang="en-AU" sz="1200" kern="1200" dirty="0" smtClean="0">
                <a:solidFill>
                  <a:schemeClr val="tx1"/>
                </a:solidFill>
                <a:ea typeface="+mn-ea"/>
                <a:cs typeface="+mn-cs"/>
              </a:rPr>
              <a:t>Purchase them – from professional suppliers of training support materials</a:t>
            </a:r>
          </a:p>
          <a:p>
            <a:pPr lvl="0">
              <a:buFont typeface="Arial" pitchFamily="34" charset="0"/>
              <a:buChar char="•"/>
            </a:pPr>
            <a:r>
              <a:rPr lang="en-AU" sz="1200" kern="1200" dirty="0" smtClean="0">
                <a:solidFill>
                  <a:schemeClr val="tx1"/>
                </a:solidFill>
                <a:ea typeface="+mn-ea"/>
                <a:cs typeface="+mn-cs"/>
              </a:rPr>
              <a:t>Ask suppliers to donate</a:t>
            </a:r>
          </a:p>
          <a:p>
            <a:pPr lvl="0">
              <a:buFont typeface="Arial" pitchFamily="34" charset="0"/>
              <a:buChar char="•"/>
            </a:pPr>
            <a:r>
              <a:rPr lang="en-AU" sz="1200" kern="1200" dirty="0" smtClean="0">
                <a:solidFill>
                  <a:schemeClr val="tx1"/>
                </a:solidFill>
                <a:ea typeface="+mn-ea"/>
                <a:cs typeface="+mn-cs"/>
              </a:rPr>
              <a:t>Request loan of them from industry partners, carriers, or bodies.</a:t>
            </a:r>
          </a:p>
          <a:p>
            <a:pPr>
              <a:buFont typeface="Arial" pitchFamily="34" charset="0"/>
              <a:buNone/>
            </a:pPr>
            <a:endParaRPr lang="en-AU" noProof="0" dirty="0" smtClean="0"/>
          </a:p>
          <a:p>
            <a:pPr>
              <a:buFont typeface="Arial" pitchFamily="34" charset="0"/>
              <a:buNone/>
            </a:pPr>
            <a:r>
              <a:rPr lang="en-AU" b="1" noProof="0" dirty="0" smtClean="0"/>
              <a:t>Classroom Activity – Internet Research</a:t>
            </a:r>
          </a:p>
          <a:p>
            <a:pPr>
              <a:buFont typeface="Arial" pitchFamily="34" charset="0"/>
              <a:buNone/>
            </a:pPr>
            <a:r>
              <a:rPr lang="en-AU" b="0" noProof="0" dirty="0" smtClean="0"/>
              <a:t>Trainer supervises internet research and subsequent classroom discussion by visiting:</a:t>
            </a:r>
          </a:p>
          <a:p>
            <a:pPr>
              <a:buFont typeface="Arial" pitchFamily="34" charset="0"/>
              <a:buNone/>
            </a:pPr>
            <a:r>
              <a:rPr lang="en-AU" sz="1200" u="sng" kern="1200" dirty="0" smtClean="0">
                <a:solidFill>
                  <a:schemeClr val="tx1"/>
                </a:solidFill>
                <a:ea typeface="+mn-ea"/>
                <a:cs typeface="+mn-cs"/>
                <a:hlinkClick r:id="rId3"/>
              </a:rPr>
              <a:t>http://www.waseantourism.com/</a:t>
            </a:r>
            <a:r>
              <a:rPr lang="en-AU" sz="1200" kern="1200" dirty="0" smtClean="0">
                <a:solidFill>
                  <a:schemeClr val="tx1"/>
                </a:solidFill>
                <a:ea typeface="+mn-ea"/>
                <a:cs typeface="+mn-cs"/>
              </a:rPr>
              <a:t> - ASEAN-Australia Development Cooperation Program</a:t>
            </a:r>
            <a:br>
              <a:rPr lang="en-AU" sz="1200" kern="1200" dirty="0" smtClean="0">
                <a:solidFill>
                  <a:schemeClr val="tx1"/>
                </a:solidFill>
                <a:ea typeface="+mn-ea"/>
                <a:cs typeface="+mn-cs"/>
              </a:rPr>
            </a:br>
            <a:r>
              <a:rPr lang="en-AU" sz="1200" kern="1200" dirty="0" smtClean="0">
                <a:solidFill>
                  <a:schemeClr val="tx1"/>
                </a:solidFill>
                <a:ea typeface="+mn-ea"/>
                <a:cs typeface="+mn-cs"/>
              </a:rPr>
              <a:t>Phase II: Repository for resources produced by William Angliss Institute</a:t>
            </a:r>
            <a:endParaRPr lang="en-AU"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3555186436"/>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options for acquiring resources:</a:t>
            </a:r>
          </a:p>
          <a:p>
            <a:pPr marL="171450" lvl="0" indent="-171450">
              <a:buFont typeface="Arial" pitchFamily="34" charset="0"/>
              <a:buChar char="•"/>
            </a:pPr>
            <a:r>
              <a:rPr lang="en-AU" sz="1200" kern="1200" dirty="0" smtClean="0">
                <a:solidFill>
                  <a:schemeClr val="tx1"/>
                </a:solidFill>
                <a:ea typeface="+mn-ea"/>
                <a:cs typeface="+mn-cs"/>
              </a:rPr>
              <a:t>Conduct excursions/field trips to workplaces and use what is available at those locations</a:t>
            </a:r>
          </a:p>
          <a:p>
            <a:pPr marL="171450" lvl="0" indent="-171450">
              <a:buFont typeface="Arial" pitchFamily="34" charset="0"/>
              <a:buChar char="•"/>
            </a:pPr>
            <a:r>
              <a:rPr lang="en-AU" sz="1200" kern="1200" dirty="0" smtClean="0">
                <a:solidFill>
                  <a:schemeClr val="tx1"/>
                </a:solidFill>
                <a:ea typeface="+mn-ea"/>
                <a:cs typeface="+mn-cs"/>
              </a:rPr>
              <a:t>Share them (and the cost of purchase) – with other training providers and/or organisations that have a workplace training system</a:t>
            </a:r>
          </a:p>
          <a:p>
            <a:pPr marL="171450" lvl="0" indent="-171450">
              <a:buFont typeface="Arial" pitchFamily="34" charset="0"/>
              <a:buChar char="•"/>
            </a:pPr>
            <a:r>
              <a:rPr lang="en-AU" sz="1200" kern="1200" dirty="0" smtClean="0">
                <a:solidFill>
                  <a:schemeClr val="tx1"/>
                </a:solidFill>
                <a:ea typeface="+mn-ea"/>
                <a:cs typeface="+mn-cs"/>
              </a:rPr>
              <a:t>Seek government funding for their acquisition.</a:t>
            </a:r>
          </a:p>
          <a:p>
            <a:pPr>
              <a:buFont typeface="Arial" pitchFamily="34" charset="0"/>
              <a:buNone/>
            </a:pPr>
            <a:endParaRPr lang="en-AU" noProof="0" dirty="0" smtClean="0"/>
          </a:p>
          <a:p>
            <a:pPr>
              <a:buFont typeface="Arial" pitchFamily="34" charset="0"/>
              <a:buNone/>
            </a:pPr>
            <a:endParaRPr lang="en-AU" noProof="0" dirty="0" smtClean="0"/>
          </a:p>
          <a:p>
            <a:pPr>
              <a:buFont typeface="Arial" pitchFamily="34" charset="0"/>
              <a:buNone/>
            </a:pPr>
            <a:r>
              <a:rPr lang="en-AU" b="1" noProof="0" dirty="0" smtClean="0"/>
              <a:t>Classroom Activity (1) – Internet Research</a:t>
            </a:r>
          </a:p>
          <a:p>
            <a:pPr>
              <a:buFont typeface="Arial" pitchFamily="34" charset="0"/>
              <a:buNone/>
            </a:pPr>
            <a:r>
              <a:rPr lang="en-AU" b="0" noProof="0" dirty="0" smtClean="0"/>
              <a:t>Trainer supervises internet research and subsequent classroom discussion by visiting:</a:t>
            </a:r>
          </a:p>
          <a:p>
            <a:r>
              <a:rPr lang="en-AU" sz="1200" u="sng" kern="1200" dirty="0" smtClean="0">
                <a:solidFill>
                  <a:schemeClr val="tx1"/>
                </a:solidFill>
                <a:ea typeface="+mn-ea"/>
                <a:cs typeface="+mn-cs"/>
                <a:hlinkClick r:id="rId3"/>
              </a:rPr>
              <a:t>http://corporatetrainingmaterials.com/pages/training_library.asp</a:t>
            </a:r>
            <a:r>
              <a:rPr lang="en-AU" sz="1200" kern="1200" dirty="0" smtClean="0">
                <a:solidFill>
                  <a:schemeClr val="tx1"/>
                </a:solidFill>
                <a:ea typeface="+mn-ea"/>
                <a:cs typeface="+mn-cs"/>
              </a:rPr>
              <a:t> - Commercial site</a:t>
            </a:r>
          </a:p>
          <a:p>
            <a:r>
              <a:rPr lang="en-AU" sz="1200" u="sng" kern="1200" dirty="0" smtClean="0">
                <a:solidFill>
                  <a:schemeClr val="tx1"/>
                </a:solidFill>
                <a:ea typeface="+mn-ea"/>
                <a:cs typeface="+mn-cs"/>
                <a:hlinkClick r:id="rId4"/>
              </a:rPr>
              <a:t>http://www.futuragroup.com.au</a:t>
            </a:r>
            <a:r>
              <a:rPr lang="en-AU" sz="1200" kern="1200" dirty="0" smtClean="0">
                <a:solidFill>
                  <a:schemeClr val="tx1"/>
                </a:solidFill>
                <a:ea typeface="+mn-ea"/>
                <a:cs typeface="+mn-cs"/>
              </a:rPr>
              <a:t> - Commercial site</a:t>
            </a:r>
          </a:p>
          <a:p>
            <a:r>
              <a:rPr lang="en-AU" sz="1200" u="sng" kern="1200" dirty="0" smtClean="0">
                <a:solidFill>
                  <a:schemeClr val="tx1"/>
                </a:solidFill>
                <a:ea typeface="+mn-ea"/>
                <a:cs typeface="+mn-cs"/>
                <a:hlinkClick r:id="rId5"/>
              </a:rPr>
              <a:t>http://www.didasko.com/sit12.php</a:t>
            </a:r>
            <a:r>
              <a:rPr lang="en-AU" sz="1200" kern="1200" dirty="0" smtClean="0">
                <a:solidFill>
                  <a:schemeClr val="tx1"/>
                </a:solidFill>
                <a:ea typeface="+mn-ea"/>
                <a:cs typeface="+mn-cs"/>
              </a:rPr>
              <a:t> - Commercial site.</a:t>
            </a:r>
          </a:p>
          <a:p>
            <a:r>
              <a:rPr lang="en-AU" sz="1200" b="1" kern="1200" dirty="0" smtClean="0">
                <a:solidFill>
                  <a:schemeClr val="tx1"/>
                </a:solidFill>
                <a:ea typeface="+mn-ea"/>
                <a:cs typeface="+mn-cs"/>
              </a:rPr>
              <a:t>Classroom Activity (2) – Guest Speaker</a:t>
            </a:r>
          </a:p>
          <a:p>
            <a:r>
              <a:rPr lang="en-AU" sz="1200" b="0" kern="1200" dirty="0" smtClean="0">
                <a:solidFill>
                  <a:schemeClr val="tx1"/>
                </a:solidFill>
                <a:ea typeface="+mn-ea"/>
                <a:cs typeface="+mn-cs"/>
              </a:rPr>
              <a:t>Trainer arranges for representative from training resource provider organisation to attend and:</a:t>
            </a:r>
          </a:p>
          <a:p>
            <a:pPr marL="171450" indent="-171450">
              <a:buFont typeface="Arial" pitchFamily="34" charset="0"/>
              <a:buChar char="•"/>
            </a:pPr>
            <a:r>
              <a:rPr lang="en-AU" sz="1200" b="0" kern="1200" dirty="0" smtClean="0">
                <a:solidFill>
                  <a:schemeClr val="tx1"/>
                </a:solidFill>
                <a:ea typeface="+mn-ea"/>
                <a:cs typeface="+mn-cs"/>
              </a:rPr>
              <a:t>Show samples of products/resources available</a:t>
            </a:r>
          </a:p>
          <a:p>
            <a:pPr marL="171450" indent="-171450">
              <a:buFont typeface="Arial" pitchFamily="34" charset="0"/>
              <a:buChar char="•"/>
            </a:pPr>
            <a:r>
              <a:rPr lang="en-AU" sz="1200" b="0" kern="1200" dirty="0" smtClean="0">
                <a:solidFill>
                  <a:schemeClr val="tx1"/>
                </a:solidFill>
                <a:ea typeface="+mn-ea"/>
                <a:cs typeface="+mn-cs"/>
              </a:rPr>
              <a:t>Identify cost/s</a:t>
            </a:r>
          </a:p>
          <a:p>
            <a:pPr marL="171450" indent="-171450">
              <a:buFont typeface="Arial" pitchFamily="34" charset="0"/>
              <a:buChar char="•"/>
            </a:pPr>
            <a:r>
              <a:rPr lang="en-AU" sz="1200" b="0" kern="1200" dirty="0" smtClean="0">
                <a:solidFill>
                  <a:schemeClr val="tx1"/>
                </a:solidFill>
                <a:ea typeface="+mn-ea"/>
                <a:cs typeface="+mn-cs"/>
              </a:rPr>
              <a:t>Demonstrate use.</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643699176"/>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activities involved in recruitment of participants:</a:t>
            </a:r>
          </a:p>
          <a:p>
            <a:pPr marL="171450" indent="-171450">
              <a:buFont typeface="Arial" pitchFamily="34" charset="0"/>
              <a:buChar char="•"/>
            </a:pPr>
            <a:r>
              <a:rPr lang="en-AU" sz="1200" kern="1200" dirty="0" smtClean="0">
                <a:solidFill>
                  <a:schemeClr val="tx1"/>
                </a:solidFill>
                <a:ea typeface="+mn-ea"/>
                <a:cs typeface="+mn-cs"/>
              </a:rPr>
              <a:t>Reviewing existing qualification and competencies of staff – to determine:</a:t>
            </a:r>
          </a:p>
          <a:p>
            <a:pPr marL="628650" lvl="1" indent="-171450">
              <a:buFont typeface="Arial" pitchFamily="34" charset="0"/>
              <a:buChar char="•"/>
            </a:pPr>
            <a:r>
              <a:rPr lang="en-AU" sz="1200" kern="1200" dirty="0" smtClean="0">
                <a:solidFill>
                  <a:schemeClr val="tx1"/>
                </a:solidFill>
                <a:ea typeface="+mn-ea"/>
                <a:cs typeface="+mn-cs"/>
              </a:rPr>
              <a:t>Are they current?</a:t>
            </a:r>
          </a:p>
          <a:p>
            <a:pPr marL="628650" lvl="1" indent="-171450">
              <a:buFont typeface="Arial" pitchFamily="34" charset="0"/>
              <a:buChar char="•"/>
            </a:pPr>
            <a:r>
              <a:rPr lang="en-AU" sz="1200" kern="1200" dirty="0" smtClean="0">
                <a:solidFill>
                  <a:schemeClr val="tx1"/>
                </a:solidFill>
                <a:ea typeface="+mn-ea"/>
                <a:cs typeface="+mn-cs"/>
              </a:rPr>
              <a:t>Are they relevant?</a:t>
            </a:r>
          </a:p>
          <a:p>
            <a:pPr marL="628650" lvl="1" indent="-171450">
              <a:buFont typeface="Arial" pitchFamily="34" charset="0"/>
              <a:buChar char="•"/>
            </a:pPr>
            <a:r>
              <a:rPr lang="en-AU" sz="1200" kern="1200" dirty="0" smtClean="0">
                <a:solidFill>
                  <a:schemeClr val="tx1"/>
                </a:solidFill>
                <a:ea typeface="+mn-ea"/>
                <a:cs typeface="+mn-cs"/>
              </a:rPr>
              <a:t>Are they sufficient?</a:t>
            </a:r>
          </a:p>
          <a:p>
            <a:pPr marL="628650" lvl="1" indent="-171450">
              <a:buFont typeface="Arial" pitchFamily="34" charset="0"/>
              <a:buChar char="•"/>
            </a:pPr>
            <a:r>
              <a:rPr lang="en-AU" sz="1200" kern="1200" dirty="0" smtClean="0">
                <a:solidFill>
                  <a:schemeClr val="tx1"/>
                </a:solidFill>
                <a:ea typeface="+mn-ea"/>
                <a:cs typeface="+mn-cs"/>
              </a:rPr>
              <a:t>Are they compliant?</a:t>
            </a:r>
          </a:p>
          <a:p>
            <a:pPr marL="628650" lvl="1" indent="-171450">
              <a:buFont typeface="Arial" pitchFamily="34" charset="0"/>
              <a:buChar char="•"/>
            </a:pPr>
            <a:r>
              <a:rPr lang="en-AU" sz="1200" kern="1200" dirty="0" smtClean="0">
                <a:solidFill>
                  <a:schemeClr val="tx1"/>
                </a:solidFill>
                <a:ea typeface="+mn-ea"/>
                <a:cs typeface="+mn-cs"/>
              </a:rPr>
              <a:t>Is refresher and/or update training required?</a:t>
            </a:r>
          </a:p>
          <a:p>
            <a:pPr marL="171450" indent="-171450">
              <a:buFont typeface="Arial" pitchFamily="34" charset="0"/>
              <a:buChar char="•"/>
            </a:pPr>
            <a:r>
              <a:rPr lang="en-AU" sz="1200" kern="1200" dirty="0" smtClean="0">
                <a:solidFill>
                  <a:schemeClr val="tx1"/>
                </a:solidFill>
                <a:ea typeface="+mn-ea"/>
                <a:cs typeface="+mn-cs"/>
              </a:rPr>
              <a:t>Identifying potential learners – on the basis of:</a:t>
            </a:r>
          </a:p>
          <a:p>
            <a:pPr marL="628650" lvl="1" indent="-171450">
              <a:buFont typeface="Arial" pitchFamily="34" charset="0"/>
              <a:buChar char="•"/>
            </a:pPr>
            <a:r>
              <a:rPr lang="en-AU" sz="1200" kern="1200" dirty="0" smtClean="0">
                <a:solidFill>
                  <a:schemeClr val="tx1"/>
                </a:solidFill>
                <a:ea typeface="+mn-ea"/>
                <a:cs typeface="+mn-cs"/>
              </a:rPr>
              <a:t>Formal analysis</a:t>
            </a:r>
          </a:p>
          <a:p>
            <a:pPr marL="628650" lvl="1" indent="-171450">
              <a:buFont typeface="Arial" pitchFamily="34" charset="0"/>
              <a:buChar char="•"/>
            </a:pPr>
            <a:r>
              <a:rPr lang="en-AU" sz="1200" kern="1200" dirty="0" smtClean="0">
                <a:solidFill>
                  <a:schemeClr val="tx1"/>
                </a:solidFill>
                <a:ea typeface="+mn-ea"/>
                <a:cs typeface="+mn-cs"/>
              </a:rPr>
              <a:t>Requests from employees for training</a:t>
            </a:r>
          </a:p>
          <a:p>
            <a:pPr marL="628650" lvl="1" indent="-171450">
              <a:buFont typeface="Arial" pitchFamily="34" charset="0"/>
              <a:buChar char="•"/>
            </a:pPr>
            <a:r>
              <a:rPr lang="en-AU" sz="1200" kern="1200" dirty="0" smtClean="0">
                <a:solidFill>
                  <a:schemeClr val="tx1"/>
                </a:solidFill>
                <a:ea typeface="+mn-ea"/>
                <a:cs typeface="+mn-cs"/>
              </a:rPr>
              <a:t>Management directives</a:t>
            </a:r>
          </a:p>
          <a:p>
            <a:pPr marL="628650" lvl="1" indent="-171450">
              <a:buFont typeface="Arial" pitchFamily="34" charset="0"/>
              <a:buChar char="•"/>
            </a:pPr>
            <a:r>
              <a:rPr lang="en-AU" sz="1200" kern="1200" dirty="0" smtClean="0">
                <a:solidFill>
                  <a:schemeClr val="tx1"/>
                </a:solidFill>
                <a:ea typeface="+mn-ea"/>
                <a:cs typeface="+mn-cs"/>
              </a:rPr>
              <a:t>Mandatory requirements established by the organisation for jobs as stated in job descriptions/internal documents</a:t>
            </a:r>
          </a:p>
          <a:p>
            <a:pPr marL="171450" indent="-171450">
              <a:buFont typeface="Arial" pitchFamily="34" charset="0"/>
              <a:buChar char="•"/>
            </a:pPr>
            <a:r>
              <a:rPr lang="en-AU" sz="1200" kern="1200" dirty="0" smtClean="0">
                <a:solidFill>
                  <a:schemeClr val="tx1"/>
                </a:solidFill>
                <a:ea typeface="+mn-ea"/>
                <a:cs typeface="+mn-cs"/>
              </a:rPr>
              <a:t>inviting learners to training – using:</a:t>
            </a:r>
          </a:p>
          <a:p>
            <a:pPr marL="628650" lvl="1" indent="-171450">
              <a:buFont typeface="Arial" pitchFamily="34" charset="0"/>
              <a:buChar char="•"/>
            </a:pPr>
            <a:r>
              <a:rPr lang="en-AU" sz="1200" kern="1200" dirty="0" smtClean="0">
                <a:solidFill>
                  <a:schemeClr val="tx1"/>
                </a:solidFill>
                <a:ea typeface="+mn-ea"/>
                <a:cs typeface="+mn-cs"/>
              </a:rPr>
              <a:t>One-to-one discussions</a:t>
            </a:r>
          </a:p>
          <a:p>
            <a:pPr marL="628650" lvl="1" indent="-171450">
              <a:buFont typeface="Arial" pitchFamily="34" charset="0"/>
              <a:buChar char="•"/>
            </a:pPr>
            <a:r>
              <a:rPr lang="en-AU" sz="1200" kern="1200" dirty="0" smtClean="0">
                <a:solidFill>
                  <a:schemeClr val="tx1"/>
                </a:solidFill>
                <a:ea typeface="+mn-ea"/>
                <a:cs typeface="+mn-cs"/>
              </a:rPr>
              <a:t>Explanations of need</a:t>
            </a:r>
          </a:p>
          <a:p>
            <a:pPr marL="628650" lvl="1" indent="-171450">
              <a:buFont typeface="Arial" pitchFamily="34" charset="0"/>
              <a:buChar char="•"/>
            </a:pPr>
            <a:r>
              <a:rPr lang="en-AU" sz="1200" kern="1200" dirty="0" smtClean="0">
                <a:solidFill>
                  <a:schemeClr val="tx1"/>
                </a:solidFill>
                <a:ea typeface="+mn-ea"/>
                <a:cs typeface="+mn-cs"/>
              </a:rPr>
              <a:t>Illustration of benefits flowing from and support for training</a:t>
            </a:r>
          </a:p>
          <a:p>
            <a:pPr marL="628650" lvl="1" indent="-171450">
              <a:buFont typeface="Arial" pitchFamily="34" charset="0"/>
              <a:buChar char="•"/>
            </a:pPr>
            <a:r>
              <a:rPr lang="en-AU" sz="1200" kern="1200" dirty="0" smtClean="0">
                <a:solidFill>
                  <a:schemeClr val="tx1"/>
                </a:solidFill>
                <a:ea typeface="+mn-ea"/>
                <a:cs typeface="+mn-cs"/>
              </a:rPr>
              <a:t>Scheduling and organising their attendance with their supervisor/manager</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Identifying and inviting candidates for assessment – where there:</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Is need for the system to formally assess worker qualifications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Is facility to embrace RPL and/or RCC</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May be revenue to be earned from conducting vocational assessments.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911612238"/>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activities involved in recruitment of participants:</a:t>
            </a:r>
          </a:p>
          <a:p>
            <a:pPr marL="171450" indent="-171450">
              <a:buFont typeface="Arial" pitchFamily="34" charset="0"/>
              <a:buChar char="•"/>
            </a:pPr>
            <a:r>
              <a:rPr lang="en-AU" sz="1200" kern="1200" dirty="0" smtClean="0">
                <a:solidFill>
                  <a:schemeClr val="tx1"/>
                </a:solidFill>
                <a:ea typeface="+mn-ea"/>
                <a:cs typeface="+mn-cs"/>
              </a:rPr>
              <a:t>Holding information sessions – for:</a:t>
            </a:r>
          </a:p>
          <a:p>
            <a:pPr marL="628650" lvl="1" indent="-171450">
              <a:buFont typeface="Arial" pitchFamily="34" charset="0"/>
              <a:buChar char="•"/>
            </a:pPr>
            <a:r>
              <a:rPr lang="en-AU" sz="1200" kern="1200" dirty="0" smtClean="0">
                <a:solidFill>
                  <a:schemeClr val="tx1"/>
                </a:solidFill>
                <a:ea typeface="+mn-ea"/>
                <a:cs typeface="+mn-cs"/>
              </a:rPr>
              <a:t>All staff</a:t>
            </a:r>
          </a:p>
          <a:p>
            <a:pPr marL="628650" lvl="1" indent="-171450">
              <a:buFont typeface="Arial" pitchFamily="34" charset="0"/>
              <a:buChar char="•"/>
            </a:pPr>
            <a:r>
              <a:rPr lang="en-AU" sz="1200" kern="1200" dirty="0" smtClean="0">
                <a:solidFill>
                  <a:schemeClr val="tx1"/>
                </a:solidFill>
                <a:ea typeface="+mn-ea"/>
                <a:cs typeface="+mn-cs"/>
              </a:rPr>
              <a:t>Targetted groups and individuals</a:t>
            </a:r>
          </a:p>
          <a:p>
            <a:pPr marL="628650" lvl="1" indent="-171450">
              <a:buFont typeface="Arial" pitchFamily="34" charset="0"/>
              <a:buChar char="•"/>
            </a:pPr>
            <a:r>
              <a:rPr lang="en-AU" sz="1200" kern="1200" dirty="0" smtClean="0">
                <a:solidFill>
                  <a:schemeClr val="tx1"/>
                </a:solidFill>
                <a:ea typeface="+mn-ea"/>
                <a:cs typeface="+mn-cs"/>
              </a:rPr>
              <a:t>Key stakeholders</a:t>
            </a:r>
          </a:p>
          <a:p>
            <a:pPr marL="628650" lvl="1" indent="-171450">
              <a:buFont typeface="Arial" pitchFamily="34" charset="0"/>
              <a:buChar char="•"/>
            </a:pPr>
            <a:r>
              <a:rPr lang="en-AU" sz="1200" kern="1200" dirty="0" smtClean="0">
                <a:solidFill>
                  <a:schemeClr val="tx1"/>
                </a:solidFill>
                <a:ea typeface="+mn-ea"/>
                <a:cs typeface="+mn-cs"/>
              </a:rPr>
              <a:t>Media</a:t>
            </a:r>
          </a:p>
          <a:p>
            <a:pPr marL="628650" lvl="1" indent="-171450">
              <a:buFont typeface="Arial" pitchFamily="34" charset="0"/>
              <a:buChar char="•"/>
            </a:pPr>
            <a:r>
              <a:rPr lang="en-AU" sz="1200" kern="1200" dirty="0" smtClean="0">
                <a:solidFill>
                  <a:schemeClr val="tx1"/>
                </a:solidFill>
                <a:ea typeface="+mn-ea"/>
                <a:cs typeface="+mn-cs"/>
              </a:rPr>
              <a:t>Training and business partners</a:t>
            </a:r>
          </a:p>
          <a:p>
            <a:pPr marL="171450" indent="-171450">
              <a:buFont typeface="Arial" pitchFamily="34" charset="0"/>
              <a:buChar char="•"/>
            </a:pPr>
            <a:r>
              <a:rPr lang="en-AU" sz="1200" kern="1200" dirty="0" smtClean="0">
                <a:solidFill>
                  <a:schemeClr val="tx1"/>
                </a:solidFill>
                <a:ea typeface="+mn-ea"/>
                <a:cs typeface="+mn-cs"/>
              </a:rPr>
              <a:t>Mandating attendance/participation – with reference to:</a:t>
            </a:r>
          </a:p>
          <a:p>
            <a:pPr marL="628650" lvl="1" indent="-171450">
              <a:buFont typeface="Arial" pitchFamily="34" charset="0"/>
              <a:buChar char="•"/>
            </a:pPr>
            <a:r>
              <a:rPr lang="en-AU" sz="1200" kern="1200" dirty="0" smtClean="0">
                <a:solidFill>
                  <a:schemeClr val="tx1"/>
                </a:solidFill>
                <a:ea typeface="+mn-ea"/>
                <a:cs typeface="+mn-cs"/>
              </a:rPr>
              <a:t>Advising staff that participating in required training is a condition of employment</a:t>
            </a:r>
          </a:p>
          <a:p>
            <a:pPr marL="628650" lvl="1" indent="-171450">
              <a:buFont typeface="Arial" pitchFamily="34" charset="0"/>
              <a:buChar char="•"/>
            </a:pPr>
            <a:r>
              <a:rPr lang="en-AU" sz="1200" kern="1200" dirty="0" smtClean="0">
                <a:solidFill>
                  <a:schemeClr val="tx1"/>
                </a:solidFill>
                <a:ea typeface="+mn-ea"/>
                <a:cs typeface="+mn-cs"/>
              </a:rPr>
              <a:t>Explaining all required training is conducted during paid working and hours and is provided free-of-charge by the organisation</a:t>
            </a:r>
          </a:p>
          <a:p>
            <a:pPr marL="628650" lvl="1" indent="-171450">
              <a:buFont typeface="Arial" pitchFamily="34" charset="0"/>
              <a:buChar char="•"/>
            </a:pPr>
            <a:r>
              <a:rPr lang="en-AU" sz="1200" kern="1200" dirty="0" smtClean="0">
                <a:solidFill>
                  <a:schemeClr val="tx1"/>
                </a:solidFill>
                <a:ea typeface="+mn-ea"/>
                <a:cs typeface="+mn-cs"/>
              </a:rPr>
              <a:t>Identifying timing of training dates and projected duration of training</a:t>
            </a:r>
          </a:p>
          <a:p>
            <a:pPr marL="171450" indent="-171450">
              <a:buFont typeface="Arial" pitchFamily="34" charset="0"/>
              <a:buChar char="•"/>
            </a:pPr>
            <a:r>
              <a:rPr lang="en-AU" sz="1200" kern="1200" dirty="0" smtClean="0">
                <a:solidFill>
                  <a:schemeClr val="tx1"/>
                </a:solidFill>
                <a:ea typeface="+mn-ea"/>
                <a:cs typeface="+mn-cs"/>
              </a:rPr>
              <a:t>Notifying staff in advance – regarding:</a:t>
            </a:r>
          </a:p>
          <a:p>
            <a:pPr marL="628650" lvl="1" indent="-171450">
              <a:buFont typeface="Arial" pitchFamily="34" charset="0"/>
              <a:buChar char="•"/>
            </a:pPr>
            <a:r>
              <a:rPr lang="en-AU" sz="1200" kern="1200" dirty="0" smtClean="0">
                <a:solidFill>
                  <a:schemeClr val="tx1"/>
                </a:solidFill>
                <a:ea typeface="+mn-ea"/>
                <a:cs typeface="+mn-cs"/>
              </a:rPr>
              <a:t>Their obligation to attend training </a:t>
            </a:r>
          </a:p>
          <a:p>
            <a:pPr marL="628650" lvl="1" indent="-171450">
              <a:buFont typeface="Arial" pitchFamily="34" charset="0"/>
              <a:buChar char="•"/>
            </a:pPr>
            <a:r>
              <a:rPr lang="en-AU" sz="1200" kern="1200" dirty="0" smtClean="0">
                <a:solidFill>
                  <a:schemeClr val="tx1"/>
                </a:solidFill>
                <a:ea typeface="+mn-ea"/>
                <a:cs typeface="+mn-cs"/>
              </a:rPr>
              <a:t>Identification of training venues/locations </a:t>
            </a:r>
          </a:p>
          <a:p>
            <a:pPr marL="628650" lvl="1" indent="-171450">
              <a:buFont typeface="Arial" pitchFamily="34" charset="0"/>
              <a:buChar char="•"/>
            </a:pPr>
            <a:r>
              <a:rPr lang="en-AU" sz="1200" kern="1200" dirty="0" smtClean="0">
                <a:solidFill>
                  <a:schemeClr val="tx1"/>
                </a:solidFill>
                <a:ea typeface="+mn-ea"/>
                <a:cs typeface="+mn-cs"/>
              </a:rPr>
              <a:t>Specification of individual training and assessment times</a:t>
            </a:r>
          </a:p>
          <a:p>
            <a:pPr marL="628650" lvl="1" indent="-171450">
              <a:buFont typeface="Arial" pitchFamily="34" charset="0"/>
              <a:buChar char="•"/>
            </a:pPr>
            <a:r>
              <a:rPr lang="en-AU" sz="1200" kern="1200" dirty="0" smtClean="0">
                <a:solidFill>
                  <a:schemeClr val="tx1"/>
                </a:solidFill>
                <a:ea typeface="+mn-ea"/>
                <a:cs typeface="+mn-cs"/>
              </a:rPr>
              <a:t>Duration of training/assessment</a:t>
            </a:r>
          </a:p>
          <a:p>
            <a:pPr marL="628650" lvl="1" indent="-171450">
              <a:buFont typeface="Arial" pitchFamily="34" charset="0"/>
              <a:buChar char="•"/>
            </a:pPr>
            <a:r>
              <a:rPr lang="en-AU" sz="1200" kern="1200" dirty="0" smtClean="0">
                <a:solidFill>
                  <a:schemeClr val="tx1"/>
                </a:solidFill>
                <a:ea typeface="+mn-ea"/>
                <a:cs typeface="+mn-cs"/>
              </a:rPr>
              <a:t>Training topics/content.</a:t>
            </a:r>
          </a:p>
          <a:p>
            <a:pPr lvl="1">
              <a:buFont typeface="Arial" pitchFamily="34" charset="0"/>
              <a:buChar char="•"/>
            </a:pPr>
            <a:endParaRPr lang="en-AU" sz="1200" kern="1200" dirty="0" smtClean="0">
              <a:solidFill>
                <a:schemeClr val="tx1"/>
              </a:solidFil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Ensure all work projects have been completed and handed into trainer ensuring cover page details are attached for assessment tracking</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Review the summary page for Element 5 to confirm what has been completed for this element.</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391141597"/>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QA? What does it mean/entail in relation to workplace training?</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experience do you have with implementation of QA/quality schemes in the workplace?</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are ‘verification processes’? Why are they needed?</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do workplace training systems require QA?</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390146781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discusses</a:t>
            </a:r>
            <a:r>
              <a:rPr lang="en-AU" baseline="0" noProof="0" dirty="0" smtClean="0"/>
              <a:t> context for quality stating it is important to understand:</a:t>
            </a:r>
          </a:p>
          <a:p>
            <a:pPr marL="171450" indent="-171450">
              <a:buFont typeface="Arial" pitchFamily="34" charset="0"/>
              <a:buChar char="•"/>
            </a:pPr>
            <a:r>
              <a:rPr lang="en-AU" sz="1200" kern="1200" dirty="0" smtClean="0">
                <a:solidFill>
                  <a:schemeClr val="tx1"/>
                </a:solidFill>
                <a:ea typeface="+mn-ea"/>
                <a:cs typeface="+mn-cs"/>
              </a:rPr>
              <a:t>Quality Management of the workplace training system should extend across all aspects of activities and performance – not just selected aspects</a:t>
            </a:r>
          </a:p>
          <a:p>
            <a:pPr marL="171450" indent="-171450">
              <a:buFont typeface="Arial" pitchFamily="34" charset="0"/>
              <a:buChar char="•"/>
            </a:pPr>
            <a:r>
              <a:rPr lang="en-AU" sz="1200" kern="1200" dirty="0" smtClean="0">
                <a:solidFill>
                  <a:schemeClr val="tx1"/>
                </a:solidFill>
                <a:ea typeface="+mn-ea"/>
                <a:cs typeface="+mn-cs"/>
              </a:rPr>
              <a:t>The Quality Management System represents a planned, ongoing process aimed at ensuring quality and improving outcomes for learners, the organisation and stakeholders</a:t>
            </a:r>
          </a:p>
          <a:p>
            <a:pPr marL="171450" indent="-171450">
              <a:buFont typeface="Arial" pitchFamily="34" charset="0"/>
              <a:buChar char="•"/>
            </a:pPr>
            <a:r>
              <a:rPr lang="en-AU" sz="1200" kern="1200" dirty="0" smtClean="0">
                <a:solidFill>
                  <a:schemeClr val="tx1"/>
                </a:solidFill>
                <a:ea typeface="+mn-ea"/>
                <a:cs typeface="+mn-cs"/>
              </a:rPr>
              <a:t>The Quality Management System must be evidence-based.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238107156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discusses context for quality:</a:t>
            </a:r>
          </a:p>
          <a:p>
            <a:pPr marL="171450" indent="-171450">
              <a:buFont typeface="Arial" pitchFamily="34" charset="0"/>
              <a:buChar char="•"/>
            </a:pPr>
            <a:r>
              <a:rPr lang="en-AU" sz="1200" kern="1200" dirty="0" smtClean="0">
                <a:solidFill>
                  <a:schemeClr val="tx1"/>
                </a:solidFill>
                <a:ea typeface="+mn-ea"/>
                <a:cs typeface="+mn-cs"/>
              </a:rPr>
              <a:t>Quality Management will be fundamental to achieving the organisation’s mission </a:t>
            </a:r>
          </a:p>
          <a:p>
            <a:pPr marL="171450" indent="-171450">
              <a:buFont typeface="Arial" pitchFamily="34" charset="0"/>
              <a:buChar char="•"/>
            </a:pPr>
            <a:r>
              <a:rPr lang="en-AU" sz="1200" kern="1200" dirty="0" smtClean="0">
                <a:solidFill>
                  <a:schemeClr val="tx1"/>
                </a:solidFill>
                <a:ea typeface="+mn-ea"/>
                <a:cs typeface="+mn-cs"/>
              </a:rPr>
              <a:t>Quality Management provides a platform for future development, meeting future workforce needs and maintaining the reputation and operational capacity of the organisation</a:t>
            </a:r>
          </a:p>
          <a:p>
            <a:pPr marL="171450" indent="-171450">
              <a:buFont typeface="Arial" pitchFamily="34" charset="0"/>
              <a:buChar char="•"/>
            </a:pPr>
            <a:r>
              <a:rPr lang="en-AU" sz="1200" kern="1200" dirty="0" smtClean="0">
                <a:solidFill>
                  <a:schemeClr val="tx1"/>
                </a:solidFill>
                <a:ea typeface="+mn-ea"/>
                <a:cs typeface="+mn-cs"/>
              </a:rPr>
              <a:t>Quality management is generally a key aspect of initial and ongoing registration requirements for accreditation/recognition by the Training Authority.</a:t>
            </a:r>
          </a:p>
          <a:p>
            <a:pPr>
              <a:buFont typeface="Arial" pitchFamily="34" charset="0"/>
              <a:buNone/>
            </a:pPr>
            <a:r>
              <a:rPr lang="en-AU" noProof="0" dirty="0" smtClean="0"/>
              <a:t> </a:t>
            </a:r>
          </a:p>
          <a:p>
            <a:pPr>
              <a:buFont typeface="Arial" pitchFamily="34" charset="0"/>
              <a:buNone/>
            </a:pPr>
            <a:r>
              <a:rPr lang="en-AU" b="1" noProof="0" dirty="0" smtClean="0"/>
              <a:t>Classroom Activity – Guest Speaker</a:t>
            </a:r>
          </a:p>
          <a:p>
            <a:pPr>
              <a:buFont typeface="Arial" pitchFamily="34" charset="0"/>
              <a:buNone/>
            </a:pPr>
            <a:r>
              <a:rPr lang="en-AU" b="0" noProof="0" dirty="0" smtClean="0"/>
              <a:t>Trainer arranges for official from national Training Authority to attend and:</a:t>
            </a:r>
          </a:p>
          <a:p>
            <a:pPr marL="171450" indent="-171450">
              <a:buFont typeface="Arial" pitchFamily="34" charset="0"/>
              <a:buChar char="•"/>
            </a:pPr>
            <a:r>
              <a:rPr lang="en-AU" b="0" noProof="0" dirty="0" smtClean="0"/>
              <a:t>Describe quality requirements for initial and on-going registration as a provider</a:t>
            </a:r>
          </a:p>
          <a:p>
            <a:pPr marL="171450" indent="-171450">
              <a:buFont typeface="Arial" pitchFamily="34" charset="0"/>
              <a:buChar char="•"/>
            </a:pPr>
            <a:r>
              <a:rPr lang="en-AU" b="0" noProof="0" dirty="0" smtClean="0"/>
              <a:t>Illustrate how to meet/comply with requirements</a:t>
            </a:r>
          </a:p>
          <a:p>
            <a:pPr marL="171450" indent="-171450">
              <a:buFont typeface="Arial" pitchFamily="34" charset="0"/>
              <a:buChar char="•"/>
            </a:pPr>
            <a:r>
              <a:rPr lang="en-AU" b="0" noProof="0" dirty="0" smtClean="0"/>
              <a:t>Provide sample documentation</a:t>
            </a:r>
          </a:p>
          <a:p>
            <a:pPr marL="171450" indent="-171450">
              <a:buFont typeface="Arial" pitchFamily="34" charset="0"/>
              <a:buChar char="•"/>
            </a:pPr>
            <a:r>
              <a:rPr lang="en-AU" b="0" noProof="0" dirty="0" smtClean="0"/>
              <a:t>Give practical advice on compliance.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1370222825"/>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notes </a:t>
            </a:r>
            <a:r>
              <a:rPr lang="en-AU" sz="1200" kern="1200" dirty="0" smtClean="0">
                <a:solidFill>
                  <a:schemeClr val="tx1"/>
                </a:solidFill>
                <a:ea typeface="+mn-ea"/>
                <a:cs typeface="+mn-cs"/>
              </a:rPr>
              <a:t>Quality Assurance is one part of an effective Quality Management System built around three principles:</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200" kern="1200" dirty="0" smtClean="0">
                <a:solidFill>
                  <a:schemeClr val="tx1"/>
                </a:solidFill>
                <a:ea typeface="+mn-ea"/>
                <a:cs typeface="+mn-cs"/>
              </a:rPr>
              <a:t>Quality Assurance – through  its Quality Assurance</a:t>
            </a:r>
            <a:r>
              <a:rPr lang="en-AU" sz="1200" b="1" kern="1200" dirty="0" smtClean="0">
                <a:solidFill>
                  <a:schemeClr val="tx1"/>
                </a:solidFill>
                <a:ea typeface="+mn-ea"/>
                <a:cs typeface="+mn-cs"/>
              </a:rPr>
              <a:t> </a:t>
            </a:r>
            <a:r>
              <a:rPr lang="en-AU" sz="1200" kern="1200" dirty="0" smtClean="0">
                <a:solidFill>
                  <a:schemeClr val="tx1"/>
                </a:solidFill>
                <a:ea typeface="+mn-ea"/>
                <a:cs typeface="+mn-cs"/>
              </a:rPr>
              <a:t>activities the organisation ensures that all training and assessment quality requirements are met</a:t>
            </a:r>
          </a:p>
          <a:p>
            <a:pPr marL="171450" marR="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AU" sz="1200" kern="1200" dirty="0" smtClean="0">
                <a:solidFill>
                  <a:schemeClr val="tx1"/>
                </a:solidFill>
                <a:ea typeface="+mn-ea"/>
                <a:cs typeface="+mn-cs"/>
              </a:rPr>
              <a:t>Continuous Quality Improvement – through  its Continuous Quality Improvement</a:t>
            </a:r>
            <a:r>
              <a:rPr lang="en-AU" sz="1200" b="1" kern="1200" dirty="0" smtClean="0">
                <a:solidFill>
                  <a:schemeClr val="tx1"/>
                </a:solidFill>
                <a:ea typeface="+mn-ea"/>
                <a:cs typeface="+mn-cs"/>
              </a:rPr>
              <a:t> </a:t>
            </a:r>
            <a:r>
              <a:rPr lang="en-AU" sz="1200" kern="1200" dirty="0" smtClean="0">
                <a:solidFill>
                  <a:schemeClr val="tx1"/>
                </a:solidFill>
                <a:ea typeface="+mn-ea"/>
                <a:cs typeface="+mn-cs"/>
              </a:rPr>
              <a:t>processes the organisation is systematically reviewing its training and assessment activities and identifying improvements</a:t>
            </a:r>
          </a:p>
          <a:p>
            <a:pPr marL="171450" indent="-171450">
              <a:buFont typeface="Arial" panose="020B0604020202020204" pitchFamily="34" charset="0"/>
              <a:buChar char="•"/>
            </a:pPr>
            <a:r>
              <a:rPr lang="en-AU" sz="1200" kern="1200" dirty="0" smtClean="0">
                <a:solidFill>
                  <a:schemeClr val="tx1"/>
                </a:solidFill>
                <a:ea typeface="+mn-ea"/>
                <a:cs typeface="+mn-cs"/>
              </a:rPr>
              <a:t>Quality Leadership – through Quality leadership</a:t>
            </a:r>
            <a:r>
              <a:rPr lang="en-AU" sz="1200" b="1" kern="1200" dirty="0" smtClean="0">
                <a:solidFill>
                  <a:schemeClr val="tx1"/>
                </a:solidFill>
                <a:ea typeface="+mn-ea"/>
                <a:cs typeface="+mn-cs"/>
              </a:rPr>
              <a:t> </a:t>
            </a:r>
            <a:r>
              <a:rPr lang="en-AU" sz="1200" kern="1200" dirty="0" smtClean="0">
                <a:solidFill>
                  <a:schemeClr val="tx1"/>
                </a:solidFill>
                <a:ea typeface="+mn-ea"/>
                <a:cs typeface="+mn-cs"/>
              </a:rPr>
              <a:t>the organisation is moving beyond compliance and continuous quality improvement to a space where it is aiming to set benchmarks and levels of excellence to which others will aspire.</a:t>
            </a:r>
          </a:p>
          <a:p>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3597568966"/>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identifies activities in establishing </a:t>
            </a:r>
            <a:r>
              <a:rPr lang="en-AU" sz="1200" kern="1200" dirty="0" smtClean="0">
                <a:solidFill>
                  <a:schemeClr val="tx1"/>
                </a:solidFill>
                <a:ea typeface="+mn-ea"/>
                <a:cs typeface="+mn-cs"/>
              </a:rPr>
              <a:t>a quality assurance group may include:</a:t>
            </a:r>
          </a:p>
          <a:p>
            <a:pPr marL="171450" indent="-171450">
              <a:buFont typeface="Arial" pitchFamily="34" charset="0"/>
              <a:buChar char="•"/>
            </a:pPr>
            <a:r>
              <a:rPr lang="en-AU" sz="1200" kern="1200" dirty="0" smtClean="0">
                <a:solidFill>
                  <a:schemeClr val="tx1"/>
                </a:solidFill>
                <a:ea typeface="+mn-ea"/>
                <a:cs typeface="+mn-cs"/>
              </a:rPr>
              <a:t>Identifying participants – who can make worthwhile contributions to the group (see below)</a:t>
            </a:r>
          </a:p>
          <a:p>
            <a:pPr marL="171450" indent="-171450">
              <a:buFont typeface="Arial" pitchFamily="34" charset="0"/>
              <a:buChar char="•"/>
            </a:pPr>
            <a:r>
              <a:rPr lang="en-AU" sz="1200" kern="1200" dirty="0" smtClean="0">
                <a:solidFill>
                  <a:schemeClr val="tx1"/>
                </a:solidFill>
                <a:ea typeface="+mn-ea"/>
                <a:cs typeface="+mn-cs"/>
              </a:rPr>
              <a:t>Explaining the role of quality management within the training system – so there is:</a:t>
            </a:r>
          </a:p>
          <a:p>
            <a:pPr marL="628650" lvl="1" indent="-171450">
              <a:buFont typeface="Arial" pitchFamily="34" charset="0"/>
              <a:buChar char="•"/>
            </a:pPr>
            <a:r>
              <a:rPr lang="en-AU" sz="1200" kern="1200" dirty="0" smtClean="0">
                <a:solidFill>
                  <a:schemeClr val="tx1"/>
                </a:solidFill>
                <a:ea typeface="+mn-ea"/>
                <a:cs typeface="+mn-cs"/>
              </a:rPr>
              <a:t>Genuine understanding of the meaning of quality management as it related to training and assessment as opposed to the meaning of quality with respect to other operations of the business</a:t>
            </a:r>
          </a:p>
          <a:p>
            <a:pPr marL="628650" lvl="1" indent="-171450">
              <a:buFont typeface="Arial" pitchFamily="34" charset="0"/>
              <a:buChar char="•"/>
            </a:pPr>
            <a:r>
              <a:rPr lang="en-AU" sz="1200" kern="1200" dirty="0" smtClean="0">
                <a:solidFill>
                  <a:schemeClr val="tx1"/>
                </a:solidFill>
                <a:ea typeface="+mn-ea"/>
                <a:cs typeface="+mn-cs"/>
              </a:rPr>
              <a:t>Clear and definite appreciation of the responsibilities which attach to being a member of the group</a:t>
            </a:r>
          </a:p>
          <a:p>
            <a:pPr marL="171450" indent="-171450">
              <a:buFont typeface="Arial" pitchFamily="34" charset="0"/>
              <a:buChar char="•"/>
            </a:pPr>
            <a:r>
              <a:rPr lang="en-AU" sz="1200" kern="1200" dirty="0" smtClean="0">
                <a:solidFill>
                  <a:schemeClr val="tx1"/>
                </a:solidFill>
                <a:ea typeface="+mn-ea"/>
                <a:cs typeface="+mn-cs"/>
              </a:rPr>
              <a:t>Allocating responsibilities to group members – in order to:</a:t>
            </a:r>
          </a:p>
          <a:p>
            <a:pPr marL="628650" lvl="1" indent="-171450">
              <a:buFont typeface="Arial" pitchFamily="34" charset="0"/>
              <a:buChar char="•"/>
            </a:pPr>
            <a:r>
              <a:rPr lang="en-AU" sz="1200" kern="1200" dirty="0" smtClean="0">
                <a:solidFill>
                  <a:schemeClr val="tx1"/>
                </a:solidFill>
                <a:ea typeface="+mn-ea"/>
                <a:cs typeface="+mn-cs"/>
              </a:rPr>
              <a:t>Share the workload</a:t>
            </a:r>
          </a:p>
          <a:p>
            <a:pPr marL="628650" lvl="1" indent="-171450">
              <a:buFont typeface="Arial" pitchFamily="34" charset="0"/>
              <a:buChar char="•"/>
            </a:pPr>
            <a:r>
              <a:rPr lang="en-AU" sz="1200" kern="1200" dirty="0" smtClean="0">
                <a:solidFill>
                  <a:schemeClr val="tx1"/>
                </a:solidFill>
                <a:ea typeface="+mn-ea"/>
                <a:cs typeface="+mn-cs"/>
              </a:rPr>
              <a:t>Ensure all required responsibilities are discharged as required.</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3566903563"/>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indicates membership of the group may be:</a:t>
            </a:r>
          </a:p>
          <a:p>
            <a:pPr marL="171450" indent="-171450">
              <a:buFont typeface="Arial" pitchFamily="34" charset="0"/>
              <a:buChar char="•"/>
            </a:pPr>
            <a:r>
              <a:rPr lang="en-AU" sz="1200" kern="1200" dirty="0" smtClean="0">
                <a:solidFill>
                  <a:schemeClr val="tx1"/>
                </a:solidFill>
                <a:ea typeface="+mn-ea"/>
                <a:cs typeface="+mn-cs"/>
              </a:rPr>
              <a:t>Specified</a:t>
            </a:r>
            <a:r>
              <a:rPr lang="en-AU" sz="1200" kern="1200" baseline="0" dirty="0" smtClean="0">
                <a:solidFill>
                  <a:schemeClr val="tx1"/>
                </a:solidFill>
                <a:ea typeface="+mn-ea"/>
                <a:cs typeface="+mn-cs"/>
              </a:rPr>
              <a:t> </a:t>
            </a:r>
            <a:r>
              <a:rPr lang="en-AU" sz="1200" kern="1200" dirty="0" smtClean="0">
                <a:solidFill>
                  <a:schemeClr val="tx1"/>
                </a:solidFill>
                <a:ea typeface="+mn-ea"/>
                <a:cs typeface="+mn-cs"/>
              </a:rPr>
              <a:t>by the Training Authority – who may (for example):</a:t>
            </a:r>
          </a:p>
          <a:p>
            <a:pPr marL="628650" lvl="1" indent="-171450">
              <a:buFont typeface="Arial" pitchFamily="34" charset="0"/>
              <a:buChar char="•"/>
            </a:pPr>
            <a:r>
              <a:rPr lang="en-AU" sz="1200" kern="1200" dirty="0" smtClean="0">
                <a:solidFill>
                  <a:schemeClr val="tx1"/>
                </a:solidFill>
                <a:ea typeface="+mn-ea"/>
                <a:cs typeface="+mn-cs"/>
              </a:rPr>
              <a:t>Nominate positions in the organisation that must be part of the group – such as the CEO</a:t>
            </a:r>
          </a:p>
          <a:p>
            <a:pPr marL="628650" lvl="1" indent="-171450">
              <a:buFont typeface="Arial" pitchFamily="34" charset="0"/>
              <a:buChar char="•"/>
            </a:pPr>
            <a:r>
              <a:rPr lang="en-AU" sz="1200" kern="1200" dirty="0" smtClean="0">
                <a:solidFill>
                  <a:schemeClr val="tx1"/>
                </a:solidFill>
                <a:ea typeface="+mn-ea"/>
                <a:cs typeface="+mn-cs"/>
              </a:rPr>
              <a:t>Stipulate positions which must be filled</a:t>
            </a:r>
          </a:p>
          <a:p>
            <a:pPr marL="628650" lvl="1" indent="-171450">
              <a:buFont typeface="Arial" pitchFamily="34" charset="0"/>
              <a:buChar char="•"/>
            </a:pPr>
            <a:r>
              <a:rPr lang="en-AU" sz="1200" kern="1200" dirty="0" smtClean="0">
                <a:solidFill>
                  <a:schemeClr val="tx1"/>
                </a:solidFill>
                <a:ea typeface="+mn-ea"/>
                <a:cs typeface="+mn-cs"/>
              </a:rPr>
              <a:t>Indicate required expertise, experience and/or qualifications of members</a:t>
            </a:r>
          </a:p>
          <a:p>
            <a:pPr marL="628650" lvl="1" indent="-171450">
              <a:buFont typeface="Arial" pitchFamily="34" charset="0"/>
              <a:buChar char="•"/>
            </a:pPr>
            <a:r>
              <a:rPr lang="en-AU" sz="1200" kern="1200" dirty="0" smtClean="0">
                <a:solidFill>
                  <a:schemeClr val="tx1"/>
                </a:solidFill>
                <a:ea typeface="+mn-ea"/>
                <a:cs typeface="+mn-cs"/>
              </a:rPr>
              <a:t>Identify the number of people in the group</a:t>
            </a:r>
          </a:p>
          <a:p>
            <a:pPr marL="171450" indent="-171450">
              <a:buFont typeface="Arial" pitchFamily="34" charset="0"/>
              <a:buChar char="•"/>
            </a:pPr>
            <a:r>
              <a:rPr lang="en-AU" sz="1200" kern="1200" dirty="0" smtClean="0">
                <a:solidFill>
                  <a:schemeClr val="tx1"/>
                </a:solidFill>
                <a:ea typeface="+mn-ea"/>
                <a:cs typeface="+mn-cs"/>
              </a:rPr>
              <a:t>Determined by the organisation where the workplace training system is not a recognised training provider – in this case composition of the group may include:</a:t>
            </a:r>
          </a:p>
          <a:p>
            <a:pPr marL="628650" lvl="1" indent="-171450">
              <a:buFont typeface="Arial" pitchFamily="34" charset="0"/>
              <a:buChar char="•"/>
            </a:pPr>
            <a:r>
              <a:rPr lang="en-AU" sz="1200" kern="1200" dirty="0" smtClean="0">
                <a:solidFill>
                  <a:schemeClr val="tx1"/>
                </a:solidFill>
                <a:ea typeface="+mn-ea"/>
                <a:cs typeface="+mn-cs"/>
              </a:rPr>
              <a:t>A person who is a full-time Quality Manager – or who has the responsibilities of Quality Manager allocated to them as part of their job description and workplace responsibilities</a:t>
            </a:r>
          </a:p>
          <a:p>
            <a:pPr marL="628650" lvl="1" indent="-171450">
              <a:buFont typeface="Arial" pitchFamily="34" charset="0"/>
              <a:buChar char="•"/>
            </a:pPr>
            <a:r>
              <a:rPr lang="en-AU" sz="1200" kern="1200" dirty="0" smtClean="0">
                <a:solidFill>
                  <a:schemeClr val="tx1"/>
                </a:solidFill>
                <a:ea typeface="+mn-ea"/>
                <a:cs typeface="+mn-cs"/>
              </a:rPr>
              <a:t>CEO – or representative</a:t>
            </a:r>
          </a:p>
          <a:p>
            <a:pPr marL="628650" lvl="1" indent="-171450">
              <a:buFont typeface="Arial" pitchFamily="34" charset="0"/>
              <a:buChar char="•"/>
            </a:pPr>
            <a:r>
              <a:rPr lang="en-AU" sz="1200" kern="1200" dirty="0" smtClean="0">
                <a:solidFill>
                  <a:schemeClr val="tx1"/>
                </a:solidFill>
                <a:ea typeface="+mn-ea"/>
                <a:cs typeface="+mn-cs"/>
              </a:rPr>
              <a:t>Head/Manager of the Training department</a:t>
            </a:r>
          </a:p>
          <a:p>
            <a:pPr marL="628650" lvl="1" indent="-171450">
              <a:buFont typeface="Arial" pitchFamily="34" charset="0"/>
              <a:buChar char="•"/>
            </a:pPr>
            <a:r>
              <a:rPr lang="en-AU" sz="1200" kern="1200" dirty="0" smtClean="0">
                <a:solidFill>
                  <a:schemeClr val="tx1"/>
                </a:solidFill>
                <a:ea typeface="+mn-ea"/>
                <a:cs typeface="+mn-cs"/>
              </a:rPr>
              <a:t>Trainers and assessors</a:t>
            </a:r>
          </a:p>
          <a:p>
            <a:pPr marL="628650" lvl="1" indent="-171450">
              <a:buFont typeface="Arial" pitchFamily="34" charset="0"/>
              <a:buChar char="•"/>
            </a:pPr>
            <a:r>
              <a:rPr lang="en-AU" sz="1200" kern="1200" dirty="0" smtClean="0">
                <a:solidFill>
                  <a:schemeClr val="tx1"/>
                </a:solidFill>
                <a:ea typeface="+mn-ea"/>
                <a:cs typeface="+mn-cs"/>
              </a:rPr>
              <a:t>Members of the Board of Management</a:t>
            </a:r>
          </a:p>
          <a:p>
            <a:pPr marL="628650" lvl="1" indent="-171450">
              <a:buFont typeface="Arial" pitchFamily="34" charset="0"/>
              <a:buChar char="•"/>
            </a:pPr>
            <a:r>
              <a:rPr lang="en-AU" sz="1200" kern="1200" dirty="0" smtClean="0">
                <a:solidFill>
                  <a:schemeClr val="tx1"/>
                </a:solidFill>
                <a:ea typeface="+mn-ea"/>
                <a:cs typeface="+mn-cs"/>
              </a:rPr>
              <a:t>Representatives from external providers who have contributed to establishing the QMS for the workplace training system.</a:t>
            </a:r>
          </a:p>
          <a:p>
            <a:pPr>
              <a:buFont typeface="Arial" pitchFamily="34" charset="0"/>
              <a:buNone/>
            </a:pPr>
            <a:endParaRPr lang="en-AU" noProof="0" dirty="0" smtClean="0"/>
          </a:p>
          <a:p>
            <a:pPr>
              <a:buFont typeface="Arial" pitchFamily="34" charset="0"/>
              <a:buNone/>
            </a:pPr>
            <a:r>
              <a:rPr lang="en-AU" b="1" noProof="0" dirty="0" smtClean="0"/>
              <a:t>Classroom</a:t>
            </a:r>
            <a:r>
              <a:rPr lang="en-AU" b="1" baseline="0" noProof="0" dirty="0" smtClean="0"/>
              <a:t> Activity – Guest Speaker</a:t>
            </a:r>
          </a:p>
          <a:p>
            <a:pPr>
              <a:buFont typeface="Arial" pitchFamily="34" charset="0"/>
              <a:buNone/>
            </a:pPr>
            <a:r>
              <a:rPr lang="en-AU" b="0" baseline="0" noProof="0" dirty="0" smtClean="0"/>
              <a:t>Trainer arranges for a QA group member from a workplace training system to attend and:</a:t>
            </a:r>
          </a:p>
          <a:p>
            <a:pPr marL="171450" indent="-171450">
              <a:buFont typeface="Arial" pitchFamily="34" charset="0"/>
              <a:buChar char="•"/>
            </a:pPr>
            <a:r>
              <a:rPr lang="en-AU" b="0" noProof="0" dirty="0" smtClean="0"/>
              <a:t>Describe their role and responsibilities</a:t>
            </a:r>
          </a:p>
          <a:p>
            <a:pPr marL="171450" indent="-171450">
              <a:buFont typeface="Arial" pitchFamily="34" charset="0"/>
              <a:buChar char="•"/>
            </a:pPr>
            <a:r>
              <a:rPr lang="en-AU" b="0" noProof="0" dirty="0" smtClean="0"/>
              <a:t>Advise of the roles and responsibilities of others in the group</a:t>
            </a:r>
          </a:p>
          <a:p>
            <a:pPr marL="171450" indent="-171450">
              <a:buFont typeface="Arial" pitchFamily="34" charset="0"/>
              <a:buChar char="•"/>
            </a:pPr>
            <a:r>
              <a:rPr lang="en-AU" b="0" noProof="0" dirty="0" smtClean="0"/>
              <a:t>Provide sample documentation relating to quality.</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2450447797"/>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describes role of the group:</a:t>
            </a:r>
          </a:p>
          <a:p>
            <a:pPr marL="171450" indent="-171450">
              <a:buFont typeface="Arial" pitchFamily="34" charset="0"/>
              <a:buChar char="•"/>
            </a:pPr>
            <a:r>
              <a:rPr lang="en-AU" sz="1200" kern="1200" dirty="0" smtClean="0">
                <a:solidFill>
                  <a:schemeClr val="tx1"/>
                </a:solidFill>
                <a:ea typeface="+mn-ea"/>
                <a:cs typeface="+mn-cs"/>
              </a:rPr>
              <a:t>Providing an advisory and leadership role with respect to quality management of training and assessment across the organisation</a:t>
            </a:r>
          </a:p>
          <a:p>
            <a:pPr marL="171450" indent="-171450">
              <a:buFont typeface="Arial" pitchFamily="34" charset="0"/>
              <a:buChar char="•"/>
            </a:pPr>
            <a:r>
              <a:rPr lang="en-AU" sz="1200" kern="1200" dirty="0" smtClean="0">
                <a:solidFill>
                  <a:schemeClr val="tx1"/>
                </a:solidFill>
                <a:ea typeface="+mn-ea"/>
                <a:cs typeface="+mn-cs"/>
              </a:rPr>
              <a:t>Preparing training and assessment plans and goals in relation to the workplace training system quality.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1343175013"/>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continues to describe role of the group:</a:t>
            </a:r>
          </a:p>
          <a:p>
            <a:pPr marL="171450" indent="-171450">
              <a:buFont typeface="Arial" pitchFamily="34" charset="0"/>
              <a:buChar char="•"/>
            </a:pPr>
            <a:r>
              <a:rPr lang="en-AU" sz="1200" kern="1200" dirty="0" smtClean="0">
                <a:solidFill>
                  <a:schemeClr val="tx1"/>
                </a:solidFill>
                <a:ea typeface="+mn-ea"/>
                <a:cs typeface="+mn-cs"/>
              </a:rPr>
              <a:t>Aligning the quality management of the workplace training system with all relevant strategic themes and goals of the wider organisation so there is harmony between all elements of the business</a:t>
            </a:r>
          </a:p>
          <a:p>
            <a:pPr marL="171450" indent="-171450">
              <a:buFont typeface="Arial" pitchFamily="34" charset="0"/>
              <a:buChar char="•"/>
            </a:pPr>
            <a:r>
              <a:rPr lang="en-AU" sz="1200" kern="1200" dirty="0" smtClean="0">
                <a:solidFill>
                  <a:schemeClr val="tx1"/>
                </a:solidFill>
                <a:ea typeface="+mn-ea"/>
                <a:cs typeface="+mn-cs"/>
              </a:rPr>
              <a:t>Overseeing and monitoring training and assessment quality policies and procedures</a:t>
            </a:r>
          </a:p>
          <a:p>
            <a:pPr marL="171450" indent="-171450">
              <a:buFont typeface="Arial" pitchFamily="34" charset="0"/>
              <a:buChar char="•"/>
            </a:pPr>
            <a:r>
              <a:rPr lang="en-AU" sz="1200" kern="1200" dirty="0" smtClean="0">
                <a:solidFill>
                  <a:schemeClr val="tx1"/>
                </a:solidFill>
                <a:ea typeface="+mn-ea"/>
                <a:cs typeface="+mn-cs"/>
              </a:rPr>
              <a:t>Managing quality issues in relation to the workplace training and assessment system.</a:t>
            </a:r>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4148647279"/>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presents Key Activities for QA:</a:t>
            </a:r>
          </a:p>
          <a:p>
            <a:r>
              <a:rPr lang="en-AU" sz="1200" b="1" i="1" kern="1200" dirty="0" smtClean="0">
                <a:solidFill>
                  <a:schemeClr val="tx1"/>
                </a:solidFill>
                <a:ea typeface="+mn-ea"/>
                <a:cs typeface="+mn-cs"/>
              </a:rPr>
              <a:t>Development of communication plans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It is necessary to:</a:t>
            </a:r>
          </a:p>
          <a:p>
            <a:pPr marL="171450" indent="-171450">
              <a:buFont typeface="Arial" pitchFamily="34" charset="0"/>
              <a:buChar char="•"/>
            </a:pPr>
            <a:r>
              <a:rPr lang="en-AU" sz="1200" kern="1200" dirty="0" smtClean="0">
                <a:solidFill>
                  <a:schemeClr val="tx1"/>
                </a:solidFill>
                <a:ea typeface="+mn-ea"/>
                <a:cs typeface="+mn-cs"/>
              </a:rPr>
              <a:t>Prepare communication plans that outline who is responsible and accountable for managing key quality assurance activities </a:t>
            </a:r>
          </a:p>
          <a:p>
            <a:pPr marL="171450" indent="-171450">
              <a:buFont typeface="Arial" pitchFamily="34" charset="0"/>
              <a:buChar char="•"/>
            </a:pPr>
            <a:r>
              <a:rPr lang="en-AU" sz="1200" kern="1200" dirty="0" smtClean="0">
                <a:solidFill>
                  <a:schemeClr val="tx1"/>
                </a:solidFill>
                <a:ea typeface="+mn-ea"/>
                <a:cs typeface="+mn-cs"/>
              </a:rPr>
              <a:t>Identify what is required to demonstrate quality as per:</a:t>
            </a:r>
          </a:p>
          <a:p>
            <a:pPr marL="628650" lvl="1" indent="-171450">
              <a:buFont typeface="Arial" pitchFamily="34" charset="0"/>
              <a:buChar char="•"/>
            </a:pPr>
            <a:r>
              <a:rPr lang="en-AU" sz="1200" kern="1200" dirty="0" smtClean="0">
                <a:solidFill>
                  <a:schemeClr val="tx1"/>
                </a:solidFill>
                <a:ea typeface="+mn-ea"/>
                <a:cs typeface="+mn-cs"/>
              </a:rPr>
              <a:t>The standards of the Training Authority – where the workplace system is registered/accredited</a:t>
            </a:r>
          </a:p>
          <a:p>
            <a:pPr marL="628650" lvl="1" indent="-171450">
              <a:buFont typeface="Arial" pitchFamily="34" charset="0"/>
              <a:buChar char="•"/>
            </a:pPr>
            <a:r>
              <a:rPr lang="en-AU" sz="1200" kern="1200" dirty="0" smtClean="0">
                <a:solidFill>
                  <a:schemeClr val="tx1"/>
                </a:solidFill>
                <a:ea typeface="+mn-ea"/>
                <a:cs typeface="+mn-cs"/>
              </a:rPr>
              <a:t>Internal organisational standards/criteria – where the system is not registered and/or where the organisation elects to establish requirements in excess of the mandated minimum </a:t>
            </a:r>
          </a:p>
          <a:p>
            <a:pPr marL="171450" indent="-171450">
              <a:buFont typeface="Arial" pitchFamily="34" charset="0"/>
              <a:buChar char="•"/>
            </a:pPr>
            <a:r>
              <a:rPr lang="en-AU" sz="1200" kern="1200" dirty="0" smtClean="0">
                <a:solidFill>
                  <a:schemeClr val="tx1"/>
                </a:solidFill>
                <a:ea typeface="+mn-ea"/>
                <a:cs typeface="+mn-cs"/>
              </a:rPr>
              <a:t>Share the plans with relevant stakeholders/those with responsibilities under the plan.</a:t>
            </a:r>
          </a:p>
          <a:p>
            <a:r>
              <a:rPr lang="en-AU" sz="1200" b="1" i="1" kern="1200" dirty="0" smtClean="0">
                <a:solidFill>
                  <a:schemeClr val="tx1"/>
                </a:solidFill>
                <a:ea typeface="+mn-ea"/>
                <a:cs typeface="+mn-cs"/>
              </a:rPr>
              <a:t>Development of training and assessment quality management processes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It is necessary to:</a:t>
            </a:r>
          </a:p>
          <a:p>
            <a:pPr marL="171450" indent="-171450">
              <a:buFont typeface="Arial" pitchFamily="34" charset="0"/>
              <a:buChar char="•"/>
            </a:pPr>
            <a:r>
              <a:rPr lang="en-AU" sz="1200" kern="1200" dirty="0" smtClean="0">
                <a:solidFill>
                  <a:schemeClr val="tx1"/>
                </a:solidFill>
                <a:ea typeface="+mn-ea"/>
                <a:cs typeface="+mn-cs"/>
              </a:rPr>
              <a:t>Establish training and assessment quality management processes to satisfy internal and/or external requirements</a:t>
            </a:r>
          </a:p>
          <a:p>
            <a:pPr marL="171450" indent="-171450">
              <a:buFont typeface="Arial" pitchFamily="34" charset="0"/>
              <a:buChar char="•"/>
            </a:pPr>
            <a:r>
              <a:rPr lang="en-AU" sz="1200" kern="1200" dirty="0" smtClean="0">
                <a:solidFill>
                  <a:schemeClr val="tx1"/>
                </a:solidFill>
                <a:ea typeface="+mn-ea"/>
                <a:cs typeface="+mn-cs"/>
              </a:rPr>
              <a:t>Prepare processes for monitoring implementation of the QMS</a:t>
            </a:r>
          </a:p>
          <a:p>
            <a:pPr marL="171450" indent="-171450">
              <a:buFont typeface="Arial" pitchFamily="34" charset="0"/>
              <a:buChar char="•"/>
            </a:pPr>
            <a:r>
              <a:rPr lang="en-AU" sz="1200" kern="1200" dirty="0" smtClean="0">
                <a:solidFill>
                  <a:schemeClr val="tx1"/>
                </a:solidFill>
                <a:ea typeface="+mn-ea"/>
                <a:cs typeface="+mn-cs"/>
              </a:rPr>
              <a:t>Develop processes for evaluating the QMS</a:t>
            </a:r>
          </a:p>
          <a:p>
            <a:pPr marL="171450" indent="-171450">
              <a:buFont typeface="Arial" pitchFamily="34" charset="0"/>
              <a:buChar char="•"/>
            </a:pPr>
            <a:r>
              <a:rPr lang="en-AU" sz="1200" kern="1200" dirty="0" smtClean="0">
                <a:solidFill>
                  <a:schemeClr val="tx1"/>
                </a:solidFill>
                <a:ea typeface="+mn-ea"/>
                <a:cs typeface="+mn-cs"/>
              </a:rPr>
              <a:t>Share the processes with relevant stakeholders/those who are designated to implement the processes.</a:t>
            </a:r>
          </a:p>
          <a:p>
            <a:r>
              <a:rPr lang="en-AU" sz="1200" b="1" i="1" kern="1200" dirty="0" smtClean="0">
                <a:solidFill>
                  <a:schemeClr val="tx1"/>
                </a:solidFill>
                <a:ea typeface="+mn-ea"/>
                <a:cs typeface="+mn-cs"/>
              </a:rPr>
              <a:t>Development of audit protocols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It is necessary to:</a:t>
            </a:r>
          </a:p>
          <a:p>
            <a:pPr marL="171450" indent="-171450">
              <a:buFont typeface="Arial" pitchFamily="34" charset="0"/>
              <a:buChar char="•"/>
            </a:pPr>
            <a:r>
              <a:rPr lang="en-AU" sz="1200" kern="1200" dirty="0" smtClean="0">
                <a:solidFill>
                  <a:schemeClr val="tx1"/>
                </a:solidFill>
                <a:ea typeface="+mn-ea"/>
                <a:cs typeface="+mn-cs"/>
              </a:rPr>
              <a:t>Create a suitable and compliant audit schedule </a:t>
            </a:r>
          </a:p>
          <a:p>
            <a:pPr marL="171450" indent="-171450">
              <a:buFont typeface="Arial" pitchFamily="34" charset="0"/>
              <a:buChar char="•"/>
            </a:pPr>
            <a:r>
              <a:rPr lang="en-AU" sz="1200" kern="1200" dirty="0" smtClean="0">
                <a:solidFill>
                  <a:schemeClr val="tx1"/>
                </a:solidFill>
                <a:ea typeface="+mn-ea"/>
                <a:cs typeface="+mn-cs"/>
              </a:rPr>
              <a:t>Prepare tools that will enable the system to systematically review its training and assessment activities</a:t>
            </a:r>
          </a:p>
          <a:p>
            <a:pPr marL="171450" indent="-171450">
              <a:buFont typeface="Arial" pitchFamily="34" charset="0"/>
              <a:buChar char="•"/>
            </a:pPr>
            <a:r>
              <a:rPr lang="en-AU" sz="1200" kern="1200" dirty="0" smtClean="0">
                <a:solidFill>
                  <a:schemeClr val="tx1"/>
                </a:solidFill>
                <a:ea typeface="+mn-ea"/>
                <a:cs typeface="+mn-cs"/>
              </a:rPr>
              <a:t>Share the protocols with relevant stakeholders.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81506265"/>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Key Activities for CQI:</a:t>
            </a:r>
          </a:p>
          <a:p>
            <a:r>
              <a:rPr lang="en-AU" sz="1200" b="1" i="1" kern="1200" dirty="0" smtClean="0">
                <a:solidFill>
                  <a:schemeClr val="tx1"/>
                </a:solidFill>
                <a:ea typeface="+mn-ea"/>
                <a:cs typeface="+mn-cs"/>
              </a:rPr>
              <a:t>Develop CQI processes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It is necessary to:</a:t>
            </a:r>
          </a:p>
          <a:p>
            <a:pPr marL="171450" indent="-171450">
              <a:buFont typeface="Arial" pitchFamily="34" charset="0"/>
              <a:buChar char="•"/>
            </a:pPr>
            <a:r>
              <a:rPr lang="en-AU" sz="1200" kern="1200" dirty="0" smtClean="0">
                <a:solidFill>
                  <a:schemeClr val="tx1"/>
                </a:solidFill>
                <a:ea typeface="+mn-ea"/>
                <a:cs typeface="+mn-cs"/>
              </a:rPr>
              <a:t>Plan processes that provide continuous quality improvement – in relation to:</a:t>
            </a:r>
          </a:p>
          <a:p>
            <a:pPr marL="628650" lvl="1" indent="-171450">
              <a:buFont typeface="Arial" pitchFamily="34" charset="0"/>
              <a:buChar char="•"/>
            </a:pPr>
            <a:r>
              <a:rPr lang="en-AU" sz="1200" kern="1200" dirty="0" smtClean="0">
                <a:solidFill>
                  <a:schemeClr val="tx1"/>
                </a:solidFill>
                <a:ea typeface="+mn-ea"/>
                <a:cs typeface="+mn-cs"/>
              </a:rPr>
              <a:t>Operational training activities</a:t>
            </a:r>
          </a:p>
          <a:p>
            <a:pPr marL="628650" lvl="1" indent="-171450">
              <a:buFont typeface="Arial" pitchFamily="34" charset="0"/>
              <a:buChar char="•"/>
            </a:pPr>
            <a:r>
              <a:rPr lang="en-AU" sz="1200" kern="1200" dirty="0" smtClean="0">
                <a:solidFill>
                  <a:schemeClr val="tx1"/>
                </a:solidFill>
                <a:ea typeface="+mn-ea"/>
                <a:cs typeface="+mn-cs"/>
              </a:rPr>
              <a:t>Operational assessment activities</a:t>
            </a:r>
          </a:p>
          <a:p>
            <a:pPr marL="628650" lvl="1" indent="-171450">
              <a:buFont typeface="Arial" pitchFamily="34" charset="0"/>
              <a:buChar char="•"/>
            </a:pPr>
            <a:r>
              <a:rPr lang="en-AU" sz="1200" kern="1200" dirty="0" smtClean="0">
                <a:solidFill>
                  <a:schemeClr val="tx1"/>
                </a:solidFill>
                <a:ea typeface="+mn-ea"/>
                <a:cs typeface="+mn-cs"/>
              </a:rPr>
              <a:t>Services to support learners and candidates</a:t>
            </a:r>
          </a:p>
          <a:p>
            <a:pPr marL="628650" lvl="1" indent="-171450">
              <a:buFont typeface="Arial" pitchFamily="34" charset="0"/>
              <a:buChar char="•"/>
            </a:pPr>
            <a:r>
              <a:rPr lang="en-AU" sz="1200" kern="1200" dirty="0" smtClean="0">
                <a:solidFill>
                  <a:schemeClr val="tx1"/>
                </a:solidFill>
                <a:ea typeface="+mn-ea"/>
                <a:cs typeface="+mn-cs"/>
              </a:rPr>
              <a:t>Training-related research </a:t>
            </a:r>
          </a:p>
          <a:p>
            <a:pPr marL="628650" lvl="1" indent="-171450">
              <a:buFont typeface="Arial" pitchFamily="34" charset="0"/>
              <a:buChar char="•"/>
            </a:pPr>
            <a:r>
              <a:rPr lang="en-AU" sz="1200" kern="1200" dirty="0" smtClean="0">
                <a:solidFill>
                  <a:schemeClr val="tx1"/>
                </a:solidFill>
                <a:ea typeface="+mn-ea"/>
                <a:cs typeface="+mn-cs"/>
              </a:rPr>
              <a:t>Practical teaching and learning </a:t>
            </a:r>
          </a:p>
          <a:p>
            <a:pPr marL="628650" lvl="1" indent="-171450">
              <a:buFont typeface="Arial" pitchFamily="34" charset="0"/>
              <a:buChar char="•"/>
            </a:pPr>
            <a:r>
              <a:rPr lang="en-AU" sz="1200" kern="1200" dirty="0" smtClean="0">
                <a:solidFill>
                  <a:schemeClr val="tx1"/>
                </a:solidFill>
                <a:ea typeface="+mn-ea"/>
                <a:cs typeface="+mn-cs"/>
              </a:rPr>
              <a:t>Relations with stakeholders </a:t>
            </a:r>
          </a:p>
          <a:p>
            <a:pPr marL="628650" lvl="1" indent="-171450">
              <a:buFont typeface="Arial" pitchFamily="34" charset="0"/>
              <a:buChar char="•"/>
            </a:pPr>
            <a:r>
              <a:rPr lang="en-AU" sz="1200" kern="1200" dirty="0" smtClean="0">
                <a:solidFill>
                  <a:schemeClr val="tx1"/>
                </a:solidFill>
                <a:ea typeface="+mn-ea"/>
                <a:cs typeface="+mn-cs"/>
              </a:rPr>
              <a:t>External partnerships and industry engagement</a:t>
            </a:r>
          </a:p>
          <a:p>
            <a:pPr marL="171450" lvl="0" indent="-171450">
              <a:buFont typeface="Arial" pitchFamily="34" charset="0"/>
              <a:buChar char="•"/>
            </a:pPr>
            <a:r>
              <a:rPr lang="en-AU" sz="1200" kern="1200" dirty="0" smtClean="0">
                <a:solidFill>
                  <a:schemeClr val="tx1"/>
                </a:solidFill>
                <a:ea typeface="+mn-ea"/>
                <a:cs typeface="+mn-cs"/>
              </a:rPr>
              <a:t>Develop process to enable management of the above.</a:t>
            </a:r>
          </a:p>
          <a:p>
            <a:r>
              <a:rPr lang="en-AU" sz="1200" b="1" i="1" kern="1200" dirty="0" smtClean="0">
                <a:solidFill>
                  <a:schemeClr val="tx1"/>
                </a:solidFill>
                <a:ea typeface="+mn-ea"/>
                <a:cs typeface="+mn-cs"/>
              </a:rPr>
              <a:t>Develop risk management regime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It is necessary to prepare a risk management system which;</a:t>
            </a:r>
          </a:p>
          <a:p>
            <a:pPr marL="171450" indent="-171450">
              <a:buFont typeface="Arial" pitchFamily="34" charset="0"/>
              <a:buChar char="•"/>
            </a:pPr>
            <a:r>
              <a:rPr lang="en-AU" sz="1200" kern="1200" dirty="0" smtClean="0">
                <a:solidFill>
                  <a:schemeClr val="tx1"/>
                </a:solidFill>
                <a:ea typeface="+mn-ea"/>
                <a:cs typeface="+mn-cs"/>
              </a:rPr>
              <a:t>Identifies training and assessment and workplace training system risks</a:t>
            </a:r>
          </a:p>
          <a:p>
            <a:pPr marL="171450" lvl="0" indent="-171450">
              <a:buFont typeface="Arial" pitchFamily="34" charset="0"/>
              <a:buChar char="•"/>
            </a:pPr>
            <a:r>
              <a:rPr lang="en-AU" sz="1200" kern="1200" dirty="0" smtClean="0">
                <a:solidFill>
                  <a:schemeClr val="tx1"/>
                </a:solidFill>
                <a:ea typeface="+mn-ea"/>
                <a:cs typeface="+mn-cs"/>
              </a:rPr>
              <a:t>Evaluates risks, consequences and the possible impact of poor quality in respect:</a:t>
            </a:r>
          </a:p>
          <a:p>
            <a:pPr marL="628650" lvl="1" indent="-171450">
              <a:buFont typeface="Arial" pitchFamily="34" charset="0"/>
              <a:buChar char="•"/>
            </a:pPr>
            <a:r>
              <a:rPr lang="en-AU" sz="1200" kern="1200" dirty="0" smtClean="0">
                <a:solidFill>
                  <a:schemeClr val="tx1"/>
                </a:solidFill>
                <a:ea typeface="+mn-ea"/>
                <a:cs typeface="+mn-cs"/>
              </a:rPr>
              <a:t>The workplace system’s operational activities </a:t>
            </a:r>
          </a:p>
          <a:p>
            <a:pPr marL="628650" lvl="1" indent="-171450">
              <a:buFont typeface="Arial" pitchFamily="34" charset="0"/>
              <a:buChar char="•"/>
            </a:pPr>
            <a:r>
              <a:rPr lang="en-AU" sz="1200" kern="1200" dirty="0" smtClean="0">
                <a:solidFill>
                  <a:schemeClr val="tx1"/>
                </a:solidFill>
                <a:ea typeface="+mn-ea"/>
                <a:cs typeface="+mn-cs"/>
              </a:rPr>
              <a:t>Learner and candidate support</a:t>
            </a:r>
          </a:p>
          <a:p>
            <a:pPr marL="628650" lvl="1" indent="-171450">
              <a:buFont typeface="Arial" pitchFamily="34" charset="0"/>
              <a:buChar char="•"/>
            </a:pPr>
            <a:r>
              <a:rPr lang="en-AU" sz="1200" kern="1200" dirty="0" smtClean="0">
                <a:solidFill>
                  <a:schemeClr val="tx1"/>
                </a:solidFill>
                <a:ea typeface="+mn-ea"/>
                <a:cs typeface="+mn-cs"/>
              </a:rPr>
              <a:t>Resourcing</a:t>
            </a:r>
          </a:p>
          <a:p>
            <a:pPr marL="628650" lvl="1" indent="-171450">
              <a:buFont typeface="Arial" pitchFamily="34" charset="0"/>
              <a:buChar char="•"/>
            </a:pPr>
            <a:r>
              <a:rPr lang="en-AU" sz="1200" kern="1200" dirty="0" smtClean="0">
                <a:solidFill>
                  <a:schemeClr val="tx1"/>
                </a:solidFill>
                <a:ea typeface="+mn-ea"/>
                <a:cs typeface="+mn-cs"/>
              </a:rPr>
              <a:t>Participation in/engagement with the system</a:t>
            </a:r>
          </a:p>
          <a:p>
            <a:pPr marL="628650" lvl="1" indent="-171450">
              <a:buFont typeface="Arial" pitchFamily="34" charset="0"/>
              <a:buChar char="•"/>
            </a:pPr>
            <a:r>
              <a:rPr lang="en-AU" sz="1200" kern="1200" dirty="0" smtClean="0">
                <a:solidFill>
                  <a:schemeClr val="tx1"/>
                </a:solidFill>
                <a:ea typeface="+mn-ea"/>
                <a:cs typeface="+mn-cs"/>
              </a:rPr>
              <a:t>Training-related research </a:t>
            </a:r>
          </a:p>
          <a:p>
            <a:pPr marL="628650" lvl="1" indent="-171450">
              <a:buFont typeface="Arial" pitchFamily="34" charset="0"/>
              <a:buChar char="•"/>
            </a:pPr>
            <a:r>
              <a:rPr lang="en-AU" sz="1200" kern="1200" dirty="0" smtClean="0">
                <a:solidFill>
                  <a:schemeClr val="tx1"/>
                </a:solidFill>
                <a:ea typeface="+mn-ea"/>
                <a:cs typeface="+mn-cs"/>
              </a:rPr>
              <a:t>Practical teaching and learning </a:t>
            </a:r>
          </a:p>
          <a:p>
            <a:pPr marL="628650" lvl="1" indent="-171450">
              <a:buFont typeface="Arial" pitchFamily="34" charset="0"/>
              <a:buChar char="•"/>
            </a:pPr>
            <a:r>
              <a:rPr lang="en-AU" sz="1200" kern="1200" dirty="0" smtClean="0">
                <a:solidFill>
                  <a:schemeClr val="tx1"/>
                </a:solidFill>
                <a:ea typeface="+mn-ea"/>
                <a:cs typeface="+mn-cs"/>
              </a:rPr>
              <a:t>Relations with stakeholders </a:t>
            </a:r>
          </a:p>
          <a:p>
            <a:pPr marL="628650" lvl="1" indent="-171450">
              <a:buFont typeface="Arial" pitchFamily="34" charset="0"/>
              <a:buChar char="•"/>
            </a:pPr>
            <a:r>
              <a:rPr lang="en-AU" sz="1200" kern="1200" dirty="0" smtClean="0">
                <a:solidFill>
                  <a:schemeClr val="tx1"/>
                </a:solidFill>
                <a:ea typeface="+mn-ea"/>
                <a:cs typeface="+mn-cs"/>
              </a:rPr>
              <a:t>External partnerships and industry engagement.</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extLst>
      <p:ext uri="{BB962C8B-B14F-4D97-AF65-F5344CB8AC3E}">
        <p14:creationId xmlns:p14="http://schemas.microsoft.com/office/powerpoint/2010/main" val="3554899449"/>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discusses Key Activities for Quality Leadership explaining they </a:t>
            </a:r>
            <a:r>
              <a:rPr lang="en-AU" sz="1200" kern="1200" dirty="0" smtClean="0">
                <a:solidFill>
                  <a:schemeClr val="tx1"/>
                </a:solidFill>
                <a:ea typeface="+mn-ea"/>
                <a:cs typeface="+mn-cs"/>
              </a:rPr>
              <a:t>may address:</a:t>
            </a:r>
          </a:p>
          <a:p>
            <a:pPr marL="171450" indent="-171450">
              <a:buFont typeface="Arial" pitchFamily="34" charset="0"/>
              <a:buChar char="•"/>
            </a:pPr>
            <a:r>
              <a:rPr lang="en-AU" sz="1200" kern="1200" dirty="0" smtClean="0">
                <a:solidFill>
                  <a:schemeClr val="tx1"/>
                </a:solidFill>
                <a:ea typeface="+mn-ea"/>
                <a:cs typeface="+mn-cs"/>
              </a:rPr>
              <a:t>The development of new technologies, innovative pedagogies, and academically rigorous and vocationally-relevant curricula that reflect contemporary discipline-based debate and current and emerging industry needs</a:t>
            </a:r>
          </a:p>
          <a:p>
            <a:pPr marL="171450" indent="-171450">
              <a:buFont typeface="Arial" pitchFamily="34" charset="0"/>
              <a:buChar char="•"/>
            </a:pPr>
            <a:r>
              <a:rPr lang="en-AU" sz="1200" kern="1200" dirty="0" smtClean="0">
                <a:solidFill>
                  <a:schemeClr val="tx1"/>
                </a:solidFill>
                <a:ea typeface="+mn-ea"/>
                <a:cs typeface="+mn-cs"/>
              </a:rPr>
              <a:t>Industry and stakeholder engagement and partnerships that will facilitate innovation and contemporary thought and practice</a:t>
            </a:r>
          </a:p>
          <a:p>
            <a:pPr marL="171450" indent="-171450">
              <a:buFont typeface="Arial" pitchFamily="34" charset="0"/>
              <a:buChar char="•"/>
            </a:pPr>
            <a:r>
              <a:rPr lang="en-AU" sz="1200" kern="1200" dirty="0" smtClean="0">
                <a:solidFill>
                  <a:schemeClr val="tx1"/>
                </a:solidFill>
                <a:ea typeface="+mn-ea"/>
                <a:cs typeface="+mn-cs"/>
              </a:rPr>
              <a:t>Training and assessment staff committed to the continuous improvement of their educational programs and practice.</a:t>
            </a:r>
          </a:p>
          <a:p>
            <a:pPr>
              <a:buFont typeface="Arial" pitchFamily="34" charset="0"/>
              <a:buNone/>
            </a:pPr>
            <a:endParaRPr lang="en-AU" noProof="0" dirty="0" smtClean="0"/>
          </a:p>
          <a:p>
            <a:pPr>
              <a:buFont typeface="Arial" pitchFamily="34" charset="0"/>
              <a:buNone/>
            </a:pPr>
            <a:endParaRPr lang="en-AU"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extLst>
      <p:ext uri="{BB962C8B-B14F-4D97-AF65-F5344CB8AC3E}">
        <p14:creationId xmlns:p14="http://schemas.microsoft.com/office/powerpoint/2010/main" val="2323238613"/>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identifies</a:t>
            </a:r>
            <a:r>
              <a:rPr lang="en-AU" baseline="0" noProof="0" dirty="0" smtClean="0"/>
              <a:t> objectives of verification processes:</a:t>
            </a:r>
          </a:p>
          <a:p>
            <a:pPr marL="171450" indent="-171450">
              <a:buFont typeface="Arial" pitchFamily="34" charset="0"/>
              <a:buChar char="•"/>
            </a:pPr>
            <a:r>
              <a:rPr lang="en-AU" sz="1200" kern="1200" dirty="0" smtClean="0">
                <a:solidFill>
                  <a:schemeClr val="tx1"/>
                </a:solidFill>
                <a:ea typeface="+mn-ea"/>
                <a:cs typeface="+mn-cs"/>
              </a:rPr>
              <a:t>Capture/generate information on which to make quality-related decisions about the workplace training system</a:t>
            </a:r>
          </a:p>
          <a:p>
            <a:pPr marL="171450" indent="-171450">
              <a:buFont typeface="Arial" pitchFamily="34" charset="0"/>
              <a:buChar char="•"/>
            </a:pPr>
            <a:r>
              <a:rPr lang="en-AU" sz="1200" kern="1200" dirty="0" smtClean="0">
                <a:solidFill>
                  <a:schemeClr val="tx1"/>
                </a:solidFill>
                <a:ea typeface="+mn-ea"/>
                <a:cs typeface="+mn-cs"/>
              </a:rPr>
              <a:t>Decide/establish the accuracy of the information captured/generated</a:t>
            </a:r>
          </a:p>
          <a:p>
            <a:pPr marL="171450" indent="-171450">
              <a:buFont typeface="Arial" pitchFamily="34" charset="0"/>
              <a:buChar char="•"/>
            </a:pPr>
            <a:r>
              <a:rPr lang="en-AU" sz="1200" kern="1200" dirty="0" smtClean="0">
                <a:solidFill>
                  <a:schemeClr val="tx1"/>
                </a:solidFill>
                <a:ea typeface="+mn-ea"/>
                <a:cs typeface="+mn-cs"/>
              </a:rPr>
              <a:t>Determine the operational effectiveness of the workplace training system in relation to identified quality-specific topics.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extLst>
      <p:ext uri="{BB962C8B-B14F-4D97-AF65-F5344CB8AC3E}">
        <p14:creationId xmlns:p14="http://schemas.microsoft.com/office/powerpoint/2010/main" val="4123529369"/>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works through points in TM.</a:t>
            </a:r>
            <a:r>
              <a:rPr lang="en-AU" baseline="0" noProof="0" dirty="0" smtClean="0"/>
              <a:t> </a:t>
            </a:r>
          </a:p>
          <a:p>
            <a:endParaRPr lang="en-AU" baseline="0" noProof="0" dirty="0" smtClean="0"/>
          </a:p>
          <a:p>
            <a:r>
              <a:rPr lang="en-AU" noProof="0" dirty="0" smtClean="0"/>
              <a:t>Trainer states </a:t>
            </a:r>
            <a:r>
              <a:rPr lang="en-AU" sz="1200" kern="1200" dirty="0" smtClean="0">
                <a:solidFill>
                  <a:schemeClr val="tx1"/>
                </a:solidFill>
                <a:ea typeface="+mn-ea"/>
                <a:cs typeface="+mn-cs"/>
              </a:rPr>
              <a:t>QA procedures may address/include:</a:t>
            </a:r>
          </a:p>
          <a:p>
            <a:pPr marL="171450" indent="-171450">
              <a:buFont typeface="Arial" pitchFamily="34" charset="0"/>
              <a:buChar char="•"/>
            </a:pPr>
            <a:r>
              <a:rPr lang="en-AU" sz="1200" kern="1200" dirty="0" smtClean="0">
                <a:solidFill>
                  <a:schemeClr val="tx1"/>
                </a:solidFill>
                <a:ea typeface="+mn-ea"/>
                <a:cs typeface="+mn-cs"/>
              </a:rPr>
              <a:t>Conduct of regular activities – such as:</a:t>
            </a:r>
          </a:p>
          <a:p>
            <a:pPr marL="628650" lvl="1" indent="-171450">
              <a:buFont typeface="Arial" pitchFamily="34" charset="0"/>
              <a:buChar char="•"/>
            </a:pPr>
            <a:r>
              <a:rPr lang="en-AU" sz="1200" kern="1200" dirty="0" smtClean="0">
                <a:solidFill>
                  <a:schemeClr val="tx1"/>
                </a:solidFill>
                <a:ea typeface="+mn-ea"/>
                <a:cs typeface="+mn-cs"/>
              </a:rPr>
              <a:t>Evaluations </a:t>
            </a:r>
          </a:p>
          <a:p>
            <a:pPr marL="628650" lvl="1" indent="-171450">
              <a:buFont typeface="Arial" pitchFamily="34" charset="0"/>
              <a:buChar char="•"/>
            </a:pPr>
            <a:r>
              <a:rPr lang="en-AU" sz="1200" kern="1200" dirty="0" smtClean="0">
                <a:solidFill>
                  <a:schemeClr val="tx1"/>
                </a:solidFill>
                <a:ea typeface="+mn-ea"/>
                <a:cs typeface="+mn-cs"/>
              </a:rPr>
              <a:t>Reviews </a:t>
            </a:r>
          </a:p>
          <a:p>
            <a:pPr marL="628650" lvl="1" indent="-171450">
              <a:buFont typeface="Arial" pitchFamily="34" charset="0"/>
              <a:buChar char="•"/>
            </a:pPr>
            <a:r>
              <a:rPr lang="en-AU" sz="1200" kern="1200" dirty="0" smtClean="0">
                <a:solidFill>
                  <a:schemeClr val="tx1"/>
                </a:solidFill>
                <a:ea typeface="+mn-ea"/>
                <a:cs typeface="+mn-cs"/>
              </a:rPr>
              <a:t>Audits</a:t>
            </a:r>
          </a:p>
          <a:p>
            <a:pPr marL="171450" indent="-171450">
              <a:buFont typeface="Arial" pitchFamily="34" charset="0"/>
              <a:buChar char="•"/>
            </a:pPr>
            <a:r>
              <a:rPr lang="en-AU" sz="1200" kern="1200" dirty="0" smtClean="0">
                <a:solidFill>
                  <a:schemeClr val="tx1"/>
                </a:solidFill>
                <a:ea typeface="+mn-ea"/>
                <a:cs typeface="+mn-cs"/>
              </a:rPr>
              <a:t>Mandatory professional development requirements – for:</a:t>
            </a:r>
          </a:p>
          <a:p>
            <a:pPr marL="628650" lvl="1" indent="-171450">
              <a:buFont typeface="Arial" pitchFamily="34" charset="0"/>
              <a:buChar char="•"/>
            </a:pPr>
            <a:r>
              <a:rPr lang="en-AU" sz="1200" kern="1200" dirty="0" smtClean="0">
                <a:solidFill>
                  <a:schemeClr val="tx1"/>
                </a:solidFill>
                <a:ea typeface="+mn-ea"/>
                <a:cs typeface="+mn-cs"/>
              </a:rPr>
              <a:t>Trainers </a:t>
            </a:r>
          </a:p>
          <a:p>
            <a:pPr marL="628650" lvl="1" indent="-171450">
              <a:buFont typeface="Arial" pitchFamily="34" charset="0"/>
              <a:buChar char="•"/>
            </a:pPr>
            <a:r>
              <a:rPr lang="en-AU" sz="1200" kern="1200" dirty="0" smtClean="0">
                <a:solidFill>
                  <a:schemeClr val="tx1"/>
                </a:solidFill>
                <a:ea typeface="+mn-ea"/>
                <a:cs typeface="+mn-cs"/>
              </a:rPr>
              <a:t>Assessors</a:t>
            </a:r>
          </a:p>
          <a:p>
            <a:pPr marL="628650" lvl="1" indent="-171450">
              <a:buFont typeface="Arial" pitchFamily="34" charset="0"/>
              <a:buChar char="•"/>
            </a:pPr>
            <a:r>
              <a:rPr lang="en-AU" sz="1200" kern="1200" dirty="0" smtClean="0">
                <a:solidFill>
                  <a:schemeClr val="tx1"/>
                </a:solidFill>
                <a:ea typeface="+mn-ea"/>
                <a:cs typeface="+mn-cs"/>
              </a:rPr>
              <a:t>Resource writers.</a:t>
            </a:r>
          </a:p>
          <a:p>
            <a:pPr lvl="1">
              <a:buFont typeface="Arial" pitchFamily="34" charset="0"/>
              <a:buChar char="•"/>
            </a:pPr>
            <a:endParaRPr lang="en-AU" sz="1200" kern="1200" dirty="0" smtClean="0">
              <a:solidFill>
                <a:schemeClr val="tx1"/>
              </a:solidFill>
              <a:ea typeface="+mn-ea"/>
              <a:cs typeface="+mn-cs"/>
            </a:endParaRPr>
          </a:p>
          <a:p>
            <a:pPr>
              <a:buFont typeface="Arial" pitchFamily="34" charset="0"/>
              <a:buNone/>
            </a:pPr>
            <a:r>
              <a:rPr lang="en-AU" b="0" noProof="0" dirty="0" smtClean="0"/>
              <a:t>Trainer continues to discuss and explain points listed in TM asking trainees to highlight key points</a:t>
            </a:r>
            <a:r>
              <a:rPr lang="en-AU" b="1" noProof="0" dirty="0" smtClean="0"/>
              <a:t>.</a:t>
            </a:r>
          </a:p>
          <a:p>
            <a:pPr>
              <a:buFont typeface="Arial" pitchFamily="34" charset="0"/>
              <a:buNone/>
            </a:pPr>
            <a:endParaRPr lang="en-AU" b="1" noProof="0" dirty="0" smtClean="0"/>
          </a:p>
          <a:p>
            <a:pPr>
              <a:buFont typeface="Arial" pitchFamily="34" charset="0"/>
              <a:buNone/>
            </a:pPr>
            <a:r>
              <a:rPr lang="en-AU" b="1" noProof="0" dirty="0" smtClean="0"/>
              <a:t>Classroom Activity – Handouts</a:t>
            </a:r>
          </a:p>
          <a:p>
            <a:pPr>
              <a:buFont typeface="Arial" pitchFamily="34" charset="0"/>
              <a:buNone/>
            </a:pPr>
            <a:r>
              <a:rPr lang="en-AU" b="0" noProof="0" dirty="0" smtClean="0"/>
              <a:t>Trainer distributes and discusses sample QA procedures as identified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extLst>
      <p:ext uri="{BB962C8B-B14F-4D97-AF65-F5344CB8AC3E}">
        <p14:creationId xmlns:p14="http://schemas.microsoft.com/office/powerpoint/2010/main" val="2825813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activities in the trialling of </a:t>
            </a:r>
            <a:r>
              <a:rPr lang="en-AU" sz="1200" kern="1200" dirty="0" smtClean="0">
                <a:solidFill>
                  <a:schemeClr val="tx1"/>
                </a:solidFill>
                <a:ea typeface="+mn-ea"/>
                <a:cs typeface="+mn-cs"/>
              </a:rPr>
              <a:t>draft quality assurance procedures:</a:t>
            </a:r>
          </a:p>
          <a:p>
            <a:pPr marL="171450" indent="-171450">
              <a:buFont typeface="Arial" pitchFamily="34" charset="0"/>
              <a:buChar char="•"/>
            </a:pPr>
            <a:r>
              <a:rPr lang="en-AU" sz="1200" kern="1200" dirty="0" smtClean="0">
                <a:solidFill>
                  <a:schemeClr val="tx1"/>
                </a:solidFill>
                <a:ea typeface="+mn-ea"/>
                <a:cs typeface="+mn-cs"/>
              </a:rPr>
              <a:t>Submitting draft processes to stakeholders for pre-trial feedback – even though a team approach may have been used to develop the draft processes, distributing drafts for pre-trial comment can save lots of time </a:t>
            </a:r>
          </a:p>
          <a:p>
            <a:pPr marL="171450" indent="-171450">
              <a:buFont typeface="Arial" pitchFamily="34" charset="0"/>
              <a:buChar char="•"/>
            </a:pPr>
            <a:r>
              <a:rPr lang="en-AU" sz="1200" kern="1200" dirty="0" smtClean="0">
                <a:solidFill>
                  <a:schemeClr val="tx1"/>
                </a:solidFill>
                <a:ea typeface="+mn-ea"/>
                <a:cs typeface="+mn-cs"/>
              </a:rPr>
              <a:t>Obtaining initial authorisation to proceed with the trial – this may be a requirement given implementation of QA processes can cost a significant amount in terms of time and money as well as considerable disruption to standard day-to-day work activities</a:t>
            </a:r>
          </a:p>
          <a:p>
            <a:pPr marL="171450" indent="-171450">
              <a:buFont typeface="Arial" pitchFamily="34" charset="0"/>
              <a:buChar char="•"/>
            </a:pPr>
            <a:r>
              <a:rPr lang="en-AU" sz="1200" kern="1200" dirty="0" smtClean="0">
                <a:solidFill>
                  <a:schemeClr val="tx1"/>
                </a:solidFill>
                <a:ea typeface="+mn-ea"/>
                <a:cs typeface="+mn-cs"/>
              </a:rPr>
              <a:t>Communicating the draft processes – to those who have been allocated responsibilities for applying the processes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Trainer continues to present activities in the trialling of </a:t>
            </a:r>
            <a:r>
              <a:rPr kumimoji="0" lang="en-AU" sz="1200" b="0" i="0" u="none" strike="noStrike" kern="1200" cap="none" spc="0" normalizeH="0" baseline="0" noProof="0" dirty="0" smtClean="0">
                <a:ln>
                  <a:noFill/>
                </a:ln>
                <a:solidFill>
                  <a:prstClr val="black"/>
                </a:solidFill>
                <a:effectLst/>
                <a:uLnTx/>
                <a:uFillTx/>
                <a:ea typeface="+mn-ea"/>
                <a:cs typeface="+mn-cs"/>
              </a:rPr>
              <a:t>draft quality assurance procedures: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Conducting training with staff – so they have base competency with implementing the processes they have been allocated</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Scheduling the trials – with aims of:</a:t>
            </a:r>
          </a:p>
          <a:p>
            <a:pPr marL="1085850" marR="0" lvl="2"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Accommodating standard operational imperatives of the organisation and the Training department</a:t>
            </a:r>
          </a:p>
          <a:p>
            <a:pPr marL="1085850" marR="0" lvl="2"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Ensuring all contributors are paid to participate/engage with the initiative</a:t>
            </a:r>
          </a:p>
          <a:p>
            <a:pPr marL="1085850" marR="0" lvl="2"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Integrating the demands of the initiative within the other obligations imposed on respondents </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Implementing the draft process – strictly in accordance with the drafted instructions.</a:t>
            </a:r>
          </a:p>
          <a:p>
            <a:pPr>
              <a:buFont typeface="Arial" pitchFamily="34" charset="0"/>
              <a:buChar char="•"/>
            </a:pP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extLst>
      <p:ext uri="{BB962C8B-B14F-4D97-AF65-F5344CB8AC3E}">
        <p14:creationId xmlns:p14="http://schemas.microsoft.com/office/powerpoint/2010/main" val="1248247293"/>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present activities in the trialling of </a:t>
            </a:r>
            <a:r>
              <a:rPr lang="en-AU" sz="1200" kern="1200" dirty="0" smtClean="0">
                <a:solidFill>
                  <a:schemeClr val="tx1"/>
                </a:solidFill>
                <a:ea typeface="+mn-ea"/>
                <a:cs typeface="+mn-cs"/>
              </a:rPr>
              <a:t>draft quality assurance procedures:</a:t>
            </a:r>
          </a:p>
          <a:p>
            <a:pPr marL="171450" indent="-171450">
              <a:buFont typeface="Arial" pitchFamily="34" charset="0"/>
              <a:buChar char="•"/>
            </a:pPr>
            <a:r>
              <a:rPr lang="en-AU" sz="1200" kern="1200" dirty="0" smtClean="0">
                <a:solidFill>
                  <a:schemeClr val="tx1"/>
                </a:solidFill>
                <a:ea typeface="+mn-ea"/>
                <a:cs typeface="+mn-cs"/>
              </a:rPr>
              <a:t>Involving representatives of the national Training Authority and/or the body operating the system in the trials – if the training system is recognised and if they are willing to participate</a:t>
            </a:r>
          </a:p>
          <a:p>
            <a:pPr marL="171450" indent="-171450">
              <a:buFont typeface="Arial" pitchFamily="34" charset="0"/>
              <a:buChar char="•"/>
            </a:pPr>
            <a:r>
              <a:rPr lang="en-AU" sz="1200" kern="1200" dirty="0" smtClean="0">
                <a:solidFill>
                  <a:schemeClr val="tx1"/>
                </a:solidFill>
                <a:ea typeface="+mn-ea"/>
                <a:cs typeface="+mn-cs"/>
              </a:rPr>
              <a:t>Capturing required information – as prescribed/identified by the individual processes and as provided by respondents or the data/records being assessed</a:t>
            </a:r>
          </a:p>
          <a:p>
            <a:pPr marL="171450" indent="-171450">
              <a:buFont typeface="Arial" pitchFamily="34" charset="0"/>
              <a:buChar char="•"/>
            </a:pPr>
            <a:r>
              <a:rPr lang="en-AU" sz="1200" kern="1200" dirty="0" smtClean="0">
                <a:solidFill>
                  <a:schemeClr val="tx1"/>
                </a:solidFill>
                <a:ea typeface="+mn-ea"/>
                <a:cs typeface="+mn-cs"/>
              </a:rPr>
              <a:t>Noting points which have arisen during the trial – which need to be accommodated as part of the review and revision parts of the procedure</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rPr>
              <a:t>Trainer continues to present activities in the trialling of </a:t>
            </a:r>
            <a:r>
              <a:rPr kumimoji="0" lang="en-AU" sz="1200" b="0" i="0" u="none" strike="noStrike" kern="1200" cap="none" spc="0" normalizeH="0" baseline="0" noProof="0" dirty="0" smtClean="0">
                <a:ln>
                  <a:noFill/>
                </a:ln>
                <a:solidFill>
                  <a:prstClr val="black"/>
                </a:solidFill>
                <a:effectLst/>
                <a:uLnTx/>
                <a:uFillTx/>
                <a:ea typeface="+mn-ea"/>
                <a:cs typeface="+mn-cs"/>
              </a:rPr>
              <a:t>draft quality assurance procedures: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Reviewing implementation of draft verification processes – using:</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The data obtained </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Feedback provided by respondents</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A team approach</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Representatives from the national Training Authority and/or the body operating the system</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kumimoji="0" lang="en-AU" sz="1200" b="0" i="0" u="none" strike="noStrike" kern="1200" cap="none" spc="0" normalizeH="0" baseline="0" noProof="0" dirty="0" smtClean="0">
                <a:ln>
                  <a:noFill/>
                </a:ln>
                <a:solidFill>
                  <a:prstClr val="black"/>
                </a:solidFill>
                <a:effectLst/>
                <a:uLnTx/>
                <a:uFillTx/>
                <a:ea typeface="+mn-ea"/>
                <a:cs typeface="+mn-cs"/>
              </a:rPr>
              <a:t>Revising draft quality assurance procedures as necessary – on the basis of feedback and trial implementation.</a:t>
            </a:r>
          </a:p>
          <a:p>
            <a:pPr>
              <a:buFont typeface="Arial" pitchFamily="34" charset="0"/>
              <a:buChar char="•"/>
            </a:pPr>
            <a:endParaRPr lang="en-AU" sz="1200" kern="1200" dirty="0" smtClean="0">
              <a:solidFill>
                <a:schemeClr val="tx1"/>
              </a:solidFill>
              <a:ea typeface="+mn-ea"/>
              <a:cs typeface="+mn-cs"/>
            </a:endParaRP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extLst>
      <p:ext uri="{BB962C8B-B14F-4D97-AF65-F5344CB8AC3E}">
        <p14:creationId xmlns:p14="http://schemas.microsoft.com/office/powerpoint/2010/main" val="1017329255"/>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present activities in the trialling of </a:t>
            </a:r>
            <a:r>
              <a:rPr lang="en-AU" sz="1200" kern="1200" dirty="0" smtClean="0">
                <a:solidFill>
                  <a:schemeClr val="tx1"/>
                </a:solidFill>
                <a:ea typeface="+mn-ea"/>
                <a:cs typeface="+mn-cs"/>
              </a:rPr>
              <a:t>draft quality assurance procedures:</a:t>
            </a:r>
          </a:p>
          <a:p>
            <a:pPr marL="171450" indent="-171450">
              <a:buFont typeface="Arial" pitchFamily="34" charset="0"/>
              <a:buChar char="•"/>
            </a:pPr>
            <a:r>
              <a:rPr lang="en-AU" sz="1200" kern="1200" dirty="0" smtClean="0">
                <a:solidFill>
                  <a:schemeClr val="tx1"/>
                </a:solidFill>
                <a:ea typeface="+mn-ea"/>
                <a:cs typeface="+mn-cs"/>
              </a:rPr>
              <a:t>Reviewing implementation of draft verification processes – using:</a:t>
            </a:r>
          </a:p>
          <a:p>
            <a:pPr marL="628650" lvl="1" indent="-171450">
              <a:buFont typeface="Arial" pitchFamily="34" charset="0"/>
              <a:buChar char="•"/>
            </a:pPr>
            <a:r>
              <a:rPr lang="en-AU" sz="1200" kern="1200" dirty="0" smtClean="0">
                <a:solidFill>
                  <a:schemeClr val="tx1"/>
                </a:solidFill>
                <a:ea typeface="+mn-ea"/>
                <a:cs typeface="+mn-cs"/>
              </a:rPr>
              <a:t>The data obtained </a:t>
            </a:r>
          </a:p>
          <a:p>
            <a:pPr marL="628650" lvl="1" indent="-171450">
              <a:buFont typeface="Arial" pitchFamily="34" charset="0"/>
              <a:buChar char="•"/>
            </a:pPr>
            <a:r>
              <a:rPr lang="en-AU" sz="1200" kern="1200" dirty="0" smtClean="0">
                <a:solidFill>
                  <a:schemeClr val="tx1"/>
                </a:solidFill>
                <a:ea typeface="+mn-ea"/>
                <a:cs typeface="+mn-cs"/>
              </a:rPr>
              <a:t>Feedback provided by respondents</a:t>
            </a:r>
          </a:p>
          <a:p>
            <a:pPr marL="628650" lvl="1" indent="-171450">
              <a:buFont typeface="Arial" pitchFamily="34" charset="0"/>
              <a:buChar char="•"/>
            </a:pPr>
            <a:r>
              <a:rPr lang="en-AU" sz="1200" kern="1200" dirty="0" smtClean="0">
                <a:solidFill>
                  <a:schemeClr val="tx1"/>
                </a:solidFill>
                <a:ea typeface="+mn-ea"/>
                <a:cs typeface="+mn-cs"/>
              </a:rPr>
              <a:t>A team approach</a:t>
            </a:r>
          </a:p>
          <a:p>
            <a:pPr marL="628650" lvl="1" indent="-171450">
              <a:buFont typeface="Arial" pitchFamily="34" charset="0"/>
              <a:buChar char="•"/>
            </a:pPr>
            <a:r>
              <a:rPr lang="en-AU" sz="1200" kern="1200" dirty="0" smtClean="0">
                <a:solidFill>
                  <a:schemeClr val="tx1"/>
                </a:solidFill>
                <a:ea typeface="+mn-ea"/>
                <a:cs typeface="+mn-cs"/>
              </a:rPr>
              <a:t>Representatives from the national Training Authority and/or the body operating the system</a:t>
            </a:r>
          </a:p>
          <a:p>
            <a:pPr marL="171450" indent="-171450">
              <a:buFont typeface="Arial" pitchFamily="34" charset="0"/>
              <a:buChar char="•"/>
            </a:pPr>
            <a:r>
              <a:rPr lang="en-AU" sz="1200" kern="1200" dirty="0" smtClean="0">
                <a:solidFill>
                  <a:schemeClr val="tx1"/>
                </a:solidFill>
                <a:ea typeface="+mn-ea"/>
                <a:cs typeface="+mn-cs"/>
              </a:rPr>
              <a:t>Revising draft quality assurance procedures as necessary – on the basis of feedback and trial implementation.</a:t>
            </a:r>
          </a:p>
          <a:p>
            <a:pPr>
              <a:buFont typeface="Arial" pitchFamily="34" charset="0"/>
              <a:buChar char="•"/>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extLst>
      <p:ext uri="{BB962C8B-B14F-4D97-AF65-F5344CB8AC3E}">
        <p14:creationId xmlns:p14="http://schemas.microsoft.com/office/powerpoint/2010/main" val="3590623753"/>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presents reasons to advise </a:t>
            </a:r>
            <a:r>
              <a:rPr lang="en-AU" sz="1200" kern="1200" dirty="0" smtClean="0">
                <a:solidFill>
                  <a:schemeClr val="tx1"/>
                </a:solidFill>
                <a:ea typeface="+mn-ea"/>
                <a:cs typeface="+mn-cs"/>
              </a:rPr>
              <a:t>trainers and assessors regarding QA processes that will be used – so: </a:t>
            </a:r>
          </a:p>
          <a:p>
            <a:pPr marL="171450" indent="-171450">
              <a:buFont typeface="Arial" pitchFamily="34" charset="0"/>
              <a:buChar char="•"/>
            </a:pPr>
            <a:r>
              <a:rPr lang="en-AU" sz="1200" kern="1200" dirty="0" smtClean="0">
                <a:solidFill>
                  <a:schemeClr val="tx1"/>
                </a:solidFill>
                <a:ea typeface="+mn-ea"/>
                <a:cs typeface="+mn-cs"/>
              </a:rPr>
              <a:t>They understand how their performance will (in part) be evaluated – and this often removes fear, worry and concern about the process</a:t>
            </a:r>
          </a:p>
          <a:p>
            <a:pPr marL="171450" indent="-171450">
              <a:buFont typeface="Arial" pitchFamily="34" charset="0"/>
              <a:buChar char="•"/>
            </a:pPr>
            <a:r>
              <a:rPr lang="en-AU" sz="1200" kern="1200" dirty="0" smtClean="0">
                <a:solidFill>
                  <a:schemeClr val="tx1"/>
                </a:solidFill>
                <a:ea typeface="+mn-ea"/>
                <a:cs typeface="+mn-cs"/>
              </a:rPr>
              <a:t>They gain greater appreciation of registration/accreditation and compliance requirements – which helps them better understand the overall system they are working within</a:t>
            </a:r>
          </a:p>
          <a:p>
            <a:pPr marL="171450" indent="-171450">
              <a:buFont typeface="Arial" pitchFamily="34" charset="0"/>
              <a:buChar char="•"/>
            </a:pPr>
            <a:r>
              <a:rPr lang="en-AU" sz="1200" kern="1200" dirty="0" smtClean="0">
                <a:solidFill>
                  <a:schemeClr val="tx1"/>
                </a:solidFill>
                <a:ea typeface="+mn-ea"/>
                <a:cs typeface="+mn-cs"/>
              </a:rPr>
              <a:t>They know the areas of their work which are subject to targeted analysis/evaluation – and so they can focus their efforts to ensure these areas receive suitable attention and effort.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extLst>
      <p:ext uri="{BB962C8B-B14F-4D97-AF65-F5344CB8AC3E}">
        <p14:creationId xmlns:p14="http://schemas.microsoft.com/office/powerpoint/2010/main" val="1744229839"/>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continues to present reasons to advise </a:t>
            </a:r>
            <a:r>
              <a:rPr lang="en-AU" sz="1200" kern="1200" dirty="0" smtClean="0">
                <a:solidFill>
                  <a:schemeClr val="tx1"/>
                </a:solidFill>
                <a:ea typeface="+mn-ea"/>
                <a:cs typeface="+mn-cs"/>
              </a:rPr>
              <a:t>trainers and assessors regarding QA processes that will be used so:</a:t>
            </a:r>
          </a:p>
          <a:p>
            <a:pPr marL="171450" indent="-171450">
              <a:buFont typeface="Arial" pitchFamily="34" charset="0"/>
              <a:buChar char="•"/>
            </a:pPr>
            <a:r>
              <a:rPr lang="en-AU" sz="1200" kern="1200" dirty="0" smtClean="0">
                <a:solidFill>
                  <a:schemeClr val="tx1"/>
                </a:solidFill>
                <a:ea typeface="+mn-ea"/>
                <a:cs typeface="+mn-cs"/>
              </a:rPr>
              <a:t>The organisation and/or the Training Authority demonstrates openness and transparency – rather than judging/evaluating them on ‘secret’ criteria</a:t>
            </a:r>
          </a:p>
          <a:p>
            <a:pPr marL="171450" indent="-171450">
              <a:buFont typeface="Arial" pitchFamily="34" charset="0"/>
              <a:buChar char="•"/>
            </a:pPr>
            <a:r>
              <a:rPr lang="en-AU" sz="1200" kern="1200" dirty="0" smtClean="0">
                <a:solidFill>
                  <a:schemeClr val="tx1"/>
                </a:solidFill>
                <a:ea typeface="+mn-ea"/>
                <a:cs typeface="+mn-cs"/>
              </a:rPr>
              <a:t>They can locate Quality Management better – within the overall context of the operations of the organisation and the training system</a:t>
            </a:r>
          </a:p>
          <a:p>
            <a:pPr marL="171450" indent="-171450">
              <a:buFont typeface="Arial" pitchFamily="34" charset="0"/>
              <a:buChar char="•"/>
            </a:pPr>
            <a:r>
              <a:rPr lang="en-AU" sz="1200" kern="1200" dirty="0" smtClean="0">
                <a:solidFill>
                  <a:schemeClr val="tx1"/>
                </a:solidFill>
                <a:ea typeface="+mn-ea"/>
                <a:cs typeface="+mn-cs"/>
              </a:rPr>
              <a:t>They realise other trainers and assessors in other workplace training systems are also subject to the same/similar processes – and they are not being targeted or victimised.</a:t>
            </a:r>
          </a:p>
          <a:p>
            <a:pPr>
              <a:buFont typeface="Arial" pitchFamily="34" charset="0"/>
              <a:buNone/>
            </a:pPr>
            <a:endParaRPr lang="en-AU" noProof="0" dirty="0" smtClean="0"/>
          </a:p>
          <a:p>
            <a:pPr>
              <a:buFont typeface="Arial" pitchFamily="34" charset="0"/>
              <a:buNone/>
            </a:pPr>
            <a:r>
              <a:rPr lang="en-AU" b="1" noProof="0" dirty="0" smtClean="0"/>
              <a:t>Classroom Activity – Excursion</a:t>
            </a:r>
          </a:p>
          <a:p>
            <a:pPr>
              <a:buFont typeface="Arial" pitchFamily="34" charset="0"/>
              <a:buNone/>
            </a:pPr>
            <a:r>
              <a:rPr lang="en-AU" b="0" noProof="0" dirty="0" smtClean="0"/>
              <a:t>Trainer arranges excursion to organisation with a workplace training system to:</a:t>
            </a:r>
          </a:p>
          <a:p>
            <a:pPr marL="171450" indent="-171450">
              <a:buFont typeface="Arial" pitchFamily="34" charset="0"/>
              <a:buChar char="•"/>
            </a:pPr>
            <a:r>
              <a:rPr lang="en-AU" b="0" noProof="0" dirty="0" smtClean="0"/>
              <a:t>Meet with and talk to personnel with quality-related responsibilities</a:t>
            </a:r>
          </a:p>
          <a:p>
            <a:pPr marL="171450" indent="-171450">
              <a:buFont typeface="Arial" pitchFamily="34" charset="0"/>
              <a:buChar char="•"/>
            </a:pPr>
            <a:r>
              <a:rPr lang="en-AU" b="0" noProof="0" dirty="0" smtClean="0"/>
              <a:t>Learn of their quality procedures/protocols</a:t>
            </a:r>
          </a:p>
          <a:p>
            <a:pPr marL="171450" indent="-171450">
              <a:buFont typeface="Arial" pitchFamily="34" charset="0"/>
              <a:buChar char="•"/>
            </a:pPr>
            <a:r>
              <a:rPr lang="en-AU" b="0" noProof="0" dirty="0" smtClean="0"/>
              <a:t>Obtain sample documentation</a:t>
            </a:r>
          </a:p>
          <a:p>
            <a:pPr marL="171450" indent="-171450">
              <a:buFont typeface="Arial" pitchFamily="34" charset="0"/>
              <a:buChar char="•"/>
            </a:pPr>
            <a:r>
              <a:rPr lang="en-AU" b="0" noProof="0" dirty="0" smtClean="0"/>
              <a:t>Observe quality verification procedures in action.</a:t>
            </a:r>
          </a:p>
          <a:p>
            <a:pPr>
              <a:buFont typeface="Arial" pitchFamily="34" charset="0"/>
              <a:buChar char="•"/>
            </a:pP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extLst>
      <p:ext uri="{BB962C8B-B14F-4D97-AF65-F5344CB8AC3E}">
        <p14:creationId xmlns:p14="http://schemas.microsoft.com/office/powerpoint/2010/main" val="1854133913"/>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advises </a:t>
            </a:r>
            <a:r>
              <a:rPr lang="en-AU" sz="1200" kern="1200" dirty="0" smtClean="0">
                <a:solidFill>
                  <a:schemeClr val="tx1"/>
                </a:solidFill>
                <a:ea typeface="+mn-ea"/>
                <a:cs typeface="+mn-cs"/>
              </a:rPr>
              <a:t>ways to advise trainers and assessors regarding established and confirmed QA/QMS processes:</a:t>
            </a:r>
          </a:p>
          <a:p>
            <a:pPr marL="171450" indent="-171450">
              <a:buFont typeface="Arial" pitchFamily="34" charset="0"/>
              <a:buChar char="•"/>
            </a:pPr>
            <a:r>
              <a:rPr lang="en-AU" sz="1200" kern="1200" dirty="0" smtClean="0">
                <a:solidFill>
                  <a:schemeClr val="tx1"/>
                </a:solidFill>
                <a:ea typeface="+mn-ea"/>
                <a:cs typeface="+mn-cs"/>
              </a:rPr>
              <a:t>Provision of copies of relevant documents – these can include:</a:t>
            </a:r>
          </a:p>
          <a:p>
            <a:pPr marL="628650" lvl="1" indent="-171450">
              <a:buFont typeface="Arial" pitchFamily="34" charset="0"/>
              <a:buChar char="•"/>
            </a:pPr>
            <a:r>
              <a:rPr lang="en-AU" sz="1200" kern="1200" dirty="0" smtClean="0">
                <a:solidFill>
                  <a:schemeClr val="tx1"/>
                </a:solidFill>
                <a:ea typeface="+mn-ea"/>
                <a:cs typeface="+mn-cs"/>
              </a:rPr>
              <a:t>Policies and procedures</a:t>
            </a:r>
          </a:p>
          <a:p>
            <a:pPr marL="628650" lvl="1" indent="-171450">
              <a:buFont typeface="Arial" pitchFamily="34" charset="0"/>
              <a:buChar char="•"/>
            </a:pPr>
            <a:r>
              <a:rPr lang="en-AU" sz="1200" kern="1200" dirty="0" smtClean="0">
                <a:solidFill>
                  <a:schemeClr val="tx1"/>
                </a:solidFill>
                <a:ea typeface="+mn-ea"/>
                <a:cs typeface="+mn-cs"/>
              </a:rPr>
              <a:t>General advice and information</a:t>
            </a:r>
          </a:p>
          <a:p>
            <a:pPr marL="628650" lvl="1" indent="-171450">
              <a:buFont typeface="Arial" pitchFamily="34" charset="0"/>
              <a:buChar char="•"/>
            </a:pPr>
            <a:r>
              <a:rPr lang="en-AU" sz="1200" kern="1200" dirty="0" smtClean="0">
                <a:solidFill>
                  <a:schemeClr val="tx1"/>
                </a:solidFill>
                <a:ea typeface="+mn-ea"/>
                <a:cs typeface="+mn-cs"/>
              </a:rPr>
              <a:t>Schedules and time-tables for implementation</a:t>
            </a:r>
          </a:p>
          <a:p>
            <a:pPr marL="628650" lvl="1" indent="-171450">
              <a:buFont typeface="Arial" pitchFamily="34" charset="0"/>
              <a:buChar char="•"/>
            </a:pPr>
            <a:r>
              <a:rPr lang="en-AU" sz="1200" kern="1200" dirty="0" smtClean="0">
                <a:solidFill>
                  <a:schemeClr val="tx1"/>
                </a:solidFill>
                <a:ea typeface="+mn-ea"/>
                <a:cs typeface="+mn-cs"/>
              </a:rPr>
              <a:t>Roles and responsibilities</a:t>
            </a:r>
          </a:p>
          <a:p>
            <a:pPr marL="628650" lvl="1" indent="-171450">
              <a:buFont typeface="Arial" pitchFamily="34" charset="0"/>
              <a:buChar char="•"/>
            </a:pPr>
            <a:r>
              <a:rPr lang="en-AU" sz="1200" kern="1200" dirty="0" smtClean="0">
                <a:solidFill>
                  <a:schemeClr val="tx1"/>
                </a:solidFill>
                <a:ea typeface="+mn-ea"/>
                <a:cs typeface="+mn-cs"/>
              </a:rPr>
              <a:t>Operational documentation – recording sheets, checklists, questionnaires, interview sheets, product analysis sheets</a:t>
            </a:r>
          </a:p>
          <a:p>
            <a:pPr marL="1085850" lvl="2" indent="-171450">
              <a:buFont typeface="Arial" pitchFamily="34" charset="0"/>
              <a:buChar char="•"/>
            </a:pPr>
            <a:r>
              <a:rPr lang="en-AU" sz="1200" kern="1200" dirty="0" smtClean="0">
                <a:solidFill>
                  <a:schemeClr val="tx1"/>
                </a:solidFill>
                <a:ea typeface="+mn-ea"/>
                <a:cs typeface="+mn-cs"/>
              </a:rPr>
              <a:t>Copies may/should be hard copy and soft copy versions</a:t>
            </a:r>
          </a:p>
          <a:p>
            <a:pPr marL="171450" indent="-171450">
              <a:buFont typeface="Arial" pitchFamily="34" charset="0"/>
              <a:buChar char="•"/>
            </a:pPr>
            <a:r>
              <a:rPr lang="en-AU" sz="1200" kern="1200" dirty="0" smtClean="0">
                <a:solidFill>
                  <a:schemeClr val="tx1"/>
                </a:solidFill>
                <a:ea typeface="+mn-ea"/>
                <a:cs typeface="+mn-cs"/>
              </a:rPr>
              <a:t>Verbal explanations featuring contributions by the Quality management team/group and representatives from the national Training Authority and/or relevant other bodies – highlighting:</a:t>
            </a:r>
          </a:p>
          <a:p>
            <a:pPr marL="628650" lvl="1" indent="-171450">
              <a:buFont typeface="Arial" pitchFamily="34" charset="0"/>
              <a:buChar char="•"/>
            </a:pPr>
            <a:r>
              <a:rPr lang="en-AU" sz="1200" kern="1200" dirty="0" smtClean="0">
                <a:solidFill>
                  <a:schemeClr val="tx1"/>
                </a:solidFill>
                <a:ea typeface="+mn-ea"/>
                <a:cs typeface="+mn-cs"/>
              </a:rPr>
              <a:t>Rationale for implementation</a:t>
            </a:r>
          </a:p>
          <a:p>
            <a:pPr marL="628650" lvl="1" indent="-171450">
              <a:buFont typeface="Arial" pitchFamily="34" charset="0"/>
              <a:buChar char="•"/>
            </a:pPr>
            <a:r>
              <a:rPr lang="en-AU" sz="1200" kern="1200" dirty="0" smtClean="0">
                <a:solidFill>
                  <a:schemeClr val="tx1"/>
                </a:solidFill>
                <a:ea typeface="+mn-ea"/>
                <a:cs typeface="+mn-cs"/>
              </a:rPr>
              <a:t>Consequences of failing to implement as required</a:t>
            </a:r>
          </a:p>
          <a:p>
            <a:pPr marL="628650" lvl="1" indent="-171450">
              <a:buFont typeface="Arial" pitchFamily="34" charset="0"/>
              <a:buChar char="•"/>
            </a:pPr>
            <a:r>
              <a:rPr lang="en-AU" sz="1200" kern="1200" dirty="0" smtClean="0">
                <a:solidFill>
                  <a:schemeClr val="tx1"/>
                </a:solidFill>
                <a:ea typeface="+mn-ea"/>
                <a:cs typeface="+mn-cs"/>
              </a:rPr>
              <a:t>The development process</a:t>
            </a:r>
          </a:p>
          <a:p>
            <a:pPr marL="628650" lvl="1" indent="-171450">
              <a:buFont typeface="Arial" pitchFamily="34" charset="0"/>
              <a:buChar char="•"/>
            </a:pPr>
            <a:r>
              <a:rPr lang="en-AU" sz="1200" kern="1200" dirty="0" smtClean="0">
                <a:solidFill>
                  <a:schemeClr val="tx1"/>
                </a:solidFill>
                <a:ea typeface="+mn-ea"/>
                <a:cs typeface="+mn-cs"/>
              </a:rPr>
              <a:t>Use which will be made of the data/results/findings</a:t>
            </a:r>
          </a:p>
          <a:p>
            <a:pPr marL="628650" lvl="1" indent="-171450">
              <a:buFont typeface="Arial" pitchFamily="34" charset="0"/>
              <a:buChar char="•"/>
            </a:pPr>
            <a:r>
              <a:rPr lang="en-AU" sz="1200" kern="1200" dirty="0" smtClean="0">
                <a:solidFill>
                  <a:schemeClr val="tx1"/>
                </a:solidFill>
                <a:ea typeface="+mn-ea"/>
                <a:cs typeface="+mn-cs"/>
              </a:rPr>
              <a:t>Roles and responsibilities</a:t>
            </a:r>
          </a:p>
          <a:p>
            <a:pPr marL="628650" lvl="1" indent="-171450">
              <a:buFont typeface="Arial" pitchFamily="34" charset="0"/>
              <a:buChar char="•"/>
            </a:pPr>
            <a:r>
              <a:rPr lang="en-AU" sz="1200" kern="1200" dirty="0" smtClean="0">
                <a:solidFill>
                  <a:schemeClr val="tx1"/>
                </a:solidFill>
                <a:ea typeface="+mn-ea"/>
                <a:cs typeface="+mn-cs"/>
              </a:rPr>
              <a:t>Time allocations</a:t>
            </a:r>
          </a:p>
          <a:p>
            <a:pPr marL="628650" lvl="1" indent="-171450">
              <a:buFont typeface="Arial" pitchFamily="34" charset="0"/>
              <a:buChar char="•"/>
            </a:pPr>
            <a:r>
              <a:rPr lang="en-AU" sz="1200" kern="1200" dirty="0" smtClean="0">
                <a:solidFill>
                  <a:schemeClr val="tx1"/>
                </a:solidFill>
                <a:ea typeface="+mn-ea"/>
                <a:cs typeface="+mn-cs"/>
              </a:rPr>
              <a:t>Resources to support/enable implementation</a:t>
            </a:r>
          </a:p>
          <a:p>
            <a:pPr marL="171450" indent="-171450">
              <a:buFont typeface="Arial" pitchFamily="34" charset="0"/>
              <a:buChar char="•"/>
            </a:pPr>
            <a:r>
              <a:rPr lang="en-AU" sz="1200" kern="1200" dirty="0" smtClean="0">
                <a:solidFill>
                  <a:schemeClr val="tx1"/>
                </a:solidFill>
                <a:ea typeface="+mn-ea"/>
                <a:cs typeface="+mn-cs"/>
              </a:rPr>
              <a:t>Formal training – including:</a:t>
            </a:r>
          </a:p>
          <a:p>
            <a:pPr marL="628650" lvl="1" indent="-171450">
              <a:buFont typeface="Arial" pitchFamily="34" charset="0"/>
              <a:buChar char="•"/>
            </a:pPr>
            <a:r>
              <a:rPr lang="en-AU" sz="1200" kern="1200" dirty="0" smtClean="0">
                <a:solidFill>
                  <a:schemeClr val="tx1"/>
                </a:solidFill>
                <a:ea typeface="+mn-ea"/>
                <a:cs typeface="+mn-cs"/>
              </a:rPr>
              <a:t>Presentation of knowledge/information about the processes</a:t>
            </a:r>
          </a:p>
          <a:p>
            <a:pPr marL="628650" lvl="1" indent="-171450">
              <a:buFont typeface="Arial" pitchFamily="34" charset="0"/>
              <a:buChar char="•"/>
            </a:pPr>
            <a:r>
              <a:rPr lang="en-AU" sz="1200" kern="1200" dirty="0" smtClean="0">
                <a:solidFill>
                  <a:schemeClr val="tx1"/>
                </a:solidFill>
                <a:ea typeface="+mn-ea"/>
                <a:cs typeface="+mn-cs"/>
              </a:rPr>
              <a:t>Demonstrations of implementing requirements</a:t>
            </a:r>
          </a:p>
          <a:p>
            <a:pPr marL="628650" lvl="1" indent="-171450">
              <a:buFont typeface="Arial" pitchFamily="34" charset="0"/>
              <a:buChar char="•"/>
            </a:pPr>
            <a:r>
              <a:rPr lang="en-AU" sz="1200" kern="1200" dirty="0" smtClean="0">
                <a:solidFill>
                  <a:schemeClr val="tx1"/>
                </a:solidFill>
                <a:ea typeface="+mn-ea"/>
                <a:cs typeface="+mn-cs"/>
              </a:rPr>
              <a:t>Role plays</a:t>
            </a:r>
          </a:p>
          <a:p>
            <a:pPr marL="628650" lvl="1" indent="-171450">
              <a:buFont typeface="Arial" pitchFamily="34" charset="0"/>
              <a:buChar char="•"/>
            </a:pPr>
            <a:r>
              <a:rPr lang="en-AU" sz="1200" kern="1200" dirty="0" smtClean="0">
                <a:solidFill>
                  <a:schemeClr val="tx1"/>
                </a:solidFill>
                <a:ea typeface="+mn-ea"/>
                <a:cs typeface="+mn-cs"/>
              </a:rPr>
              <a:t>Case studies</a:t>
            </a:r>
          </a:p>
          <a:p>
            <a:pPr marL="628650" lvl="1" indent="-171450">
              <a:buFont typeface="Arial" pitchFamily="34" charset="0"/>
              <a:buChar char="•"/>
            </a:pPr>
            <a:r>
              <a:rPr lang="en-AU" sz="1200" kern="1200" dirty="0" smtClean="0">
                <a:solidFill>
                  <a:schemeClr val="tx1"/>
                </a:solidFill>
                <a:ea typeface="+mn-ea"/>
                <a:cs typeface="+mn-cs"/>
              </a:rPr>
              <a:t>Drill and practical exercises and demonstrations.</a:t>
            </a:r>
          </a:p>
          <a:p>
            <a:pPr>
              <a:buFont typeface="Arial" pitchFamily="34" charset="0"/>
              <a:buNone/>
            </a:pPr>
            <a:r>
              <a:rPr lang="en-AU" sz="1200" kern="1200" dirty="0" smtClean="0">
                <a:solidFill>
                  <a:schemeClr val="tx1"/>
                </a:solidFill>
                <a:ea typeface="+mn-ea"/>
                <a:cs typeface="+mn-cs"/>
              </a:rPr>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extLst>
      <p:ext uri="{BB962C8B-B14F-4D97-AF65-F5344CB8AC3E}">
        <p14:creationId xmlns:p14="http://schemas.microsoft.com/office/powerpoint/2010/main" val="664768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7/18/2016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1520" y="274638"/>
            <a:ext cx="7704856" cy="1143000"/>
          </a:xfrm>
        </p:spPr>
        <p:txBody>
          <a:bodyPr>
            <a:normAutofit/>
          </a:bodyPr>
          <a:lstStyle>
            <a:lvl1pPr algn="l">
              <a:defRPr sz="3400" b="1">
                <a:solidFill>
                  <a:srgbClr val="FF6600"/>
                </a:solidFill>
                <a:latin typeface="Helvetica" panose="020B0604020202020204" pitchFamily="34" charset="0"/>
                <a:cs typeface="Helvetica" panose="020B0604020202020204" pitchFamily="34" charset="0"/>
              </a:defRPr>
            </a:lvl1pPr>
          </a:lstStyle>
          <a:p>
            <a:r>
              <a:rPr kumimoji="0" lang="en-US" dirty="0" smtClean="0"/>
              <a:t>Click to edit Master title style</a:t>
            </a:r>
            <a:endParaRPr kumimoji="0" lang="en-US" dirty="0"/>
          </a:p>
        </p:txBody>
      </p:sp>
      <p:sp>
        <p:nvSpPr>
          <p:cNvPr id="3" name="Content Placeholder 2"/>
          <p:cNvSpPr>
            <a:spLocks noGrp="1"/>
          </p:cNvSpPr>
          <p:nvPr>
            <p:ph idx="1"/>
          </p:nvPr>
        </p:nvSpPr>
        <p:spPr>
          <a:xfrm>
            <a:off x="251520" y="1988840"/>
            <a:ext cx="4680520" cy="4137323"/>
          </a:xfrm>
        </p:spPr>
        <p:txBody>
          <a:bodyPr/>
          <a:lstStyle>
            <a:lvl1pPr>
              <a:defRPr sz="2200">
                <a:latin typeface="Helvetica" panose="020B0604020202020204" pitchFamily="34" charset="0"/>
                <a:cs typeface="Helvetica" panose="020B0604020202020204" pitchFamily="34" charset="0"/>
              </a:defRPr>
            </a:lvl1pPr>
            <a:lvl2pPr>
              <a:defRPr sz="2200">
                <a:latin typeface="Helvetica" panose="020B0604020202020204" pitchFamily="34" charset="0"/>
                <a:cs typeface="Helvetica" panose="020B0604020202020204" pitchFamily="34" charset="0"/>
              </a:defRPr>
            </a:lvl2pPr>
            <a:lvl3pPr>
              <a:defRPr sz="2200">
                <a:latin typeface="Helvetica" panose="020B0604020202020204" pitchFamily="34" charset="0"/>
                <a:cs typeface="Helvetica" panose="020B0604020202020204" pitchFamily="34" charset="0"/>
              </a:defRPr>
            </a:lvl3pPr>
            <a:lvl4pPr>
              <a:defRPr sz="2200">
                <a:latin typeface="Helvetica" panose="020B0604020202020204" pitchFamily="34" charset="0"/>
                <a:cs typeface="Helvetica" panose="020B0604020202020204" pitchFamily="34" charset="0"/>
              </a:defRPr>
            </a:lvl4pPr>
            <a:lvl5pPr>
              <a:defRPr sz="2200">
                <a:latin typeface="Helvetica" panose="020B0604020202020204" pitchFamily="34" charset="0"/>
                <a:cs typeface="Helvetica" panose="020B0604020202020204" pitchFamily="34" charset="0"/>
              </a:defRPr>
            </a:lvl5p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fld id="{0646F223-D3A2-44F5-8051-829B2F23C0D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7/18/2016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7/18/2016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7/18/2016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7/18/2016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www.serviceskills.com.au/becoming-a-registered-training-organisation"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hyperlink" Target="http://www.asqa.gov.au/vet-registration/understand-the-requirements-for-registration/understand-the-requirements-for-registration.html" TargetMode="External"/><Relationship Id="rId4" Type="http://schemas.openxmlformats.org/officeDocument/2006/relationships/hyperlink" Target="http://www.rtosupport.com.au/rto-support-services/prospective-rtos"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www.comlaw.gov.au/Details/F2014L01377"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hyperlink" Target="http://www.ncver.edu.au/wps/wcm/connect/827bfae5-2630-4b8f-a0fa-29e31a4c3f86/nr9013.pdf?MOD=AJPERES&amp;CACHEID=827bfae5-2630-4b8f-a0fa-29e31a4c3f86" TargetMode="External"/><Relationship Id="rId4" Type="http://schemas.openxmlformats.org/officeDocument/2006/relationships/hyperlink" Target="http://vanguardvisions.com.au/six-steps-to-successfully-implementing-workplace-online-training/"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hyperlink" Target="http://www.hr-guide.com/data/G510.htm" TargetMode="External"/><Relationship Id="rId7" Type="http://schemas.openxmlformats.org/officeDocument/2006/relationships/hyperlink" Target="http://www.managementstudyguide.com/job-description-specification.htm"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humanresources.about.com/od/glossaryj/g/job_specification.htm" TargetMode="External"/><Relationship Id="rId5" Type="http://schemas.openxmlformats.org/officeDocument/2006/relationships/hyperlink" Target="http://www.businessballs.com/jobdescription.htm" TargetMode="External"/><Relationship Id="rId4" Type="http://schemas.openxmlformats.org/officeDocument/2006/relationships/hyperlink" Target="http://workforceplanningtools.com.au/tools/training-needs-analysis/"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work.chron.com/workplace-training-policy-11928.html" TargetMode="External"/><Relationship Id="rId2" Type="http://schemas.openxmlformats.org/officeDocument/2006/relationships/notesSlide" Target="../notesSlides/notesSlide68.xml"/><Relationship Id="rId1" Type="http://schemas.openxmlformats.org/officeDocument/2006/relationships/slideLayout" Target="../slideLayouts/slideLayout2.xml"/><Relationship Id="rId5" Type="http://schemas.openxmlformats.org/officeDocument/2006/relationships/image" Target="../media/image69.jpeg"/><Relationship Id="rId4" Type="http://schemas.openxmlformats.org/officeDocument/2006/relationships/hyperlink" Target="http://www.industrialrelations.nsw.gov.au/oirwww/Employment_info/Managing_employees/Workplace_policies_and_procedures.page" TargetMode="External"/></Relationships>
</file>

<file path=ppt/slides/_rels/slide69.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2.jp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548680"/>
            <a:ext cx="6480048" cy="936104"/>
          </a:xfrm>
        </p:spPr>
        <p:txBody>
          <a:bodyPr>
            <a:normAutofit fontScale="90000"/>
          </a:bodyPr>
          <a:lstStyle/>
          <a:p>
            <a:r>
              <a:rPr lang="en-AU" sz="4000" dirty="0">
                <a:ln w="5000" cmpd="sng">
                  <a:noFill/>
                  <a:prstDash val="solid"/>
                </a:ln>
                <a:solidFill>
                  <a:srgbClr val="FF6600"/>
                </a:solidFill>
                <a:latin typeface="Helvetica" pitchFamily="34" charset="0"/>
              </a:rPr>
              <a:t>DESIGN AND ESTABLISH A TRAINING </a:t>
            </a:r>
            <a:r>
              <a:rPr lang="en-AU" sz="4000" dirty="0" smtClean="0">
                <a:ln w="5000" cmpd="sng">
                  <a:noFill/>
                  <a:prstDash val="solid"/>
                </a:ln>
                <a:solidFill>
                  <a:srgbClr val="FF6600"/>
                </a:solidFill>
                <a:latin typeface="Helvetica" pitchFamily="34" charset="0"/>
              </a:rPr>
              <a:t>SYSTEM</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47156" y="1772816"/>
            <a:ext cx="2541268" cy="433758"/>
          </a:xfrm>
        </p:spPr>
        <p:txBody>
          <a:bodyPr>
            <a:normAutofit/>
          </a:bodyPr>
          <a:lstStyle/>
          <a:p>
            <a:r>
              <a:rPr lang="en-AU" b="1" dirty="0">
                <a:latin typeface="Helvetica" pitchFamily="34" charset="0"/>
              </a:rPr>
              <a:t>D2.TRD.CL8.05</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592228" y="1988840"/>
            <a:ext cx="5565600" cy="4208400"/>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Design and establish a training system</a:t>
            </a:r>
            <a:endParaRPr lang="en-US" dirty="0"/>
          </a:p>
        </p:txBody>
      </p:sp>
      <p:sp>
        <p:nvSpPr>
          <p:cNvPr id="3" name="Content Placeholder 2"/>
          <p:cNvSpPr>
            <a:spLocks noGrp="1"/>
          </p:cNvSpPr>
          <p:nvPr>
            <p:ph idx="1"/>
          </p:nvPr>
        </p:nvSpPr>
        <p:spPr>
          <a:xfrm>
            <a:off x="251520" y="1988840"/>
            <a:ext cx="5544616" cy="4464496"/>
          </a:xfrm>
        </p:spPr>
        <p:txBody>
          <a:bodyPr>
            <a:normAutofit lnSpcReduction="10000"/>
          </a:bodyPr>
          <a:lstStyle/>
          <a:p>
            <a:pPr marL="36576" indent="0">
              <a:buNone/>
            </a:pPr>
            <a:r>
              <a:rPr lang="en-US" dirty="0" smtClean="0"/>
              <a:t>This Unit comprises six Elements:</a:t>
            </a:r>
          </a:p>
          <a:p>
            <a:r>
              <a:rPr lang="en-AU" dirty="0" smtClean="0"/>
              <a:t>Determine the features of a workplace training system</a:t>
            </a:r>
            <a:endParaRPr lang="en-US" dirty="0" smtClean="0"/>
          </a:p>
          <a:p>
            <a:r>
              <a:rPr lang="en-AU" dirty="0" smtClean="0"/>
              <a:t>Align workplace training needs with required resources</a:t>
            </a:r>
            <a:endParaRPr lang="en-US" dirty="0" smtClean="0"/>
          </a:p>
          <a:p>
            <a:r>
              <a:rPr lang="en-AU" dirty="0" smtClean="0"/>
              <a:t>Develop workplace training system documents</a:t>
            </a:r>
            <a:endParaRPr lang="en-US" dirty="0" smtClean="0"/>
          </a:p>
          <a:p>
            <a:r>
              <a:rPr lang="en-AU" dirty="0" smtClean="0"/>
              <a:t>Establish procedures for the review of the workplace training system</a:t>
            </a:r>
            <a:endParaRPr lang="en-US" dirty="0" smtClean="0"/>
          </a:p>
          <a:p>
            <a:r>
              <a:rPr lang="en-AU" dirty="0" smtClean="0"/>
              <a:t>Prepare to implement the workplace training system</a:t>
            </a:r>
            <a:endParaRPr lang="en-US" dirty="0" smtClean="0"/>
          </a:p>
          <a:p>
            <a:r>
              <a:rPr lang="en-AU" dirty="0" smtClean="0"/>
              <a:t>Establish quality assurance procedures for the workplace training system</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148064" y="1977019"/>
            <a:ext cx="2592288" cy="35398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Assessment</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US" dirty="0" smtClean="0"/>
              <a:t>Assessment for this unit may include:</a:t>
            </a:r>
          </a:p>
          <a:p>
            <a:r>
              <a:rPr lang="en-US" dirty="0" smtClean="0"/>
              <a:t>Oral questions</a:t>
            </a:r>
          </a:p>
          <a:p>
            <a:r>
              <a:rPr lang="en-US" dirty="0" smtClean="0"/>
              <a:t>Written questions</a:t>
            </a:r>
          </a:p>
          <a:p>
            <a:r>
              <a:rPr lang="en-US" dirty="0" smtClean="0"/>
              <a:t>Work projects</a:t>
            </a:r>
          </a:p>
          <a:p>
            <a:r>
              <a:rPr lang="en-US" dirty="0" smtClean="0"/>
              <a:t>Workplace observation of practical skills</a:t>
            </a:r>
          </a:p>
          <a:p>
            <a:r>
              <a:rPr lang="en-US" dirty="0" smtClean="0"/>
              <a:t>Practical exercises</a:t>
            </a:r>
          </a:p>
          <a:p>
            <a:r>
              <a:rPr lang="en-US" dirty="0" smtClean="0"/>
              <a:t>Formal report from employer/supervisor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292080" y="1946579"/>
            <a:ext cx="2560320" cy="1704442"/>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1 – </a:t>
            </a:r>
            <a:r>
              <a:rPr lang="en-AU" smtClean="0"/>
              <a:t>Determine the features of a workplace training system</a:t>
            </a:r>
            <a:endParaRPr lang="en-US" dirty="0"/>
          </a:p>
        </p:txBody>
      </p:sp>
      <p:sp>
        <p:nvSpPr>
          <p:cNvPr id="3" name="Content Placeholder 2"/>
          <p:cNvSpPr>
            <a:spLocks noGrp="1"/>
          </p:cNvSpPr>
          <p:nvPr>
            <p:ph idx="1"/>
          </p:nvPr>
        </p:nvSpPr>
        <p:spPr>
          <a:xfrm>
            <a:off x="251520" y="1988840"/>
            <a:ext cx="4752528" cy="4464496"/>
          </a:xfrm>
        </p:spPr>
        <p:txBody>
          <a:bodyPr>
            <a:normAutofit lnSpcReduction="10000"/>
          </a:bodyPr>
          <a:lstStyle/>
          <a:p>
            <a:pPr marL="36576" indent="0">
              <a:buNone/>
            </a:pPr>
            <a:r>
              <a:rPr lang="en-US" dirty="0" smtClean="0"/>
              <a:t>Performance Criteria for this Element are:</a:t>
            </a:r>
          </a:p>
          <a:p>
            <a:r>
              <a:rPr lang="en-AU" dirty="0" smtClean="0"/>
              <a:t>Identify key operational features and constraints of the workplace training system</a:t>
            </a:r>
            <a:endParaRPr lang="en-US" dirty="0" smtClean="0"/>
          </a:p>
          <a:p>
            <a:pPr lvl="1"/>
            <a:r>
              <a:rPr lang="en-AU" dirty="0" smtClean="0"/>
              <a:t>Research enterprise requirements in relation to the workplace training system</a:t>
            </a:r>
          </a:p>
          <a:p>
            <a:pPr lvl="1"/>
            <a:r>
              <a:rPr lang="en-AU" dirty="0" smtClean="0"/>
              <a:t>Identify the legal and other requirements that apply to the establishment and operation of the workplace training system</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796136" y="1951175"/>
            <a:ext cx="1632586" cy="324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1 – </a:t>
            </a:r>
            <a:r>
              <a:rPr lang="en-AU" smtClean="0"/>
              <a:t>Determine the features of a workplace training system</a:t>
            </a:r>
            <a:endParaRPr lang="en-US" dirty="0"/>
          </a:p>
        </p:txBody>
      </p:sp>
      <p:sp>
        <p:nvSpPr>
          <p:cNvPr id="3" name="Content Placeholder 2"/>
          <p:cNvSpPr>
            <a:spLocks noGrp="1"/>
          </p:cNvSpPr>
          <p:nvPr>
            <p:ph idx="1"/>
          </p:nvPr>
        </p:nvSpPr>
        <p:spPr>
          <a:xfrm>
            <a:off x="251520" y="1988840"/>
            <a:ext cx="4248472" cy="4137323"/>
          </a:xfrm>
        </p:spPr>
        <p:txBody>
          <a:bodyPr>
            <a:normAutofit lnSpcReduction="10000"/>
          </a:bodyPr>
          <a:lstStyle/>
          <a:p>
            <a:r>
              <a:rPr lang="en-AU" dirty="0" smtClean="0"/>
              <a:t>Document and verify identified operational features and constraints of the workplace training system</a:t>
            </a:r>
          </a:p>
          <a:p>
            <a:r>
              <a:rPr lang="en-AU" dirty="0" smtClean="0"/>
              <a:t>Establish and maintain relationships with key stakeholders</a:t>
            </a:r>
          </a:p>
          <a:p>
            <a:r>
              <a:rPr lang="en-AU" dirty="0" smtClean="0"/>
              <a:t>Identify the resources available to support the identified workplace training system requirements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92080" y="1969307"/>
            <a:ext cx="2861320" cy="245957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p:txBody>
          <a:bodyPr/>
          <a:lstStyle/>
          <a:p>
            <a:pPr marL="36576" indent="0">
              <a:buNone/>
            </a:pPr>
            <a:r>
              <a:rPr lang="en-US" dirty="0" smtClean="0"/>
              <a:t>Points to note </a:t>
            </a:r>
            <a:r>
              <a:rPr lang="en-AU" dirty="0" smtClean="0"/>
              <a:t>when working to determine the features of/for a workplace training which is to be established</a:t>
            </a:r>
            <a:r>
              <a:rPr lang="en-US" dirty="0" smtClean="0"/>
              <a:t>:</a:t>
            </a:r>
          </a:p>
          <a:p>
            <a:r>
              <a:rPr lang="en-US" dirty="0" smtClean="0"/>
              <a:t>Use a team approach</a:t>
            </a:r>
          </a:p>
          <a:p>
            <a:r>
              <a:rPr lang="en-US" dirty="0" smtClean="0"/>
              <a:t>Be prepared to work in a difficult and fraught environment</a:t>
            </a:r>
          </a:p>
          <a:p>
            <a:r>
              <a:rPr lang="en-US" dirty="0" smtClean="0"/>
              <a:t>Document everything</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47680" y="1988840"/>
            <a:ext cx="3023976" cy="20159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p:txBody>
          <a:bodyPr/>
          <a:lstStyle/>
          <a:p>
            <a:pPr marL="36576" indent="0">
              <a:buNone/>
            </a:pPr>
            <a:r>
              <a:rPr lang="en-US" dirty="0" smtClean="0"/>
              <a:t>Stakeholders in the development process will vary depending on:</a:t>
            </a:r>
          </a:p>
          <a:p>
            <a:r>
              <a:rPr lang="en-US" dirty="0" smtClean="0"/>
              <a:t>Size and structure of the </a:t>
            </a:r>
            <a:r>
              <a:rPr lang="en-US" dirty="0" err="1" smtClean="0"/>
              <a:t>organisation</a:t>
            </a:r>
            <a:endParaRPr lang="en-US" dirty="0" smtClean="0"/>
          </a:p>
          <a:p>
            <a:r>
              <a:rPr lang="en-US" dirty="0" smtClean="0"/>
              <a:t>Whether the system is to be </a:t>
            </a:r>
            <a:r>
              <a:rPr lang="en-US" dirty="0" err="1" smtClean="0"/>
              <a:t>recognised</a:t>
            </a:r>
            <a:r>
              <a:rPr lang="en-US" dirty="0" smtClean="0"/>
              <a:t>/accredited or not</a:t>
            </a:r>
          </a:p>
          <a:p>
            <a:r>
              <a:rPr lang="en-US" dirty="0" smtClean="0"/>
              <a:t>Partnership arrangements which exist between the business and other businesses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21038" y="1988840"/>
            <a:ext cx="3251326" cy="21673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p:txBody>
          <a:bodyPr/>
          <a:lstStyle/>
          <a:p>
            <a:pPr marL="36576" indent="0">
              <a:buNone/>
            </a:pPr>
            <a:r>
              <a:rPr lang="en-US" dirty="0" smtClean="0"/>
              <a:t>Key stakeholders may include:</a:t>
            </a:r>
          </a:p>
          <a:p>
            <a:r>
              <a:rPr lang="en-US" dirty="0" smtClean="0"/>
              <a:t>Business owners</a:t>
            </a:r>
          </a:p>
          <a:p>
            <a:r>
              <a:rPr lang="en-US" dirty="0" smtClean="0"/>
              <a:t>Board of Management</a:t>
            </a:r>
          </a:p>
          <a:p>
            <a:r>
              <a:rPr lang="en-US" dirty="0" smtClean="0"/>
              <a:t>Industry bodies</a:t>
            </a:r>
          </a:p>
          <a:p>
            <a:r>
              <a:rPr lang="en-US" dirty="0" smtClean="0"/>
              <a:t>Trainers and assessors</a:t>
            </a:r>
          </a:p>
          <a:p>
            <a:r>
              <a:rPr lang="en-US" dirty="0" smtClean="0"/>
              <a:t>Team leaders/supervisors</a:t>
            </a:r>
          </a:p>
          <a:p>
            <a:pPr marL="36576" lvl="0" indent="0">
              <a:buNone/>
            </a:pPr>
            <a:endParaRPr lang="en-US" sz="2400" dirty="0"/>
          </a:p>
          <a:p>
            <a:pPr marL="36576" lvl="0" indent="0">
              <a:buNone/>
            </a:pPr>
            <a:r>
              <a:rPr lang="en-US" sz="1400" dirty="0"/>
              <a:t>(Points continued in TM</a:t>
            </a:r>
            <a:r>
              <a:rPr lang="en-US" sz="1400" dirty="0" smtClean="0"/>
              <a:t>)</a:t>
            </a:r>
            <a:endParaRPr lang="en-US" sz="1400" dirty="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456898" y="1988840"/>
            <a:ext cx="1680000" cy="252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p:txBody>
          <a:bodyPr/>
          <a:lstStyle/>
          <a:p>
            <a:pPr marL="36576" indent="0">
              <a:buNone/>
            </a:pPr>
            <a:r>
              <a:rPr lang="en-US" dirty="0" smtClean="0"/>
              <a:t>Possible operational features:</a:t>
            </a:r>
          </a:p>
          <a:p>
            <a:r>
              <a:rPr lang="en-US" dirty="0" smtClean="0"/>
              <a:t>Purpose of and identified outcomes for the system</a:t>
            </a:r>
          </a:p>
          <a:p>
            <a:r>
              <a:rPr lang="en-US" dirty="0" smtClean="0"/>
              <a:t>Scope of training</a:t>
            </a:r>
          </a:p>
          <a:p>
            <a:r>
              <a:rPr lang="en-US" dirty="0" smtClean="0"/>
              <a:t>Minimum requirements for trainers and assessors</a:t>
            </a:r>
          </a:p>
          <a:p>
            <a:r>
              <a:rPr lang="en-US" dirty="0" smtClean="0"/>
              <a:t>Record keeping requirements</a:t>
            </a:r>
          </a:p>
          <a:p>
            <a:pPr marL="36576" lvl="0" indent="0">
              <a:buNone/>
            </a:pPr>
            <a:endParaRPr lang="en-US" sz="2400" dirty="0"/>
          </a:p>
          <a:p>
            <a:pPr marL="36576" lvl="0" indent="0">
              <a:buNone/>
            </a:pPr>
            <a:r>
              <a:rPr lang="en-US" sz="1400" dirty="0"/>
              <a:t>(Points continued in TM</a:t>
            </a:r>
            <a:r>
              <a:rPr lang="en-US" sz="1400" dirty="0" smtClean="0"/>
              <a: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76056" y="2013642"/>
            <a:ext cx="3294422" cy="299160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a:xfrm>
            <a:off x="251520" y="1988840"/>
            <a:ext cx="5400600" cy="4392488"/>
          </a:xfrm>
        </p:spPr>
        <p:txBody>
          <a:bodyPr>
            <a:normAutofit lnSpcReduction="10000"/>
          </a:bodyPr>
          <a:lstStyle/>
          <a:p>
            <a:pPr marL="36576" indent="0">
              <a:buNone/>
            </a:pPr>
            <a:r>
              <a:rPr lang="en-AU" dirty="0" smtClean="0"/>
              <a:t>Purpose of and identified outcomes for the training – issues may include/relate to</a:t>
            </a:r>
            <a:r>
              <a:rPr lang="en-US" dirty="0" smtClean="0"/>
              <a:t>:</a:t>
            </a:r>
          </a:p>
          <a:p>
            <a:r>
              <a:rPr lang="en-AU" dirty="0" smtClean="0"/>
              <a:t>Desire for increased productivity</a:t>
            </a:r>
            <a:endParaRPr lang="en-US" dirty="0" smtClean="0"/>
          </a:p>
          <a:p>
            <a:r>
              <a:rPr lang="en-AU" dirty="0" smtClean="0"/>
              <a:t>Need for identification and development of new products and services</a:t>
            </a:r>
          </a:p>
          <a:p>
            <a:r>
              <a:rPr lang="en-AU" dirty="0" smtClean="0"/>
              <a:t>Need for identification of existing products and services which can be improved</a:t>
            </a:r>
          </a:p>
          <a:p>
            <a:r>
              <a:rPr lang="en-AU" dirty="0" smtClean="0"/>
              <a:t>Talent pool available to the business</a:t>
            </a:r>
            <a:endParaRPr lang="en-US" dirty="0" smtClean="0"/>
          </a:p>
          <a:p>
            <a:pPr marL="36576" lvl="0" indent="0">
              <a:buNone/>
            </a:pPr>
            <a:endParaRPr lang="en-US" sz="2400" dirty="0"/>
          </a:p>
          <a:p>
            <a:pPr marL="36576" lvl="0" indent="0">
              <a:buNone/>
            </a:pPr>
            <a:r>
              <a:rPr lang="en-US" sz="1500" dirty="0"/>
              <a:t>(Points continued in TM)</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796136" y="2132856"/>
            <a:ext cx="1828623" cy="324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p:txBody>
          <a:bodyPr/>
          <a:lstStyle/>
          <a:p>
            <a:pPr marL="36576" indent="0">
              <a:buNone/>
            </a:pPr>
            <a:r>
              <a:rPr lang="en-US" dirty="0" smtClean="0"/>
              <a:t>Scope of the training system</a:t>
            </a:r>
            <a:r>
              <a:rPr lang="en-AU" dirty="0" smtClean="0"/>
              <a:t> – issues may include/relate to</a:t>
            </a:r>
            <a:r>
              <a:rPr lang="en-US" dirty="0" smtClean="0"/>
              <a:t>:</a:t>
            </a:r>
          </a:p>
          <a:p>
            <a:r>
              <a:rPr lang="en-AU" dirty="0" smtClean="0"/>
              <a:t>Training orientation to be used by the business </a:t>
            </a:r>
          </a:p>
          <a:p>
            <a:r>
              <a:rPr lang="en-AU" dirty="0" smtClean="0"/>
              <a:t>Sites the training system will operate from </a:t>
            </a:r>
          </a:p>
          <a:p>
            <a:r>
              <a:rPr lang="en-AU" dirty="0" smtClean="0"/>
              <a:t>Physical location of training to be conducted in the workplace </a:t>
            </a:r>
            <a:endParaRPr lang="en-US" dirty="0" smtClean="0"/>
          </a:p>
          <a:p>
            <a:pPr marL="36576" lvl="0" indent="0">
              <a:buNone/>
            </a:pPr>
            <a:endParaRPr lang="en-US" sz="2400" dirty="0"/>
          </a:p>
          <a:p>
            <a:pPr marL="36576" lvl="0" indent="0">
              <a:buNone/>
            </a:pPr>
            <a:r>
              <a:rPr lang="en-US" sz="1400" dirty="0"/>
              <a:t>(Points continued in TM</a:t>
            </a:r>
            <a:r>
              <a:rPr lang="en-US" sz="1400" dirty="0" smtClean="0"/>
              <a:t>)</a:t>
            </a:r>
            <a:endParaRPr lang="en-US" sz="1400" dirty="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64088" y="1988840"/>
            <a:ext cx="1740721" cy="324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a:xfrm>
            <a:off x="251520" y="1988840"/>
            <a:ext cx="4680520" cy="4392488"/>
          </a:xfrm>
        </p:spPr>
        <p:txBody>
          <a:bodyPr>
            <a:normAutofit lnSpcReduction="10000"/>
          </a:bodyPr>
          <a:lstStyle/>
          <a:p>
            <a:pPr marL="36576" indent="0">
              <a:buNone/>
            </a:pPr>
            <a:r>
              <a:rPr lang="en-AU" dirty="0" smtClean="0"/>
              <a:t>Minimum requirements for training system staff – issues may include/relate to</a:t>
            </a:r>
            <a:r>
              <a:rPr lang="en-US" dirty="0" smtClean="0"/>
              <a:t>:</a:t>
            </a:r>
          </a:p>
          <a:p>
            <a:r>
              <a:rPr lang="en-AU" dirty="0" smtClean="0"/>
              <a:t>Establishing minimum requirements for competencies and certification of trainers</a:t>
            </a:r>
          </a:p>
          <a:p>
            <a:r>
              <a:rPr lang="en-AU" dirty="0" smtClean="0"/>
              <a:t>Establishing minimum requirements for competencies and certification of assessors </a:t>
            </a:r>
          </a:p>
          <a:p>
            <a:r>
              <a:rPr lang="en-AU" dirty="0" smtClean="0"/>
              <a:t>Calculating number of training staff required</a:t>
            </a:r>
            <a:endParaRPr lang="en-US" sz="2400" dirty="0"/>
          </a:p>
          <a:p>
            <a:pPr marL="36576" lvl="0" indent="0">
              <a:buNone/>
            </a:pPr>
            <a:endParaRPr lang="en-US" sz="1400" dirty="0" smtClean="0"/>
          </a:p>
          <a:p>
            <a:pPr marL="36576" lvl="0" indent="0">
              <a:buNone/>
            </a:pPr>
            <a:r>
              <a:rPr lang="en-US" sz="1400" dirty="0" smtClean="0"/>
              <a:t>(</a:t>
            </a:r>
            <a:r>
              <a:rPr lang="en-US" sz="1400" dirty="0"/>
              <a:t>Points continued in TM)</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64088" y="1844824"/>
            <a:ext cx="1430152" cy="324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a:xfrm>
            <a:off x="251520" y="1988840"/>
            <a:ext cx="4680520" cy="4392488"/>
          </a:xfrm>
        </p:spPr>
        <p:txBody>
          <a:bodyPr>
            <a:normAutofit lnSpcReduction="10000"/>
          </a:bodyPr>
          <a:lstStyle/>
          <a:p>
            <a:pPr marL="36576" indent="0">
              <a:buNone/>
            </a:pPr>
            <a:r>
              <a:rPr lang="en-AU" dirty="0" smtClean="0"/>
              <a:t>Record keeping requirements – issues may include/relate to</a:t>
            </a:r>
            <a:r>
              <a:rPr lang="en-US" dirty="0" smtClean="0"/>
              <a:t>:</a:t>
            </a:r>
          </a:p>
          <a:p>
            <a:r>
              <a:rPr lang="en-AU" dirty="0" smtClean="0"/>
              <a:t>Integration of training records with other internal documentation</a:t>
            </a:r>
          </a:p>
          <a:p>
            <a:r>
              <a:rPr lang="en-AU" dirty="0" smtClean="0"/>
              <a:t>Identification of statistics/information required to assist with operational and financial decision making</a:t>
            </a:r>
          </a:p>
          <a:p>
            <a:r>
              <a:rPr lang="en-AU" dirty="0" smtClean="0"/>
              <a:t>Determination of record keeping demands of authorities </a:t>
            </a:r>
            <a:endParaRPr lang="en-US" dirty="0" smtClean="0"/>
          </a:p>
          <a:p>
            <a:pPr marL="36576" lvl="0" indent="0">
              <a:buNone/>
            </a:pPr>
            <a:endParaRPr lang="en-US" sz="2400" dirty="0"/>
          </a:p>
          <a:p>
            <a:pPr marL="36576" lvl="0" indent="0">
              <a:buNone/>
            </a:pPr>
            <a:r>
              <a:rPr lang="en-US" sz="1500" dirty="0"/>
              <a:t>(Points continued in TM</a:t>
            </a:r>
            <a:r>
              <a:rPr lang="en-US" sz="1500" dirty="0" smtClean="0"/>
              <a:t>)</a:t>
            </a:r>
            <a:endParaRPr lang="en-US" sz="1500" dirty="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772816"/>
            <a:ext cx="2151940" cy="324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p:txBody>
          <a:bodyPr/>
          <a:lstStyle/>
          <a:p>
            <a:pPr marL="36576" indent="0">
              <a:buNone/>
            </a:pPr>
            <a:r>
              <a:rPr lang="en-AU" dirty="0" smtClean="0"/>
              <a:t>Characteristics of training participants – issues may include/relate to</a:t>
            </a:r>
            <a:r>
              <a:rPr lang="en-US" dirty="0" smtClean="0"/>
              <a:t>:</a:t>
            </a:r>
          </a:p>
          <a:p>
            <a:r>
              <a:rPr lang="en-AU" dirty="0" smtClean="0"/>
              <a:t>History of learners</a:t>
            </a:r>
            <a:endParaRPr lang="en-US" dirty="0" smtClean="0"/>
          </a:p>
          <a:p>
            <a:r>
              <a:rPr lang="en-AU" dirty="0" smtClean="0"/>
              <a:t>Identification of individual differences that may affect training delivery</a:t>
            </a:r>
          </a:p>
          <a:p>
            <a:r>
              <a:rPr lang="en-AU" dirty="0" smtClean="0"/>
              <a:t>Allowable adjustments to training assessment</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436096" y="1997050"/>
            <a:ext cx="1546416" cy="359218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p:txBody>
          <a:bodyPr/>
          <a:lstStyle/>
          <a:p>
            <a:pPr marL="36576" indent="0">
              <a:buNone/>
            </a:pPr>
            <a:r>
              <a:rPr lang="en-AU" dirty="0" smtClean="0"/>
              <a:t>Legislated requirements – issues may include/relate to</a:t>
            </a:r>
            <a:r>
              <a:rPr lang="en-US" dirty="0" smtClean="0"/>
              <a:t>:</a:t>
            </a:r>
          </a:p>
          <a:p>
            <a:r>
              <a:rPr lang="en-AU" dirty="0" smtClean="0"/>
              <a:t>Legal obligations imposed by all countries where the organisation operates its training system</a:t>
            </a:r>
          </a:p>
          <a:p>
            <a:r>
              <a:rPr lang="en-AU" dirty="0" smtClean="0"/>
              <a:t>Industrial relations and employment-related issues</a:t>
            </a:r>
          </a:p>
          <a:p>
            <a:r>
              <a:rPr lang="en-US" dirty="0" smtClean="0"/>
              <a:t>Compliance-related responsibilities</a:t>
            </a:r>
          </a:p>
          <a:p>
            <a:r>
              <a:rPr lang="en-AU" dirty="0" smtClean="0"/>
              <a:t>Compulsory equal opportunity requirements </a:t>
            </a:r>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68144" y="2020469"/>
            <a:ext cx="1673731" cy="2520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a:xfrm>
            <a:off x="251520" y="1988840"/>
            <a:ext cx="4680520" cy="4464496"/>
          </a:xfrm>
        </p:spPr>
        <p:txBody>
          <a:bodyPr>
            <a:normAutofit lnSpcReduction="10000"/>
          </a:bodyPr>
          <a:lstStyle/>
          <a:p>
            <a:pPr marL="36576" indent="0">
              <a:buNone/>
            </a:pPr>
            <a:r>
              <a:rPr lang="en-AU" dirty="0" smtClean="0"/>
              <a:t>Allocation of fees and costs – issues may include/relate to</a:t>
            </a:r>
            <a:r>
              <a:rPr lang="en-US" dirty="0" smtClean="0"/>
              <a:t>:</a:t>
            </a:r>
          </a:p>
          <a:p>
            <a:r>
              <a:rPr lang="en-AU" dirty="0" smtClean="0"/>
              <a:t>Legal requirements prohibiting organisations from charging for work-related training</a:t>
            </a:r>
          </a:p>
          <a:p>
            <a:r>
              <a:rPr lang="en-AU" dirty="0" smtClean="0"/>
              <a:t>Business opportunities provided by capacity to act as a training provider for others</a:t>
            </a:r>
            <a:endParaRPr lang="en-US" dirty="0" smtClean="0"/>
          </a:p>
          <a:p>
            <a:r>
              <a:rPr lang="en-AU" dirty="0" smtClean="0"/>
              <a:t>Identification of possible funding options for vocational training and assessment</a:t>
            </a:r>
            <a:endParaRPr lang="en-US" dirty="0" smtClean="0"/>
          </a:p>
          <a:p>
            <a:pPr marL="36576" lvl="0" indent="0">
              <a:buNone/>
            </a:pPr>
            <a:endParaRPr lang="en-US" sz="2400" dirty="0"/>
          </a:p>
          <a:p>
            <a:pPr marL="36576" lvl="0" indent="0">
              <a:buNone/>
            </a:pPr>
            <a:r>
              <a:rPr lang="en-US" sz="1400" dirty="0"/>
              <a:t>(Points continued in TM</a:t>
            </a:r>
            <a:r>
              <a:rPr lang="en-US" sz="1400" dirty="0" smtClean="0"/>
              <a:t>)</a:t>
            </a:r>
            <a:endParaRPr lang="en-US" sz="1400" dirty="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64088" y="1988840"/>
            <a:ext cx="2033016" cy="304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p:txBody>
          <a:bodyPr/>
          <a:lstStyle/>
          <a:p>
            <a:pPr marL="36576" indent="0">
              <a:buNone/>
            </a:pPr>
            <a:r>
              <a:rPr lang="en-AU" dirty="0" smtClean="0"/>
              <a:t>Review and evaluation – issues may include/relate to</a:t>
            </a:r>
            <a:r>
              <a:rPr lang="en-US" dirty="0" smtClean="0"/>
              <a:t>:</a:t>
            </a:r>
          </a:p>
          <a:p>
            <a:r>
              <a:rPr lang="en-AU" dirty="0" smtClean="0"/>
              <a:t>Standard periodic reporting procedures</a:t>
            </a:r>
          </a:p>
          <a:p>
            <a:r>
              <a:rPr lang="en-AU" dirty="0" smtClean="0"/>
              <a:t>Topics which need to be the focus for review and evaluation</a:t>
            </a:r>
          </a:p>
          <a:p>
            <a:r>
              <a:rPr lang="en-AU" dirty="0" smtClean="0"/>
              <a:t>Methodology for gaining user-feedback</a:t>
            </a:r>
            <a:endParaRPr lang="en-US" dirty="0" smtClean="0"/>
          </a:p>
          <a:p>
            <a:pPr marL="36576" lvl="0" indent="0">
              <a:buNone/>
            </a:pPr>
            <a:endParaRPr lang="en-US" sz="2400" dirty="0"/>
          </a:p>
          <a:p>
            <a:pPr marL="36576" lvl="0" indent="0">
              <a:buNone/>
            </a:pPr>
            <a:r>
              <a:rPr lang="en-US" sz="1400" dirty="0"/>
              <a:t>(Points continued in TM</a:t>
            </a:r>
            <a:r>
              <a:rPr lang="en-US" sz="1400" dirty="0" smtClean="0"/>
              <a:t>)</a:t>
            </a:r>
            <a:endParaRPr lang="en-US" sz="1400" dirty="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17</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1953703"/>
            <a:ext cx="3048000" cy="203301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Promotion of the training system</a:t>
            </a:r>
            <a:r>
              <a:rPr lang="en-AU" dirty="0" smtClean="0"/>
              <a:t> – issues may include/relate to</a:t>
            </a:r>
            <a:r>
              <a:rPr lang="en-US" dirty="0" smtClean="0"/>
              <a:t>:</a:t>
            </a:r>
          </a:p>
          <a:p>
            <a:r>
              <a:rPr lang="en-AU" dirty="0" smtClean="0"/>
              <a:t>Establishment of a formal and distinct ‘Training’ department </a:t>
            </a:r>
          </a:p>
          <a:p>
            <a:r>
              <a:rPr lang="en-AU" dirty="0" smtClean="0"/>
              <a:t>Creation of a range of strategies designed to proactively contact potential learners</a:t>
            </a:r>
          </a:p>
          <a:p>
            <a:r>
              <a:rPr lang="en-AU" dirty="0" smtClean="0"/>
              <a:t>Identification and selling of the benefits </a:t>
            </a:r>
            <a:endParaRPr lang="en-US" dirty="0" smtClean="0"/>
          </a:p>
          <a:p>
            <a:pPr marL="36576" lvl="0" indent="0">
              <a:buNone/>
            </a:pPr>
            <a:endParaRPr lang="en-US" sz="2400" dirty="0"/>
          </a:p>
          <a:p>
            <a:pPr marL="36576" lvl="0" indent="0">
              <a:buNone/>
            </a:pPr>
            <a:r>
              <a:rPr lang="en-US" sz="1400" dirty="0"/>
              <a:t>(Points continued in TM</a:t>
            </a:r>
            <a:r>
              <a:rPr lang="en-US" sz="1400" dirty="0" smtClean="0"/>
              <a:t>)</a:t>
            </a:r>
            <a:endParaRPr lang="en-US" sz="1400" dirty="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18</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436096" y="1974530"/>
            <a:ext cx="2592288" cy="250777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US" dirty="0"/>
          </a:p>
        </p:txBody>
      </p:sp>
      <p:sp>
        <p:nvSpPr>
          <p:cNvPr id="3" name="Content Placeholder 2"/>
          <p:cNvSpPr>
            <a:spLocks noGrp="1"/>
          </p:cNvSpPr>
          <p:nvPr>
            <p:ph idx="1"/>
          </p:nvPr>
        </p:nvSpPr>
        <p:spPr/>
        <p:txBody>
          <a:bodyPr/>
          <a:lstStyle/>
          <a:p>
            <a:r>
              <a:rPr lang="en-US" smtClean="0"/>
              <a:t>Constraints</a:t>
            </a:r>
          </a:p>
          <a:p>
            <a:r>
              <a:rPr lang="en-US" smtClean="0"/>
              <a:t>Background</a:t>
            </a:r>
          </a:p>
          <a:p>
            <a:r>
              <a:rPr lang="en-US" smtClean="0"/>
              <a:t>Examples</a:t>
            </a:r>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19</a:t>
            </a:fld>
            <a:endParaRPr lang="en-US" dirty="0"/>
          </a:p>
        </p:txBody>
      </p:sp>
      <p:pic>
        <p:nvPicPr>
          <p:cNvPr id="5" name="Picture 4"/>
          <p:cNvPicPr>
            <a:picLocks noChangeAspect="1"/>
          </p:cNvPicPr>
          <p:nvPr/>
        </p:nvPicPr>
        <p:blipFill rotWithShape="1">
          <a:blip r:embed="rId3" cstate="screen">
            <a:clrChange>
              <a:clrFrom>
                <a:srgbClr val="FEFEFE"/>
              </a:clrFrom>
              <a:clrTo>
                <a:srgbClr val="FEFEFE">
                  <a:alpha val="0"/>
                </a:srgbClr>
              </a:clrTo>
            </a:clrChange>
            <a:extLst>
              <a:ext uri="{28A0092B-C50C-407E-A947-70E740481C1C}">
                <a14:useLocalDpi xmlns:a14="http://schemas.microsoft.com/office/drawing/2010/main"/>
              </a:ext>
            </a:extLst>
          </a:blip>
          <a:srcRect/>
          <a:stretch/>
        </p:blipFill>
        <p:spPr>
          <a:xfrm>
            <a:off x="5148064" y="1988840"/>
            <a:ext cx="2232248" cy="293838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AU" dirty="0"/>
          </a:p>
        </p:txBody>
      </p:sp>
      <p:sp>
        <p:nvSpPr>
          <p:cNvPr id="3" name="Content Placeholder 2"/>
          <p:cNvSpPr>
            <a:spLocks noGrp="1"/>
          </p:cNvSpPr>
          <p:nvPr>
            <p:ph idx="1"/>
          </p:nvPr>
        </p:nvSpPr>
        <p:spPr>
          <a:xfrm>
            <a:off x="251520" y="1988840"/>
            <a:ext cx="5256584" cy="4608512"/>
          </a:xfrm>
        </p:spPr>
        <p:txBody>
          <a:bodyPr>
            <a:normAutofit fontScale="92500" lnSpcReduction="20000"/>
          </a:bodyPr>
          <a:lstStyle/>
          <a:p>
            <a:pPr marL="36576" indent="0">
              <a:buNone/>
            </a:pPr>
            <a:r>
              <a:rPr lang="en-AU" dirty="0" smtClean="0"/>
              <a:t>Websites</a:t>
            </a:r>
          </a:p>
          <a:p>
            <a:r>
              <a:rPr lang="en-AU" dirty="0" smtClean="0">
                <a:hlinkClick r:id="rId3"/>
              </a:rPr>
              <a:t>http://www.serviceskills.com.au/becoming-a-registered-training-organisation</a:t>
            </a:r>
            <a:r>
              <a:rPr lang="en-AU" dirty="0" smtClean="0"/>
              <a:t> - Becoming a registered training organisation</a:t>
            </a:r>
          </a:p>
          <a:p>
            <a:r>
              <a:rPr lang="en-AU" dirty="0" smtClean="0">
                <a:hlinkClick r:id="rId4"/>
              </a:rPr>
              <a:t>http://www.rtosupport.com.au/rto-support-services/prospective-rtos</a:t>
            </a:r>
            <a:r>
              <a:rPr lang="en-AU" dirty="0" smtClean="0"/>
              <a:t> - Prospective RTOs: thinking of becoming an RTO?</a:t>
            </a:r>
          </a:p>
          <a:p>
            <a:r>
              <a:rPr lang="en-AU" dirty="0" smtClean="0">
                <a:hlinkClick r:id="rId5"/>
              </a:rPr>
              <a:t>http://www.asqa.gov.au/vet-registration/understand-the-requirements-for-registration/understand-the-requirements-for-registration.html</a:t>
            </a:r>
            <a:r>
              <a:rPr lang="en-AU" dirty="0" smtClean="0"/>
              <a:t> - Understand the requirements for registration</a:t>
            </a:r>
          </a:p>
          <a:p>
            <a:pPr marL="36576" indent="0">
              <a:buNone/>
            </a:pPr>
            <a:endParaRPr lang="en-AU" sz="1500" dirty="0" smtClean="0"/>
          </a:p>
          <a:p>
            <a:pPr marL="36576" indent="0">
              <a:buNone/>
            </a:pPr>
            <a:r>
              <a:rPr lang="en-AU" sz="1500" dirty="0" smtClean="0"/>
              <a:t>(Continued)</a:t>
            </a:r>
          </a:p>
        </p:txBody>
      </p:sp>
      <p:sp>
        <p:nvSpPr>
          <p:cNvPr id="4" name="Slide Number Placeholder 3"/>
          <p:cNvSpPr>
            <a:spLocks noGrp="1"/>
          </p:cNvSpPr>
          <p:nvPr>
            <p:ph type="sldNum" sz="quarter" idx="12"/>
          </p:nvPr>
        </p:nvSpPr>
        <p:spPr/>
        <p:txBody>
          <a:bodyPr/>
          <a:lstStyle/>
          <a:p>
            <a:fld id="{90BDF71C-F485-43AE-8825-5070AF1EA8C9}" type="slidenum">
              <a:rPr lang="en-US" smtClean="0"/>
              <a:pPr/>
              <a:t>20</a:t>
            </a:fld>
            <a:endParaRPr lang="en-US" dirty="0"/>
          </a:p>
        </p:txBody>
      </p:sp>
      <p:pic>
        <p:nvPicPr>
          <p:cNvPr id="5" name="Picture 4"/>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724128" y="2204864"/>
            <a:ext cx="2578022" cy="1724697"/>
          </a:xfrm>
          <a:prstGeom prst="rect">
            <a:avLst/>
          </a:prstGeom>
        </p:spPr>
      </p:pic>
    </p:spTree>
    <p:extLst>
      <p:ext uri="{BB962C8B-B14F-4D97-AF65-F5344CB8AC3E}">
        <p14:creationId xmlns:p14="http://schemas.microsoft.com/office/powerpoint/2010/main" val="20949630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key operational features and constraints of workplace training system</a:t>
            </a:r>
            <a:endParaRPr lang="en-AU" dirty="0"/>
          </a:p>
        </p:txBody>
      </p:sp>
      <p:sp>
        <p:nvSpPr>
          <p:cNvPr id="3" name="Content Placeholder 2"/>
          <p:cNvSpPr>
            <a:spLocks noGrp="1"/>
          </p:cNvSpPr>
          <p:nvPr>
            <p:ph idx="1"/>
          </p:nvPr>
        </p:nvSpPr>
        <p:spPr>
          <a:xfrm>
            <a:off x="251520" y="1988840"/>
            <a:ext cx="5256584" cy="4608512"/>
          </a:xfrm>
        </p:spPr>
        <p:txBody>
          <a:bodyPr>
            <a:normAutofit fontScale="85000" lnSpcReduction="20000"/>
          </a:bodyPr>
          <a:lstStyle/>
          <a:p>
            <a:pPr marL="36576" indent="0">
              <a:buNone/>
            </a:pPr>
            <a:r>
              <a:rPr lang="en-AU" dirty="0" smtClean="0"/>
              <a:t>Websites (continued)</a:t>
            </a:r>
          </a:p>
          <a:p>
            <a:r>
              <a:rPr lang="en-AU" dirty="0" smtClean="0">
                <a:hlinkClick r:id="rId3"/>
              </a:rPr>
              <a:t>http://www.comlaw.gov.au/Details/F2014L01377</a:t>
            </a:r>
            <a:r>
              <a:rPr lang="en-AU" dirty="0" smtClean="0"/>
              <a:t> - Standards for RTOs 2015</a:t>
            </a:r>
          </a:p>
          <a:p>
            <a:r>
              <a:rPr lang="en-AU" dirty="0" smtClean="0">
                <a:hlinkClick r:id="rId4"/>
              </a:rPr>
              <a:t>http://vanguardvisions.com.au/six-steps-to-successfully-implementing-workplace-online-training/</a:t>
            </a:r>
            <a:r>
              <a:rPr lang="en-AU" dirty="0" smtClean="0"/>
              <a:t> - Six steps to successfully implementing workplace online training</a:t>
            </a:r>
          </a:p>
          <a:p>
            <a:r>
              <a:rPr lang="en-AU" dirty="0" smtClean="0">
                <a:hlinkClick r:id="rId5"/>
              </a:rPr>
              <a:t>http://www.ncver.edu.au/wps/wcm/connect/827bfae5-2630-4b8f-a0fa-29e31a4c3f86/nr9013.pdf?MOD=AJPERES&amp;CACHEID=827bfae5-2630-4b8f-a0fa-29e31a4c3f86</a:t>
            </a:r>
            <a:r>
              <a:rPr lang="en-AU" dirty="0" smtClean="0"/>
              <a:t> - Factors influencing the implementation of training and learning in the workplace (ANTA/NCVER publication) [Australian National Training Authority/National Centre for Vocational Education Research]</a:t>
            </a:r>
            <a:endParaRPr lang="en-AU"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21</a:t>
            </a:fld>
            <a:endParaRPr lang="en-US" dirty="0"/>
          </a:p>
        </p:txBody>
      </p:sp>
      <p:pic>
        <p:nvPicPr>
          <p:cNvPr id="5" name="Picture 4"/>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616947" y="1988840"/>
            <a:ext cx="2553993" cy="1708621"/>
          </a:xfrm>
          <a:prstGeom prst="rect">
            <a:avLst/>
          </a:prstGeom>
        </p:spPr>
      </p:pic>
    </p:spTree>
    <p:extLst>
      <p:ext uri="{BB962C8B-B14F-4D97-AF65-F5344CB8AC3E}">
        <p14:creationId xmlns:p14="http://schemas.microsoft.com/office/powerpoint/2010/main" val="11313077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Research enterprise requirements in relation to the workplace training system</a:t>
            </a:r>
            <a:endParaRPr lang="en-US" dirty="0"/>
          </a:p>
        </p:txBody>
      </p:sp>
      <p:sp>
        <p:nvSpPr>
          <p:cNvPr id="3" name="Content Placeholder 2"/>
          <p:cNvSpPr>
            <a:spLocks noGrp="1"/>
          </p:cNvSpPr>
          <p:nvPr>
            <p:ph idx="1"/>
          </p:nvPr>
        </p:nvSpPr>
        <p:spPr/>
        <p:txBody>
          <a:bodyPr/>
          <a:lstStyle/>
          <a:p>
            <a:pPr marL="36576" indent="0">
              <a:buNone/>
            </a:pPr>
            <a:r>
              <a:rPr lang="en-US" dirty="0" smtClean="0"/>
              <a:t>Research should involve:</a:t>
            </a:r>
          </a:p>
          <a:p>
            <a:r>
              <a:rPr lang="en-US" dirty="0" smtClean="0"/>
              <a:t>Conducting ‘qualitative’ research to generate ‘soft’ data</a:t>
            </a:r>
          </a:p>
          <a:p>
            <a:r>
              <a:rPr lang="en-US" dirty="0" smtClean="0"/>
              <a:t>Performing ‘quantitative’ research to generate ‘hard 'data</a:t>
            </a:r>
          </a:p>
          <a:p>
            <a:pPr lvl="0"/>
            <a:r>
              <a:rPr lang="en-US" dirty="0" smtClean="0"/>
              <a:t>Doing ‘secondary’ research</a:t>
            </a:r>
          </a:p>
          <a:p>
            <a:pPr lvl="0"/>
            <a:r>
              <a:rPr lang="en-US" dirty="0" smtClean="0"/>
              <a:t>Undertaking ‘primary’ research</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22</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27104" y="1988840"/>
            <a:ext cx="3048000" cy="203301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Research enterprise requirements in relation to the workplace training system</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SWOT analysis:</a:t>
            </a:r>
          </a:p>
          <a:p>
            <a:r>
              <a:rPr lang="en-US" dirty="0" smtClean="0"/>
              <a:t>Looks at Strengths, Weaknesses, Opportunities and Threats</a:t>
            </a:r>
          </a:p>
          <a:p>
            <a:r>
              <a:rPr lang="en-US" dirty="0" smtClean="0"/>
              <a:t>Is a fundamental pre-requisite for any </a:t>
            </a:r>
            <a:r>
              <a:rPr lang="en-US" dirty="0" err="1" smtClean="0"/>
              <a:t>organisation</a:t>
            </a:r>
            <a:r>
              <a:rPr lang="en-US" dirty="0" smtClean="0"/>
              <a:t>-related research</a:t>
            </a:r>
          </a:p>
          <a:p>
            <a:r>
              <a:rPr lang="en-US" dirty="0" smtClean="0"/>
              <a:t>Also known as:</a:t>
            </a:r>
          </a:p>
          <a:p>
            <a:pPr lvl="1"/>
            <a:r>
              <a:rPr lang="en-US" dirty="0" smtClean="0"/>
              <a:t>Situational analysis</a:t>
            </a:r>
          </a:p>
          <a:p>
            <a:pPr lvl="1"/>
            <a:r>
              <a:rPr lang="en-US" dirty="0" smtClean="0"/>
              <a:t>Situation analysis</a:t>
            </a:r>
          </a:p>
          <a:p>
            <a:pPr lvl="1"/>
            <a:r>
              <a:rPr lang="en-US" dirty="0" smtClean="0"/>
              <a:t>SWOT matrix</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23</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436096" y="1999682"/>
            <a:ext cx="2232248" cy="30304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Research enterprise requirements in relation to the workplace training system</a:t>
            </a:r>
            <a:endParaRPr lang="en-US" dirty="0"/>
          </a:p>
        </p:txBody>
      </p:sp>
      <p:sp>
        <p:nvSpPr>
          <p:cNvPr id="3" name="Content Placeholder 2"/>
          <p:cNvSpPr>
            <a:spLocks noGrp="1"/>
          </p:cNvSpPr>
          <p:nvPr>
            <p:ph idx="1"/>
          </p:nvPr>
        </p:nvSpPr>
        <p:spPr/>
        <p:txBody>
          <a:bodyPr/>
          <a:lstStyle/>
          <a:p>
            <a:pPr marL="36576" indent="0">
              <a:buNone/>
            </a:pPr>
            <a:r>
              <a:rPr lang="en-US" dirty="0" smtClean="0"/>
              <a:t>Internal factors – factors within the </a:t>
            </a:r>
            <a:r>
              <a:rPr lang="en-US" dirty="0" err="1" smtClean="0"/>
              <a:t>organisation</a:t>
            </a:r>
            <a:r>
              <a:rPr lang="en-US" dirty="0" smtClean="0"/>
              <a:t>:</a:t>
            </a:r>
          </a:p>
          <a:p>
            <a:r>
              <a:rPr lang="en-US" dirty="0" smtClean="0"/>
              <a:t>Strengths</a:t>
            </a:r>
          </a:p>
          <a:p>
            <a:r>
              <a:rPr lang="en-US" dirty="0" smtClean="0"/>
              <a:t>Weaknesses</a:t>
            </a:r>
          </a:p>
          <a:p>
            <a:pPr marL="36576" indent="0">
              <a:buNone/>
            </a:pPr>
            <a:r>
              <a:rPr lang="en-US" dirty="0" smtClean="0"/>
              <a:t>External factors – factors outside the </a:t>
            </a:r>
            <a:r>
              <a:rPr lang="en-US" dirty="0" err="1" smtClean="0"/>
              <a:t>organisation</a:t>
            </a:r>
            <a:r>
              <a:rPr lang="en-US" dirty="0" smtClean="0"/>
              <a:t>:</a:t>
            </a:r>
          </a:p>
          <a:p>
            <a:r>
              <a:rPr lang="en-US" dirty="0" smtClean="0"/>
              <a:t>Opportunities</a:t>
            </a:r>
          </a:p>
          <a:p>
            <a:r>
              <a:rPr lang="en-US" dirty="0" smtClean="0"/>
              <a:t>Threats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24</a:t>
            </a:fld>
            <a:endParaRPr lang="en-US" dirty="0"/>
          </a:p>
        </p:txBody>
      </p:sp>
      <p:pic>
        <p:nvPicPr>
          <p:cNvPr id="5" name="Picture 4"/>
          <p:cNvPicPr>
            <a:picLocks noChangeAspect="1"/>
          </p:cNvPicPr>
          <p:nvPr/>
        </p:nvPicPr>
        <p:blipFill rotWithShape="1">
          <a:blip r:embed="rId3" cstate="screen">
            <a:clrChange>
              <a:clrFrom>
                <a:srgbClr val="FEFEFE"/>
              </a:clrFrom>
              <a:clrTo>
                <a:srgbClr val="FEFEFE">
                  <a:alpha val="0"/>
                </a:srgbClr>
              </a:clrTo>
            </a:clrChange>
            <a:extLst>
              <a:ext uri="{28A0092B-C50C-407E-A947-70E740481C1C}">
                <a14:useLocalDpi xmlns:a14="http://schemas.microsoft.com/office/drawing/2010/main"/>
              </a:ext>
            </a:extLst>
          </a:blip>
          <a:srcRect/>
          <a:stretch/>
        </p:blipFill>
        <p:spPr>
          <a:xfrm>
            <a:off x="5148064" y="1988840"/>
            <a:ext cx="2232248" cy="293838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Research enterprise requirements in relation to the workplace training system</a:t>
            </a:r>
            <a:endParaRPr lang="en-US" dirty="0"/>
          </a:p>
        </p:txBody>
      </p:sp>
      <p:sp>
        <p:nvSpPr>
          <p:cNvPr id="3" name="Content Placeholder 2"/>
          <p:cNvSpPr>
            <a:spLocks noGrp="1"/>
          </p:cNvSpPr>
          <p:nvPr>
            <p:ph idx="1"/>
          </p:nvPr>
        </p:nvSpPr>
        <p:spPr/>
        <p:txBody>
          <a:bodyPr/>
          <a:lstStyle/>
          <a:p>
            <a:pPr marL="36576" indent="0">
              <a:buNone/>
            </a:pPr>
            <a:r>
              <a:rPr lang="en-US" dirty="0" smtClean="0"/>
              <a:t>Other options for researching </a:t>
            </a:r>
            <a:r>
              <a:rPr lang="en-US" dirty="0" err="1" smtClean="0"/>
              <a:t>organisational</a:t>
            </a:r>
            <a:r>
              <a:rPr lang="en-US" dirty="0" smtClean="0"/>
              <a:t>-specific factors and the </a:t>
            </a:r>
            <a:r>
              <a:rPr lang="en-US" dirty="0" err="1" smtClean="0"/>
              <a:t>organisational</a:t>
            </a:r>
            <a:r>
              <a:rPr lang="en-US" dirty="0" smtClean="0"/>
              <a:t> environment are:</a:t>
            </a:r>
          </a:p>
          <a:p>
            <a:r>
              <a:rPr lang="en-US" dirty="0" smtClean="0"/>
              <a:t>SLEPT</a:t>
            </a:r>
          </a:p>
          <a:p>
            <a:r>
              <a:rPr lang="en-US" dirty="0" smtClean="0"/>
              <a:t>PESTEL</a:t>
            </a:r>
          </a:p>
          <a:p>
            <a:r>
              <a:rPr lang="en-US" dirty="0" smtClean="0"/>
              <a:t>STEEPLE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25</a:t>
            </a:fld>
            <a:endParaRPr lang="en-US" dirty="0"/>
          </a:p>
        </p:txBody>
      </p:sp>
      <p:pic>
        <p:nvPicPr>
          <p:cNvPr id="5" name="Picture 4"/>
          <p:cNvPicPr>
            <a:picLocks noChangeAspect="1"/>
          </p:cNvPicPr>
          <p:nvPr/>
        </p:nvPicPr>
        <p:blipFill rotWithShape="1">
          <a:blip r:embed="rId3" cstate="screen">
            <a:clrChange>
              <a:clrFrom>
                <a:srgbClr val="FEFEFE"/>
              </a:clrFrom>
              <a:clrTo>
                <a:srgbClr val="FEFEFE">
                  <a:alpha val="0"/>
                </a:srgbClr>
              </a:clrTo>
            </a:clrChange>
            <a:extLst>
              <a:ext uri="{28A0092B-C50C-407E-A947-70E740481C1C}">
                <a14:useLocalDpi xmlns:a14="http://schemas.microsoft.com/office/drawing/2010/main"/>
              </a:ext>
            </a:extLst>
          </a:blip>
          <a:srcRect/>
          <a:stretch/>
        </p:blipFill>
        <p:spPr>
          <a:xfrm>
            <a:off x="5292080" y="2019631"/>
            <a:ext cx="2232248" cy="29513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Research enterprise requirements in relation to the workplace training system</a:t>
            </a:r>
            <a:endParaRPr lang="en-US" dirty="0"/>
          </a:p>
        </p:txBody>
      </p:sp>
      <p:sp>
        <p:nvSpPr>
          <p:cNvPr id="3" name="Content Placeholder 2"/>
          <p:cNvSpPr>
            <a:spLocks noGrp="1"/>
          </p:cNvSpPr>
          <p:nvPr>
            <p:ph idx="1"/>
          </p:nvPr>
        </p:nvSpPr>
        <p:spPr/>
        <p:txBody>
          <a:bodyPr/>
          <a:lstStyle/>
          <a:p>
            <a:endParaRPr lang="en-AU" smtClean="0"/>
          </a:p>
          <a:p>
            <a:r>
              <a:rPr lang="en-AU" smtClean="0"/>
              <a:t>Analysing market trends</a:t>
            </a:r>
          </a:p>
          <a:p>
            <a:r>
              <a:rPr lang="en-AU" smtClean="0"/>
              <a:t>Identifying licensing requirements</a:t>
            </a:r>
          </a:p>
          <a:p>
            <a:r>
              <a:rPr lang="en-AU" smtClean="0"/>
              <a:t>Reviewing job-related documentation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26</a:t>
            </a:fld>
            <a:endParaRPr lang="en-US" dirty="0"/>
          </a:p>
        </p:txBody>
      </p:sp>
      <p:pic>
        <p:nvPicPr>
          <p:cNvPr id="6" name="Pictur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2042246"/>
            <a:ext cx="3048000" cy="203911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Research enterprise requirements in relation to the workplace training system</a:t>
            </a:r>
            <a:endParaRPr lang="en-AU" dirty="0"/>
          </a:p>
        </p:txBody>
      </p:sp>
      <p:sp>
        <p:nvSpPr>
          <p:cNvPr id="3" name="Content Placeholder 2"/>
          <p:cNvSpPr>
            <a:spLocks noGrp="1"/>
          </p:cNvSpPr>
          <p:nvPr>
            <p:ph idx="1"/>
          </p:nvPr>
        </p:nvSpPr>
        <p:spPr>
          <a:xfrm>
            <a:off x="251520" y="1988840"/>
            <a:ext cx="5760640" cy="4464496"/>
          </a:xfrm>
        </p:spPr>
        <p:txBody>
          <a:bodyPr>
            <a:normAutofit fontScale="92500" lnSpcReduction="20000"/>
          </a:bodyPr>
          <a:lstStyle/>
          <a:p>
            <a:pPr marL="36576" indent="0">
              <a:buNone/>
            </a:pPr>
            <a:r>
              <a:rPr lang="en-AU" dirty="0" smtClean="0"/>
              <a:t>Websites</a:t>
            </a:r>
          </a:p>
          <a:p>
            <a:r>
              <a:rPr lang="en-AU" dirty="0" smtClean="0"/>
              <a:t>It is useful to read the following:</a:t>
            </a:r>
          </a:p>
          <a:p>
            <a:pPr lvl="1"/>
            <a:r>
              <a:rPr lang="en-AU" dirty="0" smtClean="0">
                <a:hlinkClick r:id="rId3"/>
              </a:rPr>
              <a:t>http://www.hr-guide.com/data/G510.htm</a:t>
            </a:r>
            <a:r>
              <a:rPr lang="en-AU" dirty="0" smtClean="0"/>
              <a:t> - Needs analysis: how to determine training needs</a:t>
            </a:r>
          </a:p>
          <a:p>
            <a:pPr lvl="1"/>
            <a:r>
              <a:rPr lang="en-AU" dirty="0" smtClean="0">
                <a:hlinkClick r:id="rId4"/>
              </a:rPr>
              <a:t>http://workforceplanningtools.com.au/tools/training-needs-analysis/</a:t>
            </a:r>
            <a:r>
              <a:rPr lang="en-AU" dirty="0" smtClean="0"/>
              <a:t> - Training Needs Analysis</a:t>
            </a:r>
          </a:p>
          <a:p>
            <a:pPr lvl="1"/>
            <a:r>
              <a:rPr lang="en-AU" dirty="0" smtClean="0">
                <a:hlinkClick r:id="rId5"/>
              </a:rPr>
              <a:t>http://www.businessballs.com/jobdescription.htm</a:t>
            </a:r>
            <a:r>
              <a:rPr lang="en-AU" dirty="0" smtClean="0"/>
              <a:t> - Job descriptions</a:t>
            </a:r>
          </a:p>
          <a:p>
            <a:pPr lvl="1"/>
            <a:r>
              <a:rPr lang="en-AU" dirty="0" smtClean="0">
                <a:hlinkClick r:id="rId6"/>
              </a:rPr>
              <a:t>http://humanresources.about.com/od/glossaryj/g/job_specification.htm</a:t>
            </a:r>
            <a:r>
              <a:rPr lang="en-AU" dirty="0" smtClean="0"/>
              <a:t> - Job specification</a:t>
            </a:r>
          </a:p>
          <a:p>
            <a:pPr lvl="1"/>
            <a:r>
              <a:rPr lang="en-AU" dirty="0" smtClean="0">
                <a:hlinkClick r:id="rId7"/>
              </a:rPr>
              <a:t>http://www.managementstudyguide.com/job-description-specification.htm</a:t>
            </a:r>
            <a:r>
              <a:rPr lang="en-AU" dirty="0" smtClean="0"/>
              <a:t> - Job description and job specification</a:t>
            </a:r>
          </a:p>
          <a:p>
            <a:endParaRPr lang="en-AU"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27</a:t>
            </a:fld>
            <a:endParaRPr lang="en-US" dirty="0"/>
          </a:p>
        </p:txBody>
      </p:sp>
      <p:pic>
        <p:nvPicPr>
          <p:cNvPr id="5" name="Picture 4"/>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6162727" y="2034628"/>
            <a:ext cx="2021861" cy="1348581"/>
          </a:xfrm>
          <a:prstGeom prst="rect">
            <a:avLst/>
          </a:prstGeom>
        </p:spPr>
      </p:pic>
    </p:spTree>
    <p:extLst>
      <p:ext uri="{BB962C8B-B14F-4D97-AF65-F5344CB8AC3E}">
        <p14:creationId xmlns:p14="http://schemas.microsoft.com/office/powerpoint/2010/main" val="25384401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Research enterprise requirements in relation to the workplace training system</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Meeting with others as part of the research process – may involve:</a:t>
            </a:r>
          </a:p>
          <a:p>
            <a:r>
              <a:rPr lang="en-AU" dirty="0" smtClean="0"/>
              <a:t>Talking to trainers/assessors who work in training systems at other organisations</a:t>
            </a:r>
          </a:p>
          <a:p>
            <a:r>
              <a:rPr lang="en-AU" dirty="0" smtClean="0"/>
              <a:t>Speaking with others who operate their own workplace training systems</a:t>
            </a:r>
          </a:p>
          <a:p>
            <a:r>
              <a:rPr lang="en-AU" dirty="0" smtClean="0"/>
              <a:t>Consulting with past students/learners</a:t>
            </a:r>
          </a:p>
          <a:p>
            <a:r>
              <a:rPr lang="en-AU" dirty="0" smtClean="0"/>
              <a:t>Researching prospective learners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28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60504" y="2171175"/>
            <a:ext cx="2039112" cy="3048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legal and other requirements that apply to </a:t>
            </a:r>
            <a:r>
              <a:rPr lang="en-US" smtClean="0"/>
              <a:t>the workplace training system</a:t>
            </a:r>
            <a:endParaRPr lang="en-AU" dirty="0"/>
          </a:p>
        </p:txBody>
      </p:sp>
      <p:sp>
        <p:nvSpPr>
          <p:cNvPr id="3" name="Content Placeholder 2"/>
          <p:cNvSpPr>
            <a:spLocks noGrp="1"/>
          </p:cNvSpPr>
          <p:nvPr>
            <p:ph idx="1"/>
          </p:nvPr>
        </p:nvSpPr>
        <p:spPr/>
        <p:txBody>
          <a:bodyPr/>
          <a:lstStyle/>
          <a:p>
            <a:r>
              <a:rPr lang="en-AU" smtClean="0"/>
              <a:t>Identifying requirements</a:t>
            </a:r>
          </a:p>
          <a:p>
            <a:r>
              <a:rPr lang="en-AU" smtClean="0"/>
              <a:t>Examples of requirements</a:t>
            </a:r>
          </a:p>
          <a:p>
            <a:pPr lvl="1"/>
            <a:r>
              <a:rPr lang="en-AU" smtClean="0"/>
              <a:t>Training systems operating as an unrecognised training provider</a:t>
            </a:r>
          </a:p>
          <a:p>
            <a:endParaRPr lang="en-AU" smtClean="0"/>
          </a:p>
          <a:p>
            <a:endParaRPr lang="en-AU" smtClean="0"/>
          </a:p>
          <a:p>
            <a:endParaRPr lang="en-AU"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29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1988840"/>
            <a:ext cx="3048000" cy="2103120"/>
          </a:xfrm>
          <a:prstGeom prst="rect">
            <a:avLst/>
          </a:prstGeom>
        </p:spPr>
      </p:pic>
    </p:spTree>
    <p:extLst>
      <p:ext uri="{BB962C8B-B14F-4D97-AF65-F5344CB8AC3E}">
        <p14:creationId xmlns:p14="http://schemas.microsoft.com/office/powerpoint/2010/main" val="18935298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legal and other requirements that apply to </a:t>
            </a:r>
            <a:r>
              <a:rPr lang="en-US" smtClean="0"/>
              <a:t>the workplace training system</a:t>
            </a:r>
            <a:endParaRPr lang="en-AU" dirty="0"/>
          </a:p>
        </p:txBody>
      </p:sp>
      <p:sp>
        <p:nvSpPr>
          <p:cNvPr id="3" name="Content Placeholder 2"/>
          <p:cNvSpPr>
            <a:spLocks noGrp="1"/>
          </p:cNvSpPr>
          <p:nvPr>
            <p:ph idx="1"/>
          </p:nvPr>
        </p:nvSpPr>
        <p:spPr/>
        <p:txBody>
          <a:bodyPr/>
          <a:lstStyle/>
          <a:p>
            <a:r>
              <a:rPr lang="en-AU" smtClean="0"/>
              <a:t>Examples of requirements</a:t>
            </a:r>
          </a:p>
          <a:p>
            <a:pPr lvl="1"/>
            <a:r>
              <a:rPr lang="en-AU" smtClean="0"/>
              <a:t>Training systems operating a recognised training provider</a:t>
            </a:r>
          </a:p>
          <a:p>
            <a:pPr lvl="1"/>
            <a:r>
              <a:rPr lang="en-AU" smtClean="0"/>
              <a:t>Other possible obligations</a:t>
            </a:r>
          </a:p>
          <a:p>
            <a:endParaRPr lang="en-AU" smtClean="0"/>
          </a:p>
          <a:p>
            <a:endParaRPr lang="en-AU" smtClean="0"/>
          </a:p>
          <a:p>
            <a:endParaRPr lang="en-AU"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30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2056154"/>
            <a:ext cx="3048000" cy="2033016"/>
          </a:xfrm>
          <a:prstGeom prst="rect">
            <a:avLst/>
          </a:prstGeom>
        </p:spPr>
      </p:pic>
    </p:spTree>
    <p:extLst>
      <p:ext uri="{BB962C8B-B14F-4D97-AF65-F5344CB8AC3E}">
        <p14:creationId xmlns:p14="http://schemas.microsoft.com/office/powerpoint/2010/main" val="3348867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legal and other requirements that apply to </a:t>
            </a:r>
            <a:r>
              <a:rPr lang="en-US" smtClean="0"/>
              <a:t>the workplace training system</a:t>
            </a:r>
            <a:endParaRPr lang="en-US" dirty="0"/>
          </a:p>
        </p:txBody>
      </p:sp>
      <p:sp>
        <p:nvSpPr>
          <p:cNvPr id="3" name="Content Placeholder 2"/>
          <p:cNvSpPr>
            <a:spLocks noGrp="1"/>
          </p:cNvSpPr>
          <p:nvPr>
            <p:ph idx="1"/>
          </p:nvPr>
        </p:nvSpPr>
        <p:spPr/>
        <p:txBody>
          <a:bodyPr/>
          <a:lstStyle/>
          <a:p>
            <a:pPr marL="36576" indent="0">
              <a:buNone/>
            </a:pPr>
            <a:r>
              <a:rPr lang="en-US" dirty="0" smtClean="0"/>
              <a:t>It is critical to understand:</a:t>
            </a:r>
          </a:p>
          <a:p>
            <a:r>
              <a:rPr lang="en-US" dirty="0" smtClean="0"/>
              <a:t>Legislated requirements are mandatory</a:t>
            </a:r>
          </a:p>
          <a:p>
            <a:r>
              <a:rPr lang="en-US" dirty="0" smtClean="0"/>
              <a:t>Failure to comply can mean:</a:t>
            </a:r>
          </a:p>
          <a:p>
            <a:r>
              <a:rPr lang="en-US" dirty="0" smtClean="0"/>
              <a:t>Initial registration will be denied</a:t>
            </a:r>
          </a:p>
          <a:p>
            <a:r>
              <a:rPr lang="en-US" dirty="0" smtClean="0"/>
              <a:t>Current registration  may be terminated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31</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32040" y="1957131"/>
            <a:ext cx="3221360" cy="266728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legal and other requirements that apply to </a:t>
            </a:r>
            <a:r>
              <a:rPr lang="en-US" smtClean="0"/>
              <a:t>the workplace training system</a:t>
            </a:r>
            <a:endParaRPr lang="en-US" dirty="0"/>
          </a:p>
        </p:txBody>
      </p:sp>
      <p:sp>
        <p:nvSpPr>
          <p:cNvPr id="3" name="Content Placeholder 2"/>
          <p:cNvSpPr>
            <a:spLocks noGrp="1"/>
          </p:cNvSpPr>
          <p:nvPr>
            <p:ph idx="1"/>
          </p:nvPr>
        </p:nvSpPr>
        <p:spPr>
          <a:xfrm>
            <a:off x="251520" y="1988840"/>
            <a:ext cx="4680520" cy="4608512"/>
          </a:xfrm>
        </p:spPr>
        <p:txBody>
          <a:bodyPr>
            <a:normAutofit lnSpcReduction="10000"/>
          </a:bodyPr>
          <a:lstStyle/>
          <a:p>
            <a:pPr marL="36576" indent="0">
              <a:buNone/>
            </a:pPr>
            <a:r>
              <a:rPr lang="en-US" dirty="0" smtClean="0"/>
              <a:t>Mandatory requirements must be complied with to:</a:t>
            </a:r>
          </a:p>
          <a:p>
            <a:r>
              <a:rPr lang="en-AU" dirty="0" smtClean="0"/>
              <a:t>Establish and maintain a high-level basic standard across all providers</a:t>
            </a:r>
          </a:p>
          <a:p>
            <a:r>
              <a:rPr lang="en-AU" dirty="0" smtClean="0"/>
              <a:t>Ensure quality and consistency in accredited training</a:t>
            </a:r>
          </a:p>
          <a:p>
            <a:r>
              <a:rPr lang="en-AU" dirty="0" smtClean="0"/>
              <a:t>Facilitate management of vocational training/assessment, record keeping and issuing of certification</a:t>
            </a:r>
          </a:p>
          <a:p>
            <a:r>
              <a:rPr lang="en-AU" dirty="0" smtClean="0"/>
              <a:t>Give confidence in accredited vocational training and assessment</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32</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44008" y="1988839"/>
            <a:ext cx="3509392" cy="265076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legal and other requirements that apply to </a:t>
            </a:r>
            <a:r>
              <a:rPr lang="en-US" smtClean="0"/>
              <a:t>the workplace training system</a:t>
            </a:r>
            <a:endParaRPr lang="en-US" dirty="0"/>
          </a:p>
        </p:txBody>
      </p:sp>
      <p:sp>
        <p:nvSpPr>
          <p:cNvPr id="3" name="Content Placeholder 2"/>
          <p:cNvSpPr>
            <a:spLocks noGrp="1"/>
          </p:cNvSpPr>
          <p:nvPr>
            <p:ph idx="1"/>
          </p:nvPr>
        </p:nvSpPr>
        <p:spPr/>
        <p:txBody>
          <a:bodyPr/>
          <a:lstStyle/>
          <a:p>
            <a:pPr marL="36576" indent="0">
              <a:buNone/>
            </a:pPr>
            <a:r>
              <a:rPr lang="en-US" dirty="0" smtClean="0"/>
              <a:t>There may also be other obligations – such as need to:</a:t>
            </a:r>
          </a:p>
          <a:p>
            <a:r>
              <a:rPr lang="en-AU" dirty="0" smtClean="0"/>
              <a:t>Comply with training requirements in employment contracts</a:t>
            </a:r>
            <a:endParaRPr lang="en-US" dirty="0" smtClean="0"/>
          </a:p>
          <a:p>
            <a:r>
              <a:rPr lang="en-AU" dirty="0" smtClean="0"/>
              <a:t>Deliver contracted training and assessment services to other businesses/personnel</a:t>
            </a:r>
          </a:p>
          <a:p>
            <a:r>
              <a:rPr lang="en-US" dirty="0" smtClean="0"/>
              <a:t>Meet internal requirements which exceed minimum, externally-imposed obligations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33</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499992" y="2204864"/>
            <a:ext cx="3456384" cy="230425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Document and verify identified operational features and constraints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Verification seeks to:</a:t>
            </a:r>
          </a:p>
          <a:p>
            <a:r>
              <a:rPr lang="en-AU" dirty="0" smtClean="0"/>
              <a:t>Confirm all features/constraints have been identified</a:t>
            </a:r>
          </a:p>
          <a:p>
            <a:r>
              <a:rPr lang="en-AU" dirty="0" smtClean="0"/>
              <a:t>Check each identified issue has been assessed</a:t>
            </a:r>
          </a:p>
          <a:p>
            <a:r>
              <a:rPr lang="en-AU" dirty="0" smtClean="0"/>
              <a:t>Validate data, research, findings and conclusions</a:t>
            </a:r>
          </a:p>
          <a:p>
            <a:r>
              <a:rPr lang="en-AU" dirty="0" smtClean="0"/>
              <a:t>Authenticate detail of information which is dubious, unclear or ambiguous</a:t>
            </a:r>
          </a:p>
          <a:p>
            <a:r>
              <a:rPr lang="en-AU" dirty="0" smtClean="0"/>
              <a:t>Gain agreement about information obtained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34</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08983" y="1988840"/>
            <a:ext cx="2223175" cy="309634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Document and verify identified operational features and constraints</a:t>
            </a:r>
            <a:endParaRPr lang="en-US" dirty="0"/>
          </a:p>
        </p:txBody>
      </p:sp>
      <p:sp>
        <p:nvSpPr>
          <p:cNvPr id="3" name="Content Placeholder 2"/>
          <p:cNvSpPr>
            <a:spLocks noGrp="1"/>
          </p:cNvSpPr>
          <p:nvPr>
            <p:ph idx="1"/>
          </p:nvPr>
        </p:nvSpPr>
        <p:spPr>
          <a:xfrm>
            <a:off x="251520" y="1988840"/>
            <a:ext cx="4680520" cy="4608512"/>
          </a:xfrm>
        </p:spPr>
        <p:txBody>
          <a:bodyPr>
            <a:normAutofit lnSpcReduction="10000"/>
          </a:bodyPr>
          <a:lstStyle/>
          <a:p>
            <a:pPr marL="36576" indent="0">
              <a:buNone/>
            </a:pPr>
            <a:r>
              <a:rPr lang="en-US" dirty="0" smtClean="0"/>
              <a:t>Practical aspects of verifying issues:</a:t>
            </a:r>
          </a:p>
          <a:p>
            <a:r>
              <a:rPr lang="en-US" dirty="0" smtClean="0"/>
              <a:t>Meeting with the research team</a:t>
            </a:r>
          </a:p>
          <a:p>
            <a:r>
              <a:rPr lang="en-US" dirty="0" smtClean="0"/>
              <a:t>Consulting with key stakeholders</a:t>
            </a:r>
          </a:p>
          <a:p>
            <a:r>
              <a:rPr lang="en-US" dirty="0" smtClean="0"/>
              <a:t>Re-calculating figures</a:t>
            </a:r>
          </a:p>
          <a:p>
            <a:pPr lvl="0"/>
            <a:r>
              <a:rPr lang="en-US" dirty="0" smtClean="0"/>
              <a:t>Running a final cost-benefit analysis</a:t>
            </a:r>
          </a:p>
          <a:p>
            <a:pPr lvl="0"/>
            <a:r>
              <a:rPr lang="en-US" dirty="0" smtClean="0"/>
              <a:t>Ensuring completeness of facts and figures</a:t>
            </a:r>
          </a:p>
          <a:p>
            <a:pPr lvl="0"/>
            <a:r>
              <a:rPr lang="en-US" dirty="0" smtClean="0"/>
              <a:t>Comparing proposed course of action with what others have done</a:t>
            </a:r>
          </a:p>
          <a:p>
            <a:pPr lvl="0"/>
            <a:r>
              <a:rPr lang="en-US" dirty="0" smtClean="0"/>
              <a:t>Obtaining final approval</a:t>
            </a:r>
            <a:endParaRPr lang="en-US" dirty="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35</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985048" y="1988840"/>
            <a:ext cx="3168352" cy="273630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Document and verify identified operational features and constraints</a:t>
            </a:r>
            <a:endParaRPr lang="en-US" dirty="0"/>
          </a:p>
        </p:txBody>
      </p:sp>
      <p:sp>
        <p:nvSpPr>
          <p:cNvPr id="3" name="Content Placeholder 2"/>
          <p:cNvSpPr>
            <a:spLocks noGrp="1"/>
          </p:cNvSpPr>
          <p:nvPr>
            <p:ph idx="1"/>
          </p:nvPr>
        </p:nvSpPr>
        <p:spPr/>
        <p:txBody>
          <a:bodyPr/>
          <a:lstStyle/>
          <a:p>
            <a:pPr marL="36576" indent="0">
              <a:buNone/>
            </a:pPr>
            <a:r>
              <a:rPr lang="en-US" dirty="0" smtClean="0"/>
              <a:t>Reasons to document:</a:t>
            </a:r>
          </a:p>
          <a:p>
            <a:r>
              <a:rPr lang="en-US" dirty="0" smtClean="0"/>
              <a:t>Give firm reference point</a:t>
            </a:r>
          </a:p>
          <a:p>
            <a:r>
              <a:rPr lang="en-US" dirty="0" smtClean="0"/>
              <a:t>Prove research was done</a:t>
            </a:r>
          </a:p>
          <a:p>
            <a:r>
              <a:rPr lang="en-US" dirty="0" smtClean="0"/>
              <a:t>Demonstrate ‘due diligence’</a:t>
            </a:r>
          </a:p>
          <a:p>
            <a:pPr marL="36576" lvl="0" indent="0">
              <a:buNone/>
            </a:pPr>
            <a:endParaRPr lang="en-US" sz="2400" dirty="0"/>
          </a:p>
          <a:p>
            <a:pPr marL="36576" lvl="0" indent="0">
              <a:buNone/>
            </a:pPr>
            <a:r>
              <a:rPr lang="en-US" sz="1400" dirty="0"/>
              <a:t>(Points continued in TM</a:t>
            </a:r>
            <a:r>
              <a:rPr lang="en-US" sz="1400" dirty="0" smtClean="0"/>
              <a:t>)</a:t>
            </a:r>
            <a:endParaRPr lang="en-US" sz="1400" dirty="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1988840"/>
            <a:ext cx="2033016" cy="3048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Establish and maintain relationships with key stakeholders</a:t>
            </a:r>
            <a:endParaRPr lang="en-US" dirty="0"/>
          </a:p>
        </p:txBody>
      </p:sp>
      <p:sp>
        <p:nvSpPr>
          <p:cNvPr id="3" name="Content Placeholder 2"/>
          <p:cNvSpPr>
            <a:spLocks noGrp="1"/>
          </p:cNvSpPr>
          <p:nvPr>
            <p:ph idx="1"/>
          </p:nvPr>
        </p:nvSpPr>
        <p:spPr/>
        <p:txBody>
          <a:bodyPr/>
          <a:lstStyle/>
          <a:p>
            <a:r>
              <a:rPr lang="en-AU" dirty="0" smtClean="0"/>
              <a:t>The research phase when designing a workplace training system begins a set of relationships with key stakeholders</a:t>
            </a:r>
          </a:p>
          <a:p>
            <a:r>
              <a:rPr lang="en-US" dirty="0" smtClean="0"/>
              <a:t>Stakeholders</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37</a:t>
            </a:fld>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436096" y="2132855"/>
            <a:ext cx="2160240" cy="3253373"/>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resources available to support identified workplace training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General classification of resources:</a:t>
            </a:r>
          </a:p>
          <a:p>
            <a:r>
              <a:rPr lang="en-US" dirty="0" smtClean="0"/>
              <a:t>Human resources</a:t>
            </a:r>
          </a:p>
          <a:p>
            <a:r>
              <a:rPr lang="en-US" dirty="0" smtClean="0"/>
              <a:t>Physical resources</a:t>
            </a:r>
          </a:p>
          <a:p>
            <a:r>
              <a:rPr lang="en-US" dirty="0" smtClean="0"/>
              <a:t>Financial resources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48064" y="1971062"/>
            <a:ext cx="2636520" cy="3048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resources available to support identified workplace training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Human resources = staff to support the system:</a:t>
            </a:r>
          </a:p>
          <a:p>
            <a:r>
              <a:rPr lang="en-US" dirty="0" smtClean="0"/>
              <a:t>Trainers</a:t>
            </a:r>
          </a:p>
          <a:p>
            <a:r>
              <a:rPr lang="en-US" dirty="0" smtClean="0"/>
              <a:t>Assessors</a:t>
            </a:r>
          </a:p>
          <a:p>
            <a:r>
              <a:rPr lang="en-US" dirty="0" smtClean="0"/>
              <a:t>Guest speakers</a:t>
            </a:r>
          </a:p>
          <a:p>
            <a:pPr marL="36576" lvl="0" indent="0">
              <a:buNone/>
            </a:pPr>
            <a:endParaRPr lang="en-US" sz="2400" dirty="0"/>
          </a:p>
          <a:p>
            <a:pPr marL="36576" lvl="0" indent="0">
              <a:buNone/>
            </a:pPr>
            <a:r>
              <a:rPr lang="en-US" sz="1400" dirty="0"/>
              <a:t>(Points continued in TM</a:t>
            </a:r>
            <a:r>
              <a:rPr lang="en-US" sz="1400" dirty="0" smtClean="0"/>
              <a:t>)</a:t>
            </a:r>
            <a:endParaRPr lang="en-US" sz="1400" dirty="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39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64088" y="2132856"/>
            <a:ext cx="2298192" cy="3048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resources available to support identified workplace training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Physical resources include:</a:t>
            </a:r>
          </a:p>
          <a:p>
            <a:r>
              <a:rPr lang="en-US" dirty="0" smtClean="0"/>
              <a:t>Training delivery equipment</a:t>
            </a:r>
          </a:p>
          <a:p>
            <a:r>
              <a:rPr lang="en-US" dirty="0" smtClean="0"/>
              <a:t>Training and assessment resources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79" y="1977896"/>
            <a:ext cx="2932739" cy="1955159"/>
          </a:xfrm>
          <a:prstGeom prst="rect">
            <a:avLst/>
          </a:prstGeom>
          <a:ln>
            <a:noFill/>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resources available to support identified workplace training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Financial resources = funding, which may be:</a:t>
            </a:r>
          </a:p>
          <a:p>
            <a:r>
              <a:rPr lang="en-US" dirty="0" smtClean="0"/>
              <a:t>Internally-based</a:t>
            </a:r>
          </a:p>
          <a:p>
            <a:r>
              <a:rPr lang="en-US" dirty="0" smtClean="0"/>
              <a:t>Received from outside the </a:t>
            </a:r>
            <a:r>
              <a:rPr lang="en-US" dirty="0" err="1" smtClean="0"/>
              <a:t>organisation</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41</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2024485"/>
            <a:ext cx="3048000" cy="203301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resources available to support identified workplace training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Ways to determine availability of resources:</a:t>
            </a:r>
          </a:p>
          <a:p>
            <a:r>
              <a:rPr lang="en-US" dirty="0" smtClean="0"/>
              <a:t>Talking with management</a:t>
            </a:r>
          </a:p>
          <a:p>
            <a:r>
              <a:rPr lang="en-US" dirty="0" smtClean="0"/>
              <a:t>Speaking with Finance department</a:t>
            </a:r>
          </a:p>
          <a:p>
            <a:r>
              <a:rPr lang="en-US" dirty="0" smtClean="0"/>
              <a:t>Contacting industry bodies</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42</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20072" y="2012697"/>
            <a:ext cx="3048000" cy="203301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resources available to support identified workplace training requirements</a:t>
            </a:r>
            <a:endParaRPr lang="en-US" dirty="0"/>
          </a:p>
        </p:txBody>
      </p:sp>
      <p:sp>
        <p:nvSpPr>
          <p:cNvPr id="3" name="Content Placeholder 2"/>
          <p:cNvSpPr>
            <a:spLocks noGrp="1"/>
          </p:cNvSpPr>
          <p:nvPr>
            <p:ph idx="1"/>
          </p:nvPr>
        </p:nvSpPr>
        <p:spPr/>
        <p:txBody>
          <a:bodyPr/>
          <a:lstStyle/>
          <a:p>
            <a:r>
              <a:rPr lang="en-US" dirty="0" smtClean="0"/>
              <a:t>Discussing options with Training Authority</a:t>
            </a:r>
          </a:p>
          <a:p>
            <a:r>
              <a:rPr lang="en-US" dirty="0" smtClean="0"/>
              <a:t>Asking others for help/donations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1988840"/>
            <a:ext cx="2371344" cy="3048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2 – </a:t>
            </a:r>
            <a:r>
              <a:rPr lang="en-AU" smtClean="0"/>
              <a:t>Align workplace training needs with required resources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Performance Criteria for this Element are:</a:t>
            </a:r>
          </a:p>
          <a:p>
            <a:r>
              <a:rPr lang="en-AU" dirty="0" smtClean="0"/>
              <a:t>Match human resources to identified workplace training needs</a:t>
            </a:r>
          </a:p>
          <a:p>
            <a:r>
              <a:rPr lang="en-AU" dirty="0" smtClean="0"/>
              <a:t>Match physical resources to identified workplace training needs</a:t>
            </a:r>
          </a:p>
          <a:p>
            <a:r>
              <a:rPr lang="en-AU" dirty="0" smtClean="0"/>
              <a:t>Match financial resources to identified workplace training needs</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44</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88024" y="1844824"/>
            <a:ext cx="2736304" cy="338651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2 – </a:t>
            </a:r>
            <a:r>
              <a:rPr lang="en-AU" smtClean="0"/>
              <a:t>Align workplace training needs with required resources</a:t>
            </a:r>
            <a:endParaRPr lang="en-US" dirty="0"/>
          </a:p>
        </p:txBody>
      </p:sp>
      <p:sp>
        <p:nvSpPr>
          <p:cNvPr id="3" name="Content Placeholder 2"/>
          <p:cNvSpPr>
            <a:spLocks noGrp="1"/>
          </p:cNvSpPr>
          <p:nvPr>
            <p:ph idx="1"/>
          </p:nvPr>
        </p:nvSpPr>
        <p:spPr/>
        <p:txBody>
          <a:bodyPr/>
          <a:lstStyle/>
          <a:p>
            <a:r>
              <a:rPr lang="en-AU" dirty="0" smtClean="0"/>
              <a:t>Identify external funding sources for the workplace training system</a:t>
            </a:r>
          </a:p>
          <a:p>
            <a:r>
              <a:rPr lang="en-AU" dirty="0" smtClean="0"/>
              <a:t>Prepare a budget for the workplace training system</a:t>
            </a:r>
          </a:p>
          <a:p>
            <a:r>
              <a:rPr lang="en-AU" dirty="0" smtClean="0"/>
              <a:t>Obtain management commitment to the workplace training system</a:t>
            </a:r>
          </a:p>
          <a:p>
            <a:r>
              <a:rPr lang="en-AU" dirty="0" smtClean="0"/>
              <a:t>Identify sources of provision for workplace training materials and delivery</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45</a:t>
            </a:fld>
            <a:endParaRPr lang="en-US" dirty="0"/>
          </a:p>
        </p:txBody>
      </p:sp>
      <p:pic>
        <p:nvPicPr>
          <p:cNvPr id="5" name="Picture 4"/>
          <p:cNvPicPr>
            <a:picLocks noChangeAspect="1"/>
          </p:cNvPicPr>
          <p:nvPr/>
        </p:nvPicPr>
        <p:blipFill rotWithShape="1">
          <a:blip r:embed="rId3" cstate="screen">
            <a:clrChange>
              <a:clrFrom>
                <a:srgbClr val="FCFCFC"/>
              </a:clrFrom>
              <a:clrTo>
                <a:srgbClr val="FCFCFC">
                  <a:alpha val="0"/>
                </a:srgbClr>
              </a:clrTo>
            </a:clrChange>
            <a:extLst>
              <a:ext uri="{28A0092B-C50C-407E-A947-70E740481C1C}">
                <a14:useLocalDpi xmlns:a14="http://schemas.microsoft.com/office/drawing/2010/main"/>
              </a:ext>
            </a:extLst>
          </a:blip>
          <a:srcRect l="36500" t="9341"/>
          <a:stretch/>
        </p:blipFill>
        <p:spPr>
          <a:xfrm>
            <a:off x="5854890" y="1705970"/>
            <a:ext cx="1981326" cy="424309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Match human resources to identified workplace training needs</a:t>
            </a:r>
            <a:endParaRPr lang="en-US" dirty="0"/>
          </a:p>
        </p:txBody>
      </p:sp>
      <p:sp>
        <p:nvSpPr>
          <p:cNvPr id="3" name="Content Placeholder 2"/>
          <p:cNvSpPr>
            <a:spLocks noGrp="1"/>
          </p:cNvSpPr>
          <p:nvPr>
            <p:ph idx="1"/>
          </p:nvPr>
        </p:nvSpPr>
        <p:spPr/>
        <p:txBody>
          <a:bodyPr/>
          <a:lstStyle/>
          <a:p>
            <a:r>
              <a:rPr lang="en-AU" dirty="0" smtClean="0"/>
              <a:t>Human resources need to be allocated to training and assessment needs to enable required outcomes/targets to be achieved</a:t>
            </a:r>
          </a:p>
          <a:p>
            <a:r>
              <a:rPr lang="en-AU" dirty="0" smtClean="0"/>
              <a:t>Overall perspective on resource allocation</a:t>
            </a:r>
          </a:p>
          <a:p>
            <a:r>
              <a:rPr lang="en-AU" dirty="0" smtClean="0"/>
              <a:t>Staffing considerations</a:t>
            </a:r>
          </a:p>
          <a:p>
            <a:endParaRPr lang="en-AU"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46</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04710" y="1700808"/>
            <a:ext cx="2844654" cy="3600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Match physical resources to identified workplace training needs</a:t>
            </a:r>
            <a:endParaRPr lang="en-US" dirty="0"/>
          </a:p>
        </p:txBody>
      </p:sp>
      <p:sp>
        <p:nvSpPr>
          <p:cNvPr id="3" name="Content Placeholder 2"/>
          <p:cNvSpPr>
            <a:spLocks noGrp="1"/>
          </p:cNvSpPr>
          <p:nvPr>
            <p:ph idx="1"/>
          </p:nvPr>
        </p:nvSpPr>
        <p:spPr/>
        <p:txBody>
          <a:bodyPr/>
          <a:lstStyle/>
          <a:p>
            <a:pPr marL="36576" indent="0">
              <a:buNone/>
            </a:pPr>
            <a:r>
              <a:rPr lang="en-US" dirty="0" smtClean="0"/>
              <a:t>Physical resources can be classified as:</a:t>
            </a:r>
          </a:p>
          <a:p>
            <a:r>
              <a:rPr lang="en-US" dirty="0" smtClean="0"/>
              <a:t>Training materials</a:t>
            </a:r>
          </a:p>
          <a:p>
            <a:r>
              <a:rPr lang="en-US" dirty="0" smtClean="0"/>
              <a:t>Consumables</a:t>
            </a:r>
          </a:p>
          <a:p>
            <a:r>
              <a:rPr lang="en-US" dirty="0" smtClean="0"/>
              <a:t>Equipment for training delivery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47</a:t>
            </a:fld>
            <a:endParaRPr lang="en-US" dirty="0"/>
          </a:p>
        </p:txBody>
      </p:sp>
      <p:pic>
        <p:nvPicPr>
          <p:cNvPr id="5" name="Picture 4"/>
          <p:cNvPicPr>
            <a:picLocks noChangeAspect="1"/>
          </p:cNvPicPr>
          <p:nvPr/>
        </p:nvPicPr>
        <p:blipFill>
          <a:blip r:embed="rId3" cstate="screen">
            <a:clrChange>
              <a:clrFrom>
                <a:srgbClr val="FEFEFE"/>
              </a:clrFrom>
              <a:clrTo>
                <a:srgbClr val="FEFEFE">
                  <a:alpha val="0"/>
                </a:srgbClr>
              </a:clrTo>
            </a:clrChange>
            <a:extLst>
              <a:ext uri="{28A0092B-C50C-407E-A947-70E740481C1C}">
                <a14:useLocalDpi xmlns:a14="http://schemas.microsoft.com/office/drawing/2010/main"/>
              </a:ext>
            </a:extLst>
          </a:blip>
          <a:stretch>
            <a:fillRect/>
          </a:stretch>
        </p:blipFill>
        <p:spPr>
          <a:xfrm>
            <a:off x="5220072" y="1772816"/>
            <a:ext cx="2400000" cy="3600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Match financial resources to identified workplace training needs</a:t>
            </a:r>
            <a:endParaRPr lang="en-US" dirty="0"/>
          </a:p>
        </p:txBody>
      </p:sp>
      <p:sp>
        <p:nvSpPr>
          <p:cNvPr id="3" name="Content Placeholder 2"/>
          <p:cNvSpPr>
            <a:spLocks noGrp="1"/>
          </p:cNvSpPr>
          <p:nvPr>
            <p:ph idx="1"/>
          </p:nvPr>
        </p:nvSpPr>
        <p:spPr/>
        <p:txBody>
          <a:bodyPr/>
          <a:lstStyle/>
          <a:p>
            <a:pPr marL="36576" indent="0">
              <a:buNone/>
            </a:pPr>
            <a:r>
              <a:rPr lang="en-US" dirty="0" smtClean="0"/>
              <a:t>Considerations regarding financial resources – need to address:</a:t>
            </a:r>
          </a:p>
          <a:p>
            <a:r>
              <a:rPr lang="en-US" dirty="0" smtClean="0"/>
              <a:t>Funds to pay trainers and assessors</a:t>
            </a:r>
          </a:p>
          <a:p>
            <a:r>
              <a:rPr lang="en-US" dirty="0" smtClean="0"/>
              <a:t>Money to back-fill staff who attend training</a:t>
            </a:r>
          </a:p>
          <a:p>
            <a:r>
              <a:rPr lang="en-US" dirty="0" smtClean="0"/>
              <a:t>Payment for staff who attend training out-of-hours</a:t>
            </a:r>
          </a:p>
          <a:p>
            <a:pPr marL="36576" indent="0">
              <a:buNone/>
            </a:pPr>
            <a:endParaRPr lang="en-US" sz="1400" dirty="0" smtClean="0"/>
          </a:p>
          <a:p>
            <a:pPr marL="36576" indent="0">
              <a:buNone/>
            </a:pPr>
            <a:r>
              <a:rPr lang="en-US" sz="1400" dirty="0" smtClean="0"/>
              <a:t>(Continued in TM)</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48</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1417638"/>
            <a:ext cx="2640000" cy="39600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Identify external funding sources for the workplace training system</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Potential external funding sources:</a:t>
            </a:r>
          </a:p>
          <a:p>
            <a:r>
              <a:rPr lang="en-US" dirty="0" smtClean="0"/>
              <a:t>Other departments in the </a:t>
            </a:r>
            <a:r>
              <a:rPr lang="en-US" dirty="0" err="1" smtClean="0"/>
              <a:t>organisation</a:t>
            </a:r>
            <a:endParaRPr lang="en-US" dirty="0" smtClean="0"/>
          </a:p>
          <a:p>
            <a:r>
              <a:rPr lang="en-US" dirty="0" smtClean="0"/>
              <a:t>Head office</a:t>
            </a:r>
          </a:p>
          <a:p>
            <a:r>
              <a:rPr lang="en-US" dirty="0" smtClean="0"/>
              <a:t>Sub-agencies</a:t>
            </a:r>
          </a:p>
          <a:p>
            <a:pPr lvl="0"/>
            <a:r>
              <a:rPr lang="en-AU" dirty="0" smtClean="0"/>
              <a:t>Suppliers, providers, carriers or destination operators</a:t>
            </a:r>
            <a:endParaRPr lang="en-US" dirty="0" smtClean="0"/>
          </a:p>
          <a:p>
            <a:pPr lvl="0"/>
            <a:r>
              <a:rPr lang="en-US" dirty="0" smtClean="0"/>
              <a:t>Government agencies</a:t>
            </a:r>
          </a:p>
          <a:p>
            <a:pPr lvl="0"/>
            <a:r>
              <a:rPr lang="en-US" dirty="0" smtClean="0"/>
              <a:t>Occasional funding from industry bodies</a:t>
            </a:r>
          </a:p>
          <a:p>
            <a:pPr lvl="0"/>
            <a:r>
              <a:rPr lang="en-US" dirty="0" smtClean="0"/>
              <a:t>Learners</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49</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436096" y="1772816"/>
            <a:ext cx="2255984" cy="3383976"/>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a budget for the workplace training system</a:t>
            </a:r>
            <a:endParaRPr lang="en-US" dirty="0"/>
          </a:p>
        </p:txBody>
      </p:sp>
      <p:sp>
        <p:nvSpPr>
          <p:cNvPr id="3" name="Content Placeholder 2"/>
          <p:cNvSpPr>
            <a:spLocks noGrp="1"/>
          </p:cNvSpPr>
          <p:nvPr>
            <p:ph idx="1"/>
          </p:nvPr>
        </p:nvSpPr>
        <p:spPr/>
        <p:txBody>
          <a:bodyPr/>
          <a:lstStyle/>
          <a:p>
            <a:pPr marL="36576" indent="0">
              <a:buNone/>
            </a:pPr>
            <a:r>
              <a:rPr lang="en-US" dirty="0" smtClean="0"/>
              <a:t>Matters to address when preparing budgets:</a:t>
            </a:r>
          </a:p>
          <a:p>
            <a:r>
              <a:rPr lang="en-AU" dirty="0" smtClean="0"/>
              <a:t>Access other/overall budgets and plans for the business</a:t>
            </a:r>
            <a:endParaRPr lang="en-US" dirty="0" smtClean="0"/>
          </a:p>
          <a:p>
            <a:r>
              <a:rPr lang="en-AU" dirty="0" smtClean="0"/>
              <a:t>Name likely or known income sources</a:t>
            </a:r>
          </a:p>
          <a:p>
            <a:r>
              <a:rPr lang="en-AU" dirty="0" smtClean="0"/>
              <a:t>Determine classification of expenditure budgets  </a:t>
            </a:r>
            <a:endParaRPr lang="en-US" dirty="0" smtClean="0"/>
          </a:p>
          <a:p>
            <a:pPr marL="36576" indent="0">
              <a:buNone/>
            </a:pPr>
            <a:endParaRPr lang="en-US" sz="1400" dirty="0" smtClean="0"/>
          </a:p>
          <a:p>
            <a:pPr marL="36576" indent="0">
              <a:buNone/>
            </a:pPr>
            <a:r>
              <a:rPr lang="en-US" sz="1400" dirty="0" smtClean="0"/>
              <a:t>(Continued in TM)</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50</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61665" y="1988840"/>
            <a:ext cx="2861320" cy="2940777"/>
          </a:xfrm>
          <a:prstGeom prst="rect">
            <a:avLst/>
          </a:prstGeom>
          <a:ln>
            <a:noFill/>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a budget for the workplace training system</a:t>
            </a:r>
            <a:endParaRPr lang="en-US" dirty="0"/>
          </a:p>
        </p:txBody>
      </p:sp>
      <p:sp>
        <p:nvSpPr>
          <p:cNvPr id="3" name="Content Placeholder 2"/>
          <p:cNvSpPr>
            <a:spLocks noGrp="1"/>
          </p:cNvSpPr>
          <p:nvPr>
            <p:ph idx="1"/>
          </p:nvPr>
        </p:nvSpPr>
        <p:spPr/>
        <p:txBody>
          <a:bodyPr/>
          <a:lstStyle/>
          <a:p>
            <a:pPr marL="36576" indent="0">
              <a:buNone/>
            </a:pPr>
            <a:r>
              <a:rPr lang="en-US" dirty="0" smtClean="0"/>
              <a:t>Considerations relating to expenditure budgets:</a:t>
            </a:r>
          </a:p>
          <a:p>
            <a:r>
              <a:rPr lang="en-US" dirty="0" smtClean="0"/>
              <a:t>Development costs</a:t>
            </a:r>
          </a:p>
          <a:p>
            <a:r>
              <a:rPr lang="en-US" dirty="0" smtClean="0"/>
              <a:t>Implementation costs</a:t>
            </a:r>
          </a:p>
          <a:p>
            <a:r>
              <a:rPr lang="en-US" dirty="0" smtClean="0"/>
              <a:t>Maintenance costs</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51</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92080" y="1772816"/>
            <a:ext cx="2399760" cy="3600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Obtain management commitment to the workplace training system</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Considerations and activities include:</a:t>
            </a:r>
          </a:p>
          <a:p>
            <a:r>
              <a:rPr lang="en-US" dirty="0" smtClean="0"/>
              <a:t>Demonstrate the benefits</a:t>
            </a:r>
          </a:p>
          <a:p>
            <a:r>
              <a:rPr lang="en-US" dirty="0" smtClean="0"/>
              <a:t>Highlighting disadvantages of not proceeding</a:t>
            </a:r>
          </a:p>
          <a:p>
            <a:r>
              <a:rPr lang="en-US" dirty="0" smtClean="0"/>
              <a:t>Considering a reward and recognition system</a:t>
            </a:r>
          </a:p>
          <a:p>
            <a:r>
              <a:rPr lang="en-US" dirty="0" smtClean="0"/>
              <a:t>Making a formal presentation</a:t>
            </a:r>
          </a:p>
          <a:p>
            <a:r>
              <a:rPr lang="en-US" dirty="0" smtClean="0"/>
              <a:t>Gaining agreement for practical support</a:t>
            </a:r>
          </a:p>
          <a:p>
            <a:r>
              <a:rPr lang="en-AU" dirty="0" smtClean="0"/>
              <a:t>Receiving advice from management</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52</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55976" y="1988840"/>
            <a:ext cx="3988604" cy="2957771"/>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sources of provision for workplace training materials and delivery</a:t>
            </a:r>
            <a:endParaRPr lang="en-US" dirty="0"/>
          </a:p>
        </p:txBody>
      </p:sp>
      <p:sp>
        <p:nvSpPr>
          <p:cNvPr id="3" name="Content Placeholder 2"/>
          <p:cNvSpPr>
            <a:spLocks noGrp="1"/>
          </p:cNvSpPr>
          <p:nvPr>
            <p:ph idx="1"/>
          </p:nvPr>
        </p:nvSpPr>
        <p:spPr/>
        <p:txBody>
          <a:bodyPr/>
          <a:lstStyle/>
          <a:p>
            <a:pPr marL="36576" indent="0">
              <a:buNone/>
            </a:pPr>
            <a:r>
              <a:rPr lang="en-US" dirty="0" smtClean="0"/>
              <a:t>Possible sources:</a:t>
            </a:r>
          </a:p>
          <a:p>
            <a:r>
              <a:rPr lang="en-AU" dirty="0" smtClean="0"/>
              <a:t>Existing informal training unit within the organisation or workplace</a:t>
            </a:r>
          </a:p>
          <a:p>
            <a:r>
              <a:rPr lang="en-AU" dirty="0" smtClean="0"/>
              <a:t>Outsourcing</a:t>
            </a:r>
          </a:p>
          <a:p>
            <a:r>
              <a:rPr lang="en-AU" dirty="0" smtClean="0"/>
              <a:t>Product suppliers</a:t>
            </a:r>
          </a:p>
          <a:p>
            <a:r>
              <a:rPr lang="en-AU" dirty="0" smtClean="0"/>
              <a:t>Service providers</a:t>
            </a:r>
          </a:p>
          <a:p>
            <a:r>
              <a:rPr lang="en-AU" dirty="0" smtClean="0"/>
              <a:t>Industry peak bodies</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1988840"/>
            <a:ext cx="2861320" cy="2145990"/>
          </a:xfrm>
          <a:prstGeom prst="rect">
            <a:avLst/>
          </a:prstGeom>
          <a:ln>
            <a:noFill/>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sources of provision for workplace training materials and delivery</a:t>
            </a:r>
            <a:endParaRPr lang="en-US" dirty="0"/>
          </a:p>
        </p:txBody>
      </p:sp>
      <p:sp>
        <p:nvSpPr>
          <p:cNvPr id="3" name="Content Placeholder 2"/>
          <p:cNvSpPr>
            <a:spLocks noGrp="1"/>
          </p:cNvSpPr>
          <p:nvPr>
            <p:ph idx="1"/>
          </p:nvPr>
        </p:nvSpPr>
        <p:spPr/>
        <p:txBody>
          <a:bodyPr/>
          <a:lstStyle/>
          <a:p>
            <a:r>
              <a:rPr lang="en-US" dirty="0" smtClean="0"/>
              <a:t>Government agencies</a:t>
            </a:r>
          </a:p>
          <a:p>
            <a:r>
              <a:rPr lang="en-US" dirty="0" smtClean="0"/>
              <a:t>Training institutions</a:t>
            </a:r>
          </a:p>
          <a:p>
            <a:r>
              <a:rPr lang="en-US" dirty="0" smtClean="0"/>
              <a:t>Other workplaces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54</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79" y="1966228"/>
            <a:ext cx="2842229" cy="1894819"/>
          </a:xfrm>
          <a:prstGeom prst="rect">
            <a:avLst/>
          </a:prstGeom>
          <a:ln>
            <a:noFill/>
          </a:ln>
          <a:effec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3 – </a:t>
            </a:r>
            <a:r>
              <a:rPr lang="en-AU" smtClean="0"/>
              <a:t>Develop workplace training system documents</a:t>
            </a:r>
            <a:endParaRPr lang="en-US" dirty="0"/>
          </a:p>
        </p:txBody>
      </p:sp>
      <p:sp>
        <p:nvSpPr>
          <p:cNvPr id="3" name="Content Placeholder 2"/>
          <p:cNvSpPr>
            <a:spLocks noGrp="1"/>
          </p:cNvSpPr>
          <p:nvPr>
            <p:ph idx="1"/>
          </p:nvPr>
        </p:nvSpPr>
        <p:spPr>
          <a:xfrm>
            <a:off x="251520" y="1988840"/>
            <a:ext cx="4680520" cy="4608512"/>
          </a:xfrm>
        </p:spPr>
        <p:txBody>
          <a:bodyPr>
            <a:normAutofit lnSpcReduction="10000"/>
          </a:bodyPr>
          <a:lstStyle/>
          <a:p>
            <a:pPr marL="36576" indent="0">
              <a:buNone/>
            </a:pPr>
            <a:r>
              <a:rPr lang="en-US" dirty="0" smtClean="0"/>
              <a:t>Performance Criteria for this Element are:</a:t>
            </a:r>
          </a:p>
          <a:p>
            <a:r>
              <a:rPr lang="en-AU" dirty="0" smtClean="0"/>
              <a:t>Develop training policies and procedures to support implementation and operation of the workplace training system</a:t>
            </a:r>
          </a:p>
          <a:p>
            <a:r>
              <a:rPr lang="en-AU" dirty="0" smtClean="0"/>
              <a:t>Identify record keeping requirements within the identified workplace training system</a:t>
            </a:r>
          </a:p>
          <a:p>
            <a:r>
              <a:rPr lang="en-AU" dirty="0" smtClean="0"/>
              <a:t>Produce operational training system forms to support and record workplace training delivery</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55</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1988840"/>
            <a:ext cx="2218104" cy="3240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US" dirty="0"/>
          </a:p>
        </p:txBody>
      </p:sp>
      <p:sp>
        <p:nvSpPr>
          <p:cNvPr id="3" name="Content Placeholder 2"/>
          <p:cNvSpPr>
            <a:spLocks noGrp="1"/>
          </p:cNvSpPr>
          <p:nvPr>
            <p:ph idx="1"/>
          </p:nvPr>
        </p:nvSpPr>
        <p:spPr/>
        <p:txBody>
          <a:bodyPr/>
          <a:lstStyle/>
          <a:p>
            <a:pPr marL="36576" indent="0">
              <a:buNone/>
            </a:pPr>
            <a:r>
              <a:rPr lang="en-US" dirty="0" smtClean="0"/>
              <a:t>Factors determining policies and procedures to be produced include:</a:t>
            </a:r>
          </a:p>
          <a:p>
            <a:r>
              <a:rPr lang="en-US" dirty="0" smtClean="0"/>
              <a:t>Whether the workplace training system is to be:</a:t>
            </a:r>
          </a:p>
          <a:p>
            <a:r>
              <a:rPr lang="en-US" dirty="0" smtClean="0"/>
              <a:t>A </a:t>
            </a:r>
            <a:r>
              <a:rPr lang="en-US" dirty="0" err="1" smtClean="0"/>
              <a:t>recognised</a:t>
            </a:r>
            <a:r>
              <a:rPr lang="en-US" dirty="0" smtClean="0"/>
              <a:t> training provider</a:t>
            </a:r>
          </a:p>
          <a:p>
            <a:r>
              <a:rPr lang="en-US" dirty="0" smtClean="0"/>
              <a:t>A non-</a:t>
            </a:r>
            <a:r>
              <a:rPr lang="en-US" dirty="0" err="1" smtClean="0"/>
              <a:t>recognised</a:t>
            </a:r>
            <a:r>
              <a:rPr lang="en-US" dirty="0" smtClean="0"/>
              <a:t>/non-accredited provider</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1988840"/>
            <a:ext cx="2232248" cy="3348372"/>
          </a:xfrm>
          <a:prstGeom prst="rect">
            <a:avLst/>
          </a:prstGeom>
          <a:ln>
            <a:noFill/>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US" dirty="0"/>
          </a:p>
        </p:txBody>
      </p:sp>
      <p:sp>
        <p:nvSpPr>
          <p:cNvPr id="3" name="Content Placeholder 2"/>
          <p:cNvSpPr>
            <a:spLocks noGrp="1"/>
          </p:cNvSpPr>
          <p:nvPr>
            <p:ph idx="1"/>
          </p:nvPr>
        </p:nvSpPr>
        <p:spPr/>
        <p:txBody>
          <a:bodyPr/>
          <a:lstStyle/>
          <a:p>
            <a:r>
              <a:rPr lang="en-US" dirty="0" smtClean="0"/>
              <a:t>Breadth and depth of policies and procedures existing in other areas of the </a:t>
            </a:r>
            <a:r>
              <a:rPr lang="en-US" dirty="0" err="1" smtClean="0"/>
              <a:t>organisation</a:t>
            </a:r>
            <a:endParaRPr lang="en-US" dirty="0" smtClean="0"/>
          </a:p>
          <a:p>
            <a:r>
              <a:rPr lang="en-US" dirty="0" smtClean="0"/>
              <a:t>Previous experience of the </a:t>
            </a:r>
            <a:r>
              <a:rPr lang="en-US" dirty="0" err="1" smtClean="0"/>
              <a:t>organisation</a:t>
            </a:r>
            <a:r>
              <a:rPr lang="en-US" dirty="0" smtClean="0"/>
              <a:t> with policies and procedures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57</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28229" y="1916832"/>
            <a:ext cx="3172876" cy="3240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US" dirty="0"/>
          </a:p>
        </p:txBody>
      </p:sp>
      <p:sp>
        <p:nvSpPr>
          <p:cNvPr id="3" name="Content Placeholder 2"/>
          <p:cNvSpPr>
            <a:spLocks noGrp="1"/>
          </p:cNvSpPr>
          <p:nvPr>
            <p:ph idx="1"/>
          </p:nvPr>
        </p:nvSpPr>
        <p:spPr/>
        <p:txBody>
          <a:bodyPr/>
          <a:lstStyle/>
          <a:p>
            <a:pPr marL="36576" indent="0">
              <a:buNone/>
            </a:pPr>
            <a:r>
              <a:rPr lang="en-US" dirty="0" smtClean="0"/>
              <a:t>It is important to note:</a:t>
            </a:r>
          </a:p>
          <a:p>
            <a:r>
              <a:rPr lang="en-US" dirty="0" smtClean="0"/>
              <a:t>Some </a:t>
            </a:r>
            <a:r>
              <a:rPr lang="en-US" dirty="0" err="1" smtClean="0"/>
              <a:t>organisations</a:t>
            </a:r>
            <a:r>
              <a:rPr lang="en-US" dirty="0" smtClean="0"/>
              <a:t> prepare separate documents for policies and procedures</a:t>
            </a:r>
          </a:p>
          <a:p>
            <a:r>
              <a:rPr lang="en-US" dirty="0" smtClean="0"/>
              <a:t>Some </a:t>
            </a:r>
            <a:r>
              <a:rPr lang="en-US" dirty="0" err="1" smtClean="0"/>
              <a:t>organisations</a:t>
            </a:r>
            <a:r>
              <a:rPr lang="en-US" dirty="0" smtClean="0"/>
              <a:t> combine the two</a:t>
            </a:r>
          </a:p>
          <a:p>
            <a:r>
              <a:rPr lang="en-US" dirty="0" smtClean="0"/>
              <a:t>There is a link between polices and procedures but they are different</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58</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51195" y="2060848"/>
            <a:ext cx="3465003" cy="2761861"/>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US" dirty="0"/>
          </a:p>
        </p:txBody>
      </p:sp>
      <p:sp>
        <p:nvSpPr>
          <p:cNvPr id="3" name="Content Placeholder 2"/>
          <p:cNvSpPr>
            <a:spLocks noGrp="1"/>
          </p:cNvSpPr>
          <p:nvPr>
            <p:ph idx="1"/>
          </p:nvPr>
        </p:nvSpPr>
        <p:spPr>
          <a:xfrm>
            <a:off x="251520" y="1988840"/>
            <a:ext cx="5040560" cy="4464496"/>
          </a:xfrm>
        </p:spPr>
        <p:txBody>
          <a:bodyPr>
            <a:normAutofit lnSpcReduction="10000"/>
          </a:bodyPr>
          <a:lstStyle/>
          <a:p>
            <a:pPr marL="36576" indent="0">
              <a:buNone/>
            </a:pPr>
            <a:r>
              <a:rPr lang="en-US" dirty="0" smtClean="0"/>
              <a:t>Characteristics of policies – they:</a:t>
            </a:r>
          </a:p>
          <a:p>
            <a:r>
              <a:rPr lang="en-AU" dirty="0" smtClean="0"/>
              <a:t>Represent the thinking/philosophy of the business</a:t>
            </a:r>
          </a:p>
          <a:p>
            <a:r>
              <a:rPr lang="en-AU" dirty="0" smtClean="0"/>
              <a:t>Define the position of the organisation on issues which are covered by the policy</a:t>
            </a:r>
          </a:p>
          <a:p>
            <a:r>
              <a:rPr lang="en-AU" dirty="0" smtClean="0"/>
              <a:t>Are developed before procedures</a:t>
            </a:r>
            <a:endParaRPr lang="en-US" dirty="0" smtClean="0"/>
          </a:p>
          <a:p>
            <a:pPr lvl="0"/>
            <a:r>
              <a:rPr lang="en-AU" dirty="0" smtClean="0"/>
              <a:t>State intention/expectations of the organisation and staff</a:t>
            </a:r>
          </a:p>
          <a:p>
            <a:pPr lvl="0"/>
            <a:r>
              <a:rPr lang="en-AU" dirty="0" smtClean="0"/>
              <a:t>Are the rules the organisation seeks to operate by</a:t>
            </a:r>
          </a:p>
          <a:p>
            <a:pPr lvl="0"/>
            <a:r>
              <a:rPr lang="en-AU" dirty="0" smtClean="0"/>
              <a:t>Give consistency in the way the organisation operates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59</a:t>
            </a:fld>
            <a:endParaRPr lang="en-US" dirty="0"/>
          </a:p>
        </p:txBody>
      </p:sp>
      <p:pic>
        <p:nvPicPr>
          <p:cNvPr id="5" name="Picture 4"/>
          <p:cNvPicPr>
            <a:picLocks noChangeAspect="1"/>
          </p:cNvPicPr>
          <p:nvPr/>
        </p:nvPicPr>
        <p:blipFill>
          <a:blip r:embed="rId3" cstate="screen">
            <a:clrChange>
              <a:clrFrom>
                <a:srgbClr val="FDFDFD"/>
              </a:clrFrom>
              <a:clrTo>
                <a:srgbClr val="FDFDFD">
                  <a:alpha val="0"/>
                </a:srgbClr>
              </a:clrTo>
            </a:clrChange>
            <a:extLst>
              <a:ext uri="{28A0092B-C50C-407E-A947-70E740481C1C}">
                <a14:useLocalDpi xmlns:a14="http://schemas.microsoft.com/office/drawing/2010/main"/>
              </a:ext>
            </a:extLst>
          </a:blip>
          <a:stretch>
            <a:fillRect/>
          </a:stretch>
        </p:blipFill>
        <p:spPr>
          <a:xfrm>
            <a:off x="5291812" y="1772816"/>
            <a:ext cx="2256251" cy="3384376"/>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US" dirty="0"/>
          </a:p>
        </p:txBody>
      </p:sp>
      <p:sp>
        <p:nvSpPr>
          <p:cNvPr id="3" name="Content Placeholder 2"/>
          <p:cNvSpPr>
            <a:spLocks noGrp="1"/>
          </p:cNvSpPr>
          <p:nvPr>
            <p:ph idx="1"/>
          </p:nvPr>
        </p:nvSpPr>
        <p:spPr/>
        <p:txBody>
          <a:bodyPr>
            <a:normAutofit lnSpcReduction="10000"/>
          </a:bodyPr>
          <a:lstStyle/>
          <a:p>
            <a:r>
              <a:rPr lang="en-AU" dirty="0" smtClean="0"/>
              <a:t>Contain a statement explaining the reason the policy has been prepared</a:t>
            </a:r>
          </a:p>
          <a:p>
            <a:r>
              <a:rPr lang="en-AU" dirty="0" smtClean="0"/>
              <a:t>Provide guidance to employees about what the organisation wants</a:t>
            </a:r>
          </a:p>
          <a:p>
            <a:r>
              <a:rPr lang="en-AU" dirty="0" smtClean="0"/>
              <a:t>Identify responsibilities for taking action to achieve the desired outcomes</a:t>
            </a:r>
            <a:endParaRPr lang="en-US" dirty="0" smtClean="0"/>
          </a:p>
          <a:p>
            <a:pPr lvl="0"/>
            <a:r>
              <a:rPr lang="en-AU" dirty="0" smtClean="0"/>
              <a:t>Prescribe timing considerations relevant to the issue</a:t>
            </a:r>
          </a:p>
          <a:p>
            <a:pPr marL="36576" lvl="0" indent="0">
              <a:buNone/>
            </a:pPr>
            <a:endParaRPr lang="en-US" sz="1400" dirty="0" smtClean="0"/>
          </a:p>
          <a:p>
            <a:pPr marL="36576" lvl="0" indent="0">
              <a:buNone/>
            </a:pPr>
            <a:r>
              <a:rPr lang="en-US" sz="1400" dirty="0" smtClean="0"/>
              <a:t>(Points continued in TM)</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60</a:t>
            </a:fld>
            <a:endParaRPr lang="en-US" dirty="0"/>
          </a:p>
        </p:txBody>
      </p:sp>
      <p:pic>
        <p:nvPicPr>
          <p:cNvPr id="5" name="Picture 2" descr="I:\Overseas Projects\PHOTOS\2014\Shutterstock 25-a-day\24 to 29 June 2014\shutterstock_153548027.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92080" y="1988840"/>
            <a:ext cx="2861320" cy="1909038"/>
          </a:xfrm>
          <a:prstGeom prst="rect">
            <a:avLst/>
          </a:prstGeom>
          <a:ln>
            <a:noFill/>
          </a:ln>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Characteristics of procedures – they:</a:t>
            </a:r>
          </a:p>
          <a:p>
            <a:r>
              <a:rPr lang="en-AU" dirty="0" smtClean="0"/>
              <a:t>Flow from policies – and it is possible there can be multiple different procedures linked to the one policy</a:t>
            </a:r>
          </a:p>
          <a:p>
            <a:r>
              <a:rPr lang="en-AU" dirty="0" smtClean="0"/>
              <a:t>Enable organisational plans and policies to be implemented</a:t>
            </a:r>
          </a:p>
          <a:p>
            <a:r>
              <a:rPr lang="en-AU" dirty="0" smtClean="0"/>
              <a:t>Nominate whose responsibility it is to take the actions set out in the procedures</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61</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364088" y="1976264"/>
            <a:ext cx="2289134" cy="3168352"/>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US" dirty="0"/>
          </a:p>
        </p:txBody>
      </p:sp>
      <p:sp>
        <p:nvSpPr>
          <p:cNvPr id="3" name="Content Placeholder 2"/>
          <p:cNvSpPr>
            <a:spLocks noGrp="1"/>
          </p:cNvSpPr>
          <p:nvPr>
            <p:ph idx="1"/>
          </p:nvPr>
        </p:nvSpPr>
        <p:spPr/>
        <p:txBody>
          <a:bodyPr>
            <a:normAutofit lnSpcReduction="10000"/>
          </a:bodyPr>
          <a:lstStyle/>
          <a:p>
            <a:r>
              <a:rPr lang="en-AU" smtClean="0"/>
              <a:t>Explain action to take to enable the intentions of policies to be attained</a:t>
            </a:r>
          </a:p>
          <a:p>
            <a:r>
              <a:rPr lang="en-AU" smtClean="0"/>
              <a:t>Describe action to be taken in given situations/circumstances</a:t>
            </a:r>
          </a:p>
          <a:p>
            <a:r>
              <a:rPr lang="en-AU" smtClean="0"/>
              <a:t>May contain steps in a process in sequential order</a:t>
            </a:r>
          </a:p>
          <a:p>
            <a:pPr lvl="0"/>
            <a:r>
              <a:rPr lang="en-AU" smtClean="0"/>
              <a:t>Give consistency to action</a:t>
            </a:r>
          </a:p>
          <a:p>
            <a:pPr lvl="0"/>
            <a:r>
              <a:rPr lang="en-AU" smtClean="0"/>
              <a:t>Avoid confusion of roles and responsibilities</a:t>
            </a:r>
          </a:p>
          <a:p>
            <a:pPr lvl="0"/>
            <a:r>
              <a:rPr lang="en-AU" smtClean="0"/>
              <a:t>Help prevent operational mistakes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62</a:t>
            </a:fld>
            <a:endParaRPr lang="en-US" dirty="0"/>
          </a:p>
        </p:txBody>
      </p:sp>
      <p:pic>
        <p:nvPicPr>
          <p:cNvPr id="5" name="Picture 2" descr="I:\Overseas Projects\PHOTOS\2014\Shutterstock 25-a-day\21 to 23 Jul 2014\shutterstock_174875954.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92080" y="1988840"/>
            <a:ext cx="2914048" cy="1944216"/>
          </a:xfrm>
          <a:prstGeom prst="rect">
            <a:avLst/>
          </a:prstGeom>
          <a:ln>
            <a:noFill/>
          </a:ln>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US" dirty="0"/>
          </a:p>
        </p:txBody>
      </p:sp>
      <p:sp>
        <p:nvSpPr>
          <p:cNvPr id="3" name="Content Placeholder 2"/>
          <p:cNvSpPr>
            <a:spLocks noGrp="1"/>
          </p:cNvSpPr>
          <p:nvPr>
            <p:ph idx="1"/>
          </p:nvPr>
        </p:nvSpPr>
        <p:spPr/>
        <p:txBody>
          <a:bodyPr/>
          <a:lstStyle/>
          <a:p>
            <a:r>
              <a:rPr lang="en-AU" smtClean="0"/>
              <a:t>Format and content</a:t>
            </a:r>
            <a:endParaRPr lang="en-US" smtClean="0"/>
          </a:p>
          <a:p>
            <a:r>
              <a:rPr lang="en-US" smtClean="0"/>
              <a:t>Organisational requirements for policies and procedures may be set out in a Style Guide </a:t>
            </a:r>
          </a:p>
          <a:p>
            <a:pPr lvl="0"/>
            <a:r>
              <a:rPr lang="en-US" smtClean="0"/>
              <a:t>Internal options</a:t>
            </a:r>
          </a:p>
          <a:p>
            <a:pPr lvl="0"/>
            <a:r>
              <a:rPr lang="en-US" smtClean="0"/>
              <a:t>External options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63</a:t>
            </a:fld>
            <a:endParaRPr lang="en-US" dirty="0"/>
          </a:p>
        </p:txBody>
      </p:sp>
      <p:pic>
        <p:nvPicPr>
          <p:cNvPr id="5" name="Picture 2" descr="I:\Overseas Projects\PHOTOS\2014\Shutterstock 25-a-day\21 to 23 Jul 2014\shutterstock_141396034.jpg"/>
          <p:cNvPicPr>
            <a:picLocks noChangeAspect="1" noChangeArrowheads="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4904347" y="1916832"/>
            <a:ext cx="2922245" cy="299814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US" dirty="0"/>
          </a:p>
        </p:txBody>
      </p:sp>
      <p:sp>
        <p:nvSpPr>
          <p:cNvPr id="3" name="Content Placeholder 2"/>
          <p:cNvSpPr>
            <a:spLocks noGrp="1"/>
          </p:cNvSpPr>
          <p:nvPr>
            <p:ph idx="1"/>
          </p:nvPr>
        </p:nvSpPr>
        <p:spPr/>
        <p:txBody>
          <a:bodyPr/>
          <a:lstStyle/>
          <a:p>
            <a:pPr marL="36576" indent="0">
              <a:buNone/>
            </a:pPr>
            <a:r>
              <a:rPr lang="en-US" dirty="0" smtClean="0"/>
              <a:t>Standard content of policies:</a:t>
            </a:r>
          </a:p>
          <a:p>
            <a:r>
              <a:rPr lang="en-AU" dirty="0" smtClean="0"/>
              <a:t>Name/title of the policy</a:t>
            </a:r>
          </a:p>
          <a:p>
            <a:r>
              <a:rPr lang="en-AU" dirty="0" smtClean="0"/>
              <a:t>Purpose of the policy</a:t>
            </a:r>
          </a:p>
          <a:p>
            <a:r>
              <a:rPr lang="en-AU" dirty="0" smtClean="0"/>
              <a:t>Scope of the policy </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64</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1772816"/>
            <a:ext cx="2374714" cy="3176638"/>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US" dirty="0"/>
          </a:p>
        </p:txBody>
      </p:sp>
      <p:sp>
        <p:nvSpPr>
          <p:cNvPr id="3" name="Content Placeholder 2"/>
          <p:cNvSpPr>
            <a:spLocks noGrp="1"/>
          </p:cNvSpPr>
          <p:nvPr>
            <p:ph idx="1"/>
          </p:nvPr>
        </p:nvSpPr>
        <p:spPr/>
        <p:txBody>
          <a:bodyPr/>
          <a:lstStyle/>
          <a:p>
            <a:pPr marL="36576" indent="0">
              <a:buNone/>
            </a:pPr>
            <a:r>
              <a:rPr lang="en-US" dirty="0" smtClean="0"/>
              <a:t>Procedures:</a:t>
            </a:r>
          </a:p>
          <a:p>
            <a:r>
              <a:rPr lang="en-US" dirty="0" smtClean="0"/>
              <a:t>Content will depend on the topic/activity for which they are prepared</a:t>
            </a:r>
          </a:p>
          <a:p>
            <a:r>
              <a:rPr lang="en-US" dirty="0" smtClean="0"/>
              <a:t>May be written in the form of:</a:t>
            </a:r>
          </a:p>
          <a:p>
            <a:r>
              <a:rPr lang="en-US" dirty="0" smtClean="0"/>
              <a:t>Checklists and Lists with bullet/dot points</a:t>
            </a:r>
          </a:p>
          <a:p>
            <a:r>
              <a:rPr lang="en-US" dirty="0" smtClean="0"/>
              <a:t>Written steps</a:t>
            </a:r>
          </a:p>
          <a:p>
            <a:r>
              <a:rPr lang="en-US" dirty="0" smtClean="0"/>
              <a:t>Flow charts and Process charts</a:t>
            </a:r>
          </a:p>
          <a:p>
            <a:r>
              <a:rPr lang="en-US" dirty="0" smtClean="0"/>
              <a:t>Procedural lists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65</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461541" y="1988840"/>
            <a:ext cx="3481152" cy="287996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US" dirty="0"/>
          </a:p>
        </p:txBody>
      </p:sp>
      <p:sp>
        <p:nvSpPr>
          <p:cNvPr id="3" name="Content Placeholder 2"/>
          <p:cNvSpPr>
            <a:spLocks noGrp="1"/>
          </p:cNvSpPr>
          <p:nvPr>
            <p:ph idx="1"/>
          </p:nvPr>
        </p:nvSpPr>
        <p:spPr>
          <a:xfrm>
            <a:off x="251520" y="1988840"/>
            <a:ext cx="4680520" cy="4392488"/>
          </a:xfrm>
        </p:spPr>
        <p:txBody>
          <a:bodyPr>
            <a:normAutofit/>
          </a:bodyPr>
          <a:lstStyle/>
          <a:p>
            <a:pPr marL="36576" indent="0">
              <a:buNone/>
            </a:pPr>
            <a:r>
              <a:rPr lang="en-US" dirty="0" smtClean="0"/>
              <a:t>Policies for workplace training systems may include:</a:t>
            </a:r>
          </a:p>
          <a:p>
            <a:r>
              <a:rPr lang="en-US" dirty="0" smtClean="0"/>
              <a:t>Purpose of training</a:t>
            </a:r>
          </a:p>
          <a:p>
            <a:r>
              <a:rPr lang="en-US" dirty="0" smtClean="0"/>
              <a:t>Framework for the provision of training and assessment</a:t>
            </a:r>
          </a:p>
          <a:p>
            <a:r>
              <a:rPr lang="en-US" dirty="0" smtClean="0"/>
              <a:t>Continuous improvement</a:t>
            </a:r>
          </a:p>
          <a:p>
            <a:pPr lvl="0"/>
            <a:r>
              <a:rPr lang="en-US" dirty="0" smtClean="0"/>
              <a:t>Industrial relations issues</a:t>
            </a:r>
          </a:p>
          <a:p>
            <a:pPr lvl="0"/>
            <a:r>
              <a:rPr lang="en-US" dirty="0" smtClean="0"/>
              <a:t>Eligibility for training</a:t>
            </a:r>
          </a:p>
          <a:p>
            <a:pPr lvl="0"/>
            <a:r>
              <a:rPr lang="en-US" dirty="0" smtClean="0"/>
              <a:t>Criteria for determining competency</a:t>
            </a:r>
          </a:p>
          <a:p>
            <a:pPr marL="36576" indent="0">
              <a:buNone/>
            </a:pPr>
            <a:endParaRPr lang="en-US" sz="1400" dirty="0" smtClean="0"/>
          </a:p>
          <a:p>
            <a:pPr marL="36576" indent="0">
              <a:buNone/>
            </a:pPr>
            <a:r>
              <a:rPr lang="en-US" sz="1400" dirty="0" smtClean="0"/>
              <a:t>(Continued)</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66</a:t>
            </a:fld>
            <a:endParaRPr lang="en-US" dirty="0"/>
          </a:p>
        </p:txBody>
      </p:sp>
      <p:pic>
        <p:nvPicPr>
          <p:cNvPr id="5" name="Picture 2" descr="I:\Overseas Projects\PHOTOS\2012\Front office 2012\shutterstock_96331862.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20072" y="1988840"/>
            <a:ext cx="2933328" cy="2322218"/>
          </a:xfrm>
          <a:prstGeom prst="rect">
            <a:avLst/>
          </a:prstGeom>
          <a:ln>
            <a:noFill/>
          </a:ln>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US" dirty="0"/>
          </a:p>
        </p:txBody>
      </p:sp>
      <p:sp>
        <p:nvSpPr>
          <p:cNvPr id="3" name="Content Placeholder 2"/>
          <p:cNvSpPr>
            <a:spLocks noGrp="1"/>
          </p:cNvSpPr>
          <p:nvPr>
            <p:ph idx="1"/>
          </p:nvPr>
        </p:nvSpPr>
        <p:spPr/>
        <p:txBody>
          <a:bodyPr>
            <a:normAutofit/>
          </a:bodyPr>
          <a:lstStyle/>
          <a:p>
            <a:pPr marL="36576" indent="0">
              <a:buNone/>
            </a:pPr>
            <a:r>
              <a:rPr lang="en-AU" dirty="0" smtClean="0"/>
              <a:t>In addition a very wide range of other polices may be generated if deemed necessary; for example:</a:t>
            </a:r>
            <a:endParaRPr lang="en-US" dirty="0" smtClean="0"/>
          </a:p>
          <a:p>
            <a:pPr lvl="0"/>
            <a:r>
              <a:rPr lang="en-US" dirty="0" smtClean="0"/>
              <a:t>Codes of Conduct </a:t>
            </a:r>
          </a:p>
          <a:p>
            <a:pPr lvl="0"/>
            <a:r>
              <a:rPr lang="en-US" dirty="0" smtClean="0"/>
              <a:t>Risk management</a:t>
            </a:r>
          </a:p>
          <a:p>
            <a:pPr lvl="0"/>
            <a:r>
              <a:rPr lang="en-US" dirty="0" smtClean="0"/>
              <a:t>Education quality</a:t>
            </a:r>
          </a:p>
          <a:p>
            <a:r>
              <a:rPr lang="en-US" dirty="0" smtClean="0"/>
              <a:t>Alcohol, drugs and smoking</a:t>
            </a:r>
          </a:p>
          <a:p>
            <a:r>
              <a:rPr lang="en-US" dirty="0" smtClean="0"/>
              <a:t>Reward and recognition</a:t>
            </a:r>
          </a:p>
          <a:p>
            <a:r>
              <a:rPr lang="en-US" dirty="0" smtClean="0"/>
              <a:t>Copyright</a:t>
            </a:r>
          </a:p>
          <a:p>
            <a:pPr marL="36576" indent="0">
              <a:buNone/>
            </a:pPr>
            <a:endParaRPr lang="en-US" sz="1400" dirty="0" smtClean="0"/>
          </a:p>
          <a:p>
            <a:pPr marL="36576" indent="0">
              <a:buNone/>
            </a:pPr>
            <a:r>
              <a:rPr lang="en-US" sz="1400" dirty="0" smtClean="0"/>
              <a:t>(Continued in TM)</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67</a:t>
            </a:fld>
            <a:endParaRPr lang="en-US" dirty="0"/>
          </a:p>
        </p:txBody>
      </p:sp>
      <p:pic>
        <p:nvPicPr>
          <p:cNvPr id="5" name="Picture 2" descr="I:\Overseas Projects\PHOTOS\2013\Office\MP900448685.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580112" y="1976990"/>
            <a:ext cx="2016224" cy="302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63835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training policies and procedures</a:t>
            </a:r>
            <a:endParaRPr lang="en-AU" dirty="0"/>
          </a:p>
        </p:txBody>
      </p:sp>
      <p:sp>
        <p:nvSpPr>
          <p:cNvPr id="3" name="Content Placeholder 2"/>
          <p:cNvSpPr>
            <a:spLocks noGrp="1"/>
          </p:cNvSpPr>
          <p:nvPr>
            <p:ph idx="1"/>
          </p:nvPr>
        </p:nvSpPr>
        <p:spPr/>
        <p:txBody>
          <a:bodyPr/>
          <a:lstStyle/>
          <a:p>
            <a:pPr marL="36576" indent="0">
              <a:buNone/>
            </a:pPr>
            <a:r>
              <a:rPr lang="en-AU" dirty="0" smtClean="0"/>
              <a:t>Websites</a:t>
            </a:r>
          </a:p>
          <a:p>
            <a:r>
              <a:rPr lang="en-AU" dirty="0" smtClean="0">
                <a:hlinkClick r:id="rId3"/>
              </a:rPr>
              <a:t>http://work.chron.com/workplace-training-policy-11928.html</a:t>
            </a:r>
            <a:r>
              <a:rPr lang="en-AU" dirty="0" smtClean="0"/>
              <a:t> - Workplace training policy</a:t>
            </a:r>
          </a:p>
          <a:p>
            <a:r>
              <a:rPr lang="en-AU" dirty="0" smtClean="0">
                <a:hlinkClick r:id="rId4"/>
              </a:rPr>
              <a:t>http://www.industrialrelations.nsw.gov.au/oirwww/Employment_info/Managing_employees/Workplace_policies_and_procedures.page</a:t>
            </a:r>
            <a:r>
              <a:rPr lang="en-AU" dirty="0" smtClean="0"/>
              <a:t> - Workplace policies and procedures</a:t>
            </a:r>
          </a:p>
          <a:p>
            <a:endParaRPr lang="en-AU"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68</a:t>
            </a:fld>
            <a:endParaRPr lang="en-US" dirty="0"/>
          </a:p>
        </p:txBody>
      </p:sp>
      <p:pic>
        <p:nvPicPr>
          <p:cNvPr id="5" name="Picture 4"/>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5290904" y="2001277"/>
            <a:ext cx="2376000" cy="3166595"/>
          </a:xfrm>
          <a:prstGeom prst="rect">
            <a:avLst/>
          </a:prstGeom>
          <a:ln>
            <a:noFill/>
          </a:ln>
          <a:effectLst/>
        </p:spPr>
      </p:pic>
    </p:spTree>
    <p:extLst>
      <p:ext uri="{BB962C8B-B14F-4D97-AF65-F5344CB8AC3E}">
        <p14:creationId xmlns:p14="http://schemas.microsoft.com/office/powerpoint/2010/main" val="1594597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Identify record keeping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Standard record keeping requirements:</a:t>
            </a:r>
          </a:p>
          <a:p>
            <a:r>
              <a:rPr lang="en-US" dirty="0" smtClean="0"/>
              <a:t>Must be user-friendly</a:t>
            </a:r>
          </a:p>
          <a:p>
            <a:r>
              <a:rPr lang="en-US" dirty="0" smtClean="0"/>
              <a:t>Must meet confidentiality standards</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69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79" y="1988840"/>
            <a:ext cx="2916033" cy="1944216"/>
          </a:xfrm>
          <a:prstGeom prst="rect">
            <a:avLst/>
          </a:prstGeom>
          <a:ln>
            <a:noFill/>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Identify record keeping requirements</a:t>
            </a:r>
            <a:endParaRPr lang="en-US" dirty="0"/>
          </a:p>
        </p:txBody>
      </p:sp>
      <p:sp>
        <p:nvSpPr>
          <p:cNvPr id="3" name="Content Placeholder 2"/>
          <p:cNvSpPr>
            <a:spLocks noGrp="1"/>
          </p:cNvSpPr>
          <p:nvPr>
            <p:ph idx="1"/>
          </p:nvPr>
        </p:nvSpPr>
        <p:spPr/>
        <p:txBody>
          <a:bodyPr/>
          <a:lstStyle/>
          <a:p>
            <a:r>
              <a:rPr lang="en-US" dirty="0" smtClean="0"/>
              <a:t>Must be securely kept</a:t>
            </a:r>
          </a:p>
          <a:p>
            <a:r>
              <a:rPr lang="en-US" dirty="0" smtClean="0"/>
              <a:t>May need to be retained for a nominated time</a:t>
            </a:r>
          </a:p>
          <a:p>
            <a:r>
              <a:rPr lang="en-US" dirty="0" smtClean="0"/>
              <a:t>May be soft and/or hard copy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70</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580112" y="1844824"/>
            <a:ext cx="2056467" cy="2973968"/>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Identify record keeping requirements</a:t>
            </a:r>
            <a:endParaRPr lang="en-US" dirty="0"/>
          </a:p>
        </p:txBody>
      </p:sp>
      <p:sp>
        <p:nvSpPr>
          <p:cNvPr id="3" name="Content Placeholder 2"/>
          <p:cNvSpPr>
            <a:spLocks noGrp="1"/>
          </p:cNvSpPr>
          <p:nvPr>
            <p:ph idx="1"/>
          </p:nvPr>
        </p:nvSpPr>
        <p:spPr/>
        <p:txBody>
          <a:bodyPr/>
          <a:lstStyle/>
          <a:p>
            <a:pPr marL="36576" indent="0">
              <a:buNone/>
            </a:pPr>
            <a:r>
              <a:rPr lang="en-US" dirty="0" smtClean="0"/>
              <a:t>Reasons/need to keep records:</a:t>
            </a:r>
          </a:p>
          <a:p>
            <a:r>
              <a:rPr lang="en-US" dirty="0" smtClean="0"/>
              <a:t>Compliance with internal policies</a:t>
            </a:r>
          </a:p>
          <a:p>
            <a:r>
              <a:rPr lang="en-US" dirty="0" smtClean="0"/>
              <a:t>Compliance with external obligations</a:t>
            </a:r>
          </a:p>
          <a:p>
            <a:r>
              <a:rPr lang="en-US" dirty="0" smtClean="0"/>
              <a:t>Recording attendance</a:t>
            </a:r>
          </a:p>
          <a:p>
            <a:pPr lvl="0"/>
            <a:r>
              <a:rPr lang="en-US" dirty="0" smtClean="0"/>
              <a:t>Tracking participant progress</a:t>
            </a:r>
          </a:p>
          <a:p>
            <a:pPr lvl="0"/>
            <a:r>
              <a:rPr lang="en-US" dirty="0" smtClean="0"/>
              <a:t>Indicating money spent</a:t>
            </a:r>
          </a:p>
          <a:p>
            <a:pPr lvl="0"/>
            <a:r>
              <a:rPr lang="en-US" dirty="0" smtClean="0"/>
              <a:t>Providing data for analysis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71</a:t>
            </a:fld>
            <a:endParaRPr lang="en-US" dirty="0"/>
          </a:p>
        </p:txBody>
      </p:sp>
      <p:pic>
        <p:nvPicPr>
          <p:cNvPr id="5" name="Picture 4"/>
          <p:cNvPicPr>
            <a:picLocks noChangeAspect="1"/>
          </p:cNvPicPr>
          <p:nvPr/>
        </p:nvPicPr>
        <p:blipFill rotWithShape="1">
          <a:blip r:embed="rId3" cstate="screen">
            <a:clrChange>
              <a:clrFrom>
                <a:srgbClr val="FCFCFE"/>
              </a:clrFrom>
              <a:clrTo>
                <a:srgbClr val="FCFCFE">
                  <a:alpha val="0"/>
                </a:srgbClr>
              </a:clrTo>
            </a:clrChange>
            <a:extLst>
              <a:ext uri="{28A0092B-C50C-407E-A947-70E740481C1C}">
                <a14:useLocalDpi xmlns:a14="http://schemas.microsoft.com/office/drawing/2010/main"/>
              </a:ext>
            </a:extLst>
          </a:blip>
          <a:srcRect/>
          <a:stretch/>
        </p:blipFill>
        <p:spPr>
          <a:xfrm>
            <a:off x="5580260" y="1454696"/>
            <a:ext cx="1546667" cy="4320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Produce operational training system forms</a:t>
            </a:r>
            <a:endParaRPr lang="en-US" dirty="0"/>
          </a:p>
        </p:txBody>
      </p:sp>
      <p:sp>
        <p:nvSpPr>
          <p:cNvPr id="3" name="Content Placeholder 2"/>
          <p:cNvSpPr>
            <a:spLocks noGrp="1"/>
          </p:cNvSpPr>
          <p:nvPr>
            <p:ph idx="1"/>
          </p:nvPr>
        </p:nvSpPr>
        <p:spPr/>
        <p:txBody>
          <a:bodyPr/>
          <a:lstStyle/>
          <a:p>
            <a:pPr marL="36576" indent="0">
              <a:buNone/>
            </a:pPr>
            <a:r>
              <a:rPr lang="en-US" dirty="0" smtClean="0"/>
              <a:t>Training system records and forms may be:</a:t>
            </a:r>
          </a:p>
          <a:p>
            <a:r>
              <a:rPr lang="en-US" dirty="0" smtClean="0"/>
              <a:t>Acquired</a:t>
            </a:r>
          </a:p>
          <a:p>
            <a:pPr marL="36576" indent="0">
              <a:buNone/>
            </a:pPr>
            <a:r>
              <a:rPr lang="en-US" b="1" dirty="0" smtClean="0"/>
              <a:t>or</a:t>
            </a:r>
          </a:p>
          <a:p>
            <a:r>
              <a:rPr lang="en-US" dirty="0" smtClean="0"/>
              <a:t>Generated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72</a:t>
            </a:fld>
            <a:endParaRPr lang="en-US" dirty="0"/>
          </a:p>
        </p:txBody>
      </p:sp>
      <p:pic>
        <p:nvPicPr>
          <p:cNvPr id="5" name="Picture 4" descr="MC900439822.PNG"/>
          <p:cNvPicPr>
            <a:picLocks noChangeAspect="1"/>
          </p:cNvPicPr>
          <p:nvPr/>
        </p:nvPicPr>
        <p:blipFill>
          <a:blip r:embed="rId3" cstate="print"/>
          <a:stretch>
            <a:fillRect/>
          </a:stretch>
        </p:blipFill>
        <p:spPr>
          <a:xfrm>
            <a:off x="5290904" y="1868661"/>
            <a:ext cx="2376000" cy="2383858"/>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Produce operational training system forms</a:t>
            </a:r>
            <a:endParaRPr lang="en-US" dirty="0"/>
          </a:p>
        </p:txBody>
      </p:sp>
      <p:sp>
        <p:nvSpPr>
          <p:cNvPr id="3" name="Content Placeholder 2"/>
          <p:cNvSpPr>
            <a:spLocks noGrp="1"/>
          </p:cNvSpPr>
          <p:nvPr>
            <p:ph idx="1"/>
          </p:nvPr>
        </p:nvSpPr>
        <p:spPr/>
        <p:txBody>
          <a:bodyPr/>
          <a:lstStyle/>
          <a:p>
            <a:pPr marL="36576" indent="0">
              <a:buNone/>
            </a:pPr>
            <a:r>
              <a:rPr lang="en-US" dirty="0" smtClean="0"/>
              <a:t>Options for acquisition of documentation:</a:t>
            </a:r>
          </a:p>
          <a:p>
            <a:r>
              <a:rPr lang="en-US" dirty="0" smtClean="0"/>
              <a:t>Obtaining items from Training Authority</a:t>
            </a:r>
          </a:p>
          <a:p>
            <a:r>
              <a:rPr lang="en-US" dirty="0" smtClean="0"/>
              <a:t>Asking network of contacts for samples</a:t>
            </a:r>
          </a:p>
          <a:p>
            <a:r>
              <a:rPr lang="en-US" dirty="0" smtClean="0"/>
              <a:t>Seeking help from industry bodies</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73</a:t>
            </a:fld>
            <a:endParaRPr lang="en-US" dirty="0"/>
          </a:p>
        </p:txBody>
      </p:sp>
      <p:pic>
        <p:nvPicPr>
          <p:cNvPr id="5" name="Picture 2" descr="I:\Overseas Projects\PHOTOS\2012\Office\iStock_000002738475Medium.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92080" y="1988840"/>
            <a:ext cx="2861320" cy="1956488"/>
          </a:xfrm>
          <a:prstGeom prst="rect">
            <a:avLst/>
          </a:prstGeom>
          <a:ln>
            <a:noFill/>
          </a:ln>
          <a:effectLst/>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Produce operational training system forms</a:t>
            </a:r>
            <a:endParaRPr lang="en-US" dirty="0"/>
          </a:p>
        </p:txBody>
      </p:sp>
      <p:sp>
        <p:nvSpPr>
          <p:cNvPr id="3" name="Content Placeholder 2"/>
          <p:cNvSpPr>
            <a:spLocks noGrp="1"/>
          </p:cNvSpPr>
          <p:nvPr>
            <p:ph idx="1"/>
          </p:nvPr>
        </p:nvSpPr>
        <p:spPr/>
        <p:txBody>
          <a:bodyPr/>
          <a:lstStyle/>
          <a:p>
            <a:r>
              <a:rPr lang="en-US" dirty="0" smtClean="0"/>
              <a:t>Buying from commercial providers</a:t>
            </a:r>
          </a:p>
          <a:p>
            <a:r>
              <a:rPr lang="en-US" dirty="0" smtClean="0"/>
              <a:t>Asking other workplace training systems for samples</a:t>
            </a:r>
          </a:p>
          <a:p>
            <a:r>
              <a:rPr lang="en-US" dirty="0" smtClean="0"/>
              <a:t>Searching online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74</a:t>
            </a:fld>
            <a:endParaRPr lang="en-US" dirty="0"/>
          </a:p>
        </p:txBody>
      </p:sp>
      <p:pic>
        <p:nvPicPr>
          <p:cNvPr id="5" name="Picture 2" descr="I:\Overseas Projects\PHOTOS\2014\Shutterstock 25-a-day\21 to 23 Jul 2014\shutterstock_182480570.jp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220072" y="1988838"/>
            <a:ext cx="2952328" cy="22434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Produce operational training system forms</a:t>
            </a:r>
            <a:endParaRPr lang="en-US" dirty="0"/>
          </a:p>
        </p:txBody>
      </p:sp>
      <p:sp>
        <p:nvSpPr>
          <p:cNvPr id="3" name="Content Placeholder 2"/>
          <p:cNvSpPr>
            <a:spLocks noGrp="1"/>
          </p:cNvSpPr>
          <p:nvPr>
            <p:ph idx="1"/>
          </p:nvPr>
        </p:nvSpPr>
        <p:spPr/>
        <p:txBody>
          <a:bodyPr/>
          <a:lstStyle/>
          <a:p>
            <a:pPr marL="36576" indent="0">
              <a:buNone/>
            </a:pPr>
            <a:r>
              <a:rPr lang="en-US" dirty="0" smtClean="0"/>
              <a:t>Generating records/forms may necessitate:</a:t>
            </a:r>
          </a:p>
          <a:p>
            <a:r>
              <a:rPr lang="en-US" dirty="0" smtClean="0"/>
              <a:t>Creating new records/forms from scratch</a:t>
            </a:r>
          </a:p>
          <a:p>
            <a:r>
              <a:rPr lang="en-US" dirty="0" smtClean="0"/>
              <a:t>Modifying existing documents to suit specific workplace/system need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75</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83429" y="2024485"/>
            <a:ext cx="3048000" cy="2033016"/>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Produce operational training system forms</a:t>
            </a:r>
            <a:endParaRPr lang="en-US" dirty="0"/>
          </a:p>
        </p:txBody>
      </p:sp>
      <p:sp>
        <p:nvSpPr>
          <p:cNvPr id="3" name="Content Placeholder 2"/>
          <p:cNvSpPr>
            <a:spLocks noGrp="1"/>
          </p:cNvSpPr>
          <p:nvPr>
            <p:ph idx="1"/>
          </p:nvPr>
        </p:nvSpPr>
        <p:spPr>
          <a:xfrm>
            <a:off x="251520" y="1988840"/>
            <a:ext cx="5616624" cy="4608512"/>
          </a:xfrm>
        </p:spPr>
        <p:txBody>
          <a:bodyPr>
            <a:normAutofit lnSpcReduction="10000"/>
          </a:bodyPr>
          <a:lstStyle/>
          <a:p>
            <a:pPr marL="36576" indent="0">
              <a:buNone/>
            </a:pPr>
            <a:r>
              <a:rPr lang="en-US" dirty="0" smtClean="0"/>
              <a:t>Documents which may be required:</a:t>
            </a:r>
          </a:p>
          <a:p>
            <a:pPr lvl="0"/>
            <a:r>
              <a:rPr lang="en-US" dirty="0" smtClean="0"/>
              <a:t>Only develop documents which </a:t>
            </a:r>
            <a:br>
              <a:rPr lang="en-US" dirty="0" smtClean="0"/>
            </a:br>
            <a:r>
              <a:rPr lang="en-US" dirty="0" smtClean="0"/>
              <a:t>need to be developed – do not </a:t>
            </a:r>
            <a:br>
              <a:rPr lang="en-US" dirty="0" smtClean="0"/>
            </a:br>
            <a:r>
              <a:rPr lang="en-US" dirty="0" smtClean="0"/>
              <a:t>‘re-invent the wheel’</a:t>
            </a:r>
          </a:p>
          <a:p>
            <a:pPr lvl="0"/>
            <a:r>
              <a:rPr lang="en-US" dirty="0" smtClean="0"/>
              <a:t>Identify purpose/need/use for </a:t>
            </a:r>
            <a:br>
              <a:rPr lang="en-US" dirty="0" smtClean="0"/>
            </a:br>
            <a:r>
              <a:rPr lang="en-US" dirty="0" smtClean="0"/>
              <a:t>document at the start</a:t>
            </a:r>
          </a:p>
          <a:p>
            <a:pPr lvl="0"/>
            <a:r>
              <a:rPr lang="en-US" dirty="0" smtClean="0"/>
              <a:t>Follow standard document </a:t>
            </a:r>
            <a:br>
              <a:rPr lang="en-US" dirty="0" smtClean="0"/>
            </a:br>
            <a:r>
              <a:rPr lang="en-US" dirty="0" smtClean="0"/>
              <a:t>development protocols – </a:t>
            </a:r>
            <a:br>
              <a:rPr lang="en-US" dirty="0" smtClean="0"/>
            </a:br>
            <a:r>
              <a:rPr lang="en-US" dirty="0" smtClean="0"/>
              <a:t>draft, trial, revise</a:t>
            </a:r>
          </a:p>
          <a:p>
            <a:r>
              <a:rPr lang="en-US" dirty="0" smtClean="0"/>
              <a:t>Application forms</a:t>
            </a:r>
          </a:p>
          <a:p>
            <a:r>
              <a:rPr lang="en-US" dirty="0" smtClean="0"/>
              <a:t>Time table pro </a:t>
            </a:r>
            <a:r>
              <a:rPr lang="en-US" dirty="0" err="1" smtClean="0"/>
              <a:t>formas</a:t>
            </a:r>
            <a:endParaRPr lang="en-US" dirty="0" smtClean="0"/>
          </a:p>
          <a:p>
            <a:r>
              <a:rPr lang="en-US" dirty="0" smtClean="0"/>
              <a:t>Training evaluation forms</a:t>
            </a:r>
          </a:p>
          <a:p>
            <a:pPr marL="36576" indent="0">
              <a:buNone/>
            </a:pPr>
            <a:r>
              <a:rPr lang="en-US" sz="1500" dirty="0" smtClean="0"/>
              <a:t/>
            </a:r>
            <a:br>
              <a:rPr lang="en-US" sz="1500" dirty="0" smtClean="0"/>
            </a:br>
            <a:r>
              <a:rPr lang="en-US" sz="15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76</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27550" y="1988840"/>
            <a:ext cx="4276898" cy="2736304"/>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Produce operational training system forms</a:t>
            </a:r>
            <a:endParaRPr lang="en-US" dirty="0"/>
          </a:p>
        </p:txBody>
      </p:sp>
      <p:sp>
        <p:nvSpPr>
          <p:cNvPr id="3" name="Content Placeholder 2"/>
          <p:cNvSpPr>
            <a:spLocks noGrp="1"/>
          </p:cNvSpPr>
          <p:nvPr>
            <p:ph idx="1"/>
          </p:nvPr>
        </p:nvSpPr>
        <p:spPr/>
        <p:txBody>
          <a:bodyPr/>
          <a:lstStyle/>
          <a:p>
            <a:r>
              <a:rPr lang="en-US" dirty="0" smtClean="0"/>
              <a:t>Applications and details of Complaints, Grievances and Appeals</a:t>
            </a:r>
          </a:p>
          <a:p>
            <a:r>
              <a:rPr lang="en-US" dirty="0" smtClean="0"/>
              <a:t>Fees paid</a:t>
            </a:r>
          </a:p>
          <a:p>
            <a:r>
              <a:rPr lang="en-US" dirty="0" smtClean="0"/>
              <a:t>Trainer and assessor qualifications</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77</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92080" y="2320663"/>
            <a:ext cx="1828623" cy="32400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Produce operational training system forms</a:t>
            </a:r>
            <a:endParaRPr lang="en-US" dirty="0"/>
          </a:p>
        </p:txBody>
      </p:sp>
      <p:sp>
        <p:nvSpPr>
          <p:cNvPr id="3" name="Content Placeholder 2"/>
          <p:cNvSpPr>
            <a:spLocks noGrp="1"/>
          </p:cNvSpPr>
          <p:nvPr>
            <p:ph idx="1"/>
          </p:nvPr>
        </p:nvSpPr>
        <p:spPr/>
        <p:txBody>
          <a:bodyPr/>
          <a:lstStyle/>
          <a:p>
            <a:r>
              <a:rPr lang="en-US" dirty="0" smtClean="0"/>
              <a:t>Agendas and minutes of meetings</a:t>
            </a:r>
          </a:p>
          <a:p>
            <a:r>
              <a:rPr lang="en-US" dirty="0" smtClean="0"/>
              <a:t>Employee training and assessment-related suggestions</a:t>
            </a:r>
          </a:p>
          <a:p>
            <a:r>
              <a:rPr lang="en-US" dirty="0" smtClean="0"/>
              <a:t>Logbooks and workbooks of learners</a:t>
            </a:r>
          </a:p>
          <a:p>
            <a:r>
              <a:rPr lang="en-US" dirty="0" smtClean="0"/>
              <a:t>Registration documents required by Training Authority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1988840"/>
            <a:ext cx="2808312" cy="2106234"/>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4 – </a:t>
            </a:r>
            <a:r>
              <a:rPr lang="en-AU" smtClean="0"/>
              <a:t>Establish procedures for review of workplace training system</a:t>
            </a:r>
            <a:endParaRPr lang="en-US" dirty="0" smtClean="0"/>
          </a:p>
        </p:txBody>
      </p:sp>
      <p:sp>
        <p:nvSpPr>
          <p:cNvPr id="3" name="Content Placeholder 2"/>
          <p:cNvSpPr>
            <a:spLocks noGrp="1"/>
          </p:cNvSpPr>
          <p:nvPr>
            <p:ph idx="1"/>
          </p:nvPr>
        </p:nvSpPr>
        <p:spPr>
          <a:xfrm>
            <a:off x="251520" y="1988840"/>
            <a:ext cx="4680520" cy="4536504"/>
          </a:xfrm>
        </p:spPr>
        <p:txBody>
          <a:bodyPr>
            <a:normAutofit lnSpcReduction="10000"/>
          </a:bodyPr>
          <a:lstStyle/>
          <a:p>
            <a:pPr marL="36576" indent="0">
              <a:buNone/>
            </a:pPr>
            <a:r>
              <a:rPr lang="en-US" dirty="0" smtClean="0"/>
              <a:t>Performance Criteria for this Element are:</a:t>
            </a:r>
          </a:p>
          <a:p>
            <a:r>
              <a:rPr lang="en-AU" dirty="0" smtClean="0"/>
              <a:t>Identify the elements of the workplace training system to be reviewed</a:t>
            </a:r>
          </a:p>
          <a:p>
            <a:r>
              <a:rPr lang="en-AU" dirty="0" smtClean="0"/>
              <a:t>Determine the frequency for reviewing  identified elements within the workplace training system</a:t>
            </a:r>
          </a:p>
          <a:p>
            <a:r>
              <a:rPr lang="en-AU" dirty="0" smtClean="0"/>
              <a:t>Allocate responsibility for implementing identified reviews of the workplace training system</a:t>
            </a:r>
            <a:endParaRPr lang="en-US" dirty="0" smtClean="0"/>
          </a:p>
          <a:p>
            <a:pPr marL="36576" indent="0">
              <a:buNone/>
            </a:pPr>
            <a:endParaRPr lang="en-US" sz="1500" dirty="0" smtClean="0"/>
          </a:p>
          <a:p>
            <a:pPr marL="36576" indent="0">
              <a:buNone/>
            </a:pPr>
            <a:r>
              <a:rPr lang="en-US" sz="15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79</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46457" y="1700808"/>
            <a:ext cx="4346457" cy="28800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4 – </a:t>
            </a:r>
            <a:r>
              <a:rPr lang="en-AU" smtClean="0"/>
              <a:t>Establish procedures for review of workplace training system</a:t>
            </a:r>
            <a:endParaRPr lang="en-US" dirty="0" smtClean="0"/>
          </a:p>
        </p:txBody>
      </p:sp>
      <p:sp>
        <p:nvSpPr>
          <p:cNvPr id="3" name="Content Placeholder 2"/>
          <p:cNvSpPr>
            <a:spLocks noGrp="1"/>
          </p:cNvSpPr>
          <p:nvPr>
            <p:ph idx="1"/>
          </p:nvPr>
        </p:nvSpPr>
        <p:spPr/>
        <p:txBody>
          <a:bodyPr/>
          <a:lstStyle/>
          <a:p>
            <a:r>
              <a:rPr lang="en-AU" dirty="0" smtClean="0"/>
              <a:t>Describe the procedures to be used in the review of the workplace training system</a:t>
            </a:r>
          </a:p>
          <a:p>
            <a:r>
              <a:rPr lang="en-AU" dirty="0" smtClean="0"/>
              <a:t>Document approved procedures for review of the workplace training system</a:t>
            </a:r>
          </a:p>
          <a:p>
            <a:r>
              <a:rPr lang="en-AU" dirty="0" smtClean="0"/>
              <a:t>Obtain management commitment to implement required changes to the workplace training system</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48064" y="2023221"/>
            <a:ext cx="3006064" cy="2004043"/>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the elements of the workplace training system to be reviewed</a:t>
            </a:r>
            <a:endParaRPr lang="en-US" dirty="0"/>
          </a:p>
        </p:txBody>
      </p:sp>
      <p:sp>
        <p:nvSpPr>
          <p:cNvPr id="3" name="Content Placeholder 2"/>
          <p:cNvSpPr>
            <a:spLocks noGrp="1"/>
          </p:cNvSpPr>
          <p:nvPr>
            <p:ph idx="1"/>
          </p:nvPr>
        </p:nvSpPr>
        <p:spPr/>
        <p:txBody>
          <a:bodyPr>
            <a:normAutofit/>
          </a:bodyPr>
          <a:lstStyle/>
          <a:p>
            <a:pPr marL="36576" indent="0">
              <a:buNone/>
            </a:pPr>
            <a:r>
              <a:rPr lang="en-US" dirty="0" smtClean="0"/>
              <a:t>Reasons to review:</a:t>
            </a:r>
          </a:p>
          <a:p>
            <a:r>
              <a:rPr lang="en-US" dirty="0" smtClean="0"/>
              <a:t>Meet external compliance requirements</a:t>
            </a:r>
          </a:p>
          <a:p>
            <a:r>
              <a:rPr lang="en-US" dirty="0" smtClean="0"/>
              <a:t>Conform to internal policy requirements</a:t>
            </a:r>
          </a:p>
          <a:p>
            <a:r>
              <a:rPr lang="en-AU" dirty="0" smtClean="0"/>
              <a:t>Determine if training and assessment being conducted is meeting intended and/or actual workplace need</a:t>
            </a:r>
            <a:endParaRPr lang="en-US" dirty="0" smtClean="0"/>
          </a:p>
          <a:p>
            <a:pPr marL="36576" lvl="0" indent="0">
              <a:buNone/>
            </a:pPr>
            <a:endParaRPr lang="en-US" sz="2400" dirty="0"/>
          </a:p>
          <a:p>
            <a:pPr marL="36576" lvl="0" indent="0">
              <a:buNone/>
            </a:pPr>
            <a:r>
              <a:rPr lang="en-US" sz="1400" dirty="0"/>
              <a:t>(Points continued in TM)</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81</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716016" y="1916832"/>
            <a:ext cx="3177931" cy="28800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Identify the elements of the workplace training system to be reviewed</a:t>
            </a:r>
            <a:endParaRPr lang="en-US" dirty="0"/>
          </a:p>
        </p:txBody>
      </p:sp>
      <p:sp>
        <p:nvSpPr>
          <p:cNvPr id="3" name="Content Placeholder 2"/>
          <p:cNvSpPr>
            <a:spLocks noGrp="1"/>
          </p:cNvSpPr>
          <p:nvPr>
            <p:ph idx="1"/>
          </p:nvPr>
        </p:nvSpPr>
        <p:spPr/>
        <p:txBody>
          <a:bodyPr/>
          <a:lstStyle/>
          <a:p>
            <a:pPr marL="36576" indent="0">
              <a:buNone/>
            </a:pPr>
            <a:r>
              <a:rPr lang="en-US" dirty="0" smtClean="0"/>
              <a:t>Elements to review:</a:t>
            </a:r>
          </a:p>
          <a:p>
            <a:r>
              <a:rPr lang="en-US" dirty="0" smtClean="0"/>
              <a:t>Policies and procedures</a:t>
            </a:r>
          </a:p>
          <a:p>
            <a:r>
              <a:rPr lang="en-US" dirty="0" smtClean="0"/>
              <a:t>Forms and documentation</a:t>
            </a:r>
          </a:p>
          <a:p>
            <a:r>
              <a:rPr lang="en-US" dirty="0" smtClean="0"/>
              <a:t>Training delivery</a:t>
            </a:r>
          </a:p>
          <a:p>
            <a:pPr lvl="0"/>
            <a:r>
              <a:rPr lang="en-US" dirty="0" smtClean="0"/>
              <a:t>Assessment provision</a:t>
            </a:r>
          </a:p>
          <a:p>
            <a:pPr lvl="0"/>
            <a:r>
              <a:rPr lang="en-US" dirty="0" smtClean="0"/>
              <a:t>Available infrastructure to supplement/support training</a:t>
            </a:r>
          </a:p>
          <a:p>
            <a:pPr lvl="0"/>
            <a:r>
              <a:rPr lang="en-US" dirty="0" smtClean="0"/>
              <a:t>Training outcomes</a:t>
            </a:r>
          </a:p>
          <a:p>
            <a:pPr lvl="0"/>
            <a:r>
              <a:rPr lang="en-US" dirty="0" smtClean="0"/>
              <a:t>Benefits received/achieved</a:t>
            </a:r>
          </a:p>
          <a:p>
            <a:pPr lvl="0"/>
            <a:r>
              <a:rPr lang="en-US" dirty="0" smtClean="0"/>
              <a:t>Costs incurred</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82</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56429" y="1982922"/>
            <a:ext cx="3078000" cy="205200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Options for reviews:</a:t>
            </a:r>
          </a:p>
          <a:p>
            <a:r>
              <a:rPr lang="en-AU" dirty="0" smtClean="0"/>
              <a:t>At the completion of individual units</a:t>
            </a:r>
          </a:p>
          <a:p>
            <a:r>
              <a:rPr lang="en-AU" dirty="0" smtClean="0"/>
              <a:t>At the completion of courses</a:t>
            </a:r>
          </a:p>
          <a:p>
            <a:r>
              <a:rPr lang="en-AU" dirty="0" smtClean="0"/>
              <a:t>When participants complete identified training</a:t>
            </a:r>
            <a:endParaRPr lang="en-US" dirty="0" smtClean="0"/>
          </a:p>
          <a:p>
            <a:pPr lvl="0"/>
            <a:r>
              <a:rPr lang="en-AU" dirty="0" smtClean="0"/>
              <a:t>In a cyclical manner</a:t>
            </a:r>
          </a:p>
          <a:p>
            <a:pPr lvl="0"/>
            <a:r>
              <a:rPr lang="en-AU" dirty="0" smtClean="0"/>
              <a:t>At a designated time</a:t>
            </a:r>
          </a:p>
          <a:p>
            <a:pPr lvl="0"/>
            <a:r>
              <a:rPr lang="en-AU" dirty="0" smtClean="0"/>
              <a:t>Following significant workplace change</a:t>
            </a:r>
          </a:p>
          <a:p>
            <a:pPr lvl="0"/>
            <a:r>
              <a:rPr lang="en-AU" dirty="0" smtClean="0"/>
              <a:t>In response to workplace events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48064" y="1988839"/>
            <a:ext cx="2952328" cy="2373731"/>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p:txBody>
          <a:bodyPr/>
          <a:lstStyle/>
          <a:p>
            <a:pPr marL="36576" indent="0">
              <a:buNone/>
            </a:pPr>
            <a:r>
              <a:rPr lang="en-US" dirty="0" smtClean="0"/>
              <a:t>‘At the completion of individual units’:</a:t>
            </a:r>
          </a:p>
          <a:p>
            <a:r>
              <a:rPr lang="en-US" dirty="0" smtClean="0"/>
              <a:t>‘Units’ may mean:</a:t>
            </a:r>
          </a:p>
          <a:p>
            <a:pPr lvl="1"/>
            <a:r>
              <a:rPr lang="en-US" dirty="0" smtClean="0"/>
              <a:t>Competency standard/s</a:t>
            </a:r>
          </a:p>
          <a:p>
            <a:pPr lvl="1"/>
            <a:r>
              <a:rPr lang="en-US" dirty="0" smtClean="0"/>
              <a:t>An amalgamation of training objectives on related topics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84</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32040" y="2005501"/>
            <a:ext cx="3078000" cy="20520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p:txBody>
          <a:bodyPr/>
          <a:lstStyle/>
          <a:p>
            <a:pPr marL="36576" indent="0">
              <a:buNone/>
            </a:pPr>
            <a:r>
              <a:rPr lang="en-US" dirty="0" smtClean="0"/>
              <a:t>Reviewing at the completion of individual units:</a:t>
            </a:r>
          </a:p>
          <a:p>
            <a:r>
              <a:rPr lang="en-US" dirty="0" smtClean="0"/>
              <a:t>May be too time consuming</a:t>
            </a:r>
          </a:p>
          <a:p>
            <a:r>
              <a:rPr lang="en-US" dirty="0" smtClean="0"/>
              <a:t>May be too expensive</a:t>
            </a:r>
          </a:p>
          <a:p>
            <a:r>
              <a:rPr lang="en-US" dirty="0" smtClean="0"/>
              <a:t>May be unnecessary</a:t>
            </a:r>
          </a:p>
          <a:p>
            <a:r>
              <a:rPr lang="en-US" dirty="0" smtClean="0"/>
              <a:t>Allows regular analysis of training delivered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85</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35036" y="1986143"/>
            <a:ext cx="3048000" cy="2404872"/>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p:txBody>
          <a:bodyPr/>
          <a:lstStyle/>
          <a:p>
            <a:pPr marL="36576" indent="0">
              <a:buNone/>
            </a:pPr>
            <a:r>
              <a:rPr lang="en-AU" dirty="0" smtClean="0"/>
              <a:t>These reviews will take place when learners:</a:t>
            </a:r>
          </a:p>
          <a:p>
            <a:r>
              <a:rPr lang="en-US" dirty="0" smtClean="0"/>
              <a:t>Finish a qualification</a:t>
            </a:r>
          </a:p>
          <a:p>
            <a:r>
              <a:rPr lang="en-US" dirty="0" smtClean="0"/>
              <a:t>Complete course of training as described by the </a:t>
            </a:r>
            <a:r>
              <a:rPr lang="en-US" dirty="0" err="1" smtClean="0"/>
              <a:t>organisation</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48064" y="1988840"/>
            <a:ext cx="2185416" cy="30480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p:txBody>
          <a:bodyPr/>
          <a:lstStyle/>
          <a:p>
            <a:pPr marL="36576" indent="0">
              <a:buNone/>
            </a:pPr>
            <a:r>
              <a:rPr lang="en-US" dirty="0" smtClean="0"/>
              <a:t>Reviewing at the completion of courses:</a:t>
            </a:r>
          </a:p>
          <a:p>
            <a:r>
              <a:rPr lang="en-AU" dirty="0" smtClean="0"/>
              <a:t>Provides a more holistic picture</a:t>
            </a:r>
          </a:p>
          <a:p>
            <a:r>
              <a:rPr lang="en-AU" dirty="0" smtClean="0"/>
              <a:t>Takes less time/effort than reviewing after every unit</a:t>
            </a:r>
          </a:p>
          <a:p>
            <a:r>
              <a:rPr lang="en-AU" dirty="0" smtClean="0"/>
              <a:t>Enables a larger pool of evidence for the review</a:t>
            </a:r>
          </a:p>
          <a:p>
            <a:r>
              <a:rPr lang="en-AU" dirty="0" smtClean="0"/>
              <a:t>Allows remedial action to be taken if required prior to the commencement of the next course</a:t>
            </a:r>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87</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04048" y="1988840"/>
            <a:ext cx="2499360" cy="30480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p:txBody>
          <a:bodyPr/>
          <a:lstStyle/>
          <a:p>
            <a:pPr marL="36576" indent="0">
              <a:buNone/>
            </a:pPr>
            <a:r>
              <a:rPr lang="en-US" dirty="0" smtClean="0"/>
              <a:t>‘Identified training’ is usually short-term training provided to:</a:t>
            </a:r>
          </a:p>
          <a:p>
            <a:r>
              <a:rPr lang="en-US" dirty="0" smtClean="0"/>
              <a:t>Meet individual staff need</a:t>
            </a:r>
          </a:p>
          <a:p>
            <a:r>
              <a:rPr lang="en-US" dirty="0" smtClean="0"/>
              <a:t>Address emerging needs of a group</a:t>
            </a:r>
          </a:p>
          <a:p>
            <a:r>
              <a:rPr lang="en-US" dirty="0" smtClean="0"/>
              <a:t>Address identified training gaps</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06592" y="1988840"/>
            <a:ext cx="2313432" cy="30480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p:txBody>
          <a:bodyPr/>
          <a:lstStyle/>
          <a:p>
            <a:pPr marL="36576" indent="0">
              <a:buNone/>
            </a:pPr>
            <a:r>
              <a:rPr lang="en-US" dirty="0" smtClean="0"/>
              <a:t>Reviewing at the completion of identified training:</a:t>
            </a:r>
          </a:p>
          <a:p>
            <a:r>
              <a:rPr lang="en-US" dirty="0" smtClean="0"/>
              <a:t>Can be very expensive and time consuming</a:t>
            </a:r>
          </a:p>
          <a:p>
            <a:r>
              <a:rPr lang="en-US" dirty="0" smtClean="0"/>
              <a:t>May be regarded as excessive</a:t>
            </a:r>
          </a:p>
          <a:p>
            <a:r>
              <a:rPr lang="en-US" dirty="0" smtClean="0"/>
              <a:t>Can become irritating to those who are involved</a:t>
            </a:r>
          </a:p>
          <a:p>
            <a:r>
              <a:rPr lang="en-US" dirty="0" smtClean="0"/>
              <a:t>Greatly assists in ensuring training is properly </a:t>
            </a:r>
            <a:r>
              <a:rPr lang="en-US" dirty="0" err="1" smtClean="0"/>
              <a:t>targetted</a:t>
            </a:r>
            <a:r>
              <a:rPr lang="en-US" dirty="0" smtClean="0"/>
              <a:t> as required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89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3578" y="1998361"/>
            <a:ext cx="3048000" cy="227076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p:txBody>
          <a:bodyPr/>
          <a:lstStyle/>
          <a:p>
            <a:pPr marL="36576" indent="0">
              <a:buNone/>
            </a:pPr>
            <a:r>
              <a:rPr lang="en-US" dirty="0" smtClean="0"/>
              <a:t>Reviewing in a cyclical manner:</a:t>
            </a:r>
          </a:p>
          <a:p>
            <a:r>
              <a:rPr lang="en-US" dirty="0" smtClean="0"/>
              <a:t>Reviews (only) nominated elements at pre-determined times</a:t>
            </a:r>
          </a:p>
          <a:p>
            <a:r>
              <a:rPr lang="en-US" dirty="0" smtClean="0"/>
              <a:t>Aims to ensure all elements are reviewed at least once, say, every 12 months</a:t>
            </a:r>
          </a:p>
          <a:p>
            <a:pPr lvl="0"/>
            <a:r>
              <a:rPr lang="en-US" dirty="0" smtClean="0"/>
              <a:t>Reduces time and cost</a:t>
            </a:r>
          </a:p>
          <a:p>
            <a:pPr lvl="0"/>
            <a:r>
              <a:rPr lang="en-US" dirty="0" smtClean="0"/>
              <a:t>Makes sure all identified are nonetheless covered within a given timeframe</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76800" y="1976264"/>
            <a:ext cx="3048000" cy="2362200"/>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a:xfrm>
            <a:off x="251520" y="1988840"/>
            <a:ext cx="4680520" cy="4464496"/>
          </a:xfrm>
        </p:spPr>
        <p:txBody>
          <a:bodyPr>
            <a:normAutofit lnSpcReduction="10000"/>
          </a:bodyPr>
          <a:lstStyle/>
          <a:p>
            <a:pPr marL="36576" indent="0">
              <a:buNone/>
            </a:pPr>
            <a:r>
              <a:rPr lang="en-US" dirty="0" smtClean="0"/>
              <a:t>‘Reviewing at a designated time’ means reviewing at a planned time, such as:</a:t>
            </a:r>
          </a:p>
          <a:p>
            <a:r>
              <a:rPr lang="en-US" dirty="0" smtClean="0"/>
              <a:t>Every six months</a:t>
            </a:r>
          </a:p>
          <a:p>
            <a:r>
              <a:rPr lang="en-US" dirty="0" smtClean="0"/>
              <a:t>Annually</a:t>
            </a:r>
          </a:p>
          <a:p>
            <a:r>
              <a:rPr lang="en-US" dirty="0" smtClean="0"/>
              <a:t>Other identified period</a:t>
            </a:r>
          </a:p>
          <a:p>
            <a:pPr lvl="0"/>
            <a:r>
              <a:rPr lang="en-US" dirty="0" smtClean="0"/>
              <a:t>Reviewing at designated time/s:</a:t>
            </a:r>
          </a:p>
          <a:p>
            <a:pPr lvl="1"/>
            <a:r>
              <a:rPr lang="en-US" dirty="0" smtClean="0"/>
              <a:t>Enables better planning</a:t>
            </a:r>
          </a:p>
          <a:p>
            <a:pPr lvl="1"/>
            <a:r>
              <a:rPr lang="en-US" dirty="0" smtClean="0"/>
              <a:t>May result in incomplete evidence being captured</a:t>
            </a:r>
          </a:p>
          <a:p>
            <a:pPr lvl="1"/>
            <a:r>
              <a:rPr lang="en-US" dirty="0" smtClean="0"/>
              <a:t>May mean important issues are not identified soon enough</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91</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26952" y="1970155"/>
            <a:ext cx="2826447" cy="1890893"/>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p:txBody>
          <a:bodyPr/>
          <a:lstStyle/>
          <a:p>
            <a:pPr marL="36576" indent="0">
              <a:buNone/>
            </a:pPr>
            <a:r>
              <a:rPr lang="en-US" dirty="0" smtClean="0"/>
              <a:t>‘Following significant workplace change’ may mean:</a:t>
            </a:r>
          </a:p>
          <a:p>
            <a:r>
              <a:rPr lang="en-US" dirty="0" smtClean="0"/>
              <a:t>After introduction of new equipment or work practices</a:t>
            </a:r>
          </a:p>
          <a:p>
            <a:r>
              <a:rPr lang="en-US" dirty="0" smtClean="0"/>
              <a:t>Following changes to workplace layout</a:t>
            </a:r>
          </a:p>
          <a:p>
            <a:r>
              <a:rPr lang="en-US" dirty="0" smtClean="0"/>
              <a:t>When jobs are re-designed</a:t>
            </a:r>
          </a:p>
          <a:p>
            <a:r>
              <a:rPr lang="en-US" dirty="0" smtClean="0"/>
              <a:t>As a consequence of legislated or other compliance requirements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92</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2204864"/>
            <a:ext cx="3048000" cy="2033016"/>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p:txBody>
          <a:bodyPr/>
          <a:lstStyle/>
          <a:p>
            <a:pPr marL="36576" indent="0">
              <a:buNone/>
            </a:pPr>
            <a:r>
              <a:rPr lang="en-US" dirty="0" smtClean="0"/>
              <a:t>Reviews after significant workplace change:</a:t>
            </a:r>
          </a:p>
          <a:p>
            <a:r>
              <a:rPr lang="en-US" dirty="0" smtClean="0"/>
              <a:t>Are necessary to maintain compliance</a:t>
            </a:r>
          </a:p>
          <a:p>
            <a:r>
              <a:rPr lang="en-US" dirty="0" smtClean="0"/>
              <a:t>Often needed to maintain workplace competency</a:t>
            </a:r>
          </a:p>
          <a:p>
            <a:r>
              <a:rPr lang="en-US" dirty="0" smtClean="0"/>
              <a:t>Must integrate new training content with other training content</a:t>
            </a:r>
          </a:p>
          <a:p>
            <a:r>
              <a:rPr lang="en-US" dirty="0" smtClean="0"/>
              <a:t>Will help to </a:t>
            </a:r>
            <a:r>
              <a:rPr lang="en-US" dirty="0" err="1" smtClean="0"/>
              <a:t>optimise</a:t>
            </a:r>
            <a:r>
              <a:rPr lang="en-US" dirty="0" smtClean="0"/>
              <a:t> and up-date worker skills and knowledge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2011391"/>
            <a:ext cx="3048000" cy="2033016"/>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US" dirty="0"/>
              <a:t>R</a:t>
            </a:r>
            <a:r>
              <a:rPr lang="en-US" dirty="0" smtClean="0"/>
              <a:t>eviews in response to workplace events’ may occur after:</a:t>
            </a:r>
          </a:p>
          <a:p>
            <a:r>
              <a:rPr lang="en-US" dirty="0" smtClean="0"/>
              <a:t>Workplace accidents</a:t>
            </a:r>
          </a:p>
          <a:p>
            <a:r>
              <a:rPr lang="en-US" dirty="0" smtClean="0"/>
              <a:t>Identified unacceptable outcomes</a:t>
            </a:r>
          </a:p>
          <a:p>
            <a:r>
              <a:rPr lang="en-US" dirty="0" smtClean="0"/>
              <a:t>Near misses</a:t>
            </a:r>
          </a:p>
          <a:p>
            <a:r>
              <a:rPr lang="en-US" dirty="0" smtClean="0"/>
              <a:t>Identification of new/different risk</a:t>
            </a:r>
          </a:p>
          <a:p>
            <a:r>
              <a:rPr lang="en-US" dirty="0" smtClean="0"/>
              <a:t>Legal action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94</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48064" y="1998275"/>
            <a:ext cx="3048000" cy="2039112"/>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Determine the frequency for reviewing identified elements</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US" dirty="0" smtClean="0"/>
              <a:t>Reviewing in response to workplace events:</a:t>
            </a:r>
          </a:p>
          <a:p>
            <a:r>
              <a:rPr lang="en-US" dirty="0" smtClean="0"/>
              <a:t>Allows </a:t>
            </a:r>
            <a:r>
              <a:rPr lang="en-US" dirty="0" err="1" smtClean="0"/>
              <a:t>targetting</a:t>
            </a:r>
            <a:r>
              <a:rPr lang="en-US" dirty="0" smtClean="0"/>
              <a:t> of causal factors</a:t>
            </a:r>
          </a:p>
          <a:p>
            <a:r>
              <a:rPr lang="en-US" dirty="0" smtClean="0"/>
              <a:t>Facilitates identification and integration of preventative action into standard training</a:t>
            </a:r>
          </a:p>
          <a:p>
            <a:r>
              <a:rPr lang="en-US" dirty="0" smtClean="0"/>
              <a:t>Helps demonstrate Duty of Care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95</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743741" y="1988840"/>
            <a:ext cx="3288205" cy="1944216"/>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Allocate responsibility for implementing identified reviews</a:t>
            </a:r>
            <a:endParaRPr lang="en-US" dirty="0"/>
          </a:p>
        </p:txBody>
      </p:sp>
      <p:sp>
        <p:nvSpPr>
          <p:cNvPr id="3" name="Content Placeholder 2"/>
          <p:cNvSpPr>
            <a:spLocks noGrp="1"/>
          </p:cNvSpPr>
          <p:nvPr>
            <p:ph idx="1"/>
          </p:nvPr>
        </p:nvSpPr>
        <p:spPr>
          <a:xfrm>
            <a:off x="251520" y="1988840"/>
            <a:ext cx="6192688" cy="4392488"/>
          </a:xfrm>
        </p:spPr>
        <p:txBody>
          <a:bodyPr>
            <a:normAutofit lnSpcReduction="10000"/>
          </a:bodyPr>
          <a:lstStyle/>
          <a:p>
            <a:pPr marL="36576" indent="0">
              <a:buNone/>
            </a:pPr>
            <a:r>
              <a:rPr lang="en-US" dirty="0" smtClean="0"/>
              <a:t>Factors influencing who will be involved/have responsibilities:</a:t>
            </a:r>
          </a:p>
          <a:p>
            <a:r>
              <a:rPr lang="en-US" dirty="0" smtClean="0"/>
              <a:t>Size of business and workforce</a:t>
            </a:r>
          </a:p>
          <a:p>
            <a:r>
              <a:rPr lang="en-US" dirty="0" smtClean="0"/>
              <a:t>Number of staff being trained</a:t>
            </a:r>
          </a:p>
          <a:p>
            <a:r>
              <a:rPr lang="en-US" dirty="0" smtClean="0"/>
              <a:t>Diversity of qualifications/courses being offered</a:t>
            </a:r>
          </a:p>
          <a:p>
            <a:r>
              <a:rPr lang="en-US" dirty="0" smtClean="0"/>
              <a:t>If system is </a:t>
            </a:r>
            <a:r>
              <a:rPr lang="en-US" dirty="0" err="1" smtClean="0"/>
              <a:t>recognised</a:t>
            </a:r>
            <a:r>
              <a:rPr lang="en-US" dirty="0" smtClean="0"/>
              <a:t> or non-</a:t>
            </a:r>
            <a:r>
              <a:rPr lang="en-US" dirty="0" err="1" smtClean="0"/>
              <a:t>recognised</a:t>
            </a:r>
            <a:endParaRPr lang="en-US" dirty="0" smtClean="0"/>
          </a:p>
          <a:p>
            <a:pPr lvl="0"/>
            <a:r>
              <a:rPr lang="en-US" dirty="0" smtClean="0"/>
              <a:t>Workload of those providing training and assessment-related contributions</a:t>
            </a:r>
          </a:p>
          <a:p>
            <a:pPr lvl="0"/>
            <a:r>
              <a:rPr lang="en-US" dirty="0" smtClean="0"/>
              <a:t>Finances available</a:t>
            </a:r>
          </a:p>
          <a:p>
            <a:pPr lvl="0"/>
            <a:r>
              <a:rPr lang="en-US" dirty="0" smtClean="0"/>
              <a:t>Compliance obligations imposed on the system</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96</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084168" y="2060848"/>
            <a:ext cx="2113556" cy="3024336"/>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Allocate responsibility for implementing identified reviews</a:t>
            </a:r>
            <a:endParaRPr lang="en-US" dirty="0"/>
          </a:p>
        </p:txBody>
      </p:sp>
      <p:sp>
        <p:nvSpPr>
          <p:cNvPr id="3" name="Content Placeholder 2"/>
          <p:cNvSpPr>
            <a:spLocks noGrp="1"/>
          </p:cNvSpPr>
          <p:nvPr>
            <p:ph idx="1"/>
          </p:nvPr>
        </p:nvSpPr>
        <p:spPr/>
        <p:txBody>
          <a:bodyPr/>
          <a:lstStyle/>
          <a:p>
            <a:r>
              <a:rPr lang="en-AU" smtClean="0"/>
              <a:t>People who may be involved</a:t>
            </a:r>
          </a:p>
          <a:p>
            <a:r>
              <a:rPr lang="en-US" smtClean="0"/>
              <a:t>People from within the organisation</a:t>
            </a:r>
          </a:p>
          <a:p>
            <a:r>
              <a:rPr lang="en-US" smtClean="0"/>
              <a:t>People from outside the organisation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97</a:t>
            </a:fld>
            <a:endParaRPr lang="en-US" dirty="0"/>
          </a:p>
        </p:txBody>
      </p:sp>
      <p:pic>
        <p:nvPicPr>
          <p:cNvPr id="5" name="Picture 4"/>
          <p:cNvPicPr>
            <a:picLocks noChangeAspect="1"/>
          </p:cNvPicPr>
          <p:nvPr/>
        </p:nvPicPr>
        <p:blipFill rotWithShape="1">
          <a:blip r:embed="rId3" cstate="screen">
            <a:clrChange>
              <a:clrFrom>
                <a:srgbClr val="FDFDFD"/>
              </a:clrFrom>
              <a:clrTo>
                <a:srgbClr val="FDFDFD">
                  <a:alpha val="0"/>
                </a:srgbClr>
              </a:clrTo>
            </a:clrChange>
            <a:extLst>
              <a:ext uri="{28A0092B-C50C-407E-A947-70E740481C1C}">
                <a14:useLocalDpi xmlns:a14="http://schemas.microsoft.com/office/drawing/2010/main"/>
              </a:ext>
            </a:extLst>
          </a:blip>
          <a:srcRect/>
          <a:stretch/>
        </p:blipFill>
        <p:spPr>
          <a:xfrm>
            <a:off x="5292080" y="2060848"/>
            <a:ext cx="1854165" cy="3456384"/>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Allocate responsibility for implementing identified reviews</a:t>
            </a:r>
            <a:endParaRPr lang="en-US" dirty="0"/>
          </a:p>
        </p:txBody>
      </p:sp>
      <p:sp>
        <p:nvSpPr>
          <p:cNvPr id="3" name="Content Placeholder 2"/>
          <p:cNvSpPr>
            <a:spLocks noGrp="1"/>
          </p:cNvSpPr>
          <p:nvPr>
            <p:ph idx="1"/>
          </p:nvPr>
        </p:nvSpPr>
        <p:spPr/>
        <p:txBody>
          <a:bodyPr/>
          <a:lstStyle/>
          <a:p>
            <a:pPr marL="36576" indent="0">
              <a:buNone/>
            </a:pPr>
            <a:r>
              <a:rPr lang="en-US" dirty="0" smtClean="0"/>
              <a:t>Notification of those with responsibilities:</a:t>
            </a:r>
          </a:p>
          <a:p>
            <a:r>
              <a:rPr lang="en-US" dirty="0" smtClean="0"/>
              <a:t>Must occur for all internal personnel</a:t>
            </a:r>
          </a:p>
          <a:p>
            <a:r>
              <a:rPr lang="en-US" dirty="0" smtClean="0"/>
              <a:t>Will be provided for under legislation or other agreements for officials and external representatives of funding/resources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64088" y="2060848"/>
            <a:ext cx="2736304" cy="1885454"/>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Allocate responsibility for implementing identified reviews</a:t>
            </a:r>
            <a:endParaRPr lang="en-US" dirty="0"/>
          </a:p>
        </p:txBody>
      </p:sp>
      <p:sp>
        <p:nvSpPr>
          <p:cNvPr id="3" name="Content Placeholder 2"/>
          <p:cNvSpPr>
            <a:spLocks noGrp="1"/>
          </p:cNvSpPr>
          <p:nvPr>
            <p:ph idx="1"/>
          </p:nvPr>
        </p:nvSpPr>
        <p:spPr/>
        <p:txBody>
          <a:bodyPr/>
          <a:lstStyle/>
          <a:p>
            <a:pPr marL="36576" indent="0">
              <a:buNone/>
            </a:pPr>
            <a:r>
              <a:rPr lang="en-US" dirty="0" smtClean="0"/>
              <a:t>Notification/communication options:</a:t>
            </a:r>
          </a:p>
          <a:p>
            <a:r>
              <a:rPr lang="en-US" dirty="0" smtClean="0"/>
              <a:t>Distributing hard and/or soft copy advice</a:t>
            </a:r>
          </a:p>
          <a:p>
            <a:r>
              <a:rPr lang="en-AU" dirty="0" smtClean="0"/>
              <a:t>Verbally explaining requirements </a:t>
            </a:r>
          </a:p>
          <a:p>
            <a:r>
              <a:rPr lang="en-US" dirty="0" smtClean="0"/>
              <a:t>Providing internal training</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99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20072" y="2036575"/>
            <a:ext cx="2101175" cy="28800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Procedures may include:</a:t>
            </a:r>
          </a:p>
          <a:p>
            <a:r>
              <a:rPr lang="en-AU" dirty="0" smtClean="0"/>
              <a:t>Analysis of materials and resources</a:t>
            </a:r>
          </a:p>
          <a:p>
            <a:r>
              <a:rPr lang="en-AU" dirty="0" smtClean="0"/>
              <a:t>Analysis of training content</a:t>
            </a:r>
          </a:p>
          <a:p>
            <a:r>
              <a:rPr lang="en-AU" dirty="0" smtClean="0"/>
              <a:t>Analysis of participant evaluation forms</a:t>
            </a:r>
          </a:p>
          <a:p>
            <a:r>
              <a:rPr lang="en-AU" dirty="0" smtClean="0"/>
              <a:t>Interviews</a:t>
            </a:r>
          </a:p>
          <a:p>
            <a:r>
              <a:rPr lang="en-AU" dirty="0" smtClean="0"/>
              <a:t>Analysis of operational data</a:t>
            </a:r>
          </a:p>
          <a:p>
            <a:r>
              <a:rPr lang="en-AU" dirty="0" smtClean="0"/>
              <a:t>Observation</a:t>
            </a:r>
          </a:p>
          <a:p>
            <a:r>
              <a:rPr lang="en-AU" dirty="0" smtClean="0"/>
              <a:t>Analysis of feedback received</a:t>
            </a:r>
          </a:p>
          <a:p>
            <a:r>
              <a:rPr lang="en-AU" dirty="0" smtClean="0"/>
              <a:t>Meeting with stakeholders</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100</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518797" y="1852272"/>
            <a:ext cx="2006793" cy="324000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a:xfrm>
            <a:off x="251520" y="1988840"/>
            <a:ext cx="4680520" cy="4392488"/>
          </a:xfrm>
        </p:spPr>
        <p:txBody>
          <a:bodyPr>
            <a:normAutofit fontScale="92500" lnSpcReduction="10000"/>
          </a:bodyPr>
          <a:lstStyle/>
          <a:p>
            <a:pPr marL="36576" indent="0">
              <a:buNone/>
            </a:pPr>
            <a:r>
              <a:rPr lang="en-US" dirty="0" smtClean="0"/>
              <a:t>‘Analysis of materials and resources’ – requires:</a:t>
            </a:r>
          </a:p>
          <a:p>
            <a:r>
              <a:rPr lang="en-US" dirty="0" smtClean="0"/>
              <a:t>Gathering, reading and evaluating training and assessment items – to determine:</a:t>
            </a:r>
          </a:p>
          <a:p>
            <a:pPr lvl="1"/>
            <a:r>
              <a:rPr lang="en-US" dirty="0" smtClean="0"/>
              <a:t>Currency; Sufficiency; Clarity; Relevance, Utility</a:t>
            </a:r>
          </a:p>
          <a:p>
            <a:pPr lvl="1"/>
            <a:r>
              <a:rPr lang="en-US" dirty="0" smtClean="0"/>
              <a:t>Compliance with special need</a:t>
            </a:r>
          </a:p>
          <a:p>
            <a:r>
              <a:rPr lang="en-US" dirty="0" smtClean="0"/>
              <a:t>Evaluating systems, equipment and technology – with reference to: </a:t>
            </a:r>
          </a:p>
          <a:p>
            <a:pPr lvl="1"/>
            <a:r>
              <a:rPr lang="en-US" dirty="0" smtClean="0"/>
              <a:t>Access and safety</a:t>
            </a:r>
          </a:p>
          <a:p>
            <a:pPr lvl="1"/>
            <a:r>
              <a:rPr lang="en-US" dirty="0" smtClean="0"/>
              <a:t>All issues mentioned for ‘training and assessment items’ above</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101</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508104" y="1916832"/>
            <a:ext cx="2017486" cy="3110881"/>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a:xfrm>
            <a:off x="251520" y="1988840"/>
            <a:ext cx="5256584" cy="4536504"/>
          </a:xfrm>
        </p:spPr>
        <p:txBody>
          <a:bodyPr>
            <a:normAutofit lnSpcReduction="10000"/>
          </a:bodyPr>
          <a:lstStyle/>
          <a:p>
            <a:pPr marL="36576" indent="0">
              <a:buNone/>
            </a:pPr>
            <a:r>
              <a:rPr lang="en-US" dirty="0" smtClean="0"/>
              <a:t>‘Analysis of training content’ – needs to address:</a:t>
            </a:r>
          </a:p>
          <a:p>
            <a:r>
              <a:rPr lang="en-AU" dirty="0" smtClean="0"/>
              <a:t>Comparisons of training content with current workplace practices and equipment used</a:t>
            </a:r>
            <a:endParaRPr lang="en-US" dirty="0" smtClean="0"/>
          </a:p>
          <a:p>
            <a:r>
              <a:rPr lang="en-AU" dirty="0" smtClean="0"/>
              <a:t>Investigations to verify national competency standards (where used) are current versions</a:t>
            </a:r>
            <a:endParaRPr lang="en-US" dirty="0" smtClean="0"/>
          </a:p>
          <a:p>
            <a:r>
              <a:rPr lang="en-AU" dirty="0" smtClean="0"/>
              <a:t>Improvements or changes which may have taken place in the industry with reference to aspects deemed relevant by the organisation</a:t>
            </a:r>
            <a:endParaRPr lang="en-US" dirty="0" smtClean="0"/>
          </a:p>
          <a:p>
            <a:pPr marL="36576" indent="0">
              <a:buNone/>
            </a:pPr>
            <a:endParaRPr lang="en-US" sz="1500" dirty="0" smtClean="0"/>
          </a:p>
          <a:p>
            <a:pPr marL="36576" indent="0">
              <a:buNone/>
            </a:pPr>
            <a:r>
              <a:rPr lang="en-US" sz="15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102</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80384" y="2357262"/>
            <a:ext cx="3816424" cy="274104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p:txBody>
          <a:bodyPr/>
          <a:lstStyle/>
          <a:p>
            <a:r>
              <a:rPr lang="en-AU" dirty="0" smtClean="0"/>
              <a:t>Amendments made by the organisation in relation to the competency/competencies being reviewed</a:t>
            </a:r>
          </a:p>
          <a:p>
            <a:r>
              <a:rPr lang="en-AU" dirty="0" smtClean="0"/>
              <a:t>Sequencing of content</a:t>
            </a:r>
          </a:p>
          <a:p>
            <a:r>
              <a:rPr lang="en-AU" dirty="0" smtClean="0"/>
              <a:t>Weighting of content</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103</a:t>
            </a:fld>
            <a:endParaRPr lang="en-US" dirty="0"/>
          </a:p>
        </p:txBody>
      </p:sp>
      <p:pic>
        <p:nvPicPr>
          <p:cNvPr id="5" name="Picture 4"/>
          <p:cNvPicPr>
            <a:picLocks noChangeAspect="1"/>
          </p:cNvPicPr>
          <p:nvPr/>
        </p:nvPicPr>
        <p:blipFill rotWithShape="1">
          <a:blip r:embed="rId3" cstate="screen">
            <a:clrChange>
              <a:clrFrom>
                <a:srgbClr val="F8F8F8"/>
              </a:clrFrom>
              <a:clrTo>
                <a:srgbClr val="F8F8F8">
                  <a:alpha val="0"/>
                </a:srgbClr>
              </a:clrTo>
            </a:clrChange>
            <a:extLst>
              <a:ext uri="{28A0092B-C50C-407E-A947-70E740481C1C}">
                <a14:useLocalDpi xmlns:a14="http://schemas.microsoft.com/office/drawing/2010/main"/>
              </a:ext>
            </a:extLst>
          </a:blip>
          <a:srcRect/>
          <a:stretch/>
        </p:blipFill>
        <p:spPr>
          <a:xfrm>
            <a:off x="4932040" y="2708920"/>
            <a:ext cx="2791580" cy="255099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p:txBody>
          <a:bodyPr/>
          <a:lstStyle/>
          <a:p>
            <a:pPr marL="36576" indent="0">
              <a:buNone/>
            </a:pPr>
            <a:r>
              <a:rPr lang="en-US" dirty="0" smtClean="0"/>
              <a:t>‘Analysis of participant evaluation forms’ – these should/may be distributed:</a:t>
            </a:r>
          </a:p>
          <a:p>
            <a:r>
              <a:rPr lang="en-US" dirty="0" smtClean="0"/>
              <a:t>After each training session</a:t>
            </a:r>
          </a:p>
          <a:p>
            <a:r>
              <a:rPr lang="en-US" dirty="0" smtClean="0"/>
              <a:t>Following completion of topics or units</a:t>
            </a:r>
          </a:p>
          <a:p>
            <a:r>
              <a:rPr lang="en-US" dirty="0" smtClean="0"/>
              <a:t>When qualification has been completed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104</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73378" y="1988840"/>
            <a:ext cx="2066974" cy="3096344"/>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‘Analysis of participant evaluation forms’ – requires:</a:t>
            </a:r>
          </a:p>
          <a:p>
            <a:r>
              <a:rPr lang="en-AU" dirty="0" smtClean="0"/>
              <a:t>Gathering together and reading all the forms that were completed and returned to the trainer</a:t>
            </a:r>
          </a:p>
          <a:p>
            <a:r>
              <a:rPr lang="en-AU" dirty="0" smtClean="0"/>
              <a:t>Looking for trends in the responses/criticisms and/or suggestions</a:t>
            </a:r>
          </a:p>
          <a:p>
            <a:r>
              <a:rPr lang="en-AU" dirty="0" smtClean="0"/>
              <a:t>Matching the comments/feedback provided to actual delivery</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105</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1988840"/>
            <a:ext cx="2865777" cy="1910518"/>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US" dirty="0" smtClean="0"/>
              <a:t>‘Interviews’ = face-to-face discussion which are a valuable source of information as they:</a:t>
            </a:r>
          </a:p>
          <a:p>
            <a:r>
              <a:rPr lang="en-AU" dirty="0" smtClean="0"/>
              <a:t>Demonstrate reviews actually do occur in relation to the system</a:t>
            </a:r>
            <a:endParaRPr lang="en-US" dirty="0" smtClean="0"/>
          </a:p>
          <a:p>
            <a:r>
              <a:rPr lang="en-AU" dirty="0" smtClean="0"/>
              <a:t>Allow the non-verbal language of interviewees to be factored into contributions</a:t>
            </a:r>
          </a:p>
          <a:p>
            <a:r>
              <a:rPr lang="en-AU" dirty="0" smtClean="0"/>
              <a:t>Encourage those interviewed to raise issues of their own</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1967083"/>
            <a:ext cx="2808312" cy="1872414"/>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US" dirty="0" smtClean="0"/>
              <a:t>Interviews may:</a:t>
            </a:r>
          </a:p>
          <a:p>
            <a:r>
              <a:rPr lang="en-US" dirty="0" smtClean="0"/>
              <a:t>Feature current and past participants</a:t>
            </a:r>
          </a:p>
          <a:p>
            <a:r>
              <a:rPr lang="en-US" dirty="0" smtClean="0"/>
              <a:t>Involve internal and external stakeholders</a:t>
            </a:r>
          </a:p>
          <a:p>
            <a:r>
              <a:rPr lang="en-US" dirty="0" smtClean="0"/>
              <a:t>Be conducted one-on-one or in a group</a:t>
            </a:r>
          </a:p>
          <a:p>
            <a:r>
              <a:rPr lang="en-US" dirty="0" smtClean="0"/>
              <a:t>Use a standard set of questions as the basis for the discussion</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107</a:t>
            </a:fld>
            <a:endParaRPr lang="en-US" dirty="0"/>
          </a:p>
        </p:txBody>
      </p:sp>
      <p:pic>
        <p:nvPicPr>
          <p:cNvPr id="6" name="Picture 5"/>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21216" y="1988840"/>
            <a:ext cx="2160240" cy="324036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p:txBody>
          <a:bodyPr/>
          <a:lstStyle/>
          <a:p>
            <a:pPr marL="36576" indent="0">
              <a:buNone/>
            </a:pPr>
            <a:r>
              <a:rPr lang="en-US" dirty="0" smtClean="0"/>
              <a:t>‘Analysis of operational data’ – requires:</a:t>
            </a:r>
          </a:p>
          <a:p>
            <a:r>
              <a:rPr lang="en-AU" dirty="0" smtClean="0"/>
              <a:t>Acquiring base line data</a:t>
            </a:r>
          </a:p>
          <a:p>
            <a:r>
              <a:rPr lang="en-AU" dirty="0" smtClean="0"/>
              <a:t>Obtaining and evaluating information relevant to the specific objectives/elements being considered</a:t>
            </a:r>
          </a:p>
          <a:p>
            <a:r>
              <a:rPr lang="en-AU" dirty="0" smtClean="0"/>
              <a:t>Drawing comparisons</a:t>
            </a:r>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2000999"/>
            <a:ext cx="2880320" cy="1920213"/>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p:txBody>
          <a:bodyPr/>
          <a:lstStyle/>
          <a:p>
            <a:pPr marL="36576" indent="0">
              <a:buNone/>
            </a:pPr>
            <a:r>
              <a:rPr lang="en-US" dirty="0" smtClean="0"/>
              <a:t>Analysis of operational data must relate to identified outcomes/objectives for the training – such as:</a:t>
            </a:r>
          </a:p>
          <a:p>
            <a:r>
              <a:rPr lang="en-US" dirty="0" smtClean="0"/>
              <a:t>Less waste and accidents</a:t>
            </a:r>
          </a:p>
          <a:p>
            <a:r>
              <a:rPr lang="en-US" dirty="0" smtClean="0"/>
              <a:t>Improvements to productivity and/or service</a:t>
            </a:r>
          </a:p>
          <a:p>
            <a:r>
              <a:rPr lang="en-US" dirty="0" smtClean="0"/>
              <a:t>Increased sales/profit</a:t>
            </a:r>
          </a:p>
          <a:p>
            <a:r>
              <a:rPr lang="en-US" dirty="0" smtClean="0"/>
              <a:t>Certification of employees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109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73557" y="2014042"/>
            <a:ext cx="2520280" cy="189021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p:txBody>
          <a:bodyPr/>
          <a:lstStyle/>
          <a:p>
            <a:pPr marL="36576" indent="0">
              <a:buNone/>
            </a:pPr>
            <a:r>
              <a:rPr lang="en-US" dirty="0" smtClean="0"/>
              <a:t>‘Observation’ = visual observation of actions – may focus on:</a:t>
            </a:r>
          </a:p>
          <a:p>
            <a:r>
              <a:rPr lang="en-US" dirty="0" smtClean="0"/>
              <a:t>Trainers</a:t>
            </a:r>
          </a:p>
          <a:p>
            <a:r>
              <a:rPr lang="en-US" dirty="0" smtClean="0"/>
              <a:t>Assessors</a:t>
            </a:r>
          </a:p>
          <a:p>
            <a:r>
              <a:rPr lang="en-US" dirty="0" smtClean="0"/>
              <a:t>Workers</a:t>
            </a:r>
          </a:p>
          <a:p>
            <a:r>
              <a:rPr lang="en-US" dirty="0" smtClean="0"/>
              <a:t>Customers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47640" y="1988840"/>
            <a:ext cx="2905760" cy="1937173"/>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US" dirty="0" smtClean="0"/>
              <a:t>Observation may feature:</a:t>
            </a:r>
          </a:p>
          <a:p>
            <a:r>
              <a:rPr lang="en-US" dirty="0" smtClean="0"/>
              <a:t>Physically watching people</a:t>
            </a:r>
          </a:p>
          <a:p>
            <a:r>
              <a:rPr lang="en-US" dirty="0" smtClean="0"/>
              <a:t>Using a checklist to record </a:t>
            </a:r>
            <a:r>
              <a:rPr lang="en-US" dirty="0" err="1" smtClean="0"/>
              <a:t>targetted</a:t>
            </a:r>
            <a:r>
              <a:rPr lang="en-US" dirty="0" smtClean="0"/>
              <a:t> data</a:t>
            </a:r>
          </a:p>
          <a:p>
            <a:r>
              <a:rPr lang="en-US" dirty="0" smtClean="0"/>
              <a:t>Recording action/s observed for later playback and analysis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111</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2024485"/>
            <a:ext cx="3048000" cy="2033016"/>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a:xfrm>
            <a:off x="251520" y="1988840"/>
            <a:ext cx="4680520" cy="4392488"/>
          </a:xfrm>
        </p:spPr>
        <p:txBody>
          <a:bodyPr>
            <a:normAutofit lnSpcReduction="10000"/>
          </a:bodyPr>
          <a:lstStyle/>
          <a:p>
            <a:pPr marL="36576" indent="0">
              <a:buNone/>
            </a:pPr>
            <a:r>
              <a:rPr lang="en-US" dirty="0" smtClean="0"/>
              <a:t>‘Analysis of feedback received’ – it is important to ensure:</a:t>
            </a:r>
          </a:p>
          <a:p>
            <a:r>
              <a:rPr lang="en-US" dirty="0" smtClean="0"/>
              <a:t>System proactively solicits feedback</a:t>
            </a:r>
          </a:p>
          <a:p>
            <a:r>
              <a:rPr lang="en-US" dirty="0" smtClean="0"/>
              <a:t>All feedback received MUST be considered</a:t>
            </a:r>
          </a:p>
          <a:p>
            <a:r>
              <a:rPr lang="en-US" dirty="0" smtClean="0"/>
              <a:t>Stakeholders have a variety of ways to provide feedback</a:t>
            </a:r>
          </a:p>
          <a:p>
            <a:pPr lvl="0"/>
            <a:r>
              <a:rPr lang="en-US" dirty="0" smtClean="0"/>
              <a:t>Contributions are sought from all stakeholders</a:t>
            </a:r>
          </a:p>
          <a:p>
            <a:pPr lvl="0"/>
            <a:r>
              <a:rPr lang="en-AU" dirty="0" smtClean="0"/>
              <a:t>Analysis of training-related feedback, including complaints, grievances, awards received</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112</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11496" y="1988840"/>
            <a:ext cx="3048000" cy="22860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Describe the procedures to be used in the review</a:t>
            </a:r>
            <a:endParaRPr lang="en-US" dirty="0"/>
          </a:p>
        </p:txBody>
      </p:sp>
      <p:sp>
        <p:nvSpPr>
          <p:cNvPr id="3" name="Content Placeholder 2"/>
          <p:cNvSpPr>
            <a:spLocks noGrp="1"/>
          </p:cNvSpPr>
          <p:nvPr>
            <p:ph idx="1"/>
          </p:nvPr>
        </p:nvSpPr>
        <p:spPr/>
        <p:txBody>
          <a:bodyPr/>
          <a:lstStyle/>
          <a:p>
            <a:pPr marL="36576" indent="0">
              <a:buNone/>
            </a:pPr>
            <a:r>
              <a:rPr lang="en-US" dirty="0" smtClean="0"/>
              <a:t>‘Meeting with stakeholders’ – will require:</a:t>
            </a:r>
          </a:p>
          <a:p>
            <a:r>
              <a:rPr lang="en-AU" dirty="0" smtClean="0"/>
              <a:t>Organising and scheduling the meeting/s</a:t>
            </a:r>
          </a:p>
          <a:p>
            <a:r>
              <a:rPr lang="en-AU" dirty="0" smtClean="0"/>
              <a:t>Providing advance notice of meetings and agenda items</a:t>
            </a:r>
          </a:p>
          <a:p>
            <a:r>
              <a:rPr lang="en-AU" dirty="0" smtClean="0"/>
              <a:t>Recording the contributions made </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83429" y="2024485"/>
            <a:ext cx="3048000" cy="2033016"/>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Document approved procedures for review of workplace training system</a:t>
            </a:r>
            <a:endParaRPr lang="en-US" dirty="0"/>
          </a:p>
        </p:txBody>
      </p:sp>
      <p:sp>
        <p:nvSpPr>
          <p:cNvPr id="3" name="Content Placeholder 2"/>
          <p:cNvSpPr>
            <a:spLocks noGrp="1"/>
          </p:cNvSpPr>
          <p:nvPr>
            <p:ph idx="1"/>
          </p:nvPr>
        </p:nvSpPr>
        <p:spPr>
          <a:xfrm>
            <a:off x="251520" y="1988840"/>
            <a:ext cx="4392488" cy="4137323"/>
          </a:xfrm>
        </p:spPr>
        <p:txBody>
          <a:bodyPr/>
          <a:lstStyle/>
          <a:p>
            <a:r>
              <a:rPr lang="en-AU" dirty="0" smtClean="0"/>
              <a:t>The procedures to be used when conducting reviews of the workplace training system must always be documented</a:t>
            </a:r>
            <a:endParaRPr lang="en-US" dirty="0" smtClean="0"/>
          </a:p>
          <a:p>
            <a:r>
              <a:rPr lang="en-US" dirty="0" smtClean="0"/>
              <a:t>‘Documenting procedures’ means putting them in written form</a:t>
            </a:r>
          </a:p>
          <a:p>
            <a:r>
              <a:rPr lang="en-AU" dirty="0" smtClean="0"/>
              <a:t>Need to document the procedures to be used</a:t>
            </a:r>
          </a:p>
          <a:p>
            <a:r>
              <a:rPr lang="en-AU" dirty="0" smtClean="0"/>
              <a:t>Criteria and/or standards which might apply</a:t>
            </a:r>
          </a:p>
          <a:p>
            <a:endParaRPr lang="en-AU"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114</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1988840"/>
            <a:ext cx="3048000" cy="22860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Document approved procedures for review of workplace training system</a:t>
            </a:r>
            <a:endParaRPr lang="en-US" dirty="0"/>
          </a:p>
        </p:txBody>
      </p:sp>
      <p:sp>
        <p:nvSpPr>
          <p:cNvPr id="3" name="Content Placeholder 2"/>
          <p:cNvSpPr>
            <a:spLocks noGrp="1"/>
          </p:cNvSpPr>
          <p:nvPr>
            <p:ph idx="1"/>
          </p:nvPr>
        </p:nvSpPr>
        <p:spPr/>
        <p:txBody>
          <a:bodyPr/>
          <a:lstStyle/>
          <a:p>
            <a:r>
              <a:rPr lang="en-AU" dirty="0" smtClean="0"/>
              <a:t>Sharing the procedures</a:t>
            </a:r>
          </a:p>
          <a:p>
            <a:r>
              <a:rPr lang="en-US" dirty="0" smtClean="0"/>
              <a:t>Distributing hard copy information</a:t>
            </a:r>
          </a:p>
          <a:p>
            <a:r>
              <a:rPr lang="en-US" dirty="0" smtClean="0"/>
              <a:t>Verbally explaining things</a:t>
            </a:r>
          </a:p>
          <a:p>
            <a:r>
              <a:rPr lang="en-US" dirty="0" smtClean="0"/>
              <a:t>Providing demonstrations/training in implementation of the procedures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115</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42770" y="2049287"/>
            <a:ext cx="3048000" cy="202692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Obtain management commitment to implement required changes</a:t>
            </a:r>
            <a:endParaRPr lang="en-US" dirty="0"/>
          </a:p>
        </p:txBody>
      </p:sp>
      <p:sp>
        <p:nvSpPr>
          <p:cNvPr id="3" name="Content Placeholder 2"/>
          <p:cNvSpPr>
            <a:spLocks noGrp="1"/>
          </p:cNvSpPr>
          <p:nvPr>
            <p:ph idx="1"/>
          </p:nvPr>
        </p:nvSpPr>
        <p:spPr>
          <a:xfrm>
            <a:off x="251520" y="1988840"/>
            <a:ext cx="4680520" cy="4392488"/>
          </a:xfrm>
        </p:spPr>
        <p:txBody>
          <a:bodyPr>
            <a:normAutofit lnSpcReduction="10000"/>
          </a:bodyPr>
          <a:lstStyle/>
          <a:p>
            <a:pPr marL="36576" indent="0">
              <a:buNone/>
            </a:pPr>
            <a:r>
              <a:rPr lang="en-AU" dirty="0" smtClean="0"/>
              <a:t>The following need to be considered in relation to gaining management approval to implement changes to a workplace training system</a:t>
            </a:r>
            <a:r>
              <a:rPr lang="en-US" dirty="0" smtClean="0"/>
              <a:t>:</a:t>
            </a:r>
          </a:p>
          <a:p>
            <a:r>
              <a:rPr lang="en-AU" dirty="0" smtClean="0"/>
              <a:t>Required changes from ‘certain sources’ (such as the Training Authority) will receive a more positive response</a:t>
            </a:r>
            <a:endParaRPr lang="en-US" dirty="0" smtClean="0"/>
          </a:p>
          <a:p>
            <a:r>
              <a:rPr lang="en-AU" dirty="0" smtClean="0"/>
              <a:t>Those requesting the changes need to fully understand what is required </a:t>
            </a:r>
            <a:endParaRPr lang="en-US" dirty="0" smtClean="0"/>
          </a:p>
          <a:p>
            <a:pPr marL="36576" indent="0">
              <a:buNone/>
            </a:pPr>
            <a:endParaRPr lang="en-US" sz="1500" dirty="0" smtClean="0"/>
          </a:p>
          <a:p>
            <a:pPr marL="36576" indent="0">
              <a:buNone/>
            </a:pPr>
            <a:r>
              <a:rPr lang="en-US" sz="15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2030581"/>
            <a:ext cx="3048000" cy="202692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Obtain management commitment to implement required changes</a:t>
            </a:r>
            <a:endParaRPr lang="en-US" dirty="0"/>
          </a:p>
        </p:txBody>
      </p:sp>
      <p:sp>
        <p:nvSpPr>
          <p:cNvPr id="3" name="Content Placeholder 2"/>
          <p:cNvSpPr>
            <a:spLocks noGrp="1"/>
          </p:cNvSpPr>
          <p:nvPr>
            <p:ph idx="1"/>
          </p:nvPr>
        </p:nvSpPr>
        <p:spPr/>
        <p:txBody>
          <a:bodyPr/>
          <a:lstStyle/>
          <a:p>
            <a:r>
              <a:rPr lang="en-AU" dirty="0" smtClean="0"/>
              <a:t>Management must be given sufficient advance notice of the need for change </a:t>
            </a:r>
          </a:p>
          <a:p>
            <a:r>
              <a:rPr lang="en-AU" dirty="0" smtClean="0"/>
              <a:t>The application for management approval to proceed and the request for them to commit to the required changes needs to be planned </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117</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1988840"/>
            <a:ext cx="3048000" cy="2033016"/>
          </a:xfrm>
          <a:prstGeom prst="rect">
            <a:avLst/>
          </a:prstGeo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Obtain management commitment to implement required changes</a:t>
            </a:r>
            <a:endParaRPr lang="en-US" dirty="0"/>
          </a:p>
        </p:txBody>
      </p:sp>
      <p:sp>
        <p:nvSpPr>
          <p:cNvPr id="3" name="Content Placeholder 2"/>
          <p:cNvSpPr>
            <a:spLocks noGrp="1"/>
          </p:cNvSpPr>
          <p:nvPr>
            <p:ph idx="1"/>
          </p:nvPr>
        </p:nvSpPr>
        <p:spPr/>
        <p:txBody>
          <a:bodyPr>
            <a:normAutofit lnSpcReduction="10000"/>
          </a:bodyPr>
          <a:lstStyle/>
          <a:p>
            <a:r>
              <a:rPr lang="en-AU" dirty="0" smtClean="0"/>
              <a:t>Obtaining management approval and commitment</a:t>
            </a:r>
          </a:p>
          <a:p>
            <a:r>
              <a:rPr lang="en-AU" dirty="0" smtClean="0"/>
              <a:t>Provide copies of audit reports together with required changes</a:t>
            </a:r>
          </a:p>
          <a:p>
            <a:r>
              <a:rPr lang="en-AU" dirty="0" smtClean="0"/>
              <a:t>Estimate costs associated with making the changes</a:t>
            </a:r>
          </a:p>
          <a:p>
            <a:r>
              <a:rPr lang="en-AU" dirty="0" smtClean="0"/>
              <a:t>Describe and quantify consequences if the organisation elects not to proceed with making identified changes</a:t>
            </a:r>
            <a:endParaRPr lang="en-US" dirty="0" smtClean="0"/>
          </a:p>
          <a:p>
            <a:pPr marL="36576" indent="0">
              <a:buNone/>
            </a:pPr>
            <a:endParaRPr lang="en-US" sz="1400" dirty="0" smtClean="0"/>
          </a:p>
          <a:p>
            <a:pPr marL="36576" indent="0">
              <a:buNone/>
            </a:pPr>
            <a:r>
              <a:rPr lang="en-US" sz="1400" dirty="0" smtClean="0"/>
              <a:t>(Continued in TM)</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118</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796136" y="1939314"/>
            <a:ext cx="1632586" cy="324000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Element 5 – </a:t>
            </a:r>
            <a:r>
              <a:rPr lang="en-AU" smtClean="0"/>
              <a:t>Prepare to implement the workplace training system</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Performance Criteria for this Element are:</a:t>
            </a:r>
          </a:p>
          <a:p>
            <a:r>
              <a:rPr lang="en-AU" dirty="0" smtClean="0"/>
              <a:t>Develop an implementation plan for the training system</a:t>
            </a:r>
          </a:p>
          <a:p>
            <a:r>
              <a:rPr lang="en-AU" dirty="0" smtClean="0"/>
              <a:t>Prepare trainers and assessors in accordance with identified need</a:t>
            </a:r>
          </a:p>
          <a:p>
            <a:r>
              <a:rPr lang="en-AU" dirty="0" smtClean="0"/>
              <a:t>Prepare training programs to provide identified training</a:t>
            </a:r>
          </a:p>
          <a:p>
            <a:r>
              <a:rPr lang="en-AU" dirty="0" smtClean="0"/>
              <a:t>Obtain resources to support training delivery</a:t>
            </a:r>
          </a:p>
          <a:p>
            <a:r>
              <a:rPr lang="en-AU" dirty="0" smtClean="0"/>
              <a:t>Recruit participants for training</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119</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148064" y="1977019"/>
            <a:ext cx="2592288" cy="3539893"/>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Develop an implementation plan for the training system</a:t>
            </a:r>
            <a:endParaRPr lang="en-US" dirty="0"/>
          </a:p>
        </p:txBody>
      </p:sp>
      <p:sp>
        <p:nvSpPr>
          <p:cNvPr id="3" name="Content Placeholder 2"/>
          <p:cNvSpPr>
            <a:spLocks noGrp="1"/>
          </p:cNvSpPr>
          <p:nvPr>
            <p:ph idx="1"/>
          </p:nvPr>
        </p:nvSpPr>
        <p:spPr>
          <a:xfrm>
            <a:off x="251520" y="1988840"/>
            <a:ext cx="4320480" cy="4137323"/>
          </a:xfrm>
        </p:spPr>
        <p:txBody>
          <a:bodyPr/>
          <a:lstStyle/>
          <a:p>
            <a:r>
              <a:rPr lang="en-AU" dirty="0" smtClean="0"/>
              <a:t>Need for an implementation plan</a:t>
            </a:r>
          </a:p>
          <a:p>
            <a:r>
              <a:rPr lang="en-AU" dirty="0" smtClean="0"/>
              <a:t>Contents of the implementation plan</a:t>
            </a:r>
          </a:p>
          <a:p>
            <a:pPr lvl="1"/>
            <a:r>
              <a:rPr lang="en-AU" dirty="0" smtClean="0"/>
              <a:t>General format/layout</a:t>
            </a:r>
          </a:p>
          <a:p>
            <a:pPr lvl="1"/>
            <a:r>
              <a:rPr lang="en-AU" dirty="0" smtClean="0"/>
              <a:t>Phases</a:t>
            </a:r>
          </a:p>
          <a:p>
            <a:pPr lvl="1"/>
            <a:r>
              <a:rPr lang="en-AU" dirty="0" smtClean="0"/>
              <a:t>Objectives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120</a:t>
            </a:fld>
            <a:endParaRPr lang="en-US" dirty="0"/>
          </a:p>
        </p:txBody>
      </p:sp>
      <p:pic>
        <p:nvPicPr>
          <p:cNvPr id="5" name="Picture 4"/>
          <p:cNvPicPr>
            <a:picLocks noChangeAspect="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364087" y="1965164"/>
            <a:ext cx="2843825" cy="1895883"/>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trainers and assessors in accordance with identified need</a:t>
            </a:r>
            <a:endParaRPr lang="en-US" dirty="0"/>
          </a:p>
        </p:txBody>
      </p:sp>
      <p:sp>
        <p:nvSpPr>
          <p:cNvPr id="3" name="Content Placeholder 2"/>
          <p:cNvSpPr>
            <a:spLocks noGrp="1"/>
          </p:cNvSpPr>
          <p:nvPr>
            <p:ph idx="1"/>
          </p:nvPr>
        </p:nvSpPr>
        <p:spPr>
          <a:xfrm>
            <a:off x="251520" y="1988840"/>
            <a:ext cx="4320480" cy="4137323"/>
          </a:xfrm>
        </p:spPr>
        <p:txBody>
          <a:bodyPr/>
          <a:lstStyle/>
          <a:p>
            <a:r>
              <a:rPr lang="en-AU" dirty="0" smtClean="0"/>
              <a:t>All trainers and assessors who will operate/work in the workplace training system must be prepared in accordance with identified need</a:t>
            </a:r>
          </a:p>
          <a:p>
            <a:r>
              <a:rPr lang="en-AU" dirty="0" smtClean="0"/>
              <a:t>Activities required</a:t>
            </a:r>
          </a:p>
          <a:p>
            <a:r>
              <a:rPr lang="en-AU" dirty="0" smtClean="0"/>
              <a:t>The importance of this step</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121</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1988840"/>
            <a:ext cx="2880320" cy="216024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US" dirty="0" smtClean="0"/>
              <a:t>‘Training programs’:</a:t>
            </a:r>
          </a:p>
          <a:p>
            <a:r>
              <a:rPr lang="en-US" dirty="0" smtClean="0"/>
              <a:t>Courses/qualifications</a:t>
            </a:r>
          </a:p>
          <a:p>
            <a:r>
              <a:rPr lang="en-US" dirty="0" smtClean="0"/>
              <a:t>Topics/content</a:t>
            </a:r>
          </a:p>
          <a:p>
            <a:r>
              <a:rPr lang="en-US" dirty="0" smtClean="0"/>
              <a:t>A ‘unit’ or competency standard</a:t>
            </a:r>
          </a:p>
          <a:p>
            <a:r>
              <a:rPr lang="en-US" dirty="0" smtClean="0"/>
              <a:t>Short- or –lone-courses</a:t>
            </a:r>
          </a:p>
          <a:p>
            <a:r>
              <a:rPr lang="en-US" dirty="0" err="1" smtClean="0"/>
              <a:t>Recognised</a:t>
            </a:r>
            <a:r>
              <a:rPr lang="en-US" dirty="0" smtClean="0"/>
              <a:t>/accredited and non-</a:t>
            </a:r>
            <a:r>
              <a:rPr lang="en-US" dirty="0" err="1" smtClean="0"/>
              <a:t>recognised</a:t>
            </a:r>
            <a:r>
              <a:rPr lang="en-US" dirty="0" smtClean="0"/>
              <a:t> training</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122</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2071254"/>
            <a:ext cx="2790040" cy="1860027"/>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AU" dirty="0" smtClean="0"/>
              <a:t>It is important to determine how this term is understood in the individual workplace so that: </a:t>
            </a:r>
          </a:p>
          <a:p>
            <a:r>
              <a:rPr lang="en-US" dirty="0" smtClean="0"/>
              <a:t>There is clarity about its use</a:t>
            </a:r>
          </a:p>
          <a:p>
            <a:r>
              <a:rPr lang="en-US" dirty="0" smtClean="0"/>
              <a:t>There is no confusion about meaning and what it includes</a:t>
            </a:r>
          </a:p>
          <a:p>
            <a:r>
              <a:rPr lang="en-US" dirty="0" smtClean="0"/>
              <a:t>Everyone is ‘on the same page’ regarding what it covers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45816" y="2060848"/>
            <a:ext cx="2808312" cy="1872208"/>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a:xfrm>
            <a:off x="251520" y="1988840"/>
            <a:ext cx="4320480" cy="4464496"/>
          </a:xfrm>
        </p:spPr>
        <p:txBody>
          <a:bodyPr>
            <a:normAutofit lnSpcReduction="10000"/>
          </a:bodyPr>
          <a:lstStyle/>
          <a:p>
            <a:pPr marL="36576" indent="0">
              <a:buNone/>
            </a:pPr>
            <a:r>
              <a:rPr lang="en-US" dirty="0" smtClean="0"/>
              <a:t>Basis for developing training programs:</a:t>
            </a:r>
          </a:p>
          <a:p>
            <a:r>
              <a:rPr lang="en-AU" dirty="0" smtClean="0"/>
              <a:t>Competency standards provided by the relevant Training Authority – where training is to be accredited</a:t>
            </a:r>
          </a:p>
          <a:p>
            <a:r>
              <a:rPr lang="en-AU" dirty="0" smtClean="0"/>
              <a:t>Competencies, standards and criteria identified by the individual workplace – as these may apply to:</a:t>
            </a:r>
            <a:endParaRPr lang="en-US" dirty="0" smtClean="0"/>
          </a:p>
          <a:p>
            <a:pPr lvl="0"/>
            <a:r>
              <a:rPr lang="en-US" dirty="0" smtClean="0"/>
              <a:t>Identified employee need</a:t>
            </a:r>
          </a:p>
          <a:p>
            <a:pPr lvl="0"/>
            <a:r>
              <a:rPr lang="en-US" dirty="0" smtClean="0"/>
              <a:t>Identified  </a:t>
            </a:r>
            <a:r>
              <a:rPr lang="en-US" dirty="0" err="1" smtClean="0"/>
              <a:t>organisational</a:t>
            </a:r>
            <a:r>
              <a:rPr lang="en-US" dirty="0" smtClean="0"/>
              <a:t> need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124</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52562" y="2000999"/>
            <a:ext cx="2819837" cy="1879891"/>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p:txBody>
          <a:bodyPr>
            <a:normAutofit lnSpcReduction="10000"/>
          </a:bodyPr>
          <a:lstStyle/>
          <a:p>
            <a:r>
              <a:rPr lang="en-AU" dirty="0" smtClean="0"/>
              <a:t>Relationship between training programs and assessment</a:t>
            </a:r>
            <a:endParaRPr lang="en-US" dirty="0" smtClean="0"/>
          </a:p>
          <a:p>
            <a:r>
              <a:rPr lang="en-US" dirty="0" err="1" smtClean="0"/>
              <a:t>Organisation</a:t>
            </a:r>
            <a:r>
              <a:rPr lang="en-US" dirty="0" smtClean="0"/>
              <a:t> may conduct all its own assessment</a:t>
            </a:r>
          </a:p>
          <a:p>
            <a:r>
              <a:rPr lang="en-US" dirty="0" err="1" smtClean="0"/>
              <a:t>Organisation</a:t>
            </a:r>
            <a:r>
              <a:rPr lang="en-US" dirty="0" smtClean="0"/>
              <a:t> may out-source assessment</a:t>
            </a:r>
          </a:p>
          <a:p>
            <a:r>
              <a:rPr lang="en-US" dirty="0" smtClean="0"/>
              <a:t>If system is not accredited, it may not assess at all</a:t>
            </a:r>
          </a:p>
          <a:p>
            <a:r>
              <a:rPr lang="en-US" dirty="0" smtClean="0"/>
              <a:t>Some </a:t>
            </a:r>
            <a:r>
              <a:rPr lang="en-US" dirty="0" err="1" smtClean="0"/>
              <a:t>organisations</a:t>
            </a:r>
            <a:r>
              <a:rPr lang="en-US" dirty="0" smtClean="0"/>
              <a:t> believe the person who delivers the training should not be the person who conducts the assessment</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125</a:t>
            </a:fld>
            <a:endParaRPr lang="en-US" dirty="0"/>
          </a:p>
        </p:txBody>
      </p:sp>
      <p:pic>
        <p:nvPicPr>
          <p:cNvPr id="5" name="Picture 4"/>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92080" y="1912706"/>
            <a:ext cx="2824227" cy="2035105"/>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a:xfrm>
            <a:off x="251520" y="1988840"/>
            <a:ext cx="4680520" cy="4536504"/>
          </a:xfrm>
        </p:spPr>
        <p:txBody>
          <a:bodyPr>
            <a:normAutofit lnSpcReduction="10000"/>
          </a:bodyPr>
          <a:lstStyle/>
          <a:p>
            <a:r>
              <a:rPr lang="en-AU" dirty="0" smtClean="0"/>
              <a:t>Activities in the process</a:t>
            </a:r>
          </a:p>
          <a:p>
            <a:r>
              <a:rPr lang="en-AU" dirty="0" smtClean="0"/>
              <a:t>Reviewing existing/endorsed competency standards to be used</a:t>
            </a:r>
          </a:p>
          <a:p>
            <a:r>
              <a:rPr lang="en-AU" dirty="0" smtClean="0"/>
              <a:t>Developing new competency standards necessary to meet internal requirements</a:t>
            </a:r>
          </a:p>
          <a:p>
            <a:r>
              <a:rPr lang="en-AU" dirty="0" smtClean="0"/>
              <a:t>Designing the program</a:t>
            </a:r>
            <a:endParaRPr lang="en-US" dirty="0" smtClean="0"/>
          </a:p>
          <a:p>
            <a:pPr lvl="0"/>
            <a:r>
              <a:rPr lang="en-US" dirty="0" smtClean="0"/>
              <a:t>Preparing time-tables</a:t>
            </a:r>
          </a:p>
          <a:p>
            <a:pPr lvl="0"/>
            <a:r>
              <a:rPr lang="en-US" dirty="0" smtClean="0"/>
              <a:t>Developing training plans</a:t>
            </a:r>
          </a:p>
          <a:p>
            <a:pPr lvl="0"/>
            <a:r>
              <a:rPr lang="en-US" dirty="0" smtClean="0"/>
              <a:t>Developing assessment items and plans</a:t>
            </a:r>
          </a:p>
          <a:p>
            <a:pPr lvl="0"/>
            <a:r>
              <a:rPr lang="en-US" dirty="0" smtClean="0"/>
              <a:t>Developing session plans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126</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32206" y="1985671"/>
            <a:ext cx="2048106" cy="3382085"/>
          </a:xfrm>
          <a:prstGeom prst="rect">
            <a:avLst/>
          </a:prstGeom>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p:txBody>
          <a:bodyPr/>
          <a:lstStyle/>
          <a:p>
            <a:r>
              <a:rPr lang="en-AU" dirty="0" smtClean="0"/>
              <a:t>Identification of training methods/strategies</a:t>
            </a:r>
          </a:p>
          <a:p>
            <a:r>
              <a:rPr lang="en-AU" dirty="0" smtClean="0"/>
              <a:t>Should reflect any known learning preferences of the learners</a:t>
            </a:r>
          </a:p>
          <a:p>
            <a:r>
              <a:rPr lang="en-AU" dirty="0" smtClean="0"/>
              <a:t>Need to be appropriate to the content </a:t>
            </a:r>
          </a:p>
          <a:p>
            <a:r>
              <a:rPr lang="en-AU" dirty="0" smtClean="0"/>
              <a:t>Must enable delivery to occur within the known parameters </a:t>
            </a:r>
            <a:endParaRPr lang="en-US" dirty="0" smtClean="0"/>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127</a:t>
            </a:fld>
            <a:endParaRPr lang="en-US" dirty="0"/>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2060847"/>
            <a:ext cx="2880320" cy="1989285"/>
          </a:xfrm>
          <a:prstGeom prst="rect">
            <a:avLst/>
          </a:prstGeom>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p:txBody>
          <a:bodyPr/>
          <a:lstStyle/>
          <a:p>
            <a:r>
              <a:rPr lang="en-AU" dirty="0" smtClean="0"/>
              <a:t>Should introduce diversity into the training and help motivate learners</a:t>
            </a:r>
            <a:endParaRPr lang="en-US" dirty="0" smtClean="0"/>
          </a:p>
          <a:p>
            <a:r>
              <a:rPr lang="en-AU" dirty="0" smtClean="0"/>
              <a:t>Must be able to be accommodate all the learners </a:t>
            </a:r>
            <a:endParaRPr lang="en-US" dirty="0" smtClean="0"/>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128</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311045" y="2060847"/>
            <a:ext cx="2074072" cy="2741915"/>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a:xfrm>
            <a:off x="251520" y="1988840"/>
            <a:ext cx="4320480" cy="4137323"/>
          </a:xfrm>
        </p:spPr>
        <p:txBody>
          <a:bodyPr/>
          <a:lstStyle/>
          <a:p>
            <a:r>
              <a:rPr lang="en-AU" dirty="0" smtClean="0"/>
              <a:t>Have to reflect the availability of supporting physical resources</a:t>
            </a:r>
          </a:p>
          <a:p>
            <a:r>
              <a:rPr lang="en-AU" dirty="0" smtClean="0"/>
              <a:t>Will often be selected to best fit with individual Trainer:</a:t>
            </a:r>
            <a:endParaRPr lang="en-US" dirty="0" smtClean="0"/>
          </a:p>
          <a:p>
            <a:pPr lvl="1"/>
            <a:r>
              <a:rPr lang="en-US" dirty="0" smtClean="0"/>
              <a:t>Personality</a:t>
            </a:r>
          </a:p>
          <a:p>
            <a:pPr lvl="1"/>
            <a:r>
              <a:rPr lang="en-US" dirty="0" smtClean="0"/>
              <a:t>Preference for teaching</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129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1988790"/>
            <a:ext cx="3048000" cy="2033016"/>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p:txBody>
          <a:bodyPr/>
          <a:lstStyle/>
          <a:p>
            <a:r>
              <a:rPr lang="en-US" dirty="0" smtClean="0"/>
              <a:t>Different training methods can be used when delivering training:</a:t>
            </a:r>
          </a:p>
          <a:p>
            <a:pPr lvl="1"/>
            <a:r>
              <a:rPr lang="en-US" dirty="0" smtClean="0"/>
              <a:t>Skill</a:t>
            </a:r>
          </a:p>
          <a:p>
            <a:pPr lvl="1"/>
            <a:r>
              <a:rPr lang="en-US" dirty="0" smtClean="0"/>
              <a:t>Knowledge</a:t>
            </a:r>
          </a:p>
          <a:p>
            <a:pPr lvl="1"/>
            <a:r>
              <a:rPr lang="en-US" dirty="0" smtClean="0"/>
              <a:t>Attitude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2008761"/>
            <a:ext cx="3048000" cy="2033016"/>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p:txBody>
          <a:bodyPr/>
          <a:lstStyle/>
          <a:p>
            <a:r>
              <a:rPr lang="en-US" dirty="0" smtClean="0"/>
              <a:t>Training delivery options:</a:t>
            </a:r>
          </a:p>
          <a:p>
            <a:pPr lvl="1"/>
            <a:r>
              <a:rPr lang="en-AU" dirty="0"/>
              <a:t>Demonstration</a:t>
            </a:r>
          </a:p>
          <a:p>
            <a:pPr lvl="1"/>
            <a:r>
              <a:rPr lang="en-AU" dirty="0"/>
              <a:t>Lecture</a:t>
            </a:r>
          </a:p>
          <a:p>
            <a:pPr lvl="1"/>
            <a:r>
              <a:rPr lang="en-AU" dirty="0"/>
              <a:t>Brainstorming</a:t>
            </a:r>
          </a:p>
          <a:p>
            <a:pPr lvl="1"/>
            <a:r>
              <a:rPr lang="en-AU" dirty="0"/>
              <a:t>Role plays</a:t>
            </a:r>
          </a:p>
          <a:p>
            <a:pPr lvl="1"/>
            <a:r>
              <a:rPr lang="en-AU" dirty="0"/>
              <a:t>Case study</a:t>
            </a:r>
          </a:p>
          <a:p>
            <a:pPr lvl="1"/>
            <a:r>
              <a:rPr lang="en-AU" dirty="0"/>
              <a:t>Group discussion</a:t>
            </a:r>
          </a:p>
          <a:p>
            <a:pPr lvl="1"/>
            <a:r>
              <a:rPr lang="en-AU" dirty="0"/>
              <a:t>Questioning</a:t>
            </a:r>
          </a:p>
          <a:p>
            <a:pPr lvl="1"/>
            <a:r>
              <a:rPr lang="en-AU" dirty="0"/>
              <a:t>Excursions/field trips</a:t>
            </a:r>
          </a:p>
          <a:p>
            <a:pPr lvl="1"/>
            <a:r>
              <a:rPr lang="en-AU" dirty="0"/>
              <a:t>Practice/drill</a:t>
            </a:r>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131</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1988790"/>
            <a:ext cx="3048000" cy="2033016"/>
          </a:xfrm>
          <a:prstGeom prst="rect">
            <a:avLst/>
          </a:prstGeom>
        </p:spPr>
      </p:pic>
    </p:spTree>
    <p:extLst>
      <p:ext uri="{BB962C8B-B14F-4D97-AF65-F5344CB8AC3E}">
        <p14:creationId xmlns:p14="http://schemas.microsoft.com/office/powerpoint/2010/main" val="119134471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a:xfrm>
            <a:off x="251520" y="1988840"/>
            <a:ext cx="4248472" cy="4137323"/>
          </a:xfrm>
        </p:spPr>
        <p:txBody>
          <a:bodyPr/>
          <a:lstStyle/>
          <a:p>
            <a:pPr marL="36576" indent="0">
              <a:buNone/>
            </a:pPr>
            <a:r>
              <a:rPr lang="en-AU" dirty="0" smtClean="0"/>
              <a:t>Assessment:</a:t>
            </a:r>
          </a:p>
          <a:p>
            <a:r>
              <a:rPr lang="en-AU" dirty="0" smtClean="0"/>
              <a:t>Planning of training programs also needs to consider the assessment to be provided</a:t>
            </a:r>
          </a:p>
          <a:p>
            <a:r>
              <a:rPr lang="en-AU" dirty="0" smtClean="0"/>
              <a:t>Evidence is gathered to demonstrate competence in the skills and knowledge required by the units of competency</a:t>
            </a:r>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132</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2024485"/>
            <a:ext cx="3048000" cy="2033016"/>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p:txBody>
          <a:bodyPr/>
          <a:lstStyle/>
          <a:p>
            <a:pPr marL="36576" indent="0">
              <a:buNone/>
            </a:pPr>
            <a:r>
              <a:rPr lang="en-US" dirty="0" smtClean="0"/>
              <a:t>In relation to assessment:</a:t>
            </a:r>
          </a:p>
          <a:p>
            <a:r>
              <a:rPr lang="en-US" dirty="0" smtClean="0"/>
              <a:t>‘Principles of Assessment’ must be applied:</a:t>
            </a:r>
          </a:p>
          <a:p>
            <a:pPr lvl="1"/>
            <a:r>
              <a:rPr lang="en-US" dirty="0" smtClean="0"/>
              <a:t>Fairness</a:t>
            </a:r>
          </a:p>
          <a:p>
            <a:pPr lvl="1"/>
            <a:r>
              <a:rPr lang="en-US" dirty="0" smtClean="0"/>
              <a:t>Flexibility</a:t>
            </a:r>
          </a:p>
          <a:p>
            <a:pPr lvl="1"/>
            <a:r>
              <a:rPr lang="en-US" dirty="0" smtClean="0"/>
              <a:t>Validity</a:t>
            </a:r>
          </a:p>
          <a:p>
            <a:pPr lvl="1"/>
            <a:r>
              <a:rPr lang="en-US" dirty="0" smtClean="0"/>
              <a:t>Reliability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99104" y="2024502"/>
            <a:ext cx="3048000" cy="2039112"/>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p:txBody>
          <a:bodyPr/>
          <a:lstStyle/>
          <a:p>
            <a:pPr marL="36576" indent="0">
              <a:buNone/>
            </a:pPr>
            <a:r>
              <a:rPr lang="en-US" dirty="0" smtClean="0"/>
              <a:t>‘Rules of Evidence’ must be followed:</a:t>
            </a:r>
          </a:p>
          <a:p>
            <a:pPr lvl="1"/>
            <a:r>
              <a:rPr lang="en-US" dirty="0" smtClean="0"/>
              <a:t>Validity</a:t>
            </a:r>
          </a:p>
          <a:p>
            <a:pPr lvl="1"/>
            <a:r>
              <a:rPr lang="en-US" dirty="0" smtClean="0"/>
              <a:t>Sufficiency</a:t>
            </a:r>
          </a:p>
          <a:p>
            <a:pPr lvl="1"/>
            <a:r>
              <a:rPr lang="en-US" dirty="0" smtClean="0"/>
              <a:t>Authenticity</a:t>
            </a:r>
          </a:p>
          <a:p>
            <a:pPr lvl="1"/>
            <a:r>
              <a:rPr lang="en-US" dirty="0" smtClean="0"/>
              <a:t>Currency</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134</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2018389"/>
            <a:ext cx="3048000" cy="2039112"/>
          </a:xfrm>
          <a:prstGeom prst="rect">
            <a:avLst/>
          </a:prstGeom>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AU" dirty="0" smtClean="0"/>
              <a:t>Assessment options</a:t>
            </a:r>
          </a:p>
          <a:p>
            <a:r>
              <a:rPr lang="en-AU" dirty="0" smtClean="0"/>
              <a:t>Practical skills may be assessed through:</a:t>
            </a:r>
          </a:p>
          <a:p>
            <a:pPr lvl="1"/>
            <a:r>
              <a:rPr lang="en-US" dirty="0" smtClean="0"/>
              <a:t>Observation of real work</a:t>
            </a:r>
          </a:p>
          <a:p>
            <a:pPr lvl="1"/>
            <a:r>
              <a:rPr lang="en-US" dirty="0" smtClean="0"/>
              <a:t>Use of simulations</a:t>
            </a:r>
          </a:p>
          <a:p>
            <a:pPr lvl="1"/>
            <a:r>
              <a:rPr lang="en-US" dirty="0" smtClean="0"/>
              <a:t>Analysis of ‘finished products’ (documents, tickets, work produced)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135</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24156" y="2021421"/>
            <a:ext cx="3048000" cy="2039112"/>
          </a:xfrm>
          <a:prstGeom prst="rect">
            <a:avLst/>
          </a:prstGeom>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US" dirty="0" smtClean="0"/>
              <a:t>Options for assessing knowledge:</a:t>
            </a:r>
          </a:p>
          <a:p>
            <a:r>
              <a:rPr lang="en-US" dirty="0" smtClean="0"/>
              <a:t>Written questions, exercises, case studies, essays, projects, assignments</a:t>
            </a:r>
          </a:p>
          <a:p>
            <a:r>
              <a:rPr lang="en-US" dirty="0" smtClean="0"/>
              <a:t>Verbal/oral questions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2016990"/>
            <a:ext cx="2940366" cy="1961224"/>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US" dirty="0" smtClean="0"/>
              <a:t>‘Assessment items’ (or ‘assessment tools’):</a:t>
            </a:r>
          </a:p>
          <a:p>
            <a:r>
              <a:rPr lang="en-US" dirty="0" smtClean="0"/>
              <a:t>Must be designed to test/measure competency</a:t>
            </a:r>
          </a:p>
          <a:p>
            <a:r>
              <a:rPr lang="en-US" dirty="0" smtClean="0"/>
              <a:t>Used to collect evidence to make the ‘C’ or ‘NYC’ decision</a:t>
            </a:r>
          </a:p>
          <a:p>
            <a:r>
              <a:rPr lang="en-US" dirty="0" smtClean="0"/>
              <a:t>Can be used on their own, and in combination with others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137</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2024485"/>
            <a:ext cx="3048000" cy="2033016"/>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Prepare training programs to provide identified training</a:t>
            </a:r>
            <a:endParaRPr lang="en-US" dirty="0"/>
          </a:p>
        </p:txBody>
      </p:sp>
      <p:sp>
        <p:nvSpPr>
          <p:cNvPr id="3" name="Content Placeholder 2"/>
          <p:cNvSpPr>
            <a:spLocks noGrp="1"/>
          </p:cNvSpPr>
          <p:nvPr>
            <p:ph idx="1"/>
          </p:nvPr>
        </p:nvSpPr>
        <p:spPr>
          <a:xfrm>
            <a:off x="251520" y="1988840"/>
            <a:ext cx="4680520" cy="4464496"/>
          </a:xfrm>
        </p:spPr>
        <p:txBody>
          <a:bodyPr>
            <a:normAutofit lnSpcReduction="10000"/>
          </a:bodyPr>
          <a:lstStyle/>
          <a:p>
            <a:pPr marL="36576" indent="0">
              <a:buNone/>
            </a:pPr>
            <a:r>
              <a:rPr lang="en-US" dirty="0" smtClean="0"/>
              <a:t>Assessment items/tools need to reflect the assessment being conducted – for example:</a:t>
            </a:r>
          </a:p>
          <a:p>
            <a:r>
              <a:rPr lang="en-AU" dirty="0" smtClean="0"/>
              <a:t>If doing an ‘Interview’ a Questionnaire might be used</a:t>
            </a:r>
          </a:p>
          <a:p>
            <a:r>
              <a:rPr lang="en-AU" dirty="0" smtClean="0"/>
              <a:t>If conducting an observation of learner actions, a Checklist could be used</a:t>
            </a:r>
          </a:p>
          <a:p>
            <a:r>
              <a:rPr lang="en-AU" dirty="0" smtClean="0"/>
              <a:t>If watching a demonstration, a Checklist would be suitable</a:t>
            </a:r>
          </a:p>
          <a:p>
            <a:r>
              <a:rPr lang="en-AU" dirty="0" smtClean="0"/>
              <a:t>If asking Oral Questions a sheet listing the questions and able to capture answers would be used</a:t>
            </a:r>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05400" y="2033880"/>
            <a:ext cx="3048000" cy="2033016"/>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Obtain resources to support training delivery</a:t>
            </a:r>
            <a:endParaRPr lang="en-US" dirty="0"/>
          </a:p>
        </p:txBody>
      </p:sp>
      <p:sp>
        <p:nvSpPr>
          <p:cNvPr id="3" name="Content Placeholder 2"/>
          <p:cNvSpPr>
            <a:spLocks noGrp="1"/>
          </p:cNvSpPr>
          <p:nvPr>
            <p:ph idx="1"/>
          </p:nvPr>
        </p:nvSpPr>
        <p:spPr>
          <a:xfrm>
            <a:off x="251520" y="1988840"/>
            <a:ext cx="4248472" cy="4137323"/>
          </a:xfrm>
        </p:spPr>
        <p:txBody>
          <a:bodyPr/>
          <a:lstStyle/>
          <a:p>
            <a:r>
              <a:rPr lang="en-AU" dirty="0" smtClean="0"/>
              <a:t>Resources</a:t>
            </a:r>
            <a:endParaRPr lang="en-US" dirty="0" smtClean="0"/>
          </a:p>
          <a:p>
            <a:r>
              <a:rPr lang="en-AU" dirty="0" smtClean="0"/>
              <a:t>Generic resources</a:t>
            </a:r>
          </a:p>
          <a:p>
            <a:r>
              <a:rPr lang="en-AU" dirty="0" smtClean="0"/>
              <a:t>Competency-specific resources</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139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83030" y="1988857"/>
            <a:ext cx="3048000" cy="2033016"/>
          </a:xfrm>
          <a:prstGeom prst="rect">
            <a:avLst/>
          </a:prstGeom>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Obtain resources to support training delivery</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US" dirty="0" smtClean="0"/>
              <a:t>Important considerations when obtaining resources:</a:t>
            </a:r>
          </a:p>
          <a:p>
            <a:r>
              <a:rPr lang="en-US" dirty="0" smtClean="0"/>
              <a:t>Host country legislation must be obtained</a:t>
            </a:r>
          </a:p>
          <a:p>
            <a:r>
              <a:rPr lang="en-US" dirty="0" smtClean="0"/>
              <a:t>Everything must be industry-relevant</a:t>
            </a:r>
          </a:p>
          <a:p>
            <a:r>
              <a:rPr lang="en-US" dirty="0" smtClean="0"/>
              <a:t>Must obtain ‘sufficient’ quantity</a:t>
            </a:r>
          </a:p>
          <a:p>
            <a:r>
              <a:rPr lang="en-US" dirty="0" smtClean="0"/>
              <a:t>Must be safe to use</a:t>
            </a:r>
          </a:p>
          <a:p>
            <a:r>
              <a:rPr lang="en-US" dirty="0" smtClean="0"/>
              <a:t>Must reflect actual/current workplace practice</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140</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17400" y="1973782"/>
            <a:ext cx="2736000" cy="2052000"/>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Obtain resources to support training delivery</a:t>
            </a:r>
            <a:endParaRPr lang="en-US" dirty="0"/>
          </a:p>
        </p:txBody>
      </p:sp>
      <p:sp>
        <p:nvSpPr>
          <p:cNvPr id="3" name="Content Placeholder 2"/>
          <p:cNvSpPr>
            <a:spLocks noGrp="1"/>
          </p:cNvSpPr>
          <p:nvPr>
            <p:ph idx="1"/>
          </p:nvPr>
        </p:nvSpPr>
        <p:spPr/>
        <p:txBody>
          <a:bodyPr/>
          <a:lstStyle/>
          <a:p>
            <a:r>
              <a:rPr lang="en-AU" dirty="0" smtClean="0"/>
              <a:t>Resources and training materials – preparation, development and acquisition</a:t>
            </a:r>
          </a:p>
          <a:p>
            <a:r>
              <a:rPr lang="en-AU" dirty="0" smtClean="0"/>
              <a:t>Basic options</a:t>
            </a:r>
          </a:p>
          <a:p>
            <a:pPr lvl="1"/>
            <a:r>
              <a:rPr lang="en-AU" dirty="0" smtClean="0"/>
              <a:t>Generating them from scratch</a:t>
            </a:r>
          </a:p>
          <a:p>
            <a:pPr lvl="1"/>
            <a:r>
              <a:rPr lang="en-AU" dirty="0" smtClean="0"/>
              <a:t>Revising existing materials</a:t>
            </a:r>
          </a:p>
          <a:p>
            <a:pPr lvl="1"/>
            <a:r>
              <a:rPr lang="en-AU" dirty="0" smtClean="0"/>
              <a:t>Using again items which have been previously used</a:t>
            </a:r>
          </a:p>
          <a:p>
            <a:r>
              <a:rPr lang="en-AU" dirty="0" smtClean="0"/>
              <a:t>Essential standards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141</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436096" y="2276872"/>
            <a:ext cx="1906621" cy="2520000"/>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Obtain resources to support training delivery</a:t>
            </a:r>
            <a:endParaRPr lang="en-US" dirty="0"/>
          </a:p>
        </p:txBody>
      </p:sp>
      <p:sp>
        <p:nvSpPr>
          <p:cNvPr id="3" name="Content Placeholder 2"/>
          <p:cNvSpPr>
            <a:spLocks noGrp="1"/>
          </p:cNvSpPr>
          <p:nvPr>
            <p:ph idx="1"/>
          </p:nvPr>
        </p:nvSpPr>
        <p:spPr/>
        <p:txBody>
          <a:bodyPr/>
          <a:lstStyle/>
          <a:p>
            <a:pPr marL="36576" indent="0">
              <a:buNone/>
            </a:pPr>
            <a:r>
              <a:rPr lang="en-US" dirty="0" smtClean="0"/>
              <a:t>Options for acquiring resources:</a:t>
            </a:r>
          </a:p>
          <a:p>
            <a:r>
              <a:rPr lang="en-US" dirty="0" smtClean="0"/>
              <a:t>Buy them in</a:t>
            </a:r>
          </a:p>
          <a:p>
            <a:r>
              <a:rPr lang="en-US" dirty="0" smtClean="0"/>
              <a:t>Ask suppliers to donate</a:t>
            </a:r>
          </a:p>
          <a:p>
            <a:r>
              <a:rPr lang="en-US" dirty="0" smtClean="0"/>
              <a:t>Request loans from industry</a:t>
            </a:r>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142</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04048" y="2067302"/>
            <a:ext cx="2304256" cy="3250199"/>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Obtain resources to support training delivery</a:t>
            </a:r>
            <a:endParaRPr lang="en-US" dirty="0"/>
          </a:p>
        </p:txBody>
      </p:sp>
      <p:sp>
        <p:nvSpPr>
          <p:cNvPr id="3" name="Content Placeholder 2"/>
          <p:cNvSpPr>
            <a:spLocks noGrp="1"/>
          </p:cNvSpPr>
          <p:nvPr>
            <p:ph idx="1"/>
          </p:nvPr>
        </p:nvSpPr>
        <p:spPr/>
        <p:txBody>
          <a:bodyPr/>
          <a:lstStyle/>
          <a:p>
            <a:r>
              <a:rPr lang="en-US" dirty="0" smtClean="0"/>
              <a:t>Conduct excursions/field trips</a:t>
            </a:r>
          </a:p>
          <a:p>
            <a:r>
              <a:rPr lang="en-US" dirty="0" smtClean="0"/>
              <a:t>Purchase with other training providers to share cost</a:t>
            </a:r>
          </a:p>
          <a:p>
            <a:r>
              <a:rPr lang="en-US" dirty="0" smtClean="0"/>
              <a:t>Seek government funding</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148064" y="1772816"/>
            <a:ext cx="2172204" cy="3016950"/>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Recruit participants for training</a:t>
            </a:r>
            <a:endParaRPr lang="en-US" dirty="0"/>
          </a:p>
        </p:txBody>
      </p:sp>
      <p:sp>
        <p:nvSpPr>
          <p:cNvPr id="3" name="Content Placeholder 2"/>
          <p:cNvSpPr>
            <a:spLocks noGrp="1"/>
          </p:cNvSpPr>
          <p:nvPr>
            <p:ph idx="1"/>
          </p:nvPr>
        </p:nvSpPr>
        <p:spPr>
          <a:xfrm>
            <a:off x="251520" y="1988840"/>
            <a:ext cx="5832648" cy="4464496"/>
          </a:xfrm>
        </p:spPr>
        <p:txBody>
          <a:bodyPr>
            <a:normAutofit lnSpcReduction="10000"/>
          </a:bodyPr>
          <a:lstStyle/>
          <a:p>
            <a:pPr marL="36576" indent="0">
              <a:buNone/>
            </a:pPr>
            <a:r>
              <a:rPr lang="en-AU" dirty="0" smtClean="0"/>
              <a:t>Recruitment activities</a:t>
            </a:r>
          </a:p>
          <a:p>
            <a:r>
              <a:rPr lang="en-AU" dirty="0" smtClean="0"/>
              <a:t>Activities which may be involved in the recruitment of participants/employees for the workplace training system can include:</a:t>
            </a:r>
          </a:p>
          <a:p>
            <a:pPr lvl="1"/>
            <a:r>
              <a:rPr lang="en-AU" dirty="0" smtClean="0"/>
              <a:t>Reviewing existing qualification and competencies of staff to determine need</a:t>
            </a:r>
            <a:endParaRPr lang="en-US" dirty="0" smtClean="0"/>
          </a:p>
          <a:p>
            <a:pPr lvl="1"/>
            <a:r>
              <a:rPr lang="en-US" dirty="0" smtClean="0"/>
              <a:t>Identifying potential learners</a:t>
            </a:r>
          </a:p>
          <a:p>
            <a:pPr lvl="1"/>
            <a:r>
              <a:rPr lang="en-US" dirty="0" smtClean="0"/>
              <a:t>Inviting learners to engage with training</a:t>
            </a:r>
          </a:p>
          <a:p>
            <a:pPr lvl="1"/>
            <a:r>
              <a:rPr lang="en-US" dirty="0" smtClean="0"/>
              <a:t>Identifying and inviting candidates for assessment</a:t>
            </a:r>
          </a:p>
          <a:p>
            <a:pPr marL="36576" indent="0">
              <a:buNone/>
            </a:pPr>
            <a:r>
              <a:rPr lang="en-US" sz="15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144</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084168" y="2132856"/>
            <a:ext cx="2144973" cy="2052000"/>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Recruit participants for training</a:t>
            </a:r>
            <a:endParaRPr lang="en-US" dirty="0"/>
          </a:p>
        </p:txBody>
      </p:sp>
      <p:sp>
        <p:nvSpPr>
          <p:cNvPr id="3" name="Content Placeholder 2"/>
          <p:cNvSpPr>
            <a:spLocks noGrp="1"/>
          </p:cNvSpPr>
          <p:nvPr>
            <p:ph idx="1"/>
          </p:nvPr>
        </p:nvSpPr>
        <p:spPr>
          <a:xfrm>
            <a:off x="251520" y="1988840"/>
            <a:ext cx="4248472" cy="4137323"/>
          </a:xfrm>
        </p:spPr>
        <p:txBody>
          <a:bodyPr/>
          <a:lstStyle/>
          <a:p>
            <a:r>
              <a:rPr lang="en-US" dirty="0" smtClean="0"/>
              <a:t>Holding information sessions and ‘selling the benefits’ of training</a:t>
            </a:r>
          </a:p>
          <a:p>
            <a:r>
              <a:rPr lang="en-US" dirty="0" smtClean="0"/>
              <a:t>Mandating attendance</a:t>
            </a:r>
          </a:p>
          <a:p>
            <a:r>
              <a:rPr lang="en-US" dirty="0" smtClean="0"/>
              <a:t>Providing ‘sufficient’ advance notice of training/assessment</a:t>
            </a:r>
          </a:p>
          <a:p>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145</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75400" y="2005501"/>
            <a:ext cx="3078000" cy="205200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mtClean="0"/>
              <a:t>Element 6 – </a:t>
            </a:r>
            <a:r>
              <a:rPr lang="en-AU" smtClean="0"/>
              <a:t>Establish quality assurance procedures for workplace training system</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Performance Criteria for this Element are:</a:t>
            </a:r>
          </a:p>
          <a:p>
            <a:r>
              <a:rPr lang="en-AU" dirty="0" smtClean="0"/>
              <a:t>Establish a quality assurance group</a:t>
            </a:r>
          </a:p>
          <a:p>
            <a:r>
              <a:rPr lang="en-AU" dirty="0" smtClean="0"/>
              <a:t>Document draft verification processes that the quality assurance group will undertake</a:t>
            </a:r>
          </a:p>
          <a:p>
            <a:r>
              <a:rPr lang="en-AU" dirty="0" smtClean="0"/>
              <a:t>Trial the draft quality assurance procedures</a:t>
            </a:r>
          </a:p>
          <a:p>
            <a:r>
              <a:rPr lang="en-AU" dirty="0" smtClean="0"/>
              <a:t>Advise trainers in relation to established and confirmed quality assurance procedures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64088" y="1912593"/>
            <a:ext cx="2304256" cy="3316407"/>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Establish a quality assurance group</a:t>
            </a:r>
            <a:endParaRPr lang="en-US" dirty="0"/>
          </a:p>
        </p:txBody>
      </p:sp>
      <p:sp>
        <p:nvSpPr>
          <p:cNvPr id="3" name="Content Placeholder 2"/>
          <p:cNvSpPr>
            <a:spLocks noGrp="1"/>
          </p:cNvSpPr>
          <p:nvPr>
            <p:ph idx="1"/>
          </p:nvPr>
        </p:nvSpPr>
        <p:spPr/>
        <p:txBody>
          <a:bodyPr/>
          <a:lstStyle/>
          <a:p>
            <a:pPr marL="36576" indent="0">
              <a:buNone/>
            </a:pPr>
            <a:r>
              <a:rPr lang="en-US" dirty="0" smtClean="0"/>
              <a:t>Context for quality:</a:t>
            </a:r>
          </a:p>
          <a:p>
            <a:r>
              <a:rPr lang="en-US" dirty="0" smtClean="0"/>
              <a:t>Quality Management should cover all aspects of the workplace training system</a:t>
            </a:r>
          </a:p>
          <a:p>
            <a:r>
              <a:rPr lang="en-US" dirty="0" smtClean="0"/>
              <a:t>QM must be planned and on-going</a:t>
            </a:r>
          </a:p>
          <a:p>
            <a:r>
              <a:rPr lang="en-US" dirty="0" smtClean="0"/>
              <a:t>Aim should be to ensure ‘quality’ and improve outcomes</a:t>
            </a:r>
          </a:p>
          <a:p>
            <a:r>
              <a:rPr lang="en-US" dirty="0" smtClean="0"/>
              <a:t>Must be evidence-based</a:t>
            </a:r>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147</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b="-973"/>
          <a:stretch/>
        </p:blipFill>
        <p:spPr>
          <a:xfrm>
            <a:off x="5355170" y="1988840"/>
            <a:ext cx="2788386" cy="1750030"/>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Establish a quality assurance group</a:t>
            </a:r>
            <a:endParaRPr lang="en-US" dirty="0"/>
          </a:p>
        </p:txBody>
      </p:sp>
      <p:sp>
        <p:nvSpPr>
          <p:cNvPr id="3" name="Content Placeholder 2"/>
          <p:cNvSpPr>
            <a:spLocks noGrp="1"/>
          </p:cNvSpPr>
          <p:nvPr>
            <p:ph idx="1"/>
          </p:nvPr>
        </p:nvSpPr>
        <p:spPr/>
        <p:txBody>
          <a:bodyPr/>
          <a:lstStyle/>
          <a:p>
            <a:r>
              <a:rPr lang="en-US" dirty="0" smtClean="0"/>
              <a:t>QM is central to achieving </a:t>
            </a:r>
            <a:r>
              <a:rPr lang="en-US" dirty="0" err="1" smtClean="0"/>
              <a:t>organisational</a:t>
            </a:r>
            <a:r>
              <a:rPr lang="en-US" dirty="0" smtClean="0"/>
              <a:t> goals</a:t>
            </a:r>
          </a:p>
          <a:p>
            <a:r>
              <a:rPr lang="en-US" dirty="0" smtClean="0"/>
              <a:t>QM provides the platform for future development</a:t>
            </a:r>
          </a:p>
          <a:p>
            <a:r>
              <a:rPr lang="en-US" dirty="0" smtClean="0"/>
              <a:t>QM is a key aspect for initial registration and on-going registration as a </a:t>
            </a:r>
            <a:r>
              <a:rPr lang="en-US" dirty="0" err="1" smtClean="0"/>
              <a:t>recognised</a:t>
            </a:r>
            <a:r>
              <a:rPr lang="en-US" dirty="0" smtClean="0"/>
              <a:t> training provider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148</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64088" y="2060848"/>
            <a:ext cx="2736304" cy="1885454"/>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Establish a quality assurance group</a:t>
            </a:r>
            <a:endParaRPr lang="en-US" dirty="0"/>
          </a:p>
        </p:txBody>
      </p:sp>
      <p:sp>
        <p:nvSpPr>
          <p:cNvPr id="3" name="Content Placeholder 2"/>
          <p:cNvSpPr>
            <a:spLocks noGrp="1"/>
          </p:cNvSpPr>
          <p:nvPr>
            <p:ph idx="1"/>
          </p:nvPr>
        </p:nvSpPr>
        <p:spPr/>
        <p:txBody>
          <a:bodyPr/>
          <a:lstStyle/>
          <a:p>
            <a:pPr marL="36576" indent="0">
              <a:buNone/>
            </a:pPr>
            <a:r>
              <a:rPr lang="en-US" dirty="0" smtClean="0"/>
              <a:t>QA is one part of an effective QMS built around three principles:</a:t>
            </a:r>
          </a:p>
          <a:p>
            <a:r>
              <a:rPr lang="en-US" dirty="0" smtClean="0"/>
              <a:t>QA</a:t>
            </a:r>
          </a:p>
          <a:p>
            <a:r>
              <a:rPr lang="en-US" dirty="0" smtClean="0"/>
              <a:t>CQI</a:t>
            </a:r>
          </a:p>
          <a:p>
            <a:r>
              <a:rPr lang="en-US" dirty="0" smtClean="0"/>
              <a:t>Quality Leadership</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149</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1980241"/>
            <a:ext cx="2880320" cy="1920213"/>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Establish a quality assurance group</a:t>
            </a:r>
            <a:endParaRPr lang="en-US" dirty="0"/>
          </a:p>
        </p:txBody>
      </p:sp>
      <p:sp>
        <p:nvSpPr>
          <p:cNvPr id="3" name="Content Placeholder 2"/>
          <p:cNvSpPr>
            <a:spLocks noGrp="1"/>
          </p:cNvSpPr>
          <p:nvPr>
            <p:ph idx="1"/>
          </p:nvPr>
        </p:nvSpPr>
        <p:spPr/>
        <p:txBody>
          <a:bodyPr/>
          <a:lstStyle/>
          <a:p>
            <a:pPr marL="36576" indent="0">
              <a:buNone/>
            </a:pPr>
            <a:r>
              <a:rPr lang="en-US" dirty="0" smtClean="0"/>
              <a:t>Activities in establishing a QA group:</a:t>
            </a:r>
          </a:p>
          <a:p>
            <a:r>
              <a:rPr lang="en-AU" dirty="0" smtClean="0"/>
              <a:t>Identifying participants</a:t>
            </a:r>
          </a:p>
          <a:p>
            <a:r>
              <a:rPr lang="en-AU" dirty="0" smtClean="0"/>
              <a:t>Explaining the role of quality management within the training system</a:t>
            </a:r>
          </a:p>
          <a:p>
            <a:r>
              <a:rPr lang="en-AU" dirty="0" smtClean="0"/>
              <a:t>Allocating responsibilities to group members </a:t>
            </a:r>
            <a:endParaRPr lang="en-US" dirty="0" smtClean="0"/>
          </a:p>
          <a:p>
            <a:pPr marL="36576" indent="0">
              <a:buNone/>
            </a:pPr>
            <a:endParaRPr lang="en-US" sz="1400" dirty="0" smtClean="0"/>
          </a:p>
          <a:p>
            <a:pPr marL="36576" indent="0">
              <a:buNone/>
            </a:pPr>
            <a:r>
              <a:rPr lang="en-US" sz="1400" dirty="0" smtClean="0"/>
              <a:t>(Continued in TM)</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150</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292080" y="2000170"/>
            <a:ext cx="2801922" cy="1620000"/>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Establish a quality assurance group</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US" dirty="0" smtClean="0"/>
              <a:t>Membership of the QA group may be:</a:t>
            </a:r>
          </a:p>
          <a:p>
            <a:r>
              <a:rPr lang="en-US" dirty="0" smtClean="0"/>
              <a:t>Specified by the Training Authority – where the system is a </a:t>
            </a:r>
            <a:r>
              <a:rPr lang="en-US" dirty="0" err="1" smtClean="0"/>
              <a:t>recognised</a:t>
            </a:r>
            <a:r>
              <a:rPr lang="en-US" dirty="0" smtClean="0"/>
              <a:t> provider</a:t>
            </a:r>
          </a:p>
          <a:p>
            <a:r>
              <a:rPr lang="en-US" dirty="0" smtClean="0"/>
              <a:t>Determined by the </a:t>
            </a:r>
            <a:r>
              <a:rPr lang="en-US" dirty="0" err="1" smtClean="0"/>
              <a:t>organisation</a:t>
            </a:r>
            <a:r>
              <a:rPr lang="en-US" dirty="0" smtClean="0"/>
              <a:t> – where the system is not a </a:t>
            </a:r>
            <a:r>
              <a:rPr lang="en-US" dirty="0" err="1" smtClean="0"/>
              <a:t>recognised</a:t>
            </a:r>
            <a:r>
              <a:rPr lang="en-US" dirty="0" smtClean="0"/>
              <a:t> provider</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151</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292080" y="1988840"/>
            <a:ext cx="2736304" cy="2655486"/>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Establish a quality assurance group</a:t>
            </a:r>
            <a:endParaRPr lang="en-US" dirty="0"/>
          </a:p>
        </p:txBody>
      </p:sp>
      <p:sp>
        <p:nvSpPr>
          <p:cNvPr id="3" name="Content Placeholder 2"/>
          <p:cNvSpPr>
            <a:spLocks noGrp="1"/>
          </p:cNvSpPr>
          <p:nvPr>
            <p:ph idx="1"/>
          </p:nvPr>
        </p:nvSpPr>
        <p:spPr>
          <a:xfrm>
            <a:off x="251520" y="1988840"/>
            <a:ext cx="4248472" cy="4137323"/>
          </a:xfrm>
        </p:spPr>
        <p:txBody>
          <a:bodyPr/>
          <a:lstStyle/>
          <a:p>
            <a:pPr marL="36576" indent="0">
              <a:buNone/>
            </a:pPr>
            <a:r>
              <a:rPr lang="en-US" dirty="0" smtClean="0"/>
              <a:t>Role of the QA group:</a:t>
            </a:r>
          </a:p>
          <a:p>
            <a:r>
              <a:rPr lang="en-AU" dirty="0" smtClean="0"/>
              <a:t>Providing an advisory and leadership role </a:t>
            </a:r>
          </a:p>
          <a:p>
            <a:r>
              <a:rPr lang="en-AU" dirty="0" smtClean="0"/>
              <a:t>Preparing training and assessment plans and goals in relation to the workplace training system quality</a:t>
            </a:r>
            <a:endParaRPr lang="en-US" dirty="0" smtClean="0"/>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152</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637652" y="2033598"/>
            <a:ext cx="2527741" cy="2171854"/>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Establish a quality assurance group</a:t>
            </a:r>
            <a:endParaRPr lang="en-US" dirty="0"/>
          </a:p>
        </p:txBody>
      </p:sp>
      <p:sp>
        <p:nvSpPr>
          <p:cNvPr id="3" name="Content Placeholder 2"/>
          <p:cNvSpPr>
            <a:spLocks noGrp="1"/>
          </p:cNvSpPr>
          <p:nvPr>
            <p:ph idx="1"/>
          </p:nvPr>
        </p:nvSpPr>
        <p:spPr/>
        <p:txBody>
          <a:bodyPr/>
          <a:lstStyle/>
          <a:p>
            <a:r>
              <a:rPr lang="en-AU" dirty="0" smtClean="0"/>
              <a:t>Aligning the quality management of the workplace training system with all relevant strategic themes and goals of the wider organisation</a:t>
            </a:r>
          </a:p>
          <a:p>
            <a:r>
              <a:rPr lang="en-AU" dirty="0" smtClean="0"/>
              <a:t>Overseeing and monitoring training and assessment quality policies and procedures</a:t>
            </a:r>
          </a:p>
          <a:p>
            <a:r>
              <a:rPr lang="en-AU" dirty="0" smtClean="0"/>
              <a:t>Managing quality issues</a:t>
            </a:r>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1988840"/>
            <a:ext cx="2160240" cy="3240360"/>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Document draft verification processes that the QA group will undertake</a:t>
            </a:r>
            <a:endParaRPr lang="en-US" dirty="0"/>
          </a:p>
        </p:txBody>
      </p:sp>
      <p:sp>
        <p:nvSpPr>
          <p:cNvPr id="3" name="Content Placeholder 2"/>
          <p:cNvSpPr>
            <a:spLocks noGrp="1"/>
          </p:cNvSpPr>
          <p:nvPr>
            <p:ph idx="1"/>
          </p:nvPr>
        </p:nvSpPr>
        <p:spPr>
          <a:xfrm>
            <a:off x="251520" y="1988840"/>
            <a:ext cx="4320480" cy="4137323"/>
          </a:xfrm>
        </p:spPr>
        <p:txBody>
          <a:bodyPr/>
          <a:lstStyle/>
          <a:p>
            <a:pPr marL="36576" indent="0">
              <a:buNone/>
            </a:pPr>
            <a:r>
              <a:rPr lang="en-US" dirty="0" smtClean="0"/>
              <a:t>Key Activities for QA:</a:t>
            </a:r>
          </a:p>
          <a:p>
            <a:r>
              <a:rPr lang="en-US" dirty="0" smtClean="0"/>
              <a:t>Development of communication plans</a:t>
            </a:r>
          </a:p>
          <a:p>
            <a:r>
              <a:rPr lang="en-US" dirty="0" smtClean="0"/>
              <a:t>Development of training and assessment quality management processes</a:t>
            </a:r>
          </a:p>
          <a:p>
            <a:r>
              <a:rPr lang="en-US" dirty="0" smtClean="0"/>
              <a:t>Development of audit protocols</a:t>
            </a:r>
          </a:p>
          <a:p>
            <a:r>
              <a:rPr lang="en-US" dirty="0" smtClean="0"/>
              <a:t>Goals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154</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572000" y="1916832"/>
            <a:ext cx="3291428" cy="2520000"/>
          </a:xfrm>
          <a:prstGeom prst="rect">
            <a:avLst/>
          </a:prstGeom>
        </p:spPr>
      </p:pic>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Document draft verification processes that the QA group will undertake</a:t>
            </a:r>
            <a:endParaRPr lang="en-US" dirty="0"/>
          </a:p>
        </p:txBody>
      </p:sp>
      <p:sp>
        <p:nvSpPr>
          <p:cNvPr id="3" name="Content Placeholder 2"/>
          <p:cNvSpPr>
            <a:spLocks noGrp="1"/>
          </p:cNvSpPr>
          <p:nvPr>
            <p:ph idx="1"/>
          </p:nvPr>
        </p:nvSpPr>
        <p:spPr/>
        <p:txBody>
          <a:bodyPr/>
          <a:lstStyle/>
          <a:p>
            <a:pPr marL="36576" indent="0">
              <a:buNone/>
            </a:pPr>
            <a:r>
              <a:rPr lang="en-US" dirty="0" smtClean="0"/>
              <a:t>Key Activities for CQI:</a:t>
            </a:r>
          </a:p>
          <a:p>
            <a:r>
              <a:rPr lang="en-US" dirty="0" smtClean="0"/>
              <a:t>Develop CQI processes</a:t>
            </a:r>
          </a:p>
          <a:p>
            <a:r>
              <a:rPr lang="en-US" dirty="0" smtClean="0"/>
              <a:t>Develop risk management regime</a:t>
            </a:r>
          </a:p>
          <a:p>
            <a:r>
              <a:rPr lang="en-US" dirty="0" smtClean="0"/>
              <a:t>Goals</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155</a:t>
            </a:fld>
            <a:endParaRPr lang="en-US" dirty="0"/>
          </a:p>
        </p:txBody>
      </p:sp>
      <p:pic>
        <p:nvPicPr>
          <p:cNvPr id="5" name="Picture 4"/>
          <p:cNvPicPr>
            <a:picLocks noChangeAspect="1"/>
          </p:cNvPicPr>
          <p:nvPr/>
        </p:nvPicPr>
        <p:blipFill rotWithShape="1">
          <a:blip r:embed="rId3" cstate="screen">
            <a:clrChange>
              <a:clrFrom>
                <a:srgbClr val="FEFEFE"/>
              </a:clrFrom>
              <a:clrTo>
                <a:srgbClr val="FEFEFE">
                  <a:alpha val="0"/>
                </a:srgbClr>
              </a:clrTo>
            </a:clrChange>
            <a:extLst>
              <a:ext uri="{28A0092B-C50C-407E-A947-70E740481C1C}">
                <a14:useLocalDpi xmlns:a14="http://schemas.microsoft.com/office/drawing/2010/main"/>
              </a:ext>
            </a:extLst>
          </a:blip>
          <a:srcRect/>
          <a:stretch/>
        </p:blipFill>
        <p:spPr>
          <a:xfrm>
            <a:off x="5292080" y="1988840"/>
            <a:ext cx="1588453" cy="3240000"/>
          </a:xfrm>
          <a:prstGeom prst="rect">
            <a:avLst/>
          </a:prstGeom>
        </p:spPr>
      </p:pic>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Document draft verification processes that the QA group will undertake</a:t>
            </a:r>
            <a:endParaRPr lang="en-US" dirty="0"/>
          </a:p>
        </p:txBody>
      </p:sp>
      <p:sp>
        <p:nvSpPr>
          <p:cNvPr id="3" name="Content Placeholder 2"/>
          <p:cNvSpPr>
            <a:spLocks noGrp="1"/>
          </p:cNvSpPr>
          <p:nvPr>
            <p:ph idx="1"/>
          </p:nvPr>
        </p:nvSpPr>
        <p:spPr>
          <a:xfrm>
            <a:off x="251520" y="1988840"/>
            <a:ext cx="4680520" cy="4608512"/>
          </a:xfrm>
        </p:spPr>
        <p:txBody>
          <a:bodyPr>
            <a:normAutofit fontScale="92500"/>
          </a:bodyPr>
          <a:lstStyle/>
          <a:p>
            <a:pPr marL="36576" indent="0">
              <a:buNone/>
            </a:pPr>
            <a:r>
              <a:rPr lang="en-US" dirty="0" smtClean="0"/>
              <a:t>Key Activities for Quality Leadership:</a:t>
            </a:r>
          </a:p>
          <a:p>
            <a:r>
              <a:rPr lang="en-AU" dirty="0" smtClean="0"/>
              <a:t>Development of new technologies, innovative pedagogies, and academically rigorous and vocationally-relevant curricula</a:t>
            </a:r>
          </a:p>
          <a:p>
            <a:r>
              <a:rPr lang="en-AU" dirty="0" smtClean="0"/>
              <a:t>Industry and stakeholder engagement and partnerships to facilitate innovation and contemporary thought and practice</a:t>
            </a:r>
          </a:p>
          <a:p>
            <a:r>
              <a:rPr lang="en-AU" dirty="0" smtClean="0"/>
              <a:t>Training and assessment staff committed to continuous improvement</a:t>
            </a:r>
          </a:p>
          <a:p>
            <a:r>
              <a:rPr lang="en-AU" dirty="0" smtClean="0"/>
              <a:t>Goals</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156</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580112" y="2056722"/>
            <a:ext cx="2232248" cy="2232248"/>
          </a:xfrm>
          <a:prstGeom prst="rect">
            <a:avLst/>
          </a:prstGeom>
        </p:spPr>
      </p:pic>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Document draft verification processes that the QA group will undertake</a:t>
            </a:r>
            <a:endParaRPr lang="en-US" dirty="0"/>
          </a:p>
        </p:txBody>
      </p:sp>
      <p:sp>
        <p:nvSpPr>
          <p:cNvPr id="3" name="Content Placeholder 2"/>
          <p:cNvSpPr>
            <a:spLocks noGrp="1"/>
          </p:cNvSpPr>
          <p:nvPr>
            <p:ph idx="1"/>
          </p:nvPr>
        </p:nvSpPr>
        <p:spPr/>
        <p:txBody>
          <a:bodyPr/>
          <a:lstStyle/>
          <a:p>
            <a:r>
              <a:rPr lang="en-AU" smtClean="0"/>
              <a:t>Considerations and activities</a:t>
            </a:r>
          </a:p>
          <a:p>
            <a:pPr lvl="0"/>
            <a:r>
              <a:rPr lang="en-AU" smtClean="0"/>
              <a:t>Objectives</a:t>
            </a:r>
          </a:p>
          <a:p>
            <a:pPr lvl="0"/>
            <a:r>
              <a:rPr lang="en-US" smtClean="0"/>
              <a:t>Options</a:t>
            </a:r>
          </a:p>
          <a:p>
            <a:pPr lvl="0"/>
            <a:endParaRPr lang="en-US"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157</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364088" y="2019841"/>
            <a:ext cx="2430000" cy="1620000"/>
          </a:xfrm>
          <a:prstGeom prst="rect">
            <a:avLst/>
          </a:prstGeom>
        </p:spPr>
      </p:pic>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Document draft verification processes that the QA group will undertake</a:t>
            </a:r>
            <a:endParaRPr lang="en-US" dirty="0"/>
          </a:p>
        </p:txBody>
      </p:sp>
      <p:sp>
        <p:nvSpPr>
          <p:cNvPr id="3" name="Content Placeholder 2"/>
          <p:cNvSpPr>
            <a:spLocks noGrp="1"/>
          </p:cNvSpPr>
          <p:nvPr>
            <p:ph idx="1"/>
          </p:nvPr>
        </p:nvSpPr>
        <p:spPr/>
        <p:txBody>
          <a:bodyPr/>
          <a:lstStyle/>
          <a:p>
            <a:pPr lvl="0"/>
            <a:r>
              <a:rPr lang="en-AU" smtClean="0"/>
              <a:t>Establishment activities</a:t>
            </a:r>
          </a:p>
          <a:p>
            <a:r>
              <a:rPr lang="en-AU" smtClean="0"/>
              <a:t>Possible focus for QA procedures</a:t>
            </a:r>
          </a:p>
          <a:p>
            <a:r>
              <a:rPr lang="en-US" smtClean="0"/>
              <a:t>Practical documentation activities</a:t>
            </a:r>
            <a:endParaRPr lang="en-AU" dirty="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158</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148064" y="1915954"/>
            <a:ext cx="2494276" cy="3528392"/>
          </a:xfrm>
          <a:prstGeom prst="rect">
            <a:avLst/>
          </a:prstGeom>
        </p:spPr>
      </p:pic>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Trial the draft quality assurance procedures</a:t>
            </a:r>
            <a:endParaRPr lang="en-US" dirty="0"/>
          </a:p>
        </p:txBody>
      </p:sp>
      <p:sp>
        <p:nvSpPr>
          <p:cNvPr id="3" name="Content Placeholder 2"/>
          <p:cNvSpPr>
            <a:spLocks noGrp="1"/>
          </p:cNvSpPr>
          <p:nvPr>
            <p:ph idx="1"/>
          </p:nvPr>
        </p:nvSpPr>
        <p:spPr>
          <a:xfrm>
            <a:off x="251520" y="1988840"/>
            <a:ext cx="4680520" cy="4392488"/>
          </a:xfrm>
        </p:spPr>
        <p:txBody>
          <a:bodyPr>
            <a:normAutofit lnSpcReduction="10000"/>
          </a:bodyPr>
          <a:lstStyle/>
          <a:p>
            <a:pPr marL="36576" indent="0">
              <a:buNone/>
            </a:pPr>
            <a:r>
              <a:rPr lang="en-US" dirty="0" smtClean="0"/>
              <a:t>Activities in </a:t>
            </a:r>
            <a:r>
              <a:rPr lang="en-US" dirty="0" err="1" smtClean="0"/>
              <a:t>trialling</a:t>
            </a:r>
            <a:r>
              <a:rPr lang="en-US" dirty="0" smtClean="0"/>
              <a:t> draft QA procedures:</a:t>
            </a:r>
          </a:p>
          <a:p>
            <a:r>
              <a:rPr lang="en-AU" dirty="0" smtClean="0"/>
              <a:t>Submitting draft processes for pre-trial feedback</a:t>
            </a:r>
          </a:p>
          <a:p>
            <a:r>
              <a:rPr lang="en-AU" dirty="0" smtClean="0"/>
              <a:t>Obtaining initial authorisation to proceed with the trial</a:t>
            </a:r>
          </a:p>
          <a:p>
            <a:r>
              <a:rPr lang="en-AU" dirty="0" smtClean="0"/>
              <a:t>Communicating the draft processes</a:t>
            </a:r>
          </a:p>
          <a:p>
            <a:pPr lvl="0"/>
            <a:r>
              <a:rPr lang="en-AU" dirty="0" smtClean="0"/>
              <a:t>Conducting training with staff</a:t>
            </a:r>
          </a:p>
          <a:p>
            <a:pPr lvl="0"/>
            <a:r>
              <a:rPr lang="en-AU" dirty="0" smtClean="0"/>
              <a:t>Scheduling the trials</a:t>
            </a:r>
          </a:p>
          <a:p>
            <a:pPr lvl="0"/>
            <a:r>
              <a:rPr lang="en-AU" dirty="0" smtClean="0"/>
              <a:t>Implementing the draft process/</a:t>
            </a:r>
            <a:r>
              <a:rPr lang="en-AU" dirty="0" err="1" smtClean="0"/>
              <a:t>es</a:t>
            </a:r>
            <a:endParaRPr lang="en-US" dirty="0" smtClean="0"/>
          </a:p>
          <a:p>
            <a:pPr marL="36576" indent="0">
              <a:buNone/>
            </a:pPr>
            <a:r>
              <a:rPr lang="en-US" sz="15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159</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b="-435"/>
          <a:stretch/>
        </p:blipFill>
        <p:spPr>
          <a:xfrm>
            <a:off x="5251783" y="1916832"/>
            <a:ext cx="2265191" cy="3383124"/>
          </a:xfrm>
          <a:prstGeom prst="rect">
            <a:avLst/>
          </a:prstGeom>
        </p:spPr>
      </p:pic>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Trial the draft quality assurance procedures</a:t>
            </a:r>
            <a:endParaRPr lang="en-US" dirty="0"/>
          </a:p>
        </p:txBody>
      </p:sp>
      <p:sp>
        <p:nvSpPr>
          <p:cNvPr id="3" name="Content Placeholder 2"/>
          <p:cNvSpPr>
            <a:spLocks noGrp="1"/>
          </p:cNvSpPr>
          <p:nvPr>
            <p:ph idx="1"/>
          </p:nvPr>
        </p:nvSpPr>
        <p:spPr>
          <a:xfrm>
            <a:off x="251520" y="1988840"/>
            <a:ext cx="4680520" cy="4464496"/>
          </a:xfrm>
        </p:spPr>
        <p:txBody>
          <a:bodyPr>
            <a:normAutofit lnSpcReduction="10000"/>
          </a:bodyPr>
          <a:lstStyle/>
          <a:p>
            <a:r>
              <a:rPr lang="en-AU" dirty="0" smtClean="0"/>
              <a:t>Involving representatives of national Training Authority and/or the body operating the system in the trials</a:t>
            </a:r>
            <a:endParaRPr lang="en-US" dirty="0" smtClean="0"/>
          </a:p>
          <a:p>
            <a:r>
              <a:rPr lang="en-AU" dirty="0" smtClean="0"/>
              <a:t>Capturing required information</a:t>
            </a:r>
          </a:p>
          <a:p>
            <a:r>
              <a:rPr lang="en-AU" dirty="0" smtClean="0"/>
              <a:t>Noting points which have arisen during the trial</a:t>
            </a:r>
          </a:p>
          <a:p>
            <a:pPr lvl="0"/>
            <a:r>
              <a:rPr lang="en-AU" dirty="0" smtClean="0"/>
              <a:t>Reviewing implementation of draft verification processes</a:t>
            </a:r>
            <a:endParaRPr lang="en-US" dirty="0" smtClean="0"/>
          </a:p>
          <a:p>
            <a:pPr lvl="0"/>
            <a:r>
              <a:rPr lang="en-AU" dirty="0" smtClean="0"/>
              <a:t>Revising draft quality assurance procedures as necessary</a:t>
            </a:r>
            <a:endParaRPr lang="en-US" dirty="0" smtClean="0"/>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160</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76056" y="2060848"/>
            <a:ext cx="2944000" cy="2880000"/>
          </a:xfrm>
          <a:prstGeom prst="rect">
            <a:avLst/>
          </a:prstGeom>
        </p:spPr>
      </p:pic>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Trial the draft quality assurance procedures</a:t>
            </a:r>
            <a:endParaRPr lang="en-US" dirty="0"/>
          </a:p>
        </p:txBody>
      </p:sp>
      <p:sp>
        <p:nvSpPr>
          <p:cNvPr id="3" name="Content Placeholder 2"/>
          <p:cNvSpPr>
            <a:spLocks noGrp="1"/>
          </p:cNvSpPr>
          <p:nvPr>
            <p:ph idx="1"/>
          </p:nvPr>
        </p:nvSpPr>
        <p:spPr/>
        <p:txBody>
          <a:bodyPr/>
          <a:lstStyle/>
          <a:p>
            <a:r>
              <a:rPr lang="en-AU" dirty="0" smtClean="0"/>
              <a:t>Reviewing implementation of draft verification processes</a:t>
            </a:r>
            <a:endParaRPr lang="en-US" dirty="0" smtClean="0"/>
          </a:p>
          <a:p>
            <a:r>
              <a:rPr lang="en-AU" dirty="0" smtClean="0"/>
              <a:t>Revising draft quality assurance procedures as necessary</a:t>
            </a:r>
          </a:p>
          <a:p>
            <a:pPr marL="36576" indent="0">
              <a:buNone/>
            </a:pPr>
            <a:endParaRPr lang="en-US" sz="1400" dirty="0" smtClean="0"/>
          </a:p>
          <a:p>
            <a:pPr marL="36576" indent="0">
              <a:buNone/>
            </a:pPr>
            <a:r>
              <a:rPr lang="en-US" sz="1400" dirty="0" smtClean="0"/>
              <a:t>(Continued in TM)</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161</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08499" y="1916832"/>
            <a:ext cx="2435560" cy="2304256"/>
          </a:xfrm>
          <a:prstGeom prst="rect">
            <a:avLst/>
          </a:prstGeom>
        </p:spPr>
      </p:pic>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Advise trainers in relation to established and confirmed QA procedures</a:t>
            </a:r>
            <a:endParaRPr lang="en-US" dirty="0"/>
          </a:p>
        </p:txBody>
      </p:sp>
      <p:sp>
        <p:nvSpPr>
          <p:cNvPr id="3" name="Content Placeholder 2"/>
          <p:cNvSpPr>
            <a:spLocks noGrp="1"/>
          </p:cNvSpPr>
          <p:nvPr>
            <p:ph idx="1"/>
          </p:nvPr>
        </p:nvSpPr>
        <p:spPr/>
        <p:txBody>
          <a:bodyPr>
            <a:normAutofit lnSpcReduction="10000"/>
          </a:bodyPr>
          <a:lstStyle/>
          <a:p>
            <a:pPr marL="36576" indent="0">
              <a:buNone/>
            </a:pPr>
            <a:r>
              <a:rPr lang="en-US" dirty="0" smtClean="0"/>
              <a:t>Reasons to advise trainers/assessors – so:</a:t>
            </a:r>
          </a:p>
          <a:p>
            <a:r>
              <a:rPr lang="en-AU" dirty="0" smtClean="0"/>
              <a:t>They understand how their performance will (in part) be evaluated</a:t>
            </a:r>
          </a:p>
          <a:p>
            <a:r>
              <a:rPr lang="en-AU" dirty="0" smtClean="0"/>
              <a:t>They gain greater appreciation of registration/accreditation and compliance requirements</a:t>
            </a:r>
          </a:p>
          <a:p>
            <a:r>
              <a:rPr lang="en-AU" dirty="0" smtClean="0"/>
              <a:t>They know the areas of their work which are subject to targeted analysis/evaluation</a:t>
            </a:r>
            <a:endParaRPr lang="en-US" dirty="0" smtClean="0"/>
          </a:p>
          <a:p>
            <a:pPr marL="36576" indent="0">
              <a:buNone/>
            </a:pPr>
            <a:endParaRPr lang="en-US" sz="1400" dirty="0" smtClean="0"/>
          </a:p>
          <a:p>
            <a:pPr marL="36576" indent="0">
              <a:buNone/>
            </a:pPr>
            <a:r>
              <a:rPr lang="en-US" sz="1400" dirty="0" smtClean="0"/>
              <a:t>(Continued)</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162</a:t>
            </a:fld>
            <a:endParaRPr lang="en-US" dirty="0"/>
          </a:p>
        </p:txBody>
      </p:sp>
      <p:pic>
        <p:nvPicPr>
          <p:cNvPr id="5" name="Picture 4"/>
          <p:cNvPicPr>
            <a:picLocks noChangeAspect="1"/>
          </p:cNvPicPr>
          <p:nvPr/>
        </p:nvPicPr>
        <p:blipFill rotWithShape="1">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92080" y="1916832"/>
            <a:ext cx="2160240" cy="3279964"/>
          </a:xfrm>
          <a:prstGeom prst="rect">
            <a:avLst/>
          </a:prstGeom>
        </p:spPr>
      </p:pic>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Advise trainers in relation to established and confirmed QA procedures</a:t>
            </a:r>
            <a:endParaRPr lang="en-US" dirty="0"/>
          </a:p>
        </p:txBody>
      </p:sp>
      <p:sp>
        <p:nvSpPr>
          <p:cNvPr id="3" name="Content Placeholder 2"/>
          <p:cNvSpPr>
            <a:spLocks noGrp="1"/>
          </p:cNvSpPr>
          <p:nvPr>
            <p:ph idx="1"/>
          </p:nvPr>
        </p:nvSpPr>
        <p:spPr>
          <a:xfrm>
            <a:off x="251520" y="1988840"/>
            <a:ext cx="4320480" cy="4137323"/>
          </a:xfrm>
        </p:spPr>
        <p:txBody>
          <a:bodyPr/>
          <a:lstStyle/>
          <a:p>
            <a:r>
              <a:rPr lang="en-AU" dirty="0" smtClean="0"/>
              <a:t>The organisation and/or the Training Authority demonstrates openness and transparency </a:t>
            </a:r>
          </a:p>
          <a:p>
            <a:r>
              <a:rPr lang="en-AU" dirty="0" smtClean="0"/>
              <a:t>They can better locate Quality Management in the overall context of the operations of the organisation</a:t>
            </a:r>
            <a:endParaRPr lang="en-US" dirty="0" smtClean="0"/>
          </a:p>
          <a:p>
            <a:r>
              <a:rPr lang="en-AU" dirty="0" smtClean="0"/>
              <a:t>Realise other trainers and assessors are also subject to the same/similar processes </a:t>
            </a:r>
            <a:endParaRPr lang="en-US" dirty="0" smtClean="0"/>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163</a:t>
            </a:fld>
            <a:endParaRPr lang="en-US" dirty="0"/>
          </a:p>
        </p:txBody>
      </p:sp>
      <p:pic>
        <p:nvPicPr>
          <p:cNvPr id="5" name="Picture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292080" y="2000999"/>
            <a:ext cx="2880320" cy="1920213"/>
          </a:xfrm>
          <a:prstGeom prst="rect">
            <a:avLst/>
          </a:prstGeom>
        </p:spPr>
      </p:pic>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smtClean="0"/>
              <a:t>Advise trainers in relation to established and confirmed QA procedures</a:t>
            </a:r>
            <a:endParaRPr lang="en-US" dirty="0"/>
          </a:p>
        </p:txBody>
      </p:sp>
      <p:sp>
        <p:nvSpPr>
          <p:cNvPr id="3" name="Content Placeholder 2"/>
          <p:cNvSpPr>
            <a:spLocks noGrp="1"/>
          </p:cNvSpPr>
          <p:nvPr>
            <p:ph idx="1"/>
          </p:nvPr>
        </p:nvSpPr>
        <p:spPr>
          <a:xfrm>
            <a:off x="251520" y="1988840"/>
            <a:ext cx="4248472" cy="4137323"/>
          </a:xfrm>
        </p:spPr>
        <p:txBody>
          <a:bodyPr/>
          <a:lstStyle/>
          <a:p>
            <a:pPr marL="36576" indent="0">
              <a:buNone/>
            </a:pPr>
            <a:r>
              <a:rPr lang="en-US" dirty="0" smtClean="0"/>
              <a:t>Ways to provide advice:</a:t>
            </a:r>
          </a:p>
          <a:p>
            <a:r>
              <a:rPr lang="en-US" dirty="0" smtClean="0"/>
              <a:t>Supplying hard and/or soft copy information</a:t>
            </a:r>
          </a:p>
          <a:p>
            <a:r>
              <a:rPr lang="en-US" dirty="0" smtClean="0"/>
              <a:t>Providing verbal explanations</a:t>
            </a:r>
          </a:p>
          <a:p>
            <a:r>
              <a:rPr lang="en-US" dirty="0" smtClean="0"/>
              <a:t>Giving formal training</a:t>
            </a:r>
          </a:p>
          <a:p>
            <a:endParaRPr lang="en-US" dirty="0" smtClean="0"/>
          </a:p>
        </p:txBody>
      </p:sp>
      <p:sp>
        <p:nvSpPr>
          <p:cNvPr id="4" name="Slide Number Placeholder 3"/>
          <p:cNvSpPr>
            <a:spLocks noGrp="1"/>
          </p:cNvSpPr>
          <p:nvPr>
            <p:ph type="sldNum" sz="quarter" idx="12"/>
          </p:nvPr>
        </p:nvSpPr>
        <p:spPr/>
        <p:txBody>
          <a:bodyPr/>
          <a:lstStyle/>
          <a:p>
            <a:r>
              <a:rPr lang="en-US" smtClean="0"/>
              <a:t> Slide </a:t>
            </a:r>
            <a:fld id="{90BDF71C-F485-43AE-8825-5070AF1EA8C9}" type="slidenum">
              <a:rPr lang="en-US" smtClean="0"/>
              <a:pPr/>
              <a:t>164</a:t>
            </a:fld>
            <a:endParaRPr lang="en-US" dirty="0"/>
          </a:p>
        </p:txBody>
      </p:sp>
      <p:pic>
        <p:nvPicPr>
          <p:cNvPr id="5" name="Picture 4"/>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088764" y="1988840"/>
            <a:ext cx="3083636" cy="1872208"/>
          </a:xfrm>
          <a:prstGeom prst="rect">
            <a:avLst/>
          </a:prstGeom>
        </p:spPr>
      </p:pic>
    </p:spTree>
  </p:cSld>
  <p:clrMapOvr>
    <a:masterClrMapping/>
  </p:clrMapOvr>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3448</TotalTime>
  <Words>21962</Words>
  <Application>Microsoft Office PowerPoint</Application>
  <PresentationFormat>On-screen Show (4:3)</PresentationFormat>
  <Paragraphs>2896</Paragraphs>
  <Slides>164</Slides>
  <Notes>164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164</vt:i4>
      </vt:variant>
    </vt:vector>
  </HeadingPairs>
  <TitlesOfParts>
    <vt:vector size="170" baseType="lpstr">
      <vt:lpstr>Arial</vt:lpstr>
      <vt:lpstr>Helvetica</vt:lpstr>
      <vt:lpstr>Times New Roman</vt:lpstr>
      <vt:lpstr>Wingdings</vt:lpstr>
      <vt:lpstr>Wingdings 2</vt:lpstr>
      <vt:lpstr>PPT_Tour_operation_&amp;_travel_agencies_template_130214</vt:lpstr>
      <vt:lpstr>DESIGN AND ESTABLISH A TRAINING SYSTEM</vt:lpstr>
      <vt:lpstr>Design and establish a training system</vt:lpstr>
      <vt:lpstr>Assessment</vt:lpstr>
      <vt:lpstr>Element 1 – Determine the features of a workplace training system</vt:lpstr>
      <vt:lpstr>Element 1 – Determine the features of a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Identify key operational features and constraints of workplace training system</vt:lpstr>
      <vt:lpstr>Research enterprise requirements in relation to the workplace training system</vt:lpstr>
      <vt:lpstr>Research enterprise requirements in relation to the workplace training system</vt:lpstr>
      <vt:lpstr>Research enterprise requirements in relation to the workplace training system</vt:lpstr>
      <vt:lpstr>Research enterprise requirements in relation to the workplace training system</vt:lpstr>
      <vt:lpstr>Research enterprise requirements in relation to the workplace training system</vt:lpstr>
      <vt:lpstr>Research enterprise requirements in relation to the workplace training system</vt:lpstr>
      <vt:lpstr>Research enterprise requirements in relation to the workplace training system</vt:lpstr>
      <vt:lpstr>Identify legal and other requirements that apply to the workplace training system</vt:lpstr>
      <vt:lpstr>Identify legal and other requirements that apply to the workplace training system</vt:lpstr>
      <vt:lpstr>Identify legal and other requirements that apply to the workplace training system</vt:lpstr>
      <vt:lpstr>Identify legal and other requirements that apply to the workplace training system</vt:lpstr>
      <vt:lpstr>Identify legal and other requirements that apply to the workplace training system</vt:lpstr>
      <vt:lpstr>Document and verify identified operational features and constraints</vt:lpstr>
      <vt:lpstr>Document and verify identified operational features and constraints</vt:lpstr>
      <vt:lpstr>Document and verify identified operational features and constraints</vt:lpstr>
      <vt:lpstr>Establish and maintain relationships with key stakeholders</vt:lpstr>
      <vt:lpstr>Identify resources available to support identified workplace training requirements</vt:lpstr>
      <vt:lpstr>Identify resources available to support identified workplace training requirements</vt:lpstr>
      <vt:lpstr>Identify resources available to support identified workplace training requirements</vt:lpstr>
      <vt:lpstr>Identify resources available to support identified workplace training requirements</vt:lpstr>
      <vt:lpstr>Identify resources available to support identified workplace training requirements</vt:lpstr>
      <vt:lpstr>Identify resources available to support identified workplace training requirements</vt:lpstr>
      <vt:lpstr>Element 2 – Align workplace training needs with required resources</vt:lpstr>
      <vt:lpstr>Element 2 – Align workplace training needs with required resources</vt:lpstr>
      <vt:lpstr>Match human resources to identified workplace training needs</vt:lpstr>
      <vt:lpstr>Match physical resources to identified workplace training needs</vt:lpstr>
      <vt:lpstr>Match financial resources to identified workplace training needs</vt:lpstr>
      <vt:lpstr>Identify external funding sources for the workplace training system</vt:lpstr>
      <vt:lpstr>Prepare a budget for the workplace training system</vt:lpstr>
      <vt:lpstr>Prepare a budget for the workplace training system</vt:lpstr>
      <vt:lpstr>Obtain management commitment to the workplace training system</vt:lpstr>
      <vt:lpstr>Identify sources of provision for workplace training materials and delivery</vt:lpstr>
      <vt:lpstr>Identify sources of provision for workplace training materials and delivery</vt:lpstr>
      <vt:lpstr>Element 3 – Develop workplace training system documents</vt:lpstr>
      <vt:lpstr>Develop training policies and procedures</vt:lpstr>
      <vt:lpstr>Develop training policies and procedures</vt:lpstr>
      <vt:lpstr>Develop training policies and procedures</vt:lpstr>
      <vt:lpstr>Develop training policies and procedures</vt:lpstr>
      <vt:lpstr>Develop training policies and procedures</vt:lpstr>
      <vt:lpstr>Develop training policies and procedures</vt:lpstr>
      <vt:lpstr>Develop training policies and procedures</vt:lpstr>
      <vt:lpstr>Develop training policies and procedures</vt:lpstr>
      <vt:lpstr>Develop training policies and procedures</vt:lpstr>
      <vt:lpstr>Develop training policies and procedures</vt:lpstr>
      <vt:lpstr>Develop training policies and procedures</vt:lpstr>
      <vt:lpstr>Develop training policies and procedures</vt:lpstr>
      <vt:lpstr>Develop training policies and procedures</vt:lpstr>
      <vt:lpstr>Identify record keeping requirements</vt:lpstr>
      <vt:lpstr>Identify record keeping requirements</vt:lpstr>
      <vt:lpstr>Identify record keeping requirements</vt:lpstr>
      <vt:lpstr>Produce operational training system forms</vt:lpstr>
      <vt:lpstr>Produce operational training system forms</vt:lpstr>
      <vt:lpstr>Produce operational training system forms</vt:lpstr>
      <vt:lpstr>Produce operational training system forms</vt:lpstr>
      <vt:lpstr>Produce operational training system forms</vt:lpstr>
      <vt:lpstr>Produce operational training system forms</vt:lpstr>
      <vt:lpstr>Produce operational training system forms</vt:lpstr>
      <vt:lpstr>Element 4 – Establish procedures for review of workplace training system</vt:lpstr>
      <vt:lpstr>Element 4 – Establish procedures for review of workplace training system</vt:lpstr>
      <vt:lpstr>Identify the elements of the workplace training system to be reviewed</vt:lpstr>
      <vt:lpstr>Identify the elements of the workplace training system to be reviewed</vt:lpstr>
      <vt:lpstr>Determine the frequency for reviewing identified elements</vt:lpstr>
      <vt:lpstr>Determine the frequency for reviewing identified elements</vt:lpstr>
      <vt:lpstr>Determine the frequency for reviewing identified elements</vt:lpstr>
      <vt:lpstr>Determine the frequency for reviewing identified elements</vt:lpstr>
      <vt:lpstr>Determine the frequency for reviewing identified elements</vt:lpstr>
      <vt:lpstr>Determine the frequency for reviewing identified elements</vt:lpstr>
      <vt:lpstr>Determine the frequency for reviewing identified elements</vt:lpstr>
      <vt:lpstr>Determine the frequency for reviewing identified elements</vt:lpstr>
      <vt:lpstr>Determine the frequency for reviewing identified elements</vt:lpstr>
      <vt:lpstr>Determine the frequency for reviewing identified elements</vt:lpstr>
      <vt:lpstr>Determine the frequency for reviewing identified elements</vt:lpstr>
      <vt:lpstr>Determine the frequency for reviewing identified elements</vt:lpstr>
      <vt:lpstr>Determine the frequency for reviewing identified elements</vt:lpstr>
      <vt:lpstr>Allocate responsibility for implementing identified reviews</vt:lpstr>
      <vt:lpstr>Allocate responsibility for implementing identified reviews</vt:lpstr>
      <vt:lpstr>Allocate responsibility for implementing identified reviews</vt:lpstr>
      <vt:lpstr>Allocate responsibility for implementing identified reviews</vt:lpstr>
      <vt:lpstr>Describe the procedures to be used in the review</vt:lpstr>
      <vt:lpstr>Describe the procedures to be used in the review</vt:lpstr>
      <vt:lpstr>Describe the procedures to be used in the review</vt:lpstr>
      <vt:lpstr>Describe the procedures to be used in the review</vt:lpstr>
      <vt:lpstr>Describe the procedures to be used in the review</vt:lpstr>
      <vt:lpstr>Describe the procedures to be used in the review</vt:lpstr>
      <vt:lpstr>Describe the procedures to be used in the review</vt:lpstr>
      <vt:lpstr>Describe the procedures to be used in the review</vt:lpstr>
      <vt:lpstr>Describe the procedures to be used in the review</vt:lpstr>
      <vt:lpstr>Describe the procedures to be used in the review</vt:lpstr>
      <vt:lpstr>Describe the procedures to be used in the review</vt:lpstr>
      <vt:lpstr>Describe the procedures to be used in the review</vt:lpstr>
      <vt:lpstr>Describe the procedures to be used in the review</vt:lpstr>
      <vt:lpstr>Describe the procedures to be used in the review</vt:lpstr>
      <vt:lpstr>Document approved procedures for review of workplace training system</vt:lpstr>
      <vt:lpstr>Document approved procedures for review of workplace training system</vt:lpstr>
      <vt:lpstr>Obtain management commitment to implement required changes</vt:lpstr>
      <vt:lpstr>Obtain management commitment to implement required changes</vt:lpstr>
      <vt:lpstr>Obtain management commitment to implement required changes</vt:lpstr>
      <vt:lpstr>Element 5 – Prepare to implement the workplace training system</vt:lpstr>
      <vt:lpstr>Develop an implementation plan for the training system</vt:lpstr>
      <vt:lpstr>Prepare trainers and assessors in accordance with identified need</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Prepare training programs to provide identified training</vt:lpstr>
      <vt:lpstr>Obtain resources to support training delivery</vt:lpstr>
      <vt:lpstr>Obtain resources to support training delivery</vt:lpstr>
      <vt:lpstr>Obtain resources to support training delivery</vt:lpstr>
      <vt:lpstr>Obtain resources to support training delivery</vt:lpstr>
      <vt:lpstr>Obtain resources to support training delivery</vt:lpstr>
      <vt:lpstr>Recruit participants for training</vt:lpstr>
      <vt:lpstr>Recruit participants for training</vt:lpstr>
      <vt:lpstr>Element 6 – Establish quality assurance procedures for workplace training system</vt:lpstr>
      <vt:lpstr>Establish a quality assurance group</vt:lpstr>
      <vt:lpstr>Establish a quality assurance group</vt:lpstr>
      <vt:lpstr>Establish a quality assurance group</vt:lpstr>
      <vt:lpstr>Establish a quality assurance group</vt:lpstr>
      <vt:lpstr>Establish a quality assurance group</vt:lpstr>
      <vt:lpstr>Establish a quality assurance group</vt:lpstr>
      <vt:lpstr>Establish a quality assurance group</vt:lpstr>
      <vt:lpstr>Document draft verification processes that the QA group will undertake</vt:lpstr>
      <vt:lpstr>Document draft verification processes that the QA group will undertake</vt:lpstr>
      <vt:lpstr>Document draft verification processes that the QA group will undertake</vt:lpstr>
      <vt:lpstr>Document draft verification processes that the QA group will undertake</vt:lpstr>
      <vt:lpstr>Document draft verification processes that the QA group will undertake</vt:lpstr>
      <vt:lpstr>Trial the draft quality assurance procedures</vt:lpstr>
      <vt:lpstr>Trial the draft quality assurance procedures</vt:lpstr>
      <vt:lpstr>Trial the draft quality assurance procedures</vt:lpstr>
      <vt:lpstr>Advise trainers in relation to established and confirmed QA procedures</vt:lpstr>
      <vt:lpstr>Advise trainers in relation to established and confirmed QA procedures</vt:lpstr>
      <vt:lpstr>Advise trainers in relation to established and confirmed QA procedures</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COMPETENCY REQUIREMENTS</dc:title>
  <dc:creator>Daniel James Chee</dc:creator>
  <cp:lastModifiedBy>Carla Angelica Co</cp:lastModifiedBy>
  <cp:revision>236</cp:revision>
  <dcterms:created xsi:type="dcterms:W3CDTF">2014-02-17T04:38:06Z</dcterms:created>
  <dcterms:modified xsi:type="dcterms:W3CDTF">2016-07-18T07:25:00Z</dcterms:modified>
</cp:coreProperties>
</file>