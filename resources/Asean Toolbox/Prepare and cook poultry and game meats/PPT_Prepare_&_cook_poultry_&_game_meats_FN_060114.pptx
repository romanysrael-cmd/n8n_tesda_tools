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58" r:id="rId4"/>
    <p:sldId id="259" r:id="rId5"/>
    <p:sldId id="260" r:id="rId6"/>
    <p:sldId id="296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97" r:id="rId30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16" autoAdjust="0"/>
    <p:restoredTop sz="73073" autoAdjust="0"/>
  </p:normalViewPr>
  <p:slideViewPr>
    <p:cSldViewPr>
      <p:cViewPr varScale="1">
        <p:scale>
          <a:sx n="67" d="100"/>
          <a:sy n="67" d="100"/>
        </p:scale>
        <p:origin x="189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36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E6916107-BD3A-45E2-B124-A5ED60630F4B}" type="datetimeFigureOut">
              <a:rPr lang="en-US" smtClean="0"/>
              <a:pPr/>
              <a:t>3/31/2015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5905CC0A-F53C-4267-913E-3202B6ED95E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40031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BC34F173-2430-41D6-9CA5-C9CD3BDF7E96}" type="datetimeFigureOut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59" tIns="47380" rIns="94759" bIns="4738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006CD3C9-0AF2-437D-9D2F-7B6B298CC3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638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Trainer to welcome students to</a:t>
            </a:r>
            <a:r>
              <a:rPr lang="en-US" baseline="0" dirty="0" smtClean="0"/>
              <a:t>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375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Trainer advises students this Unit comprises four Elements, as listed on the slide explaining: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 </a:t>
            </a:r>
            <a:r>
              <a:rPr lang="en-US" dirty="0" smtClean="0"/>
              <a:t>Each Element comprises a number of Performance Criteria which will be identified throughout the class and explained in detail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Students can obtain more detail from their Trainee Manual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The course presents advice and information but where their workplace requirements differ to what is presented, the workplace practices and standards must be observed.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7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Trainer</a:t>
            </a:r>
            <a:r>
              <a:rPr lang="en-US" baseline="0" dirty="0" smtClean="0"/>
              <a:t> advises students that assessment for this Unit may take several forms all of which are aimed at verifying they have achieved competency for the Unit as required.</a:t>
            </a:r>
          </a:p>
          <a:p>
            <a:endParaRPr lang="en-US" baseline="0" dirty="0" smtClean="0"/>
          </a:p>
          <a:p>
            <a:r>
              <a:rPr lang="en-US" baseline="0" dirty="0" smtClean="0"/>
              <a:t>Trainer indicates to students the methods of assessment that will be applied to them for this Unit. 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801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 performance criteria required tor Element</a:t>
            </a:r>
            <a:r>
              <a:rPr lang="en-US" b="1" baseline="0" dirty="0" smtClean="0"/>
              <a:t> 1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r>
              <a:rPr lang="en-US" baseline="0" dirty="0" smtClean="0"/>
              <a:t>To prove competency in Prepare and Cook poultry game meats the student has to be able to; Identify and select poultry and game meats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="1" baseline="0" dirty="0" smtClean="0"/>
              <a:t>The students need to be able to;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Identify different varieties of poultry and game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Identify commercial establishment cuts and defined specifications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Identify and select supplier to supply enterprise with commodities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err="1" smtClean="0"/>
              <a:t>Minimise</a:t>
            </a:r>
            <a:r>
              <a:rPr lang="en-US" baseline="0" dirty="0" smtClean="0"/>
              <a:t> wastage through </a:t>
            </a:r>
            <a:r>
              <a:rPr lang="en-US" baseline="0" dirty="0" err="1" smtClean="0"/>
              <a:t>freshs</a:t>
            </a:r>
            <a:r>
              <a:rPr lang="en-US" baseline="0" dirty="0" smtClean="0"/>
              <a:t> and correct purchasing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Identify costs through yield testing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Ensure correct conditions are maintained for freshness and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099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dirty="0" smtClean="0"/>
              <a:t>Trainer to discuss points relative to the ‘normal’ poultry that is found in the country in which this program is being delivered.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r>
              <a:rPr lang="en-US" b="1" dirty="0" smtClean="0"/>
              <a:t>Activity: </a:t>
            </a:r>
            <a:r>
              <a:rPr lang="en-US" dirty="0" smtClean="0"/>
              <a:t>Get the students to discuss what type of poultry that they see in the marketplace.</a:t>
            </a:r>
          </a:p>
          <a:p>
            <a:pPr>
              <a:buFont typeface="Arial" pitchFamily="34" charset="0"/>
              <a:buNone/>
            </a:pPr>
            <a:r>
              <a:rPr lang="en-US" dirty="0" smtClean="0"/>
              <a:t>Define poultry as something that is available all the time. </a:t>
            </a:r>
          </a:p>
          <a:p>
            <a:pPr>
              <a:buFont typeface="Arial" pitchFamily="34" charset="0"/>
              <a:buNone/>
            </a:pPr>
            <a:r>
              <a:rPr lang="en-US" dirty="0" smtClean="0"/>
              <a:t>Special poultry is only eaten on special occasions</a:t>
            </a:r>
          </a:p>
          <a:p>
            <a:pPr>
              <a:buFont typeface="Arial" pitchFamily="34" charset="0"/>
              <a:buNone/>
            </a:pPr>
            <a:r>
              <a:rPr lang="en-US" dirty="0" smtClean="0"/>
              <a:t>Wild game birds have to be hunted for,</a:t>
            </a:r>
            <a:r>
              <a:rPr lang="en-US" baseline="0" dirty="0" smtClean="0"/>
              <a:t> not grown by a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01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dirty="0" smtClean="0"/>
              <a:t>Trainer to discuss what is</a:t>
            </a:r>
            <a:r>
              <a:rPr lang="en-US" baseline="0" dirty="0" smtClean="0"/>
              <a:t> considered ‘game’ in the country that this unit is being delivered.</a:t>
            </a:r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Game: </a:t>
            </a:r>
            <a:r>
              <a:rPr lang="en-US" baseline="0" dirty="0" smtClean="0"/>
              <a:t>wild birds and animals that are not normally grown for human consumption, need to be hunted.</a:t>
            </a:r>
          </a:p>
          <a:p>
            <a:pPr>
              <a:buFont typeface="Arial" pitchFamily="34" charset="0"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aseline="0" dirty="0" smtClean="0"/>
              <a:t>It will vary from country to country.</a:t>
            </a:r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Activity: </a:t>
            </a:r>
            <a:r>
              <a:rPr lang="en-US" baseline="0" dirty="0" smtClean="0"/>
              <a:t>Get the students to discuss what they can see in the marketplace that is commonly available to the restaurant industry as ‘GAME”. It will vary from country to country. </a:t>
            </a:r>
          </a:p>
          <a:p>
            <a:pPr>
              <a:buFont typeface="Arial" pitchFamily="34" charset="0"/>
              <a:buNone/>
            </a:pPr>
            <a:r>
              <a:rPr lang="en-US" baseline="0" dirty="0" smtClean="0"/>
              <a:t>Is it safe to consume? Is it legal?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079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What is commonly available in the local market place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Changing and emerging trends locally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Changing</a:t>
            </a:r>
            <a:r>
              <a:rPr lang="en-US" baseline="0" dirty="0" smtClean="0"/>
              <a:t> and emerging trends overseas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652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dirty="0" smtClean="0"/>
              <a:t>Trainer</a:t>
            </a:r>
            <a:r>
              <a:rPr lang="en-US" baseline="0" dirty="0" smtClean="0"/>
              <a:t> to discuss:</a:t>
            </a:r>
          </a:p>
          <a:p>
            <a:pPr>
              <a:buFont typeface="Arial" pitchFamily="34" charset="0"/>
              <a:buNone/>
            </a:pPr>
            <a:endParaRPr lang="en-US" baseline="0" dirty="0" smtClean="0"/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What is the best type of supplier for you to engage?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Needs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Purchasing requirements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Delivery  requirements.</a:t>
            </a:r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167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r>
              <a:rPr lang="en-US" b="1" dirty="0" smtClean="0"/>
              <a:t>Purchase only what</a:t>
            </a:r>
            <a:r>
              <a:rPr lang="en-US" b="1" baseline="0" dirty="0" smtClean="0"/>
              <a:t> you need.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Pointless buying the whole bird/animal if you do not have the need for the whole of the carcass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Do not purchase more because it is cheaper to buy in bulk</a:t>
            </a:r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Be sure you can store what you purchase</a:t>
            </a:r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Does the enterprise have the capacity to store what you purchase</a:t>
            </a:r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Skill level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Does the staff have the skill level to ‘bone chicken’?</a:t>
            </a:r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Cost of Storage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Space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Electricity to run equipment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403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r>
              <a:rPr lang="en-US" dirty="0" smtClean="0"/>
              <a:t>Each cook needs to be able to apply cost to recipe to make sure that profit margins are maintained.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r>
              <a:rPr lang="en-US" dirty="0" smtClean="0"/>
              <a:t>25-35% food cost: Industry average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2345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dirty="0" smtClean="0"/>
              <a:t>Trainer to discuss following points with students: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Purchase only what you need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Store chilled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Cover and label food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First in First out proc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Trainer to check on Work projects of Students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024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smtClean="0"/>
              <a:t>Trainer to discuss performance criteria required tor Element</a:t>
            </a:r>
            <a:r>
              <a:rPr lang="en-US" baseline="0" dirty="0" smtClean="0"/>
              <a:t> 2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21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What are the standards with each enterprise?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How many pieces in a serve?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How heavy?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609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Control in preparation is important to </a:t>
            </a:r>
            <a:r>
              <a:rPr lang="en-US" dirty="0" err="1" smtClean="0"/>
              <a:t>minimise</a:t>
            </a:r>
            <a:r>
              <a:rPr lang="en-US" dirty="0" smtClean="0"/>
              <a:t> wastage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Skill level needs to be adhered to.</a:t>
            </a:r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093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discuss:</a:t>
            </a:r>
          </a:p>
          <a:p>
            <a:pPr>
              <a:buFontTx/>
              <a:buNone/>
            </a:pPr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Value adding to leftover product to generate income to enterprise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124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r>
              <a:rPr lang="en-US" dirty="0" smtClean="0"/>
              <a:t>To be able to cook specific</a:t>
            </a:r>
            <a:r>
              <a:rPr lang="en-US" baseline="0" dirty="0" smtClean="0"/>
              <a:t> dishes the cook needs to be able to carry out all the processes.</a:t>
            </a:r>
          </a:p>
          <a:p>
            <a:pPr>
              <a:buFont typeface="Arial" pitchFamily="34" charset="0"/>
              <a:buNone/>
            </a:pPr>
            <a:r>
              <a:rPr lang="en-US" baseline="0" dirty="0" smtClean="0"/>
              <a:t>If the grill cannot be operated correctly the losses will occur: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 Induction cooking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 </a:t>
            </a:r>
            <a:r>
              <a:rPr lang="en-US" baseline="0" dirty="0" err="1" smtClean="0"/>
              <a:t>Sous</a:t>
            </a:r>
            <a:r>
              <a:rPr lang="en-US" baseline="0" dirty="0" smtClean="0"/>
              <a:t> vide cooking.</a:t>
            </a:r>
          </a:p>
          <a:p>
            <a:pPr>
              <a:buFont typeface="Arial" pitchFamily="34" charset="0"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aseline="0" dirty="0" smtClean="0"/>
              <a:t>New methods of cooking mean new methods equipment, new skill needed by staff.</a:t>
            </a:r>
          </a:p>
          <a:p>
            <a:pPr>
              <a:buFont typeface="Arial" pitchFamily="34" charset="0"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aseline="0" dirty="0" smtClean="0"/>
              <a:t>New equipment??? </a:t>
            </a:r>
          </a:p>
          <a:p>
            <a:pPr>
              <a:buFont typeface="Arial" pitchFamily="34" charset="0"/>
              <a:buNone/>
            </a:pPr>
            <a:r>
              <a:rPr lang="en-US" baseline="0" dirty="0" smtClean="0"/>
              <a:t>Staff need to be trained: 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To prevent injuries and 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To prevent loss of product due to lack of knowledge in how equipment operates.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r>
              <a:rPr lang="en-US" dirty="0" smtClean="0"/>
              <a:t>Check students progress</a:t>
            </a:r>
            <a:r>
              <a:rPr lang="en-US" baseline="0" dirty="0" smtClean="0"/>
              <a:t> with work projects</a:t>
            </a:r>
            <a:endParaRPr lang="en-US" dirty="0" smtClean="0"/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348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discuss performance criteria required for Element 3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Tx/>
              <a:buNone/>
            </a:pPr>
            <a:r>
              <a:rPr lang="en-US" baseline="0" dirty="0" smtClean="0"/>
              <a:t>To prove competency in Prepare and Cook poultry game meats the student has to be able to; Cook; Hold and Present these meats</a:t>
            </a:r>
          </a:p>
          <a:p>
            <a:pPr>
              <a:buFontTx/>
              <a:buNone/>
            </a:pPr>
            <a:r>
              <a:rPr lang="en-US" baseline="0" dirty="0" smtClean="0"/>
              <a:t>Cook; apply heat to make meats more easily digestible for humans</a:t>
            </a:r>
          </a:p>
          <a:p>
            <a:pPr>
              <a:buFontTx/>
              <a:buNone/>
            </a:pPr>
            <a:r>
              <a:rPr lang="en-US" baseline="0" dirty="0" smtClean="0"/>
              <a:t>Hold; to keep food until it is required to served to customer; Normally it is held hot but it might have to be held cold; depending on the recipe</a:t>
            </a:r>
          </a:p>
          <a:p>
            <a:pPr>
              <a:buFontTx/>
              <a:buNone/>
            </a:pPr>
            <a:r>
              <a:rPr lang="en-US" baseline="0" dirty="0" smtClean="0"/>
              <a:t>Present; serve to customer; how the meat is placed onto the plate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="1" baseline="0" dirty="0" smtClean="0"/>
              <a:t>The Students need to be able to;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Select appropriate cooking style for any particular poultry of game meat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Prepare a selection of dishes following standard recipes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Hold these dishes until required for service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Present these selection of poultry and game meats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Prepare garnishes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Prepare sauces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Prepare accompaniments.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5310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Method of cooking will effect the</a:t>
            </a:r>
            <a:r>
              <a:rPr lang="en-US" baseline="0" dirty="0" smtClean="0"/>
              <a:t> eating quality sensation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Is the meat being grilled. Is it being marinated before grilling?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Is there sugar in marinade? If so, it will burn. Change heat setting?</a:t>
            </a:r>
          </a:p>
          <a:p>
            <a:pPr>
              <a:buFont typeface="Arial" pitchFamily="34" charset="0"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1527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Being prepared is half the job done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Has</a:t>
            </a:r>
            <a:r>
              <a:rPr lang="en-US" baseline="0" dirty="0" smtClean="0"/>
              <a:t> the recipe been read and understood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What was the end product like?</a:t>
            </a:r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52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r>
              <a:rPr lang="en-US" dirty="0" smtClean="0"/>
              <a:t>Foods need to be held at the required temperature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To maintain</a:t>
            </a:r>
            <a:r>
              <a:rPr lang="en-US" baseline="0" dirty="0" smtClean="0"/>
              <a:t> QUALITY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To maintain FOOD SAFETY</a:t>
            </a:r>
          </a:p>
          <a:p>
            <a:pPr>
              <a:buFont typeface="Arial" pitchFamily="34" charset="0"/>
              <a:buNone/>
            </a:pPr>
            <a:r>
              <a:rPr lang="en-US" dirty="0" smtClean="0"/>
              <a:t>Food QUALITY and Food SAFETY go together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r>
              <a:rPr lang="en-US" dirty="0" smtClean="0"/>
              <a:t>Keeping food hot for too long will dry it out but not make it unsafe to eat.</a:t>
            </a:r>
          </a:p>
          <a:p>
            <a:pPr>
              <a:buFont typeface="Arial" pitchFamily="34" charset="0"/>
              <a:buNone/>
            </a:pPr>
            <a:r>
              <a:rPr lang="en-US" dirty="0" smtClean="0"/>
              <a:t>As it is</a:t>
            </a:r>
            <a:r>
              <a:rPr lang="en-US" baseline="0" dirty="0" smtClean="0"/>
              <a:t> kept hot for too long it dries out and becomes less appetising to 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986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How food is presented</a:t>
            </a:r>
            <a:r>
              <a:rPr lang="en-US" baseline="0" dirty="0" smtClean="0"/>
              <a:t> will add to dining experience</a:t>
            </a:r>
          </a:p>
          <a:p>
            <a:pPr>
              <a:buFont typeface="Arial" pitchFamily="34" charset="0"/>
              <a:buChar char="•"/>
            </a:pPr>
            <a:endParaRPr lang="en-US" baseline="0" dirty="0" smtClean="0"/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Badly presented food will ruin excellent cooking and diminish the experience</a:t>
            </a:r>
          </a:p>
          <a:p>
            <a:pPr>
              <a:buFont typeface="Arial" pitchFamily="34" charset="0"/>
              <a:buChar char="•"/>
            </a:pPr>
            <a:endParaRPr lang="en-US" baseline="0" dirty="0" smtClean="0"/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Portion control: all need to be the same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5090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Finer points of above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Check students progress on Work projects.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2940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 performance criteria of this element with </a:t>
            </a:r>
            <a:r>
              <a:rPr lang="en-US" b="1" smtClean="0"/>
              <a:t>students: </a:t>
            </a:r>
            <a:endParaRPr lang="en-US" b="1" dirty="0" smtClean="0"/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Tx/>
              <a:buNone/>
            </a:pPr>
            <a:r>
              <a:rPr lang="en-US" baseline="0" dirty="0" smtClean="0"/>
              <a:t>To prove competency in Prepare and Cook poultry game meats the student has to be able to; </a:t>
            </a:r>
          </a:p>
          <a:p>
            <a:pPr>
              <a:buFontTx/>
              <a:buNone/>
            </a:pPr>
            <a:endParaRPr lang="en-US" b="1" baseline="0" dirty="0" smtClean="0"/>
          </a:p>
          <a:p>
            <a:pPr>
              <a:buFontTx/>
              <a:buNone/>
            </a:pPr>
            <a:r>
              <a:rPr lang="en-US" b="1" baseline="0" dirty="0" smtClean="0"/>
              <a:t>Store poultry and game products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="1" baseline="0" dirty="0" smtClean="0"/>
              <a:t>The students need to be able to: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AU" sz="1200" i="0" dirty="0" smtClean="0"/>
              <a:t>Fresh and/or vacuum packed items are stored correctly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AU" sz="1200" i="0" dirty="0" smtClean="0"/>
              <a:t>Prepare and maintain correct thawing of poultry and game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AU" sz="1200" i="0" dirty="0" smtClean="0"/>
              <a:t>Poultry and game is appropriately</a:t>
            </a:r>
            <a:r>
              <a:rPr lang="en-AU" sz="1200" i="0" baseline="0" dirty="0" smtClean="0"/>
              <a:t> </a:t>
            </a:r>
            <a:r>
              <a:rPr lang="en-AU" sz="1200" i="0" dirty="0" smtClean="0"/>
              <a:t>stored  in correct containers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AU" sz="1200" i="0" dirty="0" smtClean="0"/>
              <a:t>Poultry and game is correctly</a:t>
            </a:r>
            <a:r>
              <a:rPr lang="en-AU" sz="1200" i="0" baseline="0" dirty="0" smtClean="0"/>
              <a:t> </a:t>
            </a:r>
            <a:r>
              <a:rPr lang="en-AU" sz="1200" i="0" dirty="0" smtClean="0"/>
              <a:t>labelled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AU" sz="1200" i="0" dirty="0" smtClean="0"/>
              <a:t>Ensure correct conditions are </a:t>
            </a:r>
            <a:r>
              <a:rPr lang="en-AU" sz="1200" i="0" baseline="0" dirty="0" smtClean="0"/>
              <a:t> </a:t>
            </a:r>
            <a:r>
              <a:rPr lang="en-AU" sz="1200" i="0" dirty="0" smtClean="0"/>
              <a:t>maintained for freshness and quality.</a:t>
            </a:r>
            <a:endParaRPr lang="en-US" i="0" dirty="0" smtClean="0"/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3196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r>
              <a:rPr lang="en-US" dirty="0" smtClean="0"/>
              <a:t>Practicalities and difficulties of storing high risk products like fresh meats from poultry and game.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0377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r>
              <a:rPr lang="en-US" dirty="0" smtClean="0"/>
              <a:t>Problems with thawing frozen meats in controlled</a:t>
            </a:r>
            <a:r>
              <a:rPr lang="en-US" baseline="0" dirty="0" smtClean="0"/>
              <a:t> and uncontrolled environment</a:t>
            </a:r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207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Benefits</a:t>
            </a:r>
            <a:r>
              <a:rPr lang="en-US" baseline="0" dirty="0" smtClean="0"/>
              <a:t> of having containers in good condition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Easy to clean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Lightweight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Uniform sizes</a:t>
            </a:r>
          </a:p>
          <a:p>
            <a:pPr>
              <a:buFont typeface="Arial" pitchFamily="34" charset="0"/>
              <a:buChar char="•"/>
            </a:pPr>
            <a:r>
              <a:rPr lang="en-US" baseline="0" dirty="0" smtClean="0"/>
              <a:t>Easy to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577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None/>
            </a:pPr>
            <a:r>
              <a:rPr lang="en-US" dirty="0" smtClean="0"/>
              <a:t>Requirements of</a:t>
            </a:r>
            <a:r>
              <a:rPr lang="en-US" baseline="0" dirty="0" smtClean="0"/>
              <a:t> good labeling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7004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en-US" b="1" dirty="0" smtClean="0"/>
              <a:t>Trainer to discuss: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r>
              <a:rPr lang="en-US" dirty="0" smtClean="0"/>
              <a:t>Salient point in how to ensure the freshness of product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Fresh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Cooked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Long term and short term.</a:t>
            </a:r>
          </a:p>
          <a:p>
            <a:pPr>
              <a:buFont typeface="Arial" pitchFamily="34" charset="0"/>
              <a:buNone/>
            </a:pPr>
            <a:endParaRPr lang="en-US" dirty="0" smtClean="0"/>
          </a:p>
          <a:p>
            <a:pPr>
              <a:buFont typeface="Arial" pitchFamily="34" charset="0"/>
              <a:buNone/>
            </a:pPr>
            <a:r>
              <a:rPr lang="en-US" dirty="0" smtClean="0"/>
              <a:t>What is needed to deliver product to customer in optimum</a:t>
            </a:r>
            <a:r>
              <a:rPr lang="en-US" baseline="0" dirty="0" smtClean="0"/>
              <a:t>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3431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Thank you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968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675B-16CB-449C-AA64-20E2E057E166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F223-D3A2-44F5-8051-829B2F23C0D4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 smtClean="0"/>
              <a:t>Prepare and cook poultry and game meats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3FE7D-417D-483E-A327-7AED21196679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8DDC-366E-4D96-B475-59755FBFA064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5C968-0B16-4ADF-91B3-C8ECABCFDA29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1DEA-061C-49D7-974B-38721BC66A5F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EFC2B-FC2E-46FA-B53A-48A270754B05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3B9F-1886-41EB-8596-DFD2474565B7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A6D77F6-049E-4E03-BBEC-9C9525B9448E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ABC8-BFBF-4030-9C7D-70F812C9AAE4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46A6-0262-42FF-B093-039AED07B7AD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>
              <a:latin typeface="Helvetica" pitchFamily="34" charset="0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fld id="{60B9F9CF-7D2C-460C-8F3E-F6213A54EF65}" type="datetime1">
              <a:rPr lang="en-US" smtClean="0"/>
              <a:pPr/>
              <a:t>3/31/2015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Helvetica" pitchFamily="34" charset="0"/>
              </a:defRPr>
            </a:lvl1pPr>
          </a:lstStyle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Helvetica" pitchFamily="34" charset="0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Helvetica" pitchFamily="34" charset="0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Helvetica" pitchFamily="34" charset="0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7778152" cy="1285884"/>
          </a:xfrm>
        </p:spPr>
        <p:txBody>
          <a:bodyPr>
            <a:normAutofit fontScale="90000"/>
          </a:bodyPr>
          <a:lstStyle/>
          <a:p>
            <a:r>
              <a:rPr lang="en-AU" sz="4000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PREPARE AND COOK POULTRY AND GAME MEATS</a:t>
            </a:r>
            <a:endParaRPr lang="en-US" sz="4000" dirty="0">
              <a:ln w="5000" cmpd="sng">
                <a:noFill/>
                <a:prstDash val="solid"/>
              </a:ln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10200" y="1828800"/>
            <a:ext cx="2851004" cy="357190"/>
          </a:xfrm>
        </p:spPr>
        <p:txBody>
          <a:bodyPr>
            <a:noAutofit/>
          </a:bodyPr>
          <a:lstStyle/>
          <a:p>
            <a:r>
              <a:rPr lang="en-AU" sz="2400" b="1" dirty="0" smtClean="0">
                <a:latin typeface="Helvetica" pitchFamily="34" charset="0"/>
              </a:rPr>
              <a:t>D1.HCC.CL2.09</a:t>
            </a:r>
            <a:endParaRPr lang="en-US" sz="2400" b="1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027" name="Picture 3" descr="I:\Overseas Projects\PHOTOS\2012\Culinary 2012\Roast chicken2.JPG"/>
          <p:cNvPicPr>
            <a:picLocks noChangeAspect="1" noChangeArrowheads="1"/>
          </p:cNvPicPr>
          <p:nvPr/>
        </p:nvPicPr>
        <p:blipFill>
          <a:blip r:embed="rId3" cstate="print"/>
          <a:srcRect l="7403" r="3759"/>
          <a:stretch>
            <a:fillRect/>
          </a:stretch>
        </p:blipFill>
        <p:spPr bwMode="auto">
          <a:xfrm>
            <a:off x="1371600" y="2667000"/>
            <a:ext cx="4114800" cy="307181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Poultry and Game Meats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1</a:t>
            </a:r>
            <a:r>
              <a:rPr lang="en-US" sz="2200" b="1" dirty="0" smtClean="0"/>
              <a:t>: </a:t>
            </a:r>
            <a:r>
              <a:rPr lang="en-US" sz="2200" dirty="0" smtClean="0"/>
              <a:t>Identify and select poultry and game meats</a:t>
            </a:r>
          </a:p>
          <a:p>
            <a:pPr marL="0" indent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2200" b="1" dirty="0" smtClean="0"/>
              <a:t>Element 2: </a:t>
            </a:r>
            <a:r>
              <a:rPr lang="en-US" sz="2200" dirty="0" smtClean="0"/>
              <a:t>Prepare poultry and game meats</a:t>
            </a:r>
          </a:p>
          <a:p>
            <a:pPr marL="0" indent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2200" b="1" dirty="0" smtClean="0"/>
              <a:t>Element 3: </a:t>
            </a:r>
            <a:r>
              <a:rPr lang="en-US" sz="2200" dirty="0" smtClean="0"/>
              <a:t>Cook, hold and present</a:t>
            </a:r>
          </a:p>
          <a:p>
            <a:pPr marL="0" indent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sz="2200" b="1" dirty="0" smtClean="0"/>
              <a:t>Element 4: </a:t>
            </a:r>
            <a:r>
              <a:rPr lang="en-US" sz="2200" dirty="0" smtClean="0"/>
              <a:t>Store poultry and game meats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/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/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2050" name="Picture 2" descr="I:\Overseas Projects\PHOTOS\2012\Culinary 2012\Roast chicken3.JPG"/>
          <p:cNvPicPr>
            <a:picLocks noChangeAspect="1" noChangeArrowheads="1"/>
          </p:cNvPicPr>
          <p:nvPr/>
        </p:nvPicPr>
        <p:blipFill>
          <a:blip r:embed="rId3" cstate="print"/>
          <a:srcRect t="3830"/>
          <a:stretch>
            <a:fillRect/>
          </a:stretch>
        </p:blipFill>
        <p:spPr bwMode="auto">
          <a:xfrm>
            <a:off x="6019800" y="4495800"/>
            <a:ext cx="2514600" cy="1864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Poultry and Game Meats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3"/>
            <a:ext cx="7467600" cy="431060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Assessment for this Unit may include:</a:t>
            </a:r>
          </a:p>
          <a:p>
            <a:pPr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Oral questions</a:t>
            </a:r>
          </a:p>
          <a:p>
            <a:pPr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Written questions</a:t>
            </a:r>
          </a:p>
          <a:p>
            <a:pPr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Work projects</a:t>
            </a:r>
          </a:p>
          <a:p>
            <a:pPr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Workplace observation of practical skills</a:t>
            </a:r>
          </a:p>
          <a:p>
            <a:pPr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Practical exercises</a:t>
            </a:r>
          </a:p>
          <a:p>
            <a:pPr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Formal report from employer/supervisor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 descr="I:\Overseas Projects\PHOTOS\2012\Front office 2012\shutterstock_102376840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91200" y="1066800"/>
            <a:ext cx="2644655" cy="2819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Poultry and Game Meats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7239000" cy="4953000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1: Identify and select poultry and game meats</a:t>
            </a:r>
          </a:p>
          <a:p>
            <a:pPr indent="-360000">
              <a:spcAft>
                <a:spcPts val="600"/>
              </a:spcAft>
            </a:pPr>
            <a:r>
              <a:rPr lang="en-AU" sz="2200" dirty="0" smtClean="0"/>
              <a:t>Identify varieties of poultry and game</a:t>
            </a:r>
          </a:p>
          <a:p>
            <a:pPr indent="-360000">
              <a:spcAft>
                <a:spcPts val="600"/>
              </a:spcAft>
            </a:pPr>
            <a:r>
              <a:rPr lang="en-AU" sz="2200" dirty="0" smtClean="0"/>
              <a:t>Identify commercial establishment cuts and specifications</a:t>
            </a:r>
          </a:p>
          <a:p>
            <a:pPr indent="-360000">
              <a:spcAft>
                <a:spcPts val="600"/>
              </a:spcAft>
            </a:pPr>
            <a:r>
              <a:rPr lang="en-AU" sz="2200" dirty="0" smtClean="0"/>
              <a:t>Identify and select suppliers for purchasing of products</a:t>
            </a:r>
          </a:p>
          <a:p>
            <a:pPr indent="-360000">
              <a:spcAft>
                <a:spcPts val="600"/>
              </a:spcAft>
            </a:pPr>
            <a:r>
              <a:rPr lang="en-AU" sz="2200" dirty="0" smtClean="0"/>
              <a:t>Minimize wastage through freshness and correct purchasing</a:t>
            </a:r>
          </a:p>
          <a:p>
            <a:pPr indent="-360000">
              <a:spcAft>
                <a:spcPts val="600"/>
              </a:spcAft>
            </a:pPr>
            <a:r>
              <a:rPr lang="en-AU" sz="2200" dirty="0" smtClean="0"/>
              <a:t>Identify costs through yield testing</a:t>
            </a:r>
          </a:p>
          <a:p>
            <a:pPr indent="-360000">
              <a:spcAft>
                <a:spcPts val="600"/>
              </a:spcAft>
            </a:pPr>
            <a:r>
              <a:rPr lang="en-AU" sz="2200" dirty="0" smtClean="0"/>
              <a:t>Ensure correct conditions are maintained for freshness and quality</a:t>
            </a:r>
            <a:endParaRPr lang="en-AU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074" name="Picture 2" descr="C:\Documents and Settings\jirayut\Local Settings\Temporary Internet Files\Content.IE5\DL0QWQXO\MC900441904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7848600" y="304800"/>
            <a:ext cx="1048755" cy="1346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4800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Indentify varieties of poultry and game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Poultry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Chicken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Duck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Quail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Baby chicken, (</a:t>
            </a:r>
            <a:r>
              <a:rPr lang="en-US" sz="2200" dirty="0" err="1" smtClean="0">
                <a:latin typeface="Helvetica" pitchFamily="34" charset="0"/>
              </a:rPr>
              <a:t>poussin</a:t>
            </a:r>
            <a:r>
              <a:rPr lang="en-US" sz="2200" dirty="0" smtClean="0">
                <a:latin typeface="Helvetica" pitchFamily="34" charset="0"/>
              </a:rPr>
              <a:t>)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Squab, (pigeon)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 descr="\\Pm server\PMHOSPIT\PM Projects - Active\TTA Support Materials 2003\bcc01\bcc01-03.JPG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95800" y="1600200"/>
            <a:ext cx="3886200" cy="4576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Indentify varieties of poultry and game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Game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Crocodile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Wild duck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Snake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Pig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Other wild meats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 descr="\\Pm server\PMHOSPIT\PM Projects - Active\TTA Support Materials 2003\bcc01\bcc01-2a.jpg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05400" y="1600200"/>
            <a:ext cx="2894241" cy="4302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Common Commercial cuts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Commonly available cuts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Legs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Breast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Sides and saddles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Legs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Drumstick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Thighs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Cutlets.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 descr="I:\Overseas Projects\PHOTOS\2012\Culinary 2012\poultry cut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2590800"/>
            <a:ext cx="2286000" cy="228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select suppliers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Suppliers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Wholesalers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Retailers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Proximity to YOUR business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Purchasing requirements of supplier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YOUR purchasing needs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Seasonal purchasing requirements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122" name="Picture 2" descr="C:\Documents and Settings\jirayut\Local Settings\Temporary Internet Files\Content.IE5\G3WM5228\MC900014448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79958" y="2831432"/>
            <a:ext cx="2438400" cy="237110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4800"/>
            <a:ext cx="7467600" cy="1143000"/>
          </a:xfrm>
        </p:spPr>
        <p:txBody>
          <a:bodyPr>
            <a:normAutofit/>
          </a:bodyPr>
          <a:lstStyle/>
          <a:p>
            <a:r>
              <a:rPr lang="en-AU" sz="3400" b="1" dirty="0" smtClean="0">
                <a:solidFill>
                  <a:srgbClr val="FF6600"/>
                </a:solidFill>
                <a:latin typeface="Helvetica" pitchFamily="34" charset="0"/>
              </a:rPr>
              <a:t>Minimise</a:t>
            </a:r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 wastage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4951040" cy="377720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Efficient purchasing</a:t>
            </a:r>
          </a:p>
          <a:p>
            <a:pPr marL="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Only what you need</a:t>
            </a:r>
          </a:p>
          <a:p>
            <a:pPr marL="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Storage capacity of enterprise</a:t>
            </a:r>
          </a:p>
          <a:p>
            <a:pPr marL="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Skill level of staff</a:t>
            </a:r>
          </a:p>
          <a:p>
            <a:pPr marL="0" indent="-4572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Cost of storage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147" name="Picture 3" descr="C:\Documents and Settings\jirayut\Local Settings\Temporary Internet Files\Content.IE5\733Z9TJI\MC900388984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95482" y="3962400"/>
            <a:ext cx="2015118" cy="21000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costs and yield testing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Cost of cutting meat yourself: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Labour</a:t>
            </a:r>
            <a:r>
              <a:rPr lang="en-US" sz="2200" dirty="0" smtClean="0">
                <a:latin typeface="Helvetica" pitchFamily="34" charset="0"/>
              </a:rPr>
              <a:t> cost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How many portions do you get from each bird/animal?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Each recipe needs to get same number of sales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Different size animal ea/kg is not good method of   purchasing.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170" name="Picture 2" descr="C:\Documents and Settings\jirayut\Local Settings\Temporary Internet Files\Content.IE5\G3WM5228\MP900184902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2800" y="4191000"/>
            <a:ext cx="1354836" cy="20527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Ensure freshness and quality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6703640" cy="3396208"/>
          </a:xfrm>
        </p:spPr>
        <p:txBody>
          <a:bodyPr>
            <a:normAutofit/>
          </a:bodyPr>
          <a:lstStyle/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Keep chilled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Do not store for more than 3 days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Protect from contamination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Date and label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194" name="Picture 2" descr="I:\Overseas Projects\PHOTOS\2012\Culinary 2012\Vacuum packaging 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3886200"/>
            <a:ext cx="2550706" cy="19542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Poultry and Game Meats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2: Prepare poultry and game meats</a:t>
            </a:r>
          </a:p>
          <a:p>
            <a:pPr marL="660654" indent="-514350">
              <a:spcAft>
                <a:spcPts val="600"/>
              </a:spcAft>
            </a:pPr>
            <a:r>
              <a:rPr lang="en-AU" sz="2200" dirty="0" smtClean="0"/>
              <a:t>Prepare and portion poultry and game meat cuts, to enterprise requirements</a:t>
            </a:r>
          </a:p>
          <a:p>
            <a:pPr marL="660654" indent="-514350">
              <a:spcAft>
                <a:spcPts val="600"/>
              </a:spcAft>
            </a:pPr>
            <a:r>
              <a:rPr lang="en-AU" sz="2200" dirty="0" smtClean="0"/>
              <a:t>Minimize wastage through preparation and storage</a:t>
            </a:r>
          </a:p>
          <a:p>
            <a:pPr marL="660654" indent="-514350">
              <a:spcAft>
                <a:spcPts val="600"/>
              </a:spcAft>
            </a:pPr>
            <a:r>
              <a:rPr lang="en-AU" sz="2200" dirty="0" smtClean="0"/>
              <a:t>Use of trimmings and leftovers</a:t>
            </a:r>
          </a:p>
          <a:p>
            <a:pPr marL="660654" indent="-514350">
              <a:spcAft>
                <a:spcPts val="600"/>
              </a:spcAft>
            </a:pPr>
            <a:r>
              <a:rPr lang="en-AU" sz="2200" dirty="0" smtClean="0"/>
              <a:t>Identification and use of equipment</a:t>
            </a: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9218" name="Picture 2" descr="I:\Overseas Projects\PHOTOS\2012\Culinary 2012\Frozen chicke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4343400"/>
            <a:ext cx="2438400" cy="1828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portion cuts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5484440" cy="3853408"/>
          </a:xfrm>
        </p:spPr>
        <p:txBody>
          <a:bodyPr>
            <a:normAutofit/>
          </a:bodyPr>
          <a:lstStyle/>
          <a:p>
            <a:pPr marL="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Enterprise standards: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Is the skin left on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What size to cut meat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All the same weight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Same number per serve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2050" name="Picture 2" descr="I:\Overseas Projects\PHOTOS\2012\Culinary 2012\shutterstock_2120398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819400"/>
            <a:ext cx="3277137" cy="21796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AU" sz="3400" b="1" dirty="0" smtClean="0">
                <a:solidFill>
                  <a:srgbClr val="FF6600"/>
                </a:solidFill>
                <a:latin typeface="Helvetica" pitchFamily="34" charset="0"/>
              </a:rPr>
              <a:t>Minimise</a:t>
            </a:r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 wastage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Correct cutting</a:t>
            </a:r>
          </a:p>
          <a:p>
            <a:pPr marL="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Portion control</a:t>
            </a:r>
          </a:p>
          <a:p>
            <a:pPr marL="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Correct storage of raw product</a:t>
            </a:r>
          </a:p>
          <a:p>
            <a:pPr marL="0" indent="-360000">
              <a:spcBef>
                <a:spcPts val="12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Correct storage of cooked product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1267" name="Picture 3" descr="C:\Documents and Settings\jirayut\Local Settings\Temporary Internet Files\Content.IE5\733Z9TJI\MC90001701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3048000"/>
            <a:ext cx="2971800" cy="280294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Use of trimmings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Can this be used for anything?: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Meat trimmings used in stocks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Meat trimmings used for other products</a:t>
            </a:r>
          </a:p>
          <a:p>
            <a:pPr marL="701675" lvl="2" indent="-342900">
              <a:spcBef>
                <a:spcPts val="600"/>
              </a:spcBef>
              <a:spcAft>
                <a:spcPts val="1200"/>
              </a:spcAft>
              <a:buClr>
                <a:srgbClr val="92D050"/>
              </a:buClr>
              <a:buSzPct val="100000"/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Minced for other dishes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31746" name="Picture 2" descr="http://ts4.explicit.bing.net/th?id=H.4545674340532403&amp;pid=15.1&amp;H=160&amp;W=16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3048000"/>
            <a:ext cx="1981200" cy="19812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Identify and use equipment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3"/>
            <a:ext cx="7467600" cy="431060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Equipment needs:</a:t>
            </a:r>
          </a:p>
          <a:p>
            <a:pPr marL="539750" indent="-53975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What is a grill?</a:t>
            </a:r>
          </a:p>
          <a:p>
            <a:pPr marL="539750" indent="-53975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What is an induction cooker?</a:t>
            </a:r>
          </a:p>
          <a:p>
            <a:pPr marL="539750" indent="-53975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What is a steamer?</a:t>
            </a:r>
          </a:p>
          <a:p>
            <a:pPr marL="539750" indent="-53975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What is a cleaver?</a:t>
            </a:r>
          </a:p>
          <a:p>
            <a:pPr marL="539750" indent="-53975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How do  they operate?</a:t>
            </a:r>
          </a:p>
          <a:p>
            <a:pPr marL="539750" indent="-53975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Am I operating this equipment </a:t>
            </a:r>
            <a:r>
              <a:rPr lang="en-US" sz="2200" dirty="0" smtClean="0"/>
              <a:t>correctly</a:t>
            </a:r>
            <a:r>
              <a:rPr lang="en-US" sz="2200" dirty="0" smtClean="0">
                <a:latin typeface="Helvetica" pitchFamily="34" charset="0"/>
              </a:rPr>
              <a:t>?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29698" name="Picture 2" descr="http://ts3.mm.bing.net/th?id=H.4717030651266010&amp;pid=15.1&amp;H=120&amp;W=16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80744" y="3912269"/>
            <a:ext cx="2133599" cy="16002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Poultry and Game Meats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7467600" cy="48768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3: Cook hold and present</a:t>
            </a:r>
          </a:p>
          <a:p>
            <a:pPr marL="603504" indent="-457200"/>
            <a:r>
              <a:rPr lang="en-AU" sz="2200" dirty="0" smtClean="0"/>
              <a:t>Select appropriate cooking method for poultry and game meats</a:t>
            </a:r>
          </a:p>
          <a:p>
            <a:pPr marL="603504" indent="-457200"/>
            <a:r>
              <a:rPr lang="en-AU" sz="2200" dirty="0" smtClean="0"/>
              <a:t>Prepare and cook a selection of dishes following a standard recipes within a commercial environment</a:t>
            </a:r>
          </a:p>
          <a:p>
            <a:pPr marL="603504" indent="-457200"/>
            <a:r>
              <a:rPr lang="en-AU" sz="2200" dirty="0" smtClean="0"/>
              <a:t>Hold prepared products as required prior to presenting</a:t>
            </a:r>
          </a:p>
          <a:p>
            <a:pPr marL="603504" indent="-457200"/>
            <a:r>
              <a:rPr lang="en-AU" sz="2200" dirty="0" smtClean="0"/>
              <a:t>Present poultry and game meats</a:t>
            </a:r>
          </a:p>
          <a:p>
            <a:pPr marL="603504" indent="-457200"/>
            <a:r>
              <a:rPr lang="en-AU" sz="2200" dirty="0" smtClean="0"/>
              <a:t>Prepare garnishes, sauces and </a:t>
            </a:r>
            <a:br>
              <a:rPr lang="en-AU" sz="2200" dirty="0" smtClean="0"/>
            </a:br>
            <a:r>
              <a:rPr lang="en-AU" sz="2200" dirty="0" smtClean="0"/>
              <a:t>accompaniments for poultry and </a:t>
            </a:r>
            <a:br>
              <a:rPr lang="en-AU" sz="2200" dirty="0" smtClean="0"/>
            </a:br>
            <a:r>
              <a:rPr lang="en-AU" sz="2200" dirty="0" smtClean="0"/>
              <a:t>game meat dishes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4338" name="Picture 2" descr="C:\Documents and Settings\jirayut\Local Settings\Temporary Internet Files\Content.IE5\DL0QWQXO\MP900442633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3866147"/>
            <a:ext cx="1396760" cy="20926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Select cooking methods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/>
              <a:t>Grill, fry or poach </a:t>
            </a:r>
            <a:endParaRPr lang="en-US" sz="2200" b="1" dirty="0" smtClean="0">
              <a:latin typeface="Helvetica" pitchFamily="34" charset="0"/>
            </a:endParaRP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Tender cuts of meat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Stew, Braise, Casserole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Tough cuts of meat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Flavour</a:t>
            </a:r>
            <a:r>
              <a:rPr lang="en-US" sz="2200" b="1" dirty="0" smtClean="0">
                <a:latin typeface="Helvetica" pitchFamily="34" charset="0"/>
              </a:rPr>
              <a:t> required?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Ingredient reaction to cooking method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074" name="Picture 2" descr="I:\Overseas Projects\PHOTOS\2012\Culinary 2012\Cassoule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895600"/>
            <a:ext cx="2133600" cy="2844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selection of dishes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Read the recipe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Understand terminology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Has it been done correctly?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Are all ingredients available?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Is the required equipment available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5364" name="Picture 4" descr="C:\Documents and Settings\jirayut\Local Settings\Temporary Internet Files\Content.IE5\733Z9TJI\MC90038364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3657600"/>
            <a:ext cx="2057400" cy="243633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Hold prepared products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Hold hot foods hot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To be held at required temperature 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How long before quality drops?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Hold cold foods cold</a:t>
            </a:r>
          </a:p>
          <a:p>
            <a:pPr marL="358775" indent="-358775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Have to be cooked then cooled                                       before holding until service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6386" name="Picture 2" descr="C:\Documents and Settings\jirayut\Local Settings\Temporary Internet Files\Content.IE5\54081KBU\MP900407467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4038600"/>
            <a:ext cx="2473859" cy="19520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Present poultry and game dishes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 lnSpcReduction="10000"/>
          </a:bodyPr>
          <a:lstStyle/>
          <a:p>
            <a:pPr marL="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Plate presentation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Hot food – hot plate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Cold food – cold plate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No cracked plates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No dirty plates, must be clean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Style of presentation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All the same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Take away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7410" name="Picture 2" descr="C:\Documents and Settings\jirayut\Local Settings\Temporary Internet Files\Content.IE5\733Z9TJI\MP900182710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4038600"/>
            <a:ext cx="2742051" cy="18188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garnishes and sauces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Sauces and condiments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Compliment the dish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Do not diminish the dish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Garnishes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Fresh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Compliment the dish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Edible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18434" name="Picture 2" descr="I:\Overseas Projects\PHOTOS\2012\Culinary 2012\Roast Pigeon.jpg"/>
          <p:cNvPicPr>
            <a:picLocks noChangeAspect="1" noChangeArrowheads="1"/>
          </p:cNvPicPr>
          <p:nvPr/>
        </p:nvPicPr>
        <p:blipFill>
          <a:blip r:embed="rId3" cstate="print"/>
          <a:srcRect r="20050"/>
          <a:stretch>
            <a:fillRect/>
          </a:stretch>
        </p:blipFill>
        <p:spPr bwMode="auto">
          <a:xfrm>
            <a:off x="5791200" y="3657600"/>
            <a:ext cx="2667000" cy="22116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and Cook Poultry and Game Meats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389440" cy="499640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Element 4: Store poultry and game products</a:t>
            </a:r>
          </a:p>
          <a:p>
            <a:pPr marL="660654" indent="-514350"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Fresh and/or vacuum packed items are </a:t>
            </a:r>
            <a:r>
              <a:rPr lang="en-AU" sz="2200" i="1" dirty="0" smtClean="0"/>
              <a:t>stored correctly</a:t>
            </a:r>
            <a:endParaRPr lang="en-AU" sz="2200" dirty="0" smtClean="0"/>
          </a:p>
          <a:p>
            <a:pPr marL="660654" indent="-514350"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Prepare and maintain correct </a:t>
            </a:r>
            <a:r>
              <a:rPr lang="en-AU" sz="2200" i="1" dirty="0" smtClean="0"/>
              <a:t>thawing</a:t>
            </a:r>
            <a:r>
              <a:rPr lang="en-AU" sz="2200" dirty="0" smtClean="0"/>
              <a:t> of poultry and game</a:t>
            </a:r>
          </a:p>
          <a:p>
            <a:pPr marL="660654" indent="-514350"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Poultry and game is appropriately </a:t>
            </a:r>
            <a:br>
              <a:rPr lang="en-AU" sz="2200" dirty="0" smtClean="0"/>
            </a:br>
            <a:r>
              <a:rPr lang="en-AU" sz="2200" i="1" dirty="0" smtClean="0"/>
              <a:t>stored </a:t>
            </a:r>
            <a:r>
              <a:rPr lang="en-AU" sz="2200" dirty="0" smtClean="0"/>
              <a:t>in correct containers</a:t>
            </a:r>
          </a:p>
          <a:p>
            <a:pPr marL="660654" indent="-514350"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Poultry and game is correctly </a:t>
            </a:r>
            <a:br>
              <a:rPr lang="en-AU" sz="2200" dirty="0" smtClean="0"/>
            </a:br>
            <a:r>
              <a:rPr lang="en-AU" sz="2200" i="1" dirty="0" smtClean="0"/>
              <a:t>labelled</a:t>
            </a:r>
          </a:p>
          <a:p>
            <a:pPr marL="660654" indent="-514350">
              <a:spcBef>
                <a:spcPts val="600"/>
              </a:spcBef>
              <a:spcAft>
                <a:spcPts val="600"/>
              </a:spcAft>
            </a:pPr>
            <a:r>
              <a:rPr lang="en-AU" sz="2200" dirty="0" smtClean="0"/>
              <a:t>Ensure correct conditions are </a:t>
            </a:r>
            <a:br>
              <a:rPr lang="en-AU" sz="2200" dirty="0" smtClean="0"/>
            </a:br>
            <a:r>
              <a:rPr lang="en-AU" sz="2200" dirty="0" smtClean="0"/>
              <a:t>maintained for freshness and quality</a:t>
            </a: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300"/>
              </a:spcBef>
              <a:spcAft>
                <a:spcPts val="3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028" name="Picture 4" descr="C:\Documents and Settings\jirayut\Local Settings\Temporary Internet Files\Content.IE5\L3HMVMNM\MC900233487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4343400"/>
            <a:ext cx="2269283" cy="17420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Store fresh poultry correctly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Storage of fresh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Correct environmental temperature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smtClean="0">
                <a:latin typeface="Helvetica" pitchFamily="34" charset="0"/>
              </a:rPr>
              <a:t>Covered labeled</a:t>
            </a: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Length of storage time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Short term</a:t>
            </a:r>
          </a:p>
          <a:p>
            <a:pPr marL="644652" lvl="1" indent="-342900">
              <a:spcBef>
                <a:spcPts val="600"/>
              </a:spcBef>
              <a:spcAft>
                <a:spcPts val="1200"/>
              </a:spcAft>
              <a:buSzPct val="100000"/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3 days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Longer term – vacuum packed</a:t>
            </a:r>
          </a:p>
          <a:p>
            <a:pPr marL="644652" lvl="1" indent="-342900">
              <a:spcBef>
                <a:spcPts val="600"/>
              </a:spcBef>
              <a:spcAft>
                <a:spcPts val="1200"/>
              </a:spcAft>
              <a:buSzPct val="100000"/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3weeks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Picture 2" descr="I:\Overseas Projects\PHOTOS\2012\Culinary 2012\Vacuum packaging 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3886200"/>
            <a:ext cx="2620482" cy="20076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Prepare correct thawing conditions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Thawing meats: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Conditions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Covered in controlled environment	</a:t>
            </a:r>
          </a:p>
          <a:p>
            <a:pPr marL="720000" lvl="1" indent="-360000">
              <a:spcBef>
                <a:spcPts val="600"/>
              </a:spcBef>
              <a:spcAft>
                <a:spcPts val="1200"/>
              </a:spcAft>
              <a:buSzPct val="100000"/>
              <a:buFont typeface="Wingdings" pitchFamily="2" charset="2"/>
              <a:buChar char="§"/>
            </a:pPr>
            <a:r>
              <a:rPr lang="en-US" sz="2200" dirty="0" smtClean="0">
                <a:latin typeface="Helvetica" pitchFamily="34" charset="0"/>
              </a:rPr>
              <a:t>Chilled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Single layers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Use immediately.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11266" name="Picture 2" descr="http://www.sxc.hu/pic/l/a/as/asifthebes/1024418_90995745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E5DDD2"/>
              </a:clrFrom>
              <a:clrTo>
                <a:srgbClr val="E5DDD2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86400" y="3352800"/>
            <a:ext cx="2869455" cy="19208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Store in appropriate containers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Containers: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Must be impervious to liquids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Easy to wash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Durable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Easy to handle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" name="Picture 2" descr="http://www.freepatentsonline.com/D0484367-0-large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385472" flipH="1">
            <a:off x="6071629" y="1872908"/>
            <a:ext cx="2286000" cy="2416687"/>
          </a:xfrm>
          <a:prstGeom prst="rect">
            <a:avLst/>
          </a:prstGeom>
          <a:noFill/>
        </p:spPr>
      </p:pic>
      <p:pic>
        <p:nvPicPr>
          <p:cNvPr id="8" name="Picture 2" descr="http://www.freepatentsonline.com/D0484367-0-large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flipH="1">
            <a:off x="5715000" y="3200400"/>
            <a:ext cx="2286000" cy="24166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err="1" smtClean="0">
                <a:solidFill>
                  <a:srgbClr val="FF6600"/>
                </a:solidFill>
                <a:latin typeface="Helvetica" pitchFamily="34" charset="0"/>
              </a:rPr>
              <a:t>Labelling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Easy to read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Name of product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Date of manufacture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Use by date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Person responsible for cooking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4098" name="Picture 2" descr="I:\Overseas Projects\PHOTOS\2012\Culinary 2012\shutterstock_72658870.jp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562600" y="3962400"/>
            <a:ext cx="2819400" cy="14067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6172200" y="3543538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Sample only</a:t>
            </a:r>
            <a:endParaRPr lang="en-AU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7467600" cy="1143000"/>
          </a:xfrm>
        </p:spPr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6600"/>
                </a:solidFill>
                <a:latin typeface="Helvetica" pitchFamily="34" charset="0"/>
              </a:rPr>
              <a:t>Ensure freshness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6094040" cy="4525963"/>
          </a:xfrm>
        </p:spPr>
        <p:txBody>
          <a:bodyPr>
            <a:normAutofit/>
          </a:bodyPr>
          <a:lstStyle/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Life of product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When purchased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Storage conditions required</a:t>
            </a:r>
          </a:p>
          <a:p>
            <a:pPr marL="0" indent="-360000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Requirements for storage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Slide </a:t>
            </a:r>
            <a:fld id="{90BDF71C-F485-43AE-8825-5070AF1EA8C9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749264">
            <a:off x="5723922" y="2477126"/>
            <a:ext cx="213360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90800" y="914400"/>
            <a:ext cx="35052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600" b="1" dirty="0" smtClean="0">
                <a:solidFill>
                  <a:srgbClr val="FF6600"/>
                </a:solidFill>
                <a:latin typeface="Helvetica" pitchFamily="34" charset="0"/>
              </a:rPr>
              <a:t>Thank you</a:t>
            </a:r>
            <a:endParaRPr lang="en-AU" sz="4600" dirty="0">
              <a:latin typeface="Helvetica" pitchFamily="34" charset="0"/>
            </a:endParaRPr>
          </a:p>
        </p:txBody>
      </p:sp>
      <p:pic>
        <p:nvPicPr>
          <p:cNvPr id="6" name="Picture 5" descr="C:\Documents and Settings\jirayut\Local Settings\Temporary Internet Files\Content.IE5\TKO24698\MP900341618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2286000"/>
            <a:ext cx="2142744" cy="3003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SEAN PPT Template 010611 MV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ASEAN PPT Template 010611 MV</Template>
  <TotalTime>1476</TotalTime>
  <Words>2202</Words>
  <Application>Microsoft Office PowerPoint</Application>
  <PresentationFormat>On-screen Show (4:3)</PresentationFormat>
  <Paragraphs>440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Franklin Gothic Book</vt:lpstr>
      <vt:lpstr>Helvetica</vt:lpstr>
      <vt:lpstr>Wingdings</vt:lpstr>
      <vt:lpstr>Wingdings 2</vt:lpstr>
      <vt:lpstr>ASEAN PPT Template 010611 MV</vt:lpstr>
      <vt:lpstr>PREPARE AND COOK POULTRY AND GAME MEATS</vt:lpstr>
      <vt:lpstr>Prepare and Cook Poultry and Game Meats</vt:lpstr>
      <vt:lpstr>Prepare and Cook Poultry and Game Meats</vt:lpstr>
      <vt:lpstr>Prepare and Cook Poultry and Game Meats</vt:lpstr>
      <vt:lpstr>Indentify varieties of poultry and game</vt:lpstr>
      <vt:lpstr>Indentify varieties of poultry and game</vt:lpstr>
      <vt:lpstr>Common Commercial cuts</vt:lpstr>
      <vt:lpstr>Identify and select suppliers</vt:lpstr>
      <vt:lpstr>Minimise wastage</vt:lpstr>
      <vt:lpstr>Identify costs and yield testing</vt:lpstr>
      <vt:lpstr>Ensure freshness and quality</vt:lpstr>
      <vt:lpstr>Prepare and Cook Poultry and Game Meats</vt:lpstr>
      <vt:lpstr>Prepare and portion cuts</vt:lpstr>
      <vt:lpstr>Minimise wastage</vt:lpstr>
      <vt:lpstr>Use of trimmings</vt:lpstr>
      <vt:lpstr>Identify and use equipment</vt:lpstr>
      <vt:lpstr>Prepare and Cook Poultry and Game Meats</vt:lpstr>
      <vt:lpstr>Select cooking methods</vt:lpstr>
      <vt:lpstr>Prepare and cook selection of dishes</vt:lpstr>
      <vt:lpstr>Hold prepared products</vt:lpstr>
      <vt:lpstr>Present poultry and game dishes</vt:lpstr>
      <vt:lpstr>Prepare garnishes and sauces</vt:lpstr>
      <vt:lpstr>Prepare and Cook Poultry and Game Meats</vt:lpstr>
      <vt:lpstr>Store fresh poultry correctly</vt:lpstr>
      <vt:lpstr>Prepare correct thawing conditions</vt:lpstr>
      <vt:lpstr>Store in appropriate containers</vt:lpstr>
      <vt:lpstr>Labelling</vt:lpstr>
      <vt:lpstr>Ensure freshness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PREPARE AND COOK POULTRY AND GAME MEATS</dc:title>
  <dc:creator>fgvghyujil</dc:creator>
  <cp:lastModifiedBy>Carla Angelica Co</cp:lastModifiedBy>
  <cp:revision>112</cp:revision>
  <dcterms:created xsi:type="dcterms:W3CDTF">2012-02-03T06:39:22Z</dcterms:created>
  <dcterms:modified xsi:type="dcterms:W3CDTF">2015-03-31T06:55:28Z</dcterms:modified>
</cp:coreProperties>
</file>