
<file path=[Content_Types].xml><?xml version="1.0" encoding="utf-8"?>
<Types xmlns="http://schemas.openxmlformats.org/package/2006/content-types">
  <Override PartName="/ppt/slides/slide47.xml" ContentType="application/vnd.openxmlformats-officedocument.presentationml.slide+xml"/>
  <Override PartName="/ppt/slides/slide58.xml" ContentType="application/vnd.openxmlformats-officedocument.presentationml.slide+xml"/>
  <Override PartName="/ppt/slides/slide94.xml" ContentType="application/vnd.openxmlformats-officedocument.presentationml.slide+xml"/>
  <Override PartName="/ppt/slides/slide142.xml" ContentType="application/vnd.openxmlformats-officedocument.presentationml.slide+xml"/>
  <Override PartName="/ppt/notesSlides/notesSlide2.xml" ContentType="application/vnd.openxmlformats-officedocument.presentationml.notesSlide+xml"/>
  <Override PartName="/ppt/notesSlides/notesSlide105.xml" ContentType="application/vnd.openxmlformats-officedocument.presentationml.notesSlide+xml"/>
  <Override PartName="/ppt/notesSlides/notesSlide152.xml" ContentType="application/vnd.openxmlformats-officedocument.presentationml.notesSlide+xml"/>
  <Override PartName="/ppt/slides/slide36.xml" ContentType="application/vnd.openxmlformats-officedocument.presentationml.slide+xml"/>
  <Override PartName="/ppt/slides/slide83.xml" ContentType="application/vnd.openxmlformats-officedocument.presentationml.slide+xml"/>
  <Override PartName="/ppt/slides/slide120.xml" ContentType="application/vnd.openxmlformats-officedocument.presentationml.slide+xml"/>
  <Override PartName="/ppt/slides/slide131.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85.xml" ContentType="application/vnd.openxmlformats-officedocument.presentationml.notesSlide+xml"/>
  <Override PartName="/ppt/notesSlides/notesSlide96.xml" ContentType="application/vnd.openxmlformats-officedocument.presentationml.notesSlide+xml"/>
  <Override PartName="/ppt/notesSlides/notesSlide130.xml" ContentType="application/vnd.openxmlformats-officedocument.presentationml.notesSlide+xml"/>
  <Override PartName="/ppt/notesSlides/notesSlide141.xml" ContentType="application/vnd.openxmlformats-officedocument.presentationml.notesSlide+xml"/>
  <Override PartName="/ppt/slides/slide25.xml" ContentType="application/vnd.openxmlformats-officedocument.presentationml.slide+xml"/>
  <Override PartName="/ppt/slides/slide72.xml" ContentType="application/vnd.openxmlformats-officedocument.presentationml.slid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74.xml" ContentType="application/vnd.openxmlformats-officedocument.presentationml.notesSlide+xml"/>
  <Default Extension="xml" ContentType="application/xml"/>
  <Override PartName="/ppt/slides/slide14.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63.xml" ContentType="application/vnd.openxmlformats-officedocument.presentationml.notesSlide+xml"/>
  <Override PartName="/ppt/slides/slide169.xml" ContentType="application/vnd.openxmlformats-officedocument.presentationml.slide+xml"/>
  <Override PartName="/ppt/tableStyles.xml" ContentType="application/vnd.openxmlformats-officedocument.presentationml.tableStyles+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slides/slide147.xml" ContentType="application/vnd.openxmlformats-officedocument.presentationml.slide+xml"/>
  <Override PartName="/ppt/slides/slide158.xml" ContentType="application/vnd.openxmlformats-officedocument.presentationml.slide+xml"/>
  <Override PartName="/ppt/notesSlides/notesSlide30.xml" ContentType="application/vnd.openxmlformats-officedocument.presentationml.notesSlide+xml"/>
  <Override PartName="/ppt/notesSlides/notesSlide168.xml" ContentType="application/vnd.openxmlformats-officedocument.presentationml.notesSlide+xml"/>
  <Override PartName="/ppt/slides/slide99.xml" ContentType="application/vnd.openxmlformats-officedocument.presentationml.slide+xml"/>
  <Override PartName="/ppt/slides/slide136.xml" ContentType="application/vnd.openxmlformats-officedocument.presentationml.slide+xml"/>
  <Override PartName="/ppt/notesSlides/notesSlide7.xml" ContentType="application/vnd.openxmlformats-officedocument.presentationml.notesSlide+xml"/>
  <Override PartName="/ppt/notesSlides/notesSlide146.xml" ContentType="application/vnd.openxmlformats-officedocument.presentationml.notesSlide+xml"/>
  <Override PartName="/ppt/notesSlides/notesSlide157.xml" ContentType="application/vnd.openxmlformats-officedocument.presentationml.notesSlide+xml"/>
  <Override PartName="/ppt/slides/slide77.xml" ContentType="application/vnd.openxmlformats-officedocument.presentationml.slide+xml"/>
  <Override PartName="/ppt/slides/slide88.xml" ContentType="application/vnd.openxmlformats-officedocument.presentationml.slide+xml"/>
  <Override PartName="/ppt/slides/slide125.xml" ContentType="application/vnd.openxmlformats-officedocument.presentationml.slide+xml"/>
  <Override PartName="/ppt/notesSlides/notesSlide13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66.xml" ContentType="application/vnd.openxmlformats-officedocument.presentationml.slide+xml"/>
  <Override PartName="/ppt/slides/slide103.xml" ContentType="application/vnd.openxmlformats-officedocument.presentationml.slide+xml"/>
  <Override PartName="/ppt/slides/slide114.xml" ContentType="application/vnd.openxmlformats-officedocument.presentationml.slide+xml"/>
  <Override PartName="/ppt/slides/slide150.xml" ContentType="application/vnd.openxmlformats-officedocument.presentationml.slide+xml"/>
  <Override PartName="/ppt/slides/slide161.xml" ContentType="application/vnd.openxmlformats-officedocument.presentationml.slide+xml"/>
  <Override PartName="/ppt/slideLayouts/slideLayout7.xml" ContentType="application/vnd.openxmlformats-officedocument.presentationml.slideLayout+xml"/>
  <Override PartName="/ppt/notesSlides/notesSlide68.xml" ContentType="application/vnd.openxmlformats-officedocument.presentationml.notesSlide+xml"/>
  <Override PartName="/ppt/notesSlides/notesSlide79.xml" ContentType="application/vnd.openxmlformats-officedocument.presentationml.notesSlide+xml"/>
  <Override PartName="/ppt/notesSlides/notesSlide124.xml" ContentType="application/vnd.openxmlformats-officedocument.presentationml.notesSlide+xml"/>
  <Override PartName="/ppt/slides/slide55.xml" ContentType="application/vnd.openxmlformats-officedocument.presentationml.slide+xml"/>
  <Override PartName="/ppt/theme/theme2.xml" ContentType="application/vnd.openxmlformats-officedocument.theme+xml"/>
  <Override PartName="/ppt/notesSlides/notesSlide57.xml" ContentType="application/vnd.openxmlformats-officedocument.presentationml.notesSlide+xml"/>
  <Override PartName="/ppt/notesSlides/notesSlide102.xml" ContentType="application/vnd.openxmlformats-officedocument.presentationml.notesSlide+xml"/>
  <Override PartName="/ppt/notesSlides/notesSlide113.xml" ContentType="application/vnd.openxmlformats-officedocument.presentationml.notesSlide+xml"/>
  <Override PartName="/ppt/notesSlides/notesSlide160.xml" ContentType="application/vnd.openxmlformats-officedocument.presentationml.notesSlide+xml"/>
  <Override PartName="/ppt/slides/slide33.xml" ContentType="application/vnd.openxmlformats-officedocument.presentationml.slide+xml"/>
  <Override PartName="/ppt/slides/slide44.xml" ContentType="application/vnd.openxmlformats-officedocument.presentationml.slide+xml"/>
  <Override PartName="/ppt/slides/slide80.xml" ContentType="application/vnd.openxmlformats-officedocument.presentationml.slide+xml"/>
  <Override PartName="/ppt/slides/slide91.xml" ContentType="application/vnd.openxmlformats-officedocument.presentationml.slide+xml"/>
  <Override PartName="/ppt/notesSlides/notesSlide46.xml" ContentType="application/vnd.openxmlformats-officedocument.presentationml.notesSlide+xml"/>
  <Override PartName="/ppt/notesSlides/notesSlide93.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71.xml" ContentType="application/vnd.openxmlformats-officedocument.presentationml.notesSlide+xml"/>
  <Override PartName="/ppt/notesSlides/notesSlide82.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notesSlides/notesSlide13.xml" ContentType="application/vnd.openxmlformats-officedocument.presentationml.notesSlide+xml"/>
  <Override PartName="/ppt/notesSlides/notesSlide60.xml" ContentType="application/vnd.openxmlformats-officedocument.presentationml.notesSlide+xml"/>
  <Override PartName="/ppt/slides/slide119.xml" ContentType="application/vnd.openxmlformats-officedocument.presentationml.slide+xml"/>
  <Override PartName="/ppt/slides/slide166.xml" ContentType="application/vnd.openxmlformats-officedocument.presentationml.slide+xml"/>
  <Override PartName="/ppt/slideLayouts/slideLayout10.xml" ContentType="application/vnd.openxmlformats-officedocument.presentationml.slideLayout+xml"/>
  <Override PartName="/ppt/notesSlides/notesSlide129.xml" ContentType="application/vnd.openxmlformats-officedocument.presentationml.notesSlide+xml"/>
  <Override PartName="/ppt/slides/slide108.xml" ContentType="application/vnd.openxmlformats-officedocument.presentationml.slide+xml"/>
  <Override PartName="/ppt/slides/slide155.xml" ContentType="application/vnd.openxmlformats-officedocument.presentationml.slide+xml"/>
  <Override PartName="/ppt/notesSlides/notesSlide118.xml" ContentType="application/vnd.openxmlformats-officedocument.presentationml.notesSlide+xml"/>
  <Override PartName="/ppt/notesSlides/notesSlide165.xml" ContentType="application/vnd.openxmlformats-officedocument.presentationml.notesSlide+xml"/>
  <Override PartName="/ppt/slides/slide49.xml" ContentType="application/vnd.openxmlformats-officedocument.presentationml.slide+xml"/>
  <Override PartName="/ppt/slides/slide96.xml" ContentType="application/vnd.openxmlformats-officedocument.presentationml.slide+xml"/>
  <Override PartName="/ppt/slides/slide144.xml" ContentType="application/vnd.openxmlformats-officedocument.presentationml.slide+xml"/>
  <Override PartName="/ppt/notesSlides/notesSlide4.xml" ContentType="application/vnd.openxmlformats-officedocument.presentationml.notesSlide+xml"/>
  <Override PartName="/ppt/notesSlides/notesSlide107.xml" ContentType="application/vnd.openxmlformats-officedocument.presentationml.notesSlide+xml"/>
  <Override PartName="/ppt/notesSlides/notesSlide154.xml" ContentType="application/vnd.openxmlformats-officedocument.presentationml.notesSlide+xml"/>
  <Override PartName="/ppt/slides/slide38.xml" ContentType="application/vnd.openxmlformats-officedocument.presentationml.slide+xml"/>
  <Override PartName="/ppt/slides/slide85.xml" ContentType="application/vnd.openxmlformats-officedocument.presentationml.slide+xml"/>
  <Override PartName="/ppt/slides/slide122.xml" ContentType="application/vnd.openxmlformats-officedocument.presentationml.slide+xml"/>
  <Override PartName="/ppt/slides/slide133.xml" ContentType="application/vnd.openxmlformats-officedocument.presentationml.slide+xml"/>
  <Override PartName="/ppt/notesSlides/notesSlide87.xml" ContentType="application/vnd.openxmlformats-officedocument.presentationml.notesSlide+xml"/>
  <Override PartName="/ppt/notesSlides/notesSlide98.xml" ContentType="application/vnd.openxmlformats-officedocument.presentationml.notesSlide+xml"/>
  <Override PartName="/ppt/notesSlides/notesSlide132.xml" ContentType="application/vnd.openxmlformats-officedocument.presentationml.notesSlide+xml"/>
  <Override PartName="/ppt/notesSlides/notesSlide143.xml" ContentType="application/vnd.openxmlformats-officedocument.presentationml.notesSlide+xml"/>
  <Override PartName="/ppt/slides/slide27.xml" ContentType="application/vnd.openxmlformats-officedocument.presentationml.slide+xml"/>
  <Override PartName="/ppt/slides/slide74.xml" ContentType="application/vnd.openxmlformats-officedocument.presentationml.slide+xml"/>
  <Override PartName="/ppt/slides/slide111.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76.xml" ContentType="application/vnd.openxmlformats-officedocument.presentationml.notesSlide+xml"/>
  <Override PartName="/ppt/notesSlides/notesSlide121.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100.xml" ContentType="application/vnd.openxmlformats-officedocument.presentationml.slide+xml"/>
  <Override PartName="/ppt/notesSlides/notesSlide18.xml" ContentType="application/vnd.openxmlformats-officedocument.presentationml.notesSlide+xml"/>
  <Override PartName="/ppt/notesSlides/notesSlide65.xml" ContentType="application/vnd.openxmlformats-officedocument.presentationml.notesSlide+xml"/>
  <Override PartName="/ppt/notesSlides/notesSlide110.xml" ContentType="application/vnd.openxmlformats-officedocument.presentationml.notesSlide+xml"/>
  <Override PartName="/ppt/slides/slide41.xml" ContentType="application/vnd.openxmlformats-officedocument.presentationml.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notesSlides/notesSlide90.xml" ContentType="application/vnd.openxmlformats-officedocument.presentationml.notesSlide+xml"/>
  <Override PartName="/ppt/slides/slide30.xml" ContentType="application/vnd.openxmlformats-officedocument.presentationml.slide+xml"/>
  <Override PartName="/ppt/slides/slide149.xml" ContentType="application/vnd.openxmlformats-officedocument.presentationml.slide+xml"/>
  <Override PartName="/ppt/notesSlides/notesSlide32.xml" ContentType="application/vnd.openxmlformats-officedocument.presentationml.notesSlide+xml"/>
  <Override PartName="/ppt/slides/slide138.xml" ContentType="application/vnd.openxmlformats-officedocument.presentationml.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148.xml" ContentType="application/vnd.openxmlformats-officedocument.presentationml.notesSlide+xml"/>
  <Override PartName="/ppt/notesSlides/notesSlide159.xml" ContentType="application/vnd.openxmlformats-officedocument.presentationml.notesSlide+xml"/>
  <Override PartName="/ppt/slides/slide79.xml" ContentType="application/vnd.openxmlformats-officedocument.presentationml.slide+xml"/>
  <Override PartName="/ppt/slides/slide127.xml" ContentType="application/vnd.openxmlformats-officedocument.presentationml.slide+xml"/>
  <Override PartName="/ppt/notesSlides/notesSlide10.xml" ContentType="application/vnd.openxmlformats-officedocument.presentationml.notesSlide+xml"/>
  <Override PartName="/ppt/notesSlides/notesSlide137.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s/slide116.xml" ContentType="application/vnd.openxmlformats-officedocument.presentationml.slide+xml"/>
  <Override PartName="/ppt/slides/slide163.xml" ContentType="application/vnd.openxmlformats-officedocument.presentationml.slide+xml"/>
  <Override PartName="/ppt/slideLayouts/slideLayout9.xml" ContentType="application/vnd.openxmlformats-officedocument.presentationml.slideLayout+xml"/>
  <Override PartName="/ppt/notesSlides/notesSlide126.xml" ContentType="application/vnd.openxmlformats-officedocument.presentationml.notesSlide+xml"/>
  <Override PartName="/ppt/slides/slide57.xml" ContentType="application/vnd.openxmlformats-officedocument.presentationml.slide+xml"/>
  <Override PartName="/ppt/slides/slide105.xml" ContentType="application/vnd.openxmlformats-officedocument.presentationml.slide+xml"/>
  <Override PartName="/ppt/slides/slide141.xml" ContentType="application/vnd.openxmlformats-officedocument.presentationml.slide+xml"/>
  <Override PartName="/ppt/slides/slide152.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notesSlides/notesSlide104.xml" ContentType="application/vnd.openxmlformats-officedocument.presentationml.notesSlide+xml"/>
  <Override PartName="/ppt/notesSlides/notesSlide115.xml" ContentType="application/vnd.openxmlformats-officedocument.presentationml.notesSlide+xml"/>
  <Override PartName="/ppt/notesSlides/notesSlide151.xml" ContentType="application/vnd.openxmlformats-officedocument.presentationml.notesSlide+xml"/>
  <Override PartName="/ppt/notesSlides/notesSlide162.xml" ContentType="application/vnd.openxmlformats-officedocument.presentationml.notesSlide+xml"/>
  <Override PartName="/ppt/slides/slide46.xml" ContentType="application/vnd.openxmlformats-officedocument.presentationml.slide+xml"/>
  <Override PartName="/ppt/slides/slide93.xml" ContentType="application/vnd.openxmlformats-officedocument.presentationml.slide+xml"/>
  <Override PartName="/ppt/slides/slide130.xml" ContentType="application/vnd.openxmlformats-officedocument.presentationml.slide+xml"/>
  <Override PartName="/ppt/notesSlides/notesSlide48.xml" ContentType="application/vnd.openxmlformats-officedocument.presentationml.notesSlide+xml"/>
  <Override PartName="/ppt/notesSlides/notesSlide95.xml" ContentType="application/vnd.openxmlformats-officedocument.presentationml.notesSlide+xml"/>
  <Override PartName="/ppt/notesSlides/notesSlide140.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notesSlides/notesSlide37.xml" ContentType="application/vnd.openxmlformats-officedocument.presentationml.notesSlide+xml"/>
  <Override PartName="/ppt/notesSlides/notesSlide84.xml" ContentType="application/vnd.openxmlformats-officedocument.presentationml.notesSlide+xml"/>
  <Override PartName="/ppt/slides/slide13.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62.xml" ContentType="application/vnd.openxmlformats-officedocument.presentationml.notesSlide+xml"/>
  <Override PartName="/ppt/notesSlides/notesSlide73.xml" ContentType="application/vnd.openxmlformats-officedocument.presentationml.notesSlide+xml"/>
  <Override PartName="/ppt/slides/slide168.xml" ContentType="application/vnd.openxmlformats-officedocument.presentationml.slide+xml"/>
  <Override PartName="/ppt/notesSlides/notesSlide51.xml" ContentType="application/vnd.openxmlformats-officedocument.presentationml.notesSlide+xml"/>
  <Override PartName="/ppt/slides/slide139.xml" ContentType="application/vnd.openxmlformats-officedocument.presentationml.slide+xml"/>
  <Override PartName="/ppt/slides/slide157.xml" ContentType="application/vnd.openxmlformats-officedocument.presentationml.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notesSlides/notesSlide149.xml" ContentType="application/vnd.openxmlformats-officedocument.presentationml.notesSlide+xml"/>
  <Override PartName="/ppt/notesSlides/notesSlide167.xml" ContentType="application/vnd.openxmlformats-officedocument.presentationml.notesSlide+xml"/>
  <Override PartName="/ppt/slides/slide98.xml" ContentType="application/vnd.openxmlformats-officedocument.presentationml.slide+xml"/>
  <Override PartName="/ppt/slides/slide117.xml" ContentType="application/vnd.openxmlformats-officedocument.presentationml.slide+xml"/>
  <Override PartName="/ppt/slides/slide128.xml" ContentType="application/vnd.openxmlformats-officedocument.presentationml.slide+xml"/>
  <Override PartName="/ppt/slides/slide146.xml" ContentType="application/vnd.openxmlformats-officedocument.presentationml.slide+xml"/>
  <Override PartName="/ppt/slides/slide164.xml" ContentType="application/vnd.openxmlformats-officedocument.presentationml.slide+xml"/>
  <Override PartName="/ppt/notesSlides/notesSlide6.xml" ContentType="application/vnd.openxmlformats-officedocument.presentationml.notesSlide+xml"/>
  <Override PartName="/ppt/notesSlides/notesSlide109.xml" ContentType="application/vnd.openxmlformats-officedocument.presentationml.notesSlide+xml"/>
  <Override PartName="/ppt/notesSlides/notesSlide127.xml" ContentType="application/vnd.openxmlformats-officedocument.presentationml.notesSlide+xml"/>
  <Override PartName="/ppt/notesSlides/notesSlide138.xml" ContentType="application/vnd.openxmlformats-officedocument.presentationml.notesSlide+xml"/>
  <Override PartName="/ppt/notesSlides/notesSlide156.xml" ContentType="application/vnd.openxmlformats-officedocument.presentationml.notesSlide+xml"/>
  <Override PartName="/ppt/slides/slide8.xml" ContentType="application/vnd.openxmlformats-officedocument.presentationml.slide+xml"/>
  <Override PartName="/ppt/slides/slide69.xml" ContentType="application/vnd.openxmlformats-officedocument.presentationml.slide+xml"/>
  <Override PartName="/ppt/slides/slide87.xml" ContentType="application/vnd.openxmlformats-officedocument.presentationml.slide+xml"/>
  <Override PartName="/ppt/slides/slide106.xml" ContentType="application/vnd.openxmlformats-officedocument.presentationml.slide+xml"/>
  <Override PartName="/ppt/slides/slide124.xml" ContentType="application/vnd.openxmlformats-officedocument.presentationml.slide+xml"/>
  <Override PartName="/ppt/slides/slide135.xml" ContentType="application/vnd.openxmlformats-officedocument.presentationml.slide+xml"/>
  <Override PartName="/ppt/slides/slide153.xml" ContentType="application/vnd.openxmlformats-officedocument.presentationml.slide+xml"/>
  <Override PartName="/ppt/notesSlides/notesSlide89.xml" ContentType="application/vnd.openxmlformats-officedocument.presentationml.notesSlide+xml"/>
  <Override PartName="/ppt/notesSlides/notesSlide116.xml" ContentType="application/vnd.openxmlformats-officedocument.presentationml.notesSlide+xml"/>
  <Override PartName="/ppt/notesSlides/notesSlide145.xml" ContentType="application/vnd.openxmlformats-officedocument.presentationml.notesSlide+xml"/>
  <Override PartName="/ppt/notesSlides/notesSlide163.xml" ContentType="application/vnd.openxmlformats-officedocument.presentationml.notesSlide+xml"/>
  <Override PartName="/ppt/slides/slide29.xml" ContentType="application/vnd.openxmlformats-officedocument.presentationml.slide+xml"/>
  <Override PartName="/ppt/slides/slide76.xml" ContentType="application/vnd.openxmlformats-officedocument.presentationml.slide+xml"/>
  <Override PartName="/ppt/slides/slide113.xml" ContentType="application/vnd.openxmlformats-officedocument.presentationml.slide+xml"/>
  <Override PartName="/ppt/slides/slide160.xml" ContentType="application/vnd.openxmlformats-officedocument.presentationml.slide+xml"/>
  <Override PartName="/ppt/notesSlides/notesSlide78.xml" ContentType="application/vnd.openxmlformats-officedocument.presentationml.notesSlide+xml"/>
  <Override PartName="/ppt/notesSlides/notesSlide123.xml" ContentType="application/vnd.openxmlformats-officedocument.presentationml.notesSlide+xml"/>
  <Override PartName="/ppt/notesSlides/notesSlide134.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102.xml" ContentType="application/vnd.openxmlformats-officedocument.presentationml.slide+xml"/>
  <Override PartName="/ppt/slideLayouts/slideLayout6.xml" ContentType="application/vnd.openxmlformats-officedocument.presentationml.slideLayout+xml"/>
  <Override PartName="/ppt/notesSlides/notesSlide67.xml" ContentType="application/vnd.openxmlformats-officedocument.presentationml.notesSlide+xml"/>
  <Override PartName="/ppt/notesSlides/notesSlide112.xml" ContentType="application/vnd.openxmlformats-officedocument.presentationml.notesSlide+xml"/>
  <Override PartName="/ppt/slides/slide43.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notesSlides/notesSlide45.xml" ContentType="application/vnd.openxmlformats-officedocument.presentationml.notesSlide+xml"/>
  <Override PartName="/ppt/notesSlides/notesSlide56.xml" ContentType="application/vnd.openxmlformats-officedocument.presentationml.notesSlide+xml"/>
  <Override PartName="/ppt/notesSlides/notesSlide92.xml" ContentType="application/vnd.openxmlformats-officedocument.presentationml.notesSlide+xml"/>
  <Override PartName="/ppt/notesSlides/notesSlide101.xml" ContentType="application/vnd.openxmlformats-officedocument.presentationml.notesSlide+xml"/>
  <Override PartName="/ppt/slides/slide32.xml" ContentType="application/vnd.openxmlformats-officedocument.presentationml.slide+xml"/>
  <Override PartName="/ppt/notesSlides/notesSlide34.xml" ContentType="application/vnd.openxmlformats-officedocument.presentationml.notesSlide+xml"/>
  <Override PartName="/ppt/notesSlides/notesSlide81.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notesSlides/notesSlide23.xml" ContentType="application/vnd.openxmlformats-officedocument.presentationml.notesSlide+xml"/>
  <Override PartName="/ppt/notesSlides/notesSlide70.xml" ContentType="application/vnd.openxmlformats-officedocument.presentationml.notesSlide+xml"/>
  <Override PartName="/ppt/slides/slide129.xml" ContentType="application/vnd.openxmlformats-officedocument.presentationml.slide+xml"/>
  <Override PartName="/ppt/notesSlides/notesSlide12.xml" ContentType="application/vnd.openxmlformats-officedocument.presentationml.notesSlide+xml"/>
  <Override PartName="/ppt/notesSlides/notesSlide139.xml" ContentType="application/vnd.openxmlformats-officedocument.presentationml.notesSlide+xml"/>
  <Override PartName="/ppt/slides/slide118.xml" ContentType="application/vnd.openxmlformats-officedocument.presentationml.slide+xml"/>
  <Override PartName="/ppt/slides/slide165.xml" ContentType="application/vnd.openxmlformats-officedocument.presentationml.slide+xml"/>
  <Override PartName="/ppt/notesSlides/notesSlide128.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107.xml" ContentType="application/vnd.openxmlformats-officedocument.presentationml.slide+xml"/>
  <Override PartName="/ppt/slides/slide143.xml" ContentType="application/vnd.openxmlformats-officedocument.presentationml.slide+xml"/>
  <Override PartName="/ppt/slides/slide154.xml" ContentType="application/vnd.openxmlformats-officedocument.presentationml.slide+xml"/>
  <Override PartName="/ppt/viewProps.xml" ContentType="application/vnd.openxmlformats-officedocument.presentationml.viewProps+xml"/>
  <Override PartName="/ppt/notesSlides/notesSlide106.xml" ContentType="application/vnd.openxmlformats-officedocument.presentationml.notesSlide+xml"/>
  <Override PartName="/ppt/notesSlides/notesSlide117.xml" ContentType="application/vnd.openxmlformats-officedocument.presentationml.notesSlide+xml"/>
  <Override PartName="/ppt/notesSlides/notesSlide153.xml" ContentType="application/vnd.openxmlformats-officedocument.presentationml.notesSlide+xml"/>
  <Override PartName="/ppt/notesSlides/notesSlide164.xml" ContentType="application/vnd.openxmlformats-officedocument.presentationml.notesSlide+xml"/>
  <Override PartName="/ppt/slides/slide48.xml" ContentType="application/vnd.openxmlformats-officedocument.presentationml.slide+xml"/>
  <Override PartName="/ppt/slides/slide95.xml" ContentType="application/vnd.openxmlformats-officedocument.presentationml.slide+xml"/>
  <Override PartName="/ppt/slides/slide132.xml" ContentType="application/vnd.openxmlformats-officedocument.presentationml.slide+xml"/>
  <Override PartName="/ppt/notesSlides/notesSlide3.xml" ContentType="application/vnd.openxmlformats-officedocument.presentationml.notesSlide+xml"/>
  <Override PartName="/ppt/notesSlides/notesSlide97.xml" ContentType="application/vnd.openxmlformats-officedocument.presentationml.notesSlide+xml"/>
  <Override PartName="/ppt/notesSlides/notesSlide142.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121.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notesSlides/notesSlide86.xml" ContentType="application/vnd.openxmlformats-officedocument.presentationml.notesSlide+xml"/>
  <Override PartName="/ppt/notesSlides/notesSlide131.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62.xml" ContentType="application/vnd.openxmlformats-officedocument.presentationml.slide+xml"/>
  <Override PartName="/ppt/slides/slide11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64.xml" ContentType="application/vnd.openxmlformats-officedocument.presentationml.notesSlide+xml"/>
  <Override PartName="/ppt/notesSlides/notesSlide75.xml" ContentType="application/vnd.openxmlformats-officedocument.presentationml.notesSlide+xml"/>
  <Override PartName="/ppt/notesSlides/notesSlide120.xml" ContentType="application/vnd.openxmlformats-officedocument.presentationml.notesSlide+xml"/>
  <Override PartName="/ppt/slides/slide51.xml" ContentType="application/vnd.openxmlformats-officedocument.presentationml.slide+xml"/>
  <Override PartName="/ppt/notesSlides/notesSlide53.xml" ContentType="application/vnd.openxmlformats-officedocument.presentationml.notesSlide+xml"/>
  <Override PartName="/ppt/slides/slide40.xml" ContentType="application/vnd.openxmlformats-officedocument.presentationml.slide+xml"/>
  <Override PartName="/ppt/slides/slide159.xml" ContentType="application/vnd.openxmlformats-officedocument.presentationml.slide+xml"/>
  <Override PartName="/ppt/notesSlides/notesSlide42.xml" ContentType="application/vnd.openxmlformats-officedocument.presentationml.notesSlide+xml"/>
  <Override PartName="/ppt/notesSlides/notesSlide169.xml" ContentType="application/vnd.openxmlformats-officedocument.presentationml.notesSlide+xml"/>
  <Override PartName="/ppt/slides/slide148.xml" ContentType="application/vnd.openxmlformats-officedocument.presentationml.slide+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158.xml" ContentType="application/vnd.openxmlformats-officedocument.presentationml.notesSlide+xml"/>
  <Override PartName="/ppt/slides/slide89.xml" ContentType="application/vnd.openxmlformats-officedocument.presentationml.slide+xml"/>
  <Override PartName="/ppt/slides/slide126.xml" ContentType="application/vnd.openxmlformats-officedocument.presentationml.slide+xml"/>
  <Override PartName="/ppt/slides/slide137.xml" ContentType="application/vnd.openxmlformats-officedocument.presentationml.slide+xml"/>
  <Override PartName="/ppt/notesSlides/notesSlide147.xml" ContentType="application/vnd.openxmlformats-officedocument.presentationml.notesSlide+xml"/>
  <Override PartName="/ppt/slides/slide78.xml" ContentType="application/vnd.openxmlformats-officedocument.presentationml.slide+xml"/>
  <Override PartName="/ppt/slides/slide115.xml" ContentType="application/vnd.openxmlformats-officedocument.presentationml.slide+xml"/>
  <Override PartName="/ppt/slides/slide162.xml" ContentType="application/vnd.openxmlformats-officedocument.presentationml.slide+xml"/>
  <Override PartName="/ppt/handoutMasters/handoutMaster1.xml" ContentType="application/vnd.openxmlformats-officedocument.presentationml.handoutMaster+xml"/>
  <Override PartName="/ppt/notesSlides/notesSlide125.xml" ContentType="application/vnd.openxmlformats-officedocument.presentationml.notesSlide+xml"/>
  <Override PartName="/ppt/notesSlides/notesSlide136.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104.xml" ContentType="application/vnd.openxmlformats-officedocument.presentationml.slide+xml"/>
  <Override PartName="/ppt/slides/slide151.xml" ContentType="application/vnd.openxmlformats-officedocument.presentationml.slide+xml"/>
  <Override PartName="/ppt/slideLayouts/slideLayout8.xml" ContentType="application/vnd.openxmlformats-officedocument.presentationml.slideLayout+xml"/>
  <Override PartName="/ppt/notesSlides/notesSlide69.xml" ContentType="application/vnd.openxmlformats-officedocument.presentationml.notesSlide+xml"/>
  <Override PartName="/ppt/notesSlides/notesSlide114.xml" ContentType="application/vnd.openxmlformats-officedocument.presentationml.notesSlide+xml"/>
  <Override PartName="/ppt/notesSlides/notesSlide161.xml" ContentType="application/vnd.openxmlformats-officedocument.presentationml.notesSlide+xml"/>
  <Override PartName="/ppt/slideMasters/slideMaster1.xml" ContentType="application/vnd.openxmlformats-officedocument.presentationml.slideMaster+xml"/>
  <Override PartName="/ppt/slides/slide45.xml" ContentType="application/vnd.openxmlformats-officedocument.presentationml.slide+xml"/>
  <Override PartName="/ppt/slides/slide92.xml" ContentType="application/vnd.openxmlformats-officedocument.presentationml.slide+xml"/>
  <Override PartName="/ppt/slides/slide140.xml" ContentType="application/vnd.openxmlformats-officedocument.presentationml.slide+xml"/>
  <Override PartName="/ppt/theme/theme3.xml" ContentType="application/vnd.openxmlformats-officedocument.them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notesSlides/notesSlide94.xml" ContentType="application/vnd.openxmlformats-officedocument.presentationml.notesSlide+xml"/>
  <Override PartName="/ppt/notesSlides/notesSlide103.xml" ContentType="application/vnd.openxmlformats-officedocument.presentationml.notesSlide+xml"/>
  <Override PartName="/ppt/notesSlides/notesSlide150.xml" ContentType="application/vnd.openxmlformats-officedocument.presentationml.notesSlide+xml"/>
  <Override PartName="/ppt/slides/slide34.xml" ContentType="application/vnd.openxmlformats-officedocument.presentationml.slide+xml"/>
  <Override PartName="/ppt/slides/slide81.xml" ContentType="application/vnd.openxmlformats-officedocument.presentationml.slide+xml"/>
  <Override PartName="/ppt/notesSlides/notesSlide36.xml" ContentType="application/vnd.openxmlformats-officedocument.presentationml.notesSlide+xml"/>
  <Override PartName="/ppt/notesSlides/notesSlide83.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72.xml" ContentType="application/vnd.openxmlformats-officedocument.presentationml.notesSlide+xml"/>
  <Override PartName="/ppt/slides/slide12.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61.xml" ContentType="application/vnd.openxmlformats-officedocument.presentationml.notesSlide+xml"/>
  <Override PartName="/ppt/slides/slide167.xml" ContentType="application/vnd.openxmlformats-officedocument.presentationml.slide+xml"/>
  <Override PartName="/ppt/notesSlides/notesSlide50.xml" ContentType="application/vnd.openxmlformats-officedocument.presentationml.notesSlide+xml"/>
  <Override PartName="/ppt/slides/slide109.xml" ContentType="application/vnd.openxmlformats-officedocument.presentationml.slide+xml"/>
  <Override PartName="/ppt/slides/slide145.xml" ContentType="application/vnd.openxmlformats-officedocument.presentationml.slide+xml"/>
  <Override PartName="/ppt/slides/slide156.xml" ContentType="application/vnd.openxmlformats-officedocument.presentationml.slide+xml"/>
  <Override PartName="/ppt/notesSlides/notesSlide108.xml" ContentType="application/vnd.openxmlformats-officedocument.presentationml.notesSlide+xml"/>
  <Override PartName="/ppt/notesSlides/notesSlide119.xml" ContentType="application/vnd.openxmlformats-officedocument.presentationml.notesSlide+xml"/>
  <Override PartName="/ppt/notesSlides/notesSlide155.xml" ContentType="application/vnd.openxmlformats-officedocument.presentationml.notesSlide+xml"/>
  <Override PartName="/ppt/notesSlides/notesSlide166.xml" ContentType="application/vnd.openxmlformats-officedocument.presentationml.notesSlide+xml"/>
  <Override PartName="/ppt/slides/slide97.xml" ContentType="application/vnd.openxmlformats-officedocument.presentationml.slide+xml"/>
  <Override PartName="/ppt/slides/slide134.xml" ContentType="application/vnd.openxmlformats-officedocument.presentationml.slide+xml"/>
  <Override PartName="/ppt/notesSlides/notesSlide5.xml" ContentType="application/vnd.openxmlformats-officedocument.presentationml.notesSlide+xml"/>
  <Override PartName="/ppt/notesSlides/notesSlide99.xml" ContentType="application/vnd.openxmlformats-officedocument.presentationml.notesSlide+xml"/>
  <Override PartName="/ppt/notesSlides/notesSlide144.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123.xml" ContentType="application/vnd.openxmlformats-officedocument.presentationml.slide+xml"/>
  <Override PartName="/ppt/notesSlides/notesSlide88.xml" ContentType="application/vnd.openxmlformats-officedocument.presentationml.notesSlide+xml"/>
  <Override PartName="/ppt/notesSlides/notesSlide13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64.xml" ContentType="application/vnd.openxmlformats-officedocument.presentationml.slide+xml"/>
  <Override PartName="/ppt/slides/slide101.xml" ContentType="application/vnd.openxmlformats-officedocument.presentationml.slide+xml"/>
  <Override PartName="/ppt/slides/slide112.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66.xml" ContentType="application/vnd.openxmlformats-officedocument.presentationml.notesSlide+xml"/>
  <Override PartName="/ppt/notesSlides/notesSlide77.xml" ContentType="application/vnd.openxmlformats-officedocument.presentationml.notesSlide+xml"/>
  <Override PartName="/ppt/notesSlides/notesSlide122.xml" ContentType="application/vnd.openxmlformats-officedocument.presentationml.notesSlide+xml"/>
  <Override PartName="/ppt/slides/slide53.xml" ContentType="application/vnd.openxmlformats-officedocument.presentationml.slide+xml"/>
  <Default Extension="jpeg" ContentType="image/jpeg"/>
  <Override PartName="/ppt/notesSlides/notesSlide55.xml" ContentType="application/vnd.openxmlformats-officedocument.presentationml.notesSlide+xml"/>
  <Override PartName="/ppt/notesSlides/notesSlide100.xml" ContentType="application/vnd.openxmlformats-officedocument.presentationml.notesSlide+xml"/>
  <Override PartName="/ppt/notesSlides/notesSlide111.xml" ContentType="application/vnd.openxmlformats-officedocument.presentationml.notesSlide+xml"/>
  <Override PartName="/ppt/slides/slide31.xml" ContentType="application/vnd.openxmlformats-officedocument.presentationml.slide+xml"/>
  <Override PartName="/ppt/slides/slide42.xml" ContentType="application/vnd.openxmlformats-officedocument.presentationml.slide+xml"/>
  <Override PartName="/ppt/notesSlides/notesSlide44.xml" ContentType="application/vnd.openxmlformats-officedocument.presentationml.notesSlide+xml"/>
  <Override PartName="/ppt/notesSlides/notesSlide91.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8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71"/>
  </p:notesMasterIdLst>
  <p:handoutMasterIdLst>
    <p:handoutMasterId r:id="rId172"/>
  </p:handoutMasterIdLst>
  <p:sldIdLst>
    <p:sldId id="256" r:id="rId2"/>
    <p:sldId id="257" r:id="rId3"/>
    <p:sldId id="258" r:id="rId4"/>
    <p:sldId id="259" r:id="rId5"/>
    <p:sldId id="260" r:id="rId6"/>
    <p:sldId id="292" r:id="rId7"/>
    <p:sldId id="333" r:id="rId8"/>
    <p:sldId id="418" r:id="rId9"/>
    <p:sldId id="419" r:id="rId10"/>
    <p:sldId id="420" r:id="rId11"/>
    <p:sldId id="421" r:id="rId12"/>
    <p:sldId id="422" r:id="rId13"/>
    <p:sldId id="423" r:id="rId14"/>
    <p:sldId id="424" r:id="rId15"/>
    <p:sldId id="425" r:id="rId16"/>
    <p:sldId id="426" r:id="rId17"/>
    <p:sldId id="427" r:id="rId18"/>
    <p:sldId id="428" r:id="rId19"/>
    <p:sldId id="429" r:id="rId20"/>
    <p:sldId id="430" r:id="rId21"/>
    <p:sldId id="431" r:id="rId22"/>
    <p:sldId id="432" r:id="rId23"/>
    <p:sldId id="434" r:id="rId24"/>
    <p:sldId id="435" r:id="rId25"/>
    <p:sldId id="436" r:id="rId26"/>
    <p:sldId id="437" r:id="rId27"/>
    <p:sldId id="438" r:id="rId28"/>
    <p:sldId id="433" r:id="rId29"/>
    <p:sldId id="314" r:id="rId30"/>
    <p:sldId id="315" r:id="rId31"/>
    <p:sldId id="316" r:id="rId32"/>
    <p:sldId id="317" r:id="rId33"/>
    <p:sldId id="318" r:id="rId34"/>
    <p:sldId id="439" r:id="rId35"/>
    <p:sldId id="440" r:id="rId36"/>
    <p:sldId id="441" r:id="rId37"/>
    <p:sldId id="324" r:id="rId38"/>
    <p:sldId id="443" r:id="rId39"/>
    <p:sldId id="444" r:id="rId40"/>
    <p:sldId id="442" r:id="rId41"/>
    <p:sldId id="330" r:id="rId42"/>
    <p:sldId id="331" r:id="rId43"/>
    <p:sldId id="332" r:id="rId44"/>
    <p:sldId id="450" r:id="rId45"/>
    <p:sldId id="269" r:id="rId46"/>
    <p:sldId id="270" r:id="rId47"/>
    <p:sldId id="293" r:id="rId48"/>
    <p:sldId id="410" r:id="rId49"/>
    <p:sldId id="452" r:id="rId50"/>
    <p:sldId id="451" r:id="rId51"/>
    <p:sldId id="453" r:id="rId52"/>
    <p:sldId id="454" r:id="rId53"/>
    <p:sldId id="455" r:id="rId54"/>
    <p:sldId id="456" r:id="rId55"/>
    <p:sldId id="457" r:id="rId56"/>
    <p:sldId id="458" r:id="rId57"/>
    <p:sldId id="459" r:id="rId58"/>
    <p:sldId id="460" r:id="rId59"/>
    <p:sldId id="461" r:id="rId60"/>
    <p:sldId id="462" r:id="rId61"/>
    <p:sldId id="310" r:id="rId62"/>
    <p:sldId id="463" r:id="rId63"/>
    <p:sldId id="311" r:id="rId64"/>
    <p:sldId id="464" r:id="rId65"/>
    <p:sldId id="312" r:id="rId66"/>
    <p:sldId id="319" r:id="rId67"/>
    <p:sldId id="465" r:id="rId68"/>
    <p:sldId id="466" r:id="rId69"/>
    <p:sldId id="467" r:id="rId70"/>
    <p:sldId id="468" r:id="rId71"/>
    <p:sldId id="469" r:id="rId72"/>
    <p:sldId id="470" r:id="rId73"/>
    <p:sldId id="471" r:id="rId74"/>
    <p:sldId id="472" r:id="rId75"/>
    <p:sldId id="473" r:id="rId76"/>
    <p:sldId id="279" r:id="rId77"/>
    <p:sldId id="280" r:id="rId78"/>
    <p:sldId id="352" r:id="rId79"/>
    <p:sldId id="474" r:id="rId80"/>
    <p:sldId id="337" r:id="rId81"/>
    <p:sldId id="340" r:id="rId82"/>
    <p:sldId id="475" r:id="rId83"/>
    <p:sldId id="343" r:id="rId84"/>
    <p:sldId id="344" r:id="rId85"/>
    <p:sldId id="412" r:id="rId86"/>
    <p:sldId id="413" r:id="rId87"/>
    <p:sldId id="414" r:id="rId88"/>
    <p:sldId id="415" r:id="rId89"/>
    <p:sldId id="359" r:id="rId90"/>
    <p:sldId id="476" r:id="rId91"/>
    <p:sldId id="477" r:id="rId92"/>
    <p:sldId id="345" r:id="rId93"/>
    <p:sldId id="478" r:id="rId94"/>
    <p:sldId id="479" r:id="rId95"/>
    <p:sldId id="480" r:id="rId96"/>
    <p:sldId id="481" r:id="rId97"/>
    <p:sldId id="346" r:id="rId98"/>
    <p:sldId id="347" r:id="rId99"/>
    <p:sldId id="285" r:id="rId100"/>
    <p:sldId id="286" r:id="rId101"/>
    <p:sldId id="372" r:id="rId102"/>
    <p:sldId id="483" r:id="rId103"/>
    <p:sldId id="482" r:id="rId104"/>
    <p:sldId id="374" r:id="rId105"/>
    <p:sldId id="375" r:id="rId106"/>
    <p:sldId id="376" r:id="rId107"/>
    <p:sldId id="379" r:id="rId108"/>
    <p:sldId id="380" r:id="rId109"/>
    <p:sldId id="377" r:id="rId110"/>
    <p:sldId id="378" r:id="rId111"/>
    <p:sldId id="484" r:id="rId112"/>
    <p:sldId id="381" r:id="rId113"/>
    <p:sldId id="485" r:id="rId114"/>
    <p:sldId id="382" r:id="rId115"/>
    <p:sldId id="383" r:id="rId116"/>
    <p:sldId id="384" r:id="rId117"/>
    <p:sldId id="385" r:id="rId118"/>
    <p:sldId id="386" r:id="rId119"/>
    <p:sldId id="387" r:id="rId120"/>
    <p:sldId id="486" r:id="rId121"/>
    <p:sldId id="488" r:id="rId122"/>
    <p:sldId id="490" r:id="rId123"/>
    <p:sldId id="489" r:id="rId124"/>
    <p:sldId id="491" r:id="rId125"/>
    <p:sldId id="492" r:id="rId126"/>
    <p:sldId id="493" r:id="rId127"/>
    <p:sldId id="294" r:id="rId128"/>
    <p:sldId id="295" r:id="rId129"/>
    <p:sldId id="494" r:id="rId130"/>
    <p:sldId id="495" r:id="rId131"/>
    <p:sldId id="496" r:id="rId132"/>
    <p:sldId id="497" r:id="rId133"/>
    <p:sldId id="498" r:id="rId134"/>
    <p:sldId id="499" r:id="rId135"/>
    <p:sldId id="392" r:id="rId136"/>
    <p:sldId id="501" r:id="rId137"/>
    <p:sldId id="500" r:id="rId138"/>
    <p:sldId id="393" r:id="rId139"/>
    <p:sldId id="394" r:id="rId140"/>
    <p:sldId id="395" r:id="rId141"/>
    <p:sldId id="396" r:id="rId142"/>
    <p:sldId id="397" r:id="rId143"/>
    <p:sldId id="398" r:id="rId144"/>
    <p:sldId id="399" r:id="rId145"/>
    <p:sldId id="401" r:id="rId146"/>
    <p:sldId id="402" r:id="rId147"/>
    <p:sldId id="299" r:id="rId148"/>
    <p:sldId id="300" r:id="rId149"/>
    <p:sldId id="403" r:id="rId150"/>
    <p:sldId id="404" r:id="rId151"/>
    <p:sldId id="405" r:id="rId152"/>
    <p:sldId id="406" r:id="rId153"/>
    <p:sldId id="369" r:id="rId154"/>
    <p:sldId id="503" r:id="rId155"/>
    <p:sldId id="504" r:id="rId156"/>
    <p:sldId id="505" r:id="rId157"/>
    <p:sldId id="305" r:id="rId158"/>
    <p:sldId id="306" r:id="rId159"/>
    <p:sldId id="416" r:id="rId160"/>
    <p:sldId id="506" r:id="rId161"/>
    <p:sldId id="507" r:id="rId162"/>
    <p:sldId id="508" r:id="rId163"/>
    <p:sldId id="509" r:id="rId164"/>
    <p:sldId id="510" r:id="rId165"/>
    <p:sldId id="511" r:id="rId166"/>
    <p:sldId id="512" r:id="rId167"/>
    <p:sldId id="513" r:id="rId168"/>
    <p:sldId id="514" r:id="rId169"/>
    <p:sldId id="515" r:id="rId170"/>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clrMru>
    <a:srgbClr val="FF66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750" autoAdjust="0"/>
    <p:restoredTop sz="75797" autoAdjust="0"/>
  </p:normalViewPr>
  <p:slideViewPr>
    <p:cSldViewPr>
      <p:cViewPr>
        <p:scale>
          <a:sx n="62" d="100"/>
          <a:sy n="62" d="100"/>
        </p:scale>
        <p:origin x="-1716" y="-510"/>
      </p:cViewPr>
      <p:guideLst>
        <p:guide orient="horz" pos="2160"/>
        <p:guide pos="2880"/>
      </p:guideLst>
    </p:cSldViewPr>
  </p:slideViewPr>
  <p:outlineViewPr>
    <p:cViewPr>
      <p:scale>
        <a:sx n="33" d="100"/>
        <a:sy n="33" d="100"/>
      </p:scale>
      <p:origin x="96" y="162024"/>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slide" Target="slides/slide158.xml"/><Relationship Id="rId175" Type="http://schemas.openxmlformats.org/officeDocument/2006/relationships/theme" Target="theme/theme1.xml"/><Relationship Id="rId170" Type="http://schemas.openxmlformats.org/officeDocument/2006/relationships/slide" Target="slides/slide169.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slide" Target="slides/slide159.xml"/><Relationship Id="rId165" Type="http://schemas.openxmlformats.org/officeDocument/2006/relationships/slide" Target="slides/slide16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71" Type="http://schemas.openxmlformats.org/officeDocument/2006/relationships/notesMaster" Target="notesMasters/notesMaster1.xml"/><Relationship Id="rId176"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slide" Target="slides/slide155.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72" Type="http://schemas.openxmlformats.org/officeDocument/2006/relationships/handoutMaster" Target="handoutMasters/handout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1/25/2015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1/25/2015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noProof="0" dirty="0" smtClean="0"/>
              <a:t>Trainer welcomes students to class.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this Unit comprises seven Elements, as listed on the slide explaining:</a:t>
            </a:r>
          </a:p>
          <a:p>
            <a:r>
              <a:rPr lang="en-AU" sz="1200" kern="1200" baseline="0" dirty="0" smtClean="0">
                <a:solidFill>
                  <a:schemeClr val="tx1"/>
                </a:solidFill>
                <a:ea typeface="+mn-ea"/>
                <a:cs typeface="+mn-cs"/>
              </a:rPr>
              <a:t>• Each Element comprises a number of Performance Criteria which will be identified throughout the class and explained in detail</a:t>
            </a:r>
          </a:p>
          <a:p>
            <a:r>
              <a:rPr lang="en-AU" sz="1200" kern="1200" baseline="0" dirty="0" smtClean="0">
                <a:solidFill>
                  <a:schemeClr val="tx1"/>
                </a:solidFill>
                <a:ea typeface="+mn-ea"/>
                <a:cs typeface="+mn-cs"/>
              </a:rPr>
              <a:t>• Trainees can obtain more detail from their Trainee Manual</a:t>
            </a:r>
          </a:p>
          <a:p>
            <a:r>
              <a:rPr lang="en-AU" sz="1200" kern="1200" baseline="0" dirty="0" smtClean="0">
                <a:solidFill>
                  <a:schemeClr val="tx1"/>
                </a:solidFill>
                <a:ea typeface="+mn-ea"/>
                <a:cs typeface="+mn-cs"/>
              </a:rPr>
              <a:t>• 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the purpose of marketing and sales?</a:t>
            </a:r>
          </a:p>
          <a:p>
            <a:pPr>
              <a:buFont typeface="Arial" pitchFamily="34" charset="0"/>
              <a:buChar char="•"/>
            </a:pPr>
            <a:r>
              <a:rPr lang="en-AU" sz="1200" kern="1200" baseline="0" dirty="0" smtClean="0">
                <a:solidFill>
                  <a:schemeClr val="tx1"/>
                </a:solidFill>
                <a:ea typeface="+mn-ea"/>
                <a:cs typeface="+mn-cs"/>
              </a:rPr>
              <a:t>Why are they important?</a:t>
            </a:r>
          </a:p>
          <a:p>
            <a:pPr>
              <a:buFont typeface="Arial" pitchFamily="34" charset="0"/>
              <a:buChar char="•"/>
            </a:pPr>
            <a:r>
              <a:rPr lang="en-AU" sz="1200" kern="1200" baseline="0" dirty="0" smtClean="0">
                <a:solidFill>
                  <a:schemeClr val="tx1"/>
                </a:solidFill>
                <a:ea typeface="+mn-ea"/>
                <a:cs typeface="+mn-cs"/>
              </a:rPr>
              <a:t>What activities are associated with marketing and sales?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concepts.</a:t>
            </a:r>
          </a:p>
          <a:p>
            <a:pPr>
              <a:buFont typeface="Arial" pitchFamily="34" charset="0"/>
              <a:buChar char="•"/>
            </a:pPr>
            <a:r>
              <a:rPr lang="en-AU" baseline="0" dirty="0" smtClean="0"/>
              <a:t>Which comes first and why?</a:t>
            </a:r>
          </a:p>
          <a:p>
            <a:pPr>
              <a:buFont typeface="Arial" pitchFamily="34" charset="0"/>
              <a:buChar char="•"/>
            </a:pPr>
            <a:r>
              <a:rPr lang="en-AU" baseline="0" dirty="0" smtClean="0"/>
              <a:t>What are examples of successful marketing campaigns?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What are examples of successful sales campaigns?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concepts.</a:t>
            </a:r>
          </a:p>
          <a:p>
            <a:pPr>
              <a:buFont typeface="Arial" pitchFamily="34" charset="0"/>
              <a:buChar char="•"/>
            </a:pPr>
            <a:r>
              <a:rPr lang="en-AU" baseline="0" dirty="0" smtClean="0"/>
              <a:t>How can you undertake these points?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key components.</a:t>
            </a:r>
          </a:p>
          <a:p>
            <a:pPr>
              <a:buFont typeface="Arial" pitchFamily="34" charset="0"/>
              <a:buChar char="•"/>
            </a:pPr>
            <a:r>
              <a:rPr lang="en-AU" baseline="0" dirty="0" smtClean="0"/>
              <a:t>What is the importance of each of these concepts?</a:t>
            </a:r>
          </a:p>
          <a:p>
            <a:pPr>
              <a:buFont typeface="Arial" pitchFamily="34" charset="0"/>
              <a:buChar char="•"/>
            </a:pPr>
            <a:r>
              <a:rPr lang="en-AU" baseline="0" dirty="0" smtClean="0"/>
              <a:t>Think about personal travel experiences and how these concepts were important.</a:t>
            </a:r>
          </a:p>
          <a:p>
            <a:pPr>
              <a:buFont typeface="Arial" pitchFamily="34" charset="0"/>
              <a:buNone/>
            </a:pPr>
            <a:endParaRPr lang="en-AU"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How do these points influence sales and marketing initiatives?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What is the importance of these relationships?</a:t>
            </a:r>
          </a:p>
          <a:p>
            <a:pPr>
              <a:buFont typeface="Arial" pitchFamily="34" charset="0"/>
              <a:buChar char="•"/>
            </a:pPr>
            <a:r>
              <a:rPr lang="en-AU" baseline="0" dirty="0" smtClean="0"/>
              <a:t>Provide examples</a:t>
            </a:r>
          </a:p>
          <a:p>
            <a:pPr>
              <a:buFont typeface="Arial" pitchFamily="34" charset="0"/>
              <a:buChar char="•"/>
            </a:pPr>
            <a:r>
              <a:rPr lang="en-AU" baseline="0" dirty="0" smtClean="0"/>
              <a:t>How do these relationships influence sales and marketing initiatives?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baseline="0" dirty="0" smtClean="0"/>
              <a:t>Discuss these characteristics and how they impact on sales and marketing.</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 Case Study</a:t>
            </a:r>
          </a:p>
          <a:p>
            <a:endParaRPr lang="en-AU" dirty="0" smtClean="0"/>
          </a:p>
          <a:p>
            <a:pPr>
              <a:buFont typeface="Arial" pitchFamily="34" charset="0"/>
              <a:buChar char="•"/>
            </a:pPr>
            <a:r>
              <a:rPr lang="en-AU" baseline="0" dirty="0" smtClean="0"/>
              <a:t>Discuss the role of each of these ‘P’s’ in marketing.</a:t>
            </a:r>
          </a:p>
          <a:p>
            <a:pPr>
              <a:buFont typeface="Arial" pitchFamily="34" charset="0"/>
              <a:buChar char="•"/>
            </a:pPr>
            <a:r>
              <a:rPr lang="en-AU" baseline="0" dirty="0" smtClean="0"/>
              <a:t>Trainer to provide case studies enabling participants to provide examples of these ‘P’s’ in undertaking marketing strategies.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None/>
            </a:pPr>
            <a:r>
              <a:rPr lang="en-AU" baseline="0" dirty="0" smtClean="0"/>
              <a:t>What are the key activities involved in:</a:t>
            </a:r>
          </a:p>
          <a:p>
            <a:pPr>
              <a:buFont typeface="Arial" pitchFamily="34" charset="0"/>
              <a:buChar char="•"/>
            </a:pPr>
            <a:r>
              <a:rPr lang="en-AU" baseline="0" dirty="0" smtClean="0"/>
              <a:t> marketing planning?</a:t>
            </a:r>
          </a:p>
          <a:p>
            <a:pPr>
              <a:buFont typeface="Arial" pitchFamily="34" charset="0"/>
              <a:buChar char="•"/>
            </a:pPr>
            <a:r>
              <a:rPr lang="en-AU" baseline="0" dirty="0" smtClean="0"/>
              <a:t>Marketing management?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AU" sz="1200" kern="1200" dirty="0" smtClean="0">
                <a:solidFill>
                  <a:schemeClr val="tx1"/>
                </a:solidFill>
                <a:ea typeface="+mn-ea"/>
                <a:cs typeface="+mn-cs"/>
              </a:rPr>
              <a:t>The strategic marketing plan develops the broad marketing objectives based on a current situation analysis and identification of current opportunities. </a:t>
            </a:r>
            <a:endParaRPr lang="en-US" sz="1200" kern="1200" dirty="0" smtClean="0">
              <a:solidFill>
                <a:schemeClr val="tx1"/>
              </a:solidFill>
              <a:ea typeface="+mn-ea"/>
              <a:cs typeface="+mn-cs"/>
            </a:endParaRPr>
          </a:p>
          <a:p>
            <a:pPr>
              <a:buFont typeface="Arial" pitchFamily="34" charset="0"/>
              <a:buChar char="•"/>
            </a:pPr>
            <a:r>
              <a:rPr lang="en-AU" sz="1200" kern="1200" dirty="0" smtClean="0">
                <a:solidFill>
                  <a:schemeClr val="tx1"/>
                </a:solidFill>
                <a:ea typeface="+mn-ea"/>
                <a:cs typeface="+mn-cs"/>
              </a:rPr>
              <a:t>The tactical marketing plan outlines specific marketing tactics or operations. The marketing plan is the central document for directing and coordinating the marketing effort.</a:t>
            </a:r>
            <a:endParaRPr lang="en-US"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US" sz="1200" kern="1200" dirty="0" smtClean="0">
                <a:solidFill>
                  <a:schemeClr val="tx1"/>
                </a:solidFill>
                <a:ea typeface="+mn-ea"/>
                <a:cs typeface="+mn-cs"/>
              </a:rPr>
              <a:t>Discuss the question in the slide.</a:t>
            </a:r>
          </a:p>
          <a:p>
            <a:pPr>
              <a:buFont typeface="Arial" pitchFamily="34" charset="0"/>
              <a:buChar char="•"/>
            </a:pPr>
            <a:r>
              <a:rPr lang="en-US" sz="1200" kern="1200" dirty="0" smtClean="0">
                <a:solidFill>
                  <a:schemeClr val="tx1"/>
                </a:solidFill>
                <a:ea typeface="+mn-ea"/>
                <a:cs typeface="+mn-cs"/>
              </a:rPr>
              <a:t>Refer</a:t>
            </a:r>
            <a:r>
              <a:rPr lang="en-US" sz="1200" kern="1200" baseline="0" dirty="0" smtClean="0">
                <a:solidFill>
                  <a:schemeClr val="tx1"/>
                </a:solidFill>
                <a:ea typeface="+mn-ea"/>
                <a:cs typeface="+mn-cs"/>
              </a:rPr>
              <a:t> to TM page 21.</a:t>
            </a:r>
            <a:endParaRPr lang="en-US"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US" sz="1200" kern="1200" dirty="0" smtClean="0">
                <a:solidFill>
                  <a:schemeClr val="tx1"/>
                </a:solidFill>
                <a:ea typeface="+mn-ea"/>
                <a:cs typeface="+mn-cs"/>
              </a:rPr>
              <a:t>What</a:t>
            </a:r>
            <a:r>
              <a:rPr lang="en-US" sz="1200" kern="1200" baseline="0" dirty="0" smtClean="0">
                <a:solidFill>
                  <a:schemeClr val="tx1"/>
                </a:solidFill>
                <a:ea typeface="+mn-ea"/>
                <a:cs typeface="+mn-cs"/>
              </a:rPr>
              <a:t> information would you like to gather?</a:t>
            </a:r>
          </a:p>
          <a:p>
            <a:pPr>
              <a:buFont typeface="Arial" pitchFamily="34" charset="0"/>
              <a:buChar char="•"/>
            </a:pPr>
            <a:r>
              <a:rPr lang="en-US" sz="1200" kern="1200" baseline="0" dirty="0" smtClean="0">
                <a:solidFill>
                  <a:schemeClr val="tx1"/>
                </a:solidFill>
                <a:ea typeface="+mn-ea"/>
                <a:cs typeface="+mn-cs"/>
              </a:rPr>
              <a:t>How can we gather the information?</a:t>
            </a:r>
            <a:endParaRPr lang="en-US"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US" sz="1200" kern="1200" dirty="0" smtClean="0">
                <a:solidFill>
                  <a:schemeClr val="tx1"/>
                </a:solidFill>
                <a:ea typeface="+mn-ea"/>
                <a:cs typeface="+mn-cs"/>
              </a:rPr>
              <a:t>What</a:t>
            </a:r>
            <a:r>
              <a:rPr lang="en-US" sz="1200" kern="1200" baseline="0" dirty="0" smtClean="0">
                <a:solidFill>
                  <a:schemeClr val="tx1"/>
                </a:solidFill>
                <a:ea typeface="+mn-ea"/>
                <a:cs typeface="+mn-cs"/>
              </a:rPr>
              <a:t> are examples of each?</a:t>
            </a:r>
          </a:p>
          <a:p>
            <a:pPr>
              <a:buFont typeface="Arial" pitchFamily="34" charset="0"/>
              <a:buChar char="•"/>
            </a:pPr>
            <a:r>
              <a:rPr lang="en-US" sz="1200" kern="1200" baseline="0" dirty="0" smtClean="0">
                <a:solidFill>
                  <a:schemeClr val="tx1"/>
                </a:solidFill>
                <a:ea typeface="+mn-ea"/>
                <a:cs typeface="+mn-cs"/>
              </a:rPr>
              <a:t>What are the benefits of each?</a:t>
            </a:r>
          </a:p>
          <a:p>
            <a:pPr>
              <a:buFont typeface="Arial" pitchFamily="34" charset="0"/>
              <a:buChar char="•"/>
            </a:pPr>
            <a:r>
              <a:rPr lang="en-US" sz="1200" kern="1200" baseline="0" dirty="0" smtClean="0">
                <a:solidFill>
                  <a:schemeClr val="tx1"/>
                </a:solidFill>
                <a:ea typeface="+mn-ea"/>
                <a:cs typeface="+mn-cs"/>
              </a:rPr>
              <a:t>How can you gather this data?</a:t>
            </a:r>
            <a:endParaRPr lang="en-US"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a:t>
            </a:r>
          </a:p>
          <a:p>
            <a:endParaRPr lang="en-AU" dirty="0" smtClean="0"/>
          </a:p>
          <a:p>
            <a:pPr>
              <a:buFont typeface="Arial" pitchFamily="34" charset="0"/>
              <a:buChar char="•"/>
            </a:pPr>
            <a:r>
              <a:rPr lang="en-US" sz="1200" kern="1200" dirty="0" smtClean="0">
                <a:solidFill>
                  <a:schemeClr val="tx1"/>
                </a:solidFill>
                <a:ea typeface="+mn-ea"/>
                <a:cs typeface="+mn-cs"/>
              </a:rPr>
              <a:t>What</a:t>
            </a:r>
            <a:r>
              <a:rPr lang="en-US" sz="1200" kern="1200" baseline="0" dirty="0" smtClean="0">
                <a:solidFill>
                  <a:schemeClr val="tx1"/>
                </a:solidFill>
                <a:ea typeface="+mn-ea"/>
                <a:cs typeface="+mn-cs"/>
              </a:rPr>
              <a:t> are examples of each?</a:t>
            </a:r>
          </a:p>
          <a:p>
            <a:pPr>
              <a:buFont typeface="Arial" pitchFamily="34" charset="0"/>
              <a:buChar char="•"/>
            </a:pPr>
            <a:r>
              <a:rPr lang="en-US" sz="1200" kern="1200" baseline="0" dirty="0" smtClean="0">
                <a:solidFill>
                  <a:schemeClr val="tx1"/>
                </a:solidFill>
                <a:ea typeface="+mn-ea"/>
                <a:cs typeface="+mn-cs"/>
              </a:rPr>
              <a:t>What are the benefits of each?</a:t>
            </a:r>
          </a:p>
          <a:p>
            <a:pPr>
              <a:buFont typeface="Arial" pitchFamily="34" charset="0"/>
              <a:buChar char="•"/>
            </a:pPr>
            <a:r>
              <a:rPr lang="en-US" sz="1200" kern="1200" baseline="0" dirty="0" smtClean="0">
                <a:solidFill>
                  <a:schemeClr val="tx1"/>
                </a:solidFill>
                <a:ea typeface="+mn-ea"/>
                <a:cs typeface="+mn-cs"/>
              </a:rPr>
              <a:t>How can you gather this data?</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baseline="0" dirty="0" smtClean="0"/>
              <a:t>COMPLETE ACTIVITY 1</a:t>
            </a:r>
            <a:endParaRPr lang="en-AU" dirty="0" smtClean="0"/>
          </a:p>
          <a:p>
            <a:pPr>
              <a:buFont typeface="Arial" pitchFamily="34" charset="0"/>
              <a:buChar char="•"/>
            </a:pPr>
            <a:endParaRPr lang="en-US"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 questions in the slide </a:t>
            </a:r>
            <a:endParaRPr lang="en-US"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Discuss</a:t>
            </a:r>
            <a:r>
              <a:rPr lang="en-US" sz="1200" kern="1200" baseline="0" dirty="0" smtClean="0">
                <a:solidFill>
                  <a:schemeClr val="tx1"/>
                </a:solidFill>
                <a:ea typeface="+mn-ea"/>
                <a:cs typeface="+mn-cs"/>
              </a:rPr>
              <a:t> types of information to collect and how to collect it.</a:t>
            </a:r>
            <a:endParaRPr lang="en-US"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Discuss</a:t>
            </a:r>
            <a:r>
              <a:rPr lang="en-US" sz="1200" kern="1200" baseline="0" dirty="0" smtClean="0">
                <a:solidFill>
                  <a:schemeClr val="tx1"/>
                </a:solidFill>
                <a:ea typeface="+mn-ea"/>
                <a:cs typeface="+mn-cs"/>
              </a:rPr>
              <a:t> types of information to collect and how to collect it.</a:t>
            </a:r>
            <a:endParaRPr lang="en-US"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Discuss</a:t>
            </a:r>
            <a:r>
              <a:rPr lang="en-US" sz="1200" kern="1200" baseline="0" dirty="0" smtClean="0">
                <a:solidFill>
                  <a:schemeClr val="tx1"/>
                </a:solidFill>
                <a:ea typeface="+mn-ea"/>
                <a:cs typeface="+mn-cs"/>
              </a:rPr>
              <a:t> types of information to collect and how to collect it.</a:t>
            </a:r>
            <a:endParaRPr lang="en-US"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Discuss</a:t>
            </a:r>
            <a:r>
              <a:rPr lang="en-US" sz="1200" kern="1200" baseline="0" dirty="0" smtClean="0">
                <a:solidFill>
                  <a:schemeClr val="tx1"/>
                </a:solidFill>
                <a:ea typeface="+mn-ea"/>
                <a:cs typeface="+mn-cs"/>
              </a:rPr>
              <a:t> types of information to collect and how to collect it.</a:t>
            </a:r>
            <a:endParaRPr lang="en-US" sz="1200" dirty="0" smtClean="0">
              <a:latin typeface="Helvetica" pitchFamily="34" charset="0"/>
            </a:endParaRPr>
          </a:p>
          <a:p>
            <a:pPr>
              <a:spcBef>
                <a:spcPts val="600"/>
              </a:spcBef>
              <a:spcAft>
                <a:spcPts val="1200"/>
              </a:spcAft>
              <a:buNone/>
            </a:pPr>
            <a:r>
              <a:rPr lang="en-AU" sz="1200" dirty="0" smtClean="0">
                <a:solidFill>
                  <a:srgbClr val="FF6600"/>
                </a:solidFill>
              </a:rPr>
              <a:t>COMPLETE ACTIVITY 2</a:t>
            </a:r>
          </a:p>
          <a:p>
            <a:pPr lvl="0">
              <a:buFont typeface="Arial" pitchFamily="34" charset="0"/>
              <a:buChar char="•"/>
            </a:pPr>
            <a:endParaRPr lang="en-US"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 questions in the slide </a:t>
            </a:r>
            <a:endParaRPr lang="en-US"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Class Activity – Questions</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What information can be gathered from each of these sources?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US" sz="1200" kern="1200" dirty="0" smtClean="0">
              <a:solidFill>
                <a:schemeClr val="tx1"/>
              </a:solidFill>
              <a:ea typeface="+mn-ea"/>
              <a:cs typeface="+mn-cs"/>
            </a:endParaRPr>
          </a:p>
          <a:p>
            <a:pPr lvl="0">
              <a:buFont typeface="Arial" pitchFamily="34" charset="0"/>
              <a:buChar char="•"/>
            </a:pPr>
            <a:r>
              <a:rPr lang="en-US" sz="1200" kern="1200" dirty="0" smtClean="0">
                <a:solidFill>
                  <a:schemeClr val="tx1"/>
                </a:solidFill>
                <a:ea typeface="+mn-ea"/>
                <a:cs typeface="+mn-cs"/>
              </a:rPr>
              <a:t>What information can be gathered from each of these sources?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dirty="0" smtClean="0"/>
          </a:p>
          <a:p>
            <a:pPr>
              <a:buFont typeface="Arial" pitchFamily="34" charset="0"/>
              <a:buChar char="•"/>
            </a:pPr>
            <a:r>
              <a:rPr lang="en-AU" dirty="0" smtClean="0"/>
              <a:t>Identify different</a:t>
            </a:r>
            <a:r>
              <a:rPr lang="en-AU" baseline="0" dirty="0" smtClean="0"/>
              <a:t> types of </a:t>
            </a:r>
            <a:r>
              <a:rPr lang="en-AU" sz="1200" b="0" dirty="0" smtClean="0">
                <a:latin typeface="Helvetica" pitchFamily="34" charset="0"/>
              </a:rPr>
              <a:t>industry statistics and trends.</a:t>
            </a:r>
            <a:endParaRPr lang="en-AU" b="0"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AU" dirty="0" smtClean="0"/>
          </a:p>
          <a:p>
            <a:pPr>
              <a:buFont typeface="Arial" pitchFamily="34" charset="0"/>
              <a:buChar char="•"/>
            </a:pPr>
            <a:r>
              <a:rPr lang="en-AU" dirty="0" smtClean="0"/>
              <a:t>Identify different</a:t>
            </a:r>
            <a:r>
              <a:rPr lang="en-AU" baseline="0" dirty="0" smtClean="0"/>
              <a:t> types of </a:t>
            </a:r>
            <a:r>
              <a:rPr lang="en-AU" sz="1200" b="0" dirty="0" smtClean="0">
                <a:latin typeface="Helvetica" pitchFamily="34" charset="0"/>
              </a:rPr>
              <a:t>industry statistics and trends.</a:t>
            </a:r>
            <a:endParaRPr lang="en-AU" b="0"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 questions in the slide </a:t>
            </a:r>
          </a:p>
          <a:p>
            <a:pPr lvl="0">
              <a:buFont typeface="Arial" pitchFamily="34" charset="0"/>
              <a:buChar char="•"/>
            </a:pPr>
            <a:r>
              <a:rPr lang="en-AU" sz="1200" kern="1200" dirty="0" smtClean="0">
                <a:solidFill>
                  <a:schemeClr val="tx1"/>
                </a:solidFill>
                <a:ea typeface="+mn-ea"/>
                <a:cs typeface="+mn-cs"/>
              </a:rPr>
              <a:t>Think of</a:t>
            </a:r>
            <a:r>
              <a:rPr lang="en-AU" sz="1200" kern="1200" baseline="0" dirty="0" smtClean="0">
                <a:solidFill>
                  <a:schemeClr val="tx1"/>
                </a:solidFill>
                <a:ea typeface="+mn-ea"/>
                <a:cs typeface="+mn-cs"/>
              </a:rPr>
              <a:t> yourself as a customer and what your needs would be.</a:t>
            </a:r>
            <a:endParaRPr lang="en-US"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 questions in the slide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 these points.</a:t>
            </a:r>
          </a:p>
          <a:p>
            <a:pPr lvl="0">
              <a:buFont typeface="Arial" pitchFamily="34" charset="0"/>
              <a:buChar char="•"/>
            </a:pPr>
            <a:r>
              <a:rPr lang="en-AU" sz="1200" kern="1200" dirty="0" smtClean="0">
                <a:solidFill>
                  <a:schemeClr val="tx1"/>
                </a:solidFill>
                <a:ea typeface="+mn-ea"/>
                <a:cs typeface="+mn-cs"/>
              </a:rPr>
              <a:t>Provide examples of requirements under each point.</a:t>
            </a:r>
          </a:p>
          <a:p>
            <a:pPr lvl="0">
              <a:buFont typeface="Arial" pitchFamily="34" charset="0"/>
              <a:buChar char="•"/>
            </a:pPr>
            <a:r>
              <a:rPr lang="en-AU" sz="1200" kern="1200" dirty="0" smtClean="0">
                <a:solidFill>
                  <a:schemeClr val="tx1"/>
                </a:solidFill>
                <a:ea typeface="+mn-ea"/>
                <a:cs typeface="+mn-cs"/>
              </a:rPr>
              <a:t>Identify how you can source information for each point.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 these points.</a:t>
            </a:r>
          </a:p>
          <a:p>
            <a:pPr lvl="0">
              <a:buFont typeface="Arial" pitchFamily="34" charset="0"/>
              <a:buChar char="•"/>
            </a:pPr>
            <a:r>
              <a:rPr lang="en-AU" sz="1200" kern="1200" dirty="0" smtClean="0">
                <a:solidFill>
                  <a:schemeClr val="tx1"/>
                </a:solidFill>
                <a:ea typeface="+mn-ea"/>
                <a:cs typeface="+mn-cs"/>
              </a:rPr>
              <a:t>Provide examples of requirements under each point.</a:t>
            </a:r>
          </a:p>
          <a:p>
            <a:pPr lvl="0">
              <a:buFont typeface="Arial" pitchFamily="34" charset="0"/>
              <a:buChar char="•"/>
            </a:pPr>
            <a:r>
              <a:rPr lang="en-AU" sz="1200" kern="1200" dirty="0" smtClean="0">
                <a:solidFill>
                  <a:schemeClr val="tx1"/>
                </a:solidFill>
                <a:ea typeface="+mn-ea"/>
                <a:cs typeface="+mn-cs"/>
              </a:rPr>
              <a:t>Identify how you can source information for each point.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dirty="0" smtClean="0">
                <a:solidFill>
                  <a:srgbClr val="FF6600"/>
                </a:solidFill>
              </a:rPr>
              <a:t>COMPLETE ACTIVITY 4</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dirty="0" smtClean="0"/>
              <a:t>What needs to be considered</a:t>
            </a:r>
            <a:r>
              <a:rPr lang="en-AU" baseline="0" dirty="0" smtClean="0"/>
              <a:t> for each of these points?</a:t>
            </a:r>
          </a:p>
          <a:p>
            <a:pPr>
              <a:buFont typeface="Arial" pitchFamily="34" charset="0"/>
              <a:buChar char="•"/>
            </a:pPr>
            <a:r>
              <a:rPr lang="en-AU" b="0" baseline="0" dirty="0" smtClean="0"/>
              <a:t>How can this research be conducted?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 Consider your own country’s resources?</a:t>
            </a:r>
          </a:p>
          <a:p>
            <a:endParaRPr lang="en-AU" dirty="0" smtClean="0"/>
          </a:p>
          <a:p>
            <a:pPr>
              <a:buFont typeface="Arial" pitchFamily="34" charset="0"/>
              <a:buNone/>
            </a:pPr>
            <a:r>
              <a:rPr lang="en-AU" dirty="0" smtClean="0"/>
              <a:t>EVALUATE YOUR OWN COUNTRY’s CAPABILITY and RESOURCES</a:t>
            </a:r>
          </a:p>
          <a:p>
            <a:pPr>
              <a:buFont typeface="Arial" pitchFamily="34" charset="0"/>
              <a:buChar char="•"/>
            </a:pPr>
            <a:r>
              <a:rPr lang="en-AU" dirty="0" smtClean="0"/>
              <a:t>What needs to be considered</a:t>
            </a:r>
            <a:r>
              <a:rPr lang="en-AU" baseline="0" dirty="0" smtClean="0"/>
              <a:t> for each of these points?</a:t>
            </a:r>
          </a:p>
          <a:p>
            <a:pPr>
              <a:buFont typeface="Arial" pitchFamily="34" charset="0"/>
              <a:buChar char="•"/>
            </a:pPr>
            <a:r>
              <a:rPr lang="en-AU" b="0" baseline="0" dirty="0" smtClean="0"/>
              <a:t>How can this research be conducted?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 – Consider your own country’s resources?</a:t>
            </a:r>
          </a:p>
          <a:p>
            <a:endParaRPr lang="en-AU" dirty="0" smtClean="0"/>
          </a:p>
          <a:p>
            <a:pPr>
              <a:buFont typeface="Arial" pitchFamily="34" charset="0"/>
              <a:buNone/>
            </a:pPr>
            <a:r>
              <a:rPr lang="en-AU" dirty="0" smtClean="0"/>
              <a:t>EVALUATE YOUR OWN COUNTRY’s CAPABILITY and RESOURCES</a:t>
            </a:r>
          </a:p>
          <a:p>
            <a:pPr>
              <a:buFont typeface="Arial" pitchFamily="34" charset="0"/>
              <a:buChar char="•"/>
            </a:pPr>
            <a:r>
              <a:rPr lang="en-AU" dirty="0" smtClean="0"/>
              <a:t>What needs to be considered</a:t>
            </a:r>
            <a:r>
              <a:rPr lang="en-AU" baseline="0" dirty="0" smtClean="0"/>
              <a:t> for each of these points?</a:t>
            </a:r>
          </a:p>
          <a:p>
            <a:pPr>
              <a:buFont typeface="Arial" pitchFamily="34" charset="0"/>
              <a:buChar char="•"/>
            </a:pPr>
            <a:r>
              <a:rPr lang="en-AU" b="0" baseline="0" dirty="0" smtClean="0"/>
              <a:t>How can this research be conducted?</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solidFill>
                  <a:srgbClr val="FF6600"/>
                </a:solidFill>
              </a:rPr>
              <a:t>COMPLETE ACTIVITY 5</a:t>
            </a:r>
          </a:p>
          <a:p>
            <a:pPr>
              <a:buFont typeface="Arial" pitchFamily="34" charset="0"/>
              <a:buChar char="•"/>
            </a:pPr>
            <a:endParaRPr lang="en-AU" b="0"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dirty="0" smtClean="0"/>
              <a:t>What are types of resources under</a:t>
            </a:r>
            <a:r>
              <a:rPr lang="en-AU" baseline="0" dirty="0" smtClean="0"/>
              <a:t> each point?</a:t>
            </a:r>
          </a:p>
          <a:p>
            <a:pPr>
              <a:buFont typeface="Arial" pitchFamily="34" charset="0"/>
              <a:buChar char="•"/>
            </a:pPr>
            <a:endParaRPr lang="en-AU" b="0"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b="1" dirty="0" smtClean="0"/>
          </a:p>
          <a:p>
            <a:pPr>
              <a:buFont typeface="Arial" pitchFamily="34" charset="0"/>
              <a:buChar char="•"/>
            </a:pPr>
            <a:r>
              <a:rPr lang="en-AU" b="0" dirty="0" smtClean="0"/>
              <a:t>Discuss the resources under each point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b="1" dirty="0" smtClean="0"/>
          </a:p>
          <a:p>
            <a:pPr>
              <a:buFont typeface="Arial" pitchFamily="34" charset="0"/>
              <a:buChar char="•"/>
            </a:pPr>
            <a:r>
              <a:rPr lang="en-AU" b="0" dirty="0" smtClean="0"/>
              <a:t>Discuss the resources under each point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solidFill>
                  <a:srgbClr val="FF6600"/>
                </a:solidFill>
                <a:latin typeface="Helvetica" pitchFamily="34" charset="0"/>
              </a:rPr>
              <a:t>COMPLETE ACTIVITY 6</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b="1" dirty="0" smtClean="0"/>
          </a:p>
          <a:p>
            <a:pPr>
              <a:buFont typeface="Arial" pitchFamily="34" charset="0"/>
              <a:buChar char="•"/>
            </a:pPr>
            <a:r>
              <a:rPr lang="en-AU" b="0" dirty="0" smtClean="0"/>
              <a:t>What</a:t>
            </a:r>
            <a:r>
              <a:rPr lang="en-AU" b="0" baseline="0" dirty="0" smtClean="0"/>
              <a:t> is the importance of a market report?</a:t>
            </a:r>
          </a:p>
          <a:p>
            <a:pPr>
              <a:buFont typeface="Arial" pitchFamily="34" charset="0"/>
              <a:buChar char="•"/>
            </a:pPr>
            <a:r>
              <a:rPr lang="en-AU" b="0" baseline="0" dirty="0" smtClean="0"/>
              <a:t>What should be included in a market report?</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p>
          <a:p>
            <a:endParaRPr lang="en-AU" dirty="0" smtClean="0"/>
          </a:p>
          <a:p>
            <a:pPr>
              <a:buFont typeface="Arial" pitchFamily="34" charset="0"/>
              <a:buChar char="•"/>
            </a:pPr>
            <a:r>
              <a:rPr lang="en-AU" dirty="0" smtClean="0"/>
              <a:t>What information would be included in</a:t>
            </a:r>
            <a:r>
              <a:rPr lang="en-AU" baseline="0" dirty="0" smtClean="0"/>
              <a:t> each of these sections?</a:t>
            </a:r>
          </a:p>
          <a:p>
            <a:pPr>
              <a:buFont typeface="Arial" pitchFamily="34" charset="0"/>
              <a:buChar char="•"/>
            </a:pPr>
            <a:r>
              <a:rPr lang="en-AU" baseline="0" dirty="0" smtClean="0"/>
              <a:t>Trainer to show examples of existing business plans to audience.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solidFill>
                  <a:srgbClr val="FF6600"/>
                </a:solidFill>
                <a:latin typeface="Helvetica" pitchFamily="34" charset="0"/>
              </a:rPr>
              <a:t>COMPLETE ACTIVITY 7</a:t>
            </a:r>
          </a:p>
          <a:p>
            <a:pPr>
              <a:buFont typeface="Arial" pitchFamily="34" charset="0"/>
              <a:buChar char="•"/>
            </a:pPr>
            <a:endParaRPr lang="en-AU" baseline="0"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a:t>
            </a:r>
            <a:r>
              <a:rPr lang="en-AU" sz="1200" kern="1200" baseline="0" dirty="0" smtClean="0">
                <a:solidFill>
                  <a:schemeClr val="tx1"/>
                </a:solidFill>
                <a:ea typeface="+mn-ea"/>
                <a:cs typeface="+mn-cs"/>
              </a:rPr>
              <a:t>questions.</a:t>
            </a: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b="0" dirty="0" smtClean="0"/>
          </a:p>
          <a:p>
            <a:pPr>
              <a:buFont typeface="Arial" pitchFamily="34" charset="0"/>
              <a:buChar char="•"/>
            </a:pPr>
            <a:r>
              <a:rPr lang="en-AU" b="0" dirty="0" smtClean="0"/>
              <a:t>Discuss questions in the slide.</a:t>
            </a:r>
          </a:p>
          <a:p>
            <a:endParaRPr lang="en-AU"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dirty="0" smtClean="0"/>
              <a:t>What is the difference between these environments?</a:t>
            </a:r>
            <a:endParaRPr lang="en-AU"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dirty="0" smtClean="0"/>
              <a:t>Identify different</a:t>
            </a:r>
            <a:r>
              <a:rPr lang="en-AU" baseline="0" dirty="0" smtClean="0"/>
              <a:t> types of information to be collected under each point.</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2400" dirty="0" smtClean="0">
                <a:solidFill>
                  <a:srgbClr val="FF6600"/>
                </a:solidFill>
                <a:latin typeface="Helvetica" pitchFamily="34" charset="0"/>
              </a:rPr>
              <a:t>COMPLETE ACTIVITY 8</a:t>
            </a:r>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dirty="0" smtClean="0"/>
              <a:t>Identify different</a:t>
            </a:r>
            <a:r>
              <a:rPr lang="en-AU" baseline="0" dirty="0" smtClean="0"/>
              <a:t> types of information to be collected under each point.</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2400" dirty="0" smtClean="0">
                <a:solidFill>
                  <a:srgbClr val="FF6600"/>
                </a:solidFill>
                <a:latin typeface="Helvetica" pitchFamily="34" charset="0"/>
              </a:rPr>
              <a:t>COMPLETE ACTIVITIES 9,10,11</a:t>
            </a:r>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dirty="0" smtClean="0"/>
              <a:t>What is the importance of a SWOT Analysis?</a:t>
            </a:r>
          </a:p>
          <a:p>
            <a:pPr>
              <a:buFont typeface="Arial" pitchFamily="34" charset="0"/>
              <a:buChar char="•"/>
            </a:pPr>
            <a:r>
              <a:rPr lang="en-AU" sz="2400" dirty="0" smtClean="0">
                <a:solidFill>
                  <a:srgbClr val="FF6600"/>
                </a:solidFill>
                <a:latin typeface="Helvetica" pitchFamily="34" charset="0"/>
              </a:rPr>
              <a:t>Trainer to show</a:t>
            </a:r>
            <a:r>
              <a:rPr lang="en-AU" sz="2400" baseline="0" dirty="0" smtClean="0">
                <a:solidFill>
                  <a:srgbClr val="FF6600"/>
                </a:solidFill>
                <a:latin typeface="Helvetica" pitchFamily="34" charset="0"/>
              </a:rPr>
              <a:t> examples of a SWOT Analysis</a:t>
            </a:r>
            <a:endParaRPr lang="en-AU" sz="2400" dirty="0" smtClean="0">
              <a:solidFill>
                <a:srgbClr val="FF6600"/>
              </a:solidFill>
              <a:latin typeface="Helvetica" pitchFamily="34" charset="0"/>
            </a:endParaRPr>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None/>
            </a:pPr>
            <a:r>
              <a:rPr lang="en-AU" sz="1200" dirty="0" smtClean="0">
                <a:solidFill>
                  <a:srgbClr val="FF6600"/>
                </a:solidFill>
                <a:latin typeface="Helvetica" pitchFamily="34" charset="0"/>
              </a:rPr>
              <a:t>COMPLETE ACTIVITY 12</a:t>
            </a:r>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sz="1200" dirty="0" smtClean="0">
                <a:solidFill>
                  <a:srgbClr val="FF6600"/>
                </a:solidFill>
                <a:latin typeface="Helvetica" pitchFamily="34" charset="0"/>
              </a:rPr>
              <a:t>Discuss the questions in the slide.</a:t>
            </a:r>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sz="1200" dirty="0" smtClean="0">
                <a:solidFill>
                  <a:srgbClr val="FF6600"/>
                </a:solidFill>
                <a:latin typeface="Helvetica" pitchFamily="34" charset="0"/>
              </a:rPr>
              <a:t>Discuss the questions in the slide.</a:t>
            </a:r>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sz="1200" dirty="0" smtClean="0">
                <a:solidFill>
                  <a:srgbClr val="FF6600"/>
                </a:solidFill>
                <a:latin typeface="Helvetica" pitchFamily="34" charset="0"/>
              </a:rPr>
              <a:t>What are examples of other objectives you may have?</a:t>
            </a:r>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sz="1200" dirty="0" smtClean="0">
                <a:solidFill>
                  <a:srgbClr val="FF6600"/>
                </a:solidFill>
                <a:latin typeface="Helvetica" pitchFamily="34" charset="0"/>
              </a:rPr>
              <a:t>What are examples of other objectives you may have?</a:t>
            </a:r>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sz="1200" dirty="0" smtClean="0">
                <a:solidFill>
                  <a:srgbClr val="FF6600"/>
                </a:solidFill>
                <a:latin typeface="Helvetica" pitchFamily="34" charset="0"/>
              </a:rPr>
              <a:t>How</a:t>
            </a:r>
            <a:r>
              <a:rPr lang="en-AU" sz="1200" baseline="0" dirty="0" smtClean="0">
                <a:solidFill>
                  <a:srgbClr val="FF6600"/>
                </a:solidFill>
                <a:latin typeface="Helvetica" pitchFamily="34" charset="0"/>
              </a:rPr>
              <a:t> do different focuses affect marketing and sales strategies?</a:t>
            </a:r>
            <a:endParaRPr lang="en-AU" sz="1200" dirty="0" smtClean="0">
              <a:solidFill>
                <a:srgbClr val="FF6600"/>
              </a:solidFill>
              <a:latin typeface="Helvetica" pitchFamily="34" charset="0"/>
            </a:endParaRPr>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sz="1200" dirty="0" smtClean="0">
                <a:solidFill>
                  <a:srgbClr val="FF6600"/>
                </a:solidFill>
                <a:latin typeface="Helvetica" pitchFamily="34" charset="0"/>
              </a:rPr>
              <a:t>What other strategies</a:t>
            </a:r>
            <a:r>
              <a:rPr lang="en-AU" sz="1200" baseline="0" dirty="0" smtClean="0">
                <a:solidFill>
                  <a:srgbClr val="FF6600"/>
                </a:solidFill>
                <a:latin typeface="Helvetica" pitchFamily="34" charset="0"/>
              </a:rPr>
              <a:t> may you have?</a:t>
            </a:r>
          </a:p>
          <a:p>
            <a:pPr>
              <a:buFont typeface="Arial" pitchFamily="34" charset="0"/>
              <a:buChar char="•"/>
            </a:pPr>
            <a:r>
              <a:rPr lang="en-AU" sz="1200" baseline="0" dirty="0" smtClean="0">
                <a:solidFill>
                  <a:srgbClr val="FF6600"/>
                </a:solidFill>
                <a:latin typeface="Helvetica" pitchFamily="34" charset="0"/>
              </a:rPr>
              <a:t>How can these strategies be implemented?</a:t>
            </a:r>
            <a:endParaRPr lang="en-AU" sz="1200" dirty="0" smtClean="0">
              <a:solidFill>
                <a:srgbClr val="FF6600"/>
              </a:solidFill>
              <a:latin typeface="Helvetica" pitchFamily="34" charset="0"/>
            </a:endParaRPr>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sz="1200" baseline="0" dirty="0" smtClean="0">
                <a:solidFill>
                  <a:srgbClr val="FF6600"/>
                </a:solidFill>
                <a:latin typeface="Helvetica" pitchFamily="34" charset="0"/>
              </a:rPr>
              <a:t>What are considerations for each of these strategies?</a:t>
            </a:r>
            <a:endParaRPr lang="en-AU" sz="1200" dirty="0" smtClean="0">
              <a:solidFill>
                <a:srgbClr val="FF6600"/>
              </a:solidFill>
              <a:latin typeface="Helvetica" pitchFamily="34" charset="0"/>
            </a:endParaRP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2200" dirty="0" smtClean="0">
                <a:solidFill>
                  <a:srgbClr val="FF6600"/>
                </a:solidFill>
                <a:latin typeface="Helvetica" pitchFamily="34" charset="0"/>
              </a:rPr>
              <a:t>COMPLETE ACTIVITY 13</a:t>
            </a:r>
          </a:p>
          <a:p>
            <a:pPr>
              <a:buFont typeface="Arial" pitchFamily="34" charset="0"/>
              <a:buChar char="•"/>
            </a:pPr>
            <a:endParaRPr lang="en-AU" baseline="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Questions</a:t>
            </a:r>
          </a:p>
          <a:p>
            <a:endParaRPr lang="en-AU" sz="1200" kern="1200" baseline="0" dirty="0" smtClean="0">
              <a:solidFill>
                <a:schemeClr val="tx1"/>
              </a:solidFill>
              <a:ea typeface="+mn-ea"/>
              <a:cs typeface="+mn-cs"/>
            </a:endParaRPr>
          </a:p>
          <a:p>
            <a:pPr>
              <a:buFont typeface="Arial" pitchFamily="34" charset="0"/>
              <a:buChar char="•"/>
            </a:pPr>
            <a:r>
              <a:rPr lang="en-AU" sz="1200" b="0" kern="1200" dirty="0" smtClean="0">
                <a:solidFill>
                  <a:schemeClr val="tx1"/>
                </a:solidFill>
                <a:ea typeface="+mn-ea"/>
                <a:cs typeface="+mn-cs"/>
              </a:rPr>
              <a:t>What</a:t>
            </a:r>
            <a:r>
              <a:rPr lang="en-AU" sz="1200" b="0" kern="1200" baseline="0" dirty="0" smtClean="0">
                <a:solidFill>
                  <a:schemeClr val="tx1"/>
                </a:solidFill>
                <a:ea typeface="+mn-ea"/>
                <a:cs typeface="+mn-cs"/>
              </a:rPr>
              <a:t> other business goals may you have?</a:t>
            </a:r>
          </a:p>
          <a:p>
            <a:pPr>
              <a:buFont typeface="Arial" pitchFamily="34" charset="0"/>
              <a:buChar char="•"/>
            </a:pPr>
            <a:r>
              <a:rPr lang="en-AU" sz="1200" b="0" kern="1200" baseline="0" dirty="0" smtClean="0">
                <a:solidFill>
                  <a:schemeClr val="tx1"/>
                </a:solidFill>
                <a:ea typeface="+mn-ea"/>
                <a:cs typeface="+mn-cs"/>
              </a:rPr>
              <a:t>How can you identify business goals?</a:t>
            </a:r>
          </a:p>
          <a:p>
            <a:pPr>
              <a:buFont typeface="Arial" pitchFamily="34" charset="0"/>
              <a:buChar char="•"/>
            </a:pPr>
            <a:r>
              <a:rPr lang="en-AU" sz="1200" b="0" dirty="0" smtClean="0">
                <a:solidFill>
                  <a:srgbClr val="FF6600"/>
                </a:solidFill>
                <a:latin typeface="Helvetica" pitchFamily="34" charset="0"/>
              </a:rPr>
              <a:t>Why is it important to ensure strategies reflect goals?</a:t>
            </a:r>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Discuss questions in the slide</a:t>
            </a:r>
            <a:endParaRPr lang="en-AU" sz="1200" kern="1200" dirty="0" smtClean="0">
              <a:solidFill>
                <a:schemeClr val="tx1"/>
              </a:solidFill>
              <a:ea typeface="+mn-ea"/>
              <a:cs typeface="+mn-cs"/>
            </a:endParaRPr>
          </a:p>
          <a:p>
            <a:pPr>
              <a:buFont typeface="Arial" pitchFamily="34" charset="0"/>
              <a:buNone/>
            </a:pPr>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other stakeholders could be valuable?</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Why is it important to involve colleagues?</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b="0" kern="1200" baseline="0" dirty="0" smtClean="0">
              <a:solidFill>
                <a:schemeClr val="tx1"/>
              </a:solidFill>
              <a:ea typeface="+mn-ea"/>
              <a:cs typeface="+mn-cs"/>
            </a:endParaRPr>
          </a:p>
          <a:p>
            <a:pPr marL="228600" marR="0" indent="-228600" algn="l" defTabSz="914400" rtl="0" eaLnBrk="1" fontAlgn="auto" latinLnBrk="0" hangingPunct="1">
              <a:lnSpc>
                <a:spcPct val="100000"/>
              </a:lnSpc>
              <a:spcBef>
                <a:spcPts val="0"/>
              </a:spcBef>
              <a:spcAft>
                <a:spcPts val="0"/>
              </a:spcAft>
              <a:buClrTx/>
              <a:buSzTx/>
              <a:buFont typeface="Arial" pitchFamily="34" charset="0"/>
              <a:buAutoNum type="alphaLcParenR"/>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1" kern="1200" baseline="0" dirty="0" smtClean="0">
              <a:solidFill>
                <a:schemeClr val="tx1"/>
              </a:solidFill>
              <a:ea typeface="+mn-ea"/>
              <a:cs typeface="+mn-cs"/>
            </a:endParaRP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a:t>
            </a:r>
            <a:endParaRPr lang="en-US" sz="1200" kern="1200" dirty="0" smtClean="0">
              <a:solidFill>
                <a:schemeClr val="tx1"/>
              </a:solidFill>
              <a:ea typeface="+mn-ea"/>
              <a:cs typeface="+mn-cs"/>
            </a:endParaRP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Discuss the importance of these points.</a:t>
            </a:r>
          </a:p>
          <a:p>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Questions</a:t>
            </a: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 questions in the slide </a:t>
            </a:r>
          </a:p>
          <a:p>
            <a:pPr marL="0" marR="0" indent="0" algn="l" defTabSz="914400" rtl="0" eaLnBrk="1" fontAlgn="auto" latinLnBrk="0" hangingPunct="1">
              <a:lnSpc>
                <a:spcPct val="100000"/>
              </a:lnSpc>
              <a:spcBef>
                <a:spcPts val="0"/>
              </a:spcBef>
              <a:spcAft>
                <a:spcPts val="0"/>
              </a:spcAft>
              <a:buClrTx/>
              <a:buSzTx/>
              <a:buFontTx/>
              <a:buNone/>
              <a:tabLst/>
              <a:defRPr/>
            </a:pPr>
            <a:r>
              <a:rPr lang="en-AU" sz="1200" dirty="0" smtClean="0">
                <a:solidFill>
                  <a:srgbClr val="FF6600"/>
                </a:solidFill>
                <a:latin typeface="Helvetica" pitchFamily="34" charset="0"/>
              </a:rPr>
              <a:t>COMPLETE ACTIVITY 14</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Questions</a:t>
            </a: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 questions in the slide </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 and Review of a</a:t>
            </a:r>
            <a:r>
              <a:rPr lang="en-AU" sz="1200" b="1" kern="1200" baseline="0" dirty="0" smtClean="0">
                <a:solidFill>
                  <a:schemeClr val="tx1"/>
                </a:solidFill>
                <a:ea typeface="+mn-ea"/>
                <a:cs typeface="+mn-cs"/>
              </a:rPr>
              <a:t> Marketing Plan</a:t>
            </a:r>
            <a:endParaRPr lang="en-AU" sz="1200" b="1" kern="1200" dirty="0" smtClean="0">
              <a:solidFill>
                <a:schemeClr val="tx1"/>
              </a:solidFill>
              <a:ea typeface="+mn-ea"/>
              <a:cs typeface="+mn-cs"/>
            </a:endParaRP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 details of this Marketing Plan section.</a:t>
            </a:r>
          </a:p>
          <a:p>
            <a:pPr lvl="0">
              <a:buFont typeface="Arial" pitchFamily="34" charset="0"/>
              <a:buChar char="•"/>
            </a:pPr>
            <a:r>
              <a:rPr lang="en-AU" sz="1200" kern="1200" dirty="0" smtClean="0">
                <a:solidFill>
                  <a:schemeClr val="tx1"/>
                </a:solidFill>
                <a:ea typeface="+mn-ea"/>
                <a:cs typeface="+mn-cs"/>
              </a:rPr>
              <a:t>Trainer to provide examples of a Marketing</a:t>
            </a:r>
            <a:r>
              <a:rPr lang="en-AU" sz="1200" kern="1200" baseline="0" dirty="0" smtClean="0">
                <a:solidFill>
                  <a:schemeClr val="tx1"/>
                </a:solidFill>
                <a:ea typeface="+mn-ea"/>
                <a:cs typeface="+mn-cs"/>
              </a:rPr>
              <a:t> Plan</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 and Review of a</a:t>
            </a:r>
            <a:r>
              <a:rPr lang="en-AU" sz="1200" b="1" kern="1200" baseline="0" dirty="0" smtClean="0">
                <a:solidFill>
                  <a:schemeClr val="tx1"/>
                </a:solidFill>
                <a:ea typeface="+mn-ea"/>
                <a:cs typeface="+mn-cs"/>
              </a:rPr>
              <a:t> Marketing Plan</a:t>
            </a:r>
            <a:endParaRPr lang="en-AU" sz="1200" b="1" kern="1200" dirty="0" smtClean="0">
              <a:solidFill>
                <a:schemeClr val="tx1"/>
              </a:solidFill>
              <a:ea typeface="+mn-ea"/>
              <a:cs typeface="+mn-cs"/>
            </a:endParaRP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 details of this Marketing Plan section.</a:t>
            </a:r>
          </a:p>
          <a:p>
            <a:pPr lvl="0">
              <a:buFont typeface="Arial" pitchFamily="34" charset="0"/>
              <a:buChar char="•"/>
            </a:pPr>
            <a:r>
              <a:rPr lang="en-AU" sz="1200" kern="1200" dirty="0" smtClean="0">
                <a:solidFill>
                  <a:schemeClr val="tx1"/>
                </a:solidFill>
                <a:ea typeface="+mn-ea"/>
                <a:cs typeface="+mn-cs"/>
              </a:rPr>
              <a:t>Trainer to provide examples of a Marketing</a:t>
            </a:r>
            <a:r>
              <a:rPr lang="en-AU" sz="1200" kern="1200" baseline="0" dirty="0" smtClean="0">
                <a:solidFill>
                  <a:schemeClr val="tx1"/>
                </a:solidFill>
                <a:ea typeface="+mn-ea"/>
                <a:cs typeface="+mn-cs"/>
              </a:rPr>
              <a:t> Plan</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 and Review of a</a:t>
            </a:r>
            <a:r>
              <a:rPr lang="en-AU" sz="1200" b="1" kern="1200" baseline="0" dirty="0" smtClean="0">
                <a:solidFill>
                  <a:schemeClr val="tx1"/>
                </a:solidFill>
                <a:ea typeface="+mn-ea"/>
                <a:cs typeface="+mn-cs"/>
              </a:rPr>
              <a:t> Marketing Plan</a:t>
            </a:r>
            <a:endParaRPr lang="en-AU" sz="1200" b="1" kern="1200" dirty="0" smtClean="0">
              <a:solidFill>
                <a:schemeClr val="tx1"/>
              </a:solidFill>
              <a:ea typeface="+mn-ea"/>
              <a:cs typeface="+mn-cs"/>
            </a:endParaRP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 details of this Marketing Plan section.</a:t>
            </a:r>
          </a:p>
          <a:p>
            <a:pPr lvl="0">
              <a:buFont typeface="Arial" pitchFamily="34" charset="0"/>
              <a:buChar char="•"/>
            </a:pPr>
            <a:r>
              <a:rPr lang="en-AU" sz="1200" kern="1200" dirty="0" smtClean="0">
                <a:solidFill>
                  <a:schemeClr val="tx1"/>
                </a:solidFill>
                <a:ea typeface="+mn-ea"/>
                <a:cs typeface="+mn-cs"/>
              </a:rPr>
              <a:t>Trainer to provide examples of a Marketing</a:t>
            </a:r>
            <a:r>
              <a:rPr lang="en-AU" sz="1200" kern="1200" baseline="0" dirty="0" smtClean="0">
                <a:solidFill>
                  <a:schemeClr val="tx1"/>
                </a:solidFill>
                <a:ea typeface="+mn-ea"/>
                <a:cs typeface="+mn-cs"/>
              </a:rPr>
              <a:t> Plan</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 and Review of a</a:t>
            </a:r>
            <a:r>
              <a:rPr lang="en-AU" sz="1200" b="1" kern="1200" baseline="0" dirty="0" smtClean="0">
                <a:solidFill>
                  <a:schemeClr val="tx1"/>
                </a:solidFill>
                <a:ea typeface="+mn-ea"/>
                <a:cs typeface="+mn-cs"/>
              </a:rPr>
              <a:t> Marketing Plan</a:t>
            </a:r>
            <a:endParaRPr lang="en-AU" sz="1200" b="1" kern="1200" dirty="0" smtClean="0">
              <a:solidFill>
                <a:schemeClr val="tx1"/>
              </a:solidFill>
              <a:ea typeface="+mn-ea"/>
              <a:cs typeface="+mn-cs"/>
            </a:endParaRP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 details of this Marketing Plan section.</a:t>
            </a:r>
          </a:p>
          <a:p>
            <a:pPr lvl="0">
              <a:buFont typeface="Arial" pitchFamily="34" charset="0"/>
              <a:buChar char="•"/>
            </a:pPr>
            <a:r>
              <a:rPr lang="en-AU" sz="1200" kern="1200" dirty="0" smtClean="0">
                <a:solidFill>
                  <a:schemeClr val="tx1"/>
                </a:solidFill>
                <a:ea typeface="+mn-ea"/>
                <a:cs typeface="+mn-cs"/>
              </a:rPr>
              <a:t>Trainer to provide examples of a Marketing</a:t>
            </a:r>
            <a:r>
              <a:rPr lang="en-AU" sz="1200" kern="1200" baseline="0" dirty="0" smtClean="0">
                <a:solidFill>
                  <a:schemeClr val="tx1"/>
                </a:solidFill>
                <a:ea typeface="+mn-ea"/>
                <a:cs typeface="+mn-cs"/>
              </a:rPr>
              <a:t> Plan</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 and Review of a</a:t>
            </a:r>
            <a:r>
              <a:rPr lang="en-AU" sz="1200" b="1" kern="1200" baseline="0" dirty="0" smtClean="0">
                <a:solidFill>
                  <a:schemeClr val="tx1"/>
                </a:solidFill>
                <a:ea typeface="+mn-ea"/>
                <a:cs typeface="+mn-cs"/>
              </a:rPr>
              <a:t> Marketing Plan</a:t>
            </a:r>
            <a:endParaRPr lang="en-AU" sz="1200" b="1" kern="1200" dirty="0" smtClean="0">
              <a:solidFill>
                <a:schemeClr val="tx1"/>
              </a:solidFill>
              <a:ea typeface="+mn-ea"/>
              <a:cs typeface="+mn-cs"/>
            </a:endParaRP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 details of this Marketing Plan section.</a:t>
            </a:r>
          </a:p>
          <a:p>
            <a:pPr lvl="0">
              <a:buFont typeface="Arial" pitchFamily="34" charset="0"/>
              <a:buChar char="•"/>
            </a:pPr>
            <a:r>
              <a:rPr lang="en-AU" sz="1200" kern="1200" dirty="0" smtClean="0">
                <a:solidFill>
                  <a:schemeClr val="tx1"/>
                </a:solidFill>
                <a:ea typeface="+mn-ea"/>
                <a:cs typeface="+mn-cs"/>
              </a:rPr>
              <a:t>Trainer to provide examples of a Marketing</a:t>
            </a:r>
            <a:r>
              <a:rPr lang="en-AU" sz="1200" kern="1200" baseline="0" dirty="0" smtClean="0">
                <a:solidFill>
                  <a:schemeClr val="tx1"/>
                </a:solidFill>
                <a:ea typeface="+mn-ea"/>
                <a:cs typeface="+mn-cs"/>
              </a:rPr>
              <a:t> Plan</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 and Review of a</a:t>
            </a:r>
            <a:r>
              <a:rPr lang="en-AU" sz="1200" b="1" kern="1200" baseline="0" dirty="0" smtClean="0">
                <a:solidFill>
                  <a:schemeClr val="tx1"/>
                </a:solidFill>
                <a:ea typeface="+mn-ea"/>
                <a:cs typeface="+mn-cs"/>
              </a:rPr>
              <a:t> Marketing Plan</a:t>
            </a:r>
            <a:endParaRPr lang="en-AU" sz="1200" b="1" kern="1200" dirty="0" smtClean="0">
              <a:solidFill>
                <a:schemeClr val="tx1"/>
              </a:solidFill>
              <a:ea typeface="+mn-ea"/>
              <a:cs typeface="+mn-cs"/>
            </a:endParaRP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 details of this Marketing Plan section.</a:t>
            </a:r>
          </a:p>
          <a:p>
            <a:pPr lvl="0">
              <a:buFont typeface="Arial" pitchFamily="34" charset="0"/>
              <a:buChar char="•"/>
            </a:pPr>
            <a:r>
              <a:rPr lang="en-AU" sz="1200" kern="1200" dirty="0" smtClean="0">
                <a:solidFill>
                  <a:schemeClr val="tx1"/>
                </a:solidFill>
                <a:ea typeface="+mn-ea"/>
                <a:cs typeface="+mn-cs"/>
              </a:rPr>
              <a:t>Trainer to provide examples of a Marketing</a:t>
            </a:r>
            <a:r>
              <a:rPr lang="en-AU" sz="1200" kern="1200" baseline="0" dirty="0" smtClean="0">
                <a:solidFill>
                  <a:schemeClr val="tx1"/>
                </a:solidFill>
                <a:ea typeface="+mn-ea"/>
                <a:cs typeface="+mn-cs"/>
              </a:rPr>
              <a:t> Plan</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Discussion and Review of a</a:t>
            </a:r>
            <a:r>
              <a:rPr lang="en-AU" sz="1200" b="1" kern="1200" baseline="0" dirty="0" smtClean="0">
                <a:solidFill>
                  <a:schemeClr val="tx1"/>
                </a:solidFill>
                <a:ea typeface="+mn-ea"/>
                <a:cs typeface="+mn-cs"/>
              </a:rPr>
              <a:t> Marketing Plan</a:t>
            </a:r>
            <a:endParaRPr lang="en-AU" sz="1200" b="1" kern="1200" dirty="0" smtClean="0">
              <a:solidFill>
                <a:schemeClr val="tx1"/>
              </a:solidFill>
              <a:ea typeface="+mn-ea"/>
              <a:cs typeface="+mn-cs"/>
            </a:endParaRP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Discuss details of this Marketing Plan section.</a:t>
            </a:r>
          </a:p>
          <a:p>
            <a:pPr lvl="0">
              <a:buFont typeface="Arial" pitchFamily="34" charset="0"/>
              <a:buChar char="•"/>
            </a:pPr>
            <a:r>
              <a:rPr lang="en-AU" sz="1200" kern="1200" dirty="0" smtClean="0">
                <a:solidFill>
                  <a:schemeClr val="tx1"/>
                </a:solidFill>
                <a:ea typeface="+mn-ea"/>
                <a:cs typeface="+mn-cs"/>
              </a:rPr>
              <a:t>Trainer to provide examples of a Marketing</a:t>
            </a:r>
            <a:r>
              <a:rPr lang="en-AU" sz="1200" kern="1200" baseline="0" dirty="0" smtClean="0">
                <a:solidFill>
                  <a:schemeClr val="tx1"/>
                </a:solidFill>
                <a:ea typeface="+mn-ea"/>
                <a:cs typeface="+mn-cs"/>
              </a:rPr>
              <a:t> Plan</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b="1" kern="1200" dirty="0" smtClean="0">
                <a:solidFill>
                  <a:schemeClr val="tx1"/>
                </a:solidFill>
                <a:ea typeface="+mn-ea"/>
                <a:cs typeface="+mn-cs"/>
              </a:rPr>
              <a:t>Complete </a:t>
            </a:r>
            <a:r>
              <a:rPr lang="en-AU" sz="1200" b="1" kern="1200" baseline="0" dirty="0" smtClean="0">
                <a:solidFill>
                  <a:schemeClr val="tx1"/>
                </a:solidFill>
                <a:ea typeface="+mn-ea"/>
                <a:cs typeface="+mn-cs"/>
              </a:rPr>
              <a:t>Marketing Plan</a:t>
            </a:r>
            <a:endParaRPr lang="en-AU" sz="1200" b="1" kern="1200" dirty="0" smtClean="0">
              <a:solidFill>
                <a:schemeClr val="tx1"/>
              </a:solidFill>
              <a:ea typeface="+mn-ea"/>
              <a:cs typeface="+mn-cs"/>
            </a:endParaRPr>
          </a:p>
          <a:p>
            <a:endParaRPr lang="en-US" sz="1200" kern="1200" dirty="0" smtClean="0">
              <a:solidFill>
                <a:schemeClr val="tx1"/>
              </a:solidFill>
              <a:ea typeface="+mn-ea"/>
              <a:cs typeface="+mn-cs"/>
            </a:endParaRPr>
          </a:p>
          <a:p>
            <a:pPr lvl="0">
              <a:buFont typeface="Arial" pitchFamily="34" charset="0"/>
              <a:buChar char="•"/>
            </a:pPr>
            <a:r>
              <a:rPr lang="en-AU" sz="1200" kern="1200" dirty="0" smtClean="0">
                <a:solidFill>
                  <a:schemeClr val="tx1"/>
                </a:solidFill>
                <a:ea typeface="+mn-ea"/>
                <a:cs typeface="+mn-cs"/>
              </a:rPr>
              <a:t>Review</a:t>
            </a:r>
            <a:r>
              <a:rPr lang="en-AU" sz="1200" kern="1200" baseline="0" dirty="0" smtClean="0">
                <a:solidFill>
                  <a:schemeClr val="tx1"/>
                </a:solidFill>
                <a:ea typeface="+mn-ea"/>
                <a:cs typeface="+mn-cs"/>
              </a:rPr>
              <a:t> marketing Plan sections</a:t>
            </a:r>
          </a:p>
          <a:p>
            <a:pPr>
              <a:spcBef>
                <a:spcPts val="600"/>
              </a:spcBef>
              <a:spcAft>
                <a:spcPts val="1200"/>
              </a:spcAft>
              <a:buNone/>
            </a:pPr>
            <a:r>
              <a:rPr lang="en-AU" sz="1200" dirty="0" smtClean="0">
                <a:solidFill>
                  <a:srgbClr val="FF6600"/>
                </a:solidFill>
                <a:latin typeface="Helvetica" pitchFamily="34" charset="0"/>
              </a:rPr>
              <a:t>COMPLETE ACTIVITIES 15-19</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activities are associated with </a:t>
            </a:r>
            <a:r>
              <a:rPr lang="en-AU" sz="1200" u="sng" kern="1200" baseline="0" dirty="0" smtClean="0">
                <a:solidFill>
                  <a:schemeClr val="tx1"/>
                </a:solidFill>
                <a:ea typeface="+mn-ea"/>
                <a:cs typeface="+mn-cs"/>
              </a:rPr>
              <a:t>implementing</a:t>
            </a:r>
            <a:r>
              <a:rPr lang="en-AU" sz="1200" kern="1200" baseline="0" dirty="0" smtClean="0">
                <a:solidFill>
                  <a:schemeClr val="tx1"/>
                </a:solidFill>
                <a:ea typeface="+mn-ea"/>
                <a:cs typeface="+mn-cs"/>
              </a:rPr>
              <a:t> strategies?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baseline="0" dirty="0" smtClean="0">
                <a:solidFill>
                  <a:schemeClr val="tx1"/>
                </a:solidFill>
                <a:ea typeface="+mn-ea"/>
                <a:cs typeface="+mn-cs"/>
              </a:rPr>
              <a:t>What activities are associated with </a:t>
            </a:r>
            <a:r>
              <a:rPr lang="en-AU" sz="1200" u="sng" kern="1200" baseline="0" dirty="0" smtClean="0">
                <a:solidFill>
                  <a:schemeClr val="tx1"/>
                </a:solidFill>
                <a:ea typeface="+mn-ea"/>
                <a:cs typeface="+mn-cs"/>
              </a:rPr>
              <a:t>monitoring</a:t>
            </a:r>
            <a:r>
              <a:rPr lang="en-AU" sz="1200" kern="1200" baseline="0" dirty="0" smtClean="0">
                <a:solidFill>
                  <a:schemeClr val="tx1"/>
                </a:solidFill>
                <a:ea typeface="+mn-ea"/>
                <a:cs typeface="+mn-cs"/>
              </a:rPr>
              <a:t> strategies?</a:t>
            </a:r>
          </a:p>
          <a:p>
            <a:pPr>
              <a:buFont typeface="Arial" pitchFamily="34" charset="0"/>
              <a:buChar char="•"/>
            </a:pP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Why is this important?</a:t>
            </a:r>
          </a:p>
          <a:p>
            <a:pPr>
              <a:buFont typeface="Arial" pitchFamily="34" charset="0"/>
              <a:buChar char="•"/>
            </a:pPr>
            <a:r>
              <a:rPr lang="en-AU" dirty="0" smtClean="0"/>
              <a:t>What needs to be communicated under</a:t>
            </a:r>
            <a:r>
              <a:rPr lang="en-AU" baseline="0" dirty="0" smtClean="0"/>
              <a:t> each section?</a:t>
            </a:r>
          </a:p>
          <a:p>
            <a:pPr>
              <a:buFont typeface="Arial" pitchFamily="34" charset="0"/>
              <a:buChar char="•"/>
            </a:pPr>
            <a:r>
              <a:rPr lang="en-AU" baseline="0" dirty="0" smtClean="0"/>
              <a:t>How should expectations be communicated with stakeholders?</a:t>
            </a:r>
            <a:endParaRPr lang="en-AU"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Discuss questions in the slide.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are other KPI’s that could be used, specific to the tourism industry?</a:t>
            </a:r>
          </a:p>
          <a:p>
            <a:pPr>
              <a:buFont typeface="Arial" pitchFamily="34" charset="0"/>
              <a:buChar char="•"/>
            </a:pPr>
            <a:r>
              <a:rPr lang="en-AU" baseline="0" dirty="0" smtClean="0"/>
              <a:t>What exact measurements or standards for each KPI should be identified?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How can you meet these concerns?</a:t>
            </a:r>
          </a:p>
          <a:p>
            <a:pPr>
              <a:buFont typeface="Arial" pitchFamily="34" charset="0"/>
              <a:buChar char="•"/>
            </a:pPr>
            <a:r>
              <a:rPr lang="en-AU" dirty="0" smtClean="0"/>
              <a:t>What other concerns would you have?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How can you meet these concerns?</a:t>
            </a:r>
          </a:p>
          <a:p>
            <a:pPr>
              <a:buFont typeface="Arial" pitchFamily="34" charset="0"/>
              <a:buChar char="•"/>
            </a:pPr>
            <a:r>
              <a:rPr lang="en-AU" dirty="0" smtClean="0"/>
              <a:t>What other concerns would you have?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else could be communicated?</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Discuss the question in the slide.</a:t>
            </a:r>
          </a:p>
          <a:p>
            <a:pPr>
              <a:spcBef>
                <a:spcPts val="600"/>
              </a:spcBef>
              <a:spcAft>
                <a:spcPts val="1200"/>
              </a:spcAft>
              <a:buNone/>
            </a:pPr>
            <a:r>
              <a:rPr lang="en-AU" sz="1200" dirty="0" smtClean="0">
                <a:solidFill>
                  <a:srgbClr val="FF6600"/>
                </a:solidFill>
                <a:latin typeface="Helvetica" pitchFamily="34" charset="0"/>
              </a:rPr>
              <a:t>COMPLETE ACTIVITY 20</a:t>
            </a:r>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needs to be considered?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needs to be considered for each of these</a:t>
            </a:r>
            <a:r>
              <a:rPr lang="en-AU" baseline="0" dirty="0" smtClean="0"/>
              <a:t> points</a:t>
            </a:r>
            <a:r>
              <a:rPr lang="en-AU" dirty="0" smtClean="0"/>
              <a: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needs to be considered for each of these</a:t>
            </a:r>
            <a:r>
              <a:rPr lang="en-AU" baseline="0" dirty="0" smtClean="0"/>
              <a:t> points</a:t>
            </a:r>
            <a:r>
              <a:rPr lang="en-AU" dirty="0" smtClean="0"/>
              <a: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dirty="0" smtClean="0">
                <a:solidFill>
                  <a:srgbClr val="FF6600"/>
                </a:solidFill>
                <a:latin typeface="Helvetica" pitchFamily="34" charset="0"/>
              </a:rPr>
              <a:t>COMPLETE ACTIVITY 21</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needs to be considered for each of these</a:t>
            </a:r>
            <a:r>
              <a:rPr lang="en-AU" baseline="0" dirty="0" smtClean="0"/>
              <a:t> points</a:t>
            </a:r>
            <a:r>
              <a:rPr lang="en-AU" dirty="0" smtClean="0"/>
              <a: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dirty="0" smtClean="0">
                <a:solidFill>
                  <a:srgbClr val="FF6600"/>
                </a:solidFill>
                <a:latin typeface="Helvetica" pitchFamily="34" charset="0"/>
              </a:rPr>
              <a:t>COMPLETE ACTIVITY 22</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dirty="0" smtClean="0"/>
              <a:t>Identify the different types</a:t>
            </a:r>
            <a:r>
              <a:rPr lang="en-AU" baseline="0" dirty="0" smtClean="0"/>
              <a:t> of functions.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dirty="0" smtClean="0"/>
              <a:t>What are the causes?</a:t>
            </a:r>
          </a:p>
          <a:p>
            <a:pPr>
              <a:buFont typeface="Arial" pitchFamily="34" charset="0"/>
              <a:buChar char="•"/>
            </a:pPr>
            <a:r>
              <a:rPr lang="en-AU" baseline="0" dirty="0" smtClean="0"/>
              <a:t>What can you do to overcome these poor implementation scenarios?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Discussion</a:t>
            </a:r>
          </a:p>
          <a:p>
            <a:endParaRPr lang="en-AU" dirty="0" smtClean="0"/>
          </a:p>
          <a:p>
            <a:pPr>
              <a:buFont typeface="Arial" pitchFamily="34" charset="0"/>
              <a:buChar char="•"/>
            </a:pPr>
            <a:r>
              <a:rPr lang="en-AU" dirty="0" smtClean="0"/>
              <a:t>What questions would you ask under each of these points?</a:t>
            </a:r>
          </a:p>
          <a:p>
            <a:pPr>
              <a:buFont typeface="Arial" pitchFamily="34" charset="0"/>
              <a:buChar char="•"/>
            </a:pPr>
            <a:r>
              <a:rPr lang="en-AU" baseline="0" dirty="0" smtClean="0"/>
              <a:t>Refer to TM Pages 103-104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Discuss question in</a:t>
            </a:r>
            <a:r>
              <a:rPr lang="en-AU" baseline="0" dirty="0" smtClean="0"/>
              <a:t> the slide.</a:t>
            </a:r>
            <a:endParaRPr lang="en-AU"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information should be put into reports?</a:t>
            </a:r>
          </a:p>
          <a:p>
            <a:pPr>
              <a:buFont typeface="Arial" pitchFamily="34" charset="0"/>
              <a:buChar char="•"/>
            </a:pPr>
            <a:r>
              <a:rPr lang="en-AU" dirty="0" smtClean="0"/>
              <a:t>Who should</a:t>
            </a:r>
            <a:r>
              <a:rPr lang="en-AU" baseline="0" dirty="0" smtClean="0"/>
              <a:t> this information be shared with?</a:t>
            </a:r>
          </a:p>
          <a:p>
            <a:pPr>
              <a:buFont typeface="Arial" pitchFamily="34" charset="0"/>
              <a:buChar char="•"/>
            </a:pPr>
            <a:r>
              <a:rPr lang="en-AU" baseline="0" dirty="0" smtClean="0"/>
              <a:t>How should it be shared?</a:t>
            </a:r>
            <a:endParaRPr lang="en-AU"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information should be put into reports for</a:t>
            </a:r>
            <a:r>
              <a:rPr lang="en-AU" baseline="0" dirty="0" smtClean="0"/>
              <a:t> each of these points?</a:t>
            </a:r>
            <a:endParaRPr lang="en-AU"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Discuss the</a:t>
            </a:r>
            <a:r>
              <a:rPr lang="en-AU" baseline="0" dirty="0" smtClean="0"/>
              <a:t> content for each of these points</a:t>
            </a:r>
            <a:endParaRPr lang="en-AU"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Discuss the</a:t>
            </a:r>
            <a:r>
              <a:rPr lang="en-AU" baseline="0" dirty="0" smtClean="0"/>
              <a:t> content for each of these points</a:t>
            </a:r>
            <a:endParaRPr lang="en-AU"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other methods could</a:t>
            </a:r>
            <a:r>
              <a:rPr lang="en-AU" baseline="0" dirty="0" smtClean="0"/>
              <a:t> be incorporated to involve staff?</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Questions</a:t>
            </a:r>
          </a:p>
          <a:p>
            <a:endParaRPr lang="en-AU" dirty="0" smtClean="0"/>
          </a:p>
          <a:p>
            <a:pPr>
              <a:buFont typeface="Arial" pitchFamily="34" charset="0"/>
              <a:buChar char="•"/>
            </a:pPr>
            <a:r>
              <a:rPr lang="en-AU" dirty="0" smtClean="0"/>
              <a:t>What other methods could</a:t>
            </a:r>
            <a:r>
              <a:rPr lang="en-AU" baseline="0" dirty="0" smtClean="0"/>
              <a:t> be incorporated to involve staff?</a:t>
            </a:r>
          </a:p>
          <a:p>
            <a:pPr>
              <a:spcBef>
                <a:spcPts val="600"/>
              </a:spcBef>
              <a:spcAft>
                <a:spcPts val="1200"/>
              </a:spcAft>
              <a:buNone/>
            </a:pPr>
            <a:r>
              <a:rPr lang="en-AU" sz="1200" dirty="0" smtClean="0">
                <a:solidFill>
                  <a:srgbClr val="FF6600"/>
                </a:solidFill>
                <a:latin typeface="Helvetica" pitchFamily="34" charset="0"/>
              </a:rPr>
              <a:t>COMPLETE ACTIVITY 23</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is a policy?</a:t>
            </a:r>
          </a:p>
          <a:p>
            <a:pPr>
              <a:buFont typeface="Arial" pitchFamily="34" charset="0"/>
              <a:buChar char="•"/>
            </a:pPr>
            <a:r>
              <a:rPr lang="en-AU" sz="1200" kern="1200" baseline="0" dirty="0" smtClean="0">
                <a:solidFill>
                  <a:schemeClr val="tx1"/>
                </a:solidFill>
                <a:ea typeface="+mn-ea"/>
                <a:cs typeface="+mn-cs"/>
              </a:rPr>
              <a:t>What is a procedure?</a:t>
            </a:r>
          </a:p>
          <a:p>
            <a:pPr>
              <a:buFont typeface="Arial" pitchFamily="34" charset="0"/>
              <a:buChar char="•"/>
            </a:pPr>
            <a:r>
              <a:rPr lang="en-AU" sz="1200" kern="1200" baseline="0" dirty="0" smtClean="0">
                <a:solidFill>
                  <a:schemeClr val="tx1"/>
                </a:solidFill>
                <a:ea typeface="+mn-ea"/>
                <a:cs typeface="+mn-cs"/>
              </a:rPr>
              <a:t>What is the importance of policies and procedures?</a:t>
            </a:r>
          </a:p>
          <a:p>
            <a:pPr>
              <a:buFont typeface="Arial" pitchFamily="34" charset="0"/>
              <a:buChar char="•"/>
            </a:pPr>
            <a:r>
              <a:rPr lang="en-AU" sz="1200" kern="1200" baseline="0" dirty="0" smtClean="0">
                <a:solidFill>
                  <a:schemeClr val="tx1"/>
                </a:solidFill>
                <a:ea typeface="+mn-ea"/>
                <a:cs typeface="+mn-cs"/>
              </a:rPr>
              <a:t>What are examples of sales policies and procedures?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Why is sales important?</a:t>
            </a:r>
          </a:p>
          <a:p>
            <a:pPr>
              <a:buFont typeface="Arial" pitchFamily="34" charset="0"/>
              <a:buChar char="•"/>
            </a:pPr>
            <a:r>
              <a:rPr lang="en-AU" sz="1200" kern="1200" baseline="0" dirty="0" smtClean="0">
                <a:solidFill>
                  <a:schemeClr val="tx1"/>
                </a:solidFill>
                <a:ea typeface="+mn-ea"/>
                <a:cs typeface="+mn-cs"/>
              </a:rPr>
              <a:t>What is the role of sales?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 </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What tasks need to be planned in relation to these activities?</a:t>
            </a:r>
          </a:p>
          <a:p>
            <a:pPr>
              <a:buFont typeface="Arial" pitchFamily="34" charset="0"/>
              <a:buChar char="•"/>
            </a:pPr>
            <a:r>
              <a:rPr lang="en-AU" sz="1200" kern="1200" baseline="0" dirty="0" smtClean="0">
                <a:solidFill>
                  <a:schemeClr val="tx1"/>
                </a:solidFill>
                <a:ea typeface="+mn-ea"/>
                <a:cs typeface="+mn-cs"/>
              </a:rPr>
              <a:t>What other sales related activities need to be arranged?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 </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In a tourism organisation, provide examples of when each would be beneficial?</a:t>
            </a:r>
          </a:p>
          <a:p>
            <a:pPr>
              <a:buFont typeface="Arial" pitchFamily="34" charset="0"/>
              <a:buNone/>
            </a:pPr>
            <a:r>
              <a:rPr lang="en-AU" sz="1200" dirty="0" smtClean="0">
                <a:solidFill>
                  <a:srgbClr val="FF6600"/>
                </a:solidFill>
                <a:latin typeface="Helvetica" pitchFamily="34" charset="0"/>
              </a:rPr>
              <a:t>COMPLETE ACTIVITY 24</a:t>
            </a: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 </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How can they be measured?</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Discussion </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For the 5 sales objectives identified previously, make them SMART target.</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 </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Discuss the importance of these points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dirty="0" smtClean="0">
                <a:solidFill>
                  <a:srgbClr val="FF6600"/>
                </a:solidFill>
                <a:latin typeface="Helvetica" pitchFamily="34" charset="0"/>
              </a:rPr>
              <a:t>COMPLETE ACTIVITY 25</a:t>
            </a:r>
            <a:endParaRPr lang="en-AU" sz="1200" dirty="0" smtClean="0">
              <a:latin typeface="Helvetica" pitchFamily="34" charset="0"/>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Show types of documents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For each of these points, the trainer should handout examples of documents and information.</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Show types of documents</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For each of these points, the trainer should handout examples of documents and information.</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 </a:t>
            </a:r>
          </a:p>
          <a:p>
            <a:endParaRPr lang="en-AU" sz="1200"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Discuss the importance of these policies and procedures?</a:t>
            </a:r>
          </a:p>
          <a:p>
            <a:pPr>
              <a:buFont typeface="Arial" pitchFamily="34" charset="0"/>
              <a:buChar char="•"/>
            </a:pPr>
            <a:r>
              <a:rPr lang="en-AU" sz="1200" kern="1200" baseline="0" dirty="0" smtClean="0">
                <a:solidFill>
                  <a:schemeClr val="tx1"/>
                </a:solidFill>
                <a:ea typeface="+mn-ea"/>
                <a:cs typeface="+mn-cs"/>
              </a:rPr>
              <a:t>How can staff be informed of these?</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solidFill>
                  <a:srgbClr val="FF6600"/>
                </a:solidFill>
                <a:latin typeface="Helvetica" pitchFamily="34" charset="0"/>
              </a:rPr>
              <a:t>COMPLETE ACTIVITY 26</a:t>
            </a:r>
            <a:endParaRPr lang="en-AU" sz="1200" dirty="0" smtClean="0">
              <a:latin typeface="Helvetica" pitchFamily="34" charset="0"/>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 </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Which selling situations are the most common in the travel and tourism industry?</a:t>
            </a:r>
          </a:p>
          <a:p>
            <a:pPr>
              <a:buFont typeface="Arial" pitchFamily="34" charset="0"/>
              <a:buChar char="•"/>
            </a:pPr>
            <a:r>
              <a:rPr lang="en-AU" sz="1200" kern="1200" baseline="0" dirty="0" smtClean="0">
                <a:solidFill>
                  <a:schemeClr val="tx1"/>
                </a:solidFill>
                <a:ea typeface="+mn-ea"/>
                <a:cs typeface="+mn-cs"/>
              </a:rPr>
              <a:t>Why?</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solidFill>
                  <a:srgbClr val="FF6600"/>
                </a:solidFill>
                <a:latin typeface="Helvetica" pitchFamily="34" charset="0"/>
              </a:rPr>
              <a:t>COMPLETE ACTIVITY 27</a:t>
            </a:r>
            <a:endParaRPr lang="en-AU" sz="1200" dirty="0" smtClean="0">
              <a:latin typeface="Helvetica" pitchFamily="34" charset="0"/>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 </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a:buFont typeface="Arial" pitchFamily="34" charset="0"/>
              <a:buChar char="•"/>
            </a:pPr>
            <a:r>
              <a:rPr lang="en-AU" sz="1200" kern="1200" baseline="0" dirty="0" smtClean="0">
                <a:solidFill>
                  <a:schemeClr val="tx1"/>
                </a:solidFill>
                <a:ea typeface="+mn-ea"/>
                <a:cs typeface="+mn-cs"/>
              </a:rPr>
              <a:t>What are examples of legal requirements for each of these points?</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solidFill>
                  <a:srgbClr val="FF6600"/>
                </a:solidFill>
                <a:latin typeface="Helvetica" pitchFamily="34" charset="0"/>
              </a:rPr>
              <a:t>COMPLETE ACTIVITY 28</a:t>
            </a:r>
            <a:endParaRPr lang="en-AU" sz="1200" dirty="0" smtClean="0">
              <a:latin typeface="Helvetica" pitchFamily="34" charset="0"/>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techniques are relevant for each of these points?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this important?</a:t>
            </a:r>
          </a:p>
          <a:p>
            <a:pPr>
              <a:buFont typeface="Arial" pitchFamily="34" charset="0"/>
              <a:buChar char="•"/>
            </a:pPr>
            <a:r>
              <a:rPr lang="en-AU" sz="1200" b="0" kern="1200" baseline="0" dirty="0" smtClean="0">
                <a:solidFill>
                  <a:schemeClr val="tx1"/>
                </a:solidFill>
                <a:ea typeface="+mn-ea"/>
                <a:cs typeface="+mn-cs"/>
              </a:rPr>
              <a:t>How can you find out what ‘the customer wants’?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Role Play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ROLE PLAY</a:t>
            </a:r>
          </a:p>
          <a:p>
            <a:pPr>
              <a:buFont typeface="Arial" pitchFamily="34" charset="0"/>
              <a:buChar char="•"/>
            </a:pPr>
            <a:r>
              <a:rPr lang="en-AU" sz="1200" b="0" kern="1200" baseline="0" dirty="0" smtClean="0">
                <a:solidFill>
                  <a:schemeClr val="tx1"/>
                </a:solidFill>
                <a:ea typeface="+mn-ea"/>
                <a:cs typeface="+mn-cs"/>
              </a:rPr>
              <a:t>Trainer to get audience to practice using sales techniques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Role Play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ROLE PLAY</a:t>
            </a:r>
          </a:p>
          <a:p>
            <a:pPr>
              <a:buFont typeface="Arial" pitchFamily="34" charset="0"/>
              <a:buChar char="•"/>
            </a:pPr>
            <a:r>
              <a:rPr lang="en-AU" sz="1200" b="0" kern="1200" baseline="0" dirty="0" smtClean="0">
                <a:solidFill>
                  <a:schemeClr val="tx1"/>
                </a:solidFill>
                <a:ea typeface="+mn-ea"/>
                <a:cs typeface="+mn-cs"/>
              </a:rPr>
              <a:t>Trainer to get audience to practice using sales techniques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Role Play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ROLE PLAY</a:t>
            </a:r>
          </a:p>
          <a:p>
            <a:pPr>
              <a:buFont typeface="Arial" pitchFamily="34" charset="0"/>
              <a:buChar char="•"/>
            </a:pPr>
            <a:r>
              <a:rPr lang="en-AU" sz="1200" b="0" kern="1200" baseline="0" dirty="0" smtClean="0">
                <a:solidFill>
                  <a:schemeClr val="tx1"/>
                </a:solidFill>
                <a:ea typeface="+mn-ea"/>
                <a:cs typeface="+mn-cs"/>
              </a:rPr>
              <a:t>Trainer to get audience to practice using sales techniques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Role Play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ROLE PLAY</a:t>
            </a:r>
          </a:p>
          <a:p>
            <a:pPr>
              <a:buFont typeface="Arial" pitchFamily="34" charset="0"/>
              <a:buChar char="•"/>
            </a:pPr>
            <a:r>
              <a:rPr lang="en-AU" sz="1200" b="0" kern="1200" baseline="0" dirty="0" smtClean="0">
                <a:solidFill>
                  <a:schemeClr val="tx1"/>
                </a:solidFill>
                <a:ea typeface="+mn-ea"/>
                <a:cs typeface="+mn-cs"/>
              </a:rPr>
              <a:t>Trainer to get audience to practice using up-selling techniques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Role Play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ROLE PLAY</a:t>
            </a:r>
          </a:p>
          <a:p>
            <a:pPr>
              <a:buFont typeface="Arial" pitchFamily="34" charset="0"/>
              <a:buChar char="•"/>
            </a:pPr>
            <a:r>
              <a:rPr lang="en-AU" sz="1200" b="0" kern="1200" baseline="0" dirty="0" smtClean="0">
                <a:solidFill>
                  <a:schemeClr val="tx1"/>
                </a:solidFill>
                <a:ea typeface="+mn-ea"/>
                <a:cs typeface="+mn-cs"/>
              </a:rPr>
              <a:t>Trainer to get audience to practice overcoming buying objections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Role Play</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ROLE PLAY</a:t>
            </a:r>
          </a:p>
          <a:p>
            <a:pPr>
              <a:buFont typeface="Arial" pitchFamily="34" charset="0"/>
              <a:buChar char="•"/>
            </a:pPr>
            <a:r>
              <a:rPr lang="en-AU" sz="1200" b="0" kern="1200" baseline="0" dirty="0" smtClean="0">
                <a:solidFill>
                  <a:schemeClr val="tx1"/>
                </a:solidFill>
                <a:ea typeface="+mn-ea"/>
                <a:cs typeface="+mn-cs"/>
              </a:rPr>
              <a:t>Trainer to get audience to practice closing the sale</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question in the slide.</a:t>
            </a:r>
          </a:p>
          <a:p>
            <a:pPr>
              <a:buFont typeface="Arial" pitchFamily="34" charset="0"/>
              <a:buChar char="•"/>
            </a:pPr>
            <a:r>
              <a:rPr lang="en-AU" sz="1200" b="0" kern="1200" baseline="0" dirty="0" smtClean="0">
                <a:solidFill>
                  <a:schemeClr val="tx1"/>
                </a:solidFill>
                <a:ea typeface="+mn-ea"/>
                <a:cs typeface="+mn-cs"/>
              </a:rPr>
              <a:t>Outline types of transactions and SOP’s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Why is team work important?</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Which is the best method and why?</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importance of these points.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should these be handled?</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should these be handled?</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questions in the slide.</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solidFill>
                  <a:srgbClr val="FF6600"/>
                </a:solidFill>
                <a:latin typeface="Helvetica" pitchFamily="34" charset="0"/>
              </a:rPr>
              <a:t>COMPLETE ACTIVITY 29</a:t>
            </a:r>
            <a:endParaRPr lang="en-AU" sz="1200" dirty="0" smtClean="0">
              <a:latin typeface="Helvetica" pitchFamily="34" charset="0"/>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How can you monitor achievements?</a:t>
            </a:r>
          </a:p>
          <a:p>
            <a:pPr>
              <a:buFont typeface="Arial" pitchFamily="34" charset="0"/>
              <a:buChar char="•"/>
            </a:pPr>
            <a:r>
              <a:rPr lang="en-AU" sz="1200" kern="1200" baseline="0" dirty="0" smtClean="0">
                <a:solidFill>
                  <a:schemeClr val="tx1"/>
                </a:solidFill>
                <a:ea typeface="+mn-ea"/>
                <a:cs typeface="+mn-cs"/>
              </a:rPr>
              <a:t>What should you do if achievements are below expectations?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importance of these points</a:t>
            </a:r>
            <a:endParaRPr lang="en-AU" sz="1200" dirty="0" smtClean="0">
              <a:latin typeface="Helvetica" pitchFamily="34" charset="0"/>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importance of these points</a:t>
            </a:r>
            <a:endParaRPr lang="en-AU" sz="1200" dirty="0" smtClean="0">
              <a:latin typeface="Helvetica" pitchFamily="34" charset="0"/>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the difference between these plans?</a:t>
            </a:r>
          </a:p>
          <a:p>
            <a:pPr>
              <a:buFont typeface="Arial" pitchFamily="34" charset="0"/>
              <a:buChar char="•"/>
            </a:pPr>
            <a:r>
              <a:rPr lang="en-AU" sz="1200" b="0" kern="1200" baseline="0" dirty="0" smtClean="0">
                <a:solidFill>
                  <a:schemeClr val="tx1"/>
                </a:solidFill>
                <a:ea typeface="+mn-ea"/>
                <a:cs typeface="+mn-cs"/>
              </a:rPr>
              <a:t>Trainer to show copies of these plans</a:t>
            </a:r>
            <a:endParaRPr lang="en-AU" sz="1200" dirty="0" smtClean="0">
              <a:latin typeface="Helvetica" pitchFamily="34" charset="0"/>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Review types of targets</a:t>
            </a:r>
          </a:p>
          <a:p>
            <a:pPr>
              <a:buFont typeface="Arial" pitchFamily="34" charset="0"/>
              <a:buChar char="•"/>
            </a:pPr>
            <a:r>
              <a:rPr lang="en-AU" sz="1200" b="0" kern="1200" baseline="0" dirty="0" smtClean="0">
                <a:solidFill>
                  <a:schemeClr val="tx1"/>
                </a:solidFill>
                <a:ea typeface="+mn-ea"/>
                <a:cs typeface="+mn-cs"/>
              </a:rPr>
              <a:t>Are there any other targets you would have?</a:t>
            </a:r>
            <a:endParaRPr lang="en-AU" sz="1200" dirty="0" smtClean="0">
              <a:latin typeface="Helvetica" pitchFamily="34" charset="0"/>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question in the slide.</a:t>
            </a:r>
            <a:endParaRPr lang="en-AU" sz="1200" dirty="0" smtClean="0">
              <a:latin typeface="Helvetica" pitchFamily="34" charset="0"/>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questions in the slide.</a:t>
            </a:r>
            <a:endParaRPr lang="en-AU" sz="1200" dirty="0" smtClean="0">
              <a:latin typeface="Helvetica"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200" dirty="0" smtClean="0">
                <a:solidFill>
                  <a:srgbClr val="FF6600"/>
                </a:solidFill>
                <a:latin typeface="Helvetica" pitchFamily="34" charset="0"/>
              </a:rPr>
              <a:t>COMPLETE ACTIVITY 30</a:t>
            </a:r>
            <a:endParaRPr lang="en-AU" sz="1200" dirty="0" smtClean="0">
              <a:latin typeface="Helvetica" pitchFamily="34" charset="0"/>
            </a:endParaRPr>
          </a:p>
          <a:p>
            <a:endParaRPr lang="en-AU" sz="1200" kern="1200" baseline="0" dirty="0" smtClean="0">
              <a:solidFill>
                <a:schemeClr val="tx1"/>
              </a:solidFill>
              <a:ea typeface="+mn-ea"/>
              <a:cs typeface="+mn-cs"/>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question in the slide.</a:t>
            </a: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Which methods are the most preferred and why?</a:t>
            </a:r>
          </a:p>
          <a:p>
            <a:pPr>
              <a:buFont typeface="Arial" pitchFamily="34" charset="0"/>
              <a:buNone/>
            </a:pPr>
            <a:endParaRPr lang="en-AU" sz="1200" b="0" kern="1200" baseline="0" dirty="0" smtClean="0">
              <a:solidFill>
                <a:schemeClr val="tx1"/>
              </a:solidFill>
              <a:ea typeface="+mn-ea"/>
              <a:cs typeface="+mn-cs"/>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  and Show examples of sales reports</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examples of sales reports?</a:t>
            </a:r>
          </a:p>
          <a:p>
            <a:pPr>
              <a:buFont typeface="Arial" pitchFamily="34" charset="0"/>
              <a:buChar char="•"/>
            </a:pPr>
            <a:r>
              <a:rPr lang="en-AU" sz="1200" b="0" kern="1200" baseline="0" dirty="0" smtClean="0">
                <a:solidFill>
                  <a:schemeClr val="tx1"/>
                </a:solidFill>
                <a:ea typeface="+mn-ea"/>
                <a:cs typeface="+mn-cs"/>
              </a:rPr>
              <a:t>What information is included in sales </a:t>
            </a:r>
            <a:r>
              <a:rPr lang="en-AU" sz="1200" b="0" kern="1200" baseline="0" dirty="0" smtClean="0">
                <a:solidFill>
                  <a:schemeClr val="tx1"/>
                </a:solidFill>
                <a:ea typeface="+mn-ea"/>
                <a:cs typeface="+mn-cs"/>
              </a:rPr>
              <a:t>reports?</a:t>
            </a:r>
            <a:endParaRPr lang="en-AU" sz="1200" b="0" kern="1200" baseline="0" dirty="0" smtClean="0">
              <a:solidFill>
                <a:schemeClr val="tx1"/>
              </a:solidFill>
              <a:ea typeface="+mn-ea"/>
              <a:cs typeface="+mn-cs"/>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  </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activities are associated with each of these steps?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  </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other information can be included in a sales report?</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  </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other information can be included in a sales report?</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  </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is the purpose of each type of sales presentation method?</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importance of these </a:t>
            </a:r>
            <a:r>
              <a:rPr lang="en-AU" sz="1200" b="0" kern="1200" baseline="0" dirty="0" smtClean="0">
                <a:solidFill>
                  <a:schemeClr val="tx1"/>
                </a:solidFill>
                <a:ea typeface="+mn-ea"/>
                <a:cs typeface="+mn-cs"/>
              </a:rPr>
              <a:t>points.</a:t>
            </a:r>
            <a:endParaRPr lang="en-AU" sz="1200" b="0" kern="1200" baseline="0" dirty="0" smtClean="0">
              <a:solidFill>
                <a:schemeClr val="tx1"/>
              </a:solidFill>
              <a:ea typeface="+mn-ea"/>
              <a:cs typeface="+mn-cs"/>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importance of these points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importance of these points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  </a:t>
            </a: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questions in the slide.</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importance of these points</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solidFill>
                  <a:srgbClr val="FF6600"/>
                </a:solidFill>
                <a:latin typeface="Helvetica" pitchFamily="34" charset="0"/>
              </a:rPr>
              <a:t>COMPLETE ACTIVITY 31</a:t>
            </a:r>
            <a:endParaRPr lang="en-AU" sz="1200" dirty="0" smtClean="0">
              <a:latin typeface="Helvetica" pitchFamily="34" charset="0"/>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What are common factors that affect the attainment of sales?</a:t>
            </a:r>
          </a:p>
          <a:p>
            <a:pPr>
              <a:buFont typeface="Arial" pitchFamily="34" charset="0"/>
              <a:buChar char="•"/>
            </a:pPr>
            <a:r>
              <a:rPr lang="en-AU" sz="1200" kern="1200" baseline="0" dirty="0" smtClean="0">
                <a:solidFill>
                  <a:schemeClr val="tx1"/>
                </a:solidFill>
                <a:ea typeface="+mn-ea"/>
                <a:cs typeface="+mn-cs"/>
              </a:rPr>
              <a:t>What can be done to prevent or minimise these factors?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 </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this point.</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 </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this point.</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 </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How can this review take place?</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Questions </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What are examples of each?</a:t>
            </a:r>
          </a:p>
          <a:p>
            <a:pPr marL="0" marR="0" lvl="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solidFill>
                  <a:srgbClr val="FF6600"/>
                </a:solidFill>
                <a:latin typeface="Helvetica" pitchFamily="34" charset="0"/>
              </a:rPr>
              <a:t>COMPLETE ACTIVITY 32</a:t>
            </a:r>
            <a:endParaRPr lang="en-AU" sz="1200" dirty="0" smtClean="0">
              <a:latin typeface="Helvetica" pitchFamily="34" charset="0"/>
            </a:endParaRPr>
          </a:p>
          <a:p>
            <a:pPr>
              <a:buFont typeface="Arial" pitchFamily="34" charset="0"/>
              <a:buChar char="•"/>
            </a:pPr>
            <a:endParaRPr lang="en-AU" sz="1200" b="0" kern="1200" baseline="0" dirty="0" smtClean="0">
              <a:solidFill>
                <a:schemeClr val="tx1"/>
              </a:solidFill>
              <a:ea typeface="+mn-ea"/>
              <a:cs typeface="+mn-cs"/>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Class Activity – 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Why is immediate attention required?</a:t>
            </a:r>
          </a:p>
          <a:p>
            <a:pPr lvl="0">
              <a:buFont typeface="Arial" pitchFamily="34" charset="0"/>
              <a:buNone/>
            </a:pPr>
            <a:endParaRPr lang="en-AU" sz="1200" kern="1200" dirty="0" smtClean="0">
              <a:solidFill>
                <a:schemeClr val="tx1"/>
              </a:solidFill>
              <a:ea typeface="+mn-ea"/>
              <a:cs typeface="+mn-cs"/>
            </a:endParaRPr>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these points</a:t>
            </a:r>
          </a:p>
          <a:p>
            <a:pPr lvl="0">
              <a:buFont typeface="Arial" pitchFamily="34" charset="0"/>
              <a:buNone/>
            </a:pPr>
            <a:endParaRPr lang="en-AU" sz="1200" kern="1200" dirty="0" smtClean="0">
              <a:solidFill>
                <a:schemeClr val="tx1"/>
              </a:solidFill>
              <a:ea typeface="+mn-ea"/>
              <a:cs typeface="+mn-cs"/>
            </a:endParaRPr>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how each of these points can affect performance.</a:t>
            </a:r>
          </a:p>
          <a:p>
            <a:pPr lvl="0">
              <a:buFont typeface="Arial" pitchFamily="34" charset="0"/>
              <a:buNone/>
            </a:pPr>
            <a:endParaRPr lang="en-AU" sz="1200" kern="1200" dirty="0" smtClean="0">
              <a:solidFill>
                <a:schemeClr val="tx1"/>
              </a:solidFill>
              <a:ea typeface="+mn-ea"/>
              <a:cs typeface="+mn-cs"/>
            </a:endParaRPr>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155</a:t>
            </a:fld>
            <a:endParaRPr lang="en-US" dirty="0"/>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baseline="0" dirty="0" smtClean="0">
                <a:solidFill>
                  <a:schemeClr val="tx1"/>
                </a:solidFill>
                <a:ea typeface="+mn-ea"/>
                <a:cs typeface="+mn-cs"/>
              </a:rPr>
              <a:t>Questions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b="0"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baseline="0" dirty="0" smtClean="0">
                <a:solidFill>
                  <a:schemeClr val="tx1"/>
                </a:solidFill>
                <a:ea typeface="+mn-ea"/>
                <a:cs typeface="+mn-cs"/>
              </a:rPr>
              <a:t>Discuss how each of these points can affect performance.</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dirty="0" smtClean="0">
                <a:solidFill>
                  <a:srgbClr val="FF6600"/>
                </a:solidFill>
                <a:latin typeface="Helvetica" pitchFamily="34" charset="0"/>
              </a:rPr>
              <a:t>COMPLETE ACTIVITY 33</a:t>
            </a:r>
            <a:endParaRPr lang="en-AU" sz="1200" dirty="0" smtClean="0">
              <a:latin typeface="Helvetica" pitchFamily="34" charset="0"/>
            </a:endParaRPr>
          </a:p>
          <a:p>
            <a:pPr lvl="0">
              <a:buFont typeface="Arial" pitchFamily="34" charset="0"/>
              <a:buNone/>
            </a:pPr>
            <a:endParaRPr lang="en-AU" sz="1200" kern="1200" dirty="0" smtClean="0">
              <a:solidFill>
                <a:schemeClr val="tx1"/>
              </a:solidFill>
              <a:ea typeface="+mn-ea"/>
              <a:cs typeface="+mn-cs"/>
            </a:endParaRPr>
          </a:p>
          <a:p>
            <a:endParaRPr lang="en-AU" sz="120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156</a:t>
            </a:fld>
            <a:endParaRPr lang="en-US" dirty="0"/>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ea typeface="+mn-ea"/>
                <a:cs typeface="+mn-cs"/>
              </a:rPr>
              <a:t>Introduce</a:t>
            </a:r>
            <a:r>
              <a:rPr lang="en-AU" sz="1200" kern="1200" baseline="0" dirty="0" smtClean="0">
                <a:solidFill>
                  <a:schemeClr val="tx1"/>
                </a:solidFill>
                <a:ea typeface="+mn-ea"/>
                <a:cs typeface="+mn-cs"/>
              </a:rPr>
              <a:t> topic.</a:t>
            </a:r>
          </a:p>
          <a:p>
            <a:pPr marL="0" marR="0" indent="0" algn="l" defTabSz="914400" rtl="0" eaLnBrk="1" fontAlgn="auto" latinLnBrk="0" hangingPunct="1">
              <a:lnSpc>
                <a:spcPct val="100000"/>
              </a:lnSpc>
              <a:spcBef>
                <a:spcPts val="0"/>
              </a:spcBef>
              <a:spcAft>
                <a:spcPts val="0"/>
              </a:spcAft>
              <a:buClrTx/>
              <a:buSzTx/>
              <a:buFontTx/>
              <a:buNone/>
              <a:tabLst/>
              <a:defRPr/>
            </a:pPr>
            <a:endParaRPr lang="en-AU" sz="1200" b="1" kern="1200" baseline="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Class Activity – General Discussion</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Ask general questions:</a:t>
            </a:r>
          </a:p>
          <a:p>
            <a:pPr>
              <a:buFont typeface="Arial" pitchFamily="34" charset="0"/>
              <a:buChar char="•"/>
            </a:pPr>
            <a:r>
              <a:rPr lang="en-AU" sz="1200" kern="1200" baseline="0" dirty="0" smtClean="0">
                <a:solidFill>
                  <a:schemeClr val="tx1"/>
                </a:solidFill>
                <a:ea typeface="+mn-ea"/>
                <a:cs typeface="+mn-cs"/>
              </a:rPr>
              <a:t>Why is there a need to conduct ongoing evaluation of marketing and sales activities?</a:t>
            </a:r>
          </a:p>
          <a:p>
            <a:pPr>
              <a:buFont typeface="Arial" pitchFamily="34" charset="0"/>
              <a:buChar char="•"/>
            </a:pPr>
            <a:r>
              <a:rPr lang="en-AU" sz="1200" kern="1200" baseline="0" dirty="0" smtClean="0">
                <a:solidFill>
                  <a:schemeClr val="tx1"/>
                </a:solidFill>
                <a:ea typeface="+mn-ea"/>
                <a:cs typeface="+mn-cs"/>
              </a:rPr>
              <a:t>Who should be responsible for undertaking this evaluation?</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157</a:t>
            </a:fld>
            <a:endParaRPr lang="en-US" dirty="0"/>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the Performance Criteria for this Element, as listed on the slide.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158</a:t>
            </a:fld>
            <a:endParaRPr lang="en-US" dirty="0"/>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r>
              <a:rPr lang="en-AU" b="1" baseline="0" dirty="0" smtClean="0"/>
              <a:t>ion</a:t>
            </a:r>
            <a:endParaRPr lang="en-AU" b="1" dirty="0" smtClean="0"/>
          </a:p>
          <a:p>
            <a:endParaRPr lang="en-AU" dirty="0" smtClean="0"/>
          </a:p>
          <a:p>
            <a:pPr>
              <a:buFont typeface="Arial" pitchFamily="34" charset="0"/>
              <a:buChar char="•"/>
            </a:pPr>
            <a:r>
              <a:rPr lang="en-AU" dirty="0" smtClean="0"/>
              <a:t>Discuss</a:t>
            </a:r>
            <a:r>
              <a:rPr lang="en-AU" baseline="0" dirty="0" smtClean="0"/>
              <a:t> topics.</a:t>
            </a:r>
          </a:p>
          <a:p>
            <a:pPr>
              <a:buFont typeface="Arial" pitchFamily="34" charset="0"/>
              <a:buChar char="•"/>
            </a:pPr>
            <a:r>
              <a:rPr lang="en-AU" baseline="0" dirty="0" smtClean="0"/>
              <a:t>What tasks are associated with these mechanisms?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159</a:t>
            </a:fld>
            <a:endParaRPr lang="en-US" dirty="0"/>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b="1" dirty="0" smtClean="0"/>
              <a:t>Discuss</a:t>
            </a:r>
            <a:r>
              <a:rPr lang="en-AU" b="1" baseline="0" dirty="0" smtClean="0"/>
              <a:t>ion</a:t>
            </a:r>
            <a:endParaRPr lang="en-AU" b="1" dirty="0" smtClean="0"/>
          </a:p>
          <a:p>
            <a:endParaRPr lang="en-AU" dirty="0" smtClean="0"/>
          </a:p>
          <a:p>
            <a:pPr>
              <a:buFont typeface="Arial" pitchFamily="34" charset="0"/>
              <a:buChar char="•"/>
            </a:pPr>
            <a:r>
              <a:rPr lang="en-AU" dirty="0" smtClean="0"/>
              <a:t>Discuss</a:t>
            </a:r>
            <a:r>
              <a:rPr lang="en-AU" baseline="0" dirty="0" smtClean="0"/>
              <a:t> these parameters.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160</a:t>
            </a:fld>
            <a:endParaRPr lang="en-US" dirty="0"/>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importance of these points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161</a:t>
            </a:fld>
            <a:endParaRPr lang="en-US" dirty="0"/>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question in the slide.</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162</a:t>
            </a:fld>
            <a:endParaRPr lang="en-US" dirty="0"/>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Trainer to provide examples.</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163</a:t>
            </a:fld>
            <a:endParaRPr lang="en-US" dirty="0"/>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types of adjustments including courses of action that can be taken.</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164</a:t>
            </a:fld>
            <a:endParaRPr lang="en-US" dirty="0"/>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types of adjustments including courses of action that can be taken.</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165</a:t>
            </a:fld>
            <a:endParaRPr lang="en-US" dirty="0"/>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types of adjustments including courses of action that can be taken.</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166</a:t>
            </a:fld>
            <a:endParaRPr lang="en-US" dirty="0"/>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steps associated with making recommendations for change.</a:t>
            </a: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167</a:t>
            </a:fld>
            <a:endParaRPr lang="en-US" dirty="0"/>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steps associated with making recommendations for change.</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dirty="0" smtClean="0">
                <a:solidFill>
                  <a:srgbClr val="FF6600"/>
                </a:solidFill>
                <a:latin typeface="Helvetica" pitchFamily="34" charset="0"/>
              </a:rPr>
              <a:t>COMPLETE ACTIVITY 34</a:t>
            </a:r>
            <a:endParaRPr lang="en-AU" sz="1200" dirty="0" smtClean="0">
              <a:latin typeface="Helvetica" pitchFamily="34" charset="0"/>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168</a:t>
            </a:fld>
            <a:endParaRPr lang="en-US" dirty="0"/>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AU" sz="1200" b="1" kern="1200" baseline="0" dirty="0" smtClean="0">
                <a:solidFill>
                  <a:schemeClr val="tx1"/>
                </a:solidFill>
                <a:ea typeface="+mn-ea"/>
                <a:cs typeface="+mn-cs"/>
              </a:rPr>
              <a:t>Discussion</a:t>
            </a:r>
          </a:p>
          <a:p>
            <a:endParaRPr lang="en-AU" sz="1200" kern="1200" baseline="0" dirty="0" smtClean="0">
              <a:solidFill>
                <a:schemeClr val="tx1"/>
              </a:solidFill>
              <a:ea typeface="+mn-ea"/>
              <a:cs typeface="+mn-cs"/>
            </a:endParaRPr>
          </a:p>
          <a:p>
            <a:pPr>
              <a:buFont typeface="Arial" pitchFamily="34" charset="0"/>
              <a:buChar char="•"/>
            </a:pPr>
            <a:r>
              <a:rPr lang="en-AU" sz="1200" b="0" kern="1200" baseline="0" dirty="0" smtClean="0">
                <a:solidFill>
                  <a:schemeClr val="tx1"/>
                </a:solidFill>
                <a:ea typeface="+mn-ea"/>
                <a:cs typeface="+mn-cs"/>
              </a:rPr>
              <a:t>Discuss the best ways to communicate changes?</a:t>
            </a:r>
            <a:endParaRPr lang="en-AU" sz="1200" dirty="0" smtClean="0">
              <a:latin typeface="Helvetica" pitchFamily="34" charset="0"/>
            </a:endParaRPr>
          </a:p>
          <a:p>
            <a:pPr>
              <a:buFont typeface="Arial" pitchFamily="34" charset="0"/>
              <a:buChar char="•"/>
            </a:pPr>
            <a:endParaRPr lang="en-AU" sz="1200" kern="1200" baseline="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169</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1/25/2015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1/25/2015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1/25/2015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1/25/2015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1/25/2015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1/25/2015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1/25/2015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1/25/2015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1/25/2015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1/25/2015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1/25/2015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1/25/2015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27.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28.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30.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32.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33.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34.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35.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36.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37.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38.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39.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40.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41.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42.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43.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45.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47.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49.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50.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51.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52.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53.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54.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55.jpeg"/><Relationship Id="rId2" Type="http://schemas.openxmlformats.org/officeDocument/2006/relationships/notesSlide" Target="../notesSlides/notesSlide155.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3" Type="http://schemas.openxmlformats.org/officeDocument/2006/relationships/image" Target="../media/image156.jpeg"/><Relationship Id="rId2" Type="http://schemas.openxmlformats.org/officeDocument/2006/relationships/notesSlide" Target="../notesSlides/notesSlide156.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57.jpeg"/><Relationship Id="rId2" Type="http://schemas.openxmlformats.org/officeDocument/2006/relationships/notesSlide" Target="../notesSlides/notesSlide157.xml"/><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58.jpeg"/><Relationship Id="rId2" Type="http://schemas.openxmlformats.org/officeDocument/2006/relationships/notesSlide" Target="../notesSlides/notesSlide158.xml"/><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3" Type="http://schemas.openxmlformats.org/officeDocument/2006/relationships/image" Target="../media/image159.jpeg"/><Relationship Id="rId2" Type="http://schemas.openxmlformats.org/officeDocument/2006/relationships/notesSlide" Target="../notesSlides/notesSlide159.xm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3" Type="http://schemas.openxmlformats.org/officeDocument/2006/relationships/image" Target="../media/image160.jpeg"/><Relationship Id="rId2" Type="http://schemas.openxmlformats.org/officeDocument/2006/relationships/notesSlide" Target="../notesSlides/notesSlide160.xml"/><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61.jpeg"/><Relationship Id="rId2" Type="http://schemas.openxmlformats.org/officeDocument/2006/relationships/notesSlide" Target="../notesSlides/notesSlide161.xml"/><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image" Target="../media/image162.jpeg"/><Relationship Id="rId2" Type="http://schemas.openxmlformats.org/officeDocument/2006/relationships/notesSlide" Target="../notesSlides/notesSlide162.xm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notesSlide" Target="../notesSlides/notesSlide163.xml"/><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3" Type="http://schemas.openxmlformats.org/officeDocument/2006/relationships/image" Target="../media/image164.jpeg"/><Relationship Id="rId2" Type="http://schemas.openxmlformats.org/officeDocument/2006/relationships/notesSlide" Target="../notesSlides/notesSlide164.xml"/><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65.jpeg"/><Relationship Id="rId2" Type="http://schemas.openxmlformats.org/officeDocument/2006/relationships/notesSlide" Target="../notesSlides/notesSlide165.xml"/><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3" Type="http://schemas.openxmlformats.org/officeDocument/2006/relationships/image" Target="../media/image166.jpeg"/><Relationship Id="rId2" Type="http://schemas.openxmlformats.org/officeDocument/2006/relationships/notesSlide" Target="../notesSlides/notesSlide166.xm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3" Type="http://schemas.openxmlformats.org/officeDocument/2006/relationships/image" Target="../media/image167.jpeg"/><Relationship Id="rId2" Type="http://schemas.openxmlformats.org/officeDocument/2006/relationships/notesSlide" Target="../notesSlides/notesSlide167.xml"/><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68.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16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9552" y="548680"/>
            <a:ext cx="7848200" cy="936104"/>
          </a:xfrm>
        </p:spPr>
        <p:txBody>
          <a:bodyPr>
            <a:normAutofit fontScale="90000"/>
          </a:bodyPr>
          <a:lstStyle/>
          <a:p>
            <a:r>
              <a:rPr lang="en-AU" sz="4000" dirty="0">
                <a:ln w="5000" cmpd="sng">
                  <a:noFill/>
                  <a:prstDash val="solid"/>
                </a:ln>
                <a:solidFill>
                  <a:srgbClr val="FF6600"/>
                </a:solidFill>
                <a:latin typeface="Helvetica" pitchFamily="34" charset="0"/>
              </a:rPr>
              <a:t>DEVELOP A MARKETING STRATEGY AND COORDINATE SALES ACTIVITIES</a:t>
            </a:r>
          </a:p>
        </p:txBody>
      </p:sp>
      <p:sp>
        <p:nvSpPr>
          <p:cNvPr id="3" name="Subtitle 2"/>
          <p:cNvSpPr>
            <a:spLocks noGrp="1"/>
          </p:cNvSpPr>
          <p:nvPr>
            <p:ph type="subTitle" idx="1"/>
          </p:nvPr>
        </p:nvSpPr>
        <p:spPr>
          <a:xfrm>
            <a:off x="5847156" y="2276872"/>
            <a:ext cx="2541268" cy="1296144"/>
          </a:xfrm>
        </p:spPr>
        <p:txBody>
          <a:bodyPr>
            <a:normAutofit/>
          </a:bodyPr>
          <a:lstStyle/>
          <a:p>
            <a:r>
              <a:rPr lang="en-AU" b="1" dirty="0">
                <a:latin typeface="Helvetica" pitchFamily="34" charset="0"/>
              </a:rPr>
              <a:t>D1.HCS.CL6.01    D1.HSM.CL5.03      D2.TTA.CL2.09      D2.TCS.CL5.05</a:t>
            </a: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1" name="Group 20"/>
          <p:cNvGrpSpPr/>
          <p:nvPr/>
        </p:nvGrpSpPr>
        <p:grpSpPr>
          <a:xfrm>
            <a:off x="662584" y="2852936"/>
            <a:ext cx="5047213" cy="3816424"/>
            <a:chOff x="0" y="0"/>
            <a:chExt cx="7585544" cy="6098650"/>
          </a:xfrm>
        </p:grpSpPr>
        <p:pic>
          <p:nvPicPr>
            <p:cNvPr id="22" name="Picture 21"/>
            <p:cNvPicPr>
              <a:picLocks noChangeAspect="1"/>
            </p:cNvPicPr>
            <p:nvPr/>
          </p:nvPicPr>
          <p:blipFill rotWithShape="1">
            <a:blip r:embed="rId3" cstate="print">
              <a:extLst>
                <a:ext uri="{28A0092B-C50C-407E-A947-70E740481C1C}">
                  <a14:useLocalDpi xmlns="" xmlns:a14="http://schemas.microsoft.com/office/drawing/2010/main" val="0"/>
                </a:ext>
              </a:extLst>
            </a:blip>
            <a:srcRect l="23382" t="8066" r="23964" b="10443"/>
            <a:stretch/>
          </p:blipFill>
          <p:spPr bwMode="auto">
            <a:xfrm>
              <a:off x="4468633" y="1502797"/>
              <a:ext cx="3069203" cy="3053300"/>
            </a:xfrm>
            <a:prstGeom prst="rect">
              <a:avLst/>
            </a:prstGeom>
            <a:ln>
              <a:noFill/>
            </a:ln>
            <a:extLst>
              <a:ext uri="{53640926-AAD7-44D8-BBD7-CCE9431645EC}">
                <a14:shadowObscured xmlns="" xmlns:a14="http://schemas.microsoft.com/office/drawing/2010/main"/>
              </a:ext>
            </a:extLst>
          </p:spPr>
        </p:pic>
        <p:pic>
          <p:nvPicPr>
            <p:cNvPr id="23" name="Picture 22"/>
            <p:cNvPicPr>
              <a:picLocks noChangeAspect="1"/>
            </p:cNvPicPr>
            <p:nvPr/>
          </p:nvPicPr>
          <p:blipFill rotWithShape="1">
            <a:blip r:embed="rId4" cstate="print">
              <a:extLst>
                <a:ext uri="{28A0092B-C50C-407E-A947-70E740481C1C}">
                  <a14:useLocalDpi xmlns="" xmlns:a14="http://schemas.microsoft.com/office/drawing/2010/main" val="0"/>
                </a:ext>
              </a:extLst>
            </a:blip>
            <a:srcRect l="2066" r="11983" b="19666"/>
            <a:stretch/>
          </p:blipFill>
          <p:spPr bwMode="auto">
            <a:xfrm>
              <a:off x="4643562" y="4269850"/>
              <a:ext cx="2910177" cy="1812898"/>
            </a:xfrm>
            <a:prstGeom prst="rect">
              <a:avLst/>
            </a:prstGeom>
            <a:ln>
              <a:noFill/>
            </a:ln>
            <a:extLst>
              <a:ext uri="{53640926-AAD7-44D8-BBD7-CCE9431645EC}">
                <a14:shadowObscured xmlns="" xmlns:a14="http://schemas.microsoft.com/office/drawing/2010/main"/>
              </a:ext>
            </a:extLst>
          </p:spPr>
        </p:pic>
        <p:pic>
          <p:nvPicPr>
            <p:cNvPr id="24" name="Picture 23"/>
            <p:cNvPicPr>
              <a:picLocks noChangeAspect="1"/>
            </p:cNvPicPr>
            <p:nvPr/>
          </p:nvPicPr>
          <p:blipFill rotWithShape="1">
            <a:blip r:embed="rId5" cstate="print">
              <a:extLst>
                <a:ext uri="{28A0092B-C50C-407E-A947-70E740481C1C}">
                  <a14:useLocalDpi xmlns="" xmlns:a14="http://schemas.microsoft.com/office/drawing/2010/main" val="0"/>
                </a:ext>
              </a:extLst>
            </a:blip>
            <a:srcRect t="3460" r="19030" b="26513"/>
            <a:stretch/>
          </p:blipFill>
          <p:spPr bwMode="auto">
            <a:xfrm>
              <a:off x="4643562" y="0"/>
              <a:ext cx="2941982" cy="1828800"/>
            </a:xfrm>
            <a:prstGeom prst="rect">
              <a:avLst/>
            </a:prstGeom>
            <a:ln>
              <a:noFill/>
            </a:ln>
            <a:extLst>
              <a:ext uri="{53640926-AAD7-44D8-BBD7-CCE9431645EC}">
                <a14:shadowObscured xmlns="" xmlns:a14="http://schemas.microsoft.com/office/drawing/2010/main"/>
              </a:ext>
            </a:extLst>
          </p:spPr>
        </p:pic>
        <p:pic>
          <p:nvPicPr>
            <p:cNvPr id="25" name="Picture 24"/>
            <p:cNvPicPr>
              <a:picLocks noChangeAspect="1"/>
            </p:cNvPicPr>
            <p:nvPr/>
          </p:nvPicPr>
          <p:blipFill rotWithShape="1">
            <a:blip r:embed="rId6" cstate="print">
              <a:extLst>
                <a:ext uri="{28A0092B-C50C-407E-A947-70E740481C1C}">
                  <a14:useLocalDpi xmlns="" xmlns:a14="http://schemas.microsoft.com/office/drawing/2010/main" val="0"/>
                </a:ext>
              </a:extLst>
            </a:blip>
            <a:srcRect l="1890" t="1444" r="5459" b="7583"/>
            <a:stretch/>
          </p:blipFill>
          <p:spPr bwMode="auto">
            <a:xfrm>
              <a:off x="0" y="0"/>
              <a:ext cx="4651513" cy="6098650"/>
            </a:xfrm>
            <a:prstGeom prst="rect">
              <a:avLst/>
            </a:prstGeom>
            <a:noFill/>
            <a:ln>
              <a:noFill/>
            </a:ln>
            <a:extLst>
              <a:ext uri="{53640926-AAD7-44D8-BBD7-CCE9431645EC}">
                <a14:shadowObscured xmlns="" xmlns:a14="http://schemas.microsoft.com/office/drawing/2010/main"/>
              </a:ext>
            </a:extLst>
          </p:spPr>
        </p:pic>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734144"/>
          </a:xfrm>
        </p:spPr>
        <p:txBody>
          <a:bodyPr>
            <a:normAutofit/>
          </a:bodyPr>
          <a:lstStyle/>
          <a:p>
            <a:r>
              <a:rPr lang="en-US" sz="3400" b="1" dirty="0" smtClean="0">
                <a:solidFill>
                  <a:srgbClr val="FF6600"/>
                </a:solidFill>
                <a:latin typeface="Helvetica" pitchFamily="34" charset="0"/>
              </a:rPr>
              <a:t>Subject elements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268760"/>
            <a:ext cx="7467600" cy="5301208"/>
          </a:xfrm>
        </p:spPr>
        <p:txBody>
          <a:bodyPr>
            <a:normAutofit/>
          </a:bodyPr>
          <a:lstStyle/>
          <a:p>
            <a:pPr marL="0" indent="0">
              <a:spcBef>
                <a:spcPts val="600"/>
              </a:spcBef>
              <a:spcAft>
                <a:spcPts val="600"/>
              </a:spcAft>
              <a:buNone/>
            </a:pPr>
            <a:r>
              <a:rPr lang="en-AU" sz="2100" dirty="0" smtClean="0">
                <a:latin typeface="Helvetica" pitchFamily="34" charset="0"/>
              </a:rPr>
              <a:t>This unit comprises seven Elements:</a:t>
            </a:r>
          </a:p>
          <a:p>
            <a:pPr marL="493776" indent="-457200">
              <a:spcBef>
                <a:spcPts val="600"/>
              </a:spcBef>
              <a:spcAft>
                <a:spcPts val="600"/>
              </a:spcAft>
              <a:buSzPct val="100000"/>
              <a:buFont typeface="+mj-lt"/>
              <a:buAutoNum type="arabicPeriod"/>
            </a:pPr>
            <a:r>
              <a:rPr lang="en-AU" sz="2100" dirty="0" smtClean="0">
                <a:latin typeface="Helvetica" pitchFamily="34" charset="0"/>
              </a:rPr>
              <a:t>Collect and analyse information on the business environment</a:t>
            </a:r>
          </a:p>
          <a:p>
            <a:pPr marL="493776" indent="-457200">
              <a:spcBef>
                <a:spcPts val="600"/>
              </a:spcBef>
              <a:spcAft>
                <a:spcPts val="600"/>
              </a:spcAft>
              <a:buSzPct val="100000"/>
              <a:buFont typeface="+mj-lt"/>
              <a:buAutoNum type="arabicPeriod"/>
            </a:pPr>
            <a:r>
              <a:rPr lang="en-AU" sz="2100" dirty="0" smtClean="0">
                <a:latin typeface="Helvetica" pitchFamily="34" charset="0"/>
              </a:rPr>
              <a:t>Prepare marketing strategies or plans</a:t>
            </a:r>
          </a:p>
          <a:p>
            <a:pPr marL="493776" indent="-457200">
              <a:spcBef>
                <a:spcPts val="600"/>
              </a:spcBef>
              <a:spcAft>
                <a:spcPts val="600"/>
              </a:spcAft>
              <a:buSzPct val="100000"/>
              <a:buFont typeface="+mj-lt"/>
              <a:buAutoNum type="arabicPeriod"/>
            </a:pPr>
            <a:r>
              <a:rPr lang="en-AU" sz="2100" dirty="0" smtClean="0">
                <a:latin typeface="Helvetica" pitchFamily="34" charset="0"/>
              </a:rPr>
              <a:t>Implement and monitor marketing activities and sales strategies</a:t>
            </a:r>
          </a:p>
          <a:p>
            <a:pPr marL="493776" indent="-457200">
              <a:spcBef>
                <a:spcPts val="600"/>
              </a:spcBef>
              <a:spcAft>
                <a:spcPts val="600"/>
              </a:spcAft>
              <a:buSzPct val="100000"/>
              <a:buFont typeface="+mj-lt"/>
              <a:buAutoNum type="arabicPeriod"/>
            </a:pPr>
            <a:r>
              <a:rPr lang="en-AU" sz="2100" dirty="0" smtClean="0">
                <a:latin typeface="Helvetica" pitchFamily="34" charset="0"/>
              </a:rPr>
              <a:t>Implement sales policies and procedures</a:t>
            </a:r>
          </a:p>
          <a:p>
            <a:pPr marL="493776" indent="-457200">
              <a:spcBef>
                <a:spcPts val="600"/>
              </a:spcBef>
              <a:spcAft>
                <a:spcPts val="600"/>
              </a:spcAft>
              <a:buSzPct val="100000"/>
              <a:buFont typeface="+mj-lt"/>
              <a:buAutoNum type="arabicPeriod"/>
            </a:pPr>
            <a:r>
              <a:rPr lang="en-AU" sz="2100" dirty="0" smtClean="0">
                <a:latin typeface="Helvetica" pitchFamily="34" charset="0"/>
              </a:rPr>
              <a:t>Monitor achievement of sales targets,                         business goals and outcomes</a:t>
            </a:r>
          </a:p>
          <a:p>
            <a:pPr marL="493776" indent="-457200">
              <a:spcBef>
                <a:spcPts val="600"/>
              </a:spcBef>
              <a:spcAft>
                <a:spcPts val="600"/>
              </a:spcAft>
              <a:buSzPct val="100000"/>
              <a:buFont typeface="+mj-lt"/>
              <a:buAutoNum type="arabicPeriod"/>
            </a:pPr>
            <a:r>
              <a:rPr lang="en-AU" sz="2100" dirty="0" smtClean="0">
                <a:latin typeface="Helvetica" pitchFamily="34" charset="0"/>
              </a:rPr>
              <a:t>Determine factors affecting attainment of                              sales targets</a:t>
            </a:r>
          </a:p>
          <a:p>
            <a:pPr marL="493776" indent="-457200">
              <a:spcBef>
                <a:spcPts val="600"/>
              </a:spcBef>
              <a:spcAft>
                <a:spcPts val="600"/>
              </a:spcAft>
              <a:buSzPct val="100000"/>
              <a:buFont typeface="+mj-lt"/>
              <a:buAutoNum type="arabicPeriod"/>
            </a:pPr>
            <a:r>
              <a:rPr lang="en-AU" sz="2100" dirty="0" smtClean="0">
                <a:latin typeface="Helvetica" pitchFamily="34" charset="0"/>
              </a:rPr>
              <a:t>Conduct ongoing evaluation</a:t>
            </a: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descr="A14 shutterstock_161464205.jpg"/>
          <p:cNvPicPr>
            <a:picLocks noChangeAspect="1"/>
          </p:cNvPicPr>
          <p:nvPr/>
        </p:nvPicPr>
        <p:blipFill>
          <a:blip r:embed="rId3" cstate="print"/>
          <a:stretch>
            <a:fillRect/>
          </a:stretch>
        </p:blipFill>
        <p:spPr>
          <a:xfrm>
            <a:off x="6715140" y="4786322"/>
            <a:ext cx="2059517" cy="1373698"/>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810344"/>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19675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Assessment for this unit may include:</a:t>
            </a:r>
          </a:p>
          <a:p>
            <a:pPr marL="360000" indent="-360000">
              <a:spcBef>
                <a:spcPts val="600"/>
              </a:spcBef>
              <a:spcAft>
                <a:spcPts val="1200"/>
              </a:spcAft>
            </a:pPr>
            <a:r>
              <a:rPr lang="en-AU" sz="2200" dirty="0" smtClean="0">
                <a:latin typeface="Helvetica" pitchFamily="34" charset="0"/>
              </a:rPr>
              <a:t>Oral questions</a:t>
            </a:r>
          </a:p>
          <a:p>
            <a:pPr marL="360000" indent="-360000">
              <a:spcBef>
                <a:spcPts val="600"/>
              </a:spcBef>
              <a:spcAft>
                <a:spcPts val="1200"/>
              </a:spcAft>
            </a:pPr>
            <a:r>
              <a:rPr lang="en-AU" sz="2200" dirty="0" smtClean="0">
                <a:latin typeface="Helvetica" pitchFamily="34" charset="0"/>
              </a:rPr>
              <a:t>Written questions</a:t>
            </a:r>
          </a:p>
          <a:p>
            <a:pPr marL="360000" indent="-360000">
              <a:spcBef>
                <a:spcPts val="600"/>
              </a:spcBef>
              <a:spcAft>
                <a:spcPts val="1200"/>
              </a:spcAft>
            </a:pPr>
            <a:r>
              <a:rPr lang="en-AU" sz="2200" dirty="0" smtClean="0">
                <a:latin typeface="Helvetica" pitchFamily="34" charset="0"/>
              </a:rPr>
              <a:t>Work projects</a:t>
            </a:r>
          </a:p>
          <a:p>
            <a:pPr marL="360000" indent="-360000">
              <a:spcBef>
                <a:spcPts val="600"/>
              </a:spcBef>
              <a:spcAft>
                <a:spcPts val="1200"/>
              </a:spcAft>
            </a:pPr>
            <a:r>
              <a:rPr lang="en-AU" sz="2200" dirty="0" smtClean="0">
                <a:latin typeface="Helvetica" pitchFamily="34" charset="0"/>
              </a:rPr>
              <a:t>Workplace observation of practical skills</a:t>
            </a:r>
          </a:p>
          <a:p>
            <a:pPr marL="360000" indent="-360000">
              <a:spcBef>
                <a:spcPts val="600"/>
              </a:spcBef>
              <a:spcAft>
                <a:spcPts val="1200"/>
              </a:spcAft>
            </a:pPr>
            <a:r>
              <a:rPr lang="en-AU" sz="2200" dirty="0" smtClean="0">
                <a:latin typeface="Helvetica" pitchFamily="34" charset="0"/>
              </a:rPr>
              <a:t>Practical exercises</a:t>
            </a:r>
          </a:p>
          <a:p>
            <a:pPr marL="360000" indent="-360000">
              <a:spcBef>
                <a:spcPts val="600"/>
              </a:spcBef>
              <a:spcAft>
                <a:spcPts val="1200"/>
              </a:spcAft>
            </a:pPr>
            <a:r>
              <a:rPr lang="en-AU" sz="2200" dirty="0" smtClean="0">
                <a:latin typeface="Helvetica" pitchFamily="34" charset="0"/>
              </a:rPr>
              <a:t>Formal report from supervisor</a:t>
            </a:r>
          </a:p>
          <a:p>
            <a:pPr marL="360000" indent="-360000">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a:t>
            </a:fld>
            <a:endParaRPr lang="en-US" dirty="0">
              <a:latin typeface="Helvetica" pitchFamily="34" charset="0"/>
            </a:endParaRPr>
          </a:p>
        </p:txBody>
      </p:sp>
      <p:pic>
        <p:nvPicPr>
          <p:cNvPr id="5" name="Picture 4" descr="shutterstock_71651842.jpg"/>
          <p:cNvPicPr>
            <a:picLocks noChangeAspect="1"/>
          </p:cNvPicPr>
          <p:nvPr/>
        </p:nvPicPr>
        <p:blipFill>
          <a:blip r:embed="rId3" cstate="print"/>
          <a:stretch>
            <a:fillRect/>
          </a:stretch>
        </p:blipFill>
        <p:spPr>
          <a:xfrm>
            <a:off x="6372200" y="3068960"/>
            <a:ext cx="2024066" cy="2024066"/>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dirty="0" smtClean="0">
                <a:solidFill>
                  <a:srgbClr val="FF6600"/>
                </a:solidFill>
                <a:latin typeface="Helvetica" pitchFamily="34" charset="0"/>
              </a:rPr>
              <a:t>Element 1:</a:t>
            </a:r>
          </a:p>
          <a:p>
            <a:pPr marL="0" indent="0">
              <a:spcBef>
                <a:spcPts val="600"/>
              </a:spcBef>
              <a:spcAft>
                <a:spcPts val="1200"/>
              </a:spcAft>
              <a:buNone/>
            </a:pPr>
            <a:r>
              <a:rPr lang="en-AU" sz="4000" dirty="0" smtClean="0">
                <a:solidFill>
                  <a:srgbClr val="FF6600"/>
                </a:solidFill>
                <a:latin typeface="Helvetica" pitchFamily="34" charset="0"/>
              </a:rPr>
              <a:t>Collect and analyse information on the business environment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descr="A2 shutterstock_99180761.jpg"/>
          <p:cNvPicPr>
            <a:picLocks noChangeAspect="1"/>
          </p:cNvPicPr>
          <p:nvPr/>
        </p:nvPicPr>
        <p:blipFill>
          <a:blip r:embed="rId3" cstate="print"/>
          <a:stretch>
            <a:fillRect/>
          </a:stretch>
        </p:blipFill>
        <p:spPr>
          <a:xfrm>
            <a:off x="6215074" y="4429132"/>
            <a:ext cx="2380828" cy="1588012"/>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indent="0">
              <a:spcBef>
                <a:spcPts val="600"/>
              </a:spcBef>
              <a:spcAft>
                <a:spcPts val="1200"/>
              </a:spcAft>
            </a:pPr>
            <a:r>
              <a:rPr lang="en-AU" sz="3400" b="1" dirty="0" smtClean="0">
                <a:solidFill>
                  <a:srgbClr val="FF6600"/>
                </a:solidFill>
                <a:latin typeface="Helvetica" pitchFamily="34" charset="0"/>
              </a:rPr>
              <a:t>Collect and analyse information on the business environment</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and analyse information on expected market growth or decline with associated risk factors </a:t>
            </a:r>
          </a:p>
          <a:p>
            <a:pPr>
              <a:spcBef>
                <a:spcPts val="600"/>
              </a:spcBef>
              <a:spcAft>
                <a:spcPts val="1200"/>
              </a:spcAft>
            </a:pPr>
            <a:r>
              <a:rPr lang="en-AU" sz="2200" dirty="0" smtClean="0">
                <a:latin typeface="Helvetica" pitchFamily="34" charset="0"/>
              </a:rPr>
              <a:t>Gather and analyse comparative market information </a:t>
            </a:r>
          </a:p>
          <a:p>
            <a:pPr>
              <a:spcBef>
                <a:spcPts val="600"/>
              </a:spcBef>
              <a:spcAft>
                <a:spcPts val="1200"/>
              </a:spcAft>
            </a:pPr>
            <a:r>
              <a:rPr lang="en-AU" sz="2200" dirty="0" smtClean="0">
                <a:latin typeface="Helvetica" pitchFamily="34" charset="0"/>
              </a:rPr>
              <a:t>Identify and analyse industry and customer trends and developments, including emerging issues and technology </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descr="A5 shutterstock_131103662.jpg"/>
          <p:cNvPicPr>
            <a:picLocks noChangeAspect="1"/>
          </p:cNvPicPr>
          <p:nvPr/>
        </p:nvPicPr>
        <p:blipFill>
          <a:blip r:embed="rId3" cstate="print"/>
          <a:stretch>
            <a:fillRect/>
          </a:stretch>
        </p:blipFill>
        <p:spPr>
          <a:xfrm>
            <a:off x="6572264" y="4857760"/>
            <a:ext cx="2095504" cy="1397701"/>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indent="0">
              <a:spcBef>
                <a:spcPts val="600"/>
              </a:spcBef>
              <a:spcAft>
                <a:spcPts val="1200"/>
              </a:spcAft>
            </a:pPr>
            <a:r>
              <a:rPr lang="en-AU" sz="3400" b="1" dirty="0" smtClean="0">
                <a:solidFill>
                  <a:srgbClr val="FF6600"/>
                </a:solidFill>
                <a:latin typeface="Helvetica" pitchFamily="34" charset="0"/>
              </a:rPr>
              <a:t>Collect and analyse information on the business environment</a:t>
            </a:r>
          </a:p>
        </p:txBody>
      </p:sp>
      <p:sp>
        <p:nvSpPr>
          <p:cNvPr id="3" name="Content Placeholder 2"/>
          <p:cNvSpPr>
            <a:spLocks noGrp="1"/>
          </p:cNvSpPr>
          <p:nvPr>
            <p:ph idx="1"/>
          </p:nvPr>
        </p:nvSpPr>
        <p:spPr>
          <a:xfrm>
            <a:off x="611560" y="1556792"/>
            <a:ext cx="7467600" cy="4525963"/>
          </a:xfrm>
        </p:spPr>
        <p:txBody>
          <a:bodyPr>
            <a:norm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and analyse the legal and ethical constraints of the market and potential business impacts </a:t>
            </a:r>
          </a:p>
          <a:p>
            <a:pPr>
              <a:spcBef>
                <a:spcPts val="600"/>
              </a:spcBef>
              <a:spcAft>
                <a:spcPts val="1200"/>
              </a:spcAft>
            </a:pPr>
            <a:r>
              <a:rPr lang="en-AU" sz="2200" dirty="0" smtClean="0">
                <a:latin typeface="Helvetica" pitchFamily="34" charset="0"/>
              </a:rPr>
              <a:t>Identify and analyse capabilities and resources</a:t>
            </a:r>
          </a:p>
          <a:p>
            <a:pPr>
              <a:spcBef>
                <a:spcPts val="600"/>
              </a:spcBef>
              <a:spcAft>
                <a:spcPts val="1200"/>
              </a:spcAft>
            </a:pPr>
            <a:r>
              <a:rPr lang="en-AU" sz="2200" dirty="0" smtClean="0">
                <a:latin typeface="Helvetica" pitchFamily="34" charset="0"/>
              </a:rPr>
              <a:t>Record and report information in accordance with enterprise requirements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descr="shutterstock_104238854.jpg"/>
          <p:cNvPicPr>
            <a:picLocks noChangeAspect="1"/>
          </p:cNvPicPr>
          <p:nvPr/>
        </p:nvPicPr>
        <p:blipFill>
          <a:blip r:embed="rId3" cstate="print"/>
          <a:stretch>
            <a:fillRect/>
          </a:stretch>
        </p:blipFill>
        <p:spPr>
          <a:xfrm>
            <a:off x="6786578" y="4786322"/>
            <a:ext cx="1952414" cy="130226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Travel and tourism</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Role of travel and tourism</a:t>
            </a:r>
          </a:p>
          <a:p>
            <a:pPr marL="0">
              <a:spcBef>
                <a:spcPts val="600"/>
              </a:spcBef>
              <a:spcAft>
                <a:spcPts val="1200"/>
              </a:spcAft>
              <a:buNone/>
            </a:pPr>
            <a:r>
              <a:rPr lang="en-AU" sz="2200" dirty="0" smtClean="0">
                <a:latin typeface="Helvetica" pitchFamily="34" charset="0"/>
              </a:rPr>
              <a:t>Tourism involves all activities that take people away from their usual place of residence for any reason.</a:t>
            </a:r>
          </a:p>
          <a:p>
            <a:pPr>
              <a:spcBef>
                <a:spcPts val="600"/>
              </a:spcBef>
              <a:spcAft>
                <a:spcPts val="1200"/>
              </a:spcAft>
            </a:pPr>
            <a:r>
              <a:rPr lang="en-AU" sz="2200" dirty="0" smtClean="0">
                <a:latin typeface="Helvetica" pitchFamily="34" charset="0"/>
              </a:rPr>
              <a:t>What are the common reasons for travel?</a:t>
            </a:r>
          </a:p>
          <a:p>
            <a:pPr>
              <a:spcBef>
                <a:spcPts val="600"/>
              </a:spcBef>
              <a:spcAft>
                <a:spcPts val="1200"/>
              </a:spcAft>
            </a:pPr>
            <a:r>
              <a:rPr lang="en-AU" sz="2200" dirty="0" smtClean="0">
                <a:latin typeface="Helvetica" pitchFamily="34" charset="0"/>
              </a:rPr>
              <a:t>Who travels?</a:t>
            </a:r>
          </a:p>
          <a:p>
            <a:pPr>
              <a:spcBef>
                <a:spcPts val="600"/>
              </a:spcBef>
              <a:spcAft>
                <a:spcPts val="1200"/>
              </a:spcAft>
            </a:pPr>
            <a:r>
              <a:rPr lang="en-AU" sz="2200" dirty="0" smtClean="0">
                <a:latin typeface="Helvetica" pitchFamily="34" charset="0"/>
              </a:rPr>
              <a:t>Where do they come from?</a:t>
            </a:r>
          </a:p>
          <a:p>
            <a:pPr>
              <a:spcBef>
                <a:spcPts val="600"/>
              </a:spcBef>
              <a:spcAft>
                <a:spcPts val="1200"/>
              </a:spcAft>
            </a:pPr>
            <a:r>
              <a:rPr lang="en-AU" sz="2200" dirty="0" smtClean="0">
                <a:latin typeface="Helvetica" pitchFamily="34" charset="0"/>
              </a:rPr>
              <a:t>How can we gather information                                           about tourists?</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a:t>
            </a:fld>
            <a:endParaRPr lang="en-US" dirty="0"/>
          </a:p>
        </p:txBody>
      </p:sp>
      <p:pic>
        <p:nvPicPr>
          <p:cNvPr id="6" name="Picture 5" descr="A3 shutterstock_126565061.jpg"/>
          <p:cNvPicPr/>
          <p:nvPr/>
        </p:nvPicPr>
        <p:blipFill>
          <a:blip r:embed="rId3" cstate="print"/>
          <a:stretch>
            <a:fillRect/>
          </a:stretch>
        </p:blipFill>
        <p:spPr>
          <a:xfrm>
            <a:off x="6429388" y="4786322"/>
            <a:ext cx="1962153" cy="1233489"/>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Tourism marketing</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Importance of marketing in tourism industry</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Marketing and sales are pivotal activities that need to be performed by any hospitality and tourism organisation. </a:t>
            </a:r>
          </a:p>
          <a:p>
            <a:pPr>
              <a:spcBef>
                <a:spcPts val="600"/>
              </a:spcBef>
              <a:spcAft>
                <a:spcPts val="1200"/>
              </a:spcAft>
            </a:pPr>
            <a:r>
              <a:rPr lang="en-AU" sz="2200" dirty="0" smtClean="0">
                <a:latin typeface="Helvetica" pitchFamily="34" charset="0"/>
              </a:rPr>
              <a:t>What is marketing?</a:t>
            </a:r>
          </a:p>
          <a:p>
            <a:pPr>
              <a:spcBef>
                <a:spcPts val="600"/>
              </a:spcBef>
              <a:spcAft>
                <a:spcPts val="1200"/>
              </a:spcAft>
            </a:pPr>
            <a:r>
              <a:rPr lang="en-AU" sz="2200" dirty="0" smtClean="0">
                <a:latin typeface="Helvetica" pitchFamily="34" charset="0"/>
              </a:rPr>
              <a:t>What is sales?</a:t>
            </a:r>
          </a:p>
          <a:p>
            <a:pPr>
              <a:spcBef>
                <a:spcPts val="600"/>
              </a:spcBef>
              <a:spcAft>
                <a:spcPts val="1200"/>
              </a:spcAft>
            </a:pPr>
            <a:r>
              <a:rPr lang="en-AU" sz="2200" dirty="0" smtClean="0">
                <a:latin typeface="Helvetica" pitchFamily="34" charset="0"/>
              </a:rPr>
              <a:t>Why are they important in the tourism industry?</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a:t>
            </a:fld>
            <a:endParaRPr lang="en-US" dirty="0"/>
          </a:p>
        </p:txBody>
      </p:sp>
      <p:pic>
        <p:nvPicPr>
          <p:cNvPr id="7" name="Picture 6" descr="Happy Smile_142334158.jpg"/>
          <p:cNvPicPr/>
          <p:nvPr/>
        </p:nvPicPr>
        <p:blipFill>
          <a:blip r:embed="rId3" cstate="print"/>
          <a:stretch>
            <a:fillRect/>
          </a:stretch>
        </p:blipFill>
        <p:spPr>
          <a:xfrm>
            <a:off x="6715140" y="4857760"/>
            <a:ext cx="1809758" cy="1204918"/>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Tourism marketing</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Marketing</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Marketing aims to understand the customer </a:t>
            </a:r>
            <a:r>
              <a:rPr lang="en-AU" sz="2200" u="sng" dirty="0" smtClean="0">
                <a:latin typeface="Helvetica" pitchFamily="34" charset="0"/>
              </a:rPr>
              <a:t>before</a:t>
            </a:r>
            <a:r>
              <a:rPr lang="en-AU" sz="2200" dirty="0" smtClean="0">
                <a:latin typeface="Helvetica" pitchFamily="34" charset="0"/>
              </a:rPr>
              <a:t> selling an offering to them</a:t>
            </a:r>
          </a:p>
          <a:p>
            <a:pPr>
              <a:spcBef>
                <a:spcPts val="600"/>
              </a:spcBef>
              <a:spcAft>
                <a:spcPts val="1200"/>
              </a:spcAft>
              <a:buNone/>
            </a:pPr>
            <a:r>
              <a:rPr lang="en-AU" sz="2200" b="1" dirty="0" smtClean="0">
                <a:latin typeface="Helvetica" pitchFamily="34" charset="0"/>
              </a:rPr>
              <a:t>Sales</a:t>
            </a:r>
          </a:p>
          <a:p>
            <a:pPr>
              <a:spcBef>
                <a:spcPts val="600"/>
              </a:spcBef>
              <a:spcAft>
                <a:spcPts val="1200"/>
              </a:spcAft>
            </a:pPr>
            <a:r>
              <a:rPr lang="en-AU" sz="2200" dirty="0" smtClean="0">
                <a:latin typeface="Helvetica" pitchFamily="34" charset="0"/>
              </a:rPr>
              <a:t>Developing an ‘offering’, made up of various products and services, which they thought the customer might like and then try to ‘sell’ it to them</a:t>
            </a:r>
            <a:endParaRPr lang="en-US"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a:t>
            </a:fld>
            <a:endParaRPr lang="en-US" dirty="0"/>
          </a:p>
        </p:txBody>
      </p:sp>
      <p:pic>
        <p:nvPicPr>
          <p:cNvPr id="6" name="Picture 5" descr="shutterstock_91170884.jpg"/>
          <p:cNvPicPr/>
          <p:nvPr/>
        </p:nvPicPr>
        <p:blipFill>
          <a:blip r:embed="rId3" cstate="print"/>
          <a:stretch>
            <a:fillRect/>
          </a:stretch>
        </p:blipFill>
        <p:spPr>
          <a:xfrm>
            <a:off x="6786578" y="4786322"/>
            <a:ext cx="1609730" cy="1185866"/>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Tourism marketing</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Focus of marketing and sales</a:t>
            </a:r>
          </a:p>
          <a:p>
            <a:pPr>
              <a:spcBef>
                <a:spcPts val="600"/>
              </a:spcBef>
              <a:spcAft>
                <a:spcPts val="1200"/>
              </a:spcAft>
              <a:buNone/>
            </a:pPr>
            <a:r>
              <a:rPr lang="en-AU" sz="2200" dirty="0" smtClean="0">
                <a:latin typeface="Helvetica" pitchFamily="34" charset="0"/>
              </a:rPr>
              <a:t>It must be customer focused and try to: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Understand what the customer wants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Try to develop an offering to meet these needs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the best way to make people aware of the offering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Motivate people to partake of the offering</a:t>
            </a:r>
            <a:endParaRPr lang="en-US"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10</a:t>
            </a:fld>
            <a:endParaRPr lang="en-US" dirty="0"/>
          </a:p>
        </p:txBody>
      </p:sp>
      <p:pic>
        <p:nvPicPr>
          <p:cNvPr id="7" name="Picture 6" descr="shutterstock_139573481.jpg"/>
          <p:cNvPicPr>
            <a:picLocks noChangeAspect="1"/>
          </p:cNvPicPr>
          <p:nvPr/>
        </p:nvPicPr>
        <p:blipFill>
          <a:blip r:embed="rId3" cstate="print"/>
          <a:stretch>
            <a:fillRect/>
          </a:stretch>
        </p:blipFill>
        <p:spPr>
          <a:xfrm>
            <a:off x="6012160" y="1772816"/>
            <a:ext cx="1845310" cy="1230822"/>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Tourism marketing</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Key marketing components</a:t>
            </a:r>
            <a:endParaRPr lang="en-US" sz="2200" b="1" dirty="0" smtClean="0">
              <a:latin typeface="Helvetica" pitchFamily="34" charset="0"/>
            </a:endParaRPr>
          </a:p>
          <a:p>
            <a:pPr>
              <a:spcBef>
                <a:spcPts val="600"/>
              </a:spcBef>
              <a:spcAft>
                <a:spcPts val="1200"/>
              </a:spcAft>
            </a:pPr>
            <a:r>
              <a:rPr lang="en-AU" sz="2200" dirty="0" smtClean="0">
                <a:latin typeface="Helvetica" pitchFamily="34" charset="0"/>
              </a:rPr>
              <a:t>Needs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Wants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 Market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Products and services</a:t>
            </a:r>
          </a:p>
          <a:p>
            <a:pPr>
              <a:spcBef>
                <a:spcPts val="600"/>
              </a:spcBef>
              <a:spcAft>
                <a:spcPts val="1200"/>
              </a:spcAft>
            </a:pPr>
            <a:r>
              <a:rPr lang="en-AU" sz="2200" dirty="0" smtClean="0">
                <a:latin typeface="Helvetica" pitchFamily="34" charset="0"/>
              </a:rPr>
              <a:t>Customer value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Customer satisfaction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Relationship Marketing</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11</a:t>
            </a:fld>
            <a:endParaRPr lang="en-US" dirty="0"/>
          </a:p>
        </p:txBody>
      </p:sp>
      <p:pic>
        <p:nvPicPr>
          <p:cNvPr id="5" name="Picture 4" descr="shutterstock_82771591.jpg"/>
          <p:cNvPicPr/>
          <p:nvPr/>
        </p:nvPicPr>
        <p:blipFill>
          <a:blip r:embed="rId3" cstate="print"/>
          <a:stretch>
            <a:fillRect/>
          </a:stretch>
        </p:blipFill>
        <p:spPr>
          <a:xfrm>
            <a:off x="5940152" y="2996952"/>
            <a:ext cx="2185997" cy="1338268"/>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Tourism marketing requirements</a:t>
            </a:r>
          </a:p>
        </p:txBody>
      </p:sp>
      <p:sp>
        <p:nvSpPr>
          <p:cNvPr id="3" name="Content Placeholder 2"/>
          <p:cNvSpPr>
            <a:spLocks noGrp="1"/>
          </p:cNvSpPr>
          <p:nvPr>
            <p:ph idx="1"/>
          </p:nvPr>
        </p:nvSpPr>
        <p:spPr>
          <a:xfrm>
            <a:off x="611560" y="1556792"/>
            <a:ext cx="7467600" cy="5301208"/>
          </a:xfrm>
        </p:spPr>
        <p:txBody>
          <a:bodyPr>
            <a:normAutofit/>
          </a:bodyPr>
          <a:lstStyle/>
          <a:p>
            <a:pPr marL="0">
              <a:spcBef>
                <a:spcPts val="600"/>
              </a:spcBef>
              <a:spcAft>
                <a:spcPts val="1200"/>
              </a:spcAft>
              <a:buNone/>
            </a:pPr>
            <a:r>
              <a:rPr lang="en-AU" sz="2100" b="1" dirty="0" smtClean="0">
                <a:latin typeface="Helvetica" pitchFamily="34" charset="0"/>
              </a:rPr>
              <a:t>Specific marketing requirements of the tourism industry</a:t>
            </a:r>
            <a:endParaRPr lang="en-US" sz="2100" b="1" dirty="0" smtClean="0">
              <a:latin typeface="Helvetica" pitchFamily="34" charset="0"/>
            </a:endParaRPr>
          </a:p>
          <a:p>
            <a:pPr lvl="0">
              <a:spcBef>
                <a:spcPts val="600"/>
              </a:spcBef>
              <a:spcAft>
                <a:spcPts val="1200"/>
              </a:spcAft>
            </a:pPr>
            <a:r>
              <a:rPr lang="en-AU" sz="2100" dirty="0" smtClean="0">
                <a:latin typeface="Helvetica" pitchFamily="34" charset="0"/>
              </a:rPr>
              <a:t>Shorter exposure to services </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More emotional and irrational buying appeals </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Greater importance on managing evidence </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Greater emphasis on stature and imagery </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More variety and types of distribution channels </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Dependence on complementary organisations </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Easier copying of services </a:t>
            </a:r>
            <a:endParaRPr lang="en-US" sz="2100" dirty="0" smtClean="0">
              <a:latin typeface="Helvetica" pitchFamily="34" charset="0"/>
            </a:endParaRPr>
          </a:p>
          <a:p>
            <a:pPr lvl="0">
              <a:spcBef>
                <a:spcPts val="600"/>
              </a:spcBef>
              <a:spcAft>
                <a:spcPts val="1200"/>
              </a:spcAft>
            </a:pPr>
            <a:r>
              <a:rPr lang="en-AU" sz="2100" dirty="0" smtClean="0">
                <a:latin typeface="Helvetica" pitchFamily="34" charset="0"/>
              </a:rPr>
              <a:t>More emphasis on off-peak production</a:t>
            </a:r>
            <a:endParaRPr lang="en-US" sz="2100" dirty="0" smtClean="0">
              <a:latin typeface="Helvetica" pitchFamily="34" charset="0"/>
            </a:endParaRPr>
          </a:p>
          <a:p>
            <a:pPr>
              <a:spcBef>
                <a:spcPts val="600"/>
              </a:spcBef>
              <a:spcAft>
                <a:spcPts val="1200"/>
              </a:spcAft>
            </a:pP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12</a:t>
            </a:fld>
            <a:endParaRPr lang="en-US" dirty="0"/>
          </a:p>
        </p:txBody>
      </p:sp>
      <p:pic>
        <p:nvPicPr>
          <p:cNvPr id="6" name="Picture 5" descr="shutterstock_71570392.jpg"/>
          <p:cNvPicPr/>
          <p:nvPr/>
        </p:nvPicPr>
        <p:blipFill>
          <a:blip r:embed="rId3" cstate="print"/>
          <a:stretch>
            <a:fillRect/>
          </a:stretch>
        </p:blipFill>
        <p:spPr>
          <a:xfrm>
            <a:off x="6876256" y="3212976"/>
            <a:ext cx="1556385" cy="114300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Tourism marketing relationships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Unique relationships within tourism marketing</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Suppliers, carriers and travel trade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Destination mix concept: attractions and events (draw visitors) facilities infrastructure and transportation amenities, hospitality resources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Visitors and local residents </a:t>
            </a:r>
            <a:endParaRPr lang="en-US"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13</a:t>
            </a:fld>
            <a:endParaRPr lang="en-US" dirty="0"/>
          </a:p>
        </p:txBody>
      </p:sp>
      <p:pic>
        <p:nvPicPr>
          <p:cNvPr id="7" name="Picture 6" descr="A18 shutterstock_181389116.jpg"/>
          <p:cNvPicPr/>
          <p:nvPr/>
        </p:nvPicPr>
        <p:blipFill>
          <a:blip r:embed="rId3" cstate="print"/>
          <a:stretch>
            <a:fillRect/>
          </a:stretch>
        </p:blipFill>
        <p:spPr>
          <a:xfrm>
            <a:off x="5868144" y="3717032"/>
            <a:ext cx="1228725" cy="1838325"/>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Tourism services marketing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Services marketing</a:t>
            </a:r>
          </a:p>
          <a:p>
            <a:pPr lvl="0">
              <a:spcBef>
                <a:spcPts val="600"/>
              </a:spcBef>
              <a:spcAft>
                <a:spcPts val="1200"/>
              </a:spcAft>
            </a:pPr>
            <a:r>
              <a:rPr lang="en-US" sz="2200" dirty="0" smtClean="0">
                <a:latin typeface="Helvetica" pitchFamily="34" charset="0"/>
              </a:rPr>
              <a:t>What is services marketing?</a:t>
            </a:r>
          </a:p>
          <a:p>
            <a:pPr lvl="0">
              <a:spcBef>
                <a:spcPts val="600"/>
              </a:spcBef>
              <a:spcAft>
                <a:spcPts val="1200"/>
              </a:spcAft>
            </a:pPr>
            <a:r>
              <a:rPr lang="en-US" sz="2200" dirty="0" smtClean="0">
                <a:latin typeface="Helvetica" pitchFamily="34" charset="0"/>
              </a:rPr>
              <a:t>How does it differ from product marketing?</a:t>
            </a:r>
          </a:p>
          <a:p>
            <a:pPr lvl="0">
              <a:spcBef>
                <a:spcPts val="600"/>
              </a:spcBef>
              <a:spcAft>
                <a:spcPts val="1200"/>
              </a:spcAft>
            </a:pPr>
            <a:r>
              <a:rPr lang="en-US" sz="2200" dirty="0" smtClean="0">
                <a:latin typeface="Helvetica" pitchFamily="34" charset="0"/>
              </a:rPr>
              <a:t>What are characteristics of services marketing?</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14</a:t>
            </a:fld>
            <a:endParaRPr lang="en-US" dirty="0"/>
          </a:p>
        </p:txBody>
      </p:sp>
      <p:pic>
        <p:nvPicPr>
          <p:cNvPr id="6" name="Picture 5" descr="Asian girl with world on hand_34766518.jpg"/>
          <p:cNvPicPr>
            <a:picLocks noChangeAspect="1"/>
          </p:cNvPicPr>
          <p:nvPr/>
        </p:nvPicPr>
        <p:blipFill>
          <a:blip r:embed="rId3" cstate="print"/>
          <a:stretch>
            <a:fillRect/>
          </a:stretch>
        </p:blipFill>
        <p:spPr>
          <a:xfrm>
            <a:off x="3707904" y="3861048"/>
            <a:ext cx="1373698" cy="2059517"/>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Tourism services marketing </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Services marketing</a:t>
            </a:r>
          </a:p>
          <a:p>
            <a:pPr>
              <a:spcBef>
                <a:spcPts val="600"/>
              </a:spcBef>
              <a:spcAft>
                <a:spcPts val="1200"/>
              </a:spcAft>
              <a:buNone/>
            </a:pPr>
            <a:r>
              <a:rPr lang="en-AU" sz="2200" dirty="0" smtClean="0">
                <a:latin typeface="Helvetica" pitchFamily="34" charset="0"/>
              </a:rPr>
              <a:t>The characteristics of services are: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Intangibility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Inseparability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Perishability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Variability </a:t>
            </a:r>
            <a:endParaRPr lang="en-US"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a:t>
            </a:fld>
            <a:endParaRPr lang="en-US" dirty="0"/>
          </a:p>
        </p:txBody>
      </p:sp>
      <p:pic>
        <p:nvPicPr>
          <p:cNvPr id="7" name="Picture 6" descr="shutterstock_62285248.jpg"/>
          <p:cNvPicPr/>
          <p:nvPr/>
        </p:nvPicPr>
        <p:blipFill>
          <a:blip r:embed="rId3" cstate="print"/>
          <a:stretch>
            <a:fillRect/>
          </a:stretch>
        </p:blipFill>
        <p:spPr>
          <a:xfrm>
            <a:off x="5868144" y="2564904"/>
            <a:ext cx="2157421" cy="1414468"/>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Marketing Mix</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Role of the Marketing Mix</a:t>
            </a:r>
          </a:p>
          <a:p>
            <a:pPr>
              <a:spcBef>
                <a:spcPts val="600"/>
              </a:spcBef>
              <a:spcAft>
                <a:spcPts val="1200"/>
              </a:spcAft>
            </a:pPr>
            <a:r>
              <a:rPr lang="en-AU" sz="2200" dirty="0" smtClean="0">
                <a:latin typeface="Helvetica" pitchFamily="34" charset="0"/>
              </a:rPr>
              <a:t>Products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Price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Placement</a:t>
            </a:r>
          </a:p>
          <a:p>
            <a:pPr>
              <a:spcBef>
                <a:spcPts val="600"/>
              </a:spcBef>
              <a:spcAft>
                <a:spcPts val="1200"/>
              </a:spcAft>
            </a:pPr>
            <a:r>
              <a:rPr lang="en-AU" sz="2200" dirty="0" smtClean="0">
                <a:latin typeface="Helvetica" pitchFamily="34" charset="0"/>
              </a:rPr>
              <a:t>Promotion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People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Processes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Physical evidence</a:t>
            </a:r>
            <a:endParaRPr lang="en-US"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a:t>
            </a:fld>
            <a:endParaRPr lang="en-US" dirty="0"/>
          </a:p>
        </p:txBody>
      </p:sp>
      <p:pic>
        <p:nvPicPr>
          <p:cNvPr id="9" name="Picture 8" descr="shutterstock_156896498.jpg"/>
          <p:cNvPicPr/>
          <p:nvPr/>
        </p:nvPicPr>
        <p:blipFill>
          <a:blip r:embed="rId3" cstate="print"/>
          <a:stretch>
            <a:fillRect/>
          </a:stretch>
        </p:blipFill>
        <p:spPr>
          <a:xfrm>
            <a:off x="5220072" y="2780928"/>
            <a:ext cx="2425055" cy="1872208"/>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Marketing Planning and Management</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Marketing planning and management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Marketing management is the analysis, planning, implementation and control of programs designed to create, build and maintain beneficial exchanges with the target buyers for the purpose of achieving organisational objectives</a:t>
            </a:r>
            <a:endParaRPr lang="en-US"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17</a:t>
            </a:fld>
            <a:endParaRPr lang="en-US" dirty="0"/>
          </a:p>
        </p:txBody>
      </p:sp>
      <p:pic>
        <p:nvPicPr>
          <p:cNvPr id="6" name="Picture 5" descr="shutterstock_122825407.jpg"/>
          <p:cNvPicPr>
            <a:picLocks noChangeAspect="1"/>
          </p:cNvPicPr>
          <p:nvPr/>
        </p:nvPicPr>
        <p:blipFill>
          <a:blip r:embed="rId3" cstate="print"/>
          <a:stretch>
            <a:fillRect/>
          </a:stretch>
        </p:blipFill>
        <p:spPr>
          <a:xfrm>
            <a:off x="6500826" y="4643446"/>
            <a:ext cx="2059517" cy="1373698"/>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Marketing Planning and Management</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Marketing planning and management </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Organisations needs to plan its marketing activities on two levels: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strategic marketing plan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tactical marketing plan </a:t>
            </a:r>
            <a:endParaRPr lang="en-US"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18</a:t>
            </a:fld>
            <a:endParaRPr lang="en-US" dirty="0"/>
          </a:p>
        </p:txBody>
      </p:sp>
      <p:pic>
        <p:nvPicPr>
          <p:cNvPr id="7" name="Picture 6" descr="shutterstock_178587077.jpg"/>
          <p:cNvPicPr/>
          <p:nvPr/>
        </p:nvPicPr>
        <p:blipFill>
          <a:blip r:embed="rId3" cstate="print"/>
          <a:stretch>
            <a:fillRect/>
          </a:stretch>
        </p:blipFill>
        <p:spPr>
          <a:xfrm>
            <a:off x="6643702" y="4572008"/>
            <a:ext cx="1885951" cy="1376363"/>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Market Analysis</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AU" sz="2200" b="1" dirty="0" smtClean="0">
                <a:latin typeface="Helvetica" pitchFamily="34" charset="0"/>
              </a:rPr>
              <a:t>What is market analysis? </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Market analysis provides us with the information necessary to formulate the marketing plan and its evaluation. </a:t>
            </a:r>
          </a:p>
          <a:p>
            <a:pPr>
              <a:spcBef>
                <a:spcPts val="600"/>
              </a:spcBef>
              <a:spcAft>
                <a:spcPts val="1200"/>
              </a:spcAft>
            </a:pPr>
            <a:r>
              <a:rPr lang="en-AU" sz="2200" dirty="0" smtClean="0">
                <a:latin typeface="Helvetica" pitchFamily="34" charset="0"/>
              </a:rPr>
              <a:t>What are the activities associated with a market analysis?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19</a:t>
            </a:fld>
            <a:endParaRPr lang="en-US" dirty="0"/>
          </a:p>
        </p:txBody>
      </p:sp>
      <p:pic>
        <p:nvPicPr>
          <p:cNvPr id="6" name="Picture 5" descr="shutterstock_92731135.jpg"/>
          <p:cNvPicPr/>
          <p:nvPr/>
        </p:nvPicPr>
        <p:blipFill>
          <a:blip r:embed="rId3" cstate="print"/>
          <a:stretch>
            <a:fillRect/>
          </a:stretch>
        </p:blipFill>
        <p:spPr>
          <a:xfrm>
            <a:off x="7000892" y="4857760"/>
            <a:ext cx="1539875" cy="1343025"/>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Market Research</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Types of research</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Marketing is all about research. It should identify:</a:t>
            </a:r>
          </a:p>
          <a:p>
            <a:pPr lvl="0">
              <a:spcBef>
                <a:spcPts val="600"/>
              </a:spcBef>
              <a:spcAft>
                <a:spcPts val="1200"/>
              </a:spcAft>
            </a:pPr>
            <a:r>
              <a:rPr lang="en-US" sz="2200" dirty="0" smtClean="0">
                <a:latin typeface="Helvetica" pitchFamily="34" charset="0"/>
              </a:rPr>
              <a:t>What the customer wants</a:t>
            </a:r>
          </a:p>
          <a:p>
            <a:pPr lvl="0">
              <a:spcBef>
                <a:spcPts val="600"/>
              </a:spcBef>
              <a:spcAft>
                <a:spcPts val="1200"/>
              </a:spcAft>
            </a:pPr>
            <a:r>
              <a:rPr lang="en-US" sz="2200" dirty="0" smtClean="0">
                <a:latin typeface="Helvetica" pitchFamily="34" charset="0"/>
              </a:rPr>
              <a:t>What we are currently offering to the customer</a:t>
            </a:r>
          </a:p>
          <a:p>
            <a:pPr>
              <a:spcBef>
                <a:spcPts val="600"/>
              </a:spcBef>
              <a:spcAft>
                <a:spcPts val="1200"/>
              </a:spcAft>
            </a:pPr>
            <a:r>
              <a:rPr lang="en-US" sz="2200" dirty="0" smtClean="0">
                <a:latin typeface="Helvetica" pitchFamily="34" charset="0"/>
              </a:rPr>
              <a:t>What we can improve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20</a:t>
            </a:fld>
            <a:endParaRPr lang="en-US" dirty="0"/>
          </a:p>
        </p:txBody>
      </p:sp>
      <p:pic>
        <p:nvPicPr>
          <p:cNvPr id="7" name="Picture 6" descr="shutterstock_116731201.jpg"/>
          <p:cNvPicPr>
            <a:picLocks noChangeAspect="1"/>
          </p:cNvPicPr>
          <p:nvPr/>
        </p:nvPicPr>
        <p:blipFill>
          <a:blip r:embed="rId3" cstate="print"/>
          <a:stretch>
            <a:fillRect/>
          </a:stretch>
        </p:blipFill>
        <p:spPr>
          <a:xfrm>
            <a:off x="5940152" y="3933056"/>
            <a:ext cx="2166621" cy="1445136"/>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Market Research</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Primary data</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Primary data is fresh, new, original information</a:t>
            </a:r>
          </a:p>
          <a:p>
            <a:pPr>
              <a:spcBef>
                <a:spcPts val="600"/>
              </a:spcBef>
              <a:spcAft>
                <a:spcPts val="1200"/>
              </a:spcAft>
              <a:buNone/>
            </a:pPr>
            <a:r>
              <a:rPr lang="en-US" sz="2200" b="1" dirty="0" smtClean="0">
                <a:latin typeface="Helvetica" pitchFamily="34" charset="0"/>
              </a:rPr>
              <a:t>Secondary data</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Secondary data is information which already exists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21</a:t>
            </a:fld>
            <a:endParaRPr lang="en-US" dirty="0"/>
          </a:p>
        </p:txBody>
      </p:sp>
      <p:pic>
        <p:nvPicPr>
          <p:cNvPr id="6" name="Picture 5" descr="shutterstock_95857066.jpg"/>
          <p:cNvPicPr/>
          <p:nvPr/>
        </p:nvPicPr>
        <p:blipFill>
          <a:blip r:embed="rId3" cstate="print"/>
          <a:stretch>
            <a:fillRect/>
          </a:stretch>
        </p:blipFill>
        <p:spPr>
          <a:xfrm>
            <a:off x="3491880" y="4221088"/>
            <a:ext cx="1495425" cy="1228725"/>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Market Research</a:t>
            </a:r>
          </a:p>
        </p:txBody>
      </p:sp>
      <p:sp>
        <p:nvSpPr>
          <p:cNvPr id="3" name="Content Placeholder 2"/>
          <p:cNvSpPr>
            <a:spLocks noGrp="1"/>
          </p:cNvSpPr>
          <p:nvPr>
            <p:ph idx="1"/>
          </p:nvPr>
        </p:nvSpPr>
        <p:spPr>
          <a:xfrm>
            <a:off x="611560" y="1556792"/>
            <a:ext cx="7467600" cy="5301208"/>
          </a:xfrm>
        </p:spPr>
        <p:txBody>
          <a:bodyPr>
            <a:normAutofit/>
          </a:bodyPr>
          <a:lstStyle/>
          <a:p>
            <a:pPr>
              <a:spcBef>
                <a:spcPts val="600"/>
              </a:spcBef>
              <a:spcAft>
                <a:spcPts val="1200"/>
              </a:spcAft>
              <a:buNone/>
            </a:pPr>
            <a:r>
              <a:rPr lang="en-US" sz="2200" b="1" dirty="0" smtClean="0">
                <a:latin typeface="Helvetica" pitchFamily="34" charset="0"/>
              </a:rPr>
              <a:t>Quantitative data</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Quantitative data is statistical in nature.</a:t>
            </a:r>
          </a:p>
          <a:p>
            <a:pPr>
              <a:spcBef>
                <a:spcPts val="600"/>
              </a:spcBef>
              <a:spcAft>
                <a:spcPts val="1200"/>
              </a:spcAft>
              <a:buNone/>
            </a:pPr>
            <a:r>
              <a:rPr lang="en-US" sz="2200" b="1" dirty="0" smtClean="0">
                <a:latin typeface="Helvetica" pitchFamily="34" charset="0"/>
              </a:rPr>
              <a:t>Qualitative data</a:t>
            </a:r>
            <a:endParaRPr lang="en-US" sz="2200" dirty="0" smtClean="0">
              <a:latin typeface="Helvetica" pitchFamily="34" charset="0"/>
            </a:endParaRPr>
          </a:p>
          <a:p>
            <a:pPr>
              <a:spcBef>
                <a:spcPts val="600"/>
              </a:spcBef>
              <a:spcAft>
                <a:spcPts val="1200"/>
              </a:spcAft>
            </a:pPr>
            <a:r>
              <a:rPr lang="en-US" sz="2200" dirty="0" smtClean="0">
                <a:latin typeface="Helvetica" pitchFamily="34" charset="0"/>
              </a:rPr>
              <a:t>Answers the ‘Why?’ questions </a:t>
            </a:r>
          </a:p>
          <a:p>
            <a:pPr>
              <a:spcBef>
                <a:spcPts val="600"/>
              </a:spcBef>
              <a:spcAft>
                <a:spcPts val="1200"/>
              </a:spcAft>
            </a:pPr>
            <a:endParaRPr lang="en-US" sz="2200" dirty="0" smtClean="0">
              <a:latin typeface="Helvetica" pitchFamily="34" charset="0"/>
            </a:endParaRPr>
          </a:p>
          <a:p>
            <a:pPr>
              <a:spcBef>
                <a:spcPts val="600"/>
              </a:spcBef>
              <a:spcAft>
                <a:spcPts val="1200"/>
              </a:spcAft>
              <a:buNone/>
            </a:pPr>
            <a:r>
              <a:rPr lang="en-AU" sz="2200" dirty="0" smtClean="0">
                <a:solidFill>
                  <a:srgbClr val="FF6600"/>
                </a:solidFill>
              </a:rPr>
              <a:t>COMPLETE ACTIVITY 1</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22</a:t>
            </a:fld>
            <a:endParaRPr lang="en-US" dirty="0"/>
          </a:p>
        </p:txBody>
      </p:sp>
      <p:pic>
        <p:nvPicPr>
          <p:cNvPr id="7" name="Picture 6" descr="A20 shutterstock_182023328.jpg"/>
          <p:cNvPicPr/>
          <p:nvPr/>
        </p:nvPicPr>
        <p:blipFill>
          <a:blip r:embed="rId3" cstate="print"/>
          <a:stretch>
            <a:fillRect/>
          </a:stretch>
        </p:blipFill>
        <p:spPr>
          <a:xfrm>
            <a:off x="6732240" y="2924944"/>
            <a:ext cx="1524000" cy="142875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Gather market information</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Importance of market information</a:t>
            </a:r>
          </a:p>
          <a:p>
            <a:pPr>
              <a:spcBef>
                <a:spcPts val="600"/>
              </a:spcBef>
              <a:spcAft>
                <a:spcPts val="1200"/>
              </a:spcAft>
            </a:pPr>
            <a:r>
              <a:rPr lang="en-US" sz="2200" dirty="0" smtClean="0">
                <a:latin typeface="Helvetica" pitchFamily="34" charset="0"/>
              </a:rPr>
              <a:t>What is a market?</a:t>
            </a:r>
          </a:p>
          <a:p>
            <a:pPr>
              <a:spcBef>
                <a:spcPts val="600"/>
              </a:spcBef>
              <a:spcAft>
                <a:spcPts val="1200"/>
              </a:spcAft>
            </a:pPr>
            <a:r>
              <a:rPr lang="en-US" sz="2200" dirty="0" smtClean="0">
                <a:latin typeface="Helvetica" pitchFamily="34" charset="0"/>
              </a:rPr>
              <a:t>Why is it important to gather market information?</a:t>
            </a:r>
          </a:p>
          <a:p>
            <a:pPr>
              <a:spcBef>
                <a:spcPts val="600"/>
              </a:spcBef>
              <a:spcAft>
                <a:spcPts val="1200"/>
              </a:spcAft>
            </a:pPr>
            <a:r>
              <a:rPr lang="en-US" sz="2200" dirty="0" smtClean="0">
                <a:latin typeface="Helvetica" pitchFamily="34" charset="0"/>
              </a:rPr>
              <a:t>What areas of the market do you want to know about?</a:t>
            </a:r>
          </a:p>
          <a:p>
            <a:pPr>
              <a:spcBef>
                <a:spcPts val="600"/>
              </a:spcBef>
              <a:spcAft>
                <a:spcPts val="1200"/>
              </a:spcAft>
            </a:pPr>
            <a:r>
              <a:rPr lang="en-US" sz="2200" dirty="0" smtClean="0">
                <a:latin typeface="Helvetica" pitchFamily="34" charset="0"/>
              </a:rPr>
              <a:t>How can you collect this information?</a:t>
            </a:r>
            <a:endParaRPr lang="en-AU" sz="2200"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23</a:t>
            </a:fld>
            <a:endParaRPr lang="en-US" dirty="0"/>
          </a:p>
        </p:txBody>
      </p:sp>
      <p:pic>
        <p:nvPicPr>
          <p:cNvPr id="6" name="Picture 5" descr="shutterstock_131744006.jpg"/>
          <p:cNvPicPr>
            <a:picLocks noChangeAspect="1"/>
          </p:cNvPicPr>
          <p:nvPr/>
        </p:nvPicPr>
        <p:blipFill>
          <a:blip r:embed="rId3" cstate="print"/>
          <a:stretch>
            <a:fillRect/>
          </a:stretch>
        </p:blipFill>
        <p:spPr>
          <a:xfrm>
            <a:off x="3851920" y="4509120"/>
            <a:ext cx="2094438" cy="1403273"/>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Understand current marketing situation</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Market situation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Total market characteristics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Customer needs, perceptions and buying behaviour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Products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Prices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Customer service and distribution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Channels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Communication</a:t>
            </a:r>
            <a:endParaRPr lang="en-US" sz="2200"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24</a:t>
            </a:fld>
            <a:endParaRPr lang="en-US" dirty="0"/>
          </a:p>
        </p:txBody>
      </p:sp>
      <p:pic>
        <p:nvPicPr>
          <p:cNvPr id="7" name="Picture 6" descr="shutterstock_82265860.jpg"/>
          <p:cNvPicPr/>
          <p:nvPr/>
        </p:nvPicPr>
        <p:blipFill>
          <a:blip r:embed="rId3" cstate="print"/>
          <a:stretch>
            <a:fillRect/>
          </a:stretch>
        </p:blipFill>
        <p:spPr>
          <a:xfrm>
            <a:off x="6228184" y="3573016"/>
            <a:ext cx="1859915" cy="1238250"/>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Understand current marketing situation</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lnSpcReduction="10000"/>
          </a:bodyPr>
          <a:lstStyle/>
          <a:p>
            <a:pPr>
              <a:spcBef>
                <a:spcPts val="600"/>
              </a:spcBef>
              <a:spcAft>
                <a:spcPts val="1200"/>
              </a:spcAft>
              <a:buNone/>
            </a:pPr>
            <a:r>
              <a:rPr lang="en-AU" sz="2200" b="1" dirty="0" smtClean="0">
                <a:latin typeface="Helvetica" pitchFamily="34" charset="0"/>
              </a:rPr>
              <a:t>Competitive situation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Industry structure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 geographic market in which they </a:t>
            </a:r>
            <a:br>
              <a:rPr lang="en-AU" sz="2200" dirty="0" smtClean="0">
                <a:latin typeface="Helvetica" pitchFamily="34" charset="0"/>
              </a:rPr>
            </a:br>
            <a:r>
              <a:rPr lang="en-AU" sz="2200" dirty="0" smtClean="0">
                <a:latin typeface="Helvetica" pitchFamily="34" charset="0"/>
              </a:rPr>
              <a:t>compete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Their current marketing performance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Their competitive position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Strengths and weaknesses, and vulnerabilities                           of each significant competitor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Their objectives and competitive strategies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Industry profitability</a:t>
            </a:r>
            <a:endParaRPr lang="en-US" sz="2200"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25</a:t>
            </a:fld>
            <a:endParaRPr lang="en-US" dirty="0"/>
          </a:p>
        </p:txBody>
      </p:sp>
      <p:pic>
        <p:nvPicPr>
          <p:cNvPr id="5" name="Picture 4" descr="shutterstock_128589563.jpg"/>
          <p:cNvPicPr/>
          <p:nvPr/>
        </p:nvPicPr>
        <p:blipFill>
          <a:blip r:embed="rId3" cstate="print"/>
          <a:stretch>
            <a:fillRect/>
          </a:stretch>
        </p:blipFill>
        <p:spPr>
          <a:xfrm>
            <a:off x="6300192" y="2780928"/>
            <a:ext cx="1864360" cy="127635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Understand current marketing situation</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Product situation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Sales, profits, contribution margins and growth</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Product lifecycle and expected demand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Growth of the product or service</a:t>
            </a:r>
            <a:endParaRPr lang="en-US" sz="2200"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26</a:t>
            </a:fld>
            <a:endParaRPr lang="en-US" dirty="0"/>
          </a:p>
        </p:txBody>
      </p:sp>
      <p:pic>
        <p:nvPicPr>
          <p:cNvPr id="6" name="Picture 5" descr="shutterstock_118113499.jpg"/>
          <p:cNvPicPr>
            <a:picLocks noChangeAspect="1"/>
          </p:cNvPicPr>
          <p:nvPr/>
        </p:nvPicPr>
        <p:blipFill>
          <a:blip r:embed="rId3" cstate="print"/>
          <a:stretch>
            <a:fillRect/>
          </a:stretch>
        </p:blipFill>
        <p:spPr>
          <a:xfrm>
            <a:off x="6357950" y="4357694"/>
            <a:ext cx="2179394" cy="1662878"/>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Understand current marketing situation</a:t>
            </a:r>
            <a:endParaRPr lang="en-US"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Current strategies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Current product, price, place and promotional strategies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Current people, processes and physical evidence strategies</a:t>
            </a:r>
          </a:p>
          <a:p>
            <a:pPr>
              <a:spcBef>
                <a:spcPts val="600"/>
              </a:spcBef>
              <a:spcAft>
                <a:spcPts val="1200"/>
              </a:spcAft>
            </a:pPr>
            <a:endParaRPr lang="en-US" sz="2200" dirty="0" smtClean="0">
              <a:latin typeface="Helvetica" pitchFamily="34" charset="0"/>
            </a:endParaRPr>
          </a:p>
          <a:p>
            <a:pPr>
              <a:spcBef>
                <a:spcPts val="600"/>
              </a:spcBef>
              <a:spcAft>
                <a:spcPts val="1200"/>
              </a:spcAft>
              <a:buNone/>
            </a:pPr>
            <a:r>
              <a:rPr lang="en-AU" sz="2200" dirty="0" smtClean="0">
                <a:solidFill>
                  <a:srgbClr val="FF6600"/>
                </a:solidFill>
              </a:rPr>
              <a:t>COMPLETE ACTIVITY 2</a:t>
            </a:r>
          </a:p>
          <a:p>
            <a:pPr lvl="0">
              <a:spcBef>
                <a:spcPts val="600"/>
              </a:spcBef>
              <a:spcAft>
                <a:spcPts val="1200"/>
              </a:spcAft>
            </a:pPr>
            <a:endParaRPr lang="en-US" sz="2200"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27</a:t>
            </a:fld>
            <a:endParaRPr lang="en-US" dirty="0"/>
          </a:p>
        </p:txBody>
      </p:sp>
      <p:pic>
        <p:nvPicPr>
          <p:cNvPr id="7" name="Picture 6" descr="shutterstock_123665365.jpg"/>
          <p:cNvPicPr>
            <a:picLocks noChangeAspect="1"/>
          </p:cNvPicPr>
          <p:nvPr/>
        </p:nvPicPr>
        <p:blipFill>
          <a:blip r:embed="rId3" cstate="print"/>
          <a:stretch>
            <a:fillRect/>
          </a:stretch>
        </p:blipFill>
        <p:spPr>
          <a:xfrm>
            <a:off x="6500826" y="4643446"/>
            <a:ext cx="2059517" cy="1373698"/>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Evaluating market trends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Types of information sources</a:t>
            </a:r>
          </a:p>
          <a:p>
            <a:pPr>
              <a:spcBef>
                <a:spcPts val="600"/>
              </a:spcBef>
              <a:spcAft>
                <a:spcPts val="1200"/>
              </a:spcAft>
            </a:pPr>
            <a:r>
              <a:rPr lang="en-US" sz="2200" dirty="0" smtClean="0">
                <a:latin typeface="Helvetica" pitchFamily="34" charset="0"/>
              </a:rPr>
              <a:t>Why is it important to understand trends?</a:t>
            </a:r>
          </a:p>
          <a:p>
            <a:pPr>
              <a:spcBef>
                <a:spcPts val="600"/>
              </a:spcBef>
              <a:spcAft>
                <a:spcPts val="1200"/>
              </a:spcAft>
            </a:pPr>
            <a:r>
              <a:rPr lang="en-US" sz="2200" dirty="0" smtClean="0">
                <a:latin typeface="Helvetica" pitchFamily="34" charset="0"/>
              </a:rPr>
              <a:t>Which trends and statistics are important?</a:t>
            </a:r>
          </a:p>
          <a:p>
            <a:pPr>
              <a:spcBef>
                <a:spcPts val="600"/>
              </a:spcBef>
              <a:spcAft>
                <a:spcPts val="1200"/>
              </a:spcAft>
            </a:pPr>
            <a:r>
              <a:rPr lang="en-US" sz="2200" dirty="0" smtClean="0">
                <a:latin typeface="Helvetica" pitchFamily="34" charset="0"/>
              </a:rPr>
              <a:t>How can you collect this information?</a:t>
            </a:r>
            <a:endParaRPr lang="en-AU" sz="2200"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28</a:t>
            </a:fld>
            <a:endParaRPr lang="en-US" dirty="0"/>
          </a:p>
        </p:txBody>
      </p:sp>
      <p:pic>
        <p:nvPicPr>
          <p:cNvPr id="6" name="Picture 5" descr="shutterstock_131744006.jpg"/>
          <p:cNvPicPr>
            <a:picLocks noChangeAspect="1"/>
          </p:cNvPicPr>
          <p:nvPr/>
        </p:nvPicPr>
        <p:blipFill>
          <a:blip r:embed="rId3" cstate="print"/>
          <a:stretch>
            <a:fillRect/>
          </a:stretch>
        </p:blipFill>
        <p:spPr>
          <a:xfrm>
            <a:off x="3347864" y="4149080"/>
            <a:ext cx="2094438" cy="1403273"/>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Evaluating market trends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Types of information sources</a:t>
            </a:r>
          </a:p>
          <a:p>
            <a:pPr>
              <a:spcBef>
                <a:spcPts val="600"/>
              </a:spcBef>
              <a:spcAft>
                <a:spcPts val="1200"/>
              </a:spcAft>
            </a:pPr>
            <a:r>
              <a:rPr lang="en-US" sz="2200" dirty="0" smtClean="0">
                <a:latin typeface="Helvetica" pitchFamily="34" charset="0"/>
              </a:rPr>
              <a:t>Colleagues, supervisors and managers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Representatives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Developing your own industry network</a:t>
            </a:r>
          </a:p>
          <a:p>
            <a:pPr>
              <a:spcBef>
                <a:spcPts val="600"/>
              </a:spcBef>
              <a:spcAft>
                <a:spcPts val="1200"/>
              </a:spcAft>
            </a:pPr>
            <a:r>
              <a:rPr lang="en-US" sz="2200" dirty="0" smtClean="0">
                <a:latin typeface="Helvetica" pitchFamily="34" charset="0"/>
              </a:rPr>
              <a:t>Conferences and seminars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Product launches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Trade magazines </a:t>
            </a:r>
            <a:endParaRPr lang="en-AU" sz="2200"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29</a:t>
            </a:fld>
            <a:endParaRPr lang="en-US" dirty="0"/>
          </a:p>
        </p:txBody>
      </p:sp>
      <p:pic>
        <p:nvPicPr>
          <p:cNvPr id="6" name="Picture 5" descr="shutterstock_127785503.jpg"/>
          <p:cNvPicPr/>
          <p:nvPr/>
        </p:nvPicPr>
        <p:blipFill>
          <a:blip r:embed="rId3" cstate="print"/>
          <a:stretch>
            <a:fillRect/>
          </a:stretch>
        </p:blipFill>
        <p:spPr>
          <a:xfrm>
            <a:off x="6156176" y="3284984"/>
            <a:ext cx="2276475" cy="1552575"/>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Evaluating market trends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Types of information sources</a:t>
            </a:r>
          </a:p>
          <a:p>
            <a:pPr>
              <a:spcBef>
                <a:spcPts val="600"/>
              </a:spcBef>
              <a:spcAft>
                <a:spcPts val="1200"/>
              </a:spcAft>
            </a:pPr>
            <a:r>
              <a:rPr lang="en-US" sz="2200" dirty="0" smtClean="0">
                <a:latin typeface="Helvetica" pitchFamily="34" charset="0"/>
              </a:rPr>
              <a:t>Industry Publications</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Newsletters </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Brochures  </a:t>
            </a:r>
            <a:endParaRPr lang="en-AU" sz="2200" dirty="0" smtClean="0">
              <a:latin typeface="Helvetica" pitchFamily="34" charset="0"/>
            </a:endParaRPr>
          </a:p>
          <a:p>
            <a:pPr>
              <a:spcBef>
                <a:spcPts val="600"/>
              </a:spcBef>
              <a:spcAft>
                <a:spcPts val="1200"/>
              </a:spcAft>
            </a:pPr>
            <a:r>
              <a:rPr lang="en-US" sz="2200" dirty="0" smtClean="0">
                <a:latin typeface="Helvetica" pitchFamily="34" charset="0"/>
              </a:rPr>
              <a:t>Advertisements </a:t>
            </a:r>
          </a:p>
          <a:p>
            <a:pPr>
              <a:spcBef>
                <a:spcPts val="600"/>
              </a:spcBef>
              <a:spcAft>
                <a:spcPts val="1200"/>
              </a:spcAft>
            </a:pPr>
            <a:r>
              <a:rPr lang="en-AU" sz="2200" dirty="0" smtClean="0">
                <a:latin typeface="Helvetica" pitchFamily="34" charset="0"/>
              </a:rPr>
              <a:t>Government bodies</a:t>
            </a:r>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30</a:t>
            </a:fld>
            <a:endParaRPr lang="en-US" dirty="0"/>
          </a:p>
        </p:txBody>
      </p:sp>
      <p:pic>
        <p:nvPicPr>
          <p:cNvPr id="8" name="Picture 7" descr="shutterstock_150502661.jpg"/>
          <p:cNvPicPr>
            <a:picLocks noChangeAspect="1"/>
          </p:cNvPicPr>
          <p:nvPr/>
        </p:nvPicPr>
        <p:blipFill>
          <a:blip r:embed="rId3" cstate="print"/>
          <a:stretch>
            <a:fillRect/>
          </a:stretch>
        </p:blipFill>
        <p:spPr>
          <a:xfrm>
            <a:off x="5796136" y="2924944"/>
            <a:ext cx="2357426" cy="1571617"/>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Evaluating market trends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600"/>
              </a:spcAft>
              <a:buNone/>
            </a:pPr>
            <a:r>
              <a:rPr lang="en-AU" sz="2200" b="1" dirty="0" smtClean="0">
                <a:latin typeface="Helvetica" pitchFamily="34" charset="0"/>
              </a:rPr>
              <a:t>Types of industry statistics and trends</a:t>
            </a:r>
          </a:p>
          <a:p>
            <a:pPr lvl="0" fontAlgn="ctr">
              <a:spcBef>
                <a:spcPts val="600"/>
              </a:spcBef>
              <a:spcAft>
                <a:spcPts val="600"/>
              </a:spcAft>
            </a:pPr>
            <a:r>
              <a:rPr lang="en-US" sz="2200" dirty="0" smtClean="0">
                <a:latin typeface="Helvetica" pitchFamily="34" charset="0"/>
              </a:rPr>
              <a:t>Types of tourism and tourism businesses</a:t>
            </a:r>
          </a:p>
          <a:p>
            <a:pPr lvl="0" fontAlgn="ctr">
              <a:spcBef>
                <a:spcPts val="600"/>
              </a:spcBef>
              <a:spcAft>
                <a:spcPts val="600"/>
              </a:spcAft>
            </a:pPr>
            <a:r>
              <a:rPr lang="en-US" sz="2200" dirty="0" smtClean="0">
                <a:latin typeface="Helvetica" pitchFamily="34" charset="0"/>
              </a:rPr>
              <a:t>Types and demographics of customers</a:t>
            </a:r>
          </a:p>
          <a:p>
            <a:pPr lvl="0" fontAlgn="ctr">
              <a:spcBef>
                <a:spcPts val="600"/>
              </a:spcBef>
              <a:spcAft>
                <a:spcPts val="600"/>
              </a:spcAft>
            </a:pPr>
            <a:r>
              <a:rPr lang="en-US" sz="2200" dirty="0" smtClean="0">
                <a:latin typeface="Helvetica" pitchFamily="34" charset="0"/>
              </a:rPr>
              <a:t>Top destinations</a:t>
            </a:r>
          </a:p>
          <a:p>
            <a:pPr lvl="0" fontAlgn="ctr">
              <a:spcBef>
                <a:spcPts val="600"/>
              </a:spcBef>
              <a:spcAft>
                <a:spcPts val="600"/>
              </a:spcAft>
            </a:pPr>
            <a:r>
              <a:rPr lang="en-US" sz="2200" dirty="0" smtClean="0">
                <a:latin typeface="Helvetica" pitchFamily="34" charset="0"/>
              </a:rPr>
              <a:t>Hotel occupancy percentages</a:t>
            </a:r>
          </a:p>
          <a:p>
            <a:pPr lvl="0" fontAlgn="ctr">
              <a:spcBef>
                <a:spcPts val="600"/>
              </a:spcBef>
              <a:spcAft>
                <a:spcPts val="600"/>
              </a:spcAft>
            </a:pPr>
            <a:r>
              <a:rPr lang="en-US" sz="2200" dirty="0" smtClean="0">
                <a:latin typeface="Helvetica" pitchFamily="34" charset="0"/>
              </a:rPr>
              <a:t>Reasons for stays</a:t>
            </a:r>
          </a:p>
          <a:p>
            <a:pPr lvl="0" fontAlgn="ctr">
              <a:spcBef>
                <a:spcPts val="600"/>
              </a:spcBef>
              <a:spcAft>
                <a:spcPts val="600"/>
              </a:spcAft>
            </a:pPr>
            <a:r>
              <a:rPr lang="en-US" sz="2200" dirty="0" smtClean="0">
                <a:latin typeface="Helvetica" pitchFamily="34" charset="0"/>
              </a:rPr>
              <a:t>Current industry information</a:t>
            </a:r>
          </a:p>
          <a:p>
            <a:pPr lvl="0" fontAlgn="ctr">
              <a:spcBef>
                <a:spcPts val="600"/>
              </a:spcBef>
              <a:spcAft>
                <a:spcPts val="600"/>
              </a:spcAft>
            </a:pPr>
            <a:r>
              <a:rPr lang="en-US" sz="2200" dirty="0" smtClean="0">
                <a:latin typeface="Helvetica" pitchFamily="34" charset="0"/>
              </a:rPr>
              <a:t>Destination countries</a:t>
            </a:r>
          </a:p>
          <a:p>
            <a:pPr lvl="0" fontAlgn="ctr">
              <a:spcBef>
                <a:spcPts val="600"/>
              </a:spcBef>
              <a:spcAft>
                <a:spcPts val="600"/>
              </a:spcAft>
            </a:pPr>
            <a:r>
              <a:rPr lang="en-US" sz="2200" dirty="0" smtClean="0">
                <a:latin typeface="Helvetica" pitchFamily="34" charset="0"/>
              </a:rPr>
              <a:t>Departure months</a:t>
            </a:r>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31</a:t>
            </a:fld>
            <a:endParaRPr lang="en-US" dirty="0"/>
          </a:p>
        </p:txBody>
      </p:sp>
      <p:pic>
        <p:nvPicPr>
          <p:cNvPr id="7" name="Picture 6" descr="W374_airplane_shutterstock_158843714.jpg"/>
          <p:cNvPicPr/>
          <p:nvPr/>
        </p:nvPicPr>
        <p:blipFill>
          <a:blip r:embed="rId3" cstate="print"/>
          <a:stretch>
            <a:fillRect/>
          </a:stretch>
        </p:blipFill>
        <p:spPr>
          <a:xfrm>
            <a:off x="6444208" y="3501008"/>
            <a:ext cx="1747845" cy="1304931"/>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Evaluating market trends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600"/>
              </a:spcAft>
              <a:buNone/>
            </a:pPr>
            <a:r>
              <a:rPr lang="en-AU" sz="2200" b="1" dirty="0" smtClean="0">
                <a:latin typeface="Helvetica" pitchFamily="34" charset="0"/>
              </a:rPr>
              <a:t>Types of industry statistics and trends</a:t>
            </a:r>
          </a:p>
          <a:p>
            <a:pPr lvl="0" fontAlgn="ctr">
              <a:spcBef>
                <a:spcPts val="600"/>
              </a:spcBef>
              <a:spcAft>
                <a:spcPts val="600"/>
              </a:spcAft>
            </a:pPr>
            <a:r>
              <a:rPr lang="en-US" sz="2200" dirty="0" smtClean="0">
                <a:latin typeface="Helvetica" pitchFamily="34" charset="0"/>
              </a:rPr>
              <a:t>Length of stay</a:t>
            </a:r>
          </a:p>
          <a:p>
            <a:pPr lvl="0" fontAlgn="ctr">
              <a:spcBef>
                <a:spcPts val="600"/>
              </a:spcBef>
              <a:spcAft>
                <a:spcPts val="600"/>
              </a:spcAft>
            </a:pPr>
            <a:r>
              <a:rPr lang="en-US" sz="2200" dirty="0" smtClean="0">
                <a:latin typeface="Helvetica" pitchFamily="34" charset="0"/>
              </a:rPr>
              <a:t>Type of organisation for the trip</a:t>
            </a:r>
          </a:p>
          <a:p>
            <a:pPr lvl="0" fontAlgn="ctr">
              <a:spcBef>
                <a:spcPts val="600"/>
              </a:spcBef>
              <a:spcAft>
                <a:spcPts val="600"/>
              </a:spcAft>
            </a:pPr>
            <a:r>
              <a:rPr lang="en-US" sz="2200" dirty="0" smtClean="0">
                <a:latin typeface="Helvetica" pitchFamily="34" charset="0"/>
              </a:rPr>
              <a:t>Transport mode</a:t>
            </a:r>
          </a:p>
          <a:p>
            <a:pPr lvl="0" fontAlgn="ctr">
              <a:spcBef>
                <a:spcPts val="600"/>
              </a:spcBef>
              <a:spcAft>
                <a:spcPts val="600"/>
              </a:spcAft>
            </a:pPr>
            <a:r>
              <a:rPr lang="en-US" sz="2200" dirty="0" smtClean="0">
                <a:latin typeface="Helvetica" pitchFamily="34" charset="0"/>
              </a:rPr>
              <a:t>Accommodation type</a:t>
            </a:r>
          </a:p>
          <a:p>
            <a:pPr lvl="0" fontAlgn="ctr">
              <a:spcBef>
                <a:spcPts val="600"/>
              </a:spcBef>
              <a:spcAft>
                <a:spcPts val="600"/>
              </a:spcAft>
            </a:pPr>
            <a:r>
              <a:rPr lang="en-US" sz="2200" dirty="0" smtClean="0">
                <a:latin typeface="Helvetica" pitchFamily="34" charset="0"/>
              </a:rPr>
              <a:t>Expenditure</a:t>
            </a:r>
          </a:p>
          <a:p>
            <a:pPr lvl="0" fontAlgn="ctr">
              <a:spcBef>
                <a:spcPts val="600"/>
              </a:spcBef>
              <a:spcAft>
                <a:spcPts val="600"/>
              </a:spcAft>
            </a:pPr>
            <a:r>
              <a:rPr lang="en-US" sz="2200" dirty="0" smtClean="0">
                <a:latin typeface="Helvetica" pitchFamily="34" charset="0"/>
              </a:rPr>
              <a:t>Popular tourist attractions</a:t>
            </a:r>
          </a:p>
          <a:p>
            <a:pPr lvl="0" fontAlgn="ctr">
              <a:spcBef>
                <a:spcPts val="600"/>
              </a:spcBef>
              <a:spcAft>
                <a:spcPts val="600"/>
              </a:spcAft>
            </a:pPr>
            <a:r>
              <a:rPr lang="en-US" sz="2200" dirty="0" smtClean="0">
                <a:latin typeface="Helvetica" pitchFamily="34" charset="0"/>
              </a:rPr>
              <a:t>Tourism </a:t>
            </a:r>
            <a:r>
              <a:rPr lang="en-AU" sz="2200" dirty="0" smtClean="0">
                <a:latin typeface="Helvetica" pitchFamily="34" charset="0"/>
              </a:rPr>
              <a:t>patterns</a:t>
            </a:r>
            <a:endParaRPr lang="en-US" sz="2200" dirty="0" smtClean="0">
              <a:latin typeface="Helvetica" pitchFamily="34" charset="0"/>
            </a:endParaRPr>
          </a:p>
          <a:p>
            <a:pPr lvl="0" fontAlgn="ctr">
              <a:spcBef>
                <a:spcPts val="600"/>
              </a:spcBef>
              <a:spcAft>
                <a:spcPts val="600"/>
              </a:spcAft>
            </a:pPr>
            <a:r>
              <a:rPr lang="en-AU" sz="2200" dirty="0" smtClean="0">
                <a:latin typeface="Helvetica" pitchFamily="34" charset="0"/>
              </a:rPr>
              <a:t>Technology</a:t>
            </a:r>
            <a:endParaRPr lang="en-US" sz="2200"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32</a:t>
            </a:fld>
            <a:endParaRPr lang="en-US" dirty="0"/>
          </a:p>
        </p:txBody>
      </p:sp>
      <p:pic>
        <p:nvPicPr>
          <p:cNvPr id="7" name="Picture 6" descr="W112_business_documents_shutterstock_156031889.jpg"/>
          <p:cNvPicPr>
            <a:picLocks noChangeAspect="1"/>
          </p:cNvPicPr>
          <p:nvPr/>
        </p:nvPicPr>
        <p:blipFill>
          <a:blip r:embed="rId3" cstate="print"/>
          <a:stretch>
            <a:fillRect/>
          </a:stretch>
        </p:blipFill>
        <p:spPr>
          <a:xfrm>
            <a:off x="6084168" y="3645024"/>
            <a:ext cx="2157410" cy="1438992"/>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Customer demands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Impact of customer demands</a:t>
            </a:r>
          </a:p>
          <a:p>
            <a:pPr>
              <a:spcBef>
                <a:spcPts val="600"/>
              </a:spcBef>
              <a:spcAft>
                <a:spcPts val="1200"/>
              </a:spcAft>
            </a:pPr>
            <a:r>
              <a:rPr lang="en-AU" sz="2200" dirty="0" smtClean="0">
                <a:latin typeface="Helvetica" pitchFamily="34" charset="0"/>
              </a:rPr>
              <a:t>What are common customer demands?</a:t>
            </a:r>
          </a:p>
          <a:p>
            <a:pPr>
              <a:spcBef>
                <a:spcPts val="600"/>
              </a:spcBef>
              <a:spcAft>
                <a:spcPts val="1200"/>
              </a:spcAft>
            </a:pPr>
            <a:r>
              <a:rPr lang="en-AU" sz="2200" dirty="0" smtClean="0">
                <a:latin typeface="Helvetica" pitchFamily="34" charset="0"/>
              </a:rPr>
              <a:t>What influences customer demand?</a:t>
            </a:r>
          </a:p>
          <a:p>
            <a:pPr>
              <a:spcBef>
                <a:spcPts val="600"/>
              </a:spcBef>
              <a:spcAft>
                <a:spcPts val="1200"/>
              </a:spcAft>
              <a:buNone/>
            </a:pPr>
            <a:endParaRPr lang="en-AU" sz="2400" dirty="0" smtClean="0">
              <a:solidFill>
                <a:srgbClr val="FF6600"/>
              </a:solidFill>
            </a:endParaRPr>
          </a:p>
          <a:p>
            <a:pPr>
              <a:spcBef>
                <a:spcPts val="600"/>
              </a:spcBef>
              <a:spcAft>
                <a:spcPts val="1200"/>
              </a:spcAft>
              <a:buNone/>
            </a:pPr>
            <a:r>
              <a:rPr lang="en-AU" sz="2400" dirty="0" smtClean="0">
                <a:solidFill>
                  <a:srgbClr val="FF6600"/>
                </a:solidFill>
              </a:rPr>
              <a:t>COMPLETE ACTIVITY 3</a:t>
            </a:r>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33</a:t>
            </a:fld>
            <a:endParaRPr lang="en-US" dirty="0"/>
          </a:p>
        </p:txBody>
      </p:sp>
      <p:pic>
        <p:nvPicPr>
          <p:cNvPr id="6" name="Picture 5" descr="shutterstock_141288652.jpg"/>
          <p:cNvPicPr>
            <a:picLocks noChangeAspect="1"/>
          </p:cNvPicPr>
          <p:nvPr/>
        </p:nvPicPr>
        <p:blipFill>
          <a:blip r:embed="rId3" cstate="print"/>
          <a:stretch>
            <a:fillRect/>
          </a:stretch>
        </p:blipFill>
        <p:spPr>
          <a:xfrm>
            <a:off x="5688124" y="3429000"/>
            <a:ext cx="2533464" cy="1688976"/>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Legal requirements </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Complying with legal requirements</a:t>
            </a:r>
          </a:p>
          <a:p>
            <a:pPr marL="0">
              <a:spcBef>
                <a:spcPts val="600"/>
              </a:spcBef>
              <a:spcAft>
                <a:spcPts val="1200"/>
              </a:spcAft>
              <a:buNone/>
            </a:pPr>
            <a:r>
              <a:rPr lang="en-AU" sz="2200" dirty="0" smtClean="0">
                <a:latin typeface="Helvetica" pitchFamily="34" charset="0"/>
              </a:rPr>
              <a:t>Any tourism business must abide by certain laws and responsibilities aimed at protecting all stakeholders including the organisation, staff, customers and the general community.</a:t>
            </a:r>
          </a:p>
          <a:p>
            <a:pPr>
              <a:spcBef>
                <a:spcPts val="600"/>
              </a:spcBef>
              <a:spcAft>
                <a:spcPts val="1200"/>
              </a:spcAft>
            </a:pPr>
            <a:r>
              <a:rPr lang="en-AU" sz="2200" dirty="0" smtClean="0">
                <a:latin typeface="Helvetica" pitchFamily="34" charset="0"/>
              </a:rPr>
              <a:t>How can you find out about legal requirements?</a:t>
            </a:r>
          </a:p>
          <a:p>
            <a:pPr>
              <a:spcBef>
                <a:spcPts val="600"/>
              </a:spcBef>
              <a:spcAft>
                <a:spcPts val="1200"/>
              </a:spcAft>
            </a:pPr>
            <a:r>
              <a:rPr lang="en-AU" sz="2200" dirty="0" smtClean="0">
                <a:latin typeface="Helvetica" pitchFamily="34" charset="0"/>
              </a:rPr>
              <a:t>What are examples of legal requirements for your country when undertaking marketing activities?</a:t>
            </a:r>
            <a:endParaRPr lang="en-US" sz="2200" dirty="0" smtClean="0">
              <a:latin typeface="Helvetica" pitchFamily="34" charset="0"/>
            </a:endParaRPr>
          </a:p>
          <a:p>
            <a:pPr>
              <a:spcBef>
                <a:spcPts val="600"/>
              </a:spcBef>
              <a:spcAft>
                <a:spcPts val="1200"/>
              </a:spcAft>
              <a:buNone/>
            </a:pPr>
            <a:endParaRPr lang="en-AU" sz="2400" dirty="0" smtClean="0">
              <a:solidFill>
                <a:srgbClr val="FF6600"/>
              </a:solidFill>
            </a:endParaRPr>
          </a:p>
          <a:p>
            <a:pPr>
              <a:spcBef>
                <a:spcPts val="600"/>
              </a:spcBef>
              <a:spcAft>
                <a:spcPts val="1200"/>
              </a:spcAft>
              <a:buNone/>
            </a:pPr>
            <a:endParaRPr lang="en-AU" sz="2400" dirty="0" smtClean="0">
              <a:solidFill>
                <a:srgbClr val="FF6600"/>
              </a:solidFill>
            </a:endParaRPr>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34</a:t>
            </a:fld>
            <a:endParaRPr lang="en-US" dirty="0"/>
          </a:p>
        </p:txBody>
      </p:sp>
      <p:pic>
        <p:nvPicPr>
          <p:cNvPr id="7" name="Picture 6" descr="shutterstock_14099602.jpg"/>
          <p:cNvPicPr/>
          <p:nvPr/>
        </p:nvPicPr>
        <p:blipFill>
          <a:blip r:embed="rId3" cstate="print"/>
          <a:stretch>
            <a:fillRect/>
          </a:stretch>
        </p:blipFill>
        <p:spPr>
          <a:xfrm>
            <a:off x="7380312" y="3068960"/>
            <a:ext cx="1171575" cy="1771650"/>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pPr marL="0">
              <a:spcBef>
                <a:spcPts val="600"/>
              </a:spcBef>
              <a:spcAft>
                <a:spcPts val="1200"/>
              </a:spcAft>
            </a:pPr>
            <a:r>
              <a:rPr lang="en-AU" sz="3400" b="1" dirty="0" smtClean="0">
                <a:solidFill>
                  <a:srgbClr val="FF6600"/>
                </a:solidFill>
                <a:latin typeface="Helvetica" pitchFamily="34" charset="0"/>
              </a:rPr>
              <a:t>Legal requirements </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Types of legal requirements</a:t>
            </a:r>
          </a:p>
          <a:p>
            <a:pPr fontAlgn="ctr">
              <a:spcBef>
                <a:spcPts val="600"/>
              </a:spcBef>
              <a:spcAft>
                <a:spcPts val="1200"/>
              </a:spcAft>
            </a:pPr>
            <a:r>
              <a:rPr lang="en-US" sz="2200" dirty="0" smtClean="0">
                <a:latin typeface="Helvetica" pitchFamily="34" charset="0"/>
              </a:rPr>
              <a:t>Laws</a:t>
            </a:r>
          </a:p>
          <a:p>
            <a:pPr fontAlgn="ctr">
              <a:spcBef>
                <a:spcPts val="600"/>
              </a:spcBef>
              <a:spcAft>
                <a:spcPts val="1200"/>
              </a:spcAft>
            </a:pPr>
            <a:r>
              <a:rPr lang="en-US" sz="2200" dirty="0" smtClean="0">
                <a:latin typeface="Helvetica" pitchFamily="34" charset="0"/>
              </a:rPr>
              <a:t>Consumer protection issues</a:t>
            </a:r>
          </a:p>
          <a:p>
            <a:pPr fontAlgn="ctr">
              <a:spcBef>
                <a:spcPts val="600"/>
              </a:spcBef>
              <a:spcAft>
                <a:spcPts val="1200"/>
              </a:spcAft>
            </a:pPr>
            <a:r>
              <a:rPr lang="en-US" sz="2200" dirty="0" smtClean="0">
                <a:latin typeface="Helvetica" pitchFamily="34" charset="0"/>
              </a:rPr>
              <a:t>Duty of care</a:t>
            </a:r>
          </a:p>
          <a:p>
            <a:pPr fontAlgn="ctr">
              <a:spcBef>
                <a:spcPts val="600"/>
              </a:spcBef>
              <a:spcAft>
                <a:spcPts val="1200"/>
              </a:spcAft>
            </a:pPr>
            <a:r>
              <a:rPr lang="en-US" sz="2200" dirty="0" smtClean="0">
                <a:latin typeface="Helvetica" pitchFamily="34" charset="0"/>
              </a:rPr>
              <a:t>Equal employment opportunity</a:t>
            </a:r>
          </a:p>
          <a:p>
            <a:pPr fontAlgn="ctr">
              <a:spcBef>
                <a:spcPts val="600"/>
              </a:spcBef>
              <a:spcAft>
                <a:spcPts val="1200"/>
              </a:spcAft>
            </a:pPr>
            <a:r>
              <a:rPr lang="en-US" sz="2200" dirty="0" smtClean="0">
                <a:latin typeface="Helvetica" pitchFamily="34" charset="0"/>
              </a:rPr>
              <a:t>Workplace relations</a:t>
            </a:r>
          </a:p>
          <a:p>
            <a:pPr fontAlgn="ctr">
              <a:spcBef>
                <a:spcPts val="600"/>
              </a:spcBef>
              <a:spcAft>
                <a:spcPts val="1200"/>
              </a:spcAft>
            </a:pPr>
            <a:r>
              <a:rPr lang="en-US" sz="2200" dirty="0" smtClean="0">
                <a:latin typeface="Helvetica" pitchFamily="34" charset="0"/>
              </a:rPr>
              <a:t>Privacy</a:t>
            </a:r>
          </a:p>
          <a:p>
            <a:pPr fontAlgn="ctr"/>
            <a:endParaRPr lang="en-US" sz="2400" dirty="0" smtClean="0"/>
          </a:p>
          <a:p>
            <a:pPr>
              <a:spcBef>
                <a:spcPts val="600"/>
              </a:spcBef>
              <a:spcAft>
                <a:spcPts val="1200"/>
              </a:spcAft>
              <a:buNone/>
            </a:pPr>
            <a:endParaRPr lang="en-AU" sz="2400" dirty="0" smtClean="0">
              <a:solidFill>
                <a:srgbClr val="FF6600"/>
              </a:solidFill>
            </a:endParaRPr>
          </a:p>
          <a:p>
            <a:pPr>
              <a:spcBef>
                <a:spcPts val="600"/>
              </a:spcBef>
              <a:spcAft>
                <a:spcPts val="1200"/>
              </a:spcAft>
              <a:buNone/>
            </a:pPr>
            <a:endParaRPr lang="en-AU" sz="2400" dirty="0" smtClean="0">
              <a:solidFill>
                <a:srgbClr val="FF6600"/>
              </a:solidFill>
            </a:endParaRPr>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35</a:t>
            </a:fld>
            <a:endParaRPr lang="en-US" dirty="0"/>
          </a:p>
        </p:txBody>
      </p:sp>
      <p:pic>
        <p:nvPicPr>
          <p:cNvPr id="6" name="Picture 5" descr="shutterstock_97221128.jpg"/>
          <p:cNvPicPr/>
          <p:nvPr/>
        </p:nvPicPr>
        <p:blipFill>
          <a:blip r:embed="rId3" cstate="print"/>
          <a:stretch>
            <a:fillRect/>
          </a:stretch>
        </p:blipFill>
        <p:spPr>
          <a:xfrm>
            <a:off x="6084168" y="2708920"/>
            <a:ext cx="1619250" cy="1495425"/>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Ethical considerations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fontAlgn="ctr">
              <a:spcBef>
                <a:spcPts val="600"/>
              </a:spcBef>
              <a:spcAft>
                <a:spcPts val="1200"/>
              </a:spcAft>
              <a:buNone/>
            </a:pPr>
            <a:r>
              <a:rPr lang="en-US" sz="2200" dirty="0" smtClean="0">
                <a:latin typeface="Helvetica" pitchFamily="34" charset="0"/>
              </a:rPr>
              <a:t>Whilst ethical issues, may or may not be enforced by laws or regulations, there is a certain 'code' in which all businesses should operate under.</a:t>
            </a:r>
          </a:p>
          <a:p>
            <a:pPr fontAlgn="ctr">
              <a:spcBef>
                <a:spcPts val="600"/>
              </a:spcBef>
              <a:spcAft>
                <a:spcPts val="1200"/>
              </a:spcAft>
            </a:pPr>
            <a:r>
              <a:rPr lang="en-US" sz="2200" dirty="0" smtClean="0">
                <a:latin typeface="Helvetica" pitchFamily="34" charset="0"/>
              </a:rPr>
              <a:t>Confidentiality</a:t>
            </a:r>
          </a:p>
          <a:p>
            <a:pPr fontAlgn="ctr">
              <a:spcBef>
                <a:spcPts val="600"/>
              </a:spcBef>
              <a:spcAft>
                <a:spcPts val="1200"/>
              </a:spcAft>
            </a:pPr>
            <a:r>
              <a:rPr lang="en-US" sz="2200" dirty="0" smtClean="0">
                <a:latin typeface="Helvetica" pitchFamily="34" charset="0"/>
              </a:rPr>
              <a:t>Commission levels</a:t>
            </a:r>
          </a:p>
          <a:p>
            <a:pPr fontAlgn="ctr">
              <a:spcBef>
                <a:spcPts val="600"/>
              </a:spcBef>
              <a:spcAft>
                <a:spcPts val="1200"/>
              </a:spcAft>
            </a:pPr>
            <a:r>
              <a:rPr lang="en-US" sz="2200" dirty="0" smtClean="0">
                <a:latin typeface="Helvetica" pitchFamily="34" charset="0"/>
              </a:rPr>
              <a:t>Pricing</a:t>
            </a:r>
          </a:p>
          <a:p>
            <a:pPr fontAlgn="ctr">
              <a:spcBef>
                <a:spcPts val="600"/>
              </a:spcBef>
              <a:spcAft>
                <a:spcPts val="1200"/>
              </a:spcAft>
            </a:pPr>
            <a:r>
              <a:rPr lang="en-AU" sz="2200" dirty="0" smtClean="0">
                <a:latin typeface="Helvetica" pitchFamily="34" charset="0"/>
              </a:rPr>
              <a:t>Code of ethics</a:t>
            </a:r>
            <a:endParaRPr lang="en-US" sz="2200" dirty="0" smtClean="0">
              <a:latin typeface="Helvetica" pitchFamily="34" charset="0"/>
            </a:endParaRPr>
          </a:p>
          <a:p>
            <a:pPr fontAlgn="ctr">
              <a:buNone/>
            </a:pPr>
            <a:endParaRPr lang="en-AU" sz="2400" dirty="0" smtClean="0">
              <a:solidFill>
                <a:srgbClr val="FF6600"/>
              </a:solidFill>
            </a:endParaRPr>
          </a:p>
          <a:p>
            <a:pPr fontAlgn="ctr">
              <a:buNone/>
            </a:pPr>
            <a:r>
              <a:rPr lang="en-AU" sz="2400" dirty="0" smtClean="0">
                <a:solidFill>
                  <a:srgbClr val="FF6600"/>
                </a:solidFill>
              </a:rPr>
              <a:t>COMPLETE ACTIVITY 4</a:t>
            </a:r>
          </a:p>
          <a:p>
            <a:pPr fontAlgn="ctr"/>
            <a:endParaRPr lang="en-US" sz="2400" dirty="0" smtClean="0"/>
          </a:p>
          <a:p>
            <a:pPr fontAlgn="ctr"/>
            <a:endParaRPr lang="en-US" sz="2400" dirty="0" smtClean="0"/>
          </a:p>
          <a:p>
            <a:pPr>
              <a:spcBef>
                <a:spcPts val="600"/>
              </a:spcBef>
              <a:spcAft>
                <a:spcPts val="1200"/>
              </a:spcAft>
              <a:buNone/>
            </a:pPr>
            <a:endParaRPr lang="en-AU" sz="2400" dirty="0" smtClean="0">
              <a:solidFill>
                <a:srgbClr val="FF6600"/>
              </a:solidFill>
            </a:endParaRPr>
          </a:p>
          <a:p>
            <a:pPr>
              <a:spcBef>
                <a:spcPts val="600"/>
              </a:spcBef>
              <a:spcAft>
                <a:spcPts val="1200"/>
              </a:spcAft>
              <a:buNone/>
            </a:pPr>
            <a:endParaRPr lang="en-AU" sz="2400" dirty="0" smtClean="0">
              <a:solidFill>
                <a:srgbClr val="FF6600"/>
              </a:solidFill>
            </a:endParaRPr>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36</a:t>
            </a:fld>
            <a:endParaRPr lang="en-US" dirty="0"/>
          </a:p>
        </p:txBody>
      </p:sp>
      <p:pic>
        <p:nvPicPr>
          <p:cNvPr id="7" name="Picture 6" descr="shutterstock_129565649.jpg"/>
          <p:cNvPicPr/>
          <p:nvPr/>
        </p:nvPicPr>
        <p:blipFill>
          <a:blip r:embed="rId3" cstate="print"/>
          <a:stretch>
            <a:fillRect/>
          </a:stretch>
        </p:blipFill>
        <p:spPr>
          <a:xfrm>
            <a:off x="6372200" y="3429000"/>
            <a:ext cx="1771650" cy="1181100"/>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Autofit/>
          </a:bodyPr>
          <a:lstStyle/>
          <a:p>
            <a:r>
              <a:rPr lang="en-GB" sz="3400" b="1" dirty="0" smtClean="0">
                <a:solidFill>
                  <a:srgbClr val="FF6600"/>
                </a:solidFill>
                <a:latin typeface="Helvetica" pitchFamily="34" charset="0"/>
              </a:rPr>
              <a:t>Capabilities and resources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1200"/>
              </a:spcAft>
              <a:buNone/>
            </a:pPr>
            <a:r>
              <a:rPr lang="en-AU" sz="2200" dirty="0" smtClean="0">
                <a:latin typeface="Helvetica" pitchFamily="34" charset="0"/>
              </a:rPr>
              <a:t>When we are exploring capacities and resources and their affect on a tourism organisation there are two aspects to consider and analyse: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Capabilities and resources of the tourism industry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Capabilities and resources of a tourism organisation</a:t>
            </a:r>
            <a:endParaRPr lang="en-US" sz="2200"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buNone/>
            </a:pPr>
            <a:endParaRPr lang="en-AU" sz="2400" b="1"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37</a:t>
            </a:fld>
            <a:endParaRPr lang="en-US" dirty="0"/>
          </a:p>
        </p:txBody>
      </p:sp>
      <p:pic>
        <p:nvPicPr>
          <p:cNvPr id="7" name="Picture 6" descr="shutterstock_194262404.jpg"/>
          <p:cNvPicPr/>
          <p:nvPr/>
        </p:nvPicPr>
        <p:blipFill>
          <a:blip r:embed="rId3" cstate="print"/>
          <a:stretch>
            <a:fillRect/>
          </a:stretch>
        </p:blipFill>
        <p:spPr>
          <a:xfrm>
            <a:off x="3707904" y="4293096"/>
            <a:ext cx="1852621" cy="1400182"/>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Autofit/>
          </a:bodyPr>
          <a:lstStyle/>
          <a:p>
            <a:r>
              <a:rPr lang="en-GB" sz="3400" b="1" dirty="0" smtClean="0">
                <a:solidFill>
                  <a:srgbClr val="FF6600"/>
                </a:solidFill>
                <a:latin typeface="Helvetica" pitchFamily="34" charset="0"/>
              </a:rPr>
              <a:t>Capabilities and resources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buNone/>
            </a:pPr>
            <a:r>
              <a:rPr lang="en-AU" sz="2200" b="1" dirty="0" smtClean="0">
                <a:latin typeface="Helvetica" pitchFamily="34" charset="0"/>
              </a:rPr>
              <a:t>Capabilities and resources of the tourism industry</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Labor</a:t>
            </a:r>
          </a:p>
          <a:p>
            <a:pPr lvl="0">
              <a:spcBef>
                <a:spcPts val="600"/>
              </a:spcBef>
              <a:spcAft>
                <a:spcPts val="1200"/>
              </a:spcAft>
            </a:pPr>
            <a:r>
              <a:rPr lang="en-AU" sz="2200" dirty="0" smtClean="0">
                <a:latin typeface="Helvetica" pitchFamily="34" charset="0"/>
              </a:rPr>
              <a:t>Capital</a:t>
            </a:r>
          </a:p>
          <a:p>
            <a:pPr lvl="0">
              <a:spcBef>
                <a:spcPts val="600"/>
              </a:spcBef>
              <a:spcAft>
                <a:spcPts val="1200"/>
              </a:spcAft>
            </a:pPr>
            <a:r>
              <a:rPr lang="en-AU" sz="2200" dirty="0" smtClean="0">
                <a:latin typeface="Helvetica" pitchFamily="34" charset="0"/>
              </a:rPr>
              <a:t>Infrastructure</a:t>
            </a:r>
          </a:p>
          <a:p>
            <a:pPr lvl="0">
              <a:spcBef>
                <a:spcPts val="600"/>
              </a:spcBef>
              <a:spcAft>
                <a:spcPts val="1200"/>
              </a:spcAft>
            </a:pPr>
            <a:r>
              <a:rPr lang="en-AU" sz="2200" dirty="0" smtClean="0">
                <a:latin typeface="Helvetica" pitchFamily="34" charset="0"/>
              </a:rPr>
              <a:t>Geography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Ecology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Natural and land resources</a:t>
            </a:r>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38</a:t>
            </a:fld>
            <a:endParaRPr lang="en-US" dirty="0"/>
          </a:p>
        </p:txBody>
      </p:sp>
      <p:pic>
        <p:nvPicPr>
          <p:cNvPr id="6" name="Picture 5" descr="shutterstock_2433437.jpg"/>
          <p:cNvPicPr/>
          <p:nvPr/>
        </p:nvPicPr>
        <p:blipFill>
          <a:blip r:embed="rId3" cstate="print"/>
          <a:stretch>
            <a:fillRect/>
          </a:stretch>
        </p:blipFill>
        <p:spPr>
          <a:xfrm>
            <a:off x="6084168" y="3068960"/>
            <a:ext cx="2028833" cy="1376368"/>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Autofit/>
          </a:bodyPr>
          <a:lstStyle/>
          <a:p>
            <a:r>
              <a:rPr lang="en-GB" sz="3400" b="1" dirty="0" smtClean="0">
                <a:solidFill>
                  <a:srgbClr val="FF6600"/>
                </a:solidFill>
                <a:latin typeface="Helvetica" pitchFamily="34" charset="0"/>
              </a:rPr>
              <a:t>Capabilities and resources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301208"/>
          </a:xfrm>
        </p:spPr>
        <p:txBody>
          <a:bodyPr>
            <a:normAutofit/>
          </a:bodyPr>
          <a:lstStyle/>
          <a:p>
            <a:pPr lvl="0">
              <a:spcBef>
                <a:spcPts val="600"/>
              </a:spcBef>
              <a:spcAft>
                <a:spcPts val="1200"/>
              </a:spcAft>
              <a:buNone/>
            </a:pPr>
            <a:r>
              <a:rPr lang="en-AU" sz="2200" b="1" dirty="0" smtClean="0">
                <a:latin typeface="Helvetica" pitchFamily="34" charset="0"/>
              </a:rPr>
              <a:t>Capabilities and resources of the tourism industry</a:t>
            </a:r>
            <a:endParaRPr lang="en-US" sz="2200" b="1" dirty="0" smtClean="0">
              <a:latin typeface="Helvetica" pitchFamily="34" charset="0"/>
            </a:endParaRPr>
          </a:p>
          <a:p>
            <a:pPr lvl="0">
              <a:spcBef>
                <a:spcPts val="600"/>
              </a:spcBef>
              <a:spcAft>
                <a:spcPts val="1200"/>
              </a:spcAft>
            </a:pPr>
            <a:r>
              <a:rPr lang="en-AU" sz="2200" dirty="0" smtClean="0">
                <a:latin typeface="Helvetica" pitchFamily="34" charset="0"/>
              </a:rPr>
              <a:t>Manufacturing</a:t>
            </a:r>
          </a:p>
          <a:p>
            <a:pPr lvl="0">
              <a:spcBef>
                <a:spcPts val="600"/>
              </a:spcBef>
              <a:spcAft>
                <a:spcPts val="1200"/>
              </a:spcAft>
            </a:pPr>
            <a:r>
              <a:rPr lang="en-AU" sz="2200" dirty="0" smtClean="0">
                <a:latin typeface="Helvetica" pitchFamily="34" charset="0"/>
              </a:rPr>
              <a:t>Trade </a:t>
            </a:r>
          </a:p>
          <a:p>
            <a:pPr lvl="0">
              <a:spcBef>
                <a:spcPts val="600"/>
              </a:spcBef>
              <a:spcAft>
                <a:spcPts val="1200"/>
              </a:spcAft>
            </a:pPr>
            <a:r>
              <a:rPr lang="en-AU" sz="2200" dirty="0" smtClean="0">
                <a:latin typeface="Helvetica" pitchFamily="34" charset="0"/>
              </a:rPr>
              <a:t>Distribution</a:t>
            </a:r>
          </a:p>
          <a:p>
            <a:pPr lvl="0">
              <a:spcBef>
                <a:spcPts val="600"/>
              </a:spcBef>
              <a:spcAft>
                <a:spcPts val="1200"/>
              </a:spcAft>
            </a:pPr>
            <a:r>
              <a:rPr lang="en-AU" sz="2200" dirty="0" smtClean="0">
                <a:latin typeface="Helvetica" pitchFamily="34" charset="0"/>
              </a:rPr>
              <a:t>Consumption of good and services</a:t>
            </a:r>
            <a:endParaRPr lang="en-AU" sz="2200" b="1" dirty="0" smtClean="0">
              <a:latin typeface="Helvetica" pitchFamily="34" charset="0"/>
            </a:endParaRPr>
          </a:p>
          <a:p>
            <a:pPr>
              <a:spcBef>
                <a:spcPts val="600"/>
              </a:spcBef>
              <a:spcAft>
                <a:spcPts val="1200"/>
              </a:spcAft>
              <a:buNone/>
            </a:pPr>
            <a:endParaRPr lang="en-AU" sz="2200" dirty="0" smtClean="0">
              <a:solidFill>
                <a:srgbClr val="FF6600"/>
              </a:solidFill>
              <a:latin typeface="Helvetica" pitchFamily="34" charset="0"/>
            </a:endParaRPr>
          </a:p>
          <a:p>
            <a:pPr>
              <a:spcBef>
                <a:spcPts val="600"/>
              </a:spcBef>
              <a:spcAft>
                <a:spcPts val="1200"/>
              </a:spcAft>
              <a:buNone/>
            </a:pPr>
            <a:r>
              <a:rPr lang="en-AU" sz="2200" dirty="0" smtClean="0">
                <a:solidFill>
                  <a:srgbClr val="FF6600"/>
                </a:solidFill>
                <a:latin typeface="Helvetica" pitchFamily="34" charset="0"/>
              </a:rPr>
              <a:t>COMPLETE ACTIVITY 5</a:t>
            </a:r>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39</a:t>
            </a:fld>
            <a:endParaRPr lang="en-US" dirty="0"/>
          </a:p>
        </p:txBody>
      </p:sp>
      <p:pic>
        <p:nvPicPr>
          <p:cNvPr id="7" name="Picture 6" descr="Lady_man_at airport_174994439.jpg"/>
          <p:cNvPicPr>
            <a:picLocks noChangeAspect="1"/>
          </p:cNvPicPr>
          <p:nvPr/>
        </p:nvPicPr>
        <p:blipFill>
          <a:blip r:embed="rId3" cstate="print"/>
          <a:stretch>
            <a:fillRect/>
          </a:stretch>
        </p:blipFill>
        <p:spPr>
          <a:xfrm>
            <a:off x="6300192" y="3284984"/>
            <a:ext cx="2024066" cy="1457328"/>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Autofit/>
          </a:bodyPr>
          <a:lstStyle/>
          <a:p>
            <a:r>
              <a:rPr lang="en-GB" sz="3400" b="1" dirty="0" smtClean="0">
                <a:solidFill>
                  <a:srgbClr val="FF6600"/>
                </a:solidFill>
                <a:latin typeface="Helvetica" pitchFamily="34" charset="0"/>
              </a:rPr>
              <a:t>Capabilities and resources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Capabilities and resources of a tourism organisation</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Resources can encompass: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Physical resources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Human resources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Financial resources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Intellectual property</a:t>
            </a:r>
          </a:p>
          <a:p>
            <a:pPr>
              <a:spcBef>
                <a:spcPts val="600"/>
              </a:spcBef>
              <a:spcAft>
                <a:spcPts val="1200"/>
              </a:spcAft>
              <a:buNone/>
            </a:pPr>
            <a:endParaRPr lang="en-AU" sz="2200" dirty="0" smtClean="0">
              <a:solidFill>
                <a:srgbClr val="FF6600"/>
              </a:solidFill>
              <a:latin typeface="Helvetica" pitchFamily="34" charset="0"/>
            </a:endParaRPr>
          </a:p>
          <a:p>
            <a:pPr lvl="0">
              <a:spcBef>
                <a:spcPts val="600"/>
              </a:spcBef>
              <a:spcAft>
                <a:spcPts val="1200"/>
              </a:spcAft>
              <a:buNone/>
            </a:pPr>
            <a:endParaRPr lang="en-US" sz="2200"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buNone/>
            </a:pPr>
            <a:endParaRPr lang="en-AU" sz="2400" b="1"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40</a:t>
            </a:fld>
            <a:endParaRPr lang="en-US" dirty="0"/>
          </a:p>
        </p:txBody>
      </p:sp>
      <p:pic>
        <p:nvPicPr>
          <p:cNvPr id="7" name="Picture 6" descr="shutterstock_40074070.jpg"/>
          <p:cNvPicPr/>
          <p:nvPr/>
        </p:nvPicPr>
        <p:blipFill>
          <a:blip r:embed="rId3" cstate="print"/>
          <a:stretch>
            <a:fillRect/>
          </a:stretch>
        </p:blipFill>
        <p:spPr>
          <a:xfrm>
            <a:off x="6300192" y="3068960"/>
            <a:ext cx="1638300" cy="1143000"/>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Autofit/>
          </a:bodyPr>
          <a:lstStyle/>
          <a:p>
            <a:r>
              <a:rPr lang="en-GB" sz="3400" b="1" dirty="0" smtClean="0">
                <a:solidFill>
                  <a:srgbClr val="FF6600"/>
                </a:solidFill>
                <a:latin typeface="Helvetica" pitchFamily="34" charset="0"/>
              </a:rPr>
              <a:t>Capabilities and resources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Capabilities and resources of a tourism organisation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Location/premises</a:t>
            </a:r>
          </a:p>
          <a:p>
            <a:pPr lvl="0">
              <a:spcBef>
                <a:spcPts val="600"/>
              </a:spcBef>
              <a:spcAft>
                <a:spcPts val="1200"/>
              </a:spcAft>
            </a:pPr>
            <a:r>
              <a:rPr lang="en-AU" sz="2200" dirty="0" smtClean="0">
                <a:latin typeface="Helvetica" pitchFamily="34" charset="0"/>
              </a:rPr>
              <a:t>Occupational health and safety (OHS) resources</a:t>
            </a:r>
          </a:p>
          <a:p>
            <a:pPr lvl="0">
              <a:spcBef>
                <a:spcPts val="600"/>
              </a:spcBef>
              <a:spcAft>
                <a:spcPts val="1200"/>
              </a:spcAft>
            </a:pPr>
            <a:r>
              <a:rPr lang="en-AU" sz="2200" dirty="0" smtClean="0">
                <a:latin typeface="Helvetica" pitchFamily="34" charset="0"/>
              </a:rPr>
              <a:t>Plant/machinery</a:t>
            </a:r>
          </a:p>
          <a:p>
            <a:pPr lvl="0">
              <a:spcBef>
                <a:spcPts val="600"/>
              </a:spcBef>
              <a:spcAft>
                <a:spcPts val="1200"/>
              </a:spcAft>
            </a:pPr>
            <a:r>
              <a:rPr lang="en-AU" sz="2200" dirty="0" smtClean="0">
                <a:latin typeface="Helvetica" pitchFamily="34" charset="0"/>
              </a:rPr>
              <a:t>Raw materials – used to produce the products or service</a:t>
            </a:r>
          </a:p>
          <a:p>
            <a:pPr lvl="0">
              <a:spcBef>
                <a:spcPts val="600"/>
              </a:spcBef>
              <a:spcAft>
                <a:spcPts val="1200"/>
              </a:spcAft>
            </a:pPr>
            <a:r>
              <a:rPr lang="en-AU" sz="2200" dirty="0" smtClean="0">
                <a:latin typeface="Helvetica" pitchFamily="34" charset="0"/>
              </a:rPr>
              <a:t>Refurbishment requirements</a:t>
            </a:r>
          </a:p>
          <a:p>
            <a:pPr lvl="0">
              <a:spcBef>
                <a:spcPts val="600"/>
              </a:spcBef>
              <a:spcAft>
                <a:spcPts val="1200"/>
              </a:spcAft>
            </a:pPr>
            <a:r>
              <a:rPr lang="en-AU" sz="2200" dirty="0" smtClean="0">
                <a:latin typeface="Helvetica" pitchFamily="34" charset="0"/>
              </a:rPr>
              <a:t>Staff amenities</a:t>
            </a:r>
          </a:p>
          <a:p>
            <a:pPr lvl="0">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b="1"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41</a:t>
            </a:fld>
            <a:endParaRPr lang="en-US" dirty="0"/>
          </a:p>
        </p:txBody>
      </p:sp>
      <p:pic>
        <p:nvPicPr>
          <p:cNvPr id="8" name="Picture 7" descr="shutterstock_33818875.jpg"/>
          <p:cNvPicPr/>
          <p:nvPr/>
        </p:nvPicPr>
        <p:blipFill>
          <a:blip r:embed="rId3" cstate="print"/>
          <a:stretch>
            <a:fillRect/>
          </a:stretch>
        </p:blipFill>
        <p:spPr>
          <a:xfrm>
            <a:off x="5580112" y="4509120"/>
            <a:ext cx="1938346" cy="1266831"/>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Autofit/>
          </a:bodyPr>
          <a:lstStyle/>
          <a:p>
            <a:r>
              <a:rPr lang="en-GB" sz="3400" b="1" dirty="0" smtClean="0">
                <a:solidFill>
                  <a:srgbClr val="FF6600"/>
                </a:solidFill>
                <a:latin typeface="Helvetica" pitchFamily="34" charset="0"/>
              </a:rPr>
              <a:t>Capabilities and resources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lnSpcReduction="10000"/>
          </a:bodyPr>
          <a:lstStyle/>
          <a:p>
            <a:pPr>
              <a:spcBef>
                <a:spcPts val="600"/>
              </a:spcBef>
              <a:spcAft>
                <a:spcPts val="1200"/>
              </a:spcAft>
              <a:buNone/>
            </a:pPr>
            <a:r>
              <a:rPr lang="en-AU" sz="2200" b="1" dirty="0" smtClean="0">
                <a:latin typeface="Helvetica" pitchFamily="34" charset="0"/>
              </a:rPr>
              <a:t>Capabilities and resources of a tourism organisation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Stock and supplies </a:t>
            </a:r>
          </a:p>
          <a:p>
            <a:pPr lvl="0">
              <a:spcBef>
                <a:spcPts val="600"/>
              </a:spcBef>
              <a:spcAft>
                <a:spcPts val="1200"/>
              </a:spcAft>
            </a:pPr>
            <a:r>
              <a:rPr lang="en-AU" sz="2200" dirty="0" smtClean="0">
                <a:latin typeface="Helvetica" pitchFamily="34" charset="0"/>
              </a:rPr>
              <a:t>Storage space </a:t>
            </a:r>
          </a:p>
          <a:p>
            <a:pPr lvl="0">
              <a:spcBef>
                <a:spcPts val="600"/>
              </a:spcBef>
              <a:spcAft>
                <a:spcPts val="1200"/>
              </a:spcAft>
            </a:pPr>
            <a:r>
              <a:rPr lang="en-AU" sz="2200" dirty="0" smtClean="0">
                <a:latin typeface="Helvetica" pitchFamily="34" charset="0"/>
              </a:rPr>
              <a:t>Technical equipment and software</a:t>
            </a:r>
          </a:p>
          <a:p>
            <a:pPr lvl="0">
              <a:spcBef>
                <a:spcPts val="600"/>
              </a:spcBef>
              <a:spcAft>
                <a:spcPts val="1200"/>
              </a:spcAft>
            </a:pPr>
            <a:r>
              <a:rPr lang="en-AU" sz="2200" dirty="0" smtClean="0">
                <a:latin typeface="Helvetica" pitchFamily="34" charset="0"/>
              </a:rPr>
              <a:t>Staffing </a:t>
            </a:r>
          </a:p>
          <a:p>
            <a:pPr lvl="0">
              <a:spcBef>
                <a:spcPts val="600"/>
              </a:spcBef>
              <a:spcAft>
                <a:spcPts val="1200"/>
              </a:spcAft>
            </a:pPr>
            <a:r>
              <a:rPr lang="en-AU" sz="2200" dirty="0" smtClean="0">
                <a:latin typeface="Helvetica" pitchFamily="34" charset="0"/>
              </a:rPr>
              <a:t>Training</a:t>
            </a:r>
          </a:p>
          <a:p>
            <a:pPr lvl="0">
              <a:spcBef>
                <a:spcPts val="600"/>
              </a:spcBef>
              <a:spcAft>
                <a:spcPts val="1200"/>
              </a:spcAft>
            </a:pPr>
            <a:r>
              <a:rPr lang="en-AU" sz="2200" dirty="0" smtClean="0">
                <a:latin typeface="Helvetica" pitchFamily="34" charset="0"/>
              </a:rPr>
              <a:t>Training materials</a:t>
            </a:r>
          </a:p>
          <a:p>
            <a:pPr>
              <a:spcBef>
                <a:spcPts val="600"/>
              </a:spcBef>
              <a:spcAft>
                <a:spcPts val="1200"/>
              </a:spcAft>
              <a:buNone/>
            </a:pPr>
            <a:endParaRPr lang="en-AU" sz="2200" dirty="0" smtClean="0">
              <a:solidFill>
                <a:srgbClr val="FF6600"/>
              </a:solidFill>
              <a:latin typeface="Helvetica" pitchFamily="34" charset="0"/>
            </a:endParaRPr>
          </a:p>
          <a:p>
            <a:pPr>
              <a:spcBef>
                <a:spcPts val="600"/>
              </a:spcBef>
              <a:spcAft>
                <a:spcPts val="1200"/>
              </a:spcAft>
              <a:buNone/>
            </a:pPr>
            <a:r>
              <a:rPr lang="en-AU" sz="2200" dirty="0" smtClean="0">
                <a:solidFill>
                  <a:srgbClr val="FF6600"/>
                </a:solidFill>
                <a:latin typeface="Helvetica" pitchFamily="34" charset="0"/>
              </a:rPr>
              <a:t>COMPLETE ACTIVITY 6</a:t>
            </a:r>
          </a:p>
          <a:p>
            <a:pPr lvl="0">
              <a:spcBef>
                <a:spcPts val="600"/>
              </a:spcBef>
              <a:spcAft>
                <a:spcPts val="1200"/>
              </a:spcAft>
            </a:pPr>
            <a:endParaRPr lang="en-AU" sz="2200" dirty="0" smtClean="0">
              <a:latin typeface="Helvetica" pitchFamily="34" charset="0"/>
            </a:endParaRPr>
          </a:p>
          <a:p>
            <a:pPr lvl="0">
              <a:spcBef>
                <a:spcPts val="600"/>
              </a:spcBef>
              <a:spcAft>
                <a:spcPts val="1200"/>
              </a:spcAft>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b="1"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42</a:t>
            </a:fld>
            <a:endParaRPr lang="en-US" dirty="0"/>
          </a:p>
        </p:txBody>
      </p:sp>
      <p:pic>
        <p:nvPicPr>
          <p:cNvPr id="6" name="Picture 5" descr="shutterstock_7096195.jpg"/>
          <p:cNvPicPr>
            <a:picLocks noChangeAspect="1"/>
          </p:cNvPicPr>
          <p:nvPr/>
        </p:nvPicPr>
        <p:blipFill>
          <a:blip r:embed="rId3" cstate="print"/>
          <a:stretch>
            <a:fillRect/>
          </a:stretch>
        </p:blipFill>
        <p:spPr>
          <a:xfrm>
            <a:off x="6012160" y="2924944"/>
            <a:ext cx="2362200" cy="1570863"/>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Market Report</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Importance of a Market Report</a:t>
            </a:r>
          </a:p>
          <a:p>
            <a:pPr>
              <a:spcBef>
                <a:spcPts val="600"/>
              </a:spcBef>
              <a:spcAft>
                <a:spcPts val="1200"/>
              </a:spcAft>
            </a:pPr>
            <a:r>
              <a:rPr lang="en-AU" sz="2200" dirty="0" smtClean="0">
                <a:latin typeface="Helvetica" pitchFamily="34" charset="0"/>
              </a:rPr>
              <a:t>Once you have completed a review of the business and market environment it is important that information is compiled into a concise report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The most commonly used form of documenting market information is in the form of a 'Market Report'</a:t>
            </a:r>
            <a:endParaRPr lang="en-US" sz="2200"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43</a:t>
            </a:fld>
            <a:endParaRPr lang="en-US" dirty="0"/>
          </a:p>
        </p:txBody>
      </p:sp>
      <p:pic>
        <p:nvPicPr>
          <p:cNvPr id="6" name="Picture 5" descr="A15 shutterstock_173608850[1].JPG"/>
          <p:cNvPicPr>
            <a:picLocks noChangeAspect="1"/>
          </p:cNvPicPr>
          <p:nvPr/>
        </p:nvPicPr>
        <p:blipFill>
          <a:blip r:embed="rId3" cstate="print"/>
          <a:stretch>
            <a:fillRect/>
          </a:stretch>
        </p:blipFill>
        <p:spPr>
          <a:xfrm>
            <a:off x="3635896" y="4437112"/>
            <a:ext cx="1953057" cy="1300736"/>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Market Report</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Contents of a Market Report</a:t>
            </a:r>
          </a:p>
          <a:p>
            <a:pPr>
              <a:spcBef>
                <a:spcPts val="600"/>
              </a:spcBef>
              <a:spcAft>
                <a:spcPts val="1200"/>
              </a:spcAft>
            </a:pPr>
            <a:r>
              <a:rPr lang="en-AU" sz="2200" dirty="0" smtClean="0">
                <a:latin typeface="Helvetica" pitchFamily="34" charset="0"/>
              </a:rPr>
              <a:t>Industry Profile</a:t>
            </a:r>
          </a:p>
          <a:p>
            <a:pPr>
              <a:spcBef>
                <a:spcPts val="600"/>
              </a:spcBef>
              <a:spcAft>
                <a:spcPts val="1200"/>
              </a:spcAft>
            </a:pPr>
            <a:r>
              <a:rPr lang="en-AU" sz="2200" dirty="0" smtClean="0">
                <a:latin typeface="Helvetica" pitchFamily="34" charset="0"/>
              </a:rPr>
              <a:t>Review of Existing Operation (if appropriate)</a:t>
            </a:r>
          </a:p>
          <a:p>
            <a:pPr>
              <a:spcBef>
                <a:spcPts val="600"/>
              </a:spcBef>
              <a:spcAft>
                <a:spcPts val="1200"/>
              </a:spcAft>
            </a:pPr>
            <a:r>
              <a:rPr lang="en-AU" sz="2200" dirty="0" smtClean="0">
                <a:latin typeface="Helvetica" pitchFamily="34" charset="0"/>
              </a:rPr>
              <a:t>Your Product and/Service</a:t>
            </a:r>
          </a:p>
          <a:p>
            <a:pPr>
              <a:spcBef>
                <a:spcPts val="600"/>
              </a:spcBef>
              <a:spcAft>
                <a:spcPts val="1200"/>
              </a:spcAft>
            </a:pPr>
            <a:r>
              <a:rPr lang="en-AU" sz="2200" dirty="0" smtClean="0">
                <a:latin typeface="Helvetica" pitchFamily="34" charset="0"/>
              </a:rPr>
              <a:t>Competition</a:t>
            </a:r>
          </a:p>
          <a:p>
            <a:pPr>
              <a:spcBef>
                <a:spcPts val="600"/>
              </a:spcBef>
              <a:spcAft>
                <a:spcPts val="1200"/>
              </a:spcAft>
            </a:pPr>
            <a:r>
              <a:rPr lang="en-AU" sz="2200" dirty="0" smtClean="0">
                <a:latin typeface="Helvetica" pitchFamily="34" charset="0"/>
              </a:rPr>
              <a:t>Environmental Information and Trends</a:t>
            </a:r>
          </a:p>
          <a:p>
            <a:pPr>
              <a:spcBef>
                <a:spcPts val="600"/>
              </a:spcBef>
              <a:spcAft>
                <a:spcPts val="1200"/>
              </a:spcAft>
              <a:buNone/>
            </a:pPr>
            <a:endParaRPr lang="en-AU" sz="2200" dirty="0" smtClean="0">
              <a:solidFill>
                <a:srgbClr val="FF6600"/>
              </a:solidFill>
              <a:latin typeface="Helvetica" pitchFamily="34" charset="0"/>
            </a:endParaRPr>
          </a:p>
          <a:p>
            <a:pPr>
              <a:spcBef>
                <a:spcPts val="600"/>
              </a:spcBef>
              <a:spcAft>
                <a:spcPts val="1200"/>
              </a:spcAft>
              <a:buNone/>
            </a:pPr>
            <a:r>
              <a:rPr lang="en-AU" sz="2200" dirty="0" smtClean="0">
                <a:solidFill>
                  <a:srgbClr val="FF6600"/>
                </a:solidFill>
                <a:latin typeface="Helvetica" pitchFamily="34" charset="0"/>
              </a:rPr>
              <a:t>COMPLETE ACTIVITY 7</a:t>
            </a:r>
          </a:p>
          <a:p>
            <a:pPr>
              <a:spcBef>
                <a:spcPts val="600"/>
              </a:spcBef>
              <a:spcAft>
                <a:spcPts val="1200"/>
              </a:spcAft>
            </a:pPr>
            <a:endParaRPr lang="en-AU" sz="2200"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44</a:t>
            </a:fld>
            <a:endParaRPr lang="en-US" dirty="0"/>
          </a:p>
        </p:txBody>
      </p:sp>
      <p:pic>
        <p:nvPicPr>
          <p:cNvPr id="5" name="Picture 4" descr="W136_business_accesories_shutterstock_105706433.jpg"/>
          <p:cNvPicPr>
            <a:picLocks noChangeAspect="1"/>
          </p:cNvPicPr>
          <p:nvPr/>
        </p:nvPicPr>
        <p:blipFill>
          <a:blip r:embed="rId3" cstate="print"/>
          <a:stretch>
            <a:fillRect/>
          </a:stretch>
        </p:blipFill>
        <p:spPr>
          <a:xfrm>
            <a:off x="6372200" y="3429000"/>
            <a:ext cx="1887598" cy="1259028"/>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dirty="0" smtClean="0">
                <a:solidFill>
                  <a:srgbClr val="FF6600"/>
                </a:solidFill>
                <a:latin typeface="Helvetica" pitchFamily="34" charset="0"/>
              </a:rPr>
              <a:t>Element 2:</a:t>
            </a:r>
          </a:p>
          <a:p>
            <a:pPr marL="0" indent="0">
              <a:spcBef>
                <a:spcPts val="600"/>
              </a:spcBef>
              <a:spcAft>
                <a:spcPts val="1200"/>
              </a:spcAft>
              <a:buNone/>
            </a:pPr>
            <a:r>
              <a:rPr lang="en-AU" sz="4000" dirty="0" smtClean="0">
                <a:solidFill>
                  <a:srgbClr val="FF6600"/>
                </a:solidFill>
                <a:latin typeface="Helvetica" pitchFamily="34" charset="0"/>
              </a:rPr>
              <a:t>Prepare marketing strategies or plans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5" name="Picture 4" descr="shutterstock_146448515.jpg"/>
          <p:cNvPicPr>
            <a:picLocks noChangeAspect="1"/>
          </p:cNvPicPr>
          <p:nvPr/>
        </p:nvPicPr>
        <p:blipFill>
          <a:blip r:embed="rId3" cstate="print"/>
          <a:stretch>
            <a:fillRect/>
          </a:stretch>
        </p:blipFill>
        <p:spPr>
          <a:xfrm>
            <a:off x="4067944" y="3284984"/>
            <a:ext cx="2696666" cy="1644966"/>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indent="0">
              <a:spcBef>
                <a:spcPts val="600"/>
              </a:spcBef>
              <a:spcAft>
                <a:spcPts val="1200"/>
              </a:spcAft>
            </a:pPr>
            <a:r>
              <a:rPr lang="en-AU" sz="3400" b="1" dirty="0" smtClean="0">
                <a:solidFill>
                  <a:srgbClr val="FF6600"/>
                </a:solidFill>
                <a:latin typeface="Helvetica" pitchFamily="34" charset="0"/>
              </a:rPr>
              <a:t>Prepare marketing strategies or plans</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Identify and analyse opportunities based on internal and external market analysis </a:t>
            </a:r>
          </a:p>
          <a:p>
            <a:pPr>
              <a:spcBef>
                <a:spcPts val="600"/>
              </a:spcBef>
              <a:spcAft>
                <a:spcPts val="1200"/>
              </a:spcAft>
            </a:pPr>
            <a:r>
              <a:rPr lang="en-AU" sz="2200" dirty="0" smtClean="0">
                <a:latin typeface="Helvetica" pitchFamily="34" charset="0"/>
              </a:rPr>
              <a:t>Develop marketing and sales strategies that are consistent with the direction, values and business plans of the enterprise </a:t>
            </a:r>
          </a:p>
          <a:p>
            <a:pPr>
              <a:spcBef>
                <a:spcPts val="600"/>
              </a:spcBef>
              <a:spcAft>
                <a:spcPts val="1200"/>
              </a:spcAft>
            </a:pPr>
            <a:r>
              <a:rPr lang="en-AU" sz="2200" dirty="0" smtClean="0">
                <a:latin typeface="Helvetica" pitchFamily="34" charset="0"/>
              </a:rPr>
              <a:t>Develop strategies in consultation with key stakeholders that clearly identify business                                  goals and outcomes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5" name="Picture 4" descr="shutterstock_166468943.jpg"/>
          <p:cNvPicPr>
            <a:picLocks noChangeAspect="1"/>
          </p:cNvPicPr>
          <p:nvPr/>
        </p:nvPicPr>
        <p:blipFill>
          <a:blip r:embed="rId3" cstate="print"/>
          <a:stretch>
            <a:fillRect/>
          </a:stretch>
        </p:blipFill>
        <p:spPr>
          <a:xfrm>
            <a:off x="7000892" y="5000636"/>
            <a:ext cx="1679186" cy="1119622"/>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indent="0">
              <a:spcBef>
                <a:spcPts val="600"/>
              </a:spcBef>
              <a:spcAft>
                <a:spcPts val="1200"/>
              </a:spcAft>
            </a:pPr>
            <a:r>
              <a:rPr lang="en-AU" sz="3400" b="1" dirty="0" smtClean="0">
                <a:solidFill>
                  <a:srgbClr val="FF6600"/>
                </a:solidFill>
                <a:latin typeface="Helvetica" pitchFamily="34" charset="0"/>
              </a:rPr>
              <a:t>Prepare marketing strategies or plans</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Prepare marketing strategies that reflect legal and ethical constraints</a:t>
            </a:r>
          </a:p>
          <a:p>
            <a:pPr>
              <a:spcBef>
                <a:spcPts val="600"/>
              </a:spcBef>
              <a:spcAft>
                <a:spcPts val="1200"/>
              </a:spcAft>
            </a:pPr>
            <a:r>
              <a:rPr lang="en-AU" sz="2200" dirty="0" smtClean="0">
                <a:latin typeface="Helvetica" pitchFamily="34" charset="0"/>
              </a:rPr>
              <a:t>Provide timely opportunities for colleagues to contribute to the marketing plan and approach</a:t>
            </a:r>
          </a:p>
          <a:p>
            <a:pPr>
              <a:spcBef>
                <a:spcPts val="600"/>
              </a:spcBef>
              <a:spcAft>
                <a:spcPts val="1200"/>
              </a:spcAft>
            </a:pPr>
            <a:r>
              <a:rPr lang="en-AU" sz="2200" dirty="0" smtClean="0">
                <a:latin typeface="Helvetica" pitchFamily="34" charset="0"/>
              </a:rPr>
              <a:t>Submit marketing plan for approval in accordance with enterprise policy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6" name="Picture 5" descr="shutterstock_81138538.jpg"/>
          <p:cNvPicPr>
            <a:picLocks noChangeAspect="1"/>
          </p:cNvPicPr>
          <p:nvPr/>
        </p:nvPicPr>
        <p:blipFill>
          <a:blip r:embed="rId3" cstate="print"/>
          <a:stretch>
            <a:fillRect/>
          </a:stretch>
        </p:blipFill>
        <p:spPr>
          <a:xfrm>
            <a:off x="7143768" y="4714884"/>
            <a:ext cx="1524000" cy="1524000"/>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Conduct market analysis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3845024"/>
          </a:xfrm>
          <a:prstGeom prst="rect">
            <a:avLst/>
          </a:prstGeom>
        </p:spPr>
        <p:txBody>
          <a:bodyPr>
            <a:normAutofit/>
          </a:bodyPr>
          <a:lstStyle/>
          <a:p>
            <a:pPr marL="0">
              <a:spcBef>
                <a:spcPts val="600"/>
              </a:spcBef>
              <a:spcAft>
                <a:spcPts val="1200"/>
              </a:spcAft>
              <a:buNone/>
            </a:pPr>
            <a:r>
              <a:rPr lang="en-AU" sz="2200" dirty="0" smtClean="0">
                <a:latin typeface="Helvetica" pitchFamily="34" charset="0"/>
              </a:rPr>
              <a:t>When researching information to help facilitate the business planning process, it is essential to collecting and analysing information in a wide variety of 'environmental areas' that may impact on an organisation in the future.</a:t>
            </a:r>
          </a:p>
          <a:p>
            <a:pPr>
              <a:spcBef>
                <a:spcPts val="600"/>
              </a:spcBef>
              <a:spcAft>
                <a:spcPts val="1200"/>
              </a:spcAft>
            </a:pPr>
            <a:r>
              <a:rPr lang="en-AU" sz="2200" dirty="0" smtClean="0">
                <a:latin typeface="Helvetica" pitchFamily="34" charset="0"/>
              </a:rPr>
              <a:t>What are the different 'environmental areas‘?</a:t>
            </a:r>
          </a:p>
          <a:p>
            <a:pPr>
              <a:spcBef>
                <a:spcPts val="600"/>
              </a:spcBef>
              <a:spcAft>
                <a:spcPts val="1200"/>
              </a:spcAft>
            </a:pPr>
            <a:r>
              <a:rPr lang="en-AU" sz="2200" dirty="0" smtClean="0">
                <a:latin typeface="Helvetica" pitchFamily="34" charset="0"/>
              </a:rPr>
              <a:t>What information do you want to get from each area?</a:t>
            </a:r>
          </a:p>
          <a:p>
            <a:pPr>
              <a:spcBef>
                <a:spcPts val="600"/>
              </a:spcBef>
              <a:spcAft>
                <a:spcPts val="1200"/>
              </a:spcAft>
            </a:pPr>
            <a:endParaRPr lang="en-US" sz="2200" dirty="0" smtClean="0">
              <a:latin typeface="Helvetica" pitchFamily="34" charset="0"/>
            </a:endParaRPr>
          </a:p>
          <a:p>
            <a:pPr marL="432000" lvl="1" indent="-453600">
              <a:lnSpc>
                <a:spcPct val="120000"/>
              </a:lnSpc>
              <a:spcBef>
                <a:spcPts val="600"/>
              </a:spcBef>
              <a:spcAft>
                <a:spcPts val="1200"/>
              </a:spcAft>
              <a:buClr>
                <a:srgbClr val="EB7125"/>
              </a:buClr>
            </a:pPr>
            <a:endParaRPr lang="en-AU" sz="3200" dirty="0" smtClean="0"/>
          </a:p>
          <a:p>
            <a:pPr marL="432000" lvl="1" indent="-453600">
              <a:lnSpc>
                <a:spcPct val="120000"/>
              </a:lnSpc>
              <a:spcBef>
                <a:spcPts val="600"/>
              </a:spcBef>
              <a:spcAft>
                <a:spcPts val="1200"/>
              </a:spcAft>
              <a:buClr>
                <a:srgbClr val="EB7125"/>
              </a:buClr>
            </a:pPr>
            <a:endParaRPr lang="en-AU" sz="3200" dirty="0" smtClean="0"/>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48</a:t>
            </a:fld>
            <a:endParaRPr lang="en-US" dirty="0"/>
          </a:p>
        </p:txBody>
      </p:sp>
      <p:pic>
        <p:nvPicPr>
          <p:cNvPr id="8" name="Picture 7" descr="C:\Documents and Settings\nickh\Desktop\PROJECTS\Singapore\Photos\W296_communication_shutterstock_81103063.jpg"/>
          <p:cNvPicPr/>
          <p:nvPr/>
        </p:nvPicPr>
        <p:blipFill>
          <a:blip r:embed="rId3" cstate="print"/>
          <a:srcRect/>
          <a:stretch>
            <a:fillRect/>
          </a:stretch>
        </p:blipFill>
        <p:spPr bwMode="auto">
          <a:xfrm>
            <a:off x="3203848" y="4437112"/>
            <a:ext cx="2162186" cy="142399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Conduct market analysis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3845024"/>
          </a:xfrm>
          <a:prstGeom prst="rect">
            <a:avLst/>
          </a:prstGeom>
        </p:spPr>
        <p:txBody>
          <a:bodyPr>
            <a:normAutofit/>
          </a:bodyPr>
          <a:lstStyle/>
          <a:p>
            <a:pPr>
              <a:spcBef>
                <a:spcPts val="600"/>
              </a:spcBef>
              <a:spcAft>
                <a:spcPts val="1200"/>
              </a:spcAft>
              <a:buNone/>
            </a:pPr>
            <a:r>
              <a:rPr lang="en-AU" sz="2200" b="1" dirty="0" smtClean="0">
                <a:latin typeface="Helvetica" pitchFamily="34" charset="0"/>
              </a:rPr>
              <a:t>Types of environments</a:t>
            </a:r>
          </a:p>
          <a:p>
            <a:pPr>
              <a:spcBef>
                <a:spcPts val="600"/>
              </a:spcBef>
              <a:spcAft>
                <a:spcPts val="1200"/>
              </a:spcAft>
              <a:buNone/>
            </a:pPr>
            <a:r>
              <a:rPr lang="en-AU" sz="2200" dirty="0" smtClean="0">
                <a:latin typeface="Helvetica" pitchFamily="34" charset="0"/>
              </a:rPr>
              <a:t>Information must ensure it not only explores: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External environment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Internal environment</a:t>
            </a:r>
            <a:endParaRPr lang="en-US" sz="2200" dirty="0" smtClean="0">
              <a:latin typeface="Helvetica" pitchFamily="34" charset="0"/>
            </a:endParaRPr>
          </a:p>
          <a:p>
            <a:pPr marL="432000" lvl="1" indent="-453600">
              <a:lnSpc>
                <a:spcPct val="120000"/>
              </a:lnSpc>
              <a:spcBef>
                <a:spcPts val="600"/>
              </a:spcBef>
              <a:spcAft>
                <a:spcPts val="1200"/>
              </a:spcAft>
              <a:buClr>
                <a:srgbClr val="EB7125"/>
              </a:buClr>
            </a:pPr>
            <a:endParaRPr lang="en-AU" sz="3200" dirty="0" smtClean="0"/>
          </a:p>
          <a:p>
            <a:pPr marL="432000" lvl="1" indent="-453600">
              <a:lnSpc>
                <a:spcPct val="120000"/>
              </a:lnSpc>
              <a:spcBef>
                <a:spcPts val="600"/>
              </a:spcBef>
              <a:spcAft>
                <a:spcPts val="1200"/>
              </a:spcAft>
              <a:buClr>
                <a:srgbClr val="EB7125"/>
              </a:buClr>
            </a:pPr>
            <a:endParaRPr lang="en-AU" sz="3200" dirty="0" smtClean="0"/>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49</a:t>
            </a:fld>
            <a:endParaRPr lang="en-US" dirty="0"/>
          </a:p>
        </p:txBody>
      </p:sp>
      <p:pic>
        <p:nvPicPr>
          <p:cNvPr id="8" name="Picture 7" descr="C:\Documents and Settings\nickh\Desktop\PROJECTS\Singapore\Photos\W298_globe_shutterstock_130580267.jpg"/>
          <p:cNvPicPr/>
          <p:nvPr/>
        </p:nvPicPr>
        <p:blipFill>
          <a:blip r:embed="rId3" cstate="print"/>
          <a:srcRect/>
          <a:stretch>
            <a:fillRect/>
          </a:stretch>
        </p:blipFill>
        <p:spPr bwMode="auto">
          <a:xfrm>
            <a:off x="6858016" y="4786322"/>
            <a:ext cx="1746252" cy="123825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Analysis of external environment</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4614882"/>
          </a:xfrm>
          <a:prstGeom prst="rect">
            <a:avLst/>
          </a:prstGeom>
        </p:spPr>
        <p:txBody>
          <a:bodyPr>
            <a:normAutofit fontScale="92500" lnSpcReduction="10000"/>
          </a:bodyPr>
          <a:lstStyle/>
          <a:p>
            <a:pPr>
              <a:lnSpc>
                <a:spcPct val="120000"/>
              </a:lnSpc>
              <a:spcBef>
                <a:spcPts val="600"/>
              </a:spcBef>
              <a:spcAft>
                <a:spcPts val="1200"/>
              </a:spcAft>
              <a:buNone/>
            </a:pPr>
            <a:r>
              <a:rPr lang="en-GB" sz="2400" b="1" dirty="0" smtClean="0">
                <a:latin typeface="Helvetica" pitchFamily="34" charset="0"/>
              </a:rPr>
              <a:t>Analysis of external environment</a:t>
            </a:r>
            <a:endParaRPr lang="en-AU" sz="2400" b="1" dirty="0" smtClean="0">
              <a:latin typeface="Helvetica" pitchFamily="34" charset="0"/>
            </a:endParaRPr>
          </a:p>
          <a:p>
            <a:pPr>
              <a:lnSpc>
                <a:spcPct val="120000"/>
              </a:lnSpc>
              <a:spcBef>
                <a:spcPts val="600"/>
              </a:spcBef>
              <a:spcAft>
                <a:spcPts val="1200"/>
              </a:spcAft>
            </a:pPr>
            <a:r>
              <a:rPr lang="en-AU" sz="2400" dirty="0" smtClean="0">
                <a:latin typeface="Helvetica" pitchFamily="34" charset="0"/>
              </a:rPr>
              <a:t>Demographic </a:t>
            </a:r>
          </a:p>
          <a:p>
            <a:pPr>
              <a:lnSpc>
                <a:spcPct val="120000"/>
              </a:lnSpc>
              <a:spcBef>
                <a:spcPts val="600"/>
              </a:spcBef>
              <a:spcAft>
                <a:spcPts val="1200"/>
              </a:spcAft>
            </a:pPr>
            <a:r>
              <a:rPr lang="en-AU" sz="2400" dirty="0" smtClean="0">
                <a:latin typeface="Helvetica" pitchFamily="34" charset="0"/>
              </a:rPr>
              <a:t>Economic </a:t>
            </a:r>
            <a:endParaRPr lang="en-US" sz="2400" dirty="0" smtClean="0">
              <a:latin typeface="Helvetica" pitchFamily="34" charset="0"/>
            </a:endParaRPr>
          </a:p>
          <a:p>
            <a:pPr>
              <a:lnSpc>
                <a:spcPct val="120000"/>
              </a:lnSpc>
              <a:spcBef>
                <a:spcPts val="600"/>
              </a:spcBef>
              <a:spcAft>
                <a:spcPts val="1200"/>
              </a:spcAft>
            </a:pPr>
            <a:r>
              <a:rPr lang="en-AU" sz="2400" dirty="0" smtClean="0">
                <a:latin typeface="Helvetica" pitchFamily="34" charset="0"/>
              </a:rPr>
              <a:t>Environmental </a:t>
            </a:r>
            <a:endParaRPr lang="en-US" sz="2400" dirty="0" smtClean="0">
              <a:latin typeface="Helvetica" pitchFamily="34" charset="0"/>
            </a:endParaRPr>
          </a:p>
          <a:p>
            <a:pPr>
              <a:lnSpc>
                <a:spcPct val="120000"/>
              </a:lnSpc>
              <a:spcBef>
                <a:spcPts val="600"/>
              </a:spcBef>
              <a:spcAft>
                <a:spcPts val="1200"/>
              </a:spcAft>
            </a:pPr>
            <a:r>
              <a:rPr lang="en-AU" sz="2400" dirty="0" smtClean="0">
                <a:latin typeface="Helvetica" pitchFamily="34" charset="0"/>
              </a:rPr>
              <a:t>Technological </a:t>
            </a:r>
            <a:endParaRPr lang="en-US" sz="2400" dirty="0" smtClean="0">
              <a:latin typeface="Helvetica" pitchFamily="34" charset="0"/>
            </a:endParaRPr>
          </a:p>
          <a:p>
            <a:pPr>
              <a:lnSpc>
                <a:spcPct val="120000"/>
              </a:lnSpc>
              <a:spcBef>
                <a:spcPts val="600"/>
              </a:spcBef>
              <a:spcAft>
                <a:spcPts val="1200"/>
              </a:spcAft>
            </a:pPr>
            <a:r>
              <a:rPr lang="en-AU" sz="2400" dirty="0" smtClean="0">
                <a:latin typeface="Helvetica" pitchFamily="34" charset="0"/>
              </a:rPr>
              <a:t>Socio-cultural </a:t>
            </a:r>
            <a:endParaRPr lang="en-US" sz="2400" dirty="0" smtClean="0">
              <a:latin typeface="Helvetica" pitchFamily="34" charset="0"/>
            </a:endParaRPr>
          </a:p>
          <a:p>
            <a:endParaRPr lang="en-US" sz="2400" dirty="0" smtClean="0"/>
          </a:p>
          <a:p>
            <a:pPr marL="432000" lvl="1" indent="-453600">
              <a:lnSpc>
                <a:spcPct val="120000"/>
              </a:lnSpc>
              <a:spcBef>
                <a:spcPts val="600"/>
              </a:spcBef>
              <a:spcAft>
                <a:spcPts val="1200"/>
              </a:spcAft>
              <a:buClr>
                <a:srgbClr val="EB7125"/>
              </a:buClr>
              <a:buNone/>
            </a:pPr>
            <a:r>
              <a:rPr lang="en-AU" sz="2400" dirty="0" smtClean="0">
                <a:solidFill>
                  <a:srgbClr val="FF6600"/>
                </a:solidFill>
                <a:latin typeface="Helvetica" pitchFamily="34" charset="0"/>
              </a:rPr>
              <a:t>COMPLETE ACTIVITY 8</a:t>
            </a:r>
          </a:p>
          <a:p>
            <a:pPr marL="432000" lvl="1" indent="-453600">
              <a:lnSpc>
                <a:spcPct val="120000"/>
              </a:lnSpc>
              <a:spcBef>
                <a:spcPts val="600"/>
              </a:spcBef>
              <a:spcAft>
                <a:spcPts val="1200"/>
              </a:spcAft>
              <a:buClr>
                <a:srgbClr val="EB7125"/>
              </a:buClr>
            </a:pPr>
            <a:endParaRPr lang="en-AU" sz="3200" dirty="0" smtClean="0"/>
          </a:p>
          <a:p>
            <a:pPr marL="432000" lvl="1" indent="-453600">
              <a:lnSpc>
                <a:spcPct val="120000"/>
              </a:lnSpc>
              <a:spcBef>
                <a:spcPts val="600"/>
              </a:spcBef>
              <a:spcAft>
                <a:spcPts val="1200"/>
              </a:spcAft>
              <a:buClr>
                <a:srgbClr val="EB7125"/>
              </a:buClr>
            </a:pPr>
            <a:endParaRPr lang="en-AU" sz="3200" dirty="0" smtClean="0"/>
          </a:p>
          <a:p>
            <a:pPr>
              <a:lnSpc>
                <a:spcPct val="110000"/>
              </a:lnSpc>
              <a:spcBef>
                <a:spcPts val="600"/>
              </a:spcBef>
              <a:spcAft>
                <a:spcPts val="1200"/>
              </a:spcAft>
            </a:pPr>
            <a:endParaRPr lang="en-US" sz="2400" dirty="0">
              <a:latin typeface="Helvetica" pitchFamily="34" charset="0"/>
            </a:endParaRPr>
          </a:p>
        </p:txBody>
      </p:sp>
      <p:pic>
        <p:nvPicPr>
          <p:cNvPr id="6" name="Picture 5" descr="C:\Documents and Settings\nickh\Desktop\PROJECTS\Singapore\Photos\W263_progress1_shutterstock_157209023.jpg"/>
          <p:cNvPicPr/>
          <p:nvPr/>
        </p:nvPicPr>
        <p:blipFill>
          <a:blip r:embed="rId3" cstate="print"/>
          <a:srcRect/>
          <a:stretch>
            <a:fillRect/>
          </a:stretch>
        </p:blipFill>
        <p:spPr bwMode="auto">
          <a:xfrm>
            <a:off x="6248400" y="4572000"/>
            <a:ext cx="2228850" cy="1485900"/>
          </a:xfrm>
          <a:prstGeom prst="rect">
            <a:avLst/>
          </a:prstGeom>
          <a:noFill/>
          <a:ln w="9525">
            <a:noFill/>
            <a:miter lim="800000"/>
            <a:headEnd/>
            <a:tailEnd/>
          </a:ln>
        </p:spPr>
      </p:pic>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50</a:t>
            </a:fld>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Analysis of internal environment</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fontScale="92500" lnSpcReduction="10000"/>
          </a:bodyPr>
          <a:lstStyle/>
          <a:p>
            <a:pPr>
              <a:lnSpc>
                <a:spcPct val="120000"/>
              </a:lnSpc>
              <a:spcBef>
                <a:spcPts val="600"/>
              </a:spcBef>
              <a:spcAft>
                <a:spcPts val="1200"/>
              </a:spcAft>
              <a:buNone/>
            </a:pPr>
            <a:r>
              <a:rPr lang="en-US" sz="2400" b="1" dirty="0" smtClean="0">
                <a:latin typeface="Helvetica" pitchFamily="34" charset="0"/>
              </a:rPr>
              <a:t>Analysis of internal </a:t>
            </a:r>
            <a:r>
              <a:rPr lang="en-AU" sz="2400" b="1" dirty="0" smtClean="0">
                <a:latin typeface="Helvetica" pitchFamily="34" charset="0"/>
              </a:rPr>
              <a:t>environmental</a:t>
            </a:r>
            <a:endParaRPr lang="en-US" sz="2400" dirty="0" smtClean="0">
              <a:latin typeface="Helvetica" pitchFamily="34" charset="0"/>
            </a:endParaRPr>
          </a:p>
          <a:p>
            <a:pPr marL="0">
              <a:lnSpc>
                <a:spcPct val="120000"/>
              </a:lnSpc>
              <a:spcBef>
                <a:spcPts val="600"/>
              </a:spcBef>
              <a:spcAft>
                <a:spcPts val="1200"/>
              </a:spcAft>
              <a:buNone/>
            </a:pPr>
            <a:r>
              <a:rPr lang="en-AU" sz="2400" dirty="0" smtClean="0">
                <a:latin typeface="Helvetica" pitchFamily="34" charset="0"/>
              </a:rPr>
              <a:t>The </a:t>
            </a:r>
            <a:r>
              <a:rPr lang="en-US" sz="2400" dirty="0" smtClean="0">
                <a:latin typeface="Helvetica" pitchFamily="34" charset="0"/>
              </a:rPr>
              <a:t>internal</a:t>
            </a:r>
            <a:r>
              <a:rPr lang="en-AU" sz="2400" dirty="0" smtClean="0">
                <a:latin typeface="Helvetica" pitchFamily="34" charset="0"/>
              </a:rPr>
              <a:t> forces are those which more directly affect the organisation and include:</a:t>
            </a:r>
            <a:endParaRPr lang="en-US" sz="2400" dirty="0" smtClean="0">
              <a:latin typeface="Helvetica" pitchFamily="34" charset="0"/>
            </a:endParaRPr>
          </a:p>
          <a:p>
            <a:pPr lvl="0">
              <a:lnSpc>
                <a:spcPct val="120000"/>
              </a:lnSpc>
              <a:spcBef>
                <a:spcPts val="600"/>
              </a:spcBef>
              <a:spcAft>
                <a:spcPts val="1200"/>
              </a:spcAft>
            </a:pPr>
            <a:r>
              <a:rPr lang="en-AU" sz="2400" dirty="0" smtClean="0">
                <a:latin typeface="Helvetica" pitchFamily="34" charset="0"/>
              </a:rPr>
              <a:t>Customer analysis</a:t>
            </a:r>
            <a:endParaRPr lang="en-US" sz="2400" dirty="0" smtClean="0">
              <a:latin typeface="Helvetica" pitchFamily="34" charset="0"/>
            </a:endParaRPr>
          </a:p>
          <a:p>
            <a:pPr lvl="0">
              <a:lnSpc>
                <a:spcPct val="120000"/>
              </a:lnSpc>
              <a:spcBef>
                <a:spcPts val="600"/>
              </a:spcBef>
              <a:spcAft>
                <a:spcPts val="1200"/>
              </a:spcAft>
            </a:pPr>
            <a:r>
              <a:rPr lang="en-AU" sz="2400" dirty="0" smtClean="0">
                <a:latin typeface="Helvetica" pitchFamily="34" charset="0"/>
              </a:rPr>
              <a:t>Competitor analysis</a:t>
            </a:r>
            <a:endParaRPr lang="en-US" sz="2400" dirty="0" smtClean="0">
              <a:latin typeface="Helvetica" pitchFamily="34" charset="0"/>
            </a:endParaRPr>
          </a:p>
          <a:p>
            <a:pPr lvl="0">
              <a:lnSpc>
                <a:spcPct val="120000"/>
              </a:lnSpc>
              <a:spcBef>
                <a:spcPts val="600"/>
              </a:spcBef>
              <a:spcAft>
                <a:spcPts val="1200"/>
              </a:spcAft>
            </a:pPr>
            <a:r>
              <a:rPr lang="en-AU" sz="2400" dirty="0" smtClean="0">
                <a:latin typeface="Helvetica" pitchFamily="34" charset="0"/>
              </a:rPr>
              <a:t>Suppliers</a:t>
            </a:r>
            <a:endParaRPr lang="en-US" sz="2400" dirty="0" smtClean="0">
              <a:latin typeface="Helvetica" pitchFamily="34" charset="0"/>
            </a:endParaRPr>
          </a:p>
          <a:p>
            <a:pPr lvl="0">
              <a:lnSpc>
                <a:spcPct val="120000"/>
              </a:lnSpc>
              <a:spcBef>
                <a:spcPts val="600"/>
              </a:spcBef>
              <a:spcAft>
                <a:spcPts val="1200"/>
              </a:spcAft>
            </a:pPr>
            <a:r>
              <a:rPr lang="en-AU" sz="2400" dirty="0" smtClean="0">
                <a:latin typeface="Helvetica" pitchFamily="34" charset="0"/>
              </a:rPr>
              <a:t>Intermediaries</a:t>
            </a:r>
            <a:endParaRPr lang="en-US" sz="2400" dirty="0" smtClean="0">
              <a:latin typeface="Helvetica" pitchFamily="34" charset="0"/>
            </a:endParaRPr>
          </a:p>
          <a:p>
            <a:pPr lvl="0">
              <a:lnSpc>
                <a:spcPct val="120000"/>
              </a:lnSpc>
              <a:spcBef>
                <a:spcPts val="600"/>
              </a:spcBef>
              <a:spcAft>
                <a:spcPts val="1200"/>
              </a:spcAft>
            </a:pPr>
            <a:r>
              <a:rPr lang="en-AU" sz="2400" dirty="0" smtClean="0">
                <a:latin typeface="Helvetica" pitchFamily="34" charset="0"/>
              </a:rPr>
              <a:t>Publics</a:t>
            </a:r>
            <a:endParaRPr lang="en-US" sz="2400" dirty="0" smtClean="0"/>
          </a:p>
          <a:p>
            <a:pPr marL="432000" lvl="1" indent="-453600">
              <a:lnSpc>
                <a:spcPct val="120000"/>
              </a:lnSpc>
              <a:spcBef>
                <a:spcPts val="600"/>
              </a:spcBef>
              <a:spcAft>
                <a:spcPts val="1200"/>
              </a:spcAft>
              <a:buClr>
                <a:srgbClr val="EB7125"/>
              </a:buClr>
              <a:buNone/>
            </a:pPr>
            <a:r>
              <a:rPr lang="en-AU" sz="2400" dirty="0" smtClean="0">
                <a:solidFill>
                  <a:srgbClr val="FF6600"/>
                </a:solidFill>
                <a:latin typeface="Helvetica" pitchFamily="34" charset="0"/>
              </a:rPr>
              <a:t>COMPLETE ACTIVITIES 9,10,11</a:t>
            </a:r>
          </a:p>
          <a:p>
            <a:pPr marL="432000" lvl="1" indent="-453600">
              <a:lnSpc>
                <a:spcPct val="120000"/>
              </a:lnSpc>
              <a:spcBef>
                <a:spcPts val="600"/>
              </a:spcBef>
              <a:spcAft>
                <a:spcPts val="1200"/>
              </a:spcAft>
              <a:buClr>
                <a:srgbClr val="EB7125"/>
              </a:buClr>
            </a:pPr>
            <a:endParaRPr lang="en-AU" sz="3200" dirty="0" smtClean="0"/>
          </a:p>
          <a:p>
            <a:pPr marL="432000" lvl="1" indent="-453600">
              <a:lnSpc>
                <a:spcPct val="120000"/>
              </a:lnSpc>
              <a:spcBef>
                <a:spcPts val="600"/>
              </a:spcBef>
              <a:spcAft>
                <a:spcPts val="1200"/>
              </a:spcAft>
              <a:buClr>
                <a:srgbClr val="EB7125"/>
              </a:buClr>
            </a:pPr>
            <a:endParaRPr lang="en-AU" sz="3200" dirty="0" smtClean="0"/>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51</a:t>
            </a:fld>
            <a:endParaRPr lang="en-US" dirty="0"/>
          </a:p>
        </p:txBody>
      </p:sp>
      <p:pic>
        <p:nvPicPr>
          <p:cNvPr id="8" name="Picture 7" descr="shutterstock_157612589.jpg"/>
          <p:cNvPicPr/>
          <p:nvPr/>
        </p:nvPicPr>
        <p:blipFill>
          <a:blip r:embed="rId3" cstate="print"/>
          <a:stretch>
            <a:fillRect/>
          </a:stretch>
        </p:blipFill>
        <p:spPr>
          <a:xfrm>
            <a:off x="7072330" y="4357694"/>
            <a:ext cx="1104900" cy="1581150"/>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SWOT Analysis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a:spcBef>
                <a:spcPts val="600"/>
              </a:spcBef>
              <a:spcAft>
                <a:spcPts val="1200"/>
              </a:spcAft>
              <a:buNone/>
            </a:pPr>
            <a:r>
              <a:rPr lang="en-GB" sz="2200" b="1" dirty="0" smtClean="0">
                <a:latin typeface="Helvetica" pitchFamily="34" charset="0"/>
              </a:rPr>
              <a:t>SWOT Analysis</a:t>
            </a:r>
            <a:endParaRPr lang="en-US" sz="2200" dirty="0" smtClean="0">
              <a:latin typeface="Helvetica" pitchFamily="34" charset="0"/>
            </a:endParaRPr>
          </a:p>
          <a:p>
            <a:pPr>
              <a:spcBef>
                <a:spcPts val="600"/>
              </a:spcBef>
              <a:spcAft>
                <a:spcPts val="1200"/>
              </a:spcAft>
            </a:pPr>
            <a:r>
              <a:rPr lang="en-GB" sz="2200" dirty="0" smtClean="0">
                <a:latin typeface="Helvetica" pitchFamily="34" charset="0"/>
              </a:rPr>
              <a:t>Most businesses undertake a SWOT analysis to gain an understanding of what is happening both external and internal to the business and the effect it will have on the business. </a:t>
            </a:r>
          </a:p>
          <a:p>
            <a:endParaRPr lang="en-GB" sz="2000" dirty="0" smtClean="0">
              <a:solidFill>
                <a:srgbClr val="FF6600"/>
              </a:solidFill>
              <a:latin typeface="Helvetica" pitchFamily="34" charset="0"/>
            </a:endParaRPr>
          </a:p>
          <a:p>
            <a:pPr marL="432000" lvl="1" indent="-453600">
              <a:lnSpc>
                <a:spcPct val="120000"/>
              </a:lnSpc>
              <a:spcBef>
                <a:spcPts val="600"/>
              </a:spcBef>
              <a:spcAft>
                <a:spcPts val="1200"/>
              </a:spcAft>
              <a:buClr>
                <a:srgbClr val="EB7125"/>
              </a:buClr>
              <a:buNone/>
            </a:pPr>
            <a:endParaRPr lang="en-AU" sz="3200" dirty="0" smtClean="0"/>
          </a:p>
          <a:p>
            <a:pPr marL="432000" lvl="1" indent="-453600">
              <a:lnSpc>
                <a:spcPct val="120000"/>
              </a:lnSpc>
              <a:spcBef>
                <a:spcPts val="600"/>
              </a:spcBef>
              <a:spcAft>
                <a:spcPts val="1200"/>
              </a:spcAft>
              <a:buClr>
                <a:srgbClr val="EB7125"/>
              </a:buClr>
            </a:pPr>
            <a:endParaRPr lang="en-AU" sz="3200" dirty="0" smtClean="0"/>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52</a:t>
            </a:fld>
            <a:endParaRPr lang="en-US" dirty="0"/>
          </a:p>
        </p:txBody>
      </p:sp>
      <p:pic>
        <p:nvPicPr>
          <p:cNvPr id="6" name="Picture 5" descr="shutterstock_114659890.jpg"/>
          <p:cNvPicPr/>
          <p:nvPr/>
        </p:nvPicPr>
        <p:blipFill>
          <a:blip r:embed="rId3" cstate="print"/>
          <a:stretch>
            <a:fillRect/>
          </a:stretch>
        </p:blipFill>
        <p:spPr>
          <a:xfrm>
            <a:off x="7000892" y="5143512"/>
            <a:ext cx="1647825" cy="1095375"/>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400" b="1" dirty="0" smtClean="0">
                <a:solidFill>
                  <a:srgbClr val="FF6600"/>
                </a:solidFill>
                <a:latin typeface="Helvetica" pitchFamily="34" charset="0"/>
              </a:rPr>
              <a:t>SWOT Analysis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a:spcBef>
                <a:spcPts val="600"/>
              </a:spcBef>
              <a:spcAft>
                <a:spcPts val="1200"/>
              </a:spcAft>
              <a:buNone/>
            </a:pPr>
            <a:r>
              <a:rPr lang="en-GB" sz="2200" b="1" dirty="0" smtClean="0">
                <a:latin typeface="Helvetica" pitchFamily="34" charset="0"/>
              </a:rPr>
              <a:t>SWOT Analysis</a:t>
            </a:r>
            <a:endParaRPr lang="en-US" sz="2200" dirty="0" smtClean="0">
              <a:latin typeface="Helvetica" pitchFamily="34" charset="0"/>
            </a:endParaRPr>
          </a:p>
          <a:p>
            <a:pPr>
              <a:spcBef>
                <a:spcPts val="600"/>
              </a:spcBef>
              <a:spcAft>
                <a:spcPts val="1200"/>
              </a:spcAft>
              <a:buNone/>
            </a:pPr>
            <a:r>
              <a:rPr lang="en-GB" sz="2200" dirty="0" smtClean="0">
                <a:latin typeface="Helvetica" pitchFamily="34" charset="0"/>
              </a:rPr>
              <a:t>This process ultimately tries to identify:</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Strengths – what the business does well</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Weaknesses – what the business can improve upon</a:t>
            </a:r>
            <a:endParaRPr lang="en-US" sz="2200" dirty="0" smtClean="0">
              <a:latin typeface="Helvetica" pitchFamily="34" charset="0"/>
            </a:endParaRPr>
          </a:p>
          <a:p>
            <a:pPr lvl="0">
              <a:spcBef>
                <a:spcPts val="600"/>
              </a:spcBef>
              <a:spcAft>
                <a:spcPts val="1200"/>
              </a:spcAft>
            </a:pPr>
            <a:r>
              <a:rPr lang="en-GB" sz="2200" dirty="0" smtClean="0">
                <a:latin typeface="Helvetica" pitchFamily="34" charset="0"/>
              </a:rPr>
              <a:t>Opportunities – where the business can improve or take advantage</a:t>
            </a:r>
            <a:endParaRPr lang="en-US" sz="2200" dirty="0" smtClean="0">
              <a:latin typeface="Helvetica" pitchFamily="34" charset="0"/>
            </a:endParaRPr>
          </a:p>
          <a:p>
            <a:pPr>
              <a:spcBef>
                <a:spcPts val="600"/>
              </a:spcBef>
              <a:spcAft>
                <a:spcPts val="1200"/>
              </a:spcAft>
            </a:pPr>
            <a:r>
              <a:rPr lang="en-GB" sz="2200" dirty="0" smtClean="0">
                <a:latin typeface="Helvetica" pitchFamily="34" charset="0"/>
              </a:rPr>
              <a:t>Threats – where the business may become                  disadvantaged, weakened or susceptible </a:t>
            </a:r>
          </a:p>
          <a:p>
            <a:endParaRPr lang="en-GB" sz="2000" dirty="0" smtClean="0">
              <a:solidFill>
                <a:srgbClr val="FF6600"/>
              </a:solidFill>
              <a:latin typeface="Helvetica" pitchFamily="34" charset="0"/>
            </a:endParaRPr>
          </a:p>
          <a:p>
            <a:pPr>
              <a:buNone/>
            </a:pPr>
            <a:r>
              <a:rPr lang="en-AU" sz="2400" dirty="0" smtClean="0">
                <a:solidFill>
                  <a:srgbClr val="FF6600"/>
                </a:solidFill>
                <a:latin typeface="Helvetica" pitchFamily="34" charset="0"/>
              </a:rPr>
              <a:t>COMPLETE ACTIVITY 12</a:t>
            </a:r>
          </a:p>
          <a:p>
            <a:pPr marL="432000" lvl="1" indent="-453600">
              <a:lnSpc>
                <a:spcPct val="120000"/>
              </a:lnSpc>
              <a:spcBef>
                <a:spcPts val="600"/>
              </a:spcBef>
              <a:spcAft>
                <a:spcPts val="1200"/>
              </a:spcAft>
              <a:buClr>
                <a:srgbClr val="EB7125"/>
              </a:buClr>
            </a:pPr>
            <a:endParaRPr lang="en-AU" sz="3200" dirty="0" smtClean="0"/>
          </a:p>
          <a:p>
            <a:pPr marL="432000" lvl="1" indent="-453600">
              <a:lnSpc>
                <a:spcPct val="120000"/>
              </a:lnSpc>
              <a:spcBef>
                <a:spcPts val="600"/>
              </a:spcBef>
              <a:spcAft>
                <a:spcPts val="1200"/>
              </a:spcAft>
              <a:buClr>
                <a:srgbClr val="EB7125"/>
              </a:buClr>
            </a:pPr>
            <a:endParaRPr lang="en-AU" sz="3200" dirty="0" smtClean="0"/>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53</a:t>
            </a:fld>
            <a:endParaRPr lang="en-US" dirty="0"/>
          </a:p>
        </p:txBody>
      </p:sp>
      <p:pic>
        <p:nvPicPr>
          <p:cNvPr id="8" name="Picture 7" descr="shutterstock_123083974.jpg"/>
          <p:cNvPicPr/>
          <p:nvPr/>
        </p:nvPicPr>
        <p:blipFill>
          <a:blip r:embed="rId3" cstate="print"/>
          <a:stretch>
            <a:fillRect/>
          </a:stretch>
        </p:blipFill>
        <p:spPr>
          <a:xfrm>
            <a:off x="7429520" y="4857760"/>
            <a:ext cx="1245871" cy="1233489"/>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400" b="1" dirty="0" smtClean="0">
                <a:solidFill>
                  <a:srgbClr val="FF6600"/>
                </a:solidFill>
                <a:latin typeface="Helvetica" pitchFamily="34" charset="0"/>
              </a:rPr>
              <a:t>Develop marketing and sales strategies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a:spcBef>
                <a:spcPts val="600"/>
              </a:spcBef>
              <a:spcAft>
                <a:spcPts val="1200"/>
              </a:spcAft>
              <a:buNone/>
            </a:pPr>
            <a:r>
              <a:rPr lang="en-US" sz="2200" b="1" dirty="0" smtClean="0">
                <a:latin typeface="Helvetica" pitchFamily="34" charset="0"/>
              </a:rPr>
              <a:t>Importance of marketing objectives and strategies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Like in any organisation, objectives and strategies need to be identified before any activities can be implemented.</a:t>
            </a:r>
          </a:p>
          <a:p>
            <a:pPr marL="0">
              <a:spcBef>
                <a:spcPts val="600"/>
              </a:spcBef>
              <a:spcAft>
                <a:spcPts val="1200"/>
              </a:spcAft>
              <a:buNone/>
            </a:pPr>
            <a:r>
              <a:rPr lang="en-ZA" sz="2200" dirty="0" smtClean="0">
                <a:latin typeface="Helvetica" pitchFamily="34" charset="0"/>
              </a:rPr>
              <a:t>By conducting a SWOT Analysis, a clear understanding of </a:t>
            </a:r>
            <a:br>
              <a:rPr lang="en-ZA" sz="2200" dirty="0" smtClean="0">
                <a:latin typeface="Helvetica" pitchFamily="34" charset="0"/>
              </a:rPr>
            </a:br>
            <a:r>
              <a:rPr lang="en-ZA" sz="2200" dirty="0" smtClean="0">
                <a:latin typeface="Helvetica" pitchFamily="34" charset="0"/>
              </a:rPr>
              <a:t>what needs to take place in the future.</a:t>
            </a:r>
          </a:p>
          <a:p>
            <a:pPr>
              <a:spcBef>
                <a:spcPts val="600"/>
              </a:spcBef>
              <a:spcAft>
                <a:spcPts val="1200"/>
              </a:spcAft>
            </a:pPr>
            <a:r>
              <a:rPr lang="en-ZA" sz="2200" dirty="0" smtClean="0">
                <a:latin typeface="Helvetica" pitchFamily="34" charset="0"/>
              </a:rPr>
              <a:t>What are objectives?</a:t>
            </a:r>
          </a:p>
          <a:p>
            <a:pPr>
              <a:spcBef>
                <a:spcPts val="600"/>
              </a:spcBef>
              <a:spcAft>
                <a:spcPts val="1200"/>
              </a:spcAft>
            </a:pPr>
            <a:r>
              <a:rPr lang="en-ZA" sz="2200" dirty="0" smtClean="0">
                <a:latin typeface="Helvetica" pitchFamily="34" charset="0"/>
              </a:rPr>
              <a:t>What are strategies?</a:t>
            </a:r>
            <a:endParaRPr lang="en-US" sz="2200" dirty="0" smtClean="0">
              <a:latin typeface="Helvetica" pitchFamily="34" charset="0"/>
            </a:endParaRPr>
          </a:p>
          <a:p>
            <a:endParaRPr lang="en-US" sz="2400" dirty="0" smtClean="0"/>
          </a:p>
          <a:p>
            <a:endParaRPr lang="en-GB" sz="2000" dirty="0" smtClean="0">
              <a:solidFill>
                <a:srgbClr val="FF6600"/>
              </a:solidFill>
              <a:latin typeface="Helvetica" pitchFamily="34" charset="0"/>
            </a:endParaRPr>
          </a:p>
          <a:p>
            <a:pPr marL="432000" lvl="1" indent="-453600">
              <a:lnSpc>
                <a:spcPct val="120000"/>
              </a:lnSpc>
              <a:spcBef>
                <a:spcPts val="600"/>
              </a:spcBef>
              <a:spcAft>
                <a:spcPts val="1200"/>
              </a:spcAft>
              <a:buClr>
                <a:srgbClr val="EB7125"/>
              </a:buClr>
              <a:buNone/>
            </a:pPr>
            <a:endParaRPr lang="en-AU" sz="3200" dirty="0" smtClean="0"/>
          </a:p>
          <a:p>
            <a:pPr marL="432000" lvl="1" indent="-453600">
              <a:lnSpc>
                <a:spcPct val="120000"/>
              </a:lnSpc>
              <a:spcBef>
                <a:spcPts val="600"/>
              </a:spcBef>
              <a:spcAft>
                <a:spcPts val="1200"/>
              </a:spcAft>
              <a:buClr>
                <a:srgbClr val="EB7125"/>
              </a:buClr>
            </a:pPr>
            <a:endParaRPr lang="en-AU" sz="3200" dirty="0" smtClean="0"/>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54</a:t>
            </a:fld>
            <a:endParaRPr lang="en-US" dirty="0"/>
          </a:p>
        </p:txBody>
      </p:sp>
      <p:pic>
        <p:nvPicPr>
          <p:cNvPr id="6" name="Picture 5" descr="shutterstock_179402513.jpg"/>
          <p:cNvPicPr/>
          <p:nvPr/>
        </p:nvPicPr>
        <p:blipFill>
          <a:blip r:embed="rId3" cstate="print"/>
          <a:stretch>
            <a:fillRect/>
          </a:stretch>
        </p:blipFill>
        <p:spPr>
          <a:xfrm>
            <a:off x="6300192" y="3789040"/>
            <a:ext cx="1979290" cy="1584176"/>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400" b="1" dirty="0" smtClean="0">
                <a:solidFill>
                  <a:srgbClr val="FF6600"/>
                </a:solidFill>
                <a:latin typeface="Helvetica" pitchFamily="34" charset="0"/>
              </a:rPr>
              <a:t>Develop marketing and sales strategies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a:spcBef>
                <a:spcPts val="600"/>
              </a:spcBef>
              <a:spcAft>
                <a:spcPts val="1200"/>
              </a:spcAft>
              <a:buNone/>
            </a:pPr>
            <a:r>
              <a:rPr lang="en-US" sz="2200" b="1" dirty="0" smtClean="0">
                <a:latin typeface="Helvetica" pitchFamily="34" charset="0"/>
              </a:rPr>
              <a:t>Importance of marketing objectives and strategies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An objective is a goal, something that is deemed worthwhile achieving for the future of your business. </a:t>
            </a:r>
          </a:p>
          <a:p>
            <a:pPr marL="0">
              <a:spcBef>
                <a:spcPts val="600"/>
              </a:spcBef>
              <a:spcAft>
                <a:spcPts val="1200"/>
              </a:spcAft>
              <a:buNone/>
            </a:pPr>
            <a:r>
              <a:rPr lang="en-AU" sz="2200" dirty="0" smtClean="0">
                <a:latin typeface="Helvetica" pitchFamily="34" charset="0"/>
              </a:rPr>
              <a:t>A marketing objective is the stated goal to be achieved via performance of marketing strategies and tactics.</a:t>
            </a:r>
            <a:endParaRPr lang="en-US" sz="2200" dirty="0" smtClean="0">
              <a:latin typeface="Helvetica" pitchFamily="34" charset="0"/>
            </a:endParaRPr>
          </a:p>
          <a:p>
            <a:pPr>
              <a:spcBef>
                <a:spcPts val="600"/>
              </a:spcBef>
              <a:spcAft>
                <a:spcPts val="1200"/>
              </a:spcAft>
            </a:pPr>
            <a:r>
              <a:rPr lang="en-ZA" sz="2200" dirty="0" smtClean="0">
                <a:latin typeface="Helvetica" pitchFamily="34" charset="0"/>
              </a:rPr>
              <a:t>What are SMART objectives?</a:t>
            </a:r>
            <a:endParaRPr lang="en-US" sz="2200" dirty="0" smtClean="0">
              <a:latin typeface="Helvetica" pitchFamily="34" charset="0"/>
            </a:endParaRPr>
          </a:p>
          <a:p>
            <a:endParaRPr lang="en-US" sz="2400" dirty="0" smtClean="0"/>
          </a:p>
          <a:p>
            <a:endParaRPr lang="en-GB" sz="2000" dirty="0" smtClean="0">
              <a:solidFill>
                <a:srgbClr val="FF6600"/>
              </a:solidFill>
              <a:latin typeface="Helvetica" pitchFamily="34" charset="0"/>
            </a:endParaRPr>
          </a:p>
          <a:p>
            <a:pPr marL="432000" lvl="1" indent="-453600">
              <a:lnSpc>
                <a:spcPct val="120000"/>
              </a:lnSpc>
              <a:spcBef>
                <a:spcPts val="600"/>
              </a:spcBef>
              <a:spcAft>
                <a:spcPts val="1200"/>
              </a:spcAft>
              <a:buClr>
                <a:srgbClr val="EB7125"/>
              </a:buClr>
              <a:buNone/>
            </a:pPr>
            <a:endParaRPr lang="en-AU" sz="3200" dirty="0" smtClean="0"/>
          </a:p>
          <a:p>
            <a:pPr marL="432000" lvl="1" indent="-453600">
              <a:lnSpc>
                <a:spcPct val="120000"/>
              </a:lnSpc>
              <a:spcBef>
                <a:spcPts val="600"/>
              </a:spcBef>
              <a:spcAft>
                <a:spcPts val="1200"/>
              </a:spcAft>
              <a:buClr>
                <a:srgbClr val="EB7125"/>
              </a:buClr>
            </a:pPr>
            <a:endParaRPr lang="en-AU" sz="3200" dirty="0" smtClean="0"/>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55</a:t>
            </a:fld>
            <a:endParaRPr lang="en-US" dirty="0"/>
          </a:p>
        </p:txBody>
      </p:sp>
      <p:pic>
        <p:nvPicPr>
          <p:cNvPr id="8" name="Picture 7" descr="shutterstock_15527185.jpg"/>
          <p:cNvPicPr/>
          <p:nvPr/>
        </p:nvPicPr>
        <p:blipFill>
          <a:blip r:embed="rId3" cstate="print"/>
          <a:stretch>
            <a:fillRect/>
          </a:stretch>
        </p:blipFill>
        <p:spPr>
          <a:xfrm>
            <a:off x="6643702" y="4786322"/>
            <a:ext cx="1845945" cy="1228725"/>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400" b="1" dirty="0" smtClean="0">
                <a:solidFill>
                  <a:srgbClr val="FF6600"/>
                </a:solidFill>
                <a:latin typeface="Helvetica" pitchFamily="34" charset="0"/>
              </a:rPr>
              <a:t>Develop marketing and sales strategies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a:spcBef>
                <a:spcPts val="600"/>
              </a:spcBef>
              <a:spcAft>
                <a:spcPts val="1200"/>
              </a:spcAft>
              <a:buNone/>
            </a:pPr>
            <a:r>
              <a:rPr lang="en-US" sz="2200" b="1" dirty="0" smtClean="0">
                <a:latin typeface="Helvetica" pitchFamily="34" charset="0"/>
              </a:rPr>
              <a:t>Types of marketing objectives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Client development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Geographic expansion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Organisational growth</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Service growth</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Debt reduction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Income development</a:t>
            </a:r>
            <a:endParaRPr lang="en-US" sz="2200" dirty="0" smtClean="0">
              <a:latin typeface="Helvetica" pitchFamily="34" charset="0"/>
            </a:endParaRPr>
          </a:p>
          <a:p>
            <a:endParaRPr lang="en-US" sz="2400" dirty="0" smtClean="0"/>
          </a:p>
          <a:p>
            <a:endParaRPr lang="en-GB" sz="2000" dirty="0" smtClean="0">
              <a:solidFill>
                <a:srgbClr val="FF6600"/>
              </a:solidFill>
              <a:latin typeface="Helvetica" pitchFamily="34" charset="0"/>
            </a:endParaRPr>
          </a:p>
          <a:p>
            <a:pPr marL="432000" lvl="1" indent="-453600">
              <a:lnSpc>
                <a:spcPct val="120000"/>
              </a:lnSpc>
              <a:spcBef>
                <a:spcPts val="600"/>
              </a:spcBef>
              <a:spcAft>
                <a:spcPts val="1200"/>
              </a:spcAft>
              <a:buClr>
                <a:srgbClr val="EB7125"/>
              </a:buClr>
              <a:buNone/>
            </a:pPr>
            <a:endParaRPr lang="en-AU" sz="3200" dirty="0" smtClean="0"/>
          </a:p>
          <a:p>
            <a:pPr marL="432000" lvl="1" indent="-453600">
              <a:lnSpc>
                <a:spcPct val="120000"/>
              </a:lnSpc>
              <a:spcBef>
                <a:spcPts val="600"/>
              </a:spcBef>
              <a:spcAft>
                <a:spcPts val="1200"/>
              </a:spcAft>
              <a:buClr>
                <a:srgbClr val="EB7125"/>
              </a:buClr>
            </a:pPr>
            <a:endParaRPr lang="en-AU" sz="3200" dirty="0" smtClean="0"/>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56</a:t>
            </a:fld>
            <a:endParaRPr lang="en-US" dirty="0"/>
          </a:p>
        </p:txBody>
      </p:sp>
      <p:pic>
        <p:nvPicPr>
          <p:cNvPr id="6" name="Picture 5" descr="W27_Five_Professionals_Blank_Msg_shutterstock_2052513.jpg"/>
          <p:cNvPicPr/>
          <p:nvPr/>
        </p:nvPicPr>
        <p:blipFill>
          <a:blip r:embed="rId3" cstate="print"/>
          <a:stretch>
            <a:fillRect/>
          </a:stretch>
        </p:blipFill>
        <p:spPr>
          <a:xfrm>
            <a:off x="6228184" y="2924944"/>
            <a:ext cx="1781175" cy="1200150"/>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400" b="1" dirty="0" smtClean="0">
                <a:solidFill>
                  <a:srgbClr val="FF6600"/>
                </a:solidFill>
                <a:latin typeface="Helvetica" pitchFamily="34" charset="0"/>
              </a:rPr>
              <a:t>Develop marketing and sales strategies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a:spcBef>
                <a:spcPts val="600"/>
              </a:spcBef>
              <a:spcAft>
                <a:spcPts val="600"/>
              </a:spcAft>
              <a:buNone/>
            </a:pPr>
            <a:r>
              <a:rPr lang="en-US" sz="2200" b="1" dirty="0" smtClean="0">
                <a:latin typeface="Helvetica" pitchFamily="34" charset="0"/>
              </a:rPr>
              <a:t>Types of sales objectives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Market share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Turnover</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Profit</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Units sold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Percentage growth</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Ratio of enquiries converted to sales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Number of sales-related enquiries received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Specific products or services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Nominated periods of the year</a:t>
            </a:r>
            <a:endParaRPr lang="en-US" sz="2200" dirty="0" smtClean="0">
              <a:latin typeface="Helvetica" pitchFamily="34" charset="0"/>
            </a:endParaRPr>
          </a:p>
          <a:p>
            <a:endParaRPr lang="en-US" sz="2400" dirty="0" smtClean="0"/>
          </a:p>
          <a:p>
            <a:endParaRPr lang="en-GB" sz="2000" dirty="0" smtClean="0">
              <a:solidFill>
                <a:srgbClr val="FF6600"/>
              </a:solidFill>
              <a:latin typeface="Helvetica" pitchFamily="34" charset="0"/>
            </a:endParaRPr>
          </a:p>
          <a:p>
            <a:pPr marL="432000" lvl="1" indent="-453600">
              <a:lnSpc>
                <a:spcPct val="120000"/>
              </a:lnSpc>
              <a:spcBef>
                <a:spcPts val="600"/>
              </a:spcBef>
              <a:spcAft>
                <a:spcPts val="1200"/>
              </a:spcAft>
              <a:buClr>
                <a:srgbClr val="EB7125"/>
              </a:buClr>
              <a:buNone/>
            </a:pPr>
            <a:endParaRPr lang="en-AU" sz="3200" dirty="0" smtClean="0"/>
          </a:p>
          <a:p>
            <a:pPr marL="432000" lvl="1" indent="-453600">
              <a:lnSpc>
                <a:spcPct val="120000"/>
              </a:lnSpc>
              <a:spcBef>
                <a:spcPts val="600"/>
              </a:spcBef>
              <a:spcAft>
                <a:spcPts val="1200"/>
              </a:spcAft>
              <a:buClr>
                <a:srgbClr val="EB7125"/>
              </a:buClr>
            </a:pPr>
            <a:endParaRPr lang="en-AU" sz="3200" dirty="0" smtClean="0"/>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57</a:t>
            </a:fld>
            <a:endParaRPr lang="en-US" dirty="0"/>
          </a:p>
        </p:txBody>
      </p:sp>
      <p:pic>
        <p:nvPicPr>
          <p:cNvPr id="8" name="Picture 7" descr="Assessment_115352104.jpg"/>
          <p:cNvPicPr/>
          <p:nvPr/>
        </p:nvPicPr>
        <p:blipFill>
          <a:blip r:embed="rId3" cstate="print"/>
          <a:stretch>
            <a:fillRect/>
          </a:stretch>
        </p:blipFill>
        <p:spPr>
          <a:xfrm>
            <a:off x="6660232" y="3284984"/>
            <a:ext cx="1666875" cy="1114425"/>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400" b="1" dirty="0" smtClean="0">
                <a:solidFill>
                  <a:srgbClr val="FF6600"/>
                </a:solidFill>
                <a:latin typeface="Helvetica" pitchFamily="34" charset="0"/>
              </a:rPr>
              <a:t>Develop marketing and sales strategies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a:spcBef>
                <a:spcPts val="600"/>
              </a:spcBef>
              <a:spcAft>
                <a:spcPts val="1200"/>
              </a:spcAft>
              <a:buNone/>
            </a:pPr>
            <a:r>
              <a:rPr lang="en-AU" sz="2200" b="1" dirty="0" smtClean="0">
                <a:latin typeface="Helvetica" pitchFamily="34" charset="0"/>
              </a:rPr>
              <a:t>Focus of marketing and sales strategies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Marketing and sales strategies state how marketing objectives will be achieved.</a:t>
            </a:r>
          </a:p>
          <a:p>
            <a:pPr>
              <a:spcBef>
                <a:spcPts val="600"/>
              </a:spcBef>
              <a:spcAft>
                <a:spcPts val="1200"/>
              </a:spcAft>
              <a:buNone/>
            </a:pPr>
            <a:r>
              <a:rPr lang="en-AU" sz="2200" dirty="0" smtClean="0">
                <a:latin typeface="Helvetica" pitchFamily="34" charset="0"/>
              </a:rPr>
              <a:t>Marketing and sales strategies may be for:</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 new or existing, specific product or service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 small or medium sized business enterprise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 destination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 single event</a:t>
            </a:r>
            <a:endParaRPr lang="en-US" sz="2200" dirty="0" smtClean="0">
              <a:latin typeface="Helvetica" pitchFamily="34" charset="0"/>
            </a:endParaRPr>
          </a:p>
          <a:p>
            <a:endParaRPr lang="en-US" sz="2400" dirty="0" smtClean="0"/>
          </a:p>
          <a:p>
            <a:endParaRPr lang="en-GB" sz="2000" dirty="0" smtClean="0">
              <a:solidFill>
                <a:srgbClr val="FF6600"/>
              </a:solidFill>
              <a:latin typeface="Helvetica" pitchFamily="34" charset="0"/>
            </a:endParaRPr>
          </a:p>
          <a:p>
            <a:pPr marL="432000" lvl="1" indent="-453600">
              <a:lnSpc>
                <a:spcPct val="120000"/>
              </a:lnSpc>
              <a:spcBef>
                <a:spcPts val="600"/>
              </a:spcBef>
              <a:spcAft>
                <a:spcPts val="1200"/>
              </a:spcAft>
              <a:buClr>
                <a:srgbClr val="EB7125"/>
              </a:buClr>
              <a:buNone/>
            </a:pPr>
            <a:endParaRPr lang="en-AU" sz="3200" dirty="0" smtClean="0"/>
          </a:p>
          <a:p>
            <a:pPr marL="432000" lvl="1" indent="-453600">
              <a:lnSpc>
                <a:spcPct val="120000"/>
              </a:lnSpc>
              <a:spcBef>
                <a:spcPts val="600"/>
              </a:spcBef>
              <a:spcAft>
                <a:spcPts val="1200"/>
              </a:spcAft>
              <a:buClr>
                <a:srgbClr val="EB7125"/>
              </a:buClr>
            </a:pPr>
            <a:endParaRPr lang="en-AU" sz="3200" dirty="0" smtClean="0"/>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58</a:t>
            </a:fld>
            <a:endParaRPr lang="en-US" dirty="0"/>
          </a:p>
        </p:txBody>
      </p:sp>
      <p:pic>
        <p:nvPicPr>
          <p:cNvPr id="6" name="Picture 5" descr="shutterstock_104718050.jpg"/>
          <p:cNvPicPr/>
          <p:nvPr/>
        </p:nvPicPr>
        <p:blipFill>
          <a:blip r:embed="rId3" cstate="print"/>
          <a:stretch>
            <a:fillRect/>
          </a:stretch>
        </p:blipFill>
        <p:spPr>
          <a:xfrm>
            <a:off x="6429388" y="4786322"/>
            <a:ext cx="2131381" cy="1371602"/>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400" b="1" dirty="0" smtClean="0">
                <a:solidFill>
                  <a:srgbClr val="FF6600"/>
                </a:solidFill>
                <a:latin typeface="Helvetica" pitchFamily="34" charset="0"/>
              </a:rPr>
              <a:t>Develop marketing and sales strategies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a:spcBef>
                <a:spcPts val="600"/>
              </a:spcBef>
              <a:spcAft>
                <a:spcPts val="1200"/>
              </a:spcAft>
              <a:buNone/>
            </a:pPr>
            <a:r>
              <a:rPr lang="en-AU" sz="2200" b="1" dirty="0" smtClean="0">
                <a:latin typeface="Helvetica" pitchFamily="34" charset="0"/>
              </a:rPr>
              <a:t>Types of marketing and sales strategies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Status quo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Intense growth</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Integrated growth</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Diversification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Market penetration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Product or market development</a:t>
            </a:r>
            <a:endParaRPr lang="en-US" sz="2200" dirty="0" smtClean="0">
              <a:latin typeface="Helvetica" pitchFamily="34" charset="0"/>
            </a:endParaRPr>
          </a:p>
          <a:p>
            <a:endParaRPr lang="en-GB" sz="2000" dirty="0" smtClean="0">
              <a:solidFill>
                <a:srgbClr val="FF6600"/>
              </a:solidFill>
              <a:latin typeface="Helvetica" pitchFamily="34" charset="0"/>
            </a:endParaRPr>
          </a:p>
          <a:p>
            <a:pPr marL="432000" lvl="1" indent="-453600">
              <a:lnSpc>
                <a:spcPct val="120000"/>
              </a:lnSpc>
              <a:spcBef>
                <a:spcPts val="600"/>
              </a:spcBef>
              <a:spcAft>
                <a:spcPts val="1200"/>
              </a:spcAft>
              <a:buClr>
                <a:srgbClr val="EB7125"/>
              </a:buClr>
              <a:buNone/>
            </a:pPr>
            <a:endParaRPr lang="en-AU" sz="3200" dirty="0" smtClean="0"/>
          </a:p>
          <a:p>
            <a:pPr marL="432000" lvl="1" indent="-453600">
              <a:lnSpc>
                <a:spcPct val="120000"/>
              </a:lnSpc>
              <a:spcBef>
                <a:spcPts val="600"/>
              </a:spcBef>
              <a:spcAft>
                <a:spcPts val="1200"/>
              </a:spcAft>
              <a:buClr>
                <a:srgbClr val="EB7125"/>
              </a:buClr>
            </a:pPr>
            <a:endParaRPr lang="en-AU" sz="3200" dirty="0" smtClean="0"/>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59</a:t>
            </a:fld>
            <a:endParaRPr lang="en-US" dirty="0"/>
          </a:p>
        </p:txBody>
      </p:sp>
      <p:pic>
        <p:nvPicPr>
          <p:cNvPr id="8" name="Picture 7" descr="shutterstock_139680334.jpg"/>
          <p:cNvPicPr/>
          <p:nvPr/>
        </p:nvPicPr>
        <p:blipFill>
          <a:blip r:embed="rId3" cstate="print"/>
          <a:stretch>
            <a:fillRect/>
          </a:stretch>
        </p:blipFill>
        <p:spPr>
          <a:xfrm>
            <a:off x="6228184" y="2852936"/>
            <a:ext cx="1771650" cy="1181100"/>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AU" sz="3400" b="1" dirty="0" smtClean="0">
                <a:solidFill>
                  <a:srgbClr val="FF6600"/>
                </a:solidFill>
                <a:latin typeface="Helvetica" pitchFamily="34" charset="0"/>
              </a:rPr>
              <a:t>Develop marketing and sales strategies</a:t>
            </a:r>
            <a:endParaRPr lang="en-US" sz="3400" b="1" dirty="0">
              <a:solidFill>
                <a:srgbClr val="FF6600"/>
              </a:solidFill>
              <a:latin typeface="Helvetica" pitchFamily="34" charset="0"/>
            </a:endParaRPr>
          </a:p>
        </p:txBody>
      </p:sp>
      <p:sp>
        <p:nvSpPr>
          <p:cNvPr id="4" name="Content Placeholder 3"/>
          <p:cNvSpPr>
            <a:spLocks noGrp="1"/>
          </p:cNvSpPr>
          <p:nvPr>
            <p:ph sz="quarter" idx="4294967295"/>
          </p:nvPr>
        </p:nvSpPr>
        <p:spPr>
          <a:xfrm>
            <a:off x="612648" y="1600200"/>
            <a:ext cx="8153400" cy="5257800"/>
          </a:xfrm>
          <a:prstGeom prst="rect">
            <a:avLst/>
          </a:prstGeom>
        </p:spPr>
        <p:txBody>
          <a:bodyPr>
            <a:normAutofit/>
          </a:bodyPr>
          <a:lstStyle/>
          <a:p>
            <a:pPr>
              <a:spcBef>
                <a:spcPts val="600"/>
              </a:spcBef>
              <a:spcAft>
                <a:spcPts val="1200"/>
              </a:spcAft>
              <a:buNone/>
            </a:pPr>
            <a:r>
              <a:rPr lang="en-AU" sz="2200" b="1" dirty="0" smtClean="0">
                <a:latin typeface="Helvetica" pitchFamily="34" charset="0"/>
              </a:rPr>
              <a:t>Product and service strategies</a:t>
            </a:r>
          </a:p>
          <a:p>
            <a:pPr>
              <a:spcBef>
                <a:spcPts val="600"/>
              </a:spcBef>
              <a:spcAft>
                <a:spcPts val="1200"/>
              </a:spcAft>
            </a:pPr>
            <a:r>
              <a:rPr lang="en-AU" sz="2200" dirty="0" smtClean="0">
                <a:latin typeface="Helvetica" pitchFamily="34" charset="0"/>
              </a:rPr>
              <a:t>Product strategies</a:t>
            </a:r>
          </a:p>
          <a:p>
            <a:pPr>
              <a:spcBef>
                <a:spcPts val="600"/>
              </a:spcBef>
              <a:spcAft>
                <a:spcPts val="1200"/>
              </a:spcAft>
            </a:pPr>
            <a:r>
              <a:rPr lang="en-AU" sz="2200" dirty="0" smtClean="0">
                <a:latin typeface="Helvetica" pitchFamily="34" charset="0"/>
              </a:rPr>
              <a:t>Branding strategies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Services strategies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New products</a:t>
            </a:r>
            <a:r>
              <a:rPr lang="en-US" sz="2200" dirty="0" smtClean="0">
                <a:latin typeface="Helvetica" pitchFamily="34" charset="0"/>
              </a:rPr>
              <a:t> and </a:t>
            </a:r>
            <a:r>
              <a:rPr lang="en-AU" sz="2200" dirty="0" smtClean="0">
                <a:latin typeface="Helvetica" pitchFamily="34" charset="0"/>
              </a:rPr>
              <a:t>services strategies</a:t>
            </a:r>
            <a:endParaRPr lang="en-US" sz="2200" dirty="0" smtClean="0">
              <a:latin typeface="Helvetica" pitchFamily="34" charset="0"/>
            </a:endParaRPr>
          </a:p>
          <a:p>
            <a:pPr marL="432000" lvl="1" indent="-453600">
              <a:lnSpc>
                <a:spcPct val="120000"/>
              </a:lnSpc>
              <a:spcBef>
                <a:spcPts val="600"/>
              </a:spcBef>
              <a:spcAft>
                <a:spcPts val="1200"/>
              </a:spcAft>
              <a:buClr>
                <a:srgbClr val="EB7125"/>
              </a:buClr>
              <a:buNone/>
            </a:pPr>
            <a:endParaRPr lang="en-AU" sz="3200" dirty="0" smtClean="0">
              <a:solidFill>
                <a:srgbClr val="FF6600"/>
              </a:solidFill>
              <a:latin typeface="Helvetica" pitchFamily="34" charset="0"/>
            </a:endParaRPr>
          </a:p>
          <a:p>
            <a:pPr marL="432000" lvl="1" indent="-453600">
              <a:lnSpc>
                <a:spcPct val="120000"/>
              </a:lnSpc>
              <a:spcBef>
                <a:spcPts val="600"/>
              </a:spcBef>
              <a:spcAft>
                <a:spcPts val="1200"/>
              </a:spcAft>
              <a:buClr>
                <a:srgbClr val="EB7125"/>
              </a:buClr>
              <a:buNone/>
            </a:pPr>
            <a:r>
              <a:rPr lang="en-AU" sz="2200" dirty="0" smtClean="0">
                <a:solidFill>
                  <a:srgbClr val="FF6600"/>
                </a:solidFill>
                <a:latin typeface="Helvetica" pitchFamily="34" charset="0"/>
              </a:rPr>
              <a:t>COMPLETE ACTIVITY 13</a:t>
            </a:r>
          </a:p>
          <a:p>
            <a:pPr marL="432000" lvl="1" indent="-453600">
              <a:lnSpc>
                <a:spcPct val="120000"/>
              </a:lnSpc>
              <a:spcBef>
                <a:spcPts val="600"/>
              </a:spcBef>
              <a:spcAft>
                <a:spcPts val="1200"/>
              </a:spcAft>
              <a:buClr>
                <a:srgbClr val="EB7125"/>
              </a:buClr>
              <a:buNone/>
            </a:pPr>
            <a:endParaRPr lang="en-AU" sz="3200" dirty="0" smtClean="0"/>
          </a:p>
          <a:p>
            <a:pPr marL="432000" lvl="1" indent="-453600">
              <a:lnSpc>
                <a:spcPct val="120000"/>
              </a:lnSpc>
              <a:spcBef>
                <a:spcPts val="600"/>
              </a:spcBef>
              <a:spcAft>
                <a:spcPts val="1200"/>
              </a:spcAft>
              <a:buClr>
                <a:srgbClr val="EB7125"/>
              </a:buClr>
            </a:pPr>
            <a:endParaRPr lang="en-AU" sz="3200" dirty="0" smtClean="0"/>
          </a:p>
          <a:p>
            <a:pPr>
              <a:lnSpc>
                <a:spcPct val="110000"/>
              </a:lnSpc>
              <a:spcBef>
                <a:spcPts val="600"/>
              </a:spcBef>
              <a:spcAft>
                <a:spcPts val="1200"/>
              </a:spcAft>
            </a:pPr>
            <a:endParaRPr lang="en-US" sz="2400" dirty="0">
              <a:latin typeface="Helvetica" pitchFamily="34" charset="0"/>
            </a:endParaRPr>
          </a:p>
        </p:txBody>
      </p:sp>
      <p:sp>
        <p:nvSpPr>
          <p:cNvPr id="7" name="Slide Number Placeholder 3"/>
          <p:cNvSpPr>
            <a:spLocks noGrp="1"/>
          </p:cNvSpPr>
          <p:nvPr>
            <p:ph type="sldNum" sz="quarter" idx="12"/>
          </p:nvPr>
        </p:nvSpPr>
        <p:spPr>
          <a:xfrm>
            <a:off x="8153400" y="6422064"/>
            <a:ext cx="762000" cy="365125"/>
          </a:xfrm>
        </p:spPr>
        <p:txBody>
          <a:bodyPr/>
          <a:lstStyle/>
          <a:p>
            <a:r>
              <a:rPr lang="en-US" dirty="0" smtClean="0"/>
              <a:t> Slide </a:t>
            </a:r>
            <a:fld id="{90BDF71C-F485-43AE-8825-5070AF1EA8C9}" type="slidenum">
              <a:rPr lang="en-US" smtClean="0"/>
              <a:pPr/>
              <a:t>60</a:t>
            </a:fld>
            <a:endParaRPr lang="en-US" dirty="0"/>
          </a:p>
        </p:txBody>
      </p:sp>
      <p:pic>
        <p:nvPicPr>
          <p:cNvPr id="6" name="Picture 5" descr="shutterstock_17560465.jpg"/>
          <p:cNvPicPr/>
          <p:nvPr/>
        </p:nvPicPr>
        <p:blipFill>
          <a:blip r:embed="rId3" cstate="print"/>
          <a:stretch>
            <a:fillRect/>
          </a:stretch>
        </p:blipFill>
        <p:spPr>
          <a:xfrm>
            <a:off x="6732240" y="2204864"/>
            <a:ext cx="1249680" cy="1819275"/>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Ensure strategies reflect goals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a:spcBef>
                <a:spcPts val="600"/>
              </a:spcBef>
              <a:spcAft>
                <a:spcPts val="600"/>
              </a:spcAft>
              <a:buNone/>
            </a:pPr>
            <a:r>
              <a:rPr lang="en-AU" sz="2200" b="1" dirty="0" smtClean="0">
                <a:latin typeface="Helvetica" pitchFamily="34" charset="0"/>
              </a:rPr>
              <a:t>Types of business goals</a:t>
            </a:r>
          </a:p>
          <a:p>
            <a:pPr>
              <a:spcBef>
                <a:spcPts val="600"/>
              </a:spcBef>
              <a:spcAft>
                <a:spcPts val="600"/>
              </a:spcAft>
              <a:buNone/>
            </a:pPr>
            <a:r>
              <a:rPr lang="en-AU" sz="2200" dirty="0" smtClean="0">
                <a:latin typeface="Helvetica" pitchFamily="34" charset="0"/>
              </a:rPr>
              <a:t>Business goals and outcomes may include: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Key performance indicators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Strategic objectives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Price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Market and sales indicators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Brand value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Quality standards and criteria</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Performance benchmarks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Milestones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61</a:t>
            </a:fld>
            <a:endParaRPr lang="en-US" dirty="0"/>
          </a:p>
        </p:txBody>
      </p:sp>
      <p:pic>
        <p:nvPicPr>
          <p:cNvPr id="6" name="Picture 5" descr="shutterstock_154509908.jpg"/>
          <p:cNvPicPr/>
          <p:nvPr/>
        </p:nvPicPr>
        <p:blipFill>
          <a:blip r:embed="rId3" cstate="print"/>
          <a:stretch>
            <a:fillRect/>
          </a:stretch>
        </p:blipFill>
        <p:spPr>
          <a:xfrm>
            <a:off x="7000892" y="4714884"/>
            <a:ext cx="1514476" cy="1357313"/>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Consult with stakeholders and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Autofit/>
          </a:bodyPr>
          <a:lstStyle/>
          <a:p>
            <a:pPr marL="0">
              <a:spcBef>
                <a:spcPts val="600"/>
              </a:spcBef>
              <a:spcAft>
                <a:spcPts val="1200"/>
              </a:spcAft>
              <a:buNone/>
            </a:pPr>
            <a:r>
              <a:rPr lang="en-AU" sz="2200" b="1" dirty="0" smtClean="0">
                <a:latin typeface="Helvetica" pitchFamily="34" charset="0"/>
              </a:rPr>
              <a:t>Importance of consulting with stakeholders and colleagues</a:t>
            </a:r>
          </a:p>
          <a:p>
            <a:pPr>
              <a:spcBef>
                <a:spcPts val="600"/>
              </a:spcBef>
              <a:spcAft>
                <a:spcPts val="1200"/>
              </a:spcAft>
            </a:pPr>
            <a:r>
              <a:rPr lang="en-AU" sz="2200" dirty="0" smtClean="0">
                <a:latin typeface="Helvetica" pitchFamily="34" charset="0"/>
              </a:rPr>
              <a:t>Who are possible stakeholders and colleagues?</a:t>
            </a:r>
          </a:p>
          <a:p>
            <a:pPr>
              <a:spcBef>
                <a:spcPts val="600"/>
              </a:spcBef>
              <a:spcAft>
                <a:spcPts val="1200"/>
              </a:spcAft>
            </a:pPr>
            <a:r>
              <a:rPr lang="en-AU" sz="2200" dirty="0" smtClean="0">
                <a:latin typeface="Helvetica" pitchFamily="34" charset="0"/>
              </a:rPr>
              <a:t>Why is it important to consult with them?</a:t>
            </a:r>
          </a:p>
          <a:p>
            <a:pPr>
              <a:spcBef>
                <a:spcPts val="600"/>
              </a:spcBef>
              <a:spcAft>
                <a:spcPts val="1200"/>
              </a:spcAft>
            </a:pPr>
            <a:r>
              <a:rPr lang="en-AU" sz="2200" dirty="0" smtClean="0">
                <a:latin typeface="Helvetica" pitchFamily="34" charset="0"/>
              </a:rPr>
              <a:t>What do you require from them?</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62</a:t>
            </a:fld>
            <a:endParaRPr lang="en-US" dirty="0"/>
          </a:p>
        </p:txBody>
      </p:sp>
      <p:pic>
        <p:nvPicPr>
          <p:cNvPr id="5" name="Picture 4" descr="A17 shutterstock_179513282[1].JPG"/>
          <p:cNvPicPr>
            <a:picLocks noChangeAspect="1"/>
          </p:cNvPicPr>
          <p:nvPr/>
        </p:nvPicPr>
        <p:blipFill>
          <a:blip r:embed="rId3" cstate="print"/>
          <a:stretch>
            <a:fillRect/>
          </a:stretch>
        </p:blipFill>
        <p:spPr>
          <a:xfrm>
            <a:off x="5940152" y="3789040"/>
            <a:ext cx="2171748" cy="1448556"/>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Key stakeholders and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86918"/>
          </a:xfrm>
        </p:spPr>
        <p:txBody>
          <a:bodyPr>
            <a:noAutofit/>
          </a:bodyPr>
          <a:lstStyle/>
          <a:p>
            <a:pPr>
              <a:spcBef>
                <a:spcPts val="600"/>
              </a:spcBef>
              <a:spcAft>
                <a:spcPts val="600"/>
              </a:spcAft>
              <a:buNone/>
            </a:pPr>
            <a:r>
              <a:rPr lang="en-AU" sz="2200" b="1" dirty="0" smtClean="0">
                <a:latin typeface="Helvetica" pitchFamily="34" charset="0"/>
              </a:rPr>
              <a:t>Types of stakeholders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Owners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Board of directors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Managers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Supervisors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Finance staff</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Marketing personnel</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Human resource staff</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Information Technology staff</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Production staff</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63</a:t>
            </a:fld>
            <a:endParaRPr lang="en-US" dirty="0"/>
          </a:p>
        </p:txBody>
      </p:sp>
      <p:pic>
        <p:nvPicPr>
          <p:cNvPr id="5" name="Picture 4" descr="A22 shutterstock_182450381.jpg"/>
          <p:cNvPicPr/>
          <p:nvPr/>
        </p:nvPicPr>
        <p:blipFill>
          <a:blip r:embed="rId3" cstate="print"/>
          <a:stretch>
            <a:fillRect/>
          </a:stretch>
        </p:blipFill>
        <p:spPr>
          <a:xfrm>
            <a:off x="5724128" y="2924944"/>
            <a:ext cx="2233623" cy="1466857"/>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Key stakeholders and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5086918"/>
          </a:xfrm>
        </p:spPr>
        <p:txBody>
          <a:bodyPr>
            <a:noAutofit/>
          </a:bodyPr>
          <a:lstStyle/>
          <a:p>
            <a:pPr>
              <a:spcBef>
                <a:spcPts val="600"/>
              </a:spcBef>
              <a:spcAft>
                <a:spcPts val="1200"/>
              </a:spcAft>
              <a:buNone/>
            </a:pPr>
            <a:r>
              <a:rPr lang="en-AU" sz="2200" b="1" dirty="0" smtClean="0">
                <a:latin typeface="Helvetica" pitchFamily="34" charset="0"/>
              </a:rPr>
              <a:t>Types of colleagues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Colleagues may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Full-time, part-time, casual or contract staff</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People with varying degrees of language and literacy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People from a range of cultural, social and ethnic backgrounds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People with a range of responsibilities                                   and job descriptions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64</a:t>
            </a:fld>
            <a:endParaRPr lang="en-US" dirty="0"/>
          </a:p>
        </p:txBody>
      </p:sp>
      <p:pic>
        <p:nvPicPr>
          <p:cNvPr id="6" name="Picture 5" descr="shutterstock_150075068.jpg"/>
          <p:cNvPicPr/>
          <p:nvPr/>
        </p:nvPicPr>
        <p:blipFill>
          <a:blip r:embed="rId3" cstate="print"/>
          <a:stretch>
            <a:fillRect/>
          </a:stretch>
        </p:blipFill>
        <p:spPr>
          <a:xfrm>
            <a:off x="6660232" y="4725144"/>
            <a:ext cx="1733548" cy="1128711"/>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Autofit/>
          </a:bodyPr>
          <a:lstStyle/>
          <a:p>
            <a:r>
              <a:rPr lang="en-US" sz="3400" b="1" dirty="0" smtClean="0">
                <a:solidFill>
                  <a:srgbClr val="FF6600"/>
                </a:solidFill>
                <a:latin typeface="Helvetica" pitchFamily="34" charset="0"/>
              </a:rPr>
              <a:t>Key stakeholders and colleagues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600"/>
              </a:spcAft>
              <a:buNone/>
            </a:pPr>
            <a:r>
              <a:rPr lang="en-AU" sz="2100" b="1" dirty="0" smtClean="0">
                <a:latin typeface="Helvetica" pitchFamily="34" charset="0"/>
              </a:rPr>
              <a:t>Importance of involving stakeholders and colleagues</a:t>
            </a:r>
            <a:endParaRPr lang="en-AU" sz="2100" dirty="0" smtClean="0">
              <a:latin typeface="Helvetica" pitchFamily="34" charset="0"/>
            </a:endParaRPr>
          </a:p>
          <a:p>
            <a:pPr marL="0">
              <a:spcBef>
                <a:spcPts val="600"/>
              </a:spcBef>
              <a:spcAft>
                <a:spcPts val="600"/>
              </a:spcAft>
              <a:buNone/>
            </a:pPr>
            <a:r>
              <a:rPr lang="en-AU" sz="2100" dirty="0" smtClean="0">
                <a:latin typeface="Helvetica" pitchFamily="34" charset="0"/>
              </a:rPr>
              <a:t>Communication throughout the planning, preparation and delivery of marketing and sales plan is vital to ensure that all stakeholders and colleagues:</a:t>
            </a:r>
          </a:p>
          <a:p>
            <a:pPr lvl="0">
              <a:spcBef>
                <a:spcPts val="600"/>
              </a:spcBef>
              <a:spcAft>
                <a:spcPts val="600"/>
              </a:spcAft>
            </a:pPr>
            <a:r>
              <a:rPr lang="en-AU" sz="2100" dirty="0" smtClean="0">
                <a:latin typeface="Helvetica" pitchFamily="34" charset="0"/>
              </a:rPr>
              <a:t>Are involved</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Had the chance to contribute </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Provide feedback on initial strategies and approaches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Understand how marketing and sales plan plans and strategies will affect them</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How the marketing and sales plan will                            interrelate or impacts other stakeholders</a:t>
            </a:r>
            <a:endParaRPr lang="en-US" sz="2100" dirty="0" smtClean="0">
              <a:latin typeface="Helvetica" pitchFamily="34" charset="0"/>
            </a:endParaRPr>
          </a:p>
          <a:p>
            <a:pPr>
              <a:buNone/>
            </a:pPr>
            <a:endParaRPr lang="en-AU" sz="2100" dirty="0" smtClean="0"/>
          </a:p>
          <a:p>
            <a:pPr>
              <a:spcBef>
                <a:spcPts val="600"/>
              </a:spcBef>
              <a:spcAft>
                <a:spcPts val="1200"/>
              </a:spcAft>
              <a:buNone/>
            </a:pPr>
            <a:endParaRPr lang="en-AU" sz="2100" dirty="0" smtClean="0"/>
          </a:p>
          <a:p>
            <a:pPr>
              <a:spcBef>
                <a:spcPts val="600"/>
              </a:spcBef>
              <a:spcAft>
                <a:spcPts val="1200"/>
              </a:spcAft>
              <a:buNone/>
            </a:pPr>
            <a:endParaRPr lang="en-AU" sz="2100" b="1" dirty="0" smtClean="0"/>
          </a:p>
          <a:p>
            <a:pPr>
              <a:spcBef>
                <a:spcPts val="600"/>
              </a:spcBef>
              <a:spcAft>
                <a:spcPts val="1200"/>
              </a:spcAft>
              <a:buNone/>
            </a:pPr>
            <a:endParaRPr lang="en-AU" sz="2100" dirty="0" smtClean="0"/>
          </a:p>
          <a:p>
            <a:pPr>
              <a:spcBef>
                <a:spcPts val="600"/>
              </a:spcBef>
              <a:spcAft>
                <a:spcPts val="1200"/>
              </a:spcAft>
              <a:buNone/>
            </a:pPr>
            <a:endParaRPr lang="en-AU" sz="2100" dirty="0" smtClean="0"/>
          </a:p>
          <a:p>
            <a:pPr>
              <a:spcBef>
                <a:spcPts val="600"/>
              </a:spcBef>
              <a:spcAft>
                <a:spcPts val="1200"/>
              </a:spcAft>
              <a:buNone/>
            </a:pPr>
            <a:endParaRPr lang="en-AU" sz="2100" dirty="0" smtClean="0"/>
          </a:p>
          <a:p>
            <a:pPr>
              <a:spcBef>
                <a:spcPts val="600"/>
              </a:spcBef>
              <a:spcAft>
                <a:spcPts val="1200"/>
              </a:spcAft>
            </a:pP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65</a:t>
            </a:fld>
            <a:endParaRPr lang="en-US" dirty="0"/>
          </a:p>
        </p:txBody>
      </p:sp>
      <p:pic>
        <p:nvPicPr>
          <p:cNvPr id="6" name="Picture 5" descr="W616_shutterstock_74684551.jpg"/>
          <p:cNvPicPr/>
          <p:nvPr/>
        </p:nvPicPr>
        <p:blipFill>
          <a:blip r:embed="rId3" cstate="print"/>
          <a:stretch>
            <a:fillRect/>
          </a:stretch>
        </p:blipFill>
        <p:spPr>
          <a:xfrm>
            <a:off x="6588224" y="5085184"/>
            <a:ext cx="1923892" cy="1283441"/>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Seeking advise from experts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marL="0">
              <a:spcBef>
                <a:spcPts val="600"/>
              </a:spcBef>
              <a:spcAft>
                <a:spcPts val="1200"/>
              </a:spcAft>
              <a:buNone/>
            </a:pPr>
            <a:r>
              <a:rPr lang="en-US" sz="2200" dirty="0" smtClean="0">
                <a:latin typeface="Helvetica" pitchFamily="34" charset="0"/>
              </a:rPr>
              <a:t>Before you start your business it is advisable to consult as many organisations and persons that you believe can inform and assist you in your planning.</a:t>
            </a:r>
          </a:p>
          <a:p>
            <a:pPr lvl="0">
              <a:spcBef>
                <a:spcPts val="600"/>
              </a:spcBef>
              <a:spcAft>
                <a:spcPts val="1200"/>
              </a:spcAft>
            </a:pPr>
            <a:r>
              <a:rPr lang="en-AU" sz="2200" dirty="0" smtClean="0">
                <a:latin typeface="Helvetica" pitchFamily="34" charset="0"/>
              </a:rPr>
              <a:t>Why is this important?</a:t>
            </a:r>
          </a:p>
          <a:p>
            <a:pPr lvl="0">
              <a:spcBef>
                <a:spcPts val="600"/>
              </a:spcBef>
              <a:spcAft>
                <a:spcPts val="1200"/>
              </a:spcAft>
            </a:pPr>
            <a:r>
              <a:rPr lang="en-AU" sz="2200" dirty="0" smtClean="0">
                <a:latin typeface="Helvetica" pitchFamily="34" charset="0"/>
              </a:rPr>
              <a:t>What types of assistance and advice can be sought?</a:t>
            </a:r>
          </a:p>
          <a:p>
            <a:pPr lvl="0">
              <a:spcBef>
                <a:spcPts val="600"/>
              </a:spcBef>
              <a:spcAft>
                <a:spcPts val="1200"/>
              </a:spcAft>
            </a:pPr>
            <a:r>
              <a:rPr lang="en-AU" sz="2200" dirty="0" smtClean="0">
                <a:latin typeface="Helvetica" pitchFamily="34" charset="0"/>
              </a:rPr>
              <a:t>What are sources of assistance and advice?</a:t>
            </a:r>
          </a:p>
          <a:p>
            <a:pPr>
              <a:spcBef>
                <a:spcPts val="600"/>
              </a:spcBef>
              <a:spcAft>
                <a:spcPts val="1200"/>
              </a:spcAft>
              <a:buNone/>
            </a:pPr>
            <a:endParaRPr lang="en-AU" sz="2200" dirty="0" smtClean="0">
              <a:solidFill>
                <a:srgbClr val="FF6600"/>
              </a:solidFill>
              <a:latin typeface="Helvetica" pitchFamily="34" charset="0"/>
            </a:endParaRPr>
          </a:p>
          <a:p>
            <a:pPr>
              <a:spcBef>
                <a:spcPts val="600"/>
              </a:spcBef>
              <a:spcAft>
                <a:spcPts val="1200"/>
              </a:spcAft>
              <a:buNone/>
            </a:pPr>
            <a:r>
              <a:rPr lang="en-AU" sz="2200" dirty="0" smtClean="0">
                <a:solidFill>
                  <a:srgbClr val="FF6600"/>
                </a:solidFill>
                <a:latin typeface="Helvetica" pitchFamily="34" charset="0"/>
              </a:rPr>
              <a:t>COMPLETE ACTIVITY 14</a:t>
            </a:r>
          </a:p>
          <a:p>
            <a:pPr lvl="0">
              <a:spcBef>
                <a:spcPts val="600"/>
              </a:spcBef>
              <a:spcAft>
                <a:spcPts val="1200"/>
              </a:spcAft>
            </a:pPr>
            <a:endParaRPr lang="en-AU" sz="2200" dirty="0" smtClean="0">
              <a:latin typeface="Helvetica" pitchFamily="34" charset="0"/>
            </a:endParaRPr>
          </a:p>
          <a:p>
            <a:pPr lv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66</a:t>
            </a:fld>
            <a:endParaRPr lang="en-US" dirty="0"/>
          </a:p>
        </p:txBody>
      </p:sp>
      <p:pic>
        <p:nvPicPr>
          <p:cNvPr id="5" name="Picture 4" descr="shutterstock_190662956.jpg"/>
          <p:cNvPicPr/>
          <p:nvPr/>
        </p:nvPicPr>
        <p:blipFill>
          <a:blip r:embed="rId3" cstate="print"/>
          <a:stretch>
            <a:fillRect/>
          </a:stretch>
        </p:blipFill>
        <p:spPr>
          <a:xfrm>
            <a:off x="6500826" y="4857760"/>
            <a:ext cx="2043122" cy="1385894"/>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Marketing Plan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marL="0">
              <a:spcBef>
                <a:spcPts val="600"/>
              </a:spcBef>
              <a:spcAft>
                <a:spcPts val="1200"/>
              </a:spcAft>
              <a:buNone/>
            </a:pPr>
            <a:r>
              <a:rPr lang="en-AU" sz="2200" dirty="0" smtClean="0">
                <a:latin typeface="Helvetica" pitchFamily="34" charset="0"/>
              </a:rPr>
              <a:t>The marketing plan of your business or organisation is a flow-on from the strategic marketing plan or business plan. </a:t>
            </a:r>
          </a:p>
          <a:p>
            <a:pPr>
              <a:spcBef>
                <a:spcPts val="600"/>
              </a:spcBef>
              <a:spcAft>
                <a:spcPts val="1200"/>
              </a:spcAft>
            </a:pPr>
            <a:r>
              <a:rPr lang="en-US" sz="2200" dirty="0" smtClean="0">
                <a:latin typeface="Helvetica" pitchFamily="34" charset="0"/>
              </a:rPr>
              <a:t>What information is included in a Marketing Plan?</a:t>
            </a:r>
          </a:p>
          <a:p>
            <a:pPr>
              <a:spcBef>
                <a:spcPts val="600"/>
              </a:spcBef>
              <a:spcAft>
                <a:spcPts val="1200"/>
              </a:spcAft>
            </a:pPr>
            <a:r>
              <a:rPr lang="en-US" sz="2200" dirty="0" smtClean="0">
                <a:latin typeface="Helvetica" pitchFamily="34" charset="0"/>
              </a:rPr>
              <a:t>Who prepares a Marketing Plan?</a:t>
            </a:r>
          </a:p>
          <a:p>
            <a:pPr>
              <a:spcBef>
                <a:spcPts val="600"/>
              </a:spcBef>
              <a:spcAft>
                <a:spcPts val="1200"/>
              </a:spcAft>
            </a:pPr>
            <a:r>
              <a:rPr lang="en-US" sz="2200" dirty="0" smtClean="0">
                <a:latin typeface="Helvetica" pitchFamily="34" charset="0"/>
              </a:rPr>
              <a:t>Who is it prepared for?</a:t>
            </a:r>
          </a:p>
          <a:p>
            <a:pPr>
              <a:spcBef>
                <a:spcPts val="600"/>
              </a:spcBef>
              <a:spcAft>
                <a:spcPts val="1200"/>
              </a:spcAft>
              <a:buNone/>
            </a:pPr>
            <a:endParaRPr lang="en-AU" sz="2200" dirty="0" smtClean="0">
              <a:solidFill>
                <a:srgbClr val="FF6600"/>
              </a:solidFill>
              <a:latin typeface="Helvetica" pitchFamily="34" charset="0"/>
            </a:endParaRPr>
          </a:p>
          <a:p>
            <a:pPr lvl="0">
              <a:spcBef>
                <a:spcPts val="600"/>
              </a:spcBef>
              <a:spcAft>
                <a:spcPts val="1200"/>
              </a:spcAft>
            </a:pPr>
            <a:endParaRPr lang="en-AU" sz="2200" dirty="0" smtClean="0">
              <a:latin typeface="Helvetica" pitchFamily="34" charset="0"/>
            </a:endParaRPr>
          </a:p>
          <a:p>
            <a:pPr lv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67</a:t>
            </a:fld>
            <a:endParaRPr lang="en-US" dirty="0"/>
          </a:p>
        </p:txBody>
      </p:sp>
      <p:pic>
        <p:nvPicPr>
          <p:cNvPr id="6" name="Picture 5" descr="shutterstock_129508757.jpg"/>
          <p:cNvPicPr/>
          <p:nvPr/>
        </p:nvPicPr>
        <p:blipFill>
          <a:blip r:embed="rId3" cstate="print"/>
          <a:stretch>
            <a:fillRect/>
          </a:stretch>
        </p:blipFill>
        <p:spPr>
          <a:xfrm>
            <a:off x="6084168" y="3645024"/>
            <a:ext cx="1962793" cy="1447806"/>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of the Marketing Plan </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a:spcBef>
                <a:spcPts val="600"/>
              </a:spcBef>
              <a:spcAft>
                <a:spcPts val="1200"/>
              </a:spcAft>
              <a:buNone/>
            </a:pPr>
            <a:r>
              <a:rPr lang="en-AU" sz="2200" b="1" dirty="0" smtClean="0">
                <a:latin typeface="Helvetica" pitchFamily="34" charset="0"/>
              </a:rPr>
              <a:t>Preliminaries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Title page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Table of contents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Executive summary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Mission statement</a:t>
            </a:r>
            <a:endParaRPr lang="en-US" sz="2200" dirty="0" smtClean="0">
              <a:latin typeface="Helvetica" pitchFamily="34" charset="0"/>
            </a:endParaRPr>
          </a:p>
          <a:p>
            <a:pPr>
              <a:spcBef>
                <a:spcPts val="600"/>
              </a:spcBef>
              <a:spcAft>
                <a:spcPts val="1200"/>
              </a:spcAft>
              <a:buNone/>
            </a:pPr>
            <a:endParaRPr lang="en-AU" sz="2200" dirty="0" smtClean="0">
              <a:solidFill>
                <a:srgbClr val="FF6600"/>
              </a:solidFill>
              <a:latin typeface="Helvetica" pitchFamily="34" charset="0"/>
            </a:endParaRPr>
          </a:p>
          <a:p>
            <a:pPr lvl="0">
              <a:spcBef>
                <a:spcPts val="600"/>
              </a:spcBef>
              <a:spcAft>
                <a:spcPts val="1200"/>
              </a:spcAft>
            </a:pPr>
            <a:endParaRPr lang="en-AU" sz="2200" dirty="0" smtClean="0">
              <a:latin typeface="Helvetica" pitchFamily="34" charset="0"/>
            </a:endParaRPr>
          </a:p>
          <a:p>
            <a:pPr lv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68</a:t>
            </a:fld>
            <a:endParaRPr lang="en-US" dirty="0"/>
          </a:p>
        </p:txBody>
      </p:sp>
      <p:pic>
        <p:nvPicPr>
          <p:cNvPr id="7" name="Picture 6" descr="W112_business_documents_shutterstock_156031889.jpg"/>
          <p:cNvPicPr/>
          <p:nvPr/>
        </p:nvPicPr>
        <p:blipFill>
          <a:blip r:embed="rId3" cstate="print"/>
          <a:stretch>
            <a:fillRect/>
          </a:stretch>
        </p:blipFill>
        <p:spPr>
          <a:xfrm>
            <a:off x="5796136" y="2708920"/>
            <a:ext cx="2073912" cy="1404939"/>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of the Marketing Plan </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a:spcBef>
                <a:spcPts val="600"/>
              </a:spcBef>
              <a:spcAft>
                <a:spcPts val="1200"/>
              </a:spcAft>
              <a:buNone/>
            </a:pPr>
            <a:r>
              <a:rPr lang="en-AU" sz="2200" b="1" dirty="0" smtClean="0">
                <a:latin typeface="Helvetica" pitchFamily="34" charset="0"/>
              </a:rPr>
              <a:t>Current Situation Analysis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Background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Current objectives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Current target markets</a:t>
            </a:r>
            <a:r>
              <a:rPr lang="en-US" sz="2200" dirty="0" smtClean="0">
                <a:latin typeface="Helvetica" pitchFamily="34" charset="0"/>
              </a:rPr>
              <a:t> and </a:t>
            </a:r>
            <a:r>
              <a:rPr lang="en-AU" sz="2200" dirty="0" smtClean="0">
                <a:latin typeface="Helvetica" pitchFamily="34" charset="0"/>
              </a:rPr>
              <a:t>segmentation</a:t>
            </a:r>
            <a:endParaRPr lang="en-US" sz="2200" dirty="0" smtClean="0">
              <a:latin typeface="Helvetica" pitchFamily="34" charset="0"/>
            </a:endParaRPr>
          </a:p>
          <a:p>
            <a:pPr>
              <a:spcBef>
                <a:spcPts val="600"/>
              </a:spcBef>
              <a:spcAft>
                <a:spcPts val="1200"/>
              </a:spcAft>
              <a:buNone/>
            </a:pPr>
            <a:endParaRPr lang="en-AU" sz="2200" dirty="0" smtClean="0">
              <a:solidFill>
                <a:srgbClr val="FF6600"/>
              </a:solidFill>
              <a:latin typeface="Helvetica" pitchFamily="34" charset="0"/>
            </a:endParaRPr>
          </a:p>
          <a:p>
            <a:pPr lvl="0">
              <a:spcBef>
                <a:spcPts val="600"/>
              </a:spcBef>
              <a:spcAft>
                <a:spcPts val="1200"/>
              </a:spcAft>
            </a:pPr>
            <a:endParaRPr lang="en-AU" sz="2200" dirty="0" smtClean="0">
              <a:latin typeface="Helvetica" pitchFamily="34" charset="0"/>
            </a:endParaRPr>
          </a:p>
          <a:p>
            <a:pPr lv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69</a:t>
            </a:fld>
            <a:endParaRPr lang="en-US" dirty="0"/>
          </a:p>
        </p:txBody>
      </p:sp>
      <p:pic>
        <p:nvPicPr>
          <p:cNvPr id="6" name="Picture 5" descr="W608_shutterstock_99673604.jpg"/>
          <p:cNvPicPr/>
          <p:nvPr/>
        </p:nvPicPr>
        <p:blipFill>
          <a:blip r:embed="rId3" cstate="print"/>
          <a:stretch>
            <a:fillRect/>
          </a:stretch>
        </p:blipFill>
        <p:spPr>
          <a:xfrm>
            <a:off x="3419872" y="4365104"/>
            <a:ext cx="2053592" cy="1443039"/>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of the Marketing Plan </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a:spcBef>
                <a:spcPts val="600"/>
              </a:spcBef>
              <a:spcAft>
                <a:spcPts val="1200"/>
              </a:spcAft>
              <a:buNone/>
            </a:pPr>
            <a:r>
              <a:rPr lang="en-AU" sz="2200" b="1" dirty="0" smtClean="0">
                <a:latin typeface="Helvetica" pitchFamily="34" charset="0"/>
              </a:rPr>
              <a:t>Current strategies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External environmental analysis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Internal environmental analysis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t>
            </a:r>
            <a:r>
              <a:rPr lang="en-US" sz="2200" dirty="0" smtClean="0">
                <a:latin typeface="Helvetica" pitchFamily="34" charset="0"/>
              </a:rPr>
              <a:t>WOT</a:t>
            </a:r>
            <a:r>
              <a:rPr lang="en-AU" sz="2200" dirty="0" smtClean="0">
                <a:latin typeface="Helvetica" pitchFamily="34" charset="0"/>
              </a:rPr>
              <a:t> including opportunity and issue analysis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Customer analysis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Marketing information requirements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Forecasting profit and loss statement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Controls</a:t>
            </a:r>
            <a:endParaRPr lang="en-US" sz="2200" dirty="0" smtClean="0">
              <a:latin typeface="Helvetica" pitchFamily="34" charset="0"/>
            </a:endParaRPr>
          </a:p>
          <a:p>
            <a:pPr>
              <a:spcBef>
                <a:spcPts val="600"/>
              </a:spcBef>
              <a:spcAft>
                <a:spcPts val="1200"/>
              </a:spcAft>
              <a:buNone/>
            </a:pPr>
            <a:endParaRPr lang="en-AU" sz="2200" dirty="0" smtClean="0">
              <a:solidFill>
                <a:srgbClr val="FF6600"/>
              </a:solidFill>
              <a:latin typeface="Helvetica" pitchFamily="34" charset="0"/>
            </a:endParaRPr>
          </a:p>
          <a:p>
            <a:pPr lvl="0">
              <a:spcBef>
                <a:spcPts val="600"/>
              </a:spcBef>
              <a:spcAft>
                <a:spcPts val="1200"/>
              </a:spcAft>
            </a:pPr>
            <a:endParaRPr lang="en-AU" sz="2200" dirty="0" smtClean="0">
              <a:latin typeface="Helvetica" pitchFamily="34" charset="0"/>
            </a:endParaRPr>
          </a:p>
          <a:p>
            <a:pPr lv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70</a:t>
            </a:fld>
            <a:endParaRPr lang="en-US" dirty="0"/>
          </a:p>
        </p:txBody>
      </p:sp>
      <p:pic>
        <p:nvPicPr>
          <p:cNvPr id="7" name="Picture 6" descr="shutterstock_140073586.jpg"/>
          <p:cNvPicPr>
            <a:picLocks noChangeAspect="1"/>
          </p:cNvPicPr>
          <p:nvPr/>
        </p:nvPicPr>
        <p:blipFill>
          <a:blip r:embed="rId3" cstate="print"/>
          <a:stretch>
            <a:fillRect/>
          </a:stretch>
        </p:blipFill>
        <p:spPr>
          <a:xfrm>
            <a:off x="6300192" y="3861048"/>
            <a:ext cx="1952413" cy="1302260"/>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of the Marketing Plan </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a:spcBef>
                <a:spcPts val="600"/>
              </a:spcBef>
              <a:spcAft>
                <a:spcPts val="1200"/>
              </a:spcAft>
              <a:buNone/>
            </a:pPr>
            <a:r>
              <a:rPr lang="en-AU" sz="2200" b="1" dirty="0" smtClean="0">
                <a:latin typeface="Helvetica" pitchFamily="34" charset="0"/>
              </a:rPr>
              <a:t>Objectives</a:t>
            </a:r>
            <a:r>
              <a:rPr lang="en-US" sz="2200" b="1" dirty="0" smtClean="0">
                <a:latin typeface="Helvetica" pitchFamily="34" charset="0"/>
              </a:rPr>
              <a:t>, </a:t>
            </a:r>
            <a:r>
              <a:rPr lang="en-AU" sz="2200" b="1" dirty="0" smtClean="0">
                <a:latin typeface="Helvetica" pitchFamily="34" charset="0"/>
              </a:rPr>
              <a:t>Strategies</a:t>
            </a:r>
            <a:r>
              <a:rPr lang="en-US" sz="2200" b="1" dirty="0" smtClean="0">
                <a:latin typeface="Helvetica" pitchFamily="34" charset="0"/>
              </a:rPr>
              <a:t> and </a:t>
            </a:r>
            <a:r>
              <a:rPr lang="en-AU" sz="2200" b="1" dirty="0" smtClean="0">
                <a:latin typeface="Helvetica" pitchFamily="34" charset="0"/>
              </a:rPr>
              <a:t>Tactics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Product</a:t>
            </a:r>
            <a:r>
              <a:rPr lang="en-US" sz="2200" dirty="0" smtClean="0">
                <a:latin typeface="Helvetica" pitchFamily="34" charset="0"/>
              </a:rPr>
              <a:t>, </a:t>
            </a:r>
            <a:r>
              <a:rPr lang="en-AU" sz="2200" dirty="0" smtClean="0">
                <a:latin typeface="Helvetica" pitchFamily="34" charset="0"/>
              </a:rPr>
              <a:t>service</a:t>
            </a:r>
            <a:r>
              <a:rPr lang="en-US" sz="2200" dirty="0" smtClean="0">
                <a:latin typeface="Helvetica" pitchFamily="34" charset="0"/>
              </a:rPr>
              <a:t> and </a:t>
            </a:r>
            <a:r>
              <a:rPr lang="en-AU" sz="2200" dirty="0" smtClean="0">
                <a:latin typeface="Helvetica" pitchFamily="34" charset="0"/>
              </a:rPr>
              <a:t>brand strategies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New products</a:t>
            </a:r>
            <a:r>
              <a:rPr lang="en-US" sz="2200" dirty="0" smtClean="0">
                <a:latin typeface="Helvetica" pitchFamily="34" charset="0"/>
              </a:rPr>
              <a:t> and </a:t>
            </a:r>
            <a:r>
              <a:rPr lang="en-AU" sz="2200" dirty="0" smtClean="0">
                <a:latin typeface="Helvetica" pitchFamily="34" charset="0"/>
              </a:rPr>
              <a:t>services strategy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Pricing strategies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Placement, logistics and distribution of services strategies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Promotional strategies</a:t>
            </a:r>
            <a:endParaRPr lang="en-US" sz="2200" dirty="0" smtClean="0">
              <a:latin typeface="Helvetica" pitchFamily="34" charset="0"/>
            </a:endParaRPr>
          </a:p>
          <a:p>
            <a:pPr>
              <a:spcBef>
                <a:spcPts val="600"/>
              </a:spcBef>
              <a:spcAft>
                <a:spcPts val="1200"/>
              </a:spcAft>
              <a:buNone/>
            </a:pPr>
            <a:endParaRPr lang="en-AU" sz="2200" dirty="0" smtClean="0">
              <a:solidFill>
                <a:srgbClr val="FF6600"/>
              </a:solidFill>
              <a:latin typeface="Helvetica" pitchFamily="34" charset="0"/>
            </a:endParaRPr>
          </a:p>
          <a:p>
            <a:pPr lvl="0">
              <a:spcBef>
                <a:spcPts val="600"/>
              </a:spcBef>
              <a:spcAft>
                <a:spcPts val="1200"/>
              </a:spcAft>
            </a:pPr>
            <a:endParaRPr lang="en-AU" sz="2200" dirty="0" smtClean="0">
              <a:latin typeface="Helvetica" pitchFamily="34" charset="0"/>
            </a:endParaRPr>
          </a:p>
          <a:p>
            <a:pPr lv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71</a:t>
            </a:fld>
            <a:endParaRPr lang="en-US" dirty="0"/>
          </a:p>
        </p:txBody>
      </p:sp>
      <p:pic>
        <p:nvPicPr>
          <p:cNvPr id="5" name="Picture 4" descr="shutterstock_93621265.jpg"/>
          <p:cNvPicPr/>
          <p:nvPr/>
        </p:nvPicPr>
        <p:blipFill>
          <a:blip r:embed="rId3" cstate="print"/>
          <a:stretch>
            <a:fillRect/>
          </a:stretch>
        </p:blipFill>
        <p:spPr>
          <a:xfrm>
            <a:off x="6444208" y="2132856"/>
            <a:ext cx="1790700" cy="1343025"/>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of the Marketing Plan </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a:spcBef>
                <a:spcPts val="600"/>
              </a:spcBef>
              <a:spcAft>
                <a:spcPts val="1200"/>
              </a:spcAft>
              <a:buNone/>
            </a:pPr>
            <a:r>
              <a:rPr lang="en-AU" sz="2200" b="1" dirty="0" smtClean="0">
                <a:latin typeface="Helvetica" pitchFamily="34" charset="0"/>
              </a:rPr>
              <a:t>Objectives</a:t>
            </a:r>
            <a:r>
              <a:rPr lang="en-US" sz="2200" b="1" dirty="0" smtClean="0">
                <a:latin typeface="Helvetica" pitchFamily="34" charset="0"/>
              </a:rPr>
              <a:t>, </a:t>
            </a:r>
            <a:r>
              <a:rPr lang="en-AU" sz="2200" b="1" dirty="0" smtClean="0">
                <a:latin typeface="Helvetica" pitchFamily="34" charset="0"/>
              </a:rPr>
              <a:t>Strategies</a:t>
            </a:r>
            <a:r>
              <a:rPr lang="en-US" sz="2200" b="1" dirty="0" smtClean="0">
                <a:latin typeface="Helvetica" pitchFamily="34" charset="0"/>
              </a:rPr>
              <a:t> and </a:t>
            </a:r>
            <a:r>
              <a:rPr lang="en-AU" sz="2200" b="1" dirty="0" smtClean="0">
                <a:latin typeface="Helvetica" pitchFamily="34" charset="0"/>
              </a:rPr>
              <a:t>Tactics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Media advertising and public relations strategy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Sales promotions strategy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Direct marketing tools and technology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Personal selling and sales management </a:t>
            </a:r>
            <a:br>
              <a:rPr lang="en-AU" sz="2200" dirty="0" smtClean="0">
                <a:latin typeface="Helvetica" pitchFamily="34" charset="0"/>
              </a:rPr>
            </a:br>
            <a:r>
              <a:rPr lang="en-AU" sz="2200" dirty="0" smtClean="0">
                <a:latin typeface="Helvetica" pitchFamily="34" charset="0"/>
              </a:rPr>
              <a:t>strategy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Positioning strategies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People and processes</a:t>
            </a:r>
            <a:endParaRPr lang="en-AU" sz="2200" dirty="0" smtClean="0">
              <a:solidFill>
                <a:srgbClr val="FF6600"/>
              </a:solidFill>
              <a:latin typeface="Helvetica" pitchFamily="34" charset="0"/>
            </a:endParaRPr>
          </a:p>
          <a:p>
            <a:pPr lvl="0">
              <a:spcBef>
                <a:spcPts val="600"/>
              </a:spcBef>
              <a:spcAft>
                <a:spcPts val="1200"/>
              </a:spcAft>
            </a:pPr>
            <a:endParaRPr lang="en-AU" sz="2200" dirty="0" smtClean="0">
              <a:latin typeface="Helvetica" pitchFamily="34" charset="0"/>
            </a:endParaRPr>
          </a:p>
          <a:p>
            <a:pPr lv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72</a:t>
            </a:fld>
            <a:endParaRPr lang="en-US" dirty="0"/>
          </a:p>
        </p:txBody>
      </p:sp>
      <p:pic>
        <p:nvPicPr>
          <p:cNvPr id="6" name="Picture 5" descr="shutterstock_65928016.jpg"/>
          <p:cNvPicPr/>
          <p:nvPr/>
        </p:nvPicPr>
        <p:blipFill>
          <a:blip r:embed="rId3" cstate="print"/>
          <a:stretch>
            <a:fillRect/>
          </a:stretch>
        </p:blipFill>
        <p:spPr>
          <a:xfrm>
            <a:off x="6516216" y="2780928"/>
            <a:ext cx="1847850" cy="1847850"/>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of the Marketing Plan </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a:spcBef>
                <a:spcPts val="600"/>
              </a:spcBef>
              <a:spcAft>
                <a:spcPts val="1200"/>
              </a:spcAft>
              <a:buNone/>
            </a:pPr>
            <a:r>
              <a:rPr lang="en-AU" sz="2200" b="1" dirty="0" smtClean="0">
                <a:latin typeface="Helvetica" pitchFamily="34" charset="0"/>
              </a:rPr>
              <a:t>Action and control plans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Action plan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Budgeting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Control and evaluation </a:t>
            </a:r>
            <a:endParaRPr lang="en-US"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lv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73</a:t>
            </a:fld>
            <a:endParaRPr lang="en-US" dirty="0"/>
          </a:p>
        </p:txBody>
      </p:sp>
      <p:pic>
        <p:nvPicPr>
          <p:cNvPr id="7" name="Picture 6" descr="shutterstock_127213061.jpg"/>
          <p:cNvPicPr>
            <a:picLocks noChangeAspect="1"/>
          </p:cNvPicPr>
          <p:nvPr/>
        </p:nvPicPr>
        <p:blipFill>
          <a:blip r:embed="rId3" cstate="print"/>
          <a:stretch>
            <a:fillRect/>
          </a:stretch>
        </p:blipFill>
        <p:spPr>
          <a:xfrm>
            <a:off x="5724128" y="2204864"/>
            <a:ext cx="2342774" cy="1635256"/>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of the Marketing Plan </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a:spcBef>
                <a:spcPts val="600"/>
              </a:spcBef>
              <a:spcAft>
                <a:spcPts val="1200"/>
              </a:spcAft>
              <a:buNone/>
            </a:pPr>
            <a:r>
              <a:rPr lang="en-AU" sz="2200" b="1" dirty="0" smtClean="0">
                <a:latin typeface="Helvetica" pitchFamily="34" charset="0"/>
              </a:rPr>
              <a:t>Attachments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Bibliography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Reference lists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Appendices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Tables, Graphs and Figures</a:t>
            </a:r>
            <a:endParaRPr lang="en-US" sz="2200" dirty="0" smtClean="0">
              <a:latin typeface="Helvetica" pitchFamily="34" charset="0"/>
            </a:endParaRPr>
          </a:p>
          <a:p>
            <a:pPr lvl="0">
              <a:spcBef>
                <a:spcPts val="600"/>
              </a:spcBef>
              <a:spcAft>
                <a:spcPts val="1200"/>
              </a:spcAft>
            </a:pPr>
            <a:endParaRPr lang="en-AU" sz="2200" dirty="0" smtClean="0">
              <a:latin typeface="Helvetica" pitchFamily="34" charset="0"/>
            </a:endParaRPr>
          </a:p>
          <a:p>
            <a:pPr lv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74</a:t>
            </a:fld>
            <a:endParaRPr lang="en-US" dirty="0"/>
          </a:p>
        </p:txBody>
      </p:sp>
      <p:pic>
        <p:nvPicPr>
          <p:cNvPr id="6" name="Picture 5" descr="shutterstock_174863018.jpg"/>
          <p:cNvPicPr>
            <a:picLocks noChangeAspect="1"/>
          </p:cNvPicPr>
          <p:nvPr/>
        </p:nvPicPr>
        <p:blipFill>
          <a:blip r:embed="rId3" cstate="print"/>
          <a:stretch>
            <a:fillRect/>
          </a:stretch>
        </p:blipFill>
        <p:spPr>
          <a:xfrm>
            <a:off x="5364088" y="2420888"/>
            <a:ext cx="2380828" cy="1588012"/>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Prepare a Marketing Plan </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920880" cy="4896544"/>
          </a:xfrm>
        </p:spPr>
        <p:txBody>
          <a:bodyPr>
            <a:normAutofit/>
          </a:bodyPr>
          <a:lstStyle/>
          <a:p>
            <a:pPr>
              <a:spcBef>
                <a:spcPts val="600"/>
              </a:spcBef>
              <a:spcAft>
                <a:spcPts val="1200"/>
              </a:spcAft>
              <a:buNone/>
            </a:pPr>
            <a:r>
              <a:rPr lang="en-US" sz="2200" b="1" dirty="0" smtClean="0">
                <a:latin typeface="Helvetica" pitchFamily="34" charset="0"/>
              </a:rPr>
              <a:t>Prepare a Marketing Plan</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Review Pages 74-88 of TM</a:t>
            </a:r>
          </a:p>
          <a:p>
            <a:pPr>
              <a:spcBef>
                <a:spcPts val="600"/>
              </a:spcBef>
              <a:spcAft>
                <a:spcPts val="1200"/>
              </a:spcAft>
              <a:buNone/>
            </a:pPr>
            <a:endParaRPr lang="en-AU" sz="2200" dirty="0" smtClean="0">
              <a:solidFill>
                <a:srgbClr val="FF6600"/>
              </a:solidFill>
              <a:latin typeface="Helvetica" pitchFamily="34" charset="0"/>
            </a:endParaRPr>
          </a:p>
          <a:p>
            <a:pPr>
              <a:spcBef>
                <a:spcPts val="600"/>
              </a:spcBef>
              <a:spcAft>
                <a:spcPts val="1200"/>
              </a:spcAft>
              <a:buNone/>
            </a:pPr>
            <a:r>
              <a:rPr lang="en-AU" sz="2200" dirty="0" smtClean="0">
                <a:solidFill>
                  <a:srgbClr val="FF6600"/>
                </a:solidFill>
                <a:latin typeface="Helvetica" pitchFamily="34" charset="0"/>
              </a:rPr>
              <a:t>COMPLETE ACTIVITIES 15-19</a:t>
            </a:r>
          </a:p>
          <a:p>
            <a:pPr lvl="0">
              <a:spcBef>
                <a:spcPts val="600"/>
              </a:spcBef>
              <a:spcAft>
                <a:spcPts val="1200"/>
              </a:spcAft>
            </a:pPr>
            <a:endParaRPr lang="en-AU" sz="2200" dirty="0" smtClean="0">
              <a:latin typeface="Helvetica" pitchFamily="34" charset="0"/>
            </a:endParaRPr>
          </a:p>
          <a:p>
            <a:pPr lv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75</a:t>
            </a:fld>
            <a:endParaRPr lang="en-US" dirty="0"/>
          </a:p>
        </p:txBody>
      </p:sp>
      <p:pic>
        <p:nvPicPr>
          <p:cNvPr id="7" name="Picture 6" descr="shutterstock_57319615.jpg"/>
          <p:cNvPicPr/>
          <p:nvPr/>
        </p:nvPicPr>
        <p:blipFill>
          <a:blip r:embed="rId3" cstate="print"/>
          <a:stretch>
            <a:fillRect/>
          </a:stretch>
        </p:blipFill>
        <p:spPr>
          <a:xfrm>
            <a:off x="6084168" y="2564904"/>
            <a:ext cx="2123306" cy="1512168"/>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dirty="0" smtClean="0">
                <a:solidFill>
                  <a:srgbClr val="FF6600"/>
                </a:solidFill>
                <a:latin typeface="Helvetica" pitchFamily="34" charset="0"/>
              </a:rPr>
              <a:t>Element 3:</a:t>
            </a:r>
          </a:p>
          <a:p>
            <a:pPr marL="0" indent="0">
              <a:spcBef>
                <a:spcPts val="600"/>
              </a:spcBef>
              <a:spcAft>
                <a:spcPts val="1200"/>
              </a:spcAft>
              <a:buNone/>
            </a:pPr>
            <a:r>
              <a:rPr lang="en-AU" sz="4000" dirty="0" smtClean="0">
                <a:solidFill>
                  <a:srgbClr val="FF6600"/>
                </a:solidFill>
                <a:latin typeface="Helvetica" pitchFamily="34" charset="0"/>
              </a:rPr>
              <a:t>Implement and monitor marketing activities and sales strategies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5" name="Picture 4" descr="A2 shutterstock_99180761.jpg"/>
          <p:cNvPicPr>
            <a:picLocks noChangeAspect="1"/>
          </p:cNvPicPr>
          <p:nvPr/>
        </p:nvPicPr>
        <p:blipFill>
          <a:blip r:embed="rId3" cstate="print"/>
          <a:stretch>
            <a:fillRect/>
          </a:stretch>
        </p:blipFill>
        <p:spPr>
          <a:xfrm>
            <a:off x="6357950" y="4572008"/>
            <a:ext cx="2166621" cy="1445136"/>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indent="0">
              <a:spcBef>
                <a:spcPts val="600"/>
              </a:spcBef>
              <a:spcAft>
                <a:spcPts val="1200"/>
              </a:spcAft>
            </a:pPr>
            <a:r>
              <a:rPr lang="en-AU" sz="3400" b="1" dirty="0" smtClean="0">
                <a:solidFill>
                  <a:srgbClr val="FF6600"/>
                </a:solidFill>
                <a:latin typeface="Helvetica" pitchFamily="34" charset="0"/>
              </a:rPr>
              <a:t>Implement and monitor marketing activities and sales strategies</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Define and communicate clearly all priorities, responsibilities, timelines and budgets, involving all appropriate colleagues </a:t>
            </a:r>
          </a:p>
          <a:p>
            <a:pPr>
              <a:spcBef>
                <a:spcPts val="600"/>
              </a:spcBef>
              <a:spcAft>
                <a:spcPts val="1200"/>
              </a:spcAft>
            </a:pPr>
            <a:r>
              <a:rPr lang="en-AU" sz="2200" dirty="0" smtClean="0">
                <a:latin typeface="Helvetica" pitchFamily="34" charset="0"/>
              </a:rPr>
              <a:t>Implement and monitor actions detailed in the plan/s in a cost-efficient manner and according to schedule and contingencies </a:t>
            </a:r>
          </a:p>
          <a:p>
            <a:pPr>
              <a:spcBef>
                <a:spcPts val="600"/>
              </a:spcBef>
              <a:spcAft>
                <a:spcPts val="1200"/>
              </a:spcAft>
            </a:pPr>
            <a:r>
              <a:rPr lang="en-AU" sz="2200" dirty="0" smtClean="0">
                <a:latin typeface="Helvetica" pitchFamily="34" charset="0"/>
              </a:rPr>
              <a:t>Produce reports in accordance with enterprise policy</a:t>
            </a:r>
          </a:p>
          <a:p>
            <a:pPr>
              <a:spcBef>
                <a:spcPts val="600"/>
              </a:spcBef>
              <a:spcAft>
                <a:spcPts val="1200"/>
              </a:spcAft>
            </a:pPr>
            <a:r>
              <a:rPr lang="en-AU" sz="2200" dirty="0" smtClean="0">
                <a:latin typeface="Helvetica" pitchFamily="34" charset="0"/>
              </a:rPr>
              <a:t>Share information on marketing activities and sales strategies with staff to maintain awareness of current enterprise focus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Define and communicate expectations</a:t>
            </a:r>
          </a:p>
        </p:txBody>
      </p:sp>
      <p:sp>
        <p:nvSpPr>
          <p:cNvPr id="3" name="Content Placeholder 2"/>
          <p:cNvSpPr>
            <a:spLocks noGrp="1"/>
          </p:cNvSpPr>
          <p:nvPr>
            <p:ph idx="1"/>
          </p:nvPr>
        </p:nvSpPr>
        <p:spPr>
          <a:xfrm>
            <a:off x="539552" y="1484784"/>
            <a:ext cx="7467600" cy="4896544"/>
          </a:xfrm>
        </p:spPr>
        <p:txBody>
          <a:bodyPr>
            <a:normAutofit/>
          </a:bodyPr>
          <a:lstStyle/>
          <a:p>
            <a:pPr>
              <a:spcBef>
                <a:spcPts val="600"/>
              </a:spcBef>
              <a:spcAft>
                <a:spcPts val="1200"/>
              </a:spcAft>
              <a:buNone/>
            </a:pPr>
            <a:r>
              <a:rPr lang="en-US" sz="2200" b="1" dirty="0" smtClean="0">
                <a:latin typeface="Helvetica" pitchFamily="34" charset="0"/>
              </a:rPr>
              <a:t>Define and communicate expectations</a:t>
            </a:r>
          </a:p>
          <a:p>
            <a:pPr marL="0">
              <a:spcBef>
                <a:spcPts val="600"/>
              </a:spcBef>
              <a:spcAft>
                <a:spcPts val="1200"/>
              </a:spcAft>
              <a:buNone/>
            </a:pPr>
            <a:r>
              <a:rPr lang="en-AU" sz="2200" dirty="0" smtClean="0">
                <a:latin typeface="Helvetica" pitchFamily="34" charset="0"/>
              </a:rPr>
              <a:t>One of the key requirements for the successful implementation of any marketing and sales plan is to outline how the goals, objectives and strategies will be accomplished.</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This includes notifying stakeholders of:</a:t>
            </a:r>
          </a:p>
          <a:p>
            <a:pPr>
              <a:spcBef>
                <a:spcPts val="600"/>
              </a:spcBef>
              <a:spcAft>
                <a:spcPts val="1200"/>
              </a:spcAft>
            </a:pPr>
            <a:r>
              <a:rPr lang="en-AU" sz="2200" dirty="0" smtClean="0">
                <a:latin typeface="Helvetica" pitchFamily="34" charset="0"/>
              </a:rPr>
              <a:t>Priorities</a:t>
            </a:r>
          </a:p>
          <a:p>
            <a:pPr>
              <a:spcBef>
                <a:spcPts val="600"/>
              </a:spcBef>
              <a:spcAft>
                <a:spcPts val="1200"/>
              </a:spcAft>
            </a:pPr>
            <a:r>
              <a:rPr lang="en-AU" sz="2200" dirty="0" smtClean="0">
                <a:latin typeface="Helvetica" pitchFamily="34" charset="0"/>
              </a:rPr>
              <a:t>Responsibilities</a:t>
            </a:r>
          </a:p>
          <a:p>
            <a:pPr>
              <a:spcBef>
                <a:spcPts val="600"/>
              </a:spcBef>
              <a:spcAft>
                <a:spcPts val="1200"/>
              </a:spcAft>
            </a:pPr>
            <a:r>
              <a:rPr lang="en-AU" sz="2200" dirty="0" smtClean="0">
                <a:latin typeface="Helvetica" pitchFamily="34" charset="0"/>
              </a:rPr>
              <a:t>Timelines</a:t>
            </a:r>
          </a:p>
          <a:p>
            <a:pPr>
              <a:spcBef>
                <a:spcPts val="600"/>
              </a:spcBef>
              <a:spcAft>
                <a:spcPts val="1200"/>
              </a:spcAft>
            </a:pPr>
            <a:r>
              <a:rPr lang="en-AU" sz="2200" dirty="0" smtClean="0">
                <a:latin typeface="Helvetica" pitchFamily="34" charset="0"/>
              </a:rPr>
              <a:t>Budgets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78</a:t>
            </a:fld>
            <a:endParaRPr lang="en-US" dirty="0"/>
          </a:p>
        </p:txBody>
      </p:sp>
      <p:pic>
        <p:nvPicPr>
          <p:cNvPr id="6" name="Picture 5" descr="W510_man and lady_holding file_185092082.jpg"/>
          <p:cNvPicPr>
            <a:picLocks noChangeAspect="1"/>
          </p:cNvPicPr>
          <p:nvPr/>
        </p:nvPicPr>
        <p:blipFill>
          <a:blip r:embed="rId3" cstate="print"/>
          <a:stretch>
            <a:fillRect/>
          </a:stretch>
        </p:blipFill>
        <p:spPr>
          <a:xfrm>
            <a:off x="6286512" y="4286256"/>
            <a:ext cx="2231013" cy="1785926"/>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Define and communicate expectations</a:t>
            </a:r>
          </a:p>
        </p:txBody>
      </p:sp>
      <p:sp>
        <p:nvSpPr>
          <p:cNvPr id="3" name="Content Placeholder 2"/>
          <p:cNvSpPr>
            <a:spLocks noGrp="1"/>
          </p:cNvSpPr>
          <p:nvPr>
            <p:ph idx="1"/>
          </p:nvPr>
        </p:nvSpPr>
        <p:spPr>
          <a:xfrm>
            <a:off x="611560" y="1700808"/>
            <a:ext cx="7467600" cy="4896544"/>
          </a:xfrm>
        </p:spPr>
        <p:txBody>
          <a:bodyPr>
            <a:normAutofit/>
          </a:bodyPr>
          <a:lstStyle/>
          <a:p>
            <a:pPr>
              <a:spcBef>
                <a:spcPts val="600"/>
              </a:spcBef>
              <a:spcAft>
                <a:spcPts val="1200"/>
              </a:spcAft>
              <a:buNone/>
            </a:pPr>
            <a:r>
              <a:rPr lang="en-GB" sz="2200" b="1" dirty="0" smtClean="0">
                <a:latin typeface="Helvetica" pitchFamily="34" charset="0"/>
              </a:rPr>
              <a:t>Defining and assigning roles</a:t>
            </a:r>
            <a:endParaRPr lang="en-US" sz="2200" b="1" dirty="0" smtClean="0">
              <a:latin typeface="Helvetica" pitchFamily="34" charset="0"/>
            </a:endParaRPr>
          </a:p>
          <a:p>
            <a:pPr marL="0">
              <a:spcBef>
                <a:spcPts val="600"/>
              </a:spcBef>
              <a:spcAft>
                <a:spcPts val="1200"/>
              </a:spcAft>
              <a:buNone/>
            </a:pPr>
            <a:r>
              <a:rPr lang="en-GB" sz="2200" dirty="0" smtClean="0">
                <a:latin typeface="Helvetica" pitchFamily="34" charset="0"/>
              </a:rPr>
              <a:t>It is important that everyone knows what is expected of them. </a:t>
            </a:r>
          </a:p>
          <a:p>
            <a:pPr>
              <a:spcBef>
                <a:spcPts val="600"/>
              </a:spcBef>
              <a:spcAft>
                <a:spcPts val="1200"/>
              </a:spcAft>
            </a:pPr>
            <a:r>
              <a:rPr lang="en-US" sz="2200" dirty="0" smtClean="0">
                <a:latin typeface="Helvetica" pitchFamily="34" charset="0"/>
              </a:rPr>
              <a:t>What do staff need to know?</a:t>
            </a:r>
          </a:p>
          <a:p>
            <a:pPr>
              <a:spcBef>
                <a:spcPts val="600"/>
              </a:spcBef>
              <a:spcAft>
                <a:spcPts val="1200"/>
              </a:spcAft>
            </a:pPr>
            <a:r>
              <a:rPr lang="en-US" sz="2200" dirty="0" smtClean="0">
                <a:latin typeface="Helvetica" pitchFamily="34" charset="0"/>
              </a:rPr>
              <a:t>How can they understand their roles and responsibilities?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79</a:t>
            </a:fld>
            <a:endParaRPr lang="en-US" dirty="0"/>
          </a:p>
        </p:txBody>
      </p:sp>
      <p:pic>
        <p:nvPicPr>
          <p:cNvPr id="7" name="Picture 6" descr="shutterstock_95857066.jpg"/>
          <p:cNvPicPr/>
          <p:nvPr/>
        </p:nvPicPr>
        <p:blipFill>
          <a:blip r:embed="rId3" cstate="print"/>
          <a:stretch>
            <a:fillRect/>
          </a:stretch>
        </p:blipFill>
        <p:spPr>
          <a:xfrm>
            <a:off x="6588224" y="3212976"/>
            <a:ext cx="1668780" cy="1371600"/>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Define and communicate expectations</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US" sz="2200" b="1" dirty="0" smtClean="0">
                <a:latin typeface="Helvetica" pitchFamily="34" charset="0"/>
              </a:rPr>
              <a:t>Key Performance Indicators (KPI’s) </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Total number of calls made</a:t>
            </a:r>
          </a:p>
          <a:p>
            <a:pPr lvl="0">
              <a:spcBef>
                <a:spcPts val="600"/>
              </a:spcBef>
              <a:spcAft>
                <a:spcPts val="1200"/>
              </a:spcAft>
            </a:pPr>
            <a:r>
              <a:rPr lang="en-US" sz="2200" dirty="0" smtClean="0">
                <a:latin typeface="Helvetica" pitchFamily="34" charset="0"/>
              </a:rPr>
              <a:t>Total number of new customers </a:t>
            </a:r>
          </a:p>
          <a:p>
            <a:pPr lvl="0">
              <a:spcBef>
                <a:spcPts val="600"/>
              </a:spcBef>
              <a:spcAft>
                <a:spcPts val="1200"/>
              </a:spcAft>
            </a:pPr>
            <a:r>
              <a:rPr lang="en-US" sz="2200" dirty="0" smtClean="0">
                <a:latin typeface="Helvetica" pitchFamily="34" charset="0"/>
              </a:rPr>
              <a:t>Number of leads</a:t>
            </a:r>
          </a:p>
          <a:p>
            <a:pPr lvl="0">
              <a:spcBef>
                <a:spcPts val="600"/>
              </a:spcBef>
              <a:spcAft>
                <a:spcPts val="1200"/>
              </a:spcAft>
            </a:pPr>
            <a:r>
              <a:rPr lang="en-US" sz="2200" dirty="0" smtClean="0">
                <a:latin typeface="Helvetica" pitchFamily="34" charset="0"/>
              </a:rPr>
              <a:t>Increase in sales</a:t>
            </a:r>
          </a:p>
          <a:p>
            <a:pPr lvl="0">
              <a:spcBef>
                <a:spcPts val="600"/>
              </a:spcBef>
              <a:spcAft>
                <a:spcPts val="1200"/>
              </a:spcAft>
            </a:pPr>
            <a:r>
              <a:rPr lang="en-US" sz="2200" dirty="0" smtClean="0">
                <a:latin typeface="Helvetica" pitchFamily="34" charset="0"/>
              </a:rPr>
              <a:t>New sales per product group </a:t>
            </a:r>
          </a:p>
          <a:p>
            <a:pPr lvl="0">
              <a:spcBef>
                <a:spcPts val="600"/>
              </a:spcBef>
              <a:spcAft>
                <a:spcPts val="1200"/>
              </a:spcAft>
            </a:pPr>
            <a:r>
              <a:rPr lang="en-US" sz="2200" dirty="0" smtClean="0">
                <a:latin typeface="Helvetica" pitchFamily="34" charset="0"/>
              </a:rPr>
              <a:t>Marketing expense per customer </a:t>
            </a:r>
          </a:p>
          <a:p>
            <a:pPr>
              <a:spcBef>
                <a:spcPts val="600"/>
              </a:spcBef>
              <a:spcAft>
                <a:spcPts val="1200"/>
              </a:spcAft>
            </a:pPr>
            <a:r>
              <a:rPr lang="en-US" sz="2200" dirty="0" smtClean="0">
                <a:latin typeface="Helvetica" pitchFamily="34" charset="0"/>
              </a:rPr>
              <a:t>Marketing expense and sales revenue                        per customer from a specific campaign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80</a:t>
            </a:fld>
            <a:endParaRPr lang="en-US" dirty="0"/>
          </a:p>
        </p:txBody>
      </p:sp>
      <p:pic>
        <p:nvPicPr>
          <p:cNvPr id="6" name="Picture 5" descr="shutterstock_196106324.jpg"/>
          <p:cNvPicPr/>
          <p:nvPr/>
        </p:nvPicPr>
        <p:blipFill>
          <a:blip r:embed="rId3" cstate="print"/>
          <a:stretch>
            <a:fillRect/>
          </a:stretch>
        </p:blipFill>
        <p:spPr>
          <a:xfrm>
            <a:off x="6228184" y="3140968"/>
            <a:ext cx="1752600" cy="1162050"/>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75282" cy="1143000"/>
          </a:xfrm>
        </p:spPr>
        <p:txBody>
          <a:bodyPr>
            <a:normAutofit/>
          </a:bodyPr>
          <a:lstStyle/>
          <a:p>
            <a:r>
              <a:rPr lang="en-AU" sz="3400" b="1" dirty="0" smtClean="0">
                <a:solidFill>
                  <a:srgbClr val="FF6600"/>
                </a:solidFill>
                <a:latin typeface="Helvetica" pitchFamily="34" charset="0"/>
              </a:rPr>
              <a:t>Define and communicate expectations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lnSpcReduction="10000"/>
          </a:bodyPr>
          <a:lstStyle/>
          <a:p>
            <a:pPr>
              <a:spcBef>
                <a:spcPts val="600"/>
              </a:spcBef>
              <a:spcAft>
                <a:spcPts val="1200"/>
              </a:spcAft>
              <a:buNone/>
            </a:pPr>
            <a:r>
              <a:rPr lang="en-AU" sz="2200" b="1" dirty="0" smtClean="0">
                <a:latin typeface="Helvetica" pitchFamily="34" charset="0"/>
              </a:rPr>
              <a:t>Stakeholder considerations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Get a clear understanding of the marketing and sales plans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Ensure that all key concerns have been considered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Understand the benefits of the marketing and sales plans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Understand how the marketing and sales plans will benefit them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Understand how the marketing and sales                           plans will impact on them</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81</a:t>
            </a:fld>
            <a:endParaRPr lang="en-US" dirty="0"/>
          </a:p>
        </p:txBody>
      </p:sp>
      <p:pic>
        <p:nvPicPr>
          <p:cNvPr id="7" name="Picture 6" descr="shutterstock_134583104.jpg"/>
          <p:cNvPicPr/>
          <p:nvPr/>
        </p:nvPicPr>
        <p:blipFill>
          <a:blip r:embed="rId3" cstate="print"/>
          <a:stretch>
            <a:fillRect/>
          </a:stretch>
        </p:blipFill>
        <p:spPr>
          <a:xfrm>
            <a:off x="6858016" y="5072074"/>
            <a:ext cx="1781175" cy="1143000"/>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103844" cy="1143000"/>
          </a:xfrm>
        </p:spPr>
        <p:txBody>
          <a:bodyPr>
            <a:normAutofit/>
          </a:bodyPr>
          <a:lstStyle/>
          <a:p>
            <a:r>
              <a:rPr lang="en-AU" sz="3400" b="1" dirty="0" smtClean="0">
                <a:solidFill>
                  <a:srgbClr val="FF6600"/>
                </a:solidFill>
                <a:latin typeface="Helvetica" pitchFamily="34" charset="0"/>
              </a:rPr>
              <a:t>Define and communicate expectations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525963"/>
          </a:xfrm>
        </p:spPr>
        <p:txBody>
          <a:bodyPr>
            <a:normAutofit/>
          </a:bodyPr>
          <a:lstStyle/>
          <a:p>
            <a:pPr>
              <a:spcBef>
                <a:spcPts val="600"/>
              </a:spcBef>
              <a:spcAft>
                <a:spcPts val="1200"/>
              </a:spcAft>
              <a:buNone/>
            </a:pPr>
            <a:r>
              <a:rPr lang="en-AU" sz="2200" b="1" dirty="0" smtClean="0">
                <a:latin typeface="Helvetica" pitchFamily="34" charset="0"/>
              </a:rPr>
              <a:t>Stakeholder considerations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Understand their role in implementing the marketing and sales plans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Any potential problems identified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Have their concerns addressed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Be excited and reassured about the marketing and sales plans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82</a:t>
            </a:fld>
            <a:endParaRPr lang="en-US" dirty="0"/>
          </a:p>
        </p:txBody>
      </p:sp>
      <p:pic>
        <p:nvPicPr>
          <p:cNvPr id="6" name="Picture 5" descr="W248_customer_service_1_shutterstock_136084034.jpg"/>
          <p:cNvPicPr>
            <a:picLocks noChangeAspect="1"/>
          </p:cNvPicPr>
          <p:nvPr/>
        </p:nvPicPr>
        <p:blipFill>
          <a:blip r:embed="rId3" cstate="print"/>
          <a:stretch>
            <a:fillRect/>
          </a:stretch>
        </p:blipFill>
        <p:spPr>
          <a:xfrm>
            <a:off x="6500826" y="4857760"/>
            <a:ext cx="2166621" cy="1445136"/>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Autofit/>
          </a:bodyPr>
          <a:lstStyle/>
          <a:p>
            <a:r>
              <a:rPr lang="en-US" sz="3400" b="1" dirty="0" smtClean="0">
                <a:solidFill>
                  <a:srgbClr val="FF6600"/>
                </a:solidFill>
                <a:latin typeface="Helvetica" pitchFamily="34" charset="0"/>
              </a:rPr>
              <a:t>Communicate marketing and sales plan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600"/>
              </a:spcAft>
              <a:buNone/>
            </a:pPr>
            <a:r>
              <a:rPr lang="en-AU" sz="2200" b="1" dirty="0" smtClean="0">
                <a:latin typeface="Helvetica" pitchFamily="34" charset="0"/>
              </a:rPr>
              <a:t>Communicate marketing and sales plan information</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Key vision of the plan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Reasoning or purpose behind the marketing and sales plans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Background information</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Marketing and sales objectives and strategies</a:t>
            </a:r>
            <a:endParaRPr lang="en-US" sz="2200" dirty="0" smtClean="0">
              <a:latin typeface="Helvetica" pitchFamily="34" charset="0"/>
            </a:endParaRPr>
          </a:p>
          <a:p>
            <a:pPr>
              <a:spcBef>
                <a:spcPts val="600"/>
              </a:spcBef>
              <a:spcAft>
                <a:spcPts val="600"/>
              </a:spcAft>
            </a:pPr>
            <a:r>
              <a:rPr lang="en-SG" sz="2200" dirty="0" smtClean="0">
                <a:latin typeface="Helvetica" pitchFamily="34" charset="0"/>
              </a:rPr>
              <a:t>How the plan will be implemented</a:t>
            </a:r>
            <a:endParaRPr lang="en-US" sz="2200" dirty="0" smtClean="0">
              <a:latin typeface="Helvetica" pitchFamily="34" charset="0"/>
            </a:endParaRPr>
          </a:p>
          <a:p>
            <a:pPr>
              <a:spcBef>
                <a:spcPts val="600"/>
              </a:spcBef>
              <a:spcAft>
                <a:spcPts val="600"/>
              </a:spcAft>
            </a:pPr>
            <a:r>
              <a:rPr lang="en-SG" sz="2200" dirty="0" smtClean="0">
                <a:latin typeface="Helvetica" pitchFamily="34" charset="0"/>
              </a:rPr>
              <a:t>Roles and responsibilities of key stakeholders</a:t>
            </a:r>
            <a:endParaRPr lang="en-US" sz="2200" dirty="0" smtClean="0">
              <a:latin typeface="Helvetica" pitchFamily="34" charset="0"/>
            </a:endParaRPr>
          </a:p>
          <a:p>
            <a:pPr>
              <a:spcBef>
                <a:spcPts val="600"/>
              </a:spcBef>
              <a:spcAft>
                <a:spcPts val="600"/>
              </a:spcAft>
            </a:pPr>
            <a:r>
              <a:rPr lang="en-SG" sz="2200" dirty="0" smtClean="0">
                <a:latin typeface="Helvetica" pitchFamily="34" charset="0"/>
              </a:rPr>
              <a:t>Timelines</a:t>
            </a:r>
            <a:endParaRPr lang="en-US" sz="2200" dirty="0" smtClean="0">
              <a:latin typeface="Helvetica" pitchFamily="34" charset="0"/>
            </a:endParaRPr>
          </a:p>
          <a:p>
            <a:pPr>
              <a:spcBef>
                <a:spcPts val="600"/>
              </a:spcBef>
              <a:spcAft>
                <a:spcPts val="600"/>
              </a:spcAft>
            </a:pPr>
            <a:r>
              <a:rPr lang="en-SG" sz="2200" dirty="0" smtClean="0">
                <a:latin typeface="Helvetica" pitchFamily="34" charset="0"/>
              </a:rPr>
              <a:t>Support mechanisms</a:t>
            </a:r>
            <a:endParaRPr lang="en-US" sz="2200" dirty="0" smtClean="0">
              <a:latin typeface="Helvetica" pitchFamily="34" charset="0"/>
            </a:endParaRPr>
          </a:p>
          <a:p>
            <a:endParaRPr lang="en-AU" sz="2400" dirty="0" smtClean="0"/>
          </a:p>
          <a:p>
            <a:pPr>
              <a:spcBef>
                <a:spcPts val="600"/>
              </a:spcBef>
              <a:spcAft>
                <a:spcPts val="1200"/>
              </a:spcAft>
              <a:buNone/>
            </a:pPr>
            <a:endParaRPr lang="en-AU" sz="2400" b="1"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83</a:t>
            </a:fld>
            <a:endParaRPr lang="en-US" dirty="0"/>
          </a:p>
        </p:txBody>
      </p:sp>
      <p:pic>
        <p:nvPicPr>
          <p:cNvPr id="6" name="Picture 5" descr="W270_whiteboard_shutterstock_147483182.jpg"/>
          <p:cNvPicPr/>
          <p:nvPr/>
        </p:nvPicPr>
        <p:blipFill>
          <a:blip r:embed="rId3" cstate="print"/>
          <a:stretch>
            <a:fillRect/>
          </a:stretch>
        </p:blipFill>
        <p:spPr>
          <a:xfrm>
            <a:off x="7215206" y="5214950"/>
            <a:ext cx="1486834" cy="966775"/>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Autofit/>
          </a:bodyPr>
          <a:lstStyle/>
          <a:p>
            <a:r>
              <a:rPr lang="en-US" sz="3400" b="1" dirty="0" smtClean="0">
                <a:solidFill>
                  <a:srgbClr val="FF6600"/>
                </a:solidFill>
                <a:latin typeface="Helvetica" pitchFamily="34" charset="0"/>
              </a:rPr>
              <a:t>Communicate marketing and sales plan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1200"/>
              </a:spcAft>
              <a:buNone/>
            </a:pPr>
            <a:r>
              <a:rPr lang="en-AU" sz="2200" b="1" dirty="0" smtClean="0">
                <a:latin typeface="Helvetica" pitchFamily="34" charset="0"/>
              </a:rPr>
              <a:t>Communicate information</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How can you communicate information to:</a:t>
            </a:r>
          </a:p>
          <a:p>
            <a:pPr>
              <a:spcBef>
                <a:spcPts val="600"/>
              </a:spcBef>
              <a:spcAft>
                <a:spcPts val="1200"/>
              </a:spcAft>
            </a:pPr>
            <a:r>
              <a:rPr lang="en-AU" sz="2200" dirty="0" smtClean="0">
                <a:latin typeface="Helvetica" pitchFamily="34" charset="0"/>
              </a:rPr>
              <a:t>Staff</a:t>
            </a:r>
          </a:p>
          <a:p>
            <a:pPr>
              <a:spcBef>
                <a:spcPts val="600"/>
              </a:spcBef>
              <a:spcAft>
                <a:spcPts val="1200"/>
              </a:spcAft>
            </a:pPr>
            <a:r>
              <a:rPr lang="en-AU" sz="2200" dirty="0" smtClean="0">
                <a:latin typeface="Helvetica" pitchFamily="34" charset="0"/>
              </a:rPr>
              <a:t>Managers</a:t>
            </a:r>
          </a:p>
          <a:p>
            <a:pPr>
              <a:spcBef>
                <a:spcPts val="600"/>
              </a:spcBef>
              <a:spcAft>
                <a:spcPts val="1200"/>
              </a:spcAft>
            </a:pPr>
            <a:r>
              <a:rPr lang="en-AU" sz="2200" dirty="0" smtClean="0">
                <a:latin typeface="Helvetica" pitchFamily="34" charset="0"/>
              </a:rPr>
              <a:t>Clients</a:t>
            </a:r>
          </a:p>
          <a:p>
            <a:pPr>
              <a:spcBef>
                <a:spcPts val="600"/>
              </a:spcBef>
              <a:spcAft>
                <a:spcPts val="1200"/>
              </a:spcAft>
            </a:pPr>
            <a:r>
              <a:rPr lang="en-AU" sz="2200" dirty="0" smtClean="0">
                <a:latin typeface="Helvetica" pitchFamily="34" charset="0"/>
              </a:rPr>
              <a:t>Suppliers</a:t>
            </a:r>
          </a:p>
          <a:p>
            <a:endParaRPr lang="en-AU" sz="2400" dirty="0" smtClean="0"/>
          </a:p>
          <a:p>
            <a:pPr>
              <a:spcBef>
                <a:spcPts val="600"/>
              </a:spcBef>
              <a:spcAft>
                <a:spcPts val="1200"/>
              </a:spcAft>
              <a:buNone/>
            </a:pPr>
            <a:r>
              <a:rPr lang="en-AU" sz="2400" dirty="0" smtClean="0">
                <a:solidFill>
                  <a:srgbClr val="FF6600"/>
                </a:solidFill>
                <a:latin typeface="Helvetica" pitchFamily="34" charset="0"/>
              </a:rPr>
              <a:t>COMPLETE ACTIVITY 20</a:t>
            </a:r>
          </a:p>
          <a:p>
            <a:pPr>
              <a:spcBef>
                <a:spcPts val="600"/>
              </a:spcBef>
              <a:spcAft>
                <a:spcPts val="1200"/>
              </a:spcAft>
              <a:buNone/>
            </a:pPr>
            <a:endParaRPr lang="en-AU" sz="2400" b="1"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buNone/>
            </a:pPr>
            <a:endParaRPr lang="en-AU" sz="2400" dirty="0" smtClean="0"/>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84</a:t>
            </a:fld>
            <a:endParaRPr lang="en-US" dirty="0"/>
          </a:p>
        </p:txBody>
      </p:sp>
      <p:pic>
        <p:nvPicPr>
          <p:cNvPr id="6" name="Picture 5" descr="shutterstock_191031131.jpg"/>
          <p:cNvPicPr/>
          <p:nvPr/>
        </p:nvPicPr>
        <p:blipFill>
          <a:blip r:embed="rId3" cstate="print"/>
          <a:stretch>
            <a:fillRect/>
          </a:stretch>
        </p:blipFill>
        <p:spPr>
          <a:xfrm>
            <a:off x="5580112" y="3212976"/>
            <a:ext cx="2233615" cy="1533527"/>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Implement action</a:t>
            </a:r>
          </a:p>
        </p:txBody>
      </p:sp>
      <p:sp>
        <p:nvSpPr>
          <p:cNvPr id="3" name="Content Placeholder 2"/>
          <p:cNvSpPr>
            <a:spLocks noGrp="1"/>
          </p:cNvSpPr>
          <p:nvPr>
            <p:ph idx="1"/>
          </p:nvPr>
        </p:nvSpPr>
        <p:spPr>
          <a:xfrm>
            <a:off x="611560" y="1700808"/>
            <a:ext cx="7467600" cy="4896544"/>
          </a:xfrm>
        </p:spPr>
        <p:txBody>
          <a:bodyPr>
            <a:normAutofit/>
          </a:bodyPr>
          <a:lstStyle/>
          <a:p>
            <a:pPr>
              <a:spcBef>
                <a:spcPts val="600"/>
              </a:spcBef>
              <a:spcAft>
                <a:spcPts val="1200"/>
              </a:spcAft>
              <a:buNone/>
            </a:pPr>
            <a:r>
              <a:rPr lang="en-AU" sz="2200" b="1" dirty="0" smtClean="0">
                <a:latin typeface="Helvetica" pitchFamily="34" charset="0"/>
              </a:rPr>
              <a:t>Implement marketing and sales plan actions</a:t>
            </a:r>
          </a:p>
          <a:p>
            <a:pPr>
              <a:spcBef>
                <a:spcPts val="600"/>
              </a:spcBef>
              <a:spcAft>
                <a:spcPts val="1200"/>
              </a:spcAft>
            </a:pPr>
            <a:r>
              <a:rPr lang="en-AU" sz="2200" dirty="0" smtClean="0">
                <a:latin typeface="Helvetica" pitchFamily="34" charset="0"/>
              </a:rPr>
              <a:t>Now that marketing and sales plans have been communicated with stakeholders responsible for its delivery, it is now time to implement any actions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85</a:t>
            </a:fld>
            <a:endParaRPr lang="en-US" dirty="0"/>
          </a:p>
        </p:txBody>
      </p:sp>
      <p:pic>
        <p:nvPicPr>
          <p:cNvPr id="5" name="Picture 4" descr="W4_Asian_Man_Professional_shutterstock_153733442.jpg"/>
          <p:cNvPicPr>
            <a:picLocks noChangeAspect="1"/>
          </p:cNvPicPr>
          <p:nvPr/>
        </p:nvPicPr>
        <p:blipFill>
          <a:blip r:embed="rId3" cstate="print"/>
          <a:stretch>
            <a:fillRect/>
          </a:stretch>
        </p:blipFill>
        <p:spPr>
          <a:xfrm>
            <a:off x="5868144" y="3789040"/>
            <a:ext cx="2059517" cy="1373698"/>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Implement action</a:t>
            </a:r>
          </a:p>
        </p:txBody>
      </p:sp>
      <p:sp>
        <p:nvSpPr>
          <p:cNvPr id="3" name="Content Placeholder 2"/>
          <p:cNvSpPr>
            <a:spLocks noGrp="1"/>
          </p:cNvSpPr>
          <p:nvPr>
            <p:ph idx="1"/>
          </p:nvPr>
        </p:nvSpPr>
        <p:spPr>
          <a:xfrm>
            <a:off x="611560" y="1700808"/>
            <a:ext cx="7467600" cy="4896544"/>
          </a:xfrm>
        </p:spPr>
        <p:txBody>
          <a:bodyPr>
            <a:normAutofit/>
          </a:bodyPr>
          <a:lstStyle/>
          <a:p>
            <a:pPr>
              <a:spcBef>
                <a:spcPts val="600"/>
              </a:spcBef>
              <a:spcAft>
                <a:spcPts val="1200"/>
              </a:spcAft>
              <a:buNone/>
            </a:pPr>
            <a:r>
              <a:rPr lang="en-GB" sz="2200" b="1" dirty="0" smtClean="0">
                <a:latin typeface="Helvetica" pitchFamily="34" charset="0"/>
              </a:rPr>
              <a:t>Implementation considerations</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Compliance requirements </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Occupational </a:t>
            </a:r>
            <a:r>
              <a:rPr lang="en-GB" sz="2200" dirty="0" smtClean="0"/>
              <a:t>safety and health </a:t>
            </a:r>
            <a:r>
              <a:rPr lang="en-GB" sz="2200" dirty="0" smtClean="0">
                <a:latin typeface="Helvetica" pitchFamily="34" charset="0"/>
              </a:rPr>
              <a:t>(OSH) </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Legal liability exposure </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Integration with other aspects of the business</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Timing issues</a:t>
            </a:r>
            <a:endParaRPr lang="en-US" sz="2200" b="1"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86</a:t>
            </a:fld>
            <a:endParaRPr lang="en-US" dirty="0"/>
          </a:p>
        </p:txBody>
      </p:sp>
      <p:pic>
        <p:nvPicPr>
          <p:cNvPr id="5" name="Picture 4" descr="shutterstock_65928016.jpg"/>
          <p:cNvPicPr>
            <a:picLocks noChangeAspect="1"/>
          </p:cNvPicPr>
          <p:nvPr/>
        </p:nvPicPr>
        <p:blipFill>
          <a:blip r:embed="rId3" cstate="print"/>
          <a:stretch>
            <a:fillRect/>
          </a:stretch>
        </p:blipFill>
        <p:spPr>
          <a:xfrm>
            <a:off x="6228184" y="2060848"/>
            <a:ext cx="1666876" cy="1666876"/>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Implement action</a:t>
            </a:r>
          </a:p>
        </p:txBody>
      </p:sp>
      <p:sp>
        <p:nvSpPr>
          <p:cNvPr id="3" name="Content Placeholder 2"/>
          <p:cNvSpPr>
            <a:spLocks noGrp="1"/>
          </p:cNvSpPr>
          <p:nvPr>
            <p:ph idx="1"/>
          </p:nvPr>
        </p:nvSpPr>
        <p:spPr>
          <a:xfrm>
            <a:off x="611560" y="1700808"/>
            <a:ext cx="7467600" cy="4896544"/>
          </a:xfrm>
        </p:spPr>
        <p:txBody>
          <a:bodyPr>
            <a:normAutofit/>
          </a:bodyPr>
          <a:lstStyle/>
          <a:p>
            <a:pPr>
              <a:spcBef>
                <a:spcPts val="600"/>
              </a:spcBef>
              <a:spcAft>
                <a:spcPts val="1200"/>
              </a:spcAft>
              <a:buNone/>
            </a:pPr>
            <a:r>
              <a:rPr lang="en-GB" sz="2200" b="1" dirty="0" smtClean="0">
                <a:latin typeface="Helvetica" pitchFamily="34" charset="0"/>
              </a:rPr>
              <a:t>Implementation considerations</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Resources</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Changes to policies and procedures</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Documentation and record keeping </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Service delivery </a:t>
            </a:r>
            <a:endParaRPr lang="en-US" sz="2200" b="1" dirty="0" smtClean="0">
              <a:latin typeface="Helvetica" pitchFamily="34" charset="0"/>
            </a:endParaRPr>
          </a:p>
          <a:p>
            <a:pPr lvl="0">
              <a:spcBef>
                <a:spcPts val="600"/>
              </a:spcBef>
              <a:spcAft>
                <a:spcPts val="1200"/>
              </a:spcAft>
            </a:pPr>
            <a:r>
              <a:rPr lang="en-GB" sz="2200" dirty="0" smtClean="0">
                <a:latin typeface="Helvetica" pitchFamily="34" charset="0"/>
              </a:rPr>
              <a:t>Impact on organisational culture </a:t>
            </a:r>
          </a:p>
          <a:p>
            <a:pPr lvl="0">
              <a:spcBef>
                <a:spcPts val="600"/>
              </a:spcBef>
              <a:spcAft>
                <a:spcPts val="1200"/>
              </a:spcAft>
            </a:pPr>
            <a:endParaRPr lang="en-GB" sz="2200" b="1" dirty="0" smtClean="0">
              <a:latin typeface="Helvetica" pitchFamily="34" charset="0"/>
            </a:endParaRPr>
          </a:p>
          <a:p>
            <a:pPr>
              <a:spcBef>
                <a:spcPts val="600"/>
              </a:spcBef>
              <a:spcAft>
                <a:spcPts val="1200"/>
              </a:spcAft>
              <a:buNone/>
            </a:pPr>
            <a:r>
              <a:rPr lang="en-AU" sz="2200" dirty="0" smtClean="0">
                <a:solidFill>
                  <a:srgbClr val="FF6600"/>
                </a:solidFill>
                <a:latin typeface="Helvetica" pitchFamily="34" charset="0"/>
              </a:rPr>
              <a:t>COMPLETE ACTIVITY 21</a:t>
            </a:r>
          </a:p>
          <a:p>
            <a:pPr lvl="0">
              <a:spcBef>
                <a:spcPts val="600"/>
              </a:spcBef>
              <a:spcAft>
                <a:spcPts val="1200"/>
              </a:spcAft>
              <a:buNone/>
            </a:pPr>
            <a:endParaRPr lang="en-US" sz="2200" b="1"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87</a:t>
            </a:fld>
            <a:endParaRPr lang="en-US" dirty="0"/>
          </a:p>
        </p:txBody>
      </p:sp>
      <p:pic>
        <p:nvPicPr>
          <p:cNvPr id="5" name="Picture 4" descr="A16 shutterstock_173793329.jpg"/>
          <p:cNvPicPr/>
          <p:nvPr/>
        </p:nvPicPr>
        <p:blipFill>
          <a:blip r:embed="rId3" cstate="print"/>
          <a:stretch>
            <a:fillRect/>
          </a:stretch>
        </p:blipFill>
        <p:spPr>
          <a:xfrm>
            <a:off x="6228184" y="2852936"/>
            <a:ext cx="1981200" cy="1238250"/>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Implement action</a:t>
            </a:r>
          </a:p>
        </p:txBody>
      </p:sp>
      <p:sp>
        <p:nvSpPr>
          <p:cNvPr id="3" name="Content Placeholder 2"/>
          <p:cNvSpPr>
            <a:spLocks noGrp="1"/>
          </p:cNvSpPr>
          <p:nvPr>
            <p:ph idx="1"/>
          </p:nvPr>
        </p:nvSpPr>
        <p:spPr>
          <a:xfrm>
            <a:off x="539552" y="1412776"/>
            <a:ext cx="7467600" cy="4896544"/>
          </a:xfrm>
        </p:spPr>
        <p:txBody>
          <a:bodyPr>
            <a:normAutofit/>
          </a:bodyPr>
          <a:lstStyle/>
          <a:p>
            <a:pPr>
              <a:spcBef>
                <a:spcPts val="600"/>
              </a:spcBef>
              <a:spcAft>
                <a:spcPts val="600"/>
              </a:spcAft>
              <a:buNone/>
            </a:pPr>
            <a:r>
              <a:rPr lang="en-GB" sz="2200" b="1" dirty="0" smtClean="0">
                <a:latin typeface="Helvetica" pitchFamily="34" charset="0"/>
              </a:rPr>
              <a:t>Implementation planning inclusions</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Details of intended actions to be taken </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Allocation of responsibilities for action to nominated persons</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Determination of accountability for actions taken</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Timelines for completion of nominated actions</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Details of the budget and resources allocated</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Description of monitoring progress</a:t>
            </a:r>
            <a:endParaRPr lang="en-US" sz="2200" dirty="0" smtClean="0">
              <a:latin typeface="Helvetica" pitchFamily="34" charset="0"/>
            </a:endParaRPr>
          </a:p>
          <a:p>
            <a:pPr lvl="0">
              <a:spcBef>
                <a:spcPts val="600"/>
              </a:spcBef>
              <a:spcAft>
                <a:spcPts val="600"/>
              </a:spcAft>
            </a:pPr>
            <a:r>
              <a:rPr lang="en-GB" sz="2200" dirty="0" smtClean="0">
                <a:latin typeface="Helvetica" pitchFamily="34" charset="0"/>
              </a:rPr>
              <a:t>Details and timelines for reviewing progress</a:t>
            </a:r>
            <a:endParaRPr lang="en-GB" sz="2400" dirty="0" smtClean="0">
              <a:latin typeface="Helvetica" pitchFamily="34" charset="0"/>
            </a:endParaRPr>
          </a:p>
          <a:p>
            <a:pPr>
              <a:spcBef>
                <a:spcPts val="600"/>
              </a:spcBef>
              <a:spcAft>
                <a:spcPts val="600"/>
              </a:spcAft>
              <a:buNone/>
            </a:pPr>
            <a:r>
              <a:rPr lang="en-AU" sz="2200" dirty="0" smtClean="0">
                <a:solidFill>
                  <a:srgbClr val="FF6600"/>
                </a:solidFill>
                <a:latin typeface="Helvetica" pitchFamily="34" charset="0"/>
              </a:rPr>
              <a:t>COMPLETE ACTIVITY 22</a:t>
            </a:r>
          </a:p>
          <a:p>
            <a:pPr lvl="0">
              <a:spcBef>
                <a:spcPts val="600"/>
              </a:spcBef>
              <a:spcAft>
                <a:spcPts val="600"/>
              </a:spcAft>
            </a:pPr>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88</a:t>
            </a:fld>
            <a:endParaRPr lang="en-US" dirty="0"/>
          </a:p>
        </p:txBody>
      </p:sp>
      <p:pic>
        <p:nvPicPr>
          <p:cNvPr id="6" name="Picture 5" descr="A13 shutterstock_159583589.jpg"/>
          <p:cNvPicPr/>
          <p:nvPr/>
        </p:nvPicPr>
        <p:blipFill>
          <a:blip r:embed="rId3" cstate="print"/>
          <a:stretch>
            <a:fillRect/>
          </a:stretch>
        </p:blipFill>
        <p:spPr>
          <a:xfrm>
            <a:off x="7215206" y="5072074"/>
            <a:ext cx="1352546" cy="1081086"/>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Implement action</a:t>
            </a:r>
          </a:p>
        </p:txBody>
      </p:sp>
      <p:sp>
        <p:nvSpPr>
          <p:cNvPr id="3" name="Content Placeholder 2"/>
          <p:cNvSpPr>
            <a:spLocks noGrp="1"/>
          </p:cNvSpPr>
          <p:nvPr>
            <p:ph idx="1"/>
          </p:nvPr>
        </p:nvSpPr>
        <p:spPr>
          <a:xfrm>
            <a:off x="539552" y="1556792"/>
            <a:ext cx="7467600" cy="4896544"/>
          </a:xfrm>
        </p:spPr>
        <p:txBody>
          <a:bodyPr>
            <a:normAutofit/>
          </a:bodyPr>
          <a:lstStyle/>
          <a:p>
            <a:pPr marL="0">
              <a:spcBef>
                <a:spcPts val="600"/>
              </a:spcBef>
              <a:spcAft>
                <a:spcPts val="1200"/>
              </a:spcAft>
              <a:buNone/>
            </a:pPr>
            <a:r>
              <a:rPr lang="en-GB" sz="2200" b="1" dirty="0" smtClean="0">
                <a:latin typeface="Helvetica" pitchFamily="34" charset="0"/>
              </a:rPr>
              <a:t>Provide support and resources to support implementation actions</a:t>
            </a:r>
            <a:endParaRPr lang="en-US" sz="2200" b="1" dirty="0" smtClean="0">
              <a:latin typeface="Helvetica" pitchFamily="34" charset="0"/>
            </a:endParaRPr>
          </a:p>
          <a:p>
            <a:pPr marL="0">
              <a:spcBef>
                <a:spcPts val="600"/>
              </a:spcBef>
              <a:spcAft>
                <a:spcPts val="1200"/>
              </a:spcAft>
              <a:buNone/>
            </a:pPr>
            <a:r>
              <a:rPr lang="en-GB" sz="2200" dirty="0" smtClean="0">
                <a:latin typeface="Helvetica" pitchFamily="34" charset="0"/>
              </a:rPr>
              <a:t>The aim is to enable staff to be able to learn and implement new changes into the workplace.</a:t>
            </a:r>
            <a:endParaRPr lang="en-US" sz="2200" dirty="0" smtClean="0">
              <a:latin typeface="Helvetica" pitchFamily="34" charset="0"/>
            </a:endParaRPr>
          </a:p>
          <a:p>
            <a:pPr>
              <a:spcBef>
                <a:spcPts val="600"/>
              </a:spcBef>
              <a:spcAft>
                <a:spcPts val="1200"/>
              </a:spcAft>
              <a:buNone/>
            </a:pPr>
            <a:r>
              <a:rPr lang="en-GB" sz="2200" dirty="0" smtClean="0">
                <a:latin typeface="Helvetica" pitchFamily="34" charset="0"/>
              </a:rPr>
              <a:t>During this period, you must manage the twin functions of:</a:t>
            </a:r>
          </a:p>
          <a:p>
            <a:pPr>
              <a:spcBef>
                <a:spcPts val="600"/>
              </a:spcBef>
              <a:spcAft>
                <a:spcPts val="1200"/>
              </a:spcAft>
            </a:pPr>
            <a:r>
              <a:rPr lang="en-GB" sz="2200" dirty="0" smtClean="0">
                <a:latin typeface="Helvetica" pitchFamily="34" charset="0"/>
              </a:rPr>
              <a:t>Task functions</a:t>
            </a:r>
          </a:p>
          <a:p>
            <a:pPr>
              <a:spcBef>
                <a:spcPts val="600"/>
              </a:spcBef>
              <a:spcAft>
                <a:spcPts val="1200"/>
              </a:spcAft>
            </a:pPr>
            <a:r>
              <a:rPr lang="en-GB" sz="2200" dirty="0" smtClean="0">
                <a:latin typeface="Helvetica" pitchFamily="34" charset="0"/>
              </a:rPr>
              <a:t>Maintenance functions</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89</a:t>
            </a:fld>
            <a:endParaRPr lang="en-US" dirty="0"/>
          </a:p>
        </p:txBody>
      </p:sp>
      <p:pic>
        <p:nvPicPr>
          <p:cNvPr id="7" name="Picture 6" descr="W105_Success_Group_Clapping_H_shutterstock_122824909.jpg"/>
          <p:cNvPicPr/>
          <p:nvPr/>
        </p:nvPicPr>
        <p:blipFill>
          <a:blip r:embed="rId3" cstate="print"/>
          <a:stretch>
            <a:fillRect/>
          </a:stretch>
        </p:blipFill>
        <p:spPr>
          <a:xfrm>
            <a:off x="6012160" y="4221088"/>
            <a:ext cx="2000250" cy="1400175"/>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Control action</a:t>
            </a:r>
          </a:p>
        </p:txBody>
      </p:sp>
      <p:sp>
        <p:nvSpPr>
          <p:cNvPr id="3" name="Content Placeholder 2"/>
          <p:cNvSpPr>
            <a:spLocks noGrp="1"/>
          </p:cNvSpPr>
          <p:nvPr>
            <p:ph idx="1"/>
          </p:nvPr>
        </p:nvSpPr>
        <p:spPr>
          <a:xfrm>
            <a:off x="611560" y="1700808"/>
            <a:ext cx="7467600" cy="4896544"/>
          </a:xfrm>
        </p:spPr>
        <p:txBody>
          <a:bodyPr>
            <a:normAutofit/>
          </a:bodyPr>
          <a:lstStyle/>
          <a:p>
            <a:pPr marL="0">
              <a:spcBef>
                <a:spcPts val="600"/>
              </a:spcBef>
              <a:spcAft>
                <a:spcPts val="1200"/>
              </a:spcAft>
              <a:buNone/>
            </a:pPr>
            <a:r>
              <a:rPr lang="en-US" sz="2200" b="1" dirty="0" smtClean="0">
                <a:latin typeface="Helvetica" pitchFamily="34" charset="0"/>
              </a:rPr>
              <a:t>Handling poor implementation</a:t>
            </a:r>
          </a:p>
          <a:p>
            <a:pPr>
              <a:spcBef>
                <a:spcPts val="600"/>
              </a:spcBef>
              <a:spcAft>
                <a:spcPts val="1200"/>
              </a:spcAft>
              <a:buNone/>
            </a:pPr>
            <a:r>
              <a:rPr lang="en-AU" sz="2200" dirty="0" smtClean="0">
                <a:latin typeface="Helvetica" pitchFamily="34" charset="0"/>
              </a:rPr>
              <a:t>Several factors cause implementation problems: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Isolated planning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Conflict between long-term and short-term objectives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Natural resistance to change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Lack of specific implementation plans</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90</a:t>
            </a:fld>
            <a:endParaRPr lang="en-US" dirty="0"/>
          </a:p>
        </p:txBody>
      </p:sp>
      <p:pic>
        <p:nvPicPr>
          <p:cNvPr id="6" name="Picture 5" descr="shutterstock_198824870.jpg"/>
          <p:cNvPicPr/>
          <p:nvPr/>
        </p:nvPicPr>
        <p:blipFill>
          <a:blip r:embed="rId3" cstate="print"/>
          <a:stretch>
            <a:fillRect/>
          </a:stretch>
        </p:blipFill>
        <p:spPr>
          <a:xfrm>
            <a:off x="6660232" y="4077072"/>
            <a:ext cx="1347789" cy="1419226"/>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Control action</a:t>
            </a:r>
          </a:p>
        </p:txBody>
      </p:sp>
      <p:sp>
        <p:nvSpPr>
          <p:cNvPr id="3" name="Content Placeholder 2"/>
          <p:cNvSpPr>
            <a:spLocks noGrp="1"/>
          </p:cNvSpPr>
          <p:nvPr>
            <p:ph idx="1"/>
          </p:nvPr>
        </p:nvSpPr>
        <p:spPr>
          <a:xfrm>
            <a:off x="611560" y="1700808"/>
            <a:ext cx="7467600" cy="4896544"/>
          </a:xfrm>
        </p:spPr>
        <p:txBody>
          <a:bodyPr>
            <a:normAutofit/>
          </a:bodyPr>
          <a:lstStyle/>
          <a:p>
            <a:pPr>
              <a:spcBef>
                <a:spcPts val="600"/>
              </a:spcBef>
              <a:spcAft>
                <a:spcPts val="1200"/>
              </a:spcAft>
              <a:buNone/>
            </a:pPr>
            <a:r>
              <a:rPr lang="en-AU" sz="2200" b="1" dirty="0" smtClean="0">
                <a:latin typeface="Helvetica" pitchFamily="34" charset="0"/>
              </a:rPr>
              <a:t>Marketing audit control questions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The macro-environment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The task environment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Marketing strategy audit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Marketing organisation audit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Marketing systems audit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Marketing productivity audit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Marketing function audit</a:t>
            </a:r>
            <a:endParaRPr lang="en-US" sz="2200" dirty="0" smtClean="0">
              <a:latin typeface="Helvetica" pitchFamily="34" charset="0"/>
            </a:endParaRPr>
          </a:p>
          <a:p>
            <a:endParaRPr lang="en-US" sz="2400" dirty="0"/>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91</a:t>
            </a:fld>
            <a:endParaRPr lang="en-US" dirty="0"/>
          </a:p>
        </p:txBody>
      </p:sp>
      <p:pic>
        <p:nvPicPr>
          <p:cNvPr id="7" name="Picture 6" descr="shutterstock_122825407.jpg"/>
          <p:cNvPicPr/>
          <p:nvPr/>
        </p:nvPicPr>
        <p:blipFill>
          <a:blip r:embed="rId3" cstate="print"/>
          <a:stretch>
            <a:fillRect/>
          </a:stretch>
        </p:blipFill>
        <p:spPr>
          <a:xfrm>
            <a:off x="6084168" y="3356992"/>
            <a:ext cx="1895475" cy="1257300"/>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Encourage staff to input into plans</a:t>
            </a:r>
          </a:p>
        </p:txBody>
      </p:sp>
      <p:sp>
        <p:nvSpPr>
          <p:cNvPr id="3" name="Content Placeholder 2"/>
          <p:cNvSpPr>
            <a:spLocks noGrp="1"/>
          </p:cNvSpPr>
          <p:nvPr>
            <p:ph idx="1"/>
          </p:nvPr>
        </p:nvSpPr>
        <p:spPr>
          <a:xfrm>
            <a:off x="611560" y="1700808"/>
            <a:ext cx="7467600" cy="4896544"/>
          </a:xfrm>
        </p:spPr>
        <p:txBody>
          <a:bodyPr>
            <a:normAutofit/>
          </a:bodyPr>
          <a:lstStyle/>
          <a:p>
            <a:pPr marL="0">
              <a:spcBef>
                <a:spcPts val="600"/>
              </a:spcBef>
              <a:spcAft>
                <a:spcPts val="1200"/>
              </a:spcAft>
              <a:buNone/>
            </a:pPr>
            <a:r>
              <a:rPr lang="en-AU" sz="2200" b="1" dirty="0" smtClean="0">
                <a:latin typeface="Helvetica" pitchFamily="34" charset="0"/>
              </a:rPr>
              <a:t>Encourage staff to provide ongoing input into the business plan</a:t>
            </a:r>
          </a:p>
          <a:p>
            <a:pPr>
              <a:spcBef>
                <a:spcPts val="600"/>
              </a:spcBef>
              <a:spcAft>
                <a:spcPts val="1200"/>
              </a:spcAft>
            </a:pPr>
            <a:r>
              <a:rPr lang="en-AU" sz="2200" dirty="0" smtClean="0">
                <a:latin typeface="Helvetica" pitchFamily="34" charset="0"/>
              </a:rPr>
              <a:t>How can a manager do this?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92</a:t>
            </a:fld>
            <a:endParaRPr lang="en-US" dirty="0"/>
          </a:p>
        </p:txBody>
      </p:sp>
      <p:pic>
        <p:nvPicPr>
          <p:cNvPr id="6" name="Picture 5" descr="A19 shutterstock_181811597.jpg"/>
          <p:cNvPicPr/>
          <p:nvPr/>
        </p:nvPicPr>
        <p:blipFill>
          <a:blip r:embed="rId3" cstate="print"/>
          <a:stretch>
            <a:fillRect/>
          </a:stretch>
        </p:blipFill>
        <p:spPr>
          <a:xfrm>
            <a:off x="5652120" y="2924944"/>
            <a:ext cx="2294756" cy="1656184"/>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Produce reports and share information</a:t>
            </a:r>
          </a:p>
        </p:txBody>
      </p:sp>
      <p:sp>
        <p:nvSpPr>
          <p:cNvPr id="3" name="Content Placeholder 2"/>
          <p:cNvSpPr>
            <a:spLocks noGrp="1"/>
          </p:cNvSpPr>
          <p:nvPr>
            <p:ph idx="1"/>
          </p:nvPr>
        </p:nvSpPr>
        <p:spPr>
          <a:xfrm>
            <a:off x="539552" y="1628800"/>
            <a:ext cx="7467600" cy="4896544"/>
          </a:xfrm>
        </p:spPr>
        <p:txBody>
          <a:bodyPr>
            <a:normAutofit/>
          </a:bodyPr>
          <a:lstStyle/>
          <a:p>
            <a:pPr marL="0">
              <a:spcBef>
                <a:spcPts val="600"/>
              </a:spcBef>
              <a:spcAft>
                <a:spcPts val="1200"/>
              </a:spcAft>
              <a:buNone/>
            </a:pPr>
            <a:r>
              <a:rPr lang="en-US" sz="2200" dirty="0" smtClean="0">
                <a:latin typeface="Helvetica" pitchFamily="34" charset="0"/>
              </a:rPr>
              <a:t>As the implementation of marketing and sales initiatives take place, it is important to communicate with staff for a number of reasons including:</a:t>
            </a:r>
          </a:p>
          <a:p>
            <a:pPr lvl="0">
              <a:spcBef>
                <a:spcPts val="600"/>
              </a:spcBef>
              <a:spcAft>
                <a:spcPts val="1200"/>
              </a:spcAft>
            </a:pPr>
            <a:r>
              <a:rPr lang="en-US" sz="2200" dirty="0" smtClean="0">
                <a:latin typeface="Helvetica" pitchFamily="34" charset="0"/>
              </a:rPr>
              <a:t>Preparing suitable reports</a:t>
            </a:r>
          </a:p>
          <a:p>
            <a:pPr lvl="0">
              <a:spcBef>
                <a:spcPts val="600"/>
              </a:spcBef>
              <a:spcAft>
                <a:spcPts val="1200"/>
              </a:spcAft>
            </a:pPr>
            <a:r>
              <a:rPr lang="en-US" sz="2200" dirty="0" smtClean="0">
                <a:latin typeface="Helvetica" pitchFamily="34" charset="0"/>
              </a:rPr>
              <a:t>Sharing information with them relating to:</a:t>
            </a:r>
          </a:p>
          <a:p>
            <a:pPr marL="908050" lvl="0" indent="-382588">
              <a:spcBef>
                <a:spcPts val="600"/>
              </a:spcBef>
              <a:spcAft>
                <a:spcPts val="1200"/>
              </a:spcAft>
              <a:buFont typeface="Wingdings" pitchFamily="2" charset="2"/>
              <a:buChar char="§"/>
            </a:pPr>
            <a:r>
              <a:rPr lang="en-US" sz="2200" dirty="0" smtClean="0">
                <a:latin typeface="Helvetica" pitchFamily="34" charset="0"/>
              </a:rPr>
              <a:t>Marketing activities</a:t>
            </a:r>
          </a:p>
          <a:p>
            <a:pPr marL="908050" lvl="0" indent="-382588">
              <a:spcBef>
                <a:spcPts val="600"/>
              </a:spcBef>
              <a:spcAft>
                <a:spcPts val="1200"/>
              </a:spcAft>
              <a:buFont typeface="Wingdings" pitchFamily="2" charset="2"/>
              <a:buChar char="§"/>
            </a:pPr>
            <a:r>
              <a:rPr lang="en-US" sz="2200" dirty="0" smtClean="0">
                <a:latin typeface="Helvetica" pitchFamily="34" charset="0"/>
              </a:rPr>
              <a:t>Sales strategies</a:t>
            </a:r>
          </a:p>
          <a:p>
            <a:pPr lvl="0">
              <a:spcBef>
                <a:spcPts val="600"/>
              </a:spcBef>
              <a:spcAft>
                <a:spcPts val="1200"/>
              </a:spcAft>
            </a:pPr>
            <a:r>
              <a:rPr lang="en-US" sz="2200" dirty="0" smtClean="0">
                <a:latin typeface="Helvetica" pitchFamily="34" charset="0"/>
              </a:rPr>
              <a:t>Asking for their input to better improve                                   future implementation</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93</a:t>
            </a:fld>
            <a:endParaRPr lang="en-US" dirty="0"/>
          </a:p>
        </p:txBody>
      </p:sp>
      <p:pic>
        <p:nvPicPr>
          <p:cNvPr id="7" name="Picture 6" descr="A19 shutterstock_181811597.jpg"/>
          <p:cNvPicPr/>
          <p:nvPr/>
        </p:nvPicPr>
        <p:blipFill>
          <a:blip r:embed="rId3" cstate="print"/>
          <a:stretch>
            <a:fillRect/>
          </a:stretch>
        </p:blipFill>
        <p:spPr>
          <a:xfrm>
            <a:off x="6660232" y="3501008"/>
            <a:ext cx="1865630" cy="1247775"/>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Produce reports and share information</a:t>
            </a:r>
          </a:p>
        </p:txBody>
      </p:sp>
      <p:sp>
        <p:nvSpPr>
          <p:cNvPr id="3" name="Content Placeholder 2"/>
          <p:cNvSpPr>
            <a:spLocks noGrp="1"/>
          </p:cNvSpPr>
          <p:nvPr>
            <p:ph idx="1"/>
          </p:nvPr>
        </p:nvSpPr>
        <p:spPr>
          <a:xfrm>
            <a:off x="611560" y="1700808"/>
            <a:ext cx="7467600" cy="4896544"/>
          </a:xfrm>
        </p:spPr>
        <p:txBody>
          <a:bodyPr>
            <a:normAutofit/>
          </a:bodyPr>
          <a:lstStyle/>
          <a:p>
            <a:pPr>
              <a:spcBef>
                <a:spcPts val="600"/>
              </a:spcBef>
              <a:spcAft>
                <a:spcPts val="1200"/>
              </a:spcAft>
              <a:buNone/>
            </a:pPr>
            <a:r>
              <a:rPr lang="en-AU" sz="2200" b="1" dirty="0" smtClean="0">
                <a:latin typeface="Helvetica" pitchFamily="34" charset="0"/>
              </a:rPr>
              <a:t>Types of reports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Reports may relate to:</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Product or service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Merchandising and sales strategy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Promotional strategies and their duration, cycle,                                                          territory coverage and product or service focus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Market research</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Sales performance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Business performance</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94</a:t>
            </a:fld>
            <a:endParaRPr lang="en-US" dirty="0"/>
          </a:p>
        </p:txBody>
      </p:sp>
      <p:pic>
        <p:nvPicPr>
          <p:cNvPr id="6" name="Picture 5" descr="shutterstock_126073382.jpg"/>
          <p:cNvPicPr/>
          <p:nvPr/>
        </p:nvPicPr>
        <p:blipFill>
          <a:blip r:embed="rId3" cstate="print"/>
          <a:stretch>
            <a:fillRect/>
          </a:stretch>
        </p:blipFill>
        <p:spPr>
          <a:xfrm>
            <a:off x="6444208" y="2276872"/>
            <a:ext cx="1676400" cy="1133475"/>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Produce reports and share information</a:t>
            </a:r>
          </a:p>
        </p:txBody>
      </p:sp>
      <p:sp>
        <p:nvSpPr>
          <p:cNvPr id="3" name="Content Placeholder 2"/>
          <p:cNvSpPr>
            <a:spLocks noGrp="1"/>
          </p:cNvSpPr>
          <p:nvPr>
            <p:ph idx="1"/>
          </p:nvPr>
        </p:nvSpPr>
        <p:spPr>
          <a:xfrm>
            <a:off x="611560" y="1700808"/>
            <a:ext cx="7467600" cy="4896544"/>
          </a:xfrm>
        </p:spPr>
        <p:txBody>
          <a:bodyPr>
            <a:normAutofit/>
          </a:bodyPr>
          <a:lstStyle/>
          <a:p>
            <a:pPr>
              <a:spcBef>
                <a:spcPts val="600"/>
              </a:spcBef>
              <a:spcAft>
                <a:spcPts val="1200"/>
              </a:spcAft>
              <a:buNone/>
            </a:pPr>
            <a:r>
              <a:rPr lang="en-AU" sz="2200" b="1" dirty="0" smtClean="0">
                <a:latin typeface="Helvetica" pitchFamily="34" charset="0"/>
              </a:rPr>
              <a:t>Information to share</a:t>
            </a:r>
            <a:endParaRPr lang="en-US" sz="2200" dirty="0" smtClean="0">
              <a:latin typeface="Helvetica" pitchFamily="34" charset="0"/>
            </a:endParaRPr>
          </a:p>
          <a:p>
            <a:pPr>
              <a:spcBef>
                <a:spcPts val="600"/>
              </a:spcBef>
              <a:spcAft>
                <a:spcPts val="1200"/>
              </a:spcAft>
              <a:buNone/>
            </a:pPr>
            <a:r>
              <a:rPr lang="en-AU" sz="2200" u="sng" dirty="0" smtClean="0">
                <a:latin typeface="Helvetica" pitchFamily="34" charset="0"/>
              </a:rPr>
              <a:t>Marketing activities </a:t>
            </a:r>
            <a:endParaRPr lang="en-US" sz="2200" u="sng" dirty="0" smtClean="0">
              <a:latin typeface="Helvetica" pitchFamily="34" charset="0"/>
            </a:endParaRPr>
          </a:p>
          <a:p>
            <a:pPr lvl="0">
              <a:spcBef>
                <a:spcPts val="600"/>
              </a:spcBef>
              <a:spcAft>
                <a:spcPts val="1200"/>
              </a:spcAft>
            </a:pPr>
            <a:r>
              <a:rPr lang="en-AU" sz="2200" dirty="0" smtClean="0">
                <a:latin typeface="Helvetica" pitchFamily="34" charset="0"/>
              </a:rPr>
              <a:t>Mass marketing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Differentiated target marketing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Product variety marketing</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E-business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95</a:t>
            </a:fld>
            <a:endParaRPr lang="en-US" dirty="0"/>
          </a:p>
        </p:txBody>
      </p:sp>
      <p:pic>
        <p:nvPicPr>
          <p:cNvPr id="7" name="Picture 6" descr="shutterstock_132318596.jpg"/>
          <p:cNvPicPr>
            <a:picLocks noChangeAspect="1"/>
          </p:cNvPicPr>
          <p:nvPr/>
        </p:nvPicPr>
        <p:blipFill>
          <a:blip r:embed="rId3" cstate="print"/>
          <a:stretch>
            <a:fillRect/>
          </a:stretch>
        </p:blipFill>
        <p:spPr>
          <a:xfrm>
            <a:off x="5940152" y="2708920"/>
            <a:ext cx="2238380" cy="1492999"/>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Produce reports and share information</a:t>
            </a:r>
          </a:p>
        </p:txBody>
      </p:sp>
      <p:sp>
        <p:nvSpPr>
          <p:cNvPr id="3" name="Content Placeholder 2"/>
          <p:cNvSpPr>
            <a:spLocks noGrp="1"/>
          </p:cNvSpPr>
          <p:nvPr>
            <p:ph idx="1"/>
          </p:nvPr>
        </p:nvSpPr>
        <p:spPr>
          <a:xfrm>
            <a:off x="539552" y="1556792"/>
            <a:ext cx="7467600" cy="4896544"/>
          </a:xfrm>
        </p:spPr>
        <p:txBody>
          <a:bodyPr>
            <a:normAutofit/>
          </a:bodyPr>
          <a:lstStyle/>
          <a:p>
            <a:pPr>
              <a:spcBef>
                <a:spcPts val="600"/>
              </a:spcBef>
              <a:spcAft>
                <a:spcPts val="600"/>
              </a:spcAft>
              <a:buNone/>
            </a:pPr>
            <a:r>
              <a:rPr lang="en-AU" sz="2200" b="1" dirty="0" smtClean="0">
                <a:latin typeface="Helvetica" pitchFamily="34" charset="0"/>
              </a:rPr>
              <a:t>Information to share</a:t>
            </a:r>
            <a:endParaRPr lang="en-US" sz="2200" dirty="0" smtClean="0">
              <a:latin typeface="Helvetica" pitchFamily="34" charset="0"/>
            </a:endParaRPr>
          </a:p>
          <a:p>
            <a:pPr>
              <a:spcBef>
                <a:spcPts val="600"/>
              </a:spcBef>
              <a:spcAft>
                <a:spcPts val="600"/>
              </a:spcAft>
              <a:buNone/>
            </a:pPr>
            <a:r>
              <a:rPr lang="en-AU" sz="2200" u="sng" dirty="0" smtClean="0">
                <a:latin typeface="Helvetica" pitchFamily="34" charset="0"/>
              </a:rPr>
              <a:t>Sales strategies </a:t>
            </a:r>
            <a:endParaRPr lang="en-US" sz="2200" u="sng" dirty="0" smtClean="0">
              <a:latin typeface="Helvetica" pitchFamily="34" charset="0"/>
            </a:endParaRPr>
          </a:p>
          <a:p>
            <a:pPr lvl="0">
              <a:spcBef>
                <a:spcPts val="600"/>
              </a:spcBef>
              <a:spcAft>
                <a:spcPts val="600"/>
              </a:spcAft>
            </a:pPr>
            <a:r>
              <a:rPr lang="en-AU" sz="2200" dirty="0" smtClean="0">
                <a:latin typeface="Helvetica" pitchFamily="34" charset="0"/>
              </a:rPr>
              <a:t>Promotional activities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Sales techniques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Territory management</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Rapport building</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Product knowledge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Administration procedures and requirements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Time management</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Negotiation skills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96</a:t>
            </a:fld>
            <a:endParaRPr lang="en-US" dirty="0"/>
          </a:p>
        </p:txBody>
      </p:sp>
      <p:pic>
        <p:nvPicPr>
          <p:cNvPr id="5" name="Picture 4" descr="shutterstock_131501597.jpg"/>
          <p:cNvPicPr>
            <a:picLocks noChangeAspect="1"/>
          </p:cNvPicPr>
          <p:nvPr/>
        </p:nvPicPr>
        <p:blipFill>
          <a:blip r:embed="rId3" cstate="print"/>
          <a:stretch>
            <a:fillRect/>
          </a:stretch>
        </p:blipFill>
        <p:spPr>
          <a:xfrm>
            <a:off x="6228184" y="2924944"/>
            <a:ext cx="2166621" cy="1445136"/>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Asking staff for their input</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700808"/>
            <a:ext cx="7467600" cy="4896544"/>
          </a:xfrm>
        </p:spPr>
        <p:txBody>
          <a:bodyPr>
            <a:normAutofit/>
          </a:bodyPr>
          <a:lstStyle/>
          <a:p>
            <a:pPr>
              <a:spcBef>
                <a:spcPts val="600"/>
              </a:spcBef>
              <a:spcAft>
                <a:spcPts val="1200"/>
              </a:spcAft>
              <a:buNone/>
            </a:pPr>
            <a:r>
              <a:rPr lang="en-US" sz="2200" b="1" dirty="0" smtClean="0">
                <a:latin typeface="Helvetica" pitchFamily="34" charset="0"/>
              </a:rPr>
              <a:t>Methods to encourage staff input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Asking for ideas </a:t>
            </a:r>
          </a:p>
          <a:p>
            <a:pPr>
              <a:spcBef>
                <a:spcPts val="600"/>
              </a:spcBef>
              <a:spcAft>
                <a:spcPts val="1200"/>
              </a:spcAft>
            </a:pPr>
            <a:r>
              <a:rPr lang="en-AU" sz="2200" dirty="0" smtClean="0">
                <a:latin typeface="Helvetica" pitchFamily="34" charset="0"/>
              </a:rPr>
              <a:t>Having an ‘open door’ policy regarding suggestions </a:t>
            </a:r>
          </a:p>
          <a:p>
            <a:pPr>
              <a:spcBef>
                <a:spcPts val="600"/>
              </a:spcBef>
              <a:spcAft>
                <a:spcPts val="1200"/>
              </a:spcAft>
            </a:pPr>
            <a:r>
              <a:rPr lang="en-AU" sz="2200" dirty="0" smtClean="0">
                <a:latin typeface="Helvetica" pitchFamily="34" charset="0"/>
              </a:rPr>
              <a:t>Sharing ideas </a:t>
            </a:r>
          </a:p>
          <a:p>
            <a:pPr>
              <a:spcBef>
                <a:spcPts val="600"/>
              </a:spcBef>
              <a:spcAft>
                <a:spcPts val="1200"/>
              </a:spcAft>
            </a:pPr>
            <a:r>
              <a:rPr lang="en-AU" sz="2200" dirty="0" smtClean="0">
                <a:latin typeface="Helvetica" pitchFamily="34" charset="0"/>
              </a:rPr>
              <a:t>Being prepared to test new ideas </a:t>
            </a:r>
          </a:p>
          <a:p>
            <a:pPr>
              <a:spcBef>
                <a:spcPts val="600"/>
              </a:spcBef>
              <a:spcAft>
                <a:spcPts val="1200"/>
              </a:spcAft>
            </a:pPr>
            <a:r>
              <a:rPr lang="en-AU" sz="2200" dirty="0" smtClean="0">
                <a:latin typeface="Helvetica" pitchFamily="34" charset="0"/>
              </a:rPr>
              <a:t>Seeking information and ideas from                                     non-traditional places </a:t>
            </a:r>
          </a:p>
          <a:p>
            <a:pPr>
              <a:spcBef>
                <a:spcPts val="600"/>
              </a:spcBef>
              <a:spcAft>
                <a:spcPts val="1200"/>
              </a:spcAft>
              <a:buNone/>
            </a:pPr>
            <a:endParaRPr lang="en-AU"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97</a:t>
            </a:fld>
            <a:endParaRPr lang="en-US" dirty="0"/>
          </a:p>
        </p:txBody>
      </p:sp>
      <p:pic>
        <p:nvPicPr>
          <p:cNvPr id="6" name="Picture 5" descr="shutterstock_126073382.jpg"/>
          <p:cNvPicPr/>
          <p:nvPr/>
        </p:nvPicPr>
        <p:blipFill>
          <a:blip r:embed="rId3" cstate="print"/>
          <a:stretch>
            <a:fillRect/>
          </a:stretch>
        </p:blipFill>
        <p:spPr>
          <a:xfrm>
            <a:off x="6228184" y="3645024"/>
            <a:ext cx="2076450" cy="1409700"/>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0648"/>
            <a:ext cx="8532440" cy="1440160"/>
          </a:xfrm>
        </p:spPr>
        <p:txBody>
          <a:bodyPr>
            <a:normAutofit/>
          </a:bodyPr>
          <a:lstStyle/>
          <a:p>
            <a:r>
              <a:rPr lang="en-AU" sz="3400" b="1" dirty="0" smtClean="0">
                <a:solidFill>
                  <a:srgbClr val="FF6600"/>
                </a:solidFill>
                <a:latin typeface="Helvetica" pitchFamily="34" charset="0"/>
              </a:rPr>
              <a:t>Asking staff for their input</a:t>
            </a:r>
          </a:p>
        </p:txBody>
      </p:sp>
      <p:sp>
        <p:nvSpPr>
          <p:cNvPr id="3" name="Content Placeholder 2"/>
          <p:cNvSpPr>
            <a:spLocks noGrp="1"/>
          </p:cNvSpPr>
          <p:nvPr>
            <p:ph idx="1"/>
          </p:nvPr>
        </p:nvSpPr>
        <p:spPr>
          <a:xfrm>
            <a:off x="611560" y="1700808"/>
            <a:ext cx="7467600" cy="4896544"/>
          </a:xfrm>
        </p:spPr>
        <p:txBody>
          <a:bodyPr>
            <a:normAutofit/>
          </a:bodyPr>
          <a:lstStyle/>
          <a:p>
            <a:pPr>
              <a:spcBef>
                <a:spcPts val="600"/>
              </a:spcBef>
              <a:spcAft>
                <a:spcPts val="1200"/>
              </a:spcAft>
              <a:buNone/>
            </a:pPr>
            <a:r>
              <a:rPr lang="en-US" sz="2200" b="1" dirty="0" smtClean="0">
                <a:latin typeface="Helvetica" pitchFamily="34" charset="0"/>
              </a:rPr>
              <a:t>Methods to encourage staff input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Thanking people for their contributions</a:t>
            </a:r>
          </a:p>
          <a:p>
            <a:pPr>
              <a:spcBef>
                <a:spcPts val="600"/>
              </a:spcBef>
              <a:spcAft>
                <a:spcPts val="1200"/>
              </a:spcAft>
            </a:pPr>
            <a:r>
              <a:rPr lang="en-AU" sz="2200" dirty="0" smtClean="0">
                <a:latin typeface="Helvetica" pitchFamily="34" charset="0"/>
              </a:rPr>
              <a:t>Taking the time and effort to explain to someone </a:t>
            </a:r>
            <a:br>
              <a:rPr lang="en-AU" sz="2200" dirty="0" smtClean="0">
                <a:latin typeface="Helvetica" pitchFamily="34" charset="0"/>
              </a:rPr>
            </a:br>
            <a:r>
              <a:rPr lang="en-AU" sz="2200" dirty="0" smtClean="0">
                <a:latin typeface="Helvetica" pitchFamily="34" charset="0"/>
              </a:rPr>
              <a:t>who contributed an idea why their idea was not implemented </a:t>
            </a:r>
          </a:p>
          <a:p>
            <a:pPr>
              <a:spcBef>
                <a:spcPts val="600"/>
              </a:spcBef>
              <a:spcAft>
                <a:spcPts val="1200"/>
              </a:spcAft>
            </a:pPr>
            <a:r>
              <a:rPr lang="en-AU" sz="2200" dirty="0" smtClean="0">
                <a:latin typeface="Helvetica" pitchFamily="34" charset="0"/>
              </a:rPr>
              <a:t>Ensuring the person responsible for suggesting                          an effective new approach receives the credit                                  for doing so </a:t>
            </a:r>
          </a:p>
          <a:p>
            <a:pPr>
              <a:spcBef>
                <a:spcPts val="600"/>
              </a:spcBef>
              <a:spcAft>
                <a:spcPts val="1200"/>
              </a:spcAft>
              <a:buNone/>
            </a:pPr>
            <a:endParaRPr lang="en-AU" sz="2000" dirty="0" smtClean="0">
              <a:solidFill>
                <a:srgbClr val="FF6600"/>
              </a:solidFill>
              <a:latin typeface="Helvetica" pitchFamily="34" charset="0"/>
            </a:endParaRPr>
          </a:p>
          <a:p>
            <a:pPr>
              <a:spcBef>
                <a:spcPts val="600"/>
              </a:spcBef>
              <a:spcAft>
                <a:spcPts val="1200"/>
              </a:spcAft>
              <a:buNone/>
            </a:pPr>
            <a:r>
              <a:rPr lang="en-AU" sz="2200" dirty="0" smtClean="0">
                <a:solidFill>
                  <a:srgbClr val="FF6600"/>
                </a:solidFill>
                <a:latin typeface="Helvetica" pitchFamily="34" charset="0"/>
              </a:rPr>
              <a:t>COMPLETE ACTIVITY 23</a:t>
            </a:r>
          </a:p>
          <a:p>
            <a:pPr>
              <a:spcBef>
                <a:spcPts val="600"/>
              </a:spcBef>
              <a:spcAft>
                <a:spcPts val="1200"/>
              </a:spcAft>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98</a:t>
            </a:fld>
            <a:endParaRPr lang="en-US" dirty="0"/>
          </a:p>
        </p:txBody>
      </p:sp>
      <p:pic>
        <p:nvPicPr>
          <p:cNvPr id="6" name="Picture 5" descr="W49_indian_lady_shaking_hands_shutterstock_106067732.jpg"/>
          <p:cNvPicPr>
            <a:picLocks noChangeAspect="1"/>
          </p:cNvPicPr>
          <p:nvPr/>
        </p:nvPicPr>
        <p:blipFill>
          <a:blip r:embed="rId3" cstate="print"/>
          <a:stretch>
            <a:fillRect/>
          </a:stretch>
        </p:blipFill>
        <p:spPr>
          <a:xfrm>
            <a:off x="7236296" y="2348880"/>
            <a:ext cx="1230822" cy="1845310"/>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dirty="0" smtClean="0">
                <a:solidFill>
                  <a:srgbClr val="FF6600"/>
                </a:solidFill>
                <a:latin typeface="Helvetica" pitchFamily="34" charset="0"/>
              </a:rPr>
              <a:t>Element 4:</a:t>
            </a:r>
          </a:p>
          <a:p>
            <a:pPr marL="0" indent="0">
              <a:spcBef>
                <a:spcPts val="600"/>
              </a:spcBef>
              <a:spcAft>
                <a:spcPts val="1200"/>
              </a:spcAft>
              <a:buNone/>
            </a:pPr>
            <a:r>
              <a:rPr lang="en-AU" sz="4000" dirty="0" smtClean="0">
                <a:solidFill>
                  <a:srgbClr val="FF6600"/>
                </a:solidFill>
                <a:latin typeface="Helvetica" pitchFamily="34" charset="0"/>
              </a:rPr>
              <a:t>Implement sales policies and procedures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5" name="Picture 4" descr="A24 shutterstock_186950579.jpg"/>
          <p:cNvPicPr>
            <a:picLocks noChangeAspect="1"/>
          </p:cNvPicPr>
          <p:nvPr/>
        </p:nvPicPr>
        <p:blipFill>
          <a:blip r:embed="rId3" cstate="print"/>
          <a:stretch>
            <a:fillRect/>
          </a:stretch>
        </p:blipFill>
        <p:spPr>
          <a:xfrm>
            <a:off x="5643570" y="4064298"/>
            <a:ext cx="2833686" cy="1788056"/>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indent="0">
              <a:spcBef>
                <a:spcPts val="600"/>
              </a:spcBef>
              <a:spcAft>
                <a:spcPts val="1200"/>
              </a:spcAft>
            </a:pPr>
            <a:r>
              <a:rPr lang="en-AU" sz="3400" b="1" dirty="0" smtClean="0">
                <a:solidFill>
                  <a:srgbClr val="FF6600"/>
                </a:solidFill>
                <a:latin typeface="Helvetica" pitchFamily="34" charset="0"/>
              </a:rPr>
              <a:t>Implement sales policies and procedures</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600"/>
              </a:spcAft>
              <a:buNone/>
            </a:pPr>
            <a:r>
              <a:rPr lang="en-AU" sz="2100" dirty="0" smtClean="0">
                <a:latin typeface="Helvetica" pitchFamily="34" charset="0"/>
              </a:rPr>
              <a:t>Performance Criteria for this Element are: </a:t>
            </a:r>
          </a:p>
          <a:p>
            <a:pPr>
              <a:spcBef>
                <a:spcPts val="600"/>
              </a:spcBef>
              <a:spcAft>
                <a:spcPts val="600"/>
              </a:spcAft>
            </a:pPr>
            <a:r>
              <a:rPr lang="en-AU" sz="2100" dirty="0" smtClean="0">
                <a:latin typeface="Helvetica" pitchFamily="34" charset="0"/>
              </a:rPr>
              <a:t>Implement and monitor adherence to enterprise policy and procedures and relevant legislation in regard to selling </a:t>
            </a:r>
          </a:p>
          <a:p>
            <a:pPr>
              <a:spcBef>
                <a:spcPts val="600"/>
              </a:spcBef>
              <a:spcAft>
                <a:spcPts val="600"/>
              </a:spcAft>
            </a:pPr>
            <a:r>
              <a:rPr lang="en-AU" sz="2100" dirty="0" smtClean="0">
                <a:latin typeface="Helvetica" pitchFamily="34" charset="0"/>
              </a:rPr>
              <a:t>Implement and monitor organisation policy and procedures in regard to sales transactions </a:t>
            </a:r>
          </a:p>
          <a:p>
            <a:pPr>
              <a:spcBef>
                <a:spcPts val="600"/>
              </a:spcBef>
              <a:spcAft>
                <a:spcPts val="600"/>
              </a:spcAft>
            </a:pPr>
            <a:r>
              <a:rPr lang="en-AU" sz="2100" dirty="0" smtClean="0">
                <a:latin typeface="Helvetica" pitchFamily="34" charset="0"/>
              </a:rPr>
              <a:t>Monitor team to ensure information is entered into point of sale equipment accurately </a:t>
            </a:r>
          </a:p>
          <a:p>
            <a:pPr>
              <a:spcBef>
                <a:spcPts val="600"/>
              </a:spcBef>
              <a:spcAft>
                <a:spcPts val="600"/>
              </a:spcAft>
            </a:pPr>
            <a:r>
              <a:rPr lang="en-AU" sz="2100" dirty="0" smtClean="0">
                <a:latin typeface="Helvetica" pitchFamily="34" charset="0"/>
              </a:rPr>
              <a:t>Monitor team to ensure the efficient and                           safe handling of goods through point of sale areas </a:t>
            </a:r>
          </a:p>
          <a:p>
            <a:pPr>
              <a:spcBef>
                <a:spcPts val="600"/>
              </a:spcBef>
              <a:spcAft>
                <a:spcPts val="600"/>
              </a:spcAft>
            </a:pPr>
            <a:r>
              <a:rPr lang="en-AU" sz="2100" dirty="0" smtClean="0">
                <a:latin typeface="Helvetica" pitchFamily="34" charset="0"/>
              </a:rPr>
              <a:t>Monitor team to ensure that products and services are matched to customers’ need</a:t>
            </a: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Sales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Importance of sales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To date we have focused primarily on the role of marketing. Naturally sales activities are a direct result and follow on from marketing</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6" name="Picture 5" descr="shutterstock_149574587.jpg"/>
          <p:cNvPicPr>
            <a:picLocks noChangeAspect="1"/>
          </p:cNvPicPr>
          <p:nvPr/>
        </p:nvPicPr>
        <p:blipFill>
          <a:blip r:embed="rId3" cstate="print"/>
          <a:stretch>
            <a:fillRect/>
          </a:stretch>
        </p:blipFill>
        <p:spPr>
          <a:xfrm>
            <a:off x="5652120" y="3645024"/>
            <a:ext cx="2277111" cy="1512002"/>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Planning of sales activities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lnSpcReduction="10000"/>
          </a:bodyPr>
          <a:lstStyle/>
          <a:p>
            <a:pPr>
              <a:spcBef>
                <a:spcPts val="600"/>
              </a:spcBef>
              <a:spcAft>
                <a:spcPts val="1200"/>
              </a:spcAft>
              <a:buNone/>
            </a:pPr>
            <a:r>
              <a:rPr lang="en-AU" sz="2200" b="1" dirty="0" smtClean="0">
                <a:latin typeface="Helvetica" pitchFamily="34" charset="0"/>
              </a:rPr>
              <a:t>Sales Activities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Allocate accounts or geographical areas to members of the sales team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Set sales targets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Determine the key performance indicators                              to evaluate sales performance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Establish sales policies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Establish sales procedures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selling situations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Identify legislative requirements</a:t>
            </a:r>
            <a:endParaRPr lang="en-US"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7" name="Picture 6" descr="shutterstock_82265860.jpg"/>
          <p:cNvPicPr/>
          <p:nvPr/>
        </p:nvPicPr>
        <p:blipFill>
          <a:blip r:embed="rId3" cstate="print"/>
          <a:stretch>
            <a:fillRect/>
          </a:stretch>
        </p:blipFill>
        <p:spPr>
          <a:xfrm>
            <a:off x="6156176" y="4221088"/>
            <a:ext cx="2243142" cy="1352552"/>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Allocating accounts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Allocating accounts / geographical areas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Geographical areas </a:t>
            </a:r>
          </a:p>
          <a:p>
            <a:pPr lvl="0">
              <a:spcBef>
                <a:spcPts val="600"/>
              </a:spcBef>
              <a:spcAft>
                <a:spcPts val="1200"/>
              </a:spcAft>
            </a:pPr>
            <a:r>
              <a:rPr lang="en-AU" sz="2200" dirty="0" smtClean="0">
                <a:latin typeface="Helvetica" pitchFamily="34" charset="0"/>
              </a:rPr>
              <a:t>Products or services </a:t>
            </a:r>
          </a:p>
          <a:p>
            <a:pPr>
              <a:spcBef>
                <a:spcPts val="600"/>
              </a:spcBef>
              <a:spcAft>
                <a:spcPts val="1200"/>
              </a:spcAft>
            </a:pPr>
            <a:r>
              <a:rPr lang="en-AU" sz="2200" dirty="0" smtClean="0">
                <a:latin typeface="Helvetica" pitchFamily="34" charset="0"/>
              </a:rPr>
              <a:t>Industry</a:t>
            </a:r>
          </a:p>
          <a:p>
            <a:pPr>
              <a:spcBef>
                <a:spcPts val="600"/>
              </a:spcBef>
              <a:spcAft>
                <a:spcPts val="1200"/>
              </a:spcAft>
            </a:pP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 </a:t>
            </a:r>
            <a:r>
              <a:rPr lang="en-AU" sz="2200" dirty="0" smtClean="0">
                <a:solidFill>
                  <a:srgbClr val="FF6600"/>
                </a:solidFill>
                <a:latin typeface="Helvetica" pitchFamily="34" charset="0"/>
              </a:rPr>
              <a:t>COMPLETE ACTIVITY 24</a:t>
            </a:r>
          </a:p>
          <a:p>
            <a:pPr>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6" name="Picture 5" descr="shutterstock_97356959.jpg"/>
          <p:cNvPicPr/>
          <p:nvPr/>
        </p:nvPicPr>
        <p:blipFill>
          <a:blip r:embed="rId3" cstate="print"/>
          <a:stretch>
            <a:fillRect/>
          </a:stretch>
        </p:blipFill>
        <p:spPr>
          <a:xfrm>
            <a:off x="5940152" y="2852936"/>
            <a:ext cx="2138373" cy="1328744"/>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Setting sales targets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Purpose of sales targets</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Sales targets are important, as they can be used for:</a:t>
            </a:r>
          </a:p>
          <a:p>
            <a:pPr lvl="0">
              <a:spcBef>
                <a:spcPts val="600"/>
              </a:spcBef>
              <a:spcAft>
                <a:spcPts val="1200"/>
              </a:spcAft>
            </a:pPr>
            <a:r>
              <a:rPr lang="en-AU" sz="2200" dirty="0" smtClean="0">
                <a:latin typeface="Helvetica" pitchFamily="34" charset="0"/>
              </a:rPr>
              <a:t>Measuring and controlling sales performance</a:t>
            </a:r>
          </a:p>
          <a:p>
            <a:pPr lvl="0">
              <a:spcBef>
                <a:spcPts val="600"/>
              </a:spcBef>
              <a:spcAft>
                <a:spcPts val="1200"/>
              </a:spcAft>
            </a:pPr>
            <a:r>
              <a:rPr lang="en-AU" sz="2200" dirty="0" smtClean="0">
                <a:latin typeface="Helvetica" pitchFamily="34" charset="0"/>
              </a:rPr>
              <a:t>Motivating sales staff by linking the sales targets to compensation plans</a:t>
            </a:r>
          </a:p>
          <a:p>
            <a:pPr lvl="0">
              <a:spcBef>
                <a:spcPts val="600"/>
              </a:spcBef>
              <a:spcAft>
                <a:spcPts val="1200"/>
              </a:spcAft>
            </a:pPr>
            <a:r>
              <a:rPr lang="en-AU" sz="2200" dirty="0" smtClean="0">
                <a:latin typeface="Helvetica" pitchFamily="34" charset="0"/>
              </a:rPr>
              <a:t>Identifying the strengths and weaknesses of the company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7" name="Picture 6" descr="shutterstock_38546896.jpg"/>
          <p:cNvPicPr/>
          <p:nvPr/>
        </p:nvPicPr>
        <p:blipFill>
          <a:blip r:embed="rId3" cstate="print"/>
          <a:stretch>
            <a:fillRect/>
          </a:stretch>
        </p:blipFill>
        <p:spPr>
          <a:xfrm>
            <a:off x="6660232" y="4869160"/>
            <a:ext cx="1938511" cy="1412354"/>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AU" sz="3400" b="1" dirty="0" smtClean="0">
                <a:solidFill>
                  <a:srgbClr val="FF6600"/>
                </a:solidFill>
                <a:latin typeface="Helvetica" pitchFamily="34" charset="0"/>
              </a:rPr>
              <a:t>Setting sales targets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Sales targets activities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Set long and short term targets</a:t>
            </a:r>
          </a:p>
          <a:p>
            <a:pPr>
              <a:spcBef>
                <a:spcPts val="600"/>
              </a:spcBef>
              <a:spcAft>
                <a:spcPts val="1200"/>
              </a:spcAft>
            </a:pPr>
            <a:r>
              <a:rPr lang="en-AU" sz="2200" dirty="0" smtClean="0">
                <a:latin typeface="Helvetica" pitchFamily="34" charset="0"/>
              </a:rPr>
              <a:t>Involve your sales team</a:t>
            </a:r>
          </a:p>
          <a:p>
            <a:pPr>
              <a:spcBef>
                <a:spcPts val="600"/>
              </a:spcBef>
              <a:spcAft>
                <a:spcPts val="1200"/>
              </a:spcAft>
            </a:pPr>
            <a:r>
              <a:rPr lang="en-AU" sz="2200" dirty="0" smtClean="0">
                <a:latin typeface="Helvetica" pitchFamily="34" charset="0"/>
              </a:rPr>
              <a:t>They must be ‘SMART’</a:t>
            </a:r>
          </a:p>
          <a:p>
            <a:pPr lvl="0">
              <a:spcBef>
                <a:spcPts val="600"/>
              </a:spcBef>
              <a:spcAft>
                <a:spcPts val="1200"/>
              </a:spcAft>
            </a:pPr>
            <a:r>
              <a:rPr lang="en-AU" sz="2200" dirty="0" smtClean="0">
                <a:latin typeface="Helvetica" pitchFamily="34" charset="0"/>
              </a:rPr>
              <a:t>Review past sales figures</a:t>
            </a:r>
          </a:p>
          <a:p>
            <a:pPr lvl="0">
              <a:spcBef>
                <a:spcPts val="600"/>
              </a:spcBef>
              <a:spcAft>
                <a:spcPts val="1200"/>
              </a:spcAft>
            </a:pPr>
            <a:r>
              <a:rPr lang="en-AU" sz="2200" dirty="0" smtClean="0">
                <a:latin typeface="Helvetica" pitchFamily="34" charset="0"/>
              </a:rPr>
              <a:t>Forecast the sales for your organisation’s                                products services</a:t>
            </a:r>
          </a:p>
          <a:p>
            <a:pPr lvl="0">
              <a:spcBef>
                <a:spcPts val="600"/>
              </a:spcBef>
              <a:spcAft>
                <a:spcPts val="1200"/>
              </a:spcAft>
            </a:pPr>
            <a:r>
              <a:rPr lang="en-AU" sz="2200" dirty="0" smtClean="0">
                <a:latin typeface="Helvetica" pitchFamily="34" charset="0"/>
              </a:rPr>
              <a:t>Discuss with your sales team</a:t>
            </a: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6" name="Picture 5" descr="shutterstock_96331862.jpg"/>
          <p:cNvPicPr/>
          <p:nvPr/>
        </p:nvPicPr>
        <p:blipFill>
          <a:blip r:embed="rId3" cstate="print"/>
          <a:stretch>
            <a:fillRect/>
          </a:stretch>
        </p:blipFill>
        <p:spPr>
          <a:xfrm>
            <a:off x="6084168" y="2320106"/>
            <a:ext cx="2058144" cy="1684958"/>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Determine key performance indicators</a:t>
            </a:r>
            <a:endParaRPr lang="en-AU" sz="3400" dirty="0" smtClean="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lnSpcReduction="10000"/>
          </a:bodyPr>
          <a:lstStyle/>
          <a:p>
            <a:pPr>
              <a:spcBef>
                <a:spcPts val="600"/>
              </a:spcBef>
              <a:spcAft>
                <a:spcPts val="600"/>
              </a:spcAft>
              <a:buNone/>
            </a:pPr>
            <a:r>
              <a:rPr lang="en-AU" sz="2200" dirty="0" smtClean="0">
                <a:latin typeface="Helvetica" pitchFamily="34" charset="0"/>
              </a:rPr>
              <a:t>Key performance indicators will include:</a:t>
            </a:r>
          </a:p>
          <a:p>
            <a:pPr lvl="0">
              <a:spcBef>
                <a:spcPts val="600"/>
              </a:spcBef>
              <a:spcAft>
                <a:spcPts val="600"/>
              </a:spcAft>
            </a:pPr>
            <a:r>
              <a:rPr lang="en-AU" sz="2200" dirty="0" smtClean="0">
                <a:latin typeface="Helvetica" pitchFamily="34" charset="0"/>
              </a:rPr>
              <a:t>Sales objectives</a:t>
            </a:r>
          </a:p>
          <a:p>
            <a:pPr lvl="0">
              <a:spcBef>
                <a:spcPts val="600"/>
              </a:spcBef>
              <a:spcAft>
                <a:spcPts val="600"/>
              </a:spcAft>
            </a:pPr>
            <a:r>
              <a:rPr lang="en-AU" sz="2200" dirty="0" smtClean="0">
                <a:latin typeface="Helvetica" pitchFamily="34" charset="0"/>
              </a:rPr>
              <a:t>Impact on service levels and customer satisfaction levels</a:t>
            </a:r>
          </a:p>
          <a:p>
            <a:pPr lvl="0">
              <a:spcBef>
                <a:spcPts val="600"/>
              </a:spcBef>
              <a:spcAft>
                <a:spcPts val="600"/>
              </a:spcAft>
            </a:pPr>
            <a:r>
              <a:rPr lang="en-AU" sz="2200" dirty="0" smtClean="0">
                <a:latin typeface="Helvetica" pitchFamily="34" charset="0"/>
              </a:rPr>
              <a:t>Consideration of the intangible elements </a:t>
            </a:r>
          </a:p>
          <a:p>
            <a:pPr lvl="0">
              <a:spcBef>
                <a:spcPts val="600"/>
              </a:spcBef>
              <a:spcAft>
                <a:spcPts val="600"/>
              </a:spcAft>
            </a:pPr>
            <a:r>
              <a:rPr lang="en-AU" sz="2200" dirty="0" smtClean="0">
                <a:latin typeface="Helvetica" pitchFamily="34" charset="0"/>
              </a:rPr>
              <a:t>Relevant timelines and milestones</a:t>
            </a:r>
          </a:p>
          <a:p>
            <a:pPr lvl="0">
              <a:spcBef>
                <a:spcPts val="600"/>
              </a:spcBef>
              <a:spcAft>
                <a:spcPts val="600"/>
              </a:spcAft>
            </a:pPr>
            <a:r>
              <a:rPr lang="en-AU" sz="2200" dirty="0" smtClean="0">
                <a:latin typeface="Helvetica" pitchFamily="34" charset="0"/>
              </a:rPr>
              <a:t>Return in investment of monies spent on sales activities</a:t>
            </a:r>
          </a:p>
          <a:p>
            <a:pPr lvl="0">
              <a:spcBef>
                <a:spcPts val="600"/>
              </a:spcBef>
              <a:spcAft>
                <a:spcPts val="600"/>
              </a:spcAft>
            </a:pPr>
            <a:r>
              <a:rPr lang="en-AU" sz="2200" dirty="0" smtClean="0">
                <a:latin typeface="Helvetica" pitchFamily="34" charset="0"/>
              </a:rPr>
              <a:t>Relevant success rates </a:t>
            </a:r>
          </a:p>
          <a:p>
            <a:pPr lvl="0">
              <a:spcBef>
                <a:spcPts val="600"/>
              </a:spcBef>
              <a:spcAft>
                <a:spcPts val="600"/>
              </a:spcAft>
              <a:buNone/>
            </a:pPr>
            <a:endParaRPr lang="en-AU" sz="2200" dirty="0" smtClean="0">
              <a:solidFill>
                <a:srgbClr val="FF6600"/>
              </a:solidFill>
              <a:latin typeface="Helvetica" pitchFamily="34" charset="0"/>
            </a:endParaRPr>
          </a:p>
          <a:p>
            <a:pPr lvl="0">
              <a:spcBef>
                <a:spcPts val="600"/>
              </a:spcBef>
              <a:spcAft>
                <a:spcPts val="600"/>
              </a:spcAft>
              <a:buNone/>
            </a:pPr>
            <a:r>
              <a:rPr lang="en-AU" sz="2200" dirty="0" smtClean="0">
                <a:solidFill>
                  <a:srgbClr val="FF6600"/>
                </a:solidFill>
                <a:latin typeface="Helvetica" pitchFamily="34" charset="0"/>
              </a:rPr>
              <a:t>COMPLETE ACTIVITY 25</a:t>
            </a:r>
            <a:endParaRPr lang="en-AU" sz="2200" dirty="0" smtClean="0">
              <a:latin typeface="Helvetica" pitchFamily="34" charset="0"/>
            </a:endParaRPr>
          </a:p>
          <a:p>
            <a:pPr>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6" name="Picture 5" descr="shutterstock_131706869.jpg"/>
          <p:cNvPicPr/>
          <p:nvPr/>
        </p:nvPicPr>
        <p:blipFill>
          <a:blip r:embed="rId3" cstate="print"/>
          <a:stretch>
            <a:fillRect/>
          </a:stretch>
        </p:blipFill>
        <p:spPr>
          <a:xfrm>
            <a:off x="7236296" y="3068960"/>
            <a:ext cx="1628775" cy="1343025"/>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Sales policies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Identify sales policies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Meeting and greeting the customer </a:t>
            </a:r>
          </a:p>
          <a:p>
            <a:pPr lvl="0">
              <a:spcBef>
                <a:spcPts val="600"/>
              </a:spcBef>
              <a:spcAft>
                <a:spcPts val="1200"/>
              </a:spcAft>
            </a:pPr>
            <a:r>
              <a:rPr lang="en-AU" sz="2200" dirty="0" smtClean="0">
                <a:latin typeface="Helvetica" pitchFamily="34" charset="0"/>
              </a:rPr>
              <a:t>Selling techniques </a:t>
            </a:r>
          </a:p>
          <a:p>
            <a:pPr lvl="0">
              <a:spcBef>
                <a:spcPts val="600"/>
              </a:spcBef>
              <a:spcAft>
                <a:spcPts val="1200"/>
              </a:spcAft>
            </a:pPr>
            <a:r>
              <a:rPr lang="en-AU" sz="2200" dirty="0" smtClean="0">
                <a:latin typeface="Helvetica" pitchFamily="34" charset="0"/>
              </a:rPr>
              <a:t>Meeting buying objections</a:t>
            </a:r>
          </a:p>
          <a:p>
            <a:pPr lvl="0">
              <a:spcBef>
                <a:spcPts val="600"/>
              </a:spcBef>
              <a:spcAft>
                <a:spcPts val="1200"/>
              </a:spcAft>
            </a:pPr>
            <a:r>
              <a:rPr lang="en-AU" sz="2200" dirty="0" smtClean="0">
                <a:latin typeface="Helvetica" pitchFamily="34" charset="0"/>
              </a:rPr>
              <a:t>Identification of selling and promotional techniques, strategies, promotions and approaches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6" name="Picture 5" descr="shutterstock_17560465.jpg"/>
          <p:cNvPicPr/>
          <p:nvPr/>
        </p:nvPicPr>
        <p:blipFill>
          <a:blip r:embed="rId3" cstate="print"/>
          <a:stretch>
            <a:fillRect/>
          </a:stretch>
        </p:blipFill>
        <p:spPr>
          <a:xfrm>
            <a:off x="6444208" y="1844824"/>
            <a:ext cx="1384548" cy="1606674"/>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Sales policies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Identify sales policies </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Identification of incentives</a:t>
            </a:r>
          </a:p>
          <a:p>
            <a:pPr lvl="0">
              <a:spcBef>
                <a:spcPts val="600"/>
              </a:spcBef>
              <a:spcAft>
                <a:spcPts val="1200"/>
              </a:spcAft>
            </a:pPr>
            <a:r>
              <a:rPr lang="en-AU" sz="2200" dirty="0" smtClean="0">
                <a:latin typeface="Helvetica" pitchFamily="34" charset="0"/>
              </a:rPr>
              <a:t>Persons to promote or make sales</a:t>
            </a:r>
          </a:p>
          <a:p>
            <a:pPr lvl="0">
              <a:spcBef>
                <a:spcPts val="600"/>
              </a:spcBef>
              <a:spcAft>
                <a:spcPts val="1200"/>
              </a:spcAft>
            </a:pPr>
            <a:r>
              <a:rPr lang="en-AU" sz="2200" dirty="0" smtClean="0">
                <a:latin typeface="Helvetica" pitchFamily="34" charset="0"/>
              </a:rPr>
              <a:t>Conduct of sales staff</a:t>
            </a:r>
          </a:p>
          <a:p>
            <a:pPr lvl="0">
              <a:spcBef>
                <a:spcPts val="600"/>
              </a:spcBef>
              <a:spcAft>
                <a:spcPts val="1200"/>
              </a:spcAft>
            </a:pPr>
            <a:r>
              <a:rPr lang="en-AU" sz="2200" dirty="0" smtClean="0">
                <a:latin typeface="Helvetica" pitchFamily="34" charset="0"/>
              </a:rPr>
              <a:t>Classification of individual sales staff roles, responsibilities and limits</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6" name="Picture 5" descr="shutterstock_104238854.jpg"/>
          <p:cNvPicPr/>
          <p:nvPr/>
        </p:nvPicPr>
        <p:blipFill>
          <a:blip r:embed="rId3" cstate="print"/>
          <a:stretch>
            <a:fillRect/>
          </a:stretch>
        </p:blipFill>
        <p:spPr>
          <a:xfrm>
            <a:off x="6084168" y="2204864"/>
            <a:ext cx="1764665" cy="1171575"/>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Sales procedures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340768"/>
            <a:ext cx="7467600" cy="5301208"/>
          </a:xfrm>
        </p:spPr>
        <p:txBody>
          <a:bodyPr>
            <a:normAutofit lnSpcReduction="10000"/>
          </a:bodyPr>
          <a:lstStyle/>
          <a:p>
            <a:pPr>
              <a:spcBef>
                <a:spcPts val="600"/>
              </a:spcBef>
              <a:spcAft>
                <a:spcPts val="600"/>
              </a:spcAft>
              <a:buNone/>
            </a:pPr>
            <a:r>
              <a:rPr lang="en-AU" sz="2200" b="1" dirty="0" smtClean="0">
                <a:latin typeface="Helvetica" pitchFamily="34" charset="0"/>
              </a:rPr>
              <a:t>Identify sales procedures</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Approved selling approaches and techniques</a:t>
            </a:r>
          </a:p>
          <a:p>
            <a:pPr lvl="0">
              <a:spcBef>
                <a:spcPts val="600"/>
              </a:spcBef>
              <a:spcAft>
                <a:spcPts val="600"/>
              </a:spcAft>
            </a:pPr>
            <a:r>
              <a:rPr lang="en-AU" sz="2200" dirty="0" smtClean="0">
                <a:latin typeface="Helvetica" pitchFamily="34" charset="0"/>
              </a:rPr>
              <a:t>Techniques for approaching and closing a sale</a:t>
            </a:r>
          </a:p>
          <a:p>
            <a:pPr lvl="0">
              <a:spcBef>
                <a:spcPts val="600"/>
              </a:spcBef>
              <a:spcAft>
                <a:spcPts val="600"/>
              </a:spcAft>
            </a:pPr>
            <a:r>
              <a:rPr lang="en-AU" sz="2200" dirty="0" smtClean="0">
                <a:latin typeface="Helvetica" pitchFamily="34" charset="0"/>
              </a:rPr>
              <a:t>Allowable types and styles of advertising campaigns</a:t>
            </a:r>
          </a:p>
          <a:p>
            <a:pPr lvl="0">
              <a:spcBef>
                <a:spcPts val="600"/>
              </a:spcBef>
              <a:spcAft>
                <a:spcPts val="600"/>
              </a:spcAft>
            </a:pPr>
            <a:r>
              <a:rPr lang="en-AU" sz="2200" dirty="0" smtClean="0">
                <a:latin typeface="Helvetica" pitchFamily="34" charset="0"/>
              </a:rPr>
              <a:t>Specified target markets including niche markets</a:t>
            </a:r>
          </a:p>
          <a:p>
            <a:pPr lvl="0">
              <a:spcBef>
                <a:spcPts val="600"/>
              </a:spcBef>
              <a:spcAft>
                <a:spcPts val="600"/>
              </a:spcAft>
            </a:pPr>
            <a:r>
              <a:rPr lang="en-AU" sz="2200" dirty="0" smtClean="0">
                <a:latin typeface="Helvetica" pitchFamily="34" charset="0"/>
              </a:rPr>
              <a:t>Media to be used for advertising</a:t>
            </a:r>
          </a:p>
          <a:p>
            <a:pPr lvl="0">
              <a:spcBef>
                <a:spcPts val="600"/>
              </a:spcBef>
              <a:spcAft>
                <a:spcPts val="600"/>
              </a:spcAft>
            </a:pPr>
            <a:r>
              <a:rPr lang="en-AU" sz="2200" dirty="0" smtClean="0">
                <a:latin typeface="Helvetica" pitchFamily="34" charset="0"/>
              </a:rPr>
              <a:t>Promotional approaches </a:t>
            </a:r>
          </a:p>
          <a:p>
            <a:pPr lvl="0">
              <a:spcBef>
                <a:spcPts val="600"/>
              </a:spcBef>
              <a:spcAft>
                <a:spcPts val="600"/>
              </a:spcAft>
            </a:pPr>
            <a:r>
              <a:rPr lang="en-AU" sz="2200" dirty="0" smtClean="0">
                <a:latin typeface="Helvetica" pitchFamily="34" charset="0"/>
              </a:rPr>
              <a:t>Public relations initiatives </a:t>
            </a:r>
          </a:p>
          <a:p>
            <a:pPr lvl="0">
              <a:spcBef>
                <a:spcPts val="600"/>
              </a:spcBef>
              <a:spcAft>
                <a:spcPts val="600"/>
              </a:spcAft>
            </a:pPr>
            <a:r>
              <a:rPr lang="en-AU" sz="2200" dirty="0" smtClean="0">
                <a:latin typeface="Helvetica" pitchFamily="34" charset="0"/>
              </a:rPr>
              <a:t>Scopes of authority </a:t>
            </a:r>
          </a:p>
          <a:p>
            <a:pPr>
              <a:spcBef>
                <a:spcPts val="600"/>
              </a:spcBef>
              <a:spcAft>
                <a:spcPts val="600"/>
              </a:spcAft>
            </a:pPr>
            <a:r>
              <a:rPr lang="en-AU" sz="2200" dirty="0" smtClean="0">
                <a:latin typeface="Helvetica" pitchFamily="34" charset="0"/>
              </a:rPr>
              <a:t>Price-related issues</a:t>
            </a:r>
          </a:p>
          <a:p>
            <a:pPr lvl="0">
              <a:spcBef>
                <a:spcPts val="600"/>
              </a:spcBef>
              <a:spcAft>
                <a:spcPts val="600"/>
              </a:spcAft>
              <a:buNone/>
            </a:pPr>
            <a:r>
              <a:rPr lang="en-AU" sz="2200" dirty="0" smtClean="0">
                <a:solidFill>
                  <a:srgbClr val="FF6600"/>
                </a:solidFill>
                <a:latin typeface="Helvetica" pitchFamily="34" charset="0"/>
              </a:rPr>
              <a:t>COMPLETE ACTIVITY 26</a:t>
            </a:r>
            <a:endParaRPr lang="en-AU" sz="2200" dirty="0" smtClean="0">
              <a:latin typeface="Helvetica" pitchFamily="34" charset="0"/>
            </a:endParaRPr>
          </a:p>
          <a:p>
            <a:pPr>
              <a:spcBef>
                <a:spcPts val="600"/>
              </a:spcBef>
              <a:spcAft>
                <a:spcPts val="6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7" name="Picture 6" descr="shutterstock_181388756.jpg"/>
          <p:cNvPicPr/>
          <p:nvPr/>
        </p:nvPicPr>
        <p:blipFill>
          <a:blip r:embed="rId3" cstate="print"/>
          <a:stretch>
            <a:fillRect/>
          </a:stretch>
        </p:blipFill>
        <p:spPr>
          <a:xfrm>
            <a:off x="6300192" y="4149080"/>
            <a:ext cx="1905000" cy="1276350"/>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Identify selling situations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lnSpcReduction="10000"/>
          </a:bodyPr>
          <a:lstStyle/>
          <a:p>
            <a:pPr>
              <a:spcBef>
                <a:spcPts val="600"/>
              </a:spcBef>
              <a:spcAft>
                <a:spcPts val="1200"/>
              </a:spcAft>
              <a:buNone/>
            </a:pPr>
            <a:r>
              <a:rPr lang="en-AU" sz="2200" b="1" dirty="0" smtClean="0">
                <a:latin typeface="Helvetica" pitchFamily="34" charset="0"/>
              </a:rPr>
              <a:t>Types of selling situations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Face-to-face, one-to-one sales situations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Face-to-face, group sales situations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Telephone sales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Sales advice and requests made via the fax machine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Internet sales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Referral business </a:t>
            </a:r>
          </a:p>
          <a:p>
            <a:pPr>
              <a:spcBef>
                <a:spcPts val="600"/>
              </a:spcBef>
              <a:spcAft>
                <a:spcPts val="1200"/>
              </a:spcAft>
            </a:pPr>
            <a:r>
              <a:rPr lang="en-AU" sz="2200" dirty="0" smtClean="0">
                <a:latin typeface="Helvetica" pitchFamily="34" charset="0"/>
              </a:rPr>
              <a:t>Social media</a:t>
            </a:r>
          </a:p>
          <a:p>
            <a:pPr lvl="0">
              <a:spcBef>
                <a:spcPts val="600"/>
              </a:spcBef>
              <a:spcAft>
                <a:spcPts val="1200"/>
              </a:spcAft>
              <a:buNone/>
            </a:pPr>
            <a:r>
              <a:rPr lang="en-AU" sz="2200" dirty="0" smtClean="0">
                <a:solidFill>
                  <a:srgbClr val="FF6600"/>
                </a:solidFill>
                <a:latin typeface="Helvetica" pitchFamily="34" charset="0"/>
              </a:rPr>
              <a:t>COMPLETE ACTIVITY 27</a:t>
            </a: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6" name="Picture 5" descr="shutterstock_141853249.jpg"/>
          <p:cNvPicPr/>
          <p:nvPr/>
        </p:nvPicPr>
        <p:blipFill>
          <a:blip r:embed="rId3" cstate="print"/>
          <a:stretch>
            <a:fillRect/>
          </a:stretch>
        </p:blipFill>
        <p:spPr>
          <a:xfrm>
            <a:off x="6084168" y="4581128"/>
            <a:ext cx="2074545" cy="1381125"/>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Identify legislative requirements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Types of legislative requirements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Prices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Tobacco and liquor laws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Industry Codes of Practice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Occupational </a:t>
            </a:r>
            <a:r>
              <a:rPr lang="en-AU" sz="2200" dirty="0" smtClean="0"/>
              <a:t>Safety and Health (</a:t>
            </a:r>
            <a:r>
              <a:rPr lang="en-AU" sz="2200" dirty="0" smtClean="0">
                <a:latin typeface="Helvetica" pitchFamily="34" charset="0"/>
              </a:rPr>
              <a:t>OSH)</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Commercial confidentiality</a:t>
            </a:r>
            <a:endParaRPr lang="en-US" sz="2200" dirty="0" smtClean="0">
              <a:latin typeface="Helvetica" pitchFamily="34" charset="0"/>
            </a:endParaRPr>
          </a:p>
          <a:p>
            <a:pPr lvl="0">
              <a:spcBef>
                <a:spcPts val="600"/>
              </a:spcBef>
              <a:spcAft>
                <a:spcPts val="1200"/>
              </a:spcAft>
              <a:buNone/>
            </a:pPr>
            <a:endParaRPr lang="en-US" sz="2400" dirty="0" smtClean="0">
              <a:solidFill>
                <a:srgbClr val="FF6600"/>
              </a:solidFill>
              <a:latin typeface="Helvetica" pitchFamily="34" charset="0"/>
            </a:endParaRPr>
          </a:p>
          <a:p>
            <a:pPr lvl="0">
              <a:spcBef>
                <a:spcPts val="600"/>
              </a:spcBef>
              <a:spcAft>
                <a:spcPts val="1200"/>
              </a:spcAft>
              <a:buNone/>
            </a:pPr>
            <a:r>
              <a:rPr lang="en-AU" sz="2200" dirty="0" smtClean="0">
                <a:solidFill>
                  <a:srgbClr val="FF6600"/>
                </a:solidFill>
                <a:latin typeface="Helvetica" pitchFamily="34" charset="0"/>
              </a:rPr>
              <a:t>COMPLETE ACTIVITY 28</a:t>
            </a: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8" name="Picture 7" descr="shutterstock_165739871.jpg"/>
          <p:cNvPicPr/>
          <p:nvPr/>
        </p:nvPicPr>
        <p:blipFill>
          <a:blip r:embed="rId3" cstate="print"/>
          <a:stretch>
            <a:fillRect/>
          </a:stretch>
        </p:blipFill>
        <p:spPr>
          <a:xfrm>
            <a:off x="6372200" y="1988840"/>
            <a:ext cx="1863411" cy="1738315"/>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Policies regarding sales activities and transactions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dirty="0" smtClean="0">
                <a:latin typeface="Helvetica" pitchFamily="34" charset="0"/>
              </a:rPr>
              <a:t>This section will focus on the skills associated with:</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General sales techniques required to undertake sales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Techniques used when conducting sales transactions</a:t>
            </a:r>
            <a:endParaRPr lang="en-US" sz="2200" dirty="0" smtClean="0">
              <a:latin typeface="Helvetica" pitchFamily="34" charset="0"/>
            </a:endParaRPr>
          </a:p>
          <a:p>
            <a:pPr>
              <a:spcBef>
                <a:spcPts val="600"/>
              </a:spcBef>
              <a:spcAft>
                <a:spcPts val="1200"/>
              </a:spcAft>
            </a:pPr>
            <a:endParaRPr lang="en-AU" sz="2400" dirty="0" smtClean="0"/>
          </a:p>
          <a:p>
            <a:pPr>
              <a:spcBef>
                <a:spcPts val="600"/>
              </a:spcBef>
              <a:spcAft>
                <a:spcPts val="1200"/>
              </a:spcAft>
            </a:pPr>
            <a:endParaRPr lang="en-AU" sz="2400" dirty="0" smtClean="0"/>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7" name="Picture 6" descr="shutterstock_118921213.jpg"/>
          <p:cNvPicPr>
            <a:picLocks noChangeAspect="1"/>
          </p:cNvPicPr>
          <p:nvPr/>
        </p:nvPicPr>
        <p:blipFill>
          <a:blip r:embed="rId3" cstate="print"/>
          <a:stretch>
            <a:fillRect/>
          </a:stretch>
        </p:blipFill>
        <p:spPr>
          <a:xfrm>
            <a:off x="3491880" y="3933056"/>
            <a:ext cx="2333620" cy="1556525"/>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Use selling techniques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412776"/>
            <a:ext cx="7467600" cy="4968552"/>
          </a:xfrm>
        </p:spPr>
        <p:txBody>
          <a:bodyPr>
            <a:normAutofit/>
          </a:bodyPr>
          <a:lstStyle/>
          <a:p>
            <a:pPr>
              <a:spcBef>
                <a:spcPts val="600"/>
              </a:spcBef>
              <a:spcAft>
                <a:spcPts val="1200"/>
              </a:spcAft>
              <a:buNone/>
            </a:pPr>
            <a:r>
              <a:rPr lang="en-AU" sz="2200" b="1" dirty="0" smtClean="0">
                <a:latin typeface="Helvetica" pitchFamily="34" charset="0"/>
              </a:rPr>
              <a:t>Basic sales techniques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 best way to encourage customers to use and buy products and services is to promote them according to a few simple guidelines: </a:t>
            </a:r>
          </a:p>
          <a:p>
            <a:pPr lvl="0">
              <a:spcBef>
                <a:spcPts val="600"/>
              </a:spcBef>
              <a:spcAft>
                <a:spcPts val="1200"/>
              </a:spcAft>
            </a:pPr>
            <a:r>
              <a:rPr lang="en-AU" sz="2200" dirty="0" smtClean="0">
                <a:latin typeface="Helvetica" pitchFamily="34" charset="0"/>
              </a:rPr>
              <a:t>Don’t try encouraging customers to purchase something they don’t want </a:t>
            </a:r>
          </a:p>
          <a:p>
            <a:pPr lvl="0">
              <a:spcBef>
                <a:spcPts val="600"/>
              </a:spcBef>
              <a:spcAft>
                <a:spcPts val="1200"/>
              </a:spcAft>
            </a:pPr>
            <a:r>
              <a:rPr lang="en-AU" sz="2200" dirty="0" smtClean="0">
                <a:latin typeface="Helvetica" pitchFamily="34" charset="0"/>
              </a:rPr>
              <a:t>Encourage customer to purchase something                           they may want</a:t>
            </a:r>
          </a:p>
          <a:p>
            <a:pPr>
              <a:spcBef>
                <a:spcPts val="600"/>
              </a:spcBef>
              <a:spcAft>
                <a:spcPts val="1200"/>
              </a:spcAft>
            </a:pPr>
            <a:endParaRPr lang="en-AU" sz="2400" dirty="0" smtClean="0"/>
          </a:p>
          <a:p>
            <a:pPr>
              <a:spcBef>
                <a:spcPts val="600"/>
              </a:spcBef>
              <a:spcAft>
                <a:spcPts val="1200"/>
              </a:spcAft>
            </a:pPr>
            <a:endParaRPr lang="en-AU" sz="2400" dirty="0" smtClean="0"/>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6" name="Picture 5" descr="shutterstock_134583104.jpg"/>
          <p:cNvPicPr/>
          <p:nvPr/>
        </p:nvPicPr>
        <p:blipFill>
          <a:blip r:embed="rId3" cstate="print"/>
          <a:stretch>
            <a:fillRect/>
          </a:stretch>
        </p:blipFill>
        <p:spPr>
          <a:xfrm>
            <a:off x="3131840" y="5013176"/>
            <a:ext cx="1981374" cy="1440929"/>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Use selling techniques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539552" y="1412776"/>
            <a:ext cx="7467600" cy="4968552"/>
          </a:xfrm>
        </p:spPr>
        <p:txBody>
          <a:bodyPr>
            <a:normAutofit/>
          </a:bodyPr>
          <a:lstStyle/>
          <a:p>
            <a:pPr>
              <a:spcBef>
                <a:spcPts val="600"/>
              </a:spcBef>
              <a:spcAft>
                <a:spcPts val="1200"/>
              </a:spcAft>
              <a:buNone/>
            </a:pPr>
            <a:r>
              <a:rPr lang="en-AU" sz="2200" b="1" dirty="0" smtClean="0">
                <a:latin typeface="Helvetica" pitchFamily="34" charset="0"/>
              </a:rPr>
              <a:t>Basic sales techniques</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Identify reason for purchase</a:t>
            </a:r>
          </a:p>
          <a:p>
            <a:pPr>
              <a:spcBef>
                <a:spcPts val="600"/>
              </a:spcBef>
              <a:spcAft>
                <a:spcPts val="1200"/>
              </a:spcAft>
            </a:pPr>
            <a:r>
              <a:rPr lang="en-AU" sz="2200" dirty="0" smtClean="0">
                <a:latin typeface="Helvetica" pitchFamily="34" charset="0"/>
              </a:rPr>
              <a:t>Working out who will make the actual                                    and final purchase decision</a:t>
            </a:r>
          </a:p>
          <a:p>
            <a:pPr>
              <a:spcBef>
                <a:spcPts val="600"/>
              </a:spcBef>
              <a:spcAft>
                <a:spcPts val="1200"/>
              </a:spcAft>
            </a:pPr>
            <a:r>
              <a:rPr lang="en-AU" sz="2200" dirty="0" smtClean="0">
                <a:latin typeface="Helvetica" pitchFamily="34" charset="0"/>
              </a:rPr>
              <a:t>Provide options and alternatives</a:t>
            </a:r>
          </a:p>
          <a:p>
            <a:pPr>
              <a:spcBef>
                <a:spcPts val="600"/>
              </a:spcBef>
              <a:spcAft>
                <a:spcPts val="1200"/>
              </a:spcAft>
            </a:pPr>
            <a:r>
              <a:rPr lang="en-AU" sz="2200" dirty="0" smtClean="0">
                <a:latin typeface="Helvetica" pitchFamily="34" charset="0"/>
              </a:rPr>
              <a:t>Put the purchase into context</a:t>
            </a:r>
          </a:p>
          <a:p>
            <a:pPr>
              <a:spcBef>
                <a:spcPts val="600"/>
              </a:spcBef>
              <a:spcAft>
                <a:spcPts val="1200"/>
              </a:spcAft>
            </a:pPr>
            <a:r>
              <a:rPr lang="en-AU" sz="2200" dirty="0" smtClean="0">
                <a:latin typeface="Helvetica" pitchFamily="34" charset="0"/>
              </a:rPr>
              <a:t>Be sure to mention any benefits that apply ‘now’</a:t>
            </a:r>
          </a:p>
          <a:p>
            <a:pPr>
              <a:spcBef>
                <a:spcPts val="600"/>
              </a:spcBef>
              <a:spcAft>
                <a:spcPts val="1200"/>
              </a:spcAft>
            </a:pPr>
            <a:r>
              <a:rPr lang="en-AU" sz="2200" dirty="0" smtClean="0">
                <a:latin typeface="Helvetica" pitchFamily="34" charset="0"/>
              </a:rPr>
              <a:t>Promote the value-adding aspects of the sale</a:t>
            </a:r>
          </a:p>
          <a:p>
            <a:pPr>
              <a:spcBef>
                <a:spcPts val="600"/>
              </a:spcBef>
              <a:spcAft>
                <a:spcPts val="1200"/>
              </a:spcAft>
            </a:pPr>
            <a:r>
              <a:rPr lang="en-AU" sz="2200" dirty="0" smtClean="0">
                <a:latin typeface="Helvetica" pitchFamily="34" charset="0"/>
              </a:rPr>
              <a:t>Ask lots of ‘open’ questions</a:t>
            </a:r>
          </a:p>
          <a:p>
            <a:endParaRPr lang="en-AU" sz="2400" dirty="0" smtClean="0"/>
          </a:p>
          <a:p>
            <a:endParaRPr lang="en-AU" sz="2400" dirty="0" smtClean="0"/>
          </a:p>
          <a:p>
            <a:pPr>
              <a:spcBef>
                <a:spcPts val="600"/>
              </a:spcBef>
              <a:spcAft>
                <a:spcPts val="1200"/>
              </a:spcAft>
            </a:pPr>
            <a:endParaRPr lang="en-AU" sz="2400" dirty="0" smtClean="0"/>
          </a:p>
          <a:p>
            <a:pPr>
              <a:spcBef>
                <a:spcPts val="600"/>
              </a:spcBef>
              <a:spcAft>
                <a:spcPts val="1200"/>
              </a:spcAft>
            </a:pPr>
            <a:endParaRPr lang="en-AU" sz="2400" dirty="0" smtClean="0"/>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7" name="Picture 6" descr="shutterstock_166468943.jpg"/>
          <p:cNvPicPr/>
          <p:nvPr/>
        </p:nvPicPr>
        <p:blipFill>
          <a:blip r:embed="rId3" cstate="print"/>
          <a:stretch>
            <a:fillRect/>
          </a:stretch>
        </p:blipFill>
        <p:spPr>
          <a:xfrm>
            <a:off x="6660232" y="2852936"/>
            <a:ext cx="1828800" cy="1219200"/>
          </a:xfrm>
          <a:prstGeom prst="rect">
            <a:avLst/>
          </a:prstGeom>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Use selling techniques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Types of selling techniques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Offering bonuses and incentives, including the use of give-a-ways</a:t>
            </a:r>
          </a:p>
          <a:p>
            <a:pPr lvl="0">
              <a:spcBef>
                <a:spcPts val="600"/>
              </a:spcBef>
              <a:spcAft>
                <a:spcPts val="1200"/>
              </a:spcAft>
            </a:pPr>
            <a:r>
              <a:rPr lang="en-AU" sz="2200" dirty="0" smtClean="0">
                <a:latin typeface="Helvetica" pitchFamily="34" charset="0"/>
              </a:rPr>
              <a:t>Creating packages to add value to the business</a:t>
            </a:r>
          </a:p>
          <a:p>
            <a:pPr lvl="0">
              <a:spcBef>
                <a:spcPts val="600"/>
              </a:spcBef>
              <a:spcAft>
                <a:spcPts val="1200"/>
              </a:spcAft>
            </a:pPr>
            <a:r>
              <a:rPr lang="en-AU" sz="2200" dirty="0" smtClean="0">
                <a:latin typeface="Helvetica" pitchFamily="34" charset="0"/>
              </a:rPr>
              <a:t>Change terms and conditions, where practical, to better suit customer needs/preferences</a:t>
            </a:r>
          </a:p>
          <a:p>
            <a:pPr lvl="0">
              <a:spcBef>
                <a:spcPts val="600"/>
              </a:spcBef>
              <a:spcAft>
                <a:spcPts val="1200"/>
              </a:spcAft>
            </a:pPr>
            <a:r>
              <a:rPr lang="en-AU" sz="2200" dirty="0" smtClean="0">
                <a:latin typeface="Helvetica" pitchFamily="34" charset="0"/>
              </a:rPr>
              <a:t>Recognising opportunities for making additional sales</a:t>
            </a:r>
          </a:p>
          <a:p>
            <a:endParaRPr lang="en-AU" sz="2400" dirty="0" smtClean="0"/>
          </a:p>
          <a:p>
            <a:endParaRPr lang="en-AU" sz="2400" dirty="0" smtClean="0"/>
          </a:p>
          <a:p>
            <a:pPr>
              <a:spcBef>
                <a:spcPts val="600"/>
              </a:spcBef>
              <a:spcAft>
                <a:spcPts val="1200"/>
              </a:spcAft>
            </a:pPr>
            <a:endParaRPr lang="en-AU" sz="2400" dirty="0" smtClean="0"/>
          </a:p>
          <a:p>
            <a:pPr>
              <a:spcBef>
                <a:spcPts val="600"/>
              </a:spcBef>
              <a:spcAft>
                <a:spcPts val="1200"/>
              </a:spcAft>
            </a:pPr>
            <a:endParaRPr lang="en-AU" sz="2400" dirty="0" smtClean="0"/>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6" name="Picture 5" descr="shutterstock_141288652.jpg"/>
          <p:cNvPicPr/>
          <p:nvPr/>
        </p:nvPicPr>
        <p:blipFill>
          <a:blip r:embed="rId3" cstate="print"/>
          <a:stretch>
            <a:fillRect/>
          </a:stretch>
        </p:blipFill>
        <p:spPr>
          <a:xfrm>
            <a:off x="3707904" y="5301208"/>
            <a:ext cx="1693545" cy="1123950"/>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Use selling techniques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Types of selling techniques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Advising customer of complementary products or services according to customer's identified need (s)</a:t>
            </a:r>
          </a:p>
          <a:p>
            <a:pPr lvl="0">
              <a:spcBef>
                <a:spcPts val="600"/>
              </a:spcBef>
              <a:spcAft>
                <a:spcPts val="1200"/>
              </a:spcAft>
            </a:pPr>
            <a:r>
              <a:rPr lang="en-AU" sz="2200" dirty="0" smtClean="0">
                <a:latin typeface="Helvetica" pitchFamily="34" charset="0"/>
              </a:rPr>
              <a:t>Demonstrating the ability to make add on sales, to up-sell, to use suggestive selling techniques and to use other approaches to maximising sales</a:t>
            </a:r>
          </a:p>
          <a:p>
            <a:pPr lvl="0">
              <a:spcBef>
                <a:spcPts val="600"/>
              </a:spcBef>
              <a:spcAft>
                <a:spcPts val="1200"/>
              </a:spcAft>
            </a:pPr>
            <a:r>
              <a:rPr lang="en-AU" sz="2200" dirty="0" smtClean="0">
                <a:latin typeface="Helvetica" pitchFamily="34" charset="0"/>
              </a:rPr>
              <a:t>Demonstrating the ability to be an order maker and not just an order taker</a:t>
            </a:r>
          </a:p>
          <a:p>
            <a:pPr lvl="0">
              <a:spcBef>
                <a:spcPts val="600"/>
              </a:spcBef>
              <a:spcAft>
                <a:spcPts val="1200"/>
              </a:spcAft>
            </a:pPr>
            <a:r>
              <a:rPr lang="en-AU" sz="2200" dirty="0" smtClean="0">
                <a:latin typeface="Helvetica" pitchFamily="34" charset="0"/>
              </a:rPr>
              <a:t>Complying with enterprise                                                 policies in relation to selling</a:t>
            </a:r>
          </a:p>
          <a:p>
            <a:endParaRPr lang="en-AU" sz="2400" dirty="0" smtClean="0"/>
          </a:p>
          <a:p>
            <a:endParaRPr lang="en-AU" sz="2400" dirty="0" smtClean="0"/>
          </a:p>
          <a:p>
            <a:pPr>
              <a:spcBef>
                <a:spcPts val="600"/>
              </a:spcBef>
              <a:spcAft>
                <a:spcPts val="1200"/>
              </a:spcAft>
            </a:pPr>
            <a:endParaRPr lang="en-AU" sz="2400" dirty="0" smtClean="0"/>
          </a:p>
          <a:p>
            <a:pPr>
              <a:spcBef>
                <a:spcPts val="600"/>
              </a:spcBef>
              <a:spcAft>
                <a:spcPts val="1200"/>
              </a:spcAft>
            </a:pPr>
            <a:endParaRPr lang="en-AU" sz="2400" dirty="0" smtClean="0"/>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5" name="Picture 4" descr="MP900442744[1].JPG"/>
          <p:cNvPicPr>
            <a:picLocks noChangeAspect="1"/>
          </p:cNvPicPr>
          <p:nvPr/>
        </p:nvPicPr>
        <p:blipFill>
          <a:blip r:embed="rId3" cstate="print"/>
          <a:stretch>
            <a:fillRect/>
          </a:stretch>
        </p:blipFill>
        <p:spPr>
          <a:xfrm>
            <a:off x="6228184" y="5013176"/>
            <a:ext cx="1979290" cy="1315646"/>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Use selling techniques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Up-selling</a:t>
            </a:r>
            <a:endParaRPr lang="en-AU" sz="2200" dirty="0" smtClean="0">
              <a:latin typeface="Helvetica" pitchFamily="34" charset="0"/>
            </a:endParaRPr>
          </a:p>
          <a:p>
            <a:pPr>
              <a:spcBef>
                <a:spcPts val="600"/>
              </a:spcBef>
              <a:spcAft>
                <a:spcPts val="1200"/>
              </a:spcAft>
            </a:pPr>
            <a:r>
              <a:rPr lang="en-AU" sz="2200" dirty="0" smtClean="0">
                <a:latin typeface="Helvetica" pitchFamily="34" charset="0"/>
              </a:rPr>
              <a:t>This is also known as add-on selling</a:t>
            </a:r>
          </a:p>
          <a:p>
            <a:pPr>
              <a:spcBef>
                <a:spcPts val="600"/>
              </a:spcBef>
              <a:spcAft>
                <a:spcPts val="1200"/>
              </a:spcAft>
            </a:pPr>
            <a:r>
              <a:rPr lang="en-AU" sz="2200" dirty="0" smtClean="0">
                <a:latin typeface="Helvetica" pitchFamily="34" charset="0"/>
              </a:rPr>
              <a:t>Up-selling is just simply a way to get your customers to spend more money on your organisation’s products or services</a:t>
            </a:r>
          </a:p>
          <a:p>
            <a:endParaRPr lang="en-AU" sz="2400" dirty="0" smtClean="0"/>
          </a:p>
          <a:p>
            <a:pPr>
              <a:spcBef>
                <a:spcPts val="600"/>
              </a:spcBef>
              <a:spcAft>
                <a:spcPts val="1200"/>
              </a:spcAft>
            </a:pPr>
            <a:endParaRPr lang="en-AU" sz="2400" dirty="0" smtClean="0"/>
          </a:p>
          <a:p>
            <a:pPr>
              <a:spcBef>
                <a:spcPts val="600"/>
              </a:spcBef>
              <a:spcAft>
                <a:spcPts val="1200"/>
              </a:spcAft>
            </a:pPr>
            <a:endParaRPr lang="en-AU" sz="2400" dirty="0" smtClean="0"/>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6" name="Picture 5" descr="W422_upelling_shutterstock_161243552.jpg"/>
          <p:cNvPicPr/>
          <p:nvPr/>
        </p:nvPicPr>
        <p:blipFill>
          <a:blip r:embed="rId3" cstate="print"/>
          <a:stretch>
            <a:fillRect/>
          </a:stretch>
        </p:blipFill>
        <p:spPr>
          <a:xfrm>
            <a:off x="6516216" y="4365104"/>
            <a:ext cx="1828403" cy="1704008"/>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Use selling techniques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Overcoming buying objections</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Identifying and accepting customer objections </a:t>
            </a:r>
          </a:p>
          <a:p>
            <a:pPr lvl="0">
              <a:spcBef>
                <a:spcPts val="600"/>
              </a:spcBef>
              <a:spcAft>
                <a:spcPts val="1200"/>
              </a:spcAft>
            </a:pPr>
            <a:r>
              <a:rPr lang="en-AU" sz="2200" dirty="0" smtClean="0">
                <a:latin typeface="Helvetica" pitchFamily="34" charset="0"/>
              </a:rPr>
              <a:t>Categorising objections into price, time, product/service characteristics</a:t>
            </a:r>
          </a:p>
          <a:p>
            <a:pPr lvl="0">
              <a:spcBef>
                <a:spcPts val="600"/>
              </a:spcBef>
              <a:spcAft>
                <a:spcPts val="1200"/>
              </a:spcAft>
            </a:pPr>
            <a:r>
              <a:rPr lang="en-AU" sz="2200" dirty="0" smtClean="0">
                <a:latin typeface="Helvetica" pitchFamily="34" charset="0"/>
              </a:rPr>
              <a:t>Offering solutions according to enterprise policies </a:t>
            </a:r>
          </a:p>
          <a:p>
            <a:pPr lvl="0">
              <a:spcBef>
                <a:spcPts val="600"/>
              </a:spcBef>
              <a:spcAft>
                <a:spcPts val="1200"/>
              </a:spcAft>
            </a:pPr>
            <a:r>
              <a:rPr lang="en-AU" sz="2200" dirty="0" smtClean="0">
                <a:latin typeface="Helvetica" pitchFamily="34" charset="0"/>
              </a:rPr>
              <a:t>Applying problem solving to overcome customer objections</a:t>
            </a:r>
          </a:p>
          <a:p>
            <a:pPr lvl="0">
              <a:spcBef>
                <a:spcPts val="600"/>
              </a:spcBef>
              <a:spcAft>
                <a:spcPts val="1200"/>
              </a:spcAft>
            </a:pPr>
            <a:r>
              <a:rPr lang="en-AU" sz="2200" dirty="0" smtClean="0">
                <a:latin typeface="Helvetica" pitchFamily="34" charset="0"/>
              </a:rPr>
              <a:t>Using the ‘feel-felt-found’ approach</a:t>
            </a:r>
          </a:p>
          <a:p>
            <a:endParaRPr lang="en-AU" sz="2400" dirty="0" smtClean="0"/>
          </a:p>
          <a:p>
            <a:pPr>
              <a:spcBef>
                <a:spcPts val="600"/>
              </a:spcBef>
              <a:spcAft>
                <a:spcPts val="1200"/>
              </a:spcAft>
            </a:pPr>
            <a:endParaRPr lang="en-AU" sz="2400" dirty="0" smtClean="0"/>
          </a:p>
          <a:p>
            <a:pPr>
              <a:spcBef>
                <a:spcPts val="600"/>
              </a:spcBef>
              <a:spcAft>
                <a:spcPts val="1200"/>
              </a:spcAft>
            </a:pPr>
            <a:endParaRPr lang="en-AU" sz="2400" dirty="0" smtClean="0"/>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7" name="Picture 6" descr="shutterstock_128200763.jpg"/>
          <p:cNvPicPr/>
          <p:nvPr/>
        </p:nvPicPr>
        <p:blipFill>
          <a:blip r:embed="rId3" cstate="print"/>
          <a:stretch>
            <a:fillRect/>
          </a:stretch>
        </p:blipFill>
        <p:spPr>
          <a:xfrm>
            <a:off x="6588224" y="4869160"/>
            <a:ext cx="1907664" cy="1267966"/>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US" sz="3400" b="1" dirty="0" smtClean="0">
                <a:solidFill>
                  <a:srgbClr val="FF6600"/>
                </a:solidFill>
                <a:latin typeface="Helvetica" pitchFamily="34" charset="0"/>
              </a:rPr>
              <a:t>Use selling techniques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Closing the sale</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Monitoring, identifying and responding appropriately to customer buying signals</a:t>
            </a:r>
          </a:p>
          <a:p>
            <a:pPr lvl="0">
              <a:spcBef>
                <a:spcPts val="600"/>
              </a:spcBef>
              <a:spcAft>
                <a:spcPts val="1200"/>
              </a:spcAft>
            </a:pPr>
            <a:r>
              <a:rPr lang="en-AU" sz="2200" dirty="0" smtClean="0">
                <a:latin typeface="Helvetica" pitchFamily="34" charset="0"/>
              </a:rPr>
              <a:t>Encouraging customers to make purchase decisions through the use of appropriate and acceptable verbal and non-verbal prompts</a:t>
            </a:r>
          </a:p>
          <a:p>
            <a:pPr lvl="0">
              <a:spcBef>
                <a:spcPts val="600"/>
              </a:spcBef>
              <a:spcAft>
                <a:spcPts val="1200"/>
              </a:spcAft>
            </a:pPr>
            <a:r>
              <a:rPr lang="en-AU" sz="2200" dirty="0" smtClean="0">
                <a:latin typeface="Helvetica" pitchFamily="34" charset="0"/>
              </a:rPr>
              <a:t>Congratulating the customer on their selection</a:t>
            </a:r>
          </a:p>
          <a:p>
            <a:pPr lvl="0">
              <a:spcBef>
                <a:spcPts val="600"/>
              </a:spcBef>
              <a:spcAft>
                <a:spcPts val="1200"/>
              </a:spcAft>
            </a:pPr>
            <a:r>
              <a:rPr lang="en-AU" sz="2200" dirty="0" smtClean="0">
                <a:latin typeface="Helvetica" pitchFamily="34" charset="0"/>
              </a:rPr>
              <a:t>Thanking the customer for their business</a:t>
            </a:r>
          </a:p>
          <a:p>
            <a:pPr>
              <a:spcBef>
                <a:spcPts val="600"/>
              </a:spcBef>
              <a:spcAft>
                <a:spcPts val="1200"/>
              </a:spcAft>
            </a:pPr>
            <a:r>
              <a:rPr lang="en-AU" sz="2200" dirty="0" smtClean="0">
                <a:latin typeface="Helvetica" pitchFamily="34" charset="0"/>
              </a:rPr>
              <a:t>Encouraging the customer the return to                            make further purchases</a:t>
            </a:r>
          </a:p>
          <a:p>
            <a:pPr>
              <a:spcBef>
                <a:spcPts val="600"/>
              </a:spcBef>
              <a:spcAft>
                <a:spcPts val="1200"/>
              </a:spcAft>
            </a:pPr>
            <a:endParaRPr lang="en-AU" sz="2400" dirty="0" smtClean="0"/>
          </a:p>
          <a:p>
            <a:pPr>
              <a:spcBef>
                <a:spcPts val="600"/>
              </a:spcBef>
              <a:spcAft>
                <a:spcPts val="1200"/>
              </a:spcAft>
            </a:pPr>
            <a:endParaRPr lang="en-AU" sz="2400" dirty="0" smtClean="0"/>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6" name="Picture 5" descr="shutterstock_148596215.jpg"/>
          <p:cNvPicPr/>
          <p:nvPr/>
        </p:nvPicPr>
        <p:blipFill>
          <a:blip r:embed="rId3" cstate="print"/>
          <a:stretch>
            <a:fillRect/>
          </a:stretch>
        </p:blipFill>
        <p:spPr>
          <a:xfrm>
            <a:off x="6876256" y="4797152"/>
            <a:ext cx="1755825" cy="1377876"/>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Handling sales transactions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1200"/>
              </a:spcAft>
              <a:buNone/>
            </a:pPr>
            <a:r>
              <a:rPr lang="en-AU" sz="2200" dirty="0" smtClean="0">
                <a:latin typeface="Helvetica" pitchFamily="34" charset="0"/>
              </a:rPr>
              <a:t>Another vital point in implementing sales activities is in regard to sales transactions. </a:t>
            </a:r>
          </a:p>
          <a:p>
            <a:pPr marL="0">
              <a:spcBef>
                <a:spcPts val="600"/>
              </a:spcBef>
              <a:spcAft>
                <a:spcPts val="1200"/>
              </a:spcAft>
              <a:buNone/>
            </a:pPr>
            <a:r>
              <a:rPr lang="en-AU" sz="2200" dirty="0" smtClean="0">
                <a:latin typeface="Helvetica" pitchFamily="34" charset="0"/>
              </a:rPr>
              <a:t>The type of transactions and the nature of the policies and procedures will depend on the tourism organisation itself and the items being offered for sale.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What types of sales transactions are common in the tourism environment?</a:t>
            </a:r>
          </a:p>
          <a:p>
            <a:pPr>
              <a:spcBef>
                <a:spcPts val="600"/>
              </a:spcBef>
              <a:spcAft>
                <a:spcPts val="1200"/>
              </a:spcAft>
            </a:pPr>
            <a:r>
              <a:rPr lang="en-AU" sz="2200" dirty="0" smtClean="0">
                <a:latin typeface="Helvetica" pitchFamily="34" charset="0"/>
              </a:rPr>
              <a:t>What are the procedures for each                                         type of transaction?</a:t>
            </a:r>
          </a:p>
          <a:p>
            <a:pPr>
              <a:spcBef>
                <a:spcPts val="600"/>
              </a:spcBef>
              <a:spcAft>
                <a:spcPts val="1200"/>
              </a:spcAft>
              <a:buNone/>
            </a:pPr>
            <a:endParaRPr lang="en-AU" sz="2400" dirty="0" smtClean="0"/>
          </a:p>
          <a:p>
            <a:pPr>
              <a:spcBef>
                <a:spcPts val="600"/>
              </a:spcBef>
              <a:spcAft>
                <a:spcPts val="1200"/>
              </a:spcAft>
            </a:pPr>
            <a:endParaRPr lang="en-AU" sz="2400" dirty="0" smtClean="0"/>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7" name="Picture 6" descr="shutterstock_83733166.jpg"/>
          <p:cNvPicPr/>
          <p:nvPr/>
        </p:nvPicPr>
        <p:blipFill>
          <a:blip r:embed="rId3" cstate="print"/>
          <a:stretch>
            <a:fillRect/>
          </a:stretch>
        </p:blipFill>
        <p:spPr>
          <a:xfrm>
            <a:off x="6084168" y="4581128"/>
            <a:ext cx="1652586" cy="1095374"/>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Monitor team in using POS systems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600"/>
              </a:spcAft>
              <a:buNone/>
            </a:pPr>
            <a:r>
              <a:rPr lang="en-AU" sz="2200" b="1" dirty="0" smtClean="0">
                <a:latin typeface="Helvetica" pitchFamily="34" charset="0"/>
              </a:rPr>
              <a:t>Definition of a team</a:t>
            </a:r>
            <a:endParaRPr lang="en-US" sz="2200" dirty="0" smtClean="0">
              <a:latin typeface="Helvetica" pitchFamily="34" charset="0"/>
            </a:endParaRPr>
          </a:p>
          <a:p>
            <a:pPr>
              <a:spcBef>
                <a:spcPts val="600"/>
              </a:spcBef>
              <a:spcAft>
                <a:spcPts val="600"/>
              </a:spcAft>
              <a:buNone/>
            </a:pPr>
            <a:r>
              <a:rPr lang="en-AU" sz="2200" dirty="0" smtClean="0">
                <a:latin typeface="Helvetica" pitchFamily="34" charset="0"/>
              </a:rPr>
              <a:t>A team may include: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Small work teams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Business team</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Full-time, part-time, casual or contract staff</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People with varying degrees of language and literacy</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People from a range of cultural, social and                               ethnic backgrounds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People with a range of responsibilities                                      and job descriptions</a:t>
            </a:r>
            <a:endParaRPr lang="en-US" sz="2200" dirty="0" smtClean="0">
              <a:latin typeface="Helvetica" pitchFamily="34" charset="0"/>
            </a:endParaRPr>
          </a:p>
          <a:p>
            <a:pPr>
              <a:spcBef>
                <a:spcPts val="600"/>
              </a:spcBef>
              <a:spcAft>
                <a:spcPts val="1200"/>
              </a:spcAft>
            </a:pPr>
            <a:endParaRPr lang="en-AU" sz="2400" dirty="0" smtClean="0"/>
          </a:p>
          <a:p>
            <a:pPr>
              <a:spcBef>
                <a:spcPts val="600"/>
              </a:spcBef>
              <a:spcAft>
                <a:spcPts val="1200"/>
              </a:spcAft>
            </a:pPr>
            <a:endParaRPr lang="en-AU" sz="2400" dirty="0" smtClean="0"/>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7" name="Picture 6" descr="shutterstock_146578460.jpg"/>
          <p:cNvPicPr/>
          <p:nvPr/>
        </p:nvPicPr>
        <p:blipFill>
          <a:blip r:embed="rId3" cstate="print"/>
          <a:stretch>
            <a:fillRect/>
          </a:stretch>
        </p:blipFill>
        <p:spPr>
          <a:xfrm>
            <a:off x="6372200" y="1700808"/>
            <a:ext cx="1476375" cy="1390650"/>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Monitor team in using POS systems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Monitoring staff activity</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Watch staff execute the range of possible payment options and transaction types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Talking to other staff to gain their impressions about the competence of certain staff</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Talking to customers about their experience with certain staff</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Visually checking dockets and paperwork</a:t>
            </a:r>
          </a:p>
          <a:p>
            <a:pPr>
              <a:spcBef>
                <a:spcPts val="600"/>
              </a:spcBef>
              <a:spcAft>
                <a:spcPts val="1200"/>
              </a:spcAft>
            </a:pPr>
            <a:endParaRPr lang="en-AU" sz="2400" dirty="0" smtClean="0"/>
          </a:p>
          <a:p>
            <a:pPr>
              <a:spcBef>
                <a:spcPts val="600"/>
              </a:spcBef>
              <a:spcAft>
                <a:spcPts val="1200"/>
              </a:spcAft>
            </a:pPr>
            <a:endParaRPr lang="en-AU" sz="2400" dirty="0" smtClean="0"/>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6" name="Picture 5" descr="W619_shutterstock_43698595.jpg"/>
          <p:cNvPicPr/>
          <p:nvPr/>
        </p:nvPicPr>
        <p:blipFill>
          <a:blip r:embed="rId3" cstate="print"/>
          <a:stretch>
            <a:fillRect/>
          </a:stretch>
        </p:blipFill>
        <p:spPr>
          <a:xfrm>
            <a:off x="6804248" y="4653136"/>
            <a:ext cx="1762125" cy="1171575"/>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Monitor team in using POS systems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The need for POS accuracy</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Customer service</a:t>
            </a:r>
          </a:p>
          <a:p>
            <a:pPr>
              <a:spcBef>
                <a:spcPts val="600"/>
              </a:spcBef>
              <a:spcAft>
                <a:spcPts val="1200"/>
              </a:spcAft>
            </a:pPr>
            <a:r>
              <a:rPr lang="en-AU" sz="2200" dirty="0" smtClean="0">
                <a:latin typeface="Helvetica" pitchFamily="34" charset="0"/>
              </a:rPr>
              <a:t>POS financial accuracy</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Authorised use of equipment</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Security</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Confidentiality</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Accuracy</a:t>
            </a:r>
          </a:p>
          <a:p>
            <a:pPr>
              <a:spcBef>
                <a:spcPts val="600"/>
              </a:spcBef>
              <a:spcAft>
                <a:spcPts val="1200"/>
              </a:spcAft>
            </a:pPr>
            <a:r>
              <a:rPr lang="en-AU" sz="2200" dirty="0" smtClean="0">
                <a:latin typeface="Helvetica" pitchFamily="34" charset="0"/>
              </a:rPr>
              <a:t>Product identification</a:t>
            </a:r>
            <a:endParaRPr lang="en-US" sz="2200" dirty="0" smtClean="0">
              <a:latin typeface="Helvetica" pitchFamily="34" charset="0"/>
            </a:endParaRPr>
          </a:p>
          <a:p>
            <a:endParaRPr lang="en-US" sz="2400" dirty="0" smtClean="0"/>
          </a:p>
          <a:p>
            <a:endParaRPr lang="en-US" sz="2400" dirty="0" smtClean="0"/>
          </a:p>
          <a:p>
            <a:pPr>
              <a:spcBef>
                <a:spcPts val="600"/>
              </a:spcBef>
              <a:spcAft>
                <a:spcPts val="1200"/>
              </a:spcAft>
            </a:pPr>
            <a:endParaRPr lang="en-AU" sz="2400" dirty="0" smtClean="0"/>
          </a:p>
          <a:p>
            <a:pPr>
              <a:spcBef>
                <a:spcPts val="600"/>
              </a:spcBef>
              <a:spcAft>
                <a:spcPts val="1200"/>
              </a:spcAft>
            </a:pPr>
            <a:endParaRPr lang="en-AU" sz="2400" dirty="0" smtClean="0"/>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6" name="Picture 5" descr="shutterstock_114942709.jpg"/>
          <p:cNvPicPr/>
          <p:nvPr/>
        </p:nvPicPr>
        <p:blipFill>
          <a:blip r:embed="rId3" cstate="print"/>
          <a:stretch>
            <a:fillRect/>
          </a:stretch>
        </p:blipFill>
        <p:spPr>
          <a:xfrm>
            <a:off x="5868144" y="2852936"/>
            <a:ext cx="2047877" cy="1314451"/>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Monitor team handling goods and documents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1200"/>
              </a:spcAft>
              <a:buNone/>
            </a:pPr>
            <a:r>
              <a:rPr lang="en-AU" sz="2200" b="1" dirty="0" smtClean="0">
                <a:latin typeface="Helvetica" pitchFamily="34" charset="0"/>
              </a:rPr>
              <a:t>Types of 'physical goods' and 'documents' commonly handled in a travel and tourism environment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Travel packs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Name tags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Passports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Hard copy of air tickets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Credit card receipts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Vouchers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Tickets</a:t>
            </a:r>
            <a:endParaRPr lang="en-US" sz="2200" dirty="0" smtClean="0">
              <a:latin typeface="Helvetica" pitchFamily="34" charset="0"/>
            </a:endParaRPr>
          </a:p>
          <a:p>
            <a:endParaRPr lang="en-US" sz="2400" dirty="0" smtClean="0"/>
          </a:p>
          <a:p>
            <a:endParaRPr lang="en-US" sz="2400" dirty="0" smtClean="0"/>
          </a:p>
          <a:p>
            <a:pPr>
              <a:spcBef>
                <a:spcPts val="600"/>
              </a:spcBef>
              <a:spcAft>
                <a:spcPts val="1200"/>
              </a:spcAft>
            </a:pPr>
            <a:endParaRPr lang="en-AU" sz="2400" dirty="0" smtClean="0"/>
          </a:p>
          <a:p>
            <a:pPr>
              <a:spcBef>
                <a:spcPts val="600"/>
              </a:spcBef>
              <a:spcAft>
                <a:spcPts val="1200"/>
              </a:spcAft>
            </a:pPr>
            <a:endParaRPr lang="en-AU" sz="2400" dirty="0" smtClean="0"/>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7" name="Picture 6" descr="shutterstock_815850.jpg"/>
          <p:cNvPicPr/>
          <p:nvPr/>
        </p:nvPicPr>
        <p:blipFill>
          <a:blip r:embed="rId3" cstate="print"/>
          <a:stretch>
            <a:fillRect/>
          </a:stretch>
        </p:blipFill>
        <p:spPr>
          <a:xfrm>
            <a:off x="5652120" y="3068960"/>
            <a:ext cx="2076459" cy="1290643"/>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Monitor team handling goods and documents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600"/>
              </a:spcAft>
              <a:buNone/>
            </a:pPr>
            <a:r>
              <a:rPr lang="en-AU" sz="2100" b="1" dirty="0" smtClean="0">
                <a:latin typeface="Helvetica" pitchFamily="34" charset="0"/>
              </a:rPr>
              <a:t>Types of 'physical goods' and 'documents' commonly handled in a travel and tourism environment</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Visas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Customs forms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International Driver's Licences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Vaccination Forms - Including Yellow Fever Certificates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Itineraries and Maps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Insurance forms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Accommodation bookings</a:t>
            </a:r>
            <a:endParaRPr lang="en-US" sz="2100" dirty="0" smtClean="0">
              <a:latin typeface="Helvetica" pitchFamily="34" charset="0"/>
            </a:endParaRPr>
          </a:p>
          <a:p>
            <a:pPr lvl="0">
              <a:spcBef>
                <a:spcPts val="600"/>
              </a:spcBef>
              <a:spcAft>
                <a:spcPts val="600"/>
              </a:spcAft>
            </a:pPr>
            <a:r>
              <a:rPr lang="en-AU" sz="2100" dirty="0" smtClean="0">
                <a:latin typeface="Helvetica" pitchFamily="34" charset="0"/>
              </a:rPr>
              <a:t>Car Hire documents</a:t>
            </a:r>
            <a:endParaRPr lang="en-US" sz="2100" dirty="0" smtClean="0">
              <a:latin typeface="Helvetica" pitchFamily="34" charset="0"/>
            </a:endParaRPr>
          </a:p>
          <a:p>
            <a:endParaRPr lang="en-US" sz="2100" dirty="0" smtClean="0"/>
          </a:p>
          <a:p>
            <a:endParaRPr lang="en-US" sz="2100" dirty="0" smtClean="0"/>
          </a:p>
          <a:p>
            <a:pPr>
              <a:spcBef>
                <a:spcPts val="600"/>
              </a:spcBef>
              <a:spcAft>
                <a:spcPts val="1200"/>
              </a:spcAft>
            </a:pPr>
            <a:endParaRPr lang="en-AU" sz="2100" dirty="0" smtClean="0"/>
          </a:p>
          <a:p>
            <a:pPr>
              <a:spcBef>
                <a:spcPts val="600"/>
              </a:spcBef>
              <a:spcAft>
                <a:spcPts val="1200"/>
              </a:spcAft>
            </a:pPr>
            <a:endParaRPr lang="en-AU" sz="2100" dirty="0" smtClean="0"/>
          </a:p>
          <a:p>
            <a:pPr lvl="0">
              <a:spcBef>
                <a:spcPts val="600"/>
              </a:spcBef>
              <a:spcAft>
                <a:spcPts val="1200"/>
              </a:spcAft>
            </a:pP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6" name="Picture 5" descr="Lady looking at map_148488614.jpg"/>
          <p:cNvPicPr>
            <a:picLocks noChangeAspect="1"/>
          </p:cNvPicPr>
          <p:nvPr/>
        </p:nvPicPr>
        <p:blipFill>
          <a:blip r:embed="rId3" cstate="print"/>
          <a:stretch>
            <a:fillRect/>
          </a:stretch>
        </p:blipFill>
        <p:spPr>
          <a:xfrm>
            <a:off x="6876256" y="4509120"/>
            <a:ext cx="1324214" cy="1595438"/>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Monitor team to ensure customer needs are met</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lvl="0">
              <a:spcBef>
                <a:spcPts val="600"/>
              </a:spcBef>
              <a:spcAft>
                <a:spcPts val="1200"/>
              </a:spcAft>
              <a:buNone/>
            </a:pPr>
            <a:r>
              <a:rPr lang="en-AU" sz="2200" b="1" dirty="0" smtClean="0">
                <a:latin typeface="Helvetica" pitchFamily="34" charset="0"/>
              </a:rPr>
              <a:t>Importance of meeting customer needs</a:t>
            </a:r>
          </a:p>
          <a:p>
            <a:pPr marL="0" lvl="0">
              <a:spcBef>
                <a:spcPts val="600"/>
              </a:spcBef>
              <a:spcAft>
                <a:spcPts val="1200"/>
              </a:spcAft>
              <a:buNone/>
            </a:pPr>
            <a:r>
              <a:rPr lang="en-AU" sz="2200" dirty="0" smtClean="0">
                <a:latin typeface="Helvetica" pitchFamily="34" charset="0"/>
              </a:rPr>
              <a:t>It is more important that all activities are focused on the needs of the customer</a:t>
            </a:r>
          </a:p>
          <a:p>
            <a:pPr>
              <a:spcBef>
                <a:spcPts val="600"/>
              </a:spcBef>
              <a:spcAft>
                <a:spcPts val="1200"/>
              </a:spcAft>
            </a:pPr>
            <a:r>
              <a:rPr lang="en-AU" sz="2200" dirty="0" smtClean="0">
                <a:latin typeface="Helvetica" pitchFamily="34" charset="0"/>
              </a:rPr>
              <a:t>Who are your customers?</a:t>
            </a:r>
          </a:p>
          <a:p>
            <a:pPr>
              <a:spcBef>
                <a:spcPts val="600"/>
              </a:spcBef>
              <a:spcAft>
                <a:spcPts val="1200"/>
              </a:spcAft>
            </a:pPr>
            <a:r>
              <a:rPr lang="en-AU" sz="2200" dirty="0" smtClean="0">
                <a:latin typeface="Helvetica" pitchFamily="34" charset="0"/>
              </a:rPr>
              <a:t>What are their needs?</a:t>
            </a:r>
          </a:p>
          <a:p>
            <a:pPr>
              <a:spcBef>
                <a:spcPts val="600"/>
              </a:spcBef>
              <a:spcAft>
                <a:spcPts val="1200"/>
              </a:spcAft>
            </a:pPr>
            <a:r>
              <a:rPr lang="en-AU" sz="2200" dirty="0" smtClean="0">
                <a:latin typeface="Helvetica" pitchFamily="34" charset="0"/>
              </a:rPr>
              <a:t>How can you ensure staff are meeting their needs?</a:t>
            </a:r>
            <a:endParaRPr lang="en-US" sz="2200" dirty="0" smtClean="0">
              <a:latin typeface="Helvetica" pitchFamily="34" charset="0"/>
            </a:endParaRPr>
          </a:p>
          <a:p>
            <a:endParaRPr lang="en-US" sz="2400" dirty="0" smtClean="0"/>
          </a:p>
          <a:p>
            <a:pPr lvl="0">
              <a:spcBef>
                <a:spcPts val="600"/>
              </a:spcBef>
              <a:spcAft>
                <a:spcPts val="1200"/>
              </a:spcAft>
              <a:buNone/>
            </a:pPr>
            <a:r>
              <a:rPr lang="en-AU" sz="2400" dirty="0" smtClean="0">
                <a:solidFill>
                  <a:srgbClr val="FF6600"/>
                </a:solidFill>
                <a:latin typeface="Helvetica" pitchFamily="34" charset="0"/>
              </a:rPr>
              <a:t>COMPLETE ACTIVITY 29</a:t>
            </a:r>
            <a:endParaRPr lang="en-AU" sz="2400" dirty="0" smtClean="0">
              <a:latin typeface="Helvetica" pitchFamily="34" charset="0"/>
            </a:endParaRPr>
          </a:p>
          <a:p>
            <a:pPr>
              <a:spcBef>
                <a:spcPts val="600"/>
              </a:spcBef>
              <a:spcAft>
                <a:spcPts val="1200"/>
              </a:spcAft>
            </a:pPr>
            <a:endParaRPr lang="en-AU" sz="2400" dirty="0" smtClean="0"/>
          </a:p>
          <a:p>
            <a:pPr>
              <a:spcBef>
                <a:spcPts val="600"/>
              </a:spcBef>
              <a:spcAft>
                <a:spcPts val="1200"/>
              </a:spcAft>
            </a:pPr>
            <a:endParaRPr lang="en-AU" sz="2400" dirty="0" smtClean="0"/>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7" name="Picture 6" descr="shutterstock_95857066.jpg"/>
          <p:cNvPicPr/>
          <p:nvPr/>
        </p:nvPicPr>
        <p:blipFill>
          <a:blip r:embed="rId3" cstate="print"/>
          <a:stretch>
            <a:fillRect/>
          </a:stretch>
        </p:blipFill>
        <p:spPr>
          <a:xfrm>
            <a:off x="7000892" y="4857760"/>
            <a:ext cx="1598295" cy="1314450"/>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dirty="0" smtClean="0">
                <a:solidFill>
                  <a:srgbClr val="FF6600"/>
                </a:solidFill>
                <a:latin typeface="Helvetica" pitchFamily="34" charset="0"/>
              </a:rPr>
              <a:t>Element 5:</a:t>
            </a:r>
          </a:p>
          <a:p>
            <a:pPr marL="0" indent="0">
              <a:spcBef>
                <a:spcPts val="600"/>
              </a:spcBef>
              <a:spcAft>
                <a:spcPts val="1200"/>
              </a:spcAft>
              <a:buNone/>
            </a:pPr>
            <a:r>
              <a:rPr lang="en-AU" sz="4000" dirty="0" smtClean="0">
                <a:solidFill>
                  <a:srgbClr val="FF6600"/>
                </a:solidFill>
                <a:latin typeface="Helvetica" pitchFamily="34" charset="0"/>
              </a:rPr>
              <a:t>Monitor achievement of sales targets, business goals and outcomes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5" name="Picture 4" descr="shutterstock_130834736.jpg"/>
          <p:cNvPicPr>
            <a:picLocks noChangeAspect="1"/>
          </p:cNvPicPr>
          <p:nvPr/>
        </p:nvPicPr>
        <p:blipFill>
          <a:blip r:embed="rId3" cstate="print"/>
          <a:stretch>
            <a:fillRect/>
          </a:stretch>
        </p:blipFill>
        <p:spPr>
          <a:xfrm>
            <a:off x="6429388" y="4500570"/>
            <a:ext cx="2059517" cy="1373698"/>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pPr marL="0" indent="0">
              <a:spcBef>
                <a:spcPts val="600"/>
              </a:spcBef>
              <a:spcAft>
                <a:spcPts val="1200"/>
              </a:spcAft>
            </a:pPr>
            <a:r>
              <a:rPr lang="en-AU" sz="3400" b="1" dirty="0" smtClean="0">
                <a:solidFill>
                  <a:srgbClr val="FF6600"/>
                </a:solidFill>
                <a:latin typeface="Helvetica" pitchFamily="34" charset="0"/>
              </a:rPr>
              <a:t>Monitor achievement of sales targets, business goals and outcomes</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Monitor and record individual and department sales targets according to enterprise policy and procedures </a:t>
            </a:r>
          </a:p>
          <a:p>
            <a:pPr>
              <a:spcBef>
                <a:spcPts val="600"/>
              </a:spcBef>
              <a:spcAft>
                <a:spcPts val="1200"/>
              </a:spcAft>
            </a:pPr>
            <a:r>
              <a:rPr lang="en-AU" sz="2200" dirty="0" smtClean="0">
                <a:latin typeface="Helvetica" pitchFamily="34" charset="0"/>
              </a:rPr>
              <a:t>Monitor and record sales results in line with sales targets and according to enterprise policy and procedures</a:t>
            </a:r>
          </a:p>
          <a:p>
            <a:pPr>
              <a:spcBef>
                <a:spcPts val="600"/>
              </a:spcBef>
              <a:spcAft>
                <a:spcPts val="1200"/>
              </a:spcAft>
            </a:pPr>
            <a:r>
              <a:rPr lang="en-AU" sz="2200" dirty="0" smtClean="0">
                <a:latin typeface="Helvetica" pitchFamily="34" charset="0"/>
              </a:rPr>
              <a:t>Provide feedback to management and staff on sales performance in relation to sales targets and planning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5" name="Picture 4" descr="shutterstock_156477794.jpg"/>
          <p:cNvPicPr>
            <a:picLocks noChangeAspect="1"/>
          </p:cNvPicPr>
          <p:nvPr/>
        </p:nvPicPr>
        <p:blipFill>
          <a:blip r:embed="rId3" cstate="print"/>
          <a:stretch>
            <a:fillRect/>
          </a:stretch>
        </p:blipFill>
        <p:spPr>
          <a:xfrm>
            <a:off x="3707904" y="5229200"/>
            <a:ext cx="1702220" cy="1135381"/>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Monitor and record sales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lvl="0">
              <a:spcBef>
                <a:spcPts val="600"/>
              </a:spcBef>
              <a:spcAft>
                <a:spcPts val="1200"/>
              </a:spcAft>
              <a:buNone/>
            </a:pPr>
            <a:r>
              <a:rPr lang="en-AU" sz="2200" b="1" dirty="0" smtClean="0">
                <a:latin typeface="Helvetica" pitchFamily="34" charset="0"/>
              </a:rPr>
              <a:t>Importance of monitoring and recording sales results</a:t>
            </a:r>
          </a:p>
          <a:p>
            <a:pPr marL="458788" indent="-382588">
              <a:spcBef>
                <a:spcPts val="600"/>
              </a:spcBef>
              <a:spcAft>
                <a:spcPts val="1200"/>
              </a:spcAft>
            </a:pPr>
            <a:r>
              <a:rPr lang="en-AU" sz="2200" dirty="0" smtClean="0">
                <a:latin typeface="Helvetica" pitchFamily="34" charset="0"/>
              </a:rPr>
              <a:t>All organisations will have an on-going need to monitor their performance on a number of fronts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In order to monitor and evaluate sales results you will need to compare sales targets / expectations against actual performance</a:t>
            </a:r>
            <a:endParaRPr lang="en-US" sz="2200" dirty="0" smtClean="0">
              <a:latin typeface="Helvetica" pitchFamily="34" charset="0"/>
            </a:endParaRPr>
          </a:p>
          <a:p>
            <a:pPr>
              <a:spcBef>
                <a:spcPts val="600"/>
              </a:spcBef>
              <a:spcAft>
                <a:spcPts val="1200"/>
              </a:spcAft>
            </a:pPr>
            <a:endParaRPr lang="en-AU" sz="2400" dirty="0" smtClean="0"/>
          </a:p>
          <a:p>
            <a:pPr>
              <a:spcBef>
                <a:spcPts val="600"/>
              </a:spcBef>
              <a:spcAft>
                <a:spcPts val="1200"/>
              </a:spcAft>
            </a:pPr>
            <a:endParaRPr lang="en-AU" sz="2400" dirty="0" smtClean="0"/>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6" name="Picture 5" descr="A21 shutterstock_182028425.jpg"/>
          <p:cNvPicPr>
            <a:picLocks noChangeAspect="1"/>
          </p:cNvPicPr>
          <p:nvPr/>
        </p:nvPicPr>
        <p:blipFill>
          <a:blip r:embed="rId3" cstate="print"/>
          <a:stretch>
            <a:fillRect/>
          </a:stretch>
        </p:blipFill>
        <p:spPr>
          <a:xfrm>
            <a:off x="3563888" y="4581128"/>
            <a:ext cx="2059517" cy="1373698"/>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Monitor and record sales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lvl="0">
              <a:spcBef>
                <a:spcPts val="600"/>
              </a:spcBef>
              <a:spcAft>
                <a:spcPts val="1200"/>
              </a:spcAft>
              <a:buNone/>
            </a:pPr>
            <a:r>
              <a:rPr lang="en-AU" sz="2200" b="1" dirty="0" smtClean="0">
                <a:latin typeface="Helvetica" pitchFamily="34" charset="0"/>
              </a:rPr>
              <a:t>Importance of monitoring and recording sales results</a:t>
            </a:r>
          </a:p>
          <a:p>
            <a:pPr>
              <a:spcBef>
                <a:spcPts val="600"/>
              </a:spcBef>
              <a:spcAft>
                <a:spcPts val="1200"/>
              </a:spcAft>
              <a:buNone/>
            </a:pPr>
            <a:r>
              <a:rPr lang="en-AU" sz="2200" dirty="0" smtClean="0">
                <a:latin typeface="Helvetica" pitchFamily="34" charset="0"/>
              </a:rPr>
              <a:t>This section looks at: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Where sales performance information will come from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How this performance may be recorded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How it could be shared with staff</a:t>
            </a:r>
            <a:endParaRPr lang="en-US" sz="2200" dirty="0" smtClean="0">
              <a:latin typeface="Helvetica" pitchFamily="34" charset="0"/>
            </a:endParaRPr>
          </a:p>
          <a:p>
            <a:pPr>
              <a:spcBef>
                <a:spcPts val="600"/>
              </a:spcBef>
              <a:spcAft>
                <a:spcPts val="1200"/>
              </a:spcAft>
              <a:buNone/>
            </a:pPr>
            <a:endParaRPr lang="en-AU" sz="2400" dirty="0" smtClean="0"/>
          </a:p>
          <a:p>
            <a:pPr>
              <a:spcBef>
                <a:spcPts val="600"/>
              </a:spcBef>
              <a:spcAft>
                <a:spcPts val="1200"/>
              </a:spcAft>
            </a:pPr>
            <a:endParaRPr lang="en-AU" sz="2400" dirty="0" smtClean="0"/>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130</a:t>
            </a:fld>
            <a:endParaRPr lang="en-US" dirty="0">
              <a:latin typeface="Helvetica" pitchFamily="34" charset="0"/>
            </a:endParaRPr>
          </a:p>
        </p:txBody>
      </p:sp>
      <p:pic>
        <p:nvPicPr>
          <p:cNvPr id="7" name="Picture 6" descr="shutterstock_179827874.jpg"/>
          <p:cNvPicPr>
            <a:picLocks noChangeAspect="1"/>
          </p:cNvPicPr>
          <p:nvPr/>
        </p:nvPicPr>
        <p:blipFill>
          <a:blip r:embed="rId3" cstate="print"/>
          <a:stretch>
            <a:fillRect/>
          </a:stretch>
        </p:blipFill>
        <p:spPr>
          <a:xfrm>
            <a:off x="3347864" y="4581128"/>
            <a:ext cx="2095504" cy="1571628"/>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Monitor and record sales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lvl="0">
              <a:spcBef>
                <a:spcPts val="600"/>
              </a:spcBef>
              <a:spcAft>
                <a:spcPts val="1200"/>
              </a:spcAft>
              <a:buNone/>
            </a:pPr>
            <a:r>
              <a:rPr lang="en-AU" sz="2200" b="1" dirty="0" smtClean="0">
                <a:latin typeface="Helvetica" pitchFamily="34" charset="0"/>
              </a:rPr>
              <a:t>Importance of monitoring and recording sales results</a:t>
            </a:r>
          </a:p>
          <a:p>
            <a:pPr>
              <a:spcBef>
                <a:spcPts val="600"/>
              </a:spcBef>
              <a:spcAft>
                <a:spcPts val="1200"/>
              </a:spcAft>
              <a:buNone/>
            </a:pPr>
            <a:r>
              <a:rPr lang="en-US" sz="2200" dirty="0" smtClean="0">
                <a:latin typeface="Helvetica" pitchFamily="34" charset="0"/>
              </a:rPr>
              <a:t>Expected sales targets come from:</a:t>
            </a:r>
          </a:p>
          <a:p>
            <a:pPr lvl="0">
              <a:spcBef>
                <a:spcPts val="600"/>
              </a:spcBef>
              <a:spcAft>
                <a:spcPts val="1200"/>
              </a:spcAft>
            </a:pPr>
            <a:r>
              <a:rPr lang="en-AU" sz="2200" dirty="0" smtClean="0">
                <a:latin typeface="Helvetica" pitchFamily="34" charset="0"/>
              </a:rPr>
              <a:t>A corporate plan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Departmental plans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Individual plans</a:t>
            </a:r>
          </a:p>
          <a:p>
            <a:pPr>
              <a:spcBef>
                <a:spcPts val="600"/>
              </a:spcBef>
              <a:spcAft>
                <a:spcPts val="1200"/>
              </a:spcAft>
            </a:pPr>
            <a:endParaRPr lang="en-AU" sz="2400" dirty="0" smtClean="0"/>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131</a:t>
            </a:fld>
            <a:endParaRPr lang="en-US" dirty="0">
              <a:latin typeface="Helvetica" pitchFamily="34" charset="0"/>
            </a:endParaRPr>
          </a:p>
        </p:txBody>
      </p:sp>
      <p:pic>
        <p:nvPicPr>
          <p:cNvPr id="6" name="Picture 5" descr="A15 shutterstock_173608850[1].JPG"/>
          <p:cNvPicPr/>
          <p:nvPr/>
        </p:nvPicPr>
        <p:blipFill>
          <a:blip r:embed="rId3" cstate="print"/>
          <a:stretch>
            <a:fillRect/>
          </a:stretch>
        </p:blipFill>
        <p:spPr>
          <a:xfrm>
            <a:off x="5868144" y="2852936"/>
            <a:ext cx="2057400" cy="1371600"/>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Monitor and record sales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539552" y="1412776"/>
            <a:ext cx="7467600" cy="4968552"/>
          </a:xfrm>
        </p:spPr>
        <p:txBody>
          <a:bodyPr>
            <a:normAutofit lnSpcReduction="10000"/>
          </a:bodyPr>
          <a:lstStyle/>
          <a:p>
            <a:pPr>
              <a:spcBef>
                <a:spcPts val="600"/>
              </a:spcBef>
              <a:spcAft>
                <a:spcPts val="600"/>
              </a:spcAft>
              <a:buNone/>
            </a:pPr>
            <a:r>
              <a:rPr lang="en-AU" sz="2200" b="1" dirty="0" smtClean="0">
                <a:latin typeface="Helvetica" pitchFamily="34" charset="0"/>
              </a:rPr>
              <a:t>Types of targets</a:t>
            </a:r>
            <a:endParaRPr lang="en-US" sz="2200" dirty="0" smtClean="0">
              <a:latin typeface="Helvetica" pitchFamily="34" charset="0"/>
            </a:endParaRPr>
          </a:p>
          <a:p>
            <a:pPr marL="0">
              <a:spcBef>
                <a:spcPts val="600"/>
              </a:spcBef>
              <a:spcAft>
                <a:spcPts val="600"/>
              </a:spcAft>
              <a:buNone/>
            </a:pPr>
            <a:r>
              <a:rPr lang="en-AU" sz="2200" dirty="0" smtClean="0">
                <a:latin typeface="Helvetica" pitchFamily="34" charset="0"/>
              </a:rPr>
              <a:t>As a reminder commonly the targets will be set in dollars for sales, or ‘units sold’ but they may also cover areas such as: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Profit</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Number of people served</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Customer satisfaction levels</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Product quality issues </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Value</a:t>
            </a:r>
            <a:endParaRPr lang="en-US" sz="2200" dirty="0" smtClean="0">
              <a:latin typeface="Helvetica" pitchFamily="34" charset="0"/>
            </a:endParaRPr>
          </a:p>
          <a:p>
            <a:pPr lvl="0">
              <a:spcBef>
                <a:spcPts val="600"/>
              </a:spcBef>
              <a:spcAft>
                <a:spcPts val="600"/>
              </a:spcAft>
            </a:pPr>
            <a:r>
              <a:rPr lang="en-AU" sz="2200" dirty="0" smtClean="0">
                <a:latin typeface="Helvetica" pitchFamily="34" charset="0"/>
              </a:rPr>
              <a:t>Speed of service</a:t>
            </a:r>
            <a:endParaRPr lang="en-US" sz="2200" dirty="0" smtClean="0">
              <a:latin typeface="Helvetica" pitchFamily="34" charset="0"/>
            </a:endParaRPr>
          </a:p>
          <a:p>
            <a:pPr>
              <a:spcBef>
                <a:spcPts val="600"/>
              </a:spcBef>
              <a:spcAft>
                <a:spcPts val="600"/>
              </a:spcAft>
            </a:pPr>
            <a:r>
              <a:rPr lang="en-AU" sz="2200" dirty="0" smtClean="0">
                <a:latin typeface="Helvetica" pitchFamily="34" charset="0"/>
              </a:rPr>
              <a:t>Complaints and compliments</a:t>
            </a: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132</a:t>
            </a:fld>
            <a:endParaRPr lang="en-US" dirty="0">
              <a:latin typeface="Helvetica" pitchFamily="34" charset="0"/>
            </a:endParaRPr>
          </a:p>
        </p:txBody>
      </p:sp>
      <p:pic>
        <p:nvPicPr>
          <p:cNvPr id="7" name="Picture 6" descr="shutterstock_161707370.jpg"/>
          <p:cNvPicPr/>
          <p:nvPr/>
        </p:nvPicPr>
        <p:blipFill>
          <a:blip r:embed="rId3" cstate="print"/>
          <a:stretch>
            <a:fillRect/>
          </a:stretch>
        </p:blipFill>
        <p:spPr>
          <a:xfrm>
            <a:off x="5868144" y="3212976"/>
            <a:ext cx="2217415" cy="1656184"/>
          </a:xfrm>
          <a:prstGeom prst="rect">
            <a:avLst/>
          </a:prstGeom>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Monitor and record sales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488776" y="1412776"/>
            <a:ext cx="7467600" cy="4968552"/>
          </a:xfrm>
        </p:spPr>
        <p:txBody>
          <a:bodyPr>
            <a:normAutofit/>
          </a:bodyPr>
          <a:lstStyle/>
          <a:p>
            <a:pPr>
              <a:spcBef>
                <a:spcPts val="600"/>
              </a:spcBef>
              <a:spcAft>
                <a:spcPts val="1200"/>
              </a:spcAft>
              <a:buNone/>
            </a:pPr>
            <a:r>
              <a:rPr lang="en-AU" sz="2200" b="1" dirty="0" smtClean="0">
                <a:latin typeface="Helvetica" pitchFamily="34" charset="0"/>
              </a:rPr>
              <a:t>Comparing performance against targets</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It is the role of management  to compare actual performance to the targets that have been set and determine: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Whether things are on track</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Whether there are problems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Whether you are exceeding expectations</a:t>
            </a:r>
          </a:p>
          <a:p>
            <a:pPr>
              <a:spcBef>
                <a:spcPts val="600"/>
              </a:spcBef>
              <a:spcAft>
                <a:spcPts val="1200"/>
              </a:spcAft>
            </a:pPr>
            <a:r>
              <a:rPr lang="en-AU" sz="2200" dirty="0" smtClean="0">
                <a:latin typeface="Helvetica" pitchFamily="34" charset="0"/>
              </a:rPr>
              <a:t>What are ways to identify actual                                  performance?</a:t>
            </a:r>
          </a:p>
          <a:p>
            <a:pPr lvl="0">
              <a:spcBef>
                <a:spcPts val="600"/>
              </a:spcBef>
              <a:spcAft>
                <a:spcPts val="1200"/>
              </a:spcAft>
            </a:pPr>
            <a:endParaRPr lang="en-US" sz="2200" dirty="0" smtClean="0">
              <a:latin typeface="Helvetica" pitchFamily="34" charset="0"/>
            </a:endParaRPr>
          </a:p>
          <a:p>
            <a:pPr lvl="0">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133</a:t>
            </a:fld>
            <a:endParaRPr lang="en-US" dirty="0">
              <a:latin typeface="Helvetica" pitchFamily="34" charset="0"/>
            </a:endParaRPr>
          </a:p>
        </p:txBody>
      </p:sp>
      <p:pic>
        <p:nvPicPr>
          <p:cNvPr id="6" name="Picture 5" descr="shutterstock_40074070.jpg"/>
          <p:cNvPicPr/>
          <p:nvPr/>
        </p:nvPicPr>
        <p:blipFill>
          <a:blip r:embed="rId3" cstate="print"/>
          <a:stretch>
            <a:fillRect/>
          </a:stretch>
        </p:blipFill>
        <p:spPr>
          <a:xfrm>
            <a:off x="6300192" y="3068960"/>
            <a:ext cx="2114550" cy="1409700"/>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Monitor and record sales</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539552" y="1412776"/>
            <a:ext cx="7467600" cy="4968552"/>
          </a:xfrm>
        </p:spPr>
        <p:txBody>
          <a:bodyPr>
            <a:normAutofit/>
          </a:bodyPr>
          <a:lstStyle/>
          <a:p>
            <a:pPr>
              <a:spcBef>
                <a:spcPts val="600"/>
              </a:spcBef>
              <a:spcAft>
                <a:spcPts val="1200"/>
              </a:spcAft>
              <a:buNone/>
            </a:pPr>
            <a:r>
              <a:rPr lang="en-AU" sz="2200" b="1" dirty="0" smtClean="0">
                <a:latin typeface="Helvetica" pitchFamily="34" charset="0"/>
              </a:rPr>
              <a:t>Sources of actual performance information</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Actual sales figures will come from:</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POS equipment – to reveal sales, units sold, sales by individual staff members, sales by time of day or week, department, product or service line and a host of subsets </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Store documentation or other databases</a:t>
            </a:r>
          </a:p>
          <a:p>
            <a:pPr>
              <a:spcBef>
                <a:spcPts val="600"/>
              </a:spcBef>
              <a:spcAft>
                <a:spcPts val="1200"/>
              </a:spcAft>
            </a:pPr>
            <a:r>
              <a:rPr lang="en-AU" sz="2200" dirty="0" smtClean="0">
                <a:latin typeface="Helvetica" pitchFamily="34" charset="0"/>
              </a:rPr>
              <a:t>What are other methods?</a:t>
            </a:r>
          </a:p>
          <a:p>
            <a:pPr>
              <a:spcBef>
                <a:spcPts val="600"/>
              </a:spcBef>
              <a:spcAft>
                <a:spcPts val="1200"/>
              </a:spcAft>
            </a:pPr>
            <a:r>
              <a:rPr lang="en-AU" sz="2200" dirty="0" smtClean="0">
                <a:latin typeface="Helvetica" pitchFamily="34" charset="0"/>
              </a:rPr>
              <a:t>How can you record performance?</a:t>
            </a:r>
          </a:p>
          <a:p>
            <a:pPr lvl="0">
              <a:spcBef>
                <a:spcPts val="600"/>
              </a:spcBef>
              <a:spcAft>
                <a:spcPts val="1200"/>
              </a:spcAft>
              <a:buNone/>
            </a:pPr>
            <a:r>
              <a:rPr lang="en-AU" sz="2200" dirty="0" smtClean="0">
                <a:solidFill>
                  <a:srgbClr val="FF6600"/>
                </a:solidFill>
                <a:latin typeface="Helvetica" pitchFamily="34" charset="0"/>
              </a:rPr>
              <a:t>COMPLETE ACTIVITY 30</a:t>
            </a:r>
            <a:endParaRPr lang="en-AU"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pic>
        <p:nvPicPr>
          <p:cNvPr id="7" name="Picture 6" descr="shutterstock_166102289.jpg"/>
          <p:cNvPicPr/>
          <p:nvPr/>
        </p:nvPicPr>
        <p:blipFill>
          <a:blip r:embed="rId3" cstate="print"/>
          <a:stretch>
            <a:fillRect/>
          </a:stretch>
        </p:blipFill>
        <p:spPr>
          <a:xfrm>
            <a:off x="6516216" y="4149080"/>
            <a:ext cx="1960245" cy="1304925"/>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Providing feedback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Providing feedback to management and stakeholders</a:t>
            </a:r>
          </a:p>
          <a:p>
            <a:pPr marL="0">
              <a:spcBef>
                <a:spcPts val="600"/>
              </a:spcBef>
              <a:spcAft>
                <a:spcPts val="1200"/>
              </a:spcAft>
              <a:buNone/>
            </a:pPr>
            <a:r>
              <a:rPr lang="en-AU" sz="2200" dirty="0" smtClean="0">
                <a:latin typeface="Helvetica" pitchFamily="34" charset="0"/>
              </a:rPr>
              <a:t>When any performance evaluation has taken place, it is important that the findings are reported back to all relevant persons.</a:t>
            </a:r>
          </a:p>
          <a:p>
            <a:pPr>
              <a:spcBef>
                <a:spcPts val="600"/>
              </a:spcBef>
              <a:spcAft>
                <a:spcPts val="1200"/>
              </a:spcAft>
            </a:pPr>
            <a:r>
              <a:rPr lang="en-AU" sz="2200" dirty="0" smtClean="0">
                <a:latin typeface="Helvetica" pitchFamily="34" charset="0"/>
              </a:rPr>
              <a:t>What are methods of feedback that can be given?</a:t>
            </a:r>
            <a:endParaRPr lang="en-US" sz="2200" dirty="0" smtClean="0">
              <a:latin typeface="Helvetica" pitchFamily="34" charset="0"/>
            </a:endParaRPr>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135</a:t>
            </a:fld>
            <a:endParaRPr lang="en-US" dirty="0">
              <a:latin typeface="Helvetica" pitchFamily="34" charset="0"/>
            </a:endParaRPr>
          </a:p>
        </p:txBody>
      </p:sp>
      <p:pic>
        <p:nvPicPr>
          <p:cNvPr id="7" name="Picture 6" descr="shutterstock_161774252.jpg"/>
          <p:cNvPicPr/>
          <p:nvPr/>
        </p:nvPicPr>
        <p:blipFill>
          <a:blip r:embed="rId3" cstate="print"/>
          <a:stretch>
            <a:fillRect/>
          </a:stretch>
        </p:blipFill>
        <p:spPr>
          <a:xfrm>
            <a:off x="3707904" y="4221088"/>
            <a:ext cx="1224136" cy="1800200"/>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Providing feedback</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lnSpcReduction="10000"/>
          </a:bodyPr>
          <a:lstStyle/>
          <a:p>
            <a:pPr>
              <a:spcBef>
                <a:spcPts val="600"/>
              </a:spcBef>
              <a:spcAft>
                <a:spcPts val="1200"/>
              </a:spcAft>
              <a:buNone/>
            </a:pPr>
            <a:r>
              <a:rPr lang="en-AU" sz="2200" b="1" dirty="0" smtClean="0">
                <a:latin typeface="Helvetica" pitchFamily="34" charset="0"/>
              </a:rPr>
              <a:t>Types of feedback</a:t>
            </a:r>
            <a:endParaRPr lang="en-US" sz="2200" b="1" dirty="0" smtClean="0">
              <a:latin typeface="Helvetica" pitchFamily="34" charset="0"/>
            </a:endParaRPr>
          </a:p>
          <a:p>
            <a:pPr>
              <a:spcBef>
                <a:spcPts val="600"/>
              </a:spcBef>
              <a:spcAft>
                <a:spcPts val="1200"/>
              </a:spcAft>
              <a:buNone/>
            </a:pPr>
            <a:r>
              <a:rPr lang="en-AU" sz="2200" dirty="0" smtClean="0">
                <a:latin typeface="Helvetica" pitchFamily="34" charset="0"/>
              </a:rPr>
              <a:t>Feedback to management and staff may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Presentations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Reports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Informal meetings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Email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Financial reports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Business documents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Records of sales</a:t>
            </a:r>
            <a:endParaRPr lang="en-US" sz="2200" dirty="0" smtClean="0">
              <a:latin typeface="Helvetica" pitchFamily="34" charset="0"/>
            </a:endParaRPr>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136</a:t>
            </a:fld>
            <a:endParaRPr lang="en-US" dirty="0">
              <a:latin typeface="Helvetica" pitchFamily="34" charset="0"/>
            </a:endParaRPr>
          </a:p>
        </p:txBody>
      </p:sp>
      <p:pic>
        <p:nvPicPr>
          <p:cNvPr id="6" name="Picture 5" descr="W193_lady_holding_blankboard_shutterstock_156209435.jpg"/>
          <p:cNvPicPr>
            <a:picLocks noChangeAspect="1"/>
          </p:cNvPicPr>
          <p:nvPr/>
        </p:nvPicPr>
        <p:blipFill>
          <a:blip r:embed="rId3" cstate="print"/>
          <a:stretch>
            <a:fillRect/>
          </a:stretch>
        </p:blipFill>
        <p:spPr>
          <a:xfrm>
            <a:off x="5436096" y="3429000"/>
            <a:ext cx="1809752" cy="1809752"/>
          </a:xfrm>
          <a:prstGeom prst="rect">
            <a:avLst/>
          </a:prstGeom>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Prepare sales reports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dirty="0" smtClean="0">
                <a:latin typeface="Helvetica" pitchFamily="34" charset="0"/>
              </a:rPr>
              <a:t>A critical aspect of sales management is sales reporting. </a:t>
            </a:r>
          </a:p>
          <a:p>
            <a:pPr marL="0">
              <a:spcBef>
                <a:spcPts val="600"/>
              </a:spcBef>
              <a:spcAft>
                <a:spcPts val="1200"/>
              </a:spcAft>
              <a:buNone/>
            </a:pPr>
            <a:r>
              <a:rPr lang="en-AU" sz="2200" dirty="0" smtClean="0">
                <a:latin typeface="Helvetica" pitchFamily="34" charset="0"/>
              </a:rPr>
              <a:t>Sales reporting is necessary because it provides important information for us to:</a:t>
            </a:r>
          </a:p>
          <a:p>
            <a:pPr lvl="0">
              <a:spcBef>
                <a:spcPts val="600"/>
              </a:spcBef>
              <a:spcAft>
                <a:spcPts val="1200"/>
              </a:spcAft>
            </a:pPr>
            <a:r>
              <a:rPr lang="en-AU" sz="2200" dirty="0" smtClean="0">
                <a:latin typeface="Helvetica" pitchFamily="34" charset="0"/>
              </a:rPr>
              <a:t>Determine sales patterns</a:t>
            </a:r>
          </a:p>
          <a:p>
            <a:pPr lvl="0">
              <a:spcBef>
                <a:spcPts val="600"/>
              </a:spcBef>
              <a:spcAft>
                <a:spcPts val="1200"/>
              </a:spcAft>
            </a:pPr>
            <a:r>
              <a:rPr lang="en-AU" sz="2200" dirty="0" smtClean="0">
                <a:latin typeface="Helvetica" pitchFamily="34" charset="0"/>
              </a:rPr>
              <a:t>Keep track of progress of sales team</a:t>
            </a:r>
          </a:p>
          <a:p>
            <a:pPr lvl="0">
              <a:spcBef>
                <a:spcPts val="600"/>
              </a:spcBef>
              <a:spcAft>
                <a:spcPts val="1200"/>
              </a:spcAft>
            </a:pPr>
            <a:r>
              <a:rPr lang="en-AU" sz="2200" dirty="0" smtClean="0">
                <a:latin typeface="Helvetica" pitchFamily="34" charset="0"/>
              </a:rPr>
              <a:t>Identify flaws in sales approaches</a:t>
            </a:r>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137</a:t>
            </a:fld>
            <a:endParaRPr lang="en-US" dirty="0">
              <a:latin typeface="Helvetica" pitchFamily="34" charset="0"/>
            </a:endParaRPr>
          </a:p>
        </p:txBody>
      </p:sp>
      <p:pic>
        <p:nvPicPr>
          <p:cNvPr id="6" name="Picture 5" descr="shutterstock_96758635.jpg"/>
          <p:cNvPicPr/>
          <p:nvPr/>
        </p:nvPicPr>
        <p:blipFill>
          <a:blip r:embed="rId3" cstate="print"/>
          <a:stretch>
            <a:fillRect/>
          </a:stretch>
        </p:blipFill>
        <p:spPr>
          <a:xfrm>
            <a:off x="6084168" y="3140968"/>
            <a:ext cx="2298933" cy="1387971"/>
          </a:xfrm>
          <a:prstGeom prst="rect">
            <a:avLst/>
          </a:prstGeom>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Prepare sales reports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Considerations when preparing sales reports</a:t>
            </a:r>
          </a:p>
          <a:p>
            <a:pPr>
              <a:spcBef>
                <a:spcPts val="600"/>
              </a:spcBef>
              <a:spcAft>
                <a:spcPts val="1200"/>
              </a:spcAft>
            </a:pPr>
            <a:r>
              <a:rPr lang="en-AU" sz="2200" dirty="0" smtClean="0">
                <a:latin typeface="Helvetica" pitchFamily="34" charset="0"/>
              </a:rPr>
              <a:t>Collating and organising data</a:t>
            </a:r>
          </a:p>
          <a:p>
            <a:pPr>
              <a:spcBef>
                <a:spcPts val="600"/>
              </a:spcBef>
              <a:spcAft>
                <a:spcPts val="1200"/>
              </a:spcAft>
            </a:pPr>
            <a:r>
              <a:rPr lang="en-AU" sz="2200" dirty="0" smtClean="0">
                <a:latin typeface="Helvetica" pitchFamily="34" charset="0"/>
              </a:rPr>
              <a:t>Computing and extrapolating data</a:t>
            </a:r>
          </a:p>
          <a:p>
            <a:pPr>
              <a:spcBef>
                <a:spcPts val="600"/>
              </a:spcBef>
              <a:spcAft>
                <a:spcPts val="1200"/>
              </a:spcAft>
            </a:pPr>
            <a:r>
              <a:rPr lang="en-AU" sz="2200" dirty="0" smtClean="0">
                <a:latin typeface="Helvetica" pitchFamily="34" charset="0"/>
              </a:rPr>
              <a:t>Summarising and reporting data</a:t>
            </a:r>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138</a:t>
            </a:fld>
            <a:endParaRPr lang="en-US" dirty="0">
              <a:latin typeface="Helvetica" pitchFamily="34" charset="0"/>
            </a:endParaRPr>
          </a:p>
        </p:txBody>
      </p:sp>
      <p:pic>
        <p:nvPicPr>
          <p:cNvPr id="7" name="Picture 6" descr="511610_working[2].jpg"/>
          <p:cNvPicPr/>
          <p:nvPr/>
        </p:nvPicPr>
        <p:blipFill>
          <a:blip r:embed="rId3" cstate="print"/>
          <a:stretch>
            <a:fillRect/>
          </a:stretch>
        </p:blipFill>
        <p:spPr>
          <a:xfrm>
            <a:off x="6012160" y="2420888"/>
            <a:ext cx="1892548" cy="1455415"/>
          </a:xfrm>
          <a:prstGeom prst="rect">
            <a:avLst/>
          </a:prstGeom>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Prepare sales reports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Contents of a sales report</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Identifying outcomes in terms of key performance indicators and sales objectives</a:t>
            </a:r>
          </a:p>
          <a:p>
            <a:pPr lvl="0">
              <a:spcBef>
                <a:spcPts val="600"/>
              </a:spcBef>
              <a:spcAft>
                <a:spcPts val="1200"/>
              </a:spcAft>
            </a:pPr>
            <a:r>
              <a:rPr lang="en-AU" sz="2200" dirty="0" smtClean="0">
                <a:latin typeface="Helvetica" pitchFamily="34" charset="0"/>
              </a:rPr>
              <a:t>Identifying sales, bookings and enquiries by individual members of the sales team</a:t>
            </a:r>
          </a:p>
          <a:p>
            <a:pPr>
              <a:spcBef>
                <a:spcPts val="600"/>
              </a:spcBef>
              <a:spcAft>
                <a:spcPts val="1200"/>
              </a:spcAft>
            </a:pPr>
            <a:r>
              <a:rPr lang="en-AU" sz="2200" dirty="0" smtClean="0">
                <a:latin typeface="Helvetica" pitchFamily="34" charset="0"/>
              </a:rPr>
              <a:t>Identifying specific factors that impeded sales efforts, including weather, political activity, economic conditions, staff illness, competitor activity</a:t>
            </a:r>
          </a:p>
          <a:p>
            <a:pPr lvl="0">
              <a:spcBef>
                <a:spcPts val="600"/>
              </a:spcBef>
              <a:spcAft>
                <a:spcPts val="1200"/>
              </a:spcAft>
            </a:pPr>
            <a:endParaRPr lang="en-AU" sz="2200" dirty="0" smtClean="0">
              <a:latin typeface="Helvetica" pitchFamily="34" charset="0"/>
            </a:endParaRPr>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139</a:t>
            </a:fld>
            <a:endParaRPr lang="en-US" dirty="0">
              <a:latin typeface="Helvetica" pitchFamily="34" charset="0"/>
            </a:endParaRPr>
          </a:p>
        </p:txBody>
      </p:sp>
      <p:pic>
        <p:nvPicPr>
          <p:cNvPr id="6" name="Picture 5" descr="W608_shutterstock_99673604.jpg"/>
          <p:cNvPicPr/>
          <p:nvPr/>
        </p:nvPicPr>
        <p:blipFill>
          <a:blip r:embed="rId3" cstate="print"/>
          <a:stretch>
            <a:fillRect/>
          </a:stretch>
        </p:blipFill>
        <p:spPr>
          <a:xfrm>
            <a:off x="3491880" y="5229200"/>
            <a:ext cx="1944216" cy="1296144"/>
          </a:xfrm>
          <a:prstGeom prst="rect">
            <a:avLst/>
          </a:prstGeom>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Prepare sales reports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Contents of a sales report</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Indicating emerging trends</a:t>
            </a:r>
          </a:p>
          <a:p>
            <a:pPr lvl="0">
              <a:spcBef>
                <a:spcPts val="600"/>
              </a:spcBef>
              <a:spcAft>
                <a:spcPts val="1200"/>
              </a:spcAft>
            </a:pPr>
            <a:r>
              <a:rPr lang="en-AU" sz="2200" dirty="0" smtClean="0">
                <a:latin typeface="Helvetica" pitchFamily="34" charset="0"/>
              </a:rPr>
              <a:t>Indicating products and services that are being regularly mentioned by customers and prospects.</a:t>
            </a:r>
          </a:p>
          <a:p>
            <a:pPr lvl="0">
              <a:spcBef>
                <a:spcPts val="600"/>
              </a:spcBef>
              <a:spcAft>
                <a:spcPts val="1200"/>
              </a:spcAft>
            </a:pPr>
            <a:r>
              <a:rPr lang="en-AU" sz="2200" dirty="0" smtClean="0">
                <a:latin typeface="Helvetica" pitchFamily="34" charset="0"/>
              </a:rPr>
              <a:t>Recognising and acknowledging effort by the sales team</a:t>
            </a:r>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140</a:t>
            </a:fld>
            <a:endParaRPr lang="en-US" dirty="0">
              <a:latin typeface="Helvetica" pitchFamily="34" charset="0"/>
            </a:endParaRPr>
          </a:p>
        </p:txBody>
      </p:sp>
      <p:pic>
        <p:nvPicPr>
          <p:cNvPr id="6" name="Picture 5" descr="MP910220909.JPG"/>
          <p:cNvPicPr/>
          <p:nvPr/>
        </p:nvPicPr>
        <p:blipFill>
          <a:blip r:embed="rId3" cstate="print"/>
          <a:stretch>
            <a:fillRect/>
          </a:stretch>
        </p:blipFill>
        <p:spPr>
          <a:xfrm>
            <a:off x="3707904" y="4437112"/>
            <a:ext cx="1452564" cy="1452564"/>
          </a:xfrm>
          <a:prstGeom prst="rect">
            <a:avLst/>
          </a:prstGeom>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Presenting sales information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Methods to sharing sales related information</a:t>
            </a:r>
            <a:endParaRPr lang="en-AU" sz="2200" dirty="0" smtClean="0">
              <a:latin typeface="Helvetica" pitchFamily="34" charset="0"/>
            </a:endParaRPr>
          </a:p>
          <a:p>
            <a:pPr>
              <a:spcBef>
                <a:spcPts val="600"/>
              </a:spcBef>
              <a:spcAft>
                <a:spcPts val="1200"/>
              </a:spcAft>
              <a:buNone/>
            </a:pPr>
            <a:r>
              <a:rPr lang="en-AU" sz="2200" dirty="0" smtClean="0">
                <a:latin typeface="Helvetica" pitchFamily="34" charset="0"/>
              </a:rPr>
              <a:t>Share sales-related information may include:</a:t>
            </a:r>
          </a:p>
          <a:p>
            <a:pPr lvl="0">
              <a:spcBef>
                <a:spcPts val="600"/>
              </a:spcBef>
              <a:spcAft>
                <a:spcPts val="1200"/>
              </a:spcAft>
            </a:pPr>
            <a:r>
              <a:rPr lang="en-AU" sz="2200" dirty="0" smtClean="0">
                <a:latin typeface="Helvetica" pitchFamily="34" charset="0"/>
              </a:rPr>
              <a:t>Holding team meetings</a:t>
            </a:r>
          </a:p>
          <a:p>
            <a:pPr lvl="0">
              <a:spcBef>
                <a:spcPts val="600"/>
              </a:spcBef>
              <a:spcAft>
                <a:spcPts val="1200"/>
              </a:spcAft>
            </a:pPr>
            <a:r>
              <a:rPr lang="en-AU" sz="2200" dirty="0" smtClean="0">
                <a:latin typeface="Helvetica" pitchFamily="34" charset="0"/>
              </a:rPr>
              <a:t>Providing hard copy information</a:t>
            </a:r>
          </a:p>
          <a:p>
            <a:pPr lvl="0">
              <a:spcBef>
                <a:spcPts val="600"/>
              </a:spcBef>
              <a:spcAft>
                <a:spcPts val="1200"/>
              </a:spcAft>
            </a:pPr>
            <a:r>
              <a:rPr lang="en-AU" sz="2200" dirty="0" smtClean="0">
                <a:latin typeface="Helvetica" pitchFamily="34" charset="0"/>
              </a:rPr>
              <a:t>Sharing information via the intranet</a:t>
            </a:r>
          </a:p>
          <a:p>
            <a:pPr lvl="0">
              <a:spcBef>
                <a:spcPts val="600"/>
              </a:spcBef>
              <a:spcAft>
                <a:spcPts val="1200"/>
              </a:spcAft>
            </a:pPr>
            <a:r>
              <a:rPr lang="en-AU" sz="2200" dirty="0" smtClean="0">
                <a:latin typeface="Helvetica" pitchFamily="34" charset="0"/>
              </a:rPr>
              <a:t>Disseminating information at staff briefings</a:t>
            </a:r>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141</a:t>
            </a:fld>
            <a:endParaRPr lang="en-US" dirty="0">
              <a:latin typeface="Helvetica" pitchFamily="34" charset="0"/>
            </a:endParaRPr>
          </a:p>
        </p:txBody>
      </p:sp>
      <p:pic>
        <p:nvPicPr>
          <p:cNvPr id="6" name="Picture 5" descr="shutterstock_131587952.jpg"/>
          <p:cNvPicPr/>
          <p:nvPr/>
        </p:nvPicPr>
        <p:blipFill>
          <a:blip r:embed="rId3" cstate="print"/>
          <a:stretch>
            <a:fillRect/>
          </a:stretch>
        </p:blipFill>
        <p:spPr>
          <a:xfrm>
            <a:off x="6300192" y="2852936"/>
            <a:ext cx="1960801" cy="1330251"/>
          </a:xfrm>
          <a:prstGeom prst="rect">
            <a:avLst/>
          </a:prstGeom>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Presenting sales information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Explaining sales report information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Explaining if your sales strategy and effort work</a:t>
            </a:r>
          </a:p>
          <a:p>
            <a:pPr lvl="0">
              <a:spcBef>
                <a:spcPts val="600"/>
              </a:spcBef>
              <a:spcAft>
                <a:spcPts val="1200"/>
              </a:spcAft>
            </a:pPr>
            <a:r>
              <a:rPr lang="en-AU" sz="2200" dirty="0" smtClean="0">
                <a:latin typeface="Helvetica" pitchFamily="34" charset="0"/>
              </a:rPr>
              <a:t>Identifying the reasons why they work or not work</a:t>
            </a:r>
          </a:p>
          <a:p>
            <a:pPr lvl="0">
              <a:spcBef>
                <a:spcPts val="600"/>
              </a:spcBef>
              <a:spcAft>
                <a:spcPts val="1200"/>
              </a:spcAft>
            </a:pPr>
            <a:r>
              <a:rPr lang="en-AU" sz="2200" dirty="0" smtClean="0">
                <a:latin typeface="Helvetica" pitchFamily="34" charset="0"/>
              </a:rPr>
              <a:t>Significant variations and the factors associated with the changes</a:t>
            </a:r>
          </a:p>
          <a:p>
            <a:pPr lvl="0">
              <a:spcBef>
                <a:spcPts val="600"/>
              </a:spcBef>
              <a:spcAft>
                <a:spcPts val="1200"/>
              </a:spcAft>
            </a:pPr>
            <a:r>
              <a:rPr lang="en-AU" sz="2200" dirty="0" smtClean="0">
                <a:latin typeface="Helvetica" pitchFamily="34" charset="0"/>
              </a:rPr>
              <a:t>Unusual results and determine their causes</a:t>
            </a:r>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142</a:t>
            </a:fld>
            <a:endParaRPr lang="en-US" dirty="0">
              <a:latin typeface="Helvetica" pitchFamily="34" charset="0"/>
            </a:endParaRPr>
          </a:p>
        </p:txBody>
      </p:sp>
      <p:pic>
        <p:nvPicPr>
          <p:cNvPr id="7" name="Picture 6" descr="shutterstock_133083470.jpg"/>
          <p:cNvPicPr/>
          <p:nvPr/>
        </p:nvPicPr>
        <p:blipFill>
          <a:blip r:embed="rId3" cstate="print"/>
          <a:stretch>
            <a:fillRect/>
          </a:stretch>
        </p:blipFill>
        <p:spPr>
          <a:xfrm>
            <a:off x="3419872" y="4941168"/>
            <a:ext cx="1956991" cy="1325488"/>
          </a:xfrm>
          <a:prstGeom prst="rect">
            <a:avLst/>
          </a:prstGeom>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Presenting sales information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Explaining sales report information</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Patterns and trends in consumer behaviours, and the factors that resulted in those behaviours</a:t>
            </a:r>
          </a:p>
          <a:p>
            <a:pPr lvl="0">
              <a:spcBef>
                <a:spcPts val="600"/>
              </a:spcBef>
              <a:spcAft>
                <a:spcPts val="1200"/>
              </a:spcAft>
            </a:pPr>
            <a:r>
              <a:rPr lang="en-AU" sz="2200" dirty="0" smtClean="0">
                <a:latin typeface="Helvetica" pitchFamily="34" charset="0"/>
              </a:rPr>
              <a:t>Strengths and marketing opportunities</a:t>
            </a:r>
          </a:p>
          <a:p>
            <a:pPr lvl="0">
              <a:spcBef>
                <a:spcPts val="600"/>
              </a:spcBef>
              <a:spcAft>
                <a:spcPts val="1200"/>
              </a:spcAft>
            </a:pPr>
            <a:r>
              <a:rPr lang="en-AU" sz="2200" dirty="0" smtClean="0">
                <a:latin typeface="Helvetica" pitchFamily="34" charset="0"/>
              </a:rPr>
              <a:t>Weaknesses and potential areas of improvement</a:t>
            </a:r>
          </a:p>
          <a:p>
            <a:pPr lvl="0">
              <a:spcBef>
                <a:spcPts val="600"/>
              </a:spcBef>
              <a:spcAft>
                <a:spcPts val="1200"/>
              </a:spcAft>
            </a:pPr>
            <a:r>
              <a:rPr lang="en-AU" sz="2200" dirty="0" smtClean="0">
                <a:latin typeface="Helvetica" pitchFamily="34" charset="0"/>
              </a:rPr>
              <a:t>Impact / implications of the results and conclusions on sales performance</a:t>
            </a:r>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143</a:t>
            </a:fld>
            <a:endParaRPr lang="en-US" dirty="0">
              <a:latin typeface="Helvetica" pitchFamily="34" charset="0"/>
            </a:endParaRPr>
          </a:p>
        </p:txBody>
      </p:sp>
      <p:pic>
        <p:nvPicPr>
          <p:cNvPr id="5" name="Picture 4" descr="W649_shutterstock_166633730.jpg"/>
          <p:cNvPicPr>
            <a:picLocks noChangeAspect="1"/>
          </p:cNvPicPr>
          <p:nvPr/>
        </p:nvPicPr>
        <p:blipFill>
          <a:blip r:embed="rId3" cstate="print"/>
          <a:stretch>
            <a:fillRect/>
          </a:stretch>
        </p:blipFill>
        <p:spPr>
          <a:xfrm>
            <a:off x="3491880" y="5157192"/>
            <a:ext cx="2198110" cy="1466872"/>
          </a:xfrm>
          <a:prstGeom prst="rect">
            <a:avLst/>
          </a:prstGeom>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Presenting sales information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600"/>
              </a:spcAft>
              <a:buNone/>
            </a:pPr>
            <a:r>
              <a:rPr lang="en-AU" sz="2200" b="1" dirty="0" smtClean="0">
                <a:latin typeface="Helvetica" pitchFamily="34" charset="0"/>
              </a:rPr>
              <a:t>Providing identified market intelligence</a:t>
            </a:r>
            <a:endParaRPr lang="en-AU" sz="2200" dirty="0" smtClean="0">
              <a:latin typeface="Helvetica" pitchFamily="34" charset="0"/>
            </a:endParaRPr>
          </a:p>
          <a:p>
            <a:pPr lvl="0">
              <a:spcBef>
                <a:spcPts val="600"/>
              </a:spcBef>
              <a:spcAft>
                <a:spcPts val="600"/>
              </a:spcAft>
            </a:pPr>
            <a:r>
              <a:rPr lang="en-AU" sz="2200" dirty="0" smtClean="0">
                <a:latin typeface="Helvetica" pitchFamily="34" charset="0"/>
              </a:rPr>
              <a:t>Providing new market research data</a:t>
            </a:r>
          </a:p>
          <a:p>
            <a:pPr lvl="0">
              <a:spcBef>
                <a:spcPts val="600"/>
              </a:spcBef>
              <a:spcAft>
                <a:spcPts val="600"/>
              </a:spcAft>
            </a:pPr>
            <a:r>
              <a:rPr lang="en-AU" sz="2200" dirty="0" smtClean="0">
                <a:latin typeface="Helvetica" pitchFamily="34" charset="0"/>
              </a:rPr>
              <a:t>Providing recent feedback from clients</a:t>
            </a:r>
          </a:p>
          <a:p>
            <a:pPr lvl="0">
              <a:spcBef>
                <a:spcPts val="600"/>
              </a:spcBef>
              <a:spcAft>
                <a:spcPts val="600"/>
              </a:spcAft>
            </a:pPr>
            <a:r>
              <a:rPr lang="en-AU" sz="2200" dirty="0" smtClean="0">
                <a:latin typeface="Helvetica" pitchFamily="34" charset="0"/>
              </a:rPr>
              <a:t>Providing information gathered as a result of personal observation and experience</a:t>
            </a:r>
          </a:p>
          <a:p>
            <a:pPr lvl="0">
              <a:spcBef>
                <a:spcPts val="600"/>
              </a:spcBef>
              <a:spcAft>
                <a:spcPts val="600"/>
              </a:spcAft>
            </a:pPr>
            <a:r>
              <a:rPr lang="en-AU" sz="2200" dirty="0" smtClean="0">
                <a:latin typeface="Helvetica" pitchFamily="34" charset="0"/>
              </a:rPr>
              <a:t>Providing data relating to sales </a:t>
            </a:r>
          </a:p>
          <a:p>
            <a:pPr lvl="0">
              <a:spcBef>
                <a:spcPts val="600"/>
              </a:spcBef>
              <a:spcAft>
                <a:spcPts val="600"/>
              </a:spcAft>
            </a:pPr>
            <a:r>
              <a:rPr lang="en-AU" sz="2200" dirty="0" smtClean="0">
                <a:latin typeface="Helvetica" pitchFamily="34" charset="0"/>
              </a:rPr>
              <a:t>Passing on names and details of prospects </a:t>
            </a:r>
          </a:p>
          <a:p>
            <a:pPr lvl="0">
              <a:spcBef>
                <a:spcPts val="600"/>
              </a:spcBef>
              <a:spcAft>
                <a:spcPts val="600"/>
              </a:spcAft>
            </a:pPr>
            <a:r>
              <a:rPr lang="en-AU" sz="2200" dirty="0" smtClean="0">
                <a:latin typeface="Helvetica" pitchFamily="34" charset="0"/>
              </a:rPr>
              <a:t>Supplying information about new sales techniques            and strategies to the sales team</a:t>
            </a:r>
          </a:p>
          <a:p>
            <a:pPr lvl="0">
              <a:spcBef>
                <a:spcPts val="600"/>
              </a:spcBef>
              <a:spcAft>
                <a:spcPts val="600"/>
              </a:spcAft>
            </a:pPr>
            <a:r>
              <a:rPr lang="en-AU" sz="2200" dirty="0" smtClean="0">
                <a:latin typeface="Helvetica" pitchFamily="34" charset="0"/>
              </a:rPr>
              <a:t>Advising sales team of changes </a:t>
            </a:r>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144</a:t>
            </a:fld>
            <a:endParaRPr lang="en-US" dirty="0">
              <a:latin typeface="Helvetica" pitchFamily="34" charset="0"/>
            </a:endParaRPr>
          </a:p>
        </p:txBody>
      </p:sp>
      <p:pic>
        <p:nvPicPr>
          <p:cNvPr id="6" name="Picture 5" descr="W639_shutterstock_114243157.jpg"/>
          <p:cNvPicPr/>
          <p:nvPr/>
        </p:nvPicPr>
        <p:blipFill>
          <a:blip r:embed="rId3" cstate="print"/>
          <a:stretch>
            <a:fillRect/>
          </a:stretch>
        </p:blipFill>
        <p:spPr>
          <a:xfrm>
            <a:off x="6588224" y="1916832"/>
            <a:ext cx="1541145" cy="1028700"/>
          </a:xfrm>
          <a:prstGeom prst="rect">
            <a:avLst/>
          </a:prstGeom>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Sharing sales information with colleagues and staff</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1200"/>
              </a:spcAft>
              <a:buNone/>
            </a:pPr>
            <a:r>
              <a:rPr lang="en-AU" sz="2200" dirty="0" smtClean="0">
                <a:latin typeface="Helvetica" pitchFamily="34" charset="0"/>
              </a:rPr>
              <a:t>After you have received the regular reports and had time to analyse, evaluate and reflect on what they are telling you, there is a need to communicate your findings to the staff at either an individual level or a departmental level. </a:t>
            </a:r>
          </a:p>
          <a:p>
            <a:pPr>
              <a:spcBef>
                <a:spcPts val="600"/>
              </a:spcBef>
              <a:spcAft>
                <a:spcPts val="1200"/>
              </a:spcAft>
            </a:pPr>
            <a:r>
              <a:rPr lang="en-AU" sz="2200" dirty="0" smtClean="0">
                <a:latin typeface="Helvetica" pitchFamily="34" charset="0"/>
              </a:rPr>
              <a:t>How can you do this?</a:t>
            </a:r>
          </a:p>
          <a:p>
            <a:pPr>
              <a:spcBef>
                <a:spcPts val="600"/>
              </a:spcBef>
              <a:spcAft>
                <a:spcPts val="1200"/>
              </a:spcAft>
            </a:pPr>
            <a:r>
              <a:rPr lang="en-AU" sz="2200" dirty="0" smtClean="0">
                <a:latin typeface="Helvetica" pitchFamily="34" charset="0"/>
              </a:rPr>
              <a:t>What information would you like to share?</a:t>
            </a:r>
          </a:p>
          <a:p>
            <a:pPr>
              <a:spcBef>
                <a:spcPts val="600"/>
              </a:spcBef>
              <a:spcAft>
                <a:spcPts val="1200"/>
              </a:spcAft>
            </a:pPr>
            <a:r>
              <a:rPr lang="en-AU" sz="2200" dirty="0" smtClean="0">
                <a:latin typeface="Helvetica" pitchFamily="34" charset="0"/>
              </a:rPr>
              <a:t>How often should it be done?</a:t>
            </a:r>
          </a:p>
          <a:p>
            <a:endParaRPr lang="en-AU" sz="2400" dirty="0" smtClean="0"/>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145</a:t>
            </a:fld>
            <a:endParaRPr lang="en-US" dirty="0">
              <a:latin typeface="Helvetica" pitchFamily="34" charset="0"/>
            </a:endParaRPr>
          </a:p>
        </p:txBody>
      </p:sp>
      <p:pic>
        <p:nvPicPr>
          <p:cNvPr id="6" name="Picture 5" descr="W510_man and lady_holding file_185092082.jpg"/>
          <p:cNvPicPr/>
          <p:nvPr/>
        </p:nvPicPr>
        <p:blipFill>
          <a:blip r:embed="rId3" cstate="print"/>
          <a:stretch>
            <a:fillRect/>
          </a:stretch>
        </p:blipFill>
        <p:spPr>
          <a:xfrm>
            <a:off x="6804248" y="3284984"/>
            <a:ext cx="1721917" cy="1348730"/>
          </a:xfrm>
          <a:prstGeom prst="rect">
            <a:avLst/>
          </a:prstGeom>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Sharing sales information with colleagues and staff</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600"/>
              </a:spcAft>
              <a:buNone/>
            </a:pPr>
            <a:r>
              <a:rPr lang="en-AU" sz="2100" b="1" dirty="0" smtClean="0">
                <a:latin typeface="Helvetica" pitchFamily="34" charset="0"/>
              </a:rPr>
              <a:t>Providing information to staff and colleagues</a:t>
            </a:r>
            <a:endParaRPr lang="en-AU" sz="2100" dirty="0" smtClean="0">
              <a:latin typeface="Helvetica" pitchFamily="34" charset="0"/>
            </a:endParaRPr>
          </a:p>
          <a:p>
            <a:pPr lvl="0">
              <a:spcBef>
                <a:spcPts val="600"/>
              </a:spcBef>
              <a:spcAft>
                <a:spcPts val="600"/>
              </a:spcAft>
            </a:pPr>
            <a:r>
              <a:rPr lang="en-AU" sz="2100" dirty="0" smtClean="0">
                <a:latin typeface="Helvetica" pitchFamily="34" charset="0"/>
              </a:rPr>
              <a:t>Give a general comment</a:t>
            </a:r>
          </a:p>
          <a:p>
            <a:pPr lvl="0">
              <a:spcBef>
                <a:spcPts val="600"/>
              </a:spcBef>
              <a:spcAft>
                <a:spcPts val="600"/>
              </a:spcAft>
            </a:pPr>
            <a:r>
              <a:rPr lang="en-AU" sz="2100" dirty="0" smtClean="0">
                <a:latin typeface="Helvetica" pitchFamily="34" charset="0"/>
              </a:rPr>
              <a:t>Focus their thoughts </a:t>
            </a:r>
          </a:p>
          <a:p>
            <a:pPr lvl="0">
              <a:spcBef>
                <a:spcPts val="600"/>
              </a:spcBef>
              <a:spcAft>
                <a:spcPts val="600"/>
              </a:spcAft>
            </a:pPr>
            <a:r>
              <a:rPr lang="en-AU" sz="2100" dirty="0" smtClean="0">
                <a:latin typeface="Helvetica" pitchFamily="34" charset="0"/>
              </a:rPr>
              <a:t>Assure staff </a:t>
            </a:r>
          </a:p>
          <a:p>
            <a:pPr lvl="0">
              <a:spcBef>
                <a:spcPts val="600"/>
              </a:spcBef>
              <a:spcAft>
                <a:spcPts val="600"/>
              </a:spcAft>
            </a:pPr>
            <a:r>
              <a:rPr lang="en-AU" sz="2100" dirty="0" smtClean="0">
                <a:latin typeface="Helvetica" pitchFamily="34" charset="0"/>
              </a:rPr>
              <a:t>Cover each target, one at a time</a:t>
            </a:r>
          </a:p>
          <a:p>
            <a:pPr>
              <a:spcBef>
                <a:spcPts val="600"/>
              </a:spcBef>
              <a:spcAft>
                <a:spcPts val="600"/>
              </a:spcAft>
            </a:pPr>
            <a:r>
              <a:rPr lang="en-AU" sz="2100" dirty="0" smtClean="0">
                <a:latin typeface="Helvetica" pitchFamily="34" charset="0"/>
              </a:rPr>
              <a:t>Give specific examples as opposed to generalisations</a:t>
            </a:r>
          </a:p>
          <a:p>
            <a:pPr lvl="0">
              <a:spcBef>
                <a:spcPts val="600"/>
              </a:spcBef>
              <a:spcAft>
                <a:spcPts val="600"/>
              </a:spcAft>
            </a:pPr>
            <a:r>
              <a:rPr lang="en-AU" sz="2100" dirty="0" smtClean="0">
                <a:latin typeface="Helvetica" pitchFamily="34" charset="0"/>
              </a:rPr>
              <a:t>Interpret the findings and tell staff what it all means </a:t>
            </a:r>
          </a:p>
          <a:p>
            <a:pPr lvl="0">
              <a:spcBef>
                <a:spcPts val="600"/>
              </a:spcBef>
              <a:spcAft>
                <a:spcPts val="600"/>
              </a:spcAft>
            </a:pPr>
            <a:r>
              <a:rPr lang="en-AU" sz="2100" dirty="0" smtClean="0">
                <a:latin typeface="Helvetica" pitchFamily="34" charset="0"/>
              </a:rPr>
              <a:t>Explain what the results mean </a:t>
            </a:r>
          </a:p>
          <a:p>
            <a:pPr>
              <a:spcBef>
                <a:spcPts val="600"/>
              </a:spcBef>
              <a:spcAft>
                <a:spcPts val="600"/>
              </a:spcAft>
            </a:pPr>
            <a:r>
              <a:rPr lang="en-AU" sz="2100" dirty="0" smtClean="0">
                <a:latin typeface="Helvetica" pitchFamily="34" charset="0"/>
              </a:rPr>
              <a:t>Thank and congratulate everyone</a:t>
            </a:r>
            <a:endParaRPr lang="en-AU" sz="2100" b="1" dirty="0" smtClean="0">
              <a:latin typeface="Helvetica" pitchFamily="34" charset="0"/>
            </a:endParaRPr>
          </a:p>
          <a:p>
            <a:pPr lvl="0">
              <a:spcBef>
                <a:spcPts val="600"/>
              </a:spcBef>
              <a:spcAft>
                <a:spcPts val="1200"/>
              </a:spcAft>
              <a:buNone/>
            </a:pPr>
            <a:r>
              <a:rPr lang="en-AU" sz="2100" dirty="0" smtClean="0">
                <a:solidFill>
                  <a:srgbClr val="FF6600"/>
                </a:solidFill>
                <a:latin typeface="Helvetica" pitchFamily="34" charset="0"/>
              </a:rPr>
              <a:t>COMPLETE ACTIVITY 31</a:t>
            </a:r>
            <a:endParaRPr lang="en-AU" sz="2100" dirty="0" smtClean="0">
              <a:latin typeface="Helvetica" pitchFamily="34" charset="0"/>
            </a:endParaRPr>
          </a:p>
          <a:p>
            <a:pPr>
              <a:spcBef>
                <a:spcPts val="600"/>
              </a:spcBef>
              <a:spcAft>
                <a:spcPts val="1200"/>
              </a:spcAft>
            </a:pPr>
            <a:endParaRPr lang="en-AU" sz="2100" dirty="0" smtClean="0">
              <a:latin typeface="Helvetica" pitchFamily="34" charset="0"/>
            </a:endParaRPr>
          </a:p>
          <a:p>
            <a:endParaRPr lang="en-AU" sz="2100" b="1" dirty="0" smtClean="0"/>
          </a:p>
          <a:p>
            <a:endParaRPr lang="en-AU" sz="21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146</a:t>
            </a:fld>
            <a:endParaRPr lang="en-US" dirty="0">
              <a:latin typeface="Helvetica" pitchFamily="34" charset="0"/>
            </a:endParaRPr>
          </a:p>
        </p:txBody>
      </p:sp>
      <p:pic>
        <p:nvPicPr>
          <p:cNvPr id="5" name="Picture 4" descr="shutterstock_133083470.jpg"/>
          <p:cNvPicPr>
            <a:picLocks noChangeAspect="1"/>
          </p:cNvPicPr>
          <p:nvPr/>
        </p:nvPicPr>
        <p:blipFill>
          <a:blip r:embed="rId3" cstate="print"/>
          <a:stretch>
            <a:fillRect/>
          </a:stretch>
        </p:blipFill>
        <p:spPr>
          <a:xfrm>
            <a:off x="6084168" y="2348880"/>
            <a:ext cx="1979712" cy="1319808"/>
          </a:xfrm>
          <a:prstGeom prst="rect">
            <a:avLst/>
          </a:prstGeom>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dirty="0" smtClean="0">
                <a:solidFill>
                  <a:srgbClr val="FF6600"/>
                </a:solidFill>
                <a:latin typeface="Helvetica" pitchFamily="34" charset="0"/>
              </a:rPr>
              <a:t>Element 6:</a:t>
            </a:r>
          </a:p>
          <a:p>
            <a:pPr marL="0" indent="0">
              <a:spcBef>
                <a:spcPts val="600"/>
              </a:spcBef>
              <a:spcAft>
                <a:spcPts val="1200"/>
              </a:spcAft>
              <a:buNone/>
            </a:pPr>
            <a:r>
              <a:rPr lang="en-AU" sz="4000" dirty="0" smtClean="0">
                <a:solidFill>
                  <a:srgbClr val="FF6600"/>
                </a:solidFill>
                <a:latin typeface="Helvetica" pitchFamily="34" charset="0"/>
              </a:rPr>
              <a:t>Determine factors affecting attainment of sales targets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147</a:t>
            </a:fld>
            <a:endParaRPr lang="en-US" dirty="0">
              <a:latin typeface="Helvetica" pitchFamily="34" charset="0"/>
            </a:endParaRPr>
          </a:p>
        </p:txBody>
      </p:sp>
      <p:pic>
        <p:nvPicPr>
          <p:cNvPr id="5" name="Picture 4" descr="shutterstock_99237542.jpg"/>
          <p:cNvPicPr>
            <a:picLocks noChangeAspect="1"/>
          </p:cNvPicPr>
          <p:nvPr/>
        </p:nvPicPr>
        <p:blipFill>
          <a:blip r:embed="rId3" cstate="print"/>
          <a:stretch>
            <a:fillRect/>
          </a:stretch>
        </p:blipFill>
        <p:spPr>
          <a:xfrm>
            <a:off x="6072198" y="4357694"/>
            <a:ext cx="2061128" cy="1370650"/>
          </a:xfrm>
          <a:prstGeom prst="rect">
            <a:avLst/>
          </a:prstGeom>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indent="0">
              <a:spcBef>
                <a:spcPts val="600"/>
              </a:spcBef>
              <a:spcAft>
                <a:spcPts val="1200"/>
              </a:spcAft>
            </a:pPr>
            <a:r>
              <a:rPr lang="en-AU" sz="3400" b="1" dirty="0" smtClean="0">
                <a:solidFill>
                  <a:srgbClr val="FF6600"/>
                </a:solidFill>
                <a:latin typeface="Helvetica" pitchFamily="34" charset="0"/>
              </a:rPr>
              <a:t>Determine factors affecting attainment of sales targets</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Regularly monitor progress towards sales targets </a:t>
            </a:r>
          </a:p>
          <a:p>
            <a:pPr>
              <a:spcBef>
                <a:spcPts val="600"/>
              </a:spcBef>
              <a:spcAft>
                <a:spcPts val="1200"/>
              </a:spcAft>
            </a:pPr>
            <a:r>
              <a:rPr lang="en-AU" sz="2200" dirty="0" smtClean="0">
                <a:latin typeface="Helvetica" pitchFamily="34" charset="0"/>
              </a:rPr>
              <a:t>Evaluate factors affecting sales performance against the agreed sales targets </a:t>
            </a:r>
          </a:p>
          <a:p>
            <a:pPr>
              <a:spcBef>
                <a:spcPts val="600"/>
              </a:spcBef>
              <a:spcAft>
                <a:spcPts val="1200"/>
              </a:spcAft>
            </a:pPr>
            <a:r>
              <a:rPr lang="en-AU" sz="2200" dirty="0" smtClean="0">
                <a:latin typeface="Helvetica" pitchFamily="34" charset="0"/>
              </a:rPr>
              <a:t>Anticipate and address factors likely to impinge upon attainment of sales targets </a:t>
            </a:r>
          </a:p>
          <a:p>
            <a:pPr>
              <a:spcBef>
                <a:spcPts val="600"/>
              </a:spcBef>
              <a:spcAft>
                <a:spcPts val="1200"/>
              </a:spcAft>
            </a:pPr>
            <a:r>
              <a:rPr lang="en-AU" sz="2200" dirty="0" smtClean="0">
                <a:latin typeface="Helvetica" pitchFamily="34" charset="0"/>
              </a:rPr>
              <a:t>Approve amended or new sales targets according to business policy and procedures </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148</a:t>
            </a:fld>
            <a:endParaRPr lang="en-US" dirty="0">
              <a:latin typeface="Helvetica" pitchFamily="34" charset="0"/>
            </a:endParaRPr>
          </a:p>
        </p:txBody>
      </p:sp>
      <p:pic>
        <p:nvPicPr>
          <p:cNvPr id="6" name="Picture 5" descr="shutterstock_178914854.jpg"/>
          <p:cNvPicPr>
            <a:picLocks noChangeAspect="1"/>
          </p:cNvPicPr>
          <p:nvPr/>
        </p:nvPicPr>
        <p:blipFill>
          <a:blip r:embed="rId3" cstate="print"/>
          <a:stretch>
            <a:fillRect/>
          </a:stretch>
        </p:blipFill>
        <p:spPr>
          <a:xfrm>
            <a:off x="7215206" y="5143512"/>
            <a:ext cx="1524000" cy="1143000"/>
          </a:xfrm>
          <a:prstGeom prst="rect">
            <a:avLst/>
          </a:prstGeom>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Reviewing sales performance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Importance of reviewing sales performance </a:t>
            </a:r>
          </a:p>
          <a:p>
            <a:pPr>
              <a:spcBef>
                <a:spcPts val="600"/>
              </a:spcBef>
              <a:spcAft>
                <a:spcPts val="1200"/>
              </a:spcAft>
            </a:pPr>
            <a:r>
              <a:rPr lang="en-AU" sz="2200" dirty="0" smtClean="0">
                <a:latin typeface="Helvetica" pitchFamily="34" charset="0"/>
              </a:rPr>
              <a:t>Reviewing sales performance is important as it helps us to identify what had happened and to determine how future performance can be improved</a:t>
            </a:r>
          </a:p>
          <a:p>
            <a:pPr>
              <a:spcBef>
                <a:spcPts val="600"/>
              </a:spcBef>
              <a:spcAft>
                <a:spcPts val="1200"/>
              </a:spcAft>
            </a:pPr>
            <a:r>
              <a:rPr lang="en-AU" sz="2200" dirty="0" smtClean="0">
                <a:latin typeface="Helvetica" pitchFamily="34" charset="0"/>
              </a:rPr>
              <a:t>It is hence a means for a manager to direct the activities of the sales staff and manage their performance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149</a:t>
            </a:fld>
            <a:endParaRPr lang="en-US" dirty="0">
              <a:latin typeface="Helvetica" pitchFamily="34" charset="0"/>
            </a:endParaRPr>
          </a:p>
        </p:txBody>
      </p:sp>
      <p:pic>
        <p:nvPicPr>
          <p:cNvPr id="6" name="Picture 5" descr="A2 shutterstock_99180761.jpg"/>
          <p:cNvPicPr/>
          <p:nvPr/>
        </p:nvPicPr>
        <p:blipFill>
          <a:blip r:embed="rId3" cstate="print"/>
          <a:stretch>
            <a:fillRect/>
          </a:stretch>
        </p:blipFill>
        <p:spPr>
          <a:xfrm>
            <a:off x="3707904" y="4653136"/>
            <a:ext cx="2168252" cy="1541512"/>
          </a:xfrm>
          <a:prstGeom prst="rect">
            <a:avLst/>
          </a:prstGeom>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Reviewing sales performance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Reviewing, analysing and monitoring sales activities </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Identifying the true performance of the sales team is important in that it helps us to:</a:t>
            </a:r>
          </a:p>
          <a:p>
            <a:pPr lvl="0">
              <a:spcBef>
                <a:spcPts val="600"/>
              </a:spcBef>
              <a:spcAft>
                <a:spcPts val="1200"/>
              </a:spcAft>
            </a:pPr>
            <a:r>
              <a:rPr lang="en-AU" sz="2200" dirty="0" smtClean="0">
                <a:latin typeface="Helvetica" pitchFamily="34" charset="0"/>
              </a:rPr>
              <a:t>Ensure sales targets are realistically set so that motivation levels can be kept high</a:t>
            </a:r>
          </a:p>
          <a:p>
            <a:pPr lvl="0">
              <a:spcBef>
                <a:spcPts val="600"/>
              </a:spcBef>
              <a:spcAft>
                <a:spcPts val="1200"/>
              </a:spcAft>
            </a:pPr>
            <a:r>
              <a:rPr lang="en-AU" sz="2200" dirty="0" smtClean="0">
                <a:latin typeface="Helvetica" pitchFamily="34" charset="0"/>
              </a:rPr>
              <a:t>Identify the strengths and weaknesses of the sales force</a:t>
            </a:r>
          </a:p>
          <a:p>
            <a:pPr lvl="0">
              <a:spcBef>
                <a:spcPts val="600"/>
              </a:spcBef>
              <a:spcAft>
                <a:spcPts val="1200"/>
              </a:spcAft>
            </a:pPr>
            <a:r>
              <a:rPr lang="en-AU" sz="2200" dirty="0" smtClean="0">
                <a:latin typeface="Helvetica" pitchFamily="34" charset="0"/>
              </a:rPr>
              <a:t>Determine the type of training required to                           improve the performance of the sales force</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150</a:t>
            </a:fld>
            <a:endParaRPr lang="en-US" dirty="0">
              <a:latin typeface="Helvetica" pitchFamily="34" charset="0"/>
            </a:endParaRPr>
          </a:p>
        </p:txBody>
      </p:sp>
      <p:pic>
        <p:nvPicPr>
          <p:cNvPr id="7" name="Picture 6" descr="MP900443367[1].JPG"/>
          <p:cNvPicPr>
            <a:picLocks noChangeAspect="1"/>
          </p:cNvPicPr>
          <p:nvPr/>
        </p:nvPicPr>
        <p:blipFill>
          <a:blip r:embed="rId3" cstate="print"/>
          <a:stretch>
            <a:fillRect/>
          </a:stretch>
        </p:blipFill>
        <p:spPr>
          <a:xfrm>
            <a:off x="7452320" y="4653136"/>
            <a:ext cx="1179527" cy="1700808"/>
          </a:xfrm>
          <a:prstGeom prst="rect">
            <a:avLst/>
          </a:prstGeom>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Reviewing sales performance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100" b="1" dirty="0" smtClean="0">
                <a:latin typeface="Helvetica" pitchFamily="34" charset="0"/>
              </a:rPr>
              <a:t>Reviewing activities</a:t>
            </a:r>
            <a:endParaRPr lang="en-AU" sz="2100" dirty="0" smtClean="0">
              <a:latin typeface="Helvetica" pitchFamily="34" charset="0"/>
            </a:endParaRPr>
          </a:p>
          <a:p>
            <a:pPr lvl="0">
              <a:spcBef>
                <a:spcPts val="600"/>
              </a:spcBef>
              <a:spcAft>
                <a:spcPts val="1200"/>
              </a:spcAft>
            </a:pPr>
            <a:r>
              <a:rPr lang="en-AU" sz="2100" dirty="0" smtClean="0">
                <a:latin typeface="Helvetica" pitchFamily="34" charset="0"/>
              </a:rPr>
              <a:t>Evaluating the results of the sales activities against nominated key performance indicators and sales objectives </a:t>
            </a:r>
          </a:p>
          <a:p>
            <a:pPr lvl="0">
              <a:spcBef>
                <a:spcPts val="600"/>
              </a:spcBef>
              <a:spcAft>
                <a:spcPts val="1200"/>
              </a:spcAft>
            </a:pPr>
            <a:r>
              <a:rPr lang="en-AU" sz="2100" dirty="0" smtClean="0">
                <a:latin typeface="Helvetica" pitchFamily="34" charset="0"/>
              </a:rPr>
              <a:t>Evaluating the activities undertaken to assess suitability, cost, effectiveness and acceptability to the target market populations</a:t>
            </a:r>
          </a:p>
          <a:p>
            <a:pPr lvl="0">
              <a:spcBef>
                <a:spcPts val="600"/>
              </a:spcBef>
              <a:spcAft>
                <a:spcPts val="1200"/>
              </a:spcAft>
            </a:pPr>
            <a:r>
              <a:rPr lang="en-AU" sz="2100" dirty="0" smtClean="0">
                <a:latin typeface="Helvetica" pitchFamily="34" charset="0"/>
              </a:rPr>
              <a:t>Identifying innovative activities and suggestions that may have arisen during the previous period</a:t>
            </a:r>
            <a:endParaRPr lang="en-AU" sz="21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151</a:t>
            </a:fld>
            <a:endParaRPr lang="en-US" dirty="0">
              <a:latin typeface="Helvetica" pitchFamily="34" charset="0"/>
            </a:endParaRPr>
          </a:p>
        </p:txBody>
      </p:sp>
      <p:pic>
        <p:nvPicPr>
          <p:cNvPr id="6" name="Picture 5" descr="A20 shutterstock_182023328.jpg"/>
          <p:cNvPicPr/>
          <p:nvPr/>
        </p:nvPicPr>
        <p:blipFill>
          <a:blip r:embed="rId3" cstate="print"/>
          <a:stretch>
            <a:fillRect/>
          </a:stretch>
        </p:blipFill>
        <p:spPr>
          <a:xfrm>
            <a:off x="3491880" y="5445224"/>
            <a:ext cx="1440160" cy="1114425"/>
          </a:xfrm>
          <a:prstGeom prst="rect">
            <a:avLst/>
          </a:prstGeom>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Reviewing sales performance </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marL="0">
              <a:spcBef>
                <a:spcPts val="600"/>
              </a:spcBef>
              <a:spcAft>
                <a:spcPts val="1200"/>
              </a:spcAft>
              <a:buNone/>
            </a:pPr>
            <a:r>
              <a:rPr lang="en-AU" sz="2200" b="1" dirty="0" smtClean="0">
                <a:latin typeface="Helvetica" pitchFamily="34" charset="0"/>
              </a:rPr>
              <a:t>Determining what data to collect</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The first step to analysing and monitoring sales is to determine what data to collect. </a:t>
            </a:r>
          </a:p>
          <a:p>
            <a:pPr marL="0">
              <a:spcBef>
                <a:spcPts val="600"/>
              </a:spcBef>
              <a:spcAft>
                <a:spcPts val="1200"/>
              </a:spcAft>
              <a:buNone/>
            </a:pPr>
            <a:r>
              <a:rPr lang="en-AU" sz="2200" dirty="0" smtClean="0">
                <a:latin typeface="Helvetica" pitchFamily="34" charset="0"/>
              </a:rPr>
              <a:t>There are generally two types of data that you may collect and use for analysing sales.</a:t>
            </a:r>
          </a:p>
          <a:p>
            <a:pPr>
              <a:spcBef>
                <a:spcPts val="600"/>
              </a:spcBef>
              <a:spcAft>
                <a:spcPts val="1200"/>
              </a:spcAft>
            </a:pPr>
            <a:r>
              <a:rPr lang="en-AU" sz="2200" dirty="0" smtClean="0">
                <a:latin typeface="Helvetica" pitchFamily="34" charset="0"/>
              </a:rPr>
              <a:t>Quantitative data</a:t>
            </a:r>
          </a:p>
          <a:p>
            <a:pPr>
              <a:spcBef>
                <a:spcPts val="600"/>
              </a:spcBef>
              <a:spcAft>
                <a:spcPts val="1200"/>
              </a:spcAft>
            </a:pPr>
            <a:r>
              <a:rPr lang="en-AU" sz="2200" dirty="0" smtClean="0">
                <a:latin typeface="Helvetica" pitchFamily="34" charset="0"/>
              </a:rPr>
              <a:t>Qualitative data</a:t>
            </a:r>
          </a:p>
          <a:p>
            <a:endParaRPr lang="en-AU" sz="2400" b="1" dirty="0" smtClean="0"/>
          </a:p>
          <a:p>
            <a:pPr lvl="0">
              <a:buNone/>
            </a:pPr>
            <a:r>
              <a:rPr lang="en-AU" sz="2400" dirty="0" smtClean="0">
                <a:solidFill>
                  <a:srgbClr val="FF6600"/>
                </a:solidFill>
                <a:latin typeface="Helvetica" pitchFamily="34" charset="0"/>
              </a:rPr>
              <a:t>COMPLETE ACTIVITY 32</a:t>
            </a:r>
            <a:endParaRPr lang="en-AU" sz="24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152</a:t>
            </a:fld>
            <a:endParaRPr lang="en-US" dirty="0">
              <a:latin typeface="Helvetica" pitchFamily="34" charset="0"/>
            </a:endParaRPr>
          </a:p>
        </p:txBody>
      </p:sp>
      <p:pic>
        <p:nvPicPr>
          <p:cNvPr id="7" name="Picture 6" descr="W263_progress1_shutterstock_157209023.jpg"/>
          <p:cNvPicPr/>
          <p:nvPr/>
        </p:nvPicPr>
        <p:blipFill>
          <a:blip r:embed="rId3" cstate="print"/>
          <a:stretch>
            <a:fillRect/>
          </a:stretch>
        </p:blipFill>
        <p:spPr>
          <a:xfrm>
            <a:off x="6228184" y="4005064"/>
            <a:ext cx="2052494" cy="1560562"/>
          </a:xfrm>
          <a:prstGeom prst="rect">
            <a:avLst/>
          </a:prstGeom>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Evaluate factors affecting performance</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US" sz="2200" b="1" dirty="0" smtClean="0">
                <a:latin typeface="Helvetica" pitchFamily="34" charset="0"/>
              </a:rPr>
              <a:t>Need for immediate attention</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Where all aspects of marketing and sales performance should be examined with the purpose of improvement, in essence it is vital that any problem areas are addressed immediately</a:t>
            </a:r>
            <a:endParaRPr lang="en-US" sz="2200" dirty="0" smtClean="0">
              <a:latin typeface="Helvetica" pitchFamily="34" charset="0"/>
            </a:endParaRP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153</a:t>
            </a:fld>
            <a:endParaRPr lang="en-US" dirty="0"/>
          </a:p>
        </p:txBody>
      </p:sp>
      <p:pic>
        <p:nvPicPr>
          <p:cNvPr id="6" name="Picture 5" descr="shutterstock_162541940.jpg"/>
          <p:cNvPicPr/>
          <p:nvPr/>
        </p:nvPicPr>
        <p:blipFill>
          <a:blip r:embed="rId3" cstate="print"/>
          <a:stretch>
            <a:fillRect/>
          </a:stretch>
        </p:blipFill>
        <p:spPr>
          <a:xfrm>
            <a:off x="3707904" y="3645024"/>
            <a:ext cx="1574528" cy="2285241"/>
          </a:xfrm>
          <a:prstGeom prst="rect">
            <a:avLst/>
          </a:prstGeom>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Evaluate factors affecting performance</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US" sz="2200" b="1" dirty="0" smtClean="0">
                <a:latin typeface="Helvetica" pitchFamily="34" charset="0"/>
              </a:rPr>
              <a:t>Need for immediate attention</a:t>
            </a:r>
            <a:endParaRPr lang="en-US" sz="2200" dirty="0" smtClean="0">
              <a:latin typeface="Helvetica" pitchFamily="34" charset="0"/>
            </a:endParaRPr>
          </a:p>
          <a:p>
            <a:pPr marL="0">
              <a:spcBef>
                <a:spcPts val="600"/>
              </a:spcBef>
              <a:spcAft>
                <a:spcPts val="1200"/>
              </a:spcAft>
              <a:buNone/>
            </a:pPr>
            <a:r>
              <a:rPr lang="en-AU" sz="2200" dirty="0" smtClean="0">
                <a:latin typeface="Helvetica" pitchFamily="34" charset="0"/>
              </a:rPr>
              <a:t>When we discuss the term 'addressing' it does not automatically mean changes need to be made, instead closer examination and analysis should be made to determine: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Factors affecting sales performance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Reasons for poor performance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Suggested improvements that can be made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Changes to sales targets</a:t>
            </a:r>
            <a:endParaRPr lang="en-US" sz="2200" dirty="0" smtClean="0">
              <a:latin typeface="Helvetica" pitchFamily="34" charset="0"/>
            </a:endParaRP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154</a:t>
            </a:fld>
            <a:endParaRPr lang="en-US" dirty="0"/>
          </a:p>
        </p:txBody>
      </p:sp>
      <p:pic>
        <p:nvPicPr>
          <p:cNvPr id="7" name="Picture 6" descr="shutterstock_103324088.jpg"/>
          <p:cNvPicPr/>
          <p:nvPr/>
        </p:nvPicPr>
        <p:blipFill>
          <a:blip r:embed="rId3" cstate="print"/>
          <a:stretch>
            <a:fillRect/>
          </a:stretch>
        </p:blipFill>
        <p:spPr>
          <a:xfrm>
            <a:off x="6876256" y="3717032"/>
            <a:ext cx="1728789" cy="1338264"/>
          </a:xfrm>
          <a:prstGeom prst="rect">
            <a:avLst/>
          </a:prstGeom>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Evaluate factors affecting performance</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Factors affecting sales performance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Customer requirements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Market share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Competitor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Quality of products or services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Presentation or merchandising of the product</a:t>
            </a:r>
            <a:endParaRPr lang="en-US" sz="2200" dirty="0" smtClean="0">
              <a:latin typeface="Helvetica" pitchFamily="34" charset="0"/>
            </a:endParaRPr>
          </a:p>
          <a:p>
            <a:pPr lvl="0">
              <a:buNone/>
            </a:pPr>
            <a:endParaRPr lang="en-US" sz="2400" dirty="0" smtClean="0"/>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155</a:t>
            </a:fld>
            <a:endParaRPr lang="en-US" dirty="0"/>
          </a:p>
        </p:txBody>
      </p:sp>
      <p:pic>
        <p:nvPicPr>
          <p:cNvPr id="6" name="Picture 5" descr="shutterstock_155573669.jpg"/>
          <p:cNvPicPr/>
          <p:nvPr/>
        </p:nvPicPr>
        <p:blipFill>
          <a:blip r:embed="rId3" cstate="print"/>
          <a:stretch>
            <a:fillRect/>
          </a:stretch>
        </p:blipFill>
        <p:spPr>
          <a:xfrm>
            <a:off x="6732240" y="2420888"/>
            <a:ext cx="1352550" cy="1714500"/>
          </a:xfrm>
          <a:prstGeom prst="rect">
            <a:avLst/>
          </a:prstGeom>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8280920" cy="1143000"/>
          </a:xfrm>
        </p:spPr>
        <p:txBody>
          <a:bodyPr>
            <a:normAutofit/>
          </a:bodyPr>
          <a:lstStyle/>
          <a:p>
            <a:r>
              <a:rPr lang="en-AU" sz="3400" b="1" dirty="0" smtClean="0">
                <a:solidFill>
                  <a:srgbClr val="FF6600"/>
                </a:solidFill>
                <a:latin typeface="Helvetica" pitchFamily="34" charset="0"/>
              </a:rPr>
              <a:t>Evaluate factors affecting performance</a:t>
            </a:r>
            <a:endParaRPr lang="en-US" sz="3400" dirty="0">
              <a:solidFill>
                <a:srgbClr val="FF6600"/>
              </a:solidFill>
              <a:latin typeface="Helvetica" pitchFamily="34" charset="0"/>
            </a:endParaRPr>
          </a:p>
        </p:txBody>
      </p:sp>
      <p:sp>
        <p:nvSpPr>
          <p:cNvPr id="3" name="Content Placeholder 2"/>
          <p:cNvSpPr>
            <a:spLocks noGrp="1"/>
          </p:cNvSpPr>
          <p:nvPr>
            <p:ph idx="1"/>
          </p:nvPr>
        </p:nvSpPr>
        <p:spPr>
          <a:xfrm>
            <a:off x="611560" y="1556792"/>
            <a:ext cx="7632848" cy="4680520"/>
          </a:xfrm>
        </p:spPr>
        <p:txBody>
          <a:bodyPr>
            <a:noAutofit/>
          </a:bodyPr>
          <a:lstStyle/>
          <a:p>
            <a:pPr>
              <a:spcBef>
                <a:spcPts val="600"/>
              </a:spcBef>
              <a:spcAft>
                <a:spcPts val="1200"/>
              </a:spcAft>
              <a:buNone/>
            </a:pPr>
            <a:r>
              <a:rPr lang="en-AU" sz="2200" b="1" dirty="0" smtClean="0">
                <a:latin typeface="Helvetica" pitchFamily="34" charset="0"/>
              </a:rPr>
              <a:t>Factors affecting sales performance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Associated sales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Associated promotions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Promotional tie-ins or co-location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Merchandise availability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Logistics</a:t>
            </a:r>
          </a:p>
          <a:p>
            <a:pPr lvl="0">
              <a:spcBef>
                <a:spcPts val="600"/>
              </a:spcBef>
              <a:spcAft>
                <a:spcPts val="1200"/>
              </a:spcAft>
            </a:pPr>
            <a:endParaRPr lang="en-AU" sz="2200" dirty="0" smtClean="0">
              <a:latin typeface="Helvetica" pitchFamily="34" charset="0"/>
            </a:endParaRPr>
          </a:p>
          <a:p>
            <a:pPr>
              <a:spcBef>
                <a:spcPts val="600"/>
              </a:spcBef>
              <a:spcAft>
                <a:spcPts val="1200"/>
              </a:spcAft>
              <a:buNone/>
            </a:pPr>
            <a:r>
              <a:rPr lang="en-AU" sz="2000" dirty="0" smtClean="0">
                <a:solidFill>
                  <a:srgbClr val="FF6600"/>
                </a:solidFill>
                <a:latin typeface="Helvetica" pitchFamily="34" charset="0"/>
              </a:rPr>
              <a:t>COMPLETE ACTIVITY 33</a:t>
            </a:r>
            <a:endParaRPr lang="en-AU" sz="2000" dirty="0" smtClean="0">
              <a:latin typeface="Helvetica" pitchFamily="34" charset="0"/>
            </a:endParaRPr>
          </a:p>
          <a:p>
            <a:pPr lvl="0">
              <a:spcBef>
                <a:spcPts val="600"/>
              </a:spcBef>
              <a:spcAft>
                <a:spcPts val="1200"/>
              </a:spcAft>
            </a:pPr>
            <a:endParaRPr lang="en-US" sz="2200" dirty="0" smtClean="0">
              <a:latin typeface="Helvetica" pitchFamily="34" charset="0"/>
            </a:endParaRPr>
          </a:p>
          <a:p>
            <a:pPr>
              <a:buNone/>
            </a:pPr>
            <a:endParaRPr lang="en-AU" sz="2400" b="1" dirty="0" smtClean="0"/>
          </a:p>
          <a:p>
            <a:pPr>
              <a:spcBef>
                <a:spcPts val="600"/>
              </a:spcBef>
              <a:spcAft>
                <a:spcPts val="1200"/>
              </a:spcAft>
              <a:buNone/>
            </a:pPr>
            <a:endParaRPr lang="en-AU" sz="2200" dirty="0" smtClean="0">
              <a:latin typeface="Helvetica" pitchFamily="34" charset="0"/>
            </a:endParaRPr>
          </a:p>
          <a:p>
            <a:pPr marL="0">
              <a:spcBef>
                <a:spcPts val="600"/>
              </a:spcBef>
              <a:spcAft>
                <a:spcPts val="1200"/>
              </a:spcAft>
              <a:buNone/>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156</a:t>
            </a:fld>
            <a:endParaRPr lang="en-US" dirty="0"/>
          </a:p>
        </p:txBody>
      </p:sp>
      <p:pic>
        <p:nvPicPr>
          <p:cNvPr id="5" name="Picture 4" descr="shutterstock_143143042.jpg"/>
          <p:cNvPicPr>
            <a:picLocks noChangeAspect="1"/>
          </p:cNvPicPr>
          <p:nvPr/>
        </p:nvPicPr>
        <p:blipFill>
          <a:blip r:embed="rId3" cstate="print"/>
          <a:stretch>
            <a:fillRect/>
          </a:stretch>
        </p:blipFill>
        <p:spPr>
          <a:xfrm>
            <a:off x="6660232" y="2420888"/>
            <a:ext cx="1589155" cy="2309818"/>
          </a:xfrm>
          <a:prstGeom prst="rect">
            <a:avLst/>
          </a:prstGeom>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1560" y="1556792"/>
            <a:ext cx="7237040" cy="4680520"/>
          </a:xfrm>
        </p:spPr>
        <p:txBody>
          <a:bodyPr>
            <a:normAutofit/>
          </a:bodyPr>
          <a:lstStyle/>
          <a:p>
            <a:pPr marL="0">
              <a:buNone/>
            </a:pPr>
            <a:r>
              <a:rPr lang="en-AU" sz="4000" b="1" dirty="0" smtClean="0">
                <a:solidFill>
                  <a:srgbClr val="FF6600"/>
                </a:solidFill>
                <a:latin typeface="Helvetica" pitchFamily="34" charset="0"/>
              </a:rPr>
              <a:t>Element 7:</a:t>
            </a:r>
          </a:p>
          <a:p>
            <a:pPr marL="0" indent="0">
              <a:spcBef>
                <a:spcPts val="600"/>
              </a:spcBef>
              <a:spcAft>
                <a:spcPts val="1200"/>
              </a:spcAft>
              <a:buNone/>
            </a:pPr>
            <a:r>
              <a:rPr lang="en-AU" sz="4000" dirty="0" smtClean="0">
                <a:solidFill>
                  <a:srgbClr val="FF6600"/>
                </a:solidFill>
              </a:rPr>
              <a:t>Conduct ongoing evaluation</a:t>
            </a:r>
            <a:endParaRPr lang="en-AU" sz="4000" dirty="0" smtClean="0">
              <a:solidFill>
                <a:srgbClr val="FF6600"/>
              </a:solidFill>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157</a:t>
            </a:fld>
            <a:endParaRPr lang="en-US" dirty="0">
              <a:latin typeface="Helvetica" pitchFamily="34" charset="0"/>
            </a:endParaRPr>
          </a:p>
        </p:txBody>
      </p:sp>
      <p:pic>
        <p:nvPicPr>
          <p:cNvPr id="5" name="Picture 4" descr="A22 shutterstock_182450381.jpg"/>
          <p:cNvPicPr>
            <a:picLocks noChangeAspect="1"/>
          </p:cNvPicPr>
          <p:nvPr/>
        </p:nvPicPr>
        <p:blipFill>
          <a:blip r:embed="rId3" cstate="print"/>
          <a:stretch>
            <a:fillRect/>
          </a:stretch>
        </p:blipFill>
        <p:spPr>
          <a:xfrm>
            <a:off x="6215074" y="4429132"/>
            <a:ext cx="2486488" cy="1660974"/>
          </a:xfrm>
          <a:prstGeom prst="rect">
            <a:avLst/>
          </a:prstGeom>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pPr marL="0" indent="0">
              <a:spcBef>
                <a:spcPts val="600"/>
              </a:spcBef>
              <a:spcAft>
                <a:spcPts val="1200"/>
              </a:spcAft>
            </a:pPr>
            <a:r>
              <a:rPr lang="en-AU" sz="3400" b="1" dirty="0" smtClean="0">
                <a:solidFill>
                  <a:srgbClr val="FF6600"/>
                </a:solidFill>
                <a:latin typeface="Helvetica" pitchFamily="34" charset="0"/>
              </a:rPr>
              <a:t>Conduct ongoing evaluation</a:t>
            </a:r>
          </a:p>
        </p:txBody>
      </p:sp>
      <p:sp>
        <p:nvSpPr>
          <p:cNvPr id="3" name="Content Placeholder 2"/>
          <p:cNvSpPr>
            <a:spLocks noGrp="1"/>
          </p:cNvSpPr>
          <p:nvPr>
            <p:ph idx="1"/>
          </p:nvPr>
        </p:nvSpPr>
        <p:spPr>
          <a:xfrm>
            <a:off x="611560" y="1556792"/>
            <a:ext cx="7467600" cy="4525963"/>
          </a:xfrm>
        </p:spPr>
        <p:txBody>
          <a:bodyPr>
            <a:noAutofit/>
          </a:bodyPr>
          <a:lstStyle/>
          <a:p>
            <a:pPr marL="0" indent="0">
              <a:spcBef>
                <a:spcPts val="600"/>
              </a:spcBef>
              <a:spcAft>
                <a:spcPts val="1200"/>
              </a:spcAft>
              <a:buNone/>
            </a:pPr>
            <a:r>
              <a:rPr lang="en-AU" sz="2200" dirty="0" smtClean="0">
                <a:latin typeface="Helvetica" pitchFamily="34" charset="0"/>
              </a:rPr>
              <a:t>Performance Criteria for this Element are: </a:t>
            </a:r>
          </a:p>
          <a:p>
            <a:pPr>
              <a:spcBef>
                <a:spcPts val="600"/>
              </a:spcBef>
              <a:spcAft>
                <a:spcPts val="1200"/>
              </a:spcAft>
            </a:pPr>
            <a:r>
              <a:rPr lang="en-AU" sz="2200" dirty="0" smtClean="0">
                <a:latin typeface="Helvetica" pitchFamily="34" charset="0"/>
              </a:rPr>
              <a:t>Evaluate marketing and sales activities using agreed parameters and benchmarks </a:t>
            </a:r>
          </a:p>
          <a:p>
            <a:pPr>
              <a:spcBef>
                <a:spcPts val="600"/>
              </a:spcBef>
              <a:spcAft>
                <a:spcPts val="1200"/>
              </a:spcAft>
            </a:pPr>
            <a:r>
              <a:rPr lang="en-AU" sz="2200" dirty="0" smtClean="0">
                <a:latin typeface="Helvetica" pitchFamily="34" charset="0"/>
              </a:rPr>
              <a:t>Make adjustments in accordance with evaluation </a:t>
            </a:r>
          </a:p>
          <a:p>
            <a:pPr>
              <a:spcBef>
                <a:spcPts val="600"/>
              </a:spcBef>
              <a:spcAft>
                <a:spcPts val="1200"/>
              </a:spcAft>
            </a:pPr>
            <a:r>
              <a:rPr lang="en-AU" sz="2200" dirty="0" smtClean="0">
                <a:latin typeface="Helvetica" pitchFamily="34" charset="0"/>
              </a:rPr>
              <a:t>Communicate and implement agreed changes promptly</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158</a:t>
            </a:fld>
            <a:endParaRPr lang="en-US" dirty="0">
              <a:latin typeface="Helvetica" pitchFamily="34" charset="0"/>
            </a:endParaRPr>
          </a:p>
        </p:txBody>
      </p:sp>
      <p:pic>
        <p:nvPicPr>
          <p:cNvPr id="5" name="Picture 4" descr="shutterstock_179800145.jpg"/>
          <p:cNvPicPr>
            <a:picLocks noChangeAspect="1"/>
          </p:cNvPicPr>
          <p:nvPr/>
        </p:nvPicPr>
        <p:blipFill>
          <a:blip r:embed="rId3" cstate="print"/>
          <a:stretch>
            <a:fillRect/>
          </a:stretch>
        </p:blipFill>
        <p:spPr>
          <a:xfrm>
            <a:off x="3419872" y="4581128"/>
            <a:ext cx="2487931" cy="1659450"/>
          </a:xfrm>
          <a:prstGeom prst="rect">
            <a:avLst/>
          </a:prstGeom>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Conduct ongoing evaluation</a:t>
            </a: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US" sz="2200" b="1" dirty="0" smtClean="0">
                <a:latin typeface="Helvetica" pitchFamily="34" charset="0"/>
              </a:rPr>
              <a:t>Monitoring and evaluation mechanisms</a:t>
            </a:r>
            <a:endParaRPr lang="en-US" sz="2200" dirty="0" smtClean="0">
              <a:latin typeface="Helvetica" pitchFamily="34" charset="0"/>
            </a:endParaRPr>
          </a:p>
          <a:p>
            <a:pPr>
              <a:spcBef>
                <a:spcPts val="600"/>
              </a:spcBef>
              <a:spcAft>
                <a:spcPts val="1200"/>
              </a:spcAft>
              <a:buNone/>
            </a:pPr>
            <a:r>
              <a:rPr lang="en-AU" sz="2200" dirty="0" smtClean="0">
                <a:latin typeface="Helvetica" pitchFamily="34" charset="0"/>
              </a:rPr>
              <a:t>Evaluation processes may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Key performance indicators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Gap analysis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Customer feedback</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Compliance reports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Employee feedback</a:t>
            </a:r>
            <a:endParaRPr lang="en-US" sz="2200" dirty="0" smtClean="0">
              <a:latin typeface="Helvetica" pitchFamily="34" charset="0"/>
            </a:endParaRPr>
          </a:p>
          <a:p>
            <a:pPr>
              <a:spcBef>
                <a:spcPts val="600"/>
              </a:spcBef>
              <a:spcAft>
                <a:spcPts val="1200"/>
              </a:spcAft>
            </a:pP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159</a:t>
            </a:fld>
            <a:endParaRPr lang="en-US" dirty="0"/>
          </a:p>
        </p:txBody>
      </p:sp>
      <p:pic>
        <p:nvPicPr>
          <p:cNvPr id="7" name="Picture 6" descr="A8 shutterstock_149513465.jpg"/>
          <p:cNvPicPr/>
          <p:nvPr/>
        </p:nvPicPr>
        <p:blipFill>
          <a:blip r:embed="rId3" cstate="print"/>
          <a:stretch>
            <a:fillRect/>
          </a:stretch>
        </p:blipFill>
        <p:spPr>
          <a:xfrm>
            <a:off x="5796136" y="3356992"/>
            <a:ext cx="2034224" cy="1371601"/>
          </a:xfrm>
          <a:prstGeom prst="rect">
            <a:avLst/>
          </a:prstGeom>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9040" cy="1143000"/>
          </a:xfrm>
        </p:spPr>
        <p:txBody>
          <a:bodyPr>
            <a:normAutofit/>
          </a:bodyPr>
          <a:lstStyle/>
          <a:p>
            <a:r>
              <a:rPr lang="en-AU" sz="3400" b="1" dirty="0" smtClean="0">
                <a:solidFill>
                  <a:srgbClr val="FF6600"/>
                </a:solidFill>
                <a:latin typeface="Helvetica" pitchFamily="34" charset="0"/>
              </a:rPr>
              <a:t>Conduct ongoing evaluation</a:t>
            </a:r>
          </a:p>
        </p:txBody>
      </p:sp>
      <p:sp>
        <p:nvSpPr>
          <p:cNvPr id="3" name="Content Placeholder 2"/>
          <p:cNvSpPr>
            <a:spLocks noGrp="1"/>
          </p:cNvSpPr>
          <p:nvPr>
            <p:ph idx="1"/>
          </p:nvPr>
        </p:nvSpPr>
        <p:spPr>
          <a:xfrm>
            <a:off x="539552" y="1412776"/>
            <a:ext cx="7467600" cy="4968552"/>
          </a:xfrm>
        </p:spPr>
        <p:txBody>
          <a:bodyPr>
            <a:normAutofit/>
          </a:bodyPr>
          <a:lstStyle/>
          <a:p>
            <a:pPr>
              <a:spcBef>
                <a:spcPts val="600"/>
              </a:spcBef>
              <a:spcAft>
                <a:spcPts val="1200"/>
              </a:spcAft>
              <a:buNone/>
            </a:pPr>
            <a:r>
              <a:rPr lang="en-AU" sz="2200" b="1" dirty="0" smtClean="0">
                <a:latin typeface="Helvetica" pitchFamily="34" charset="0"/>
              </a:rPr>
              <a:t>Types of parameters and benchmarks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Agreed parameters and benchmarks may include: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Volume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Price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Territory</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Customer accounts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Trading terms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Market share</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Customer satisfaction</a:t>
            </a:r>
            <a:endParaRPr lang="en-AU" sz="2200" dirty="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160</a:t>
            </a:fld>
            <a:endParaRPr lang="en-US" dirty="0"/>
          </a:p>
        </p:txBody>
      </p:sp>
      <p:pic>
        <p:nvPicPr>
          <p:cNvPr id="6" name="Picture 5" descr="shutterstock_99668000.jpg"/>
          <p:cNvPicPr/>
          <p:nvPr/>
        </p:nvPicPr>
        <p:blipFill>
          <a:blip r:embed="rId3" cstate="print"/>
          <a:stretch>
            <a:fillRect/>
          </a:stretch>
        </p:blipFill>
        <p:spPr>
          <a:xfrm>
            <a:off x="5436096" y="3429000"/>
            <a:ext cx="2079951" cy="1362081"/>
          </a:xfrm>
          <a:prstGeom prst="rect">
            <a:avLst/>
          </a:prstGeom>
        </p:spPr>
      </p:pic>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Conduct ongoing evaluation</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Using sales findings for future sales planning</a:t>
            </a:r>
            <a:endParaRPr lang="en-AU" sz="2200" dirty="0" smtClean="0">
              <a:latin typeface="Helvetica" pitchFamily="34" charset="0"/>
            </a:endParaRPr>
          </a:p>
          <a:p>
            <a:pPr lvl="0">
              <a:spcBef>
                <a:spcPts val="600"/>
              </a:spcBef>
              <a:spcAft>
                <a:spcPts val="1200"/>
              </a:spcAft>
            </a:pPr>
            <a:r>
              <a:rPr lang="en-AU" sz="2200" dirty="0" smtClean="0">
                <a:latin typeface="Helvetica" pitchFamily="34" charset="0"/>
              </a:rPr>
              <a:t>Track the performance of our sales team and develop appropriate strategies to help them perform better</a:t>
            </a:r>
          </a:p>
          <a:p>
            <a:pPr lvl="0">
              <a:spcBef>
                <a:spcPts val="600"/>
              </a:spcBef>
              <a:spcAft>
                <a:spcPts val="1200"/>
              </a:spcAft>
            </a:pPr>
            <a:r>
              <a:rPr lang="en-AU" sz="2200" dirty="0" smtClean="0">
                <a:latin typeface="Helvetica" pitchFamily="34" charset="0"/>
              </a:rPr>
              <a:t>Better understand the performance of our products and services and determine how to exploit their strengths and enhance their weaknesses</a:t>
            </a:r>
          </a:p>
          <a:p>
            <a:pPr lvl="0">
              <a:spcBef>
                <a:spcPts val="600"/>
              </a:spcBef>
              <a:spcAft>
                <a:spcPts val="1200"/>
              </a:spcAft>
            </a:pPr>
            <a:r>
              <a:rPr lang="en-AU" sz="2200" dirty="0" smtClean="0">
                <a:latin typeface="Helvetica" pitchFamily="34" charset="0"/>
              </a:rPr>
              <a:t>Make better sales forecast and set more realistic sales targets in future</a:t>
            </a:r>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161</a:t>
            </a:fld>
            <a:endParaRPr lang="en-US" dirty="0">
              <a:latin typeface="Helvetica" pitchFamily="34" charset="0"/>
            </a:endParaRPr>
          </a:p>
        </p:txBody>
      </p:sp>
      <p:pic>
        <p:nvPicPr>
          <p:cNvPr id="7" name="Picture 6" descr="shutterstock_128200763.jpg"/>
          <p:cNvPicPr>
            <a:picLocks noChangeAspect="1"/>
          </p:cNvPicPr>
          <p:nvPr/>
        </p:nvPicPr>
        <p:blipFill>
          <a:blip r:embed="rId3" cstate="print"/>
          <a:stretch>
            <a:fillRect/>
          </a:stretch>
        </p:blipFill>
        <p:spPr>
          <a:xfrm>
            <a:off x="3707904" y="5085184"/>
            <a:ext cx="2195736" cy="1463824"/>
          </a:xfrm>
          <a:prstGeom prst="rect">
            <a:avLst/>
          </a:prstGeom>
        </p:spPr>
      </p:pic>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Make adjustments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Need to make adjustments</a:t>
            </a:r>
            <a:endParaRPr lang="en-AU" sz="2200" dirty="0" smtClean="0">
              <a:latin typeface="Helvetica" pitchFamily="34" charset="0"/>
            </a:endParaRPr>
          </a:p>
          <a:p>
            <a:pPr marL="0">
              <a:spcBef>
                <a:spcPts val="600"/>
              </a:spcBef>
              <a:spcAft>
                <a:spcPts val="1200"/>
              </a:spcAft>
              <a:buNone/>
            </a:pPr>
            <a:r>
              <a:rPr lang="en-AU" sz="2200" dirty="0" smtClean="0">
                <a:latin typeface="Helvetica" pitchFamily="34" charset="0"/>
              </a:rPr>
              <a:t>Where sales and marketing performance is not performing well compared with desired standards, KPI's and targets, in most cases some type of adjustment or change needs to take place.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What are common reasons for adjustments?</a:t>
            </a:r>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162</a:t>
            </a:fld>
            <a:endParaRPr lang="en-US" dirty="0">
              <a:latin typeface="Helvetica" pitchFamily="34" charset="0"/>
            </a:endParaRPr>
          </a:p>
        </p:txBody>
      </p:sp>
      <p:pic>
        <p:nvPicPr>
          <p:cNvPr id="6" name="Picture 5" descr="shutterstock_179245358.jpg"/>
          <p:cNvPicPr/>
          <p:nvPr/>
        </p:nvPicPr>
        <p:blipFill>
          <a:blip r:embed="rId3" cstate="print"/>
          <a:stretch>
            <a:fillRect/>
          </a:stretch>
        </p:blipFill>
        <p:spPr>
          <a:xfrm>
            <a:off x="3419872" y="4509120"/>
            <a:ext cx="2159638" cy="1438277"/>
          </a:xfrm>
          <a:prstGeom prst="rect">
            <a:avLst/>
          </a:prstGeom>
        </p:spPr>
      </p:pic>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Make adjustments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US" sz="2200" b="1" dirty="0" smtClean="0">
                <a:latin typeface="Helvetica" pitchFamily="34" charset="0"/>
              </a:rPr>
              <a:t>Reasons for adjustments</a:t>
            </a:r>
            <a:endParaRPr lang="en-US" sz="2200" dirty="0" smtClean="0">
              <a:latin typeface="Helvetica" pitchFamily="34" charset="0"/>
            </a:endParaRPr>
          </a:p>
          <a:p>
            <a:pPr>
              <a:spcBef>
                <a:spcPts val="600"/>
              </a:spcBef>
              <a:spcAft>
                <a:spcPts val="1200"/>
              </a:spcAft>
              <a:buNone/>
            </a:pPr>
            <a:r>
              <a:rPr lang="en-US" sz="2200" dirty="0" smtClean="0">
                <a:latin typeface="Helvetica" pitchFamily="34" charset="0"/>
              </a:rPr>
              <a:t>Adjustments will usually be on the basis of:</a:t>
            </a:r>
          </a:p>
          <a:p>
            <a:pPr lvl="0">
              <a:spcBef>
                <a:spcPts val="600"/>
              </a:spcBef>
              <a:spcAft>
                <a:spcPts val="1200"/>
              </a:spcAft>
            </a:pPr>
            <a:r>
              <a:rPr lang="en-US" sz="2200" dirty="0" smtClean="0">
                <a:latin typeface="Helvetica" pitchFamily="34" charset="0"/>
              </a:rPr>
              <a:t>Unsatisfactory performance</a:t>
            </a:r>
          </a:p>
          <a:p>
            <a:pPr lvl="0">
              <a:spcBef>
                <a:spcPts val="600"/>
              </a:spcBef>
              <a:spcAft>
                <a:spcPts val="1200"/>
              </a:spcAft>
            </a:pPr>
            <a:r>
              <a:rPr lang="en-US" sz="2200" dirty="0" smtClean="0">
                <a:latin typeface="Helvetica" pitchFamily="34" charset="0"/>
              </a:rPr>
              <a:t>A business opportunity</a:t>
            </a:r>
          </a:p>
          <a:p>
            <a:pPr lvl="0">
              <a:spcBef>
                <a:spcPts val="600"/>
              </a:spcBef>
              <a:spcAft>
                <a:spcPts val="1200"/>
              </a:spcAft>
            </a:pPr>
            <a:r>
              <a:rPr lang="en-US" sz="2200" dirty="0" smtClean="0">
                <a:latin typeface="Helvetica" pitchFamily="34" charset="0"/>
              </a:rPr>
              <a:t>Customer feedback</a:t>
            </a:r>
          </a:p>
          <a:p>
            <a:pPr lvl="0">
              <a:spcBef>
                <a:spcPts val="600"/>
              </a:spcBef>
              <a:spcAft>
                <a:spcPts val="1200"/>
              </a:spcAft>
            </a:pPr>
            <a:r>
              <a:rPr lang="en-US" sz="2200" dirty="0" smtClean="0">
                <a:latin typeface="Helvetica" pitchFamily="34" charset="0"/>
              </a:rPr>
              <a:t>Significant alteration to the marketing or sales strategy</a:t>
            </a:r>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163</a:t>
            </a:fld>
            <a:endParaRPr lang="en-US" dirty="0">
              <a:latin typeface="Helvetica" pitchFamily="34" charset="0"/>
            </a:endParaRPr>
          </a:p>
        </p:txBody>
      </p:sp>
      <p:pic>
        <p:nvPicPr>
          <p:cNvPr id="7" name="Picture 6" descr="shutterstock_108055754.jpg"/>
          <p:cNvPicPr/>
          <p:nvPr/>
        </p:nvPicPr>
        <p:blipFill>
          <a:blip r:embed="rId3" cstate="print"/>
          <a:stretch>
            <a:fillRect/>
          </a:stretch>
        </p:blipFill>
        <p:spPr>
          <a:xfrm>
            <a:off x="6372200" y="2564904"/>
            <a:ext cx="1657350" cy="1409700"/>
          </a:xfrm>
          <a:prstGeom prst="rect">
            <a:avLst/>
          </a:prstGeom>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Make adjustments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lnSpcReduction="10000"/>
          </a:bodyPr>
          <a:lstStyle/>
          <a:p>
            <a:pPr>
              <a:spcBef>
                <a:spcPts val="600"/>
              </a:spcBef>
              <a:spcAft>
                <a:spcPts val="1200"/>
              </a:spcAft>
              <a:buNone/>
            </a:pPr>
            <a:r>
              <a:rPr lang="en-AU" sz="2200" b="1" dirty="0" smtClean="0">
                <a:latin typeface="Helvetica" pitchFamily="34" charset="0"/>
              </a:rPr>
              <a:t>Types of adjustments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Objectives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Strategies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KPI's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Marketing and sales budget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Types of research</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Target expectations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Target market segments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Promotional message </a:t>
            </a:r>
            <a:endParaRPr lang="en-US" sz="2200" dirty="0" smtClean="0">
              <a:latin typeface="Helvetica" pitchFamily="34" charset="0"/>
            </a:endParaRPr>
          </a:p>
          <a:p>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164</a:t>
            </a:fld>
            <a:endParaRPr lang="en-US" dirty="0">
              <a:latin typeface="Helvetica" pitchFamily="34" charset="0"/>
            </a:endParaRPr>
          </a:p>
        </p:txBody>
      </p:sp>
      <p:pic>
        <p:nvPicPr>
          <p:cNvPr id="6" name="Picture 5" descr="shutterstock_122825407.jpg"/>
          <p:cNvPicPr/>
          <p:nvPr/>
        </p:nvPicPr>
        <p:blipFill>
          <a:blip r:embed="rId3" cstate="print"/>
          <a:stretch>
            <a:fillRect/>
          </a:stretch>
        </p:blipFill>
        <p:spPr>
          <a:xfrm>
            <a:off x="6156176" y="2852936"/>
            <a:ext cx="2038351" cy="1400176"/>
          </a:xfrm>
          <a:prstGeom prst="rect">
            <a:avLst/>
          </a:prstGeom>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Make adjustments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Types of adjustments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Promotional mix</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Types of promotions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Mix of promotions </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Timing of promotions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Price</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Packages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Place of promotion</a:t>
            </a:r>
            <a:endParaRPr lang="en-US" sz="2200" dirty="0" smtClean="0">
              <a:latin typeface="Helvetica" pitchFamily="34" charset="0"/>
            </a:endParaRPr>
          </a:p>
          <a:p>
            <a:pPr>
              <a:buNone/>
            </a:pPr>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165</a:t>
            </a:fld>
            <a:endParaRPr lang="en-US" dirty="0">
              <a:latin typeface="Helvetica" pitchFamily="34" charset="0"/>
            </a:endParaRPr>
          </a:p>
        </p:txBody>
      </p:sp>
      <p:pic>
        <p:nvPicPr>
          <p:cNvPr id="7" name="Picture 6" descr="shutterstock_65928016.jpg"/>
          <p:cNvPicPr/>
          <p:nvPr/>
        </p:nvPicPr>
        <p:blipFill>
          <a:blip r:embed="rId3" cstate="print"/>
          <a:stretch>
            <a:fillRect/>
          </a:stretch>
        </p:blipFill>
        <p:spPr>
          <a:xfrm>
            <a:off x="5292080" y="2420889"/>
            <a:ext cx="2536580" cy="2324016"/>
          </a:xfrm>
          <a:prstGeom prst="rect">
            <a:avLst/>
          </a:prstGeom>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Make adjustments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AU" sz="2200" b="1" dirty="0" smtClean="0">
                <a:latin typeface="Helvetica" pitchFamily="34" charset="0"/>
              </a:rPr>
              <a:t>Types of adjustments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Method of distribution</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Sales and marketing management</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People involved in marketing or sales activities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Training of sales and marketing personnel</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Selling techniques</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Products and services being promoted                                   and sold</a:t>
            </a:r>
            <a:endParaRPr lang="en-US" sz="2200" dirty="0" smtClean="0">
              <a:latin typeface="Helvetica" pitchFamily="34" charset="0"/>
            </a:endParaRPr>
          </a:p>
          <a:p>
            <a:pPr lvl="0">
              <a:spcBef>
                <a:spcPts val="600"/>
              </a:spcBef>
              <a:spcAft>
                <a:spcPts val="1200"/>
              </a:spcAft>
            </a:pPr>
            <a:r>
              <a:rPr lang="en-AU" sz="2200" dirty="0" smtClean="0">
                <a:latin typeface="Helvetica" pitchFamily="34" charset="0"/>
              </a:rPr>
              <a:t>Operational mechanisms</a:t>
            </a:r>
            <a:endParaRPr lang="en-US" sz="2200" dirty="0" smtClean="0">
              <a:latin typeface="Helvetica" pitchFamily="34" charset="0"/>
            </a:endParaRPr>
          </a:p>
          <a:p>
            <a:pPr>
              <a:buNone/>
            </a:pPr>
            <a:endParaRPr lang="en-AU" sz="2400" b="1" dirty="0" smtClean="0"/>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166</a:t>
            </a:fld>
            <a:endParaRPr lang="en-US" dirty="0">
              <a:latin typeface="Helvetica" pitchFamily="34" charset="0"/>
            </a:endParaRPr>
          </a:p>
        </p:txBody>
      </p:sp>
      <p:pic>
        <p:nvPicPr>
          <p:cNvPr id="6" name="Picture 5" descr="shutterstock_126073382.jpg"/>
          <p:cNvPicPr>
            <a:picLocks noChangeAspect="1"/>
          </p:cNvPicPr>
          <p:nvPr/>
        </p:nvPicPr>
        <p:blipFill>
          <a:blip r:embed="rId3" cstate="print"/>
          <a:stretch>
            <a:fillRect/>
          </a:stretch>
        </p:blipFill>
        <p:spPr>
          <a:xfrm>
            <a:off x="6012160" y="1484784"/>
            <a:ext cx="1945463" cy="1319024"/>
          </a:xfrm>
          <a:prstGeom prst="rect">
            <a:avLst/>
          </a:prstGeom>
        </p:spPr>
      </p:pic>
    </p:spTree>
  </p:cSld>
  <p:clrMapOvr>
    <a:masterClrMapping/>
  </p:clrMapOvr>
  <p:timing>
    <p:tnLst>
      <p:par>
        <p:cTn id="1" dur="indefinite" restart="never" nodeType="tmRoot"/>
      </p:par>
    </p:tnLst>
  </p:timing>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Make adjustments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539552" y="1484784"/>
            <a:ext cx="7467600" cy="4968552"/>
          </a:xfrm>
        </p:spPr>
        <p:txBody>
          <a:bodyPr>
            <a:normAutofit/>
          </a:bodyPr>
          <a:lstStyle/>
          <a:p>
            <a:pPr>
              <a:spcBef>
                <a:spcPts val="600"/>
              </a:spcBef>
              <a:spcAft>
                <a:spcPts val="1200"/>
              </a:spcAft>
              <a:buNone/>
            </a:pPr>
            <a:r>
              <a:rPr lang="en-US" sz="2100" b="1" dirty="0" smtClean="0">
                <a:latin typeface="Helvetica" pitchFamily="34" charset="0"/>
              </a:rPr>
              <a:t>Making recommendations for change</a:t>
            </a:r>
            <a:endParaRPr lang="en-US" sz="2100" dirty="0" smtClean="0">
              <a:latin typeface="Helvetica" pitchFamily="34" charset="0"/>
            </a:endParaRPr>
          </a:p>
          <a:p>
            <a:pPr lvl="0">
              <a:spcBef>
                <a:spcPts val="600"/>
              </a:spcBef>
              <a:spcAft>
                <a:spcPts val="1200"/>
              </a:spcAft>
            </a:pPr>
            <a:r>
              <a:rPr lang="en-US" sz="2100" dirty="0" smtClean="0">
                <a:latin typeface="Helvetica" pitchFamily="34" charset="0"/>
              </a:rPr>
              <a:t>Detail the problem that is at the root of the recommendation</a:t>
            </a:r>
          </a:p>
          <a:p>
            <a:pPr lvl="0">
              <a:spcBef>
                <a:spcPts val="600"/>
              </a:spcBef>
              <a:spcAft>
                <a:spcPts val="1200"/>
              </a:spcAft>
            </a:pPr>
            <a:r>
              <a:rPr lang="en-US" sz="2100" dirty="0" smtClean="0">
                <a:latin typeface="Helvetica" pitchFamily="34" charset="0"/>
              </a:rPr>
              <a:t>Describes the negative impacts of the above situation </a:t>
            </a:r>
          </a:p>
          <a:p>
            <a:pPr lvl="0">
              <a:spcBef>
                <a:spcPts val="600"/>
              </a:spcBef>
              <a:spcAft>
                <a:spcPts val="1200"/>
              </a:spcAft>
            </a:pPr>
            <a:r>
              <a:rPr lang="en-US" sz="2100" dirty="0" smtClean="0">
                <a:latin typeface="Helvetica" pitchFamily="34" charset="0"/>
              </a:rPr>
              <a:t>Identifies specific revised targets</a:t>
            </a:r>
          </a:p>
          <a:p>
            <a:pPr lvl="0">
              <a:spcBef>
                <a:spcPts val="600"/>
              </a:spcBef>
              <a:spcAft>
                <a:spcPts val="1200"/>
              </a:spcAft>
            </a:pPr>
            <a:r>
              <a:rPr lang="en-US" sz="2100" dirty="0" smtClean="0">
                <a:latin typeface="Helvetica" pitchFamily="34" charset="0"/>
              </a:rPr>
              <a:t>Sets revised flags to warn of unacceptable deviations to the revised targets</a:t>
            </a:r>
          </a:p>
          <a:p>
            <a:pPr lvl="0">
              <a:spcBef>
                <a:spcPts val="600"/>
              </a:spcBef>
              <a:spcAft>
                <a:spcPts val="1200"/>
              </a:spcAft>
            </a:pPr>
            <a:r>
              <a:rPr lang="en-US" sz="2100" dirty="0" smtClean="0">
                <a:latin typeface="Helvetica" pitchFamily="34" charset="0"/>
              </a:rPr>
              <a:t>Presents options for rectifying the position</a:t>
            </a:r>
          </a:p>
          <a:p>
            <a:pPr>
              <a:spcBef>
                <a:spcPts val="600"/>
              </a:spcBef>
              <a:spcAft>
                <a:spcPts val="1200"/>
              </a:spcAft>
            </a:pPr>
            <a:r>
              <a:rPr lang="en-US" sz="2100" dirty="0" smtClean="0">
                <a:latin typeface="Helvetica" pitchFamily="34" charset="0"/>
              </a:rPr>
              <a:t>Sets out implementation costs for each recommendation or option</a:t>
            </a:r>
            <a:endParaRPr lang="en-AU" sz="2100" b="1" dirty="0" smtClean="0">
              <a:latin typeface="Helvetica" pitchFamily="34" charset="0"/>
            </a:endParaRPr>
          </a:p>
          <a:p>
            <a:endParaRPr lang="en-AU" sz="21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167</a:t>
            </a:fld>
            <a:endParaRPr lang="en-US" dirty="0">
              <a:latin typeface="Helvetica" pitchFamily="34" charset="0"/>
            </a:endParaRPr>
          </a:p>
        </p:txBody>
      </p:sp>
      <p:pic>
        <p:nvPicPr>
          <p:cNvPr id="7" name="Picture 6" descr="shutterstock_191506634.jpg"/>
          <p:cNvPicPr/>
          <p:nvPr/>
        </p:nvPicPr>
        <p:blipFill>
          <a:blip r:embed="rId3" cstate="print"/>
          <a:stretch>
            <a:fillRect/>
          </a:stretch>
        </p:blipFill>
        <p:spPr>
          <a:xfrm>
            <a:off x="6444208" y="1340768"/>
            <a:ext cx="1692917" cy="1319218"/>
          </a:xfrm>
          <a:prstGeom prst="rect">
            <a:avLst/>
          </a:prstGeom>
        </p:spPr>
      </p:pic>
    </p:spTree>
  </p:cSld>
  <p:clrMapOvr>
    <a:masterClrMapping/>
  </p:clrMapOvr>
  <p:timing>
    <p:tnLst>
      <p:par>
        <p:cTn id="1" dur="indefinite" restart="never" nodeType="tmRoot"/>
      </p:par>
    </p:tnLst>
  </p:timing>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Make adjustments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US" sz="2200" b="1" dirty="0" smtClean="0">
                <a:latin typeface="Helvetica" pitchFamily="34" charset="0"/>
              </a:rPr>
              <a:t>Making recommendations for change</a:t>
            </a:r>
            <a:endParaRPr lang="en-US" sz="2200" dirty="0" smtClean="0">
              <a:latin typeface="Helvetica" pitchFamily="34" charset="0"/>
            </a:endParaRPr>
          </a:p>
          <a:p>
            <a:pPr lvl="0">
              <a:spcBef>
                <a:spcPts val="600"/>
              </a:spcBef>
              <a:spcAft>
                <a:spcPts val="1200"/>
              </a:spcAft>
            </a:pPr>
            <a:r>
              <a:rPr lang="en-US" sz="2200" dirty="0" smtClean="0">
                <a:latin typeface="Helvetica" pitchFamily="34" charset="0"/>
              </a:rPr>
              <a:t>Identifies the benefits of each recommendation or proposal</a:t>
            </a:r>
          </a:p>
          <a:p>
            <a:pPr lvl="0">
              <a:spcBef>
                <a:spcPts val="600"/>
              </a:spcBef>
              <a:spcAft>
                <a:spcPts val="1200"/>
              </a:spcAft>
            </a:pPr>
            <a:r>
              <a:rPr lang="en-US" sz="2200" dirty="0" smtClean="0">
                <a:latin typeface="Helvetica" pitchFamily="34" charset="0"/>
              </a:rPr>
              <a:t>Supplies a formal cost-benefit analysis </a:t>
            </a:r>
          </a:p>
          <a:p>
            <a:pPr lvl="0">
              <a:spcBef>
                <a:spcPts val="600"/>
              </a:spcBef>
              <a:spcAft>
                <a:spcPts val="1200"/>
              </a:spcAft>
            </a:pPr>
            <a:r>
              <a:rPr lang="en-US" sz="2200" dirty="0" smtClean="0">
                <a:latin typeface="Helvetica" pitchFamily="34" charset="0"/>
              </a:rPr>
              <a:t>Gives realistic timelines for introduction and implementation </a:t>
            </a:r>
          </a:p>
          <a:p>
            <a:pPr lvl="0">
              <a:spcBef>
                <a:spcPts val="600"/>
              </a:spcBef>
              <a:spcAft>
                <a:spcPts val="1200"/>
              </a:spcAft>
              <a:buNone/>
            </a:pPr>
            <a:endParaRPr lang="en-US" sz="2200" dirty="0" smtClean="0">
              <a:latin typeface="Helvetica" pitchFamily="34" charset="0"/>
            </a:endParaRPr>
          </a:p>
          <a:p>
            <a:pPr>
              <a:spcBef>
                <a:spcPts val="600"/>
              </a:spcBef>
              <a:spcAft>
                <a:spcPts val="1200"/>
              </a:spcAft>
              <a:buNone/>
            </a:pPr>
            <a:r>
              <a:rPr lang="en-AU" sz="2200" dirty="0" smtClean="0">
                <a:solidFill>
                  <a:srgbClr val="FF6600"/>
                </a:solidFill>
                <a:latin typeface="Helvetica" pitchFamily="34" charset="0"/>
              </a:rPr>
              <a:t>COMPLETE ACTIVITY 34</a:t>
            </a:r>
            <a:endParaRPr lang="en-AU"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168</a:t>
            </a:fld>
            <a:endParaRPr lang="en-US" dirty="0">
              <a:latin typeface="Helvetica" pitchFamily="34" charset="0"/>
            </a:endParaRPr>
          </a:p>
        </p:txBody>
      </p:sp>
      <p:pic>
        <p:nvPicPr>
          <p:cNvPr id="6" name="Picture 5" descr="shutterstock_116731201.jpg"/>
          <p:cNvPicPr>
            <a:picLocks noChangeAspect="1"/>
          </p:cNvPicPr>
          <p:nvPr/>
        </p:nvPicPr>
        <p:blipFill>
          <a:blip r:embed="rId3" cstate="print"/>
          <a:stretch>
            <a:fillRect/>
          </a:stretch>
        </p:blipFill>
        <p:spPr>
          <a:xfrm>
            <a:off x="4572000" y="4365104"/>
            <a:ext cx="2166621" cy="1445136"/>
          </a:xfrm>
          <a:prstGeom prst="rect">
            <a:avLst/>
          </a:prstGeom>
        </p:spPr>
      </p:pic>
    </p:spTree>
  </p:cSld>
  <p:clrMapOvr>
    <a:masterClrMapping/>
  </p:clrMapOvr>
  <p:timing>
    <p:tnLst>
      <p:par>
        <p:cTn id="1" dur="indefinite" restart="never" nodeType="tmRoot"/>
      </p:par>
    </p:tnLst>
  </p:timing>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992888" cy="1143000"/>
          </a:xfrm>
        </p:spPr>
        <p:txBody>
          <a:bodyPr>
            <a:normAutofit/>
          </a:bodyPr>
          <a:lstStyle/>
          <a:p>
            <a:r>
              <a:rPr lang="en-AU" sz="3400" b="1" dirty="0" smtClean="0">
                <a:solidFill>
                  <a:srgbClr val="FF6600"/>
                </a:solidFill>
                <a:latin typeface="Helvetica" pitchFamily="34" charset="0"/>
              </a:rPr>
              <a:t>Communicate changes</a:t>
            </a:r>
            <a:endParaRPr lang="en-AU"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7467600" cy="4968552"/>
          </a:xfrm>
        </p:spPr>
        <p:txBody>
          <a:bodyPr>
            <a:normAutofit/>
          </a:bodyPr>
          <a:lstStyle/>
          <a:p>
            <a:pPr>
              <a:spcBef>
                <a:spcPts val="600"/>
              </a:spcBef>
              <a:spcAft>
                <a:spcPts val="1200"/>
              </a:spcAft>
              <a:buNone/>
            </a:pPr>
            <a:r>
              <a:rPr lang="en-US" sz="2200" b="1" dirty="0" smtClean="0">
                <a:latin typeface="Helvetica" pitchFamily="34" charset="0"/>
              </a:rPr>
              <a:t>Discussed changes with stakeholders</a:t>
            </a:r>
            <a:endParaRPr lang="en-US" sz="2200" dirty="0" smtClean="0">
              <a:latin typeface="Helvetica" pitchFamily="34" charset="0"/>
            </a:endParaRPr>
          </a:p>
          <a:p>
            <a:pPr>
              <a:spcBef>
                <a:spcPts val="600"/>
              </a:spcBef>
              <a:spcAft>
                <a:spcPts val="1200"/>
              </a:spcAft>
            </a:pPr>
            <a:r>
              <a:rPr lang="en-AU" sz="2200" dirty="0" smtClean="0">
                <a:latin typeface="Helvetica" pitchFamily="34" charset="0"/>
              </a:rPr>
              <a:t>Now that proposed changes have been documented into recommendations, it is now time to discuss them with relevant stakeholders</a:t>
            </a:r>
          </a:p>
          <a:p>
            <a:pPr>
              <a:spcBef>
                <a:spcPts val="600"/>
              </a:spcBef>
              <a:spcAft>
                <a:spcPts val="1200"/>
              </a:spcAft>
            </a:pPr>
            <a:r>
              <a:rPr lang="en-AU" sz="2200" dirty="0" smtClean="0">
                <a:latin typeface="Helvetica" pitchFamily="34" charset="0"/>
              </a:rPr>
              <a:t>What are the best ways to communicate changes?</a:t>
            </a:r>
            <a:endParaRPr lang="en-US" sz="2200" dirty="0" smtClean="0">
              <a:latin typeface="Helvetica" pitchFamily="34" charset="0"/>
            </a:endParaRPr>
          </a:p>
          <a:p>
            <a:pPr lvl="0">
              <a:spcBef>
                <a:spcPts val="600"/>
              </a:spcBef>
              <a:spcAft>
                <a:spcPts val="1200"/>
              </a:spcAft>
              <a:buNone/>
            </a:pPr>
            <a:endParaRPr lang="en-US" sz="2200" dirty="0" smtClean="0">
              <a:latin typeface="Helvetica" pitchFamily="34" charset="0"/>
            </a:endParaRPr>
          </a:p>
          <a:p>
            <a:endParaRPr lang="en-AU" sz="2400" dirty="0"/>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169</a:t>
            </a:fld>
            <a:endParaRPr lang="en-US" dirty="0">
              <a:latin typeface="Helvetica" pitchFamily="34" charset="0"/>
            </a:endParaRPr>
          </a:p>
        </p:txBody>
      </p:sp>
      <p:pic>
        <p:nvPicPr>
          <p:cNvPr id="7" name="Picture 6" descr="shutterstock_191031131.jpg"/>
          <p:cNvPicPr/>
          <p:nvPr/>
        </p:nvPicPr>
        <p:blipFill>
          <a:blip r:embed="rId3" cstate="print"/>
          <a:stretch>
            <a:fillRect/>
          </a:stretch>
        </p:blipFill>
        <p:spPr>
          <a:xfrm>
            <a:off x="3131840" y="4221088"/>
            <a:ext cx="2510662" cy="1584176"/>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778</TotalTime>
  <Words>9370</Words>
  <Application>Microsoft Office PowerPoint</Application>
  <PresentationFormat>On-screen Show (4:3)</PresentationFormat>
  <Paragraphs>2228</Paragraphs>
  <Slides>169</Slides>
  <Notes>169</Notes>
  <HiddenSlides>0</HiddenSlides>
  <MMClips>0</MMClips>
  <ScaleCrop>false</ScaleCrop>
  <HeadingPairs>
    <vt:vector size="4" baseType="variant">
      <vt:variant>
        <vt:lpstr>Theme</vt:lpstr>
      </vt:variant>
      <vt:variant>
        <vt:i4>1</vt:i4>
      </vt:variant>
      <vt:variant>
        <vt:lpstr>Slide Titles</vt:lpstr>
      </vt:variant>
      <vt:variant>
        <vt:i4>169</vt:i4>
      </vt:variant>
    </vt:vector>
  </HeadingPairs>
  <TitlesOfParts>
    <vt:vector size="170" baseType="lpstr">
      <vt:lpstr>PPT_Tour_operation_&amp;_travel_agencies_template_130214</vt:lpstr>
      <vt:lpstr>DEVELOP A MARKETING STRATEGY AND COORDINATE SALES ACTIVITIES</vt:lpstr>
      <vt:lpstr>Subject elements</vt:lpstr>
      <vt:lpstr>Assessment</vt:lpstr>
      <vt:lpstr>Slide 4</vt:lpstr>
      <vt:lpstr>Collect and analyse information on the business environment</vt:lpstr>
      <vt:lpstr>Collect and analyse information on the business environment</vt:lpstr>
      <vt:lpstr>Travel and tourism</vt:lpstr>
      <vt:lpstr>Tourism marketing</vt:lpstr>
      <vt:lpstr>Tourism marketing</vt:lpstr>
      <vt:lpstr>Tourism marketing</vt:lpstr>
      <vt:lpstr>Tourism marketing</vt:lpstr>
      <vt:lpstr>Tourism marketing requirements</vt:lpstr>
      <vt:lpstr>Tourism marketing relationships</vt:lpstr>
      <vt:lpstr>Tourism services marketing </vt:lpstr>
      <vt:lpstr>Tourism services marketing </vt:lpstr>
      <vt:lpstr>Marketing Mix</vt:lpstr>
      <vt:lpstr>Marketing Planning and Management</vt:lpstr>
      <vt:lpstr>Marketing Planning and Management</vt:lpstr>
      <vt:lpstr>Market Analysis</vt:lpstr>
      <vt:lpstr>Market Research</vt:lpstr>
      <vt:lpstr>Market Research</vt:lpstr>
      <vt:lpstr>Market Research</vt:lpstr>
      <vt:lpstr>Gather market information</vt:lpstr>
      <vt:lpstr>Understand current marketing situation</vt:lpstr>
      <vt:lpstr>Understand current marketing situation</vt:lpstr>
      <vt:lpstr>Understand current marketing situation</vt:lpstr>
      <vt:lpstr>Understand current marketing situation</vt:lpstr>
      <vt:lpstr>Evaluating market trends</vt:lpstr>
      <vt:lpstr>Evaluating market trends</vt:lpstr>
      <vt:lpstr>Evaluating market trends</vt:lpstr>
      <vt:lpstr>Evaluating market trends</vt:lpstr>
      <vt:lpstr>Evaluating market trends</vt:lpstr>
      <vt:lpstr>Customer demands</vt:lpstr>
      <vt:lpstr>Legal requirements </vt:lpstr>
      <vt:lpstr>Legal requirements </vt:lpstr>
      <vt:lpstr>Ethical considerations</vt:lpstr>
      <vt:lpstr>Capabilities and resources</vt:lpstr>
      <vt:lpstr>Capabilities and resources</vt:lpstr>
      <vt:lpstr>Capabilities and resources</vt:lpstr>
      <vt:lpstr>Capabilities and resources</vt:lpstr>
      <vt:lpstr>Capabilities and resources</vt:lpstr>
      <vt:lpstr>Capabilities and resources</vt:lpstr>
      <vt:lpstr>Market Report</vt:lpstr>
      <vt:lpstr>Market Report</vt:lpstr>
      <vt:lpstr>Slide 45</vt:lpstr>
      <vt:lpstr>Prepare marketing strategies or plans</vt:lpstr>
      <vt:lpstr>Prepare marketing strategies or plans</vt:lpstr>
      <vt:lpstr>Conduct market analysis</vt:lpstr>
      <vt:lpstr>Conduct market analysis</vt:lpstr>
      <vt:lpstr>Analysis of external environment</vt:lpstr>
      <vt:lpstr>Analysis of internal environment</vt:lpstr>
      <vt:lpstr>SWOT Analysis</vt:lpstr>
      <vt:lpstr>SWOT Analysis</vt:lpstr>
      <vt:lpstr>Develop marketing and sales strategies</vt:lpstr>
      <vt:lpstr>Develop marketing and sales strategies</vt:lpstr>
      <vt:lpstr>Develop marketing and sales strategies</vt:lpstr>
      <vt:lpstr>Develop marketing and sales strategies</vt:lpstr>
      <vt:lpstr>Develop marketing and sales strategies</vt:lpstr>
      <vt:lpstr>Develop marketing and sales strategies</vt:lpstr>
      <vt:lpstr>Develop marketing and sales strategies</vt:lpstr>
      <vt:lpstr>Ensure strategies reflect goals</vt:lpstr>
      <vt:lpstr>Consult with stakeholders and colleagues</vt:lpstr>
      <vt:lpstr>Key stakeholders and colleagues</vt:lpstr>
      <vt:lpstr>Key stakeholders and colleagues</vt:lpstr>
      <vt:lpstr>Key stakeholders and colleagues</vt:lpstr>
      <vt:lpstr>Seeking advise from experts</vt:lpstr>
      <vt:lpstr>Prepare Marketing Plan</vt:lpstr>
      <vt:lpstr>Summary of the Marketing Plan </vt:lpstr>
      <vt:lpstr>Summary of the Marketing Plan </vt:lpstr>
      <vt:lpstr>Summary of the Marketing Plan </vt:lpstr>
      <vt:lpstr>Summary of the Marketing Plan </vt:lpstr>
      <vt:lpstr>Summary of the Marketing Plan </vt:lpstr>
      <vt:lpstr>Summary of the Marketing Plan </vt:lpstr>
      <vt:lpstr>Summary of the Marketing Plan </vt:lpstr>
      <vt:lpstr>Prepare a Marketing Plan </vt:lpstr>
      <vt:lpstr>Slide 76</vt:lpstr>
      <vt:lpstr>Implement and monitor marketing activities and sales strategies</vt:lpstr>
      <vt:lpstr>Define and communicate expectations</vt:lpstr>
      <vt:lpstr>Define and communicate expectations</vt:lpstr>
      <vt:lpstr>Define and communicate expectations</vt:lpstr>
      <vt:lpstr>Define and communicate expectations</vt:lpstr>
      <vt:lpstr>Define and communicate expectations</vt:lpstr>
      <vt:lpstr>Communicate marketing and sales plan</vt:lpstr>
      <vt:lpstr>Communicate marketing and sales plan</vt:lpstr>
      <vt:lpstr>Implement action</vt:lpstr>
      <vt:lpstr>Implement action</vt:lpstr>
      <vt:lpstr>Implement action</vt:lpstr>
      <vt:lpstr>Implement action</vt:lpstr>
      <vt:lpstr>Implement action</vt:lpstr>
      <vt:lpstr>Control action</vt:lpstr>
      <vt:lpstr>Control action</vt:lpstr>
      <vt:lpstr>Encourage staff to input into plans</vt:lpstr>
      <vt:lpstr>Produce reports and share information</vt:lpstr>
      <vt:lpstr>Produce reports and share information</vt:lpstr>
      <vt:lpstr>Produce reports and share information</vt:lpstr>
      <vt:lpstr>Produce reports and share information</vt:lpstr>
      <vt:lpstr>Asking staff for their input</vt:lpstr>
      <vt:lpstr>Asking staff for their input</vt:lpstr>
      <vt:lpstr>Slide 99</vt:lpstr>
      <vt:lpstr>Implement sales policies and procedures</vt:lpstr>
      <vt:lpstr>Sales</vt:lpstr>
      <vt:lpstr>Planning of sales activities</vt:lpstr>
      <vt:lpstr>Allocating accounts</vt:lpstr>
      <vt:lpstr>Setting sales targets</vt:lpstr>
      <vt:lpstr>Setting sales targets</vt:lpstr>
      <vt:lpstr>Determine key performance indicators</vt:lpstr>
      <vt:lpstr>Sales policies</vt:lpstr>
      <vt:lpstr>Sales policies</vt:lpstr>
      <vt:lpstr>Sales procedures</vt:lpstr>
      <vt:lpstr>Identify selling situations</vt:lpstr>
      <vt:lpstr>Identify legislative requirements</vt:lpstr>
      <vt:lpstr>Policies regarding sales activities and transactions</vt:lpstr>
      <vt:lpstr>Use selling techniques</vt:lpstr>
      <vt:lpstr>Use selling techniques</vt:lpstr>
      <vt:lpstr>Use selling techniques</vt:lpstr>
      <vt:lpstr>Use selling techniques</vt:lpstr>
      <vt:lpstr>Use selling techniques</vt:lpstr>
      <vt:lpstr>Use selling techniques</vt:lpstr>
      <vt:lpstr>Use selling techniques</vt:lpstr>
      <vt:lpstr>Handling sales transactions</vt:lpstr>
      <vt:lpstr>Monitor team in using POS systems</vt:lpstr>
      <vt:lpstr>Monitor team in using POS systems</vt:lpstr>
      <vt:lpstr>Monitor team in using POS systems</vt:lpstr>
      <vt:lpstr>Monitor team handling goods and documents</vt:lpstr>
      <vt:lpstr>Monitor team handling goods and documents</vt:lpstr>
      <vt:lpstr>Monitor team to ensure customer needs are met</vt:lpstr>
      <vt:lpstr>Slide 127</vt:lpstr>
      <vt:lpstr>Monitor achievement of sales targets, business goals and outcomes</vt:lpstr>
      <vt:lpstr>Monitor and record sales</vt:lpstr>
      <vt:lpstr>Monitor and record sales</vt:lpstr>
      <vt:lpstr>Monitor and record sales</vt:lpstr>
      <vt:lpstr>Monitor and record sales</vt:lpstr>
      <vt:lpstr>Monitor and record sales</vt:lpstr>
      <vt:lpstr>Monitor and record sales</vt:lpstr>
      <vt:lpstr>Providing feedback</vt:lpstr>
      <vt:lpstr>Providing feedback</vt:lpstr>
      <vt:lpstr>Prepare sales reports</vt:lpstr>
      <vt:lpstr>Prepare sales reports</vt:lpstr>
      <vt:lpstr>Prepare sales reports</vt:lpstr>
      <vt:lpstr>Prepare sales reports</vt:lpstr>
      <vt:lpstr>Presenting sales information</vt:lpstr>
      <vt:lpstr>Presenting sales information</vt:lpstr>
      <vt:lpstr>Presenting sales information</vt:lpstr>
      <vt:lpstr>Presenting sales information</vt:lpstr>
      <vt:lpstr>Sharing sales information with colleagues and staff</vt:lpstr>
      <vt:lpstr>Sharing sales information with colleagues and staff</vt:lpstr>
      <vt:lpstr>Slide 147</vt:lpstr>
      <vt:lpstr>Determine factors affecting attainment of sales targets</vt:lpstr>
      <vt:lpstr>Reviewing sales performance </vt:lpstr>
      <vt:lpstr>Reviewing sales performance </vt:lpstr>
      <vt:lpstr>Reviewing sales performance </vt:lpstr>
      <vt:lpstr>Reviewing sales performance </vt:lpstr>
      <vt:lpstr>Evaluate factors affecting performance</vt:lpstr>
      <vt:lpstr>Evaluate factors affecting performance</vt:lpstr>
      <vt:lpstr>Evaluate factors affecting performance</vt:lpstr>
      <vt:lpstr>Evaluate factors affecting performance</vt:lpstr>
      <vt:lpstr>Slide 157</vt:lpstr>
      <vt:lpstr>Conduct ongoing evaluation</vt:lpstr>
      <vt:lpstr>Conduct ongoing evaluation</vt:lpstr>
      <vt:lpstr>Conduct ongoing evaluation</vt:lpstr>
      <vt:lpstr>Conduct ongoing evaluation</vt:lpstr>
      <vt:lpstr>Make adjustments</vt:lpstr>
      <vt:lpstr>Make adjustments</vt:lpstr>
      <vt:lpstr>Make adjustments</vt:lpstr>
      <vt:lpstr>Make adjustments</vt:lpstr>
      <vt:lpstr>Make adjustments</vt:lpstr>
      <vt:lpstr>Make adjustments</vt:lpstr>
      <vt:lpstr>Make adjustments</vt:lpstr>
      <vt:lpstr>Communicate changes</vt:lpstr>
    </vt:vector>
  </TitlesOfParts>
  <Company>William Angliss TAFE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COMPETENCY REQUIREMENTS</dc:title>
  <dc:creator>Daniel James Chee</dc:creator>
  <cp:lastModifiedBy>Daniel James Chee</cp:lastModifiedBy>
  <cp:revision>187</cp:revision>
  <dcterms:created xsi:type="dcterms:W3CDTF">2014-02-17T04:38:06Z</dcterms:created>
  <dcterms:modified xsi:type="dcterms:W3CDTF">2015-01-25T01:55:51Z</dcterms:modified>
</cp:coreProperties>
</file>