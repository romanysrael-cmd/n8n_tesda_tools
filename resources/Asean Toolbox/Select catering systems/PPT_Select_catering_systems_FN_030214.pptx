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15"/>
  </p:notesMasterIdLst>
  <p:handoutMasterIdLst>
    <p:handoutMasterId r:id="rId116"/>
  </p:handoutMasterIdLst>
  <p:sldIdLst>
    <p:sldId id="256" r:id="rId2"/>
    <p:sldId id="296" r:id="rId3"/>
    <p:sldId id="297" r:id="rId4"/>
    <p:sldId id="298" r:id="rId5"/>
    <p:sldId id="257" r:id="rId6"/>
    <p:sldId id="310" r:id="rId7"/>
    <p:sldId id="311" r:id="rId8"/>
    <p:sldId id="312" r:id="rId9"/>
    <p:sldId id="313" r:id="rId10"/>
    <p:sldId id="314" r:id="rId11"/>
    <p:sldId id="315" r:id="rId12"/>
    <p:sldId id="316" r:id="rId13"/>
    <p:sldId id="317" r:id="rId14"/>
    <p:sldId id="318" r:id="rId15"/>
    <p:sldId id="319" r:id="rId16"/>
    <p:sldId id="320" r:id="rId17"/>
    <p:sldId id="321" r:id="rId18"/>
    <p:sldId id="322" r:id="rId19"/>
    <p:sldId id="428" r:id="rId20"/>
    <p:sldId id="323" r:id="rId21"/>
    <p:sldId id="429" r:id="rId22"/>
    <p:sldId id="430" r:id="rId23"/>
    <p:sldId id="450" r:id="rId24"/>
    <p:sldId id="451" r:id="rId25"/>
    <p:sldId id="452" r:id="rId26"/>
    <p:sldId id="453" r:id="rId27"/>
    <p:sldId id="454" r:id="rId28"/>
    <p:sldId id="455" r:id="rId29"/>
    <p:sldId id="456" r:id="rId30"/>
    <p:sldId id="457" r:id="rId31"/>
    <p:sldId id="458" r:id="rId32"/>
    <p:sldId id="459" r:id="rId33"/>
    <p:sldId id="431" r:id="rId34"/>
    <p:sldId id="432" r:id="rId35"/>
    <p:sldId id="433" r:id="rId36"/>
    <p:sldId id="434" r:id="rId37"/>
    <p:sldId id="435" r:id="rId38"/>
    <p:sldId id="437" r:id="rId39"/>
    <p:sldId id="438" r:id="rId40"/>
    <p:sldId id="299" r:id="rId41"/>
    <p:sldId id="329" r:id="rId42"/>
    <p:sldId id="330" r:id="rId43"/>
    <p:sldId id="331" r:id="rId44"/>
    <p:sldId id="332" r:id="rId45"/>
    <p:sldId id="333" r:id="rId46"/>
    <p:sldId id="334" r:id="rId47"/>
    <p:sldId id="335" r:id="rId48"/>
    <p:sldId id="336" r:id="rId49"/>
    <p:sldId id="337" r:id="rId50"/>
    <p:sldId id="338" r:id="rId51"/>
    <p:sldId id="347" r:id="rId52"/>
    <p:sldId id="348" r:id="rId53"/>
    <p:sldId id="349" r:id="rId54"/>
    <p:sldId id="350" r:id="rId55"/>
    <p:sldId id="352" r:id="rId56"/>
    <p:sldId id="460" r:id="rId57"/>
    <p:sldId id="355" r:id="rId58"/>
    <p:sldId id="258" r:id="rId59"/>
    <p:sldId id="356" r:id="rId60"/>
    <p:sldId id="357" r:id="rId61"/>
    <p:sldId id="358" r:id="rId62"/>
    <p:sldId id="359" r:id="rId63"/>
    <p:sldId id="360" r:id="rId64"/>
    <p:sldId id="361" r:id="rId65"/>
    <p:sldId id="362" r:id="rId66"/>
    <p:sldId id="363" r:id="rId67"/>
    <p:sldId id="364" r:id="rId68"/>
    <p:sldId id="365" r:id="rId69"/>
    <p:sldId id="366" r:id="rId70"/>
    <p:sldId id="367" r:id="rId71"/>
    <p:sldId id="368" r:id="rId72"/>
    <p:sldId id="369" r:id="rId73"/>
    <p:sldId id="370" r:id="rId74"/>
    <p:sldId id="371" r:id="rId75"/>
    <p:sldId id="372" r:id="rId76"/>
    <p:sldId id="373" r:id="rId77"/>
    <p:sldId id="259" r:id="rId78"/>
    <p:sldId id="374" r:id="rId79"/>
    <p:sldId id="375" r:id="rId80"/>
    <p:sldId id="376" r:id="rId81"/>
    <p:sldId id="377" r:id="rId82"/>
    <p:sldId id="378" r:id="rId83"/>
    <p:sldId id="462" r:id="rId84"/>
    <p:sldId id="463" r:id="rId85"/>
    <p:sldId id="464" r:id="rId86"/>
    <p:sldId id="465" r:id="rId87"/>
    <p:sldId id="466" r:id="rId88"/>
    <p:sldId id="379" r:id="rId89"/>
    <p:sldId id="391" r:id="rId90"/>
    <p:sldId id="392" r:id="rId91"/>
    <p:sldId id="393" r:id="rId92"/>
    <p:sldId id="394" r:id="rId93"/>
    <p:sldId id="399" r:id="rId94"/>
    <p:sldId id="260" r:id="rId95"/>
    <p:sldId id="400" r:id="rId96"/>
    <p:sldId id="401" r:id="rId97"/>
    <p:sldId id="402" r:id="rId98"/>
    <p:sldId id="403" r:id="rId99"/>
    <p:sldId id="405" r:id="rId100"/>
    <p:sldId id="406" r:id="rId101"/>
    <p:sldId id="407" r:id="rId102"/>
    <p:sldId id="408" r:id="rId103"/>
    <p:sldId id="409" r:id="rId104"/>
    <p:sldId id="410" r:id="rId105"/>
    <p:sldId id="411" r:id="rId106"/>
    <p:sldId id="412" r:id="rId107"/>
    <p:sldId id="413" r:id="rId108"/>
    <p:sldId id="414" r:id="rId109"/>
    <p:sldId id="415" r:id="rId110"/>
    <p:sldId id="416" r:id="rId111"/>
    <p:sldId id="417" r:id="rId112"/>
    <p:sldId id="420" r:id="rId113"/>
    <p:sldId id="461" r:id="rId114"/>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79487" autoAdjust="0"/>
  </p:normalViewPr>
  <p:slideViewPr>
    <p:cSldViewPr>
      <p:cViewPr>
        <p:scale>
          <a:sx n="80" d="100"/>
          <a:sy n="80" d="100"/>
        </p:scale>
        <p:origin x="-3048" y="-4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2/3/2014</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4008680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2/3/2014</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1900289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students to class.</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this Unit comprises three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to trainees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on establishing enterprise requirements for a catering system asking questions such as:</a:t>
            </a:r>
          </a:p>
          <a:p>
            <a:pPr>
              <a:buFont typeface="Arial" pitchFamily="34" charset="0"/>
              <a:buChar char="•"/>
            </a:pPr>
            <a:r>
              <a:rPr lang="en-US" dirty="0" smtClean="0"/>
              <a:t> Why is it important to </a:t>
            </a:r>
            <a:r>
              <a:rPr lang="en-AU" sz="1200" kern="1200" baseline="0" dirty="0" smtClean="0">
                <a:solidFill>
                  <a:schemeClr val="tx1"/>
                </a:solidFill>
                <a:ea typeface="+mn-ea"/>
                <a:cs typeface="+mn-cs"/>
              </a:rPr>
              <a:t>establish enterprise requirements for a catering system</a:t>
            </a:r>
            <a:r>
              <a:rPr lang="en-US" dirty="0" smtClean="0"/>
              <a:t>?</a:t>
            </a:r>
          </a:p>
          <a:p>
            <a:pPr>
              <a:buFont typeface="Arial" pitchFamily="34" charset="0"/>
              <a:buChar char="•"/>
            </a:pPr>
            <a:r>
              <a:rPr lang="en-US" dirty="0" smtClean="0"/>
              <a:t> What might these requirements be?</a:t>
            </a:r>
          </a:p>
          <a:p>
            <a:pPr>
              <a:buFont typeface="Arial" pitchFamily="34" charset="0"/>
              <a:buChar char="•"/>
            </a:pPr>
            <a:r>
              <a:rPr lang="en-US" dirty="0" smtClean="0"/>
              <a:t> How would you determine what the requirements are? What action would you undertake? What research would you do?</a:t>
            </a:r>
          </a:p>
          <a:p>
            <a:pPr>
              <a:buFont typeface="Arial" pitchFamily="34" charset="0"/>
              <a:buChar char="•"/>
            </a:pPr>
            <a:r>
              <a:rPr lang="en-US" dirty="0" smtClean="0"/>
              <a:t> Why is it important to determine the constraints which apply to the selection of a catering system for a venue/kitchen?</a:t>
            </a:r>
          </a:p>
          <a:p>
            <a:pPr>
              <a:buFont typeface="Arial" pitchFamily="34" charset="0"/>
              <a:buChar char="•"/>
            </a:pPr>
            <a:r>
              <a:rPr lang="en-US" dirty="0" smtClean="0"/>
              <a:t> What do you think might be examples of enterprise constraints in this regard?</a:t>
            </a:r>
          </a:p>
          <a:p>
            <a:pPr>
              <a:buFont typeface="Arial" pitchFamily="34" charset="0"/>
              <a:buChar char="•"/>
            </a:pP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a </a:t>
            </a:r>
            <a:r>
              <a:rPr lang="en-AU" sz="1200" kern="1200" dirty="0" smtClean="0">
                <a:solidFill>
                  <a:schemeClr val="tx1"/>
                </a:solidFill>
                <a:latin typeface="+mn-lt"/>
                <a:ea typeface="+mn-ea"/>
                <a:cs typeface="+mn-cs"/>
              </a:rPr>
              <a:t>variety of commercial businesses that produce and serve food and which may need to select a catering system:</a:t>
            </a:r>
          </a:p>
          <a:p>
            <a:pPr>
              <a:buFont typeface="Arial" pitchFamily="34" charset="0"/>
              <a:buChar char="•"/>
            </a:pPr>
            <a:r>
              <a:rPr lang="en-AU" sz="1200" kern="1200" dirty="0" smtClean="0">
                <a:solidFill>
                  <a:schemeClr val="tx1"/>
                </a:solidFill>
                <a:latin typeface="+mn-lt"/>
                <a:ea typeface="+mn-ea"/>
                <a:cs typeface="+mn-cs"/>
              </a:rPr>
              <a:t> Hotels, taverns and bars</a:t>
            </a:r>
          </a:p>
          <a:p>
            <a:pPr>
              <a:buFont typeface="Arial" pitchFamily="34" charset="0"/>
              <a:buChar char="•"/>
            </a:pPr>
            <a:r>
              <a:rPr lang="en-AU" sz="1200" kern="1200" dirty="0" smtClean="0">
                <a:solidFill>
                  <a:schemeClr val="tx1"/>
                </a:solidFill>
                <a:latin typeface="+mn-lt"/>
                <a:ea typeface="+mn-ea"/>
                <a:cs typeface="+mn-cs"/>
              </a:rPr>
              <a:t> Restaurants and cafes</a:t>
            </a:r>
          </a:p>
          <a:p>
            <a:pPr>
              <a:buFont typeface="Arial" pitchFamily="34" charset="0"/>
              <a:buChar char="•"/>
            </a:pPr>
            <a:r>
              <a:rPr lang="en-AU" sz="1200" kern="1200" dirty="0" smtClean="0">
                <a:solidFill>
                  <a:schemeClr val="tx1"/>
                </a:solidFill>
                <a:latin typeface="+mn-lt"/>
                <a:ea typeface="+mn-ea"/>
                <a:cs typeface="+mn-cs"/>
              </a:rPr>
              <a:t> Private, sporting and other clubs</a:t>
            </a:r>
          </a:p>
          <a:p>
            <a:pPr>
              <a:buFont typeface="Arial" pitchFamily="34" charset="0"/>
              <a:buChar char="•"/>
            </a:pPr>
            <a:r>
              <a:rPr lang="en-AU" sz="1200" kern="1200" dirty="0" smtClean="0">
                <a:solidFill>
                  <a:schemeClr val="tx1"/>
                </a:solidFill>
                <a:latin typeface="+mn-lt"/>
                <a:ea typeface="+mn-ea"/>
                <a:cs typeface="+mn-cs"/>
              </a:rPr>
              <a:t> School, universities and other educational institutions</a:t>
            </a:r>
          </a:p>
          <a:p>
            <a:pPr>
              <a:buFont typeface="Arial" pitchFamily="34" charset="0"/>
              <a:buChar char="•"/>
            </a:pPr>
            <a:r>
              <a:rPr lang="en-AU" sz="1200" kern="1200" dirty="0" smtClean="0">
                <a:solidFill>
                  <a:schemeClr val="tx1"/>
                </a:solidFill>
                <a:latin typeface="+mn-lt"/>
                <a:ea typeface="+mn-ea"/>
                <a:cs typeface="+mn-cs"/>
              </a:rPr>
              <a:t> Hospitals, hospices and aged care facilities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a </a:t>
            </a:r>
            <a:r>
              <a:rPr lang="en-AU" sz="1200" kern="1200" dirty="0" smtClean="0">
                <a:solidFill>
                  <a:schemeClr val="tx1"/>
                </a:solidFill>
                <a:latin typeface="+mn-lt"/>
                <a:ea typeface="+mn-ea"/>
                <a:cs typeface="+mn-cs"/>
              </a:rPr>
              <a:t>variety of commercial businesses that produce and serve food and which may need to select a catering system:</a:t>
            </a:r>
          </a:p>
          <a:p>
            <a:pPr>
              <a:buFont typeface="Arial" pitchFamily="34" charset="0"/>
              <a:buChar char="•"/>
            </a:pPr>
            <a:r>
              <a:rPr lang="en-AU" sz="1200" kern="1200" dirty="0" smtClean="0">
                <a:solidFill>
                  <a:schemeClr val="tx1"/>
                </a:solidFill>
                <a:latin typeface="+mn-lt"/>
                <a:ea typeface="+mn-ea"/>
                <a:cs typeface="+mn-cs"/>
              </a:rPr>
              <a:t> Workplace cafeterias and canteens</a:t>
            </a:r>
          </a:p>
          <a:p>
            <a:pPr>
              <a:buFont typeface="Arial" pitchFamily="34" charset="0"/>
              <a:buChar char="•"/>
            </a:pPr>
            <a:r>
              <a:rPr lang="en-AU" sz="1200" kern="1200" dirty="0" smtClean="0">
                <a:solidFill>
                  <a:schemeClr val="tx1"/>
                </a:solidFill>
                <a:latin typeface="+mn-lt"/>
                <a:ea typeface="+mn-ea"/>
                <a:cs typeface="+mn-cs"/>
              </a:rPr>
              <a:t> Military/defence catering</a:t>
            </a:r>
          </a:p>
          <a:p>
            <a:pPr>
              <a:buFont typeface="Arial" pitchFamily="34" charset="0"/>
              <a:buChar char="•"/>
            </a:pPr>
            <a:r>
              <a:rPr lang="en-AU" sz="1200" kern="1200" dirty="0" smtClean="0">
                <a:solidFill>
                  <a:schemeClr val="tx1"/>
                </a:solidFill>
                <a:latin typeface="+mn-lt"/>
                <a:ea typeface="+mn-ea"/>
                <a:cs typeface="+mn-cs"/>
              </a:rPr>
              <a:t> Prisons</a:t>
            </a:r>
          </a:p>
          <a:p>
            <a:pPr>
              <a:buFont typeface="Arial" pitchFamily="34" charset="0"/>
              <a:buChar char="•"/>
            </a:pPr>
            <a:r>
              <a:rPr lang="en-AU" sz="1200" kern="1200" dirty="0" smtClean="0">
                <a:solidFill>
                  <a:schemeClr val="tx1"/>
                </a:solidFill>
                <a:latin typeface="+mn-lt"/>
                <a:ea typeface="+mn-ea"/>
                <a:cs typeface="+mn-cs"/>
              </a:rPr>
              <a:t> Residential caterers</a:t>
            </a:r>
          </a:p>
          <a:p>
            <a:pPr>
              <a:buFont typeface="Arial" pitchFamily="34" charset="0"/>
              <a:buChar char="•"/>
            </a:pPr>
            <a:r>
              <a:rPr lang="en-AU" sz="1200" kern="1200" dirty="0" smtClean="0">
                <a:solidFill>
                  <a:schemeClr val="tx1"/>
                </a:solidFill>
                <a:latin typeface="+mn-lt"/>
                <a:ea typeface="+mn-ea"/>
                <a:cs typeface="+mn-cs"/>
              </a:rPr>
              <a:t> In-flight and other transport catering</a:t>
            </a:r>
          </a:p>
          <a:p>
            <a:pPr>
              <a:buFont typeface="Arial" pitchFamily="34" charset="0"/>
              <a:buChar char="•"/>
            </a:pPr>
            <a:r>
              <a:rPr lang="en-AU" sz="1200" kern="1200" dirty="0" smtClean="0">
                <a:solidFill>
                  <a:schemeClr val="tx1"/>
                </a:solidFill>
                <a:latin typeface="+mn-lt"/>
                <a:ea typeface="+mn-ea"/>
                <a:cs typeface="+mn-cs"/>
              </a:rPr>
              <a:t> Meetings, incentives, conferences/conventions, and exhibitions (MICE) catering.</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a:t>
            </a:r>
            <a:r>
              <a:rPr lang="en-AU" sz="1200" kern="1200" dirty="0" smtClean="0">
                <a:solidFill>
                  <a:schemeClr val="tx1"/>
                </a:solidFill>
                <a:latin typeface="+mn-lt"/>
                <a:ea typeface="+mn-ea"/>
                <a:cs typeface="+mn-cs"/>
              </a:rPr>
              <a:t>the focus of the unit is on evaluating and selecting an integrated production, distribution and service catering system to meet the food production needs of a catering organisation</a:t>
            </a:r>
            <a:r>
              <a:rPr lang="en-AU" sz="1200" kern="1200" baseline="0" dirty="0" smtClean="0">
                <a:solidFill>
                  <a:schemeClr val="tx1"/>
                </a:solidFill>
                <a:latin typeface="+mn-lt"/>
                <a:ea typeface="+mn-ea"/>
                <a:cs typeface="+mn-cs"/>
              </a:rPr>
              <a:t> stating </a:t>
            </a:r>
            <a:r>
              <a:rPr lang="en-AU" sz="1200" kern="1200" dirty="0" smtClean="0">
                <a:solidFill>
                  <a:schemeClr val="tx1"/>
                </a:solidFill>
                <a:latin typeface="+mn-lt"/>
                <a:ea typeface="+mn-ea"/>
                <a:cs typeface="+mn-cs"/>
              </a:rPr>
              <a:t>the main aims address:</a:t>
            </a:r>
          </a:p>
          <a:p>
            <a:pPr>
              <a:buFont typeface="Arial" pitchFamily="34" charset="0"/>
              <a:buChar char="•"/>
            </a:pPr>
            <a:r>
              <a:rPr lang="en-AU" sz="1200" kern="1200" dirty="0" smtClean="0">
                <a:solidFill>
                  <a:schemeClr val="tx1"/>
                </a:solidFill>
                <a:latin typeface="+mn-lt"/>
                <a:ea typeface="+mn-ea"/>
                <a:cs typeface="+mn-cs"/>
              </a:rPr>
              <a:t> Determination of catering system requirements for an organisation</a:t>
            </a:r>
          </a:p>
          <a:p>
            <a:pPr>
              <a:buFont typeface="Arial" pitchFamily="34" charset="0"/>
              <a:buChar char="•"/>
            </a:pPr>
            <a:r>
              <a:rPr lang="en-AU" sz="1200" kern="1200" dirty="0" smtClean="0">
                <a:solidFill>
                  <a:schemeClr val="tx1"/>
                </a:solidFill>
                <a:latin typeface="+mn-lt"/>
                <a:ea typeface="+mn-ea"/>
                <a:cs typeface="+mn-cs"/>
              </a:rPr>
              <a:t> Evaluation of operational aspects of different catering systems </a:t>
            </a:r>
          </a:p>
          <a:p>
            <a:pPr>
              <a:buFont typeface="Arial" pitchFamily="34" charset="0"/>
              <a:buChar char="•"/>
            </a:pPr>
            <a:r>
              <a:rPr lang="en-AU" sz="1200" kern="1200" dirty="0" smtClean="0">
                <a:solidFill>
                  <a:schemeClr val="tx1"/>
                </a:solidFill>
                <a:latin typeface="+mn-lt"/>
                <a:ea typeface="+mn-ea"/>
                <a:cs typeface="+mn-cs"/>
              </a:rPr>
              <a:t> Selection of a catering system which suits the characteristics and needs of the organisation being considered.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tells students </a:t>
            </a:r>
            <a:r>
              <a:rPr lang="en-AU" sz="1200" kern="1200" dirty="0" smtClean="0">
                <a:solidFill>
                  <a:schemeClr val="tx1"/>
                </a:solidFill>
                <a:latin typeface="+mn-lt"/>
                <a:ea typeface="+mn-ea"/>
                <a:cs typeface="+mn-cs"/>
              </a:rPr>
              <a:t>they will have a need for this unit when:</a:t>
            </a:r>
          </a:p>
          <a:p>
            <a:pPr>
              <a:buFont typeface="Arial" pitchFamily="34" charset="0"/>
              <a:buChar char="•"/>
            </a:pPr>
            <a:r>
              <a:rPr lang="en-AU" sz="1200" kern="1200" dirty="0" smtClean="0">
                <a:solidFill>
                  <a:schemeClr val="tx1"/>
                </a:solidFill>
                <a:latin typeface="+mn-lt"/>
                <a:ea typeface="+mn-ea"/>
                <a:cs typeface="+mn-cs"/>
              </a:rPr>
              <a:t> Called on to modify an existing food production and food service system in a business</a:t>
            </a:r>
          </a:p>
          <a:p>
            <a:pPr>
              <a:buFont typeface="Arial" pitchFamily="34" charset="0"/>
              <a:buChar char="•"/>
            </a:pPr>
            <a:r>
              <a:rPr lang="en-AU" sz="1200" kern="1200" dirty="0" smtClean="0">
                <a:solidFill>
                  <a:schemeClr val="tx1"/>
                </a:solidFill>
                <a:latin typeface="+mn-lt"/>
                <a:ea typeface="+mn-ea"/>
                <a:cs typeface="+mn-cs"/>
              </a:rPr>
              <a:t> The opportunity arises to build and install a new catering system for a venue or organisation.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suggests </a:t>
            </a:r>
            <a:r>
              <a:rPr lang="en-AU" sz="1200" kern="1200" dirty="0" smtClean="0">
                <a:solidFill>
                  <a:schemeClr val="tx1"/>
                </a:solidFill>
                <a:latin typeface="+mn-lt"/>
                <a:ea typeface="+mn-ea"/>
                <a:cs typeface="+mn-cs"/>
              </a:rPr>
              <a:t>the unit is aimed at:</a:t>
            </a:r>
          </a:p>
          <a:p>
            <a:pPr>
              <a:buFont typeface="Arial" pitchFamily="34" charset="0"/>
              <a:buChar char="•"/>
            </a:pPr>
            <a:r>
              <a:rPr lang="en-AU" sz="1200" kern="1200" dirty="0" smtClean="0">
                <a:solidFill>
                  <a:schemeClr val="tx1"/>
                </a:solidFill>
                <a:latin typeface="+mn-lt"/>
                <a:ea typeface="+mn-ea"/>
                <a:cs typeface="+mn-cs"/>
              </a:rPr>
              <a:t> Senior managers – such as including executive chefs and catering managers </a:t>
            </a:r>
          </a:p>
          <a:p>
            <a:pPr>
              <a:buFont typeface="Arial" pitchFamily="34" charset="0"/>
              <a:buChar char="•"/>
            </a:pPr>
            <a:r>
              <a:rPr lang="en-AU" sz="1200" kern="1200" dirty="0" smtClean="0">
                <a:solidFill>
                  <a:schemeClr val="tx1"/>
                </a:solidFill>
                <a:latin typeface="+mn-lt"/>
                <a:ea typeface="+mn-ea"/>
                <a:cs typeface="+mn-cs"/>
              </a:rPr>
              <a:t> Who operate with significant autonomy – that is, they can make decisions with little or no reference to others in the organisation</a:t>
            </a:r>
          </a:p>
          <a:p>
            <a:pPr>
              <a:buFont typeface="Arial" pitchFamily="34" charset="0"/>
              <a:buChar char="•"/>
            </a:pPr>
            <a:r>
              <a:rPr lang="en-AU" sz="1200" kern="1200" dirty="0" smtClean="0">
                <a:solidFill>
                  <a:schemeClr val="tx1"/>
                </a:solidFill>
                <a:latin typeface="+mn-lt"/>
                <a:ea typeface="+mn-ea"/>
                <a:cs typeface="+mn-cs"/>
              </a:rPr>
              <a:t> Who are responsible for making a range of strategic management decisions – relating to the direction of the business and ways to attain the identified goals of the organisation.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a:t>
            </a:r>
            <a:r>
              <a:rPr lang="en-AU" sz="1200" kern="1200" dirty="0" smtClean="0">
                <a:solidFill>
                  <a:schemeClr val="tx1"/>
                </a:solidFill>
                <a:latin typeface="+mn-lt"/>
                <a:ea typeface="+mn-ea"/>
                <a:cs typeface="+mn-cs"/>
              </a:rPr>
              <a:t>‘Catering system’ refers to an overall food production and food service system where all components/elements are integrated into a cohesive, effective and efficient operation providing options such as:</a:t>
            </a:r>
          </a:p>
          <a:p>
            <a:pPr>
              <a:buFont typeface="Arial" pitchFamily="34" charset="0"/>
              <a:buChar char="•"/>
            </a:pPr>
            <a:r>
              <a:rPr lang="en-AU" sz="1200" kern="1200" dirty="0" smtClean="0">
                <a:solidFill>
                  <a:schemeClr val="tx1"/>
                </a:solidFill>
                <a:latin typeface="+mn-lt"/>
                <a:ea typeface="+mn-ea"/>
                <a:cs typeface="+mn-cs"/>
              </a:rPr>
              <a:t> ‘Conventional’ – a system where food is cooked fresh and served at the time</a:t>
            </a:r>
          </a:p>
          <a:p>
            <a:pPr>
              <a:buFont typeface="Arial" pitchFamily="34" charset="0"/>
              <a:buChar char="•"/>
            </a:pPr>
            <a:r>
              <a:rPr lang="en-AU" sz="1200" kern="1200" dirty="0" smtClean="0">
                <a:solidFill>
                  <a:schemeClr val="tx1"/>
                </a:solidFill>
                <a:latin typeface="+mn-lt"/>
                <a:ea typeface="+mn-ea"/>
                <a:cs typeface="+mn-cs"/>
              </a:rPr>
              <a:t> ‘Cook-chill’ – where food is cooked and stored under refrigeration for short-term or long-term storage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providing examples of catering system options:</a:t>
            </a:r>
          </a:p>
          <a:p>
            <a:pPr>
              <a:buFont typeface="Arial" pitchFamily="34" charset="0"/>
              <a:buChar char="•"/>
            </a:pPr>
            <a:r>
              <a:rPr lang="en-AU" sz="1200" kern="1200" dirty="0" smtClean="0">
                <a:solidFill>
                  <a:schemeClr val="tx1"/>
                </a:solidFill>
                <a:latin typeface="+mn-lt"/>
                <a:ea typeface="+mn-ea"/>
                <a:cs typeface="+mn-cs"/>
              </a:rPr>
              <a:t> ‘Cook-freeze’ – where food is cooked and frozen for later re-thermalisation and service</a:t>
            </a:r>
          </a:p>
          <a:p>
            <a:pPr>
              <a:buFont typeface="Arial" pitchFamily="34" charset="0"/>
              <a:buChar char="•"/>
            </a:pPr>
            <a:r>
              <a:rPr lang="en-AU" sz="1200" kern="1200" dirty="0" smtClean="0">
                <a:solidFill>
                  <a:schemeClr val="tx1"/>
                </a:solidFill>
                <a:latin typeface="+mn-lt"/>
                <a:ea typeface="+mn-ea"/>
                <a:cs typeface="+mn-cs"/>
              </a:rPr>
              <a:t> ‘Commissary’ – featuring transportation of pre-prepared food to satellite kitchens for re-heating and service</a:t>
            </a:r>
          </a:p>
          <a:p>
            <a:pPr>
              <a:buFont typeface="Arial" pitchFamily="34" charset="0"/>
              <a:buChar char="•"/>
            </a:pPr>
            <a:r>
              <a:rPr lang="en-AU" sz="1200" kern="1200" dirty="0" smtClean="0">
                <a:solidFill>
                  <a:schemeClr val="tx1"/>
                </a:solidFill>
                <a:latin typeface="+mn-lt"/>
                <a:ea typeface="+mn-ea"/>
                <a:cs typeface="+mn-cs"/>
              </a:rPr>
              <a:t> Assemble-serve – where pre-prepared food is portioned, plated and served: no cooking or other processing is required..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notes </a:t>
            </a:r>
            <a:r>
              <a:rPr lang="en-AU" sz="1200" kern="1200" dirty="0" smtClean="0">
                <a:solidFill>
                  <a:schemeClr val="tx1"/>
                </a:solidFill>
                <a:latin typeface="+mn-lt"/>
                <a:ea typeface="+mn-ea"/>
                <a:cs typeface="+mn-cs"/>
              </a:rPr>
              <a:t>people who undertake the task of selecting catering systems should posses the following skills to underpin their research, evaluation and allied activities:</a:t>
            </a:r>
          </a:p>
          <a:p>
            <a:pPr>
              <a:buFont typeface="Arial" pitchFamily="34" charset="0"/>
              <a:buChar char="•"/>
            </a:pPr>
            <a:r>
              <a:rPr lang="en-AU" sz="1200" kern="1200" dirty="0" smtClean="0">
                <a:solidFill>
                  <a:schemeClr val="tx1"/>
                </a:solidFill>
                <a:latin typeface="+mn-lt"/>
                <a:ea typeface="+mn-ea"/>
                <a:cs typeface="+mn-cs"/>
              </a:rPr>
              <a:t> Communication skills to consult on system requirements with key personnel – such as:</a:t>
            </a:r>
          </a:p>
          <a:p>
            <a:pPr lvl="1">
              <a:buFont typeface="Arial" pitchFamily="34" charset="0"/>
              <a:buChar char="•"/>
            </a:pPr>
            <a:r>
              <a:rPr lang="en-AU" sz="1200" kern="1200" dirty="0" smtClean="0">
                <a:solidFill>
                  <a:schemeClr val="tx1"/>
                </a:solidFill>
                <a:latin typeface="+mn-lt"/>
                <a:ea typeface="+mn-ea"/>
                <a:cs typeface="+mn-cs"/>
              </a:rPr>
              <a:t> Other management-level personnel</a:t>
            </a:r>
          </a:p>
          <a:p>
            <a:pPr lvl="1">
              <a:buFont typeface="Arial" pitchFamily="34" charset="0"/>
              <a:buChar char="•"/>
            </a:pPr>
            <a:r>
              <a:rPr lang="en-AU" sz="1200" kern="1200" dirty="0" smtClean="0">
                <a:solidFill>
                  <a:schemeClr val="tx1"/>
                </a:solidFill>
                <a:latin typeface="+mn-lt"/>
                <a:ea typeface="+mn-ea"/>
                <a:cs typeface="+mn-cs"/>
              </a:rPr>
              <a:t> Boards of Directors</a:t>
            </a:r>
          </a:p>
          <a:p>
            <a:pPr lvl="1">
              <a:buFont typeface="Arial" pitchFamily="34" charset="0"/>
              <a:buChar char="•"/>
            </a:pPr>
            <a:r>
              <a:rPr lang="en-AU" sz="1200" kern="1200" dirty="0" smtClean="0">
                <a:solidFill>
                  <a:schemeClr val="tx1"/>
                </a:solidFill>
                <a:latin typeface="+mn-lt"/>
                <a:ea typeface="+mn-ea"/>
                <a:cs typeface="+mn-cs"/>
              </a:rPr>
              <a:t> Owners</a:t>
            </a:r>
          </a:p>
          <a:p>
            <a:pPr lvl="1">
              <a:buFont typeface="Arial" pitchFamily="34" charset="0"/>
              <a:buChar char="•"/>
            </a:pPr>
            <a:r>
              <a:rPr lang="en-AU" sz="1200" kern="1200" dirty="0" smtClean="0">
                <a:solidFill>
                  <a:schemeClr val="tx1"/>
                </a:solidFill>
                <a:latin typeface="+mn-lt"/>
                <a:ea typeface="+mn-ea"/>
                <a:cs typeface="+mn-cs"/>
              </a:rPr>
              <a:t> Government agencies/authorities</a:t>
            </a:r>
          </a:p>
          <a:p>
            <a:pPr lvl="1">
              <a:buFont typeface="Arial" pitchFamily="34" charset="0"/>
              <a:buChar char="•"/>
            </a:pPr>
            <a:r>
              <a:rPr lang="en-AU" sz="1200" kern="1200" dirty="0" smtClean="0">
                <a:solidFill>
                  <a:schemeClr val="tx1"/>
                </a:solidFill>
                <a:latin typeface="+mn-lt"/>
                <a:ea typeface="+mn-ea"/>
                <a:cs typeface="+mn-cs"/>
              </a:rPr>
              <a:t> Equipment/system providers and suppliers</a:t>
            </a:r>
          </a:p>
          <a:p>
            <a:pPr>
              <a:buFont typeface="Arial" pitchFamily="34" charset="0"/>
              <a:buChar char="•"/>
            </a:pPr>
            <a:r>
              <a:rPr lang="en-AU" sz="1200" kern="1200" dirty="0" smtClean="0">
                <a:solidFill>
                  <a:schemeClr val="tx1"/>
                </a:solidFill>
                <a:latin typeface="+mn-lt"/>
                <a:ea typeface="+mn-ea"/>
                <a:cs typeface="+mn-cs"/>
              </a:rPr>
              <a:t> Critical thinking skills – to:</a:t>
            </a:r>
          </a:p>
          <a:p>
            <a:pPr lvl="1">
              <a:buFont typeface="Arial" pitchFamily="34" charset="0"/>
              <a:buChar char="•"/>
            </a:pPr>
            <a:r>
              <a:rPr lang="en-AU" sz="1200" kern="1200" dirty="0" smtClean="0">
                <a:solidFill>
                  <a:schemeClr val="tx1"/>
                </a:solidFill>
                <a:latin typeface="+mn-lt"/>
                <a:ea typeface="+mn-ea"/>
                <a:cs typeface="+mn-cs"/>
              </a:rPr>
              <a:t> Analyse and evaluate all aspects of the organisation’s catering operation </a:t>
            </a:r>
          </a:p>
          <a:p>
            <a:pPr lvl="1">
              <a:buFont typeface="Arial" pitchFamily="34" charset="0"/>
              <a:buChar char="•"/>
            </a:pPr>
            <a:r>
              <a:rPr lang="en-AU" sz="1200" kern="1200" dirty="0" smtClean="0">
                <a:solidFill>
                  <a:schemeClr val="tx1"/>
                </a:solidFill>
                <a:latin typeface="+mn-lt"/>
                <a:ea typeface="+mn-ea"/>
                <a:cs typeface="+mn-cs"/>
              </a:rPr>
              <a:t> Select a catering system which best suits its characteristics and needs</a:t>
            </a:r>
          </a:p>
          <a:p>
            <a:pPr>
              <a:buFont typeface="Arial" pitchFamily="34" charset="0"/>
              <a:buChar char="•"/>
            </a:pPr>
            <a:r>
              <a:rPr lang="en-AU" sz="1200" kern="1200" dirty="0" smtClean="0">
                <a:solidFill>
                  <a:schemeClr val="tx1"/>
                </a:solidFill>
                <a:latin typeface="+mn-lt"/>
                <a:ea typeface="+mn-ea"/>
                <a:cs typeface="+mn-cs"/>
              </a:rPr>
              <a:t> Initiative and enterprise skills – to:</a:t>
            </a:r>
          </a:p>
          <a:p>
            <a:pPr lvl="1">
              <a:buFont typeface="Arial" pitchFamily="34" charset="0"/>
              <a:buChar char="•"/>
            </a:pPr>
            <a:r>
              <a:rPr lang="en-AU" sz="1200" kern="1200" dirty="0" smtClean="0">
                <a:solidFill>
                  <a:schemeClr val="tx1"/>
                </a:solidFill>
                <a:latin typeface="+mn-lt"/>
                <a:ea typeface="+mn-ea"/>
                <a:cs typeface="+mn-cs"/>
              </a:rPr>
              <a:t> Determine courses of action</a:t>
            </a:r>
          </a:p>
          <a:p>
            <a:pPr lvl="1">
              <a:buFont typeface="Arial" pitchFamily="34" charset="0"/>
              <a:buChar char="•"/>
            </a:pPr>
            <a:r>
              <a:rPr lang="en-AU" sz="1200" kern="1200" dirty="0" smtClean="0">
                <a:solidFill>
                  <a:schemeClr val="tx1"/>
                </a:solidFill>
                <a:latin typeface="+mn-lt"/>
                <a:ea typeface="+mn-ea"/>
                <a:cs typeface="+mn-cs"/>
              </a:rPr>
              <a:t> Maintain motivation and achieve required objectives/outcomes</a:t>
            </a:r>
          </a:p>
          <a:p>
            <a:pPr lvl="1">
              <a:buFont typeface="Arial" pitchFamily="34" charset="0"/>
              <a:buChar char="•"/>
            </a:pPr>
            <a:r>
              <a:rPr lang="en-AU" sz="1200" kern="1200" dirty="0" smtClean="0">
                <a:solidFill>
                  <a:schemeClr val="tx1"/>
                </a:solidFill>
                <a:latin typeface="+mn-lt"/>
                <a:ea typeface="+mn-ea"/>
                <a:cs typeface="+mn-cs"/>
              </a:rPr>
              <a:t> Integrate workplace needs with capacity and capability of various catering systems</a:t>
            </a:r>
          </a:p>
          <a:p>
            <a:pPr lvl="1">
              <a:buFont typeface="Arial" pitchFamily="34" charset="0"/>
              <a:buChar char="•"/>
            </a:pPr>
            <a:r>
              <a:rPr lang="en-AU" sz="1200" kern="1200" dirty="0" smtClean="0">
                <a:solidFill>
                  <a:schemeClr val="tx1"/>
                </a:solidFill>
                <a:latin typeface="+mn-lt"/>
                <a:ea typeface="+mn-ea"/>
                <a:cs typeface="+mn-cs"/>
              </a:rPr>
              <a:t> Select a system with the best cost benefits</a:t>
            </a:r>
          </a:p>
          <a:p>
            <a:pPr>
              <a:buFont typeface="Arial" pitchFamily="34" charset="0"/>
              <a:buChar char="•"/>
            </a:pPr>
            <a:r>
              <a:rPr lang="en-AU" sz="1200" kern="1200" dirty="0" smtClean="0">
                <a:solidFill>
                  <a:schemeClr val="tx1"/>
                </a:solidFill>
                <a:latin typeface="+mn-lt"/>
                <a:ea typeface="+mn-ea"/>
                <a:cs typeface="+mn-cs"/>
              </a:rPr>
              <a:t> High level of literacy skills to:</a:t>
            </a:r>
          </a:p>
          <a:p>
            <a:pPr lvl="1">
              <a:buFont typeface="Arial" pitchFamily="34" charset="0"/>
              <a:buChar char="•"/>
            </a:pPr>
            <a:r>
              <a:rPr lang="en-AU" sz="1200" kern="1200" dirty="0" smtClean="0">
                <a:solidFill>
                  <a:schemeClr val="tx1"/>
                </a:solidFill>
                <a:latin typeface="+mn-lt"/>
                <a:ea typeface="+mn-ea"/>
                <a:cs typeface="+mn-cs"/>
              </a:rPr>
              <a:t> Read and interpret detailed product specifications for different catering systems</a:t>
            </a:r>
          </a:p>
          <a:p>
            <a:pPr lvl="1">
              <a:buFont typeface="Arial" pitchFamily="34" charset="0"/>
              <a:buChar char="•"/>
            </a:pPr>
            <a:r>
              <a:rPr lang="en-AU" sz="1200" kern="1200" dirty="0" smtClean="0">
                <a:solidFill>
                  <a:schemeClr val="tx1"/>
                </a:solidFill>
                <a:latin typeface="+mn-lt"/>
                <a:ea typeface="+mn-ea"/>
                <a:cs typeface="+mn-cs"/>
              </a:rPr>
              <a:t> Research product options for and suppliers of catering systems</a:t>
            </a:r>
          </a:p>
          <a:p>
            <a:pPr lvl="1">
              <a:buFont typeface="Arial" pitchFamily="34" charset="0"/>
              <a:buChar char="•"/>
            </a:pPr>
            <a:r>
              <a:rPr lang="en-AU" sz="1200" kern="1200" dirty="0" smtClean="0">
                <a:solidFill>
                  <a:schemeClr val="tx1"/>
                </a:solidFill>
                <a:latin typeface="+mn-lt"/>
                <a:ea typeface="+mn-ea"/>
                <a:cs typeface="+mn-cs"/>
              </a:rPr>
              <a:t> Read and interpret recipes and menus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required foundation skills required by those who select catering systems:</a:t>
            </a:r>
          </a:p>
          <a:p>
            <a:pPr>
              <a:buFont typeface="Arial" pitchFamily="34" charset="0"/>
              <a:buChar char="•"/>
            </a:pPr>
            <a:r>
              <a:rPr lang="en-AU" sz="1200" kern="1200" dirty="0" smtClean="0">
                <a:solidFill>
                  <a:schemeClr val="tx1"/>
                </a:solidFill>
                <a:latin typeface="+mn-lt"/>
                <a:ea typeface="+mn-ea"/>
                <a:cs typeface="+mn-cs"/>
              </a:rPr>
              <a:t> High level numeracy skills to:</a:t>
            </a:r>
          </a:p>
          <a:p>
            <a:pPr lvl="1">
              <a:buFont typeface="Arial" pitchFamily="34" charset="0"/>
              <a:buChar char="•"/>
            </a:pPr>
            <a:r>
              <a:rPr lang="en-AU" sz="1200" kern="1200" dirty="0" smtClean="0">
                <a:solidFill>
                  <a:schemeClr val="tx1"/>
                </a:solidFill>
                <a:latin typeface="+mn-lt"/>
                <a:ea typeface="+mn-ea"/>
                <a:cs typeface="+mn-cs"/>
              </a:rPr>
              <a:t> Calculate wastage issues and impacts on profitability</a:t>
            </a:r>
          </a:p>
          <a:p>
            <a:pPr lvl="1">
              <a:buFont typeface="Arial" pitchFamily="34" charset="0"/>
              <a:buChar char="•"/>
            </a:pPr>
            <a:r>
              <a:rPr lang="en-AU" sz="1200" kern="1200" dirty="0" smtClean="0">
                <a:solidFill>
                  <a:schemeClr val="tx1"/>
                </a:solidFill>
                <a:latin typeface="+mn-lt"/>
                <a:ea typeface="+mn-ea"/>
                <a:cs typeface="+mn-cs"/>
              </a:rPr>
              <a:t> Determine cost-benefit analyses</a:t>
            </a:r>
          </a:p>
          <a:p>
            <a:pPr lvl="1">
              <a:buFont typeface="Arial" pitchFamily="34" charset="0"/>
              <a:buChar char="•"/>
            </a:pPr>
            <a:r>
              <a:rPr lang="en-AU" sz="1200" kern="1200" dirty="0" smtClean="0">
                <a:solidFill>
                  <a:schemeClr val="tx1"/>
                </a:solidFill>
                <a:latin typeface="+mn-lt"/>
                <a:ea typeface="+mn-ea"/>
                <a:cs typeface="+mn-cs"/>
              </a:rPr>
              <a:t> Review complex financial information </a:t>
            </a:r>
          </a:p>
          <a:p>
            <a:pPr lvl="1">
              <a:buFont typeface="Arial" pitchFamily="34" charset="0"/>
              <a:buChar char="•"/>
            </a:pPr>
            <a:r>
              <a:rPr lang="en-AU" sz="1200" kern="1200" dirty="0" smtClean="0">
                <a:solidFill>
                  <a:schemeClr val="tx1"/>
                </a:solidFill>
                <a:latin typeface="+mn-lt"/>
                <a:ea typeface="+mn-ea"/>
                <a:cs typeface="+mn-cs"/>
              </a:rPr>
              <a:t> Calculate costs of production and costs for installing a new system</a:t>
            </a:r>
          </a:p>
          <a:p>
            <a:pPr>
              <a:buFont typeface="Arial" pitchFamily="34" charset="0"/>
              <a:buChar char="•"/>
            </a:pPr>
            <a:r>
              <a:rPr lang="en-AU" sz="1200" kern="1200" dirty="0" smtClean="0">
                <a:solidFill>
                  <a:schemeClr val="tx1"/>
                </a:solidFill>
                <a:latin typeface="+mn-lt"/>
                <a:ea typeface="+mn-ea"/>
                <a:cs typeface="+mn-cs"/>
              </a:rPr>
              <a:t> Planning, self-management and organising skills – to: </a:t>
            </a:r>
          </a:p>
          <a:p>
            <a:pPr lvl="1">
              <a:buFont typeface="Arial" pitchFamily="34" charset="0"/>
              <a:buChar char="•"/>
            </a:pPr>
            <a:r>
              <a:rPr lang="en-AU" sz="1200" kern="1200" dirty="0" smtClean="0">
                <a:solidFill>
                  <a:schemeClr val="tx1"/>
                </a:solidFill>
                <a:latin typeface="+mn-lt"/>
                <a:ea typeface="+mn-ea"/>
                <a:cs typeface="+mn-cs"/>
              </a:rPr>
              <a:t> Access and sort information required to evaluate different catering systems</a:t>
            </a:r>
          </a:p>
          <a:p>
            <a:pPr lvl="1">
              <a:buFont typeface="Arial" pitchFamily="34" charset="0"/>
              <a:buChar char="•"/>
            </a:pPr>
            <a:r>
              <a:rPr lang="en-AU" sz="1200" kern="1200" dirty="0" smtClean="0">
                <a:solidFill>
                  <a:schemeClr val="tx1"/>
                </a:solidFill>
                <a:latin typeface="+mn-lt"/>
                <a:ea typeface="+mn-ea"/>
                <a:cs typeface="+mn-cs"/>
              </a:rPr>
              <a:t> Coordinate a timely and efficient selection process</a:t>
            </a:r>
          </a:p>
          <a:p>
            <a:pPr lvl="1">
              <a:buFont typeface="Arial" pitchFamily="34" charset="0"/>
              <a:buChar char="•"/>
            </a:pPr>
            <a:r>
              <a:rPr lang="en-AU" sz="1200" kern="1200" dirty="0" smtClean="0">
                <a:solidFill>
                  <a:schemeClr val="tx1"/>
                </a:solidFill>
                <a:latin typeface="+mn-lt"/>
                <a:ea typeface="+mn-ea"/>
                <a:cs typeface="+mn-cs"/>
              </a:rPr>
              <a:t> Organise personal work and research efforts</a:t>
            </a:r>
          </a:p>
          <a:p>
            <a:pPr>
              <a:buFont typeface="Arial" pitchFamily="34" charset="0"/>
              <a:buChar char="•"/>
            </a:pPr>
            <a:r>
              <a:rPr lang="en-AU" sz="1200" kern="1200" dirty="0" smtClean="0">
                <a:solidFill>
                  <a:schemeClr val="tx1"/>
                </a:solidFill>
                <a:latin typeface="+mn-lt"/>
                <a:ea typeface="+mn-ea"/>
                <a:cs typeface="+mn-cs"/>
              </a:rPr>
              <a:t> Problem-solving skills – to: </a:t>
            </a:r>
          </a:p>
          <a:p>
            <a:pPr lvl="1">
              <a:buFont typeface="Arial" pitchFamily="34" charset="0"/>
              <a:buChar char="•"/>
            </a:pPr>
            <a:r>
              <a:rPr lang="en-AU" sz="1200" kern="1200" dirty="0" smtClean="0">
                <a:solidFill>
                  <a:schemeClr val="tx1"/>
                </a:solidFill>
                <a:latin typeface="+mn-lt"/>
                <a:ea typeface="+mn-ea"/>
                <a:cs typeface="+mn-cs"/>
              </a:rPr>
              <a:t> Identify organisational operational constraints </a:t>
            </a:r>
          </a:p>
          <a:p>
            <a:pPr lvl="1">
              <a:buFont typeface="Arial" pitchFamily="34" charset="0"/>
              <a:buChar char="•"/>
            </a:pPr>
            <a:r>
              <a:rPr lang="en-AU" sz="1200" kern="1200" dirty="0" smtClean="0">
                <a:solidFill>
                  <a:schemeClr val="tx1"/>
                </a:solidFill>
                <a:latin typeface="+mn-lt"/>
                <a:ea typeface="+mn-ea"/>
                <a:cs typeface="+mn-cs"/>
              </a:rPr>
              <a:t> Select a system which complements operations</a:t>
            </a:r>
          </a:p>
          <a:p>
            <a:pPr>
              <a:buFont typeface="Arial" pitchFamily="34" charset="0"/>
              <a:buChar char="•"/>
            </a:pPr>
            <a:r>
              <a:rPr lang="en-AU" sz="1200" kern="1200" dirty="0" smtClean="0">
                <a:solidFill>
                  <a:schemeClr val="tx1"/>
                </a:solidFill>
                <a:latin typeface="+mn-lt"/>
                <a:ea typeface="+mn-ea"/>
                <a:cs typeface="+mn-cs"/>
              </a:rPr>
              <a:t> Teamwork and interpersonal skills – to: </a:t>
            </a:r>
          </a:p>
          <a:p>
            <a:pPr lvl="1">
              <a:buFont typeface="Arial" pitchFamily="34" charset="0"/>
              <a:buChar char="•"/>
            </a:pPr>
            <a:r>
              <a:rPr lang="en-AU" sz="1200" kern="1200" dirty="0" smtClean="0">
                <a:solidFill>
                  <a:schemeClr val="tx1"/>
                </a:solidFill>
                <a:latin typeface="+mn-lt"/>
                <a:ea typeface="+mn-ea"/>
                <a:cs typeface="+mn-cs"/>
              </a:rPr>
              <a:t> Invite and coordinate the input of others in the organization</a:t>
            </a:r>
          </a:p>
          <a:p>
            <a:pPr lvl="1">
              <a:buFont typeface="Arial" pitchFamily="34" charset="0"/>
              <a:buChar char="•"/>
            </a:pPr>
            <a:r>
              <a:rPr lang="en-AU" sz="1200" kern="1200" dirty="0" smtClean="0">
                <a:solidFill>
                  <a:schemeClr val="tx1"/>
                </a:solidFill>
                <a:latin typeface="+mn-lt"/>
                <a:ea typeface="+mn-ea"/>
                <a:cs typeface="+mn-cs"/>
              </a:rPr>
              <a:t> Facilitate liaison</a:t>
            </a:r>
          </a:p>
          <a:p>
            <a:pPr lvl="1">
              <a:buFont typeface="Arial" pitchFamily="34" charset="0"/>
              <a:buChar char="•"/>
            </a:pPr>
            <a:r>
              <a:rPr lang="en-AU" sz="1200" kern="1200" dirty="0" smtClean="0">
                <a:solidFill>
                  <a:schemeClr val="tx1"/>
                </a:solidFill>
                <a:latin typeface="+mn-lt"/>
                <a:ea typeface="+mn-ea"/>
                <a:cs typeface="+mn-cs"/>
              </a:rPr>
              <a:t> Encourage contributions from, and engagement with, others</a:t>
            </a:r>
          </a:p>
          <a:p>
            <a:pPr>
              <a:buFont typeface="Arial" pitchFamily="34" charset="0"/>
              <a:buChar char="•"/>
            </a:pPr>
            <a:r>
              <a:rPr lang="en-AU" sz="1200" kern="1200" dirty="0" smtClean="0">
                <a:solidFill>
                  <a:schemeClr val="tx1"/>
                </a:solidFill>
                <a:latin typeface="+mn-lt"/>
                <a:ea typeface="+mn-ea"/>
                <a:cs typeface="+mn-cs"/>
              </a:rPr>
              <a:t> Communication skills – to:</a:t>
            </a:r>
          </a:p>
          <a:p>
            <a:pPr lvl="1">
              <a:buFont typeface="Arial" pitchFamily="34" charset="0"/>
              <a:buChar char="•"/>
            </a:pPr>
            <a:r>
              <a:rPr lang="en-AU" sz="1200" kern="1200" dirty="0" smtClean="0">
                <a:solidFill>
                  <a:schemeClr val="tx1"/>
                </a:solidFill>
                <a:latin typeface="+mn-lt"/>
                <a:ea typeface="+mn-ea"/>
                <a:cs typeface="+mn-cs"/>
              </a:rPr>
              <a:t> Enable questioning of others</a:t>
            </a:r>
          </a:p>
          <a:p>
            <a:pPr lvl="1">
              <a:buFont typeface="Arial" pitchFamily="34" charset="0"/>
              <a:buChar char="•"/>
            </a:pPr>
            <a:r>
              <a:rPr lang="en-AU" sz="1200" kern="1200" dirty="0" smtClean="0">
                <a:solidFill>
                  <a:schemeClr val="tx1"/>
                </a:solidFill>
                <a:latin typeface="+mn-lt"/>
                <a:ea typeface="+mn-ea"/>
                <a:cs typeface="+mn-cs"/>
              </a:rPr>
              <a:t> Facilitate exchange of ideas and information</a:t>
            </a:r>
          </a:p>
          <a:p>
            <a:pPr>
              <a:buFont typeface="Arial" pitchFamily="34" charset="0"/>
              <a:buChar char="•"/>
            </a:pPr>
            <a:r>
              <a:rPr lang="en-AU" sz="1200" kern="1200" dirty="0" smtClean="0">
                <a:solidFill>
                  <a:schemeClr val="tx1"/>
                </a:solidFill>
                <a:latin typeface="+mn-lt"/>
                <a:ea typeface="+mn-ea"/>
                <a:cs typeface="+mn-cs"/>
              </a:rPr>
              <a:t> Research skills – to: </a:t>
            </a:r>
          </a:p>
          <a:p>
            <a:pPr lvl="1">
              <a:buFont typeface="Arial" pitchFamily="34" charset="0"/>
              <a:buChar char="•"/>
            </a:pPr>
            <a:r>
              <a:rPr lang="en-AU" sz="1200" kern="1200" dirty="0" smtClean="0">
                <a:solidFill>
                  <a:schemeClr val="tx1"/>
                </a:solidFill>
                <a:latin typeface="+mn-lt"/>
                <a:ea typeface="+mn-ea"/>
                <a:cs typeface="+mn-cs"/>
              </a:rPr>
              <a:t> Investigate relevant topics</a:t>
            </a:r>
          </a:p>
          <a:p>
            <a:pPr lvl="1">
              <a:buFont typeface="Arial" pitchFamily="34" charset="0"/>
              <a:buChar char="•"/>
            </a:pPr>
            <a:r>
              <a:rPr lang="en-AU" sz="1200" kern="1200" dirty="0" smtClean="0">
                <a:solidFill>
                  <a:schemeClr val="tx1"/>
                </a:solidFill>
                <a:latin typeface="+mn-lt"/>
                <a:ea typeface="+mn-ea"/>
                <a:cs typeface="+mn-cs"/>
              </a:rPr>
              <a:t> Capture information</a:t>
            </a:r>
          </a:p>
          <a:p>
            <a:pPr lvl="1">
              <a:buFont typeface="Arial" pitchFamily="34" charset="0"/>
              <a:buChar char="•"/>
            </a:pPr>
            <a:r>
              <a:rPr lang="en-AU" sz="1200" kern="1200" dirty="0" smtClean="0">
                <a:solidFill>
                  <a:schemeClr val="tx1"/>
                </a:solidFill>
                <a:latin typeface="+mn-lt"/>
                <a:ea typeface="+mn-ea"/>
                <a:cs typeface="+mn-cs"/>
              </a:rPr>
              <a:t> Follow-up information as required.</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foundation knowledge required by those who are charged with selecting catering systems:</a:t>
            </a:r>
          </a:p>
          <a:p>
            <a:pPr>
              <a:buFont typeface="Arial" pitchFamily="34" charset="0"/>
              <a:buChar char="•"/>
            </a:pPr>
            <a:r>
              <a:rPr lang="en-AU" sz="1200" kern="1200" dirty="0" smtClean="0">
                <a:solidFill>
                  <a:schemeClr val="tx1"/>
                </a:solidFill>
                <a:latin typeface="+mn-lt"/>
                <a:ea typeface="+mn-ea"/>
                <a:cs typeface="+mn-cs"/>
              </a:rPr>
              <a:t> Methods of cookery – for all major food types, including preserved and packaged foods for various types of hospitality and catering organisations </a:t>
            </a:r>
          </a:p>
          <a:p>
            <a:pPr>
              <a:buFont typeface="Arial" pitchFamily="34" charset="0"/>
              <a:buChar char="•"/>
            </a:pPr>
            <a:r>
              <a:rPr lang="en-AU" sz="1200" kern="1200" dirty="0" smtClean="0">
                <a:solidFill>
                  <a:schemeClr val="tx1"/>
                </a:solidFill>
                <a:latin typeface="+mn-lt"/>
                <a:ea typeface="+mn-ea"/>
                <a:cs typeface="+mn-cs"/>
              </a:rPr>
              <a:t> Comprehensive details of all food production processes – see Class Activity below</a:t>
            </a:r>
          </a:p>
          <a:p>
            <a:pPr>
              <a:buFont typeface="Arial" pitchFamily="34" charset="0"/>
              <a:buChar char="•"/>
            </a:pPr>
            <a:r>
              <a:rPr lang="en-AU" sz="1200" kern="1200" dirty="0" smtClean="0">
                <a:solidFill>
                  <a:schemeClr val="tx1"/>
                </a:solidFill>
                <a:latin typeface="+mn-lt"/>
                <a:ea typeface="+mn-ea"/>
                <a:cs typeface="+mn-cs"/>
              </a:rPr>
              <a:t>Hazard and Critical Control Points (HACCP) – with reference to:</a:t>
            </a:r>
          </a:p>
          <a:p>
            <a:pPr lvl="1">
              <a:buFont typeface="Arial" pitchFamily="34" charset="0"/>
              <a:buChar char="•"/>
            </a:pPr>
            <a:r>
              <a:rPr lang="en-AU" sz="1200" kern="1200" dirty="0" smtClean="0">
                <a:solidFill>
                  <a:schemeClr val="tx1"/>
                </a:solidFill>
                <a:latin typeface="+mn-lt"/>
                <a:ea typeface="+mn-ea"/>
                <a:cs typeface="+mn-cs"/>
              </a:rPr>
              <a:t> General principles and practices</a:t>
            </a:r>
          </a:p>
          <a:p>
            <a:pPr lvl="1">
              <a:buFont typeface="Arial" pitchFamily="34" charset="0"/>
              <a:buChar char="•"/>
            </a:pPr>
            <a:r>
              <a:rPr lang="en-AU" sz="1200" kern="1200" dirty="0" smtClean="0">
                <a:solidFill>
                  <a:schemeClr val="tx1"/>
                </a:solidFill>
                <a:latin typeface="+mn-lt"/>
                <a:ea typeface="+mn-ea"/>
                <a:cs typeface="+mn-cs"/>
              </a:rPr>
              <a:t> Specific requirements of the Food Safety Plan/Program (FSP) as it applies to the host venue/kitchens</a:t>
            </a:r>
          </a:p>
          <a:p>
            <a:pPr>
              <a:buFont typeface="Arial" pitchFamily="34" charset="0"/>
              <a:buNone/>
            </a:pPr>
            <a:endParaRPr lang="en-US" dirty="0" smtClean="0"/>
          </a:p>
          <a:p>
            <a:pPr>
              <a:buFont typeface="Arial" pitchFamily="34" charset="0"/>
              <a:buNone/>
            </a:pPr>
            <a:r>
              <a:rPr lang="en-US" b="1" dirty="0" smtClean="0"/>
              <a:t>Class Activity – Question and Answer</a:t>
            </a:r>
          </a:p>
          <a:p>
            <a:pPr>
              <a:buFont typeface="Arial" pitchFamily="34" charset="0"/>
              <a:buNone/>
            </a:pPr>
            <a:r>
              <a:rPr lang="en-US" b="0" dirty="0" smtClean="0"/>
              <a:t>Trainer asks students to identify stages in the food production process.</a:t>
            </a:r>
          </a:p>
          <a:p>
            <a:pPr>
              <a:buFont typeface="Arial" pitchFamily="34" charset="0"/>
              <a:buNone/>
            </a:pPr>
            <a:r>
              <a:rPr lang="en-US" b="1" i="1" dirty="0" smtClean="0"/>
              <a:t>Suggested</a:t>
            </a:r>
            <a:r>
              <a:rPr lang="en-US" b="1" i="1" baseline="0" dirty="0" smtClean="0"/>
              <a:t> answers</a:t>
            </a:r>
          </a:p>
          <a:p>
            <a:pPr>
              <a:buFont typeface="Arial" pitchFamily="34" charset="0"/>
              <a:buChar char="•"/>
            </a:pPr>
            <a:r>
              <a:rPr lang="en-AU" sz="1200" kern="1200" dirty="0" smtClean="0">
                <a:solidFill>
                  <a:schemeClr val="tx1"/>
                </a:solidFill>
                <a:latin typeface="+mn-lt"/>
                <a:ea typeface="+mn-ea"/>
                <a:cs typeface="+mn-cs"/>
              </a:rPr>
              <a:t> Receiving – of food into the premises</a:t>
            </a:r>
          </a:p>
          <a:p>
            <a:pPr>
              <a:buFont typeface="Arial" pitchFamily="34" charset="0"/>
              <a:buChar char="•"/>
            </a:pPr>
            <a:r>
              <a:rPr lang="en-AU" sz="1200" kern="1200" dirty="0" smtClean="0">
                <a:solidFill>
                  <a:schemeClr val="tx1"/>
                </a:solidFill>
                <a:latin typeface="+mn-lt"/>
                <a:ea typeface="+mn-ea"/>
                <a:cs typeface="+mn-cs"/>
              </a:rPr>
              <a:t> Undertaking </a:t>
            </a:r>
            <a:r>
              <a:rPr lang="en-AU" sz="1200" i="1" kern="1200" dirty="0" smtClean="0">
                <a:solidFill>
                  <a:schemeClr val="tx1"/>
                </a:solidFill>
                <a:latin typeface="+mn-lt"/>
                <a:ea typeface="+mn-ea"/>
                <a:cs typeface="+mn-cs"/>
              </a:rPr>
              <a:t>mise en place</a:t>
            </a:r>
            <a:r>
              <a:rPr lang="en-AU" sz="1200" kern="1200" dirty="0" smtClean="0">
                <a:solidFill>
                  <a:schemeClr val="tx1"/>
                </a:solidFill>
                <a:latin typeface="+mn-lt"/>
                <a:ea typeface="+mn-ea"/>
                <a:cs typeface="+mn-cs"/>
              </a:rPr>
              <a:t> – organisation of ingredients and equipment/utensils prior to preparing/producing food</a:t>
            </a:r>
          </a:p>
          <a:p>
            <a:pPr>
              <a:buFont typeface="Arial" pitchFamily="34" charset="0"/>
              <a:buChar char="•"/>
            </a:pPr>
            <a:r>
              <a:rPr lang="en-AU" sz="1200" kern="1200" dirty="0" smtClean="0">
                <a:solidFill>
                  <a:schemeClr val="tx1"/>
                </a:solidFill>
                <a:latin typeface="+mn-lt"/>
                <a:ea typeface="+mn-ea"/>
                <a:cs typeface="+mn-cs"/>
              </a:rPr>
              <a:t> Preparing food – ready for cooking/processing</a:t>
            </a:r>
          </a:p>
          <a:p>
            <a:pPr>
              <a:buFont typeface="Arial" pitchFamily="34" charset="0"/>
              <a:buChar char="•"/>
            </a:pPr>
            <a:r>
              <a:rPr lang="en-AU" sz="1200" kern="1200" dirty="0" smtClean="0">
                <a:solidFill>
                  <a:schemeClr val="tx1"/>
                </a:solidFill>
                <a:latin typeface="+mn-lt"/>
                <a:ea typeface="+mn-ea"/>
                <a:cs typeface="+mn-cs"/>
              </a:rPr>
              <a:t> Cooking – the application of a variety of cooking options to produce menu items</a:t>
            </a:r>
          </a:p>
          <a:p>
            <a:pPr>
              <a:buFont typeface="Arial" pitchFamily="34" charset="0"/>
              <a:buChar char="•"/>
            </a:pPr>
            <a:r>
              <a:rPr lang="en-AU" sz="1200" kern="1200" dirty="0" smtClean="0">
                <a:solidFill>
                  <a:schemeClr val="tx1"/>
                </a:solidFill>
                <a:latin typeface="+mn-lt"/>
                <a:ea typeface="+mn-ea"/>
                <a:cs typeface="+mn-cs"/>
              </a:rPr>
              <a:t> Post-cooking storage – of foods for service, display and refrigerated or frozen storage for later use</a:t>
            </a:r>
          </a:p>
          <a:p>
            <a:pPr>
              <a:buFont typeface="Arial" pitchFamily="34" charset="0"/>
              <a:buChar char="•"/>
            </a:pPr>
            <a:r>
              <a:rPr lang="en-AU" sz="1200" kern="1200" dirty="0" smtClean="0">
                <a:solidFill>
                  <a:schemeClr val="tx1"/>
                </a:solidFill>
                <a:latin typeface="+mn-lt"/>
                <a:ea typeface="+mn-ea"/>
                <a:cs typeface="+mn-cs"/>
              </a:rPr>
              <a:t> Reconstituting foods – returning (for example) dehydrated or concentrated food to usable condition, or its natural/original state</a:t>
            </a:r>
          </a:p>
          <a:p>
            <a:pPr>
              <a:buFont typeface="Arial" pitchFamily="34" charset="0"/>
              <a:buChar char="•"/>
            </a:pPr>
            <a:r>
              <a:rPr lang="en-AU" sz="1200" kern="1200" dirty="0" smtClean="0">
                <a:solidFill>
                  <a:schemeClr val="tx1"/>
                </a:solidFill>
                <a:latin typeface="+mn-lt"/>
                <a:ea typeface="+mn-ea"/>
                <a:cs typeface="+mn-cs"/>
              </a:rPr>
              <a:t> Re-heating of previously cooked food – referred to as ‘re-thermalisation’ </a:t>
            </a:r>
          </a:p>
          <a:p>
            <a:pPr>
              <a:buFont typeface="Arial" pitchFamily="34" charset="0"/>
              <a:buChar char="•"/>
            </a:pPr>
            <a:r>
              <a:rPr lang="en-AU" sz="1200" kern="1200" dirty="0" smtClean="0">
                <a:solidFill>
                  <a:schemeClr val="tx1"/>
                </a:solidFill>
                <a:latin typeface="+mn-lt"/>
                <a:ea typeface="+mn-ea"/>
                <a:cs typeface="+mn-cs"/>
              </a:rPr>
              <a:t> Serving food – for internal/on-site eating and/or for take-away consumption</a:t>
            </a:r>
          </a:p>
          <a:p>
            <a:pPr>
              <a:buFont typeface="Arial" pitchFamily="34" charset="0"/>
              <a:buNone/>
            </a:pPr>
            <a:endParaRPr lang="en-US" b="1" i="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identifying foundation knowledge required by those who are charged with selecting catering systems:</a:t>
            </a:r>
          </a:p>
          <a:p>
            <a:pPr>
              <a:buFont typeface="Arial" pitchFamily="34" charset="0"/>
              <a:buChar char="•"/>
            </a:pPr>
            <a:r>
              <a:rPr lang="en-AU" sz="1200" kern="1200" dirty="0" smtClean="0">
                <a:solidFill>
                  <a:schemeClr val="tx1"/>
                </a:solidFill>
                <a:latin typeface="+mn-lt"/>
                <a:ea typeface="+mn-ea"/>
                <a:cs typeface="+mn-cs"/>
              </a:rPr>
              <a:t> Culinary terms – commonly used in the industry related to food production systems</a:t>
            </a:r>
          </a:p>
          <a:p>
            <a:pPr>
              <a:buFont typeface="Arial" pitchFamily="34" charset="0"/>
              <a:buChar char="•"/>
            </a:pPr>
            <a:r>
              <a:rPr lang="en-AU" sz="1200" kern="1200" dirty="0" smtClean="0">
                <a:solidFill>
                  <a:schemeClr val="tx1"/>
                </a:solidFill>
                <a:latin typeface="+mn-lt"/>
                <a:ea typeface="+mn-ea"/>
                <a:cs typeface="+mn-cs"/>
              </a:rPr>
              <a:t> Costing, yield testing and portion control in quantity food production</a:t>
            </a:r>
          </a:p>
          <a:p>
            <a:pPr>
              <a:buFont typeface="Arial" pitchFamily="34" charset="0"/>
              <a:buChar char="•"/>
            </a:pPr>
            <a:r>
              <a:rPr lang="en-AU" sz="1200" kern="1200" dirty="0" smtClean="0">
                <a:solidFill>
                  <a:schemeClr val="tx1"/>
                </a:solidFill>
                <a:latin typeface="+mn-lt"/>
                <a:ea typeface="+mn-ea"/>
                <a:cs typeface="+mn-cs"/>
              </a:rPr>
              <a:t> Nutritional knowledge – as applicable to: </a:t>
            </a:r>
          </a:p>
          <a:p>
            <a:pPr lvl="1">
              <a:buFont typeface="Arial" pitchFamily="34" charset="0"/>
              <a:buChar char="•"/>
            </a:pPr>
            <a:r>
              <a:rPr lang="en-AU" sz="1200" kern="1200" dirty="0" smtClean="0">
                <a:solidFill>
                  <a:schemeClr val="tx1"/>
                </a:solidFill>
                <a:latin typeface="+mn-lt"/>
                <a:ea typeface="+mn-ea"/>
                <a:cs typeface="+mn-cs"/>
              </a:rPr>
              <a:t> General food stuffs</a:t>
            </a:r>
          </a:p>
          <a:p>
            <a:pPr lvl="1">
              <a:buFont typeface="Arial" pitchFamily="34" charset="0"/>
              <a:buChar char="•"/>
            </a:pPr>
            <a:r>
              <a:rPr lang="en-AU" sz="1200" kern="1200" dirty="0" smtClean="0">
                <a:solidFill>
                  <a:schemeClr val="tx1"/>
                </a:solidFill>
                <a:latin typeface="+mn-lt"/>
                <a:ea typeface="+mn-ea"/>
                <a:cs typeface="+mn-cs"/>
              </a:rPr>
              <a:t> Specific needs of the workplace for identified customer/target groups</a:t>
            </a:r>
          </a:p>
          <a:p>
            <a:pPr>
              <a:buFont typeface="Arial" pitchFamily="34" charset="0"/>
              <a:buChar char="•"/>
            </a:pPr>
            <a:r>
              <a:rPr lang="en-AU" sz="1200" kern="1200" dirty="0" smtClean="0">
                <a:solidFill>
                  <a:schemeClr val="tx1"/>
                </a:solidFill>
                <a:latin typeface="+mn-lt"/>
                <a:ea typeface="+mn-ea"/>
                <a:cs typeface="+mn-cs"/>
              </a:rPr>
              <a:t> Local/host country legislation – as it applies to:</a:t>
            </a:r>
          </a:p>
          <a:p>
            <a:pPr lvl="1">
              <a:buFont typeface="Arial" pitchFamily="34" charset="0"/>
              <a:buChar char="•"/>
            </a:pPr>
            <a:r>
              <a:rPr lang="en-AU" sz="1200" kern="1200" dirty="0" smtClean="0">
                <a:solidFill>
                  <a:schemeClr val="tx1"/>
                </a:solidFill>
                <a:latin typeface="+mn-lt"/>
                <a:ea typeface="+mn-ea"/>
                <a:cs typeface="+mn-cs"/>
              </a:rPr>
              <a:t> Food handling and food safety</a:t>
            </a:r>
          </a:p>
          <a:p>
            <a:pPr lvl="1">
              <a:buFont typeface="Arial" pitchFamily="34" charset="0"/>
              <a:buChar char="•"/>
            </a:pPr>
            <a:r>
              <a:rPr lang="en-AU" sz="1200" kern="1200" dirty="0" smtClean="0">
                <a:solidFill>
                  <a:schemeClr val="tx1"/>
                </a:solidFill>
                <a:latin typeface="+mn-lt"/>
                <a:ea typeface="+mn-ea"/>
                <a:cs typeface="+mn-cs"/>
              </a:rPr>
              <a:t> Workplace safety and health</a:t>
            </a:r>
          </a:p>
          <a:p>
            <a:pPr lvl="1">
              <a:buFont typeface="Arial" pitchFamily="34" charset="0"/>
              <a:buChar char="•"/>
            </a:pPr>
            <a:r>
              <a:rPr lang="en-AU" sz="1200" kern="1200" dirty="0" smtClean="0">
                <a:solidFill>
                  <a:schemeClr val="tx1"/>
                </a:solidFill>
                <a:latin typeface="+mn-lt"/>
                <a:ea typeface="+mn-ea"/>
                <a:cs typeface="+mn-cs"/>
              </a:rPr>
              <a:t> Industrial relations.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a:t>
            </a:r>
            <a:r>
              <a:rPr lang="en-AU" sz="1200" kern="1200" dirty="0" smtClean="0">
                <a:solidFill>
                  <a:schemeClr val="tx1"/>
                </a:solidFill>
                <a:latin typeface="+mn-lt"/>
                <a:ea typeface="+mn-ea"/>
                <a:cs typeface="+mn-cs"/>
              </a:rPr>
              <a:t>‘Research methods’ refers to ways in which to obtain the necessary information/data required to:</a:t>
            </a:r>
          </a:p>
          <a:p>
            <a:pPr>
              <a:buFont typeface="Arial" pitchFamily="34" charset="0"/>
              <a:buChar char="•"/>
            </a:pPr>
            <a:r>
              <a:rPr lang="en-AU" sz="1200" kern="1200" dirty="0" smtClean="0">
                <a:solidFill>
                  <a:schemeClr val="tx1"/>
                </a:solidFill>
                <a:latin typeface="+mn-lt"/>
                <a:ea typeface="+mn-ea"/>
                <a:cs typeface="+mn-cs"/>
              </a:rPr>
              <a:t> Learn about catering system options</a:t>
            </a:r>
          </a:p>
          <a:p>
            <a:pPr>
              <a:buFont typeface="Arial" pitchFamily="34" charset="0"/>
              <a:buChar char="•"/>
            </a:pPr>
            <a:r>
              <a:rPr lang="en-AU" sz="1200" kern="1200" dirty="0" smtClean="0">
                <a:solidFill>
                  <a:schemeClr val="tx1"/>
                </a:solidFill>
                <a:latin typeface="+mn-lt"/>
                <a:ea typeface="+mn-ea"/>
                <a:cs typeface="+mn-cs"/>
              </a:rPr>
              <a:t> Analyse/evaluate the options available</a:t>
            </a:r>
          </a:p>
          <a:p>
            <a:pPr>
              <a:buFont typeface="Arial" pitchFamily="34" charset="0"/>
              <a:buChar char="•"/>
            </a:pPr>
            <a:r>
              <a:rPr lang="en-AU" sz="1200" kern="1200" dirty="0" smtClean="0">
                <a:solidFill>
                  <a:schemeClr val="tx1"/>
                </a:solidFill>
                <a:latin typeface="+mn-lt"/>
                <a:ea typeface="+mn-ea"/>
                <a:cs typeface="+mn-cs"/>
              </a:rPr>
              <a:t> Decide on the best system to meet the identified needs/requirements of your operation.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examples of research methods:</a:t>
            </a:r>
          </a:p>
          <a:p>
            <a:pPr>
              <a:buFont typeface="Arial" pitchFamily="34" charset="0"/>
              <a:buChar char="•"/>
            </a:pPr>
            <a:r>
              <a:rPr lang="en-AU" sz="1200" kern="1200" dirty="0" smtClean="0">
                <a:solidFill>
                  <a:schemeClr val="tx1"/>
                </a:solidFill>
                <a:latin typeface="+mn-lt"/>
                <a:ea typeface="+mn-ea"/>
                <a:cs typeface="+mn-cs"/>
              </a:rPr>
              <a:t> Meeting with management of the venue – to:</a:t>
            </a:r>
          </a:p>
          <a:p>
            <a:pPr lvl="1">
              <a:buFont typeface="Arial" pitchFamily="34" charset="0"/>
              <a:buChar char="•"/>
            </a:pPr>
            <a:r>
              <a:rPr lang="en-AU" sz="1200" kern="1200" dirty="0" smtClean="0">
                <a:solidFill>
                  <a:schemeClr val="tx1"/>
                </a:solidFill>
                <a:latin typeface="+mn-lt"/>
                <a:ea typeface="+mn-ea"/>
                <a:cs typeface="+mn-cs"/>
              </a:rPr>
              <a:t> Confirm need for the process to select a catering system – and obtain necessary authorisations to proceed with the research</a:t>
            </a:r>
          </a:p>
          <a:p>
            <a:pPr lvl="1">
              <a:buFont typeface="Arial" pitchFamily="34" charset="0"/>
              <a:buChar char="•"/>
            </a:pPr>
            <a:r>
              <a:rPr lang="en-AU" sz="1200" kern="1200" dirty="0" smtClean="0">
                <a:solidFill>
                  <a:schemeClr val="tx1"/>
                </a:solidFill>
                <a:latin typeface="+mn-lt"/>
                <a:ea typeface="+mn-ea"/>
                <a:cs typeface="+mn-cs"/>
              </a:rPr>
              <a:t> Identify plans they have for the future direction of the business – which are likely to impact the selection of a catering system.</a:t>
            </a:r>
          </a:p>
          <a:p>
            <a:pPr lvl="1">
              <a:buFont typeface="Arial" pitchFamily="34" charset="0"/>
              <a:buChar char="•"/>
            </a:pPr>
            <a:r>
              <a:rPr lang="en-AU" sz="1200" kern="1200" dirty="0" smtClean="0">
                <a:solidFill>
                  <a:schemeClr val="tx1"/>
                </a:solidFill>
                <a:latin typeface="+mn-lt"/>
                <a:ea typeface="+mn-ea"/>
                <a:cs typeface="+mn-cs"/>
              </a:rPr>
              <a:t> Future directions which may influence a decision could include:</a:t>
            </a:r>
          </a:p>
          <a:p>
            <a:pPr lvl="1">
              <a:buFont typeface="Arial" pitchFamily="34" charset="0"/>
              <a:buChar char="•"/>
            </a:pPr>
            <a:r>
              <a:rPr lang="en-AU" sz="1200" kern="1200" dirty="0" smtClean="0">
                <a:solidFill>
                  <a:schemeClr val="tx1"/>
                </a:solidFill>
                <a:latin typeface="+mn-lt"/>
                <a:ea typeface="+mn-ea"/>
                <a:cs typeface="+mn-cs"/>
              </a:rPr>
              <a:t> Plans for expansion or contraction of the business</a:t>
            </a:r>
          </a:p>
          <a:p>
            <a:pPr lvl="1">
              <a:buFont typeface="Arial" pitchFamily="34" charset="0"/>
              <a:buChar char="•"/>
            </a:pPr>
            <a:r>
              <a:rPr lang="en-AU" sz="1200" kern="1200" dirty="0" smtClean="0">
                <a:solidFill>
                  <a:schemeClr val="tx1"/>
                </a:solidFill>
                <a:latin typeface="+mn-lt"/>
                <a:ea typeface="+mn-ea"/>
                <a:cs typeface="+mn-cs"/>
              </a:rPr>
              <a:t> Plans to focus on an a new/different target market</a:t>
            </a:r>
          </a:p>
          <a:p>
            <a:pPr lvl="1">
              <a:buFont typeface="Arial" pitchFamily="34" charset="0"/>
              <a:buChar char="•"/>
            </a:pPr>
            <a:r>
              <a:rPr lang="en-AU" sz="1200" kern="1200" dirty="0" smtClean="0">
                <a:solidFill>
                  <a:schemeClr val="tx1"/>
                </a:solidFill>
                <a:latin typeface="+mn-lt"/>
                <a:ea typeface="+mn-ea"/>
                <a:cs typeface="+mn-cs"/>
              </a:rPr>
              <a:t> Plans to re-position the venue in the marketplace</a:t>
            </a:r>
          </a:p>
          <a:p>
            <a:pPr lvl="1">
              <a:buFont typeface="Arial" pitchFamily="34" charset="0"/>
              <a:buChar char="•"/>
            </a:pPr>
            <a:r>
              <a:rPr lang="en-AU" sz="1200" kern="1200" dirty="0" smtClean="0">
                <a:solidFill>
                  <a:schemeClr val="tx1"/>
                </a:solidFill>
                <a:latin typeface="+mn-lt"/>
                <a:ea typeface="+mn-ea"/>
                <a:cs typeface="+mn-cs"/>
              </a:rPr>
              <a:t> Plans to reduce or increase staff levels</a:t>
            </a:r>
          </a:p>
          <a:p>
            <a:pPr lvl="1">
              <a:buFont typeface="Arial" pitchFamily="34" charset="0"/>
              <a:buChar char="•"/>
            </a:pPr>
            <a:r>
              <a:rPr lang="en-AU" sz="1200" kern="1200" dirty="0" smtClean="0">
                <a:solidFill>
                  <a:schemeClr val="tx1"/>
                </a:solidFill>
                <a:latin typeface="+mn-lt"/>
                <a:ea typeface="+mn-ea"/>
                <a:cs typeface="+mn-cs"/>
              </a:rPr>
              <a:t> Identify operational and acquisition constraints you are expected to operate under – see section 1.2</a:t>
            </a:r>
          </a:p>
          <a:p>
            <a:pPr>
              <a:buFont typeface="Arial" pitchFamily="34" charset="0"/>
              <a:buChar char="•"/>
            </a:pPr>
            <a:r>
              <a:rPr lang="en-AU" sz="1200" kern="1200" dirty="0" smtClean="0">
                <a:solidFill>
                  <a:schemeClr val="tx1"/>
                </a:solidFill>
                <a:latin typeface="+mn-lt"/>
                <a:ea typeface="+mn-ea"/>
                <a:cs typeface="+mn-cs"/>
              </a:rPr>
              <a:t> Assessing published information on different catering systems – by:</a:t>
            </a:r>
          </a:p>
          <a:p>
            <a:pPr lvl="1">
              <a:buFont typeface="Arial" pitchFamily="34" charset="0"/>
              <a:buChar char="•"/>
            </a:pPr>
            <a:r>
              <a:rPr lang="en-AU" sz="1200" kern="1200" dirty="0" smtClean="0">
                <a:solidFill>
                  <a:schemeClr val="tx1"/>
                </a:solidFill>
                <a:latin typeface="+mn-lt"/>
                <a:ea typeface="+mn-ea"/>
                <a:cs typeface="+mn-cs"/>
              </a:rPr>
              <a:t> Visiting relevant websites</a:t>
            </a:r>
          </a:p>
          <a:p>
            <a:pPr lvl="1">
              <a:buFont typeface="Arial" pitchFamily="34" charset="0"/>
              <a:buChar char="•"/>
            </a:pPr>
            <a:r>
              <a:rPr lang="en-AU" sz="1200" kern="1200" dirty="0" smtClean="0">
                <a:solidFill>
                  <a:schemeClr val="tx1"/>
                </a:solidFill>
                <a:latin typeface="+mn-lt"/>
                <a:ea typeface="+mn-ea"/>
                <a:cs typeface="+mn-cs"/>
              </a:rPr>
              <a:t> Reading relevant articles in industry magazines and journals</a:t>
            </a:r>
          </a:p>
          <a:p>
            <a:pPr lvl="1">
              <a:buFont typeface="Arial" pitchFamily="34" charset="0"/>
              <a:buChar char="•"/>
            </a:pPr>
            <a:r>
              <a:rPr lang="en-AU" sz="1200" kern="1200" dirty="0" smtClean="0">
                <a:solidFill>
                  <a:schemeClr val="tx1"/>
                </a:solidFill>
                <a:latin typeface="+mn-lt"/>
                <a:ea typeface="+mn-ea"/>
                <a:cs typeface="+mn-cs"/>
              </a:rPr>
              <a:t> Reading reports from industry peak bodies and relevant government agencies and authorities</a:t>
            </a:r>
          </a:p>
          <a:p>
            <a:pPr lvl="1">
              <a:buFont typeface="Arial" pitchFamily="34" charset="0"/>
              <a:buChar char="•"/>
            </a:pPr>
            <a:r>
              <a:rPr lang="en-AU" sz="1200" kern="1200" dirty="0" smtClean="0">
                <a:solidFill>
                  <a:schemeClr val="tx1"/>
                </a:solidFill>
                <a:latin typeface="+mn-lt"/>
                <a:ea typeface="+mn-ea"/>
                <a:cs typeface="+mn-cs"/>
              </a:rPr>
              <a:t> Reading product information brochures and equipment/system specifications</a:t>
            </a:r>
          </a:p>
          <a:p>
            <a:pPr>
              <a:buFont typeface="Arial" pitchFamily="34" charset="0"/>
              <a:buNone/>
            </a:pPr>
            <a:endParaRPr lang="en-US" dirty="0" smtClean="0"/>
          </a:p>
          <a:p>
            <a:pPr>
              <a:buFont typeface="Arial" pitchFamily="34" charset="0"/>
              <a:buNone/>
            </a:pPr>
            <a:r>
              <a:rPr lang="en-US" b="1" dirty="0" smtClean="0"/>
              <a:t>Class Activity – Handouts</a:t>
            </a:r>
          </a:p>
          <a:p>
            <a:pPr>
              <a:buFont typeface="Arial" pitchFamily="34" charset="0"/>
              <a:buNone/>
            </a:pPr>
            <a:r>
              <a:rPr lang="en-US" b="0" dirty="0" smtClean="0"/>
              <a:t>Trainer distributes and discusses sample articles</a:t>
            </a:r>
            <a:r>
              <a:rPr lang="en-US" b="0" baseline="0" dirty="0" smtClean="0"/>
              <a:t> and other printed materials on catering systems.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examples of research methods:</a:t>
            </a:r>
          </a:p>
          <a:p>
            <a:pPr>
              <a:buFont typeface="Arial" pitchFamily="34" charset="0"/>
              <a:buChar char="•"/>
            </a:pPr>
            <a:r>
              <a:rPr lang="en-AU" sz="1200" kern="1200" dirty="0" smtClean="0">
                <a:solidFill>
                  <a:schemeClr val="tx1"/>
                </a:solidFill>
                <a:latin typeface="+mn-lt"/>
                <a:ea typeface="+mn-ea"/>
                <a:cs typeface="+mn-cs"/>
              </a:rPr>
              <a:t> Communicating with suppliers of catering systems – and:</a:t>
            </a:r>
          </a:p>
          <a:p>
            <a:pPr lvl="1">
              <a:buFont typeface="Arial" pitchFamily="34" charset="0"/>
              <a:buChar char="•"/>
            </a:pPr>
            <a:r>
              <a:rPr lang="en-AU" sz="1200" kern="1200" dirty="0" smtClean="0">
                <a:solidFill>
                  <a:schemeClr val="tx1"/>
                </a:solidFill>
                <a:latin typeface="+mn-lt"/>
                <a:ea typeface="+mn-ea"/>
                <a:cs typeface="+mn-cs"/>
              </a:rPr>
              <a:t> Providing information about the business and its plans and operational requirements</a:t>
            </a:r>
          </a:p>
          <a:p>
            <a:pPr lvl="1">
              <a:buFont typeface="Arial" pitchFamily="34" charset="0"/>
              <a:buChar char="•"/>
            </a:pPr>
            <a:r>
              <a:rPr lang="en-AU" sz="1200" kern="1200" dirty="0" smtClean="0">
                <a:solidFill>
                  <a:schemeClr val="tx1"/>
                </a:solidFill>
                <a:latin typeface="+mn-lt"/>
                <a:ea typeface="+mn-ea"/>
                <a:cs typeface="+mn-cs"/>
              </a:rPr>
              <a:t> Seeking product/system information</a:t>
            </a:r>
          </a:p>
          <a:p>
            <a:pPr lvl="1">
              <a:buFont typeface="Arial" pitchFamily="34" charset="0"/>
              <a:buChar char="•"/>
            </a:pPr>
            <a:r>
              <a:rPr lang="en-AU" sz="1200" kern="1200" dirty="0" smtClean="0">
                <a:solidFill>
                  <a:schemeClr val="tx1"/>
                </a:solidFill>
                <a:latin typeface="+mn-lt"/>
                <a:ea typeface="+mn-ea"/>
                <a:cs typeface="+mn-cs"/>
              </a:rPr>
              <a:t> Determining options available – together with:</a:t>
            </a:r>
          </a:p>
          <a:p>
            <a:pPr lvl="2">
              <a:buFont typeface="Arial" pitchFamily="34" charset="0"/>
              <a:buChar char="•"/>
            </a:pPr>
            <a:r>
              <a:rPr lang="en-AU" sz="1200" kern="1200" dirty="0" smtClean="0">
                <a:solidFill>
                  <a:schemeClr val="tx1"/>
                </a:solidFill>
                <a:latin typeface="+mn-lt"/>
                <a:ea typeface="+mn-ea"/>
                <a:cs typeface="+mn-cs"/>
              </a:rPr>
              <a:t> Price</a:t>
            </a:r>
          </a:p>
          <a:p>
            <a:pPr lvl="2">
              <a:buFont typeface="Arial" pitchFamily="34" charset="0"/>
              <a:buChar char="•"/>
            </a:pPr>
            <a:r>
              <a:rPr lang="en-AU" sz="1200" kern="1200" dirty="0" smtClean="0">
                <a:solidFill>
                  <a:schemeClr val="tx1"/>
                </a:solidFill>
                <a:latin typeface="+mn-lt"/>
                <a:ea typeface="+mn-ea"/>
                <a:cs typeface="+mn-cs"/>
              </a:rPr>
              <a:t> Availability</a:t>
            </a:r>
          </a:p>
          <a:p>
            <a:pPr lvl="2">
              <a:buFont typeface="Arial" pitchFamily="34" charset="0"/>
              <a:buChar char="•"/>
            </a:pPr>
            <a:r>
              <a:rPr lang="en-AU" sz="1200" kern="1200" dirty="0" smtClean="0">
                <a:solidFill>
                  <a:schemeClr val="tx1"/>
                </a:solidFill>
                <a:latin typeface="+mn-lt"/>
                <a:ea typeface="+mn-ea"/>
                <a:cs typeface="+mn-cs"/>
              </a:rPr>
              <a:t> Capacity</a:t>
            </a:r>
          </a:p>
          <a:p>
            <a:pPr lvl="1">
              <a:buFont typeface="Arial" pitchFamily="34" charset="0"/>
              <a:buChar char="•"/>
            </a:pPr>
            <a:r>
              <a:rPr lang="en-AU" sz="1200" kern="1200" dirty="0" smtClean="0">
                <a:solidFill>
                  <a:schemeClr val="tx1"/>
                </a:solidFill>
                <a:latin typeface="+mn-lt"/>
                <a:ea typeface="+mn-ea"/>
                <a:cs typeface="+mn-cs"/>
              </a:rPr>
              <a:t> Having representatives visit and view your operation – so they gain first-hand knowledge of your venue and its requirements</a:t>
            </a:r>
          </a:p>
          <a:p>
            <a:pPr>
              <a:buFont typeface="Arial" pitchFamily="34" charset="0"/>
              <a:buChar char="•"/>
            </a:pPr>
            <a:r>
              <a:rPr lang="en-AU" sz="1200" kern="1200" dirty="0" smtClean="0">
                <a:solidFill>
                  <a:schemeClr val="tx1"/>
                </a:solidFill>
                <a:latin typeface="+mn-lt"/>
                <a:ea typeface="+mn-ea"/>
                <a:cs typeface="+mn-cs"/>
              </a:rPr>
              <a:t> Discussing food production and service needs with colleagues – to:</a:t>
            </a:r>
          </a:p>
          <a:p>
            <a:pPr lvl="1">
              <a:buFont typeface="Arial" pitchFamily="34" charset="0"/>
              <a:buChar char="•"/>
            </a:pPr>
            <a:r>
              <a:rPr lang="en-AU" sz="1200" kern="1200" dirty="0" smtClean="0">
                <a:solidFill>
                  <a:schemeClr val="tx1"/>
                </a:solidFill>
                <a:latin typeface="+mn-lt"/>
                <a:ea typeface="+mn-ea"/>
                <a:cs typeface="+mn-cs"/>
              </a:rPr>
              <a:t> Identify enterprise and operational requirements – see ‘Research topics’ on following slides</a:t>
            </a:r>
          </a:p>
          <a:p>
            <a:pPr lvl="1">
              <a:buFont typeface="Arial" pitchFamily="34" charset="0"/>
              <a:buChar char="•"/>
            </a:pPr>
            <a:r>
              <a:rPr lang="en-AU" sz="1200" kern="1200" dirty="0" smtClean="0">
                <a:solidFill>
                  <a:schemeClr val="tx1"/>
                </a:solidFill>
                <a:latin typeface="+mn-lt"/>
                <a:ea typeface="+mn-ea"/>
                <a:cs typeface="+mn-cs"/>
              </a:rPr>
              <a:t> Determine preferences for catering system deliverables – and rationale for same</a:t>
            </a:r>
          </a:p>
          <a:p>
            <a:pPr lvl="1">
              <a:buFont typeface="Arial" pitchFamily="34" charset="0"/>
              <a:buChar char="•"/>
            </a:pPr>
            <a:r>
              <a:rPr lang="en-AU" sz="1200" kern="1200" dirty="0" smtClean="0">
                <a:solidFill>
                  <a:schemeClr val="tx1"/>
                </a:solidFill>
                <a:latin typeface="+mn-lt"/>
                <a:ea typeface="+mn-ea"/>
                <a:cs typeface="+mn-cs"/>
              </a:rPr>
              <a:t> Involve relevant others in the project – and thereby generate interest, enthusiasm and commitment to the process and final selection</a:t>
            </a:r>
          </a:p>
          <a:p>
            <a:pPr>
              <a:buFont typeface="Arial" pitchFamily="34" charset="0"/>
              <a:buNone/>
            </a:pPr>
            <a:endParaRPr lang="en-US" dirty="0" smtClean="0"/>
          </a:p>
          <a:p>
            <a:pPr>
              <a:buFont typeface="Arial" pitchFamily="34" charset="0"/>
              <a:buNone/>
            </a:pPr>
            <a:r>
              <a:rPr lang="en-US" b="1" dirty="0" smtClean="0"/>
              <a:t>Class Activity – Guest </a:t>
            </a:r>
            <a:r>
              <a:rPr lang="en-US" b="1" baseline="0" dirty="0" smtClean="0"/>
              <a:t>Speaker</a:t>
            </a:r>
          </a:p>
          <a:p>
            <a:pPr>
              <a:buFont typeface="Arial" pitchFamily="34" charset="0"/>
              <a:buNone/>
            </a:pPr>
            <a:r>
              <a:rPr lang="en-US" b="0" baseline="0" dirty="0" smtClean="0"/>
              <a:t>Trainer arranges for sales representative from local food equipment/system provider to attend and:</a:t>
            </a:r>
          </a:p>
          <a:p>
            <a:pPr>
              <a:buFont typeface="Arial" pitchFamily="34" charset="0"/>
              <a:buChar char="•"/>
            </a:pPr>
            <a:r>
              <a:rPr lang="en-US" b="0" baseline="0" dirty="0" smtClean="0"/>
              <a:t> Discuss catering system options and availability</a:t>
            </a:r>
          </a:p>
          <a:p>
            <a:pPr>
              <a:buFont typeface="Arial" pitchFamily="34" charset="0"/>
              <a:buChar char="•"/>
            </a:pPr>
            <a:r>
              <a:rPr lang="en-US" b="0" baseline="0" dirty="0" smtClean="0"/>
              <a:t> Compare and contrast systems</a:t>
            </a:r>
          </a:p>
          <a:p>
            <a:pPr>
              <a:buFont typeface="Arial" pitchFamily="34" charset="0"/>
              <a:buChar char="•"/>
            </a:pPr>
            <a:r>
              <a:rPr lang="en-US" b="0" baseline="0" dirty="0" smtClean="0"/>
              <a:t> Provide informational brochures, price lists and similar.</a:t>
            </a:r>
          </a:p>
          <a:p>
            <a:pPr>
              <a:buFont typeface="Arial" pitchFamily="34" charset="0"/>
              <a:buNone/>
            </a:pP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examples of research methods:</a:t>
            </a:r>
          </a:p>
          <a:p>
            <a:pPr>
              <a:buFont typeface="Arial" pitchFamily="34" charset="0"/>
              <a:buChar char="•"/>
            </a:pPr>
            <a:r>
              <a:rPr lang="en-AU" sz="1200" kern="1200" dirty="0" smtClean="0">
                <a:solidFill>
                  <a:schemeClr val="tx1"/>
                </a:solidFill>
                <a:latin typeface="+mn-lt"/>
                <a:ea typeface="+mn-ea"/>
                <a:cs typeface="+mn-cs"/>
              </a:rPr>
              <a:t> Visiting other industry operators – and:</a:t>
            </a:r>
          </a:p>
          <a:p>
            <a:pPr lvl="1">
              <a:buFont typeface="Arial" pitchFamily="34" charset="0"/>
              <a:buChar char="•"/>
            </a:pPr>
            <a:r>
              <a:rPr lang="en-AU" sz="1200" kern="1200" dirty="0" smtClean="0">
                <a:solidFill>
                  <a:schemeClr val="tx1"/>
                </a:solidFill>
                <a:latin typeface="+mn-lt"/>
                <a:ea typeface="+mn-ea"/>
                <a:cs typeface="+mn-cs"/>
              </a:rPr>
              <a:t> Viewing their facilities</a:t>
            </a:r>
          </a:p>
          <a:p>
            <a:pPr lvl="1">
              <a:buFont typeface="Arial" pitchFamily="34" charset="0"/>
              <a:buChar char="•"/>
            </a:pPr>
            <a:r>
              <a:rPr lang="en-AU" sz="1200" kern="1200" dirty="0" smtClean="0">
                <a:solidFill>
                  <a:schemeClr val="tx1"/>
                </a:solidFill>
                <a:latin typeface="+mn-lt"/>
                <a:ea typeface="+mn-ea"/>
                <a:cs typeface="+mn-cs"/>
              </a:rPr>
              <a:t> Talking to operational staff who use the catering systems which are in place</a:t>
            </a:r>
          </a:p>
          <a:p>
            <a:pPr lvl="1">
              <a:buFont typeface="Arial" pitchFamily="34" charset="0"/>
              <a:buChar char="•"/>
            </a:pPr>
            <a:r>
              <a:rPr lang="en-AU" sz="1200" kern="1200" dirty="0" smtClean="0">
                <a:solidFill>
                  <a:schemeClr val="tx1"/>
                </a:solidFill>
                <a:latin typeface="+mn-lt"/>
                <a:ea typeface="+mn-ea"/>
                <a:cs typeface="+mn-cs"/>
              </a:rPr>
              <a:t> Speaking with management about their impressions of effectiveness, efficiency and system performance and problems</a:t>
            </a:r>
          </a:p>
          <a:p>
            <a:pPr>
              <a:buFont typeface="Arial" pitchFamily="34" charset="0"/>
              <a:buChar char="•"/>
            </a:pPr>
            <a:r>
              <a:rPr lang="en-AU" sz="1200" kern="1200" dirty="0" smtClean="0">
                <a:solidFill>
                  <a:schemeClr val="tx1"/>
                </a:solidFill>
                <a:latin typeface="+mn-lt"/>
                <a:ea typeface="+mn-ea"/>
                <a:cs typeface="+mn-cs"/>
              </a:rPr>
              <a:t> Viewing your current operation – and:</a:t>
            </a:r>
          </a:p>
          <a:p>
            <a:pPr lvl="1">
              <a:buFont typeface="Arial" pitchFamily="34" charset="0"/>
              <a:buChar char="•"/>
            </a:pPr>
            <a:r>
              <a:rPr lang="en-AU" sz="1200" kern="1200" dirty="0" smtClean="0">
                <a:solidFill>
                  <a:schemeClr val="tx1"/>
                </a:solidFill>
                <a:latin typeface="+mn-lt"/>
                <a:ea typeface="+mn-ea"/>
                <a:cs typeface="+mn-cs"/>
              </a:rPr>
              <a:t> Inspecting and measuring the facilities</a:t>
            </a:r>
          </a:p>
          <a:p>
            <a:pPr lvl="1">
              <a:buFont typeface="Arial" pitchFamily="34" charset="0"/>
              <a:buChar char="•"/>
            </a:pPr>
            <a:r>
              <a:rPr lang="en-AU" sz="1200" kern="1200" dirty="0" smtClean="0">
                <a:solidFill>
                  <a:schemeClr val="tx1"/>
                </a:solidFill>
                <a:latin typeface="+mn-lt"/>
                <a:ea typeface="+mn-ea"/>
                <a:cs typeface="+mn-cs"/>
              </a:rPr>
              <a:t> Talking to staff and watching staff at work</a:t>
            </a:r>
          </a:p>
          <a:p>
            <a:pPr lvl="1">
              <a:buFont typeface="Arial" pitchFamily="34" charset="0"/>
              <a:buChar char="•"/>
            </a:pPr>
            <a:r>
              <a:rPr lang="en-AU" sz="1200" kern="1200" dirty="0" smtClean="0">
                <a:solidFill>
                  <a:schemeClr val="tx1"/>
                </a:solidFill>
                <a:latin typeface="+mn-lt"/>
                <a:ea typeface="+mn-ea"/>
                <a:cs typeface="+mn-cs"/>
              </a:rPr>
              <a:t> Noting bottle-necks and other problem areas</a:t>
            </a:r>
          </a:p>
          <a:p>
            <a:pPr>
              <a:buFont typeface="Arial" pitchFamily="34" charset="0"/>
              <a:buChar char="•"/>
            </a:pPr>
            <a:r>
              <a:rPr lang="en-AU" sz="1200" kern="1200" dirty="0" smtClean="0">
                <a:solidFill>
                  <a:schemeClr val="tx1"/>
                </a:solidFill>
                <a:latin typeface="+mn-lt"/>
                <a:ea typeface="+mn-ea"/>
                <a:cs typeface="+mn-cs"/>
              </a:rPr>
              <a:t> Attending relevant industry ‘food production and food service’ meetings and events – such as </a:t>
            </a:r>
          </a:p>
          <a:p>
            <a:pPr lvl="1">
              <a:buFont typeface="Arial" pitchFamily="34" charset="0"/>
              <a:buChar char="•"/>
            </a:pPr>
            <a:r>
              <a:rPr lang="en-AU" sz="1200" kern="1200" dirty="0" smtClean="0">
                <a:solidFill>
                  <a:schemeClr val="tx1"/>
                </a:solidFill>
                <a:latin typeface="+mn-lt"/>
                <a:ea typeface="+mn-ea"/>
                <a:cs typeface="+mn-cs"/>
              </a:rPr>
              <a:t> Conferences</a:t>
            </a:r>
          </a:p>
          <a:p>
            <a:pPr lvl="1">
              <a:buFont typeface="Arial" pitchFamily="34" charset="0"/>
              <a:buChar char="•"/>
            </a:pPr>
            <a:r>
              <a:rPr lang="en-AU" sz="1200" kern="1200" dirty="0" smtClean="0">
                <a:solidFill>
                  <a:schemeClr val="tx1"/>
                </a:solidFill>
                <a:latin typeface="+mn-lt"/>
                <a:ea typeface="+mn-ea"/>
                <a:cs typeface="+mn-cs"/>
              </a:rPr>
              <a:t> Seminars</a:t>
            </a:r>
          </a:p>
          <a:p>
            <a:pPr lvl="1">
              <a:buFont typeface="Arial" pitchFamily="34" charset="0"/>
              <a:buChar char="•"/>
            </a:pPr>
            <a:r>
              <a:rPr lang="en-AU" sz="1200" kern="1200" dirty="0" smtClean="0">
                <a:solidFill>
                  <a:schemeClr val="tx1"/>
                </a:solidFill>
                <a:latin typeface="+mn-lt"/>
                <a:ea typeface="+mn-ea"/>
                <a:cs typeface="+mn-cs"/>
              </a:rPr>
              <a:t> Product launches</a:t>
            </a:r>
          </a:p>
          <a:p>
            <a:pPr lvl="1">
              <a:buFont typeface="Arial" pitchFamily="34" charset="0"/>
              <a:buChar char="•"/>
            </a:pPr>
            <a:r>
              <a:rPr lang="en-AU" sz="1200" kern="1200" dirty="0" smtClean="0">
                <a:solidFill>
                  <a:schemeClr val="tx1"/>
                </a:solidFill>
                <a:latin typeface="+mn-lt"/>
                <a:ea typeface="+mn-ea"/>
                <a:cs typeface="+mn-cs"/>
              </a:rPr>
              <a:t> Symposiums.</a:t>
            </a:r>
          </a:p>
          <a:p>
            <a:pPr>
              <a:buFont typeface="Arial" pitchFamily="34" charset="0"/>
              <a:buNone/>
            </a:pPr>
            <a:endParaRPr lang="en-US" dirty="0" smtClean="0"/>
          </a:p>
          <a:p>
            <a:pPr>
              <a:buFont typeface="Arial" pitchFamily="34" charset="0"/>
              <a:buNone/>
            </a:pPr>
            <a:r>
              <a:rPr lang="en-US" b="1" dirty="0" smtClean="0"/>
              <a:t>Class Activity – Excursion </a:t>
            </a:r>
          </a:p>
          <a:p>
            <a:pPr>
              <a:buFont typeface="Arial" pitchFamily="34" charset="0"/>
              <a:buNone/>
            </a:pPr>
            <a:r>
              <a:rPr lang="en-US" b="0" dirty="0" smtClean="0"/>
              <a:t>Trainer arranges excursion to a local food outlet so students can:</a:t>
            </a:r>
          </a:p>
          <a:p>
            <a:pPr>
              <a:buFont typeface="Arial" pitchFamily="34" charset="0"/>
              <a:buChar char="•"/>
            </a:pPr>
            <a:r>
              <a:rPr lang="en-US" b="0" dirty="0" smtClean="0"/>
              <a:t> View operations and facilities</a:t>
            </a:r>
          </a:p>
          <a:p>
            <a:pPr>
              <a:buFont typeface="Arial" pitchFamily="34" charset="0"/>
              <a:buChar char="•"/>
            </a:pPr>
            <a:r>
              <a:rPr lang="en-US" b="0" dirty="0" smtClean="0"/>
              <a:t> Talk to management and staff</a:t>
            </a:r>
          </a:p>
          <a:p>
            <a:pPr>
              <a:buFont typeface="Arial" pitchFamily="34" charset="0"/>
              <a:buChar char="•"/>
            </a:pPr>
            <a:r>
              <a:rPr lang="en-US" b="0" dirty="0" smtClean="0"/>
              <a:t> Take notes on what they see.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a</a:t>
            </a:r>
            <a:r>
              <a:rPr lang="en-AU" sz="1200" kern="1200" dirty="0" smtClean="0">
                <a:solidFill>
                  <a:schemeClr val="tx1"/>
                </a:solidFill>
                <a:latin typeface="+mn-lt"/>
                <a:ea typeface="+mn-ea"/>
                <a:cs typeface="+mn-cs"/>
              </a:rPr>
              <a:t> wide range of topics need to be researched to determine enterprise requirements for a catering system highlighting research should address:</a:t>
            </a:r>
          </a:p>
          <a:p>
            <a:pPr>
              <a:buFont typeface="Arial" pitchFamily="34" charset="0"/>
              <a:buChar char="•"/>
            </a:pPr>
            <a:r>
              <a:rPr lang="en-AU" sz="1200" kern="1200" dirty="0" smtClean="0">
                <a:solidFill>
                  <a:schemeClr val="tx1"/>
                </a:solidFill>
                <a:latin typeface="+mn-lt"/>
                <a:ea typeface="+mn-ea"/>
                <a:cs typeface="+mn-cs"/>
              </a:rPr>
              <a:t> Inputs to the system – ingredients, power/energy, equipment, labour and similar</a:t>
            </a:r>
          </a:p>
          <a:p>
            <a:pPr>
              <a:buFont typeface="Arial" pitchFamily="34" charset="0"/>
              <a:buChar char="•"/>
            </a:pPr>
            <a:r>
              <a:rPr lang="en-AU" sz="1200" kern="1200" dirty="0" smtClean="0">
                <a:solidFill>
                  <a:schemeClr val="tx1"/>
                </a:solidFill>
                <a:latin typeface="+mn-lt"/>
                <a:ea typeface="+mn-ea"/>
                <a:cs typeface="+mn-cs"/>
              </a:rPr>
              <a:t> Outputs from the system – menu items, volume, timing, waste and similar.</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presents research topics when</a:t>
            </a:r>
            <a:r>
              <a:rPr lang="en-US" baseline="0" dirty="0" smtClean="0"/>
              <a:t> seeking to establish enterprise catering requirements for the selection of catering systems.</a:t>
            </a:r>
          </a:p>
          <a:p>
            <a:r>
              <a:rPr lang="en-AU" sz="1200" b="1" kern="1200" dirty="0" smtClean="0">
                <a:solidFill>
                  <a:schemeClr val="tx1"/>
                </a:solidFill>
                <a:latin typeface="+mn-lt"/>
                <a:ea typeface="+mn-ea"/>
                <a:cs typeface="+mn-cs"/>
              </a:rPr>
              <a:t>Nature of the operation</a:t>
            </a:r>
          </a:p>
          <a:p>
            <a:r>
              <a:rPr lang="en-AU" sz="1200" b="0" kern="1200" dirty="0" smtClean="0">
                <a:solidFill>
                  <a:schemeClr val="tx1"/>
                </a:solidFill>
                <a:latin typeface="+mn-lt"/>
                <a:ea typeface="+mn-ea"/>
                <a:cs typeface="+mn-cs"/>
              </a:rPr>
              <a:t>This should determine:</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Whether food is to be:</a:t>
            </a:r>
          </a:p>
          <a:p>
            <a:pPr lvl="1">
              <a:buFont typeface="Arial" pitchFamily="34" charset="0"/>
              <a:buChar char="•"/>
            </a:pPr>
            <a:r>
              <a:rPr lang="en-AU" sz="1200" kern="1200" dirty="0" smtClean="0">
                <a:solidFill>
                  <a:schemeClr val="tx1"/>
                </a:solidFill>
                <a:latin typeface="+mn-lt"/>
                <a:ea typeface="+mn-ea"/>
                <a:cs typeface="+mn-cs"/>
              </a:rPr>
              <a:t> Produced and served at the same point </a:t>
            </a:r>
          </a:p>
          <a:p>
            <a:pPr lvl="1">
              <a:buFont typeface="Arial" pitchFamily="34" charset="0"/>
              <a:buChar char="•"/>
            </a:pPr>
            <a:r>
              <a:rPr lang="en-AU" sz="1200" kern="1200" dirty="0" smtClean="0">
                <a:solidFill>
                  <a:schemeClr val="tx1"/>
                </a:solidFill>
                <a:latin typeface="+mn-lt"/>
                <a:ea typeface="+mn-ea"/>
                <a:cs typeface="+mn-cs"/>
              </a:rPr>
              <a:t> Produced in the one kitchen for service at multiple points/outlets in the same venue</a:t>
            </a:r>
          </a:p>
          <a:p>
            <a:pPr lvl="1">
              <a:buFont typeface="Arial" pitchFamily="34" charset="0"/>
              <a:buChar char="•"/>
            </a:pPr>
            <a:r>
              <a:rPr lang="en-AU" sz="1200" kern="1200" dirty="0" smtClean="0">
                <a:solidFill>
                  <a:schemeClr val="tx1"/>
                </a:solidFill>
                <a:latin typeface="+mn-lt"/>
                <a:ea typeface="+mn-ea"/>
                <a:cs typeface="+mn-cs"/>
              </a:rPr>
              <a:t> Produced at a central kitchen for distribution for transportation/distribution to multiple points/outlets for service at these off-site locations – centralised food production using a number of supporting satellite kitchens to re-constitute and re-thermalise foods</a:t>
            </a:r>
          </a:p>
          <a:p>
            <a:pPr>
              <a:buFont typeface="Arial" pitchFamily="34" charset="0"/>
              <a:buChar char="•"/>
            </a:pPr>
            <a:r>
              <a:rPr lang="en-AU" sz="1200" kern="1200" dirty="0" smtClean="0">
                <a:solidFill>
                  <a:schemeClr val="tx1"/>
                </a:solidFill>
                <a:latin typeface="+mn-lt"/>
                <a:ea typeface="+mn-ea"/>
                <a:cs typeface="+mn-cs"/>
              </a:rPr>
              <a:t> The general nature of the business – such as (for example):</a:t>
            </a:r>
          </a:p>
          <a:p>
            <a:pPr lvl="1">
              <a:buFont typeface="Arial" pitchFamily="34" charset="0"/>
              <a:buChar char="•"/>
            </a:pPr>
            <a:r>
              <a:rPr lang="en-AU" sz="1200" kern="1200" dirty="0" smtClean="0">
                <a:solidFill>
                  <a:schemeClr val="tx1"/>
                </a:solidFill>
                <a:latin typeface="+mn-lt"/>
                <a:ea typeface="+mn-ea"/>
                <a:cs typeface="+mn-cs"/>
              </a:rPr>
              <a:t> Hotel, fine dining</a:t>
            </a:r>
          </a:p>
          <a:p>
            <a:pPr lvl="1">
              <a:buFont typeface="Arial" pitchFamily="34" charset="0"/>
              <a:buChar char="•"/>
            </a:pPr>
            <a:r>
              <a:rPr lang="en-AU" sz="1200" kern="1200" dirty="0" smtClean="0">
                <a:solidFill>
                  <a:schemeClr val="tx1"/>
                </a:solidFill>
                <a:latin typeface="+mn-lt"/>
                <a:ea typeface="+mn-ea"/>
                <a:cs typeface="+mn-cs"/>
              </a:rPr>
              <a:t> Work canteen</a:t>
            </a:r>
          </a:p>
          <a:p>
            <a:pPr lvl="1">
              <a:buFont typeface="Arial" pitchFamily="34" charset="0"/>
              <a:buChar char="•"/>
            </a:pPr>
            <a:r>
              <a:rPr lang="en-AU" sz="1200" kern="1200" dirty="0" smtClean="0">
                <a:solidFill>
                  <a:schemeClr val="tx1"/>
                </a:solidFill>
                <a:latin typeface="+mn-lt"/>
                <a:ea typeface="+mn-ea"/>
                <a:cs typeface="+mn-cs"/>
              </a:rPr>
              <a:t> Institutional catering.</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presenting research topics when</a:t>
            </a:r>
            <a:r>
              <a:rPr lang="en-US" baseline="0" dirty="0" smtClean="0"/>
              <a:t> seeking to establish enterprise catering requirements for the selection of catering systems.</a:t>
            </a:r>
          </a:p>
          <a:p>
            <a:r>
              <a:rPr lang="en-AU" sz="1200" b="1" kern="1200" dirty="0" smtClean="0">
                <a:solidFill>
                  <a:schemeClr val="tx1"/>
                </a:solidFill>
                <a:latin typeface="+mn-lt"/>
                <a:ea typeface="+mn-ea"/>
                <a:cs typeface="+mn-cs"/>
              </a:rPr>
              <a:t>The menu</a:t>
            </a:r>
          </a:p>
          <a:p>
            <a:r>
              <a:rPr lang="en-AU" sz="1200" kern="1200" dirty="0" smtClean="0">
                <a:solidFill>
                  <a:schemeClr val="tx1"/>
                </a:solidFill>
                <a:latin typeface="+mn-lt"/>
                <a:ea typeface="+mn-ea"/>
                <a:cs typeface="+mn-cs"/>
              </a:rPr>
              <a:t>There is a need to identify:</a:t>
            </a:r>
          </a:p>
          <a:p>
            <a:pPr>
              <a:buFont typeface="Arial" pitchFamily="34" charset="0"/>
              <a:buChar char="•"/>
            </a:pPr>
            <a:r>
              <a:rPr lang="en-AU" sz="1200" kern="1200" dirty="0" smtClean="0">
                <a:solidFill>
                  <a:schemeClr val="tx1"/>
                </a:solidFill>
                <a:latin typeface="+mn-lt"/>
                <a:ea typeface="+mn-ea"/>
                <a:cs typeface="+mn-cs"/>
              </a:rPr>
              <a:t> The type of menu – is it:</a:t>
            </a:r>
          </a:p>
          <a:p>
            <a:pPr lvl="1">
              <a:buFont typeface="Arial" pitchFamily="34" charset="0"/>
              <a:buChar char="•"/>
            </a:pPr>
            <a:r>
              <a:rPr lang="en-AU" sz="1200" kern="1200" dirty="0" smtClean="0">
                <a:solidFill>
                  <a:schemeClr val="tx1"/>
                </a:solidFill>
                <a:latin typeface="+mn-lt"/>
                <a:ea typeface="+mn-ea"/>
                <a:cs typeface="+mn-cs"/>
              </a:rPr>
              <a:t> Rotating/cyclical, as is the case in most hospitals or institutions?</a:t>
            </a:r>
          </a:p>
          <a:p>
            <a:pPr lvl="1">
              <a:buFont typeface="Arial" pitchFamily="34" charset="0"/>
              <a:buChar char="•"/>
            </a:pPr>
            <a:r>
              <a:rPr lang="en-AU" sz="1200" kern="1200" dirty="0" smtClean="0">
                <a:solidFill>
                  <a:schemeClr val="tx1"/>
                </a:solidFill>
                <a:latin typeface="+mn-lt"/>
                <a:ea typeface="+mn-ea"/>
                <a:cs typeface="+mn-cs"/>
              </a:rPr>
              <a:t> A la carte – featuring a need for cooked to order meals?</a:t>
            </a:r>
          </a:p>
          <a:p>
            <a:pPr lvl="1">
              <a:buFont typeface="Arial" pitchFamily="34" charset="0"/>
              <a:buChar char="•"/>
            </a:pPr>
            <a:r>
              <a:rPr lang="en-AU" sz="1200" kern="1200" dirty="0" smtClean="0">
                <a:solidFill>
                  <a:schemeClr val="tx1"/>
                </a:solidFill>
                <a:latin typeface="+mn-lt"/>
                <a:ea typeface="+mn-ea"/>
                <a:cs typeface="+mn-cs"/>
              </a:rPr>
              <a:t> Buffet – requiring smorgasbord style service?</a:t>
            </a:r>
          </a:p>
          <a:p>
            <a:pPr lvl="1">
              <a:buFont typeface="Arial" pitchFamily="34" charset="0"/>
              <a:buChar char="•"/>
            </a:pPr>
            <a:r>
              <a:rPr lang="en-AU" sz="1200" kern="1200" dirty="0" smtClean="0">
                <a:solidFill>
                  <a:schemeClr val="tx1"/>
                </a:solidFill>
                <a:latin typeface="+mn-lt"/>
                <a:ea typeface="+mn-ea"/>
                <a:cs typeface="+mn-cs"/>
              </a:rPr>
              <a:t> Functions menus – requiring quantity food production and service?</a:t>
            </a:r>
          </a:p>
          <a:p>
            <a:pPr>
              <a:buFont typeface="Arial" pitchFamily="34" charset="0"/>
              <a:buChar char="•"/>
            </a:pPr>
            <a:r>
              <a:rPr lang="en-AU" sz="1200" kern="1200" dirty="0" smtClean="0">
                <a:solidFill>
                  <a:schemeClr val="tx1"/>
                </a:solidFill>
                <a:latin typeface="+mn-lt"/>
                <a:ea typeface="+mn-ea"/>
                <a:cs typeface="+mn-cs"/>
              </a:rPr>
              <a:t> Menu items being offered/proposed – for example:</a:t>
            </a:r>
          </a:p>
          <a:p>
            <a:pPr lvl="1">
              <a:buFont typeface="Arial" pitchFamily="34" charset="0"/>
              <a:buChar char="•"/>
            </a:pPr>
            <a:r>
              <a:rPr lang="en-AU" sz="1200" kern="1200" dirty="0" smtClean="0">
                <a:solidFill>
                  <a:schemeClr val="tx1"/>
                </a:solidFill>
                <a:latin typeface="+mn-lt"/>
                <a:ea typeface="+mn-ea"/>
                <a:cs typeface="+mn-cs"/>
              </a:rPr>
              <a:t> Identification of dishes and recipes</a:t>
            </a:r>
          </a:p>
          <a:p>
            <a:pPr lvl="1">
              <a:buFont typeface="Arial" pitchFamily="34" charset="0"/>
              <a:buChar char="•"/>
            </a:pPr>
            <a:r>
              <a:rPr lang="en-AU" sz="1200" kern="1200" dirty="0" smtClean="0">
                <a:solidFill>
                  <a:schemeClr val="tx1"/>
                </a:solidFill>
                <a:latin typeface="+mn-lt"/>
                <a:ea typeface="+mn-ea"/>
                <a:cs typeface="+mn-cs"/>
              </a:rPr>
              <a:t> Determination of cooking styles</a:t>
            </a:r>
          </a:p>
          <a:p>
            <a:pPr lvl="1">
              <a:buFont typeface="Arial" pitchFamily="34" charset="0"/>
              <a:buChar char="•"/>
            </a:pPr>
            <a:r>
              <a:rPr lang="en-AU" sz="1200" kern="1200" dirty="0" smtClean="0">
                <a:solidFill>
                  <a:schemeClr val="tx1"/>
                </a:solidFill>
                <a:latin typeface="+mn-lt"/>
                <a:ea typeface="+mn-ea"/>
                <a:cs typeface="+mn-cs"/>
              </a:rPr>
              <a:t> Nomination of number of courses</a:t>
            </a:r>
          </a:p>
          <a:p>
            <a:pPr lvl="1">
              <a:buFont typeface="Arial" pitchFamily="34" charset="0"/>
              <a:buChar char="•"/>
            </a:pPr>
            <a:r>
              <a:rPr lang="en-AU" sz="1200" kern="1200" dirty="0" smtClean="0">
                <a:solidFill>
                  <a:schemeClr val="tx1"/>
                </a:solidFill>
                <a:latin typeface="+mn-lt"/>
                <a:ea typeface="+mn-ea"/>
                <a:cs typeface="+mn-cs"/>
              </a:rPr>
              <a:t> The intentions of those who plan the menus for the venue/outlets</a:t>
            </a:r>
          </a:p>
          <a:p>
            <a:pPr>
              <a:buFont typeface="Arial" pitchFamily="34" charset="0"/>
              <a:buChar char="•"/>
            </a:pPr>
            <a:r>
              <a:rPr lang="en-AU" sz="1200" kern="1200" dirty="0" smtClean="0">
                <a:solidFill>
                  <a:schemeClr val="tx1"/>
                </a:solidFill>
                <a:latin typeface="+mn-lt"/>
                <a:ea typeface="+mn-ea"/>
                <a:cs typeface="+mn-cs"/>
              </a:rPr>
              <a:t> The time of day the menu is for – such as, for example:</a:t>
            </a:r>
          </a:p>
          <a:p>
            <a:pPr lvl="1">
              <a:buFont typeface="Arial" pitchFamily="34" charset="0"/>
              <a:buChar char="•"/>
            </a:pPr>
            <a:r>
              <a:rPr lang="en-AU" sz="1200" kern="1200" dirty="0" smtClean="0">
                <a:solidFill>
                  <a:schemeClr val="tx1"/>
                </a:solidFill>
                <a:latin typeface="+mn-lt"/>
                <a:ea typeface="+mn-ea"/>
                <a:cs typeface="+mn-cs"/>
              </a:rPr>
              <a:t> Breakfast, lunch and/or dinner</a:t>
            </a:r>
          </a:p>
          <a:p>
            <a:pPr lvl="1">
              <a:buFont typeface="Arial" pitchFamily="34" charset="0"/>
              <a:buChar char="•"/>
            </a:pPr>
            <a:r>
              <a:rPr lang="en-AU" sz="1200" kern="1200" dirty="0" smtClean="0">
                <a:solidFill>
                  <a:schemeClr val="tx1"/>
                </a:solidFill>
                <a:latin typeface="+mn-lt"/>
                <a:ea typeface="+mn-ea"/>
                <a:cs typeface="+mn-cs"/>
              </a:rPr>
              <a:t> Supper.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baseline="0" dirty="0" smtClean="0"/>
              <a:t>Class Activity – Handouts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dirty="0" smtClean="0"/>
              <a:t>Trainer distributes a range of menus and discusses how these potentially impact catering system and/or equipment required.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presenting research topics when</a:t>
            </a:r>
            <a:r>
              <a:rPr lang="en-US" baseline="0" dirty="0" smtClean="0"/>
              <a:t> seeking to establish enterprise catering requirements for the selection of catering systems.</a:t>
            </a:r>
          </a:p>
          <a:p>
            <a:r>
              <a:rPr lang="en-AU" sz="1200" b="1" kern="1200" dirty="0" smtClean="0">
                <a:solidFill>
                  <a:schemeClr val="tx1"/>
                </a:solidFill>
                <a:latin typeface="+mn-lt"/>
                <a:ea typeface="+mn-ea"/>
                <a:cs typeface="+mn-cs"/>
              </a:rPr>
              <a:t>Production volume</a:t>
            </a:r>
          </a:p>
          <a:p>
            <a:r>
              <a:rPr lang="en-AU" sz="1200" kern="1200" dirty="0" smtClean="0">
                <a:solidFill>
                  <a:schemeClr val="tx1"/>
                </a:solidFill>
                <a:latin typeface="+mn-lt"/>
                <a:ea typeface="+mn-ea"/>
                <a:cs typeface="+mn-cs"/>
              </a:rPr>
              <a:t>This relates to demand for food and service and may be related to:</a:t>
            </a:r>
          </a:p>
          <a:p>
            <a:pPr>
              <a:buFont typeface="Arial" pitchFamily="34" charset="0"/>
              <a:buChar char="•"/>
            </a:pPr>
            <a:r>
              <a:rPr lang="en-AU" sz="1200" kern="1200" dirty="0" smtClean="0">
                <a:solidFill>
                  <a:schemeClr val="tx1"/>
                </a:solidFill>
                <a:latin typeface="+mn-lt"/>
                <a:ea typeface="+mn-ea"/>
                <a:cs typeface="+mn-cs"/>
              </a:rPr>
              <a:t> Standard/normal trading and service requirements</a:t>
            </a:r>
          </a:p>
          <a:p>
            <a:pPr>
              <a:buFont typeface="Arial" pitchFamily="34" charset="0"/>
              <a:buChar char="•"/>
            </a:pPr>
            <a:r>
              <a:rPr lang="en-AU" sz="1200" kern="1200" dirty="0" smtClean="0">
                <a:solidFill>
                  <a:schemeClr val="tx1"/>
                </a:solidFill>
                <a:latin typeface="+mn-lt"/>
                <a:ea typeface="+mn-ea"/>
                <a:cs typeface="+mn-cs"/>
              </a:rPr>
              <a:t> Demand at peak times</a:t>
            </a:r>
          </a:p>
          <a:p>
            <a:pPr>
              <a:buFont typeface="Arial" pitchFamily="34" charset="0"/>
              <a:buChar char="•"/>
            </a:pPr>
            <a:r>
              <a:rPr lang="en-AU" sz="1200" kern="1200" dirty="0" smtClean="0">
                <a:solidFill>
                  <a:schemeClr val="tx1"/>
                </a:solidFill>
                <a:latin typeface="+mn-lt"/>
                <a:ea typeface="+mn-ea"/>
                <a:cs typeface="+mn-cs"/>
              </a:rPr>
              <a:t> Variations in demand on a sessional, daily, weekly or seasonal basis</a:t>
            </a:r>
          </a:p>
          <a:p>
            <a:pPr>
              <a:buFont typeface="Arial" pitchFamily="34" charset="0"/>
              <a:buChar char="•"/>
            </a:pPr>
            <a:r>
              <a:rPr lang="en-AU" sz="1200" kern="1200" dirty="0" smtClean="0">
                <a:solidFill>
                  <a:schemeClr val="tx1"/>
                </a:solidFill>
                <a:latin typeface="+mn-lt"/>
                <a:ea typeface="+mn-ea"/>
                <a:cs typeface="+mn-cs"/>
              </a:rPr>
              <a:t> Impact of events/functions on normal food production and service</a:t>
            </a:r>
          </a:p>
          <a:p>
            <a:pPr>
              <a:buFont typeface="Arial" pitchFamily="34" charset="0"/>
              <a:buChar char="•"/>
            </a:pPr>
            <a:r>
              <a:rPr lang="en-AU" sz="1200" kern="1200" dirty="0" smtClean="0">
                <a:solidFill>
                  <a:schemeClr val="tx1"/>
                </a:solidFill>
                <a:latin typeface="+mn-lt"/>
                <a:ea typeface="+mn-ea"/>
                <a:cs typeface="+mn-cs"/>
              </a:rPr>
              <a:t> Nomination of figures/projections (‘number of meals served’) for different trading times/occasions on, as appropriate to the organisation:</a:t>
            </a:r>
          </a:p>
          <a:p>
            <a:pPr lvl="1">
              <a:buFont typeface="Arial" pitchFamily="34" charset="0"/>
              <a:buChar char="•"/>
            </a:pPr>
            <a:r>
              <a:rPr lang="en-AU" sz="1200" kern="1200" dirty="0" smtClean="0">
                <a:solidFill>
                  <a:schemeClr val="tx1"/>
                </a:solidFill>
                <a:latin typeface="+mn-lt"/>
                <a:ea typeface="+mn-ea"/>
                <a:cs typeface="+mn-cs"/>
              </a:rPr>
              <a:t> An hourly basis</a:t>
            </a:r>
          </a:p>
          <a:p>
            <a:pPr lvl="1">
              <a:buFont typeface="Arial" pitchFamily="34" charset="0"/>
              <a:buChar char="•"/>
            </a:pPr>
            <a:r>
              <a:rPr lang="en-AU" sz="1200" kern="1200" dirty="0" smtClean="0">
                <a:solidFill>
                  <a:schemeClr val="tx1"/>
                </a:solidFill>
                <a:latin typeface="+mn-lt"/>
                <a:ea typeface="+mn-ea"/>
                <a:cs typeface="+mn-cs"/>
              </a:rPr>
              <a:t> A sessional basis</a:t>
            </a:r>
          </a:p>
          <a:p>
            <a:pPr lvl="1">
              <a:buFont typeface="Arial" pitchFamily="34" charset="0"/>
              <a:buChar char="•"/>
            </a:pPr>
            <a:r>
              <a:rPr lang="en-AU" sz="1200" kern="1200" dirty="0" smtClean="0">
                <a:solidFill>
                  <a:schemeClr val="tx1"/>
                </a:solidFill>
                <a:latin typeface="+mn-lt"/>
                <a:ea typeface="+mn-ea"/>
                <a:cs typeface="+mn-cs"/>
              </a:rPr>
              <a:t> A daily basis.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presenting research topics when</a:t>
            </a:r>
            <a:r>
              <a:rPr lang="en-US" baseline="0" dirty="0" smtClean="0"/>
              <a:t> seeking to establish enterprise catering requirements for the selection of catering systems.</a:t>
            </a:r>
          </a:p>
          <a:p>
            <a:r>
              <a:rPr lang="en-AU" sz="1200" b="1" kern="1200" dirty="0" smtClean="0">
                <a:solidFill>
                  <a:schemeClr val="tx1"/>
                </a:solidFill>
                <a:latin typeface="+mn-lt"/>
                <a:ea typeface="+mn-ea"/>
                <a:cs typeface="+mn-cs"/>
              </a:rPr>
              <a:t>Service areas</a:t>
            </a:r>
          </a:p>
          <a:p>
            <a:r>
              <a:rPr lang="en-AU" sz="1200" kern="1200" dirty="0" smtClean="0">
                <a:solidFill>
                  <a:schemeClr val="tx1"/>
                </a:solidFill>
                <a:latin typeface="+mn-lt"/>
                <a:ea typeface="+mn-ea"/>
                <a:cs typeface="+mn-cs"/>
              </a:rPr>
              <a:t>Research needs to identify: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The area/s from which service needs to occur – on- and off-site, as applicable: physical relationship between food production kitchen and service points/outlets – in terms of geography/distance and time to travel</a:t>
            </a:r>
          </a:p>
          <a:p>
            <a:pPr>
              <a:buFont typeface="Arial" pitchFamily="34" charset="0"/>
              <a:buChar char="•"/>
            </a:pPr>
            <a:r>
              <a:rPr lang="en-AU" sz="1200" kern="1200" dirty="0" smtClean="0">
                <a:solidFill>
                  <a:schemeClr val="tx1"/>
                </a:solidFill>
                <a:latin typeface="+mn-lt"/>
                <a:ea typeface="+mn-ea"/>
                <a:cs typeface="+mn-cs"/>
              </a:rPr>
              <a:t> Size of service area</a:t>
            </a:r>
          </a:p>
          <a:p>
            <a:pPr>
              <a:buFont typeface="Arial" pitchFamily="34" charset="0"/>
              <a:buChar char="•"/>
            </a:pPr>
            <a:r>
              <a:rPr lang="en-AU" sz="1200" kern="1200" dirty="0" smtClean="0">
                <a:solidFill>
                  <a:schemeClr val="tx1"/>
                </a:solidFill>
                <a:latin typeface="+mn-lt"/>
                <a:ea typeface="+mn-ea"/>
                <a:cs typeface="+mn-cs"/>
              </a:rPr>
              <a:t> Facilities currently existing in service area/s</a:t>
            </a:r>
          </a:p>
          <a:p>
            <a:pPr>
              <a:buFont typeface="Arial" pitchFamily="34" charset="0"/>
              <a:buChar char="•"/>
            </a:pPr>
            <a:r>
              <a:rPr lang="en-AU" sz="1200" kern="1200" dirty="0" smtClean="0">
                <a:solidFill>
                  <a:schemeClr val="tx1"/>
                </a:solidFill>
                <a:latin typeface="+mn-lt"/>
                <a:ea typeface="+mn-ea"/>
                <a:cs typeface="+mn-cs"/>
              </a:rPr>
              <a:t> Transport (vehicles and staffing) required to move food from production area to service points</a:t>
            </a:r>
          </a:p>
          <a:p>
            <a:pPr>
              <a:buFont typeface="Arial" pitchFamily="34" charset="0"/>
              <a:buChar char="•"/>
            </a:pPr>
            <a:r>
              <a:rPr lang="en-AU" sz="1200" kern="1200" dirty="0" smtClean="0">
                <a:solidFill>
                  <a:schemeClr val="tx1"/>
                </a:solidFill>
                <a:latin typeface="+mn-lt"/>
                <a:ea typeface="+mn-ea"/>
                <a:cs typeface="+mn-cs"/>
              </a:rPr>
              <a:t> Legislated requirements and ‘best practice’ protocols for safe food transportation of hot, refrigerated and/or frozen food</a:t>
            </a:r>
          </a:p>
          <a:p>
            <a:pPr>
              <a:buFont typeface="Arial" pitchFamily="34" charset="0"/>
              <a:buChar cha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presenting research topics when</a:t>
            </a:r>
            <a:r>
              <a:rPr lang="en-US" baseline="0" dirty="0" smtClean="0"/>
              <a:t> seeking to establish enterprise catering requirements for the selection of catering systems.</a:t>
            </a:r>
          </a:p>
          <a:p>
            <a:r>
              <a:rPr lang="en-AU" sz="1200" b="1" kern="1200" dirty="0" smtClean="0">
                <a:solidFill>
                  <a:schemeClr val="tx1"/>
                </a:solidFill>
                <a:latin typeface="+mn-lt"/>
                <a:ea typeface="+mn-ea"/>
                <a:cs typeface="+mn-cs"/>
              </a:rPr>
              <a:t>Storage and holding requirements</a:t>
            </a:r>
          </a:p>
          <a:p>
            <a:r>
              <a:rPr lang="en-AU" sz="1200" kern="1200" dirty="0" smtClean="0">
                <a:solidFill>
                  <a:schemeClr val="tx1"/>
                </a:solidFill>
                <a:latin typeface="+mn-lt"/>
                <a:ea typeface="+mn-ea"/>
                <a:cs typeface="+mn-cs"/>
              </a:rPr>
              <a:t>Research may be related to identifying:</a:t>
            </a:r>
          </a:p>
          <a:p>
            <a:pPr>
              <a:buFont typeface="Arial" pitchFamily="34" charset="0"/>
              <a:buChar char="•"/>
            </a:pPr>
            <a:r>
              <a:rPr lang="en-AU" sz="1200" kern="1200" dirty="0" smtClean="0">
                <a:solidFill>
                  <a:schemeClr val="tx1"/>
                </a:solidFill>
                <a:latin typeface="+mn-lt"/>
                <a:ea typeface="+mn-ea"/>
                <a:cs typeface="+mn-cs"/>
              </a:rPr>
              <a:t> Hot and/or cold holding – of prepared food for display and/or service, in terms of:</a:t>
            </a:r>
          </a:p>
          <a:p>
            <a:pPr lvl="1">
              <a:buFont typeface="Arial" pitchFamily="34" charset="0"/>
              <a:buChar char="•"/>
            </a:pPr>
            <a:r>
              <a:rPr lang="en-AU" sz="1200" kern="1200" dirty="0" smtClean="0">
                <a:solidFill>
                  <a:schemeClr val="tx1"/>
                </a:solidFill>
                <a:latin typeface="+mn-lt"/>
                <a:ea typeface="+mn-ea"/>
                <a:cs typeface="+mn-cs"/>
              </a:rPr>
              <a:t> Demand for (capacity) same</a:t>
            </a:r>
          </a:p>
          <a:p>
            <a:pPr lvl="1">
              <a:buFont typeface="Arial" pitchFamily="34" charset="0"/>
              <a:buChar char="•"/>
            </a:pPr>
            <a:r>
              <a:rPr lang="en-AU" sz="1200" kern="1200" dirty="0" smtClean="0">
                <a:solidFill>
                  <a:schemeClr val="tx1"/>
                </a:solidFill>
                <a:latin typeface="+mn-lt"/>
                <a:ea typeface="+mn-ea"/>
                <a:cs typeface="+mn-cs"/>
              </a:rPr>
              <a:t> Type of equipment required – bain maries, warmers, cabinets</a:t>
            </a:r>
          </a:p>
          <a:p>
            <a:pPr lvl="1">
              <a:buFont typeface="Arial" pitchFamily="34" charset="0"/>
              <a:buChar char="•"/>
            </a:pPr>
            <a:r>
              <a:rPr lang="en-AU" sz="1200" kern="1200" dirty="0" smtClean="0">
                <a:solidFill>
                  <a:schemeClr val="tx1"/>
                </a:solidFill>
                <a:latin typeface="+mn-lt"/>
                <a:ea typeface="+mn-ea"/>
                <a:cs typeface="+mn-cs"/>
              </a:rPr>
              <a:t> Location and type of existing facilities</a:t>
            </a:r>
          </a:p>
          <a:p>
            <a:pPr>
              <a:buFont typeface="Arial" pitchFamily="34" charset="0"/>
              <a:buChar char="•"/>
            </a:pPr>
            <a:r>
              <a:rPr lang="en-AU" sz="1200" kern="1200" dirty="0" smtClean="0">
                <a:solidFill>
                  <a:schemeClr val="tx1"/>
                </a:solidFill>
                <a:latin typeface="+mn-lt"/>
                <a:ea typeface="+mn-ea"/>
                <a:cs typeface="+mn-cs"/>
              </a:rPr>
              <a:t> Amount of storage space required for:</a:t>
            </a:r>
          </a:p>
          <a:p>
            <a:pPr lvl="1">
              <a:buFont typeface="Arial" pitchFamily="34" charset="0"/>
              <a:buChar char="•"/>
            </a:pPr>
            <a:r>
              <a:rPr lang="en-AU" sz="1200" kern="1200" dirty="0" smtClean="0">
                <a:solidFill>
                  <a:schemeClr val="tx1"/>
                </a:solidFill>
                <a:latin typeface="+mn-lt"/>
                <a:ea typeface="+mn-ea"/>
                <a:cs typeface="+mn-cs"/>
              </a:rPr>
              <a:t> Refrigerated storage – of raw and prepared foods</a:t>
            </a:r>
          </a:p>
          <a:p>
            <a:pPr lvl="1">
              <a:buFont typeface="Arial" pitchFamily="34" charset="0"/>
              <a:buChar char="•"/>
            </a:pPr>
            <a:r>
              <a:rPr lang="en-AU" sz="1200" kern="1200" dirty="0" smtClean="0">
                <a:solidFill>
                  <a:schemeClr val="tx1"/>
                </a:solidFill>
                <a:latin typeface="+mn-lt"/>
                <a:ea typeface="+mn-ea"/>
                <a:cs typeface="+mn-cs"/>
              </a:rPr>
              <a:t> Frozen storage – of raw and prepared foods</a:t>
            </a:r>
          </a:p>
          <a:p>
            <a:pPr>
              <a:buFont typeface="Arial" pitchFamily="34" charset="0"/>
              <a:buChar char="•"/>
            </a:pPr>
            <a:r>
              <a:rPr lang="en-AU" sz="1200" kern="1200" dirty="0" smtClean="0">
                <a:solidFill>
                  <a:schemeClr val="tx1"/>
                </a:solidFill>
                <a:latin typeface="+mn-lt"/>
                <a:ea typeface="+mn-ea"/>
                <a:cs typeface="+mn-cs"/>
              </a:rPr>
              <a:t> Type and capacity of existing storage facilities.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presenting research topics when</a:t>
            </a:r>
            <a:r>
              <a:rPr lang="en-US" baseline="0" dirty="0" smtClean="0"/>
              <a:t> seeking to establish enterprise catering requirements for the selection of catering systems.</a:t>
            </a:r>
          </a:p>
          <a:p>
            <a:r>
              <a:rPr lang="en-AU" sz="1200" b="1" kern="1200" dirty="0" smtClean="0">
                <a:solidFill>
                  <a:schemeClr val="tx1"/>
                </a:solidFill>
                <a:latin typeface="+mn-lt"/>
                <a:ea typeface="+mn-ea"/>
                <a:cs typeface="+mn-cs"/>
              </a:rPr>
              <a:t>Nutritional and dietary requirements</a:t>
            </a:r>
          </a:p>
          <a:p>
            <a:r>
              <a:rPr lang="en-AU" sz="1200" kern="1200" dirty="0" smtClean="0">
                <a:solidFill>
                  <a:schemeClr val="tx1"/>
                </a:solidFill>
                <a:latin typeface="+mn-lt"/>
                <a:ea typeface="+mn-ea"/>
                <a:cs typeface="+mn-cs"/>
              </a:rPr>
              <a:t>Research should identify:</a:t>
            </a:r>
          </a:p>
          <a:p>
            <a:pPr>
              <a:buFont typeface="Arial" pitchFamily="34" charset="0"/>
              <a:buChar char="•"/>
            </a:pPr>
            <a:r>
              <a:rPr lang="en-AU" sz="1200" kern="1200" dirty="0" smtClean="0">
                <a:solidFill>
                  <a:schemeClr val="tx1"/>
                </a:solidFill>
                <a:latin typeface="+mn-lt"/>
                <a:ea typeface="+mn-ea"/>
                <a:cs typeface="+mn-cs"/>
              </a:rPr>
              <a:t> If there is a need for certain nutritional requirements to be met for:</a:t>
            </a:r>
          </a:p>
          <a:p>
            <a:pPr lvl="1">
              <a:buFont typeface="Arial" pitchFamily="34" charset="0"/>
              <a:buChar char="•"/>
            </a:pPr>
            <a:r>
              <a:rPr lang="en-AU" sz="1200" kern="1200" dirty="0" smtClean="0">
                <a:solidFill>
                  <a:schemeClr val="tx1"/>
                </a:solidFill>
                <a:latin typeface="+mn-lt"/>
                <a:ea typeface="+mn-ea"/>
                <a:cs typeface="+mn-cs"/>
              </a:rPr>
              <a:t> Certain dishes</a:t>
            </a:r>
          </a:p>
          <a:p>
            <a:pPr lvl="1">
              <a:buFont typeface="Arial" pitchFamily="34" charset="0"/>
              <a:buChar char="•"/>
            </a:pPr>
            <a:r>
              <a:rPr lang="en-AU" sz="1200" kern="1200" dirty="0" smtClean="0">
                <a:solidFill>
                  <a:schemeClr val="tx1"/>
                </a:solidFill>
                <a:latin typeface="+mn-lt"/>
                <a:ea typeface="+mn-ea"/>
                <a:cs typeface="+mn-cs"/>
              </a:rPr>
              <a:t> Nominated outlets</a:t>
            </a:r>
          </a:p>
          <a:p>
            <a:pPr lvl="1">
              <a:buFont typeface="Arial" pitchFamily="34" charset="0"/>
              <a:buChar char="•"/>
            </a:pPr>
            <a:r>
              <a:rPr lang="en-AU" sz="1200" kern="1200" dirty="0" smtClean="0">
                <a:solidFill>
                  <a:schemeClr val="tx1"/>
                </a:solidFill>
                <a:latin typeface="+mn-lt"/>
                <a:ea typeface="+mn-ea"/>
                <a:cs typeface="+mn-cs"/>
              </a:rPr>
              <a:t> Identified foods.</a:t>
            </a:r>
          </a:p>
          <a:p>
            <a:pPr>
              <a:buFont typeface="Arial" pitchFamily="34" charset="0"/>
              <a:buChar char="•"/>
            </a:pPr>
            <a:r>
              <a:rPr lang="en-AU" sz="1200" kern="1200" dirty="0" smtClean="0">
                <a:solidFill>
                  <a:schemeClr val="tx1"/>
                </a:solidFill>
                <a:latin typeface="+mn-lt"/>
                <a:ea typeface="+mn-ea"/>
                <a:cs typeface="+mn-cs"/>
              </a:rPr>
              <a:t> Exactly what the nutritional requirements are – in terms of, for example:</a:t>
            </a:r>
          </a:p>
          <a:p>
            <a:pPr lvl="1">
              <a:buFont typeface="Arial" pitchFamily="34" charset="0"/>
              <a:buChar char="•"/>
            </a:pPr>
            <a:r>
              <a:rPr lang="en-AU" sz="1200" kern="1200" dirty="0" smtClean="0">
                <a:solidFill>
                  <a:schemeClr val="tx1"/>
                </a:solidFill>
                <a:latin typeface="+mn-lt"/>
                <a:ea typeface="+mn-ea"/>
                <a:cs typeface="+mn-cs"/>
              </a:rPr>
              <a:t> Serve sizes</a:t>
            </a:r>
          </a:p>
          <a:p>
            <a:pPr lvl="1">
              <a:buFont typeface="Arial" pitchFamily="34" charset="0"/>
              <a:buChar char="•"/>
            </a:pPr>
            <a:r>
              <a:rPr lang="en-AU" sz="1200" kern="1200" dirty="0" smtClean="0">
                <a:solidFill>
                  <a:schemeClr val="tx1"/>
                </a:solidFill>
                <a:latin typeface="+mn-lt"/>
                <a:ea typeface="+mn-ea"/>
                <a:cs typeface="+mn-cs"/>
              </a:rPr>
              <a:t> Vitamins</a:t>
            </a:r>
          </a:p>
          <a:p>
            <a:pPr lvl="1">
              <a:buFont typeface="Arial" pitchFamily="34" charset="0"/>
              <a:buChar char="•"/>
            </a:pPr>
            <a:r>
              <a:rPr lang="en-AU" sz="1200" kern="1200" dirty="0" smtClean="0">
                <a:solidFill>
                  <a:schemeClr val="tx1"/>
                </a:solidFill>
                <a:latin typeface="+mn-lt"/>
                <a:ea typeface="+mn-ea"/>
                <a:cs typeface="+mn-cs"/>
              </a:rPr>
              <a:t> Energy</a:t>
            </a:r>
          </a:p>
          <a:p>
            <a:pPr>
              <a:buFont typeface="Arial" pitchFamily="34" charset="0"/>
              <a:buChar char="•"/>
            </a:pPr>
            <a:r>
              <a:rPr lang="en-AU" sz="1200" kern="1200" dirty="0" smtClean="0">
                <a:solidFill>
                  <a:schemeClr val="tx1"/>
                </a:solidFill>
                <a:latin typeface="+mn-lt"/>
                <a:ea typeface="+mn-ea"/>
                <a:cs typeface="+mn-cs"/>
              </a:rPr>
              <a:t> Special need to cater for nominated dietary requirements as they apply, for example, to:</a:t>
            </a:r>
          </a:p>
          <a:p>
            <a:pPr lvl="1">
              <a:buFont typeface="Arial" pitchFamily="34" charset="0"/>
              <a:buChar char="•"/>
            </a:pPr>
            <a:r>
              <a:rPr lang="en-AU" sz="1200" kern="1200" dirty="0" smtClean="0">
                <a:solidFill>
                  <a:schemeClr val="tx1"/>
                </a:solidFill>
                <a:latin typeface="+mn-lt"/>
                <a:ea typeface="+mn-ea"/>
                <a:cs typeface="+mn-cs"/>
              </a:rPr>
              <a:t> Health-related issues – such as:</a:t>
            </a:r>
          </a:p>
          <a:p>
            <a:pPr lvl="2">
              <a:buFont typeface="Arial" pitchFamily="34" charset="0"/>
              <a:buChar char="•"/>
            </a:pPr>
            <a:r>
              <a:rPr lang="en-AU" sz="1200" kern="1200" dirty="0" smtClean="0">
                <a:solidFill>
                  <a:schemeClr val="tx1"/>
                </a:solidFill>
                <a:latin typeface="+mn-lt"/>
                <a:ea typeface="+mn-ea"/>
                <a:cs typeface="+mn-cs"/>
              </a:rPr>
              <a:t> Diabetic meals</a:t>
            </a:r>
          </a:p>
          <a:p>
            <a:pPr lvl="2">
              <a:buFont typeface="Arial" pitchFamily="34" charset="0"/>
              <a:buChar char="•"/>
            </a:pPr>
            <a:r>
              <a:rPr lang="en-AU" sz="1200" kern="1200" dirty="0" smtClean="0">
                <a:solidFill>
                  <a:schemeClr val="tx1"/>
                </a:solidFill>
                <a:latin typeface="+mn-lt"/>
                <a:ea typeface="+mn-ea"/>
                <a:cs typeface="+mn-cs"/>
              </a:rPr>
              <a:t> Low-salt and/or low-fat meals</a:t>
            </a:r>
          </a:p>
          <a:p>
            <a:pPr lvl="2">
              <a:buFont typeface="Arial" pitchFamily="34" charset="0"/>
              <a:buChar char="•"/>
            </a:pPr>
            <a:r>
              <a:rPr lang="en-AU" sz="1200" kern="1200" dirty="0" smtClean="0">
                <a:solidFill>
                  <a:schemeClr val="tx1"/>
                </a:solidFill>
                <a:latin typeface="+mn-lt"/>
                <a:ea typeface="+mn-ea"/>
                <a:cs typeface="+mn-cs"/>
              </a:rPr>
              <a:t> Allergy-related menu items</a:t>
            </a:r>
          </a:p>
          <a:p>
            <a:pPr lvl="1">
              <a:buFont typeface="Arial" pitchFamily="34" charset="0"/>
              <a:buChar char="•"/>
            </a:pPr>
            <a:r>
              <a:rPr lang="en-AU" sz="1200" kern="1200" dirty="0" smtClean="0">
                <a:solidFill>
                  <a:schemeClr val="tx1"/>
                </a:solidFill>
                <a:latin typeface="+mn-lt"/>
                <a:ea typeface="+mn-ea"/>
                <a:cs typeface="+mn-cs"/>
              </a:rPr>
              <a:t> Cultural and/or religious requirements</a:t>
            </a:r>
          </a:p>
          <a:p>
            <a:pPr lvl="1">
              <a:buFont typeface="Arial" pitchFamily="34" charset="0"/>
              <a:buChar char="•"/>
            </a:pPr>
            <a:r>
              <a:rPr lang="en-AU" sz="1200" kern="1200" dirty="0" smtClean="0">
                <a:solidFill>
                  <a:schemeClr val="tx1"/>
                </a:solidFill>
                <a:latin typeface="+mn-lt"/>
                <a:ea typeface="+mn-ea"/>
                <a:cs typeface="+mn-cs"/>
              </a:rPr>
              <a:t> Lifestyle preferences.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baseline="0" dirty="0" smtClean="0"/>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dirty="0" smtClean="0"/>
              <a:t>Trainer leads discussion 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 Examples of how health-related special needs can influence menu and food requirements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 Examples of how cultural special needs can influence menu and food requirements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 Examples of how religious special needs can influence menu and food requirements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 Examples of how lifestyle special needs can influence menu and food requirements.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presenting research topics when</a:t>
            </a:r>
            <a:r>
              <a:rPr lang="en-US" baseline="0" dirty="0" smtClean="0"/>
              <a:t> seeking to establish enterprise catering requirements for the selection of catering systems.</a:t>
            </a:r>
          </a:p>
          <a:p>
            <a:r>
              <a:rPr lang="en-AU" sz="1200" b="1" kern="1200" dirty="0" smtClean="0">
                <a:solidFill>
                  <a:schemeClr val="tx1"/>
                </a:solidFill>
                <a:latin typeface="+mn-lt"/>
                <a:ea typeface="+mn-ea"/>
                <a:cs typeface="+mn-cs"/>
              </a:rPr>
              <a:t>Relevant timeframes</a:t>
            </a:r>
          </a:p>
          <a:p>
            <a:r>
              <a:rPr lang="en-AU" sz="1200" kern="1200" dirty="0" smtClean="0">
                <a:solidFill>
                  <a:schemeClr val="tx1"/>
                </a:solidFill>
                <a:latin typeface="+mn-lt"/>
                <a:ea typeface="+mn-ea"/>
                <a:cs typeface="+mn-cs"/>
              </a:rPr>
              <a:t>Research should indicate:</a:t>
            </a:r>
          </a:p>
          <a:p>
            <a:pPr>
              <a:buFont typeface="Arial" pitchFamily="34" charset="0"/>
              <a:buChar char="•"/>
            </a:pPr>
            <a:r>
              <a:rPr lang="en-AU" sz="1200" kern="1200" dirty="0" smtClean="0">
                <a:solidFill>
                  <a:schemeClr val="tx1"/>
                </a:solidFill>
                <a:latin typeface="+mn-lt"/>
                <a:ea typeface="+mn-ea"/>
                <a:cs typeface="+mn-cs"/>
              </a:rPr>
              <a:t> Opening times/trading hours of commercial premises – for all service points/outlets</a:t>
            </a:r>
          </a:p>
          <a:p>
            <a:pPr>
              <a:buFont typeface="Arial" pitchFamily="34" charset="0"/>
              <a:buChar char="•"/>
            </a:pPr>
            <a:r>
              <a:rPr lang="en-AU" sz="1200" kern="1200" dirty="0" smtClean="0">
                <a:solidFill>
                  <a:schemeClr val="tx1"/>
                </a:solidFill>
                <a:latin typeface="+mn-lt"/>
                <a:ea typeface="+mn-ea"/>
                <a:cs typeface="+mn-cs"/>
              </a:rPr>
              <a:t> Scheduled service times for meals – in operations such as hospitals, prisons and schools</a:t>
            </a:r>
          </a:p>
          <a:p>
            <a:pPr>
              <a:buFont typeface="Arial" pitchFamily="34" charset="0"/>
              <a:buChar char="•"/>
            </a:pPr>
            <a:r>
              <a:rPr lang="en-AU" sz="1200" kern="1200" dirty="0" smtClean="0">
                <a:solidFill>
                  <a:schemeClr val="tx1"/>
                </a:solidFill>
                <a:latin typeface="+mn-lt"/>
                <a:ea typeface="+mn-ea"/>
                <a:cs typeface="+mn-cs"/>
              </a:rPr>
              <a:t> Lead times – from ordering of raw ingredients/food from suppliers to delivery of food into the premises/kitchen stores</a:t>
            </a:r>
          </a:p>
          <a:p>
            <a:pPr>
              <a:buFont typeface="Arial" pitchFamily="34" charset="0"/>
              <a:buChar char="•"/>
            </a:pPr>
            <a:r>
              <a:rPr lang="en-AU" sz="1200" kern="1200" dirty="0" smtClean="0">
                <a:solidFill>
                  <a:schemeClr val="tx1"/>
                </a:solidFill>
                <a:latin typeface="+mn-lt"/>
                <a:ea typeface="+mn-ea"/>
                <a:cs typeface="+mn-cs"/>
              </a:rPr>
              <a:t> Delivery/transportation times – from central kitchen to satellite kitchens/other service points.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presenting research topics when</a:t>
            </a:r>
            <a:r>
              <a:rPr lang="en-US" baseline="0" dirty="0" smtClean="0"/>
              <a:t> seeking to establish enterprise catering requirements for the selection of catering systems.</a:t>
            </a:r>
          </a:p>
          <a:p>
            <a:r>
              <a:rPr lang="en-AU" sz="1200" b="1" kern="1200" dirty="0" smtClean="0">
                <a:solidFill>
                  <a:schemeClr val="tx1"/>
                </a:solidFill>
                <a:latin typeface="+mn-lt"/>
                <a:ea typeface="+mn-ea"/>
                <a:cs typeface="+mn-cs"/>
              </a:rPr>
              <a:t>Available space</a:t>
            </a:r>
          </a:p>
          <a:p>
            <a:r>
              <a:rPr lang="en-AU" sz="1200" kern="1200" dirty="0" smtClean="0">
                <a:solidFill>
                  <a:schemeClr val="tx1"/>
                </a:solidFill>
                <a:latin typeface="+mn-lt"/>
                <a:ea typeface="+mn-ea"/>
                <a:cs typeface="+mn-cs"/>
              </a:rPr>
              <a:t>Research may be related to:</a:t>
            </a:r>
          </a:p>
          <a:p>
            <a:pPr>
              <a:buFont typeface="Arial" pitchFamily="34" charset="0"/>
              <a:buChar char="•"/>
            </a:pPr>
            <a:r>
              <a:rPr lang="en-AU" sz="1200" kern="1200" dirty="0" smtClean="0">
                <a:solidFill>
                  <a:schemeClr val="tx1"/>
                </a:solidFill>
                <a:latin typeface="+mn-lt"/>
                <a:ea typeface="+mn-ea"/>
                <a:cs typeface="+mn-cs"/>
              </a:rPr>
              <a:t> Whether the new/revised system is required to fit within an existing space – or if there is scope to expand production and service areas into additional space</a:t>
            </a:r>
          </a:p>
          <a:p>
            <a:pPr>
              <a:buFont typeface="Arial" pitchFamily="34" charset="0"/>
              <a:buChar char="•"/>
            </a:pPr>
            <a:r>
              <a:rPr lang="en-AU" sz="1200" kern="1200" dirty="0" smtClean="0">
                <a:solidFill>
                  <a:schemeClr val="tx1"/>
                </a:solidFill>
                <a:latin typeface="+mn-lt"/>
                <a:ea typeface="+mn-ea"/>
                <a:cs typeface="+mn-cs"/>
              </a:rPr>
              <a:t> Details of current layout – of existing systems, equipment and facilities including utilities</a:t>
            </a:r>
          </a:p>
          <a:p>
            <a:pPr>
              <a:buFont typeface="Arial" pitchFamily="34" charset="0"/>
              <a:buChar char="•"/>
            </a:pPr>
            <a:r>
              <a:rPr lang="en-AU" sz="1200" kern="1200" dirty="0" smtClean="0">
                <a:solidFill>
                  <a:schemeClr val="tx1"/>
                </a:solidFill>
                <a:latin typeface="+mn-lt"/>
                <a:ea typeface="+mn-ea"/>
                <a:cs typeface="+mn-cs"/>
              </a:rPr>
              <a:t> Amount of:</a:t>
            </a:r>
          </a:p>
          <a:p>
            <a:pPr lvl="1">
              <a:buFont typeface="Arial" pitchFamily="34" charset="0"/>
              <a:buChar char="•"/>
            </a:pPr>
            <a:r>
              <a:rPr lang="en-AU" sz="1200" kern="1200" dirty="0" smtClean="0">
                <a:solidFill>
                  <a:schemeClr val="tx1"/>
                </a:solidFill>
                <a:latin typeface="+mn-lt"/>
                <a:ea typeface="+mn-ea"/>
                <a:cs typeface="+mn-cs"/>
              </a:rPr>
              <a:t> Additional space available for expansion</a:t>
            </a:r>
          </a:p>
          <a:p>
            <a:pPr lvl="1">
              <a:buFont typeface="Arial" pitchFamily="34" charset="0"/>
              <a:buChar char="•"/>
            </a:pPr>
            <a:r>
              <a:rPr lang="en-AU" sz="1200" kern="1200" dirty="0" smtClean="0">
                <a:solidFill>
                  <a:schemeClr val="tx1"/>
                </a:solidFill>
                <a:latin typeface="+mn-lt"/>
                <a:ea typeface="+mn-ea"/>
                <a:cs typeface="+mn-cs"/>
              </a:rPr>
              <a:t> Space which is required to be saved as a result of the change/up-date to the catering system.</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presenting research topics when</a:t>
            </a:r>
            <a:r>
              <a:rPr lang="en-US" baseline="0" dirty="0" smtClean="0"/>
              <a:t> seeking to establish enterprise catering requirements for the selection of catering systems.</a:t>
            </a:r>
          </a:p>
          <a:p>
            <a:r>
              <a:rPr lang="en-AU" sz="1200" b="1" kern="1200" dirty="0" smtClean="0">
                <a:solidFill>
                  <a:schemeClr val="tx1"/>
                </a:solidFill>
                <a:latin typeface="+mn-lt"/>
                <a:ea typeface="+mn-ea"/>
                <a:cs typeface="+mn-cs"/>
              </a:rPr>
              <a:t>Customer requirements</a:t>
            </a:r>
          </a:p>
          <a:p>
            <a:r>
              <a:rPr lang="en-AU" sz="1200" kern="1200" dirty="0" smtClean="0">
                <a:solidFill>
                  <a:schemeClr val="tx1"/>
                </a:solidFill>
                <a:latin typeface="+mn-lt"/>
                <a:ea typeface="+mn-ea"/>
                <a:cs typeface="+mn-cs"/>
              </a:rPr>
              <a:t>Research should address:</a:t>
            </a:r>
          </a:p>
          <a:p>
            <a:pPr>
              <a:buFont typeface="Arial" pitchFamily="34" charset="0"/>
              <a:buChar char="•"/>
            </a:pPr>
            <a:r>
              <a:rPr lang="en-AU" sz="1200" kern="1200" dirty="0" smtClean="0">
                <a:solidFill>
                  <a:schemeClr val="tx1"/>
                </a:solidFill>
                <a:latin typeface="+mn-lt"/>
                <a:ea typeface="+mn-ea"/>
                <a:cs typeface="+mn-cs"/>
              </a:rPr>
              <a:t> Defining and identifying ‘customers’ or consumers</a:t>
            </a:r>
          </a:p>
          <a:p>
            <a:pPr>
              <a:buFont typeface="Arial" pitchFamily="34" charset="0"/>
              <a:buChar char="•"/>
            </a:pPr>
            <a:r>
              <a:rPr lang="en-AU" sz="1200" kern="1200" dirty="0" smtClean="0">
                <a:solidFill>
                  <a:schemeClr val="tx1"/>
                </a:solidFill>
                <a:latin typeface="+mn-lt"/>
                <a:ea typeface="+mn-ea"/>
                <a:cs typeface="+mn-cs"/>
              </a:rPr>
              <a:t> Describing their identified needs, wants and preferences</a:t>
            </a:r>
          </a:p>
          <a:p>
            <a:pPr>
              <a:buFont typeface="Arial" pitchFamily="34" charset="0"/>
              <a:buChar char="•"/>
            </a:pPr>
            <a:r>
              <a:rPr lang="en-AU" sz="1200" kern="1200" dirty="0" smtClean="0">
                <a:solidFill>
                  <a:schemeClr val="tx1"/>
                </a:solidFill>
                <a:latin typeface="+mn-lt"/>
                <a:ea typeface="+mn-ea"/>
                <a:cs typeface="+mn-cs"/>
              </a:rPr>
              <a:t> Obtaining feedback/input from existing and potential/target.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presenting research topics when</a:t>
            </a:r>
            <a:r>
              <a:rPr lang="en-US" baseline="0" dirty="0" smtClean="0"/>
              <a:t> seeking to establish enterprise catering requirements for the selection of catering systems.</a:t>
            </a:r>
          </a:p>
          <a:p>
            <a:r>
              <a:rPr lang="en-AU" sz="1200" b="1" kern="1200" dirty="0" smtClean="0">
                <a:solidFill>
                  <a:schemeClr val="tx1"/>
                </a:solidFill>
                <a:latin typeface="+mn-lt"/>
                <a:ea typeface="+mn-ea"/>
                <a:cs typeface="+mn-cs"/>
              </a:rPr>
              <a:t>Ingredients purchased</a:t>
            </a:r>
          </a:p>
          <a:p>
            <a:r>
              <a:rPr lang="en-AU" sz="1200" kern="1200" dirty="0" smtClean="0">
                <a:solidFill>
                  <a:schemeClr val="tx1"/>
                </a:solidFill>
                <a:latin typeface="+mn-lt"/>
                <a:ea typeface="+mn-ea"/>
                <a:cs typeface="+mn-cs"/>
              </a:rPr>
              <a:t>In this regard research should address:</a:t>
            </a:r>
          </a:p>
          <a:p>
            <a:pPr>
              <a:buFont typeface="Arial" pitchFamily="34" charset="0"/>
              <a:buChar char="•"/>
            </a:pPr>
            <a:r>
              <a:rPr lang="en-AU" sz="1200" kern="1200" dirty="0" smtClean="0">
                <a:solidFill>
                  <a:schemeClr val="tx1"/>
                </a:solidFill>
                <a:latin typeface="+mn-lt"/>
                <a:ea typeface="+mn-ea"/>
                <a:cs typeface="+mn-cs"/>
              </a:rPr>
              <a:t> The type, style and nature of the foods bought by the kitchen to produce menu items. This is relevant and important as; </a:t>
            </a:r>
          </a:p>
          <a:p>
            <a:pPr lvl="1">
              <a:buFont typeface="Arial" pitchFamily="34" charset="0"/>
              <a:buChar char="•"/>
            </a:pPr>
            <a:r>
              <a:rPr lang="en-AU" sz="1200" kern="1200" dirty="0" smtClean="0">
                <a:solidFill>
                  <a:schemeClr val="tx1"/>
                </a:solidFill>
                <a:latin typeface="+mn-lt"/>
                <a:ea typeface="+mn-ea"/>
                <a:cs typeface="+mn-cs"/>
              </a:rPr>
              <a:t> It has implications for the equipment and staff needed to (as appropriate):</a:t>
            </a:r>
          </a:p>
          <a:p>
            <a:pPr lvl="2">
              <a:buFont typeface="Arial" pitchFamily="34" charset="0"/>
              <a:buChar char="•"/>
            </a:pPr>
            <a:r>
              <a:rPr lang="en-AU" sz="1200" kern="1200" dirty="0" smtClean="0">
                <a:solidFill>
                  <a:schemeClr val="tx1"/>
                </a:solidFill>
                <a:latin typeface="+mn-lt"/>
                <a:ea typeface="+mn-ea"/>
                <a:cs typeface="+mn-cs"/>
              </a:rPr>
              <a:t> Store the food</a:t>
            </a:r>
          </a:p>
          <a:p>
            <a:pPr lvl="2">
              <a:buFont typeface="Arial" pitchFamily="34" charset="0"/>
              <a:buChar char="•"/>
            </a:pPr>
            <a:r>
              <a:rPr lang="en-AU" sz="1200" kern="1200" dirty="0" smtClean="0">
                <a:solidFill>
                  <a:schemeClr val="tx1"/>
                </a:solidFill>
                <a:latin typeface="+mn-lt"/>
                <a:ea typeface="+mn-ea"/>
                <a:cs typeface="+mn-cs"/>
              </a:rPr>
              <a:t> Prepare the food</a:t>
            </a:r>
          </a:p>
          <a:p>
            <a:pPr lvl="2">
              <a:buFont typeface="Arial" pitchFamily="34" charset="0"/>
              <a:buChar char="•"/>
            </a:pPr>
            <a:r>
              <a:rPr lang="en-AU" sz="1200" kern="1200" dirty="0" smtClean="0">
                <a:solidFill>
                  <a:schemeClr val="tx1"/>
                </a:solidFill>
                <a:latin typeface="+mn-lt"/>
                <a:ea typeface="+mn-ea"/>
                <a:cs typeface="+mn-cs"/>
              </a:rPr>
              <a:t> Process the food</a:t>
            </a:r>
          </a:p>
          <a:p>
            <a:pPr lvl="1">
              <a:buFont typeface="Arial" pitchFamily="34" charset="0"/>
              <a:buChar char="•"/>
            </a:pPr>
            <a:r>
              <a:rPr lang="en-AU" sz="1200" kern="1200" dirty="0" smtClean="0">
                <a:solidFill>
                  <a:schemeClr val="tx1"/>
                </a:solidFill>
                <a:latin typeface="+mn-lt"/>
                <a:ea typeface="+mn-ea"/>
                <a:cs typeface="+mn-cs"/>
              </a:rPr>
              <a:t> It needs to align with other factors/issues – such as:</a:t>
            </a:r>
          </a:p>
          <a:p>
            <a:pPr lvl="2">
              <a:buFont typeface="Arial" pitchFamily="34" charset="0"/>
              <a:buChar char="•"/>
            </a:pPr>
            <a:r>
              <a:rPr lang="en-AU" sz="1200" kern="1200" dirty="0" smtClean="0">
                <a:solidFill>
                  <a:schemeClr val="tx1"/>
                </a:solidFill>
                <a:latin typeface="+mn-lt"/>
                <a:ea typeface="+mn-ea"/>
                <a:cs typeface="+mn-cs"/>
              </a:rPr>
              <a:t> Required quality standards</a:t>
            </a:r>
          </a:p>
          <a:p>
            <a:pPr lvl="2">
              <a:buFont typeface="Arial" pitchFamily="34" charset="0"/>
              <a:buChar char="•"/>
            </a:pPr>
            <a:r>
              <a:rPr lang="en-AU" sz="1200" kern="1200" dirty="0" smtClean="0">
                <a:solidFill>
                  <a:schemeClr val="tx1"/>
                </a:solidFill>
                <a:latin typeface="+mn-lt"/>
                <a:ea typeface="+mn-ea"/>
                <a:cs typeface="+mn-cs"/>
              </a:rPr>
              <a:t> Customer preferences</a:t>
            </a:r>
          </a:p>
          <a:p>
            <a:pPr lvl="2">
              <a:buFont typeface="Arial" pitchFamily="34" charset="0"/>
              <a:buChar char="•"/>
            </a:pPr>
            <a:r>
              <a:rPr lang="en-AU" sz="1200" kern="1200" dirty="0" smtClean="0">
                <a:solidFill>
                  <a:schemeClr val="tx1"/>
                </a:solidFill>
                <a:latin typeface="+mn-lt"/>
                <a:ea typeface="+mn-ea"/>
                <a:cs typeface="+mn-cs"/>
              </a:rPr>
              <a:t> Value-for-money</a:t>
            </a:r>
          </a:p>
          <a:p>
            <a:pPr lvl="2">
              <a:buFont typeface="Arial" pitchFamily="34" charset="0"/>
              <a:buChar char="•"/>
            </a:pPr>
            <a:r>
              <a:rPr lang="en-AU" sz="1200" kern="1200" dirty="0" smtClean="0">
                <a:solidFill>
                  <a:schemeClr val="tx1"/>
                </a:solidFill>
                <a:latin typeface="+mn-lt"/>
                <a:ea typeface="+mn-ea"/>
                <a:cs typeface="+mn-cs"/>
              </a:rPr>
              <a:t> Image and market position of the organisation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presenting research topics when</a:t>
            </a:r>
            <a:r>
              <a:rPr lang="en-US" baseline="0" dirty="0" smtClean="0"/>
              <a:t> seeking to establish enterprise catering requirements for the selection of catering systems.</a:t>
            </a:r>
          </a:p>
          <a:p>
            <a:r>
              <a:rPr lang="en-AU" sz="1200" b="1" kern="1200" dirty="0" smtClean="0">
                <a:solidFill>
                  <a:schemeClr val="tx1"/>
                </a:solidFill>
                <a:latin typeface="+mn-lt"/>
                <a:ea typeface="+mn-ea"/>
                <a:cs typeface="+mn-cs"/>
              </a:rPr>
              <a:t>Enterprise practices and standards</a:t>
            </a:r>
          </a:p>
          <a:p>
            <a:r>
              <a:rPr lang="en-AU" sz="1200" kern="1200" dirty="0" smtClean="0">
                <a:solidFill>
                  <a:schemeClr val="tx1"/>
                </a:solidFill>
                <a:latin typeface="+mn-lt"/>
                <a:ea typeface="+mn-ea"/>
                <a:cs typeface="+mn-cs"/>
              </a:rPr>
              <a:t>Research may be related to:</a:t>
            </a:r>
          </a:p>
          <a:p>
            <a:pPr>
              <a:buFont typeface="Arial" pitchFamily="34" charset="0"/>
              <a:buChar char="•"/>
            </a:pPr>
            <a:r>
              <a:rPr lang="en-AU" sz="1200" kern="1200" dirty="0" smtClean="0">
                <a:solidFill>
                  <a:schemeClr val="tx1"/>
                </a:solidFill>
                <a:latin typeface="+mn-lt"/>
                <a:ea typeface="+mn-ea"/>
                <a:cs typeface="+mn-cs"/>
              </a:rPr>
              <a:t> Understanding options for buying different ingredient/raw materials – and/or pre-prepared and ready-made items</a:t>
            </a:r>
          </a:p>
          <a:p>
            <a:pPr>
              <a:buFont typeface="Arial" pitchFamily="34" charset="0"/>
              <a:buChar char="•"/>
            </a:pPr>
            <a:r>
              <a:rPr lang="en-AU" sz="1200" kern="1200" dirty="0" smtClean="0">
                <a:solidFill>
                  <a:schemeClr val="tx1"/>
                </a:solidFill>
                <a:latin typeface="+mn-lt"/>
                <a:ea typeface="+mn-ea"/>
                <a:cs typeface="+mn-cs"/>
              </a:rPr>
              <a:t> Knowing the contents of public statements the business makes about itself – in terms of:</a:t>
            </a:r>
          </a:p>
          <a:p>
            <a:pPr lvl="1">
              <a:buFont typeface="Arial" pitchFamily="34" charset="0"/>
              <a:buChar char="•"/>
            </a:pPr>
            <a:r>
              <a:rPr lang="en-AU" sz="1200" kern="1200" dirty="0" smtClean="0">
                <a:solidFill>
                  <a:schemeClr val="tx1"/>
                </a:solidFill>
                <a:latin typeface="+mn-lt"/>
                <a:ea typeface="+mn-ea"/>
                <a:cs typeface="+mn-cs"/>
              </a:rPr>
              <a:t> Mission statement </a:t>
            </a:r>
          </a:p>
          <a:p>
            <a:pPr lvl="1">
              <a:buFont typeface="Arial" pitchFamily="34" charset="0"/>
              <a:buChar char="•"/>
            </a:pPr>
            <a:r>
              <a:rPr lang="en-AU" sz="1200" kern="1200" dirty="0" smtClean="0">
                <a:solidFill>
                  <a:schemeClr val="tx1"/>
                </a:solidFill>
                <a:latin typeface="+mn-lt"/>
                <a:ea typeface="+mn-ea"/>
                <a:cs typeface="+mn-cs"/>
              </a:rPr>
              <a:t> Vision statement</a:t>
            </a:r>
          </a:p>
          <a:p>
            <a:pPr lvl="1">
              <a:buFont typeface="Arial" pitchFamily="34" charset="0"/>
              <a:buChar char="•"/>
            </a:pPr>
            <a:r>
              <a:rPr lang="en-AU" sz="1200" kern="1200" dirty="0" smtClean="0">
                <a:solidFill>
                  <a:schemeClr val="tx1"/>
                </a:solidFill>
                <a:latin typeface="+mn-lt"/>
                <a:ea typeface="+mn-ea"/>
                <a:cs typeface="+mn-cs"/>
              </a:rPr>
              <a:t> Value statement</a:t>
            </a:r>
          </a:p>
          <a:p>
            <a:pPr>
              <a:buFont typeface="Arial" pitchFamily="34" charset="0"/>
              <a:buChar char="•"/>
            </a:pPr>
            <a:r>
              <a:rPr lang="en-AU" sz="1200" kern="1200" dirty="0" smtClean="0">
                <a:solidFill>
                  <a:schemeClr val="tx1"/>
                </a:solidFill>
                <a:latin typeface="+mn-lt"/>
                <a:ea typeface="+mn-ea"/>
                <a:cs typeface="+mn-cs"/>
              </a:rPr>
              <a:t> Understanding Standard Operating Procedures (SOPs) and relevant policies for the operation</a:t>
            </a:r>
          </a:p>
          <a:p>
            <a:pPr>
              <a:buFont typeface="Arial" pitchFamily="34" charset="0"/>
              <a:buChar char="•"/>
            </a:pPr>
            <a:r>
              <a:rPr lang="en-AU" sz="1200" kern="1200" dirty="0" smtClean="0">
                <a:solidFill>
                  <a:schemeClr val="tx1"/>
                </a:solidFill>
                <a:latin typeface="+mn-lt"/>
                <a:ea typeface="+mn-ea"/>
                <a:cs typeface="+mn-cs"/>
              </a:rPr>
              <a:t> Knowing the kitchen (or individual service point/outlet) quality standards for:</a:t>
            </a:r>
          </a:p>
          <a:p>
            <a:pPr lvl="1">
              <a:buFont typeface="Arial" pitchFamily="34" charset="0"/>
              <a:buChar char="•"/>
            </a:pPr>
            <a:r>
              <a:rPr lang="en-AU" sz="1200" kern="1200" dirty="0" smtClean="0">
                <a:solidFill>
                  <a:schemeClr val="tx1"/>
                </a:solidFill>
                <a:latin typeface="+mn-lt"/>
                <a:ea typeface="+mn-ea"/>
                <a:cs typeface="+mn-cs"/>
              </a:rPr>
              <a:t> Individual menu items</a:t>
            </a:r>
          </a:p>
          <a:p>
            <a:pPr lvl="1">
              <a:buFont typeface="Arial" pitchFamily="34" charset="0"/>
              <a:buChar char="•"/>
            </a:pPr>
            <a:r>
              <a:rPr lang="en-AU" sz="1200" kern="1200" dirty="0" smtClean="0">
                <a:solidFill>
                  <a:schemeClr val="tx1"/>
                </a:solidFill>
                <a:latin typeface="+mn-lt"/>
                <a:ea typeface="+mn-ea"/>
                <a:cs typeface="+mn-cs"/>
              </a:rPr>
              <a:t> Food service to customers</a:t>
            </a:r>
          </a:p>
          <a:p>
            <a:pPr>
              <a:buFont typeface="Arial" pitchFamily="34" charset="0"/>
              <a:buChar char="•"/>
            </a:pPr>
            <a:r>
              <a:rPr lang="en-AU" sz="1200" kern="1200" dirty="0" smtClean="0">
                <a:solidFill>
                  <a:schemeClr val="tx1"/>
                </a:solidFill>
                <a:latin typeface="+mn-lt"/>
                <a:ea typeface="+mn-ea"/>
                <a:cs typeface="+mn-cs"/>
              </a:rPr>
              <a:t> Identifying the capacity for change within the business – and:</a:t>
            </a:r>
          </a:p>
          <a:p>
            <a:pPr lvl="1">
              <a:buFont typeface="Arial" pitchFamily="34" charset="0"/>
              <a:buChar char="•"/>
            </a:pPr>
            <a:r>
              <a:rPr lang="en-AU" sz="1200" kern="1200" dirty="0" smtClean="0">
                <a:solidFill>
                  <a:schemeClr val="tx1"/>
                </a:solidFill>
                <a:latin typeface="+mn-lt"/>
                <a:ea typeface="+mn-ea"/>
                <a:cs typeface="+mn-cs"/>
              </a:rPr>
              <a:t> The procedures to achieve such change</a:t>
            </a:r>
          </a:p>
          <a:p>
            <a:pPr lvl="1">
              <a:buFont typeface="Arial" pitchFamily="34" charset="0"/>
              <a:buChar char="•"/>
            </a:pPr>
            <a:r>
              <a:rPr lang="en-AU" sz="1200" kern="1200" dirty="0" smtClean="0">
                <a:solidFill>
                  <a:schemeClr val="tx1"/>
                </a:solidFill>
                <a:latin typeface="+mn-lt"/>
                <a:ea typeface="+mn-ea"/>
                <a:cs typeface="+mn-cs"/>
              </a:rPr>
              <a:t> The resources available to enable/support such change</a:t>
            </a:r>
          </a:p>
          <a:p>
            <a:pPr>
              <a:buFont typeface="Arial" pitchFamily="34" charset="0"/>
              <a:buChar char="•"/>
            </a:pPr>
            <a:r>
              <a:rPr lang="en-AU" sz="1200" kern="1200" dirty="0" smtClean="0">
                <a:solidFill>
                  <a:schemeClr val="tx1"/>
                </a:solidFill>
                <a:latin typeface="+mn-lt"/>
                <a:ea typeface="+mn-ea"/>
                <a:cs typeface="+mn-cs"/>
              </a:rPr>
              <a:t> Determining any strategic or competitive advantages enjoyed by the business – in terms of (for example):</a:t>
            </a:r>
          </a:p>
          <a:p>
            <a:pPr lvl="1">
              <a:buFont typeface="Arial" pitchFamily="34" charset="0"/>
              <a:buChar char="•"/>
            </a:pPr>
            <a:r>
              <a:rPr lang="en-AU" sz="1200" kern="1200" dirty="0" smtClean="0">
                <a:solidFill>
                  <a:schemeClr val="tx1"/>
                </a:solidFill>
                <a:latin typeface="+mn-lt"/>
                <a:ea typeface="+mn-ea"/>
                <a:cs typeface="+mn-cs"/>
              </a:rPr>
              <a:t> Unique selling points – products and/or services that other businesses do not have</a:t>
            </a:r>
          </a:p>
          <a:p>
            <a:pPr lvl="1">
              <a:buFont typeface="Arial" pitchFamily="34" charset="0"/>
              <a:buChar char="•"/>
            </a:pPr>
            <a:r>
              <a:rPr lang="en-AU" sz="1200" kern="1200" dirty="0" smtClean="0">
                <a:solidFill>
                  <a:schemeClr val="tx1"/>
                </a:solidFill>
                <a:latin typeface="+mn-lt"/>
                <a:ea typeface="+mn-ea"/>
                <a:cs typeface="+mn-cs"/>
              </a:rPr>
              <a:t> Information, experience and/or expertise</a:t>
            </a:r>
          </a:p>
          <a:p>
            <a:pPr lvl="1">
              <a:buFont typeface="Arial" pitchFamily="34" charset="0"/>
              <a:buChar char="•"/>
            </a:pPr>
            <a:r>
              <a:rPr lang="en-AU" sz="1200" kern="1200" dirty="0" smtClean="0">
                <a:solidFill>
                  <a:schemeClr val="tx1"/>
                </a:solidFill>
                <a:latin typeface="+mn-lt"/>
                <a:ea typeface="+mn-ea"/>
                <a:cs typeface="+mn-cs"/>
              </a:rPr>
              <a:t> Industry knowledge</a:t>
            </a:r>
          </a:p>
          <a:p>
            <a:pPr lvl="1">
              <a:buFont typeface="Arial" pitchFamily="34" charset="0"/>
              <a:buChar char="•"/>
            </a:pPr>
            <a:r>
              <a:rPr lang="en-AU" sz="1200" kern="1200" dirty="0" smtClean="0">
                <a:solidFill>
                  <a:schemeClr val="tx1"/>
                </a:solidFill>
                <a:latin typeface="+mn-lt"/>
                <a:ea typeface="+mn-ea"/>
                <a:cs typeface="+mn-cs"/>
              </a:rPr>
              <a:t> Internal systems</a:t>
            </a:r>
          </a:p>
          <a:p>
            <a:pPr lvl="1">
              <a:buFont typeface="Arial" pitchFamily="34" charset="0"/>
              <a:buChar char="•"/>
            </a:pPr>
            <a:r>
              <a:rPr lang="en-AU" sz="1200" kern="1200" dirty="0" smtClean="0">
                <a:solidFill>
                  <a:schemeClr val="tx1"/>
                </a:solidFill>
                <a:latin typeface="+mn-lt"/>
                <a:ea typeface="+mn-ea"/>
                <a:cs typeface="+mn-cs"/>
              </a:rPr>
              <a:t> Supplier contracts</a:t>
            </a:r>
          </a:p>
          <a:p>
            <a:pPr lvl="1">
              <a:buFont typeface="Arial" pitchFamily="34" charset="0"/>
              <a:buChar char="•"/>
            </a:pPr>
            <a:r>
              <a:rPr lang="en-AU" sz="1200" kern="1200" dirty="0" smtClean="0">
                <a:solidFill>
                  <a:schemeClr val="tx1"/>
                </a:solidFill>
                <a:latin typeface="+mn-lt"/>
                <a:ea typeface="+mn-ea"/>
                <a:cs typeface="+mn-cs"/>
              </a:rPr>
              <a:t> Industry contacts and/or partners.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baseline="0" dirty="0" smtClean="0"/>
              <a:t>Class Activity – Handouts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dirty="0" smtClean="0"/>
              <a:t>Trainer distributes sample Mission, Vision and Value Statements and discusses their relationship to and influence regarding food production and service.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presenting research topics when</a:t>
            </a:r>
            <a:r>
              <a:rPr lang="en-US" baseline="0" dirty="0" smtClean="0"/>
              <a:t> seeking to establish enterprise catering requirements for the selection of catering systems.</a:t>
            </a:r>
          </a:p>
          <a:p>
            <a:r>
              <a:rPr lang="en-AU" sz="1200" kern="1200" dirty="0" smtClean="0">
                <a:solidFill>
                  <a:schemeClr val="tx1"/>
                </a:solidFill>
                <a:latin typeface="+mn-lt"/>
                <a:ea typeface="+mn-ea"/>
                <a:cs typeface="+mn-cs"/>
              </a:rPr>
              <a:t>Research should address:</a:t>
            </a:r>
          </a:p>
          <a:p>
            <a:pPr>
              <a:buFont typeface="Arial" pitchFamily="34" charset="0"/>
              <a:buChar char="•"/>
            </a:pPr>
            <a:r>
              <a:rPr lang="en-AU" sz="1200" kern="1200" dirty="0" smtClean="0">
                <a:solidFill>
                  <a:schemeClr val="tx1"/>
                </a:solidFill>
                <a:latin typeface="+mn-lt"/>
                <a:ea typeface="+mn-ea"/>
                <a:cs typeface="+mn-cs"/>
              </a:rPr>
              <a:t> Availability of:</a:t>
            </a:r>
          </a:p>
          <a:p>
            <a:pPr lvl="1">
              <a:buFont typeface="Arial" pitchFamily="34" charset="0"/>
              <a:buChar char="•"/>
            </a:pPr>
            <a:r>
              <a:rPr lang="en-AU" sz="1200" kern="1200" dirty="0" smtClean="0">
                <a:solidFill>
                  <a:schemeClr val="tx1"/>
                </a:solidFill>
                <a:latin typeface="+mn-lt"/>
                <a:ea typeface="+mn-ea"/>
                <a:cs typeface="+mn-cs"/>
              </a:rPr>
              <a:t> Electricity</a:t>
            </a:r>
          </a:p>
          <a:p>
            <a:pPr lvl="1">
              <a:buFont typeface="Arial" pitchFamily="34" charset="0"/>
              <a:buChar char="•"/>
            </a:pPr>
            <a:r>
              <a:rPr lang="en-AU" sz="1200" kern="1200" dirty="0" smtClean="0">
                <a:solidFill>
                  <a:schemeClr val="tx1"/>
                </a:solidFill>
                <a:latin typeface="+mn-lt"/>
                <a:ea typeface="+mn-ea"/>
                <a:cs typeface="+mn-cs"/>
              </a:rPr>
              <a:t> Gas</a:t>
            </a:r>
          </a:p>
          <a:p>
            <a:pPr lvl="1">
              <a:buFont typeface="Arial" pitchFamily="34" charset="0"/>
              <a:buChar char="•"/>
            </a:pPr>
            <a:r>
              <a:rPr lang="en-AU" sz="1200" kern="1200" dirty="0" smtClean="0">
                <a:solidFill>
                  <a:schemeClr val="tx1"/>
                </a:solidFill>
                <a:latin typeface="+mn-lt"/>
                <a:ea typeface="+mn-ea"/>
                <a:cs typeface="+mn-cs"/>
              </a:rPr>
              <a:t> Water</a:t>
            </a:r>
          </a:p>
          <a:p>
            <a:pPr>
              <a:buFont typeface="Arial" pitchFamily="34" charset="0"/>
              <a:buChar char="•"/>
            </a:pPr>
            <a:r>
              <a:rPr lang="en-AU" sz="1200" kern="1200" dirty="0" smtClean="0">
                <a:solidFill>
                  <a:schemeClr val="tx1"/>
                </a:solidFill>
                <a:latin typeface="+mn-lt"/>
                <a:ea typeface="+mn-ea"/>
                <a:cs typeface="+mn-cs"/>
              </a:rPr>
              <a:t> Continuity and reliability of supply</a:t>
            </a:r>
          </a:p>
          <a:p>
            <a:pPr>
              <a:buFont typeface="Arial" pitchFamily="34" charset="0"/>
              <a:buChar char="•"/>
            </a:pPr>
            <a:r>
              <a:rPr lang="en-AU" sz="1200" kern="1200" dirty="0" smtClean="0">
                <a:solidFill>
                  <a:schemeClr val="tx1"/>
                </a:solidFill>
                <a:latin typeface="+mn-lt"/>
                <a:ea typeface="+mn-ea"/>
                <a:cs typeface="+mn-cs"/>
              </a:rPr>
              <a:t> Cost</a:t>
            </a:r>
          </a:p>
          <a:p>
            <a:pPr>
              <a:buFont typeface="Arial" pitchFamily="34" charset="0"/>
              <a:buChar char="•"/>
            </a:pPr>
            <a:r>
              <a:rPr lang="en-AU" sz="1200" kern="1200" dirty="0" smtClean="0">
                <a:solidFill>
                  <a:schemeClr val="tx1"/>
                </a:solidFill>
                <a:latin typeface="+mn-lt"/>
                <a:ea typeface="+mn-ea"/>
                <a:cs typeface="+mn-cs"/>
              </a:rPr>
              <a:t> Access.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research data with reference to ‘secondary’ data stating:</a:t>
            </a:r>
          </a:p>
          <a:p>
            <a:pPr>
              <a:buFont typeface="Arial" pitchFamily="34" charset="0"/>
              <a:buChar char="•"/>
            </a:pPr>
            <a:r>
              <a:rPr lang="en-AU" sz="1200" kern="1200" dirty="0" smtClean="0">
                <a:solidFill>
                  <a:schemeClr val="tx1"/>
                </a:solidFill>
                <a:latin typeface="+mn-lt"/>
                <a:ea typeface="+mn-ea"/>
                <a:cs typeface="+mn-cs"/>
              </a:rPr>
              <a:t> Secondary data is data/information that already exists.</a:t>
            </a:r>
          </a:p>
          <a:p>
            <a:pPr>
              <a:buFont typeface="Arial" pitchFamily="34" charset="0"/>
              <a:buChar char="•"/>
            </a:pPr>
            <a:r>
              <a:rPr lang="en-AU" sz="1200" kern="1200" dirty="0" smtClean="0">
                <a:solidFill>
                  <a:schemeClr val="tx1"/>
                </a:solidFill>
                <a:latin typeface="+mn-lt"/>
                <a:ea typeface="+mn-ea"/>
                <a:cs typeface="+mn-cs"/>
              </a:rPr>
              <a:t> It can be obtained by:</a:t>
            </a:r>
          </a:p>
          <a:p>
            <a:pPr lvl="1">
              <a:buFont typeface="Arial" pitchFamily="34" charset="0"/>
              <a:buChar char="•"/>
            </a:pPr>
            <a:r>
              <a:rPr lang="en-AU" sz="1200" kern="1200" dirty="0" smtClean="0">
                <a:solidFill>
                  <a:schemeClr val="tx1"/>
                </a:solidFill>
                <a:latin typeface="+mn-lt"/>
                <a:ea typeface="+mn-ea"/>
                <a:cs typeface="+mn-cs"/>
              </a:rPr>
              <a:t> Reading reports, articles and books</a:t>
            </a:r>
          </a:p>
          <a:p>
            <a:pPr lvl="1">
              <a:buFont typeface="Arial" pitchFamily="34" charset="0"/>
              <a:buChar char="•"/>
            </a:pPr>
            <a:r>
              <a:rPr lang="en-AU" sz="1200" kern="1200" dirty="0" smtClean="0">
                <a:solidFill>
                  <a:schemeClr val="tx1"/>
                </a:solidFill>
                <a:latin typeface="+mn-lt"/>
                <a:ea typeface="+mn-ea"/>
                <a:cs typeface="+mn-cs"/>
              </a:rPr>
              <a:t> Reviewing internal business trading information, performance statistics and operational reports</a:t>
            </a:r>
          </a:p>
          <a:p>
            <a:pPr lvl="1">
              <a:buFont typeface="Arial" pitchFamily="34" charset="0"/>
              <a:buChar char="•"/>
            </a:pPr>
            <a:r>
              <a:rPr lang="en-AU" sz="1200" kern="1200" dirty="0" smtClean="0">
                <a:solidFill>
                  <a:schemeClr val="tx1"/>
                </a:solidFill>
                <a:latin typeface="+mn-lt"/>
                <a:ea typeface="+mn-ea"/>
                <a:cs typeface="+mn-cs"/>
              </a:rPr>
              <a:t> Manipulating existing data.</a:t>
            </a:r>
          </a:p>
          <a:p>
            <a:pPr>
              <a:buFont typeface="Arial" pitchFamily="34" charset="0"/>
              <a:buNone/>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baseline="0" dirty="0" smtClean="0"/>
              <a:t>Class Activity – Handouts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dirty="0" smtClean="0"/>
              <a:t>Trainer distributes and discusses samples of secondary data which may be used (researched and referred to) as part of the research process.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research data with reference to ‘primary’ data stating:</a:t>
            </a:r>
          </a:p>
          <a:p>
            <a:pPr>
              <a:buFont typeface="Arial" pitchFamily="34" charset="0"/>
              <a:buChar char="•"/>
            </a:pPr>
            <a:r>
              <a:rPr lang="en-AU" sz="1200" kern="1200" dirty="0" smtClean="0">
                <a:solidFill>
                  <a:schemeClr val="tx1"/>
                </a:solidFill>
                <a:latin typeface="+mn-lt"/>
                <a:ea typeface="+mn-ea"/>
                <a:cs typeface="+mn-cs"/>
              </a:rPr>
              <a:t> Primary data is information which is new/original data.</a:t>
            </a:r>
          </a:p>
          <a:p>
            <a:pPr>
              <a:buFont typeface="Arial" pitchFamily="34" charset="0"/>
              <a:buChar char="•"/>
            </a:pPr>
            <a:r>
              <a:rPr lang="en-AU" sz="1200" kern="1200" dirty="0" smtClean="0">
                <a:solidFill>
                  <a:schemeClr val="tx1"/>
                </a:solidFill>
                <a:latin typeface="+mn-lt"/>
                <a:ea typeface="+mn-ea"/>
                <a:cs typeface="+mn-cs"/>
              </a:rPr>
              <a:t> It is generated as a result of:</a:t>
            </a:r>
          </a:p>
          <a:p>
            <a:pPr lvl="1">
              <a:buFont typeface="Arial" pitchFamily="34" charset="0"/>
              <a:buChar char="•"/>
            </a:pPr>
            <a:r>
              <a:rPr lang="en-AU" sz="1200" kern="1200" dirty="0" smtClean="0">
                <a:solidFill>
                  <a:schemeClr val="tx1"/>
                </a:solidFill>
                <a:latin typeface="+mn-lt"/>
                <a:ea typeface="+mn-ea"/>
                <a:cs typeface="+mn-cs"/>
              </a:rPr>
              <a:t> Asking questions and talking to people</a:t>
            </a:r>
          </a:p>
          <a:p>
            <a:pPr lvl="1">
              <a:buFont typeface="Arial" pitchFamily="34" charset="0"/>
              <a:buChar char="•"/>
            </a:pPr>
            <a:r>
              <a:rPr lang="en-AU" sz="1200" kern="1200" dirty="0" smtClean="0">
                <a:solidFill>
                  <a:schemeClr val="tx1"/>
                </a:solidFill>
                <a:latin typeface="+mn-lt"/>
                <a:ea typeface="+mn-ea"/>
                <a:cs typeface="+mn-cs"/>
              </a:rPr>
              <a:t> Observing practice and operations</a:t>
            </a:r>
          </a:p>
          <a:p>
            <a:pPr lvl="1">
              <a:buFont typeface="Arial" pitchFamily="34" charset="0"/>
              <a:buChar char="•"/>
            </a:pPr>
            <a:r>
              <a:rPr lang="en-AU" sz="1200" kern="1200" dirty="0" smtClean="0">
                <a:solidFill>
                  <a:schemeClr val="tx1"/>
                </a:solidFill>
                <a:latin typeface="+mn-lt"/>
                <a:ea typeface="+mn-ea"/>
                <a:cs typeface="+mn-cs"/>
              </a:rPr>
              <a:t> Market research activities – such as surveys, questionnaires and focus groups.</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concept of ‘qualitative’ and ‘quantitative’ data stating:</a:t>
            </a:r>
          </a:p>
          <a:p>
            <a:pPr>
              <a:buFont typeface="Arial" pitchFamily="34" charset="0"/>
              <a:buNone/>
            </a:pPr>
            <a:r>
              <a:rPr lang="en-AU" sz="1200" b="0" kern="1200" dirty="0" smtClean="0">
                <a:solidFill>
                  <a:schemeClr val="tx1"/>
                </a:solidFill>
                <a:latin typeface="+mn-lt"/>
                <a:ea typeface="+mn-ea"/>
                <a:cs typeface="+mn-cs"/>
              </a:rPr>
              <a:t>Qualitative data (also known as ‘soft’ data) relates to:</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Descriptions of things – such as:</a:t>
            </a:r>
          </a:p>
          <a:p>
            <a:pPr lvl="1">
              <a:buFont typeface="Arial" pitchFamily="34" charset="0"/>
              <a:buChar char="•"/>
            </a:pPr>
            <a:r>
              <a:rPr lang="en-AU" sz="1200" kern="1200" dirty="0" smtClean="0">
                <a:solidFill>
                  <a:schemeClr val="tx1"/>
                </a:solidFill>
                <a:latin typeface="+mn-lt"/>
                <a:ea typeface="+mn-ea"/>
                <a:cs typeface="+mn-cs"/>
              </a:rPr>
              <a:t> “A large venue with extensive facilities serving a wide variety of target markets”</a:t>
            </a:r>
          </a:p>
          <a:p>
            <a:pPr lvl="1">
              <a:buFont typeface="Arial" pitchFamily="34" charset="0"/>
              <a:buChar char="•"/>
            </a:pPr>
            <a:r>
              <a:rPr lang="en-AU" sz="1200" kern="1200" dirty="0" smtClean="0">
                <a:solidFill>
                  <a:schemeClr val="tx1"/>
                </a:solidFill>
                <a:latin typeface="+mn-lt"/>
                <a:ea typeface="+mn-ea"/>
                <a:cs typeface="+mn-cs"/>
              </a:rPr>
              <a:t> “The kitchen features conventional service and uses equipment which was installed in the venue after being removed from the organisation’s previous property in Singapore”</a:t>
            </a:r>
          </a:p>
          <a:p>
            <a:pPr>
              <a:buFont typeface="Arial" pitchFamily="34" charset="0"/>
              <a:buChar char="•"/>
            </a:pPr>
            <a:r>
              <a:rPr lang="en-AU" sz="1200" kern="1200" dirty="0" smtClean="0">
                <a:solidFill>
                  <a:schemeClr val="tx1"/>
                </a:solidFill>
                <a:latin typeface="+mn-lt"/>
                <a:ea typeface="+mn-ea"/>
                <a:cs typeface="+mn-cs"/>
              </a:rPr>
              <a:t> Explanations of preferences and behaviour – detailing:</a:t>
            </a:r>
          </a:p>
          <a:p>
            <a:pPr lvl="1">
              <a:buFont typeface="Arial" pitchFamily="34" charset="0"/>
              <a:buChar char="•"/>
            </a:pPr>
            <a:r>
              <a:rPr lang="en-AU" sz="1200" kern="1200" dirty="0" smtClean="0">
                <a:solidFill>
                  <a:schemeClr val="tx1"/>
                </a:solidFill>
                <a:latin typeface="+mn-lt"/>
                <a:ea typeface="+mn-ea"/>
                <a:cs typeface="+mn-cs"/>
              </a:rPr>
              <a:t> Why people have selected certain systems/equipment for their food production and service</a:t>
            </a:r>
          </a:p>
          <a:p>
            <a:pPr lvl="1">
              <a:buFont typeface="Arial" pitchFamily="34" charset="0"/>
              <a:buChar char="•"/>
            </a:pPr>
            <a:r>
              <a:rPr lang="en-AU" sz="1200" kern="1200" dirty="0" smtClean="0">
                <a:solidFill>
                  <a:schemeClr val="tx1"/>
                </a:solidFill>
                <a:latin typeface="+mn-lt"/>
                <a:ea typeface="+mn-ea"/>
                <a:cs typeface="+mn-cs"/>
              </a:rPr>
              <a:t> Reasons why businesses do not use certain systems/technologies in their food production/service</a:t>
            </a:r>
          </a:p>
          <a:p>
            <a:pPr lvl="1">
              <a:buFont typeface="Arial" pitchFamily="34" charset="0"/>
              <a:buChar char="•"/>
            </a:pPr>
            <a:r>
              <a:rPr lang="en-AU" sz="1200" kern="1200" dirty="0" smtClean="0">
                <a:solidFill>
                  <a:schemeClr val="tx1"/>
                </a:solidFill>
                <a:latin typeface="+mn-lt"/>
                <a:ea typeface="+mn-ea"/>
                <a:cs typeface="+mn-cs"/>
              </a:rPr>
              <a:t> What other organisations think about nominated food production and food service options.</a:t>
            </a:r>
          </a:p>
          <a:p>
            <a:pPr>
              <a:buFont typeface="Arial" pitchFamily="34" charset="0"/>
              <a:buChar char="•"/>
            </a:pPr>
            <a:r>
              <a:rPr lang="en-AU" sz="1200" kern="1200" dirty="0" smtClean="0">
                <a:solidFill>
                  <a:schemeClr val="tx1"/>
                </a:solidFill>
                <a:latin typeface="+mn-lt"/>
                <a:ea typeface="+mn-ea"/>
                <a:cs typeface="+mn-cs"/>
              </a:rPr>
              <a:t> Any issues which cannot be measured/quantified – essentially these issues revolve around answers to ‘Why?’ questions: </a:t>
            </a:r>
          </a:p>
          <a:p>
            <a:pPr lvl="1">
              <a:buFont typeface="Arial" pitchFamily="34" charset="0"/>
              <a:buChar char="•"/>
            </a:pPr>
            <a:r>
              <a:rPr lang="en-AU" sz="1200" kern="1200" dirty="0" smtClean="0">
                <a:solidFill>
                  <a:schemeClr val="tx1"/>
                </a:solidFill>
                <a:latin typeface="+mn-lt"/>
                <a:ea typeface="+mn-ea"/>
                <a:cs typeface="+mn-cs"/>
              </a:rPr>
              <a:t> “Why did you do this?” </a:t>
            </a:r>
          </a:p>
          <a:p>
            <a:pPr lvl="1">
              <a:buFont typeface="Arial" pitchFamily="34" charset="0"/>
              <a:buChar char="•"/>
            </a:pPr>
            <a:r>
              <a:rPr lang="en-AU" sz="1200" kern="1200" dirty="0" smtClean="0">
                <a:solidFill>
                  <a:schemeClr val="tx1"/>
                </a:solidFill>
                <a:latin typeface="+mn-lt"/>
                <a:ea typeface="+mn-ea"/>
                <a:cs typeface="+mn-cs"/>
              </a:rPr>
              <a:t> “Why did you </a:t>
            </a:r>
            <a:r>
              <a:rPr lang="en-AU" sz="1200" i="1" kern="1200" dirty="0" smtClean="0">
                <a:solidFill>
                  <a:schemeClr val="tx1"/>
                </a:solidFill>
                <a:latin typeface="+mn-lt"/>
                <a:ea typeface="+mn-ea"/>
                <a:cs typeface="+mn-cs"/>
              </a:rPr>
              <a:t>not</a:t>
            </a:r>
            <a:r>
              <a:rPr lang="en-AU" sz="1200" kern="1200" dirty="0" smtClean="0">
                <a:solidFill>
                  <a:schemeClr val="tx1"/>
                </a:solidFill>
                <a:latin typeface="+mn-lt"/>
                <a:ea typeface="+mn-ea"/>
                <a:cs typeface="+mn-cs"/>
              </a:rPr>
              <a:t> do that?”</a:t>
            </a:r>
          </a:p>
          <a:p>
            <a:pPr>
              <a:buFont typeface="Arial" pitchFamily="34" charset="0"/>
              <a:buNone/>
            </a:pPr>
            <a:endParaRPr lang="en-US" dirty="0" smtClean="0"/>
          </a:p>
          <a:p>
            <a:pPr>
              <a:buFont typeface="Arial" pitchFamily="34" charset="0"/>
              <a:buNone/>
            </a:pPr>
            <a:r>
              <a:rPr lang="en-US" b="1" dirty="0" smtClean="0"/>
              <a:t>Class Activity – Handouts</a:t>
            </a:r>
          </a:p>
          <a:p>
            <a:pPr>
              <a:buFont typeface="Arial" pitchFamily="34" charset="0"/>
              <a:buNone/>
            </a:pPr>
            <a:r>
              <a:rPr lang="en-US" b="0" dirty="0" smtClean="0"/>
              <a:t>Trainer distributes and discusses sample qualitative data explaining its relevance to the research process.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‘quantitative’ data stating:</a:t>
            </a:r>
          </a:p>
          <a:p>
            <a:pPr>
              <a:buFont typeface="Arial" pitchFamily="34" charset="0"/>
              <a:buNone/>
            </a:pPr>
            <a:r>
              <a:rPr lang="en-AU" sz="1200" b="0" kern="1200" dirty="0" smtClean="0">
                <a:solidFill>
                  <a:schemeClr val="tx1"/>
                </a:solidFill>
                <a:latin typeface="+mn-lt"/>
                <a:ea typeface="+mn-ea"/>
                <a:cs typeface="+mn-cs"/>
              </a:rPr>
              <a:t>Quantitative data (also known as ‘hard’ data) is statistical in nature.</a:t>
            </a: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 It includes:</a:t>
            </a:r>
            <a:endParaRPr lang="en-AU" sz="1200" b="1"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Numbers/figures – relating to topics such as:</a:t>
            </a:r>
          </a:p>
          <a:p>
            <a:pPr lvl="1">
              <a:buFont typeface="Arial" pitchFamily="34" charset="0"/>
              <a:buChar char="•"/>
            </a:pPr>
            <a:r>
              <a:rPr lang="en-AU" sz="1200" kern="1200" dirty="0" smtClean="0">
                <a:solidFill>
                  <a:schemeClr val="tx1"/>
                </a:solidFill>
                <a:latin typeface="+mn-lt"/>
                <a:ea typeface="+mn-ea"/>
                <a:cs typeface="+mn-cs"/>
              </a:rPr>
              <a:t> Costs – of equipment, installation and estimates for service/maintenance/repairs </a:t>
            </a:r>
          </a:p>
          <a:p>
            <a:pPr lvl="1">
              <a:buFont typeface="Arial" pitchFamily="34" charset="0"/>
              <a:buChar char="•"/>
            </a:pPr>
            <a:r>
              <a:rPr lang="en-AU" sz="1200" kern="1200" dirty="0" smtClean="0">
                <a:solidFill>
                  <a:schemeClr val="tx1"/>
                </a:solidFill>
                <a:latin typeface="+mn-lt"/>
                <a:ea typeface="+mn-ea"/>
                <a:cs typeface="+mn-cs"/>
              </a:rPr>
              <a:t> Time – to deliver, install and commission systems</a:t>
            </a:r>
          </a:p>
          <a:p>
            <a:pPr lvl="1">
              <a:buFont typeface="Arial" pitchFamily="34" charset="0"/>
              <a:buChar char="•"/>
            </a:pPr>
            <a:r>
              <a:rPr lang="en-AU" sz="1200" kern="1200" dirty="0" smtClean="0">
                <a:solidFill>
                  <a:schemeClr val="tx1"/>
                </a:solidFill>
                <a:latin typeface="+mn-lt"/>
                <a:ea typeface="+mn-ea"/>
                <a:cs typeface="+mn-cs"/>
              </a:rPr>
              <a:t> Speed – of processing food; delivering meals; cooking dishes</a:t>
            </a:r>
          </a:p>
          <a:p>
            <a:pPr lvl="1">
              <a:buFont typeface="Arial" pitchFamily="34" charset="0"/>
              <a:buChar char="•"/>
            </a:pPr>
            <a:r>
              <a:rPr lang="en-AU" sz="1200" kern="1200" dirty="0" smtClean="0">
                <a:solidFill>
                  <a:schemeClr val="tx1"/>
                </a:solidFill>
                <a:latin typeface="+mn-lt"/>
                <a:ea typeface="+mn-ea"/>
                <a:cs typeface="+mn-cs"/>
              </a:rPr>
              <a:t> Temperature – of cooking and holding equipment</a:t>
            </a:r>
          </a:p>
          <a:p>
            <a:pPr lvl="1">
              <a:buFont typeface="Arial" pitchFamily="34" charset="0"/>
              <a:buChar char="•"/>
            </a:pPr>
            <a:r>
              <a:rPr lang="en-AU" sz="1200" kern="1200" dirty="0" smtClean="0">
                <a:solidFill>
                  <a:schemeClr val="tx1"/>
                </a:solidFill>
                <a:latin typeface="+mn-lt"/>
                <a:ea typeface="+mn-ea"/>
                <a:cs typeface="+mn-cs"/>
              </a:rPr>
              <a:t> Demand levels – for meals</a:t>
            </a:r>
          </a:p>
          <a:p>
            <a:pPr lvl="1">
              <a:buFont typeface="Arial" pitchFamily="34" charset="0"/>
              <a:buChar char="•"/>
            </a:pPr>
            <a:r>
              <a:rPr lang="en-AU" sz="1200" kern="1200" dirty="0" smtClean="0">
                <a:solidFill>
                  <a:schemeClr val="tx1"/>
                </a:solidFill>
                <a:latin typeface="+mn-lt"/>
                <a:ea typeface="+mn-ea"/>
                <a:cs typeface="+mn-cs"/>
              </a:rPr>
              <a:t> Capacity and volume – of individual items of equipment/systems for delivering or producing menu items</a:t>
            </a:r>
          </a:p>
          <a:p>
            <a:pPr>
              <a:buFont typeface="Arial" pitchFamily="34" charset="0"/>
              <a:buChar char="•"/>
            </a:pPr>
            <a:r>
              <a:rPr lang="en-AU" sz="1200" kern="1200" dirty="0" smtClean="0">
                <a:solidFill>
                  <a:schemeClr val="tx1"/>
                </a:solidFill>
                <a:latin typeface="+mn-lt"/>
                <a:ea typeface="+mn-ea"/>
                <a:cs typeface="+mn-cs"/>
              </a:rPr>
              <a:t> Percentages – such as:</a:t>
            </a:r>
          </a:p>
          <a:p>
            <a:pPr lvl="1">
              <a:buFont typeface="Arial" pitchFamily="34" charset="0"/>
              <a:buChar char="•"/>
            </a:pPr>
            <a:r>
              <a:rPr lang="en-AU" sz="1200" kern="1200" dirty="0" smtClean="0">
                <a:solidFill>
                  <a:schemeClr val="tx1"/>
                </a:solidFill>
                <a:latin typeface="+mn-lt"/>
                <a:ea typeface="+mn-ea"/>
                <a:cs typeface="+mn-cs"/>
              </a:rPr>
              <a:t> Food cost percentage – the amount represented by the cost of food in the selling price of a menu item</a:t>
            </a:r>
          </a:p>
          <a:p>
            <a:pPr lvl="1">
              <a:buFont typeface="Arial" pitchFamily="34" charset="0"/>
              <a:buChar char="•"/>
            </a:pPr>
            <a:r>
              <a:rPr lang="en-AU" sz="1200" kern="1200" dirty="0" smtClean="0">
                <a:solidFill>
                  <a:schemeClr val="tx1"/>
                </a:solidFill>
                <a:latin typeface="+mn-lt"/>
                <a:ea typeface="+mn-ea"/>
                <a:cs typeface="+mn-cs"/>
              </a:rPr>
              <a:t> Labour percentage – the amount of labour/wages in the selling price of a dish</a:t>
            </a:r>
          </a:p>
          <a:p>
            <a:pPr lvl="1">
              <a:buFont typeface="Arial" pitchFamily="34" charset="0"/>
              <a:buChar char="•"/>
            </a:pPr>
            <a:r>
              <a:rPr lang="en-AU" sz="1200" kern="1200" dirty="0" smtClean="0">
                <a:solidFill>
                  <a:schemeClr val="tx1"/>
                </a:solidFill>
                <a:latin typeface="+mn-lt"/>
                <a:ea typeface="+mn-ea"/>
                <a:cs typeface="+mn-cs"/>
              </a:rPr>
              <a:t> Return on Investment – the profit the venue obtains based on money invested</a:t>
            </a:r>
          </a:p>
          <a:p>
            <a:pPr>
              <a:buFont typeface="Arial" pitchFamily="34" charset="0"/>
              <a:buNone/>
            </a:pPr>
            <a:endParaRPr lang="en-US" dirty="0" smtClean="0"/>
          </a:p>
          <a:p>
            <a:pPr>
              <a:buFont typeface="Arial" pitchFamily="34" charset="0"/>
              <a:buNone/>
            </a:pPr>
            <a:r>
              <a:rPr lang="en-US" b="1" dirty="0" smtClean="0"/>
              <a:t>Class Activity – Handouts</a:t>
            </a:r>
          </a:p>
          <a:p>
            <a:pPr>
              <a:buFont typeface="Arial" pitchFamily="34" charset="0"/>
              <a:buNone/>
            </a:pPr>
            <a:r>
              <a:rPr lang="en-US" b="0" dirty="0" smtClean="0"/>
              <a:t>Trainer distributes and discusses sample quantitative data explaining its relevance to the research process.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stresses need for involving others in the research and decision making</a:t>
            </a:r>
            <a:r>
              <a:rPr lang="en-US" baseline="0" dirty="0" smtClean="0"/>
              <a:t> process when selecting catering systems identifying those who may be involved/asked to participate:</a:t>
            </a:r>
          </a:p>
          <a:p>
            <a:pPr>
              <a:buFont typeface="Arial" pitchFamily="34" charset="0"/>
              <a:buChar char="•"/>
            </a:pPr>
            <a:r>
              <a:rPr lang="en-AU" sz="1200" kern="1200" dirty="0" smtClean="0">
                <a:solidFill>
                  <a:schemeClr val="tx1"/>
                </a:solidFill>
                <a:latin typeface="+mn-lt"/>
                <a:ea typeface="+mn-ea"/>
                <a:cs typeface="+mn-cs"/>
              </a:rPr>
              <a:t> Senior management – including:</a:t>
            </a:r>
          </a:p>
          <a:p>
            <a:pPr lvl="1">
              <a:buFont typeface="Arial" pitchFamily="34" charset="0"/>
              <a:buChar char="•"/>
            </a:pPr>
            <a:r>
              <a:rPr lang="en-AU" sz="1200" kern="1200" dirty="0" smtClean="0">
                <a:solidFill>
                  <a:schemeClr val="tx1"/>
                </a:solidFill>
                <a:latin typeface="+mn-lt"/>
                <a:ea typeface="+mn-ea"/>
                <a:cs typeface="+mn-cs"/>
              </a:rPr>
              <a:t> Venue manager/s</a:t>
            </a:r>
          </a:p>
          <a:p>
            <a:pPr lvl="1">
              <a:buFont typeface="Arial" pitchFamily="34" charset="0"/>
              <a:buChar char="•"/>
            </a:pPr>
            <a:r>
              <a:rPr lang="en-AU" sz="1200" kern="1200" dirty="0" smtClean="0">
                <a:solidFill>
                  <a:schemeClr val="tx1"/>
                </a:solidFill>
                <a:latin typeface="+mn-lt"/>
                <a:ea typeface="+mn-ea"/>
                <a:cs typeface="+mn-cs"/>
              </a:rPr>
              <a:t> Director or CEO</a:t>
            </a:r>
          </a:p>
          <a:p>
            <a:pPr lvl="1">
              <a:buFont typeface="Arial" pitchFamily="34" charset="0"/>
              <a:buChar char="•"/>
            </a:pPr>
            <a:r>
              <a:rPr lang="en-AU" sz="1200" kern="1200" dirty="0" smtClean="0">
                <a:solidFill>
                  <a:schemeClr val="tx1"/>
                </a:solidFill>
                <a:latin typeface="+mn-lt"/>
                <a:ea typeface="+mn-ea"/>
                <a:cs typeface="+mn-cs"/>
              </a:rPr>
              <a:t> The Board of Management, Board of Directors or the Executive</a:t>
            </a:r>
          </a:p>
          <a:p>
            <a:pPr lvl="1">
              <a:buFont typeface="Arial" pitchFamily="34" charset="0"/>
              <a:buChar char="•"/>
            </a:pPr>
            <a:r>
              <a:rPr lang="en-AU" sz="1200" kern="1200" dirty="0" smtClean="0">
                <a:solidFill>
                  <a:schemeClr val="tx1"/>
                </a:solidFill>
                <a:latin typeface="+mn-lt"/>
                <a:ea typeface="+mn-ea"/>
                <a:cs typeface="+mn-cs"/>
              </a:rPr>
              <a:t> Head Office representatives </a:t>
            </a:r>
          </a:p>
          <a:p>
            <a:pPr>
              <a:buFont typeface="Arial" pitchFamily="34" charset="0"/>
              <a:buChar char="•"/>
            </a:pPr>
            <a:r>
              <a:rPr lang="en-AU" sz="1200" kern="1200" dirty="0" smtClean="0">
                <a:solidFill>
                  <a:schemeClr val="tx1"/>
                </a:solidFill>
                <a:latin typeface="+mn-lt"/>
                <a:ea typeface="+mn-ea"/>
                <a:cs typeface="+mn-cs"/>
              </a:rPr>
              <a:t> Owners </a:t>
            </a:r>
          </a:p>
          <a:p>
            <a:pPr>
              <a:buFont typeface="Arial" pitchFamily="34" charset="0"/>
              <a:buChar char="•"/>
            </a:pPr>
            <a:r>
              <a:rPr lang="en-AU" sz="1200" kern="1200" dirty="0" smtClean="0">
                <a:solidFill>
                  <a:schemeClr val="tx1"/>
                </a:solidFill>
                <a:latin typeface="+mn-lt"/>
                <a:ea typeface="+mn-ea"/>
                <a:cs typeface="+mn-cs"/>
              </a:rPr>
              <a:t> Contractors and sub-contractors – especially where aspects of catering have been outsourced</a:t>
            </a:r>
          </a:p>
          <a:p>
            <a:pPr>
              <a:buFont typeface="Arial" pitchFamily="34" charset="0"/>
              <a:buChar char="•"/>
            </a:pPr>
            <a:r>
              <a:rPr lang="en-AU" sz="1200" kern="1200" dirty="0" smtClean="0">
                <a:solidFill>
                  <a:schemeClr val="tx1"/>
                </a:solidFill>
                <a:latin typeface="+mn-lt"/>
                <a:ea typeface="+mn-ea"/>
                <a:cs typeface="+mn-cs"/>
              </a:rPr>
              <a:t> Accountants and financial management staff/CFO – including external lenders</a:t>
            </a:r>
          </a:p>
          <a:p>
            <a:pPr>
              <a:buFont typeface="Arial" pitchFamily="34" charset="0"/>
              <a:buChar char="•"/>
            </a:pPr>
            <a:r>
              <a:rPr lang="en-AU" sz="1200" kern="1200" dirty="0" smtClean="0">
                <a:solidFill>
                  <a:schemeClr val="tx1"/>
                </a:solidFill>
                <a:latin typeface="+mn-lt"/>
                <a:ea typeface="+mn-ea"/>
                <a:cs typeface="+mn-cs"/>
              </a:rPr>
              <a:t> Specialist consultants – with expertise in catering/food production and service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those who may be involved in the research and decision</a:t>
            </a:r>
            <a:r>
              <a:rPr lang="en-US" baseline="0" dirty="0" smtClean="0"/>
              <a:t> making process for selecting a catering system:</a:t>
            </a:r>
          </a:p>
          <a:p>
            <a:pPr>
              <a:buFont typeface="Arial" pitchFamily="34" charset="0"/>
              <a:buChar char="•"/>
            </a:pPr>
            <a:r>
              <a:rPr lang="en-AU" sz="1200" kern="1200" dirty="0" smtClean="0">
                <a:solidFill>
                  <a:schemeClr val="tx1"/>
                </a:solidFill>
                <a:latin typeface="+mn-lt"/>
                <a:ea typeface="+mn-ea"/>
                <a:cs typeface="+mn-cs"/>
              </a:rPr>
              <a:t> Head chefs/Executive chefs and section chefs</a:t>
            </a:r>
          </a:p>
          <a:p>
            <a:pPr>
              <a:buFont typeface="Arial" pitchFamily="34" charset="0"/>
              <a:buChar char="•"/>
            </a:pPr>
            <a:r>
              <a:rPr lang="en-AU" sz="1200" kern="1200" dirty="0" smtClean="0">
                <a:solidFill>
                  <a:schemeClr val="tx1"/>
                </a:solidFill>
                <a:latin typeface="+mn-lt"/>
                <a:ea typeface="+mn-ea"/>
                <a:cs typeface="+mn-cs"/>
              </a:rPr>
              <a:t> Food and Beverage managers/supervisors and/or Foodservice Directors</a:t>
            </a:r>
          </a:p>
          <a:p>
            <a:pPr>
              <a:buFont typeface="Arial" pitchFamily="34" charset="0"/>
              <a:buChar char="•"/>
            </a:pPr>
            <a:r>
              <a:rPr lang="en-AU" sz="1200" kern="1200" dirty="0" smtClean="0">
                <a:solidFill>
                  <a:schemeClr val="tx1"/>
                </a:solidFill>
                <a:latin typeface="+mn-lt"/>
                <a:ea typeface="+mn-ea"/>
                <a:cs typeface="+mn-cs"/>
              </a:rPr>
              <a:t> Function, Event and Banquet managers</a:t>
            </a:r>
          </a:p>
          <a:p>
            <a:pPr>
              <a:buFont typeface="Arial" pitchFamily="34" charset="0"/>
              <a:buChar char="•"/>
            </a:pPr>
            <a:r>
              <a:rPr lang="en-AU" sz="1200" kern="1200" dirty="0" smtClean="0">
                <a:solidFill>
                  <a:schemeClr val="tx1"/>
                </a:solidFill>
                <a:latin typeface="+mn-lt"/>
                <a:ea typeface="+mn-ea"/>
                <a:cs typeface="+mn-cs"/>
              </a:rPr>
              <a:t> Menu planners</a:t>
            </a:r>
          </a:p>
          <a:p>
            <a:pPr>
              <a:buFont typeface="Arial" pitchFamily="34" charset="0"/>
              <a:buChar char="•"/>
            </a:pPr>
            <a:r>
              <a:rPr lang="en-AU" sz="1200" kern="1200" dirty="0" smtClean="0">
                <a:solidFill>
                  <a:schemeClr val="tx1"/>
                </a:solidFill>
                <a:latin typeface="+mn-lt"/>
                <a:ea typeface="+mn-ea"/>
                <a:cs typeface="+mn-cs"/>
              </a:rPr>
              <a:t> Dieticians and nutritionists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those who may be involved in the research and decision</a:t>
            </a:r>
            <a:r>
              <a:rPr lang="en-US" baseline="0" dirty="0" smtClean="0"/>
              <a:t> making process for selecting a catering system:</a:t>
            </a:r>
          </a:p>
          <a:p>
            <a:pPr>
              <a:buFont typeface="Arial" pitchFamily="34" charset="0"/>
              <a:buChar char="•"/>
            </a:pPr>
            <a:r>
              <a:rPr lang="en-AU" sz="1200" kern="1200" dirty="0" smtClean="0">
                <a:solidFill>
                  <a:schemeClr val="tx1"/>
                </a:solidFill>
                <a:latin typeface="+mn-lt"/>
                <a:ea typeface="+mn-ea"/>
                <a:cs typeface="+mn-cs"/>
              </a:rPr>
              <a:t> A combination of management-level employees and operational staff from a range of internal departments/divisions and workplace groups/teams with responsibility for:</a:t>
            </a:r>
          </a:p>
          <a:p>
            <a:pPr lvl="1">
              <a:buFont typeface="Arial" pitchFamily="34" charset="0"/>
              <a:buChar char="•"/>
            </a:pPr>
            <a:r>
              <a:rPr lang="en-AU" sz="1200" kern="1200" dirty="0" smtClean="0">
                <a:solidFill>
                  <a:schemeClr val="tx1"/>
                </a:solidFill>
                <a:latin typeface="+mn-lt"/>
                <a:ea typeface="+mn-ea"/>
                <a:cs typeface="+mn-cs"/>
              </a:rPr>
              <a:t> Sales and Marketing</a:t>
            </a:r>
          </a:p>
          <a:p>
            <a:pPr lvl="1">
              <a:buFont typeface="Arial" pitchFamily="34" charset="0"/>
              <a:buChar char="•"/>
            </a:pPr>
            <a:r>
              <a:rPr lang="en-AU" sz="1200" kern="1200" dirty="0" smtClean="0">
                <a:solidFill>
                  <a:schemeClr val="tx1"/>
                </a:solidFill>
                <a:latin typeface="+mn-lt"/>
                <a:ea typeface="+mn-ea"/>
                <a:cs typeface="+mn-cs"/>
              </a:rPr>
              <a:t> HR</a:t>
            </a:r>
          </a:p>
          <a:p>
            <a:pPr lvl="1">
              <a:buFont typeface="Arial" pitchFamily="34" charset="0"/>
              <a:buChar char="•"/>
            </a:pPr>
            <a:r>
              <a:rPr lang="en-AU" sz="1200" kern="1200" dirty="0" smtClean="0">
                <a:solidFill>
                  <a:schemeClr val="tx1"/>
                </a:solidFill>
                <a:latin typeface="+mn-lt"/>
                <a:ea typeface="+mn-ea"/>
                <a:cs typeface="+mn-cs"/>
              </a:rPr>
              <a:t> Purchasing</a:t>
            </a:r>
          </a:p>
          <a:p>
            <a:pPr lvl="1">
              <a:buFont typeface="Arial" pitchFamily="34" charset="0"/>
              <a:buChar char="•"/>
            </a:pPr>
            <a:r>
              <a:rPr lang="en-AU" sz="1200" kern="1200" dirty="0" smtClean="0">
                <a:solidFill>
                  <a:schemeClr val="tx1"/>
                </a:solidFill>
                <a:latin typeface="+mn-lt"/>
                <a:ea typeface="+mn-ea"/>
                <a:cs typeface="+mn-cs"/>
              </a:rPr>
              <a:t> Training and Development</a:t>
            </a:r>
          </a:p>
          <a:p>
            <a:pPr lvl="1">
              <a:buFont typeface="Arial" pitchFamily="34" charset="0"/>
              <a:buChar char="•"/>
            </a:pPr>
            <a:r>
              <a:rPr lang="en-AU" sz="1200" kern="1200" dirty="0" smtClean="0">
                <a:solidFill>
                  <a:schemeClr val="tx1"/>
                </a:solidFill>
                <a:latin typeface="+mn-lt"/>
                <a:ea typeface="+mn-ea"/>
                <a:cs typeface="+mn-cs"/>
              </a:rPr>
              <a:t> Food safety</a:t>
            </a:r>
          </a:p>
          <a:p>
            <a:pPr lvl="1">
              <a:buFont typeface="Arial" pitchFamily="34" charset="0"/>
              <a:buChar char="•"/>
            </a:pPr>
            <a:r>
              <a:rPr lang="en-AU" sz="1200" kern="1200" dirty="0" smtClean="0">
                <a:solidFill>
                  <a:schemeClr val="tx1"/>
                </a:solidFill>
                <a:latin typeface="+mn-lt"/>
                <a:ea typeface="+mn-ea"/>
                <a:cs typeface="+mn-cs"/>
              </a:rPr>
              <a:t> Workplace health and safety</a:t>
            </a:r>
          </a:p>
          <a:p>
            <a:pPr lvl="1">
              <a:buFont typeface="Arial" pitchFamily="34" charset="0"/>
              <a:buChar char="•"/>
            </a:pPr>
            <a:r>
              <a:rPr lang="en-AU" sz="1200" kern="1200" dirty="0" smtClean="0">
                <a:solidFill>
                  <a:schemeClr val="tx1"/>
                </a:solidFill>
                <a:latin typeface="+mn-lt"/>
                <a:ea typeface="+mn-ea"/>
                <a:cs typeface="+mn-cs"/>
              </a:rPr>
              <a:t> Maintenance </a:t>
            </a:r>
          </a:p>
          <a:p>
            <a:pPr>
              <a:buFont typeface="Arial" pitchFamily="34" charset="0"/>
              <a:buChar char="•"/>
            </a:pPr>
            <a:r>
              <a:rPr lang="en-AU" sz="1200" kern="1200" dirty="0" smtClean="0">
                <a:solidFill>
                  <a:schemeClr val="tx1"/>
                </a:solidFill>
                <a:latin typeface="+mn-lt"/>
                <a:ea typeface="+mn-ea"/>
                <a:cs typeface="+mn-cs"/>
              </a:rPr>
              <a:t> Representatives from suppliers – who provide system elements (technology and equipment)</a:t>
            </a:r>
          </a:p>
          <a:p>
            <a:pPr>
              <a:buFont typeface="Arial" pitchFamily="34" charset="0"/>
              <a:buChar char="•"/>
            </a:pPr>
            <a:r>
              <a:rPr lang="en-AU" sz="1200" kern="1200" dirty="0" smtClean="0">
                <a:solidFill>
                  <a:schemeClr val="tx1"/>
                </a:solidFill>
                <a:latin typeface="+mn-lt"/>
                <a:ea typeface="+mn-ea"/>
                <a:cs typeface="+mn-cs"/>
              </a:rPr>
              <a:t> Officers and inspectors from local health/food safety authorities</a:t>
            </a:r>
          </a:p>
          <a:p>
            <a:pPr>
              <a:buFont typeface="Arial" pitchFamily="34" charset="0"/>
              <a:buChar char="•"/>
            </a:pPr>
            <a:r>
              <a:rPr lang="en-AU" sz="1200" kern="1200" dirty="0" smtClean="0">
                <a:solidFill>
                  <a:schemeClr val="tx1"/>
                </a:solidFill>
                <a:latin typeface="+mn-lt"/>
                <a:ea typeface="+mn-ea"/>
                <a:cs typeface="+mn-cs"/>
              </a:rPr>
              <a:t> Representative(s) from target customer/guest group.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highlights the need to identify enterprise constraints as part of the research process when selecting a catering system identifying a range of possible constraints.</a:t>
            </a:r>
          </a:p>
          <a:p>
            <a:pPr>
              <a:buFont typeface="Arial" pitchFamily="34" charset="0"/>
              <a:buNone/>
            </a:pPr>
            <a:r>
              <a:rPr lang="en-US" b="1" dirty="0" smtClean="0"/>
              <a:t>Financial constraints</a:t>
            </a:r>
          </a:p>
          <a:p>
            <a:r>
              <a:rPr lang="en-AU" sz="1200" kern="1200" dirty="0" smtClean="0">
                <a:solidFill>
                  <a:schemeClr val="tx1"/>
                </a:solidFill>
                <a:latin typeface="+mn-lt"/>
                <a:ea typeface="+mn-ea"/>
                <a:cs typeface="+mn-cs"/>
              </a:rPr>
              <a:t>In relation to financial constraints:</a:t>
            </a:r>
          </a:p>
          <a:p>
            <a:pPr>
              <a:buFont typeface="Arial" pitchFamily="34" charset="0"/>
              <a:buChar char="•"/>
            </a:pPr>
            <a:r>
              <a:rPr lang="en-AU" sz="1200" kern="1200" dirty="0" smtClean="0">
                <a:solidFill>
                  <a:schemeClr val="tx1"/>
                </a:solidFill>
                <a:latin typeface="+mn-lt"/>
                <a:ea typeface="+mn-ea"/>
                <a:cs typeface="+mn-cs"/>
              </a:rPr>
              <a:t> There will always be limits on what you can spend – there is never total financial freedom</a:t>
            </a:r>
          </a:p>
          <a:p>
            <a:pPr>
              <a:buFont typeface="Arial" pitchFamily="34" charset="0"/>
              <a:buChar char="•"/>
            </a:pPr>
            <a:r>
              <a:rPr lang="en-AU" sz="1200" kern="1200" dirty="0" smtClean="0">
                <a:solidFill>
                  <a:schemeClr val="tx1"/>
                </a:solidFill>
                <a:latin typeface="+mn-lt"/>
                <a:ea typeface="+mn-ea"/>
                <a:cs typeface="+mn-cs"/>
              </a:rPr>
              <a:t> It is vital to talk to management to determine the amount of money available for the project – they may be able/prepared to:</a:t>
            </a:r>
          </a:p>
          <a:p>
            <a:pPr lvl="1">
              <a:buFont typeface="Arial" pitchFamily="34" charset="0"/>
              <a:buChar char="•"/>
            </a:pPr>
            <a:r>
              <a:rPr lang="en-AU" sz="1200" kern="1200" dirty="0" smtClean="0">
                <a:solidFill>
                  <a:schemeClr val="tx1"/>
                </a:solidFill>
                <a:latin typeface="+mn-lt"/>
                <a:ea typeface="+mn-ea"/>
                <a:cs typeface="+mn-cs"/>
              </a:rPr>
              <a:t> Move money between budgets to allocate more money</a:t>
            </a:r>
          </a:p>
          <a:p>
            <a:pPr lvl="1">
              <a:buFont typeface="Arial" pitchFamily="34" charset="0"/>
              <a:buChar char="•"/>
            </a:pPr>
            <a:r>
              <a:rPr lang="en-AU" sz="1200" kern="1200" dirty="0" smtClean="0">
                <a:solidFill>
                  <a:schemeClr val="tx1"/>
                </a:solidFill>
                <a:latin typeface="+mn-lt"/>
                <a:ea typeface="+mn-ea"/>
                <a:cs typeface="+mn-cs"/>
              </a:rPr>
              <a:t> Raise more funds than originally allocated </a:t>
            </a:r>
          </a:p>
          <a:p>
            <a:pPr>
              <a:buFont typeface="Arial" pitchFamily="34" charset="0"/>
              <a:buChar char="•"/>
            </a:pPr>
            <a:r>
              <a:rPr lang="en-AU" sz="1200" kern="1200" dirty="0" smtClean="0">
                <a:solidFill>
                  <a:schemeClr val="tx1"/>
                </a:solidFill>
                <a:latin typeface="+mn-lt"/>
                <a:ea typeface="+mn-ea"/>
                <a:cs typeface="+mn-cs"/>
              </a:rPr>
              <a:t> You may be required to acquire the new system in different ways due to short-falls in cash, lack of availability of credit or cash flow issues – for example, you may be required to:</a:t>
            </a:r>
          </a:p>
          <a:p>
            <a:pPr lvl="1">
              <a:buFont typeface="Arial" pitchFamily="34" charset="0"/>
              <a:buChar char="•"/>
            </a:pPr>
            <a:r>
              <a:rPr lang="en-AU" sz="1200" kern="1200" dirty="0" smtClean="0">
                <a:solidFill>
                  <a:schemeClr val="tx1"/>
                </a:solidFill>
                <a:latin typeface="+mn-lt"/>
                <a:ea typeface="+mn-ea"/>
                <a:cs typeface="+mn-cs"/>
              </a:rPr>
              <a:t> Lease items/systems rather than purchase them outright</a:t>
            </a:r>
          </a:p>
          <a:p>
            <a:pPr lvl="1">
              <a:buFont typeface="Arial" pitchFamily="34" charset="0"/>
              <a:buChar char="•"/>
            </a:pPr>
            <a:r>
              <a:rPr lang="en-AU" sz="1200" kern="1200" dirty="0" smtClean="0">
                <a:solidFill>
                  <a:schemeClr val="tx1"/>
                </a:solidFill>
                <a:latin typeface="+mn-lt"/>
                <a:ea typeface="+mn-ea"/>
                <a:cs typeface="+mn-cs"/>
              </a:rPr>
              <a:t> Seek financing from suppliers </a:t>
            </a:r>
          </a:p>
          <a:p>
            <a:pPr lvl="1">
              <a:buFont typeface="Arial" pitchFamily="34" charset="0"/>
              <a:buChar char="•"/>
            </a:pPr>
            <a:r>
              <a:rPr lang="en-AU" sz="1200" kern="1200" dirty="0" smtClean="0">
                <a:solidFill>
                  <a:schemeClr val="tx1"/>
                </a:solidFill>
                <a:latin typeface="+mn-lt"/>
                <a:ea typeface="+mn-ea"/>
                <a:cs typeface="+mn-cs"/>
              </a:rPr>
              <a:t> Source funds from ‘other’ financial institutions or investor sources</a:t>
            </a:r>
          </a:p>
          <a:p>
            <a:pPr lvl="1">
              <a:buFont typeface="Arial" pitchFamily="34" charset="0"/>
              <a:buChar char="•"/>
            </a:pPr>
            <a:r>
              <a:rPr lang="en-AU" sz="1200" kern="1200" dirty="0" smtClean="0">
                <a:solidFill>
                  <a:schemeClr val="tx1"/>
                </a:solidFill>
                <a:latin typeface="+mn-lt"/>
                <a:ea typeface="+mn-ea"/>
                <a:cs typeface="+mn-cs"/>
              </a:rPr>
              <a:t> Request grants/subsidies from government agencies/bodies</a:t>
            </a:r>
          </a:p>
          <a:p>
            <a:pPr>
              <a:buFont typeface="Arial" pitchFamily="34" charset="0"/>
              <a:buNone/>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discussing financial constraints:</a:t>
            </a:r>
          </a:p>
          <a:p>
            <a:pPr>
              <a:buFont typeface="Arial" pitchFamily="34" charset="0"/>
              <a:buChar char="•"/>
            </a:pPr>
            <a:r>
              <a:rPr lang="en-AU" sz="1200" kern="1200" dirty="0" smtClean="0">
                <a:solidFill>
                  <a:schemeClr val="tx1"/>
                </a:solidFill>
                <a:latin typeface="+mn-lt"/>
                <a:ea typeface="+mn-ea"/>
                <a:cs typeface="+mn-cs"/>
              </a:rPr>
              <a:t> You will always be required to align with internal finance-related policies and procedures – which (for example) can include:</a:t>
            </a:r>
          </a:p>
          <a:p>
            <a:pPr lvl="1">
              <a:buFont typeface="Arial" pitchFamily="34" charset="0"/>
              <a:buChar char="•"/>
            </a:pPr>
            <a:r>
              <a:rPr lang="en-AU" sz="1200" kern="1200" dirty="0" smtClean="0">
                <a:solidFill>
                  <a:schemeClr val="tx1"/>
                </a:solidFill>
                <a:latin typeface="+mn-lt"/>
                <a:ea typeface="+mn-ea"/>
                <a:cs typeface="+mn-cs"/>
              </a:rPr>
              <a:t> Need to obtain multiple written quotations from different suppliers – rather than only getting one quote form one supplier</a:t>
            </a:r>
          </a:p>
          <a:p>
            <a:pPr lvl="1">
              <a:buFont typeface="Arial" pitchFamily="34" charset="0"/>
              <a:buChar char="•"/>
            </a:pPr>
            <a:r>
              <a:rPr lang="en-AU" sz="1200" kern="1200" dirty="0" smtClean="0">
                <a:solidFill>
                  <a:schemeClr val="tx1"/>
                </a:solidFill>
                <a:latin typeface="+mn-lt"/>
                <a:ea typeface="+mn-ea"/>
                <a:cs typeface="+mn-cs"/>
              </a:rPr>
              <a:t> Need to negotiate price – as opposed to simply ‘accepting’ prices quoted</a:t>
            </a:r>
          </a:p>
          <a:p>
            <a:pPr lvl="1">
              <a:buFont typeface="Arial" pitchFamily="34" charset="0"/>
              <a:buChar char="•"/>
            </a:pPr>
            <a:r>
              <a:rPr lang="en-AU" sz="1200" kern="1200" dirty="0" smtClean="0">
                <a:solidFill>
                  <a:schemeClr val="tx1"/>
                </a:solidFill>
                <a:latin typeface="+mn-lt"/>
                <a:ea typeface="+mn-ea"/>
                <a:cs typeface="+mn-cs"/>
              </a:rPr>
              <a:t> Need to negotiate terms of payment – which would address:</a:t>
            </a:r>
          </a:p>
          <a:p>
            <a:pPr lvl="2">
              <a:buFont typeface="Arial" pitchFamily="34" charset="0"/>
              <a:buChar char="•"/>
            </a:pPr>
            <a:r>
              <a:rPr lang="en-AU" sz="1200" kern="1200" dirty="0" smtClean="0">
                <a:solidFill>
                  <a:schemeClr val="tx1"/>
                </a:solidFill>
                <a:latin typeface="+mn-lt"/>
                <a:ea typeface="+mn-ea"/>
                <a:cs typeface="+mn-cs"/>
              </a:rPr>
              <a:t> Delaying/deferring dates by which various payments (deposits, initial payment, progress payments, final payment) to suppliers have to be made</a:t>
            </a:r>
          </a:p>
          <a:p>
            <a:pPr lvl="2">
              <a:buFont typeface="Arial" pitchFamily="34" charset="0"/>
              <a:buChar char="•"/>
            </a:pPr>
            <a:r>
              <a:rPr lang="en-AU" sz="1200" kern="1200" dirty="0" smtClean="0">
                <a:solidFill>
                  <a:schemeClr val="tx1"/>
                </a:solidFill>
                <a:latin typeface="+mn-lt"/>
                <a:ea typeface="+mn-ea"/>
                <a:cs typeface="+mn-cs"/>
              </a:rPr>
              <a:t> Reducing amount of deposit and/or other payments</a:t>
            </a:r>
          </a:p>
          <a:p>
            <a:pPr lvl="1">
              <a:buFont typeface="Arial" pitchFamily="34" charset="0"/>
              <a:buChar char="•"/>
            </a:pPr>
            <a:r>
              <a:rPr lang="en-AU" sz="1200" kern="1200" dirty="0" smtClean="0">
                <a:solidFill>
                  <a:schemeClr val="tx1"/>
                </a:solidFill>
                <a:latin typeface="+mn-lt"/>
                <a:ea typeface="+mn-ea"/>
                <a:cs typeface="+mn-cs"/>
              </a:rPr>
              <a:t> Need to negotiate other contracted terms – such as negotiating more favourable warranties and guarantees</a:t>
            </a:r>
          </a:p>
          <a:p>
            <a:pPr lvl="1">
              <a:buFont typeface="Arial" pitchFamily="34" charset="0"/>
              <a:buChar char="•"/>
            </a:pPr>
            <a:r>
              <a:rPr lang="en-AU" sz="1200" kern="1200" dirty="0" smtClean="0">
                <a:solidFill>
                  <a:schemeClr val="tx1"/>
                </a:solidFill>
                <a:latin typeface="+mn-lt"/>
                <a:ea typeface="+mn-ea"/>
                <a:cs typeface="+mn-cs"/>
              </a:rPr>
              <a:t> Need to tender out a contract for the work to be done</a:t>
            </a:r>
          </a:p>
          <a:p>
            <a:pPr>
              <a:buFont typeface="Arial" pitchFamily="34" charset="0"/>
              <a:buChar char="•"/>
            </a:pPr>
            <a:r>
              <a:rPr lang="en-AU" sz="1200" kern="1200" dirty="0" smtClean="0">
                <a:solidFill>
                  <a:schemeClr val="tx1"/>
                </a:solidFill>
                <a:latin typeface="+mn-lt"/>
                <a:ea typeface="+mn-ea"/>
                <a:cs typeface="+mn-cs"/>
              </a:rPr>
              <a:t> Lack of sufficient funds at the present time may necessitate a phased introduction of a new/revised catering system spread over a given time period (months or years) – as opposed to ‘full and immediate’ introduction</a:t>
            </a:r>
          </a:p>
          <a:p>
            <a:pPr>
              <a:buFont typeface="Arial" pitchFamily="34" charset="0"/>
              <a:buChar char="•"/>
            </a:pPr>
            <a:r>
              <a:rPr lang="en-AU" sz="1200" kern="1200" dirty="0" smtClean="0">
                <a:solidFill>
                  <a:schemeClr val="tx1"/>
                </a:solidFill>
                <a:latin typeface="+mn-lt"/>
                <a:ea typeface="+mn-ea"/>
                <a:cs typeface="+mn-cs"/>
              </a:rPr>
              <a:t> Attention must be paid to all costs the enterprise will incur as a result of the introduction of a new/revised catering system – in addition to possible ‘opportunity cost’ and purchase/leasing costs these may relate to:</a:t>
            </a:r>
          </a:p>
          <a:p>
            <a:pPr lvl="1">
              <a:buFont typeface="Arial" pitchFamily="34" charset="0"/>
              <a:buChar char="•"/>
            </a:pPr>
            <a:r>
              <a:rPr lang="en-AU" sz="1200" kern="1200" dirty="0" smtClean="0">
                <a:solidFill>
                  <a:schemeClr val="tx1"/>
                </a:solidFill>
                <a:latin typeface="+mn-lt"/>
                <a:ea typeface="+mn-ea"/>
                <a:cs typeface="+mn-cs"/>
              </a:rPr>
              <a:t> Lost revenue while kitchen is closed for renovation</a:t>
            </a:r>
          </a:p>
          <a:p>
            <a:pPr lvl="1">
              <a:buFont typeface="Arial" pitchFamily="34" charset="0"/>
              <a:buChar char="•"/>
            </a:pPr>
            <a:r>
              <a:rPr lang="en-AU" sz="1200" kern="1200" dirty="0" smtClean="0">
                <a:solidFill>
                  <a:schemeClr val="tx1"/>
                </a:solidFill>
                <a:latin typeface="+mn-lt"/>
                <a:ea typeface="+mn-ea"/>
                <a:cs typeface="+mn-cs"/>
              </a:rPr>
              <a:t> Cost of removing old systems/equipment – note it may be possible to sell some of the old equipment so this must also be factored into overall considerations and calculations</a:t>
            </a:r>
          </a:p>
          <a:p>
            <a:pPr lvl="1">
              <a:buFont typeface="Arial" pitchFamily="34" charset="0"/>
              <a:buChar char="•"/>
            </a:pPr>
            <a:r>
              <a:rPr lang="en-AU" sz="1200" kern="1200" dirty="0" smtClean="0">
                <a:solidFill>
                  <a:schemeClr val="tx1"/>
                </a:solidFill>
                <a:latin typeface="+mn-lt"/>
                <a:ea typeface="+mn-ea"/>
                <a:cs typeface="+mn-cs"/>
              </a:rPr>
              <a:t> Revisions to SOPs, workplace policies, plans, checklists and standard recipes</a:t>
            </a:r>
          </a:p>
          <a:p>
            <a:pPr lvl="1">
              <a:buFont typeface="Arial" pitchFamily="34" charset="0"/>
              <a:buChar char="•"/>
            </a:pPr>
            <a:r>
              <a:rPr lang="en-AU" sz="1200" kern="1200" dirty="0" smtClean="0">
                <a:solidFill>
                  <a:schemeClr val="tx1"/>
                </a:solidFill>
                <a:latin typeface="+mn-lt"/>
                <a:ea typeface="+mn-ea"/>
                <a:cs typeface="+mn-cs"/>
              </a:rPr>
              <a:t> Training</a:t>
            </a:r>
          </a:p>
          <a:p>
            <a:pPr lvl="1">
              <a:buFont typeface="Arial" pitchFamily="34" charset="0"/>
              <a:buChar char="•"/>
            </a:pPr>
            <a:r>
              <a:rPr lang="en-AU" sz="1200" kern="1200" dirty="0" smtClean="0">
                <a:solidFill>
                  <a:schemeClr val="tx1"/>
                </a:solidFill>
                <a:latin typeface="+mn-lt"/>
                <a:ea typeface="+mn-ea"/>
                <a:cs typeface="+mn-cs"/>
              </a:rPr>
              <a:t> Insurance</a:t>
            </a:r>
          </a:p>
          <a:p>
            <a:pPr lvl="1">
              <a:buFont typeface="Arial" pitchFamily="34" charset="0"/>
              <a:buChar char="•"/>
            </a:pPr>
            <a:r>
              <a:rPr lang="en-AU" sz="1200" kern="1200" dirty="0" smtClean="0">
                <a:solidFill>
                  <a:schemeClr val="tx1"/>
                </a:solidFill>
                <a:latin typeface="+mn-lt"/>
                <a:ea typeface="+mn-ea"/>
                <a:cs typeface="+mn-cs"/>
              </a:rPr>
              <a:t> Service and maintenance.</a:t>
            </a: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staff constraints:</a:t>
            </a:r>
          </a:p>
          <a:p>
            <a:r>
              <a:rPr lang="en-AU" sz="1200" b="1" kern="1200" dirty="0" smtClean="0">
                <a:solidFill>
                  <a:schemeClr val="tx1"/>
                </a:solidFill>
                <a:latin typeface="+mn-lt"/>
                <a:ea typeface="+mn-ea"/>
                <a:cs typeface="+mn-cs"/>
              </a:rPr>
              <a:t>Staff constraints</a:t>
            </a:r>
          </a:p>
          <a:p>
            <a:r>
              <a:rPr lang="en-AU" sz="1200" kern="1200" dirty="0" smtClean="0">
                <a:solidFill>
                  <a:schemeClr val="tx1"/>
                </a:solidFill>
                <a:latin typeface="+mn-lt"/>
                <a:ea typeface="+mn-ea"/>
                <a:cs typeface="+mn-cs"/>
              </a:rPr>
              <a:t>In relation to staff (human resources) constraints you will need to consider may include:</a:t>
            </a:r>
          </a:p>
          <a:p>
            <a:pPr>
              <a:buFont typeface="Arial" pitchFamily="34" charset="0"/>
              <a:buChar char="•"/>
            </a:pPr>
            <a:r>
              <a:rPr lang="en-AU" sz="1200" kern="1200" dirty="0" smtClean="0">
                <a:solidFill>
                  <a:schemeClr val="tx1"/>
                </a:solidFill>
                <a:latin typeface="+mn-lt"/>
                <a:ea typeface="+mn-ea"/>
                <a:cs typeface="+mn-cs"/>
              </a:rPr>
              <a:t> Labour budget for the food production and food service operation – this is always a concern and is traditionally calculated as a given percentage of expected revenue/sales.</a:t>
            </a:r>
          </a:p>
          <a:p>
            <a:pPr lvl="1">
              <a:buFont typeface="Arial" pitchFamily="34" charset="0"/>
              <a:buChar char="•"/>
            </a:pPr>
            <a:r>
              <a:rPr lang="en-AU" sz="1200" kern="1200" dirty="0" smtClean="0">
                <a:solidFill>
                  <a:schemeClr val="tx1"/>
                </a:solidFill>
                <a:latin typeface="+mn-lt"/>
                <a:ea typeface="+mn-ea"/>
                <a:cs typeface="+mn-cs"/>
              </a:rPr>
              <a:t> The system you decide on must not require staff levels which exceed labour budget parameters.</a:t>
            </a:r>
          </a:p>
          <a:p>
            <a:pPr>
              <a:buFont typeface="Arial" pitchFamily="34" charset="0"/>
              <a:buChar char="•"/>
            </a:pPr>
            <a:r>
              <a:rPr lang="en-AU" sz="1200" kern="1200" dirty="0" smtClean="0">
                <a:solidFill>
                  <a:schemeClr val="tx1"/>
                </a:solidFill>
                <a:latin typeface="+mn-lt"/>
                <a:ea typeface="+mn-ea"/>
                <a:cs typeface="+mn-cs"/>
              </a:rPr>
              <a:t> Labour cost to transport/distribute prepared food – in systems where satellite/remote kitchens will be used to re-constitute/re-heat food</a:t>
            </a:r>
          </a:p>
          <a:p>
            <a:pPr>
              <a:buFont typeface="Arial" pitchFamily="34" charset="0"/>
              <a:buChar char="•"/>
            </a:pPr>
            <a:r>
              <a:rPr lang="en-AU" sz="1200" kern="1200" dirty="0" smtClean="0">
                <a:solidFill>
                  <a:schemeClr val="tx1"/>
                </a:solidFill>
                <a:latin typeface="+mn-lt"/>
                <a:ea typeface="+mn-ea"/>
                <a:cs typeface="+mn-cs"/>
              </a:rPr>
              <a:t> Number of skilled staff required – to operate the system: the need for ‘skilled’ staff introduces potential additional expenses in terms of:</a:t>
            </a:r>
          </a:p>
          <a:p>
            <a:pPr lvl="1">
              <a:buFont typeface="Arial" pitchFamily="34" charset="0"/>
              <a:buChar char="•"/>
            </a:pPr>
            <a:r>
              <a:rPr lang="en-AU" sz="1200" kern="1200" dirty="0" smtClean="0">
                <a:solidFill>
                  <a:schemeClr val="tx1"/>
                </a:solidFill>
                <a:latin typeface="+mn-lt"/>
                <a:ea typeface="+mn-ea"/>
                <a:cs typeface="+mn-cs"/>
              </a:rPr>
              <a:t> Recruitment</a:t>
            </a:r>
          </a:p>
          <a:p>
            <a:pPr lvl="1">
              <a:buFont typeface="Arial" pitchFamily="34" charset="0"/>
              <a:buChar char="•"/>
            </a:pPr>
            <a:r>
              <a:rPr lang="en-AU" sz="1200" kern="1200" dirty="0" smtClean="0">
                <a:solidFill>
                  <a:schemeClr val="tx1"/>
                </a:solidFill>
                <a:latin typeface="+mn-lt"/>
                <a:ea typeface="+mn-ea"/>
                <a:cs typeface="+mn-cs"/>
              </a:rPr>
              <a:t> Remuneration – higher skilled staff attract higher pay rates</a:t>
            </a:r>
          </a:p>
          <a:p>
            <a:pPr lvl="1">
              <a:buFont typeface="Arial" pitchFamily="34" charset="0"/>
              <a:buChar char="•"/>
            </a:pPr>
            <a:r>
              <a:rPr lang="en-AU" sz="1200" kern="1200" dirty="0" smtClean="0">
                <a:solidFill>
                  <a:schemeClr val="tx1"/>
                </a:solidFill>
                <a:latin typeface="+mn-lt"/>
                <a:ea typeface="+mn-ea"/>
                <a:cs typeface="+mn-cs"/>
              </a:rPr>
              <a:t> Training</a:t>
            </a:r>
          </a:p>
          <a:p>
            <a:pPr>
              <a:buFont typeface="Arial" pitchFamily="34" charset="0"/>
              <a:buChar char="•"/>
            </a:pPr>
            <a:r>
              <a:rPr lang="en-AU" sz="1200" kern="1200" dirty="0" smtClean="0">
                <a:solidFill>
                  <a:schemeClr val="tx1"/>
                </a:solidFill>
                <a:latin typeface="+mn-lt"/>
                <a:ea typeface="+mn-ea"/>
                <a:cs typeface="+mn-cs"/>
              </a:rPr>
              <a:t> Current skill levels of existing staff – in relation to issues such as:</a:t>
            </a:r>
          </a:p>
          <a:p>
            <a:pPr lvl="1">
              <a:buFont typeface="Arial" pitchFamily="34" charset="0"/>
              <a:buChar char="•"/>
            </a:pPr>
            <a:r>
              <a:rPr lang="en-AU" sz="1200" kern="1200" dirty="0" smtClean="0">
                <a:solidFill>
                  <a:schemeClr val="tx1"/>
                </a:solidFill>
                <a:latin typeface="+mn-lt"/>
                <a:ea typeface="+mn-ea"/>
                <a:cs typeface="+mn-cs"/>
              </a:rPr>
              <a:t> Need to recruit additional staff</a:t>
            </a:r>
          </a:p>
          <a:p>
            <a:pPr lvl="1">
              <a:buFont typeface="Arial" pitchFamily="34" charset="0"/>
              <a:buChar char="•"/>
            </a:pPr>
            <a:r>
              <a:rPr lang="en-AU" sz="1200" kern="1200" dirty="0" smtClean="0">
                <a:solidFill>
                  <a:schemeClr val="tx1"/>
                </a:solidFill>
                <a:latin typeface="+mn-lt"/>
                <a:ea typeface="+mn-ea"/>
                <a:cs typeface="+mn-cs"/>
              </a:rPr>
              <a:t> Need to train staff</a:t>
            </a:r>
          </a:p>
          <a:p>
            <a:pPr lvl="1">
              <a:buFont typeface="Arial" pitchFamily="34" charset="0"/>
              <a:buChar char="•"/>
            </a:pPr>
            <a:r>
              <a:rPr lang="en-AU" sz="1200" kern="1200" dirty="0" smtClean="0">
                <a:solidFill>
                  <a:schemeClr val="tx1"/>
                </a:solidFill>
                <a:latin typeface="+mn-lt"/>
                <a:ea typeface="+mn-ea"/>
                <a:cs typeface="+mn-cs"/>
              </a:rPr>
              <a:t> Need to multi-skill employees.</a:t>
            </a:r>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space constraints:</a:t>
            </a:r>
          </a:p>
          <a:p>
            <a:r>
              <a:rPr lang="en-AU" sz="1200" b="1" kern="1200" dirty="0" smtClean="0">
                <a:solidFill>
                  <a:schemeClr val="tx1"/>
                </a:solidFill>
                <a:latin typeface="+mn-lt"/>
                <a:ea typeface="+mn-ea"/>
                <a:cs typeface="+mn-cs"/>
              </a:rPr>
              <a:t>Space constraints</a:t>
            </a:r>
          </a:p>
          <a:p>
            <a:r>
              <a:rPr lang="en-AU" sz="1200" kern="1200" dirty="0" smtClean="0">
                <a:solidFill>
                  <a:schemeClr val="tx1"/>
                </a:solidFill>
                <a:latin typeface="+mn-lt"/>
                <a:ea typeface="+mn-ea"/>
                <a:cs typeface="+mn-cs"/>
              </a:rPr>
              <a:t>‘Space’ constraints refer to the amount of room you have available for the new/up-dated catering system.</a:t>
            </a:r>
          </a:p>
          <a:p>
            <a:r>
              <a:rPr lang="en-AU" sz="1200" kern="1200" dirty="0" smtClean="0">
                <a:solidFill>
                  <a:schemeClr val="tx1"/>
                </a:solidFill>
                <a:latin typeface="+mn-lt"/>
                <a:ea typeface="+mn-ea"/>
                <a:cs typeface="+mn-cs"/>
              </a:rPr>
              <a:t>Considerations include:</a:t>
            </a:r>
          </a:p>
          <a:p>
            <a:pPr>
              <a:buFont typeface="Arial" pitchFamily="34" charset="0"/>
              <a:buChar char="•"/>
            </a:pPr>
            <a:r>
              <a:rPr lang="en-AU" sz="1200" kern="1200" dirty="0" smtClean="0">
                <a:solidFill>
                  <a:schemeClr val="tx1"/>
                </a:solidFill>
                <a:latin typeface="+mn-lt"/>
                <a:ea typeface="+mn-ea"/>
                <a:cs typeface="+mn-cs"/>
              </a:rPr>
              <a:t> In most/many cases where there is an existing system you will be expected to fit the new/revised system into the existing space – while it is usually acceptable to use </a:t>
            </a:r>
            <a:r>
              <a:rPr lang="en-AU" sz="1200" i="1" kern="1200" dirty="0" smtClean="0">
                <a:solidFill>
                  <a:schemeClr val="tx1"/>
                </a:solidFill>
                <a:latin typeface="+mn-lt"/>
                <a:ea typeface="+mn-ea"/>
                <a:cs typeface="+mn-cs"/>
              </a:rPr>
              <a:t>less</a:t>
            </a:r>
            <a:r>
              <a:rPr lang="en-AU" sz="1200" kern="1200" dirty="0" smtClean="0">
                <a:solidFill>
                  <a:schemeClr val="tx1"/>
                </a:solidFill>
                <a:latin typeface="+mn-lt"/>
                <a:ea typeface="+mn-ea"/>
                <a:cs typeface="+mn-cs"/>
              </a:rPr>
              <a:t> than the current amount of space, it is generally not acceptable (or possible) to occupy more space</a:t>
            </a:r>
          </a:p>
          <a:p>
            <a:pPr>
              <a:buFont typeface="Arial" pitchFamily="34" charset="0"/>
              <a:buChar char="•"/>
            </a:pPr>
            <a:r>
              <a:rPr lang="en-AU" sz="1200" kern="1200" dirty="0" smtClean="0">
                <a:solidFill>
                  <a:schemeClr val="tx1"/>
                </a:solidFill>
                <a:latin typeface="+mn-lt"/>
                <a:ea typeface="+mn-ea"/>
                <a:cs typeface="+mn-cs"/>
              </a:rPr>
              <a:t> Use of more space results in added ‘opportunity cost’ – that is, the loss of the extra space is a cost to the business because it cannot be used to generate income (through, for example, setting extra tables to enable the selling/service of extra meals)</a:t>
            </a:r>
          </a:p>
          <a:p>
            <a:pPr>
              <a:buFont typeface="Arial" pitchFamily="34" charset="0"/>
              <a:buChar char="•"/>
            </a:pPr>
            <a:r>
              <a:rPr lang="en-AU" sz="1200" kern="1200" dirty="0" smtClean="0">
                <a:solidFill>
                  <a:schemeClr val="tx1"/>
                </a:solidFill>
                <a:latin typeface="+mn-lt"/>
                <a:ea typeface="+mn-ea"/>
                <a:cs typeface="+mn-cs"/>
              </a:rPr>
              <a:t> The need to position the food production area/s to integrate efficiently and effectively with other stages of the flow of food within the kitchen/venue – in relation to activities such as:</a:t>
            </a:r>
          </a:p>
          <a:p>
            <a:pPr lvl="1">
              <a:buFont typeface="Arial" pitchFamily="34" charset="0"/>
              <a:buChar char="•"/>
            </a:pPr>
            <a:r>
              <a:rPr lang="en-AU" sz="1200" kern="1200" dirty="0" smtClean="0">
                <a:solidFill>
                  <a:schemeClr val="tx1"/>
                </a:solidFill>
                <a:latin typeface="+mn-lt"/>
                <a:ea typeface="+mn-ea"/>
                <a:cs typeface="+mn-cs"/>
              </a:rPr>
              <a:t> ‘Goods in’ to the kitchen – receival of goods from suppliers</a:t>
            </a:r>
          </a:p>
          <a:p>
            <a:pPr lvl="1">
              <a:buFont typeface="Arial" pitchFamily="34" charset="0"/>
              <a:buChar char="•"/>
            </a:pPr>
            <a:r>
              <a:rPr lang="en-AU" sz="1200" kern="1200" dirty="0" smtClean="0">
                <a:solidFill>
                  <a:schemeClr val="tx1"/>
                </a:solidFill>
                <a:latin typeface="+mn-lt"/>
                <a:ea typeface="+mn-ea"/>
                <a:cs typeface="+mn-cs"/>
              </a:rPr>
              <a:t> Storage of ingredients – in relation to:</a:t>
            </a:r>
          </a:p>
          <a:p>
            <a:pPr lvl="2">
              <a:buFont typeface="Arial" pitchFamily="34" charset="0"/>
              <a:buChar char="•"/>
            </a:pPr>
            <a:r>
              <a:rPr lang="en-AU" sz="1200" kern="1200" dirty="0" smtClean="0">
                <a:solidFill>
                  <a:schemeClr val="tx1"/>
                </a:solidFill>
                <a:latin typeface="+mn-lt"/>
                <a:ea typeface="+mn-ea"/>
                <a:cs typeface="+mn-cs"/>
              </a:rPr>
              <a:t> Dry goods storage</a:t>
            </a:r>
          </a:p>
          <a:p>
            <a:pPr lvl="2">
              <a:buFont typeface="Arial" pitchFamily="34" charset="0"/>
              <a:buChar char="•"/>
            </a:pPr>
            <a:r>
              <a:rPr lang="en-AU" sz="1200" kern="1200" dirty="0" smtClean="0">
                <a:solidFill>
                  <a:schemeClr val="tx1"/>
                </a:solidFill>
                <a:latin typeface="+mn-lt"/>
                <a:ea typeface="+mn-ea"/>
                <a:cs typeface="+mn-cs"/>
              </a:rPr>
              <a:t> Refrigerated storage</a:t>
            </a:r>
          </a:p>
          <a:p>
            <a:pPr lvl="2">
              <a:buFont typeface="Arial" pitchFamily="34" charset="0"/>
              <a:buChar char="•"/>
            </a:pPr>
            <a:r>
              <a:rPr lang="en-AU" sz="1200" kern="1200" dirty="0" smtClean="0">
                <a:solidFill>
                  <a:schemeClr val="tx1"/>
                </a:solidFill>
                <a:latin typeface="+mn-lt"/>
                <a:ea typeface="+mn-ea"/>
                <a:cs typeface="+mn-cs"/>
              </a:rPr>
              <a:t> Frozen storage </a:t>
            </a:r>
          </a:p>
          <a:p>
            <a:pPr lvl="1">
              <a:buFont typeface="Arial" pitchFamily="34" charset="0"/>
              <a:buChar char="•"/>
            </a:pPr>
            <a:r>
              <a:rPr lang="en-AU" sz="1200" kern="1200" dirty="0" smtClean="0">
                <a:solidFill>
                  <a:schemeClr val="tx1"/>
                </a:solidFill>
                <a:latin typeface="+mn-lt"/>
                <a:ea typeface="+mn-ea"/>
                <a:cs typeface="+mn-cs"/>
              </a:rPr>
              <a:t> Food preparation – prior to production/cooking of food</a:t>
            </a:r>
          </a:p>
          <a:p>
            <a:pPr lvl="1">
              <a:buFont typeface="Arial" pitchFamily="34" charset="0"/>
              <a:buChar char="•"/>
            </a:pPr>
            <a:r>
              <a:rPr lang="en-AU" sz="1200" kern="1200" dirty="0" smtClean="0">
                <a:solidFill>
                  <a:schemeClr val="tx1"/>
                </a:solidFill>
                <a:latin typeface="+mn-lt"/>
                <a:ea typeface="+mn-ea"/>
                <a:cs typeface="+mn-cs"/>
              </a:rPr>
              <a:t> Production/cooking – of menu items</a:t>
            </a:r>
          </a:p>
          <a:p>
            <a:pPr lvl="1">
              <a:buFont typeface="Arial" pitchFamily="34" charset="0"/>
              <a:buChar char="•"/>
            </a:pPr>
            <a:r>
              <a:rPr lang="en-AU" sz="1200" kern="1200" dirty="0" smtClean="0">
                <a:solidFill>
                  <a:schemeClr val="tx1"/>
                </a:solidFill>
                <a:latin typeface="+mn-lt"/>
                <a:ea typeface="+mn-ea"/>
                <a:cs typeface="+mn-cs"/>
              </a:rPr>
              <a:t> Post-cooking storage</a:t>
            </a:r>
          </a:p>
          <a:p>
            <a:pPr lvl="1">
              <a:buFont typeface="Arial" pitchFamily="34" charset="0"/>
              <a:buChar char="•"/>
            </a:pPr>
            <a:r>
              <a:rPr lang="en-AU" sz="1200" kern="1200" dirty="0" smtClean="0">
                <a:solidFill>
                  <a:schemeClr val="tx1"/>
                </a:solidFill>
                <a:latin typeface="+mn-lt"/>
                <a:ea typeface="+mn-ea"/>
                <a:cs typeface="+mn-cs"/>
              </a:rPr>
              <a:t> Re-constitution of menu items/foods – where applicable </a:t>
            </a:r>
          </a:p>
          <a:p>
            <a:pPr lvl="1">
              <a:buFont typeface="Arial" pitchFamily="34" charset="0"/>
              <a:buChar char="•"/>
            </a:pPr>
            <a:r>
              <a:rPr lang="en-AU" sz="1200" kern="1200" dirty="0" smtClean="0">
                <a:solidFill>
                  <a:schemeClr val="tx1"/>
                </a:solidFill>
                <a:latin typeface="+mn-lt"/>
                <a:ea typeface="+mn-ea"/>
                <a:cs typeface="+mn-cs"/>
              </a:rPr>
              <a:t> Re-thermalisation – where applicable</a:t>
            </a:r>
          </a:p>
          <a:p>
            <a:pPr lvl="1">
              <a:buFont typeface="Arial" pitchFamily="34" charset="0"/>
              <a:buChar char="•"/>
            </a:pPr>
            <a:r>
              <a:rPr lang="en-AU" sz="1200" kern="1200" dirty="0" smtClean="0">
                <a:solidFill>
                  <a:schemeClr val="tx1"/>
                </a:solidFill>
                <a:latin typeface="+mn-lt"/>
                <a:ea typeface="+mn-ea"/>
                <a:cs typeface="+mn-cs"/>
              </a:rPr>
              <a:t> Transport/distribution to other outlets</a:t>
            </a:r>
          </a:p>
          <a:p>
            <a:pPr>
              <a:buFont typeface="Arial" pitchFamily="34" charset="0"/>
              <a:buChar char="•"/>
            </a:pPr>
            <a:r>
              <a:rPr lang="en-AU" sz="1200" kern="1200" dirty="0" smtClean="0">
                <a:solidFill>
                  <a:schemeClr val="tx1"/>
                </a:solidFill>
                <a:latin typeface="+mn-lt"/>
                <a:ea typeface="+mn-ea"/>
                <a:cs typeface="+mn-cs"/>
              </a:rPr>
              <a:t> The need to locate food production facilities to facilitate:</a:t>
            </a:r>
          </a:p>
          <a:p>
            <a:pPr lvl="1">
              <a:buFont typeface="Arial" pitchFamily="34" charset="0"/>
              <a:buChar char="•"/>
            </a:pPr>
            <a:r>
              <a:rPr lang="en-AU" sz="1200" kern="1200" dirty="0" smtClean="0">
                <a:solidFill>
                  <a:schemeClr val="tx1"/>
                </a:solidFill>
                <a:latin typeface="+mn-lt"/>
                <a:ea typeface="+mn-ea"/>
                <a:cs typeface="+mn-cs"/>
              </a:rPr>
              <a:t> Food service</a:t>
            </a:r>
          </a:p>
          <a:p>
            <a:pPr lvl="1">
              <a:buFont typeface="Arial" pitchFamily="34" charset="0"/>
              <a:buChar char="•"/>
            </a:pPr>
            <a:r>
              <a:rPr lang="en-AU" sz="1200" kern="1200" dirty="0" smtClean="0">
                <a:solidFill>
                  <a:schemeClr val="tx1"/>
                </a:solidFill>
                <a:latin typeface="+mn-lt"/>
                <a:ea typeface="+mn-ea"/>
                <a:cs typeface="+mn-cs"/>
              </a:rPr>
              <a:t> Access by customers and wait staff</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compliance constraints.</a:t>
            </a:r>
          </a:p>
          <a:p>
            <a:r>
              <a:rPr lang="en-AU" sz="1200" b="1" kern="1200" dirty="0" smtClean="0">
                <a:solidFill>
                  <a:schemeClr val="tx1"/>
                </a:solidFill>
                <a:latin typeface="+mn-lt"/>
                <a:ea typeface="+mn-ea"/>
                <a:cs typeface="+mn-cs"/>
              </a:rPr>
              <a:t>Compliance constraints</a:t>
            </a:r>
          </a:p>
          <a:p>
            <a:r>
              <a:rPr lang="en-AU" sz="1200" kern="1200" dirty="0" smtClean="0">
                <a:solidFill>
                  <a:schemeClr val="tx1"/>
                </a:solidFill>
                <a:latin typeface="+mn-lt"/>
                <a:ea typeface="+mn-ea"/>
                <a:cs typeface="+mn-cs"/>
              </a:rPr>
              <a:t>In relation to compliance constraints you need to ensure the catering system/option you choose will:</a:t>
            </a:r>
          </a:p>
          <a:p>
            <a:pPr>
              <a:buFont typeface="Arial" pitchFamily="34" charset="0"/>
              <a:buChar char="•"/>
            </a:pPr>
            <a:r>
              <a:rPr lang="en-AU" sz="1200" kern="1200" dirty="0" smtClean="0">
                <a:solidFill>
                  <a:schemeClr val="tx1"/>
                </a:solidFill>
                <a:latin typeface="+mn-lt"/>
                <a:ea typeface="+mn-ea"/>
                <a:cs typeface="+mn-cs"/>
              </a:rPr>
              <a:t> Enable compliance with host country food safety legislation</a:t>
            </a:r>
          </a:p>
          <a:p>
            <a:pPr>
              <a:buFont typeface="Arial" pitchFamily="34" charset="0"/>
              <a:buChar char="•"/>
            </a:pPr>
            <a:r>
              <a:rPr lang="en-AU" sz="1200" kern="1200" dirty="0" smtClean="0">
                <a:solidFill>
                  <a:schemeClr val="tx1"/>
                </a:solidFill>
                <a:latin typeface="+mn-lt"/>
                <a:ea typeface="+mn-ea"/>
                <a:cs typeface="+mn-cs"/>
              </a:rPr>
              <a:t> Complies with all requirements of any HACCP-based Food Safety Plan/Program used by the kitchen – or enables a new HACCP-based FSP to be developed to reflect the new/revised catering system</a:t>
            </a:r>
          </a:p>
          <a:p>
            <a:pPr>
              <a:buFont typeface="Arial" pitchFamily="34" charset="0"/>
              <a:buChar char="•"/>
            </a:pPr>
            <a:r>
              <a:rPr lang="en-AU" sz="1200" kern="1200" dirty="0" smtClean="0">
                <a:solidFill>
                  <a:schemeClr val="tx1"/>
                </a:solidFill>
                <a:latin typeface="+mn-lt"/>
                <a:ea typeface="+mn-ea"/>
                <a:cs typeface="+mn-cs"/>
              </a:rPr>
              <a:t> Reflect industry ‘best practice’ in terms of:</a:t>
            </a:r>
          </a:p>
          <a:p>
            <a:pPr lvl="1">
              <a:buFont typeface="Arial" pitchFamily="34" charset="0"/>
              <a:buChar char="•"/>
            </a:pPr>
            <a:r>
              <a:rPr lang="en-AU" sz="1200" kern="1200" dirty="0" smtClean="0">
                <a:solidFill>
                  <a:schemeClr val="tx1"/>
                </a:solidFill>
                <a:latin typeface="+mn-lt"/>
                <a:ea typeface="+mn-ea"/>
                <a:cs typeface="+mn-cs"/>
              </a:rPr>
              <a:t> Food handling practices, procedures, policies and protocols</a:t>
            </a:r>
          </a:p>
          <a:p>
            <a:pPr lvl="1">
              <a:buFont typeface="Arial" pitchFamily="34" charset="0"/>
              <a:buChar char="•"/>
            </a:pPr>
            <a:r>
              <a:rPr lang="en-AU" sz="1200" kern="1200" dirty="0" smtClean="0">
                <a:solidFill>
                  <a:schemeClr val="tx1"/>
                </a:solidFill>
                <a:latin typeface="+mn-lt"/>
                <a:ea typeface="+mn-ea"/>
                <a:cs typeface="+mn-cs"/>
              </a:rPr>
              <a:t> Food production and food service</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local Health/Food Inspector to attend and:</a:t>
            </a:r>
          </a:p>
          <a:p>
            <a:pPr>
              <a:buFont typeface="Arial" pitchFamily="34" charset="0"/>
              <a:buChar char="•"/>
            </a:pPr>
            <a:r>
              <a:rPr lang="en-US" b="0" dirty="0" smtClean="0"/>
              <a:t> Discuss requirements for selecting a catering system which they deem important in relation to food safety</a:t>
            </a:r>
          </a:p>
          <a:p>
            <a:pPr>
              <a:buFont typeface="Arial" pitchFamily="34" charset="0"/>
              <a:buChar char="•"/>
            </a:pPr>
            <a:r>
              <a:rPr lang="en-US" b="0" dirty="0" smtClean="0"/>
              <a:t> Documentation which may need to be completed</a:t>
            </a:r>
            <a:r>
              <a:rPr lang="en-US" b="0" baseline="0" dirty="0" smtClean="0"/>
              <a:t> as part of the process of installing a new/up-dated </a:t>
            </a:r>
            <a:r>
              <a:rPr lang="en-US" b="0" dirty="0" smtClean="0"/>
              <a:t>catering system </a:t>
            </a:r>
          </a:p>
          <a:p>
            <a:pPr>
              <a:buFont typeface="Arial" pitchFamily="34" charset="0"/>
              <a:buChar char="•"/>
            </a:pPr>
            <a:r>
              <a:rPr lang="en-US" b="0" dirty="0" smtClean="0"/>
              <a:t> Detail the inspection process required before a new/</a:t>
            </a:r>
            <a:r>
              <a:rPr lang="en-US" b="0" baseline="0" dirty="0" smtClean="0"/>
              <a:t>/up-dated </a:t>
            </a:r>
            <a:r>
              <a:rPr lang="en-US" b="0" dirty="0" smtClean="0"/>
              <a:t>catering system can become operational</a:t>
            </a:r>
          </a:p>
          <a:p>
            <a:pPr>
              <a:buFont typeface="Arial" pitchFamily="34" charset="0"/>
              <a:buChar char="•"/>
            </a:pPr>
            <a:r>
              <a:rPr lang="en-US" b="0" dirty="0" smtClean="0"/>
              <a:t> Provide tips in relation to selecting a new</a:t>
            </a:r>
            <a:r>
              <a:rPr lang="en-US" b="0" baseline="0" dirty="0" smtClean="0"/>
              <a:t>/up-dated </a:t>
            </a:r>
            <a:r>
              <a:rPr lang="en-US" b="0" dirty="0" smtClean="0"/>
              <a:t>catering system. </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possible timing constraints:</a:t>
            </a:r>
          </a:p>
          <a:p>
            <a:r>
              <a:rPr lang="en-AU" sz="1200" b="1" kern="1200" dirty="0" smtClean="0">
                <a:solidFill>
                  <a:schemeClr val="tx1"/>
                </a:solidFill>
                <a:latin typeface="+mn-lt"/>
                <a:ea typeface="+mn-ea"/>
                <a:cs typeface="+mn-cs"/>
              </a:rPr>
              <a:t>Timing constraints</a:t>
            </a:r>
          </a:p>
          <a:p>
            <a:r>
              <a:rPr lang="en-AU" sz="1200" kern="1200" dirty="0" smtClean="0">
                <a:solidFill>
                  <a:schemeClr val="tx1"/>
                </a:solidFill>
                <a:latin typeface="+mn-lt"/>
                <a:ea typeface="+mn-ea"/>
                <a:cs typeface="+mn-cs"/>
              </a:rPr>
              <a:t>The decision to select, install and commission a new/revised catering system is usually subject to some form of time-related limits.</a:t>
            </a:r>
          </a:p>
          <a:p>
            <a:r>
              <a:rPr lang="en-AU" sz="1200" kern="1200" dirty="0" smtClean="0">
                <a:solidFill>
                  <a:schemeClr val="tx1"/>
                </a:solidFill>
                <a:latin typeface="+mn-lt"/>
                <a:ea typeface="+mn-ea"/>
                <a:cs typeface="+mn-cs"/>
              </a:rPr>
              <a:t>Considerations may relate to:</a:t>
            </a:r>
          </a:p>
          <a:p>
            <a:pPr>
              <a:buFont typeface="Arial" pitchFamily="34" charset="0"/>
              <a:buChar char="•"/>
            </a:pPr>
            <a:r>
              <a:rPr lang="en-AU" sz="1200" kern="1200" dirty="0" smtClean="0">
                <a:solidFill>
                  <a:schemeClr val="tx1"/>
                </a:solidFill>
                <a:latin typeface="+mn-lt"/>
                <a:ea typeface="+mn-ea"/>
                <a:cs typeface="+mn-cs"/>
              </a:rPr>
              <a:t> The need to the new/revised system to be fully-functional by a given date – so advanced bookings can be catered for and catering contracts can be fulfilled</a:t>
            </a:r>
          </a:p>
          <a:p>
            <a:pPr>
              <a:buFont typeface="Arial" pitchFamily="34" charset="0"/>
              <a:buChar char="•"/>
            </a:pPr>
            <a:r>
              <a:rPr lang="en-AU" sz="1200" kern="1200" dirty="0" smtClean="0">
                <a:solidFill>
                  <a:schemeClr val="tx1"/>
                </a:solidFill>
                <a:latin typeface="+mn-lt"/>
                <a:ea typeface="+mn-ea"/>
                <a:cs typeface="+mn-cs"/>
              </a:rPr>
              <a:t> The need for certain stages of the project to be completed by nominated dates – for example, specific timelines may be set for:</a:t>
            </a:r>
          </a:p>
          <a:p>
            <a:pPr lvl="1">
              <a:buFont typeface="Arial" pitchFamily="34" charset="0"/>
              <a:buChar char="•"/>
            </a:pPr>
            <a:r>
              <a:rPr lang="en-AU" sz="1200" kern="1200" dirty="0" smtClean="0">
                <a:solidFill>
                  <a:schemeClr val="tx1"/>
                </a:solidFill>
                <a:latin typeface="+mn-lt"/>
                <a:ea typeface="+mn-ea"/>
                <a:cs typeface="+mn-cs"/>
              </a:rPr>
              <a:t> Research and decision making</a:t>
            </a:r>
          </a:p>
          <a:p>
            <a:pPr lvl="1">
              <a:buFont typeface="Arial" pitchFamily="34" charset="0"/>
              <a:buChar char="•"/>
            </a:pPr>
            <a:r>
              <a:rPr lang="en-AU" sz="1200" kern="1200" dirty="0" smtClean="0">
                <a:solidFill>
                  <a:schemeClr val="tx1"/>
                </a:solidFill>
                <a:latin typeface="+mn-lt"/>
                <a:ea typeface="+mn-ea"/>
                <a:cs typeface="+mn-cs"/>
              </a:rPr>
              <a:t> Releasing Request For Tender (RFT) documentation</a:t>
            </a:r>
          </a:p>
          <a:p>
            <a:pPr lvl="1">
              <a:buFont typeface="Arial" pitchFamily="34" charset="0"/>
              <a:buChar char="•"/>
            </a:pPr>
            <a:r>
              <a:rPr lang="en-AU" sz="1200" kern="1200" dirty="0" smtClean="0">
                <a:solidFill>
                  <a:schemeClr val="tx1"/>
                </a:solidFill>
                <a:latin typeface="+mn-lt"/>
                <a:ea typeface="+mn-ea"/>
                <a:cs typeface="+mn-cs"/>
              </a:rPr>
              <a:t> Awarding the contract</a:t>
            </a:r>
          </a:p>
          <a:p>
            <a:pPr>
              <a:buFont typeface="Arial" pitchFamily="34" charset="0"/>
              <a:buChar char="•"/>
            </a:pPr>
            <a:r>
              <a:rPr lang="en-AU" sz="1200" kern="1200" dirty="0" smtClean="0">
                <a:solidFill>
                  <a:schemeClr val="tx1"/>
                </a:solidFill>
                <a:latin typeface="+mn-lt"/>
                <a:ea typeface="+mn-ea"/>
                <a:cs typeface="+mn-cs"/>
              </a:rPr>
              <a:t> The need for money to be spent by a given date – in order:</a:t>
            </a:r>
          </a:p>
          <a:p>
            <a:pPr lvl="1">
              <a:buFont typeface="Arial" pitchFamily="34" charset="0"/>
              <a:buChar char="•"/>
            </a:pPr>
            <a:r>
              <a:rPr lang="en-AU" sz="1200" kern="1200" dirty="0" smtClean="0">
                <a:solidFill>
                  <a:schemeClr val="tx1"/>
                </a:solidFill>
                <a:latin typeface="+mn-lt"/>
                <a:ea typeface="+mn-ea"/>
                <a:cs typeface="+mn-cs"/>
              </a:rPr>
              <a:t> For expenditure to qualify for taxation claims</a:t>
            </a:r>
          </a:p>
          <a:p>
            <a:pPr lvl="1">
              <a:buFont typeface="Arial" pitchFamily="34" charset="0"/>
              <a:buChar char="•"/>
            </a:pPr>
            <a:r>
              <a:rPr lang="en-AU" sz="1200" kern="1200" dirty="0" smtClean="0">
                <a:solidFill>
                  <a:schemeClr val="tx1"/>
                </a:solidFill>
                <a:latin typeface="+mn-lt"/>
                <a:ea typeface="+mn-ea"/>
                <a:cs typeface="+mn-cs"/>
              </a:rPr>
              <a:t> That grants are used by the date required.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possible existing equipment constraints:</a:t>
            </a:r>
          </a:p>
          <a:p>
            <a:pPr>
              <a:buFont typeface="Arial" pitchFamily="34" charset="0"/>
              <a:buChar char="•"/>
            </a:pPr>
            <a:r>
              <a:rPr lang="en-AU" sz="1200" kern="1200" dirty="0" smtClean="0">
                <a:solidFill>
                  <a:schemeClr val="tx1"/>
                </a:solidFill>
                <a:latin typeface="+mn-lt"/>
                <a:ea typeface="+mn-ea"/>
                <a:cs typeface="+mn-cs"/>
              </a:rPr>
              <a:t> Where the project requires you to up-date the catering system in an existing venue (as opposed to introducing a totally new system) there will be constraints in relation to:</a:t>
            </a:r>
          </a:p>
          <a:p>
            <a:pPr lvl="1">
              <a:buFont typeface="Arial" pitchFamily="34" charset="0"/>
              <a:buChar char="•"/>
            </a:pPr>
            <a:r>
              <a:rPr lang="en-AU" sz="1200" kern="1200" dirty="0" smtClean="0">
                <a:solidFill>
                  <a:schemeClr val="tx1"/>
                </a:solidFill>
                <a:latin typeface="+mn-lt"/>
                <a:ea typeface="+mn-ea"/>
                <a:cs typeface="+mn-cs"/>
              </a:rPr>
              <a:t> Ensuring new or up-dated equipment integrates with other existing items</a:t>
            </a:r>
          </a:p>
          <a:p>
            <a:pPr lvl="1">
              <a:buFont typeface="Arial" pitchFamily="34" charset="0"/>
              <a:buChar char="•"/>
            </a:pPr>
            <a:r>
              <a:rPr lang="en-AU" sz="1200" kern="1200" dirty="0" smtClean="0">
                <a:solidFill>
                  <a:schemeClr val="tx1"/>
                </a:solidFill>
                <a:latin typeface="+mn-lt"/>
                <a:ea typeface="+mn-ea"/>
                <a:cs typeface="+mn-cs"/>
              </a:rPr>
              <a:t> Making sure new technologies are compatible with other technologies which are currently in place</a:t>
            </a:r>
          </a:p>
          <a:p>
            <a:pPr lvl="1">
              <a:buFont typeface="Arial" pitchFamily="34" charset="0"/>
              <a:buChar char="•"/>
            </a:pPr>
            <a:r>
              <a:rPr lang="en-AU" sz="1200" kern="1200" dirty="0" smtClean="0">
                <a:solidFill>
                  <a:schemeClr val="tx1"/>
                </a:solidFill>
                <a:latin typeface="+mn-lt"/>
                <a:ea typeface="+mn-ea"/>
                <a:cs typeface="+mn-cs"/>
              </a:rPr>
              <a:t> New equipment will physically fit in the space left when old items have been removed.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discussing possible existing equipment constraints:</a:t>
            </a:r>
          </a:p>
          <a:p>
            <a:pPr>
              <a:buFont typeface="Arial" pitchFamily="34" charset="0"/>
              <a:buChar char="•"/>
            </a:pPr>
            <a:r>
              <a:rPr lang="en-AU" sz="1200" kern="1200" dirty="0" smtClean="0">
                <a:solidFill>
                  <a:schemeClr val="tx1"/>
                </a:solidFill>
                <a:latin typeface="+mn-lt"/>
                <a:ea typeface="+mn-ea"/>
                <a:cs typeface="+mn-cs"/>
              </a:rPr>
              <a:t> It is relatively easier to have to select a catering system for a new venture/enterprise than it is to select a catering system to up-date an existing workplace/business.</a:t>
            </a:r>
          </a:p>
          <a:p>
            <a:pPr>
              <a:buFont typeface="Arial" pitchFamily="34" charset="0"/>
              <a:buChar char="•"/>
            </a:pPr>
            <a:r>
              <a:rPr lang="en-AU" sz="1200" kern="1200" dirty="0" smtClean="0">
                <a:solidFill>
                  <a:schemeClr val="tx1"/>
                </a:solidFill>
                <a:latin typeface="+mn-lt"/>
                <a:ea typeface="+mn-ea"/>
                <a:cs typeface="+mn-cs"/>
              </a:rPr>
              <a:t> When dealing with an existing business several factors have emerged over time as being difficult factors to address – for example:</a:t>
            </a:r>
          </a:p>
          <a:p>
            <a:pPr lvl="1">
              <a:buFont typeface="Arial" pitchFamily="34" charset="0"/>
              <a:buChar char="•"/>
            </a:pPr>
            <a:r>
              <a:rPr lang="en-AU" sz="1200" kern="1200" dirty="0" smtClean="0">
                <a:solidFill>
                  <a:schemeClr val="tx1"/>
                </a:solidFill>
                <a:latin typeface="+mn-lt"/>
                <a:ea typeface="+mn-ea"/>
                <a:cs typeface="+mn-cs"/>
              </a:rPr>
              <a:t> There is a general tendency to want to stick to what is known – this often results in (simply) an up-dated version of the previous system being selected.</a:t>
            </a:r>
          </a:p>
          <a:p>
            <a:pPr lvl="1">
              <a:buFont typeface="Arial" pitchFamily="34" charset="0"/>
              <a:buChar char="•"/>
            </a:pPr>
            <a:r>
              <a:rPr lang="en-AU" sz="1200" kern="1200" dirty="0" smtClean="0">
                <a:solidFill>
                  <a:schemeClr val="tx1"/>
                </a:solidFill>
                <a:latin typeface="+mn-lt"/>
                <a:ea typeface="+mn-ea"/>
                <a:cs typeface="+mn-cs"/>
              </a:rPr>
              <a:t> In practice the ‘old’ approach is retained while using more modern equipment. </a:t>
            </a:r>
          </a:p>
          <a:p>
            <a:pPr lvl="1">
              <a:buFont typeface="Arial" pitchFamily="34" charset="0"/>
              <a:buChar char="•"/>
            </a:pPr>
            <a:r>
              <a:rPr lang="en-AU" sz="1200" kern="1200" dirty="0" smtClean="0">
                <a:solidFill>
                  <a:schemeClr val="tx1"/>
                </a:solidFill>
                <a:latin typeface="+mn-lt"/>
                <a:ea typeface="+mn-ea"/>
                <a:cs typeface="+mn-cs"/>
              </a:rPr>
              <a:t> There is often a reluctance to get rid of some existing items, equipment and practices – the dominant thinking is often:</a:t>
            </a:r>
          </a:p>
          <a:p>
            <a:pPr lvl="2">
              <a:buFont typeface="Arial" pitchFamily="34" charset="0"/>
              <a:buChar char="•"/>
            </a:pPr>
            <a:r>
              <a:rPr lang="en-AU" sz="1200" kern="1200" dirty="0" smtClean="0">
                <a:solidFill>
                  <a:schemeClr val="tx1"/>
                </a:solidFill>
                <a:latin typeface="+mn-lt"/>
                <a:ea typeface="+mn-ea"/>
                <a:cs typeface="+mn-cs"/>
              </a:rPr>
              <a:t> “We cannot afford to do away with that”.</a:t>
            </a:r>
          </a:p>
          <a:p>
            <a:pPr lvl="2">
              <a:buFont typeface="Arial" pitchFamily="34" charset="0"/>
              <a:buNone/>
            </a:pPr>
            <a:r>
              <a:rPr lang="en-AU" sz="1200" kern="1200" dirty="0" smtClean="0">
                <a:solidFill>
                  <a:schemeClr val="tx1"/>
                </a:solidFill>
                <a:latin typeface="+mn-lt"/>
                <a:ea typeface="+mn-ea"/>
                <a:cs typeface="+mn-cs"/>
              </a:rPr>
              <a:t>or</a:t>
            </a:r>
          </a:p>
          <a:p>
            <a:pPr lvl="2">
              <a:buFont typeface="Arial" pitchFamily="34" charset="0"/>
              <a:buChar char="•"/>
            </a:pPr>
            <a:r>
              <a:rPr lang="en-AU" sz="1200" kern="1200" dirty="0" smtClean="0">
                <a:solidFill>
                  <a:schemeClr val="tx1"/>
                </a:solidFill>
                <a:latin typeface="+mn-lt"/>
                <a:ea typeface="+mn-ea"/>
                <a:cs typeface="+mn-cs"/>
              </a:rPr>
              <a:t> “We will make do with that item because it still works: we will replace it when it breaks down”.</a:t>
            </a:r>
          </a:p>
          <a:p>
            <a:pPr lvl="1">
              <a:buFont typeface="Arial" pitchFamily="34" charset="0"/>
              <a:buChar char="•"/>
            </a:pPr>
            <a:r>
              <a:rPr lang="en-AU" sz="1200" kern="1200" dirty="0" smtClean="0">
                <a:solidFill>
                  <a:schemeClr val="tx1"/>
                </a:solidFill>
                <a:latin typeface="+mn-lt"/>
                <a:ea typeface="+mn-ea"/>
                <a:cs typeface="+mn-cs"/>
              </a:rPr>
              <a:t> There is a reduced potential/capacity or predisposition for:</a:t>
            </a:r>
          </a:p>
          <a:p>
            <a:pPr lvl="2">
              <a:buFont typeface="Arial" pitchFamily="34" charset="0"/>
              <a:buChar char="•"/>
            </a:pPr>
            <a:r>
              <a:rPr lang="en-AU" sz="1200" kern="1200" dirty="0" smtClean="0">
                <a:solidFill>
                  <a:schemeClr val="tx1"/>
                </a:solidFill>
                <a:latin typeface="+mn-lt"/>
                <a:ea typeface="+mn-ea"/>
                <a:cs typeface="+mn-cs"/>
              </a:rPr>
              <a:t> Changing the layout of the operation</a:t>
            </a:r>
          </a:p>
          <a:p>
            <a:pPr lvl="2">
              <a:buFont typeface="Arial" pitchFamily="34" charset="0"/>
              <a:buChar char="•"/>
            </a:pPr>
            <a:r>
              <a:rPr lang="en-AU" sz="1200" kern="1200" dirty="0" smtClean="0">
                <a:solidFill>
                  <a:schemeClr val="tx1"/>
                </a:solidFill>
                <a:latin typeface="+mn-lt"/>
                <a:ea typeface="+mn-ea"/>
                <a:cs typeface="+mn-cs"/>
              </a:rPr>
              <a:t> Altering the allocation of space for the system.</a:t>
            </a:r>
          </a:p>
          <a:p>
            <a:pPr lvl="0">
              <a:buFont typeface="Arial" pitchFamily="34" charset="0"/>
              <a:buChar char="•"/>
            </a:pPr>
            <a:r>
              <a:rPr lang="en-AU" sz="1200" kern="1200" dirty="0" smtClean="0">
                <a:solidFill>
                  <a:schemeClr val="tx1"/>
                </a:solidFill>
                <a:latin typeface="+mn-lt"/>
                <a:ea typeface="+mn-ea"/>
                <a:cs typeface="+mn-cs"/>
              </a:rPr>
              <a:t> When working to select a catering system for a brand new facility there is commonly more scope for flexibility in what can be chosen: the selection of the catering system, of course, should occur as part of the planning process for the new kitchen/business so relevant plans can be prepared to guide construction and installation.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discussing possible existing equipment constraints:</a:t>
            </a:r>
          </a:p>
          <a:p>
            <a:pPr>
              <a:buFont typeface="Arial" pitchFamily="34" charset="0"/>
              <a:buChar char="•"/>
            </a:pPr>
            <a:r>
              <a:rPr lang="en-AU" sz="1200" kern="1200" dirty="0" smtClean="0">
                <a:solidFill>
                  <a:schemeClr val="tx1"/>
                </a:solidFill>
                <a:latin typeface="+mn-lt"/>
                <a:ea typeface="+mn-ea"/>
                <a:cs typeface="+mn-cs"/>
              </a:rPr>
              <a:t> Working to choose a system for a new operation:</a:t>
            </a:r>
          </a:p>
          <a:p>
            <a:pPr lvl="1">
              <a:buFont typeface="Arial" pitchFamily="34" charset="0"/>
              <a:buChar char="•"/>
            </a:pPr>
            <a:r>
              <a:rPr lang="en-AU" sz="1200" kern="1200" dirty="0" smtClean="0">
                <a:solidFill>
                  <a:schemeClr val="tx1"/>
                </a:solidFill>
                <a:latin typeface="+mn-lt"/>
                <a:ea typeface="+mn-ea"/>
                <a:cs typeface="+mn-cs"/>
              </a:rPr>
              <a:t> Provides the potential to look at broader opportunities and larger volumes – which can introduce the potential for including satellite kitchens/service points supported by a main/central kitchen</a:t>
            </a:r>
          </a:p>
          <a:p>
            <a:pPr lvl="1">
              <a:buFont typeface="Arial" pitchFamily="34" charset="0"/>
              <a:buChar char="•"/>
            </a:pPr>
            <a:r>
              <a:rPr lang="en-AU" sz="1200" kern="1200" dirty="0" smtClean="0">
                <a:solidFill>
                  <a:schemeClr val="tx1"/>
                </a:solidFill>
                <a:latin typeface="+mn-lt"/>
                <a:ea typeface="+mn-ea"/>
                <a:cs typeface="+mn-cs"/>
              </a:rPr>
              <a:t> Allows you to design the total flow of food in the kitchen – from delivery of food into the kitchen, through storage, preparation and cooking, to service and post-production storage and/or distribution to other service points/satellite kitchens</a:t>
            </a:r>
          </a:p>
          <a:p>
            <a:pPr lvl="1">
              <a:buFont typeface="Arial" pitchFamily="34" charset="0"/>
              <a:buChar char="•"/>
            </a:pPr>
            <a:r>
              <a:rPr lang="en-AU" sz="1200" kern="1200" dirty="0" smtClean="0">
                <a:solidFill>
                  <a:schemeClr val="tx1"/>
                </a:solidFill>
                <a:latin typeface="+mn-lt"/>
                <a:ea typeface="+mn-ea"/>
                <a:cs typeface="+mn-cs"/>
              </a:rPr>
              <a:t> Generally sees management and other decision makers more well-disposed to new thinking and ideas – in terms of food production options and techniques, different food service strategies and more innovative ways of doing business.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concept of Key Selection Criteria stating:</a:t>
            </a:r>
          </a:p>
          <a:p>
            <a:pPr>
              <a:buFont typeface="Arial" pitchFamily="34" charset="0"/>
              <a:buChar char="•"/>
            </a:pPr>
            <a:r>
              <a:rPr lang="en-AU" sz="1200" kern="1200" dirty="0" smtClean="0">
                <a:solidFill>
                  <a:schemeClr val="tx1"/>
                </a:solidFill>
                <a:latin typeface="+mn-lt"/>
                <a:ea typeface="+mn-ea"/>
                <a:cs typeface="+mn-cs"/>
              </a:rPr>
              <a:t> Key Selection Criteria (KSC) are non-negotiable aspects in relation to selection of a catering system which must be met.  KSC may relate to:</a:t>
            </a:r>
          </a:p>
          <a:p>
            <a:pPr>
              <a:buFont typeface="Arial" pitchFamily="34" charset="0"/>
              <a:buChar char="•"/>
            </a:pPr>
            <a:r>
              <a:rPr lang="en-AU" sz="1200" kern="1200" dirty="0" smtClean="0">
                <a:solidFill>
                  <a:schemeClr val="tx1"/>
                </a:solidFill>
                <a:latin typeface="+mn-lt"/>
                <a:ea typeface="+mn-ea"/>
                <a:cs typeface="+mn-cs"/>
              </a:rPr>
              <a:t> Catering requirements – for example:</a:t>
            </a:r>
          </a:p>
          <a:p>
            <a:pPr lvl="1">
              <a:buFont typeface="Arial" pitchFamily="34" charset="0"/>
              <a:buChar char="•"/>
            </a:pPr>
            <a:r>
              <a:rPr lang="en-AU" sz="1200" kern="1200" dirty="0" smtClean="0">
                <a:solidFill>
                  <a:schemeClr val="tx1"/>
                </a:solidFill>
                <a:latin typeface="+mn-lt"/>
                <a:ea typeface="+mn-ea"/>
                <a:cs typeface="+mn-cs"/>
              </a:rPr>
              <a:t> The system must be able to produce X meals per session</a:t>
            </a:r>
          </a:p>
          <a:p>
            <a:pPr lvl="1">
              <a:buFont typeface="Arial" pitchFamily="34" charset="0"/>
              <a:buChar char="•"/>
            </a:pPr>
            <a:r>
              <a:rPr lang="en-AU" sz="1200" kern="1200" dirty="0" smtClean="0">
                <a:solidFill>
                  <a:schemeClr val="tx1"/>
                </a:solidFill>
                <a:latin typeface="+mn-lt"/>
                <a:ea typeface="+mn-ea"/>
                <a:cs typeface="+mn-cs"/>
              </a:rPr>
              <a:t> Certain types/styles of food must be able to be produced</a:t>
            </a:r>
          </a:p>
          <a:p>
            <a:pPr lvl="1">
              <a:buFont typeface="Arial" pitchFamily="34" charset="0"/>
              <a:buChar char="•"/>
            </a:pPr>
            <a:r>
              <a:rPr lang="en-AU" sz="1200" kern="1200" dirty="0" smtClean="0">
                <a:solidFill>
                  <a:schemeClr val="tx1"/>
                </a:solidFill>
                <a:latin typeface="+mn-lt"/>
                <a:ea typeface="+mn-ea"/>
                <a:cs typeface="+mn-cs"/>
              </a:rPr>
              <a:t> Nominated standards must be achieved – for example, in terms of:</a:t>
            </a:r>
          </a:p>
          <a:p>
            <a:pPr lvl="2">
              <a:buFont typeface="Arial" pitchFamily="34" charset="0"/>
              <a:buChar char="•"/>
            </a:pPr>
            <a:r>
              <a:rPr lang="en-AU" sz="1200" kern="1200" dirty="0" smtClean="0">
                <a:solidFill>
                  <a:schemeClr val="tx1"/>
                </a:solidFill>
                <a:latin typeface="+mn-lt"/>
                <a:ea typeface="+mn-ea"/>
                <a:cs typeface="+mn-cs"/>
              </a:rPr>
              <a:t> Quality – taste and appearance</a:t>
            </a:r>
          </a:p>
          <a:p>
            <a:pPr lvl="2">
              <a:buFont typeface="Arial" pitchFamily="34" charset="0"/>
              <a:buChar char="•"/>
            </a:pPr>
            <a:r>
              <a:rPr lang="en-AU" sz="1200" kern="1200" dirty="0" smtClean="0">
                <a:solidFill>
                  <a:schemeClr val="tx1"/>
                </a:solidFill>
                <a:latin typeface="+mn-lt"/>
                <a:ea typeface="+mn-ea"/>
                <a:cs typeface="+mn-cs"/>
              </a:rPr>
              <a:t> Nutrition</a:t>
            </a:r>
          </a:p>
          <a:p>
            <a:pPr lvl="2">
              <a:buFont typeface="Arial" pitchFamily="34" charset="0"/>
              <a:buChar char="•"/>
            </a:pPr>
            <a:r>
              <a:rPr lang="en-AU" sz="1200" kern="1200" dirty="0" smtClean="0">
                <a:solidFill>
                  <a:schemeClr val="tx1"/>
                </a:solidFill>
                <a:latin typeface="+mn-lt"/>
                <a:ea typeface="+mn-ea"/>
                <a:cs typeface="+mn-cs"/>
              </a:rPr>
              <a:t> Food safety</a:t>
            </a:r>
          </a:p>
          <a:p>
            <a:pPr>
              <a:buFont typeface="Arial" pitchFamily="34" charset="0"/>
              <a:buChar char="•"/>
            </a:pPr>
            <a:r>
              <a:rPr lang="en-AU" sz="1200" kern="1200" dirty="0" smtClean="0">
                <a:solidFill>
                  <a:schemeClr val="tx1"/>
                </a:solidFill>
                <a:latin typeface="+mn-lt"/>
                <a:ea typeface="+mn-ea"/>
                <a:cs typeface="+mn-cs"/>
              </a:rPr>
              <a:t> Enterprise constraints – for example:</a:t>
            </a:r>
          </a:p>
          <a:p>
            <a:pPr lvl="1">
              <a:buFont typeface="Arial" pitchFamily="34" charset="0"/>
              <a:buChar char="•"/>
            </a:pPr>
            <a:r>
              <a:rPr lang="en-AU" sz="1200" kern="1200" dirty="0" smtClean="0">
                <a:solidFill>
                  <a:schemeClr val="tx1"/>
                </a:solidFill>
                <a:latin typeface="+mn-lt"/>
                <a:ea typeface="+mn-ea"/>
                <a:cs typeface="+mn-cs"/>
              </a:rPr>
              <a:t> The identified budget must not be exceeded</a:t>
            </a:r>
          </a:p>
          <a:p>
            <a:pPr lvl="1">
              <a:buFont typeface="Arial" pitchFamily="34" charset="0"/>
              <a:buChar char="•"/>
            </a:pPr>
            <a:r>
              <a:rPr lang="en-AU" sz="1200" kern="1200" dirty="0" smtClean="0">
                <a:solidFill>
                  <a:schemeClr val="tx1"/>
                </a:solidFill>
                <a:latin typeface="+mn-lt"/>
                <a:ea typeface="+mn-ea"/>
                <a:cs typeface="+mn-cs"/>
              </a:rPr>
              <a:t> The system must fit within the existing kitchen space</a:t>
            </a:r>
          </a:p>
          <a:p>
            <a:pPr lvl="1">
              <a:buFont typeface="Arial" pitchFamily="34" charset="0"/>
              <a:buChar char="•"/>
            </a:pPr>
            <a:r>
              <a:rPr lang="en-AU" sz="1200" kern="1200" dirty="0" smtClean="0">
                <a:solidFill>
                  <a:schemeClr val="tx1"/>
                </a:solidFill>
                <a:latin typeface="+mn-lt"/>
                <a:ea typeface="+mn-ea"/>
                <a:cs typeface="+mn-cs"/>
              </a:rPr>
              <a:t> The system must be fully-operational by a given date.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discussing Key Selection Criteria stating: </a:t>
            </a:r>
          </a:p>
          <a:p>
            <a:pPr>
              <a:buFont typeface="Arial" pitchFamily="34" charset="0"/>
              <a:buChar char="•"/>
            </a:pPr>
            <a:r>
              <a:rPr lang="en-AU" sz="1200" kern="1200" dirty="0" smtClean="0">
                <a:solidFill>
                  <a:schemeClr val="tx1"/>
                </a:solidFill>
                <a:latin typeface="+mn-lt"/>
                <a:ea typeface="+mn-ea"/>
                <a:cs typeface="+mn-cs"/>
              </a:rPr>
              <a:t> All factors identified as KSC must form the basis for:</a:t>
            </a:r>
          </a:p>
          <a:p>
            <a:pPr lvl="1">
              <a:buFont typeface="Arial" pitchFamily="34" charset="0"/>
              <a:buChar char="•"/>
            </a:pPr>
            <a:r>
              <a:rPr lang="en-AU" sz="1200" kern="1200" dirty="0" smtClean="0">
                <a:solidFill>
                  <a:schemeClr val="tx1"/>
                </a:solidFill>
                <a:latin typeface="+mn-lt"/>
                <a:ea typeface="+mn-ea"/>
                <a:cs typeface="+mn-cs"/>
              </a:rPr>
              <a:t> Evaluation of catering systems/alternatives being considered – see later slides</a:t>
            </a:r>
          </a:p>
          <a:p>
            <a:pPr lvl="1">
              <a:buFont typeface="Arial" pitchFamily="34" charset="0"/>
              <a:buChar char="•"/>
            </a:pPr>
            <a:r>
              <a:rPr lang="en-AU" sz="1200" kern="1200" dirty="0" smtClean="0">
                <a:solidFill>
                  <a:schemeClr val="tx1"/>
                </a:solidFill>
                <a:latin typeface="+mn-lt"/>
                <a:ea typeface="+mn-ea"/>
                <a:cs typeface="+mn-cs"/>
              </a:rPr>
              <a:t> Recommendations for a catering system – see  later slides.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on evaluating catering systems by asking questions such as:</a:t>
            </a:r>
          </a:p>
          <a:p>
            <a:pPr>
              <a:buFont typeface="Arial" pitchFamily="34" charset="0"/>
              <a:buChar char="•"/>
            </a:pPr>
            <a:r>
              <a:rPr lang="en-US" dirty="0" smtClean="0"/>
              <a:t> What is meant by a ‘conventional’ catering system</a:t>
            </a:r>
            <a:r>
              <a:rPr lang="en-US" baseline="0" dirty="0" smtClean="0"/>
              <a:t>?</a:t>
            </a:r>
          </a:p>
          <a:p>
            <a:pPr>
              <a:buFont typeface="Arial" pitchFamily="34" charset="0"/>
              <a:buChar char="•"/>
            </a:pPr>
            <a:r>
              <a:rPr lang="en-US" baseline="0" dirty="0" smtClean="0"/>
              <a:t> What do you know about the ‘cook-chill’/’cook-freeze’ </a:t>
            </a:r>
            <a:r>
              <a:rPr lang="en-US" dirty="0" smtClean="0"/>
              <a:t>catering system</a:t>
            </a:r>
            <a:r>
              <a:rPr lang="en-US" baseline="0" dirty="0" smtClean="0"/>
              <a:t>?</a:t>
            </a:r>
          </a:p>
          <a:p>
            <a:pPr>
              <a:buFont typeface="Arial" pitchFamily="34" charset="0"/>
              <a:buChar char="•"/>
            </a:pPr>
            <a:r>
              <a:rPr lang="en-US" baseline="0" dirty="0" smtClean="0"/>
              <a:t> What do you think is the difference between a ‘central’ kitchen and a ‘satellite’ kitchen?</a:t>
            </a:r>
          </a:p>
          <a:p>
            <a:pPr>
              <a:buFont typeface="Arial" pitchFamily="34" charset="0"/>
              <a:buChar char="•"/>
            </a:pPr>
            <a:r>
              <a:rPr lang="en-US" dirty="0" smtClean="0"/>
              <a:t> What is meant by the ‘re-thermalisation’ catering system?</a:t>
            </a:r>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identifies four </a:t>
            </a:r>
            <a:r>
              <a:rPr lang="en-AU" sz="1200" kern="1200" dirty="0" smtClean="0">
                <a:solidFill>
                  <a:schemeClr val="tx1"/>
                </a:solidFill>
                <a:latin typeface="+mn-lt"/>
                <a:ea typeface="+mn-ea"/>
                <a:cs typeface="+mn-cs"/>
              </a:rPr>
              <a:t>catering system classifications/options available today were first described in 1977 by Unklesbay (</a:t>
            </a:r>
            <a:r>
              <a:rPr lang="en-AU" sz="1200" i="1" kern="1200" dirty="0" smtClean="0">
                <a:solidFill>
                  <a:schemeClr val="tx1"/>
                </a:solidFill>
                <a:latin typeface="+mn-lt"/>
                <a:ea typeface="+mn-ea"/>
                <a:cs typeface="+mn-cs"/>
              </a:rPr>
              <a:t>Foodservice systems: Product flow and microbial quality and safety of foods</a:t>
            </a:r>
            <a:r>
              <a:rPr lang="en-AU" sz="1200" kern="1200" dirty="0" smtClean="0">
                <a:solidFill>
                  <a:schemeClr val="tx1"/>
                </a:solidFill>
                <a:latin typeface="+mn-lt"/>
                <a:ea typeface="+mn-ea"/>
                <a:cs typeface="+mn-cs"/>
              </a:rPr>
              <a:t>) and will be explained/described in detail.</a:t>
            </a:r>
          </a:p>
          <a:p>
            <a:r>
              <a:rPr lang="en-AU" sz="1200" kern="1200" dirty="0" smtClean="0">
                <a:solidFill>
                  <a:schemeClr val="tx1"/>
                </a:solidFill>
                <a:latin typeface="+mn-lt"/>
                <a:ea typeface="+mn-ea"/>
                <a:cs typeface="+mn-cs"/>
              </a:rPr>
              <a:t>The four systems are:</a:t>
            </a:r>
          </a:p>
          <a:p>
            <a:pPr>
              <a:buFont typeface="Arial" pitchFamily="34" charset="0"/>
              <a:buChar char="•"/>
            </a:pPr>
            <a:r>
              <a:rPr lang="en-AU" sz="1200" kern="1200" dirty="0" smtClean="0">
                <a:solidFill>
                  <a:schemeClr val="tx1"/>
                </a:solidFill>
                <a:latin typeface="+mn-lt"/>
                <a:ea typeface="+mn-ea"/>
                <a:cs typeface="+mn-cs"/>
              </a:rPr>
              <a:t> Conventional or traditional</a:t>
            </a:r>
          </a:p>
          <a:p>
            <a:pPr>
              <a:buFont typeface="Arial" pitchFamily="34" charset="0"/>
              <a:buChar char="•"/>
            </a:pPr>
            <a:r>
              <a:rPr lang="en-AU" sz="1200" kern="1200" dirty="0" smtClean="0">
                <a:solidFill>
                  <a:schemeClr val="tx1"/>
                </a:solidFill>
                <a:latin typeface="+mn-lt"/>
                <a:ea typeface="+mn-ea"/>
                <a:cs typeface="+mn-cs"/>
              </a:rPr>
              <a:t> Ready prepared</a:t>
            </a:r>
          </a:p>
          <a:p>
            <a:pPr>
              <a:buFont typeface="Arial" pitchFamily="34" charset="0"/>
              <a:buChar char="•"/>
            </a:pPr>
            <a:r>
              <a:rPr lang="en-AU" sz="1200" kern="1200" dirty="0" smtClean="0">
                <a:solidFill>
                  <a:schemeClr val="tx1"/>
                </a:solidFill>
                <a:latin typeface="+mn-lt"/>
                <a:ea typeface="+mn-ea"/>
                <a:cs typeface="+mn-cs"/>
              </a:rPr>
              <a:t> Commissary</a:t>
            </a:r>
          </a:p>
          <a:p>
            <a:pPr>
              <a:buFont typeface="Arial" pitchFamily="34" charset="0"/>
              <a:buChar char="•"/>
            </a:pPr>
            <a:r>
              <a:rPr lang="en-AU" sz="1200" kern="1200" dirty="0" smtClean="0">
                <a:solidFill>
                  <a:schemeClr val="tx1"/>
                </a:solidFill>
                <a:latin typeface="+mn-lt"/>
                <a:ea typeface="+mn-ea"/>
                <a:cs typeface="+mn-cs"/>
              </a:rPr>
              <a:t> Assembly/serve.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adds Unklesbay </a:t>
            </a:r>
            <a:r>
              <a:rPr lang="en-AU" sz="1200" kern="1200" dirty="0" smtClean="0">
                <a:solidFill>
                  <a:schemeClr val="tx1"/>
                </a:solidFill>
                <a:latin typeface="+mn-lt"/>
                <a:ea typeface="+mn-ea"/>
                <a:cs typeface="+mn-cs"/>
              </a:rPr>
              <a:t>emphasised the link between food </a:t>
            </a:r>
            <a:r>
              <a:rPr lang="en-AU" sz="1200" i="1" kern="1200" dirty="0" smtClean="0">
                <a:solidFill>
                  <a:schemeClr val="tx1"/>
                </a:solidFill>
                <a:latin typeface="+mn-lt"/>
                <a:ea typeface="+mn-ea"/>
                <a:cs typeface="+mn-cs"/>
              </a:rPr>
              <a:t>production</a:t>
            </a:r>
            <a:r>
              <a:rPr lang="en-AU" sz="1200" kern="1200" dirty="0" smtClean="0">
                <a:solidFill>
                  <a:schemeClr val="tx1"/>
                </a:solidFill>
                <a:latin typeface="+mn-lt"/>
                <a:ea typeface="+mn-ea"/>
                <a:cs typeface="+mn-cs"/>
              </a:rPr>
              <a:t> and food </a:t>
            </a:r>
            <a:r>
              <a:rPr lang="en-AU" sz="1200" i="1" kern="1200" dirty="0" smtClean="0">
                <a:solidFill>
                  <a:schemeClr val="tx1"/>
                </a:solidFill>
                <a:latin typeface="+mn-lt"/>
                <a:ea typeface="+mn-ea"/>
                <a:cs typeface="+mn-cs"/>
              </a:rPr>
              <a:t>service</a:t>
            </a:r>
            <a:r>
              <a:rPr lang="en-AU" sz="1200" kern="1200" dirty="0" smtClean="0">
                <a:solidFill>
                  <a:schemeClr val="tx1"/>
                </a:solidFill>
                <a:latin typeface="+mn-lt"/>
                <a:ea typeface="+mn-ea"/>
                <a:cs typeface="+mn-cs"/>
              </a:rPr>
              <a:t> using a continuum of food processing to illustrate and explain:</a:t>
            </a:r>
          </a:p>
          <a:p>
            <a:pPr>
              <a:buFont typeface="Arial" pitchFamily="34" charset="0"/>
              <a:buChar char="•"/>
            </a:pPr>
            <a:r>
              <a:rPr lang="en-AU" sz="1200" kern="1200" dirty="0" smtClean="0">
                <a:solidFill>
                  <a:schemeClr val="tx1"/>
                </a:solidFill>
                <a:latin typeface="+mn-lt"/>
                <a:ea typeface="+mn-ea"/>
                <a:cs typeface="+mn-cs"/>
              </a:rPr>
              <a:t> Some venues buy raw ingredients and prepare all their meals/foods on-site</a:t>
            </a:r>
          </a:p>
          <a:p>
            <a:pPr>
              <a:buFont typeface="Arial" pitchFamily="34" charset="0"/>
              <a:buChar char="•"/>
            </a:pPr>
            <a:r>
              <a:rPr lang="en-AU" sz="1200" kern="1200" dirty="0" smtClean="0">
                <a:solidFill>
                  <a:schemeClr val="tx1"/>
                </a:solidFill>
                <a:latin typeface="+mn-lt"/>
                <a:ea typeface="+mn-ea"/>
                <a:cs typeface="+mn-cs"/>
              </a:rPr>
              <a:t> Many kitchens buy a combination of raw ingredients, pre-prepared items and ready-made foods and prepare their menus from this mix</a:t>
            </a:r>
          </a:p>
          <a:p>
            <a:pPr>
              <a:buFont typeface="Arial" pitchFamily="34" charset="0"/>
              <a:buChar char="•"/>
            </a:pPr>
            <a:r>
              <a:rPr lang="en-AU" sz="1200" kern="1200" dirty="0" smtClean="0">
                <a:solidFill>
                  <a:schemeClr val="tx1"/>
                </a:solidFill>
                <a:latin typeface="+mn-lt"/>
                <a:ea typeface="+mn-ea"/>
                <a:cs typeface="+mn-cs"/>
              </a:rPr>
              <a:t> Some service points buy/receive food which is all fully-prepared and/or pre-portioned – and only need to re-heat and/or plate it for service with little or no requirement for ‘processing’.</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a:t>
            </a:r>
            <a:r>
              <a:rPr lang="en-AU" sz="1200" kern="1200" dirty="0" smtClean="0">
                <a:solidFill>
                  <a:schemeClr val="tx1"/>
                </a:solidFill>
                <a:latin typeface="+mn-lt"/>
                <a:ea typeface="+mn-ea"/>
                <a:cs typeface="+mn-cs"/>
              </a:rPr>
              <a:t>in practice the use of pre-prepared and ready-made foods is increasing in many kitchens:</a:t>
            </a:r>
          </a:p>
          <a:p>
            <a:pPr>
              <a:buFont typeface="Arial" pitchFamily="34" charset="0"/>
              <a:buChar char="•"/>
            </a:pPr>
            <a:r>
              <a:rPr lang="en-AU" sz="1200" kern="1200" dirty="0" smtClean="0">
                <a:solidFill>
                  <a:schemeClr val="tx1"/>
                </a:solidFill>
                <a:latin typeface="+mn-lt"/>
                <a:ea typeface="+mn-ea"/>
                <a:cs typeface="+mn-cs"/>
              </a:rPr>
              <a:t> To save labour costs – because using pre-prepared and ready-made items saves on preparation time</a:t>
            </a:r>
          </a:p>
          <a:p>
            <a:pPr>
              <a:buFont typeface="Arial" pitchFamily="34" charset="0"/>
              <a:buChar char="•"/>
            </a:pPr>
            <a:r>
              <a:rPr lang="en-AU" sz="1200" kern="1200" dirty="0" smtClean="0">
                <a:solidFill>
                  <a:schemeClr val="tx1"/>
                </a:solidFill>
                <a:latin typeface="+mn-lt"/>
                <a:ea typeface="+mn-ea"/>
                <a:cs typeface="+mn-cs"/>
              </a:rPr>
              <a:t> As the quality of these products continues to improve</a:t>
            </a:r>
          </a:p>
          <a:p>
            <a:pPr>
              <a:buFont typeface="Arial" pitchFamily="34" charset="0"/>
              <a:buChar char="•"/>
            </a:pPr>
            <a:r>
              <a:rPr lang="en-AU" sz="1200" kern="1200" dirty="0" smtClean="0">
                <a:solidFill>
                  <a:schemeClr val="tx1"/>
                </a:solidFill>
                <a:latin typeface="+mn-lt"/>
                <a:ea typeface="+mn-ea"/>
                <a:cs typeface="+mn-cs"/>
              </a:rPr>
              <a:t> Through the use of detailed food purchasing specifications – detailing (for example) how meat is to be trimmed, the size of pieces, the thickness of cuts and the weight of items. </a:t>
            </a:r>
            <a:br>
              <a:rPr lang="en-AU" sz="1200" kern="1200" dirty="0" smtClean="0">
                <a:solidFill>
                  <a:schemeClr val="tx1"/>
                </a:solidFill>
                <a:latin typeface="+mn-lt"/>
                <a:ea typeface="+mn-ea"/>
                <a:cs typeface="+mn-cs"/>
              </a:rPr>
            </a:br>
            <a:endParaRPr lang="en-AU" sz="1200" kern="1200" dirty="0" smtClean="0">
              <a:solidFill>
                <a:schemeClr val="tx1"/>
              </a:solidFill>
              <a:latin typeface="+mn-lt"/>
              <a:ea typeface="+mn-ea"/>
              <a:cs typeface="+mn-cs"/>
            </a:endParaRPr>
          </a:p>
          <a:p>
            <a:pPr>
              <a:buFont typeface="Arial" pitchFamily="34" charset="0"/>
              <a:buNone/>
            </a:pPr>
            <a:r>
              <a:rPr lang="en-AU" sz="1200" b="1" kern="1200" dirty="0" smtClean="0">
                <a:solidFill>
                  <a:schemeClr val="tx1"/>
                </a:solidFill>
                <a:latin typeface="+mn-lt"/>
                <a:ea typeface="+mn-ea"/>
                <a:cs typeface="+mn-cs"/>
              </a:rPr>
              <a:t>Class  Activity – Handouts</a:t>
            </a:r>
          </a:p>
          <a:p>
            <a:pPr>
              <a:buFont typeface="Arial" pitchFamily="34" charset="0"/>
              <a:buNone/>
            </a:pPr>
            <a:r>
              <a:rPr lang="en-AU" sz="1200" b="0" kern="1200" dirty="0" smtClean="0">
                <a:solidFill>
                  <a:schemeClr val="tx1"/>
                </a:solidFill>
                <a:latin typeface="+mn-lt"/>
                <a:ea typeface="+mn-ea"/>
                <a:cs typeface="+mn-cs"/>
              </a:rPr>
              <a:t>Trainer distributes and discusses samples of food purchasing specifications showing how kitchens can use them to have certain products pre-prepared by a supplier and</a:t>
            </a:r>
            <a:r>
              <a:rPr lang="en-AU" sz="1200" b="0" kern="1200" baseline="0" dirty="0" smtClean="0">
                <a:solidFill>
                  <a:schemeClr val="tx1"/>
                </a:solidFill>
                <a:latin typeface="+mn-lt"/>
                <a:ea typeface="+mn-ea"/>
                <a:cs typeface="+mn-cs"/>
              </a:rPr>
              <a:t> hence </a:t>
            </a:r>
            <a:r>
              <a:rPr lang="en-AU" sz="1200" b="0" kern="1200" dirty="0" smtClean="0">
                <a:solidFill>
                  <a:schemeClr val="tx1"/>
                </a:solidFill>
                <a:latin typeface="+mn-lt"/>
                <a:ea typeface="+mn-ea"/>
                <a:cs typeface="+mn-cs"/>
              </a:rPr>
              <a:t>save labour</a:t>
            </a:r>
            <a:r>
              <a:rPr lang="en-AU" sz="1200" b="0" kern="1200" baseline="0" dirty="0" smtClean="0">
                <a:solidFill>
                  <a:schemeClr val="tx1"/>
                </a:solidFill>
                <a:latin typeface="+mn-lt"/>
                <a:ea typeface="+mn-ea"/>
                <a:cs typeface="+mn-cs"/>
              </a:rPr>
              <a:t> cost/preparation time.</a:t>
            </a:r>
            <a:endParaRPr lang="en-AU" sz="1200" b="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Conventional catering system stating:</a:t>
            </a:r>
          </a:p>
          <a:p>
            <a:pPr>
              <a:buFont typeface="Arial" pitchFamily="34" charset="0"/>
              <a:buChar char="•"/>
            </a:pPr>
            <a:r>
              <a:rPr lang="en-AU" sz="1200" kern="1200" dirty="0" smtClean="0">
                <a:solidFill>
                  <a:schemeClr val="tx1"/>
                </a:solidFill>
                <a:latin typeface="+mn-lt"/>
                <a:ea typeface="+mn-ea"/>
                <a:cs typeface="+mn-cs"/>
              </a:rPr>
              <a:t> The ‘conventional’ catering system is ‘cook and serve’.</a:t>
            </a:r>
          </a:p>
          <a:p>
            <a:pPr>
              <a:buFont typeface="Arial" pitchFamily="34" charset="0"/>
              <a:buChar char="•"/>
            </a:pPr>
            <a:r>
              <a:rPr lang="en-AU" sz="1200" kern="1200" dirty="0" smtClean="0">
                <a:solidFill>
                  <a:schemeClr val="tx1"/>
                </a:solidFill>
                <a:latin typeface="+mn-lt"/>
                <a:ea typeface="+mn-ea"/>
                <a:cs typeface="+mn-cs"/>
              </a:rPr>
              <a:t> In this system the food is prepared/cooked and served at the time, either hot or cold depending on type of menu item.</a:t>
            </a:r>
          </a:p>
          <a:p>
            <a:pPr>
              <a:buFont typeface="Arial" pitchFamily="34" charset="0"/>
              <a:buChar char="•"/>
            </a:pPr>
            <a:r>
              <a:rPr lang="en-AU" sz="1200" kern="1200" dirty="0" smtClean="0">
                <a:solidFill>
                  <a:schemeClr val="tx1"/>
                </a:solidFill>
                <a:latin typeface="+mn-lt"/>
                <a:ea typeface="+mn-ea"/>
                <a:cs typeface="+mn-cs"/>
              </a:rPr>
              <a:t> Food is not prepared today for service at a later date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This style of service is the most commonly used system and features preparation and cooking of the food at the same location where the food is served.</a:t>
            </a: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r>
              <a:rPr lang="en-US" b="1" dirty="0" smtClean="0"/>
              <a:t>Class Activity – Excursion</a:t>
            </a:r>
          </a:p>
          <a:p>
            <a:pPr>
              <a:buFont typeface="Arial" pitchFamily="34" charset="0"/>
              <a:buNone/>
            </a:pPr>
            <a:r>
              <a:rPr lang="en-US" b="0" dirty="0" smtClean="0"/>
              <a:t>Trainer arranges visit to a venue using the Conventional catering system so students can:</a:t>
            </a:r>
          </a:p>
          <a:p>
            <a:pPr>
              <a:buFont typeface="Arial" pitchFamily="34" charset="0"/>
              <a:buChar char="•"/>
            </a:pPr>
            <a:r>
              <a:rPr lang="en-US" b="0" dirty="0" smtClean="0"/>
              <a:t> Observe food production</a:t>
            </a:r>
          </a:p>
          <a:p>
            <a:pPr>
              <a:buFont typeface="Arial" pitchFamily="34" charset="0"/>
              <a:buChar char="•"/>
            </a:pPr>
            <a:r>
              <a:rPr lang="en-US" b="0" dirty="0" smtClean="0"/>
              <a:t> View facilities</a:t>
            </a:r>
          </a:p>
          <a:p>
            <a:pPr>
              <a:buFont typeface="Arial" pitchFamily="34" charset="0"/>
              <a:buChar char="•"/>
            </a:pPr>
            <a:r>
              <a:rPr lang="en-US" b="0" dirty="0" smtClean="0"/>
              <a:t> Watch food service</a:t>
            </a:r>
          </a:p>
          <a:p>
            <a:pPr>
              <a:buFont typeface="Arial" pitchFamily="34" charset="0"/>
              <a:buChar char="•"/>
            </a:pPr>
            <a:r>
              <a:rPr lang="en-US" b="0" dirty="0" smtClean="0"/>
              <a:t> Talk to management</a:t>
            </a:r>
          </a:p>
          <a:p>
            <a:pPr>
              <a:buFont typeface="Arial" pitchFamily="34" charset="0"/>
              <a:buChar char="•"/>
            </a:pPr>
            <a:r>
              <a:rPr lang="en-US" b="0" dirty="0" smtClean="0"/>
              <a:t> Talk with staff.</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notes </a:t>
            </a:r>
            <a:r>
              <a:rPr lang="en-AU" sz="1200" kern="1200" dirty="0" smtClean="0">
                <a:solidFill>
                  <a:schemeClr val="tx1"/>
                </a:solidFill>
                <a:latin typeface="+mn-lt"/>
                <a:ea typeface="+mn-ea"/>
                <a:cs typeface="+mn-cs"/>
              </a:rPr>
              <a:t>the food which is processed/cooked may be purchased across all points of the food processing continuum as:</a:t>
            </a:r>
          </a:p>
          <a:p>
            <a:pPr>
              <a:buFont typeface="Arial" pitchFamily="34" charset="0"/>
              <a:buChar char="•"/>
            </a:pPr>
            <a:r>
              <a:rPr lang="en-AU" sz="1200" kern="1200" dirty="0" smtClean="0">
                <a:solidFill>
                  <a:schemeClr val="tx1"/>
                </a:solidFill>
                <a:latin typeface="+mn-lt"/>
                <a:ea typeface="+mn-ea"/>
                <a:cs typeface="+mn-cs"/>
              </a:rPr>
              <a:t> Raw ingredients – requiring full processing (preparation and cooking)</a:t>
            </a:r>
          </a:p>
          <a:p>
            <a:pPr>
              <a:buFont typeface="Arial" pitchFamily="34" charset="0"/>
              <a:buChar char="•"/>
            </a:pPr>
            <a:r>
              <a:rPr lang="en-AU" sz="1200" kern="1200" dirty="0" smtClean="0">
                <a:solidFill>
                  <a:schemeClr val="tx1"/>
                </a:solidFill>
                <a:latin typeface="+mn-lt"/>
                <a:ea typeface="+mn-ea"/>
                <a:cs typeface="+mn-cs"/>
              </a:rPr>
              <a:t> Pre-prepared food – requiring no or partial preparation prior to cooking/inclusion in menu items</a:t>
            </a:r>
          </a:p>
          <a:p>
            <a:pPr>
              <a:buFont typeface="Arial" pitchFamily="34" charset="0"/>
              <a:buChar char="•"/>
            </a:pPr>
            <a:r>
              <a:rPr lang="en-AU" sz="1200" kern="1200" dirty="0" smtClean="0">
                <a:solidFill>
                  <a:schemeClr val="tx1"/>
                </a:solidFill>
                <a:latin typeface="+mn-lt"/>
                <a:ea typeface="+mn-ea"/>
                <a:cs typeface="+mn-cs"/>
              </a:rPr>
              <a:t> Ready-made items – only needing to be cut/portion-controlled, plated and served.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states menu</a:t>
            </a:r>
            <a:r>
              <a:rPr lang="en-US" baseline="0" dirty="0" smtClean="0"/>
              <a:t> items for the Conventional system are either:</a:t>
            </a:r>
          </a:p>
          <a:p>
            <a:pPr>
              <a:buFont typeface="Arial" pitchFamily="34" charset="0"/>
              <a:buChar char="•"/>
            </a:pPr>
            <a:r>
              <a:rPr lang="en-AU" sz="1200" kern="1200" dirty="0" smtClean="0">
                <a:solidFill>
                  <a:schemeClr val="tx1"/>
                </a:solidFill>
                <a:latin typeface="+mn-lt"/>
                <a:ea typeface="+mn-ea"/>
                <a:cs typeface="+mn-cs"/>
              </a:rPr>
              <a:t> Fully cooked to order – as for à la carte service</a:t>
            </a:r>
          </a:p>
          <a:p>
            <a:pPr>
              <a:buFont typeface="Arial" pitchFamily="34" charset="0"/>
              <a:buChar char="•"/>
            </a:pPr>
            <a:r>
              <a:rPr lang="en-AU" sz="1200" kern="1200" dirty="0" smtClean="0">
                <a:solidFill>
                  <a:schemeClr val="tx1"/>
                </a:solidFill>
                <a:latin typeface="+mn-lt"/>
                <a:ea typeface="+mn-ea"/>
                <a:cs typeface="+mn-cs"/>
              </a:rPr>
              <a:t> Cooked in advance (such as roasts and wet dishes) and held hot (60˚C or above) – ready for service</a:t>
            </a:r>
          </a:p>
          <a:p>
            <a:pPr>
              <a:buFont typeface="Arial" pitchFamily="34" charset="0"/>
              <a:buChar char="•"/>
            </a:pPr>
            <a:r>
              <a:rPr lang="en-AU" sz="1200" kern="1200" dirty="0" smtClean="0">
                <a:solidFill>
                  <a:schemeClr val="tx1"/>
                </a:solidFill>
                <a:latin typeface="+mn-lt"/>
                <a:ea typeface="+mn-ea"/>
                <a:cs typeface="+mn-cs"/>
              </a:rPr>
              <a:t> Prepared in advance (such as ice creams, cold entrées and other cold desserts) and held cold (at or below 5˚C).</a:t>
            </a:r>
          </a:p>
          <a:p>
            <a:pPr>
              <a:buFont typeface="Arial" pitchFamily="34" charset="0"/>
              <a:buNone/>
            </a:pPr>
            <a:endParaRPr lang="en-US" dirty="0" smtClean="0"/>
          </a:p>
          <a:p>
            <a:pPr>
              <a:buFont typeface="Arial" pitchFamily="34" charset="0"/>
              <a:buNone/>
            </a:pPr>
            <a:r>
              <a:rPr lang="en-US" b="1" dirty="0" smtClean="0"/>
              <a:t>Class Activity – Online videos</a:t>
            </a:r>
          </a:p>
          <a:p>
            <a:pPr>
              <a:buFont typeface="Arial" pitchFamily="34" charset="0"/>
              <a:buNone/>
            </a:pPr>
            <a:r>
              <a:rPr lang="en-US" b="0" dirty="0" smtClean="0"/>
              <a:t>Trainer facilitates the viewing and discussion of online videos such as:</a:t>
            </a:r>
          </a:p>
          <a:p>
            <a:r>
              <a:rPr lang="en-AU" sz="1200" u="sng" kern="1200" dirty="0" smtClean="0">
                <a:solidFill>
                  <a:schemeClr val="tx1"/>
                </a:solidFill>
                <a:latin typeface="+mn-lt"/>
                <a:ea typeface="+mn-ea"/>
                <a:cs typeface="+mn-cs"/>
              </a:rPr>
              <a:t>http://www.youtube.com/watch?v=cHxpZWS5Ogg ‘Commercial Kitchen Equipments’ (6 minutes 1 second)</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rPr>
              <a:t>http://www.youtube.com/watch?v=s409Agd6rkI ‘Kitchen Equipment’ (1 minute 7 seconds)</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rPr>
              <a:t>http://www.youtube.com/watch?v=y97Gee05Cco ‘Joni Steam Jacketed Cooking Kettles: Mince Beef’ (1 minutes 34 seconds)</a:t>
            </a:r>
            <a:endParaRPr lang="en-AU" sz="1200" kern="1200" dirty="0" smtClean="0">
              <a:solidFill>
                <a:schemeClr val="tx1"/>
              </a:solidFill>
              <a:latin typeface="+mn-lt"/>
              <a:ea typeface="+mn-ea"/>
              <a:cs typeface="+mn-cs"/>
            </a:endParaRPr>
          </a:p>
          <a:p>
            <a:pPr>
              <a:buFont typeface="Arial" pitchFamily="34" charset="0"/>
              <a:buNone/>
            </a:pPr>
            <a:r>
              <a:rPr lang="en-US" dirty="0" smtClean="0"/>
              <a:t>Note: videos may need to be watched twice for students to get the most from them.</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a:t>
            </a:r>
            <a:r>
              <a:rPr lang="en-AU" sz="1200" kern="1200" dirty="0" smtClean="0">
                <a:solidFill>
                  <a:schemeClr val="tx1"/>
                </a:solidFill>
                <a:latin typeface="+mn-lt"/>
                <a:ea typeface="+mn-ea"/>
                <a:cs typeface="+mn-cs"/>
              </a:rPr>
              <a:t>individual kitchens/venues using the Conventional system will have house policies regarding:</a:t>
            </a:r>
          </a:p>
          <a:p>
            <a:pPr>
              <a:buFont typeface="Arial" pitchFamily="34" charset="0"/>
              <a:buChar char="•"/>
            </a:pPr>
            <a:r>
              <a:rPr lang="en-AU" sz="1200" kern="1200" dirty="0" smtClean="0">
                <a:solidFill>
                  <a:schemeClr val="tx1"/>
                </a:solidFill>
                <a:latin typeface="+mn-lt"/>
                <a:ea typeface="+mn-ea"/>
                <a:cs typeface="+mn-cs"/>
              </a:rPr>
              <a:t> Quantity of food to be prepared – based on known/expected demand</a:t>
            </a:r>
          </a:p>
          <a:p>
            <a:pPr>
              <a:buFont typeface="Arial" pitchFamily="34" charset="0"/>
              <a:buChar char="•"/>
            </a:pPr>
            <a:r>
              <a:rPr lang="en-AU" sz="1200" kern="1200" dirty="0" smtClean="0">
                <a:solidFill>
                  <a:schemeClr val="tx1"/>
                </a:solidFill>
                <a:latin typeface="+mn-lt"/>
                <a:ea typeface="+mn-ea"/>
                <a:cs typeface="+mn-cs"/>
              </a:rPr>
              <a:t> Treatment of left-over food – for example:</a:t>
            </a:r>
          </a:p>
          <a:p>
            <a:pPr lvl="1">
              <a:buFont typeface="Arial" pitchFamily="34" charset="0"/>
              <a:buChar char="•"/>
            </a:pPr>
            <a:r>
              <a:rPr lang="en-AU" sz="1200" kern="1200" dirty="0" smtClean="0">
                <a:solidFill>
                  <a:schemeClr val="tx1"/>
                </a:solidFill>
                <a:latin typeface="+mn-lt"/>
                <a:ea typeface="+mn-ea"/>
                <a:cs typeface="+mn-cs"/>
              </a:rPr>
              <a:t> Hospitals and aged care facilities commonly have a policy stating no left-over food is to be stored for later re-use (to optimize food safety and avoid the dangers inherent in storing and re-heating previously cooked food</a:t>
            </a:r>
          </a:p>
          <a:p>
            <a:pPr lvl="1">
              <a:buFont typeface="Arial" pitchFamily="34" charset="0"/>
              <a:buChar char="•"/>
            </a:pPr>
            <a:r>
              <a:rPr lang="en-AU" sz="1200" kern="1200" dirty="0" smtClean="0">
                <a:solidFill>
                  <a:schemeClr val="tx1"/>
                </a:solidFill>
                <a:latin typeface="+mn-lt"/>
                <a:ea typeface="+mn-ea"/>
                <a:cs typeface="+mn-cs"/>
              </a:rPr>
              <a:t> Hotels and restaurants may allow left-over food to be stored providing:</a:t>
            </a:r>
          </a:p>
          <a:p>
            <a:pPr lvl="2">
              <a:buFont typeface="Arial" pitchFamily="34" charset="0"/>
              <a:buChar char="•"/>
            </a:pPr>
            <a:r>
              <a:rPr lang="en-AU" sz="1200" kern="1200" dirty="0" smtClean="0">
                <a:solidFill>
                  <a:schemeClr val="tx1"/>
                </a:solidFill>
                <a:latin typeface="+mn-lt"/>
                <a:ea typeface="+mn-ea"/>
                <a:cs typeface="+mn-cs"/>
              </a:rPr>
              <a:t> It is properly labelled </a:t>
            </a:r>
          </a:p>
          <a:p>
            <a:pPr lvl="2">
              <a:buFont typeface="Arial" pitchFamily="34" charset="0"/>
              <a:buChar char="•"/>
            </a:pPr>
            <a:r>
              <a:rPr lang="en-AU" sz="1200" kern="1200" dirty="0" smtClean="0">
                <a:solidFill>
                  <a:schemeClr val="tx1"/>
                </a:solidFill>
                <a:latin typeface="+mn-lt"/>
                <a:ea typeface="+mn-ea"/>
                <a:cs typeface="+mn-cs"/>
              </a:rPr>
              <a:t> It is correctly stored</a:t>
            </a:r>
          </a:p>
          <a:p>
            <a:pPr lvl="2">
              <a:buFont typeface="Arial" pitchFamily="34" charset="0"/>
              <a:buChar char="•"/>
            </a:pPr>
            <a:r>
              <a:rPr lang="en-AU" sz="1200" kern="1200" dirty="0" smtClean="0">
                <a:solidFill>
                  <a:schemeClr val="tx1"/>
                </a:solidFill>
                <a:latin typeface="+mn-lt"/>
                <a:ea typeface="+mn-ea"/>
                <a:cs typeface="+mn-cs"/>
              </a:rPr>
              <a:t> It is used within three days</a:t>
            </a:r>
          </a:p>
          <a:p>
            <a:pPr lvl="2">
              <a:buFont typeface="Arial" pitchFamily="34" charset="0"/>
              <a:buChar char="•"/>
            </a:pPr>
            <a:r>
              <a:rPr lang="en-AU" sz="1200" kern="1200" dirty="0" smtClean="0">
                <a:solidFill>
                  <a:schemeClr val="tx1"/>
                </a:solidFill>
                <a:latin typeface="+mn-lt"/>
                <a:ea typeface="+mn-ea"/>
                <a:cs typeface="+mn-cs"/>
              </a:rPr>
              <a:t> It is re-heated correctly</a:t>
            </a:r>
          </a:p>
          <a:p>
            <a:pPr lvl="2">
              <a:buFont typeface="Arial" pitchFamily="34" charset="0"/>
              <a:buChar char="•"/>
            </a:pPr>
            <a:r>
              <a:rPr lang="en-AU" sz="1200" kern="1200" dirty="0" smtClean="0">
                <a:solidFill>
                  <a:schemeClr val="tx1"/>
                </a:solidFill>
                <a:latin typeface="+mn-lt"/>
                <a:ea typeface="+mn-ea"/>
                <a:cs typeface="+mn-cs"/>
              </a:rPr>
              <a:t> It is only re-heated once.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The food preparation and cooking equipment found in a kitchen using the conventional catering approach is very diverse, reflecting the cooking style and methods of dishes listed on the menu.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a:t>
            </a:r>
            <a:r>
              <a:rPr lang="en-AU" dirty="0" smtClean="0"/>
              <a:t>use </a:t>
            </a:r>
            <a:r>
              <a:rPr lang="en-AU" sz="1200" kern="1200" dirty="0" smtClean="0">
                <a:solidFill>
                  <a:schemeClr val="tx1"/>
                </a:solidFill>
                <a:latin typeface="+mn-lt"/>
                <a:ea typeface="+mn-ea"/>
                <a:cs typeface="+mn-cs"/>
              </a:rPr>
              <a:t>of a Conventional catering system can be applied to operations where the service of the food is:</a:t>
            </a:r>
          </a:p>
          <a:p>
            <a:pPr>
              <a:buFont typeface="Arial" pitchFamily="34" charset="0"/>
              <a:buChar char="•"/>
            </a:pPr>
            <a:r>
              <a:rPr lang="en-AU" sz="1200" kern="1200" dirty="0" smtClean="0">
                <a:solidFill>
                  <a:schemeClr val="tx1"/>
                </a:solidFill>
                <a:latin typeface="+mn-lt"/>
                <a:ea typeface="+mn-ea"/>
                <a:cs typeface="+mn-cs"/>
              </a:rPr>
              <a:t> Centralised – that is, food service occurs at or adjacent to the food production area</a:t>
            </a:r>
          </a:p>
          <a:p>
            <a:pPr>
              <a:buFont typeface="Arial" pitchFamily="34" charset="0"/>
              <a:buChar char="•"/>
            </a:pPr>
            <a:r>
              <a:rPr lang="en-AU" sz="1200" kern="1200" dirty="0" smtClean="0">
                <a:solidFill>
                  <a:schemeClr val="tx1"/>
                </a:solidFill>
                <a:latin typeface="+mn-lt"/>
                <a:ea typeface="+mn-ea"/>
                <a:cs typeface="+mn-cs"/>
              </a:rPr>
              <a:t> Decentralised – that is, where the food is transported (by tray, trolley, conveyor belt) to some remote/other location within the same building/business where it is either plated or served.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introduces the </a:t>
            </a:r>
            <a:r>
              <a:rPr lang="en-AU" dirty="0" smtClean="0"/>
              <a:t>Ready </a:t>
            </a:r>
            <a:r>
              <a:rPr lang="en-AU" sz="1200" kern="1200" dirty="0" smtClean="0">
                <a:solidFill>
                  <a:schemeClr val="tx1"/>
                </a:solidFill>
                <a:latin typeface="+mn-lt"/>
                <a:ea typeface="+mn-ea"/>
                <a:cs typeface="+mn-cs"/>
              </a:rPr>
              <a:t>prepared catering system stating it focuses:</a:t>
            </a:r>
          </a:p>
          <a:p>
            <a:pPr>
              <a:buFont typeface="Arial" pitchFamily="34" charset="0"/>
              <a:buChar char="•"/>
            </a:pPr>
            <a:r>
              <a:rPr lang="en-AU" sz="1200" kern="1200" dirty="0" smtClean="0">
                <a:solidFill>
                  <a:schemeClr val="tx1"/>
                </a:solidFill>
                <a:latin typeface="+mn-lt"/>
                <a:ea typeface="+mn-ea"/>
                <a:cs typeface="+mn-cs"/>
              </a:rPr>
              <a:t> On preparing food on-site </a:t>
            </a:r>
          </a:p>
          <a:p>
            <a:pPr>
              <a:buFont typeface="Arial" pitchFamily="34" charset="0"/>
              <a:buChar char="•"/>
            </a:pPr>
            <a:r>
              <a:rPr lang="en-AU" sz="1200" kern="1200" dirty="0" smtClean="0">
                <a:solidFill>
                  <a:schemeClr val="tx1"/>
                </a:solidFill>
                <a:latin typeface="+mn-lt"/>
                <a:ea typeface="+mn-ea"/>
                <a:cs typeface="+mn-cs"/>
              </a:rPr>
              <a:t> Storing it on-site – under refrigeration or frozen storage </a:t>
            </a:r>
          </a:p>
          <a:p>
            <a:pPr>
              <a:buFont typeface="Arial" pitchFamily="34" charset="0"/>
              <a:buChar char="•"/>
            </a:pPr>
            <a:r>
              <a:rPr lang="en-AU" sz="1200" kern="1200" dirty="0" smtClean="0">
                <a:solidFill>
                  <a:schemeClr val="tx1"/>
                </a:solidFill>
                <a:latin typeface="+mn-lt"/>
                <a:ea typeface="+mn-ea"/>
                <a:cs typeface="+mn-cs"/>
              </a:rPr>
              <a:t> Re-heating it on-site – when required, for </a:t>
            </a:r>
          </a:p>
          <a:p>
            <a:pPr>
              <a:buFont typeface="Arial" pitchFamily="34" charset="0"/>
              <a:buChar char="•"/>
            </a:pPr>
            <a:r>
              <a:rPr lang="en-AU" sz="1200" kern="1200" dirty="0" smtClean="0">
                <a:solidFill>
                  <a:schemeClr val="tx1"/>
                </a:solidFill>
                <a:latin typeface="+mn-lt"/>
                <a:ea typeface="+mn-ea"/>
                <a:cs typeface="+mn-cs"/>
              </a:rPr>
              <a:t> On-site service.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states</a:t>
            </a:r>
            <a:r>
              <a:rPr lang="en-US" baseline="0" dirty="0" smtClean="0"/>
              <a:t> as </a:t>
            </a:r>
            <a:r>
              <a:rPr lang="en-AU" sz="1200" kern="1200" dirty="0" smtClean="0">
                <a:solidFill>
                  <a:schemeClr val="tx1"/>
                </a:solidFill>
                <a:latin typeface="+mn-lt"/>
                <a:ea typeface="+mn-ea"/>
                <a:cs typeface="+mn-cs"/>
              </a:rPr>
              <a:t>with the Conventional system the food which is processed/cooked may be purchased across all points of the food processing continuum as:</a:t>
            </a:r>
          </a:p>
          <a:p>
            <a:pPr>
              <a:buFont typeface="Arial" pitchFamily="34" charset="0"/>
              <a:buChar char="•"/>
            </a:pPr>
            <a:r>
              <a:rPr lang="en-AU" sz="1200" kern="1200" dirty="0" smtClean="0">
                <a:solidFill>
                  <a:schemeClr val="tx1"/>
                </a:solidFill>
                <a:latin typeface="+mn-lt"/>
                <a:ea typeface="+mn-ea"/>
                <a:cs typeface="+mn-cs"/>
              </a:rPr>
              <a:t> Raw ingredients – requiring full processing (preparation and cooking)</a:t>
            </a:r>
          </a:p>
          <a:p>
            <a:pPr>
              <a:buFont typeface="Arial" pitchFamily="34" charset="0"/>
              <a:buChar char="•"/>
            </a:pPr>
            <a:r>
              <a:rPr lang="en-AU" sz="1200" kern="1200" dirty="0" smtClean="0">
                <a:solidFill>
                  <a:schemeClr val="tx1"/>
                </a:solidFill>
                <a:latin typeface="+mn-lt"/>
                <a:ea typeface="+mn-ea"/>
                <a:cs typeface="+mn-cs"/>
              </a:rPr>
              <a:t> Pre-prepared food – requiring no or partial preparation prior to cooking/inclusion in menu items</a:t>
            </a:r>
          </a:p>
          <a:p>
            <a:pPr>
              <a:buFont typeface="Arial" pitchFamily="34" charset="0"/>
              <a:buChar char="•"/>
            </a:pPr>
            <a:r>
              <a:rPr lang="en-AU" sz="1200" kern="1200" dirty="0" smtClean="0">
                <a:solidFill>
                  <a:schemeClr val="tx1"/>
                </a:solidFill>
                <a:latin typeface="+mn-lt"/>
                <a:ea typeface="+mn-ea"/>
                <a:cs typeface="+mn-cs"/>
              </a:rPr>
              <a:t> Ready-made items – only needing to be cut/portion-controlled, plated and served.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describes the stages of ‘cook-chill’ as being:</a:t>
            </a:r>
          </a:p>
          <a:p>
            <a:pPr>
              <a:buFont typeface="Arial" pitchFamily="34" charset="0"/>
              <a:buChar char="•"/>
            </a:pPr>
            <a:r>
              <a:rPr lang="en-AU" sz="1200" kern="1200" dirty="0" smtClean="0">
                <a:solidFill>
                  <a:schemeClr val="tx1"/>
                </a:solidFill>
                <a:latin typeface="+mn-lt"/>
                <a:ea typeface="+mn-ea"/>
                <a:cs typeface="+mn-cs"/>
              </a:rPr>
              <a:t> Food is produced – by standard or bulk-cooking methods (such as the use of kettles or cook tanks)</a:t>
            </a:r>
          </a:p>
          <a:p>
            <a:pPr>
              <a:buFont typeface="Arial" pitchFamily="34" charset="0"/>
              <a:buChar char="•"/>
            </a:pPr>
            <a:r>
              <a:rPr lang="en-AU" sz="1200" kern="1200" dirty="0" smtClean="0">
                <a:solidFill>
                  <a:schemeClr val="tx1"/>
                </a:solidFill>
                <a:latin typeface="+mn-lt"/>
                <a:ea typeface="+mn-ea"/>
                <a:cs typeface="+mn-cs"/>
              </a:rPr>
              <a:t> Food is packaged (using an automated pump system or a manual-filling option [hand-held jug or ladle]) – in a variety of containers but commonly into a range of durable, vacuum-sealed plastic bags catering for individual serve sizes up to larger volume/bulk packs</a:t>
            </a:r>
          </a:p>
          <a:p>
            <a:pPr>
              <a:buFont typeface="Arial" pitchFamily="34" charset="0"/>
              <a:buChar char="•"/>
            </a:pPr>
            <a:r>
              <a:rPr lang="en-AU" sz="1200" kern="1200" dirty="0" smtClean="0">
                <a:solidFill>
                  <a:schemeClr val="tx1"/>
                </a:solidFill>
                <a:latin typeface="+mn-lt"/>
                <a:ea typeface="+mn-ea"/>
                <a:cs typeface="+mn-cs"/>
              </a:rPr>
              <a:t> Cooked food is rapidly chilled – using blast chilling, ice slurry tumblers or iced water bath causing food to reduce from cooking temperatures to 5˚C or less in 90 minutes</a:t>
            </a:r>
          </a:p>
          <a:p>
            <a:pPr>
              <a:buFont typeface="Arial" pitchFamily="34" charset="0"/>
              <a:buChar char="•"/>
            </a:pPr>
            <a:r>
              <a:rPr lang="en-AU" sz="1200" kern="1200" dirty="0" smtClean="0">
                <a:solidFill>
                  <a:schemeClr val="tx1"/>
                </a:solidFill>
                <a:latin typeface="+mn-lt"/>
                <a:ea typeface="+mn-ea"/>
                <a:cs typeface="+mn-cs"/>
              </a:rPr>
              <a:t> Food is stored under controlled refrigerated conditions – in the range of -2˚C to 0˚C for periods of up to seven weeks</a:t>
            </a:r>
          </a:p>
          <a:p>
            <a:pPr>
              <a:buFont typeface="Arial" pitchFamily="34" charset="0"/>
              <a:buChar char="•"/>
            </a:pPr>
            <a:r>
              <a:rPr lang="en-AU" sz="1200" kern="1200" dirty="0" smtClean="0">
                <a:solidFill>
                  <a:schemeClr val="tx1"/>
                </a:solidFill>
                <a:latin typeface="+mn-lt"/>
                <a:ea typeface="+mn-ea"/>
                <a:cs typeface="+mn-cs"/>
              </a:rPr>
              <a:t> Food is re-heated as required – using options including: </a:t>
            </a:r>
          </a:p>
          <a:p>
            <a:pPr lvl="1">
              <a:buFont typeface="Arial" pitchFamily="34" charset="0"/>
              <a:buChar char="•"/>
            </a:pPr>
            <a:r>
              <a:rPr lang="en-AU" sz="1200" kern="1200" dirty="0" smtClean="0">
                <a:solidFill>
                  <a:schemeClr val="tx1"/>
                </a:solidFill>
                <a:latin typeface="+mn-lt"/>
                <a:ea typeface="+mn-ea"/>
                <a:cs typeface="+mn-cs"/>
              </a:rPr>
              <a:t> Steamers</a:t>
            </a:r>
          </a:p>
          <a:p>
            <a:pPr lvl="1">
              <a:buFont typeface="Arial" pitchFamily="34" charset="0"/>
              <a:buChar char="•"/>
            </a:pPr>
            <a:r>
              <a:rPr lang="en-AU" sz="1200" kern="1200" dirty="0" smtClean="0">
                <a:solidFill>
                  <a:schemeClr val="tx1"/>
                </a:solidFill>
                <a:latin typeface="+mn-lt"/>
                <a:ea typeface="+mn-ea"/>
                <a:cs typeface="+mn-cs"/>
              </a:rPr>
              <a:t> Braising pans</a:t>
            </a:r>
          </a:p>
          <a:p>
            <a:pPr lvl="1">
              <a:buFont typeface="Arial" pitchFamily="34" charset="0"/>
              <a:buChar char="•"/>
            </a:pPr>
            <a:r>
              <a:rPr lang="en-AU" sz="1200" kern="1200" dirty="0" smtClean="0">
                <a:solidFill>
                  <a:schemeClr val="tx1"/>
                </a:solidFill>
                <a:latin typeface="+mn-lt"/>
                <a:ea typeface="+mn-ea"/>
                <a:cs typeface="+mn-cs"/>
              </a:rPr>
              <a:t> Microwave ovens</a:t>
            </a:r>
          </a:p>
          <a:p>
            <a:pPr lvl="1">
              <a:buFont typeface="Arial" pitchFamily="34" charset="0"/>
              <a:buChar char="•"/>
            </a:pPr>
            <a:r>
              <a:rPr lang="en-AU" sz="1200" kern="1200" dirty="0" smtClean="0">
                <a:solidFill>
                  <a:schemeClr val="tx1"/>
                </a:solidFill>
                <a:latin typeface="+mn-lt"/>
                <a:ea typeface="+mn-ea"/>
                <a:cs typeface="+mn-cs"/>
              </a:rPr>
              <a:t> Kettles</a:t>
            </a:r>
          </a:p>
          <a:p>
            <a:pPr lvl="1">
              <a:buFont typeface="Arial" pitchFamily="34" charset="0"/>
              <a:buChar char="•"/>
            </a:pPr>
            <a:r>
              <a:rPr lang="en-AU" sz="1200" kern="1200" dirty="0" smtClean="0">
                <a:solidFill>
                  <a:schemeClr val="tx1"/>
                </a:solidFill>
                <a:latin typeface="+mn-lt"/>
                <a:ea typeface="+mn-ea"/>
                <a:cs typeface="+mn-cs"/>
              </a:rPr>
              <a:t> Combi-ovens</a:t>
            </a:r>
          </a:p>
          <a:p>
            <a:pPr>
              <a:buFont typeface="Arial" pitchFamily="34" charset="0"/>
              <a:buChar char="•"/>
            </a:pPr>
            <a:r>
              <a:rPr lang="en-AU" sz="1200" kern="1200" dirty="0" smtClean="0">
                <a:solidFill>
                  <a:schemeClr val="tx1"/>
                </a:solidFill>
                <a:latin typeface="+mn-lt"/>
                <a:ea typeface="+mn-ea"/>
                <a:cs typeface="+mn-cs"/>
              </a:rPr>
              <a:t> Food is held for plating and service.</a:t>
            </a:r>
          </a:p>
          <a:p>
            <a:pPr>
              <a:buFont typeface="Arial" pitchFamily="34" charset="0"/>
              <a:buNone/>
            </a:pPr>
            <a:endParaRPr lang="en-US" b="1" dirty="0" smtClean="0"/>
          </a:p>
          <a:p>
            <a:pPr>
              <a:buFont typeface="Arial" pitchFamily="34" charset="0"/>
              <a:buNone/>
            </a:pPr>
            <a:r>
              <a:rPr lang="en-US" b="1" dirty="0" smtClean="0"/>
              <a:t>Class Activity – Excursion</a:t>
            </a:r>
          </a:p>
          <a:p>
            <a:pPr>
              <a:buFont typeface="Arial" pitchFamily="34" charset="0"/>
              <a:buNone/>
            </a:pPr>
            <a:r>
              <a:rPr lang="en-US" b="0" dirty="0" smtClean="0"/>
              <a:t>Trainer arranges visit to a venue using the Cook-chill catering system so students can:</a:t>
            </a:r>
          </a:p>
          <a:p>
            <a:pPr>
              <a:buFont typeface="Arial" pitchFamily="34" charset="0"/>
              <a:buChar char="•"/>
            </a:pPr>
            <a:r>
              <a:rPr lang="en-US" b="0" dirty="0" smtClean="0"/>
              <a:t> Observe food production, packaging, storage and re-heating</a:t>
            </a:r>
          </a:p>
          <a:p>
            <a:pPr>
              <a:buFont typeface="Arial" pitchFamily="34" charset="0"/>
              <a:buChar char="•"/>
            </a:pPr>
            <a:r>
              <a:rPr lang="en-US" b="0" dirty="0" smtClean="0"/>
              <a:t> View facilities</a:t>
            </a:r>
          </a:p>
          <a:p>
            <a:pPr>
              <a:buFont typeface="Arial" pitchFamily="34" charset="0"/>
              <a:buChar char="•"/>
            </a:pPr>
            <a:r>
              <a:rPr lang="en-US" b="0" dirty="0" smtClean="0"/>
              <a:t> Watch food service</a:t>
            </a:r>
          </a:p>
          <a:p>
            <a:pPr>
              <a:buFont typeface="Arial" pitchFamily="34" charset="0"/>
              <a:buChar char="•"/>
            </a:pPr>
            <a:r>
              <a:rPr lang="en-US" b="0" dirty="0" smtClean="0"/>
              <a:t> Talk to management</a:t>
            </a:r>
          </a:p>
          <a:p>
            <a:pPr>
              <a:buFont typeface="Arial" pitchFamily="34" charset="0"/>
              <a:buChar char="•"/>
            </a:pPr>
            <a:r>
              <a:rPr lang="en-US" b="0" dirty="0" smtClean="0"/>
              <a:t> Talk with staff.</a:t>
            </a:r>
            <a:endParaRPr lang="en-US" dirty="0" smtClean="0"/>
          </a:p>
          <a:p>
            <a:pPr>
              <a:buFont typeface="Arial" pitchFamily="34" charset="0"/>
              <a:buNone/>
            </a:pPr>
            <a:endParaRPr lang="en-US" dirty="0" smtClean="0"/>
          </a:p>
          <a:p>
            <a:pPr>
              <a:buFont typeface="Arial" pitchFamily="34" charset="0"/>
              <a:buNone/>
            </a:pPr>
            <a:r>
              <a:rPr lang="en-US" b="1" dirty="0" smtClean="0"/>
              <a:t>Class Activity – Online videos</a:t>
            </a:r>
          </a:p>
          <a:p>
            <a:pPr>
              <a:buFont typeface="Arial" pitchFamily="34" charset="0"/>
              <a:buNone/>
            </a:pPr>
            <a:r>
              <a:rPr lang="en-US" b="0" dirty="0" smtClean="0"/>
              <a:t>Trainer facilitates the viewing and discussion of online videos such as:</a:t>
            </a:r>
          </a:p>
          <a:p>
            <a:r>
              <a:rPr lang="en-AU" sz="1200" u="sng" kern="1200" dirty="0" smtClean="0">
                <a:solidFill>
                  <a:schemeClr val="tx1"/>
                </a:solidFill>
                <a:latin typeface="+mn-lt"/>
                <a:ea typeface="+mn-ea"/>
                <a:cs typeface="+mn-cs"/>
              </a:rPr>
              <a:t>http://www.youtube.com/watch?v=jAbFCLNnpvc ‘How to Cook-Chill: Cook-Chill Technology (1 minute 57 seconds)</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rPr>
              <a:t>http://www.youtube.com/watch?v=8qJtWN5Tr8w ‘The Cook Chill Process’ (8 minutes 12 seconds)</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rPr>
              <a:t>http://www.youtube.com/watch?v=nnsPHhuhk90 ‘Regethermic Cook Chill System’ (9 minutes 46 seconds)</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rPr>
              <a:t>http://www.youtube.com/watch?v=8yLZ9EpwO3w ‘Cook Chill Food System: D C Norris &amp; Company Ltd (7 minutes 33 seconds)</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rPr>
              <a:t>http://www.youtube.com/watch?v=kYbNszCCi1g ‘The Cook-Chill Process’ (8 minutes 18 seconds)</a:t>
            </a:r>
            <a:endParaRPr lang="en-AU" sz="1200" kern="1200" dirty="0" smtClean="0">
              <a:solidFill>
                <a:schemeClr val="tx1"/>
              </a:solidFill>
              <a:latin typeface="+mn-lt"/>
              <a:ea typeface="+mn-ea"/>
              <a:cs typeface="+mn-cs"/>
            </a:endParaRPr>
          </a:p>
          <a:p>
            <a:pPr>
              <a:buFont typeface="Arial" pitchFamily="34" charset="0"/>
              <a:buNone/>
            </a:pPr>
            <a:r>
              <a:rPr lang="en-US" dirty="0" smtClean="0"/>
              <a:t>Note: videos may need to be watched twice for students to get the most from them.</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describes the stages of ‘cook-freeze’ as being:</a:t>
            </a:r>
          </a:p>
          <a:p>
            <a:pPr>
              <a:buFont typeface="Arial" pitchFamily="34" charset="0"/>
              <a:buChar char="•"/>
            </a:pPr>
            <a:r>
              <a:rPr lang="en-AU" sz="1200" kern="1200" dirty="0" smtClean="0">
                <a:solidFill>
                  <a:schemeClr val="tx1"/>
                </a:solidFill>
                <a:latin typeface="+mn-lt"/>
                <a:ea typeface="+mn-ea"/>
                <a:cs typeface="+mn-cs"/>
              </a:rPr>
              <a:t> Food is produced which is ‘almost cooked’ – by standard or bulk-cooking methods (such as the use of kettles or cook tanks)</a:t>
            </a:r>
          </a:p>
          <a:p>
            <a:pPr>
              <a:buFont typeface="Arial" pitchFamily="34" charset="0"/>
              <a:buChar char="•"/>
            </a:pPr>
            <a:r>
              <a:rPr lang="en-AU" sz="1200" kern="1200" dirty="0" smtClean="0">
                <a:solidFill>
                  <a:schemeClr val="tx1"/>
                </a:solidFill>
                <a:latin typeface="+mn-lt"/>
                <a:ea typeface="+mn-ea"/>
                <a:cs typeface="+mn-cs"/>
              </a:rPr>
              <a:t> Food is packaged (using an automated pump system or a manual-filling option [hand-held jug or ladle]) – in a variety of containers but commonly into a range of durable, vacuum-sealed plastic bags catering for individual serve sizes up to larger volume/bulk packs</a:t>
            </a:r>
          </a:p>
          <a:p>
            <a:pPr>
              <a:buFont typeface="Arial" pitchFamily="34" charset="0"/>
              <a:buChar char="•"/>
            </a:pPr>
            <a:r>
              <a:rPr lang="en-AU" sz="1200" kern="1200" dirty="0" smtClean="0">
                <a:solidFill>
                  <a:schemeClr val="tx1"/>
                </a:solidFill>
                <a:latin typeface="+mn-lt"/>
                <a:ea typeface="+mn-ea"/>
                <a:cs typeface="+mn-cs"/>
              </a:rPr>
              <a:t> Cooked food is rapidly frozen – using blast freezers causing food to reduce from cooking temperatures to -20˚C or less in 90 minutes</a:t>
            </a:r>
          </a:p>
          <a:p>
            <a:pPr>
              <a:buFont typeface="Arial" pitchFamily="34" charset="0"/>
              <a:buChar char="•"/>
            </a:pPr>
            <a:r>
              <a:rPr lang="en-AU" sz="1200" kern="1200" dirty="0" smtClean="0">
                <a:solidFill>
                  <a:schemeClr val="tx1"/>
                </a:solidFill>
                <a:latin typeface="+mn-lt"/>
                <a:ea typeface="+mn-ea"/>
                <a:cs typeface="+mn-cs"/>
              </a:rPr>
              <a:t> Food is stored under controlled freezer conditions – in the range of -20˚C for months</a:t>
            </a:r>
          </a:p>
          <a:p>
            <a:pPr>
              <a:buFont typeface="Arial" pitchFamily="34" charset="0"/>
              <a:buChar char="•"/>
            </a:pPr>
            <a:r>
              <a:rPr lang="en-AU" sz="1200" kern="1200" dirty="0" smtClean="0">
                <a:solidFill>
                  <a:schemeClr val="tx1"/>
                </a:solidFill>
                <a:latin typeface="+mn-lt"/>
                <a:ea typeface="+mn-ea"/>
                <a:cs typeface="+mn-cs"/>
              </a:rPr>
              <a:t> Frozen food is thawed (to 0˚C to 4˚C) prior to re-heating – under strict time-temperature controlled conditions</a:t>
            </a:r>
          </a:p>
          <a:p>
            <a:pPr>
              <a:buFont typeface="Arial" pitchFamily="34" charset="0"/>
              <a:buChar char="•"/>
            </a:pPr>
            <a:r>
              <a:rPr lang="en-AU" sz="1200" kern="1200" dirty="0" smtClean="0">
                <a:solidFill>
                  <a:schemeClr val="tx1"/>
                </a:solidFill>
                <a:latin typeface="+mn-lt"/>
                <a:ea typeface="+mn-ea"/>
                <a:cs typeface="+mn-cs"/>
              </a:rPr>
              <a:t> Food is re-heated as required – using options including: </a:t>
            </a:r>
          </a:p>
          <a:p>
            <a:pPr lvl="1">
              <a:buFont typeface="Arial" pitchFamily="34" charset="0"/>
              <a:buChar char="•"/>
            </a:pPr>
            <a:r>
              <a:rPr lang="en-AU" sz="1200" kern="1200" dirty="0" smtClean="0">
                <a:solidFill>
                  <a:schemeClr val="tx1"/>
                </a:solidFill>
                <a:latin typeface="+mn-lt"/>
                <a:ea typeface="+mn-ea"/>
                <a:cs typeface="+mn-cs"/>
              </a:rPr>
              <a:t> Steamers</a:t>
            </a:r>
          </a:p>
          <a:p>
            <a:pPr lvl="1">
              <a:buFont typeface="Arial" pitchFamily="34" charset="0"/>
              <a:buChar char="•"/>
            </a:pPr>
            <a:r>
              <a:rPr lang="en-AU" sz="1200" kern="1200" dirty="0" smtClean="0">
                <a:solidFill>
                  <a:schemeClr val="tx1"/>
                </a:solidFill>
                <a:latin typeface="+mn-lt"/>
                <a:ea typeface="+mn-ea"/>
                <a:cs typeface="+mn-cs"/>
              </a:rPr>
              <a:t> Braising pans</a:t>
            </a:r>
          </a:p>
          <a:p>
            <a:pPr lvl="1">
              <a:buFont typeface="Arial" pitchFamily="34" charset="0"/>
              <a:buChar char="•"/>
            </a:pPr>
            <a:r>
              <a:rPr lang="en-AU" sz="1200" kern="1200" dirty="0" smtClean="0">
                <a:solidFill>
                  <a:schemeClr val="tx1"/>
                </a:solidFill>
                <a:latin typeface="+mn-lt"/>
                <a:ea typeface="+mn-ea"/>
                <a:cs typeface="+mn-cs"/>
              </a:rPr>
              <a:t> Microwave ovens</a:t>
            </a:r>
          </a:p>
          <a:p>
            <a:pPr lvl="1">
              <a:buFont typeface="Arial" pitchFamily="34" charset="0"/>
              <a:buChar char="•"/>
            </a:pPr>
            <a:r>
              <a:rPr lang="en-AU" sz="1200" kern="1200" dirty="0" smtClean="0">
                <a:solidFill>
                  <a:schemeClr val="tx1"/>
                </a:solidFill>
                <a:latin typeface="+mn-lt"/>
                <a:ea typeface="+mn-ea"/>
                <a:cs typeface="+mn-cs"/>
              </a:rPr>
              <a:t> Kettles</a:t>
            </a:r>
          </a:p>
          <a:p>
            <a:pPr lvl="1">
              <a:buFont typeface="Arial" pitchFamily="34" charset="0"/>
              <a:buChar char="•"/>
            </a:pPr>
            <a:r>
              <a:rPr lang="en-AU" sz="1200" kern="1200" dirty="0" smtClean="0">
                <a:solidFill>
                  <a:schemeClr val="tx1"/>
                </a:solidFill>
                <a:latin typeface="+mn-lt"/>
                <a:ea typeface="+mn-ea"/>
                <a:cs typeface="+mn-cs"/>
              </a:rPr>
              <a:t> Combi-ovens</a:t>
            </a:r>
          </a:p>
          <a:p>
            <a:pPr>
              <a:buFont typeface="Arial" pitchFamily="34" charset="0"/>
              <a:buChar char="•"/>
            </a:pPr>
            <a:r>
              <a:rPr lang="en-AU" sz="1200" kern="1200" dirty="0" smtClean="0">
                <a:solidFill>
                  <a:schemeClr val="tx1"/>
                </a:solidFill>
                <a:latin typeface="+mn-lt"/>
                <a:ea typeface="+mn-ea"/>
                <a:cs typeface="+mn-cs"/>
              </a:rPr>
              <a:t> Food is held for plating and service.</a:t>
            </a:r>
          </a:p>
          <a:p>
            <a:pPr>
              <a:buFont typeface="Arial" pitchFamily="34" charset="0"/>
              <a:buNone/>
            </a:pPr>
            <a:endParaRPr lang="en-US" dirty="0" smtClean="0"/>
          </a:p>
          <a:p>
            <a:pPr>
              <a:buFont typeface="Arial" pitchFamily="34" charset="0"/>
              <a:buNone/>
            </a:pPr>
            <a:r>
              <a:rPr lang="en-US" b="1" dirty="0" smtClean="0"/>
              <a:t>Class Activity – Excursion</a:t>
            </a:r>
          </a:p>
          <a:p>
            <a:pPr>
              <a:buFont typeface="Arial" pitchFamily="34" charset="0"/>
              <a:buNone/>
            </a:pPr>
            <a:r>
              <a:rPr lang="en-US" b="0" dirty="0" smtClean="0"/>
              <a:t>Trainer arranges visit to a venue using the Cook-freeze catering system so students can:</a:t>
            </a:r>
          </a:p>
          <a:p>
            <a:pPr>
              <a:buFont typeface="Arial" pitchFamily="34" charset="0"/>
              <a:buChar char="•"/>
            </a:pPr>
            <a:r>
              <a:rPr lang="en-US" b="0" dirty="0" smtClean="0"/>
              <a:t> Observe food production,</a:t>
            </a:r>
            <a:r>
              <a:rPr lang="en-US" b="0" baseline="0" dirty="0" smtClean="0"/>
              <a:t> </a:t>
            </a:r>
            <a:r>
              <a:rPr lang="en-US" b="0" dirty="0" smtClean="0"/>
              <a:t>packaging, storage, thawing and re-heating</a:t>
            </a:r>
          </a:p>
          <a:p>
            <a:pPr>
              <a:buFont typeface="Arial" pitchFamily="34" charset="0"/>
              <a:buChar char="•"/>
            </a:pPr>
            <a:r>
              <a:rPr lang="en-US" b="0" dirty="0" smtClean="0"/>
              <a:t> View facilities</a:t>
            </a:r>
          </a:p>
          <a:p>
            <a:pPr>
              <a:buFont typeface="Arial" pitchFamily="34" charset="0"/>
              <a:buChar char="•"/>
            </a:pPr>
            <a:r>
              <a:rPr lang="en-US" b="0" dirty="0" smtClean="0"/>
              <a:t> Watch food service</a:t>
            </a:r>
          </a:p>
          <a:p>
            <a:pPr>
              <a:buFont typeface="Arial" pitchFamily="34" charset="0"/>
              <a:buChar char="•"/>
            </a:pPr>
            <a:r>
              <a:rPr lang="en-US" b="0" dirty="0" smtClean="0"/>
              <a:t> Talk to management</a:t>
            </a:r>
          </a:p>
          <a:p>
            <a:pPr>
              <a:buFont typeface="Arial" pitchFamily="34" charset="0"/>
              <a:buChar char="•"/>
            </a:pPr>
            <a:r>
              <a:rPr lang="en-US" b="0" dirty="0" smtClean="0"/>
              <a:t> Talk with staff.</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introduces the </a:t>
            </a:r>
            <a:r>
              <a:rPr lang="en-AU" dirty="0" smtClean="0"/>
              <a:t>Commissary </a:t>
            </a:r>
            <a:r>
              <a:rPr lang="en-AU" sz="1200" kern="1200" dirty="0" smtClean="0">
                <a:solidFill>
                  <a:schemeClr val="tx1"/>
                </a:solidFill>
                <a:latin typeface="+mn-lt"/>
                <a:ea typeface="+mn-ea"/>
                <a:cs typeface="+mn-cs"/>
              </a:rPr>
              <a:t>catering system stating it is one where food:</a:t>
            </a:r>
          </a:p>
          <a:p>
            <a:pPr>
              <a:buFont typeface="Arial" pitchFamily="34" charset="0"/>
              <a:buChar char="•"/>
            </a:pPr>
            <a:r>
              <a:rPr lang="en-AU" sz="1200" kern="1200" dirty="0" smtClean="0">
                <a:solidFill>
                  <a:schemeClr val="tx1"/>
                </a:solidFill>
                <a:latin typeface="+mn-lt"/>
                <a:ea typeface="+mn-ea"/>
                <a:cs typeface="+mn-cs"/>
              </a:rPr>
              <a:t> Is produced in bulk in a central kitchen</a:t>
            </a:r>
          </a:p>
          <a:p>
            <a:pPr>
              <a:buFont typeface="Arial" pitchFamily="34" charset="0"/>
              <a:buChar char="•"/>
            </a:pPr>
            <a:r>
              <a:rPr lang="en-AU" sz="1200" kern="1200" dirty="0" smtClean="0">
                <a:solidFill>
                  <a:schemeClr val="tx1"/>
                </a:solidFill>
                <a:latin typeface="+mn-lt"/>
                <a:ea typeface="+mn-ea"/>
                <a:cs typeface="+mn-cs"/>
              </a:rPr>
              <a:t> Is then distributed (usually hot and/or cold but may be frozen) to other locations (satellite kitchens, or </a:t>
            </a:r>
            <a:r>
              <a:rPr lang="en-AU" sz="1200" i="1" kern="1200" dirty="0" smtClean="0">
                <a:solidFill>
                  <a:schemeClr val="tx1"/>
                </a:solidFill>
                <a:latin typeface="+mn-lt"/>
                <a:ea typeface="+mn-ea"/>
                <a:cs typeface="+mn-cs"/>
              </a:rPr>
              <a:t>commissaries</a:t>
            </a:r>
            <a:r>
              <a:rPr lang="en-AU" sz="1200" kern="1200" dirty="0" smtClean="0">
                <a:solidFill>
                  <a:schemeClr val="tx1"/>
                </a:solidFill>
                <a:latin typeface="+mn-lt"/>
                <a:ea typeface="+mn-ea"/>
                <a:cs typeface="+mn-cs"/>
              </a:rPr>
              <a:t>) remote from the main kitchen – food may be transported:</a:t>
            </a:r>
          </a:p>
          <a:p>
            <a:pPr lvl="1">
              <a:buFont typeface="Arial" pitchFamily="34" charset="0"/>
              <a:buChar char="•"/>
            </a:pPr>
            <a:r>
              <a:rPr lang="en-AU" sz="1200" kern="1200" dirty="0" smtClean="0">
                <a:solidFill>
                  <a:schemeClr val="tx1"/>
                </a:solidFill>
                <a:latin typeface="+mn-lt"/>
                <a:ea typeface="+mn-ea"/>
                <a:cs typeface="+mn-cs"/>
              </a:rPr>
              <a:t> In bulk</a:t>
            </a:r>
          </a:p>
          <a:p>
            <a:pPr lvl="1">
              <a:buFont typeface="Arial" pitchFamily="34" charset="0"/>
              <a:buChar char="•"/>
            </a:pPr>
            <a:r>
              <a:rPr lang="en-AU" sz="1200" kern="1200" dirty="0" smtClean="0">
                <a:solidFill>
                  <a:schemeClr val="tx1"/>
                </a:solidFill>
                <a:latin typeface="+mn-lt"/>
                <a:ea typeface="+mn-ea"/>
                <a:cs typeface="+mn-cs"/>
              </a:rPr>
              <a:t> Portion-controlled (individual/single serves) – pre-plated for service.</a:t>
            </a:r>
          </a:p>
          <a:p>
            <a:endParaRPr lang="en-AU" sz="1200" kern="1200" dirty="0" smtClean="0">
              <a:solidFill>
                <a:schemeClr val="tx1"/>
              </a:solidFill>
              <a:latin typeface="+mn-lt"/>
              <a:ea typeface="+mn-ea"/>
              <a:cs typeface="+mn-cs"/>
            </a:endParaRPr>
          </a:p>
          <a:p>
            <a:pPr>
              <a:buFont typeface="Arial" pitchFamily="34" charset="0"/>
              <a:buNone/>
            </a:pPr>
            <a:r>
              <a:rPr lang="en-US" b="1" dirty="0" smtClean="0"/>
              <a:t>Class Activity – Excursion</a:t>
            </a:r>
          </a:p>
          <a:p>
            <a:pPr>
              <a:buFont typeface="Arial" pitchFamily="34" charset="0"/>
              <a:buNone/>
            </a:pPr>
            <a:r>
              <a:rPr lang="en-US" b="0" dirty="0" smtClean="0"/>
              <a:t>Trainer arranges visit to venue/s using the Commissary catering system so students can:</a:t>
            </a:r>
          </a:p>
          <a:p>
            <a:pPr>
              <a:buFont typeface="Arial" pitchFamily="34" charset="0"/>
              <a:buChar char="•"/>
            </a:pPr>
            <a:r>
              <a:rPr lang="en-US" b="0" dirty="0" smtClean="0"/>
              <a:t> Observe food production and distribution </a:t>
            </a:r>
          </a:p>
          <a:p>
            <a:pPr>
              <a:buFont typeface="Arial" pitchFamily="34" charset="0"/>
              <a:buChar char="•"/>
            </a:pPr>
            <a:r>
              <a:rPr lang="en-US" b="0" dirty="0" smtClean="0"/>
              <a:t> View facilities</a:t>
            </a:r>
          </a:p>
          <a:p>
            <a:pPr>
              <a:buFont typeface="Arial" pitchFamily="34" charset="0"/>
              <a:buChar char="•"/>
            </a:pPr>
            <a:r>
              <a:rPr lang="en-US" b="0" dirty="0" smtClean="0"/>
              <a:t> Watch food service</a:t>
            </a:r>
          </a:p>
          <a:p>
            <a:pPr>
              <a:buFont typeface="Arial" pitchFamily="34" charset="0"/>
              <a:buChar char="•"/>
            </a:pPr>
            <a:r>
              <a:rPr lang="en-US" b="0" dirty="0" smtClean="0"/>
              <a:t> Talk to management</a:t>
            </a:r>
          </a:p>
          <a:p>
            <a:pPr>
              <a:buFont typeface="Arial" pitchFamily="34" charset="0"/>
              <a:buChar char="•"/>
            </a:pPr>
            <a:r>
              <a:rPr lang="en-US" b="0" dirty="0" smtClean="0"/>
              <a:t> Talk with staff.</a:t>
            </a:r>
            <a:endParaRPr lang="en-US" dirty="0" smtClean="0"/>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providing information about Commissary system:</a:t>
            </a:r>
          </a:p>
          <a:p>
            <a:pPr>
              <a:buFont typeface="Arial" pitchFamily="34" charset="0"/>
              <a:buChar char="•"/>
            </a:pPr>
            <a:r>
              <a:rPr lang="en-AU" sz="1200" kern="1200" dirty="0" smtClean="0">
                <a:solidFill>
                  <a:schemeClr val="tx1"/>
                </a:solidFill>
                <a:latin typeface="+mn-lt"/>
                <a:ea typeface="+mn-ea"/>
                <a:cs typeface="+mn-cs"/>
              </a:rPr>
              <a:t> Satellite kitchens to which food is transported may be:</a:t>
            </a:r>
          </a:p>
          <a:p>
            <a:pPr lvl="1">
              <a:buFont typeface="Arial" pitchFamily="34" charset="0"/>
              <a:buChar char="•"/>
            </a:pPr>
            <a:r>
              <a:rPr lang="en-AU" sz="1200" kern="1200" dirty="0" smtClean="0">
                <a:solidFill>
                  <a:schemeClr val="tx1"/>
                </a:solidFill>
                <a:latin typeface="+mn-lt"/>
                <a:ea typeface="+mn-ea"/>
                <a:cs typeface="+mn-cs"/>
              </a:rPr>
              <a:t> Relatively close/local</a:t>
            </a:r>
          </a:p>
          <a:p>
            <a:pPr lvl="1">
              <a:buFont typeface="Arial" pitchFamily="34" charset="0"/>
              <a:buChar char="•"/>
            </a:pPr>
            <a:r>
              <a:rPr lang="en-AU" sz="1200" kern="1200" dirty="0" smtClean="0">
                <a:solidFill>
                  <a:schemeClr val="tx1"/>
                </a:solidFill>
                <a:latin typeface="+mn-lt"/>
                <a:ea typeface="+mn-ea"/>
                <a:cs typeface="+mn-cs"/>
              </a:rPr>
              <a:t> At a significant distance.</a:t>
            </a:r>
          </a:p>
          <a:p>
            <a:pPr>
              <a:buFont typeface="Arial" pitchFamily="34" charset="0"/>
              <a:buChar char="•"/>
            </a:pPr>
            <a:r>
              <a:rPr lang="en-AU" sz="1200" kern="1200" dirty="0" smtClean="0">
                <a:solidFill>
                  <a:schemeClr val="tx1"/>
                </a:solidFill>
                <a:latin typeface="+mn-lt"/>
                <a:ea typeface="+mn-ea"/>
                <a:cs typeface="+mn-cs"/>
              </a:rPr>
              <a:t> When the food arrives at the satellite kitchens it may be:</a:t>
            </a:r>
          </a:p>
          <a:p>
            <a:pPr lvl="1">
              <a:buFont typeface="Arial" pitchFamily="34" charset="0"/>
              <a:buChar char="•"/>
            </a:pPr>
            <a:r>
              <a:rPr lang="en-AU" sz="1200" kern="1200" dirty="0" smtClean="0">
                <a:solidFill>
                  <a:schemeClr val="tx1"/>
                </a:solidFill>
                <a:latin typeface="+mn-lt"/>
                <a:ea typeface="+mn-ea"/>
                <a:cs typeface="+mn-cs"/>
              </a:rPr>
              <a:t> Served immediately, and/or</a:t>
            </a:r>
          </a:p>
          <a:p>
            <a:pPr lvl="1">
              <a:buFont typeface="Arial" pitchFamily="34" charset="0"/>
              <a:buChar char="•"/>
            </a:pPr>
            <a:r>
              <a:rPr lang="en-AU" sz="1200" kern="1200" dirty="0" smtClean="0">
                <a:solidFill>
                  <a:schemeClr val="tx1"/>
                </a:solidFill>
                <a:latin typeface="+mn-lt"/>
                <a:ea typeface="+mn-ea"/>
                <a:cs typeface="+mn-cs"/>
              </a:rPr>
              <a:t> Stored – under refrigeration or in freezers, and re-heated/used as necessary.</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providing information about Commissary system:</a:t>
            </a:r>
          </a:p>
          <a:p>
            <a:pPr>
              <a:buFont typeface="Arial" pitchFamily="34" charset="0"/>
              <a:buChar char="•"/>
            </a:pPr>
            <a:r>
              <a:rPr lang="en-AU" sz="1200" kern="1200" dirty="0" smtClean="0">
                <a:solidFill>
                  <a:schemeClr val="tx1"/>
                </a:solidFill>
                <a:latin typeface="+mn-lt"/>
                <a:ea typeface="+mn-ea"/>
                <a:cs typeface="+mn-cs"/>
              </a:rPr>
              <a:t> Traditionally the satellite kitchens require little or no food equipment apart from</a:t>
            </a:r>
          </a:p>
          <a:p>
            <a:pPr lvl="1">
              <a:buFont typeface="Arial" pitchFamily="34" charset="0"/>
              <a:buChar char="•"/>
            </a:pPr>
            <a:r>
              <a:rPr lang="en-AU" sz="1200" kern="1200" dirty="0" smtClean="0">
                <a:solidFill>
                  <a:schemeClr val="tx1"/>
                </a:solidFill>
                <a:latin typeface="+mn-lt"/>
                <a:ea typeface="+mn-ea"/>
                <a:cs typeface="+mn-cs"/>
              </a:rPr>
              <a:t> Re-heating units </a:t>
            </a:r>
          </a:p>
          <a:p>
            <a:pPr lvl="1">
              <a:buFont typeface="Arial" pitchFamily="34" charset="0"/>
              <a:buChar char="•"/>
            </a:pPr>
            <a:r>
              <a:rPr lang="en-AU" sz="1200" kern="1200" dirty="0" smtClean="0">
                <a:solidFill>
                  <a:schemeClr val="tx1"/>
                </a:solidFill>
                <a:latin typeface="+mn-lt"/>
                <a:ea typeface="+mn-ea"/>
                <a:cs typeface="+mn-cs"/>
              </a:rPr>
              <a:t> Food display and service equipment – to assist with food service</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introduces the </a:t>
            </a:r>
            <a:r>
              <a:rPr lang="en-AU" dirty="0" smtClean="0"/>
              <a:t>Assembly-serve </a:t>
            </a:r>
            <a:r>
              <a:rPr lang="en-AU" sz="1200" kern="1200" dirty="0" smtClean="0">
                <a:solidFill>
                  <a:schemeClr val="tx1"/>
                </a:solidFill>
                <a:latin typeface="+mn-lt"/>
                <a:ea typeface="+mn-ea"/>
                <a:cs typeface="+mn-cs"/>
              </a:rPr>
              <a:t>catering system stating it is one where food:</a:t>
            </a:r>
          </a:p>
          <a:p>
            <a:pPr>
              <a:buFont typeface="Arial" pitchFamily="34" charset="0"/>
              <a:buChar char="•"/>
            </a:pPr>
            <a:r>
              <a:rPr lang="en-AU" sz="1200" kern="1200" dirty="0" smtClean="0">
                <a:solidFill>
                  <a:schemeClr val="tx1"/>
                </a:solidFill>
                <a:latin typeface="+mn-lt"/>
                <a:ea typeface="+mn-ea"/>
                <a:cs typeface="+mn-cs"/>
              </a:rPr>
              <a:t> The assembly/serve system is not commonly suitable for commercial outlets.</a:t>
            </a:r>
          </a:p>
          <a:p>
            <a:pPr>
              <a:buFont typeface="Arial" pitchFamily="34" charset="0"/>
              <a:buChar char="•"/>
            </a:pPr>
            <a:r>
              <a:rPr lang="en-AU" sz="1200" kern="1200" dirty="0" smtClean="0">
                <a:solidFill>
                  <a:schemeClr val="tx1"/>
                </a:solidFill>
                <a:latin typeface="+mn-lt"/>
                <a:ea typeface="+mn-ea"/>
                <a:cs typeface="+mn-cs"/>
              </a:rPr>
              <a:t> It features:</a:t>
            </a:r>
          </a:p>
          <a:p>
            <a:pPr lvl="1">
              <a:buFont typeface="Arial" pitchFamily="34" charset="0"/>
              <a:buChar char="•"/>
            </a:pPr>
            <a:r>
              <a:rPr lang="en-AU" sz="1200" kern="1200" dirty="0" smtClean="0">
                <a:solidFill>
                  <a:schemeClr val="tx1"/>
                </a:solidFill>
                <a:latin typeface="+mn-lt"/>
                <a:ea typeface="+mn-ea"/>
                <a:cs typeface="+mn-cs"/>
              </a:rPr>
              <a:t> Purchase of prepared dishes/menu items – from suppliers</a:t>
            </a:r>
          </a:p>
          <a:p>
            <a:pPr lvl="1">
              <a:buFont typeface="Arial" pitchFamily="34" charset="0"/>
              <a:buChar char="•"/>
            </a:pPr>
            <a:r>
              <a:rPr lang="en-AU" sz="1200" kern="1200" dirty="0" smtClean="0">
                <a:solidFill>
                  <a:schemeClr val="tx1"/>
                </a:solidFill>
                <a:latin typeface="+mn-lt"/>
                <a:ea typeface="+mn-ea"/>
                <a:cs typeface="+mn-cs"/>
              </a:rPr>
              <a:t> Storage of pre-prepared items on the premises – as appropriate to each item. under: </a:t>
            </a:r>
          </a:p>
          <a:p>
            <a:pPr lvl="2">
              <a:buFont typeface="Arial" pitchFamily="34" charset="0"/>
              <a:buChar char="•"/>
            </a:pPr>
            <a:r>
              <a:rPr lang="en-AU" sz="1200" kern="1200" dirty="0" smtClean="0">
                <a:solidFill>
                  <a:schemeClr val="tx1"/>
                </a:solidFill>
                <a:latin typeface="+mn-lt"/>
                <a:ea typeface="+mn-ea"/>
                <a:cs typeface="+mn-cs"/>
              </a:rPr>
              <a:t> Refrigeration</a:t>
            </a:r>
          </a:p>
          <a:p>
            <a:pPr lvl="2">
              <a:buFont typeface="Arial" pitchFamily="34" charset="0"/>
              <a:buChar char="•"/>
            </a:pPr>
            <a:r>
              <a:rPr lang="en-AU" sz="1200" kern="1200" dirty="0" smtClean="0">
                <a:solidFill>
                  <a:schemeClr val="tx1"/>
                </a:solidFill>
                <a:latin typeface="+mn-lt"/>
                <a:ea typeface="+mn-ea"/>
                <a:cs typeface="+mn-cs"/>
              </a:rPr>
              <a:t> Frozen storage</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describing the Assembly-serve system:</a:t>
            </a:r>
          </a:p>
          <a:p>
            <a:pPr>
              <a:buFont typeface="Arial" pitchFamily="34" charset="0"/>
              <a:buChar char="•"/>
            </a:pPr>
            <a:r>
              <a:rPr lang="en-AU" sz="1200" kern="1200" dirty="0" smtClean="0">
                <a:solidFill>
                  <a:schemeClr val="tx1"/>
                </a:solidFill>
                <a:latin typeface="+mn-lt"/>
                <a:ea typeface="+mn-ea"/>
                <a:cs typeface="+mn-cs"/>
              </a:rPr>
              <a:t> Only basic food activity in relation to the pre-prepared menu items – such as:</a:t>
            </a:r>
          </a:p>
          <a:p>
            <a:pPr lvl="1">
              <a:buFont typeface="Arial" pitchFamily="34" charset="0"/>
              <a:buChar char="•"/>
            </a:pPr>
            <a:r>
              <a:rPr lang="en-AU" sz="1200" kern="1200" dirty="0" smtClean="0">
                <a:solidFill>
                  <a:schemeClr val="tx1"/>
                </a:solidFill>
                <a:latin typeface="+mn-lt"/>
                <a:ea typeface="+mn-ea"/>
                <a:cs typeface="+mn-cs"/>
              </a:rPr>
              <a:t> Portioning</a:t>
            </a:r>
          </a:p>
          <a:p>
            <a:pPr lvl="1">
              <a:buFont typeface="Arial" pitchFamily="34" charset="0"/>
              <a:buChar char="•"/>
            </a:pPr>
            <a:r>
              <a:rPr lang="en-AU" sz="1200" kern="1200" dirty="0" smtClean="0">
                <a:solidFill>
                  <a:schemeClr val="tx1"/>
                </a:solidFill>
                <a:latin typeface="+mn-lt"/>
                <a:ea typeface="+mn-ea"/>
                <a:cs typeface="+mn-cs"/>
              </a:rPr>
              <a:t> Plating</a:t>
            </a:r>
          </a:p>
          <a:p>
            <a:pPr lvl="1">
              <a:buFont typeface="Arial" pitchFamily="34" charset="0"/>
              <a:buChar char="•"/>
            </a:pPr>
            <a:r>
              <a:rPr lang="en-AU" sz="1200" kern="1200" dirty="0" smtClean="0">
                <a:solidFill>
                  <a:schemeClr val="tx1"/>
                </a:solidFill>
                <a:latin typeface="+mn-lt"/>
                <a:ea typeface="+mn-ea"/>
                <a:cs typeface="+mn-cs"/>
              </a:rPr>
              <a:t> Re-heating</a:t>
            </a:r>
          </a:p>
          <a:p>
            <a:pPr lvl="1">
              <a:buFont typeface="Arial" pitchFamily="34" charset="0"/>
              <a:buChar char="•"/>
            </a:pPr>
            <a:r>
              <a:rPr lang="en-AU" sz="1200" kern="1200" dirty="0" smtClean="0">
                <a:solidFill>
                  <a:schemeClr val="tx1"/>
                </a:solidFill>
                <a:latin typeface="+mn-lt"/>
                <a:ea typeface="+mn-ea"/>
                <a:cs typeface="+mn-cs"/>
              </a:rPr>
              <a:t> Service.</a:t>
            </a:r>
          </a:p>
          <a:p>
            <a:pPr>
              <a:buFont typeface="Arial" pitchFamily="34" charset="0"/>
              <a:buNone/>
            </a:pPr>
            <a:endParaRPr lang="en-US" dirty="0" smtClean="0"/>
          </a:p>
          <a:p>
            <a:pPr>
              <a:buFont typeface="Arial" pitchFamily="34" charset="0"/>
              <a:buNone/>
            </a:pPr>
            <a:r>
              <a:rPr lang="en-US" b="1" dirty="0" smtClean="0"/>
              <a:t>Class Activity – Excursion</a:t>
            </a:r>
          </a:p>
          <a:p>
            <a:pPr>
              <a:buFont typeface="Arial" pitchFamily="34" charset="0"/>
              <a:buNone/>
            </a:pPr>
            <a:r>
              <a:rPr lang="en-US" b="0" dirty="0" smtClean="0"/>
              <a:t>Trainer arranges visit to a venue using the Assembly-serve catering system so students can:</a:t>
            </a:r>
          </a:p>
          <a:p>
            <a:pPr>
              <a:buFont typeface="Arial" pitchFamily="34" charset="0"/>
              <a:buChar char="•"/>
            </a:pPr>
            <a:r>
              <a:rPr lang="en-US" b="0" dirty="0" smtClean="0"/>
              <a:t> Observe food receival, storage, portioning and re-heating</a:t>
            </a:r>
          </a:p>
          <a:p>
            <a:pPr>
              <a:buFont typeface="Arial" pitchFamily="34" charset="0"/>
              <a:buChar char="•"/>
            </a:pPr>
            <a:r>
              <a:rPr lang="en-US" b="0" dirty="0" smtClean="0"/>
              <a:t> View facilities</a:t>
            </a:r>
          </a:p>
          <a:p>
            <a:pPr>
              <a:buFont typeface="Arial" pitchFamily="34" charset="0"/>
              <a:buChar char="•"/>
            </a:pPr>
            <a:r>
              <a:rPr lang="en-US" b="0" dirty="0" smtClean="0"/>
              <a:t> Watch food service</a:t>
            </a:r>
          </a:p>
          <a:p>
            <a:pPr>
              <a:buFont typeface="Arial" pitchFamily="34" charset="0"/>
              <a:buChar char="•"/>
            </a:pPr>
            <a:r>
              <a:rPr lang="en-US" b="0" dirty="0" smtClean="0"/>
              <a:t> Talk to management</a:t>
            </a:r>
          </a:p>
          <a:p>
            <a:pPr>
              <a:buFont typeface="Arial" pitchFamily="34" charset="0"/>
              <a:buChar char="•"/>
            </a:pPr>
            <a:r>
              <a:rPr lang="en-US" b="0" dirty="0" smtClean="0"/>
              <a:t> Talk with staff.</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a:t>
            </a:r>
            <a:r>
              <a:rPr lang="en-US" i="1" dirty="0" smtClean="0"/>
              <a:t>sous vide</a:t>
            </a:r>
            <a:r>
              <a:rPr lang="en-US" dirty="0" smtClean="0"/>
              <a:t>:</a:t>
            </a:r>
          </a:p>
          <a:p>
            <a:pPr>
              <a:buFont typeface="Arial" pitchFamily="34" charset="0"/>
              <a:buChar char="•"/>
            </a:pPr>
            <a:r>
              <a:rPr lang="en-US" dirty="0" smtClean="0"/>
              <a:t> </a:t>
            </a:r>
            <a:r>
              <a:rPr lang="en-US" i="1" dirty="0" smtClean="0"/>
              <a:t>Sous vide </a:t>
            </a:r>
            <a:r>
              <a:rPr lang="en-US" dirty="0" smtClean="0"/>
              <a:t>(French) = ‘under vacuum’</a:t>
            </a:r>
          </a:p>
          <a:p>
            <a:pPr>
              <a:buFont typeface="Arial" pitchFamily="34" charset="0"/>
              <a:buChar char="•"/>
            </a:pPr>
            <a:r>
              <a:rPr lang="en-AU" sz="1200" kern="1200" dirty="0" smtClean="0">
                <a:solidFill>
                  <a:schemeClr val="tx1"/>
                </a:solidFill>
                <a:latin typeface="+mn-lt"/>
                <a:ea typeface="+mn-ea"/>
                <a:cs typeface="+mn-cs"/>
              </a:rPr>
              <a:t> The </a:t>
            </a:r>
            <a:r>
              <a:rPr lang="en-AU" sz="1200" i="1" kern="1200" dirty="0" smtClean="0">
                <a:solidFill>
                  <a:schemeClr val="tx1"/>
                </a:solidFill>
                <a:latin typeface="+mn-lt"/>
                <a:ea typeface="+mn-ea"/>
                <a:cs typeface="+mn-cs"/>
              </a:rPr>
              <a:t>sous vide </a:t>
            </a:r>
            <a:r>
              <a:rPr lang="en-AU" sz="1200" kern="1200" dirty="0" smtClean="0">
                <a:solidFill>
                  <a:schemeClr val="tx1"/>
                </a:solidFill>
                <a:latin typeface="+mn-lt"/>
                <a:ea typeface="+mn-ea"/>
                <a:cs typeface="+mn-cs"/>
              </a:rPr>
              <a:t>approach:</a:t>
            </a:r>
          </a:p>
          <a:p>
            <a:pPr lvl="1">
              <a:buFont typeface="Arial" pitchFamily="34" charset="0"/>
              <a:buChar char="•"/>
            </a:pPr>
            <a:r>
              <a:rPr lang="en-AU" sz="1200" kern="1200" dirty="0" smtClean="0">
                <a:solidFill>
                  <a:schemeClr val="tx1"/>
                </a:solidFill>
                <a:latin typeface="+mn-lt"/>
                <a:ea typeface="+mn-ea"/>
                <a:cs typeface="+mn-cs"/>
              </a:rPr>
              <a:t> Requires raw ingredients to be stored under refrigeration – and to be cold (3˚C) when vacuum sealed</a:t>
            </a:r>
          </a:p>
          <a:p>
            <a:pPr lvl="1">
              <a:buFont typeface="Arial" pitchFamily="34" charset="0"/>
              <a:buChar char="•"/>
            </a:pPr>
            <a:r>
              <a:rPr lang="en-AU" sz="1200" kern="1200" dirty="0" smtClean="0">
                <a:solidFill>
                  <a:schemeClr val="tx1"/>
                </a:solidFill>
                <a:latin typeface="+mn-lt"/>
                <a:ea typeface="+mn-ea"/>
                <a:cs typeface="+mn-cs"/>
              </a:rPr>
              <a:t> Vacuum packs raw food into individual bags – at different pressures depending on the type of product: for example delicate fish would be packed at a lower pressure than a hard, root vegetable.</a:t>
            </a:r>
          </a:p>
          <a:p>
            <a:pPr>
              <a:buFont typeface="Arial" pitchFamily="34" charset="0"/>
              <a:buNone/>
            </a:pPr>
            <a:endParaRPr lang="en-US" dirty="0" smtClean="0"/>
          </a:p>
          <a:p>
            <a:pPr>
              <a:buFont typeface="Arial" pitchFamily="34" charset="0"/>
              <a:buNone/>
            </a:pPr>
            <a:r>
              <a:rPr lang="en-US" b="1" dirty="0" smtClean="0"/>
              <a:t>Class Activity – Online videos</a:t>
            </a:r>
          </a:p>
          <a:p>
            <a:pPr>
              <a:buFont typeface="Arial" pitchFamily="34" charset="0"/>
              <a:buNone/>
            </a:pPr>
            <a:r>
              <a:rPr lang="en-US" b="0" dirty="0" smtClean="0"/>
              <a:t>Trainer facilitates the viewing and discussion of online videos such as:</a:t>
            </a:r>
          </a:p>
          <a:p>
            <a:r>
              <a:rPr lang="en-AU" sz="1200" u="sng" kern="1200" dirty="0" smtClean="0">
                <a:solidFill>
                  <a:schemeClr val="tx1"/>
                </a:solidFill>
                <a:latin typeface="+mn-lt"/>
                <a:ea typeface="+mn-ea"/>
                <a:cs typeface="+mn-cs"/>
              </a:rPr>
              <a:t>http://www.youtube.com/watch?v=5PbnRF-ePnI ‘Tucs combination chiller-cook chill sous vide processor’ (4 minutes 23 seconds)</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rPr>
              <a:t>http://www.youtube.com/watch?v=5WuHddsoV70 ‘Sous vide lamb rack with infused reduction sauce &amp; sautéed vegetables’ (8 minutes 45 seconds)</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rPr>
              <a:t>http://www.youtube.com/watch?v=Rl-msqKc_YQ ‘Sous vide’ (6 mins 41 seconds)</a:t>
            </a:r>
            <a:endParaRPr lang="en-AU" sz="1200" kern="1200" dirty="0" smtClean="0">
              <a:solidFill>
                <a:schemeClr val="tx1"/>
              </a:solidFill>
              <a:latin typeface="+mn-lt"/>
              <a:ea typeface="+mn-ea"/>
              <a:cs typeface="+mn-cs"/>
            </a:endParaRPr>
          </a:p>
          <a:p>
            <a:pPr>
              <a:buFont typeface="Arial" pitchFamily="34" charset="0"/>
              <a:buNone/>
            </a:pPr>
            <a:r>
              <a:rPr lang="en-US" dirty="0" smtClean="0"/>
              <a:t>Note: videos may need to be watched twice for students to get the most from them.</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describing </a:t>
            </a:r>
            <a:r>
              <a:rPr lang="en-US" i="1" dirty="0" smtClean="0"/>
              <a:t>sous vide</a:t>
            </a:r>
            <a:r>
              <a:rPr lang="en-US" i="0" dirty="0" smtClean="0"/>
              <a:t> approach:</a:t>
            </a:r>
          </a:p>
          <a:p>
            <a:pPr lvl="1">
              <a:buFont typeface="Arial" pitchFamily="34" charset="0"/>
              <a:buChar char="•"/>
            </a:pPr>
            <a:r>
              <a:rPr lang="en-AU" sz="1200" kern="1200" dirty="0" smtClean="0">
                <a:solidFill>
                  <a:schemeClr val="tx1"/>
                </a:solidFill>
                <a:latin typeface="+mn-lt"/>
                <a:ea typeface="+mn-ea"/>
                <a:cs typeface="+mn-cs"/>
              </a:rPr>
              <a:t> Demands vacuum packed food is either immediately:</a:t>
            </a:r>
          </a:p>
          <a:p>
            <a:pPr lvl="2">
              <a:buFont typeface="Arial" pitchFamily="34" charset="0"/>
              <a:buChar char="•"/>
            </a:pPr>
            <a:r>
              <a:rPr lang="en-AU" sz="1200" kern="1200" dirty="0" smtClean="0">
                <a:solidFill>
                  <a:schemeClr val="tx1"/>
                </a:solidFill>
                <a:latin typeface="+mn-lt"/>
                <a:ea typeface="+mn-ea"/>
                <a:cs typeface="+mn-cs"/>
              </a:rPr>
              <a:t> Cooked and served</a:t>
            </a:r>
          </a:p>
          <a:p>
            <a:pPr lvl="2">
              <a:buFont typeface="Arial" pitchFamily="34" charset="0"/>
              <a:buChar char="•"/>
            </a:pPr>
            <a:r>
              <a:rPr lang="en-AU" sz="1200" kern="1200" dirty="0" smtClean="0">
                <a:solidFill>
                  <a:schemeClr val="tx1"/>
                </a:solidFill>
                <a:latin typeface="+mn-lt"/>
                <a:ea typeface="+mn-ea"/>
                <a:cs typeface="+mn-cs"/>
              </a:rPr>
              <a:t> Stored at or below 1˚C</a:t>
            </a:r>
          </a:p>
          <a:p>
            <a:pPr lvl="1">
              <a:buFont typeface="Arial" pitchFamily="34" charset="0"/>
              <a:buChar char="•"/>
            </a:pPr>
            <a:r>
              <a:rPr lang="en-AU" sz="1200" kern="1200" dirty="0" smtClean="0">
                <a:solidFill>
                  <a:schemeClr val="tx1"/>
                </a:solidFill>
                <a:latin typeface="+mn-lt"/>
                <a:ea typeface="+mn-ea"/>
                <a:cs typeface="+mn-cs"/>
              </a:rPr>
              <a:t> Cooks the food in its plastic bag using an immersion circulator – operating at lower than normal temperatures (for example, 60˚C to 65˚C) but for longer periods thereby producing (especially for meats and meat products) a better quality result</a:t>
            </a:r>
          </a:p>
          <a:p>
            <a:pPr lvl="0">
              <a:buFont typeface="Arial" pitchFamily="34" charset="0"/>
              <a:buChar char="•"/>
            </a:pPr>
            <a:r>
              <a:rPr lang="en-AU" sz="1200" kern="1200" dirty="0" smtClean="0">
                <a:solidFill>
                  <a:schemeClr val="tx1"/>
                </a:solidFill>
                <a:latin typeface="+mn-lt"/>
                <a:ea typeface="+mn-ea"/>
                <a:cs typeface="+mn-cs"/>
              </a:rPr>
              <a:t> Is regarded by most as an adjunct to traditional food production options – more so than as a totally </a:t>
            </a:r>
            <a:r>
              <a:rPr lang="en-AU" sz="1200" i="1" kern="1200" dirty="0" smtClean="0">
                <a:solidFill>
                  <a:schemeClr val="tx1"/>
                </a:solidFill>
                <a:latin typeface="+mn-lt"/>
                <a:ea typeface="+mn-ea"/>
                <a:cs typeface="+mn-cs"/>
              </a:rPr>
              <a:t>alternative</a:t>
            </a:r>
            <a:r>
              <a:rPr lang="en-AU" sz="1200" kern="1200" dirty="0" smtClean="0">
                <a:solidFill>
                  <a:schemeClr val="tx1"/>
                </a:solidFill>
                <a:latin typeface="+mn-lt"/>
                <a:ea typeface="+mn-ea"/>
                <a:cs typeface="+mn-cs"/>
              </a:rPr>
              <a:t> system across their entire menu.</a:t>
            </a:r>
          </a:p>
          <a:p>
            <a:pPr lvl="1">
              <a:buFont typeface="Arial" pitchFamily="34" charset="0"/>
              <a:buChar char="•"/>
            </a:pPr>
            <a:r>
              <a:rPr lang="en-AU" sz="1200" kern="1200" dirty="0" smtClean="0">
                <a:solidFill>
                  <a:schemeClr val="tx1"/>
                </a:solidFill>
                <a:latin typeface="+mn-lt"/>
                <a:ea typeface="+mn-ea"/>
                <a:cs typeface="+mn-cs"/>
              </a:rPr>
              <a:t> This means kitchens that use </a:t>
            </a:r>
            <a:r>
              <a:rPr lang="en-AU" sz="1200" i="1" kern="1200" dirty="0" smtClean="0">
                <a:solidFill>
                  <a:schemeClr val="tx1"/>
                </a:solidFill>
                <a:latin typeface="+mn-lt"/>
                <a:ea typeface="+mn-ea"/>
                <a:cs typeface="+mn-cs"/>
              </a:rPr>
              <a:t>sous vide </a:t>
            </a:r>
            <a:r>
              <a:rPr lang="en-AU" sz="1200" kern="1200" dirty="0" smtClean="0">
                <a:solidFill>
                  <a:schemeClr val="tx1"/>
                </a:solidFill>
                <a:latin typeface="+mn-lt"/>
                <a:ea typeface="+mn-ea"/>
                <a:cs typeface="+mn-cs"/>
              </a:rPr>
              <a:t>will use it for certain dishes they believe respond well to the approach, but not for all menu items.</a:t>
            </a:r>
          </a:p>
          <a:p>
            <a:pPr>
              <a:buFont typeface="Arial" pitchFamily="34" charset="0"/>
              <a:buNone/>
            </a:pPr>
            <a:endParaRPr lang="en-US" sz="1200" kern="1200" dirty="0" smtClean="0">
              <a:solidFill>
                <a:schemeClr val="tx1"/>
              </a:solidFill>
              <a:latin typeface="+mn-lt"/>
              <a:ea typeface="+mn-ea"/>
              <a:cs typeface="+mn-cs"/>
            </a:endParaRPr>
          </a:p>
          <a:p>
            <a:pPr>
              <a:buFont typeface="Arial" pitchFamily="34" charset="0"/>
              <a:buNone/>
            </a:pPr>
            <a:r>
              <a:rPr lang="en-US" b="1" dirty="0" smtClean="0"/>
              <a:t>Class Activity – Excursion</a:t>
            </a:r>
          </a:p>
          <a:p>
            <a:pPr>
              <a:buFont typeface="Arial" pitchFamily="34" charset="0"/>
              <a:buNone/>
            </a:pPr>
            <a:r>
              <a:rPr lang="en-US" b="0" dirty="0" smtClean="0"/>
              <a:t>Trainer arranges visit to a venue using </a:t>
            </a:r>
            <a:r>
              <a:rPr lang="en-US" b="0" i="1" dirty="0" smtClean="0"/>
              <a:t>sous vide</a:t>
            </a:r>
            <a:r>
              <a:rPr lang="en-US" b="0" dirty="0" smtClean="0"/>
              <a:t> so students can:</a:t>
            </a:r>
          </a:p>
          <a:p>
            <a:pPr>
              <a:buFont typeface="Arial" pitchFamily="34" charset="0"/>
              <a:buChar char="•"/>
            </a:pPr>
            <a:r>
              <a:rPr lang="en-US" b="0" dirty="0" smtClean="0"/>
              <a:t> Observe food packaging and processing</a:t>
            </a:r>
          </a:p>
          <a:p>
            <a:pPr>
              <a:buFont typeface="Arial" pitchFamily="34" charset="0"/>
              <a:buChar char="•"/>
            </a:pPr>
            <a:r>
              <a:rPr lang="en-US" b="0" dirty="0" smtClean="0"/>
              <a:t> View facilities</a:t>
            </a:r>
          </a:p>
          <a:p>
            <a:pPr>
              <a:buFont typeface="Arial" pitchFamily="34" charset="0"/>
              <a:buChar char="•"/>
            </a:pPr>
            <a:r>
              <a:rPr lang="en-US" b="0" dirty="0" smtClean="0"/>
              <a:t> Watch food service</a:t>
            </a:r>
          </a:p>
          <a:p>
            <a:pPr>
              <a:buFont typeface="Arial" pitchFamily="34" charset="0"/>
              <a:buChar char="•"/>
            </a:pPr>
            <a:r>
              <a:rPr lang="en-US" b="0" dirty="0" smtClean="0"/>
              <a:t> Talk to management</a:t>
            </a:r>
          </a:p>
          <a:p>
            <a:pPr>
              <a:buFont typeface="Arial" pitchFamily="34" charset="0"/>
              <a:buChar char="•"/>
            </a:pPr>
            <a:r>
              <a:rPr lang="en-US" b="0" dirty="0" smtClean="0"/>
              <a:t> Talk with staff.</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the reality of some workplaces means a Combination approach may be taken in which, for example:</a:t>
            </a:r>
          </a:p>
          <a:p>
            <a:pPr>
              <a:buFont typeface="Arial" pitchFamily="34" charset="0"/>
              <a:buChar char="•"/>
            </a:pPr>
            <a:r>
              <a:rPr lang="en-AU" sz="1200" kern="1200" dirty="0" smtClean="0">
                <a:solidFill>
                  <a:schemeClr val="tx1"/>
                </a:solidFill>
                <a:latin typeface="+mn-lt"/>
                <a:ea typeface="+mn-ea"/>
                <a:cs typeface="+mn-cs"/>
              </a:rPr>
              <a:t> The primary ingredient on the plate may be cook-chill</a:t>
            </a:r>
          </a:p>
          <a:p>
            <a:pPr>
              <a:buFont typeface="Arial" pitchFamily="34" charset="0"/>
              <a:buChar char="•"/>
            </a:pPr>
            <a:r>
              <a:rPr lang="en-AU" sz="1200" kern="1200" dirty="0" smtClean="0">
                <a:solidFill>
                  <a:schemeClr val="tx1"/>
                </a:solidFill>
                <a:latin typeface="+mn-lt"/>
                <a:ea typeface="+mn-ea"/>
                <a:cs typeface="+mn-cs"/>
              </a:rPr>
              <a:t> The vegetables may be cooked that day/for the session</a:t>
            </a:r>
          </a:p>
          <a:p>
            <a:pPr>
              <a:buFont typeface="Arial" pitchFamily="34" charset="0"/>
              <a:buChar char="•"/>
            </a:pPr>
            <a:r>
              <a:rPr lang="en-AU" sz="1200" kern="1200" dirty="0" smtClean="0">
                <a:solidFill>
                  <a:schemeClr val="tx1"/>
                </a:solidFill>
                <a:latin typeface="+mn-lt"/>
                <a:ea typeface="+mn-ea"/>
                <a:cs typeface="+mn-cs"/>
              </a:rPr>
              <a:t> The sauce may be cook-chill</a:t>
            </a:r>
          </a:p>
          <a:p>
            <a:pPr>
              <a:buFont typeface="Arial" pitchFamily="34" charset="0"/>
              <a:buChar char="•"/>
            </a:pPr>
            <a:r>
              <a:rPr lang="en-AU" sz="1200" kern="1200" dirty="0" smtClean="0">
                <a:solidFill>
                  <a:schemeClr val="tx1"/>
                </a:solidFill>
                <a:latin typeface="+mn-lt"/>
                <a:ea typeface="+mn-ea"/>
                <a:cs typeface="+mn-cs"/>
              </a:rPr>
              <a:t> Certain menu items may be cook-freeze</a:t>
            </a:r>
          </a:p>
          <a:p>
            <a:pPr>
              <a:buFont typeface="Arial" pitchFamily="34" charset="0"/>
              <a:buChar char="•"/>
            </a:pPr>
            <a:r>
              <a:rPr lang="en-AU" sz="1200" kern="1200" dirty="0" smtClean="0">
                <a:solidFill>
                  <a:schemeClr val="tx1"/>
                </a:solidFill>
                <a:latin typeface="+mn-lt"/>
                <a:ea typeface="+mn-ea"/>
                <a:cs typeface="+mn-cs"/>
              </a:rPr>
              <a:t> Other dishes may be </a:t>
            </a:r>
            <a:r>
              <a:rPr lang="en-AU" sz="1200" i="1" kern="1200" dirty="0" smtClean="0">
                <a:solidFill>
                  <a:schemeClr val="tx1"/>
                </a:solidFill>
                <a:latin typeface="+mn-lt"/>
                <a:ea typeface="+mn-ea"/>
                <a:cs typeface="+mn-cs"/>
              </a:rPr>
              <a:t>sous vide</a:t>
            </a:r>
            <a:r>
              <a:rPr lang="en-AU" sz="1200" kern="1200" dirty="0" smtClean="0">
                <a:solidFill>
                  <a:schemeClr val="tx1"/>
                </a:solidFill>
                <a:latin typeface="+mn-lt"/>
                <a:ea typeface="+mn-ea"/>
                <a:cs typeface="+mn-cs"/>
              </a:rPr>
              <a:t> </a:t>
            </a:r>
          </a:p>
          <a:p>
            <a:pPr>
              <a:buFont typeface="Arial" pitchFamily="34" charset="0"/>
              <a:buChar char="•"/>
            </a:pPr>
            <a:r>
              <a:rPr lang="en-AU" sz="1200" kern="1200" dirty="0" smtClean="0">
                <a:solidFill>
                  <a:schemeClr val="tx1"/>
                </a:solidFill>
                <a:latin typeface="+mn-lt"/>
                <a:ea typeface="+mn-ea"/>
                <a:cs typeface="+mn-cs"/>
              </a:rPr>
              <a:t> Some menu items may be fully-prepared and ready-to-serve.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notes </a:t>
            </a:r>
            <a:r>
              <a:rPr lang="en-AU" sz="1200" kern="1200" dirty="0" smtClean="0">
                <a:solidFill>
                  <a:schemeClr val="tx1"/>
                </a:solidFill>
                <a:latin typeface="+mn-lt"/>
                <a:ea typeface="+mn-ea"/>
                <a:cs typeface="+mn-cs"/>
              </a:rPr>
              <a:t>it is essential to evaluate the catering systems being considered against the requirements and constraints identified in the planning process highlighting the Key Selection Criteria must form the basis of all evaluations and this highlights the need to:</a:t>
            </a:r>
          </a:p>
          <a:p>
            <a:pPr>
              <a:buFont typeface="Arial" pitchFamily="34" charset="0"/>
              <a:buChar char="•"/>
            </a:pPr>
            <a:r>
              <a:rPr lang="en-AU" sz="1200" kern="1200" dirty="0" smtClean="0">
                <a:solidFill>
                  <a:schemeClr val="tx1"/>
                </a:solidFill>
                <a:latin typeface="+mn-lt"/>
                <a:ea typeface="+mn-ea"/>
                <a:cs typeface="+mn-cs"/>
              </a:rPr>
              <a:t> Comprehensively establish these criteria at the beginning of the catering selection research process – so there is certainty about what is required</a:t>
            </a:r>
          </a:p>
          <a:p>
            <a:pPr>
              <a:buFont typeface="Arial" pitchFamily="34" charset="0"/>
              <a:buChar char="•"/>
            </a:pPr>
            <a:r>
              <a:rPr lang="en-AU" sz="1200" kern="1200" dirty="0" smtClean="0">
                <a:solidFill>
                  <a:schemeClr val="tx1"/>
                </a:solidFill>
                <a:latin typeface="+mn-lt"/>
                <a:ea typeface="+mn-ea"/>
                <a:cs typeface="+mn-cs"/>
              </a:rPr>
              <a:t> Know and understand what the specifics of these criteria are </a:t>
            </a:r>
          </a:p>
          <a:p>
            <a:pPr>
              <a:buFont typeface="Arial" pitchFamily="34" charset="0"/>
              <a:buChar char="•"/>
            </a:pPr>
            <a:r>
              <a:rPr lang="en-AU" sz="1200" kern="1200" dirty="0" smtClean="0">
                <a:solidFill>
                  <a:schemeClr val="tx1"/>
                </a:solidFill>
                <a:latin typeface="+mn-lt"/>
                <a:ea typeface="+mn-ea"/>
                <a:cs typeface="+mn-cs"/>
              </a:rPr>
              <a:t> Keep these KSC central to all considerations and analysis.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e</a:t>
            </a:r>
            <a:r>
              <a:rPr lang="en-AU" sz="1200" kern="1200" dirty="0" smtClean="0">
                <a:solidFill>
                  <a:schemeClr val="tx1"/>
                </a:solidFill>
                <a:latin typeface="+mn-lt"/>
                <a:ea typeface="+mn-ea"/>
                <a:cs typeface="+mn-cs"/>
              </a:rPr>
              <a:t>valuation is a process of comparison stating it comprises three elements which:</a:t>
            </a:r>
          </a:p>
          <a:p>
            <a:pPr>
              <a:buFont typeface="Arial" pitchFamily="34" charset="0"/>
              <a:buChar char="•"/>
            </a:pPr>
            <a:r>
              <a:rPr lang="en-AU" sz="1200" kern="1200" dirty="0" smtClean="0">
                <a:solidFill>
                  <a:schemeClr val="tx1"/>
                </a:solidFill>
                <a:latin typeface="+mn-lt"/>
                <a:ea typeface="+mn-ea"/>
                <a:cs typeface="+mn-cs"/>
              </a:rPr>
              <a:t> Compares what is available against what is required – through asking a series of relevant questions</a:t>
            </a:r>
          </a:p>
          <a:p>
            <a:pPr>
              <a:buFont typeface="Arial" pitchFamily="34" charset="0"/>
              <a:buChar char="•"/>
            </a:pPr>
            <a:r>
              <a:rPr lang="en-AU" sz="1200" kern="1200" dirty="0" smtClean="0">
                <a:solidFill>
                  <a:schemeClr val="tx1"/>
                </a:solidFill>
                <a:latin typeface="+mn-lt"/>
                <a:ea typeface="+mn-ea"/>
                <a:cs typeface="+mn-cs"/>
              </a:rPr>
              <a:t> Judges the degree to which there is alignment between requirements/constraints and availability</a:t>
            </a:r>
          </a:p>
          <a:p>
            <a:pPr>
              <a:buFont typeface="Arial" pitchFamily="34" charset="0"/>
              <a:buChar char="•"/>
            </a:pPr>
            <a:r>
              <a:rPr lang="en-AU" sz="1200" kern="1200" dirty="0" smtClean="0">
                <a:solidFill>
                  <a:schemeClr val="tx1"/>
                </a:solidFill>
                <a:latin typeface="+mn-lt"/>
                <a:ea typeface="+mn-ea"/>
                <a:cs typeface="+mn-cs"/>
              </a:rPr>
              <a:t> Determines the relative advantages and disadvantages of available options.</a:t>
            </a:r>
          </a:p>
          <a:p>
            <a:pPr>
              <a:buFont typeface="Arial" pitchFamily="34" charset="0"/>
              <a:buNone/>
            </a:pPr>
            <a:endParaRPr lang="en-US" dirty="0" smtClean="0"/>
          </a:p>
          <a:p>
            <a:pPr>
              <a:buFont typeface="Arial" pitchFamily="34" charset="0"/>
              <a:buNone/>
            </a:pPr>
            <a:r>
              <a:rPr lang="en-US" b="1" dirty="0" smtClean="0"/>
              <a:t>Class Activity –</a:t>
            </a:r>
            <a:r>
              <a:rPr lang="en-US" b="1" baseline="0" dirty="0" smtClean="0"/>
              <a:t> Guest Speaker</a:t>
            </a:r>
          </a:p>
          <a:p>
            <a:pPr>
              <a:buFont typeface="Arial" pitchFamily="34" charset="0"/>
              <a:buNone/>
            </a:pPr>
            <a:r>
              <a:rPr lang="en-US" b="0" baseline="0" dirty="0" smtClean="0"/>
              <a:t>Trainer arranges for manager/owner of suitable business to attend and:</a:t>
            </a:r>
          </a:p>
          <a:p>
            <a:pPr>
              <a:buFont typeface="Arial" pitchFamily="34" charset="0"/>
              <a:buChar char="•"/>
            </a:pPr>
            <a:r>
              <a:rPr lang="en-US" b="0" baseline="0" dirty="0" smtClean="0"/>
              <a:t> Discusses the process they followed when choosing a catering system by identifying activities they undertook and explaining why they did so</a:t>
            </a:r>
          </a:p>
          <a:p>
            <a:pPr>
              <a:buFont typeface="Arial" pitchFamily="34" charset="0"/>
              <a:buChar char="•"/>
            </a:pPr>
            <a:r>
              <a:rPr lang="en-US" b="0" baseline="0" dirty="0" smtClean="0"/>
              <a:t> Identifies the people who assisted them</a:t>
            </a:r>
          </a:p>
          <a:p>
            <a:pPr>
              <a:buFont typeface="Arial" pitchFamily="34" charset="0"/>
              <a:buChar char="•"/>
            </a:pPr>
            <a:r>
              <a:rPr lang="en-US" b="0" baseline="0" dirty="0" smtClean="0"/>
              <a:t> Provides tips and advice to help and allow students to avoid pitfalls</a:t>
            </a:r>
          </a:p>
          <a:p>
            <a:pPr>
              <a:buFont typeface="Arial" pitchFamily="34" charset="0"/>
              <a:buChar char="•"/>
            </a:pPr>
            <a:r>
              <a:rPr lang="en-US" b="0" baseline="0" dirty="0" smtClean="0"/>
              <a:t> Give examples of Key Selection Criteria they used</a:t>
            </a:r>
          </a:p>
          <a:p>
            <a:pPr>
              <a:buFont typeface="Arial" pitchFamily="34" charset="0"/>
              <a:buChar char="•"/>
            </a:pPr>
            <a:r>
              <a:rPr lang="en-US" b="0" baseline="0" dirty="0" smtClean="0"/>
              <a:t> Explain rationale for the final selection they made.</a:t>
            </a:r>
          </a:p>
          <a:p>
            <a:pPr>
              <a:buFont typeface="Arial" pitchFamily="34" charset="0"/>
              <a:buChar char="•"/>
            </a:pPr>
            <a:endParaRPr lang="en-US" b="0" baseline="0" dirty="0" smtClean="0"/>
          </a:p>
          <a:p>
            <a:pPr>
              <a:buFont typeface="Arial" pitchFamily="34" charset="0"/>
              <a:buNone/>
            </a:pPr>
            <a:r>
              <a:rPr lang="en-US" b="0" baseline="0" dirty="0" smtClean="0"/>
              <a:t> </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highlights </a:t>
            </a:r>
            <a:r>
              <a:rPr lang="en-AU" sz="1200" kern="1200" dirty="0" smtClean="0">
                <a:solidFill>
                  <a:schemeClr val="tx1"/>
                </a:solidFill>
                <a:latin typeface="+mn-lt"/>
                <a:ea typeface="+mn-ea"/>
                <a:cs typeface="+mn-cs"/>
              </a:rPr>
              <a:t>keys in undertaking an evaluation are:</a:t>
            </a:r>
          </a:p>
          <a:p>
            <a:pPr>
              <a:buFont typeface="Arial" pitchFamily="34" charset="0"/>
              <a:buChar char="•"/>
            </a:pPr>
            <a:r>
              <a:rPr lang="en-AU" sz="1200" kern="1200" dirty="0" smtClean="0">
                <a:solidFill>
                  <a:schemeClr val="tx1"/>
                </a:solidFill>
                <a:latin typeface="+mn-lt"/>
                <a:ea typeface="+mn-ea"/>
                <a:cs typeface="+mn-cs"/>
              </a:rPr>
              <a:t> Consider all relevant factors/criteria – not just one or two, or ‘most’ of them</a:t>
            </a:r>
          </a:p>
          <a:p>
            <a:pPr>
              <a:buFont typeface="Arial" pitchFamily="34" charset="0"/>
              <a:buChar char="•"/>
            </a:pPr>
            <a:r>
              <a:rPr lang="en-AU" sz="1200" kern="1200" dirty="0" smtClean="0">
                <a:solidFill>
                  <a:schemeClr val="tx1"/>
                </a:solidFill>
                <a:latin typeface="+mn-lt"/>
                <a:ea typeface="+mn-ea"/>
                <a:cs typeface="+mn-cs"/>
              </a:rPr>
              <a:t> Allocate sufficient time for evaluation – never rush this stage of the process</a:t>
            </a:r>
          </a:p>
          <a:p>
            <a:pPr>
              <a:buFont typeface="Arial" pitchFamily="34" charset="0"/>
              <a:buChar char="•"/>
            </a:pPr>
            <a:r>
              <a:rPr lang="en-AU" sz="1200" kern="1200" dirty="0" smtClean="0">
                <a:solidFill>
                  <a:schemeClr val="tx1"/>
                </a:solidFill>
                <a:latin typeface="+mn-lt"/>
                <a:ea typeface="+mn-ea"/>
                <a:cs typeface="+mn-cs"/>
              </a:rPr>
              <a:t> Use a team of people to undertake the evaluation – as opposed to doing it on your own</a:t>
            </a:r>
          </a:p>
          <a:p>
            <a:pPr>
              <a:buFont typeface="Arial" pitchFamily="34" charset="0"/>
              <a:buChar char="•"/>
            </a:pPr>
            <a:r>
              <a:rPr lang="en-AU" sz="1200" kern="1200" dirty="0" smtClean="0">
                <a:solidFill>
                  <a:schemeClr val="tx1"/>
                </a:solidFill>
                <a:latin typeface="+mn-lt"/>
                <a:ea typeface="+mn-ea"/>
                <a:cs typeface="+mn-cs"/>
              </a:rPr>
              <a:t> Document your thoughts and findings – never rely solely on memory to provide a foundation for discussion and decision making.</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factors to consider when evaluating</a:t>
            </a:r>
            <a:r>
              <a:rPr lang="en-US" baseline="0" dirty="0" smtClean="0"/>
              <a:t> agreed enterprise requirements against systems:</a:t>
            </a:r>
          </a:p>
          <a:p>
            <a:r>
              <a:rPr lang="en-AU" sz="1200" b="1" kern="1200" dirty="0" smtClean="0">
                <a:solidFill>
                  <a:schemeClr val="tx1"/>
                </a:solidFill>
                <a:latin typeface="+mn-lt"/>
                <a:ea typeface="+mn-ea"/>
                <a:cs typeface="+mn-cs"/>
              </a:rPr>
              <a:t>Nature of the operation</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Whether the system suits the </a:t>
            </a:r>
            <a:r>
              <a:rPr lang="en-AU" sz="1200" i="1" kern="1200" dirty="0" smtClean="0">
                <a:solidFill>
                  <a:schemeClr val="tx1"/>
                </a:solidFill>
                <a:latin typeface="+mn-lt"/>
                <a:ea typeface="+mn-ea"/>
                <a:cs typeface="+mn-cs"/>
              </a:rPr>
              <a:t>type of operation</a:t>
            </a:r>
            <a:r>
              <a:rPr lang="en-AU" sz="1200" kern="1200" dirty="0" smtClean="0">
                <a:solidFill>
                  <a:schemeClr val="tx1"/>
                </a:solidFill>
                <a:latin typeface="+mn-lt"/>
                <a:ea typeface="+mn-ea"/>
                <a:cs typeface="+mn-cs"/>
              </a:rPr>
              <a:t> being considered:</a:t>
            </a:r>
          </a:p>
          <a:p>
            <a:pPr lvl="1">
              <a:buFont typeface="Arial" pitchFamily="34" charset="0"/>
              <a:buChar char="•"/>
            </a:pPr>
            <a:r>
              <a:rPr lang="en-AU" sz="1200" kern="1200" dirty="0" smtClean="0">
                <a:solidFill>
                  <a:schemeClr val="tx1"/>
                </a:solidFill>
                <a:latin typeface="+mn-lt"/>
                <a:ea typeface="+mn-ea"/>
                <a:cs typeface="+mn-cs"/>
              </a:rPr>
              <a:t> Is the option going to be effective in the context it is being expected to operate?</a:t>
            </a:r>
          </a:p>
          <a:p>
            <a:pPr lvl="1">
              <a:buFont typeface="Arial" pitchFamily="34" charset="0"/>
              <a:buChar char="•"/>
            </a:pPr>
            <a:r>
              <a:rPr lang="en-AU" sz="1200" kern="1200" dirty="0" smtClean="0">
                <a:solidFill>
                  <a:schemeClr val="tx1"/>
                </a:solidFill>
                <a:latin typeface="+mn-lt"/>
                <a:ea typeface="+mn-ea"/>
                <a:cs typeface="+mn-cs"/>
              </a:rPr>
              <a:t> Is it acceptable to the customers?</a:t>
            </a:r>
          </a:p>
          <a:p>
            <a:pPr lvl="1">
              <a:buFont typeface="Arial" pitchFamily="34" charset="0"/>
              <a:buChar char="•"/>
            </a:pPr>
            <a:r>
              <a:rPr lang="en-AU" sz="1200" kern="1200" dirty="0" smtClean="0">
                <a:solidFill>
                  <a:schemeClr val="tx1"/>
                </a:solidFill>
                <a:latin typeface="+mn-lt"/>
                <a:ea typeface="+mn-ea"/>
                <a:cs typeface="+mn-cs"/>
              </a:rPr>
              <a:t> Does it enable the operating and performance targets/goals to be achieved?</a:t>
            </a:r>
          </a:p>
          <a:p>
            <a:pPr lvl="1">
              <a:buFont typeface="Arial" pitchFamily="34" charset="0"/>
              <a:buChar char="•"/>
            </a:pPr>
            <a:r>
              <a:rPr lang="en-AU" sz="1200" kern="1200" dirty="0" smtClean="0">
                <a:solidFill>
                  <a:schemeClr val="tx1"/>
                </a:solidFill>
                <a:latin typeface="+mn-lt"/>
                <a:ea typeface="+mn-ea"/>
                <a:cs typeface="+mn-cs"/>
              </a:rPr>
              <a:t> Are other (industry leaders) in the sector using this option?</a:t>
            </a:r>
          </a:p>
          <a:p>
            <a:pPr lvl="1">
              <a:buFont typeface="Arial" pitchFamily="34" charset="0"/>
              <a:buChar char="•"/>
            </a:pPr>
            <a:r>
              <a:rPr lang="en-AU" sz="1200" kern="1200" dirty="0" smtClean="0">
                <a:solidFill>
                  <a:schemeClr val="tx1"/>
                </a:solidFill>
                <a:latin typeface="+mn-lt"/>
                <a:ea typeface="+mn-ea"/>
                <a:cs typeface="+mn-cs"/>
              </a:rPr>
              <a:t> Does a system give the business potential to move into another market/niche?</a:t>
            </a:r>
          </a:p>
          <a:p>
            <a:pPr>
              <a:buFont typeface="Arial" pitchFamily="34" charset="0"/>
              <a:buChar char="•"/>
            </a:pPr>
            <a:r>
              <a:rPr lang="en-AU" sz="1200" kern="1200" dirty="0" smtClean="0">
                <a:solidFill>
                  <a:schemeClr val="tx1"/>
                </a:solidFill>
                <a:latin typeface="+mn-lt"/>
                <a:ea typeface="+mn-ea"/>
                <a:cs typeface="+mn-cs"/>
              </a:rPr>
              <a:t> Whether the system aligns with the </a:t>
            </a:r>
            <a:r>
              <a:rPr lang="en-AU" sz="1200" i="1" kern="1200" dirty="0" smtClean="0">
                <a:solidFill>
                  <a:schemeClr val="tx1"/>
                </a:solidFill>
                <a:latin typeface="+mn-lt"/>
                <a:ea typeface="+mn-ea"/>
                <a:cs typeface="+mn-cs"/>
              </a:rPr>
              <a:t>market position</a:t>
            </a:r>
            <a:r>
              <a:rPr lang="en-AU" sz="1200" kern="1200" dirty="0" smtClean="0">
                <a:solidFill>
                  <a:schemeClr val="tx1"/>
                </a:solidFill>
                <a:latin typeface="+mn-lt"/>
                <a:ea typeface="+mn-ea"/>
                <a:cs typeface="+mn-cs"/>
              </a:rPr>
              <a:t> of the operation:</a:t>
            </a:r>
          </a:p>
          <a:p>
            <a:pPr lvl="1">
              <a:buFont typeface="Arial" pitchFamily="34" charset="0"/>
              <a:buChar char="•"/>
            </a:pPr>
            <a:r>
              <a:rPr lang="en-AU" sz="1200" kern="1200" dirty="0" smtClean="0">
                <a:solidFill>
                  <a:schemeClr val="tx1"/>
                </a:solidFill>
                <a:latin typeface="+mn-lt"/>
                <a:ea typeface="+mn-ea"/>
                <a:cs typeface="+mn-cs"/>
              </a:rPr>
              <a:t> Does the system fit with public image of the business?</a:t>
            </a:r>
          </a:p>
          <a:p>
            <a:pPr lvl="1">
              <a:buFont typeface="Arial" pitchFamily="34" charset="0"/>
              <a:buChar char="•"/>
            </a:pPr>
            <a:r>
              <a:rPr lang="en-AU" sz="1200" kern="1200" dirty="0" smtClean="0">
                <a:solidFill>
                  <a:schemeClr val="tx1"/>
                </a:solidFill>
                <a:latin typeface="+mn-lt"/>
                <a:ea typeface="+mn-ea"/>
                <a:cs typeface="+mn-cs"/>
              </a:rPr>
              <a:t> Will the system give the business a competitive advantage/USP which would be useful in the future?</a:t>
            </a:r>
          </a:p>
          <a:p>
            <a:pPr lvl="1">
              <a:buFont typeface="Arial" pitchFamily="34" charset="0"/>
              <a:buChar char="•"/>
            </a:pPr>
            <a:r>
              <a:rPr lang="en-AU" sz="1200" kern="1200" dirty="0" smtClean="0">
                <a:solidFill>
                  <a:schemeClr val="tx1"/>
                </a:solidFill>
                <a:latin typeface="+mn-lt"/>
                <a:ea typeface="+mn-ea"/>
                <a:cs typeface="+mn-cs"/>
              </a:rPr>
              <a:t> What do customers think of the system and the food it produces?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factors to consider when evaluating</a:t>
            </a:r>
            <a:r>
              <a:rPr lang="en-US" baseline="0" dirty="0" smtClean="0"/>
              <a:t> agreed enterprise requirements against systems:</a:t>
            </a:r>
          </a:p>
          <a:p>
            <a:r>
              <a:rPr lang="en-AU" sz="1200" b="1" kern="1200" dirty="0" smtClean="0">
                <a:solidFill>
                  <a:schemeClr val="tx1"/>
                </a:solidFill>
                <a:latin typeface="+mn-lt"/>
                <a:ea typeface="+mn-ea"/>
                <a:cs typeface="+mn-cs"/>
              </a:rPr>
              <a:t>The menu</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Whether the </a:t>
            </a:r>
            <a:r>
              <a:rPr lang="en-AU" sz="1200" i="1" kern="1200" dirty="0" smtClean="0">
                <a:solidFill>
                  <a:schemeClr val="tx1"/>
                </a:solidFill>
                <a:latin typeface="+mn-lt"/>
                <a:ea typeface="+mn-ea"/>
                <a:cs typeface="+mn-cs"/>
              </a:rPr>
              <a:t>intended menu</a:t>
            </a:r>
            <a:r>
              <a:rPr lang="en-AU" sz="1200" kern="1200" dirty="0" smtClean="0">
                <a:solidFill>
                  <a:schemeClr val="tx1"/>
                </a:solidFill>
                <a:latin typeface="+mn-lt"/>
                <a:ea typeface="+mn-ea"/>
                <a:cs typeface="+mn-cs"/>
              </a:rPr>
              <a:t> can be produced:</a:t>
            </a:r>
          </a:p>
          <a:p>
            <a:pPr lvl="1">
              <a:buFont typeface="Arial" pitchFamily="34" charset="0"/>
              <a:buChar char="•"/>
            </a:pPr>
            <a:r>
              <a:rPr lang="en-AU" sz="1200" kern="1200" dirty="0" smtClean="0">
                <a:solidFill>
                  <a:schemeClr val="tx1"/>
                </a:solidFill>
                <a:latin typeface="+mn-lt"/>
                <a:ea typeface="+mn-ea"/>
                <a:cs typeface="+mn-cs"/>
              </a:rPr>
              <a:t> Is the system appropriate to the food/quality standard required?</a:t>
            </a:r>
          </a:p>
          <a:p>
            <a:pPr lvl="1">
              <a:buFont typeface="Arial" pitchFamily="34" charset="0"/>
              <a:buChar char="•"/>
            </a:pPr>
            <a:r>
              <a:rPr lang="en-AU" sz="1200" kern="1200" dirty="0" smtClean="0">
                <a:solidFill>
                  <a:schemeClr val="tx1"/>
                </a:solidFill>
                <a:latin typeface="+mn-lt"/>
                <a:ea typeface="+mn-ea"/>
                <a:cs typeface="+mn-cs"/>
              </a:rPr>
              <a:t> Can all identified menu items be produced and served using the system?</a:t>
            </a:r>
          </a:p>
          <a:p>
            <a:pPr lvl="1">
              <a:buFont typeface="Arial" pitchFamily="34" charset="0"/>
              <a:buChar char="•"/>
            </a:pPr>
            <a:r>
              <a:rPr lang="en-AU" sz="1200" kern="1200" dirty="0" smtClean="0">
                <a:solidFill>
                  <a:schemeClr val="tx1"/>
                </a:solidFill>
                <a:latin typeface="+mn-lt"/>
                <a:ea typeface="+mn-ea"/>
                <a:cs typeface="+mn-cs"/>
              </a:rPr>
              <a:t> Does the system have the capability to expand to offer/produce other types of dishes, cooking styles and/or cooking methods?</a:t>
            </a:r>
          </a:p>
          <a:p>
            <a:pPr lvl="1">
              <a:buFont typeface="Arial" pitchFamily="34" charset="0"/>
              <a:buChar char="•"/>
            </a:pPr>
            <a:r>
              <a:rPr lang="en-AU" sz="1200" kern="1200" dirty="0" smtClean="0">
                <a:solidFill>
                  <a:schemeClr val="tx1"/>
                </a:solidFill>
                <a:latin typeface="+mn-lt"/>
                <a:ea typeface="+mn-ea"/>
                <a:cs typeface="+mn-cs"/>
              </a:rPr>
              <a:t> What new menu items (or food types) can be offered/produced using a certain system?</a:t>
            </a:r>
          </a:p>
          <a:p>
            <a:r>
              <a:rPr lang="en-AU" sz="1200" b="1" kern="1200" dirty="0" smtClean="0">
                <a:solidFill>
                  <a:schemeClr val="tx1"/>
                </a:solidFill>
                <a:latin typeface="+mn-lt"/>
                <a:ea typeface="+mn-ea"/>
                <a:cs typeface="+mn-cs"/>
              </a:rPr>
              <a:t>Production volume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Whether the system has the required </a:t>
            </a:r>
            <a:r>
              <a:rPr lang="en-AU" sz="1200" i="1" kern="1200" dirty="0" smtClean="0">
                <a:solidFill>
                  <a:schemeClr val="tx1"/>
                </a:solidFill>
                <a:latin typeface="+mn-lt"/>
                <a:ea typeface="+mn-ea"/>
                <a:cs typeface="+mn-cs"/>
              </a:rPr>
              <a:t>capacity</a:t>
            </a:r>
            <a:r>
              <a:rPr lang="en-AU" sz="1200" kern="1200" dirty="0" smtClean="0">
                <a:solidFill>
                  <a:schemeClr val="tx1"/>
                </a:solidFill>
                <a:latin typeface="+mn-lt"/>
                <a:ea typeface="+mn-ea"/>
                <a:cs typeface="+mn-cs"/>
              </a:rPr>
              <a:t>:</a:t>
            </a:r>
          </a:p>
          <a:p>
            <a:pPr lvl="1">
              <a:buFont typeface="Arial" pitchFamily="34" charset="0"/>
              <a:buChar char="•"/>
            </a:pPr>
            <a:r>
              <a:rPr lang="en-AU" sz="1200" kern="1200" dirty="0" smtClean="0">
                <a:solidFill>
                  <a:schemeClr val="tx1"/>
                </a:solidFill>
                <a:latin typeface="+mn-lt"/>
                <a:ea typeface="+mn-ea"/>
                <a:cs typeface="+mn-cs"/>
              </a:rPr>
              <a:t> Will the system be able to cope for identified peak demands on an hourly, sessional and/or daily basis?</a:t>
            </a:r>
          </a:p>
          <a:p>
            <a:pPr lvl="1">
              <a:buFont typeface="Arial" pitchFamily="34" charset="0"/>
              <a:buChar char="•"/>
            </a:pPr>
            <a:r>
              <a:rPr lang="en-AU" sz="1200" kern="1200" dirty="0" smtClean="0">
                <a:solidFill>
                  <a:schemeClr val="tx1"/>
                </a:solidFill>
                <a:latin typeface="+mn-lt"/>
                <a:ea typeface="+mn-ea"/>
                <a:cs typeface="+mn-cs"/>
              </a:rPr>
              <a:t> Does it have the potential to be supplemented by extra equipment to enable capacity to grow if demand increases?</a:t>
            </a:r>
          </a:p>
          <a:p>
            <a:pPr lvl="1">
              <a:buFont typeface="Arial" pitchFamily="34" charset="0"/>
              <a:buChar char="•"/>
            </a:pPr>
            <a:r>
              <a:rPr lang="en-AU" sz="1200" kern="1200" dirty="0" smtClean="0">
                <a:solidFill>
                  <a:schemeClr val="tx1"/>
                </a:solidFill>
                <a:latin typeface="+mn-lt"/>
                <a:ea typeface="+mn-ea"/>
                <a:cs typeface="+mn-cs"/>
              </a:rPr>
              <a:t> Will the system deliver production volume requirements for events/functions, as well as cater for other known demand at the same time?</a:t>
            </a:r>
          </a:p>
          <a:p>
            <a:pPr lvl="1">
              <a:buFont typeface="Arial" pitchFamily="34" charset="0"/>
              <a:buChar char="•"/>
            </a:pPr>
            <a:r>
              <a:rPr lang="en-AU" sz="1200" kern="1200" dirty="0" smtClean="0">
                <a:solidFill>
                  <a:schemeClr val="tx1"/>
                </a:solidFill>
                <a:latin typeface="+mn-lt"/>
                <a:ea typeface="+mn-ea"/>
                <a:cs typeface="+mn-cs"/>
              </a:rPr>
              <a:t> What new/extra capacity does a system bring to the kitchen?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factors to consider when evaluating</a:t>
            </a:r>
            <a:r>
              <a:rPr lang="en-US" baseline="0" dirty="0" smtClean="0"/>
              <a:t> agreed enterprise requirements against systems:</a:t>
            </a:r>
          </a:p>
          <a:p>
            <a:r>
              <a:rPr lang="en-AU" sz="1200" b="1" kern="1200" dirty="0" smtClean="0">
                <a:solidFill>
                  <a:schemeClr val="tx1"/>
                </a:solidFill>
                <a:latin typeface="+mn-lt"/>
                <a:ea typeface="+mn-ea"/>
                <a:cs typeface="+mn-cs"/>
              </a:rPr>
              <a:t>Service areas/service points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Whether </a:t>
            </a:r>
            <a:r>
              <a:rPr lang="en-AU" sz="1200" i="1" kern="1200" dirty="0" smtClean="0">
                <a:solidFill>
                  <a:schemeClr val="tx1"/>
                </a:solidFill>
                <a:latin typeface="+mn-lt"/>
                <a:ea typeface="+mn-ea"/>
                <a:cs typeface="+mn-cs"/>
              </a:rPr>
              <a:t>food</a:t>
            </a:r>
            <a:r>
              <a:rPr lang="en-AU" sz="1200" kern="1200" dirty="0" smtClean="0">
                <a:solidFill>
                  <a:schemeClr val="tx1"/>
                </a:solidFill>
                <a:latin typeface="+mn-lt"/>
                <a:ea typeface="+mn-ea"/>
                <a:cs typeface="+mn-cs"/>
              </a:rPr>
              <a:t> </a:t>
            </a:r>
            <a:r>
              <a:rPr lang="en-AU" sz="1200" i="1" kern="1200" dirty="0" smtClean="0">
                <a:solidFill>
                  <a:schemeClr val="tx1"/>
                </a:solidFill>
                <a:latin typeface="+mn-lt"/>
                <a:ea typeface="+mn-ea"/>
                <a:cs typeface="+mn-cs"/>
              </a:rPr>
              <a:t>service</a:t>
            </a:r>
            <a:r>
              <a:rPr lang="en-AU" sz="1200" kern="1200" dirty="0" smtClean="0">
                <a:solidFill>
                  <a:schemeClr val="tx1"/>
                </a:solidFill>
                <a:latin typeface="+mn-lt"/>
                <a:ea typeface="+mn-ea"/>
                <a:cs typeface="+mn-cs"/>
              </a:rPr>
              <a:t> potential meets requirements:</a:t>
            </a:r>
          </a:p>
          <a:p>
            <a:pPr lvl="1">
              <a:buFont typeface="Arial" pitchFamily="34" charset="0"/>
              <a:buChar char="•"/>
            </a:pPr>
            <a:r>
              <a:rPr lang="en-AU" sz="1200" kern="1200" dirty="0" smtClean="0">
                <a:solidFill>
                  <a:schemeClr val="tx1"/>
                </a:solidFill>
                <a:latin typeface="+mn-lt"/>
                <a:ea typeface="+mn-ea"/>
                <a:cs typeface="+mn-cs"/>
              </a:rPr>
              <a:t> Can the menu items be served in accordance with operator standards and at the required service outlets/points?</a:t>
            </a:r>
          </a:p>
          <a:p>
            <a:pPr lvl="1">
              <a:buFont typeface="Arial" pitchFamily="34" charset="0"/>
              <a:buChar char="•"/>
            </a:pPr>
            <a:r>
              <a:rPr lang="en-AU" sz="1200" kern="1200" dirty="0" smtClean="0">
                <a:solidFill>
                  <a:schemeClr val="tx1"/>
                </a:solidFill>
                <a:latin typeface="+mn-lt"/>
                <a:ea typeface="+mn-ea"/>
                <a:cs typeface="+mn-cs"/>
              </a:rPr>
              <a:t> Will required service numbers be achieved in the given timeframes for service?</a:t>
            </a:r>
          </a:p>
          <a:p>
            <a:pPr lvl="1">
              <a:buFont typeface="Arial" pitchFamily="34" charset="0"/>
              <a:buChar char="•"/>
            </a:pPr>
            <a:r>
              <a:rPr lang="en-AU" sz="1200" kern="1200" dirty="0" smtClean="0">
                <a:solidFill>
                  <a:schemeClr val="tx1"/>
                </a:solidFill>
                <a:latin typeface="+mn-lt"/>
                <a:ea typeface="+mn-ea"/>
                <a:cs typeface="+mn-cs"/>
              </a:rPr>
              <a:t> Does food service reflect identified customer preferences for service?</a:t>
            </a:r>
          </a:p>
          <a:p>
            <a:pPr lvl="1">
              <a:buFont typeface="Arial" pitchFamily="34" charset="0"/>
              <a:buChar char="•"/>
            </a:pPr>
            <a:r>
              <a:rPr lang="en-AU" sz="1200" kern="1200" dirty="0" smtClean="0">
                <a:solidFill>
                  <a:schemeClr val="tx1"/>
                </a:solidFill>
                <a:latin typeface="+mn-lt"/>
                <a:ea typeface="+mn-ea"/>
                <a:cs typeface="+mn-cs"/>
              </a:rPr>
              <a:t> Are suitable food transportation/distribution facilities and/or resources available/affordable to support the system?</a:t>
            </a:r>
          </a:p>
          <a:p>
            <a:pPr lvl="1">
              <a:buFont typeface="Arial" pitchFamily="34" charset="0"/>
              <a:buChar char="•"/>
            </a:pPr>
            <a:r>
              <a:rPr lang="en-AU" sz="1200" kern="1200" dirty="0" smtClean="0">
                <a:solidFill>
                  <a:schemeClr val="tx1"/>
                </a:solidFill>
                <a:latin typeface="+mn-lt"/>
                <a:ea typeface="+mn-ea"/>
                <a:cs typeface="+mn-cs"/>
              </a:rPr>
              <a:t> Does a system open up new opportunities for fresh service points/outlets?</a:t>
            </a:r>
          </a:p>
          <a:p>
            <a:r>
              <a:rPr lang="en-AU" sz="1200" b="1" kern="1200" dirty="0" smtClean="0">
                <a:solidFill>
                  <a:schemeClr val="tx1"/>
                </a:solidFill>
                <a:latin typeface="+mn-lt"/>
                <a:ea typeface="+mn-ea"/>
                <a:cs typeface="+mn-cs"/>
              </a:rPr>
              <a:t>Storage and holding</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Whether </a:t>
            </a:r>
            <a:r>
              <a:rPr lang="en-AU" sz="1200" i="1" kern="1200" dirty="0" smtClean="0">
                <a:solidFill>
                  <a:schemeClr val="tx1"/>
                </a:solidFill>
                <a:latin typeface="+mn-lt"/>
                <a:ea typeface="+mn-ea"/>
                <a:cs typeface="+mn-cs"/>
              </a:rPr>
              <a:t>pre-production storage</a:t>
            </a:r>
            <a:r>
              <a:rPr lang="en-AU" sz="1200" kern="1200" dirty="0" smtClean="0">
                <a:solidFill>
                  <a:schemeClr val="tx1"/>
                </a:solidFill>
                <a:latin typeface="+mn-lt"/>
                <a:ea typeface="+mn-ea"/>
                <a:cs typeface="+mn-cs"/>
              </a:rPr>
              <a:t> is sufficient to meet expected demand:</a:t>
            </a:r>
          </a:p>
          <a:p>
            <a:pPr lvl="1">
              <a:buFont typeface="Arial" pitchFamily="34" charset="0"/>
              <a:buChar char="•"/>
            </a:pPr>
            <a:r>
              <a:rPr lang="en-AU" sz="1200" kern="1200" dirty="0" smtClean="0">
                <a:solidFill>
                  <a:schemeClr val="tx1"/>
                </a:solidFill>
                <a:latin typeface="+mn-lt"/>
                <a:ea typeface="+mn-ea"/>
                <a:cs typeface="+mn-cs"/>
              </a:rPr>
              <a:t> Are dry goods stores, cool rooms and freezers available as/if required?</a:t>
            </a:r>
          </a:p>
          <a:p>
            <a:pPr lvl="1">
              <a:buFont typeface="Arial" pitchFamily="34" charset="0"/>
              <a:buChar char="•"/>
            </a:pPr>
            <a:r>
              <a:rPr lang="en-AU" sz="1200" kern="1200" dirty="0" smtClean="0">
                <a:solidFill>
                  <a:schemeClr val="tx1"/>
                </a:solidFill>
                <a:latin typeface="+mn-lt"/>
                <a:ea typeface="+mn-ea"/>
                <a:cs typeface="+mn-cs"/>
              </a:rPr>
              <a:t> Are they of sufficient size/capacity?</a:t>
            </a:r>
          </a:p>
          <a:p>
            <a:pPr lvl="1">
              <a:buFont typeface="Arial" pitchFamily="34" charset="0"/>
              <a:buChar char="•"/>
            </a:pPr>
            <a:r>
              <a:rPr lang="en-AU" sz="1200" kern="1200" dirty="0" smtClean="0">
                <a:solidFill>
                  <a:schemeClr val="tx1"/>
                </a:solidFill>
                <a:latin typeface="+mn-lt"/>
                <a:ea typeface="+mn-ea"/>
                <a:cs typeface="+mn-cs"/>
              </a:rPr>
              <a:t> Are they located to facilitate the flow of goods/foods within the kitchen/food production area?</a:t>
            </a:r>
          </a:p>
          <a:p>
            <a:pPr lvl="1">
              <a:buFont typeface="Arial" pitchFamily="34" charset="0"/>
              <a:buChar char="•"/>
            </a:pPr>
            <a:r>
              <a:rPr lang="en-AU" sz="1200" kern="1200" dirty="0" smtClean="0">
                <a:solidFill>
                  <a:schemeClr val="tx1"/>
                </a:solidFill>
                <a:latin typeface="+mn-lt"/>
                <a:ea typeface="+mn-ea"/>
                <a:cs typeface="+mn-cs"/>
              </a:rPr>
              <a:t> What extra capacity does a new/alternate system offer?</a:t>
            </a:r>
          </a:p>
          <a:p>
            <a:pPr>
              <a:buFont typeface="Arial" pitchFamily="34" charset="0"/>
              <a:buChar char="•"/>
            </a:pPr>
            <a:r>
              <a:rPr lang="en-AU" sz="1200" kern="1200" dirty="0" smtClean="0">
                <a:solidFill>
                  <a:schemeClr val="tx1"/>
                </a:solidFill>
                <a:latin typeface="+mn-lt"/>
                <a:ea typeface="+mn-ea"/>
                <a:cs typeface="+mn-cs"/>
              </a:rPr>
              <a:t> Whether </a:t>
            </a:r>
            <a:r>
              <a:rPr lang="en-AU" sz="1200" i="1" kern="1200" dirty="0" smtClean="0">
                <a:solidFill>
                  <a:schemeClr val="tx1"/>
                </a:solidFill>
                <a:latin typeface="+mn-lt"/>
                <a:ea typeface="+mn-ea"/>
                <a:cs typeface="+mn-cs"/>
              </a:rPr>
              <a:t>post-production storage</a:t>
            </a:r>
            <a:r>
              <a:rPr lang="en-AU" sz="1200" kern="1200" dirty="0" smtClean="0">
                <a:solidFill>
                  <a:schemeClr val="tx1"/>
                </a:solidFill>
                <a:latin typeface="+mn-lt"/>
                <a:ea typeface="+mn-ea"/>
                <a:cs typeface="+mn-cs"/>
              </a:rPr>
              <a:t> is sufficient to meet expected demand:</a:t>
            </a:r>
          </a:p>
          <a:p>
            <a:pPr lvl="1">
              <a:buFont typeface="Arial" pitchFamily="34" charset="0"/>
              <a:buChar char="•"/>
            </a:pPr>
            <a:r>
              <a:rPr lang="en-AU" sz="1200" kern="1200" dirty="0" smtClean="0">
                <a:solidFill>
                  <a:schemeClr val="tx1"/>
                </a:solidFill>
                <a:latin typeface="+mn-lt"/>
                <a:ea typeface="+mn-ea"/>
                <a:cs typeface="+mn-cs"/>
              </a:rPr>
              <a:t> Is there capacity to hold sufficient hot food for service and storage, as required?</a:t>
            </a:r>
          </a:p>
          <a:p>
            <a:pPr lvl="1">
              <a:buFont typeface="Arial" pitchFamily="34" charset="0"/>
              <a:buChar char="•"/>
            </a:pPr>
            <a:r>
              <a:rPr lang="en-AU" sz="1200" kern="1200" dirty="0" smtClean="0">
                <a:solidFill>
                  <a:schemeClr val="tx1"/>
                </a:solidFill>
                <a:latin typeface="+mn-lt"/>
                <a:ea typeface="+mn-ea"/>
                <a:cs typeface="+mn-cs"/>
              </a:rPr>
              <a:t> Is there capacity to hold sufficient cold food for service and storage, as required?</a:t>
            </a:r>
          </a:p>
          <a:p>
            <a:pPr lvl="1">
              <a:buFont typeface="Arial" pitchFamily="34" charset="0"/>
              <a:buChar char="•"/>
            </a:pPr>
            <a:r>
              <a:rPr lang="en-AU" sz="1200" kern="1200" dirty="0" smtClean="0">
                <a:solidFill>
                  <a:schemeClr val="tx1"/>
                </a:solidFill>
                <a:latin typeface="+mn-lt"/>
                <a:ea typeface="+mn-ea"/>
                <a:cs typeface="+mn-cs"/>
              </a:rPr>
              <a:t> Is there capacity to </a:t>
            </a:r>
            <a:r>
              <a:rPr lang="en-AU" sz="1200" i="1" kern="1200" dirty="0" smtClean="0">
                <a:solidFill>
                  <a:schemeClr val="tx1"/>
                </a:solidFill>
                <a:latin typeface="+mn-lt"/>
                <a:ea typeface="+mn-ea"/>
                <a:cs typeface="+mn-cs"/>
              </a:rPr>
              <a:t>display</a:t>
            </a:r>
            <a:r>
              <a:rPr lang="en-AU" sz="1200" kern="1200" dirty="0" smtClean="0">
                <a:solidFill>
                  <a:schemeClr val="tx1"/>
                </a:solidFill>
                <a:latin typeface="+mn-lt"/>
                <a:ea typeface="+mn-ea"/>
                <a:cs typeface="+mn-cs"/>
              </a:rPr>
              <a:t> hot and cold food, as required?</a:t>
            </a:r>
          </a:p>
          <a:p>
            <a:pPr lvl="1">
              <a:buFont typeface="Arial" pitchFamily="34" charset="0"/>
              <a:buChar char="•"/>
            </a:pPr>
            <a:r>
              <a:rPr lang="en-AU" sz="1200" kern="1200" dirty="0" smtClean="0">
                <a:solidFill>
                  <a:schemeClr val="tx1"/>
                </a:solidFill>
                <a:latin typeface="+mn-lt"/>
                <a:ea typeface="+mn-ea"/>
                <a:cs typeface="+mn-cs"/>
              </a:rPr>
              <a:t> What extra capacity does a new/alternate system offer?</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factors to consider when evaluating</a:t>
            </a:r>
            <a:r>
              <a:rPr lang="en-US" baseline="0" dirty="0" smtClean="0"/>
              <a:t> agreed enterprise requirements against systems:</a:t>
            </a:r>
          </a:p>
          <a:p>
            <a:r>
              <a:rPr lang="en-AU" sz="1200" b="1" kern="1200" dirty="0" smtClean="0">
                <a:solidFill>
                  <a:schemeClr val="tx1"/>
                </a:solidFill>
                <a:latin typeface="+mn-lt"/>
                <a:ea typeface="+mn-ea"/>
                <a:cs typeface="+mn-cs"/>
              </a:rPr>
              <a:t>Nutritional and dietary requirements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Whether the food produced meets guidelines for </a:t>
            </a:r>
            <a:r>
              <a:rPr lang="en-AU" sz="1200" i="1" kern="1200" dirty="0" smtClean="0">
                <a:solidFill>
                  <a:schemeClr val="tx1"/>
                </a:solidFill>
                <a:latin typeface="+mn-lt"/>
                <a:ea typeface="+mn-ea"/>
                <a:cs typeface="+mn-cs"/>
              </a:rPr>
              <a:t>nutritional content</a:t>
            </a:r>
            <a:r>
              <a:rPr lang="en-AU" sz="1200" kern="1200" dirty="0" smtClean="0">
                <a:solidFill>
                  <a:schemeClr val="tx1"/>
                </a:solidFill>
                <a:latin typeface="+mn-lt"/>
                <a:ea typeface="+mn-ea"/>
                <a:cs typeface="+mn-cs"/>
              </a:rPr>
              <a:t>:</a:t>
            </a:r>
          </a:p>
          <a:p>
            <a:pPr lvl="1">
              <a:buFont typeface="Arial" pitchFamily="34" charset="0"/>
              <a:buChar char="•"/>
            </a:pPr>
            <a:r>
              <a:rPr lang="en-AU" sz="1200" kern="1200" dirty="0" smtClean="0">
                <a:solidFill>
                  <a:schemeClr val="tx1"/>
                </a:solidFill>
                <a:latin typeface="+mn-lt"/>
                <a:ea typeface="+mn-ea"/>
                <a:cs typeface="+mn-cs"/>
              </a:rPr>
              <a:t> What proof/evidence is there the required nutritional content can be obtained?</a:t>
            </a:r>
          </a:p>
          <a:p>
            <a:pPr lvl="1">
              <a:buFont typeface="Arial" pitchFamily="34" charset="0"/>
              <a:buChar char="•"/>
            </a:pPr>
            <a:r>
              <a:rPr lang="en-AU" sz="1200" kern="1200" dirty="0" smtClean="0">
                <a:solidFill>
                  <a:schemeClr val="tx1"/>
                </a:solidFill>
                <a:latin typeface="+mn-lt"/>
                <a:ea typeface="+mn-ea"/>
                <a:cs typeface="+mn-cs"/>
              </a:rPr>
              <a:t> What additional nutritional content can be attained using certain systems?</a:t>
            </a:r>
          </a:p>
          <a:p>
            <a:pPr lvl="1">
              <a:buFont typeface="Arial" pitchFamily="34" charset="0"/>
              <a:buChar char="•"/>
            </a:pPr>
            <a:r>
              <a:rPr lang="en-AU" sz="1200" kern="1200" dirty="0" smtClean="0">
                <a:solidFill>
                  <a:schemeClr val="tx1"/>
                </a:solidFill>
                <a:latin typeface="+mn-lt"/>
                <a:ea typeface="+mn-ea"/>
                <a:cs typeface="+mn-cs"/>
              </a:rPr>
              <a:t> How is this data obtained and who generates it?</a:t>
            </a:r>
          </a:p>
          <a:p>
            <a:pPr lvl="1">
              <a:buFont typeface="Arial" pitchFamily="34" charset="0"/>
              <a:buChar char="•"/>
            </a:pPr>
            <a:r>
              <a:rPr lang="en-AU" sz="1200" kern="1200" dirty="0" smtClean="0">
                <a:solidFill>
                  <a:schemeClr val="tx1"/>
                </a:solidFill>
                <a:latin typeface="+mn-lt"/>
                <a:ea typeface="+mn-ea"/>
                <a:cs typeface="+mn-cs"/>
              </a:rPr>
              <a:t> What on-going/on-site checks can be done to verify nutritional content?</a:t>
            </a:r>
          </a:p>
          <a:p>
            <a:pPr lvl="0">
              <a:buFont typeface="Arial" pitchFamily="34" charset="0"/>
              <a:buChar char="•"/>
            </a:pPr>
            <a:r>
              <a:rPr lang="en-AU" sz="1200" kern="1200" dirty="0" smtClean="0">
                <a:solidFill>
                  <a:schemeClr val="tx1"/>
                </a:solidFill>
                <a:latin typeface="+mn-lt"/>
                <a:ea typeface="+mn-ea"/>
                <a:cs typeface="+mn-cs"/>
              </a:rPr>
              <a:t> Whether the system allows the production of identified/required menu items to enable provision of identified diet-specific meals:</a:t>
            </a:r>
          </a:p>
          <a:p>
            <a:pPr lvl="1">
              <a:buFont typeface="Arial" pitchFamily="34" charset="0"/>
              <a:buChar char="•"/>
            </a:pPr>
            <a:r>
              <a:rPr lang="en-AU" sz="1200" kern="1200" dirty="0" smtClean="0">
                <a:solidFill>
                  <a:schemeClr val="tx1"/>
                </a:solidFill>
                <a:latin typeface="+mn-lt"/>
                <a:ea typeface="+mn-ea"/>
                <a:cs typeface="+mn-cs"/>
              </a:rPr>
              <a:t> What menu items for specific diets can be produced?</a:t>
            </a:r>
          </a:p>
          <a:p>
            <a:pPr lvl="1">
              <a:buFont typeface="Arial" pitchFamily="34" charset="0"/>
              <a:buChar char="•"/>
            </a:pPr>
            <a:r>
              <a:rPr lang="en-AU" sz="1200" kern="1200" dirty="0" smtClean="0">
                <a:solidFill>
                  <a:schemeClr val="tx1"/>
                </a:solidFill>
                <a:latin typeface="+mn-lt"/>
                <a:ea typeface="+mn-ea"/>
                <a:cs typeface="+mn-cs"/>
              </a:rPr>
              <a:t> What extra menu items can be produced using certain systems?</a:t>
            </a:r>
          </a:p>
          <a:p>
            <a:r>
              <a:rPr lang="en-AU" sz="1200" b="1" kern="1200" dirty="0" smtClean="0">
                <a:solidFill>
                  <a:schemeClr val="tx1"/>
                </a:solidFill>
                <a:latin typeface="+mn-lt"/>
                <a:ea typeface="+mn-ea"/>
                <a:cs typeface="+mn-cs"/>
              </a:rPr>
              <a:t>Available space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Whether the system fits the </a:t>
            </a:r>
            <a:r>
              <a:rPr lang="en-AU" sz="1200" i="1" kern="1200" dirty="0" smtClean="0">
                <a:solidFill>
                  <a:schemeClr val="tx1"/>
                </a:solidFill>
                <a:latin typeface="+mn-lt"/>
                <a:ea typeface="+mn-ea"/>
                <a:cs typeface="+mn-cs"/>
              </a:rPr>
              <a:t>allocated space</a:t>
            </a:r>
            <a:r>
              <a:rPr lang="en-AU" sz="1200" kern="1200" dirty="0" smtClean="0">
                <a:solidFill>
                  <a:schemeClr val="tx1"/>
                </a:solidFill>
                <a:latin typeface="+mn-lt"/>
                <a:ea typeface="+mn-ea"/>
                <a:cs typeface="+mn-cs"/>
              </a:rPr>
              <a:t>:</a:t>
            </a:r>
          </a:p>
          <a:p>
            <a:pPr lvl="1">
              <a:buFont typeface="Arial" pitchFamily="34" charset="0"/>
              <a:buChar char="•"/>
            </a:pPr>
            <a:r>
              <a:rPr lang="en-AU" sz="1200" kern="1200" dirty="0" smtClean="0">
                <a:solidFill>
                  <a:schemeClr val="tx1"/>
                </a:solidFill>
                <a:latin typeface="+mn-lt"/>
                <a:ea typeface="+mn-ea"/>
                <a:cs typeface="+mn-cs"/>
              </a:rPr>
              <a:t> Do all elements of the entire food production system fit into the space available for all stages of food production (receiving, pre-production storing, preparation, cooking, post-production storing)?</a:t>
            </a:r>
          </a:p>
          <a:p>
            <a:pPr lvl="1">
              <a:buFont typeface="Arial" pitchFamily="34" charset="0"/>
              <a:buChar char="•"/>
            </a:pPr>
            <a:r>
              <a:rPr lang="en-AU" sz="1200" kern="1200" dirty="0" smtClean="0">
                <a:solidFill>
                  <a:schemeClr val="tx1"/>
                </a:solidFill>
                <a:latin typeface="+mn-lt"/>
                <a:ea typeface="+mn-ea"/>
                <a:cs typeface="+mn-cs"/>
              </a:rPr>
              <a:t> Do all elements of the entire food production system fit into the space available for all stages of food service (service, holding, display, distribution)?</a:t>
            </a:r>
          </a:p>
          <a:p>
            <a:pPr lvl="1">
              <a:buFont typeface="Arial" pitchFamily="34" charset="0"/>
              <a:buChar char="•"/>
            </a:pPr>
            <a:r>
              <a:rPr lang="en-AU" sz="1200" kern="1200" dirty="0" smtClean="0">
                <a:solidFill>
                  <a:schemeClr val="tx1"/>
                </a:solidFill>
                <a:latin typeface="+mn-lt"/>
                <a:ea typeface="+mn-ea"/>
                <a:cs typeface="+mn-cs"/>
              </a:rPr>
              <a:t> What extra space/are is required?</a:t>
            </a:r>
          </a:p>
          <a:p>
            <a:pPr lvl="1">
              <a:buFont typeface="Arial" pitchFamily="34" charset="0"/>
              <a:buChar char="•"/>
            </a:pPr>
            <a:r>
              <a:rPr lang="en-AU" sz="1200" kern="1200" dirty="0" smtClean="0">
                <a:solidFill>
                  <a:schemeClr val="tx1"/>
                </a:solidFill>
                <a:latin typeface="+mn-lt"/>
                <a:ea typeface="+mn-ea"/>
                <a:cs typeface="+mn-cs"/>
              </a:rPr>
              <a:t> What space saving has been made?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factors to consider when evaluating</a:t>
            </a:r>
            <a:r>
              <a:rPr lang="en-US" baseline="0" dirty="0" smtClean="0"/>
              <a:t> agreed enterprise requirements against systems:</a:t>
            </a:r>
          </a:p>
          <a:p>
            <a:r>
              <a:rPr lang="en-AU" sz="1200" b="1" kern="1200" dirty="0" smtClean="0">
                <a:solidFill>
                  <a:schemeClr val="tx1"/>
                </a:solidFill>
                <a:latin typeface="+mn-lt"/>
                <a:ea typeface="+mn-ea"/>
                <a:cs typeface="+mn-cs"/>
              </a:rPr>
              <a:t>Ingredients purchased</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Whether the system impacts the </a:t>
            </a:r>
            <a:r>
              <a:rPr lang="en-AU" sz="1200" i="1" kern="1200" dirty="0" smtClean="0">
                <a:solidFill>
                  <a:schemeClr val="tx1"/>
                </a:solidFill>
                <a:latin typeface="+mn-lt"/>
                <a:ea typeface="+mn-ea"/>
                <a:cs typeface="+mn-cs"/>
              </a:rPr>
              <a:t>ingredients purchased</a:t>
            </a:r>
            <a:r>
              <a:rPr lang="en-AU" sz="1200" kern="1200" dirty="0" smtClean="0">
                <a:solidFill>
                  <a:schemeClr val="tx1"/>
                </a:solidFill>
                <a:latin typeface="+mn-lt"/>
                <a:ea typeface="+mn-ea"/>
                <a:cs typeface="+mn-cs"/>
              </a:rPr>
              <a:t> by the venue/kitchen:</a:t>
            </a:r>
          </a:p>
          <a:p>
            <a:pPr lvl="1">
              <a:buFont typeface="Arial" pitchFamily="34" charset="0"/>
              <a:buChar char="•"/>
            </a:pPr>
            <a:r>
              <a:rPr lang="en-AU" sz="1200" kern="1200" dirty="0" smtClean="0">
                <a:solidFill>
                  <a:schemeClr val="tx1"/>
                </a:solidFill>
                <a:latin typeface="+mn-lt"/>
                <a:ea typeface="+mn-ea"/>
                <a:cs typeface="+mn-cs"/>
              </a:rPr>
              <a:t> How does each system impact the current way the kitchen orders/purchases ingredients/food?</a:t>
            </a:r>
          </a:p>
          <a:p>
            <a:pPr lvl="1">
              <a:buFont typeface="Arial" pitchFamily="34" charset="0"/>
              <a:buChar char="•"/>
            </a:pPr>
            <a:r>
              <a:rPr lang="en-AU" sz="1200" kern="1200" dirty="0" smtClean="0">
                <a:solidFill>
                  <a:schemeClr val="tx1"/>
                </a:solidFill>
                <a:latin typeface="+mn-lt"/>
                <a:ea typeface="+mn-ea"/>
                <a:cs typeface="+mn-cs"/>
              </a:rPr>
              <a:t> Will more fresh food/ingredients be required?</a:t>
            </a:r>
          </a:p>
          <a:p>
            <a:pPr lvl="1">
              <a:buFont typeface="Arial" pitchFamily="34" charset="0"/>
              <a:buChar char="•"/>
            </a:pPr>
            <a:r>
              <a:rPr lang="en-AU" sz="1200" kern="1200" dirty="0" smtClean="0">
                <a:solidFill>
                  <a:schemeClr val="tx1"/>
                </a:solidFill>
                <a:latin typeface="+mn-lt"/>
                <a:ea typeface="+mn-ea"/>
                <a:cs typeface="+mn-cs"/>
              </a:rPr>
              <a:t> Will more pre-prepared/ready-made foods be required?</a:t>
            </a:r>
          </a:p>
          <a:p>
            <a:pPr lvl="1">
              <a:buFont typeface="Arial" pitchFamily="34" charset="0"/>
              <a:buChar char="•"/>
            </a:pPr>
            <a:r>
              <a:rPr lang="en-AU" sz="1200" kern="1200" dirty="0" smtClean="0">
                <a:solidFill>
                  <a:schemeClr val="tx1"/>
                </a:solidFill>
                <a:latin typeface="+mn-lt"/>
                <a:ea typeface="+mn-ea"/>
                <a:cs typeface="+mn-cs"/>
              </a:rPr>
              <a:t> How does this fresh-versus-pre-/ready-made dichotomy fit with quality standards and customer perceptions/preferences?</a:t>
            </a:r>
          </a:p>
          <a:p>
            <a:r>
              <a:rPr lang="en-AU" sz="1200" b="1" kern="1200" dirty="0" smtClean="0">
                <a:solidFill>
                  <a:schemeClr val="tx1"/>
                </a:solidFill>
                <a:latin typeface="+mn-lt"/>
                <a:ea typeface="+mn-ea"/>
                <a:cs typeface="+mn-cs"/>
              </a:rPr>
              <a:t>Enterprise practices and standards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Whether systems will impact/affect enterprise </a:t>
            </a:r>
            <a:r>
              <a:rPr lang="en-AU" sz="1200" i="1" kern="1200" dirty="0" smtClean="0">
                <a:solidFill>
                  <a:schemeClr val="tx1"/>
                </a:solidFill>
                <a:latin typeface="+mn-lt"/>
                <a:ea typeface="+mn-ea"/>
                <a:cs typeface="+mn-cs"/>
              </a:rPr>
              <a:t>practices and standards</a:t>
            </a:r>
            <a:r>
              <a:rPr lang="en-AU" sz="1200" kern="1200" dirty="0" smtClean="0">
                <a:solidFill>
                  <a:schemeClr val="tx1"/>
                </a:solidFill>
                <a:latin typeface="+mn-lt"/>
                <a:ea typeface="+mn-ea"/>
                <a:cs typeface="+mn-cs"/>
              </a:rPr>
              <a:t>:</a:t>
            </a:r>
          </a:p>
          <a:p>
            <a:pPr lvl="1">
              <a:buFont typeface="Arial" pitchFamily="34" charset="0"/>
              <a:buChar char="•"/>
            </a:pPr>
            <a:r>
              <a:rPr lang="en-AU" sz="1200" kern="1200" dirty="0" smtClean="0">
                <a:solidFill>
                  <a:schemeClr val="tx1"/>
                </a:solidFill>
                <a:latin typeface="+mn-lt"/>
                <a:ea typeface="+mn-ea"/>
                <a:cs typeface="+mn-cs"/>
              </a:rPr>
              <a:t> Will existing kitchen/venue SOPs need to change/be re-written?</a:t>
            </a:r>
          </a:p>
          <a:p>
            <a:pPr lvl="1">
              <a:buFont typeface="Arial" pitchFamily="34" charset="0"/>
              <a:buChar char="•"/>
            </a:pPr>
            <a:r>
              <a:rPr lang="en-AU" sz="1200" kern="1200" dirty="0" smtClean="0">
                <a:solidFill>
                  <a:schemeClr val="tx1"/>
                </a:solidFill>
                <a:latin typeface="+mn-lt"/>
                <a:ea typeface="+mn-ea"/>
                <a:cs typeface="+mn-cs"/>
              </a:rPr>
              <a:t> If so, which ones and to what extent?</a:t>
            </a:r>
          </a:p>
          <a:p>
            <a:pPr lvl="1">
              <a:buFont typeface="Arial" pitchFamily="34" charset="0"/>
              <a:buChar char="•"/>
            </a:pPr>
            <a:r>
              <a:rPr lang="en-AU" sz="1200" kern="1200" dirty="0" smtClean="0">
                <a:solidFill>
                  <a:schemeClr val="tx1"/>
                </a:solidFill>
                <a:latin typeface="+mn-lt"/>
                <a:ea typeface="+mn-ea"/>
                <a:cs typeface="+mn-cs"/>
              </a:rPr>
              <a:t> Is this change acceptable?</a:t>
            </a:r>
          </a:p>
          <a:p>
            <a:pPr lvl="1">
              <a:buFont typeface="Arial" pitchFamily="34" charset="0"/>
              <a:buChar char="•"/>
            </a:pPr>
            <a:r>
              <a:rPr lang="en-AU" sz="1200" kern="1200" dirty="0" smtClean="0">
                <a:solidFill>
                  <a:schemeClr val="tx1"/>
                </a:solidFill>
                <a:latin typeface="+mn-lt"/>
                <a:ea typeface="+mn-ea"/>
                <a:cs typeface="+mn-cs"/>
              </a:rPr>
              <a:t> Will existing standards (for food quality and service) need to change/be re-written?</a:t>
            </a:r>
          </a:p>
          <a:p>
            <a:pPr lvl="1">
              <a:buFont typeface="Arial" pitchFamily="34" charset="0"/>
              <a:buChar char="•"/>
            </a:pPr>
            <a:r>
              <a:rPr lang="en-AU" sz="1200" kern="1200" dirty="0" smtClean="0">
                <a:solidFill>
                  <a:schemeClr val="tx1"/>
                </a:solidFill>
                <a:latin typeface="+mn-lt"/>
                <a:ea typeface="+mn-ea"/>
                <a:cs typeface="+mn-cs"/>
              </a:rPr>
              <a:t> If so, which ones and to what extent?</a:t>
            </a:r>
          </a:p>
          <a:p>
            <a:pPr lvl="1">
              <a:buFont typeface="Arial" pitchFamily="34" charset="0"/>
              <a:buChar char="•"/>
            </a:pPr>
            <a:r>
              <a:rPr lang="en-AU" sz="1200" kern="1200" dirty="0" smtClean="0">
                <a:solidFill>
                  <a:schemeClr val="tx1"/>
                </a:solidFill>
                <a:latin typeface="+mn-lt"/>
                <a:ea typeface="+mn-ea"/>
                <a:cs typeface="+mn-cs"/>
              </a:rPr>
              <a:t> What </a:t>
            </a:r>
            <a:r>
              <a:rPr lang="en-AU" sz="1200" i="1" kern="1200" dirty="0" smtClean="0">
                <a:solidFill>
                  <a:schemeClr val="tx1"/>
                </a:solidFill>
                <a:latin typeface="+mn-lt"/>
                <a:ea typeface="+mn-ea"/>
                <a:cs typeface="+mn-cs"/>
              </a:rPr>
              <a:t>new</a:t>
            </a:r>
            <a:r>
              <a:rPr lang="en-AU" sz="1200" kern="1200" dirty="0" smtClean="0">
                <a:solidFill>
                  <a:schemeClr val="tx1"/>
                </a:solidFill>
                <a:latin typeface="+mn-lt"/>
                <a:ea typeface="+mn-ea"/>
                <a:cs typeface="+mn-cs"/>
              </a:rPr>
              <a:t> practices, standards and organisational change will need to be introduced?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factors to consider when evaluating</a:t>
            </a:r>
            <a:r>
              <a:rPr lang="en-US" baseline="0" dirty="0" smtClean="0"/>
              <a:t> agreed enterprise requirements against systems:</a:t>
            </a:r>
          </a:p>
          <a:p>
            <a:r>
              <a:rPr lang="en-AU" sz="1200" b="1" kern="1200" dirty="0" smtClean="0">
                <a:solidFill>
                  <a:schemeClr val="tx1"/>
                </a:solidFill>
                <a:latin typeface="+mn-lt"/>
                <a:ea typeface="+mn-ea"/>
                <a:cs typeface="+mn-cs"/>
              </a:rPr>
              <a:t>Financial constraints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Whether the system aligns with the identified </a:t>
            </a:r>
            <a:r>
              <a:rPr lang="en-AU" sz="1200" i="1" kern="1200" dirty="0" smtClean="0">
                <a:solidFill>
                  <a:schemeClr val="tx1"/>
                </a:solidFill>
                <a:latin typeface="+mn-lt"/>
                <a:ea typeface="+mn-ea"/>
                <a:cs typeface="+mn-cs"/>
              </a:rPr>
              <a:t>financial parameters</a:t>
            </a:r>
            <a:r>
              <a:rPr lang="en-AU" sz="1200" kern="1200" dirty="0" smtClean="0">
                <a:solidFill>
                  <a:schemeClr val="tx1"/>
                </a:solidFill>
                <a:latin typeface="+mn-lt"/>
                <a:ea typeface="+mn-ea"/>
                <a:cs typeface="+mn-cs"/>
              </a:rPr>
              <a:t> for the initiative:</a:t>
            </a:r>
          </a:p>
          <a:p>
            <a:pPr lvl="1">
              <a:buFont typeface="Arial" pitchFamily="34" charset="0"/>
              <a:buChar char="•"/>
            </a:pPr>
            <a:r>
              <a:rPr lang="en-AU" sz="1200" kern="1200" dirty="0" smtClean="0">
                <a:solidFill>
                  <a:schemeClr val="tx1"/>
                </a:solidFill>
                <a:latin typeface="+mn-lt"/>
                <a:ea typeface="+mn-ea"/>
                <a:cs typeface="+mn-cs"/>
              </a:rPr>
              <a:t> How much do suitable options cost?</a:t>
            </a:r>
          </a:p>
          <a:p>
            <a:pPr lvl="1">
              <a:buFont typeface="Arial" pitchFamily="34" charset="0"/>
              <a:buChar char="•"/>
            </a:pPr>
            <a:r>
              <a:rPr lang="en-AU" sz="1200" kern="1200" dirty="0" smtClean="0">
                <a:solidFill>
                  <a:schemeClr val="tx1"/>
                </a:solidFill>
                <a:latin typeface="+mn-lt"/>
                <a:ea typeface="+mn-ea"/>
                <a:cs typeface="+mn-cs"/>
              </a:rPr>
              <a:t> What quotations were obtained?</a:t>
            </a:r>
          </a:p>
          <a:p>
            <a:pPr lvl="1">
              <a:buFont typeface="Arial" pitchFamily="34" charset="0"/>
              <a:buChar char="•"/>
            </a:pPr>
            <a:r>
              <a:rPr lang="en-AU" sz="1200" kern="1200" dirty="0" smtClean="0">
                <a:solidFill>
                  <a:schemeClr val="tx1"/>
                </a:solidFill>
                <a:latin typeface="+mn-lt"/>
                <a:ea typeface="+mn-ea"/>
                <a:cs typeface="+mn-cs"/>
              </a:rPr>
              <a:t> What discounts are available/were negotiated?</a:t>
            </a:r>
          </a:p>
          <a:p>
            <a:pPr lvl="1">
              <a:buFont typeface="Arial" pitchFamily="34" charset="0"/>
              <a:buChar char="•"/>
            </a:pPr>
            <a:r>
              <a:rPr lang="en-AU" sz="1200" kern="1200" dirty="0" smtClean="0">
                <a:solidFill>
                  <a:schemeClr val="tx1"/>
                </a:solidFill>
                <a:latin typeface="+mn-lt"/>
                <a:ea typeface="+mn-ea"/>
                <a:cs typeface="+mn-cs"/>
              </a:rPr>
              <a:t> How did prices for similar equipment/technology differ between different manufacturers/suppliers?</a:t>
            </a:r>
          </a:p>
          <a:p>
            <a:pPr lvl="1">
              <a:buFont typeface="Arial" pitchFamily="34" charset="0"/>
              <a:buChar char="•"/>
            </a:pPr>
            <a:r>
              <a:rPr lang="en-AU" sz="1200" kern="1200" dirty="0" smtClean="0">
                <a:solidFill>
                  <a:schemeClr val="tx1"/>
                </a:solidFill>
                <a:latin typeface="+mn-lt"/>
                <a:ea typeface="+mn-ea"/>
                <a:cs typeface="+mn-cs"/>
              </a:rPr>
              <a:t> What financing is available to support the acquisition, and what is the cost of it?</a:t>
            </a:r>
          </a:p>
          <a:p>
            <a:pPr lvl="1">
              <a:buFont typeface="Arial" pitchFamily="34" charset="0"/>
              <a:buChar char="•"/>
            </a:pPr>
            <a:r>
              <a:rPr lang="en-AU" sz="1200" kern="1200" dirty="0" smtClean="0">
                <a:solidFill>
                  <a:schemeClr val="tx1"/>
                </a:solidFill>
                <a:latin typeface="+mn-lt"/>
                <a:ea typeface="+mn-ea"/>
                <a:cs typeface="+mn-cs"/>
              </a:rPr>
              <a:t> What existing equipment/facilities can be used/re-used as part of the new system?</a:t>
            </a:r>
          </a:p>
          <a:p>
            <a:pPr lvl="1">
              <a:buFont typeface="Arial" pitchFamily="34" charset="0"/>
              <a:buChar char="•"/>
            </a:pPr>
            <a:r>
              <a:rPr lang="en-AU" sz="1200" kern="1200" dirty="0" smtClean="0">
                <a:solidFill>
                  <a:schemeClr val="tx1"/>
                </a:solidFill>
                <a:latin typeface="+mn-lt"/>
                <a:ea typeface="+mn-ea"/>
                <a:cs typeface="+mn-cs"/>
              </a:rPr>
              <a:t> What revenue can be generated through the sale of equipment being removed to make way for a new system?</a:t>
            </a:r>
          </a:p>
          <a:p>
            <a:r>
              <a:rPr lang="en-AU" sz="1200" b="1" kern="1200" dirty="0" smtClean="0">
                <a:solidFill>
                  <a:schemeClr val="tx1"/>
                </a:solidFill>
                <a:latin typeface="+mn-lt"/>
                <a:ea typeface="+mn-ea"/>
                <a:cs typeface="+mn-cs"/>
              </a:rPr>
              <a:t>Compliance requirements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Whether the system/s meet identified </a:t>
            </a:r>
            <a:r>
              <a:rPr lang="en-AU" sz="1200" i="1" kern="1200" dirty="0" smtClean="0">
                <a:solidFill>
                  <a:schemeClr val="tx1"/>
                </a:solidFill>
                <a:latin typeface="+mn-lt"/>
                <a:ea typeface="+mn-ea"/>
                <a:cs typeface="+mn-cs"/>
              </a:rPr>
              <a:t>compliance requirements</a:t>
            </a:r>
            <a:r>
              <a:rPr lang="en-AU" sz="1200" kern="1200" dirty="0" smtClean="0">
                <a:solidFill>
                  <a:schemeClr val="tx1"/>
                </a:solidFill>
                <a:latin typeface="+mn-lt"/>
                <a:ea typeface="+mn-ea"/>
                <a:cs typeface="+mn-cs"/>
              </a:rPr>
              <a:t>:</a:t>
            </a:r>
          </a:p>
          <a:p>
            <a:pPr lvl="1">
              <a:buFont typeface="Arial" pitchFamily="34" charset="0"/>
              <a:buChar char="•"/>
            </a:pPr>
            <a:r>
              <a:rPr lang="en-AU" sz="1200" kern="1200" dirty="0" smtClean="0">
                <a:solidFill>
                  <a:schemeClr val="tx1"/>
                </a:solidFill>
                <a:latin typeface="+mn-lt"/>
                <a:ea typeface="+mn-ea"/>
                <a:cs typeface="+mn-cs"/>
              </a:rPr>
              <a:t> Is the system compliant with legislated food safety obligations?</a:t>
            </a:r>
          </a:p>
          <a:p>
            <a:pPr lvl="1">
              <a:buFont typeface="Arial" pitchFamily="34" charset="0"/>
              <a:buChar char="•"/>
            </a:pPr>
            <a:r>
              <a:rPr lang="en-AU" sz="1200" kern="1200" dirty="0" smtClean="0">
                <a:solidFill>
                  <a:schemeClr val="tx1"/>
                </a:solidFill>
                <a:latin typeface="+mn-lt"/>
                <a:ea typeface="+mn-ea"/>
                <a:cs typeface="+mn-cs"/>
              </a:rPr>
              <a:t> Will the system enable implementation of a HACCP-based FSP?</a:t>
            </a:r>
          </a:p>
          <a:p>
            <a:pPr lvl="1">
              <a:buFont typeface="Arial" pitchFamily="34" charset="0"/>
              <a:buChar char="•"/>
            </a:pPr>
            <a:r>
              <a:rPr lang="en-AU" sz="1200" kern="1200" dirty="0" smtClean="0">
                <a:solidFill>
                  <a:schemeClr val="tx1"/>
                </a:solidFill>
                <a:latin typeface="+mn-lt"/>
                <a:ea typeface="+mn-ea"/>
                <a:cs typeface="+mn-cs"/>
              </a:rPr>
              <a:t> Will a new FSP be required or will the existing one remain applicable?</a:t>
            </a:r>
          </a:p>
          <a:p>
            <a:pPr lvl="1">
              <a:buFont typeface="Arial" pitchFamily="34" charset="0"/>
              <a:buChar char="•"/>
            </a:pPr>
            <a:r>
              <a:rPr lang="en-AU" sz="1200" kern="1200" dirty="0" smtClean="0">
                <a:solidFill>
                  <a:schemeClr val="tx1"/>
                </a:solidFill>
                <a:latin typeface="+mn-lt"/>
                <a:ea typeface="+mn-ea"/>
                <a:cs typeface="+mn-cs"/>
              </a:rPr>
              <a:t> Does the system conform with any applicable industry (or other relevant) COPs?</a:t>
            </a:r>
          </a:p>
          <a:p>
            <a:pPr lvl="1">
              <a:buFont typeface="Arial" pitchFamily="34" charset="0"/>
              <a:buChar char="•"/>
            </a:pPr>
            <a:r>
              <a:rPr lang="en-AU" sz="1200" kern="1200" dirty="0" smtClean="0">
                <a:solidFill>
                  <a:schemeClr val="tx1"/>
                </a:solidFill>
                <a:latin typeface="+mn-lt"/>
                <a:ea typeface="+mn-ea"/>
                <a:cs typeface="+mn-cs"/>
              </a:rPr>
              <a:t> Can the system support implementation of QA as required by the operator?</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factors to consider when evaluating</a:t>
            </a:r>
            <a:r>
              <a:rPr lang="en-US" baseline="0" dirty="0" smtClean="0"/>
              <a:t> agreed enterprise requirements against systems:</a:t>
            </a:r>
          </a:p>
          <a:p>
            <a:r>
              <a:rPr lang="en-AU" sz="1200" b="1" kern="1200" dirty="0" smtClean="0">
                <a:solidFill>
                  <a:schemeClr val="tx1"/>
                </a:solidFill>
                <a:latin typeface="+mn-lt"/>
                <a:ea typeface="+mn-ea"/>
                <a:cs typeface="+mn-cs"/>
              </a:rPr>
              <a:t>Timing constraints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Whether the preferred system can be introduced in accordance with necessary timing limitations:</a:t>
            </a:r>
          </a:p>
          <a:p>
            <a:pPr lvl="1">
              <a:buFont typeface="Arial" pitchFamily="34" charset="0"/>
              <a:buChar char="•"/>
            </a:pPr>
            <a:r>
              <a:rPr lang="en-AU" sz="1200" kern="1200" dirty="0" smtClean="0">
                <a:solidFill>
                  <a:schemeClr val="tx1"/>
                </a:solidFill>
                <a:latin typeface="+mn-lt"/>
                <a:ea typeface="+mn-ea"/>
                <a:cs typeface="+mn-cs"/>
              </a:rPr>
              <a:t> How long will it take to remove the existing equipment and systems/technology from the food production and service areas?</a:t>
            </a:r>
          </a:p>
          <a:p>
            <a:pPr lvl="1">
              <a:buFont typeface="Arial" pitchFamily="34" charset="0"/>
              <a:buChar char="•"/>
            </a:pPr>
            <a:r>
              <a:rPr lang="en-AU" sz="1200" kern="1200" dirty="0" smtClean="0">
                <a:solidFill>
                  <a:schemeClr val="tx1"/>
                </a:solidFill>
                <a:latin typeface="+mn-lt"/>
                <a:ea typeface="+mn-ea"/>
                <a:cs typeface="+mn-cs"/>
              </a:rPr>
              <a:t> What impact will this have on trade, cash flow and profit/business viability?</a:t>
            </a:r>
          </a:p>
          <a:p>
            <a:pPr lvl="1">
              <a:buFont typeface="Arial" pitchFamily="34" charset="0"/>
              <a:buChar char="•"/>
            </a:pPr>
            <a:r>
              <a:rPr lang="en-AU" sz="1200" kern="1200" dirty="0" smtClean="0">
                <a:solidFill>
                  <a:schemeClr val="tx1"/>
                </a:solidFill>
                <a:latin typeface="+mn-lt"/>
                <a:ea typeface="+mn-ea"/>
                <a:cs typeface="+mn-cs"/>
              </a:rPr>
              <a:t> How long will it take to install and commission new systems/technology and equipment?</a:t>
            </a:r>
          </a:p>
          <a:p>
            <a:pPr lvl="1">
              <a:buFont typeface="Arial" pitchFamily="34" charset="0"/>
              <a:buChar char="•"/>
            </a:pPr>
            <a:r>
              <a:rPr lang="en-AU" sz="1200" kern="1200" dirty="0" smtClean="0">
                <a:solidFill>
                  <a:schemeClr val="tx1"/>
                </a:solidFill>
                <a:latin typeface="+mn-lt"/>
                <a:ea typeface="+mn-ea"/>
                <a:cs typeface="+mn-cs"/>
              </a:rPr>
              <a:t> Does installation and commissioning align with identified operational requirements, or does it create an operational problem in meeting projected demand?</a:t>
            </a:r>
          </a:p>
          <a:p>
            <a:r>
              <a:rPr lang="en-AU" sz="1200" b="1" kern="1200" dirty="0" smtClean="0">
                <a:solidFill>
                  <a:schemeClr val="tx1"/>
                </a:solidFill>
                <a:latin typeface="+mn-lt"/>
                <a:ea typeface="+mn-ea"/>
                <a:cs typeface="+mn-cs"/>
              </a:rPr>
              <a:t>Operating costs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Whether the system is viable in terms of:</a:t>
            </a:r>
          </a:p>
          <a:p>
            <a:pPr lvl="1">
              <a:buFont typeface="Arial" pitchFamily="34" charset="0"/>
              <a:buChar char="•"/>
            </a:pPr>
            <a:r>
              <a:rPr lang="en-AU" sz="1200" kern="1200" dirty="0" smtClean="0">
                <a:solidFill>
                  <a:schemeClr val="tx1"/>
                </a:solidFill>
                <a:latin typeface="+mn-lt"/>
                <a:ea typeface="+mn-ea"/>
                <a:cs typeface="+mn-cs"/>
              </a:rPr>
              <a:t> What is the cost of staff training to bring staff up-to-speed for the system in all locations/worksites?</a:t>
            </a:r>
          </a:p>
          <a:p>
            <a:pPr lvl="1">
              <a:buFont typeface="Arial" pitchFamily="34" charset="0"/>
              <a:buChar char="•"/>
            </a:pPr>
            <a:r>
              <a:rPr lang="en-AU" sz="1200" kern="1200" dirty="0" smtClean="0">
                <a:solidFill>
                  <a:schemeClr val="tx1"/>
                </a:solidFill>
                <a:latin typeface="+mn-lt"/>
                <a:ea typeface="+mn-ea"/>
                <a:cs typeface="+mn-cs"/>
              </a:rPr>
              <a:t> Are the projected maintenance/service costs for the system viable?</a:t>
            </a:r>
          </a:p>
          <a:p>
            <a:pPr lvl="1">
              <a:buFont typeface="Arial" pitchFamily="34" charset="0"/>
              <a:buChar char="•"/>
            </a:pPr>
            <a:r>
              <a:rPr lang="en-AU" sz="1200" kern="1200" dirty="0" smtClean="0">
                <a:solidFill>
                  <a:schemeClr val="tx1"/>
                </a:solidFill>
                <a:latin typeface="+mn-lt"/>
                <a:ea typeface="+mn-ea"/>
                <a:cs typeface="+mn-cs"/>
              </a:rPr>
              <a:t> What potential wastage is predicted and how does this compare to current wastage levels?</a:t>
            </a:r>
          </a:p>
          <a:p>
            <a:pPr lvl="1">
              <a:buFont typeface="Arial" pitchFamily="34" charset="0"/>
              <a:buChar char="•"/>
            </a:pPr>
            <a:r>
              <a:rPr lang="en-AU" sz="1200" kern="1200" dirty="0" smtClean="0">
                <a:solidFill>
                  <a:schemeClr val="tx1"/>
                </a:solidFill>
                <a:latin typeface="+mn-lt"/>
                <a:ea typeface="+mn-ea"/>
                <a:cs typeface="+mn-cs"/>
              </a:rPr>
              <a:t> How much energy will the system use and at what cost?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evaluating may involve compromising explaining </a:t>
            </a:r>
            <a:r>
              <a:rPr lang="en-AU" sz="1200" kern="1200" dirty="0" smtClean="0">
                <a:solidFill>
                  <a:schemeClr val="tx1"/>
                </a:solidFill>
                <a:latin typeface="+mn-lt"/>
                <a:ea typeface="+mn-ea"/>
                <a:cs typeface="+mn-cs"/>
              </a:rPr>
              <a:t>this means settling for something less than what was originally needed or wanted and noting while KSC must always form the basis for evaluating options the realities of business life will nearly always require you to compromise.</a:t>
            </a:r>
          </a:p>
          <a:p>
            <a:r>
              <a:rPr lang="en-AU" sz="1200" kern="1200" dirty="0" smtClean="0">
                <a:solidFill>
                  <a:schemeClr val="tx1"/>
                </a:solidFill>
                <a:latin typeface="+mn-lt"/>
                <a:ea typeface="+mn-ea"/>
                <a:cs typeface="+mn-cs"/>
              </a:rPr>
              <a:t>This may mean you have to:</a:t>
            </a:r>
          </a:p>
          <a:p>
            <a:pPr>
              <a:buFont typeface="Arial" pitchFamily="34" charset="0"/>
              <a:buChar char="•"/>
            </a:pPr>
            <a:r>
              <a:rPr lang="en-AU" sz="1200" kern="1200" dirty="0" smtClean="0">
                <a:solidFill>
                  <a:schemeClr val="tx1"/>
                </a:solidFill>
                <a:latin typeface="+mn-lt"/>
                <a:ea typeface="+mn-ea"/>
                <a:cs typeface="+mn-cs"/>
              </a:rPr>
              <a:t> Extend installation and commissioning dates for equipment beyond preferred timelines</a:t>
            </a:r>
          </a:p>
          <a:p>
            <a:pPr>
              <a:buFont typeface="Arial" pitchFamily="34" charset="0"/>
              <a:buChar char="•"/>
            </a:pPr>
            <a:r>
              <a:rPr lang="en-AU" sz="1200" kern="1200" dirty="0" smtClean="0">
                <a:solidFill>
                  <a:schemeClr val="tx1"/>
                </a:solidFill>
                <a:latin typeface="+mn-lt"/>
                <a:ea typeface="+mn-ea"/>
                <a:cs typeface="+mn-cs"/>
              </a:rPr>
              <a:t> Spend more on the system you will decide to acquire </a:t>
            </a:r>
          </a:p>
          <a:p>
            <a:pPr>
              <a:buFont typeface="Arial" pitchFamily="34" charset="0"/>
              <a:buChar char="•"/>
            </a:pPr>
            <a:r>
              <a:rPr lang="en-AU" sz="1200" kern="1200" dirty="0" smtClean="0">
                <a:solidFill>
                  <a:schemeClr val="tx1"/>
                </a:solidFill>
                <a:latin typeface="+mn-lt"/>
                <a:ea typeface="+mn-ea"/>
                <a:cs typeface="+mn-cs"/>
              </a:rPr>
              <a:t> Use more space than intended to house the system which best serves your needs</a:t>
            </a:r>
          </a:p>
          <a:p>
            <a:pPr>
              <a:buFont typeface="Arial" pitchFamily="34" charset="0"/>
              <a:buChar char="•"/>
            </a:pPr>
            <a:r>
              <a:rPr lang="en-AU" sz="1200" kern="1200" dirty="0" smtClean="0">
                <a:solidFill>
                  <a:schemeClr val="tx1"/>
                </a:solidFill>
                <a:latin typeface="+mn-lt"/>
                <a:ea typeface="+mn-ea"/>
                <a:cs typeface="+mn-cs"/>
              </a:rPr>
              <a:t> Buy from a supplier or manufacturer you did not originally want to deal with</a:t>
            </a:r>
          </a:p>
          <a:p>
            <a:pPr>
              <a:buFont typeface="Arial" pitchFamily="34" charset="0"/>
              <a:buChar char="•"/>
            </a:pPr>
            <a:r>
              <a:rPr lang="en-AU" sz="1200" kern="1200" dirty="0" smtClean="0">
                <a:solidFill>
                  <a:schemeClr val="tx1"/>
                </a:solidFill>
                <a:latin typeface="+mn-lt"/>
                <a:ea typeface="+mn-ea"/>
                <a:cs typeface="+mn-cs"/>
              </a:rPr>
              <a:t> Change enterprise policies, procedures and/or protocols you wanted to remain the same.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on recommending a catering system by asking questions such as:</a:t>
            </a:r>
          </a:p>
          <a:p>
            <a:pPr>
              <a:buFont typeface="Arial" pitchFamily="34" charset="0"/>
              <a:buChar char="•"/>
            </a:pPr>
            <a:r>
              <a:rPr lang="en-US" dirty="0" smtClean="0"/>
              <a:t> Who do you think you would need to make a recommendation to?</a:t>
            </a:r>
          </a:p>
          <a:p>
            <a:pPr>
              <a:buFont typeface="Arial" pitchFamily="34" charset="0"/>
              <a:buChar char="•"/>
            </a:pPr>
            <a:r>
              <a:rPr lang="en-US" dirty="0" smtClean="0"/>
              <a:t> What information would you need to cover as part of the recommendation?</a:t>
            </a:r>
          </a:p>
          <a:p>
            <a:pPr>
              <a:buFont typeface="Arial" pitchFamily="34" charset="0"/>
              <a:buChar char="•"/>
            </a:pPr>
            <a:r>
              <a:rPr lang="en-US" dirty="0" smtClean="0"/>
              <a:t> How might you deliver/present your recommendations?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a:t>
            </a:r>
            <a:r>
              <a:rPr lang="en-AU" sz="1200" kern="1200" dirty="0" smtClean="0">
                <a:solidFill>
                  <a:schemeClr val="tx1"/>
                </a:solidFill>
                <a:latin typeface="+mn-lt"/>
                <a:ea typeface="+mn-ea"/>
                <a:cs typeface="+mn-cs"/>
              </a:rPr>
              <a:t>when relevant catering systems have been identified and evaluated it next remains to make recommendations based on the research and analysis which has been undertaken stressing points to note when making recommendations for the selection of a catering system:</a:t>
            </a:r>
          </a:p>
          <a:p>
            <a:pPr>
              <a:buFont typeface="Arial" pitchFamily="34" charset="0"/>
              <a:buChar char="•"/>
            </a:pPr>
            <a:r>
              <a:rPr lang="en-AU" sz="1200" kern="1200" dirty="0" smtClean="0">
                <a:solidFill>
                  <a:schemeClr val="tx1"/>
                </a:solidFill>
                <a:latin typeface="+mn-lt"/>
                <a:ea typeface="+mn-ea"/>
                <a:cs typeface="+mn-cs"/>
              </a:rPr>
              <a:t> Involve relevant others/stakeholders in the process – do not do it on your own</a:t>
            </a:r>
          </a:p>
          <a:p>
            <a:pPr>
              <a:buFont typeface="Arial" pitchFamily="34" charset="0"/>
              <a:buChar char="•"/>
            </a:pPr>
            <a:r>
              <a:rPr lang="en-AU" sz="1200" kern="1200" dirty="0" smtClean="0">
                <a:solidFill>
                  <a:schemeClr val="tx1"/>
                </a:solidFill>
                <a:latin typeface="+mn-lt"/>
                <a:ea typeface="+mn-ea"/>
                <a:cs typeface="+mn-cs"/>
              </a:rPr>
              <a:t> Base your recommendations on facts identified/learned during the research (identification and evaluation) process – which must reflect the identified requirements and constraints established at the start of the process</a:t>
            </a:r>
          </a:p>
          <a:p>
            <a:pPr>
              <a:buFont typeface="Arial" pitchFamily="34" charset="0"/>
              <a:buChar char="•"/>
            </a:pPr>
            <a:r>
              <a:rPr lang="en-AU" sz="1200" kern="1200" dirty="0" smtClean="0">
                <a:solidFill>
                  <a:schemeClr val="tx1"/>
                </a:solidFill>
                <a:latin typeface="+mn-lt"/>
                <a:ea typeface="+mn-ea"/>
                <a:cs typeface="+mn-cs"/>
              </a:rPr>
              <a:t> Be sure to distinguish and make completely clear any aspects of the report/recommendation which are thoughts and opinions – as distinct from ‘fact/evidence-based’ information</a:t>
            </a:r>
          </a:p>
          <a:p>
            <a:pPr>
              <a:buFont typeface="Arial" pitchFamily="34" charset="0"/>
              <a:buChar char="•"/>
            </a:pPr>
            <a:r>
              <a:rPr lang="en-AU" sz="1200" kern="1200" dirty="0" smtClean="0">
                <a:solidFill>
                  <a:schemeClr val="tx1"/>
                </a:solidFill>
                <a:latin typeface="+mn-lt"/>
                <a:ea typeface="+mn-ea"/>
                <a:cs typeface="+mn-cs"/>
              </a:rPr>
              <a:t> Include details of all classifications of data collected as part of the research/investigative process – qualitative and quantitative data, as well secondary and primary data</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providing advice regarding making recommendation:</a:t>
            </a:r>
          </a:p>
          <a:p>
            <a:pPr>
              <a:buFont typeface="Arial" pitchFamily="34" charset="0"/>
              <a:buChar char="•"/>
            </a:pPr>
            <a:r>
              <a:rPr lang="en-AU" sz="1200" kern="1200" dirty="0" smtClean="0">
                <a:solidFill>
                  <a:schemeClr val="tx1"/>
                </a:solidFill>
                <a:latin typeface="+mn-lt"/>
                <a:ea typeface="+mn-ea"/>
                <a:cs typeface="+mn-cs"/>
              </a:rPr>
              <a:t> Make a definite recommendation – detailing:</a:t>
            </a:r>
          </a:p>
          <a:p>
            <a:pPr lvl="1">
              <a:buFont typeface="Arial" pitchFamily="34" charset="0"/>
              <a:buChar char="•"/>
            </a:pPr>
            <a:r>
              <a:rPr lang="en-AU" sz="1200" kern="1200" dirty="0" smtClean="0">
                <a:solidFill>
                  <a:schemeClr val="tx1"/>
                </a:solidFill>
                <a:latin typeface="+mn-lt"/>
                <a:ea typeface="+mn-ea"/>
                <a:cs typeface="+mn-cs"/>
              </a:rPr>
              <a:t> Name/type of system</a:t>
            </a:r>
          </a:p>
          <a:p>
            <a:pPr lvl="1">
              <a:buFont typeface="Arial" pitchFamily="34" charset="0"/>
              <a:buChar char="•"/>
            </a:pPr>
            <a:r>
              <a:rPr lang="en-AU" sz="1200" kern="1200" dirty="0" smtClean="0">
                <a:solidFill>
                  <a:schemeClr val="tx1"/>
                </a:solidFill>
                <a:latin typeface="+mn-lt"/>
                <a:ea typeface="+mn-ea"/>
                <a:cs typeface="+mn-cs"/>
              </a:rPr>
              <a:t> Manufacturer’s/supplier’s name</a:t>
            </a:r>
          </a:p>
          <a:p>
            <a:pPr lvl="1">
              <a:buFont typeface="Arial" pitchFamily="34" charset="0"/>
              <a:buChar char="•"/>
            </a:pPr>
            <a:r>
              <a:rPr lang="en-AU" sz="1200" kern="1200" dirty="0" smtClean="0">
                <a:solidFill>
                  <a:schemeClr val="tx1"/>
                </a:solidFill>
                <a:latin typeface="+mn-lt"/>
                <a:ea typeface="+mn-ea"/>
                <a:cs typeface="+mn-cs"/>
              </a:rPr>
              <a:t> Equipment and technology to be used</a:t>
            </a:r>
          </a:p>
          <a:p>
            <a:pPr lvl="1">
              <a:buFont typeface="Arial" pitchFamily="34" charset="0"/>
              <a:buChar char="•"/>
            </a:pPr>
            <a:r>
              <a:rPr lang="en-AU" sz="1200" kern="1200" dirty="0" smtClean="0">
                <a:solidFill>
                  <a:schemeClr val="tx1"/>
                </a:solidFill>
                <a:latin typeface="+mn-lt"/>
                <a:ea typeface="+mn-ea"/>
                <a:cs typeface="+mn-cs"/>
              </a:rPr>
              <a:t> Dates for strategic action – such as:</a:t>
            </a:r>
          </a:p>
          <a:p>
            <a:pPr lvl="2">
              <a:buFont typeface="Arial" pitchFamily="34" charset="0"/>
              <a:buChar char="•"/>
            </a:pPr>
            <a:r>
              <a:rPr lang="en-AU" sz="1200" kern="1200" dirty="0" smtClean="0">
                <a:solidFill>
                  <a:schemeClr val="tx1"/>
                </a:solidFill>
                <a:latin typeface="+mn-lt"/>
                <a:ea typeface="+mn-ea"/>
                <a:cs typeface="+mn-cs"/>
              </a:rPr>
              <a:t> Preparing the site/removing existing equipment</a:t>
            </a:r>
          </a:p>
          <a:p>
            <a:pPr lvl="2">
              <a:buFont typeface="Arial" pitchFamily="34" charset="0"/>
              <a:buChar char="•"/>
            </a:pPr>
            <a:r>
              <a:rPr lang="en-AU" sz="1200" kern="1200" dirty="0" smtClean="0">
                <a:solidFill>
                  <a:schemeClr val="tx1"/>
                </a:solidFill>
                <a:latin typeface="+mn-lt"/>
                <a:ea typeface="+mn-ea"/>
                <a:cs typeface="+mn-cs"/>
              </a:rPr>
              <a:t> Installing and commissioning equipment and systems</a:t>
            </a:r>
          </a:p>
          <a:p>
            <a:pPr lvl="2">
              <a:buFont typeface="Arial" pitchFamily="34" charset="0"/>
              <a:buChar char="•"/>
            </a:pPr>
            <a:r>
              <a:rPr lang="en-AU" sz="1200" kern="1200" dirty="0" smtClean="0">
                <a:solidFill>
                  <a:schemeClr val="tx1"/>
                </a:solidFill>
                <a:latin typeface="+mn-lt"/>
                <a:ea typeface="+mn-ea"/>
                <a:cs typeface="+mn-cs"/>
              </a:rPr>
              <a:t> Trialling equipment and systems</a:t>
            </a:r>
          </a:p>
          <a:p>
            <a:pPr lvl="2">
              <a:buFont typeface="Arial" pitchFamily="34" charset="0"/>
              <a:buChar char="•"/>
            </a:pPr>
            <a:r>
              <a:rPr lang="en-AU" sz="1200" kern="1200" dirty="0" smtClean="0">
                <a:solidFill>
                  <a:schemeClr val="tx1"/>
                </a:solidFill>
                <a:latin typeface="+mn-lt"/>
                <a:ea typeface="+mn-ea"/>
                <a:cs typeface="+mn-cs"/>
              </a:rPr>
              <a:t> Supporting/ancillary action – development of new/revised menus and SOPs; advertising; staff training</a:t>
            </a:r>
          </a:p>
          <a:p>
            <a:pPr lvl="1">
              <a:buFont typeface="Arial" pitchFamily="34" charset="0"/>
              <a:buChar char="•"/>
            </a:pPr>
            <a:r>
              <a:rPr lang="en-AU" sz="1200" kern="1200" dirty="0" smtClean="0">
                <a:solidFill>
                  <a:schemeClr val="tx1"/>
                </a:solidFill>
                <a:latin typeface="+mn-lt"/>
                <a:ea typeface="+mn-ea"/>
                <a:cs typeface="+mn-cs"/>
              </a:rPr>
              <a:t> Costs – including deposits required (and dates), progress payments, acquisition options, funding options and costs, service and maintenance</a:t>
            </a:r>
          </a:p>
          <a:p>
            <a:pPr>
              <a:buFont typeface="Arial" pitchFamily="34" charset="0"/>
              <a:buChar char="•"/>
            </a:pPr>
            <a:r>
              <a:rPr lang="en-AU" sz="1200" kern="1200" dirty="0" smtClean="0">
                <a:solidFill>
                  <a:schemeClr val="tx1"/>
                </a:solidFill>
                <a:latin typeface="+mn-lt"/>
                <a:ea typeface="+mn-ea"/>
                <a:cs typeface="+mn-cs"/>
              </a:rPr>
              <a:t> Prepare a written report – and distribute to the decision makers/management in the organisation </a:t>
            </a:r>
          </a:p>
          <a:p>
            <a:pPr>
              <a:buFont typeface="Arial" pitchFamily="34" charset="0"/>
              <a:buChar char="•"/>
            </a:pPr>
            <a:r>
              <a:rPr lang="en-AU" sz="1200" kern="1200" dirty="0" smtClean="0">
                <a:solidFill>
                  <a:schemeClr val="tx1"/>
                </a:solidFill>
                <a:latin typeface="+mn-lt"/>
                <a:ea typeface="+mn-ea"/>
                <a:cs typeface="+mn-cs"/>
              </a:rPr>
              <a:t> Organise a meeting where you present your recommendations – and: </a:t>
            </a:r>
          </a:p>
          <a:p>
            <a:pPr lvl="1">
              <a:buFont typeface="Arial" pitchFamily="34" charset="0"/>
              <a:buChar char="•"/>
            </a:pPr>
            <a:r>
              <a:rPr lang="en-AU" sz="1200" kern="1200" dirty="0" smtClean="0">
                <a:solidFill>
                  <a:schemeClr val="tx1"/>
                </a:solidFill>
                <a:latin typeface="+mn-lt"/>
                <a:ea typeface="+mn-ea"/>
                <a:cs typeface="+mn-cs"/>
              </a:rPr>
              <a:t> Speak to/explain your recommendations</a:t>
            </a:r>
          </a:p>
          <a:p>
            <a:pPr lvl="1">
              <a:buFont typeface="Arial" pitchFamily="34" charset="0"/>
              <a:buChar char="•"/>
            </a:pPr>
            <a:r>
              <a:rPr lang="en-AU" sz="1200" kern="1200" dirty="0" smtClean="0">
                <a:solidFill>
                  <a:schemeClr val="tx1"/>
                </a:solidFill>
                <a:latin typeface="+mn-lt"/>
                <a:ea typeface="+mn-ea"/>
                <a:cs typeface="+mn-cs"/>
              </a:rPr>
              <a:t> Justify/defend your conclusions</a:t>
            </a:r>
          </a:p>
          <a:p>
            <a:pPr lvl="1">
              <a:buFont typeface="Arial" pitchFamily="34" charset="0"/>
              <a:buChar char="•"/>
            </a:pPr>
            <a:r>
              <a:rPr lang="en-AU" sz="1200" kern="1200" dirty="0" smtClean="0">
                <a:solidFill>
                  <a:schemeClr val="tx1"/>
                </a:solidFill>
                <a:latin typeface="+mn-lt"/>
                <a:ea typeface="+mn-ea"/>
                <a:cs typeface="+mn-cs"/>
              </a:rPr>
              <a:t> Include a Question and Answer session.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advantages of the Conventional system which may be referred</a:t>
            </a:r>
            <a:r>
              <a:rPr lang="en-US" baseline="0" dirty="0" smtClean="0"/>
              <a:t> to when making a recommendation:</a:t>
            </a:r>
          </a:p>
          <a:p>
            <a:pPr>
              <a:buFont typeface="Arial" pitchFamily="34" charset="0"/>
              <a:buChar char="•"/>
            </a:pPr>
            <a:r>
              <a:rPr lang="en-AU" sz="1200" kern="1200" dirty="0" smtClean="0">
                <a:solidFill>
                  <a:schemeClr val="tx1"/>
                </a:solidFill>
                <a:latin typeface="+mn-lt"/>
                <a:ea typeface="+mn-ea"/>
                <a:cs typeface="+mn-cs"/>
              </a:rPr>
              <a:t> It produces food of a high quality – but this, of course, is always tied to many other factors too such as quality of initial ingredients, staff skills and expertise, recipes, and available time.</a:t>
            </a:r>
          </a:p>
          <a:p>
            <a:pPr lvl="1">
              <a:buFont typeface="Arial" pitchFamily="34" charset="0"/>
              <a:buChar char="•"/>
            </a:pPr>
            <a:r>
              <a:rPr lang="en-AU" sz="1200" kern="1200" dirty="0" smtClean="0">
                <a:solidFill>
                  <a:schemeClr val="tx1"/>
                </a:solidFill>
                <a:latin typeface="+mn-lt"/>
                <a:ea typeface="+mn-ea"/>
                <a:cs typeface="+mn-cs"/>
              </a:rPr>
              <a:t> The point being using the conventional system is not a guarantee of high quality food but, generally speaking/all other things being equal it is regarded as producing better quality food than other options – ‘fresh is best’.</a:t>
            </a:r>
          </a:p>
          <a:p>
            <a:pPr>
              <a:buFont typeface="Arial" pitchFamily="34" charset="0"/>
              <a:buChar char="•"/>
            </a:pPr>
            <a:r>
              <a:rPr lang="en-AU" sz="1200" kern="1200" dirty="0" smtClean="0">
                <a:solidFill>
                  <a:schemeClr val="tx1"/>
                </a:solidFill>
                <a:latin typeface="+mn-lt"/>
                <a:ea typeface="+mn-ea"/>
                <a:cs typeface="+mn-cs"/>
              </a:rPr>
              <a:t> The public/customers are well-disposed towards traditional kitchens which cook and serve food in this way – they:</a:t>
            </a:r>
          </a:p>
          <a:p>
            <a:pPr lvl="1">
              <a:buFont typeface="Arial" pitchFamily="34" charset="0"/>
              <a:buChar char="•"/>
            </a:pPr>
            <a:r>
              <a:rPr lang="en-AU" sz="1200" kern="1200" dirty="0" smtClean="0">
                <a:solidFill>
                  <a:schemeClr val="tx1"/>
                </a:solidFill>
                <a:latin typeface="+mn-lt"/>
                <a:ea typeface="+mn-ea"/>
                <a:cs typeface="+mn-cs"/>
              </a:rPr>
              <a:t> Have confidence in the quality and safety of the food</a:t>
            </a:r>
          </a:p>
          <a:p>
            <a:pPr lvl="1">
              <a:buFont typeface="Arial" pitchFamily="34" charset="0"/>
              <a:buChar char="•"/>
            </a:pPr>
            <a:r>
              <a:rPr lang="en-AU" sz="1200" kern="1200" dirty="0" smtClean="0">
                <a:solidFill>
                  <a:schemeClr val="tx1"/>
                </a:solidFill>
                <a:latin typeface="+mn-lt"/>
                <a:ea typeface="+mn-ea"/>
                <a:cs typeface="+mn-cs"/>
              </a:rPr>
              <a:t> Prefer fresh-cooked to other forms of food production/service</a:t>
            </a:r>
          </a:p>
          <a:p>
            <a:pPr lvl="1">
              <a:buFont typeface="Arial" pitchFamily="34" charset="0"/>
              <a:buChar char="•"/>
            </a:pPr>
            <a:r>
              <a:rPr lang="en-AU" sz="1200" kern="1200" dirty="0" smtClean="0">
                <a:solidFill>
                  <a:schemeClr val="tx1"/>
                </a:solidFill>
                <a:latin typeface="+mn-lt"/>
                <a:ea typeface="+mn-ea"/>
                <a:cs typeface="+mn-cs"/>
              </a:rPr>
              <a:t> Appreciate venues where the operations of the kitchen are visible from the dining area</a:t>
            </a:r>
          </a:p>
          <a:p>
            <a:pPr>
              <a:buFont typeface="Arial" pitchFamily="34" charset="0"/>
              <a:buChar char="•"/>
            </a:pPr>
            <a:r>
              <a:rPr lang="en-AU" sz="1200" kern="1200" dirty="0" smtClean="0">
                <a:solidFill>
                  <a:schemeClr val="tx1"/>
                </a:solidFill>
                <a:latin typeface="+mn-lt"/>
                <a:ea typeface="+mn-ea"/>
                <a:cs typeface="+mn-cs"/>
              </a:rPr>
              <a:t> Most cooks, chefs and kitchen staff are familiar with the operations of a conventional kitchen – so this means:</a:t>
            </a:r>
          </a:p>
          <a:p>
            <a:pPr lvl="1">
              <a:buFont typeface="Arial" pitchFamily="34" charset="0"/>
              <a:buChar char="•"/>
            </a:pPr>
            <a:r>
              <a:rPr lang="en-AU" sz="1200" kern="1200" dirty="0" smtClean="0">
                <a:solidFill>
                  <a:schemeClr val="tx1"/>
                </a:solidFill>
                <a:latin typeface="+mn-lt"/>
                <a:ea typeface="+mn-ea"/>
                <a:cs typeface="+mn-cs"/>
              </a:rPr>
              <a:t> A wider pool of trained and experienced staff to choose from when recruiting/selecting staff</a:t>
            </a:r>
          </a:p>
          <a:p>
            <a:pPr lvl="1">
              <a:buFont typeface="Arial" pitchFamily="34" charset="0"/>
              <a:buChar char="•"/>
            </a:pPr>
            <a:r>
              <a:rPr lang="en-AU" sz="1200" kern="1200" dirty="0" smtClean="0">
                <a:solidFill>
                  <a:schemeClr val="tx1"/>
                </a:solidFill>
                <a:latin typeface="+mn-lt"/>
                <a:ea typeface="+mn-ea"/>
                <a:cs typeface="+mn-cs"/>
              </a:rPr>
              <a:t> Less need to train staff – because they are more likely to be familiar with and competent in what is required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advantages of the Conventional system which may be referred</a:t>
            </a:r>
            <a:r>
              <a:rPr lang="en-US" baseline="0" dirty="0" smtClean="0"/>
              <a:t> to when making a recommendation:</a:t>
            </a:r>
          </a:p>
          <a:p>
            <a:pPr>
              <a:buFont typeface="Arial" pitchFamily="34" charset="0"/>
              <a:buChar char="•"/>
            </a:pPr>
            <a:r>
              <a:rPr lang="en-AU" sz="1200" kern="1200" dirty="0" smtClean="0">
                <a:solidFill>
                  <a:schemeClr val="tx1"/>
                </a:solidFill>
                <a:latin typeface="+mn-lt"/>
                <a:ea typeface="+mn-ea"/>
                <a:cs typeface="+mn-cs"/>
              </a:rPr>
              <a:t> The system provides opportunity to be more flexible and responsive to immediate need – for example:</a:t>
            </a:r>
          </a:p>
          <a:p>
            <a:pPr lvl="1">
              <a:buFont typeface="Arial" pitchFamily="34" charset="0"/>
              <a:buChar char="•"/>
            </a:pPr>
            <a:r>
              <a:rPr lang="en-AU" sz="1200" kern="1200" dirty="0" smtClean="0">
                <a:solidFill>
                  <a:schemeClr val="tx1"/>
                </a:solidFill>
                <a:latin typeface="+mn-lt"/>
                <a:ea typeface="+mn-ea"/>
                <a:cs typeface="+mn-cs"/>
              </a:rPr>
              <a:t> The kitchen can quickly respond to a new (or cut-price) food which becomes available – and have a new dish on the menu and available for service literally within hours</a:t>
            </a:r>
          </a:p>
          <a:p>
            <a:pPr lvl="1">
              <a:buFont typeface="Arial" pitchFamily="34" charset="0"/>
              <a:buChar char="•"/>
            </a:pPr>
            <a:r>
              <a:rPr lang="en-AU" sz="1200" kern="1200" dirty="0" smtClean="0">
                <a:solidFill>
                  <a:schemeClr val="tx1"/>
                </a:solidFill>
                <a:latin typeface="+mn-lt"/>
                <a:ea typeface="+mn-ea"/>
                <a:cs typeface="+mn-cs"/>
              </a:rPr>
              <a:t> Cooks can cater for special requests from customers on-the-spot, or with very short lead times</a:t>
            </a:r>
          </a:p>
          <a:p>
            <a:pPr>
              <a:buFont typeface="Arial" pitchFamily="34" charset="0"/>
              <a:buChar char="•"/>
            </a:pPr>
            <a:r>
              <a:rPr lang="en-AU" sz="1200" kern="1200" dirty="0" smtClean="0">
                <a:solidFill>
                  <a:schemeClr val="tx1"/>
                </a:solidFill>
                <a:latin typeface="+mn-lt"/>
                <a:ea typeface="+mn-ea"/>
                <a:cs typeface="+mn-cs"/>
              </a:rPr>
              <a:t> Holding/refrigeration and/or freezer space for food is minimised – there is primarily a need to only store food prior to preparation/production and not after it has been produced</a:t>
            </a:r>
          </a:p>
          <a:p>
            <a:pPr>
              <a:buFont typeface="Arial" pitchFamily="34" charset="0"/>
              <a:buChar char="•"/>
            </a:pPr>
            <a:r>
              <a:rPr lang="en-AU" sz="1200" kern="1200" dirty="0" smtClean="0">
                <a:solidFill>
                  <a:schemeClr val="tx1"/>
                </a:solidFill>
                <a:latin typeface="+mn-lt"/>
                <a:ea typeface="+mn-ea"/>
                <a:cs typeface="+mn-cs"/>
              </a:rPr>
              <a:t> The equipment available in an existing conventional kitchen can often be used to prepare/produce a large variety of different menu items – even when the menu changes there may not be a need to purchase new equipment</a:t>
            </a:r>
          </a:p>
          <a:p>
            <a:pPr>
              <a:buFont typeface="Arial" pitchFamily="34" charset="0"/>
              <a:buNone/>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disadvantages of the Conventional system which may be referred</a:t>
            </a:r>
            <a:r>
              <a:rPr lang="en-US" baseline="0" dirty="0" smtClean="0"/>
              <a:t> to when making a recommendation:</a:t>
            </a:r>
          </a:p>
          <a:p>
            <a:pPr>
              <a:buFont typeface="Arial" pitchFamily="34" charset="0"/>
              <a:buChar char="•"/>
            </a:pPr>
            <a:r>
              <a:rPr lang="en-AU" sz="1200" kern="1200" dirty="0" smtClean="0">
                <a:solidFill>
                  <a:schemeClr val="tx1"/>
                </a:solidFill>
                <a:latin typeface="+mn-lt"/>
                <a:ea typeface="+mn-ea"/>
                <a:cs typeface="+mn-cs"/>
              </a:rPr>
              <a:t> Higher foods costs per unit produced – the cooked-to-order approach cannot achieve the (often substantial) economies of scale available through other bulk-food approaches to catering</a:t>
            </a:r>
          </a:p>
          <a:p>
            <a:pPr>
              <a:buFont typeface="Arial" pitchFamily="34" charset="0"/>
              <a:buChar char="•"/>
            </a:pPr>
            <a:r>
              <a:rPr lang="en-AU" sz="1200" kern="1200" dirty="0" smtClean="0">
                <a:solidFill>
                  <a:schemeClr val="tx1"/>
                </a:solidFill>
                <a:latin typeface="+mn-lt"/>
                <a:ea typeface="+mn-ea"/>
                <a:cs typeface="+mn-cs"/>
              </a:rPr>
              <a:t> Consistency of quality is sometimes an issue – as individual dishes can (despite use of standardised recipes for some dishes) result in an unacceptable level of quality in terms of taste, aroma, and appearance</a:t>
            </a:r>
          </a:p>
          <a:p>
            <a:pPr>
              <a:buFont typeface="Arial" pitchFamily="34" charset="0"/>
              <a:buChar char="•"/>
            </a:pPr>
            <a:r>
              <a:rPr lang="en-AU" sz="1200" kern="1200" dirty="0" smtClean="0">
                <a:solidFill>
                  <a:schemeClr val="tx1"/>
                </a:solidFill>
                <a:latin typeface="+mn-lt"/>
                <a:ea typeface="+mn-ea"/>
                <a:cs typeface="+mn-cs"/>
              </a:rPr>
              <a:t> Higher labour costs – the cooked-to-order nature of many foods produced under the conventional system (as well as the traditionally higher costs associated with food preparation prior to cooking – trimming, peeling, cutting, portioning) requires more staff time which translates into more wages needing to be paid</a:t>
            </a:r>
          </a:p>
          <a:p>
            <a:pPr>
              <a:buFont typeface="Arial" pitchFamily="34" charset="0"/>
              <a:buChar char="•"/>
            </a:pPr>
            <a:r>
              <a:rPr lang="en-AU" sz="1200" kern="1200" dirty="0" smtClean="0">
                <a:solidFill>
                  <a:schemeClr val="tx1"/>
                </a:solidFill>
                <a:latin typeface="+mn-lt"/>
                <a:ea typeface="+mn-ea"/>
                <a:cs typeface="+mn-cs"/>
              </a:rPr>
              <a:t> Potential need for extra equipment – while the menu should always dictate the equipment needed in a kitchen the conventional kitchen commonly requires a greater variety of items of equipment, meaning:</a:t>
            </a:r>
          </a:p>
          <a:p>
            <a:pPr lvl="1">
              <a:buFont typeface="Arial" pitchFamily="34" charset="0"/>
              <a:buChar char="•"/>
            </a:pPr>
            <a:r>
              <a:rPr lang="en-AU" sz="1200" kern="1200" dirty="0" smtClean="0">
                <a:solidFill>
                  <a:schemeClr val="tx1"/>
                </a:solidFill>
                <a:latin typeface="+mn-lt"/>
                <a:ea typeface="+mn-ea"/>
                <a:cs typeface="+mn-cs"/>
              </a:rPr>
              <a:t> Potentially higher initial equipment and on-going running costs</a:t>
            </a:r>
          </a:p>
          <a:p>
            <a:pPr lvl="1">
              <a:buFont typeface="Arial" pitchFamily="34" charset="0"/>
              <a:buChar char="•"/>
            </a:pPr>
            <a:r>
              <a:rPr lang="en-AU" sz="1200" kern="1200" dirty="0" smtClean="0">
                <a:solidFill>
                  <a:schemeClr val="tx1"/>
                </a:solidFill>
                <a:latin typeface="+mn-lt"/>
                <a:ea typeface="+mn-ea"/>
                <a:cs typeface="+mn-cs"/>
              </a:rPr>
              <a:t> Possible need for a greater kitchen space/area to accommodate all of the required equipment</a:t>
            </a:r>
          </a:p>
          <a:p>
            <a:pPr>
              <a:buFont typeface="Arial" pitchFamily="34" charset="0"/>
              <a:buChar char="•"/>
            </a:pPr>
            <a:r>
              <a:rPr lang="en-AU" sz="1200" kern="1200" dirty="0" smtClean="0">
                <a:solidFill>
                  <a:schemeClr val="tx1"/>
                </a:solidFill>
                <a:latin typeface="+mn-lt"/>
                <a:ea typeface="+mn-ea"/>
                <a:cs typeface="+mn-cs"/>
              </a:rPr>
              <a:t> Potential for reduced food safety – while this is not necessarily a significant concern in all conventional systems it can occur where:</a:t>
            </a:r>
          </a:p>
          <a:p>
            <a:pPr lvl="1">
              <a:buFont typeface="Arial" pitchFamily="34" charset="0"/>
              <a:buChar char="•"/>
            </a:pPr>
            <a:r>
              <a:rPr lang="en-AU" sz="1200" kern="1200" dirty="0" smtClean="0">
                <a:solidFill>
                  <a:schemeClr val="tx1"/>
                </a:solidFill>
                <a:latin typeface="+mn-lt"/>
                <a:ea typeface="+mn-ea"/>
                <a:cs typeface="+mn-cs"/>
              </a:rPr>
              <a:t> Left-overs occur at the end of food service and they are not stored properly and/or and re-heated</a:t>
            </a:r>
          </a:p>
          <a:p>
            <a:pPr lvl="1">
              <a:buFont typeface="Arial" pitchFamily="34" charset="0"/>
              <a:buChar char="•"/>
            </a:pPr>
            <a:r>
              <a:rPr lang="en-AU" sz="1200" kern="1200" dirty="0" smtClean="0">
                <a:solidFill>
                  <a:schemeClr val="tx1"/>
                </a:solidFill>
                <a:latin typeface="+mn-lt"/>
                <a:ea typeface="+mn-ea"/>
                <a:cs typeface="+mn-cs"/>
              </a:rPr>
              <a:t> There are inadequate controls over the wide variety of food activities which take place in traditional conventional kitchens and food service areas.</a:t>
            </a: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advantages of the Ready prepared systems which may be referred</a:t>
            </a:r>
            <a:r>
              <a:rPr lang="en-US" baseline="0" dirty="0" smtClean="0"/>
              <a:t> to when making a recommendation:</a:t>
            </a:r>
          </a:p>
          <a:p>
            <a:pPr>
              <a:buFont typeface="Arial" pitchFamily="34" charset="0"/>
              <a:buChar char="•"/>
            </a:pPr>
            <a:r>
              <a:rPr lang="en-AU" sz="1200" kern="1200" dirty="0" smtClean="0">
                <a:solidFill>
                  <a:schemeClr val="tx1"/>
                </a:solidFill>
                <a:latin typeface="+mn-lt"/>
                <a:ea typeface="+mn-ea"/>
                <a:cs typeface="+mn-cs"/>
              </a:rPr>
              <a:t> Reduced costs – in terms of:</a:t>
            </a:r>
          </a:p>
          <a:p>
            <a:pPr lvl="1">
              <a:buFont typeface="Arial" pitchFamily="34" charset="0"/>
              <a:buChar char="•"/>
            </a:pPr>
            <a:r>
              <a:rPr lang="en-AU" sz="1200" kern="1200" dirty="0" smtClean="0">
                <a:solidFill>
                  <a:schemeClr val="tx1"/>
                </a:solidFill>
                <a:latin typeface="+mn-lt"/>
                <a:ea typeface="+mn-ea"/>
                <a:cs typeface="+mn-cs"/>
              </a:rPr>
              <a:t> Lower labour cost per unit produced due to economies of scale – meaning a menu item for multiple days of service can be prepared and produced at the one time and then held for (re-heating and) service, as required</a:t>
            </a:r>
          </a:p>
          <a:p>
            <a:pPr lvl="1">
              <a:buFont typeface="Arial" pitchFamily="34" charset="0"/>
              <a:buChar char="•"/>
            </a:pPr>
            <a:r>
              <a:rPr lang="en-AU" sz="1200" kern="1200" dirty="0" smtClean="0">
                <a:solidFill>
                  <a:schemeClr val="tx1"/>
                </a:solidFill>
                <a:latin typeface="+mn-lt"/>
                <a:ea typeface="+mn-ea"/>
                <a:cs typeface="+mn-cs"/>
              </a:rPr>
              <a:t> Economies of scale related to:</a:t>
            </a:r>
          </a:p>
          <a:p>
            <a:pPr lvl="2">
              <a:buFont typeface="Arial" pitchFamily="34" charset="0"/>
              <a:buChar char="•"/>
            </a:pPr>
            <a:r>
              <a:rPr lang="en-AU" sz="1200" kern="1200" dirty="0" smtClean="0">
                <a:solidFill>
                  <a:schemeClr val="tx1"/>
                </a:solidFill>
                <a:latin typeface="+mn-lt"/>
                <a:ea typeface="+mn-ea"/>
                <a:cs typeface="+mn-cs"/>
              </a:rPr>
              <a:t> Bulk buying of ingredients</a:t>
            </a:r>
          </a:p>
          <a:p>
            <a:pPr lvl="2">
              <a:buFont typeface="Arial" pitchFamily="34" charset="0"/>
              <a:buChar char="•"/>
            </a:pPr>
            <a:r>
              <a:rPr lang="en-AU" sz="1200" kern="1200" dirty="0" smtClean="0">
                <a:solidFill>
                  <a:schemeClr val="tx1"/>
                </a:solidFill>
                <a:latin typeface="+mn-lt"/>
                <a:ea typeface="+mn-ea"/>
                <a:cs typeface="+mn-cs"/>
              </a:rPr>
              <a:t> Energy usage</a:t>
            </a:r>
          </a:p>
          <a:p>
            <a:pPr lvl="1">
              <a:buFont typeface="Arial" pitchFamily="34" charset="0"/>
              <a:buChar char="•"/>
            </a:pPr>
            <a:r>
              <a:rPr lang="en-AU" sz="1200" kern="1200" dirty="0" smtClean="0">
                <a:solidFill>
                  <a:schemeClr val="tx1"/>
                </a:solidFill>
                <a:latin typeface="+mn-lt"/>
                <a:ea typeface="+mn-ea"/>
                <a:cs typeface="+mn-cs"/>
              </a:rPr>
              <a:t> Lower levels of wastage – as:</a:t>
            </a:r>
          </a:p>
          <a:p>
            <a:pPr lvl="2">
              <a:buFont typeface="Arial" pitchFamily="34" charset="0"/>
              <a:buChar char="•"/>
            </a:pPr>
            <a:r>
              <a:rPr lang="en-AU" sz="1200" kern="1200" dirty="0" smtClean="0">
                <a:solidFill>
                  <a:schemeClr val="tx1"/>
                </a:solidFill>
                <a:latin typeface="+mn-lt"/>
                <a:ea typeface="+mn-ea"/>
                <a:cs typeface="+mn-cs"/>
              </a:rPr>
              <a:t> Left-overs are virtually eliminated</a:t>
            </a:r>
          </a:p>
          <a:p>
            <a:pPr lvl="2">
              <a:buFont typeface="Arial" pitchFamily="34" charset="0"/>
              <a:buChar char="•"/>
            </a:pPr>
            <a:r>
              <a:rPr lang="en-AU" sz="1200" kern="1200" dirty="0" smtClean="0">
                <a:solidFill>
                  <a:schemeClr val="tx1"/>
                </a:solidFill>
                <a:latin typeface="+mn-lt"/>
                <a:ea typeface="+mn-ea"/>
                <a:cs typeface="+mn-cs"/>
              </a:rPr>
              <a:t> Only required food is removed from refrigerated/frozen inventory thus eliminating over-production by directly matching the type and quantity of food which is re-heated to orders</a:t>
            </a:r>
          </a:p>
          <a:p>
            <a:pPr>
              <a:buFont typeface="Arial" pitchFamily="34" charset="0"/>
              <a:buChar char="•"/>
            </a:pPr>
            <a:r>
              <a:rPr lang="en-AU" sz="1200" kern="1200" dirty="0" smtClean="0">
                <a:solidFill>
                  <a:schemeClr val="tx1"/>
                </a:solidFill>
                <a:latin typeface="+mn-lt"/>
                <a:ea typeface="+mn-ea"/>
                <a:cs typeface="+mn-cs"/>
              </a:rPr>
              <a:t> Better yield from food items – as a result of the cooking processes used which can significantly decrease shrinkage and loss usually attached to other conventional cooking methods </a:t>
            </a:r>
          </a:p>
          <a:p>
            <a:pPr>
              <a:buFont typeface="Arial" pitchFamily="34" charset="0"/>
              <a:buChar char="•"/>
            </a:pPr>
            <a:r>
              <a:rPr lang="en-AU" sz="1200" kern="1200" dirty="0" smtClean="0">
                <a:solidFill>
                  <a:schemeClr val="tx1"/>
                </a:solidFill>
                <a:latin typeface="+mn-lt"/>
                <a:ea typeface="+mn-ea"/>
                <a:cs typeface="+mn-cs"/>
              </a:rPr>
              <a:t> Addresses shortages of skilled labour – through using a system consistent with employing a lower-skilled labour force (compared to hiring highly trained and experienced Chefs)</a:t>
            </a:r>
          </a:p>
          <a:p>
            <a:pPr>
              <a:buFont typeface="Arial" pitchFamily="34" charset="0"/>
              <a:buChar char="•"/>
            </a:pPr>
            <a:r>
              <a:rPr lang="en-AU" sz="1200" kern="1200" dirty="0" smtClean="0">
                <a:solidFill>
                  <a:schemeClr val="tx1"/>
                </a:solidFill>
                <a:latin typeface="+mn-lt"/>
                <a:ea typeface="+mn-ea"/>
                <a:cs typeface="+mn-cs"/>
              </a:rPr>
              <a:t> Produces food of a consistent quality/standard – the techniques, technology and controls (over quantities, times and temperatures in food processing) make for extremely high levels of consistent quality end product</a:t>
            </a:r>
          </a:p>
          <a:p>
            <a:pPr>
              <a:buFont typeface="Arial" pitchFamily="34" charset="0"/>
              <a:buChar char="•"/>
            </a:pPr>
            <a:r>
              <a:rPr lang="en-AU" sz="1200" kern="1200" dirty="0" smtClean="0">
                <a:solidFill>
                  <a:schemeClr val="tx1"/>
                </a:solidFill>
                <a:latin typeface="+mn-lt"/>
                <a:ea typeface="+mn-ea"/>
                <a:cs typeface="+mn-cs"/>
              </a:rPr>
              <a:t> Food service can occur/be available at any time – because the food is already available. It just needs to be re-heated and served.</a:t>
            </a:r>
          </a:p>
          <a:p>
            <a:pPr lvl="1">
              <a:buFont typeface="Arial" pitchFamily="34" charset="0"/>
              <a:buChar char="•"/>
            </a:pPr>
            <a:r>
              <a:rPr lang="en-AU" sz="1200" kern="1200" dirty="0" smtClean="0">
                <a:solidFill>
                  <a:schemeClr val="tx1"/>
                </a:solidFill>
                <a:latin typeface="+mn-lt"/>
                <a:ea typeface="+mn-ea"/>
                <a:cs typeface="+mn-cs"/>
              </a:rPr>
              <a:t> This provides enormous flexibility in service times and enhances the ability to serve food ‘on demand’.</a:t>
            </a:r>
          </a:p>
          <a:p>
            <a:pPr>
              <a:buFont typeface="Arial" pitchFamily="34" charset="0"/>
              <a:buNone/>
            </a:pPr>
            <a:endParaRPr lang="en-US" baseline="0" dirty="0" smtClean="0"/>
          </a:p>
          <a:p>
            <a:pPr>
              <a:buFont typeface="Arial" pitchFamily="34" charset="0"/>
              <a:buNone/>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disadvantages of Ready prepared systems which may be referred</a:t>
            </a:r>
            <a:r>
              <a:rPr lang="en-US" baseline="0" dirty="0" smtClean="0"/>
              <a:t> to when making a recommendation:</a:t>
            </a:r>
          </a:p>
          <a:p>
            <a:pPr>
              <a:buFont typeface="Arial" pitchFamily="34" charset="0"/>
              <a:buChar char="•"/>
            </a:pPr>
            <a:r>
              <a:rPr lang="en-AU" sz="1200" kern="1200" dirty="0" smtClean="0">
                <a:solidFill>
                  <a:schemeClr val="tx1"/>
                </a:solidFill>
                <a:latin typeface="+mn-lt"/>
                <a:ea typeface="+mn-ea"/>
                <a:cs typeface="+mn-cs"/>
              </a:rPr>
              <a:t> Adverse customer reaction/response – where it is known a business operates this style of service there is frequently a negative backlash from patrons (who prefer ‘fresh cooked’).</a:t>
            </a:r>
          </a:p>
          <a:p>
            <a:pPr>
              <a:buFont typeface="Arial" pitchFamily="34" charset="0"/>
              <a:buChar char="•"/>
            </a:pPr>
            <a:r>
              <a:rPr lang="en-AU" sz="1200" kern="1200" dirty="0" smtClean="0">
                <a:solidFill>
                  <a:schemeClr val="tx1"/>
                </a:solidFill>
                <a:latin typeface="+mn-lt"/>
                <a:ea typeface="+mn-ea"/>
                <a:cs typeface="+mn-cs"/>
              </a:rPr>
              <a:t> If you are operating in an environment where the consumers have no real choice/option (such as a gaol or hospital), this may not be a concern but where you operate in an environment rich with more-preferred catering options it will be a major consideration in your decision-making.</a:t>
            </a:r>
          </a:p>
          <a:p>
            <a:pPr>
              <a:buFont typeface="Arial" pitchFamily="34" charset="0"/>
              <a:buChar char="•"/>
            </a:pPr>
            <a:r>
              <a:rPr lang="en-AU" sz="1200" kern="1200" dirty="0" smtClean="0">
                <a:solidFill>
                  <a:schemeClr val="tx1"/>
                </a:solidFill>
                <a:latin typeface="+mn-lt"/>
                <a:ea typeface="+mn-ea"/>
                <a:cs typeface="+mn-cs"/>
              </a:rPr>
              <a:t> Decreased levels of food quality – this is regarded by some as a ‘fact’ in relation to food produced and served under this system, and regarded by others simply as a customer ‘perception’.</a:t>
            </a:r>
          </a:p>
          <a:p>
            <a:pPr lvl="1">
              <a:buFont typeface="Arial" pitchFamily="34" charset="0"/>
              <a:buChar char="•"/>
            </a:pPr>
            <a:r>
              <a:rPr lang="en-AU" sz="1200" kern="1200" dirty="0" smtClean="0">
                <a:solidFill>
                  <a:schemeClr val="tx1"/>
                </a:solidFill>
                <a:latin typeface="+mn-lt"/>
                <a:ea typeface="+mn-ea"/>
                <a:cs typeface="+mn-cs"/>
              </a:rPr>
              <a:t> Debate continues regarding the actual levels/standards of food quality in relation to Ready prepared food but the following points appear constant:</a:t>
            </a:r>
          </a:p>
          <a:p>
            <a:pPr lvl="2">
              <a:buFont typeface="Arial" pitchFamily="34" charset="0"/>
              <a:buChar char="•"/>
            </a:pPr>
            <a:r>
              <a:rPr lang="en-AU" sz="1200" kern="1200" dirty="0" smtClean="0">
                <a:solidFill>
                  <a:schemeClr val="tx1"/>
                </a:solidFill>
                <a:latin typeface="+mn-lt"/>
                <a:ea typeface="+mn-ea"/>
                <a:cs typeface="+mn-cs"/>
              </a:rPr>
              <a:t> The quality of dishes served under this system is improving over time</a:t>
            </a:r>
          </a:p>
          <a:p>
            <a:pPr lvl="2">
              <a:buFont typeface="Arial" pitchFamily="34" charset="0"/>
              <a:buChar char="•"/>
            </a:pPr>
            <a:r>
              <a:rPr lang="en-AU" sz="1200" kern="1200" dirty="0" smtClean="0">
                <a:solidFill>
                  <a:schemeClr val="tx1"/>
                </a:solidFill>
                <a:latin typeface="+mn-lt"/>
                <a:ea typeface="+mn-ea"/>
                <a:cs typeface="+mn-cs"/>
              </a:rPr>
              <a:t> When questioned customers consistently say they prefer food produced via the Conventional system</a:t>
            </a:r>
          </a:p>
          <a:p>
            <a:pPr>
              <a:buFont typeface="Arial" pitchFamily="34" charset="0"/>
              <a:buChar char="•"/>
            </a:pPr>
            <a:r>
              <a:rPr lang="en-AU" sz="1200" kern="1200" dirty="0" smtClean="0">
                <a:solidFill>
                  <a:schemeClr val="tx1"/>
                </a:solidFill>
                <a:latin typeface="+mn-lt"/>
                <a:ea typeface="+mn-ea"/>
                <a:cs typeface="+mn-cs"/>
              </a:rPr>
              <a:t> Increased establishment costs – there will be a need for higher levels of expenditure when setting up this system to cover:</a:t>
            </a:r>
          </a:p>
          <a:p>
            <a:pPr lvl="1">
              <a:buFont typeface="Arial" pitchFamily="34" charset="0"/>
              <a:buChar char="•"/>
            </a:pPr>
            <a:r>
              <a:rPr lang="en-AU" sz="1200" kern="1200" dirty="0" smtClean="0">
                <a:solidFill>
                  <a:schemeClr val="tx1"/>
                </a:solidFill>
                <a:latin typeface="+mn-lt"/>
                <a:ea typeface="+mn-ea"/>
                <a:cs typeface="+mn-cs"/>
              </a:rPr>
              <a:t> Larger requirements for storage (refrigerated and frozen) of prepared food</a:t>
            </a:r>
          </a:p>
          <a:p>
            <a:pPr lvl="1">
              <a:buFont typeface="Arial" pitchFamily="34" charset="0"/>
              <a:buChar char="•"/>
            </a:pPr>
            <a:r>
              <a:rPr lang="en-AU" sz="1200" kern="1200" dirty="0" smtClean="0">
                <a:solidFill>
                  <a:schemeClr val="tx1"/>
                </a:solidFill>
                <a:latin typeface="+mn-lt"/>
                <a:ea typeface="+mn-ea"/>
                <a:cs typeface="+mn-cs"/>
              </a:rPr>
              <a:t> Specialist equipment/utensils and food area for the packaging of food ready for storage following production</a:t>
            </a:r>
          </a:p>
          <a:p>
            <a:pPr lvl="1">
              <a:buFont typeface="Arial" pitchFamily="34" charset="0"/>
              <a:buChar char="•"/>
            </a:pPr>
            <a:r>
              <a:rPr lang="en-AU" sz="1200" kern="1200" dirty="0" smtClean="0">
                <a:solidFill>
                  <a:schemeClr val="tx1"/>
                </a:solidFill>
                <a:latin typeface="+mn-lt"/>
                <a:ea typeface="+mn-ea"/>
                <a:cs typeface="+mn-cs"/>
              </a:rPr>
              <a:t> Equipment required for re-thermalisation of refrigerated and frozen menu items </a:t>
            </a:r>
          </a:p>
          <a:p>
            <a:pPr>
              <a:buFont typeface="Arial" pitchFamily="34" charset="0"/>
              <a:buNone/>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disadvantages of Ready prepared systems which may be referred</a:t>
            </a:r>
            <a:r>
              <a:rPr lang="en-US" baseline="0" dirty="0" smtClean="0"/>
              <a:t> to when making a recommendation:</a:t>
            </a:r>
          </a:p>
          <a:p>
            <a:pPr>
              <a:buFont typeface="Arial" pitchFamily="34" charset="0"/>
              <a:buChar char="•"/>
            </a:pPr>
            <a:r>
              <a:rPr lang="en-AU" sz="1200" kern="1200" dirty="0" smtClean="0">
                <a:solidFill>
                  <a:schemeClr val="tx1"/>
                </a:solidFill>
                <a:latin typeface="+mn-lt"/>
                <a:ea typeface="+mn-ea"/>
                <a:cs typeface="+mn-cs"/>
              </a:rPr>
              <a:t> Potential for limited/restricted menu choices – it is a fact of cooking life that certain dishes do not ‘hold’ and/or re-heat well.</a:t>
            </a:r>
          </a:p>
          <a:p>
            <a:pPr lvl="1">
              <a:buFont typeface="Arial" pitchFamily="34" charset="0"/>
              <a:buChar char="•"/>
            </a:pPr>
            <a:r>
              <a:rPr lang="en-AU" sz="1200" kern="1200" dirty="0" smtClean="0">
                <a:solidFill>
                  <a:schemeClr val="tx1"/>
                </a:solidFill>
                <a:latin typeface="+mn-lt"/>
                <a:ea typeface="+mn-ea"/>
                <a:cs typeface="+mn-cs"/>
              </a:rPr>
              <a:t> Their appearance, texture and overall quality can be dramatically compromised by holding and re-heating meaning these menu items are unsuitable for this catering system option and can/should not be offered.</a:t>
            </a:r>
          </a:p>
          <a:p>
            <a:pPr lvl="1">
              <a:buFont typeface="Arial" pitchFamily="34" charset="0"/>
              <a:buChar char="•"/>
            </a:pPr>
            <a:r>
              <a:rPr lang="en-AU" sz="1200" kern="1200" dirty="0" smtClean="0">
                <a:solidFill>
                  <a:schemeClr val="tx1"/>
                </a:solidFill>
                <a:latin typeface="+mn-lt"/>
                <a:ea typeface="+mn-ea"/>
                <a:cs typeface="+mn-cs"/>
              </a:rPr>
              <a:t> Another limiting factor is some cook-chill systems can only process foods which can be ‘pumped’ into storage packaging, limiting their application to (for example) sauces, soups, dressings, stews and casseroles, gravy, pie fillings and mashed potatoes.</a:t>
            </a:r>
          </a:p>
          <a:p>
            <a:pPr lvl="1">
              <a:buFont typeface="Arial" pitchFamily="34" charset="0"/>
              <a:buNone/>
            </a:pPr>
            <a:r>
              <a:rPr lang="en-AU" sz="1200" b="1" kern="1200" dirty="0" smtClean="0">
                <a:solidFill>
                  <a:schemeClr val="tx1"/>
                </a:solidFill>
                <a:latin typeface="+mn-lt"/>
                <a:ea typeface="+mn-ea"/>
                <a:cs typeface="+mn-cs"/>
              </a:rPr>
              <a:t>Note:</a:t>
            </a:r>
            <a:r>
              <a:rPr lang="en-AU" sz="1200" kern="1200" dirty="0" smtClean="0">
                <a:solidFill>
                  <a:schemeClr val="tx1"/>
                </a:solidFill>
                <a:latin typeface="+mn-lt"/>
                <a:ea typeface="+mn-ea"/>
                <a:cs typeface="+mn-cs"/>
              </a:rPr>
              <a:t> some point to the fact the Ready Prepared approach can increase menu choices through holding a wide variety of dishes (under frozen storage) on a single-serve basis and re-heating single units as they are ordered.</a:t>
            </a:r>
          </a:p>
          <a:p>
            <a:pPr lvl="1">
              <a:buFont typeface="Arial" pitchFamily="34" charset="0"/>
              <a:buChar char="•"/>
            </a:pPr>
            <a:r>
              <a:rPr lang="en-AU" sz="1200" kern="1200" dirty="0" smtClean="0">
                <a:solidFill>
                  <a:schemeClr val="tx1"/>
                </a:solidFill>
                <a:latin typeface="+mn-lt"/>
                <a:ea typeface="+mn-ea"/>
                <a:cs typeface="+mn-cs"/>
              </a:rPr>
              <a:t> Proponents of this line of thought say the same variety of menu items would not be possible under a Conventional system.</a:t>
            </a:r>
          </a:p>
          <a:p>
            <a:pPr>
              <a:buFont typeface="Arial" pitchFamily="34" charset="0"/>
              <a:buChar char="•"/>
            </a:pPr>
            <a:r>
              <a:rPr lang="en-AU" sz="1200" kern="1200" dirty="0" smtClean="0">
                <a:solidFill>
                  <a:schemeClr val="tx1"/>
                </a:solidFill>
                <a:latin typeface="+mn-lt"/>
                <a:ea typeface="+mn-ea"/>
                <a:cs typeface="+mn-cs"/>
              </a:rPr>
              <a:t> Higher loss (or other ‘damage’) potential from an out-of-control food handling event – for example:</a:t>
            </a:r>
          </a:p>
          <a:p>
            <a:pPr lvl="1">
              <a:buFont typeface="Arial" pitchFamily="34" charset="0"/>
              <a:buChar char="•"/>
            </a:pPr>
            <a:r>
              <a:rPr lang="en-AU" sz="1200" kern="1200" dirty="0" smtClean="0">
                <a:solidFill>
                  <a:schemeClr val="tx1"/>
                </a:solidFill>
                <a:latin typeface="+mn-lt"/>
                <a:ea typeface="+mn-ea"/>
                <a:cs typeface="+mn-cs"/>
              </a:rPr>
              <a:t> An error or problem when producing/cooking an item will result in greater loss of product due to the higher volumes of food being handled at any one time</a:t>
            </a:r>
          </a:p>
          <a:p>
            <a:pPr lvl="1">
              <a:buFont typeface="Arial" pitchFamily="34" charset="0"/>
              <a:buChar char="•"/>
            </a:pPr>
            <a:r>
              <a:rPr lang="en-AU" sz="1200" kern="1200" dirty="0" smtClean="0">
                <a:solidFill>
                  <a:schemeClr val="tx1"/>
                </a:solidFill>
                <a:latin typeface="+mn-lt"/>
                <a:ea typeface="+mn-ea"/>
                <a:cs typeface="+mn-cs"/>
              </a:rPr>
              <a:t> If a batch of food is contaminated it will affect more people because larger quantities are being prepared at the one time </a:t>
            </a:r>
          </a:p>
          <a:p>
            <a:pPr>
              <a:buFont typeface="Arial" pitchFamily="34" charset="0"/>
              <a:buChar char="•"/>
            </a:pPr>
            <a:r>
              <a:rPr lang="en-AU" sz="1200" kern="1200" dirty="0" smtClean="0">
                <a:solidFill>
                  <a:schemeClr val="tx1"/>
                </a:solidFill>
                <a:latin typeface="+mn-lt"/>
                <a:ea typeface="+mn-ea"/>
                <a:cs typeface="+mn-cs"/>
              </a:rPr>
              <a:t> Need to hire staff with specialist skills or train staff in work roles (tasks and activities) not normally undertaken as part of standard roles and responsibilities under Conventional catering system – such as:</a:t>
            </a:r>
          </a:p>
          <a:p>
            <a:pPr lvl="1">
              <a:buFont typeface="Arial" pitchFamily="34" charset="0"/>
              <a:buChar char="•"/>
            </a:pPr>
            <a:r>
              <a:rPr lang="en-AU" sz="1200" kern="1200" dirty="0" smtClean="0">
                <a:solidFill>
                  <a:schemeClr val="tx1"/>
                </a:solidFill>
                <a:latin typeface="+mn-lt"/>
                <a:ea typeface="+mn-ea"/>
                <a:cs typeface="+mn-cs"/>
              </a:rPr>
              <a:t> Vacuum sealing food in bags</a:t>
            </a:r>
          </a:p>
          <a:p>
            <a:pPr lvl="1">
              <a:buFont typeface="Arial" pitchFamily="34" charset="0"/>
              <a:buChar char="•"/>
            </a:pPr>
            <a:r>
              <a:rPr lang="en-AU" sz="1200" kern="1200" dirty="0" smtClean="0">
                <a:solidFill>
                  <a:schemeClr val="tx1"/>
                </a:solidFill>
                <a:latin typeface="+mn-lt"/>
                <a:ea typeface="+mn-ea"/>
                <a:cs typeface="+mn-cs"/>
              </a:rPr>
              <a:t> Operating pasteurising and chilling equipment</a:t>
            </a:r>
          </a:p>
          <a:p>
            <a:pPr lvl="1">
              <a:buFont typeface="Arial" pitchFamily="34" charset="0"/>
              <a:buChar char="•"/>
            </a:pPr>
            <a:r>
              <a:rPr lang="en-AU" sz="1200" kern="1200" dirty="0" smtClean="0">
                <a:solidFill>
                  <a:schemeClr val="tx1"/>
                </a:solidFill>
                <a:latin typeface="+mn-lt"/>
                <a:ea typeface="+mn-ea"/>
                <a:cs typeface="+mn-cs"/>
              </a:rPr>
              <a:t> Testing pH levels</a:t>
            </a:r>
          </a:p>
          <a:p>
            <a:pPr lvl="1">
              <a:buFont typeface="Arial" pitchFamily="34" charset="0"/>
              <a:buChar char="•"/>
            </a:pPr>
            <a:r>
              <a:rPr lang="en-AU" sz="1200" kern="1200" dirty="0" smtClean="0">
                <a:solidFill>
                  <a:schemeClr val="tx1"/>
                </a:solidFill>
                <a:latin typeface="+mn-lt"/>
                <a:ea typeface="+mn-ea"/>
                <a:cs typeface="+mn-cs"/>
              </a:rPr>
              <a:t> Preparing and attaching suitable labels to containers/packages placed into storage</a:t>
            </a:r>
          </a:p>
          <a:p>
            <a:pPr lvl="1">
              <a:buFont typeface="Arial" pitchFamily="34" charset="0"/>
              <a:buChar char="•"/>
            </a:pPr>
            <a:r>
              <a:rPr lang="en-AU" sz="1200" kern="1200" dirty="0" smtClean="0">
                <a:solidFill>
                  <a:schemeClr val="tx1"/>
                </a:solidFill>
                <a:latin typeface="+mn-lt"/>
                <a:ea typeface="+mn-ea"/>
                <a:cs typeface="+mn-cs"/>
              </a:rPr>
              <a:t> Monitoring and controlling times and temperatures of food prior to, and during, refrigerated and/or frozen storage </a:t>
            </a:r>
          </a:p>
          <a:p>
            <a:pPr lvl="1">
              <a:buFont typeface="Arial" pitchFamily="34" charset="0"/>
              <a:buChar char="•"/>
            </a:pPr>
            <a:r>
              <a:rPr lang="en-AU" sz="1200" kern="1200" dirty="0" smtClean="0">
                <a:solidFill>
                  <a:schemeClr val="tx1"/>
                </a:solidFill>
                <a:latin typeface="+mn-lt"/>
                <a:ea typeface="+mn-ea"/>
                <a:cs typeface="+mn-cs"/>
              </a:rPr>
              <a:t> Operating re-thermalisation equipment.</a:t>
            </a:r>
          </a:p>
          <a:p>
            <a:pPr>
              <a:buFont typeface="Arial" pitchFamily="34" charset="0"/>
              <a:buChar char="•"/>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advantages of the Commissary system which may be referred</a:t>
            </a:r>
            <a:r>
              <a:rPr lang="en-US" baseline="0" dirty="0" smtClean="0"/>
              <a:t> to when making a recommendation:</a:t>
            </a:r>
          </a:p>
          <a:p>
            <a:pPr>
              <a:buFont typeface="Arial" pitchFamily="34" charset="0"/>
              <a:buChar char="•"/>
            </a:pPr>
            <a:r>
              <a:rPr lang="en-AU" sz="1200" kern="1200" dirty="0" smtClean="0">
                <a:solidFill>
                  <a:schemeClr val="tx1"/>
                </a:solidFill>
                <a:latin typeface="+mn-lt"/>
                <a:ea typeface="+mn-ea"/>
                <a:cs typeface="+mn-cs"/>
              </a:rPr>
              <a:t> Central control of quality and standards</a:t>
            </a:r>
          </a:p>
          <a:p>
            <a:pPr>
              <a:buFont typeface="Arial" pitchFamily="34" charset="0"/>
              <a:buChar char="•"/>
            </a:pPr>
            <a:r>
              <a:rPr lang="en-AU" sz="1200" kern="1200" dirty="0" smtClean="0">
                <a:solidFill>
                  <a:schemeClr val="tx1"/>
                </a:solidFill>
                <a:latin typeface="+mn-lt"/>
                <a:ea typeface="+mn-ea"/>
                <a:cs typeface="+mn-cs"/>
              </a:rPr>
              <a:t> Reduced need for skilled/high-cost staff in satellite kitchens</a:t>
            </a:r>
          </a:p>
          <a:p>
            <a:pPr>
              <a:buFont typeface="Arial" pitchFamily="34" charset="0"/>
              <a:buChar char="•"/>
            </a:pPr>
            <a:r>
              <a:rPr lang="en-AU" sz="1200" kern="1200" dirty="0" smtClean="0">
                <a:solidFill>
                  <a:schemeClr val="tx1"/>
                </a:solidFill>
                <a:latin typeface="+mn-lt"/>
                <a:ea typeface="+mn-ea"/>
                <a:cs typeface="+mn-cs"/>
              </a:rPr>
              <a:t> Staff at the main kitchen will operate at high levels of productivity – helping reduce costs per unit</a:t>
            </a:r>
          </a:p>
          <a:p>
            <a:pPr>
              <a:buFont typeface="Arial" pitchFamily="34" charset="0"/>
              <a:buNone/>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advantages of the Commissary system which may be referred</a:t>
            </a:r>
            <a:r>
              <a:rPr lang="en-US" baseline="0" dirty="0" smtClean="0"/>
              <a:t> to when making a recommendation:</a:t>
            </a:r>
          </a:p>
          <a:p>
            <a:pPr>
              <a:buFont typeface="Arial" pitchFamily="34" charset="0"/>
              <a:buChar char="•"/>
            </a:pPr>
            <a:r>
              <a:rPr lang="en-AU" sz="1200" kern="1200" dirty="0" smtClean="0">
                <a:solidFill>
                  <a:schemeClr val="tx1"/>
                </a:solidFill>
                <a:latin typeface="+mn-lt"/>
                <a:ea typeface="+mn-ea"/>
                <a:cs typeface="+mn-cs"/>
              </a:rPr>
              <a:t> High volume will bring a range of ‘economies of scale’</a:t>
            </a:r>
          </a:p>
          <a:p>
            <a:pPr>
              <a:buFont typeface="Arial" pitchFamily="34" charset="0"/>
              <a:buChar char="•"/>
            </a:pPr>
            <a:r>
              <a:rPr lang="en-AU" sz="1200" kern="1200" dirty="0" smtClean="0">
                <a:solidFill>
                  <a:schemeClr val="tx1"/>
                </a:solidFill>
                <a:latin typeface="+mn-lt"/>
                <a:ea typeface="+mn-ea"/>
                <a:cs typeface="+mn-cs"/>
              </a:rPr>
              <a:t> No/little need for food processing/cooking equipment in satellite kitchens – may only be a need for storage, re-heating and service equipment</a:t>
            </a:r>
          </a:p>
          <a:p>
            <a:pPr>
              <a:buFont typeface="Arial" pitchFamily="34" charset="0"/>
              <a:buChar char="•"/>
            </a:pPr>
            <a:r>
              <a:rPr lang="en-AU" sz="1200" kern="1200" dirty="0" smtClean="0">
                <a:solidFill>
                  <a:schemeClr val="tx1"/>
                </a:solidFill>
                <a:latin typeface="+mn-lt"/>
                <a:ea typeface="+mn-ea"/>
                <a:cs typeface="+mn-cs"/>
              </a:rPr>
              <a:t> Facilitates the operation of multiple outlets and new service points</a:t>
            </a:r>
          </a:p>
          <a:p>
            <a:pPr>
              <a:buFont typeface="Arial" pitchFamily="34" charset="0"/>
              <a:buChar char="•"/>
            </a:pPr>
            <a:r>
              <a:rPr lang="en-AU" sz="1200" kern="1200" dirty="0" smtClean="0">
                <a:solidFill>
                  <a:schemeClr val="tx1"/>
                </a:solidFill>
                <a:latin typeface="+mn-lt"/>
                <a:ea typeface="+mn-ea"/>
                <a:cs typeface="+mn-cs"/>
              </a:rPr>
              <a:t> Allows main kitchen to be built in an area where (for example) land and building costs are most competitive – as opposed to buying land and building a central kitchen in high-value geographical location.</a:t>
            </a:r>
          </a:p>
          <a:p>
            <a:pPr>
              <a:buFont typeface="Arial" pitchFamily="34" charset="0"/>
              <a:buNone/>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presents disadvantages of the Commissary system which may be referred</a:t>
            </a:r>
            <a:r>
              <a:rPr lang="en-US" baseline="0" dirty="0" smtClean="0"/>
              <a:t> to when making a recommendation:</a:t>
            </a:r>
          </a:p>
          <a:p>
            <a:pPr>
              <a:buFont typeface="Arial" pitchFamily="34" charset="0"/>
              <a:buChar char="•"/>
            </a:pPr>
            <a:r>
              <a:rPr lang="en-AU" sz="1200" kern="1200" dirty="0" smtClean="0">
                <a:solidFill>
                  <a:schemeClr val="tx1"/>
                </a:solidFill>
                <a:latin typeface="+mn-lt"/>
                <a:ea typeface="+mn-ea"/>
                <a:cs typeface="+mn-cs"/>
              </a:rPr>
              <a:t> Quality-related issues – associated with:</a:t>
            </a:r>
          </a:p>
          <a:p>
            <a:pPr lvl="1">
              <a:buFont typeface="Arial" pitchFamily="34" charset="0"/>
              <a:buChar char="•"/>
            </a:pPr>
            <a:r>
              <a:rPr lang="en-AU" sz="1200" kern="1200" dirty="0" smtClean="0">
                <a:solidFill>
                  <a:schemeClr val="tx1"/>
                </a:solidFill>
                <a:latin typeface="+mn-lt"/>
                <a:ea typeface="+mn-ea"/>
                <a:cs typeface="+mn-cs"/>
              </a:rPr>
              <a:t> Customer/consumer perceptions about loss of quality because food is not ‘freshly cooked’</a:t>
            </a:r>
          </a:p>
          <a:p>
            <a:pPr lvl="1">
              <a:buFont typeface="Arial" pitchFamily="34" charset="0"/>
              <a:buChar char="•"/>
            </a:pPr>
            <a:r>
              <a:rPr lang="en-AU" sz="1200" kern="1200" dirty="0" smtClean="0">
                <a:solidFill>
                  <a:schemeClr val="tx1"/>
                </a:solidFill>
                <a:latin typeface="+mn-lt"/>
                <a:ea typeface="+mn-ea"/>
                <a:cs typeface="+mn-cs"/>
              </a:rPr>
              <a:t> Actual decrease in food taste, appearance, food safety and nutritional content</a:t>
            </a:r>
          </a:p>
          <a:p>
            <a:pPr>
              <a:buFont typeface="Arial" pitchFamily="34" charset="0"/>
              <a:buChar char="•"/>
            </a:pPr>
            <a:r>
              <a:rPr lang="en-AU" sz="1200" kern="1200" dirty="0" smtClean="0">
                <a:solidFill>
                  <a:schemeClr val="tx1"/>
                </a:solidFill>
                <a:latin typeface="+mn-lt"/>
                <a:ea typeface="+mn-ea"/>
                <a:cs typeface="+mn-cs"/>
              </a:rPr>
              <a:t> Only food produced by central kitchen – or foods bought-in ‘fully prepared’– can be offered</a:t>
            </a:r>
          </a:p>
          <a:p>
            <a:pPr>
              <a:buFont typeface="Arial" pitchFamily="34" charset="0"/>
              <a:buChar char="•"/>
            </a:pPr>
            <a:r>
              <a:rPr lang="en-AU" sz="1200" kern="1200" dirty="0" smtClean="0">
                <a:solidFill>
                  <a:schemeClr val="tx1"/>
                </a:solidFill>
                <a:latin typeface="+mn-lt"/>
                <a:ea typeface="+mn-ea"/>
                <a:cs typeface="+mn-cs"/>
              </a:rPr>
              <a:t> Satellite kitchens cannot respond to individual customer demand or preferences – food is essentially presented/offered on a ‘take-it-or-leave-it’ basis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presenting disadvantages of the Commissary system which may be referred</a:t>
            </a:r>
            <a:r>
              <a:rPr lang="en-US" baseline="0" dirty="0" smtClean="0"/>
              <a:t> to when making a recommendation:</a:t>
            </a:r>
          </a:p>
          <a:p>
            <a:pPr>
              <a:buFont typeface="Arial" pitchFamily="34" charset="0"/>
              <a:buChar char="•"/>
            </a:pPr>
            <a:r>
              <a:rPr lang="en-AU" sz="1200" kern="1200" dirty="0" smtClean="0">
                <a:solidFill>
                  <a:schemeClr val="tx1"/>
                </a:solidFill>
                <a:latin typeface="+mn-lt"/>
                <a:ea typeface="+mn-ea"/>
                <a:cs typeface="+mn-cs"/>
              </a:rPr>
              <a:t> Main kitchen requires highly-skilled, highly-competent staff</a:t>
            </a:r>
          </a:p>
          <a:p>
            <a:pPr>
              <a:buFont typeface="Arial" pitchFamily="34" charset="0"/>
              <a:buChar char="•"/>
            </a:pPr>
            <a:r>
              <a:rPr lang="en-AU" sz="1200" kern="1200" dirty="0" smtClean="0">
                <a:solidFill>
                  <a:schemeClr val="tx1"/>
                </a:solidFill>
                <a:latin typeface="+mn-lt"/>
                <a:ea typeface="+mn-ea"/>
                <a:cs typeface="+mn-cs"/>
              </a:rPr>
              <a:t> Requires expenditure on:</a:t>
            </a:r>
          </a:p>
          <a:p>
            <a:pPr lvl="1">
              <a:buFont typeface="Arial" pitchFamily="34" charset="0"/>
              <a:buChar char="•"/>
            </a:pPr>
            <a:r>
              <a:rPr lang="en-AU" sz="1200" kern="1200" dirty="0" smtClean="0">
                <a:solidFill>
                  <a:schemeClr val="tx1"/>
                </a:solidFill>
                <a:latin typeface="+mn-lt"/>
                <a:ea typeface="+mn-ea"/>
                <a:cs typeface="+mn-cs"/>
              </a:rPr>
              <a:t> Transporting/distributing the food – such as food transport vehicles (such as vans, trucks or airplanes) and hot and cold food carts</a:t>
            </a:r>
          </a:p>
          <a:p>
            <a:pPr lvl="1">
              <a:buFont typeface="Arial" pitchFamily="34" charset="0"/>
              <a:buChar char="•"/>
            </a:pPr>
            <a:r>
              <a:rPr lang="en-AU" sz="1200" kern="1200" dirty="0" smtClean="0">
                <a:solidFill>
                  <a:schemeClr val="tx1"/>
                </a:solidFill>
                <a:latin typeface="+mn-lt"/>
                <a:ea typeface="+mn-ea"/>
                <a:cs typeface="+mn-cs"/>
              </a:rPr>
              <a:t> Special packaging for foods</a:t>
            </a:r>
          </a:p>
          <a:p>
            <a:pPr>
              <a:buFont typeface="Arial" pitchFamily="34" charset="0"/>
              <a:buChar char="•"/>
            </a:pPr>
            <a:r>
              <a:rPr lang="en-AU" sz="1200" kern="1200" dirty="0" smtClean="0">
                <a:solidFill>
                  <a:schemeClr val="tx1"/>
                </a:solidFill>
                <a:latin typeface="+mn-lt"/>
                <a:ea typeface="+mn-ea"/>
                <a:cs typeface="+mn-cs"/>
              </a:rPr>
              <a:t> Need for food safety protocols to be developed to cover transportation of food – especially relating to: </a:t>
            </a:r>
          </a:p>
          <a:p>
            <a:pPr lvl="1">
              <a:buFont typeface="Arial" pitchFamily="34" charset="0"/>
              <a:buChar char="•"/>
            </a:pPr>
            <a:r>
              <a:rPr lang="en-AU" sz="1200" kern="1200" dirty="0" smtClean="0">
                <a:solidFill>
                  <a:schemeClr val="tx1"/>
                </a:solidFill>
                <a:latin typeface="+mn-lt"/>
                <a:ea typeface="+mn-ea"/>
                <a:cs typeface="+mn-cs"/>
              </a:rPr>
              <a:t> Time-temperature controls</a:t>
            </a:r>
          </a:p>
          <a:p>
            <a:pPr lvl="1">
              <a:buFont typeface="Arial" pitchFamily="34" charset="0"/>
              <a:buChar char="•"/>
            </a:pPr>
            <a:r>
              <a:rPr lang="en-AU" sz="1200" kern="1200" dirty="0" smtClean="0">
                <a:solidFill>
                  <a:schemeClr val="tx1"/>
                </a:solidFill>
                <a:latin typeface="+mn-lt"/>
                <a:ea typeface="+mn-ea"/>
                <a:cs typeface="+mn-cs"/>
              </a:rPr>
              <a:t> Protection of food from contamination</a:t>
            </a:r>
          </a:p>
          <a:p>
            <a:pPr lvl="1">
              <a:buFont typeface="Arial" pitchFamily="34" charset="0"/>
              <a:buChar char="•"/>
            </a:pPr>
            <a:r>
              <a:rPr lang="en-AU" sz="1200" kern="1200" dirty="0" smtClean="0">
                <a:solidFill>
                  <a:schemeClr val="tx1"/>
                </a:solidFill>
                <a:latin typeface="+mn-lt"/>
                <a:ea typeface="+mn-ea"/>
                <a:cs typeface="+mn-cs"/>
              </a:rPr>
              <a:t> Delivery schedules</a:t>
            </a:r>
          </a:p>
          <a:p>
            <a:pPr lvl="1">
              <a:buFont typeface="Arial" pitchFamily="34" charset="0"/>
              <a:buChar char="•"/>
            </a:pPr>
            <a:r>
              <a:rPr lang="en-AU" sz="1200" kern="1200" dirty="0" smtClean="0">
                <a:solidFill>
                  <a:schemeClr val="tx1"/>
                </a:solidFill>
                <a:latin typeface="+mn-lt"/>
                <a:ea typeface="+mn-ea"/>
                <a:cs typeface="+mn-cs"/>
              </a:rPr>
              <a:t> Servicing/condition of the food transport vehicle</a:t>
            </a:r>
          </a:p>
          <a:p>
            <a:pPr lvl="1">
              <a:buFont typeface="Arial" pitchFamily="34" charset="0"/>
              <a:buChar char="•"/>
            </a:pPr>
            <a:r>
              <a:rPr lang="en-AU" sz="1200" kern="1200" dirty="0" smtClean="0">
                <a:solidFill>
                  <a:schemeClr val="tx1"/>
                </a:solidFill>
                <a:latin typeface="+mn-lt"/>
                <a:ea typeface="+mn-ea"/>
                <a:cs typeface="+mn-cs"/>
              </a:rPr>
              <a:t> Actions of the delivery driver.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advantages of the Assembly-serve system which may be referred</a:t>
            </a:r>
            <a:r>
              <a:rPr lang="en-US" baseline="0" dirty="0" smtClean="0"/>
              <a:t> to when making a recommendation:</a:t>
            </a:r>
          </a:p>
          <a:p>
            <a:pPr>
              <a:buFont typeface="Arial" pitchFamily="34" charset="0"/>
              <a:buChar char="•"/>
            </a:pPr>
            <a:r>
              <a:rPr lang="en-AU" sz="1200" kern="1200" dirty="0" smtClean="0">
                <a:solidFill>
                  <a:schemeClr val="tx1"/>
                </a:solidFill>
                <a:latin typeface="+mn-lt"/>
                <a:ea typeface="+mn-ea"/>
                <a:cs typeface="+mn-cs"/>
              </a:rPr>
              <a:t> Low levels of equipment required</a:t>
            </a:r>
          </a:p>
          <a:p>
            <a:pPr>
              <a:buFont typeface="Arial" pitchFamily="34" charset="0"/>
              <a:buChar char="•"/>
            </a:pPr>
            <a:r>
              <a:rPr lang="en-AU" sz="1200" kern="1200" dirty="0" smtClean="0">
                <a:solidFill>
                  <a:schemeClr val="tx1"/>
                </a:solidFill>
                <a:latin typeface="+mn-lt"/>
                <a:ea typeface="+mn-ea"/>
                <a:cs typeface="+mn-cs"/>
              </a:rPr>
              <a:t> Less space required</a:t>
            </a:r>
          </a:p>
          <a:p>
            <a:pPr>
              <a:buFont typeface="Arial" pitchFamily="34" charset="0"/>
              <a:buChar char="•"/>
            </a:pPr>
            <a:r>
              <a:rPr lang="en-AU" sz="1200" kern="1200" dirty="0" smtClean="0">
                <a:solidFill>
                  <a:schemeClr val="tx1"/>
                </a:solidFill>
                <a:latin typeface="+mn-lt"/>
                <a:ea typeface="+mn-ea"/>
                <a:cs typeface="+mn-cs"/>
              </a:rPr>
              <a:t> Reduced labour cost – due to:</a:t>
            </a:r>
          </a:p>
          <a:p>
            <a:pPr lvl="1">
              <a:buFont typeface="Arial" pitchFamily="34" charset="0"/>
              <a:buChar char="•"/>
            </a:pPr>
            <a:r>
              <a:rPr lang="en-AU" sz="1200" kern="1200" dirty="0" smtClean="0">
                <a:solidFill>
                  <a:schemeClr val="tx1"/>
                </a:solidFill>
                <a:latin typeface="+mn-lt"/>
                <a:ea typeface="+mn-ea"/>
                <a:cs typeface="+mn-cs"/>
              </a:rPr>
              <a:t> Lower levels of skilled staff required</a:t>
            </a:r>
          </a:p>
          <a:p>
            <a:pPr lvl="1">
              <a:buFont typeface="Arial" pitchFamily="34" charset="0"/>
              <a:buChar char="•"/>
            </a:pPr>
            <a:r>
              <a:rPr lang="en-AU" sz="1200" kern="1200" dirty="0" smtClean="0">
                <a:solidFill>
                  <a:schemeClr val="tx1"/>
                </a:solidFill>
                <a:latin typeface="+mn-lt"/>
                <a:ea typeface="+mn-ea"/>
                <a:cs typeface="+mn-cs"/>
              </a:rPr>
              <a:t> Fewer staff/hours required to provide labour</a:t>
            </a:r>
          </a:p>
          <a:p>
            <a:pPr>
              <a:buFont typeface="Arial" pitchFamily="34" charset="0"/>
              <a:buChar char="•"/>
            </a:pPr>
            <a:r>
              <a:rPr lang="en-AU" sz="1200" kern="1200" dirty="0" smtClean="0">
                <a:solidFill>
                  <a:schemeClr val="tx1"/>
                </a:solidFill>
                <a:latin typeface="+mn-lt"/>
                <a:ea typeface="+mn-ea"/>
                <a:cs typeface="+mn-cs"/>
              </a:rPr>
              <a:t> Service can be flexible/provided ‘at any time’</a:t>
            </a:r>
          </a:p>
          <a:p>
            <a:pPr>
              <a:buFont typeface="Arial" pitchFamily="34" charset="0"/>
              <a:buChar char="•"/>
            </a:pPr>
            <a:r>
              <a:rPr lang="en-AU" sz="1200" kern="1200" dirty="0" smtClean="0">
                <a:solidFill>
                  <a:schemeClr val="tx1"/>
                </a:solidFill>
                <a:latin typeface="+mn-lt"/>
                <a:ea typeface="+mn-ea"/>
                <a:cs typeface="+mn-cs"/>
              </a:rPr>
              <a:t> Service is usually relatively prompt.</a:t>
            </a:r>
          </a:p>
          <a:p>
            <a:pPr>
              <a:buFont typeface="Arial" pitchFamily="34" charset="0"/>
              <a:buNone/>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disadvantages of the Assembly-serve system which may be referred</a:t>
            </a:r>
            <a:r>
              <a:rPr lang="en-US" baseline="0" dirty="0" smtClean="0"/>
              <a:t> to when making a recommendation:</a:t>
            </a:r>
          </a:p>
          <a:p>
            <a:pPr>
              <a:buFont typeface="Arial" pitchFamily="34" charset="0"/>
              <a:buChar char="•"/>
            </a:pPr>
            <a:r>
              <a:rPr lang="en-AU" sz="1200" kern="1200" dirty="0" smtClean="0">
                <a:solidFill>
                  <a:schemeClr val="tx1"/>
                </a:solidFill>
                <a:latin typeface="+mn-lt"/>
                <a:ea typeface="+mn-ea"/>
                <a:cs typeface="+mn-cs"/>
              </a:rPr>
              <a:t> Limited choice of menu items – the outlet can only offer items available from suppliers</a:t>
            </a:r>
          </a:p>
          <a:p>
            <a:pPr>
              <a:buFont typeface="Arial" pitchFamily="34" charset="0"/>
              <a:buChar char="•"/>
            </a:pPr>
            <a:r>
              <a:rPr lang="en-AU" sz="1200" kern="1200" dirty="0" smtClean="0">
                <a:solidFill>
                  <a:schemeClr val="tx1"/>
                </a:solidFill>
                <a:latin typeface="+mn-lt"/>
                <a:ea typeface="+mn-ea"/>
                <a:cs typeface="+mn-cs"/>
              </a:rPr>
              <a:t> Totally reliant on what suppliers can offer and/or deliver</a:t>
            </a:r>
          </a:p>
          <a:p>
            <a:pPr>
              <a:buFont typeface="Arial" pitchFamily="34" charset="0"/>
              <a:buChar char="•"/>
            </a:pPr>
            <a:r>
              <a:rPr lang="en-AU" sz="1200" kern="1200" dirty="0" smtClean="0">
                <a:solidFill>
                  <a:schemeClr val="tx1"/>
                </a:solidFill>
                <a:latin typeface="+mn-lt"/>
                <a:ea typeface="+mn-ea"/>
                <a:cs typeface="+mn-cs"/>
              </a:rPr>
              <a:t> Relatively high food cost – because all menu items are ‘bought in’ as opposed to being prepared from less expensive raw ingredients</a:t>
            </a:r>
          </a:p>
          <a:p>
            <a:pPr>
              <a:buFont typeface="Arial" pitchFamily="34" charset="0"/>
              <a:buChar char="•"/>
            </a:pPr>
            <a:r>
              <a:rPr lang="en-AU" sz="1200" kern="1200" dirty="0" smtClean="0">
                <a:solidFill>
                  <a:schemeClr val="tx1"/>
                </a:solidFill>
                <a:latin typeface="+mn-lt"/>
                <a:ea typeface="+mn-ea"/>
                <a:cs typeface="+mn-cs"/>
              </a:rPr>
              <a:t> No capacity to respond to individual customer need/special requests</a:t>
            </a:r>
          </a:p>
          <a:p>
            <a:pPr>
              <a:buFont typeface="Arial" pitchFamily="34" charset="0"/>
              <a:buChar char="•"/>
            </a:pPr>
            <a:r>
              <a:rPr lang="en-AU" sz="1200" kern="1200" dirty="0" smtClean="0">
                <a:solidFill>
                  <a:schemeClr val="tx1"/>
                </a:solidFill>
                <a:latin typeface="+mn-lt"/>
                <a:ea typeface="+mn-ea"/>
                <a:cs typeface="+mn-cs"/>
              </a:rPr>
              <a:t> Quality-related issues – associated with:</a:t>
            </a:r>
          </a:p>
          <a:p>
            <a:pPr lvl="1">
              <a:buFont typeface="Arial" pitchFamily="34" charset="0"/>
              <a:buChar char="•"/>
            </a:pPr>
            <a:r>
              <a:rPr lang="en-AU" sz="1200" kern="1200" dirty="0" smtClean="0">
                <a:solidFill>
                  <a:schemeClr val="tx1"/>
                </a:solidFill>
                <a:latin typeface="+mn-lt"/>
                <a:ea typeface="+mn-ea"/>
                <a:cs typeface="+mn-cs"/>
              </a:rPr>
              <a:t> Customer/consumer perceptions about loss of quality because food is not ‘freshly cooked’</a:t>
            </a:r>
          </a:p>
          <a:p>
            <a:pPr lvl="1">
              <a:buFont typeface="Arial" pitchFamily="34" charset="0"/>
              <a:buChar char="•"/>
            </a:pPr>
            <a:r>
              <a:rPr lang="en-AU" sz="1200" kern="1200" dirty="0" smtClean="0">
                <a:solidFill>
                  <a:schemeClr val="tx1"/>
                </a:solidFill>
                <a:latin typeface="+mn-lt"/>
                <a:ea typeface="+mn-ea"/>
                <a:cs typeface="+mn-cs"/>
              </a:rPr>
              <a:t> Actual decrease in food taste, appearance, food safety and nutritional content.</a:t>
            </a:r>
          </a:p>
          <a:p>
            <a:pPr>
              <a:buFont typeface="Arial" pitchFamily="34" charset="0"/>
              <a:buNone/>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advises in </a:t>
            </a:r>
            <a:r>
              <a:rPr lang="en-AU" sz="1200" kern="1200" dirty="0" smtClean="0">
                <a:solidFill>
                  <a:schemeClr val="tx1"/>
                </a:solidFill>
                <a:latin typeface="+mn-lt"/>
                <a:ea typeface="+mn-ea"/>
                <a:cs typeface="+mn-cs"/>
              </a:rPr>
              <a:t>addition to the advantages and disadvantages already identified there will commonly also be a need to address:</a:t>
            </a:r>
          </a:p>
          <a:p>
            <a:pPr>
              <a:buFont typeface="Arial" pitchFamily="34" charset="0"/>
              <a:buChar char="•"/>
            </a:pPr>
            <a:r>
              <a:rPr lang="en-AU" sz="1200" kern="1200" dirty="0" smtClean="0">
                <a:solidFill>
                  <a:schemeClr val="tx1"/>
                </a:solidFill>
                <a:latin typeface="+mn-lt"/>
                <a:ea typeface="+mn-ea"/>
                <a:cs typeface="+mn-cs"/>
              </a:rPr>
              <a:t> Calculation and comparison of costs of outright purchase against other acquisition options (such as leasing) factoring in relevant issues such as:</a:t>
            </a:r>
          </a:p>
          <a:p>
            <a:pPr lvl="1">
              <a:buFont typeface="Arial" pitchFamily="34" charset="0"/>
              <a:buChar char="•"/>
            </a:pPr>
            <a:r>
              <a:rPr lang="en-AU" sz="1200" kern="1200" dirty="0" smtClean="0">
                <a:solidFill>
                  <a:schemeClr val="tx1"/>
                </a:solidFill>
                <a:latin typeface="+mn-lt"/>
                <a:ea typeface="+mn-ea"/>
                <a:cs typeface="+mn-cs"/>
              </a:rPr>
              <a:t> Taxation implications </a:t>
            </a:r>
          </a:p>
          <a:p>
            <a:pPr lvl="1">
              <a:buFont typeface="Arial" pitchFamily="34" charset="0"/>
              <a:buChar char="•"/>
            </a:pPr>
            <a:r>
              <a:rPr lang="en-AU" sz="1200" kern="1200" dirty="0" smtClean="0">
                <a:solidFill>
                  <a:schemeClr val="tx1"/>
                </a:solidFill>
                <a:latin typeface="+mn-lt"/>
                <a:ea typeface="+mn-ea"/>
                <a:cs typeface="+mn-cs"/>
              </a:rPr>
              <a:t> Depreciation rates</a:t>
            </a:r>
          </a:p>
          <a:p>
            <a:pPr lvl="1">
              <a:buFont typeface="Arial" pitchFamily="34" charset="0"/>
              <a:buChar char="•"/>
            </a:pPr>
            <a:r>
              <a:rPr lang="en-AU" sz="1200" kern="1200" dirty="0" smtClean="0">
                <a:solidFill>
                  <a:schemeClr val="tx1"/>
                </a:solidFill>
                <a:latin typeface="+mn-lt"/>
                <a:ea typeface="+mn-ea"/>
                <a:cs typeface="+mn-cs"/>
              </a:rPr>
              <a:t> Cash flow</a:t>
            </a:r>
          </a:p>
          <a:p>
            <a:pPr lvl="1">
              <a:buFont typeface="Arial" pitchFamily="34" charset="0"/>
              <a:buChar char="•"/>
            </a:pPr>
            <a:r>
              <a:rPr lang="en-AU" sz="1200" kern="1200" dirty="0" smtClean="0">
                <a:solidFill>
                  <a:schemeClr val="tx1"/>
                </a:solidFill>
                <a:latin typeface="+mn-lt"/>
                <a:ea typeface="+mn-ea"/>
                <a:cs typeface="+mn-cs"/>
              </a:rPr>
              <a:t> Cost-Benefit analysis</a:t>
            </a:r>
          </a:p>
          <a:p>
            <a:pPr>
              <a:buFont typeface="Arial" pitchFamily="34" charset="0"/>
              <a:buChar char="•"/>
            </a:pPr>
            <a:r>
              <a:rPr lang="en-AU" sz="1200" kern="1200" dirty="0" smtClean="0">
                <a:solidFill>
                  <a:schemeClr val="tx1"/>
                </a:solidFill>
                <a:latin typeface="+mn-lt"/>
                <a:ea typeface="+mn-ea"/>
                <a:cs typeface="+mn-cs"/>
              </a:rPr>
              <a:t> Consideration of options/strategies for dealing with equipment breakdown, maintenance and service/repair needs – such as:</a:t>
            </a:r>
          </a:p>
          <a:p>
            <a:pPr lvl="1">
              <a:buFont typeface="Arial" pitchFamily="34" charset="0"/>
              <a:buChar char="•"/>
            </a:pPr>
            <a:r>
              <a:rPr lang="en-AU" sz="1200" kern="1200" dirty="0" smtClean="0">
                <a:solidFill>
                  <a:schemeClr val="tx1"/>
                </a:solidFill>
                <a:latin typeface="+mn-lt"/>
                <a:ea typeface="+mn-ea"/>
                <a:cs typeface="+mn-cs"/>
              </a:rPr>
              <a:t> Service contracts with external providers/service technicians</a:t>
            </a:r>
          </a:p>
          <a:p>
            <a:pPr lvl="1">
              <a:buFont typeface="Arial" pitchFamily="34" charset="0"/>
              <a:buChar char="•"/>
            </a:pPr>
            <a:r>
              <a:rPr lang="en-AU" sz="1200" kern="1200" dirty="0" smtClean="0">
                <a:solidFill>
                  <a:schemeClr val="tx1"/>
                </a:solidFill>
                <a:latin typeface="+mn-lt"/>
                <a:ea typeface="+mn-ea"/>
                <a:cs typeface="+mn-cs"/>
              </a:rPr>
              <a:t> Maintaining replacement items and parts</a:t>
            </a:r>
          </a:p>
          <a:p>
            <a:pPr lvl="1">
              <a:buFont typeface="Arial" pitchFamily="34" charset="0"/>
              <a:buChar char="•"/>
            </a:pPr>
            <a:r>
              <a:rPr lang="en-AU" sz="1200" kern="1200" dirty="0" smtClean="0">
                <a:solidFill>
                  <a:schemeClr val="tx1"/>
                </a:solidFill>
                <a:latin typeface="+mn-lt"/>
                <a:ea typeface="+mn-ea"/>
                <a:cs typeface="+mn-cs"/>
              </a:rPr>
              <a:t> Establishing and maintaining an in-house Maintenance department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advising of additional topics to be covered when making recommendation:</a:t>
            </a:r>
          </a:p>
          <a:p>
            <a:pPr>
              <a:buFont typeface="Arial" pitchFamily="34" charset="0"/>
              <a:buChar char="•"/>
            </a:pPr>
            <a:r>
              <a:rPr lang="en-AU" sz="1200" kern="1200" dirty="0" smtClean="0">
                <a:solidFill>
                  <a:schemeClr val="tx1"/>
                </a:solidFill>
                <a:latin typeface="+mn-lt"/>
                <a:ea typeface="+mn-ea"/>
                <a:cs typeface="+mn-cs"/>
              </a:rPr>
              <a:t> Comparison and contrast of:</a:t>
            </a:r>
          </a:p>
          <a:p>
            <a:pPr lvl="1">
              <a:buFont typeface="Arial" pitchFamily="34" charset="0"/>
              <a:buChar char="•"/>
            </a:pPr>
            <a:r>
              <a:rPr lang="en-AU" sz="1200" kern="1200" dirty="0" smtClean="0">
                <a:solidFill>
                  <a:schemeClr val="tx1"/>
                </a:solidFill>
                <a:latin typeface="+mn-lt"/>
                <a:ea typeface="+mn-ea"/>
                <a:cs typeface="+mn-cs"/>
              </a:rPr>
              <a:t> Current/previous situation (volume of food produced; costs; wastage; labour; numbers served) to expectations/projections</a:t>
            </a:r>
          </a:p>
          <a:p>
            <a:pPr>
              <a:buFont typeface="Arial" pitchFamily="34" charset="0"/>
              <a:buChar char="•"/>
            </a:pPr>
            <a:r>
              <a:rPr lang="en-AU" sz="1200" kern="1200" dirty="0" smtClean="0">
                <a:solidFill>
                  <a:schemeClr val="tx1"/>
                </a:solidFill>
                <a:latin typeface="+mn-lt"/>
                <a:ea typeface="+mn-ea"/>
                <a:cs typeface="+mn-cs"/>
              </a:rPr>
              <a:t> Costs and timing related to:</a:t>
            </a:r>
          </a:p>
          <a:p>
            <a:pPr lvl="1">
              <a:buFont typeface="Arial" pitchFamily="34" charset="0"/>
              <a:buChar char="•"/>
            </a:pPr>
            <a:r>
              <a:rPr lang="en-AU" sz="1200" kern="1200" dirty="0" smtClean="0">
                <a:solidFill>
                  <a:schemeClr val="tx1"/>
                </a:solidFill>
                <a:latin typeface="+mn-lt"/>
                <a:ea typeface="+mn-ea"/>
                <a:cs typeface="+mn-cs"/>
              </a:rPr>
              <a:t> Removing existing equipment</a:t>
            </a:r>
          </a:p>
          <a:p>
            <a:pPr lvl="1">
              <a:buFont typeface="Arial" pitchFamily="34" charset="0"/>
              <a:buChar char="•"/>
            </a:pPr>
            <a:r>
              <a:rPr lang="en-AU" sz="1200" kern="1200" dirty="0" smtClean="0">
                <a:solidFill>
                  <a:schemeClr val="tx1"/>
                </a:solidFill>
                <a:latin typeface="+mn-lt"/>
                <a:ea typeface="+mn-ea"/>
                <a:cs typeface="+mn-cs"/>
              </a:rPr>
              <a:t> Installation of new equipment, systems and technology</a:t>
            </a:r>
          </a:p>
          <a:p>
            <a:pPr lvl="1">
              <a:buFont typeface="Arial" pitchFamily="34" charset="0"/>
              <a:buChar char="•"/>
            </a:pPr>
            <a:r>
              <a:rPr lang="en-AU" sz="1200" kern="1200" dirty="0" smtClean="0">
                <a:solidFill>
                  <a:schemeClr val="tx1"/>
                </a:solidFill>
                <a:latin typeface="+mn-lt"/>
                <a:ea typeface="+mn-ea"/>
                <a:cs typeface="+mn-cs"/>
              </a:rPr>
              <a:t> Commissioning and testing the system</a:t>
            </a:r>
          </a:p>
          <a:p>
            <a:pPr>
              <a:buFont typeface="Arial" pitchFamily="34" charset="0"/>
              <a:buChar char="•"/>
            </a:pPr>
            <a:r>
              <a:rPr lang="en-AU" sz="1200" kern="1200" dirty="0" smtClean="0">
                <a:solidFill>
                  <a:schemeClr val="tx1"/>
                </a:solidFill>
                <a:latin typeface="+mn-lt"/>
                <a:ea typeface="+mn-ea"/>
                <a:cs typeface="+mn-cs"/>
              </a:rPr>
              <a:t> Organisational changes required – such as:</a:t>
            </a:r>
          </a:p>
          <a:p>
            <a:pPr lvl="1">
              <a:buFont typeface="Arial" pitchFamily="34" charset="0"/>
              <a:buChar char="•"/>
            </a:pPr>
            <a:r>
              <a:rPr lang="en-AU" sz="1200" kern="1200" dirty="0" smtClean="0">
                <a:solidFill>
                  <a:schemeClr val="tx1"/>
                </a:solidFill>
                <a:latin typeface="+mn-lt"/>
                <a:ea typeface="+mn-ea"/>
                <a:cs typeface="+mn-cs"/>
              </a:rPr>
              <a:t> Requirements for new and/or revised:</a:t>
            </a:r>
          </a:p>
          <a:p>
            <a:pPr lvl="2">
              <a:buFont typeface="Arial" pitchFamily="34" charset="0"/>
              <a:buChar char="•"/>
            </a:pPr>
            <a:r>
              <a:rPr lang="en-AU" sz="1200" kern="1200" dirty="0" smtClean="0">
                <a:solidFill>
                  <a:schemeClr val="tx1"/>
                </a:solidFill>
                <a:latin typeface="+mn-lt"/>
                <a:ea typeface="+mn-ea"/>
                <a:cs typeface="+mn-cs"/>
              </a:rPr>
              <a:t> Policies and SOPs</a:t>
            </a:r>
          </a:p>
          <a:p>
            <a:pPr lvl="2">
              <a:buFont typeface="Arial" pitchFamily="34" charset="0"/>
              <a:buChar char="•"/>
            </a:pPr>
            <a:r>
              <a:rPr lang="en-AU" sz="1200" kern="1200" dirty="0" smtClean="0">
                <a:solidFill>
                  <a:schemeClr val="tx1"/>
                </a:solidFill>
                <a:latin typeface="+mn-lt"/>
                <a:ea typeface="+mn-ea"/>
                <a:cs typeface="+mn-cs"/>
              </a:rPr>
              <a:t> Documentation to support QA system and FSP requirements</a:t>
            </a:r>
          </a:p>
          <a:p>
            <a:pPr lvl="2">
              <a:buFont typeface="Arial" pitchFamily="34" charset="0"/>
              <a:buChar char="•"/>
            </a:pPr>
            <a:r>
              <a:rPr lang="en-AU" sz="1200" kern="1200" dirty="0" smtClean="0">
                <a:solidFill>
                  <a:schemeClr val="tx1"/>
                </a:solidFill>
                <a:latin typeface="+mn-lt"/>
                <a:ea typeface="+mn-ea"/>
                <a:cs typeface="+mn-cs"/>
              </a:rPr>
              <a:t> Menus</a:t>
            </a:r>
          </a:p>
          <a:p>
            <a:pPr lvl="2">
              <a:buFont typeface="Arial" pitchFamily="34" charset="0"/>
              <a:buChar char="•"/>
            </a:pPr>
            <a:r>
              <a:rPr lang="en-AU" sz="1200" kern="1200" dirty="0" smtClean="0">
                <a:solidFill>
                  <a:schemeClr val="tx1"/>
                </a:solidFill>
                <a:latin typeface="+mn-lt"/>
                <a:ea typeface="+mn-ea"/>
                <a:cs typeface="+mn-cs"/>
              </a:rPr>
              <a:t> Service times</a:t>
            </a:r>
          </a:p>
          <a:p>
            <a:pPr lvl="2">
              <a:buFont typeface="Arial" pitchFamily="34" charset="0"/>
              <a:buChar char="•"/>
            </a:pPr>
            <a:r>
              <a:rPr lang="en-AU" sz="1200" kern="1200" dirty="0" smtClean="0">
                <a:solidFill>
                  <a:schemeClr val="tx1"/>
                </a:solidFill>
                <a:latin typeface="+mn-lt"/>
                <a:ea typeface="+mn-ea"/>
                <a:cs typeface="+mn-cs"/>
              </a:rPr>
              <a:t> Staff rosters</a:t>
            </a:r>
          </a:p>
          <a:p>
            <a:pPr lvl="2">
              <a:buFont typeface="Arial" pitchFamily="34" charset="0"/>
              <a:buChar char="•"/>
            </a:pPr>
            <a:r>
              <a:rPr lang="en-AU" sz="1200" kern="1200" dirty="0" smtClean="0">
                <a:solidFill>
                  <a:schemeClr val="tx1"/>
                </a:solidFill>
                <a:latin typeface="+mn-lt"/>
                <a:ea typeface="+mn-ea"/>
                <a:cs typeface="+mn-cs"/>
              </a:rPr>
              <a:t> Ordering and purchasing of raw materials/ingredients</a:t>
            </a:r>
          </a:p>
          <a:p>
            <a:pPr lvl="2">
              <a:buFont typeface="Arial" pitchFamily="34" charset="0"/>
              <a:buChar char="•"/>
            </a:pPr>
            <a:r>
              <a:rPr lang="en-AU" sz="1200" kern="1200" dirty="0" smtClean="0">
                <a:solidFill>
                  <a:schemeClr val="tx1"/>
                </a:solidFill>
                <a:latin typeface="+mn-lt"/>
                <a:ea typeface="+mn-ea"/>
                <a:cs typeface="+mn-cs"/>
              </a:rPr>
              <a:t> Stock control and management</a:t>
            </a:r>
          </a:p>
          <a:p>
            <a:pPr lvl="2">
              <a:buFont typeface="Arial" pitchFamily="34" charset="0"/>
              <a:buChar char="•"/>
            </a:pPr>
            <a:r>
              <a:rPr lang="en-AU" sz="1200" kern="1200" dirty="0" smtClean="0">
                <a:solidFill>
                  <a:schemeClr val="tx1"/>
                </a:solidFill>
                <a:latin typeface="+mn-lt"/>
                <a:ea typeface="+mn-ea"/>
                <a:cs typeface="+mn-cs"/>
              </a:rPr>
              <a:t> Internal communication</a:t>
            </a:r>
          </a:p>
          <a:p>
            <a:pPr lvl="1">
              <a:buFont typeface="Arial" pitchFamily="34" charset="0"/>
              <a:buChar char="•"/>
            </a:pPr>
            <a:r>
              <a:rPr lang="en-AU" sz="1200" kern="1200" dirty="0" smtClean="0">
                <a:solidFill>
                  <a:schemeClr val="tx1"/>
                </a:solidFill>
                <a:latin typeface="+mn-lt"/>
                <a:ea typeface="+mn-ea"/>
                <a:cs typeface="+mn-cs"/>
              </a:rPr>
              <a:t> Need for new/different staff training and induction and orientation for staff</a:t>
            </a:r>
          </a:p>
          <a:p>
            <a:pPr lvl="1">
              <a:buFont typeface="Arial" pitchFamily="34" charset="0"/>
              <a:buChar char="•"/>
            </a:pPr>
            <a:r>
              <a:rPr lang="en-AU" sz="1200" kern="1200" dirty="0" smtClean="0">
                <a:solidFill>
                  <a:schemeClr val="tx1"/>
                </a:solidFill>
                <a:latin typeface="+mn-lt"/>
                <a:ea typeface="+mn-ea"/>
                <a:cs typeface="+mn-cs"/>
              </a:rPr>
              <a:t> Changed arrangements for: </a:t>
            </a:r>
          </a:p>
          <a:p>
            <a:pPr lvl="2">
              <a:buFont typeface="Arial" pitchFamily="34" charset="0"/>
              <a:buChar char="•"/>
            </a:pPr>
            <a:r>
              <a:rPr lang="en-AU" sz="1200" kern="1200" dirty="0" smtClean="0">
                <a:solidFill>
                  <a:schemeClr val="tx1"/>
                </a:solidFill>
                <a:latin typeface="+mn-lt"/>
                <a:ea typeface="+mn-ea"/>
                <a:cs typeface="+mn-cs"/>
              </a:rPr>
              <a:t> Determining productivity</a:t>
            </a:r>
          </a:p>
          <a:p>
            <a:pPr lvl="2">
              <a:buFont typeface="Arial" pitchFamily="34" charset="0"/>
              <a:buChar char="•"/>
            </a:pPr>
            <a:r>
              <a:rPr lang="en-AU" sz="1200" kern="1200" dirty="0" smtClean="0">
                <a:solidFill>
                  <a:schemeClr val="tx1"/>
                </a:solidFill>
                <a:latin typeface="+mn-lt"/>
                <a:ea typeface="+mn-ea"/>
                <a:cs typeface="+mn-cs"/>
              </a:rPr>
              <a:t> Yield testing</a:t>
            </a:r>
          </a:p>
          <a:p>
            <a:pPr lvl="2">
              <a:buFont typeface="Arial" pitchFamily="34" charset="0"/>
              <a:buChar char="•"/>
            </a:pPr>
            <a:r>
              <a:rPr lang="en-AU" sz="1200" kern="1200" dirty="0" smtClean="0">
                <a:solidFill>
                  <a:schemeClr val="tx1"/>
                </a:solidFill>
                <a:latin typeface="+mn-lt"/>
                <a:ea typeface="+mn-ea"/>
                <a:cs typeface="+mn-cs"/>
              </a:rPr>
              <a:t> Accessibility to raw materials and end-products.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advice for possible activities to </a:t>
            </a:r>
            <a:r>
              <a:rPr lang="en-AU" sz="1200" b="0" kern="1200" dirty="0" smtClean="0">
                <a:solidFill>
                  <a:schemeClr val="tx1"/>
                </a:solidFill>
                <a:latin typeface="+mn-lt"/>
                <a:ea typeface="+mn-ea"/>
                <a:cs typeface="+mn-cs"/>
              </a:rPr>
              <a:t>assist in delivering recommendations to management/the decision makers in the organisation:</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Identify a date, time and venue for the presentation of your recommendations</a:t>
            </a:r>
          </a:p>
          <a:p>
            <a:pPr>
              <a:buFont typeface="Arial" pitchFamily="34" charset="0"/>
              <a:buChar char="•"/>
            </a:pPr>
            <a:r>
              <a:rPr lang="en-AU" sz="1200" kern="1200" dirty="0" smtClean="0">
                <a:solidFill>
                  <a:schemeClr val="tx1"/>
                </a:solidFill>
                <a:latin typeface="+mn-lt"/>
                <a:ea typeface="+mn-ea"/>
                <a:cs typeface="+mn-cs"/>
              </a:rPr>
              <a:t> Invite all relevant stakeholders to the meeting – urge them to attend by stressing the importance of the meeting</a:t>
            </a:r>
          </a:p>
          <a:p>
            <a:pPr>
              <a:buFont typeface="Arial" pitchFamily="34" charset="0"/>
              <a:buChar char="•"/>
            </a:pPr>
            <a:r>
              <a:rPr lang="en-AU" sz="1200" kern="1200" dirty="0" smtClean="0">
                <a:solidFill>
                  <a:schemeClr val="tx1"/>
                </a:solidFill>
                <a:latin typeface="+mn-lt"/>
                <a:ea typeface="+mn-ea"/>
                <a:cs typeface="+mn-cs"/>
              </a:rPr>
              <a:t> Circulate your written report/recommendations prior to the presentation – so stakeholders have an opportunity to read the material, become familiar with the content, formulate questions they want to ask and identify issues they want to raise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continues presenting advice for possible activities to </a:t>
            </a:r>
            <a:r>
              <a:rPr lang="en-AU" sz="1200" b="0" kern="1200" dirty="0" smtClean="0">
                <a:solidFill>
                  <a:schemeClr val="tx1"/>
                </a:solidFill>
                <a:latin typeface="+mn-lt"/>
                <a:ea typeface="+mn-ea"/>
                <a:cs typeface="+mn-cs"/>
              </a:rPr>
              <a:t>assist in delivering recommendations to management/the decision makers in the organisation:</a:t>
            </a:r>
          </a:p>
          <a:p>
            <a:pPr>
              <a:buFont typeface="Arial" pitchFamily="34" charset="0"/>
              <a:buChar char="•"/>
            </a:pPr>
            <a:r>
              <a:rPr lang="en-AU" sz="1200" kern="1200" dirty="0" smtClean="0">
                <a:solidFill>
                  <a:schemeClr val="tx1"/>
                </a:solidFill>
                <a:latin typeface="+mn-lt"/>
                <a:ea typeface="+mn-ea"/>
                <a:cs typeface="+mn-cs"/>
              </a:rPr>
              <a:t> Include a tour of a venue already using the catering system you are recommending (if possible) – so stakeholders obtain first-hand experience of the system in terms of:</a:t>
            </a:r>
          </a:p>
          <a:p>
            <a:pPr lvl="1">
              <a:buFont typeface="Arial" pitchFamily="34" charset="0"/>
              <a:buChar char="•"/>
            </a:pPr>
            <a:r>
              <a:rPr lang="en-AU" sz="1200" kern="1200" dirty="0" smtClean="0">
                <a:solidFill>
                  <a:schemeClr val="tx1"/>
                </a:solidFill>
                <a:latin typeface="+mn-lt"/>
                <a:ea typeface="+mn-ea"/>
                <a:cs typeface="+mn-cs"/>
              </a:rPr>
              <a:t> Inspecting facilities and equipment</a:t>
            </a:r>
          </a:p>
          <a:p>
            <a:pPr lvl="1">
              <a:buFont typeface="Arial" pitchFamily="34" charset="0"/>
              <a:buChar char="•"/>
            </a:pPr>
            <a:r>
              <a:rPr lang="en-AU" sz="1200" kern="1200" dirty="0" smtClean="0">
                <a:solidFill>
                  <a:schemeClr val="tx1"/>
                </a:solidFill>
                <a:latin typeface="+mn-lt"/>
                <a:ea typeface="+mn-ea"/>
                <a:cs typeface="+mn-cs"/>
              </a:rPr>
              <a:t> Identifying flow of food through the venue/kitchen</a:t>
            </a:r>
          </a:p>
          <a:p>
            <a:pPr lvl="1">
              <a:buFont typeface="Arial" pitchFamily="34" charset="0"/>
              <a:buChar char="•"/>
            </a:pPr>
            <a:r>
              <a:rPr lang="en-AU" sz="1200" kern="1200" dirty="0" smtClean="0">
                <a:solidFill>
                  <a:schemeClr val="tx1"/>
                </a:solidFill>
                <a:latin typeface="+mn-lt"/>
                <a:ea typeface="+mn-ea"/>
                <a:cs typeface="+mn-cs"/>
              </a:rPr>
              <a:t> Observing food preparation and production</a:t>
            </a:r>
          </a:p>
          <a:p>
            <a:pPr lvl="1">
              <a:buFont typeface="Arial" pitchFamily="34" charset="0"/>
              <a:buChar char="•"/>
            </a:pPr>
            <a:r>
              <a:rPr lang="en-AU" sz="1200" kern="1200" dirty="0" smtClean="0">
                <a:solidFill>
                  <a:schemeClr val="tx1"/>
                </a:solidFill>
                <a:latin typeface="+mn-lt"/>
                <a:ea typeface="+mn-ea"/>
                <a:cs typeface="+mn-cs"/>
              </a:rPr>
              <a:t> Watching food service</a:t>
            </a:r>
          </a:p>
          <a:p>
            <a:pPr lvl="1">
              <a:buFont typeface="Arial" pitchFamily="34" charset="0"/>
              <a:buChar char="•"/>
            </a:pPr>
            <a:r>
              <a:rPr lang="en-AU" sz="1200" kern="1200" dirty="0" smtClean="0">
                <a:solidFill>
                  <a:schemeClr val="tx1"/>
                </a:solidFill>
                <a:latin typeface="+mn-lt"/>
                <a:ea typeface="+mn-ea"/>
                <a:cs typeface="+mn-cs"/>
              </a:rPr>
              <a:t> Experiencing the food produced</a:t>
            </a:r>
          </a:p>
          <a:p>
            <a:pPr>
              <a:buFont typeface="Arial" pitchFamily="34" charset="0"/>
              <a:buChar char="•"/>
            </a:pPr>
            <a:r>
              <a:rPr lang="en-AU" sz="1200" kern="1200" dirty="0" smtClean="0">
                <a:solidFill>
                  <a:schemeClr val="tx1"/>
                </a:solidFill>
                <a:latin typeface="+mn-lt"/>
                <a:ea typeface="+mn-ea"/>
                <a:cs typeface="+mn-cs"/>
              </a:rPr>
              <a:t> Invite managers and operators from a kitchen/business using the system you are recommending to attend the meeting/presentation – to give their endorsement and opinions of the system</a:t>
            </a:r>
          </a:p>
          <a:p>
            <a:pPr>
              <a:buFont typeface="Arial" pitchFamily="34" charset="0"/>
              <a:buChar char="•"/>
            </a:pPr>
            <a:r>
              <a:rPr lang="en-AU" sz="1200" kern="1200" dirty="0" smtClean="0">
                <a:solidFill>
                  <a:schemeClr val="tx1"/>
                </a:solidFill>
                <a:latin typeface="+mn-lt"/>
                <a:ea typeface="+mn-ea"/>
                <a:cs typeface="+mn-cs"/>
              </a:rPr>
              <a:t> Ask suppliers of the system to attend –  and:</a:t>
            </a:r>
          </a:p>
          <a:p>
            <a:pPr lvl="1">
              <a:buFont typeface="Arial" pitchFamily="34" charset="0"/>
              <a:buChar char="•"/>
            </a:pPr>
            <a:r>
              <a:rPr lang="en-AU" sz="1200" kern="1200" dirty="0" smtClean="0">
                <a:solidFill>
                  <a:schemeClr val="tx1"/>
                </a:solidFill>
                <a:latin typeface="+mn-lt"/>
                <a:ea typeface="+mn-ea"/>
                <a:cs typeface="+mn-cs"/>
              </a:rPr>
              <a:t> Speak to your recommendation</a:t>
            </a:r>
          </a:p>
          <a:p>
            <a:pPr lvl="1">
              <a:buFont typeface="Arial" pitchFamily="34" charset="0"/>
              <a:buChar char="•"/>
            </a:pPr>
            <a:r>
              <a:rPr lang="en-AU" sz="1200" kern="1200" dirty="0" smtClean="0">
                <a:solidFill>
                  <a:schemeClr val="tx1"/>
                </a:solidFill>
                <a:latin typeface="+mn-lt"/>
                <a:ea typeface="+mn-ea"/>
                <a:cs typeface="+mn-cs"/>
              </a:rPr>
              <a:t> Provide additional detail relating to the proposal</a:t>
            </a:r>
          </a:p>
          <a:p>
            <a:pPr lvl="1">
              <a:buFont typeface="Arial" pitchFamily="34" charset="0"/>
              <a:buChar char="•"/>
            </a:pPr>
            <a:r>
              <a:rPr lang="en-AU" sz="1200" kern="1200" dirty="0" smtClean="0">
                <a:solidFill>
                  <a:schemeClr val="tx1"/>
                </a:solidFill>
                <a:latin typeface="+mn-lt"/>
                <a:ea typeface="+mn-ea"/>
                <a:cs typeface="+mn-cs"/>
              </a:rPr>
              <a:t> Screen relevant videos/DVDs.</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thanks trainees for their attention and encourages them to apply course content as required in their workplace activities.</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2/3/2014</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2/3/2014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2/3/2014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2/3/2014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2/3/2014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2/3/2014</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2/3/2014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2/3/2014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2/3/2014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2/3/2014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2/3/2014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2/3/2014</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3.wmf"/></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6.wmf"/></Relationships>
</file>

<file path=ppt/slides/_rels/slide3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0.wmf"/></Relationships>
</file>

<file path=ppt/slides/_rels/slide36.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50.wmf"/></Relationships>
</file>

<file path=ppt/slides/_rels/slide45.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7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86.jpeg"/></Relationships>
</file>

<file path=ppt/slides/_rels/slide87.x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8.wmf"/><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02.xml"/><Relationship Id="rId1" Type="http://schemas.openxmlformats.org/officeDocument/2006/relationships/slideLayout" Target="../slideLayouts/slideLayout2.xml"/><Relationship Id="rId4" Type="http://schemas.openxmlformats.org/officeDocument/2006/relationships/image" Target="../media/image97.jpeg"/></Relationships>
</file>

<file path=ppt/slides/_rels/slide10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notesSlide" Target="../notesSlides/notesSlide106.xml"/><Relationship Id="rId1" Type="http://schemas.openxmlformats.org/officeDocument/2006/relationships/slideLayout" Target="../slideLayouts/slideLayout2.xml"/><Relationship Id="rId4" Type="http://schemas.openxmlformats.org/officeDocument/2006/relationships/image" Target="../media/image102.wmf"/></Relationships>
</file>

<file path=ppt/slides/_rels/slide107.x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04.wmf"/><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5.wmf"/><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980728"/>
            <a:ext cx="7704184" cy="936104"/>
          </a:xfrm>
        </p:spPr>
        <p:txBody>
          <a:bodyPr>
            <a:noAutofit/>
          </a:bodyPr>
          <a:lstStyle/>
          <a:p>
            <a:r>
              <a:rPr lang="en-AU" sz="3600" dirty="0" smtClean="0">
                <a:ln w="5000" cmpd="sng">
                  <a:noFill/>
                  <a:prstDash val="solid"/>
                </a:ln>
                <a:solidFill>
                  <a:srgbClr val="FF6600"/>
                </a:solidFill>
                <a:latin typeface="Helvetica" pitchFamily="34" charset="0"/>
              </a:rPr>
              <a:t>SELECT CATERING SYSTEMS</a:t>
            </a:r>
            <a:endParaRPr lang="en-US" sz="36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292080" y="1628800"/>
            <a:ext cx="3045324" cy="721790"/>
          </a:xfrm>
        </p:spPr>
        <p:txBody>
          <a:bodyPr>
            <a:noAutofit/>
          </a:bodyPr>
          <a:lstStyle/>
          <a:p>
            <a:r>
              <a:rPr lang="en-AU" sz="2400" b="1" dirty="0" smtClean="0">
                <a:latin typeface="Helvetica" pitchFamily="34" charset="0"/>
              </a:rPr>
              <a:t>D1.HCA.CL3.07</a:t>
            </a:r>
            <a:endParaRPr lang="en-US" sz="24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a:t>
            </a:fld>
            <a:endParaRPr lang="en-US" dirty="0">
              <a:latin typeface="Helvetica" pitchFamily="34" charset="0"/>
            </a:endParaRPr>
          </a:p>
        </p:txBody>
      </p:sp>
      <p:pic>
        <p:nvPicPr>
          <p:cNvPr id="1028" name="Picture 4" descr="C:\Documents and Settings\Godaishu\Desktop\PHOTOS\2011\Culinary\wai_a_getty_cookingguy_rgb.jpg"/>
          <p:cNvPicPr>
            <a:picLocks noChangeAspect="1" noChangeArrowheads="1"/>
          </p:cNvPicPr>
          <p:nvPr/>
        </p:nvPicPr>
        <p:blipFill>
          <a:blip r:embed="rId3" cstate="print"/>
          <a:srcRect/>
          <a:stretch>
            <a:fillRect/>
          </a:stretch>
        </p:blipFill>
        <p:spPr bwMode="auto">
          <a:xfrm>
            <a:off x="484846" y="2276872"/>
            <a:ext cx="3007034" cy="20128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31" name="Picture 7" descr="C:\Documents and Settings\Godaishu\Desktop\PHOTOS\2011\Culinary\cookery7.jpg"/>
          <p:cNvPicPr>
            <a:picLocks noChangeAspect="1" noChangeArrowheads="1"/>
          </p:cNvPicPr>
          <p:nvPr/>
        </p:nvPicPr>
        <p:blipFill>
          <a:blip r:embed="rId4" cstate="print">
            <a:lum contrast="10000"/>
          </a:blip>
          <a:srcRect/>
          <a:stretch>
            <a:fillRect/>
          </a:stretch>
        </p:blipFill>
        <p:spPr bwMode="auto">
          <a:xfrm>
            <a:off x="3491880" y="2636912"/>
            <a:ext cx="2304256" cy="344561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7" name="Picture 3" descr="C:\Documents and Settings\Godaishu\Desktop\PHOTOS\2011\Culinary\restaurant.jpg"/>
          <p:cNvPicPr>
            <a:picLocks noChangeAspect="1" noChangeArrowheads="1"/>
          </p:cNvPicPr>
          <p:nvPr/>
        </p:nvPicPr>
        <p:blipFill>
          <a:blip r:embed="rId5" cstate="print"/>
          <a:srcRect/>
          <a:stretch>
            <a:fillRect/>
          </a:stretch>
        </p:blipFill>
        <p:spPr bwMode="auto">
          <a:xfrm>
            <a:off x="5580112" y="3140968"/>
            <a:ext cx="3024336" cy="203197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9" name="Picture 5" descr="C:\Documents and Settings\Godaishu\Desktop\PHOTOS\2011\mg_1091.jpg"/>
          <p:cNvPicPr>
            <a:picLocks noChangeAspect="1" noChangeArrowheads="1"/>
          </p:cNvPicPr>
          <p:nvPr/>
        </p:nvPicPr>
        <p:blipFill>
          <a:blip r:embed="rId6" cstate="print"/>
          <a:srcRect/>
          <a:stretch>
            <a:fillRect/>
          </a:stretch>
        </p:blipFill>
        <p:spPr bwMode="auto">
          <a:xfrm>
            <a:off x="683568" y="4365104"/>
            <a:ext cx="3048000" cy="20383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Select catering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This Unit comprises three Elements: </a:t>
            </a:r>
          </a:p>
          <a:p>
            <a:pPr marL="360000" indent="-360000">
              <a:spcBef>
                <a:spcPts val="600"/>
              </a:spcBef>
              <a:spcAft>
                <a:spcPts val="1200"/>
              </a:spcAft>
            </a:pPr>
            <a:r>
              <a:rPr lang="en-US" sz="2200" dirty="0" smtClean="0">
                <a:latin typeface="Helvetica" pitchFamily="34" charset="0"/>
              </a:rPr>
              <a:t>Establish enterprise requirements for a catering system</a:t>
            </a:r>
          </a:p>
          <a:p>
            <a:pPr marL="360000" indent="-360000">
              <a:spcBef>
                <a:spcPts val="600"/>
              </a:spcBef>
              <a:spcAft>
                <a:spcPts val="1200"/>
              </a:spcAft>
            </a:pPr>
            <a:r>
              <a:rPr lang="en-US" sz="2200" dirty="0" smtClean="0">
                <a:latin typeface="Helvetica" pitchFamily="34" charset="0"/>
              </a:rPr>
              <a:t>Evaluate catering systems</a:t>
            </a:r>
          </a:p>
          <a:p>
            <a:pPr marL="360000" indent="-360000">
              <a:spcBef>
                <a:spcPts val="600"/>
              </a:spcBef>
              <a:spcAft>
                <a:spcPts val="1200"/>
              </a:spcAft>
            </a:pPr>
            <a:r>
              <a:rPr lang="en-US" sz="2200" dirty="0" smtClean="0">
                <a:latin typeface="Helvetica" pitchFamily="34" charset="0"/>
              </a:rPr>
              <a:t>Recommend a catering system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2050" name="Picture 2" descr="C:\Documents and Settings\Godaishu\Desktop\PHOTOS\2011\Culinary\Writing notes 2.jpg"/>
          <p:cNvPicPr>
            <a:picLocks noChangeAspect="1" noChangeArrowheads="1"/>
          </p:cNvPicPr>
          <p:nvPr/>
        </p:nvPicPr>
        <p:blipFill>
          <a:blip r:embed="rId3" cstate="print"/>
          <a:srcRect/>
          <a:stretch>
            <a:fillRect/>
          </a:stretch>
        </p:blipFill>
        <p:spPr bwMode="auto">
          <a:xfrm>
            <a:off x="5857884" y="3071810"/>
            <a:ext cx="2475880" cy="1642819"/>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t>Assessment for this unit may include:</a:t>
            </a:r>
          </a:p>
          <a:p>
            <a:pPr marL="360000" indent="-360000">
              <a:spcBef>
                <a:spcPts val="600"/>
              </a:spcBef>
              <a:spcAft>
                <a:spcPts val="1200"/>
              </a:spcAft>
              <a:buClr>
                <a:srgbClr val="7FD13B"/>
              </a:buClr>
            </a:pPr>
            <a:r>
              <a:rPr lang="en-US" sz="2200" dirty="0" smtClean="0"/>
              <a:t>Oral questions</a:t>
            </a:r>
          </a:p>
          <a:p>
            <a:pPr marL="360000" indent="-360000">
              <a:spcBef>
                <a:spcPts val="600"/>
              </a:spcBef>
              <a:spcAft>
                <a:spcPts val="1200"/>
              </a:spcAft>
              <a:buClr>
                <a:srgbClr val="7FD13B"/>
              </a:buClr>
            </a:pPr>
            <a:r>
              <a:rPr lang="en-US" sz="2200" dirty="0" smtClean="0"/>
              <a:t>Written questions</a:t>
            </a:r>
          </a:p>
          <a:p>
            <a:pPr marL="360000" indent="-360000">
              <a:spcBef>
                <a:spcPts val="600"/>
              </a:spcBef>
              <a:spcAft>
                <a:spcPts val="1200"/>
              </a:spcAft>
              <a:buClr>
                <a:srgbClr val="7FD13B"/>
              </a:buClr>
            </a:pPr>
            <a:r>
              <a:rPr lang="en-US" sz="2200" dirty="0" smtClean="0"/>
              <a:t>Work projects</a:t>
            </a:r>
          </a:p>
          <a:p>
            <a:pPr marL="360000" indent="-360000">
              <a:spcBef>
                <a:spcPts val="600"/>
              </a:spcBef>
              <a:spcAft>
                <a:spcPts val="1200"/>
              </a:spcAft>
              <a:buClr>
                <a:srgbClr val="7FD13B"/>
              </a:buClr>
            </a:pPr>
            <a:r>
              <a:rPr lang="en-US" sz="2200" dirty="0" smtClean="0"/>
              <a:t>Workplace observation of practical skills</a:t>
            </a:r>
          </a:p>
          <a:p>
            <a:pPr marL="360000" indent="-360000">
              <a:spcBef>
                <a:spcPts val="600"/>
              </a:spcBef>
              <a:spcAft>
                <a:spcPts val="1200"/>
              </a:spcAft>
              <a:buClr>
                <a:srgbClr val="7FD13B"/>
              </a:buClr>
            </a:pPr>
            <a:r>
              <a:rPr lang="en-US" sz="2200" dirty="0" smtClean="0"/>
              <a:t>Practical exercises</a:t>
            </a:r>
          </a:p>
          <a:p>
            <a:pPr marL="360000" indent="-360000">
              <a:spcBef>
                <a:spcPts val="600"/>
              </a:spcBef>
              <a:spcAft>
                <a:spcPts val="1200"/>
              </a:spcAft>
              <a:buClr>
                <a:srgbClr val="7FD13B"/>
              </a:buClr>
            </a:pPr>
            <a:r>
              <a:rPr lang="en-US" sz="2200" dirty="0" smtClean="0"/>
              <a:t>Formal report from employer or supervisor</a:t>
            </a:r>
          </a:p>
          <a:p>
            <a:pPr marL="360000" indent="-360000">
              <a:spcBef>
                <a:spcPts val="600"/>
              </a:spcBef>
              <a:spcAft>
                <a:spcPts val="1200"/>
              </a:spcAft>
              <a:buClr>
                <a:srgbClr val="7FD13B"/>
              </a:buClr>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5"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5897972" y="2053053"/>
            <a:ext cx="2388804" cy="1590261"/>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Establish enterprise requirements for a catering system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04862" y="168911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Research catering requirements the enterprise requires</a:t>
            </a:r>
          </a:p>
          <a:p>
            <a:pPr marL="360000" indent="-360000">
              <a:spcBef>
                <a:spcPts val="600"/>
              </a:spcBef>
              <a:spcAft>
                <a:spcPts val="1200"/>
              </a:spcAft>
            </a:pPr>
            <a:r>
              <a:rPr lang="en-US" sz="2200" dirty="0" smtClean="0">
                <a:latin typeface="Helvetica" pitchFamily="34" charset="0"/>
              </a:rPr>
              <a:t>Identify the enterprise constraints in selecting a system</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6" name="Picture 2" descr="C:\Documents and Settings\Godaishu\Local Settings\Temporary Internet Files\Content.IE5\AIDHLZ6J\MC900434663[1].wmf"/>
          <p:cNvPicPr>
            <a:picLocks noChangeAspect="1" noChangeArrowheads="1"/>
          </p:cNvPicPr>
          <p:nvPr/>
        </p:nvPicPr>
        <p:blipFill>
          <a:blip r:embed="rId3" cstate="print"/>
          <a:srcRect/>
          <a:stretch>
            <a:fillRect/>
          </a:stretch>
        </p:blipFill>
        <p:spPr bwMode="auto">
          <a:xfrm>
            <a:off x="8050423" y="2143116"/>
            <a:ext cx="450667" cy="595064"/>
          </a:xfrm>
          <a:prstGeom prst="rect">
            <a:avLst/>
          </a:prstGeom>
          <a:noFill/>
        </p:spPr>
      </p:pic>
      <p:pic>
        <p:nvPicPr>
          <p:cNvPr id="7" name="Picture 2" descr="C:\Documents and Settings\Godaishu\Local Settings\Temporary Internet Files\Content.IE5\AIDHLZ6J\MC900434663[1].wmf"/>
          <p:cNvPicPr>
            <a:picLocks noChangeAspect="1" noChangeArrowheads="1"/>
          </p:cNvPicPr>
          <p:nvPr/>
        </p:nvPicPr>
        <p:blipFill>
          <a:blip r:embed="rId3" cstate="print"/>
          <a:srcRect/>
          <a:stretch>
            <a:fillRect/>
          </a:stretch>
        </p:blipFill>
        <p:spPr bwMode="auto">
          <a:xfrm>
            <a:off x="8050423" y="2714620"/>
            <a:ext cx="450667" cy="595064"/>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17681"/>
            <a:ext cx="7467600" cy="4525963"/>
          </a:xfrm>
        </p:spPr>
        <p:txBody>
          <a:bodyPr>
            <a:normAutofit/>
          </a:bodyPr>
          <a:lstStyle/>
          <a:p>
            <a:pPr marL="0" indent="0">
              <a:spcBef>
                <a:spcPts val="600"/>
              </a:spcBef>
              <a:spcAft>
                <a:spcPts val="1200"/>
              </a:spcAft>
              <a:buNone/>
            </a:pPr>
            <a:r>
              <a:rPr lang="en-US" sz="2200" dirty="0" smtClean="0">
                <a:latin typeface="Helvetica" pitchFamily="34" charset="0"/>
              </a:rPr>
              <a:t>Businesses which may need to select a catering system:</a:t>
            </a:r>
          </a:p>
          <a:p>
            <a:pPr marL="360000" indent="-360000">
              <a:spcBef>
                <a:spcPts val="600"/>
              </a:spcBef>
              <a:spcAft>
                <a:spcPts val="1200"/>
              </a:spcAft>
            </a:pPr>
            <a:r>
              <a:rPr lang="en-AU" sz="2200" dirty="0" smtClean="0">
                <a:latin typeface="Helvetica" pitchFamily="34" charset="0"/>
              </a:rPr>
              <a:t>Hotels, taverns and bars</a:t>
            </a:r>
          </a:p>
          <a:p>
            <a:pPr marL="360000" indent="-360000">
              <a:spcBef>
                <a:spcPts val="600"/>
              </a:spcBef>
              <a:spcAft>
                <a:spcPts val="1200"/>
              </a:spcAft>
            </a:pPr>
            <a:r>
              <a:rPr lang="en-AU" sz="2200" dirty="0" smtClean="0">
                <a:latin typeface="Helvetica" pitchFamily="34" charset="0"/>
              </a:rPr>
              <a:t>Restaurants and cafes</a:t>
            </a:r>
          </a:p>
          <a:p>
            <a:pPr marL="360000" indent="-360000">
              <a:spcBef>
                <a:spcPts val="600"/>
              </a:spcBef>
              <a:spcAft>
                <a:spcPts val="1200"/>
              </a:spcAft>
            </a:pPr>
            <a:r>
              <a:rPr lang="en-AU" sz="2200" dirty="0" smtClean="0">
                <a:latin typeface="Helvetica" pitchFamily="34" charset="0"/>
              </a:rPr>
              <a:t>Private, sporting and other clubs</a:t>
            </a:r>
          </a:p>
          <a:p>
            <a:pPr marL="360000" indent="-360000">
              <a:spcBef>
                <a:spcPts val="600"/>
              </a:spcBef>
              <a:spcAft>
                <a:spcPts val="1200"/>
              </a:spcAft>
            </a:pPr>
            <a:r>
              <a:rPr lang="en-AU" sz="2200" dirty="0" smtClean="0">
                <a:latin typeface="Helvetica" pitchFamily="34" charset="0"/>
              </a:rPr>
              <a:t>School, universities and other educational institutions</a:t>
            </a:r>
          </a:p>
          <a:p>
            <a:pPr marL="360000" indent="-360000">
              <a:spcBef>
                <a:spcPts val="600"/>
              </a:spcBef>
              <a:spcAft>
                <a:spcPts val="1200"/>
              </a:spcAft>
            </a:pPr>
            <a:r>
              <a:rPr lang="en-AU" sz="2200" dirty="0" smtClean="0">
                <a:latin typeface="Helvetica" pitchFamily="34" charset="0"/>
              </a:rPr>
              <a:t>Hospitals, hospices and aged care facilities</a:t>
            </a:r>
          </a:p>
          <a:p>
            <a:pPr marL="360000" indent="-360000">
              <a:spcBef>
                <a:spcPts val="600"/>
              </a:spcBef>
              <a:spcAft>
                <a:spcPts val="1200"/>
              </a:spcAft>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4" descr="I:\Overseas Projects\PHOTOS\2013\F &amp; B services\Provide F&amp;B services images\782246_ambience_ii.jpg"/>
          <p:cNvPicPr/>
          <p:nvPr/>
        </p:nvPicPr>
        <p:blipFill>
          <a:blip r:embed="rId3" cstate="print">
            <a:lum bright="10000"/>
          </a:blip>
          <a:srcRect/>
          <a:stretch>
            <a:fillRect/>
          </a:stretch>
        </p:blipFill>
        <p:spPr bwMode="auto">
          <a:xfrm>
            <a:off x="6556279" y="2214554"/>
            <a:ext cx="2016249" cy="149797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17681"/>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Workplace cafeterias and canteens</a:t>
            </a:r>
          </a:p>
          <a:p>
            <a:pPr marL="360000" indent="-360000">
              <a:spcBef>
                <a:spcPts val="600"/>
              </a:spcBef>
              <a:spcAft>
                <a:spcPts val="1200"/>
              </a:spcAft>
            </a:pPr>
            <a:r>
              <a:rPr lang="en-AU" sz="2200" dirty="0" smtClean="0">
                <a:latin typeface="Helvetica" pitchFamily="34" charset="0"/>
              </a:rPr>
              <a:t>Military/defence catering</a:t>
            </a:r>
          </a:p>
          <a:p>
            <a:pPr marL="360000" indent="-360000">
              <a:spcBef>
                <a:spcPts val="600"/>
              </a:spcBef>
              <a:spcAft>
                <a:spcPts val="1200"/>
              </a:spcAft>
            </a:pPr>
            <a:r>
              <a:rPr lang="en-AU" sz="2200" dirty="0" smtClean="0">
                <a:latin typeface="Helvetica" pitchFamily="34" charset="0"/>
              </a:rPr>
              <a:t>Prisons</a:t>
            </a:r>
          </a:p>
          <a:p>
            <a:pPr marL="360000" indent="-360000">
              <a:spcBef>
                <a:spcPts val="600"/>
              </a:spcBef>
              <a:spcAft>
                <a:spcPts val="1200"/>
              </a:spcAft>
            </a:pPr>
            <a:r>
              <a:rPr lang="en-AU" sz="2200" dirty="0" smtClean="0">
                <a:latin typeface="Helvetica" pitchFamily="34" charset="0"/>
              </a:rPr>
              <a:t>Residential caterers</a:t>
            </a:r>
          </a:p>
          <a:p>
            <a:pPr marL="360000" indent="-360000">
              <a:spcBef>
                <a:spcPts val="600"/>
              </a:spcBef>
              <a:spcAft>
                <a:spcPts val="1200"/>
              </a:spcAft>
            </a:pPr>
            <a:r>
              <a:rPr lang="en-AU" sz="2200" dirty="0" smtClean="0">
                <a:latin typeface="Helvetica" pitchFamily="34" charset="0"/>
              </a:rPr>
              <a:t>In-flight and other transport catering</a:t>
            </a:r>
          </a:p>
          <a:p>
            <a:pPr marL="360000" indent="-360000">
              <a:spcBef>
                <a:spcPts val="600"/>
              </a:spcBef>
              <a:spcAft>
                <a:spcPts val="1200"/>
              </a:spcAft>
            </a:pPr>
            <a:r>
              <a:rPr lang="en-AU" sz="2200" dirty="0" smtClean="0">
                <a:latin typeface="Helvetica" pitchFamily="34" charset="0"/>
              </a:rPr>
              <a:t>Meetings, Incentives, Conferences/conventions, and Exhibitions (MICE) catering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1026" name="Picture 2" descr="C:\Documents and Settings\Godaishu\Desktop\PHOTOS\2012\1339587_catering_-_coffee.jpg"/>
          <p:cNvPicPr>
            <a:picLocks noChangeAspect="1" noChangeArrowheads="1"/>
          </p:cNvPicPr>
          <p:nvPr/>
        </p:nvPicPr>
        <p:blipFill>
          <a:blip r:embed="rId3" cstate="print"/>
          <a:srcRect/>
          <a:stretch>
            <a:fillRect/>
          </a:stretch>
        </p:blipFill>
        <p:spPr bwMode="auto">
          <a:xfrm>
            <a:off x="6072198" y="2428868"/>
            <a:ext cx="2221968" cy="1666476"/>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17681"/>
            <a:ext cx="7467600" cy="4525963"/>
          </a:xfrm>
        </p:spPr>
        <p:txBody>
          <a:bodyPr>
            <a:normAutofit/>
          </a:bodyPr>
          <a:lstStyle/>
          <a:p>
            <a:pPr marL="0" indent="0">
              <a:spcBef>
                <a:spcPts val="600"/>
              </a:spcBef>
              <a:spcAft>
                <a:spcPts val="1200"/>
              </a:spcAft>
              <a:buNone/>
            </a:pPr>
            <a:r>
              <a:rPr lang="en-US" sz="2200" dirty="0" smtClean="0">
                <a:latin typeface="Helvetica" pitchFamily="34" charset="0"/>
              </a:rPr>
              <a:t>Main aims of the unit are:</a:t>
            </a:r>
          </a:p>
          <a:p>
            <a:pPr marL="360000" indent="-360000">
              <a:spcBef>
                <a:spcPts val="600"/>
              </a:spcBef>
              <a:spcAft>
                <a:spcPts val="1200"/>
              </a:spcAft>
            </a:pPr>
            <a:r>
              <a:rPr lang="en-AU" sz="2200" dirty="0" smtClean="0">
                <a:latin typeface="Helvetica" pitchFamily="34" charset="0"/>
              </a:rPr>
              <a:t>Determination of catering system requirements for an organisation</a:t>
            </a:r>
          </a:p>
          <a:p>
            <a:pPr marL="360000" indent="-360000">
              <a:spcBef>
                <a:spcPts val="600"/>
              </a:spcBef>
              <a:spcAft>
                <a:spcPts val="1200"/>
              </a:spcAft>
            </a:pPr>
            <a:r>
              <a:rPr lang="en-AU" sz="2200" dirty="0" smtClean="0">
                <a:latin typeface="Helvetica" pitchFamily="34" charset="0"/>
              </a:rPr>
              <a:t>Evaluation of operational aspects of different </a:t>
            </a:r>
            <a:br>
              <a:rPr lang="en-AU" sz="2200" dirty="0" smtClean="0">
                <a:latin typeface="Helvetica" pitchFamily="34" charset="0"/>
              </a:rPr>
            </a:br>
            <a:r>
              <a:rPr lang="en-AU" sz="2200" dirty="0" smtClean="0">
                <a:latin typeface="Helvetica" pitchFamily="34" charset="0"/>
              </a:rPr>
              <a:t>catering systems  </a:t>
            </a:r>
          </a:p>
          <a:p>
            <a:pPr marL="360000" indent="-360000">
              <a:spcBef>
                <a:spcPts val="600"/>
              </a:spcBef>
              <a:spcAft>
                <a:spcPts val="1200"/>
              </a:spcAft>
            </a:pPr>
            <a:r>
              <a:rPr lang="en-AU" sz="2200" dirty="0" smtClean="0">
                <a:latin typeface="Helvetica" pitchFamily="34" charset="0"/>
              </a:rPr>
              <a:t>Selection of a catering system which suits the characteristics and needs of the organisation being considered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2050" name="Picture 2" descr="C:\Documents and Settings\Godaishu\Local Settings\Temporary Internet Files\Content.IE5\YISE4YB4\MC900384020[1].wmf"/>
          <p:cNvPicPr>
            <a:picLocks noChangeAspect="1" noChangeArrowheads="1"/>
          </p:cNvPicPr>
          <p:nvPr/>
        </p:nvPicPr>
        <p:blipFill>
          <a:blip r:embed="rId3" cstate="print"/>
          <a:srcRect/>
          <a:stretch>
            <a:fillRect/>
          </a:stretch>
        </p:blipFill>
        <p:spPr bwMode="auto">
          <a:xfrm>
            <a:off x="7286644" y="2761152"/>
            <a:ext cx="1785950" cy="1466730"/>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8911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Need for this unit will arise when:</a:t>
            </a:r>
          </a:p>
          <a:p>
            <a:pPr marL="360000" indent="-360000">
              <a:spcBef>
                <a:spcPts val="600"/>
              </a:spcBef>
              <a:spcAft>
                <a:spcPts val="1200"/>
              </a:spcAft>
            </a:pPr>
            <a:r>
              <a:rPr lang="en-AU" sz="2200" dirty="0" smtClean="0">
                <a:latin typeface="Helvetica" pitchFamily="34" charset="0"/>
              </a:rPr>
              <a:t>You are called on to modify an existing food production and food service system in a business</a:t>
            </a:r>
          </a:p>
          <a:p>
            <a:pPr marL="360000" indent="-360000">
              <a:spcBef>
                <a:spcPts val="600"/>
              </a:spcBef>
              <a:spcAft>
                <a:spcPts val="1200"/>
              </a:spcAft>
            </a:pPr>
            <a:r>
              <a:rPr lang="en-AU" sz="2200" dirty="0" smtClean="0">
                <a:latin typeface="Helvetica" pitchFamily="34" charset="0"/>
              </a:rPr>
              <a:t>The opportunity arises to build and install a new catering system for a venue or organisation</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3074" name="Picture 2" descr="C:\Documents and Settings\Godaishu\Desktop\PHOTOS\2012\ZOO_005.jpg"/>
          <p:cNvPicPr>
            <a:picLocks noChangeAspect="1" noChangeArrowheads="1"/>
          </p:cNvPicPr>
          <p:nvPr/>
        </p:nvPicPr>
        <p:blipFill>
          <a:blip r:embed="rId3" cstate="print"/>
          <a:srcRect/>
          <a:stretch>
            <a:fillRect/>
          </a:stretch>
        </p:blipFill>
        <p:spPr bwMode="auto">
          <a:xfrm>
            <a:off x="3125381" y="4429132"/>
            <a:ext cx="2893239" cy="1928826"/>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This unit is aimed at:</a:t>
            </a:r>
          </a:p>
          <a:p>
            <a:pPr marL="360000" indent="-360000">
              <a:spcBef>
                <a:spcPts val="600"/>
              </a:spcBef>
              <a:spcAft>
                <a:spcPts val="1200"/>
              </a:spcAft>
            </a:pPr>
            <a:r>
              <a:rPr lang="en-US" sz="2200" dirty="0" smtClean="0">
                <a:latin typeface="Helvetica" pitchFamily="34" charset="0"/>
              </a:rPr>
              <a:t>Senior managers</a:t>
            </a:r>
          </a:p>
          <a:p>
            <a:pPr marL="360000" indent="-360000">
              <a:spcBef>
                <a:spcPts val="600"/>
              </a:spcBef>
              <a:spcAft>
                <a:spcPts val="1200"/>
              </a:spcAft>
            </a:pPr>
            <a:r>
              <a:rPr lang="en-US" sz="2200" dirty="0" smtClean="0">
                <a:latin typeface="Helvetica" pitchFamily="34" charset="0"/>
              </a:rPr>
              <a:t>Who operate with significant autonomy</a:t>
            </a:r>
          </a:p>
          <a:p>
            <a:pPr marL="360000" indent="-360000">
              <a:spcBef>
                <a:spcPts val="600"/>
              </a:spcBef>
              <a:spcAft>
                <a:spcPts val="1200"/>
              </a:spcAft>
            </a:pPr>
            <a:r>
              <a:rPr lang="en-US" sz="2200" dirty="0" smtClean="0">
                <a:latin typeface="Helvetica" pitchFamily="34" charset="0"/>
              </a:rPr>
              <a:t>With responsibility and authority to make </a:t>
            </a:r>
            <a:br>
              <a:rPr lang="en-US" sz="2200" dirty="0" smtClean="0">
                <a:latin typeface="Helvetica" pitchFamily="34" charset="0"/>
              </a:rPr>
            </a:br>
            <a:r>
              <a:rPr lang="en-US" sz="2200" dirty="0" smtClean="0">
                <a:latin typeface="Helvetica" pitchFamily="34" charset="0"/>
              </a:rPr>
              <a:t>strategic management decisions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4098" name="Picture 2" descr="C:\Documents and Settings\Godaishu\Desktop\PHOTOS\2012\ZOO_002.jpg"/>
          <p:cNvPicPr>
            <a:picLocks noChangeAspect="1" noChangeArrowheads="1"/>
          </p:cNvPicPr>
          <p:nvPr/>
        </p:nvPicPr>
        <p:blipFill>
          <a:blip r:embed="rId3" cstate="print"/>
          <a:srcRect/>
          <a:stretch>
            <a:fillRect/>
          </a:stretch>
        </p:blipFill>
        <p:spPr bwMode="auto">
          <a:xfrm>
            <a:off x="6629086" y="2428868"/>
            <a:ext cx="1744117" cy="2571768"/>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8911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‘Catering system’ = </a:t>
            </a:r>
            <a:r>
              <a:rPr lang="en-AU" sz="2200" dirty="0" smtClean="0">
                <a:latin typeface="Helvetica" pitchFamily="34" charset="0"/>
              </a:rPr>
              <a:t>an overall food production and food service system where all components are integrated into a cohesive, effective and efficient operation. </a:t>
            </a:r>
          </a:p>
          <a:p>
            <a:pPr marL="0" indent="0">
              <a:spcBef>
                <a:spcPts val="600"/>
              </a:spcBef>
              <a:spcAft>
                <a:spcPts val="1200"/>
              </a:spcAft>
              <a:buNone/>
            </a:pPr>
            <a:r>
              <a:rPr lang="en-AU" sz="2200" dirty="0" smtClean="0">
                <a:latin typeface="Helvetica" pitchFamily="34" charset="0"/>
              </a:rPr>
              <a:t>Examples include</a:t>
            </a:r>
            <a:r>
              <a:rPr lang="en-US" sz="2200" dirty="0" smtClean="0">
                <a:latin typeface="Helvetica" pitchFamily="34" charset="0"/>
              </a:rPr>
              <a:t>:</a:t>
            </a:r>
          </a:p>
          <a:p>
            <a:pPr marL="360000" indent="-360000">
              <a:spcBef>
                <a:spcPts val="600"/>
              </a:spcBef>
              <a:spcAft>
                <a:spcPts val="1200"/>
              </a:spcAft>
            </a:pPr>
            <a:r>
              <a:rPr lang="en-US" sz="2200" dirty="0" smtClean="0">
                <a:latin typeface="Helvetica" pitchFamily="34" charset="0"/>
              </a:rPr>
              <a:t>‘Conventional’</a:t>
            </a:r>
          </a:p>
          <a:p>
            <a:pPr marL="360000" indent="-360000">
              <a:spcBef>
                <a:spcPts val="600"/>
              </a:spcBef>
              <a:spcAft>
                <a:spcPts val="1200"/>
              </a:spcAft>
            </a:pPr>
            <a:r>
              <a:rPr lang="en-US" sz="2200" dirty="0" smtClean="0">
                <a:latin typeface="Helvetica" pitchFamily="34" charset="0"/>
              </a:rPr>
              <a:t>‘Cook-chill’</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5" name="Picture 4" descr="I:\Overseas Projects\PHOTOS\2012\Culinary 2012\Buffet Food\DSCF0445.JPG"/>
          <p:cNvPicPr/>
          <p:nvPr/>
        </p:nvPicPr>
        <p:blipFill>
          <a:blip r:embed="rId3" cstate="print">
            <a:lum contrast="10000"/>
          </a:blip>
          <a:srcRect/>
          <a:stretch>
            <a:fillRect/>
          </a:stretch>
        </p:blipFill>
        <p:spPr bwMode="auto">
          <a:xfrm>
            <a:off x="5795549" y="3152800"/>
            <a:ext cx="2491227" cy="184783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60557"/>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‘Cook-freeze’</a:t>
            </a:r>
          </a:p>
          <a:p>
            <a:pPr marL="360000" indent="-360000">
              <a:spcBef>
                <a:spcPts val="600"/>
              </a:spcBef>
              <a:spcAft>
                <a:spcPts val="1200"/>
              </a:spcAft>
            </a:pPr>
            <a:r>
              <a:rPr lang="en-US" sz="2200" dirty="0" smtClean="0">
                <a:latin typeface="Helvetica" pitchFamily="34" charset="0"/>
              </a:rPr>
              <a:t>‘Commissary’</a:t>
            </a:r>
          </a:p>
          <a:p>
            <a:pPr marL="360000" indent="-360000">
              <a:spcBef>
                <a:spcPts val="600"/>
              </a:spcBef>
              <a:spcAft>
                <a:spcPts val="1200"/>
              </a:spcAft>
            </a:pPr>
            <a:r>
              <a:rPr lang="en-US" sz="2200" dirty="0" smtClean="0">
                <a:latin typeface="Helvetica" pitchFamily="34" charset="0"/>
              </a:rPr>
              <a:t>Assemble-serve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5122" name="Picture 2" descr="C:\Documents and Settings\Godaishu\Desktop\PHOTOS\2012\1046592_buffet.jpg"/>
          <p:cNvPicPr>
            <a:picLocks noChangeAspect="1" noChangeArrowheads="1"/>
          </p:cNvPicPr>
          <p:nvPr/>
        </p:nvPicPr>
        <p:blipFill>
          <a:blip r:embed="rId3" cstate="print"/>
          <a:srcRect/>
          <a:stretch>
            <a:fillRect/>
          </a:stretch>
        </p:blipFill>
        <p:spPr bwMode="auto">
          <a:xfrm>
            <a:off x="5643590" y="1857364"/>
            <a:ext cx="2500310" cy="1666873"/>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714488"/>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Foundation skills required of those with responsibility for selecting a catering system:</a:t>
            </a:r>
          </a:p>
          <a:p>
            <a:pPr marL="360000" indent="-360000">
              <a:spcBef>
                <a:spcPts val="600"/>
              </a:spcBef>
              <a:spcAft>
                <a:spcPts val="1200"/>
              </a:spcAft>
            </a:pPr>
            <a:r>
              <a:rPr lang="en-US" sz="2200" dirty="0" smtClean="0">
                <a:latin typeface="Helvetica" pitchFamily="34" charset="0"/>
              </a:rPr>
              <a:t>Communication to underpin consultation with others</a:t>
            </a:r>
          </a:p>
          <a:p>
            <a:pPr marL="360000" indent="-360000">
              <a:spcBef>
                <a:spcPts val="600"/>
              </a:spcBef>
              <a:spcAft>
                <a:spcPts val="1200"/>
              </a:spcAft>
            </a:pPr>
            <a:r>
              <a:rPr lang="en-US" sz="2200" dirty="0" smtClean="0">
                <a:latin typeface="Helvetica" pitchFamily="34" charset="0"/>
              </a:rPr>
              <a:t>Critical thinking skills</a:t>
            </a:r>
          </a:p>
          <a:p>
            <a:pPr marL="360000" indent="-360000">
              <a:spcBef>
                <a:spcPts val="600"/>
              </a:spcBef>
              <a:spcAft>
                <a:spcPts val="1200"/>
              </a:spcAft>
            </a:pPr>
            <a:r>
              <a:rPr lang="en-US" sz="2200" dirty="0" smtClean="0">
                <a:latin typeface="Helvetica" pitchFamily="34" charset="0"/>
              </a:rPr>
              <a:t>Initiative and enterprise skills</a:t>
            </a:r>
          </a:p>
          <a:p>
            <a:pPr marL="360000" indent="-360000">
              <a:spcBef>
                <a:spcPts val="600"/>
              </a:spcBef>
              <a:spcAft>
                <a:spcPts val="1200"/>
              </a:spcAft>
            </a:pPr>
            <a:r>
              <a:rPr lang="en-US" sz="2200" dirty="0" smtClean="0">
                <a:latin typeface="Helvetica" pitchFamily="34" charset="0"/>
              </a:rPr>
              <a:t>High level literacy skills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6146" name="Picture 2" descr="C:\Documents and Settings\Godaishu\Desktop\PHOTOS\2012\iStock_000002364439Medium.jpg"/>
          <p:cNvPicPr>
            <a:picLocks noChangeAspect="1" noChangeArrowheads="1"/>
          </p:cNvPicPr>
          <p:nvPr/>
        </p:nvPicPr>
        <p:blipFill>
          <a:blip r:embed="rId3" cstate="print"/>
          <a:srcRect/>
          <a:stretch>
            <a:fillRect/>
          </a:stretch>
        </p:blipFill>
        <p:spPr bwMode="auto">
          <a:xfrm>
            <a:off x="6939412" y="3429000"/>
            <a:ext cx="1704554" cy="2562330"/>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89119"/>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High level numeracy skills</a:t>
            </a:r>
          </a:p>
          <a:p>
            <a:pPr marL="360000" indent="-360000">
              <a:spcBef>
                <a:spcPts val="600"/>
              </a:spcBef>
              <a:spcAft>
                <a:spcPts val="1200"/>
              </a:spcAft>
            </a:pPr>
            <a:r>
              <a:rPr lang="en-US" sz="2200" dirty="0" smtClean="0">
                <a:latin typeface="Helvetica" pitchFamily="34" charset="0"/>
              </a:rPr>
              <a:t>Planning, self-management and organisational </a:t>
            </a:r>
            <a:br>
              <a:rPr lang="en-US" sz="2200" dirty="0" smtClean="0">
                <a:latin typeface="Helvetica" pitchFamily="34" charset="0"/>
              </a:rPr>
            </a:br>
            <a:r>
              <a:rPr lang="en-US" sz="2200" dirty="0" smtClean="0">
                <a:latin typeface="Helvetica" pitchFamily="34" charset="0"/>
              </a:rPr>
              <a:t>skills</a:t>
            </a:r>
          </a:p>
          <a:p>
            <a:pPr marL="360000" indent="-360000">
              <a:spcBef>
                <a:spcPts val="600"/>
              </a:spcBef>
              <a:spcAft>
                <a:spcPts val="1200"/>
              </a:spcAft>
            </a:pPr>
            <a:r>
              <a:rPr lang="en-US" sz="2200" dirty="0" smtClean="0">
                <a:latin typeface="Helvetica" pitchFamily="34" charset="0"/>
              </a:rPr>
              <a:t>Problem-solving skills</a:t>
            </a:r>
          </a:p>
          <a:p>
            <a:pPr marL="360000" indent="-360000">
              <a:spcBef>
                <a:spcPts val="600"/>
              </a:spcBef>
              <a:spcAft>
                <a:spcPts val="1200"/>
              </a:spcAft>
            </a:pPr>
            <a:r>
              <a:rPr lang="en-US" sz="2200" dirty="0" smtClean="0">
                <a:latin typeface="Helvetica" pitchFamily="34" charset="0"/>
              </a:rPr>
              <a:t>Teamwork and interpersonal skills</a:t>
            </a:r>
          </a:p>
          <a:p>
            <a:pPr marL="360000" indent="-360000">
              <a:spcBef>
                <a:spcPts val="600"/>
              </a:spcBef>
              <a:spcAft>
                <a:spcPts val="1200"/>
              </a:spcAft>
            </a:pPr>
            <a:r>
              <a:rPr lang="en-US" sz="2200" dirty="0" smtClean="0">
                <a:latin typeface="Helvetica" pitchFamily="34" charset="0"/>
              </a:rPr>
              <a:t>Communication skills to facilitate questioning</a:t>
            </a:r>
            <a:br>
              <a:rPr lang="en-US" sz="2200" dirty="0" smtClean="0">
                <a:latin typeface="Helvetica" pitchFamily="34" charset="0"/>
              </a:rPr>
            </a:br>
            <a:r>
              <a:rPr lang="en-US" sz="2200" dirty="0" smtClean="0">
                <a:latin typeface="Helvetica" pitchFamily="34" charset="0"/>
              </a:rPr>
              <a:t>and idea sharing</a:t>
            </a:r>
          </a:p>
          <a:p>
            <a:pPr marL="360000" indent="-360000">
              <a:spcBef>
                <a:spcPts val="600"/>
              </a:spcBef>
              <a:spcAft>
                <a:spcPts val="1200"/>
              </a:spcAft>
            </a:pPr>
            <a:r>
              <a:rPr lang="en-US" sz="2200" dirty="0" smtClean="0">
                <a:latin typeface="Helvetica" pitchFamily="34" charset="0"/>
              </a:rPr>
              <a:t>Research skills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7170" name="Picture 2" descr="C:\Documents and Settings\Godaishu\Desktop\PHOTOS\2012\iStock_000002859965Small.jpg"/>
          <p:cNvPicPr>
            <a:picLocks noChangeAspect="1" noChangeArrowheads="1"/>
          </p:cNvPicPr>
          <p:nvPr/>
        </p:nvPicPr>
        <p:blipFill>
          <a:blip r:embed="rId3" cstate="print"/>
          <a:srcRect/>
          <a:stretch>
            <a:fillRect/>
          </a:stretch>
        </p:blipFill>
        <p:spPr bwMode="auto">
          <a:xfrm>
            <a:off x="7135842" y="2338398"/>
            <a:ext cx="1722438" cy="2590800"/>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60557"/>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Foundation knowledge is required of:</a:t>
            </a:r>
          </a:p>
          <a:p>
            <a:pPr marL="360000" indent="-360000">
              <a:spcBef>
                <a:spcPts val="600"/>
              </a:spcBef>
              <a:spcAft>
                <a:spcPts val="1200"/>
              </a:spcAft>
            </a:pPr>
            <a:r>
              <a:rPr lang="en-US" sz="2200" dirty="0" smtClean="0">
                <a:latin typeface="Helvetica" pitchFamily="34" charset="0"/>
              </a:rPr>
              <a:t>Methods of cookery</a:t>
            </a:r>
          </a:p>
          <a:p>
            <a:pPr marL="360000" indent="-360000">
              <a:spcBef>
                <a:spcPts val="600"/>
              </a:spcBef>
              <a:spcAft>
                <a:spcPts val="1200"/>
              </a:spcAft>
            </a:pPr>
            <a:r>
              <a:rPr lang="en-US" sz="2200" dirty="0" smtClean="0">
                <a:latin typeface="Helvetica" pitchFamily="34" charset="0"/>
              </a:rPr>
              <a:t>All stages of the food production process</a:t>
            </a:r>
          </a:p>
          <a:p>
            <a:pPr marL="360000" indent="-360000">
              <a:spcBef>
                <a:spcPts val="600"/>
              </a:spcBef>
              <a:spcAft>
                <a:spcPts val="1200"/>
              </a:spcAft>
            </a:pPr>
            <a:r>
              <a:rPr lang="en-US" sz="2200" dirty="0" smtClean="0">
                <a:latin typeface="Helvetica" pitchFamily="34" charset="0"/>
              </a:rPr>
              <a:t>HACCP and FSPs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5" name="Picture 4" descr="C:\Documents and Settings\danielc\Local Settings\Temporary Internet Files\Content.IE5\112MAXTI\MP900448628[1].jpg"/>
          <p:cNvPicPr/>
          <p:nvPr/>
        </p:nvPicPr>
        <p:blipFill>
          <a:blip r:embed="rId3" cstate="print"/>
          <a:srcRect/>
          <a:stretch>
            <a:fillRect/>
          </a:stretch>
        </p:blipFill>
        <p:spPr bwMode="auto">
          <a:xfrm>
            <a:off x="6702600" y="2285992"/>
            <a:ext cx="1584176" cy="236908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89119"/>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Culinary terms</a:t>
            </a:r>
          </a:p>
          <a:p>
            <a:pPr marL="360000" indent="-360000">
              <a:spcBef>
                <a:spcPts val="600"/>
              </a:spcBef>
              <a:spcAft>
                <a:spcPts val="1200"/>
              </a:spcAft>
            </a:pPr>
            <a:r>
              <a:rPr lang="en-US" sz="2200" dirty="0" smtClean="0">
                <a:latin typeface="Helvetica" pitchFamily="34" charset="0"/>
              </a:rPr>
              <a:t>Costing, yield testing and portion control</a:t>
            </a:r>
          </a:p>
          <a:p>
            <a:pPr marL="360000" indent="-360000">
              <a:spcBef>
                <a:spcPts val="600"/>
              </a:spcBef>
              <a:spcAft>
                <a:spcPts val="1200"/>
              </a:spcAft>
            </a:pPr>
            <a:r>
              <a:rPr lang="en-US" sz="2200" dirty="0" smtClean="0">
                <a:latin typeface="Helvetica" pitchFamily="34" charset="0"/>
              </a:rPr>
              <a:t>Nutritional knowledge</a:t>
            </a:r>
          </a:p>
          <a:p>
            <a:pPr marL="360000" indent="-360000">
              <a:spcBef>
                <a:spcPts val="600"/>
              </a:spcBef>
              <a:spcAft>
                <a:spcPts val="1200"/>
              </a:spcAft>
            </a:pPr>
            <a:r>
              <a:rPr lang="en-US" sz="2200" dirty="0" smtClean="0">
                <a:latin typeface="Helvetica" pitchFamily="34" charset="0"/>
              </a:rPr>
              <a:t>Relevant local or host country legislation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5" name="Picture 4" descr="C:\Documents and Settings\danielc\Local Settings\Temporary Internet Files\Content.IE5\112MAXTI\MP900448628[1].jpg"/>
          <p:cNvPicPr/>
          <p:nvPr/>
        </p:nvPicPr>
        <p:blipFill>
          <a:blip r:embed="rId3" cstate="print">
            <a:grayscl/>
          </a:blip>
          <a:srcRect/>
          <a:stretch>
            <a:fillRect/>
          </a:stretch>
        </p:blipFill>
        <p:spPr bwMode="auto">
          <a:xfrm>
            <a:off x="6774038" y="2143116"/>
            <a:ext cx="1584176" cy="236908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43050"/>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Research methods are necessary to:</a:t>
            </a:r>
          </a:p>
          <a:p>
            <a:pPr marL="360000" indent="-360000">
              <a:spcBef>
                <a:spcPts val="600"/>
              </a:spcBef>
              <a:spcAft>
                <a:spcPts val="1200"/>
              </a:spcAft>
            </a:pPr>
            <a:r>
              <a:rPr lang="en-US" sz="2200" dirty="0" smtClean="0">
                <a:latin typeface="Helvetica" pitchFamily="34" charset="0"/>
              </a:rPr>
              <a:t>Learn about catering system options </a:t>
            </a:r>
          </a:p>
          <a:p>
            <a:pPr marL="360000" indent="-360000">
              <a:spcBef>
                <a:spcPts val="600"/>
              </a:spcBef>
              <a:spcAft>
                <a:spcPts val="1200"/>
              </a:spcAft>
            </a:pPr>
            <a:r>
              <a:rPr lang="en-US" sz="2200" dirty="0" smtClean="0">
                <a:latin typeface="Helvetica" pitchFamily="34" charset="0"/>
              </a:rPr>
              <a:t>Provide a fact-based basis for analysing and evaluating systems</a:t>
            </a:r>
          </a:p>
          <a:p>
            <a:pPr marL="360000" indent="-360000">
              <a:spcBef>
                <a:spcPts val="600"/>
              </a:spcBef>
              <a:spcAft>
                <a:spcPts val="1200"/>
              </a:spcAft>
            </a:pPr>
            <a:r>
              <a:rPr lang="en-US" sz="2200" dirty="0" smtClean="0">
                <a:latin typeface="Helvetica" pitchFamily="34" charset="0"/>
              </a:rPr>
              <a:t>Make a decision on the best catering </a:t>
            </a:r>
            <a:br>
              <a:rPr lang="en-US" sz="2200" dirty="0" smtClean="0">
                <a:latin typeface="Helvetica" pitchFamily="34" charset="0"/>
              </a:rPr>
            </a:br>
            <a:r>
              <a:rPr lang="en-US" sz="2200" dirty="0" smtClean="0">
                <a:latin typeface="Helvetica" pitchFamily="34" charset="0"/>
              </a:rPr>
              <a:t>system option for a given context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5" name="Picture 4" descr="I:\Overseas Projects\PHOTOS\2013\Office\MP900422527.JPG"/>
          <p:cNvPicPr/>
          <p:nvPr/>
        </p:nvPicPr>
        <p:blipFill>
          <a:blip r:embed="rId3" cstate="print"/>
          <a:srcRect/>
          <a:stretch>
            <a:fillRect/>
          </a:stretch>
        </p:blipFill>
        <p:spPr bwMode="auto">
          <a:xfrm>
            <a:off x="6215074" y="3786190"/>
            <a:ext cx="2232332" cy="1800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17681"/>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Research methods can include:</a:t>
            </a:r>
          </a:p>
          <a:p>
            <a:pPr marL="360000" indent="-360000">
              <a:spcBef>
                <a:spcPts val="600"/>
              </a:spcBef>
              <a:spcAft>
                <a:spcPts val="1200"/>
              </a:spcAft>
            </a:pPr>
            <a:r>
              <a:rPr lang="en-US" sz="2200" dirty="0" smtClean="0">
                <a:latin typeface="Helvetica" pitchFamily="34" charset="0"/>
              </a:rPr>
              <a:t>Meeting with and talking to management</a:t>
            </a:r>
          </a:p>
          <a:p>
            <a:pPr marL="360000" indent="-360000">
              <a:spcBef>
                <a:spcPts val="600"/>
              </a:spcBef>
              <a:spcAft>
                <a:spcPts val="1200"/>
              </a:spcAft>
            </a:pPr>
            <a:r>
              <a:rPr lang="en-US" sz="2200" dirty="0" smtClean="0">
                <a:latin typeface="Helvetica" pitchFamily="34" charset="0"/>
              </a:rPr>
              <a:t>Reading printed and online information</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8194" name="Picture 2" descr="C:\Documents and Settings\Godaishu\Desktop\PHOTOS\2012\iStock_000002437760Small.jpg"/>
          <p:cNvPicPr>
            <a:picLocks noChangeAspect="1" noChangeArrowheads="1"/>
          </p:cNvPicPr>
          <p:nvPr/>
        </p:nvPicPr>
        <p:blipFill>
          <a:blip r:embed="rId3" cstate="print"/>
          <a:srcRect/>
          <a:stretch>
            <a:fillRect/>
          </a:stretch>
        </p:blipFill>
        <p:spPr bwMode="auto">
          <a:xfrm>
            <a:off x="6215074" y="2857496"/>
            <a:ext cx="2217737" cy="1476375"/>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04862" y="1714488"/>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Talking to food equipment and systems suppliers</a:t>
            </a:r>
          </a:p>
          <a:p>
            <a:pPr marL="360000" indent="-360000">
              <a:spcBef>
                <a:spcPts val="600"/>
              </a:spcBef>
              <a:spcAft>
                <a:spcPts val="1200"/>
              </a:spcAft>
            </a:pPr>
            <a:r>
              <a:rPr lang="en-US" sz="2200" dirty="0" smtClean="0">
                <a:latin typeface="Helvetica" pitchFamily="34" charset="0"/>
              </a:rPr>
              <a:t>Discussing food production and service needs with workplace personnel</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5" name="Picture 4" descr="I:\Overseas Projects\PHOTOS\2012\Culinary 2011\Culinary_Academy_004.jpg"/>
          <p:cNvPicPr/>
          <p:nvPr/>
        </p:nvPicPr>
        <p:blipFill>
          <a:blip r:embed="rId3" cstate="print">
            <a:lum bright="10000" contrast="20000"/>
          </a:blip>
          <a:srcRect/>
          <a:stretch>
            <a:fillRect/>
          </a:stretch>
        </p:blipFill>
        <p:spPr bwMode="auto">
          <a:xfrm>
            <a:off x="5643570" y="3571876"/>
            <a:ext cx="2584515" cy="172819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711349"/>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Visiting other industry operations and operators</a:t>
            </a:r>
          </a:p>
          <a:p>
            <a:pPr marL="360000" indent="-360000">
              <a:spcBef>
                <a:spcPts val="600"/>
              </a:spcBef>
              <a:spcAft>
                <a:spcPts val="1200"/>
              </a:spcAft>
            </a:pPr>
            <a:r>
              <a:rPr lang="en-US" sz="2200" dirty="0" smtClean="0">
                <a:latin typeface="Helvetica" pitchFamily="34" charset="0"/>
              </a:rPr>
              <a:t>Viewing your own food production and service</a:t>
            </a:r>
            <a:br>
              <a:rPr lang="en-US" sz="2200" dirty="0" smtClean="0">
                <a:latin typeface="Helvetica" pitchFamily="34" charset="0"/>
              </a:rPr>
            </a:br>
            <a:r>
              <a:rPr lang="en-US" sz="2200" dirty="0" smtClean="0">
                <a:latin typeface="Helvetica" pitchFamily="34" charset="0"/>
              </a:rPr>
              <a:t>operations</a:t>
            </a:r>
          </a:p>
          <a:p>
            <a:pPr marL="360000" indent="-360000">
              <a:spcBef>
                <a:spcPts val="600"/>
              </a:spcBef>
              <a:spcAft>
                <a:spcPts val="1200"/>
              </a:spcAft>
            </a:pPr>
            <a:r>
              <a:rPr lang="en-US" sz="2200" dirty="0" smtClean="0">
                <a:latin typeface="Helvetica" pitchFamily="34" charset="0"/>
              </a:rPr>
              <a:t>Attend relevant industry events, conferences </a:t>
            </a:r>
            <a:br>
              <a:rPr lang="en-US" sz="2200" dirty="0" smtClean="0">
                <a:latin typeface="Helvetica" pitchFamily="34" charset="0"/>
              </a:rPr>
            </a:br>
            <a:r>
              <a:rPr lang="en-US" sz="2200" dirty="0" smtClean="0">
                <a:latin typeface="Helvetica" pitchFamily="34" charset="0"/>
              </a:rPr>
              <a:t>and seminars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9219" name="Picture 3" descr="C:\Documents and Settings\Godaishu\Desktop\PHOTOS\2012\88711_speaker.jpg"/>
          <p:cNvPicPr>
            <a:picLocks noChangeAspect="1" noChangeArrowheads="1"/>
          </p:cNvPicPr>
          <p:nvPr/>
        </p:nvPicPr>
        <p:blipFill>
          <a:blip r:embed="rId3" cstate="print"/>
          <a:srcRect/>
          <a:stretch>
            <a:fillRect/>
          </a:stretch>
        </p:blipFill>
        <p:spPr bwMode="auto">
          <a:xfrm>
            <a:off x="7072330" y="2357430"/>
            <a:ext cx="1611203" cy="2148270"/>
          </a:xfrm>
          <a:prstGeom prst="rect">
            <a:avLst/>
          </a:prstGeom>
          <a:noFill/>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52788" y="1689119"/>
            <a:ext cx="7776864" cy="4525963"/>
          </a:xfrm>
        </p:spPr>
        <p:txBody>
          <a:bodyPr>
            <a:normAutofit/>
          </a:bodyPr>
          <a:lstStyle/>
          <a:p>
            <a:pPr marL="0" indent="0">
              <a:spcBef>
                <a:spcPts val="600"/>
              </a:spcBef>
              <a:spcAft>
                <a:spcPts val="1200"/>
              </a:spcAft>
              <a:buNone/>
            </a:pPr>
            <a:r>
              <a:rPr lang="en-US" sz="2200" dirty="0" smtClean="0">
                <a:latin typeface="Helvetica" pitchFamily="34" charset="0"/>
              </a:rPr>
              <a:t>A wide range of topics should be addressed when researching catering systems.</a:t>
            </a:r>
          </a:p>
          <a:p>
            <a:pPr marL="0" indent="0">
              <a:spcBef>
                <a:spcPts val="600"/>
              </a:spcBef>
              <a:spcAft>
                <a:spcPts val="1200"/>
              </a:spcAft>
              <a:buNone/>
            </a:pPr>
            <a:r>
              <a:rPr lang="en-US" sz="2200" dirty="0" smtClean="0">
                <a:latin typeface="Helvetica" pitchFamily="34" charset="0"/>
              </a:rPr>
              <a:t>Attention must be paid to covering:</a:t>
            </a:r>
          </a:p>
          <a:p>
            <a:pPr marL="360000" indent="-360000">
              <a:spcBef>
                <a:spcPts val="600"/>
              </a:spcBef>
              <a:spcAft>
                <a:spcPts val="1200"/>
              </a:spcAft>
            </a:pPr>
            <a:r>
              <a:rPr lang="en-US" sz="2200" dirty="0" smtClean="0">
                <a:latin typeface="Helvetica" pitchFamily="34" charset="0"/>
              </a:rPr>
              <a:t>Inputs to the systems</a:t>
            </a:r>
          </a:p>
          <a:p>
            <a:pPr marL="360000" indent="-360000">
              <a:spcBef>
                <a:spcPts val="600"/>
              </a:spcBef>
              <a:spcAft>
                <a:spcPts val="1200"/>
              </a:spcAft>
            </a:pPr>
            <a:r>
              <a:rPr lang="en-US" sz="2200" dirty="0" smtClean="0">
                <a:latin typeface="Helvetica" pitchFamily="34" charset="0"/>
              </a:rPr>
              <a:t>Outputs from the system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10242" name="Picture 2" descr="C:\Documents and Settings\Godaishu\Local Settings\Temporary Internet Files\Content.IE5\7GWYLB5B\MC900059045[1].wmf"/>
          <p:cNvPicPr>
            <a:picLocks noChangeAspect="1" noChangeArrowheads="1"/>
          </p:cNvPicPr>
          <p:nvPr/>
        </p:nvPicPr>
        <p:blipFill>
          <a:blip r:embed="rId3" cstate="print"/>
          <a:srcRect/>
          <a:stretch>
            <a:fillRect/>
          </a:stretch>
        </p:blipFill>
        <p:spPr bwMode="auto">
          <a:xfrm>
            <a:off x="5143504" y="3459872"/>
            <a:ext cx="1795882" cy="1540764"/>
          </a:xfrm>
          <a:prstGeom prst="rect">
            <a:avLst/>
          </a:prstGeom>
          <a:noFill/>
        </p:spPr>
      </p:pic>
      <p:pic>
        <p:nvPicPr>
          <p:cNvPr id="10243" name="Picture 3" descr="C:\Documents and Settings\Godaishu\Local Settings\Temporary Internet Files\Content.IE5\QE61NRUL\MC900059008[1].wmf"/>
          <p:cNvPicPr>
            <a:picLocks noChangeAspect="1" noChangeArrowheads="1"/>
          </p:cNvPicPr>
          <p:nvPr/>
        </p:nvPicPr>
        <p:blipFill>
          <a:blip r:embed="rId4" cstate="print"/>
          <a:srcRect/>
          <a:stretch>
            <a:fillRect/>
          </a:stretch>
        </p:blipFill>
        <p:spPr bwMode="auto">
          <a:xfrm>
            <a:off x="7092102" y="3459872"/>
            <a:ext cx="1759306" cy="1516990"/>
          </a:xfrm>
          <a:prstGeom prst="rect">
            <a:avLst/>
          </a:prstGeom>
          <a:noFill/>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17681"/>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Research topics when determining enterprise catering requirements:</a:t>
            </a:r>
          </a:p>
          <a:p>
            <a:pPr marL="360000" indent="-360000">
              <a:spcBef>
                <a:spcPts val="600"/>
              </a:spcBef>
              <a:spcAft>
                <a:spcPts val="1200"/>
              </a:spcAft>
            </a:pPr>
            <a:r>
              <a:rPr lang="en-US" sz="2200" dirty="0" smtClean="0">
                <a:latin typeface="Helvetica" pitchFamily="34" charset="0"/>
              </a:rPr>
              <a:t>Nature of the operation: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Where food is to be prepared and</a:t>
            </a:r>
            <a:br>
              <a:rPr lang="en-US" sz="2200" dirty="0" smtClean="0">
                <a:latin typeface="Helvetica" pitchFamily="34" charset="0"/>
              </a:rPr>
            </a:br>
            <a:r>
              <a:rPr lang="en-US" sz="2200" dirty="0" smtClean="0">
                <a:latin typeface="Helvetica" pitchFamily="34" charset="0"/>
              </a:rPr>
              <a:t>produced</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General nature of the business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11267" name="Picture 3" descr="C:\Documents and Settings\Godaishu\Desktop\PHOTOS\2012\Kitchen\205306_435465853150322_289335390_n.jpg"/>
          <p:cNvPicPr>
            <a:picLocks noChangeAspect="1" noChangeArrowheads="1"/>
          </p:cNvPicPr>
          <p:nvPr/>
        </p:nvPicPr>
        <p:blipFill>
          <a:blip r:embed="rId3" cstate="print"/>
          <a:srcRect/>
          <a:stretch>
            <a:fillRect/>
          </a:stretch>
        </p:blipFill>
        <p:spPr bwMode="auto">
          <a:xfrm>
            <a:off x="6444208" y="2636912"/>
            <a:ext cx="2415349" cy="1608623"/>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24" y="1689119"/>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The menu to be produced and served:</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Type of menu</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Menu items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Time of day</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5" name="Picture 4" descr="I:\Overseas Projects\PHOTOS\2013\F &amp; B services\Provide F&amp;B services images\1110996_expensive_menu.jpg"/>
          <p:cNvPicPr/>
          <p:nvPr/>
        </p:nvPicPr>
        <p:blipFill>
          <a:blip r:embed="rId3" cstate="print">
            <a:lum contrast="20000"/>
          </a:blip>
          <a:srcRect/>
          <a:stretch>
            <a:fillRect/>
          </a:stretch>
        </p:blipFill>
        <p:spPr bwMode="auto">
          <a:xfrm>
            <a:off x="5909652" y="2428868"/>
            <a:ext cx="2305686" cy="151216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17681"/>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Production volume: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Average expected trade and service requirements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Demand at peak times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Variations by session, day or season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For special times, events or occasions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12290" name="Picture 2" descr="C:\Documents and Settings\Godaishu\Desktop\PHOTOS\2011\Culinary\dsc_0054.jpg"/>
          <p:cNvPicPr>
            <a:picLocks noChangeAspect="1" noChangeArrowheads="1"/>
          </p:cNvPicPr>
          <p:nvPr/>
        </p:nvPicPr>
        <p:blipFill>
          <a:blip r:embed="rId3" cstate="print">
            <a:lum bright="10000" contrast="20000"/>
          </a:blip>
          <a:srcRect/>
          <a:stretch>
            <a:fillRect/>
          </a:stretch>
        </p:blipFill>
        <p:spPr bwMode="auto">
          <a:xfrm>
            <a:off x="6588224" y="2924944"/>
            <a:ext cx="2339752" cy="1558563"/>
          </a:xfrm>
          <a:prstGeom prst="rect">
            <a:avLst/>
          </a:prstGeom>
          <a:noFill/>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17681"/>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Service areas: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Location – on-site and or off-site?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Size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Existing facilities </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Transport required</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Legislated and ‘best practice’ requirements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13314" name="Picture 2" descr="C:\Documents and Settings\Godaishu\Desktop\PHOTOS\2011\Culinary\cookery.jpg"/>
          <p:cNvPicPr>
            <a:picLocks noChangeAspect="1" noChangeArrowheads="1"/>
          </p:cNvPicPr>
          <p:nvPr/>
        </p:nvPicPr>
        <p:blipFill>
          <a:blip r:embed="rId3" cstate="print">
            <a:duotone>
              <a:prstClr val="black"/>
              <a:srgbClr val="D9C3A5">
                <a:tint val="50000"/>
                <a:satMod val="180000"/>
              </a:srgbClr>
            </a:duotone>
            <a:lum bright="10000"/>
          </a:blip>
          <a:srcRect/>
          <a:stretch>
            <a:fillRect/>
          </a:stretch>
        </p:blipFill>
        <p:spPr bwMode="auto">
          <a:xfrm>
            <a:off x="6948264" y="2276872"/>
            <a:ext cx="1553056" cy="2325043"/>
          </a:xfrm>
          <a:prstGeom prst="rect">
            <a:avLst/>
          </a:prstGeom>
          <a:noFill/>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89119"/>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Storing and holding requirements: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Hot and cold – demand; facilities and equipment required; location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Amount of space required</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Existing facilities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14338" name="Picture 2" descr="C:\Documents and Settings\Godaishu\Desktop\PHOTOS\2011\Culinary\hight_30.jpg"/>
          <p:cNvPicPr>
            <a:picLocks noChangeAspect="1" noChangeArrowheads="1"/>
          </p:cNvPicPr>
          <p:nvPr/>
        </p:nvPicPr>
        <p:blipFill>
          <a:blip r:embed="rId3" cstate="print"/>
          <a:srcRect/>
          <a:stretch>
            <a:fillRect/>
          </a:stretch>
        </p:blipFill>
        <p:spPr bwMode="auto">
          <a:xfrm>
            <a:off x="5857884" y="3071810"/>
            <a:ext cx="2447983" cy="1628800"/>
          </a:xfrm>
          <a:prstGeom prst="rect">
            <a:avLst/>
          </a:prstGeom>
          <a:noFill/>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Nutritional and dietary requirements: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Nutritional requirements for individual dishes/foods in terms (as appropriate) for serve sizes, vitamins, energy and other</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Special needs to cater for identified </a:t>
            </a:r>
            <a:br>
              <a:rPr lang="en-US" sz="2200" dirty="0" smtClean="0">
                <a:latin typeface="Helvetica" pitchFamily="34" charset="0"/>
              </a:rPr>
            </a:br>
            <a:r>
              <a:rPr lang="en-US" sz="2200" dirty="0" smtClean="0">
                <a:latin typeface="Helvetica" pitchFamily="34" charset="0"/>
              </a:rPr>
              <a:t>health-related, cultural, religious and </a:t>
            </a:r>
            <a:br>
              <a:rPr lang="en-US" sz="2200" dirty="0" smtClean="0">
                <a:latin typeface="Helvetica" pitchFamily="34" charset="0"/>
              </a:rPr>
            </a:br>
            <a:r>
              <a:rPr lang="en-US" sz="2200" dirty="0" smtClean="0">
                <a:latin typeface="Helvetica" pitchFamily="34" charset="0"/>
              </a:rPr>
              <a:t>lifestyle needs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5" name="Picture 4"/>
          <p:cNvPicPr/>
          <p:nvPr/>
        </p:nvPicPr>
        <p:blipFill>
          <a:blip r:embed="rId3" cstate="print">
            <a:lum contrast="10000"/>
          </a:blip>
          <a:srcRect/>
          <a:stretch>
            <a:fillRect/>
          </a:stretch>
        </p:blipFill>
        <p:spPr bwMode="auto">
          <a:xfrm>
            <a:off x="6228184" y="2996952"/>
            <a:ext cx="2081457" cy="208823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Relevant timeframes: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Opening times and trading hours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Meal times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Delivery ‘lead times’ for ingredients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Transportation times – from kitchen to service point/s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15362" name="Picture 2" descr="C:\Documents and Settings\Godaishu\Local Settings\Temporary Internet Files\Content.IE5\KPAZS1QF\MP900385964[1].jpg"/>
          <p:cNvPicPr>
            <a:picLocks noChangeAspect="1" noChangeArrowheads="1"/>
          </p:cNvPicPr>
          <p:nvPr/>
        </p:nvPicPr>
        <p:blipFill>
          <a:blip r:embed="rId3" cstate="print"/>
          <a:srcRect/>
          <a:stretch>
            <a:fillRect/>
          </a:stretch>
        </p:blipFill>
        <p:spPr bwMode="auto">
          <a:xfrm>
            <a:off x="6300192" y="1772816"/>
            <a:ext cx="2419469" cy="1728192"/>
          </a:xfrm>
          <a:prstGeom prst="rect">
            <a:avLst/>
          </a:prstGeom>
          <a:noFill/>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Available space: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Does new/revised catering need to fit into an </a:t>
            </a:r>
            <a:br>
              <a:rPr lang="en-US" sz="2200" dirty="0" smtClean="0">
                <a:latin typeface="Helvetica" pitchFamily="34" charset="0"/>
              </a:rPr>
            </a:br>
            <a:r>
              <a:rPr lang="en-US" sz="2200" dirty="0" smtClean="0">
                <a:latin typeface="Helvetica" pitchFamily="34" charset="0"/>
              </a:rPr>
              <a:t>existing space?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Details of current layout</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Details of room for expansion – or need for </a:t>
            </a:r>
            <a:br>
              <a:rPr lang="en-US" sz="2200" dirty="0" smtClean="0">
                <a:latin typeface="Helvetica" pitchFamily="34" charset="0"/>
              </a:rPr>
            </a:br>
            <a:r>
              <a:rPr lang="en-US" sz="2200" dirty="0" smtClean="0">
                <a:latin typeface="Helvetica" pitchFamily="34" charset="0"/>
              </a:rPr>
              <a:t>reduction of size of facility</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16386" name="Picture 2" descr="C:\Documents and Settings\Godaishu\Desktop\PHOTOS\2011\Culinary\hight_27.jpg"/>
          <p:cNvPicPr>
            <a:picLocks noChangeAspect="1" noChangeArrowheads="1"/>
          </p:cNvPicPr>
          <p:nvPr/>
        </p:nvPicPr>
        <p:blipFill>
          <a:blip r:embed="rId3" cstate="print"/>
          <a:srcRect/>
          <a:stretch>
            <a:fillRect/>
          </a:stretch>
        </p:blipFill>
        <p:spPr bwMode="auto">
          <a:xfrm>
            <a:off x="7229288" y="2695240"/>
            <a:ext cx="1628992" cy="2448272"/>
          </a:xfrm>
          <a:prstGeom prst="rect">
            <a:avLst/>
          </a:prstGeom>
          <a:noFill/>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89119"/>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Customer requirements: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Definition and classification of who customers are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Description of their identified needs, wants and preferences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Obtaining their feedback and input</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17410" name="Picture 2" descr="C:\Documents and Settings\Godaishu\Desktop\PHOTOS\2012\F &amp; B 2012\shutterstock_83072002.jpg"/>
          <p:cNvPicPr>
            <a:picLocks noChangeAspect="1" noChangeArrowheads="1"/>
          </p:cNvPicPr>
          <p:nvPr/>
        </p:nvPicPr>
        <p:blipFill>
          <a:blip r:embed="rId3" cstate="print"/>
          <a:srcRect/>
          <a:stretch>
            <a:fillRect/>
          </a:stretch>
        </p:blipFill>
        <p:spPr bwMode="auto">
          <a:xfrm>
            <a:off x="6500826" y="3624504"/>
            <a:ext cx="1586650" cy="2376264"/>
          </a:xfrm>
          <a:prstGeom prst="rect">
            <a:avLst/>
          </a:prstGeom>
          <a:noFill/>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760557"/>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Ingredients purchased:</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Type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Style and nature – fresh; pre-/fully-prepared; </a:t>
            </a:r>
            <a:br>
              <a:rPr lang="en-US" sz="2200" dirty="0" smtClean="0">
                <a:latin typeface="Helvetica" pitchFamily="34" charset="0"/>
              </a:rPr>
            </a:br>
            <a:r>
              <a:rPr lang="en-US" sz="2200" dirty="0" smtClean="0">
                <a:latin typeface="Helvetica" pitchFamily="34" charset="0"/>
              </a:rPr>
              <a:t>semi-prepared</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5" name="Picture 4" descr="MP900438794[1]"/>
          <p:cNvPicPr/>
          <p:nvPr/>
        </p:nvPicPr>
        <p:blipFill>
          <a:blip r:embed="rId3" cstate="print"/>
          <a:srcRect/>
          <a:stretch>
            <a:fillRect/>
          </a:stretch>
        </p:blipFill>
        <p:spPr bwMode="auto">
          <a:xfrm>
            <a:off x="7000892" y="2857496"/>
            <a:ext cx="1304825" cy="218464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24" y="1689119"/>
            <a:ext cx="7467600" cy="4525963"/>
          </a:xfrm>
        </p:spPr>
        <p:txBody>
          <a:bodyPr>
            <a:noAutofit/>
          </a:bodyPr>
          <a:lstStyle/>
          <a:p>
            <a:pPr marL="360000" indent="-360000">
              <a:spcBef>
                <a:spcPts val="600"/>
              </a:spcBef>
              <a:spcAft>
                <a:spcPts val="1200"/>
              </a:spcAft>
            </a:pPr>
            <a:r>
              <a:rPr lang="en-US" sz="2200" dirty="0" smtClean="0">
                <a:latin typeface="Helvetica" pitchFamily="34" charset="0"/>
              </a:rPr>
              <a:t>Enterprise practices and standards: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Food purchasing options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‘Public statements’ made by the </a:t>
            </a:r>
            <a:br>
              <a:rPr lang="en-US" sz="2200" dirty="0" smtClean="0">
                <a:latin typeface="Helvetica" pitchFamily="34" charset="0"/>
              </a:rPr>
            </a:br>
            <a:r>
              <a:rPr lang="en-US" sz="2200" dirty="0" smtClean="0">
                <a:latin typeface="Helvetica" pitchFamily="34" charset="0"/>
              </a:rPr>
              <a:t>business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SOPs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Quality standards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Capacity for change’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Strategic advantages enjoyed by the business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18434" name="Picture 2" descr="C:\Documents and Settings\Godaishu\Desktop\PHOTOS\2012\F &amp; B 2012\shutterstock_61330105.jpg"/>
          <p:cNvPicPr>
            <a:picLocks noChangeAspect="1" noChangeArrowheads="1"/>
          </p:cNvPicPr>
          <p:nvPr/>
        </p:nvPicPr>
        <p:blipFill>
          <a:blip r:embed="rId3" cstate="print"/>
          <a:srcRect/>
          <a:stretch>
            <a:fillRect/>
          </a:stretch>
        </p:blipFill>
        <p:spPr bwMode="auto">
          <a:xfrm>
            <a:off x="5990445" y="3468553"/>
            <a:ext cx="2296331" cy="1532083"/>
          </a:xfrm>
          <a:prstGeom prst="rect">
            <a:avLst/>
          </a:prstGeom>
          <a:noFill/>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Documents and Settings\danielc\Local Settings\Temporary Internet Files\Content.IE5\SIQ5KRQ3\MP900382823[1].jpg"/>
          <p:cNvPicPr/>
          <p:nvPr/>
        </p:nvPicPr>
        <p:blipFill>
          <a:blip r:embed="rId3" cstate="print">
            <a:grayscl/>
          </a:blip>
          <a:srcRect/>
          <a:stretch>
            <a:fillRect/>
          </a:stretch>
        </p:blipFill>
        <p:spPr bwMode="auto">
          <a:xfrm>
            <a:off x="6516216" y="2348880"/>
            <a:ext cx="1304783" cy="1828800"/>
          </a:xfrm>
          <a:prstGeom prst="rect">
            <a:avLst/>
          </a:prstGeom>
          <a:noFill/>
          <a:ln w="9525">
            <a:noFill/>
            <a:miter lim="800000"/>
            <a:headEnd/>
            <a:tailEnd/>
          </a:ln>
        </p:spPr>
      </p:pic>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760557"/>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Utilities: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What utilities are required?</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Access and availability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Continuity and reliability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Cost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5" name="Picture 4" descr="C:\Documents and Settings\danielc\Local Settings\Temporary Internet Files\Content.IE5\112MAXTI\MC900437669[1].wmf"/>
          <p:cNvPicPr/>
          <p:nvPr/>
        </p:nvPicPr>
        <p:blipFill>
          <a:blip r:embed="rId4" cstate="print"/>
          <a:srcRect/>
          <a:stretch>
            <a:fillRect/>
          </a:stretch>
        </p:blipFill>
        <p:spPr bwMode="auto">
          <a:xfrm>
            <a:off x="6372200" y="1556792"/>
            <a:ext cx="995642" cy="113276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Research data – ‘secondary’ data:</a:t>
            </a:r>
          </a:p>
          <a:p>
            <a:pPr marL="360000" indent="-360000">
              <a:spcBef>
                <a:spcPts val="600"/>
              </a:spcBef>
              <a:spcAft>
                <a:spcPts val="1200"/>
              </a:spcAft>
            </a:pPr>
            <a:r>
              <a:rPr lang="en-US" sz="2200" dirty="0" smtClean="0">
                <a:latin typeface="Helvetica" pitchFamily="34" charset="0"/>
              </a:rPr>
              <a:t>Is ‘existing’ data</a:t>
            </a:r>
          </a:p>
          <a:p>
            <a:pPr marL="360000" indent="-360000">
              <a:spcBef>
                <a:spcPts val="600"/>
              </a:spcBef>
              <a:spcAft>
                <a:spcPts val="1200"/>
              </a:spcAft>
            </a:pPr>
            <a:r>
              <a:rPr lang="en-US" sz="2200" dirty="0" smtClean="0">
                <a:latin typeface="Helvetica" pitchFamily="34" charset="0"/>
              </a:rPr>
              <a:t>Can be obtained by: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Reading reports and articles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Reviewing internal statistics, information and reports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Manipulating existing data</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5" name="Picture 4" descr="I:\Overseas Projects\PHOTOS\2012\Front office 2012\shutterstock_14099602.jpg"/>
          <p:cNvPicPr/>
          <p:nvPr/>
        </p:nvPicPr>
        <p:blipFill>
          <a:blip r:embed="rId3" cstate="print"/>
          <a:srcRect/>
          <a:stretch>
            <a:fillRect/>
          </a:stretch>
        </p:blipFill>
        <p:spPr bwMode="auto">
          <a:xfrm>
            <a:off x="6588224" y="1484784"/>
            <a:ext cx="1359374" cy="20608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‘Primary’ data:</a:t>
            </a:r>
          </a:p>
          <a:p>
            <a:pPr marL="360000" indent="-360000">
              <a:spcBef>
                <a:spcPts val="600"/>
              </a:spcBef>
              <a:spcAft>
                <a:spcPts val="1200"/>
              </a:spcAft>
            </a:pPr>
            <a:r>
              <a:rPr lang="en-US" sz="2200" dirty="0" smtClean="0">
                <a:latin typeface="Helvetica" pitchFamily="34" charset="0"/>
              </a:rPr>
              <a:t>Is new/original data</a:t>
            </a:r>
          </a:p>
          <a:p>
            <a:pPr marL="360000" indent="-360000">
              <a:spcBef>
                <a:spcPts val="600"/>
              </a:spcBef>
              <a:spcAft>
                <a:spcPts val="1200"/>
              </a:spcAft>
            </a:pPr>
            <a:r>
              <a:rPr lang="en-US" sz="2200" dirty="0" smtClean="0">
                <a:latin typeface="Helvetica" pitchFamily="34" charset="0"/>
              </a:rPr>
              <a:t>Can be obtained via:</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Asking questions, talking to people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Observation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Market research activities</a:t>
            </a:r>
          </a:p>
          <a:p>
            <a:pPr marL="360000" indent="-360000" algn="ctr">
              <a:spcBef>
                <a:spcPts val="600"/>
              </a:spcBef>
              <a:spcAft>
                <a:spcPts val="1200"/>
              </a:spcAft>
              <a:buNone/>
            </a:pPr>
            <a:r>
              <a:rPr lang="en-US" sz="2200" dirty="0" smtClean="0">
                <a:latin typeface="Helvetica" pitchFamily="34" charset="0"/>
              </a:rPr>
              <a:t>You should capture both ‘secondary’ and ‘primary’ data.</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19459" name="Picture 3" descr="C:\Documents and Settings\Godaishu\Desktop\PHOTOS\Accommodation 2009\Angliss RestaurantV2[1].58.jpg"/>
          <p:cNvPicPr>
            <a:picLocks noChangeAspect="1" noChangeArrowheads="1"/>
          </p:cNvPicPr>
          <p:nvPr/>
        </p:nvPicPr>
        <p:blipFill>
          <a:blip r:embed="rId3" cstate="print"/>
          <a:srcRect/>
          <a:stretch>
            <a:fillRect/>
          </a:stretch>
        </p:blipFill>
        <p:spPr bwMode="auto">
          <a:xfrm>
            <a:off x="6444208" y="1988840"/>
            <a:ext cx="1557736" cy="2337792"/>
          </a:xfrm>
          <a:prstGeom prst="rect">
            <a:avLst/>
          </a:prstGeom>
          <a:noFill/>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1134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Data can also be ‘qualitative’ or ‘quantitative’.</a:t>
            </a:r>
          </a:p>
          <a:p>
            <a:pPr marL="0" indent="0">
              <a:spcBef>
                <a:spcPts val="600"/>
              </a:spcBef>
              <a:spcAft>
                <a:spcPts val="1200"/>
              </a:spcAft>
              <a:buNone/>
            </a:pPr>
            <a:r>
              <a:rPr lang="en-US" sz="2200" dirty="0" smtClean="0">
                <a:latin typeface="Helvetica" pitchFamily="34" charset="0"/>
              </a:rPr>
              <a:t>Qualitative = ‘soft’ data which relates to:</a:t>
            </a:r>
          </a:p>
          <a:p>
            <a:pPr marL="360000" indent="-360000">
              <a:spcBef>
                <a:spcPts val="600"/>
              </a:spcBef>
              <a:spcAft>
                <a:spcPts val="1200"/>
              </a:spcAft>
            </a:pPr>
            <a:r>
              <a:rPr lang="en-US" sz="2200" dirty="0" smtClean="0">
                <a:latin typeface="Helvetica" pitchFamily="34" charset="0"/>
              </a:rPr>
              <a:t>Descriptions of things</a:t>
            </a:r>
          </a:p>
          <a:p>
            <a:pPr marL="360000" indent="-360000">
              <a:spcBef>
                <a:spcPts val="600"/>
              </a:spcBef>
              <a:spcAft>
                <a:spcPts val="1200"/>
              </a:spcAft>
            </a:pPr>
            <a:r>
              <a:rPr lang="en-US" sz="2200" dirty="0" smtClean="0">
                <a:latin typeface="Helvetica" pitchFamily="34" charset="0"/>
              </a:rPr>
              <a:t>Explanation of preferences or behaviours</a:t>
            </a:r>
          </a:p>
          <a:p>
            <a:pPr marL="360000" indent="-360000">
              <a:spcBef>
                <a:spcPts val="600"/>
              </a:spcBef>
              <a:spcAft>
                <a:spcPts val="1200"/>
              </a:spcAft>
            </a:pPr>
            <a:r>
              <a:rPr lang="en-US" sz="2200" dirty="0" smtClean="0">
                <a:latin typeface="Helvetica" pitchFamily="34" charset="0"/>
              </a:rPr>
              <a:t>Anything which cannot be measured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pic>
        <p:nvPicPr>
          <p:cNvPr id="5" name="Picture 4" descr="C:\Documents and Settings\danielc\Local Settings\Temporary Internet Files\Content.IE5\3Y3SDCJX\MC900363444[1].wmf"/>
          <p:cNvPicPr/>
          <p:nvPr/>
        </p:nvPicPr>
        <p:blipFill>
          <a:blip r:embed="rId3" cstate="print"/>
          <a:srcRect/>
          <a:stretch>
            <a:fillRect/>
          </a:stretch>
        </p:blipFill>
        <p:spPr bwMode="auto">
          <a:xfrm>
            <a:off x="6804248" y="3212976"/>
            <a:ext cx="1421503" cy="1440160"/>
          </a:xfrm>
          <a:prstGeom prst="rect">
            <a:avLst/>
          </a:prstGeom>
          <a:noFill/>
          <a:ln w="9525">
            <a:noFill/>
            <a:miter lim="800000"/>
            <a:headEnd/>
            <a:tailEnd/>
          </a:ln>
        </p:spPr>
      </p:pic>
      <p:pic>
        <p:nvPicPr>
          <p:cNvPr id="20482" name="Picture 2" descr="C:\Documents and Settings\Godaishu\Local Settings\Temporary Internet Files\Content.IE5\KLU3SPUN\MC900370334[1].wmf"/>
          <p:cNvPicPr>
            <a:picLocks noChangeAspect="1" noChangeArrowheads="1"/>
          </p:cNvPicPr>
          <p:nvPr/>
        </p:nvPicPr>
        <p:blipFill>
          <a:blip r:embed="rId4" cstate="print"/>
          <a:srcRect/>
          <a:stretch>
            <a:fillRect/>
          </a:stretch>
        </p:blipFill>
        <p:spPr bwMode="auto">
          <a:xfrm>
            <a:off x="6876256" y="1124744"/>
            <a:ext cx="1392631" cy="1828800"/>
          </a:xfrm>
          <a:prstGeom prst="rect">
            <a:avLst/>
          </a:prstGeom>
          <a:noFill/>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760557"/>
            <a:ext cx="7467600" cy="4525963"/>
          </a:xfrm>
        </p:spPr>
        <p:txBody>
          <a:bodyPr>
            <a:normAutofit/>
          </a:bodyPr>
          <a:lstStyle/>
          <a:p>
            <a:pPr marL="0" indent="0">
              <a:spcBef>
                <a:spcPts val="600"/>
              </a:spcBef>
              <a:spcAft>
                <a:spcPts val="1200"/>
              </a:spcAft>
              <a:buNone/>
            </a:pPr>
            <a:r>
              <a:rPr lang="en-US" sz="2200" dirty="0" smtClean="0">
                <a:latin typeface="Helvetica" pitchFamily="34" charset="0"/>
              </a:rPr>
              <a:t>Quantitative = ‘hard’ data which relates to :</a:t>
            </a:r>
          </a:p>
          <a:p>
            <a:pPr marL="360000" indent="-360000">
              <a:spcBef>
                <a:spcPts val="600"/>
              </a:spcBef>
              <a:spcAft>
                <a:spcPts val="1200"/>
              </a:spcAft>
            </a:pPr>
            <a:r>
              <a:rPr lang="en-US" sz="2200" dirty="0" smtClean="0">
                <a:latin typeface="Helvetica" pitchFamily="34" charset="0"/>
              </a:rPr>
              <a:t>Statistics, numbers and figures</a:t>
            </a:r>
          </a:p>
          <a:p>
            <a:pPr marL="360000" indent="-360000">
              <a:spcBef>
                <a:spcPts val="600"/>
              </a:spcBef>
              <a:spcAft>
                <a:spcPts val="1200"/>
              </a:spcAft>
            </a:pPr>
            <a:r>
              <a:rPr lang="en-US" sz="2200" dirty="0" smtClean="0">
                <a:latin typeface="Helvetica" pitchFamily="34" charset="0"/>
              </a:rPr>
              <a:t>Costs, times speed, temperatures</a:t>
            </a:r>
          </a:p>
          <a:p>
            <a:pPr marL="360000" indent="-360000">
              <a:spcBef>
                <a:spcPts val="600"/>
              </a:spcBef>
              <a:spcAft>
                <a:spcPts val="1200"/>
              </a:spcAft>
            </a:pPr>
            <a:r>
              <a:rPr lang="en-US" sz="2200" dirty="0" smtClean="0">
                <a:latin typeface="Helvetica" pitchFamily="34" charset="0"/>
              </a:rPr>
              <a:t>Demand, capacity and volume</a:t>
            </a:r>
          </a:p>
          <a:p>
            <a:pPr marL="360000" indent="-360000">
              <a:spcBef>
                <a:spcPts val="600"/>
              </a:spcBef>
              <a:spcAft>
                <a:spcPts val="1200"/>
              </a:spcAft>
            </a:pPr>
            <a:r>
              <a:rPr lang="en-US" sz="2200" dirty="0" smtClean="0">
                <a:latin typeface="Helvetica" pitchFamily="34" charset="0"/>
              </a:rPr>
              <a:t>Percentages</a:t>
            </a:r>
          </a:p>
          <a:p>
            <a:pPr marL="360000" indent="-360000" algn="ctr">
              <a:spcBef>
                <a:spcPts val="600"/>
              </a:spcBef>
              <a:spcAft>
                <a:spcPts val="1200"/>
              </a:spcAft>
              <a:buNone/>
            </a:pPr>
            <a:endParaRPr lang="en-US" sz="2200" dirty="0" smtClean="0">
              <a:latin typeface="Helvetica" pitchFamily="34" charset="0"/>
            </a:endParaRPr>
          </a:p>
          <a:p>
            <a:pPr marL="360000" indent="-360000" algn="ctr">
              <a:spcBef>
                <a:spcPts val="600"/>
              </a:spcBef>
              <a:spcAft>
                <a:spcPts val="1200"/>
              </a:spcAft>
              <a:buNone/>
            </a:pPr>
            <a:r>
              <a:rPr lang="en-US" sz="2200" dirty="0" smtClean="0">
                <a:latin typeface="Helvetica" pitchFamily="34" charset="0"/>
              </a:rPr>
              <a:t>Must have both ‘hard’ &amp; ‘soft’ data.</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21506" name="Picture 2" descr="C:\Documents and Settings\Godaishu\Local Settings\Temporary Internet Files\Content.IE5\KPAZS1QF\MC900340878[1].wmf"/>
          <p:cNvPicPr>
            <a:picLocks noChangeAspect="1" noChangeArrowheads="1"/>
          </p:cNvPicPr>
          <p:nvPr/>
        </p:nvPicPr>
        <p:blipFill>
          <a:blip r:embed="rId3" cstate="print"/>
          <a:srcRect/>
          <a:stretch>
            <a:fillRect/>
          </a:stretch>
        </p:blipFill>
        <p:spPr bwMode="auto">
          <a:xfrm>
            <a:off x="6457976" y="2671770"/>
            <a:ext cx="1828800" cy="1828800"/>
          </a:xfrm>
          <a:prstGeom prst="rect">
            <a:avLst/>
          </a:prstGeom>
          <a:noFill/>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1134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Those who could be encouraged to be involved in the research and decision-making process:</a:t>
            </a:r>
          </a:p>
          <a:p>
            <a:pPr marL="360000" indent="-360000">
              <a:spcBef>
                <a:spcPts val="600"/>
              </a:spcBef>
              <a:spcAft>
                <a:spcPts val="1200"/>
              </a:spcAft>
            </a:pPr>
            <a:r>
              <a:rPr lang="en-US" sz="2200" dirty="0" smtClean="0">
                <a:latin typeface="Helvetica" pitchFamily="34" charset="0"/>
              </a:rPr>
              <a:t>Senior management and or Head Office</a:t>
            </a:r>
          </a:p>
          <a:p>
            <a:pPr marL="360000" indent="-360000">
              <a:spcBef>
                <a:spcPts val="600"/>
              </a:spcBef>
              <a:spcAft>
                <a:spcPts val="1200"/>
              </a:spcAft>
            </a:pPr>
            <a:r>
              <a:rPr lang="en-US" sz="2200" dirty="0" smtClean="0">
                <a:latin typeface="Helvetica" pitchFamily="34" charset="0"/>
              </a:rPr>
              <a:t>Owners</a:t>
            </a:r>
          </a:p>
          <a:p>
            <a:pPr marL="360000" indent="-360000">
              <a:spcBef>
                <a:spcPts val="600"/>
              </a:spcBef>
              <a:spcAft>
                <a:spcPts val="1200"/>
              </a:spcAft>
            </a:pPr>
            <a:r>
              <a:rPr lang="en-US" sz="2200" dirty="0" smtClean="0">
                <a:latin typeface="Helvetica" pitchFamily="34" charset="0"/>
              </a:rPr>
              <a:t>Contractors and sub-contractors</a:t>
            </a:r>
          </a:p>
          <a:p>
            <a:pPr marL="360000" indent="-360000">
              <a:spcBef>
                <a:spcPts val="600"/>
              </a:spcBef>
              <a:spcAft>
                <a:spcPts val="1200"/>
              </a:spcAft>
            </a:pPr>
            <a:r>
              <a:rPr lang="en-US" sz="2200" dirty="0" smtClean="0">
                <a:latin typeface="Helvetica" pitchFamily="34" charset="0"/>
              </a:rPr>
              <a:t>Accountants and finance</a:t>
            </a:r>
          </a:p>
          <a:p>
            <a:pPr marL="360000" indent="-360000">
              <a:spcBef>
                <a:spcPts val="600"/>
              </a:spcBef>
              <a:spcAft>
                <a:spcPts val="1200"/>
              </a:spcAft>
            </a:pPr>
            <a:r>
              <a:rPr lang="en-US" sz="2200" dirty="0" smtClean="0">
                <a:latin typeface="Helvetica" pitchFamily="34" charset="0"/>
              </a:rPr>
              <a:t>Specialist catering consultants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22531" name="Picture 3" descr="C:\Documents and Settings\Godaishu\Desktop\PHOTOS\Accommodation 2009\Vibe_Hotel_068.jpg"/>
          <p:cNvPicPr>
            <a:picLocks noChangeAspect="1" noChangeArrowheads="1"/>
          </p:cNvPicPr>
          <p:nvPr/>
        </p:nvPicPr>
        <p:blipFill>
          <a:blip r:embed="rId3" cstate="print"/>
          <a:srcRect/>
          <a:stretch>
            <a:fillRect/>
          </a:stretch>
        </p:blipFill>
        <p:spPr bwMode="auto">
          <a:xfrm>
            <a:off x="6923183" y="2924944"/>
            <a:ext cx="1435031" cy="2160240"/>
          </a:xfrm>
          <a:prstGeom prst="rect">
            <a:avLst/>
          </a:prstGeom>
          <a:noFill/>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60557"/>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Executive chefs</a:t>
            </a:r>
          </a:p>
          <a:p>
            <a:pPr marL="360000" indent="-360000">
              <a:spcBef>
                <a:spcPts val="600"/>
              </a:spcBef>
              <a:spcAft>
                <a:spcPts val="1200"/>
              </a:spcAft>
            </a:pPr>
            <a:r>
              <a:rPr lang="en-US" sz="2200" dirty="0" smtClean="0">
                <a:latin typeface="Helvetica" pitchFamily="34" charset="0"/>
              </a:rPr>
              <a:t>Food and Beverage Managers</a:t>
            </a:r>
          </a:p>
          <a:p>
            <a:pPr marL="360000" indent="-360000">
              <a:spcBef>
                <a:spcPts val="600"/>
              </a:spcBef>
              <a:spcAft>
                <a:spcPts val="1200"/>
              </a:spcAft>
            </a:pPr>
            <a:r>
              <a:rPr lang="en-US" sz="2200" dirty="0" smtClean="0">
                <a:latin typeface="Helvetica" pitchFamily="34" charset="0"/>
              </a:rPr>
              <a:t>Function, Event or Banquet managers</a:t>
            </a:r>
          </a:p>
          <a:p>
            <a:pPr marL="360000" indent="-360000">
              <a:spcBef>
                <a:spcPts val="600"/>
              </a:spcBef>
              <a:spcAft>
                <a:spcPts val="1200"/>
              </a:spcAft>
            </a:pPr>
            <a:r>
              <a:rPr lang="en-US" sz="2200" dirty="0" smtClean="0">
                <a:latin typeface="Helvetica" pitchFamily="34" charset="0"/>
              </a:rPr>
              <a:t>Menu planners</a:t>
            </a:r>
          </a:p>
          <a:p>
            <a:pPr marL="360000" indent="-360000">
              <a:spcBef>
                <a:spcPts val="600"/>
              </a:spcBef>
              <a:spcAft>
                <a:spcPts val="1200"/>
              </a:spcAft>
            </a:pPr>
            <a:r>
              <a:rPr lang="en-US" sz="2200" dirty="0" smtClean="0">
                <a:latin typeface="Helvetica" pitchFamily="34" charset="0"/>
              </a:rPr>
              <a:t>Dieticians and nutritionists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23554" name="Picture 2" descr="C:\Documents and Settings\Godaishu\Desktop\PHOTOS\2011\Culinary\wai_a_nicky_143.jpg"/>
          <p:cNvPicPr>
            <a:picLocks noChangeAspect="1" noChangeArrowheads="1"/>
          </p:cNvPicPr>
          <p:nvPr/>
        </p:nvPicPr>
        <p:blipFill>
          <a:blip r:embed="rId3" cstate="print"/>
          <a:srcRect/>
          <a:stretch>
            <a:fillRect/>
          </a:stretch>
        </p:blipFill>
        <p:spPr bwMode="auto">
          <a:xfrm>
            <a:off x="6314906" y="2643182"/>
            <a:ext cx="2471936" cy="1653107"/>
          </a:xfrm>
          <a:prstGeom prst="rect">
            <a:avLst/>
          </a:prstGeom>
          <a:noFill/>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 catering requirements the enterprise requires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Personnel (managers and staff) from various internal departments</a:t>
            </a:r>
          </a:p>
          <a:p>
            <a:pPr marL="360000" indent="-360000">
              <a:spcBef>
                <a:spcPts val="600"/>
              </a:spcBef>
              <a:spcAft>
                <a:spcPts val="1200"/>
              </a:spcAft>
            </a:pPr>
            <a:r>
              <a:rPr lang="en-US" sz="2200" dirty="0" smtClean="0">
                <a:latin typeface="Helvetica" pitchFamily="34" charset="0"/>
              </a:rPr>
              <a:t>Suppliers</a:t>
            </a:r>
          </a:p>
          <a:p>
            <a:pPr marL="360000" indent="-360000">
              <a:spcBef>
                <a:spcPts val="600"/>
              </a:spcBef>
              <a:spcAft>
                <a:spcPts val="1200"/>
              </a:spcAft>
            </a:pPr>
            <a:r>
              <a:rPr lang="en-US" sz="2200" dirty="0" smtClean="0">
                <a:latin typeface="Helvetica" pitchFamily="34" charset="0"/>
              </a:rPr>
              <a:t>Local authorities and agencies</a:t>
            </a:r>
          </a:p>
          <a:p>
            <a:pPr marL="360000" indent="-360000">
              <a:spcBef>
                <a:spcPts val="600"/>
              </a:spcBef>
              <a:spcAft>
                <a:spcPts val="1200"/>
              </a:spcAft>
            </a:pPr>
            <a:r>
              <a:rPr lang="en-US" sz="2200" dirty="0" smtClean="0">
                <a:latin typeface="Helvetica" pitchFamily="34" charset="0"/>
              </a:rPr>
              <a:t>Customer representatives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24578" name="Picture 2" descr="C:\Documents and Settings\Godaishu\Desktop\PHOTOS\Culinary 2012\Delivery car.jpg"/>
          <p:cNvPicPr>
            <a:picLocks noChangeAspect="1" noChangeArrowheads="1"/>
          </p:cNvPicPr>
          <p:nvPr/>
        </p:nvPicPr>
        <p:blipFill>
          <a:blip r:embed="rId3" cstate="print"/>
          <a:srcRect/>
          <a:stretch>
            <a:fillRect/>
          </a:stretch>
        </p:blipFill>
        <p:spPr bwMode="auto">
          <a:xfrm>
            <a:off x="5364088" y="2204864"/>
            <a:ext cx="2911343" cy="2183507"/>
          </a:xfrm>
          <a:prstGeom prst="rect">
            <a:avLst/>
          </a:prstGeom>
          <a:noFill/>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the enterprise constraints in selecting a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Possible constraints:</a:t>
            </a:r>
          </a:p>
          <a:p>
            <a:pPr marL="360000" indent="-360000">
              <a:spcBef>
                <a:spcPts val="600"/>
              </a:spcBef>
              <a:spcAft>
                <a:spcPts val="1200"/>
              </a:spcAft>
            </a:pPr>
            <a:r>
              <a:rPr lang="en-US" sz="2200" dirty="0" smtClean="0">
                <a:latin typeface="Helvetica" pitchFamily="34" charset="0"/>
              </a:rPr>
              <a:t>Financial constraints: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There are always limits to spending</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Need to discuss availability with management</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May need to source alternate funding sources</a:t>
            </a:r>
          </a:p>
          <a:p>
            <a:pPr marL="720000" indent="-360000">
              <a:spcBef>
                <a:spcPts val="600"/>
              </a:spcBef>
              <a:spcAft>
                <a:spcPts val="1200"/>
              </a:spcAft>
              <a:buClr>
                <a:schemeClr val="accent1">
                  <a:lumMod val="75000"/>
                </a:schemeClr>
              </a:buClr>
              <a:buSzPct val="100000"/>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25602" name="Picture 2" descr="C:\Documents and Settings\Godaishu\Desktop\PHOTOS\2012\884071_budget_cuts.jpg"/>
          <p:cNvPicPr>
            <a:picLocks noChangeAspect="1" noChangeArrowheads="1"/>
          </p:cNvPicPr>
          <p:nvPr/>
        </p:nvPicPr>
        <p:blipFill>
          <a:blip r:embed="rId3" cstate="print"/>
          <a:srcRect/>
          <a:stretch>
            <a:fillRect/>
          </a:stretch>
        </p:blipFill>
        <p:spPr bwMode="auto">
          <a:xfrm>
            <a:off x="7308304" y="2564904"/>
            <a:ext cx="1282601" cy="1923901"/>
          </a:xfrm>
          <a:prstGeom prst="rect">
            <a:avLst/>
          </a:prstGeom>
          <a:noFill/>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the enterprise constraints in selecting a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Must comply with finance-related policies and procedures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 ‘phased’ introduction may be required</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Must identify and consider </a:t>
            </a:r>
            <a:r>
              <a:rPr lang="en-US" sz="2200" b="1" dirty="0" smtClean="0">
                <a:latin typeface="Helvetica" pitchFamily="34" charset="0"/>
              </a:rPr>
              <a:t>all </a:t>
            </a:r>
            <a:r>
              <a:rPr lang="en-US" sz="2200" dirty="0" smtClean="0">
                <a:latin typeface="Helvetica" pitchFamily="34" charset="0"/>
              </a:rPr>
              <a:t>costs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26626" name="Picture 2" descr="C:\Documents and Settings\Godaishu\Desktop\PHOTOS\Front office 2012\Calculator.jpg"/>
          <p:cNvPicPr>
            <a:picLocks noChangeAspect="1" noChangeArrowheads="1"/>
          </p:cNvPicPr>
          <p:nvPr/>
        </p:nvPicPr>
        <p:blipFill>
          <a:blip r:embed="rId3" cstate="print"/>
          <a:srcRect/>
          <a:stretch>
            <a:fillRect/>
          </a:stretch>
        </p:blipFill>
        <p:spPr bwMode="auto">
          <a:xfrm>
            <a:off x="6516216" y="3068960"/>
            <a:ext cx="2195736" cy="1646802"/>
          </a:xfrm>
          <a:prstGeom prst="rect">
            <a:avLst/>
          </a:prstGeom>
          <a:noFill/>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the enterprise constraints in selecting a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Staff constraints: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Need to adhere to labour budget</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Need to include labour costs for transportation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Consider need for ‘skilled’ staff</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Factor in number and ability of current staff</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27650" name="Picture 2" descr="C:\Documents and Settings\Godaishu\Desktop\PHOTOS\2011\Culinary\hospitality2.jpg"/>
          <p:cNvPicPr>
            <a:picLocks noChangeAspect="1" noChangeArrowheads="1"/>
          </p:cNvPicPr>
          <p:nvPr/>
        </p:nvPicPr>
        <p:blipFill>
          <a:blip r:embed="rId3" cstate="print"/>
          <a:srcRect/>
          <a:stretch>
            <a:fillRect/>
          </a:stretch>
        </p:blipFill>
        <p:spPr bwMode="auto">
          <a:xfrm>
            <a:off x="7308304" y="2276872"/>
            <a:ext cx="1368152" cy="2036319"/>
          </a:xfrm>
          <a:prstGeom prst="rect">
            <a:avLst/>
          </a:prstGeom>
          <a:noFill/>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the enterprise constraints in selecting a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Space constraints: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New system usually has to fit into existing space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Use of extra space results in ‘opportunity cost’</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Must match areas to food flow</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Food production must support and facilitate </a:t>
            </a:r>
            <a:br>
              <a:rPr lang="en-US" sz="2200" dirty="0" smtClean="0">
                <a:latin typeface="Helvetica" pitchFamily="34" charset="0"/>
              </a:rPr>
            </a:br>
            <a:r>
              <a:rPr lang="en-US" sz="2200" dirty="0" smtClean="0">
                <a:latin typeface="Helvetica" pitchFamily="34" charset="0"/>
              </a:rPr>
              <a:t>food service and customer access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28674" name="Picture 2" descr="C:\Documents and Settings\Godaishu\Desktop\PHOTOS\2011\Culinary\hight_26.jpg"/>
          <p:cNvPicPr>
            <a:picLocks noChangeAspect="1" noChangeArrowheads="1"/>
          </p:cNvPicPr>
          <p:nvPr/>
        </p:nvPicPr>
        <p:blipFill>
          <a:blip r:embed="rId3" cstate="print"/>
          <a:srcRect/>
          <a:stretch>
            <a:fillRect/>
          </a:stretch>
        </p:blipFill>
        <p:spPr bwMode="auto">
          <a:xfrm>
            <a:off x="6876256" y="3212976"/>
            <a:ext cx="2096581" cy="1394990"/>
          </a:xfrm>
          <a:prstGeom prst="rect">
            <a:avLst/>
          </a:prstGeom>
          <a:noFill/>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the enterprise constraints in selecting a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Compliance constraints: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Host country food safety legislation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HACCP-based Food Safety Plans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Industry ‘best practice’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29698" name="Picture 2" descr="C:\Documents and Settings\Godaishu\Local Settings\Temporary Internet Files\Content.IE5\KLU3SPUN\MC900305255[1].wmf"/>
          <p:cNvPicPr>
            <a:picLocks noChangeAspect="1" noChangeArrowheads="1"/>
          </p:cNvPicPr>
          <p:nvPr/>
        </p:nvPicPr>
        <p:blipFill>
          <a:blip r:embed="rId3" cstate="print"/>
          <a:srcRect/>
          <a:stretch>
            <a:fillRect/>
          </a:stretch>
        </p:blipFill>
        <p:spPr bwMode="auto">
          <a:xfrm>
            <a:off x="6804248" y="1700808"/>
            <a:ext cx="844906" cy="1823314"/>
          </a:xfrm>
          <a:prstGeom prst="rect">
            <a:avLst/>
          </a:prstGeom>
          <a:noFill/>
        </p:spPr>
      </p:pic>
      <p:pic>
        <p:nvPicPr>
          <p:cNvPr id="29699" name="Picture 3" descr="C:\Documents and Settings\Godaishu\Local Settings\Temporary Internet Files\Content.IE5\KPAZS1QF\MC900097849[1].wmf"/>
          <p:cNvPicPr>
            <a:picLocks noChangeAspect="1" noChangeArrowheads="1"/>
          </p:cNvPicPr>
          <p:nvPr/>
        </p:nvPicPr>
        <p:blipFill>
          <a:blip r:embed="rId4" cstate="print"/>
          <a:srcRect/>
          <a:stretch>
            <a:fillRect/>
          </a:stretch>
        </p:blipFill>
        <p:spPr bwMode="auto">
          <a:xfrm>
            <a:off x="6084168" y="3789040"/>
            <a:ext cx="1794967" cy="1426464"/>
          </a:xfrm>
          <a:prstGeom prst="rect">
            <a:avLst/>
          </a:prstGeom>
          <a:noFill/>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the enterprise constraints in selecting a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89119"/>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Timing constraints – may relate to:</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Need for system to be fully-operational by </a:t>
            </a:r>
            <a:br>
              <a:rPr lang="en-US" sz="2200" dirty="0" smtClean="0">
                <a:latin typeface="Helvetica" pitchFamily="34" charset="0"/>
              </a:rPr>
            </a:br>
            <a:r>
              <a:rPr lang="en-US" sz="2200" dirty="0" smtClean="0">
                <a:latin typeface="Helvetica" pitchFamily="34" charset="0"/>
              </a:rPr>
              <a:t>a given date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Need for certain stages to be competed by </a:t>
            </a:r>
            <a:br>
              <a:rPr lang="en-US" sz="2200" dirty="0" smtClean="0">
                <a:latin typeface="Helvetica" pitchFamily="34" charset="0"/>
              </a:rPr>
            </a:br>
            <a:r>
              <a:rPr lang="en-US" sz="2200" dirty="0" smtClean="0">
                <a:latin typeface="Helvetica" pitchFamily="34" charset="0"/>
              </a:rPr>
              <a:t>set dates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Need for money to be spent by a nominated time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5" name="Picture 4" descr="C:\Documents and Settings\danielc\Local Settings\Temporary Internet Files\Content.IE5\3Y3SDCJX\MP900382676[1].jpg"/>
          <p:cNvPicPr/>
          <p:nvPr/>
        </p:nvPicPr>
        <p:blipFill>
          <a:blip r:embed="rId3" cstate="print">
            <a:lum bright="10000"/>
          </a:blip>
          <a:srcRect/>
          <a:stretch>
            <a:fillRect/>
          </a:stretch>
        </p:blipFill>
        <p:spPr bwMode="auto">
          <a:xfrm>
            <a:off x="7164288" y="1844824"/>
            <a:ext cx="1314621" cy="185609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the enterprise constraints in selecting a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24" y="1760557"/>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Existing equipment constraints: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New equipment may have to integrate with </a:t>
            </a:r>
            <a:br>
              <a:rPr lang="en-US" sz="2200" dirty="0" smtClean="0">
                <a:latin typeface="Helvetica" pitchFamily="34" charset="0"/>
              </a:rPr>
            </a:br>
            <a:r>
              <a:rPr lang="en-US" sz="2200" dirty="0" smtClean="0">
                <a:latin typeface="Helvetica" pitchFamily="34" charset="0"/>
              </a:rPr>
              <a:t>existing equipment</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New technologies may have to integrate </a:t>
            </a:r>
            <a:br>
              <a:rPr lang="en-US" sz="2200" dirty="0" smtClean="0">
                <a:latin typeface="Helvetica" pitchFamily="34" charset="0"/>
              </a:rPr>
            </a:br>
            <a:r>
              <a:rPr lang="en-US" sz="2200" dirty="0" smtClean="0">
                <a:latin typeface="Helvetica" pitchFamily="34" charset="0"/>
              </a:rPr>
              <a:t>with existing equipment/systems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New equipment may need to fit into the space left by old equipment which has been removed</a:t>
            </a:r>
          </a:p>
          <a:p>
            <a:pPr marL="720000" indent="-360000">
              <a:spcBef>
                <a:spcPts val="600"/>
              </a:spcBef>
              <a:spcAft>
                <a:spcPts val="1200"/>
              </a:spcAft>
              <a:buClr>
                <a:schemeClr val="accent1">
                  <a:lumMod val="75000"/>
                </a:schemeClr>
              </a:buClr>
              <a:buSzPct val="100000"/>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30722" name="Picture 2" descr="C:\Documents and Settings\Godaishu\Desktop\PHOTOS\2011\Culinary\shutterstock_2764325.jpg"/>
          <p:cNvPicPr>
            <a:picLocks noChangeAspect="1" noChangeArrowheads="1"/>
          </p:cNvPicPr>
          <p:nvPr/>
        </p:nvPicPr>
        <p:blipFill>
          <a:blip r:embed="rId3" cstate="print"/>
          <a:srcRect/>
          <a:stretch>
            <a:fillRect/>
          </a:stretch>
        </p:blipFill>
        <p:spPr bwMode="auto">
          <a:xfrm>
            <a:off x="6876256" y="2643182"/>
            <a:ext cx="1917836" cy="1277515"/>
          </a:xfrm>
          <a:prstGeom prst="rect">
            <a:avLst/>
          </a:prstGeom>
          <a:noFill/>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the enterprise constraints in selecting a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00034" y="1760557"/>
            <a:ext cx="7467600" cy="4525963"/>
          </a:xfrm>
        </p:spPr>
        <p:txBody>
          <a:bodyPr>
            <a:normAutofit/>
          </a:bodyPr>
          <a:lstStyle/>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It is simpler to select a catering system for a new business than to up-date an existing one – there is:</a:t>
            </a:r>
          </a:p>
          <a:p>
            <a:pPr marL="1080000" lvl="1" indent="-360000">
              <a:spcBef>
                <a:spcPts val="600"/>
              </a:spcBef>
              <a:spcAft>
                <a:spcPts val="1200"/>
              </a:spcAft>
              <a:buClr>
                <a:schemeClr val="accent1">
                  <a:lumMod val="75000"/>
                </a:schemeClr>
              </a:buClr>
              <a:buSzPct val="100000"/>
              <a:buFont typeface="Helvetica" pitchFamily="34" charset="0"/>
              <a:buChar char="-"/>
            </a:pPr>
            <a:r>
              <a:rPr lang="en-US" sz="2200" dirty="0" smtClean="0">
                <a:latin typeface="Helvetica" pitchFamily="34" charset="0"/>
              </a:rPr>
              <a:t>Tendency to stick with existing system</a:t>
            </a:r>
          </a:p>
          <a:p>
            <a:pPr marL="1080000" lvl="1" indent="-360000">
              <a:spcBef>
                <a:spcPts val="600"/>
              </a:spcBef>
              <a:spcAft>
                <a:spcPts val="1200"/>
              </a:spcAft>
              <a:buClr>
                <a:schemeClr val="accent1">
                  <a:lumMod val="75000"/>
                </a:schemeClr>
              </a:buClr>
              <a:buSzPct val="100000"/>
              <a:buFont typeface="Helvetica" pitchFamily="34" charset="0"/>
              <a:buChar char="-"/>
            </a:pPr>
            <a:r>
              <a:rPr lang="en-US" sz="2200" dirty="0" smtClean="0">
                <a:latin typeface="Helvetica" pitchFamily="34" charset="0"/>
              </a:rPr>
              <a:t>Reduced willingness to change layout, </a:t>
            </a:r>
            <a:br>
              <a:rPr lang="en-US" sz="2200" dirty="0" smtClean="0">
                <a:latin typeface="Helvetica" pitchFamily="34" charset="0"/>
              </a:rPr>
            </a:br>
            <a:r>
              <a:rPr lang="en-US" sz="2200" dirty="0" smtClean="0">
                <a:latin typeface="Helvetica" pitchFamily="34" charset="0"/>
              </a:rPr>
              <a:t>systems, procedures or allocation of space</a:t>
            </a:r>
          </a:p>
          <a:p>
            <a:pPr marL="720000" indent="-360000">
              <a:spcBef>
                <a:spcPts val="600"/>
              </a:spcBef>
              <a:spcAft>
                <a:spcPts val="1200"/>
              </a:spcAft>
              <a:buClr>
                <a:schemeClr val="accent1">
                  <a:lumMod val="75000"/>
                </a:schemeClr>
              </a:buClr>
              <a:buSzPct val="100000"/>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5" name="Picture 4" descr="I:\Overseas Projects\PHOTOS\2011\Culinary\_mg_8824.jpg"/>
          <p:cNvPicPr/>
          <p:nvPr/>
        </p:nvPicPr>
        <p:blipFill>
          <a:blip r:embed="rId3" cstate="print"/>
          <a:srcRect/>
          <a:stretch>
            <a:fillRect/>
          </a:stretch>
        </p:blipFill>
        <p:spPr bwMode="auto">
          <a:xfrm>
            <a:off x="7500958" y="2786058"/>
            <a:ext cx="1178143" cy="208823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the enterprise constraints in selecting a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00034" y="1714488"/>
            <a:ext cx="7467600" cy="4525963"/>
          </a:xfrm>
        </p:spPr>
        <p:txBody>
          <a:bodyPr>
            <a:normAutofit/>
          </a:bodyPr>
          <a:lstStyle/>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When choosing a system for a new operation:</a:t>
            </a:r>
          </a:p>
          <a:p>
            <a:pPr marL="1021752" lvl="1" indent="-360000">
              <a:spcBef>
                <a:spcPts val="600"/>
              </a:spcBef>
              <a:spcAft>
                <a:spcPts val="1200"/>
              </a:spcAft>
              <a:buClr>
                <a:schemeClr val="accent1">
                  <a:lumMod val="75000"/>
                </a:schemeClr>
              </a:buClr>
              <a:buSzPct val="100000"/>
              <a:buFont typeface="Helvetica" pitchFamily="34" charset="0"/>
              <a:buChar char="-"/>
            </a:pPr>
            <a:r>
              <a:rPr lang="en-US" sz="2200" dirty="0" smtClean="0">
                <a:latin typeface="Helvetica" pitchFamily="34" charset="0"/>
              </a:rPr>
              <a:t>There is more potential for considering other opportunities and larger volumes</a:t>
            </a:r>
          </a:p>
          <a:p>
            <a:pPr marL="1021752" lvl="1" indent="-360000">
              <a:spcBef>
                <a:spcPts val="600"/>
              </a:spcBef>
              <a:spcAft>
                <a:spcPts val="1200"/>
              </a:spcAft>
              <a:buClr>
                <a:schemeClr val="accent1">
                  <a:lumMod val="75000"/>
                </a:schemeClr>
              </a:buClr>
              <a:buSzPct val="100000"/>
              <a:buFont typeface="Helvetica" pitchFamily="34" charset="0"/>
              <a:buChar char="-"/>
            </a:pPr>
            <a:r>
              <a:rPr lang="en-US" sz="2200" dirty="0" smtClean="0">
                <a:latin typeface="Helvetica" pitchFamily="34" charset="0"/>
              </a:rPr>
              <a:t>Allows total design of food flow</a:t>
            </a:r>
          </a:p>
          <a:p>
            <a:pPr marL="1021752" lvl="1" indent="-360000">
              <a:spcBef>
                <a:spcPts val="600"/>
              </a:spcBef>
              <a:spcAft>
                <a:spcPts val="1200"/>
              </a:spcAft>
              <a:buClr>
                <a:schemeClr val="accent1">
                  <a:lumMod val="75000"/>
                </a:schemeClr>
              </a:buClr>
              <a:buSzPct val="100000"/>
              <a:buFont typeface="Helvetica" pitchFamily="34" charset="0"/>
              <a:buChar char="-"/>
            </a:pPr>
            <a:r>
              <a:rPr lang="en-US" sz="2200" dirty="0" smtClean="0">
                <a:latin typeface="Helvetica" pitchFamily="34" charset="0"/>
              </a:rPr>
              <a:t>There is greater willingness for new thinking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32770" name="Picture 2" descr="C:\Documents and Settings\Godaishu\Desktop\PHOTOS\2011\Female chef.jpg"/>
          <p:cNvPicPr>
            <a:picLocks noChangeAspect="1" noChangeArrowheads="1"/>
          </p:cNvPicPr>
          <p:nvPr/>
        </p:nvPicPr>
        <p:blipFill>
          <a:blip r:embed="rId3" cstate="print"/>
          <a:srcRect/>
          <a:stretch>
            <a:fillRect/>
          </a:stretch>
        </p:blipFill>
        <p:spPr bwMode="auto">
          <a:xfrm>
            <a:off x="7584742" y="2357430"/>
            <a:ext cx="1344976" cy="2016224"/>
          </a:xfrm>
          <a:prstGeom prst="rect">
            <a:avLst/>
          </a:prstGeom>
          <a:noFill/>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the enterprise constraints in selecting a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17681"/>
            <a:ext cx="7467600" cy="4525963"/>
          </a:xfrm>
        </p:spPr>
        <p:txBody>
          <a:bodyPr>
            <a:normAutofit/>
          </a:bodyPr>
          <a:lstStyle/>
          <a:p>
            <a:pPr marL="0" indent="0">
              <a:spcBef>
                <a:spcPts val="600"/>
              </a:spcBef>
              <a:spcAft>
                <a:spcPts val="1200"/>
              </a:spcAft>
              <a:buNone/>
            </a:pPr>
            <a:r>
              <a:rPr lang="en-US" sz="2200" dirty="0" smtClean="0">
                <a:latin typeface="Helvetica" pitchFamily="34" charset="0"/>
              </a:rPr>
              <a:t>Key Selection Criteria = non-negotiable aspects of the selection process.</a:t>
            </a:r>
          </a:p>
          <a:p>
            <a:pPr marL="0" indent="0">
              <a:spcBef>
                <a:spcPts val="600"/>
              </a:spcBef>
              <a:spcAft>
                <a:spcPts val="1200"/>
              </a:spcAft>
              <a:buNone/>
            </a:pPr>
            <a:r>
              <a:rPr lang="en-US" sz="2200" dirty="0" smtClean="0">
                <a:latin typeface="Helvetica" pitchFamily="34" charset="0"/>
              </a:rPr>
              <a:t>KSC may relate to:</a:t>
            </a:r>
          </a:p>
          <a:p>
            <a:pPr marL="360000" indent="-360000">
              <a:spcBef>
                <a:spcPts val="600"/>
              </a:spcBef>
              <a:spcAft>
                <a:spcPts val="1200"/>
              </a:spcAft>
            </a:pPr>
            <a:r>
              <a:rPr lang="en-US" sz="2200" dirty="0" smtClean="0">
                <a:latin typeface="Helvetica" pitchFamily="34" charset="0"/>
              </a:rPr>
              <a:t>Catering requirements</a:t>
            </a:r>
          </a:p>
          <a:p>
            <a:pPr marL="360000" indent="-360000">
              <a:spcBef>
                <a:spcPts val="600"/>
              </a:spcBef>
              <a:spcAft>
                <a:spcPts val="1200"/>
              </a:spcAft>
            </a:pPr>
            <a:r>
              <a:rPr lang="en-US" sz="2200" dirty="0" smtClean="0">
                <a:latin typeface="Helvetica" pitchFamily="34" charset="0"/>
              </a:rPr>
              <a:t>Enterprise constraints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5" name="Picture 4" descr="C:\Documents and Settings\danielc\Local Settings\Temporary Internet Files\Content.IE5\UMECW9PM\MC900231446[1].wmf"/>
          <p:cNvPicPr/>
          <p:nvPr/>
        </p:nvPicPr>
        <p:blipFill>
          <a:blip r:embed="rId3" cstate="print"/>
          <a:srcRect/>
          <a:stretch>
            <a:fillRect/>
          </a:stretch>
        </p:blipFill>
        <p:spPr bwMode="auto">
          <a:xfrm>
            <a:off x="6000760" y="2707166"/>
            <a:ext cx="1468556" cy="136477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the enterprise constraints in selecting a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760557"/>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All factors identified as KSC must form the basis for:</a:t>
            </a:r>
          </a:p>
          <a:p>
            <a:pPr marL="360000" indent="-360000">
              <a:spcBef>
                <a:spcPts val="600"/>
              </a:spcBef>
              <a:spcAft>
                <a:spcPts val="1200"/>
              </a:spcAft>
            </a:pPr>
            <a:r>
              <a:rPr lang="en-US" sz="2200" dirty="0" smtClean="0">
                <a:latin typeface="Helvetica" pitchFamily="34" charset="0"/>
              </a:rPr>
              <a:t>Evaluation and analysis of systems available</a:t>
            </a:r>
          </a:p>
          <a:p>
            <a:pPr marL="360000" indent="-360000">
              <a:spcBef>
                <a:spcPts val="600"/>
              </a:spcBef>
              <a:spcAft>
                <a:spcPts val="1200"/>
              </a:spcAft>
            </a:pPr>
            <a:r>
              <a:rPr lang="en-US" sz="2200" dirty="0" smtClean="0">
                <a:latin typeface="Helvetica" pitchFamily="34" charset="0"/>
              </a:rPr>
              <a:t>Recommendations made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31747" name="Picture 3" descr="C:\Documents and Settings\Godaishu\Desktop\PHOTOS\images\iStock_000002829159Medium.jpg"/>
          <p:cNvPicPr>
            <a:picLocks noChangeAspect="1" noChangeArrowheads="1"/>
          </p:cNvPicPr>
          <p:nvPr/>
        </p:nvPicPr>
        <p:blipFill>
          <a:blip r:embed="rId3" cstate="print"/>
          <a:srcRect/>
          <a:stretch>
            <a:fillRect/>
          </a:stretch>
        </p:blipFill>
        <p:spPr bwMode="auto">
          <a:xfrm>
            <a:off x="6442161" y="3143248"/>
            <a:ext cx="1844615" cy="1854349"/>
          </a:xfrm>
          <a:prstGeom prst="rect">
            <a:avLst/>
          </a:prstGeom>
          <a:noFill/>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establishing enterprise requirements for a catering system:</a:t>
            </a:r>
          </a:p>
          <a:p>
            <a:pPr marL="360000" indent="-360000">
              <a:spcBef>
                <a:spcPts val="600"/>
              </a:spcBef>
              <a:spcAft>
                <a:spcPts val="1200"/>
              </a:spcAft>
            </a:pPr>
            <a:r>
              <a:rPr lang="en-AU" sz="2200" dirty="0" smtClean="0">
                <a:latin typeface="Helvetica" pitchFamily="34" charset="0"/>
              </a:rPr>
              <a:t>Apply suitable research methods to the process</a:t>
            </a:r>
          </a:p>
          <a:p>
            <a:pPr marL="360000" indent="-360000">
              <a:spcBef>
                <a:spcPts val="600"/>
              </a:spcBef>
              <a:spcAft>
                <a:spcPts val="1200"/>
              </a:spcAft>
            </a:pPr>
            <a:r>
              <a:rPr lang="en-AU" sz="2200" dirty="0" smtClean="0">
                <a:latin typeface="Helvetica" pitchFamily="34" charset="0"/>
              </a:rPr>
              <a:t>Meet and talk with management and operational staff</a:t>
            </a:r>
          </a:p>
          <a:p>
            <a:pPr marL="360000" indent="-360000">
              <a:spcBef>
                <a:spcPts val="600"/>
              </a:spcBef>
              <a:spcAft>
                <a:spcPts val="1200"/>
              </a:spcAft>
            </a:pPr>
            <a:r>
              <a:rPr lang="en-AU" sz="2200" dirty="0" smtClean="0">
                <a:latin typeface="Helvetica" pitchFamily="34" charset="0"/>
              </a:rPr>
              <a:t>Obtain and read published information on systems</a:t>
            </a:r>
          </a:p>
          <a:p>
            <a:endParaRPr lang="en-AU"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5" name="Picture 2" descr="C:\Documents and Settings\Godaishu\Local Settings\Temporary Internet Files\Content.IE5\AIDHLZ6J\MC900442036[1].wmf"/>
          <p:cNvPicPr>
            <a:picLocks noChangeAspect="1" noChangeArrowheads="1"/>
          </p:cNvPicPr>
          <p:nvPr/>
        </p:nvPicPr>
        <p:blipFill>
          <a:blip r:embed="rId3" cstate="print"/>
          <a:srcRect/>
          <a:stretch>
            <a:fillRect/>
          </a:stretch>
        </p:blipFill>
        <p:spPr bwMode="auto">
          <a:xfrm>
            <a:off x="6084168" y="4437112"/>
            <a:ext cx="1639112" cy="1622301"/>
          </a:xfrm>
          <a:prstGeom prst="rect">
            <a:avLst/>
          </a:prstGeom>
          <a:noFill/>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Meet with equipment and system suppliers</a:t>
            </a:r>
          </a:p>
          <a:p>
            <a:pPr marL="360000" indent="-360000">
              <a:spcBef>
                <a:spcPts val="600"/>
              </a:spcBef>
              <a:spcAft>
                <a:spcPts val="1200"/>
              </a:spcAft>
            </a:pPr>
            <a:r>
              <a:rPr lang="en-AU" sz="2200" dirty="0" smtClean="0">
                <a:latin typeface="Helvetica" pitchFamily="34" charset="0"/>
              </a:rPr>
              <a:t>Visit other venues and kitchens</a:t>
            </a:r>
          </a:p>
          <a:p>
            <a:pPr marL="360000" indent="-360000">
              <a:spcBef>
                <a:spcPts val="600"/>
              </a:spcBef>
              <a:spcAft>
                <a:spcPts val="1200"/>
              </a:spcAft>
            </a:pPr>
            <a:r>
              <a:rPr lang="en-AU" sz="2200" dirty="0" smtClean="0">
                <a:latin typeface="Helvetica" pitchFamily="34" charset="0"/>
              </a:rPr>
              <a:t>View and review your own operation</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5" name="Picture 2" descr="C:\Documents and Settings\Godaishu\Local Settings\Temporary Internet Files\Content.IE5\AIDHLZ6J\MC900442036[1].wmf"/>
          <p:cNvPicPr>
            <a:picLocks noChangeAspect="1" noChangeArrowheads="1"/>
          </p:cNvPicPr>
          <p:nvPr/>
        </p:nvPicPr>
        <p:blipFill>
          <a:blip r:embed="rId3" cstate="print"/>
          <a:srcRect/>
          <a:stretch>
            <a:fillRect/>
          </a:stretch>
        </p:blipFill>
        <p:spPr bwMode="auto">
          <a:xfrm>
            <a:off x="6357950" y="3429000"/>
            <a:ext cx="1857375" cy="1838325"/>
          </a:xfrm>
          <a:prstGeom prst="rect">
            <a:avLst/>
          </a:prstGeom>
          <a:noFill/>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556792"/>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Determine nature and requirements of the kitchen or venue and available space</a:t>
            </a:r>
          </a:p>
          <a:p>
            <a:pPr marL="360000" indent="-360000">
              <a:spcBef>
                <a:spcPts val="600"/>
              </a:spcBef>
              <a:spcAft>
                <a:spcPts val="1200"/>
              </a:spcAft>
            </a:pPr>
            <a:r>
              <a:rPr lang="en-AU" sz="2200" dirty="0" smtClean="0">
                <a:latin typeface="Helvetica" pitchFamily="34" charset="0"/>
              </a:rPr>
              <a:t>Identify menu items and necessary production levels </a:t>
            </a:r>
          </a:p>
          <a:p>
            <a:pPr marL="360000" indent="-360000">
              <a:spcBef>
                <a:spcPts val="600"/>
              </a:spcBef>
              <a:spcAft>
                <a:spcPts val="1200"/>
              </a:spcAft>
            </a:pPr>
            <a:r>
              <a:rPr lang="en-AU" sz="2200" dirty="0" smtClean="0">
                <a:latin typeface="Helvetica" pitchFamily="34" charset="0"/>
              </a:rPr>
              <a:t>Specify holding and storage requirements and available space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5" name="Picture 2" descr="C:\Documents and Settings\Godaishu\Local Settings\Temporary Internet Files\Content.IE5\AIDHLZ6J\MC900442036[1].wmf"/>
          <p:cNvPicPr>
            <a:picLocks noChangeAspect="1" noChangeArrowheads="1"/>
          </p:cNvPicPr>
          <p:nvPr/>
        </p:nvPicPr>
        <p:blipFill>
          <a:blip r:embed="rId3" cstate="print"/>
          <a:srcRect/>
          <a:stretch>
            <a:fillRect/>
          </a:stretch>
        </p:blipFill>
        <p:spPr bwMode="auto">
          <a:xfrm>
            <a:off x="5868144" y="4149080"/>
            <a:ext cx="1569343" cy="1553247"/>
          </a:xfrm>
          <a:prstGeom prst="rect">
            <a:avLst/>
          </a:prstGeom>
          <a:noFill/>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24" y="1556792"/>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Locate service outlets as well as available </a:t>
            </a:r>
            <a:br>
              <a:rPr lang="en-AU" sz="2200" dirty="0" smtClean="0">
                <a:latin typeface="Helvetica" pitchFamily="34" charset="0"/>
              </a:rPr>
            </a:br>
            <a:r>
              <a:rPr lang="en-AU" sz="2200" dirty="0" smtClean="0">
                <a:latin typeface="Helvetica" pitchFamily="34" charset="0"/>
              </a:rPr>
              <a:t>space</a:t>
            </a:r>
          </a:p>
          <a:p>
            <a:pPr marL="360000" indent="-360000">
              <a:spcBef>
                <a:spcPts val="600"/>
              </a:spcBef>
              <a:spcAft>
                <a:spcPts val="1200"/>
              </a:spcAft>
            </a:pPr>
            <a:r>
              <a:rPr lang="en-AU" sz="2200" dirty="0" smtClean="0">
                <a:latin typeface="Helvetica" pitchFamily="34" charset="0"/>
              </a:rPr>
              <a:t>Nominate dietary and nutritional requirements</a:t>
            </a:r>
          </a:p>
          <a:p>
            <a:pPr marL="360000" indent="-360000">
              <a:spcBef>
                <a:spcPts val="600"/>
              </a:spcBef>
              <a:spcAft>
                <a:spcPts val="1200"/>
              </a:spcAft>
            </a:pPr>
            <a:r>
              <a:rPr lang="en-AU" sz="2200" dirty="0" smtClean="0">
                <a:latin typeface="Helvetica" pitchFamily="34" charset="0"/>
              </a:rPr>
              <a:t>Detail power, energy and water needs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5" name="Picture 2" descr="C:\Documents and Settings\Godaishu\Local Settings\Temporary Internet Files\Content.IE5\AIDHLZ6J\MC900442036[1].wmf"/>
          <p:cNvPicPr>
            <a:picLocks noChangeAspect="1" noChangeArrowheads="1"/>
          </p:cNvPicPr>
          <p:nvPr/>
        </p:nvPicPr>
        <p:blipFill>
          <a:blip r:embed="rId3" cstate="print"/>
          <a:srcRect/>
          <a:stretch>
            <a:fillRect/>
          </a:stretch>
        </p:blipFill>
        <p:spPr bwMode="auto">
          <a:xfrm>
            <a:off x="6500826" y="3429000"/>
            <a:ext cx="1857375" cy="1838325"/>
          </a:xfrm>
          <a:prstGeom prst="rect">
            <a:avLst/>
          </a:prstGeom>
          <a:noFill/>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Determine food production stages involved</a:t>
            </a:r>
          </a:p>
          <a:p>
            <a:pPr marL="360000" indent="-360000">
              <a:spcBef>
                <a:spcPts val="600"/>
              </a:spcBef>
              <a:spcAft>
                <a:spcPts val="1200"/>
              </a:spcAft>
            </a:pPr>
            <a:r>
              <a:rPr lang="en-AU" sz="2200" dirty="0" smtClean="0">
                <a:latin typeface="Helvetica" pitchFamily="34" charset="0"/>
              </a:rPr>
              <a:t>Consider existing enterprise standards and </a:t>
            </a:r>
            <a:br>
              <a:rPr lang="en-AU" sz="2200" dirty="0" smtClean="0">
                <a:latin typeface="Helvetica" pitchFamily="34" charset="0"/>
              </a:rPr>
            </a:br>
            <a:r>
              <a:rPr lang="en-AU" sz="2200" dirty="0" smtClean="0">
                <a:latin typeface="Helvetica" pitchFamily="34" charset="0"/>
              </a:rPr>
              <a:t>practices</a:t>
            </a:r>
          </a:p>
          <a:p>
            <a:pPr marL="360000" indent="-360000">
              <a:spcBef>
                <a:spcPts val="600"/>
              </a:spcBef>
              <a:spcAft>
                <a:spcPts val="1200"/>
              </a:spcAft>
            </a:pPr>
            <a:r>
              <a:rPr lang="en-AU" sz="2200" dirty="0" smtClean="0">
                <a:latin typeface="Helvetica" pitchFamily="34" charset="0"/>
              </a:rPr>
              <a:t>Obtain a mix of data including ‘soft’ and ‘hard’ </a:t>
            </a:r>
            <a:br>
              <a:rPr lang="en-AU" sz="2200" dirty="0" smtClean="0">
                <a:latin typeface="Helvetica" pitchFamily="34" charset="0"/>
              </a:rPr>
            </a:br>
            <a:r>
              <a:rPr lang="en-AU" sz="2200" dirty="0" smtClean="0">
                <a:latin typeface="Helvetica" pitchFamily="34" charset="0"/>
              </a:rPr>
              <a:t>as well as secondary and primary data</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5" name="Picture 2" descr="C:\Documents and Settings\Godaishu\Local Settings\Temporary Internet Files\Content.IE5\AIDHLZ6J\MC900442036[1].wmf"/>
          <p:cNvPicPr>
            <a:picLocks noChangeAspect="1" noChangeArrowheads="1"/>
          </p:cNvPicPr>
          <p:nvPr/>
        </p:nvPicPr>
        <p:blipFill>
          <a:blip r:embed="rId3" cstate="print"/>
          <a:srcRect/>
          <a:stretch>
            <a:fillRect/>
          </a:stretch>
        </p:blipFill>
        <p:spPr bwMode="auto">
          <a:xfrm>
            <a:off x="6715140" y="3857628"/>
            <a:ext cx="1857375" cy="1838325"/>
          </a:xfrm>
          <a:prstGeom prst="rect">
            <a:avLst/>
          </a:prstGeom>
          <a:noFill/>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17681"/>
            <a:ext cx="7467600" cy="4525963"/>
          </a:xfrm>
        </p:spPr>
        <p:txBody>
          <a:bodyPr>
            <a:normAutofit/>
          </a:bodyPr>
          <a:lstStyle/>
          <a:p>
            <a:pPr>
              <a:spcBef>
                <a:spcPts val="600"/>
              </a:spcBef>
              <a:spcAft>
                <a:spcPts val="1200"/>
              </a:spcAft>
            </a:pPr>
            <a:r>
              <a:rPr lang="en-AU" sz="2200" dirty="0" smtClean="0">
                <a:latin typeface="Helvetica" pitchFamily="34" charset="0"/>
              </a:rPr>
              <a:t>Involve relevant others in the process</a:t>
            </a:r>
          </a:p>
          <a:p>
            <a:pPr>
              <a:spcBef>
                <a:spcPts val="600"/>
              </a:spcBef>
              <a:spcAft>
                <a:spcPts val="1200"/>
              </a:spcAft>
            </a:pPr>
            <a:r>
              <a:rPr lang="en-AU" sz="2200" dirty="0" smtClean="0">
                <a:latin typeface="Helvetica" pitchFamily="34" charset="0"/>
              </a:rPr>
              <a:t>Identify and quantify all constraints and limitations</a:t>
            </a:r>
          </a:p>
          <a:p>
            <a:pPr>
              <a:spcBef>
                <a:spcPts val="600"/>
              </a:spcBef>
              <a:spcAft>
                <a:spcPts val="1200"/>
              </a:spcAft>
            </a:pPr>
            <a:r>
              <a:rPr lang="en-AU" sz="2200" dirty="0" smtClean="0">
                <a:latin typeface="Helvetica" pitchFamily="34" charset="0"/>
              </a:rPr>
              <a:t>Determine Key Selection Criteria</a:t>
            </a: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5" name="Picture 2" descr="C:\Documents and Settings\Godaishu\Local Settings\Temporary Internet Files\Content.IE5\AIDHLZ6J\MC900442036[1].wmf"/>
          <p:cNvPicPr>
            <a:picLocks noChangeAspect="1" noChangeArrowheads="1"/>
          </p:cNvPicPr>
          <p:nvPr/>
        </p:nvPicPr>
        <p:blipFill>
          <a:blip r:embed="rId3" cstate="print"/>
          <a:srcRect/>
          <a:stretch>
            <a:fillRect/>
          </a:stretch>
        </p:blipFill>
        <p:spPr bwMode="auto">
          <a:xfrm>
            <a:off x="6156176" y="3429000"/>
            <a:ext cx="1857375" cy="1838325"/>
          </a:xfrm>
          <a:prstGeom prst="rect">
            <a:avLst/>
          </a:prstGeom>
          <a:noFill/>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Evaluate catering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Identify a range of alternative catering systems</a:t>
            </a:r>
          </a:p>
          <a:p>
            <a:pPr marL="360000" indent="-360000">
              <a:spcBef>
                <a:spcPts val="600"/>
              </a:spcBef>
              <a:spcAft>
                <a:spcPts val="1200"/>
              </a:spcAft>
            </a:pPr>
            <a:r>
              <a:rPr lang="en-US" sz="2200" dirty="0" smtClean="0">
                <a:latin typeface="Helvetica" pitchFamily="34" charset="0"/>
              </a:rPr>
              <a:t>Evaluate agreed enterprise requirements against systems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5" name="Picture 2" descr="C:\Documents and Settings\Godaishu\Local Settings\Temporary Internet Files\Content.IE5\AIDHLZ6J\MC900434663[1].wmf"/>
          <p:cNvPicPr>
            <a:picLocks noChangeAspect="1" noChangeArrowheads="1"/>
          </p:cNvPicPr>
          <p:nvPr/>
        </p:nvPicPr>
        <p:blipFill>
          <a:blip r:embed="rId3" cstate="print"/>
          <a:srcRect/>
          <a:stretch>
            <a:fillRect/>
          </a:stretch>
        </p:blipFill>
        <p:spPr bwMode="auto">
          <a:xfrm>
            <a:off x="6978853" y="1988840"/>
            <a:ext cx="450667" cy="595064"/>
          </a:xfrm>
          <a:prstGeom prst="rect">
            <a:avLst/>
          </a:prstGeom>
          <a:noFill/>
        </p:spPr>
      </p:pic>
      <p:pic>
        <p:nvPicPr>
          <p:cNvPr id="6" name="Picture 2" descr="C:\Documents and Settings\Godaishu\Local Settings\Temporary Internet Files\Content.IE5\AIDHLZ6J\MC900434663[1].wmf"/>
          <p:cNvPicPr>
            <a:picLocks noChangeAspect="1" noChangeArrowheads="1"/>
          </p:cNvPicPr>
          <p:nvPr/>
        </p:nvPicPr>
        <p:blipFill>
          <a:blip r:embed="rId3" cstate="print"/>
          <a:srcRect/>
          <a:stretch>
            <a:fillRect/>
          </a:stretch>
        </p:blipFill>
        <p:spPr bwMode="auto">
          <a:xfrm>
            <a:off x="2177117" y="3049960"/>
            <a:ext cx="450667" cy="595064"/>
          </a:xfrm>
          <a:prstGeom prst="rect">
            <a:avLst/>
          </a:prstGeom>
          <a:noFill/>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 range of alternative catering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Four catering system classifications (Unklesbay, 1977) which will be discussed are:</a:t>
            </a:r>
          </a:p>
          <a:p>
            <a:pPr marL="360000" indent="-360000">
              <a:spcBef>
                <a:spcPts val="600"/>
              </a:spcBef>
              <a:spcAft>
                <a:spcPts val="1200"/>
              </a:spcAft>
            </a:pPr>
            <a:r>
              <a:rPr lang="en-US" sz="2200" dirty="0" smtClean="0">
                <a:latin typeface="Helvetica" pitchFamily="34" charset="0"/>
              </a:rPr>
              <a:t>Conventional</a:t>
            </a:r>
          </a:p>
          <a:p>
            <a:pPr marL="360000" indent="-360000">
              <a:spcBef>
                <a:spcPts val="600"/>
              </a:spcBef>
              <a:spcAft>
                <a:spcPts val="1200"/>
              </a:spcAft>
            </a:pPr>
            <a:r>
              <a:rPr lang="en-US" sz="2200" dirty="0" smtClean="0">
                <a:latin typeface="Helvetica" pitchFamily="34" charset="0"/>
              </a:rPr>
              <a:t>Ready-prepared</a:t>
            </a:r>
          </a:p>
          <a:p>
            <a:pPr marL="360000" indent="-360000">
              <a:spcBef>
                <a:spcPts val="600"/>
              </a:spcBef>
              <a:spcAft>
                <a:spcPts val="1200"/>
              </a:spcAft>
            </a:pPr>
            <a:r>
              <a:rPr lang="en-US" sz="2200" dirty="0" smtClean="0">
                <a:latin typeface="Helvetica" pitchFamily="34" charset="0"/>
              </a:rPr>
              <a:t>Commissary</a:t>
            </a:r>
          </a:p>
          <a:p>
            <a:pPr marL="360000" indent="-360000">
              <a:spcBef>
                <a:spcPts val="600"/>
              </a:spcBef>
              <a:spcAft>
                <a:spcPts val="1200"/>
              </a:spcAft>
            </a:pPr>
            <a:r>
              <a:rPr lang="en-US" sz="2200" dirty="0" smtClean="0">
                <a:latin typeface="Helvetica" pitchFamily="34" charset="0"/>
              </a:rPr>
              <a:t>Assembly-serve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5" name="Picture 4" descr="I:\Overseas Projects\PHOTOS\2011\Culinary\cookery7.jpg"/>
          <p:cNvPicPr/>
          <p:nvPr/>
        </p:nvPicPr>
        <p:blipFill>
          <a:blip r:embed="rId3" cstate="print"/>
          <a:srcRect/>
          <a:stretch>
            <a:fillRect/>
          </a:stretch>
        </p:blipFill>
        <p:spPr bwMode="auto">
          <a:xfrm>
            <a:off x="6012160" y="2420888"/>
            <a:ext cx="1627649" cy="21602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 range of alternative catering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There is a link between food production and food service which can be illustrated and explained by a ‘continuum of food processing’ where:</a:t>
            </a:r>
          </a:p>
          <a:p>
            <a:pPr marL="360000" indent="-360000">
              <a:spcBef>
                <a:spcPts val="600"/>
              </a:spcBef>
              <a:spcAft>
                <a:spcPts val="1200"/>
              </a:spcAft>
            </a:pPr>
            <a:r>
              <a:rPr lang="en-US" sz="2200" dirty="0" smtClean="0">
                <a:latin typeface="Helvetica" pitchFamily="34" charset="0"/>
              </a:rPr>
              <a:t>Some kitchens buy raw ingredients and </a:t>
            </a:r>
            <a:br>
              <a:rPr lang="en-US" sz="2200" dirty="0" smtClean="0">
                <a:latin typeface="Helvetica" pitchFamily="34" charset="0"/>
              </a:rPr>
            </a:br>
            <a:r>
              <a:rPr lang="en-US" sz="2200" dirty="0" smtClean="0">
                <a:latin typeface="Helvetica" pitchFamily="34" charset="0"/>
              </a:rPr>
              <a:t>produce menu items from this</a:t>
            </a:r>
          </a:p>
          <a:p>
            <a:pPr marL="360000" indent="-360000">
              <a:spcBef>
                <a:spcPts val="600"/>
              </a:spcBef>
              <a:spcAft>
                <a:spcPts val="1200"/>
              </a:spcAft>
            </a:pPr>
            <a:r>
              <a:rPr lang="en-US" sz="2200" dirty="0" smtClean="0">
                <a:latin typeface="Helvetica" pitchFamily="34" charset="0"/>
              </a:rPr>
              <a:t>Some kitchens buy in a mix of raw ingredients, </a:t>
            </a:r>
            <a:br>
              <a:rPr lang="en-US" sz="2200" dirty="0" smtClean="0">
                <a:latin typeface="Helvetica" pitchFamily="34" charset="0"/>
              </a:rPr>
            </a:br>
            <a:r>
              <a:rPr lang="en-US" sz="2200" dirty="0" smtClean="0">
                <a:latin typeface="Helvetica" pitchFamily="34" charset="0"/>
              </a:rPr>
              <a:t>pre-prepared items and ready-made items</a:t>
            </a:r>
          </a:p>
          <a:p>
            <a:pPr marL="360000" indent="-360000">
              <a:spcBef>
                <a:spcPts val="600"/>
              </a:spcBef>
              <a:spcAft>
                <a:spcPts val="1200"/>
              </a:spcAft>
            </a:pPr>
            <a:r>
              <a:rPr lang="en-US" sz="2200" dirty="0" smtClean="0">
                <a:latin typeface="Helvetica" pitchFamily="34" charset="0"/>
              </a:rPr>
              <a:t>Some kitchens purchase only fully-made, </a:t>
            </a:r>
            <a:br>
              <a:rPr lang="en-US" sz="2200" dirty="0" smtClean="0">
                <a:latin typeface="Helvetica" pitchFamily="34" charset="0"/>
              </a:rPr>
            </a:br>
            <a:r>
              <a:rPr lang="en-US" sz="2200" dirty="0" smtClean="0">
                <a:latin typeface="Helvetica" pitchFamily="34" charset="0"/>
              </a:rPr>
              <a:t>pre-portioned foods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33795" name="Picture 3" descr="C:\Documents and Settings\Godaishu\Desktop\PHOTOS\2011\Culinary\hospitality7.jpg"/>
          <p:cNvPicPr>
            <a:picLocks noChangeAspect="1" noChangeArrowheads="1"/>
          </p:cNvPicPr>
          <p:nvPr/>
        </p:nvPicPr>
        <p:blipFill>
          <a:blip r:embed="rId3" cstate="print"/>
          <a:srcRect/>
          <a:stretch>
            <a:fillRect/>
          </a:stretch>
        </p:blipFill>
        <p:spPr bwMode="auto">
          <a:xfrm>
            <a:off x="7020272" y="2924944"/>
            <a:ext cx="1821970" cy="1224136"/>
          </a:xfrm>
          <a:prstGeom prst="rect">
            <a:avLst/>
          </a:prstGeom>
          <a:noFill/>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 range of alternative catering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Use of pre-prepared and ready-made foods is increasing:</a:t>
            </a:r>
          </a:p>
          <a:p>
            <a:pPr marL="360000" indent="-360000">
              <a:spcBef>
                <a:spcPts val="600"/>
              </a:spcBef>
              <a:spcAft>
                <a:spcPts val="1200"/>
              </a:spcAft>
            </a:pPr>
            <a:r>
              <a:rPr lang="en-US" sz="2200" dirty="0" smtClean="0">
                <a:latin typeface="Helvetica" pitchFamily="34" charset="0"/>
              </a:rPr>
              <a:t>To save labour costs</a:t>
            </a:r>
          </a:p>
          <a:p>
            <a:pPr marL="360000" indent="-360000">
              <a:spcBef>
                <a:spcPts val="600"/>
              </a:spcBef>
              <a:spcAft>
                <a:spcPts val="1200"/>
              </a:spcAft>
            </a:pPr>
            <a:r>
              <a:rPr lang="en-US" sz="2200" dirty="0" smtClean="0">
                <a:latin typeface="Helvetica" pitchFamily="34" charset="0"/>
              </a:rPr>
              <a:t>As quality of the products continues to improve </a:t>
            </a:r>
            <a:br>
              <a:rPr lang="en-US" sz="2200" dirty="0" smtClean="0">
                <a:latin typeface="Helvetica" pitchFamily="34" charset="0"/>
              </a:rPr>
            </a:br>
            <a:r>
              <a:rPr lang="en-US" sz="2200" dirty="0" smtClean="0">
                <a:latin typeface="Helvetica" pitchFamily="34" charset="0"/>
              </a:rPr>
              <a:t>over time</a:t>
            </a:r>
          </a:p>
          <a:p>
            <a:pPr marL="360000" indent="-360000">
              <a:spcBef>
                <a:spcPts val="600"/>
              </a:spcBef>
              <a:spcAft>
                <a:spcPts val="1200"/>
              </a:spcAft>
            </a:pPr>
            <a:r>
              <a:rPr lang="en-US" sz="2200" dirty="0" smtClean="0">
                <a:latin typeface="Helvetica" pitchFamily="34" charset="0"/>
              </a:rPr>
              <a:t>Through the use of food specifications which can detail precisely how raw materials are to be prepared prior to delivery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5" name="Picture 4" descr="C:\Documents and Settings\danielc\Desktop\1235331195473300x360.jpg"/>
          <p:cNvPicPr/>
          <p:nvPr/>
        </p:nvPicPr>
        <p:blipFill>
          <a:blip r:embed="rId3" cstate="print">
            <a:lum contrast="20000"/>
          </a:blip>
          <a:srcRect/>
          <a:stretch>
            <a:fillRect/>
          </a:stretch>
        </p:blipFill>
        <p:spPr bwMode="auto">
          <a:xfrm>
            <a:off x="7524328" y="1988840"/>
            <a:ext cx="1277487" cy="152854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 range of alternative catering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8911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‘Conventional’ catering system:</a:t>
            </a:r>
          </a:p>
          <a:p>
            <a:pPr marL="360000" indent="-360000">
              <a:spcBef>
                <a:spcPts val="600"/>
              </a:spcBef>
              <a:spcAft>
                <a:spcPts val="1200"/>
              </a:spcAft>
            </a:pPr>
            <a:r>
              <a:rPr lang="en-US" sz="2200" dirty="0" smtClean="0">
                <a:latin typeface="Helvetica" pitchFamily="34" charset="0"/>
              </a:rPr>
              <a:t>Is ‘cook-and-serve’</a:t>
            </a:r>
          </a:p>
          <a:p>
            <a:pPr marL="360000" indent="-360000">
              <a:spcBef>
                <a:spcPts val="600"/>
              </a:spcBef>
              <a:spcAft>
                <a:spcPts val="1200"/>
              </a:spcAft>
            </a:pPr>
            <a:r>
              <a:rPr lang="en-US" sz="2200" dirty="0" smtClean="0">
                <a:latin typeface="Helvetica" pitchFamily="34" charset="0"/>
              </a:rPr>
              <a:t>Food is prepared/cooked at the time and served </a:t>
            </a:r>
            <a:br>
              <a:rPr lang="en-US" sz="2200" dirty="0" smtClean="0">
                <a:latin typeface="Helvetica" pitchFamily="34" charset="0"/>
              </a:rPr>
            </a:br>
            <a:r>
              <a:rPr lang="en-US" sz="2200" dirty="0" smtClean="0">
                <a:latin typeface="Helvetica" pitchFamily="34" charset="0"/>
              </a:rPr>
              <a:t>hot or cold</a:t>
            </a:r>
          </a:p>
          <a:p>
            <a:pPr marL="360000" indent="-360000">
              <a:spcBef>
                <a:spcPts val="600"/>
              </a:spcBef>
              <a:spcAft>
                <a:spcPts val="1200"/>
              </a:spcAft>
            </a:pPr>
            <a:r>
              <a:rPr lang="en-US" sz="2200" dirty="0" smtClean="0">
                <a:latin typeface="Helvetica" pitchFamily="34" charset="0"/>
              </a:rPr>
              <a:t>Food is not prepared today for service at a later </a:t>
            </a:r>
            <a:br>
              <a:rPr lang="en-US" sz="2200" dirty="0" smtClean="0">
                <a:latin typeface="Helvetica" pitchFamily="34" charset="0"/>
              </a:rPr>
            </a:br>
            <a:r>
              <a:rPr lang="en-US" sz="2200" dirty="0" smtClean="0">
                <a:latin typeface="Helvetica" pitchFamily="34" charset="0"/>
              </a:rPr>
              <a:t>date</a:t>
            </a:r>
          </a:p>
          <a:p>
            <a:pPr marL="360000" indent="-360000">
              <a:spcBef>
                <a:spcPts val="600"/>
              </a:spcBef>
              <a:spcAft>
                <a:spcPts val="1200"/>
              </a:spcAft>
            </a:pPr>
            <a:r>
              <a:rPr lang="en-US" sz="2200" dirty="0" smtClean="0">
                <a:latin typeface="Helvetica" pitchFamily="34" charset="0"/>
              </a:rPr>
              <a:t>Is the most common system</a:t>
            </a:r>
          </a:p>
          <a:p>
            <a:pPr marL="360000" indent="-360000">
              <a:spcBef>
                <a:spcPts val="600"/>
              </a:spcBef>
              <a:spcAft>
                <a:spcPts val="1200"/>
              </a:spcAft>
            </a:pPr>
            <a:r>
              <a:rPr lang="en-US" sz="2200" dirty="0" smtClean="0">
                <a:latin typeface="Helvetica" pitchFamily="34" charset="0"/>
              </a:rPr>
              <a:t>Food is cooked and served at same location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pic>
        <p:nvPicPr>
          <p:cNvPr id="5" name="Picture 4" descr="I:\Overseas Projects\PHOTOS\2011\Culinary\cookery3.jpg"/>
          <p:cNvPicPr/>
          <p:nvPr/>
        </p:nvPicPr>
        <p:blipFill>
          <a:blip r:embed="rId3" cstate="print"/>
          <a:srcRect/>
          <a:stretch>
            <a:fillRect/>
          </a:stretch>
        </p:blipFill>
        <p:spPr bwMode="auto">
          <a:xfrm>
            <a:off x="7308304" y="2492896"/>
            <a:ext cx="1368152" cy="21602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 range of alternative catering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31995"/>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Food bought for use in the Conventional system may be:</a:t>
            </a:r>
          </a:p>
          <a:p>
            <a:pPr marL="360000" indent="-360000">
              <a:spcBef>
                <a:spcPts val="600"/>
              </a:spcBef>
              <a:spcAft>
                <a:spcPts val="1200"/>
              </a:spcAft>
            </a:pPr>
            <a:r>
              <a:rPr lang="en-US" sz="2200" dirty="0" smtClean="0">
                <a:latin typeface="Helvetica" pitchFamily="34" charset="0"/>
              </a:rPr>
              <a:t>Raw ingredients</a:t>
            </a:r>
          </a:p>
          <a:p>
            <a:pPr marL="360000" indent="-360000">
              <a:spcBef>
                <a:spcPts val="600"/>
              </a:spcBef>
              <a:spcAft>
                <a:spcPts val="1200"/>
              </a:spcAft>
            </a:pPr>
            <a:r>
              <a:rPr lang="en-US" sz="2200" dirty="0" smtClean="0">
                <a:latin typeface="Helvetica" pitchFamily="34" charset="0"/>
              </a:rPr>
              <a:t>Pre-prepared food</a:t>
            </a:r>
          </a:p>
          <a:p>
            <a:pPr marL="360000" indent="-360000">
              <a:spcBef>
                <a:spcPts val="600"/>
              </a:spcBef>
              <a:spcAft>
                <a:spcPts val="1200"/>
              </a:spcAft>
            </a:pPr>
            <a:r>
              <a:rPr lang="en-US" sz="2200" dirty="0" smtClean="0">
                <a:latin typeface="Helvetica" pitchFamily="34" charset="0"/>
              </a:rPr>
              <a:t>Ready-made items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34818" name="Picture 2" descr="C:\Documents and Settings\Godaishu\Desktop\PHOTOS\Culinary 2012\Vegetables.jpg"/>
          <p:cNvPicPr>
            <a:picLocks noChangeAspect="1" noChangeArrowheads="1"/>
          </p:cNvPicPr>
          <p:nvPr/>
        </p:nvPicPr>
        <p:blipFill>
          <a:blip r:embed="rId3" cstate="print"/>
          <a:srcRect/>
          <a:stretch>
            <a:fillRect/>
          </a:stretch>
        </p:blipFill>
        <p:spPr bwMode="auto">
          <a:xfrm>
            <a:off x="5572132" y="2500306"/>
            <a:ext cx="2344688" cy="1636397"/>
          </a:xfrm>
          <a:prstGeom prst="rect">
            <a:avLst/>
          </a:prstGeom>
          <a:noFill/>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 range of alternative catering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8911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Menu items for the Conventional system are either:</a:t>
            </a:r>
          </a:p>
          <a:p>
            <a:pPr marL="360000" indent="-360000">
              <a:spcBef>
                <a:spcPts val="600"/>
              </a:spcBef>
              <a:spcAft>
                <a:spcPts val="1200"/>
              </a:spcAft>
            </a:pPr>
            <a:r>
              <a:rPr lang="en-US" sz="2200" dirty="0" smtClean="0">
                <a:latin typeface="Helvetica" pitchFamily="34" charset="0"/>
              </a:rPr>
              <a:t>Cooked to order</a:t>
            </a:r>
          </a:p>
          <a:p>
            <a:pPr marL="360000" indent="-360000">
              <a:spcBef>
                <a:spcPts val="600"/>
              </a:spcBef>
              <a:spcAft>
                <a:spcPts val="1200"/>
              </a:spcAft>
            </a:pPr>
            <a:r>
              <a:rPr lang="en-US" sz="2200" dirty="0" smtClean="0">
                <a:latin typeface="Helvetica" pitchFamily="34" charset="0"/>
              </a:rPr>
              <a:t>Cooked prior to service and held for service: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Hot – such as wet dishes and roasts (dishes requiring long preparation/cooking times)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Cold – such as ice cream, cold entrées and desserts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35842" name="Picture 2" descr="C:\Documents and Settings\Godaishu\Desktop\PHOTOS\Culinary 2012\Danish.jpg"/>
          <p:cNvPicPr>
            <a:picLocks noChangeAspect="1" noChangeArrowheads="1"/>
          </p:cNvPicPr>
          <p:nvPr/>
        </p:nvPicPr>
        <p:blipFill>
          <a:blip r:embed="rId3" cstate="print"/>
          <a:srcRect/>
          <a:stretch>
            <a:fillRect/>
          </a:stretch>
        </p:blipFill>
        <p:spPr bwMode="auto">
          <a:xfrm>
            <a:off x="3384587" y="5063600"/>
            <a:ext cx="2374826" cy="1580110"/>
          </a:xfrm>
          <a:prstGeom prst="rect">
            <a:avLst/>
          </a:prstGeom>
          <a:noFill/>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 range of alternative catering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8911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Venues using the Conventional system will have house policies regarding:</a:t>
            </a:r>
          </a:p>
          <a:p>
            <a:pPr marL="360000" indent="-360000">
              <a:spcBef>
                <a:spcPts val="600"/>
              </a:spcBef>
              <a:spcAft>
                <a:spcPts val="1200"/>
              </a:spcAft>
            </a:pPr>
            <a:r>
              <a:rPr lang="en-US" sz="2200" dirty="0" smtClean="0">
                <a:latin typeface="Helvetica" pitchFamily="34" charset="0"/>
              </a:rPr>
              <a:t>Food quantities to be prepared for each service  session</a:t>
            </a:r>
          </a:p>
          <a:p>
            <a:pPr marL="360000" indent="-360000">
              <a:spcBef>
                <a:spcPts val="600"/>
              </a:spcBef>
              <a:spcAft>
                <a:spcPts val="1200"/>
              </a:spcAft>
            </a:pPr>
            <a:r>
              <a:rPr lang="en-US" sz="2200" dirty="0" smtClean="0">
                <a:latin typeface="Helvetica" pitchFamily="34" charset="0"/>
              </a:rPr>
              <a:t>Treatment of left-over food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pic>
        <p:nvPicPr>
          <p:cNvPr id="36866" name="Picture 2" descr="C:\Documents and Settings\Godaishu\Desktop\PHOTOS\Culinary 2012\shutterstock_103750646.jpg"/>
          <p:cNvPicPr>
            <a:picLocks noChangeAspect="1" noChangeArrowheads="1"/>
          </p:cNvPicPr>
          <p:nvPr/>
        </p:nvPicPr>
        <p:blipFill>
          <a:blip r:embed="rId3" cstate="print"/>
          <a:srcRect/>
          <a:stretch>
            <a:fillRect/>
          </a:stretch>
        </p:blipFill>
        <p:spPr bwMode="auto">
          <a:xfrm>
            <a:off x="6084168" y="3284984"/>
            <a:ext cx="2259410" cy="1505096"/>
          </a:xfrm>
          <a:prstGeom prst="rect">
            <a:avLst/>
          </a:prstGeom>
          <a:noFill/>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 range of alternative catering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8911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 Conventional catering system can be used where service of food is:</a:t>
            </a:r>
          </a:p>
          <a:p>
            <a:pPr marL="360000" indent="-360000">
              <a:spcBef>
                <a:spcPts val="600"/>
              </a:spcBef>
              <a:spcAft>
                <a:spcPts val="1200"/>
              </a:spcAft>
            </a:pPr>
            <a:r>
              <a:rPr lang="en-US" sz="2200" dirty="0" smtClean="0">
                <a:latin typeface="Helvetica" pitchFamily="34" charset="0"/>
              </a:rPr>
              <a:t>Centralised</a:t>
            </a:r>
          </a:p>
          <a:p>
            <a:pPr marL="360000" indent="-360000">
              <a:spcBef>
                <a:spcPts val="600"/>
              </a:spcBef>
              <a:spcAft>
                <a:spcPts val="1200"/>
              </a:spcAft>
              <a:buNone/>
            </a:pPr>
            <a:r>
              <a:rPr lang="en-US" sz="2200" dirty="0" smtClean="0">
                <a:latin typeface="Helvetica" pitchFamily="34" charset="0"/>
              </a:rPr>
              <a:t>	or</a:t>
            </a:r>
          </a:p>
          <a:p>
            <a:pPr marL="360000" indent="-360000">
              <a:spcBef>
                <a:spcPts val="600"/>
              </a:spcBef>
              <a:spcAft>
                <a:spcPts val="1200"/>
              </a:spcAft>
            </a:pPr>
            <a:r>
              <a:rPr lang="en-US" sz="2200" dirty="0" smtClean="0">
                <a:latin typeface="Helvetica" pitchFamily="34" charset="0"/>
              </a:rPr>
              <a:t>Decentralised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37890" name="Picture 2" descr="C:\Documents and Settings\Godaishu\Desktop\PHOTOS\Culinary 2012\chef.JPG"/>
          <p:cNvPicPr>
            <a:picLocks noChangeAspect="1" noChangeArrowheads="1"/>
          </p:cNvPicPr>
          <p:nvPr/>
        </p:nvPicPr>
        <p:blipFill>
          <a:blip r:embed="rId3" cstate="print">
            <a:grayscl/>
          </a:blip>
          <a:srcRect/>
          <a:stretch>
            <a:fillRect/>
          </a:stretch>
        </p:blipFill>
        <p:spPr bwMode="auto">
          <a:xfrm>
            <a:off x="6331420" y="2500306"/>
            <a:ext cx="1669604" cy="2503184"/>
          </a:xfrm>
          <a:prstGeom prst="rect">
            <a:avLst/>
          </a:prstGeom>
          <a:noFill/>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 range of alternative catering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8911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 Ready-prepared system comprises:</a:t>
            </a:r>
          </a:p>
          <a:p>
            <a:pPr marL="360000" indent="-360000">
              <a:spcBef>
                <a:spcPts val="600"/>
              </a:spcBef>
              <a:spcAft>
                <a:spcPts val="1200"/>
              </a:spcAft>
            </a:pPr>
            <a:r>
              <a:rPr lang="en-US" sz="2200" dirty="0" smtClean="0">
                <a:latin typeface="Helvetica" pitchFamily="34" charset="0"/>
              </a:rPr>
              <a:t>Food prepared on-site</a:t>
            </a:r>
          </a:p>
          <a:p>
            <a:pPr marL="360000" indent="-360000">
              <a:spcBef>
                <a:spcPts val="600"/>
              </a:spcBef>
              <a:spcAft>
                <a:spcPts val="1200"/>
              </a:spcAft>
            </a:pPr>
            <a:r>
              <a:rPr lang="en-US" sz="2200" dirty="0" smtClean="0">
                <a:latin typeface="Helvetica" pitchFamily="34" charset="0"/>
              </a:rPr>
              <a:t>On-site storage: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Under refrigeration – ‘cook-chill’</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Under frozen storage – ‘cook-freeze’</a:t>
            </a:r>
          </a:p>
          <a:p>
            <a:pPr marL="360000" indent="-360000">
              <a:spcBef>
                <a:spcPts val="600"/>
              </a:spcBef>
              <a:spcAft>
                <a:spcPts val="1200"/>
              </a:spcAft>
            </a:pPr>
            <a:r>
              <a:rPr lang="en-US" sz="2200" dirty="0" smtClean="0">
                <a:latin typeface="Helvetica" pitchFamily="34" charset="0"/>
              </a:rPr>
              <a:t>Re-thermalisation – on-site, as and when required</a:t>
            </a:r>
          </a:p>
          <a:p>
            <a:pPr marL="360000" indent="-360000">
              <a:spcBef>
                <a:spcPts val="600"/>
              </a:spcBef>
              <a:spcAft>
                <a:spcPts val="1200"/>
              </a:spcAft>
            </a:pPr>
            <a:r>
              <a:rPr lang="en-US" sz="2200" dirty="0" smtClean="0">
                <a:latin typeface="Helvetica" pitchFamily="34" charset="0"/>
              </a:rPr>
              <a:t>On-site service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38914" name="Picture 2" descr="C:\Documents and Settings\Godaishu\Desktop\PHOTOS\Culinary 2012\Chef cooking5.jpg"/>
          <p:cNvPicPr>
            <a:picLocks noChangeAspect="1" noChangeArrowheads="1"/>
          </p:cNvPicPr>
          <p:nvPr/>
        </p:nvPicPr>
        <p:blipFill>
          <a:blip r:embed="rId3" cstate="print"/>
          <a:srcRect/>
          <a:stretch>
            <a:fillRect/>
          </a:stretch>
        </p:blipFill>
        <p:spPr bwMode="auto">
          <a:xfrm>
            <a:off x="6228184" y="2492896"/>
            <a:ext cx="2080749" cy="1560562"/>
          </a:xfrm>
          <a:prstGeom prst="rect">
            <a:avLst/>
          </a:prstGeom>
          <a:noFill/>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 range of alternative catering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14488"/>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Food for use in the Ready prepared system may be bought:</a:t>
            </a:r>
          </a:p>
          <a:p>
            <a:pPr marL="360000" indent="-360000">
              <a:spcBef>
                <a:spcPts val="600"/>
              </a:spcBef>
              <a:spcAft>
                <a:spcPts val="1200"/>
              </a:spcAft>
            </a:pPr>
            <a:r>
              <a:rPr lang="en-US" sz="2200" dirty="0" smtClean="0">
                <a:latin typeface="Helvetica" pitchFamily="34" charset="0"/>
              </a:rPr>
              <a:t>As raw fresh ingredients</a:t>
            </a:r>
          </a:p>
          <a:p>
            <a:pPr marL="360000" indent="-360000">
              <a:spcBef>
                <a:spcPts val="600"/>
              </a:spcBef>
              <a:spcAft>
                <a:spcPts val="1200"/>
              </a:spcAft>
            </a:pPr>
            <a:r>
              <a:rPr lang="en-US" sz="2200" dirty="0" smtClean="0">
                <a:latin typeface="Helvetica" pitchFamily="34" charset="0"/>
              </a:rPr>
              <a:t>Partially pre-prepared</a:t>
            </a:r>
          </a:p>
          <a:p>
            <a:pPr marL="360000" indent="-360000">
              <a:spcBef>
                <a:spcPts val="600"/>
              </a:spcBef>
              <a:spcAft>
                <a:spcPts val="1200"/>
              </a:spcAft>
            </a:pPr>
            <a:r>
              <a:rPr lang="en-US" sz="2200" dirty="0" smtClean="0">
                <a:latin typeface="Helvetica" pitchFamily="34" charset="0"/>
              </a:rPr>
              <a:t>Ready-made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39938" name="Picture 2" descr="C:\Documents and Settings\Godaishu\Desktop\PHOTOS\Culinary 2012\Chilli and mints.jpg"/>
          <p:cNvPicPr>
            <a:picLocks noChangeAspect="1" noChangeArrowheads="1"/>
          </p:cNvPicPr>
          <p:nvPr/>
        </p:nvPicPr>
        <p:blipFill>
          <a:blip r:embed="rId3" cstate="print"/>
          <a:srcRect/>
          <a:stretch>
            <a:fillRect/>
          </a:stretch>
        </p:blipFill>
        <p:spPr bwMode="auto">
          <a:xfrm>
            <a:off x="5286380" y="2357430"/>
            <a:ext cx="3048000" cy="2243138"/>
          </a:xfrm>
          <a:prstGeom prst="rect">
            <a:avLst/>
          </a:prstGeom>
          <a:noFill/>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 range of alternative catering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8911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Stages in the ‘cook-chill’ system:</a:t>
            </a:r>
          </a:p>
          <a:p>
            <a:pPr marL="360000" indent="-360000">
              <a:spcBef>
                <a:spcPts val="600"/>
              </a:spcBef>
              <a:spcAft>
                <a:spcPts val="1200"/>
              </a:spcAft>
            </a:pPr>
            <a:r>
              <a:rPr lang="en-US" sz="2200" dirty="0" smtClean="0">
                <a:latin typeface="Helvetica" pitchFamily="34" charset="0"/>
              </a:rPr>
              <a:t>Food is produced</a:t>
            </a:r>
          </a:p>
          <a:p>
            <a:pPr marL="360000" indent="-360000">
              <a:spcBef>
                <a:spcPts val="600"/>
              </a:spcBef>
              <a:spcAft>
                <a:spcPts val="1200"/>
              </a:spcAft>
            </a:pPr>
            <a:r>
              <a:rPr lang="en-US" sz="2200" dirty="0" smtClean="0">
                <a:latin typeface="Helvetica" pitchFamily="34" charset="0"/>
              </a:rPr>
              <a:t>Food is packaged</a:t>
            </a:r>
          </a:p>
          <a:p>
            <a:pPr marL="360000" indent="-360000">
              <a:spcBef>
                <a:spcPts val="600"/>
              </a:spcBef>
              <a:spcAft>
                <a:spcPts val="1200"/>
              </a:spcAft>
            </a:pPr>
            <a:r>
              <a:rPr lang="en-US" sz="2200" dirty="0" smtClean="0">
                <a:latin typeface="Helvetica" pitchFamily="34" charset="0"/>
              </a:rPr>
              <a:t>Cooked is rapidly chilled</a:t>
            </a:r>
          </a:p>
          <a:p>
            <a:pPr marL="360000" indent="-360000">
              <a:spcBef>
                <a:spcPts val="600"/>
              </a:spcBef>
              <a:spcAft>
                <a:spcPts val="1200"/>
              </a:spcAft>
            </a:pPr>
            <a:r>
              <a:rPr lang="en-US" sz="2200" dirty="0" smtClean="0">
                <a:latin typeface="Helvetica" pitchFamily="34" charset="0"/>
              </a:rPr>
              <a:t>Food is stored under refrigeration</a:t>
            </a:r>
          </a:p>
          <a:p>
            <a:pPr marL="360000" indent="-360000">
              <a:spcBef>
                <a:spcPts val="600"/>
              </a:spcBef>
              <a:spcAft>
                <a:spcPts val="1200"/>
              </a:spcAft>
            </a:pPr>
            <a:r>
              <a:rPr lang="en-US" sz="2200" dirty="0" smtClean="0">
                <a:latin typeface="Helvetica" pitchFamily="34" charset="0"/>
              </a:rPr>
              <a:t>Food is re-heated as required</a:t>
            </a:r>
          </a:p>
          <a:p>
            <a:pPr marL="360000" indent="-360000">
              <a:spcBef>
                <a:spcPts val="600"/>
              </a:spcBef>
              <a:spcAft>
                <a:spcPts val="1200"/>
              </a:spcAft>
            </a:pPr>
            <a:r>
              <a:rPr lang="en-US" sz="2200" dirty="0" smtClean="0">
                <a:latin typeface="Helvetica" pitchFamily="34" charset="0"/>
              </a:rPr>
              <a:t>Food is held for plating and service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5" name="Picture 4" descr="C:\Documents and Settings\danielc\Desktop\1235331195473300x360.jpg"/>
          <p:cNvPicPr/>
          <p:nvPr/>
        </p:nvPicPr>
        <p:blipFill>
          <a:blip r:embed="rId3" cstate="print">
            <a:lum contrast="20000"/>
          </a:blip>
          <a:srcRect/>
          <a:stretch>
            <a:fillRect/>
          </a:stretch>
        </p:blipFill>
        <p:spPr bwMode="auto">
          <a:xfrm>
            <a:off x="6300192" y="2420888"/>
            <a:ext cx="1709535" cy="230425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 range of alternative catering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17681"/>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Stages in the ‘cook-freeze’ system :</a:t>
            </a:r>
          </a:p>
          <a:p>
            <a:pPr marL="360000" indent="-360000">
              <a:spcBef>
                <a:spcPts val="600"/>
              </a:spcBef>
              <a:spcAft>
                <a:spcPts val="1200"/>
              </a:spcAft>
            </a:pPr>
            <a:r>
              <a:rPr lang="en-US" sz="2200" dirty="0" smtClean="0">
                <a:latin typeface="Helvetica" pitchFamily="34" charset="0"/>
              </a:rPr>
              <a:t>Food is produced</a:t>
            </a:r>
          </a:p>
          <a:p>
            <a:pPr marL="360000" indent="-360000">
              <a:spcBef>
                <a:spcPts val="600"/>
              </a:spcBef>
              <a:spcAft>
                <a:spcPts val="1200"/>
              </a:spcAft>
            </a:pPr>
            <a:r>
              <a:rPr lang="en-US" sz="2200" dirty="0" smtClean="0">
                <a:latin typeface="Helvetica" pitchFamily="34" charset="0"/>
              </a:rPr>
              <a:t>Food is packaged</a:t>
            </a:r>
          </a:p>
          <a:p>
            <a:pPr marL="360000" indent="-360000">
              <a:spcBef>
                <a:spcPts val="600"/>
              </a:spcBef>
              <a:spcAft>
                <a:spcPts val="1200"/>
              </a:spcAft>
            </a:pPr>
            <a:r>
              <a:rPr lang="en-US" sz="2200" dirty="0" smtClean="0">
                <a:latin typeface="Helvetica" pitchFamily="34" charset="0"/>
              </a:rPr>
              <a:t>Cooked is rapidly frozen</a:t>
            </a:r>
          </a:p>
          <a:p>
            <a:pPr marL="360000" indent="-360000">
              <a:spcBef>
                <a:spcPts val="600"/>
              </a:spcBef>
              <a:spcAft>
                <a:spcPts val="1200"/>
              </a:spcAft>
            </a:pPr>
            <a:r>
              <a:rPr lang="en-US" sz="2200" dirty="0" smtClean="0">
                <a:latin typeface="Helvetica" pitchFamily="34" charset="0"/>
              </a:rPr>
              <a:t>Food is stored under controlled freezer conditions</a:t>
            </a:r>
          </a:p>
          <a:p>
            <a:pPr marL="360000" indent="-360000">
              <a:spcBef>
                <a:spcPts val="600"/>
              </a:spcBef>
              <a:spcAft>
                <a:spcPts val="1200"/>
              </a:spcAft>
            </a:pPr>
            <a:r>
              <a:rPr lang="en-US" sz="2200" dirty="0" smtClean="0">
                <a:latin typeface="Helvetica" pitchFamily="34" charset="0"/>
              </a:rPr>
              <a:t>Food is thawed when required</a:t>
            </a:r>
          </a:p>
          <a:p>
            <a:pPr marL="360000" indent="-360000">
              <a:spcBef>
                <a:spcPts val="600"/>
              </a:spcBef>
              <a:spcAft>
                <a:spcPts val="1200"/>
              </a:spcAft>
            </a:pPr>
            <a:r>
              <a:rPr lang="en-US" sz="2200" dirty="0" smtClean="0">
                <a:latin typeface="Helvetica" pitchFamily="34" charset="0"/>
              </a:rPr>
              <a:t>Food is re-heated</a:t>
            </a:r>
          </a:p>
          <a:p>
            <a:pPr marL="360000" indent="-360000">
              <a:spcBef>
                <a:spcPts val="600"/>
              </a:spcBef>
              <a:spcAft>
                <a:spcPts val="1200"/>
              </a:spcAft>
            </a:pPr>
            <a:r>
              <a:rPr lang="en-US" sz="2200" dirty="0" smtClean="0">
                <a:latin typeface="Helvetica" pitchFamily="34" charset="0"/>
              </a:rPr>
              <a:t>Food is held for plating and service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5" name="Picture 4" descr="I:\Overseas Projects\PHOTOS\2012\Culinary 2012\Cookery\Commercial ovens.jpg"/>
          <p:cNvPicPr/>
          <p:nvPr/>
        </p:nvPicPr>
        <p:blipFill>
          <a:blip r:embed="rId3" cstate="print">
            <a:lum contrast="10000"/>
          </a:blip>
          <a:srcRect/>
          <a:stretch>
            <a:fillRect/>
          </a:stretch>
        </p:blipFill>
        <p:spPr bwMode="auto">
          <a:xfrm>
            <a:off x="6444208" y="4365104"/>
            <a:ext cx="1837046" cy="122829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 range of alternative catering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8911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In the Commissary system:</a:t>
            </a:r>
          </a:p>
          <a:p>
            <a:pPr marL="360000" indent="-360000">
              <a:spcBef>
                <a:spcPts val="600"/>
              </a:spcBef>
              <a:spcAft>
                <a:spcPts val="1200"/>
              </a:spcAft>
            </a:pPr>
            <a:r>
              <a:rPr lang="en-US" sz="2200" dirty="0" smtClean="0">
                <a:latin typeface="Helvetica" pitchFamily="34" charset="0"/>
              </a:rPr>
              <a:t>Food is cooked in bulk in a central kitchen</a:t>
            </a:r>
          </a:p>
          <a:p>
            <a:pPr marL="360000" indent="-360000">
              <a:spcBef>
                <a:spcPts val="600"/>
              </a:spcBef>
              <a:spcAft>
                <a:spcPts val="1200"/>
              </a:spcAft>
            </a:pPr>
            <a:r>
              <a:rPr lang="en-US" sz="2200" dirty="0" smtClean="0">
                <a:latin typeface="Helvetica" pitchFamily="34" charset="0"/>
              </a:rPr>
              <a:t>Food is distributed (hot, cold or frozen) to </a:t>
            </a:r>
            <a:br>
              <a:rPr lang="en-US" sz="2200" dirty="0" smtClean="0">
                <a:latin typeface="Helvetica" pitchFamily="34" charset="0"/>
              </a:rPr>
            </a:br>
            <a:r>
              <a:rPr lang="en-US" sz="2200" dirty="0" smtClean="0">
                <a:latin typeface="Helvetica" pitchFamily="34" charset="0"/>
              </a:rPr>
              <a:t>satellite kitchens (‘commissaries’) – may </a:t>
            </a:r>
            <a:br>
              <a:rPr lang="en-US" sz="2200" dirty="0" smtClean="0">
                <a:latin typeface="Helvetica" pitchFamily="34" charset="0"/>
              </a:rPr>
            </a:br>
            <a:r>
              <a:rPr lang="en-US" sz="2200" dirty="0" smtClean="0">
                <a:latin typeface="Helvetica" pitchFamily="34" charset="0"/>
              </a:rPr>
              <a:t>be transported:</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In bulk</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In portion-controlled units</a:t>
            </a:r>
          </a:p>
          <a:p>
            <a:pPr marL="360000" indent="-360000">
              <a:spcBef>
                <a:spcPts val="600"/>
              </a:spcBef>
              <a:spcAft>
                <a:spcPts val="1200"/>
              </a:spcAft>
              <a:buNone/>
            </a:pPr>
            <a:r>
              <a:rPr lang="en-US"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40962" name="Picture 2" descr="C:\Documents and Settings\Godaishu\Desktop\PHOTOS\Culinary 2012\shutterstock_104551265.jpg"/>
          <p:cNvPicPr>
            <a:picLocks noChangeAspect="1" noChangeArrowheads="1"/>
          </p:cNvPicPr>
          <p:nvPr/>
        </p:nvPicPr>
        <p:blipFill>
          <a:blip r:embed="rId3" cstate="print"/>
          <a:srcRect/>
          <a:stretch>
            <a:fillRect/>
          </a:stretch>
        </p:blipFill>
        <p:spPr bwMode="auto">
          <a:xfrm>
            <a:off x="6660927" y="2599568"/>
            <a:ext cx="1697287" cy="2543944"/>
          </a:xfrm>
          <a:prstGeom prst="rect">
            <a:avLst/>
          </a:prstGeom>
          <a:noFill/>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 range of alternative catering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17681"/>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Satellite kitchens may be: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Close or distant</a:t>
            </a:r>
          </a:p>
          <a:p>
            <a:pPr marL="360000" indent="-360000">
              <a:spcBef>
                <a:spcPts val="600"/>
              </a:spcBef>
              <a:spcAft>
                <a:spcPts val="1200"/>
              </a:spcAft>
            </a:pPr>
            <a:r>
              <a:rPr lang="en-US" sz="2200" dirty="0" smtClean="0">
                <a:latin typeface="Helvetica" pitchFamily="34" charset="0"/>
              </a:rPr>
              <a:t>When delivered to satellite kitchens cooked food may be: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Served immediately or stored for later use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41986" name="Picture 2" descr="C:\Documents and Settings\Godaishu\Desktop\PHOTOS\Culinary 2012\Chef cooking3.jpg"/>
          <p:cNvPicPr>
            <a:picLocks noChangeAspect="1" noChangeArrowheads="1"/>
          </p:cNvPicPr>
          <p:nvPr/>
        </p:nvPicPr>
        <p:blipFill>
          <a:blip r:embed="rId3" cstate="print"/>
          <a:srcRect/>
          <a:stretch>
            <a:fillRect/>
          </a:stretch>
        </p:blipFill>
        <p:spPr bwMode="auto">
          <a:xfrm>
            <a:off x="7020272" y="3501008"/>
            <a:ext cx="1637312" cy="2454052"/>
          </a:xfrm>
          <a:prstGeom prst="rect">
            <a:avLst/>
          </a:prstGeom>
          <a:noFill/>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 range of alternative catering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785926"/>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Very little equipment required in satellite kitchens: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Re-heating equipment</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Display and service equipment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43010" name="Picture 2" descr="C:\Documents and Settings\Godaishu\Desktop\PHOTOS\Culinary 2012\shutterstock_95812987.jpg"/>
          <p:cNvPicPr>
            <a:picLocks noChangeAspect="1" noChangeArrowheads="1"/>
          </p:cNvPicPr>
          <p:nvPr/>
        </p:nvPicPr>
        <p:blipFill>
          <a:blip r:embed="rId3" cstate="print"/>
          <a:srcRect/>
          <a:stretch>
            <a:fillRect/>
          </a:stretch>
        </p:blipFill>
        <p:spPr bwMode="auto">
          <a:xfrm>
            <a:off x="6000760" y="3028189"/>
            <a:ext cx="2297777" cy="1543819"/>
          </a:xfrm>
          <a:prstGeom prst="rect">
            <a:avLst/>
          </a:prstGeom>
          <a:noFill/>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 range of alternative catering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17681"/>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 Assembly-serve system:</a:t>
            </a:r>
          </a:p>
          <a:p>
            <a:pPr marL="360000" indent="-360000">
              <a:spcBef>
                <a:spcPts val="600"/>
              </a:spcBef>
              <a:spcAft>
                <a:spcPts val="1200"/>
              </a:spcAft>
            </a:pPr>
            <a:r>
              <a:rPr lang="en-US" sz="2200" dirty="0" smtClean="0">
                <a:latin typeface="Helvetica" pitchFamily="34" charset="0"/>
              </a:rPr>
              <a:t>Not suitable for commercial outlets</a:t>
            </a:r>
          </a:p>
          <a:p>
            <a:pPr marL="360000" indent="-360000">
              <a:spcBef>
                <a:spcPts val="600"/>
              </a:spcBef>
              <a:spcAft>
                <a:spcPts val="1200"/>
              </a:spcAft>
            </a:pPr>
            <a:r>
              <a:rPr lang="en-US" sz="2200" dirty="0" smtClean="0">
                <a:latin typeface="Helvetica" pitchFamily="34" charset="0"/>
              </a:rPr>
              <a:t>Features purchase and receival of prepared dishes</a:t>
            </a:r>
          </a:p>
          <a:p>
            <a:pPr marL="360000" indent="-360000">
              <a:spcBef>
                <a:spcPts val="600"/>
              </a:spcBef>
              <a:spcAft>
                <a:spcPts val="1200"/>
              </a:spcAft>
            </a:pPr>
            <a:r>
              <a:rPr lang="en-US" sz="2200" dirty="0" smtClean="0">
                <a:latin typeface="Helvetica" pitchFamily="34" charset="0"/>
              </a:rPr>
              <a:t>Storage of prepared items under:</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Refrigeration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Frozen storage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pic>
        <p:nvPicPr>
          <p:cNvPr id="44034" name="Picture 2" descr="C:\Documents and Settings\Godaishu\Desktop\PHOTOS\Culinary 2012\shutterstock_79992160.jpg"/>
          <p:cNvPicPr>
            <a:picLocks noChangeAspect="1" noChangeArrowheads="1"/>
          </p:cNvPicPr>
          <p:nvPr/>
        </p:nvPicPr>
        <p:blipFill>
          <a:blip r:embed="rId3" cstate="print"/>
          <a:srcRect/>
          <a:stretch>
            <a:fillRect/>
          </a:stretch>
        </p:blipFill>
        <p:spPr bwMode="auto">
          <a:xfrm>
            <a:off x="6372200" y="3618100"/>
            <a:ext cx="1811164" cy="1811164"/>
          </a:xfrm>
          <a:prstGeom prst="rect">
            <a:avLst/>
          </a:prstGeom>
          <a:noFill/>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 range of alternative catering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17681"/>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Only basic food activities are required:</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Portioning</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Plating</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Re-heating</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Service</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45058" name="Picture 2" descr="C:\Documents and Settings\Godaishu\Desktop\PHOTOS\Culinary 2012\Sandwiches6.jpg"/>
          <p:cNvPicPr>
            <a:picLocks noChangeAspect="1" noChangeArrowheads="1"/>
          </p:cNvPicPr>
          <p:nvPr/>
        </p:nvPicPr>
        <p:blipFill>
          <a:blip r:embed="rId3" cstate="print"/>
          <a:srcRect/>
          <a:stretch>
            <a:fillRect/>
          </a:stretch>
        </p:blipFill>
        <p:spPr bwMode="auto">
          <a:xfrm>
            <a:off x="5148064" y="2589207"/>
            <a:ext cx="2471936" cy="1649244"/>
          </a:xfrm>
          <a:prstGeom prst="rect">
            <a:avLst/>
          </a:prstGeom>
          <a:noFill/>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 range of alternative catering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17681"/>
            <a:ext cx="7467600" cy="4525963"/>
          </a:xfrm>
        </p:spPr>
        <p:txBody>
          <a:bodyPr>
            <a:normAutofit/>
          </a:bodyPr>
          <a:lstStyle/>
          <a:p>
            <a:pPr marL="0" indent="0">
              <a:spcBef>
                <a:spcPts val="600"/>
              </a:spcBef>
              <a:spcAft>
                <a:spcPts val="1200"/>
              </a:spcAft>
              <a:buNone/>
            </a:pPr>
            <a:r>
              <a:rPr lang="en-US" sz="2200" i="1" dirty="0" smtClean="0">
                <a:latin typeface="Helvetica" pitchFamily="34" charset="0"/>
              </a:rPr>
              <a:t>Sous vide</a:t>
            </a:r>
            <a:r>
              <a:rPr lang="en-US" sz="2200" dirty="0" smtClean="0">
                <a:latin typeface="Helvetica" pitchFamily="34" charset="0"/>
              </a:rPr>
              <a:t> (Fr) = ‘under vacuum’.</a:t>
            </a:r>
          </a:p>
          <a:p>
            <a:pPr marL="0" indent="0">
              <a:spcBef>
                <a:spcPts val="600"/>
              </a:spcBef>
              <a:spcAft>
                <a:spcPts val="1200"/>
              </a:spcAft>
              <a:buNone/>
            </a:pPr>
            <a:r>
              <a:rPr lang="en-US" sz="2200" dirty="0" smtClean="0">
                <a:latin typeface="Helvetica" pitchFamily="34" charset="0"/>
              </a:rPr>
              <a:t>The </a:t>
            </a:r>
            <a:r>
              <a:rPr lang="en-US" sz="2200" i="1" dirty="0" smtClean="0">
                <a:latin typeface="Helvetica" pitchFamily="34" charset="0"/>
              </a:rPr>
              <a:t>sous vide </a:t>
            </a:r>
            <a:r>
              <a:rPr lang="en-US" sz="2200" dirty="0" smtClean="0">
                <a:latin typeface="Helvetica" pitchFamily="34" charset="0"/>
              </a:rPr>
              <a:t>approach:</a:t>
            </a:r>
          </a:p>
          <a:p>
            <a:pPr marL="360000" indent="-360000">
              <a:spcBef>
                <a:spcPts val="600"/>
              </a:spcBef>
              <a:spcAft>
                <a:spcPts val="1200"/>
              </a:spcAft>
            </a:pPr>
            <a:r>
              <a:rPr lang="en-US" sz="2200" dirty="0" smtClean="0">
                <a:latin typeface="Helvetica" pitchFamily="34" charset="0"/>
              </a:rPr>
              <a:t>Stores goods under refrigeration</a:t>
            </a:r>
          </a:p>
          <a:p>
            <a:pPr marL="360000" indent="-360000">
              <a:spcBef>
                <a:spcPts val="600"/>
              </a:spcBef>
              <a:spcAft>
                <a:spcPts val="1200"/>
              </a:spcAft>
            </a:pPr>
            <a:r>
              <a:rPr lang="en-US" sz="2200" dirty="0" smtClean="0">
                <a:latin typeface="Helvetica" pitchFamily="34" charset="0"/>
              </a:rPr>
              <a:t>Vacuum seals product or meals: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Under appropriate pressure depending on type of product</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5" name="Picture 4" descr="C:\Documents and Settings\danielc\Desktop\sous vide.jpg"/>
          <p:cNvPicPr/>
          <p:nvPr/>
        </p:nvPicPr>
        <p:blipFill>
          <a:blip r:embed="rId3" cstate="print"/>
          <a:srcRect l="26043"/>
          <a:stretch>
            <a:fillRect/>
          </a:stretch>
        </p:blipFill>
        <p:spPr bwMode="auto">
          <a:xfrm flipH="1">
            <a:off x="6372199" y="2132856"/>
            <a:ext cx="1739171" cy="158417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 range of alternative catering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17681"/>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Requires vacuum sealed food to be: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Cooked and served immediately, or</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Stored at or below 1˚C</a:t>
            </a:r>
          </a:p>
          <a:p>
            <a:pPr marL="360000" indent="-360000">
              <a:spcBef>
                <a:spcPts val="600"/>
              </a:spcBef>
              <a:spcAft>
                <a:spcPts val="1200"/>
              </a:spcAft>
            </a:pPr>
            <a:r>
              <a:rPr lang="en-US" sz="2200" dirty="0" smtClean="0">
                <a:latin typeface="Helvetica" pitchFamily="34" charset="0"/>
              </a:rPr>
              <a:t>Cooks food in the bag in hot water at relatively low temperatures for extended </a:t>
            </a:r>
            <a:br>
              <a:rPr lang="en-US" sz="2200" dirty="0" smtClean="0">
                <a:latin typeface="Helvetica" pitchFamily="34" charset="0"/>
              </a:rPr>
            </a:br>
            <a:r>
              <a:rPr lang="en-US" sz="2200" dirty="0" smtClean="0">
                <a:latin typeface="Helvetica" pitchFamily="34" charset="0"/>
              </a:rPr>
              <a:t>time</a:t>
            </a:r>
          </a:p>
          <a:p>
            <a:pPr marL="360000" indent="-360000">
              <a:spcBef>
                <a:spcPts val="600"/>
              </a:spcBef>
              <a:spcAft>
                <a:spcPts val="1200"/>
              </a:spcAft>
            </a:pPr>
            <a:r>
              <a:rPr lang="en-US" sz="2200" dirty="0" smtClean="0">
                <a:latin typeface="Helvetica" pitchFamily="34" charset="0"/>
              </a:rPr>
              <a:t>Is seen as an adjunct rather than a total </a:t>
            </a:r>
            <a:br>
              <a:rPr lang="en-US" sz="2200" dirty="0" smtClean="0">
                <a:latin typeface="Helvetica" pitchFamily="34" charset="0"/>
              </a:rPr>
            </a:br>
            <a:r>
              <a:rPr lang="en-US" sz="2200" dirty="0" smtClean="0">
                <a:latin typeface="Helvetica" pitchFamily="34" charset="0"/>
              </a:rPr>
              <a:t>system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49154" name="Picture 2" descr="C:\Documents and Settings\Godaishu\Desktop\images.jpg"/>
          <p:cNvPicPr>
            <a:picLocks noChangeAspect="1" noChangeArrowheads="1"/>
          </p:cNvPicPr>
          <p:nvPr/>
        </p:nvPicPr>
        <p:blipFill>
          <a:blip r:embed="rId3" cstate="print">
            <a:lum contrast="10000"/>
          </a:blip>
          <a:srcRect/>
          <a:stretch>
            <a:fillRect/>
          </a:stretch>
        </p:blipFill>
        <p:spPr bwMode="auto">
          <a:xfrm>
            <a:off x="6230810" y="1714488"/>
            <a:ext cx="2055966" cy="1368152"/>
          </a:xfrm>
          <a:prstGeom prst="rect">
            <a:avLst/>
          </a:prstGeom>
          <a:noFill/>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 range of alternative catering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Kitchens may use a Combination approach where:</a:t>
            </a:r>
          </a:p>
          <a:p>
            <a:pPr marL="360000" indent="-360000">
              <a:spcBef>
                <a:spcPts val="600"/>
              </a:spcBef>
              <a:spcAft>
                <a:spcPts val="1200"/>
              </a:spcAft>
            </a:pPr>
            <a:r>
              <a:rPr lang="en-US" sz="2200" dirty="0" smtClean="0">
                <a:latin typeface="Helvetica" pitchFamily="34" charset="0"/>
              </a:rPr>
              <a:t>Main ingredient on a plate may be cook-chill</a:t>
            </a:r>
          </a:p>
          <a:p>
            <a:pPr marL="360000" indent="-360000">
              <a:spcBef>
                <a:spcPts val="600"/>
              </a:spcBef>
              <a:spcAft>
                <a:spcPts val="1200"/>
              </a:spcAft>
            </a:pPr>
            <a:r>
              <a:rPr lang="en-US" sz="2200" dirty="0" smtClean="0">
                <a:latin typeface="Helvetica" pitchFamily="34" charset="0"/>
              </a:rPr>
              <a:t>Vegetables may be coked-to-order, for the session</a:t>
            </a:r>
          </a:p>
          <a:p>
            <a:pPr marL="360000" indent="-360000">
              <a:spcBef>
                <a:spcPts val="600"/>
              </a:spcBef>
              <a:spcAft>
                <a:spcPts val="1200"/>
              </a:spcAft>
            </a:pPr>
            <a:r>
              <a:rPr lang="en-US" sz="2200" dirty="0" smtClean="0">
                <a:latin typeface="Helvetica" pitchFamily="34" charset="0"/>
              </a:rPr>
              <a:t>Sauce may be cook-chill</a:t>
            </a:r>
          </a:p>
          <a:p>
            <a:pPr marL="360000" indent="-360000">
              <a:spcBef>
                <a:spcPts val="600"/>
              </a:spcBef>
              <a:spcAft>
                <a:spcPts val="1200"/>
              </a:spcAft>
            </a:pPr>
            <a:r>
              <a:rPr lang="en-US" sz="2200" dirty="0" smtClean="0">
                <a:latin typeface="Helvetica" pitchFamily="34" charset="0"/>
              </a:rPr>
              <a:t>Some menu items may be cook-freeze, some may be </a:t>
            </a:r>
            <a:r>
              <a:rPr lang="en-US" sz="2200" i="1" dirty="0" smtClean="0">
                <a:latin typeface="Helvetica" pitchFamily="34" charset="0"/>
              </a:rPr>
              <a:t>sous vide </a:t>
            </a:r>
            <a:r>
              <a:rPr lang="en-US" sz="2200" dirty="0" smtClean="0">
                <a:latin typeface="Helvetica" pitchFamily="34" charset="0"/>
              </a:rPr>
              <a:t>and some may be bought-in ready-to-serve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46083" name="Picture 3" descr="C:\Documents and Settings\Godaishu\Desktop\PHOTOS\Culinary 2012\ChickenKiev.jpg"/>
          <p:cNvPicPr>
            <a:picLocks noChangeAspect="1" noChangeArrowheads="1"/>
          </p:cNvPicPr>
          <p:nvPr/>
        </p:nvPicPr>
        <p:blipFill>
          <a:blip r:embed="rId3" cstate="print"/>
          <a:srcRect/>
          <a:stretch>
            <a:fillRect/>
          </a:stretch>
        </p:blipFill>
        <p:spPr bwMode="auto">
          <a:xfrm>
            <a:off x="3315841" y="4869160"/>
            <a:ext cx="2512318" cy="1663084"/>
          </a:xfrm>
          <a:prstGeom prst="rect">
            <a:avLst/>
          </a:prstGeom>
          <a:noFill/>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Evaluate agreed enterprise requirements against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8911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evaluating systems KSC must form the basis.</a:t>
            </a:r>
          </a:p>
          <a:p>
            <a:pPr marL="0" indent="0">
              <a:spcBef>
                <a:spcPts val="600"/>
              </a:spcBef>
              <a:spcAft>
                <a:spcPts val="1200"/>
              </a:spcAft>
              <a:buNone/>
            </a:pPr>
            <a:r>
              <a:rPr lang="en-US" sz="2200" dirty="0" smtClean="0">
                <a:latin typeface="Helvetica" pitchFamily="34" charset="0"/>
              </a:rPr>
              <a:t>This means you:</a:t>
            </a:r>
          </a:p>
          <a:p>
            <a:pPr marL="360000" indent="-360000">
              <a:spcBef>
                <a:spcPts val="600"/>
              </a:spcBef>
              <a:spcAft>
                <a:spcPts val="1200"/>
              </a:spcAft>
            </a:pPr>
            <a:r>
              <a:rPr lang="en-US" sz="2200" dirty="0" smtClean="0">
                <a:latin typeface="Helvetica" pitchFamily="34" charset="0"/>
              </a:rPr>
              <a:t>Must establish them at the start</a:t>
            </a:r>
          </a:p>
          <a:p>
            <a:pPr marL="360000" indent="-360000">
              <a:spcBef>
                <a:spcPts val="600"/>
              </a:spcBef>
              <a:spcAft>
                <a:spcPts val="1200"/>
              </a:spcAft>
            </a:pPr>
            <a:r>
              <a:rPr lang="en-US" sz="2200" dirty="0" smtClean="0">
                <a:latin typeface="Helvetica" pitchFamily="34" charset="0"/>
              </a:rPr>
              <a:t>Must know what the KSC are</a:t>
            </a:r>
          </a:p>
          <a:p>
            <a:pPr marL="360000" indent="-360000">
              <a:spcBef>
                <a:spcPts val="600"/>
              </a:spcBef>
              <a:spcAft>
                <a:spcPts val="1200"/>
              </a:spcAft>
            </a:pPr>
            <a:r>
              <a:rPr lang="en-US" sz="2200" dirty="0" smtClean="0">
                <a:latin typeface="Helvetica" pitchFamily="34" charset="0"/>
              </a:rPr>
              <a:t>Must keep them central to all analysis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47106" name="Picture 2" descr="C:\Documents and Settings\Godaishu\Desktop\PHOTOS\2011\Culinary\franchising_image.jpg"/>
          <p:cNvPicPr>
            <a:picLocks noChangeAspect="1" noChangeArrowheads="1"/>
          </p:cNvPicPr>
          <p:nvPr/>
        </p:nvPicPr>
        <p:blipFill>
          <a:blip r:embed="rId3" cstate="print"/>
          <a:srcRect/>
          <a:stretch>
            <a:fillRect/>
          </a:stretch>
        </p:blipFill>
        <p:spPr bwMode="auto">
          <a:xfrm>
            <a:off x="6444208" y="2491442"/>
            <a:ext cx="1728332" cy="2294880"/>
          </a:xfrm>
          <a:prstGeom prst="rect">
            <a:avLst/>
          </a:prstGeom>
          <a:noFill/>
        </p:spPr>
      </p:pic>
      <p:pic>
        <p:nvPicPr>
          <p:cNvPr id="6" name="Picture 5" descr="C:\Documents and Settings\danielc\Local Settings\Temporary Internet Files\Content.IE5\UMECW9PM\MC900432658[1].png"/>
          <p:cNvPicPr/>
          <p:nvPr/>
        </p:nvPicPr>
        <p:blipFill>
          <a:blip r:embed="rId4" cstate="print"/>
          <a:srcRect/>
          <a:stretch>
            <a:fillRect/>
          </a:stretch>
        </p:blipFill>
        <p:spPr bwMode="auto">
          <a:xfrm>
            <a:off x="7358082" y="4231460"/>
            <a:ext cx="1269242" cy="126924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Evaluate agreed enterprise requirements against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17681"/>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Evaluation is a process of comparison which:</a:t>
            </a:r>
          </a:p>
          <a:p>
            <a:pPr marL="360000" indent="-360000">
              <a:spcBef>
                <a:spcPts val="600"/>
              </a:spcBef>
              <a:spcAft>
                <a:spcPts val="1200"/>
              </a:spcAft>
            </a:pPr>
            <a:r>
              <a:rPr lang="en-US" sz="2200" dirty="0" smtClean="0">
                <a:latin typeface="Helvetica" pitchFamily="34" charset="0"/>
              </a:rPr>
              <a:t>Compares what is available to what is required</a:t>
            </a:r>
          </a:p>
          <a:p>
            <a:pPr marL="360000" indent="-360000">
              <a:spcBef>
                <a:spcPts val="600"/>
              </a:spcBef>
              <a:spcAft>
                <a:spcPts val="1200"/>
              </a:spcAft>
            </a:pPr>
            <a:r>
              <a:rPr lang="en-US" sz="2200" dirty="0" smtClean="0">
                <a:latin typeface="Helvetica" pitchFamily="34" charset="0"/>
              </a:rPr>
              <a:t>Judges the extent of the alignment between what is wanted and what is available</a:t>
            </a:r>
          </a:p>
          <a:p>
            <a:pPr marL="360000" indent="-360000">
              <a:spcBef>
                <a:spcPts val="600"/>
              </a:spcBef>
              <a:spcAft>
                <a:spcPts val="1200"/>
              </a:spcAft>
            </a:pPr>
            <a:r>
              <a:rPr lang="en-US" sz="2200" dirty="0" smtClean="0">
                <a:latin typeface="Helvetica" pitchFamily="34" charset="0"/>
              </a:rPr>
              <a:t>Determines the relative advantages and disadvantages of available options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pic>
        <p:nvPicPr>
          <p:cNvPr id="48130" name="Picture 2" descr="C:\Documents and Settings\Godaishu\Local Settings\Temporary Internet Files\Content.IE5\KPAZS1QF\MC900433829[1].png"/>
          <p:cNvPicPr>
            <a:picLocks noChangeAspect="1" noChangeArrowheads="1"/>
          </p:cNvPicPr>
          <p:nvPr/>
        </p:nvPicPr>
        <p:blipFill>
          <a:blip r:embed="rId3" cstate="print"/>
          <a:srcRect/>
          <a:stretch>
            <a:fillRect/>
          </a:stretch>
        </p:blipFill>
        <p:spPr bwMode="auto">
          <a:xfrm>
            <a:off x="6572264" y="4286256"/>
            <a:ext cx="1828572" cy="1828572"/>
          </a:xfrm>
          <a:prstGeom prst="rect">
            <a:avLst/>
          </a:prstGeom>
          <a:noFill/>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Evaluate agreed enterprise requirements against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8911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Keys in undertaking an evaluation:</a:t>
            </a:r>
          </a:p>
          <a:p>
            <a:pPr marL="360000" indent="-360000">
              <a:spcBef>
                <a:spcPts val="600"/>
              </a:spcBef>
              <a:spcAft>
                <a:spcPts val="1200"/>
              </a:spcAft>
            </a:pPr>
            <a:r>
              <a:rPr lang="en-US" sz="2200" dirty="0" smtClean="0">
                <a:latin typeface="Helvetica" pitchFamily="34" charset="0"/>
              </a:rPr>
              <a:t>Consider </a:t>
            </a:r>
            <a:r>
              <a:rPr lang="en-US" sz="2200" i="1" dirty="0" smtClean="0">
                <a:latin typeface="Helvetica" pitchFamily="34" charset="0"/>
              </a:rPr>
              <a:t>all </a:t>
            </a:r>
            <a:r>
              <a:rPr lang="en-US" sz="2200" dirty="0" smtClean="0">
                <a:latin typeface="Helvetica" pitchFamily="34" charset="0"/>
              </a:rPr>
              <a:t>relevant factors</a:t>
            </a:r>
          </a:p>
          <a:p>
            <a:pPr marL="360000" indent="-360000">
              <a:spcBef>
                <a:spcPts val="600"/>
              </a:spcBef>
              <a:spcAft>
                <a:spcPts val="1200"/>
              </a:spcAft>
            </a:pPr>
            <a:r>
              <a:rPr lang="en-US" sz="2200" dirty="0" smtClean="0">
                <a:latin typeface="Helvetica" pitchFamily="34" charset="0"/>
              </a:rPr>
              <a:t>Allocate sufficient time for the process</a:t>
            </a:r>
          </a:p>
          <a:p>
            <a:pPr marL="360000" indent="-360000">
              <a:spcBef>
                <a:spcPts val="600"/>
              </a:spcBef>
              <a:spcAft>
                <a:spcPts val="1200"/>
              </a:spcAft>
            </a:pPr>
            <a:r>
              <a:rPr lang="en-US" sz="2200" dirty="0" smtClean="0">
                <a:latin typeface="Helvetica" pitchFamily="34" charset="0"/>
              </a:rPr>
              <a:t>Use a team of people</a:t>
            </a:r>
          </a:p>
          <a:p>
            <a:pPr marL="360000" indent="-360000">
              <a:spcBef>
                <a:spcPts val="600"/>
              </a:spcBef>
              <a:spcAft>
                <a:spcPts val="1200"/>
              </a:spcAft>
            </a:pPr>
            <a:r>
              <a:rPr lang="en-US" sz="2200" dirty="0" smtClean="0">
                <a:latin typeface="Helvetica" pitchFamily="34" charset="0"/>
              </a:rPr>
              <a:t>Document thoughts and findings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5" name="Picture 4" descr="C:\Documents and Settings\danielc\Local Settings\Temporary Internet Files\Content.IE5\V9A2RTT8\MC900441926[1].wmf"/>
          <p:cNvPicPr/>
          <p:nvPr/>
        </p:nvPicPr>
        <p:blipFill>
          <a:blip r:embed="rId3" cstate="print"/>
          <a:srcRect/>
          <a:stretch>
            <a:fillRect/>
          </a:stretch>
        </p:blipFill>
        <p:spPr bwMode="auto">
          <a:xfrm>
            <a:off x="6413998" y="2629502"/>
            <a:ext cx="1944216" cy="172819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Evaluate agreed enterprise requirements against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17681"/>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Factors to consider:</a:t>
            </a:r>
          </a:p>
          <a:p>
            <a:pPr marL="360000" indent="-360000">
              <a:spcBef>
                <a:spcPts val="600"/>
              </a:spcBef>
              <a:spcAft>
                <a:spcPts val="1200"/>
              </a:spcAft>
            </a:pPr>
            <a:r>
              <a:rPr lang="en-US" sz="2200" dirty="0" smtClean="0">
                <a:latin typeface="Helvetica" pitchFamily="34" charset="0"/>
              </a:rPr>
              <a:t>Nature of the operation: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Whether system suits the type of operation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Whether system aligns with market position of the operation</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50178" name="Picture 2" descr="C:\Documents and Settings\Godaishu\Local Settings\Temporary Internet Files\Content.IE5\QYNVKJ9D\MC900434667[1].wmf"/>
          <p:cNvPicPr>
            <a:picLocks noChangeAspect="1" noChangeArrowheads="1"/>
          </p:cNvPicPr>
          <p:nvPr/>
        </p:nvPicPr>
        <p:blipFill>
          <a:blip r:embed="rId3" cstate="print"/>
          <a:srcRect/>
          <a:stretch>
            <a:fillRect/>
          </a:stretch>
        </p:blipFill>
        <p:spPr bwMode="auto">
          <a:xfrm>
            <a:off x="6948264" y="1484784"/>
            <a:ext cx="1981200" cy="1714500"/>
          </a:xfrm>
          <a:prstGeom prst="rect">
            <a:avLst/>
          </a:prstGeom>
          <a:noFill/>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Evaluate agreed enterprise requirements against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The menu:</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Whether the intended menu can be produced</a:t>
            </a:r>
          </a:p>
          <a:p>
            <a:pPr marL="360000" indent="-360000">
              <a:spcBef>
                <a:spcPts val="600"/>
              </a:spcBef>
              <a:spcAft>
                <a:spcPts val="1200"/>
              </a:spcAft>
            </a:pPr>
            <a:r>
              <a:rPr lang="en-US" sz="2200" dirty="0" smtClean="0">
                <a:latin typeface="Helvetica" pitchFamily="34" charset="0"/>
              </a:rPr>
              <a:t>Production volume: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Whether the system has the required capacity</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pic>
        <p:nvPicPr>
          <p:cNvPr id="51202" name="Picture 2" descr="C:\Documents and Settings\Godaishu\Local Settings\Temporary Internet Files\Content.IE5\QE61NRUL\MC900434389[1].wmf"/>
          <p:cNvPicPr>
            <a:picLocks noChangeAspect="1" noChangeArrowheads="1"/>
          </p:cNvPicPr>
          <p:nvPr/>
        </p:nvPicPr>
        <p:blipFill>
          <a:blip r:embed="rId3" cstate="print"/>
          <a:srcRect/>
          <a:stretch>
            <a:fillRect/>
          </a:stretch>
        </p:blipFill>
        <p:spPr bwMode="auto">
          <a:xfrm>
            <a:off x="7308304" y="1772816"/>
            <a:ext cx="1539354" cy="2426508"/>
          </a:xfrm>
          <a:prstGeom prst="rect">
            <a:avLst/>
          </a:prstGeom>
          <a:noFill/>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Evaluate agreed enterprise requirements against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39341"/>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Service areas, service points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Whether food service potential meets requirements</a:t>
            </a:r>
          </a:p>
          <a:p>
            <a:pPr marL="360000" indent="-360000">
              <a:spcBef>
                <a:spcPts val="600"/>
              </a:spcBef>
              <a:spcAft>
                <a:spcPts val="1200"/>
              </a:spcAft>
            </a:pPr>
            <a:r>
              <a:rPr lang="en-US" sz="2200" dirty="0" smtClean="0">
                <a:latin typeface="Helvetica" pitchFamily="34" charset="0"/>
              </a:rPr>
              <a:t>Storage and holding:</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Is pre-production storage sufficient?</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Is post-production storage sufficient?</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pic>
        <p:nvPicPr>
          <p:cNvPr id="52226" name="Picture 2" descr="C:\Documents and Settings\Godaishu\Local Settings\Temporary Internet Files\Content.IE5\7GWYLB5B\MP900448464[1].jpg"/>
          <p:cNvPicPr>
            <a:picLocks noChangeAspect="1" noChangeArrowheads="1"/>
          </p:cNvPicPr>
          <p:nvPr/>
        </p:nvPicPr>
        <p:blipFill>
          <a:blip r:embed="rId3" cstate="print"/>
          <a:srcRect/>
          <a:stretch>
            <a:fillRect/>
          </a:stretch>
        </p:blipFill>
        <p:spPr bwMode="auto">
          <a:xfrm>
            <a:off x="6732240" y="2852936"/>
            <a:ext cx="1632181" cy="2448272"/>
          </a:xfrm>
          <a:prstGeom prst="rect">
            <a:avLst/>
          </a:prstGeom>
          <a:noFill/>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Evaluate agreed enterprise requirements against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17681"/>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Nutritional and dietary requirements: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Whether food produced will meet nutritional content requirements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Whether system will allow production of diet-specific meals</a:t>
            </a:r>
          </a:p>
          <a:p>
            <a:pPr marL="360000" indent="-360000">
              <a:spcBef>
                <a:spcPts val="600"/>
              </a:spcBef>
              <a:spcAft>
                <a:spcPts val="1200"/>
              </a:spcAft>
            </a:pPr>
            <a:r>
              <a:rPr lang="en-US" sz="2200" dirty="0" smtClean="0">
                <a:latin typeface="Helvetica" pitchFamily="34" charset="0"/>
              </a:rPr>
              <a:t>Available space: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Does system fit available space?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5" name="Picture 4" descr="C:\Documents and Settings\danielc\Local Settings\Temporary Internet Files\Content.IE5\Y88G682L\MC900071365[1].wmf"/>
          <p:cNvPicPr/>
          <p:nvPr/>
        </p:nvPicPr>
        <p:blipFill>
          <a:blip r:embed="rId3" cstate="print"/>
          <a:srcRect/>
          <a:stretch>
            <a:fillRect/>
          </a:stretch>
        </p:blipFill>
        <p:spPr bwMode="auto">
          <a:xfrm>
            <a:off x="6143636" y="4000504"/>
            <a:ext cx="2345609" cy="151216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Evaluate agreed enterprise requirements against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04862" y="1689119"/>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Ingredients purchased:</a:t>
            </a:r>
          </a:p>
          <a:p>
            <a:pPr marL="661752" lvl="1" indent="-360000">
              <a:spcBef>
                <a:spcPts val="600"/>
              </a:spcBef>
              <a:spcAft>
                <a:spcPts val="1200"/>
              </a:spcAft>
            </a:pPr>
            <a:r>
              <a:rPr lang="en-US" sz="2200" dirty="0" smtClean="0">
                <a:latin typeface="Helvetica" pitchFamily="34" charset="0"/>
              </a:rPr>
              <a:t>Whether system impacts ingredients </a:t>
            </a:r>
            <a:br>
              <a:rPr lang="en-US" sz="2200" dirty="0" smtClean="0">
                <a:latin typeface="Helvetica" pitchFamily="34" charset="0"/>
              </a:rPr>
            </a:br>
            <a:r>
              <a:rPr lang="en-US" sz="2200" dirty="0" smtClean="0">
                <a:latin typeface="Helvetica" pitchFamily="34" charset="0"/>
              </a:rPr>
              <a:t>purchased by the kitchen</a:t>
            </a:r>
          </a:p>
          <a:p>
            <a:pPr marL="360000" indent="-360000">
              <a:spcBef>
                <a:spcPts val="600"/>
              </a:spcBef>
              <a:spcAft>
                <a:spcPts val="1200"/>
              </a:spcAft>
            </a:pPr>
            <a:r>
              <a:rPr lang="en-US" sz="2200" dirty="0" smtClean="0">
                <a:latin typeface="Helvetica" pitchFamily="34" charset="0"/>
              </a:rPr>
              <a:t>Enterprise practices and standards: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Whether system will cause change to practices </a:t>
            </a:r>
            <a:br>
              <a:rPr lang="en-US" sz="2200" dirty="0" smtClean="0">
                <a:latin typeface="Helvetica" pitchFamily="34" charset="0"/>
              </a:rPr>
            </a:br>
            <a:r>
              <a:rPr lang="en-US" sz="2200" dirty="0" smtClean="0">
                <a:latin typeface="Helvetica" pitchFamily="34" charset="0"/>
              </a:rPr>
              <a:t>and standards, and is this change acceptable?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pic>
        <p:nvPicPr>
          <p:cNvPr id="5" name="Picture 4" descr="I:\Overseas Projects\PHOTOS\2012\Culinary 2011\KitchenCCPristineIsland.jpg"/>
          <p:cNvPicPr/>
          <p:nvPr/>
        </p:nvPicPr>
        <p:blipFill>
          <a:blip r:embed="rId3" cstate="print"/>
          <a:srcRect/>
          <a:stretch>
            <a:fillRect/>
          </a:stretch>
        </p:blipFill>
        <p:spPr bwMode="auto">
          <a:xfrm>
            <a:off x="6473328" y="2155800"/>
            <a:ext cx="2027762" cy="141607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Evaluate agreed enterprise requirements against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617681"/>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Financial constraints: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Whether the system aligns with financial </a:t>
            </a:r>
            <a:br>
              <a:rPr lang="en-US" sz="2200" dirty="0" smtClean="0">
                <a:latin typeface="Helvetica" pitchFamily="34" charset="0"/>
              </a:rPr>
            </a:br>
            <a:r>
              <a:rPr lang="en-US" sz="2200" dirty="0" smtClean="0">
                <a:latin typeface="Helvetica" pitchFamily="34" charset="0"/>
              </a:rPr>
              <a:t>parameters set for acquisition</a:t>
            </a:r>
          </a:p>
          <a:p>
            <a:pPr marL="360000" indent="-360000">
              <a:spcBef>
                <a:spcPts val="600"/>
              </a:spcBef>
              <a:spcAft>
                <a:spcPts val="1200"/>
              </a:spcAft>
            </a:pPr>
            <a:r>
              <a:rPr lang="en-US" sz="2200" dirty="0" smtClean="0">
                <a:latin typeface="Helvetica" pitchFamily="34" charset="0"/>
              </a:rPr>
              <a:t>Compliance requirements: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Whether the system meets all identified compliance requirements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pic>
        <p:nvPicPr>
          <p:cNvPr id="53250" name="Picture 2" descr="C:\Documents and Settings\Godaishu\Local Settings\Temporary Internet Files\Content.IE5\KLU3SPUN\MP900315542[1].jpg"/>
          <p:cNvPicPr>
            <a:picLocks noChangeAspect="1" noChangeArrowheads="1"/>
          </p:cNvPicPr>
          <p:nvPr/>
        </p:nvPicPr>
        <p:blipFill>
          <a:blip r:embed="rId3" cstate="print"/>
          <a:srcRect/>
          <a:stretch>
            <a:fillRect/>
          </a:stretch>
        </p:blipFill>
        <p:spPr bwMode="auto">
          <a:xfrm>
            <a:off x="6715140" y="2100656"/>
            <a:ext cx="1917908" cy="1390484"/>
          </a:xfrm>
          <a:prstGeom prst="rect">
            <a:avLst/>
          </a:prstGeom>
          <a:noFill/>
        </p:spPr>
      </p:pic>
      <p:pic>
        <p:nvPicPr>
          <p:cNvPr id="6" name="Picture 5" descr="I:\Overseas Projects\PHOTOS\2013\Apply safety proc handling food images\Protective clothing.jpg"/>
          <p:cNvPicPr/>
          <p:nvPr/>
        </p:nvPicPr>
        <p:blipFill>
          <a:blip r:embed="rId4" cstate="print">
            <a:lum contrast="10000"/>
          </a:blip>
          <a:srcRect/>
          <a:stretch>
            <a:fillRect/>
          </a:stretch>
        </p:blipFill>
        <p:spPr bwMode="auto">
          <a:xfrm>
            <a:off x="7205046" y="4221088"/>
            <a:ext cx="1438920" cy="21357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Evaluate agreed enterprise requirements against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Timing constraints: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Whether system can be installed and operational by required date</a:t>
            </a:r>
          </a:p>
          <a:p>
            <a:pPr marL="360000" indent="-360000">
              <a:spcBef>
                <a:spcPts val="600"/>
              </a:spcBef>
              <a:spcAft>
                <a:spcPts val="1200"/>
              </a:spcAft>
            </a:pPr>
            <a:r>
              <a:rPr lang="en-US" sz="2200" dirty="0" smtClean="0">
                <a:latin typeface="Helvetica" pitchFamily="34" charset="0"/>
              </a:rPr>
              <a:t>Operating costs: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Whether the system is viable in terms of on-going costs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pic>
        <p:nvPicPr>
          <p:cNvPr id="54274" name="Picture 2" descr="C:\Documents and Settings\Godaishu\Local Settings\Temporary Internet Files\Content.IE5\KPAZS1QF\MC900383270[1].wmf"/>
          <p:cNvPicPr>
            <a:picLocks noChangeAspect="1" noChangeArrowheads="1"/>
          </p:cNvPicPr>
          <p:nvPr/>
        </p:nvPicPr>
        <p:blipFill>
          <a:blip r:embed="rId3" cstate="print"/>
          <a:srcRect/>
          <a:stretch>
            <a:fillRect/>
          </a:stretch>
        </p:blipFill>
        <p:spPr bwMode="auto">
          <a:xfrm>
            <a:off x="3563888" y="4365104"/>
            <a:ext cx="1832458" cy="1795882"/>
          </a:xfrm>
          <a:prstGeom prst="rect">
            <a:avLst/>
          </a:prstGeom>
          <a:noFill/>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Evaluate agreed enterprise requirements against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You may have to compromise when deciding what to do – this can mean:</a:t>
            </a:r>
          </a:p>
          <a:p>
            <a:pPr marL="360000" indent="-360000">
              <a:spcBef>
                <a:spcPts val="600"/>
              </a:spcBef>
              <a:spcAft>
                <a:spcPts val="1200"/>
              </a:spcAft>
            </a:pPr>
            <a:r>
              <a:rPr lang="en-US" sz="2200" dirty="0" smtClean="0">
                <a:latin typeface="Helvetica" pitchFamily="34" charset="0"/>
              </a:rPr>
              <a:t>Allowing extra time</a:t>
            </a:r>
          </a:p>
          <a:p>
            <a:pPr marL="360000" indent="-360000">
              <a:spcBef>
                <a:spcPts val="600"/>
              </a:spcBef>
              <a:spcAft>
                <a:spcPts val="1200"/>
              </a:spcAft>
            </a:pPr>
            <a:r>
              <a:rPr lang="en-US" sz="2200" dirty="0" smtClean="0">
                <a:latin typeface="Helvetica" pitchFamily="34" charset="0"/>
              </a:rPr>
              <a:t>Spending more money</a:t>
            </a:r>
          </a:p>
          <a:p>
            <a:pPr marL="360000" indent="-360000">
              <a:spcBef>
                <a:spcPts val="600"/>
              </a:spcBef>
              <a:spcAft>
                <a:spcPts val="1200"/>
              </a:spcAft>
            </a:pPr>
            <a:r>
              <a:rPr lang="en-US" sz="2200" dirty="0" smtClean="0">
                <a:latin typeface="Helvetica" pitchFamily="34" charset="0"/>
              </a:rPr>
              <a:t>Using more space</a:t>
            </a:r>
          </a:p>
          <a:p>
            <a:pPr marL="360000" indent="-360000">
              <a:spcBef>
                <a:spcPts val="600"/>
              </a:spcBef>
              <a:spcAft>
                <a:spcPts val="1200"/>
              </a:spcAft>
            </a:pPr>
            <a:r>
              <a:rPr lang="en-US" sz="2200" dirty="0" smtClean="0">
                <a:latin typeface="Helvetica" pitchFamily="34" charset="0"/>
              </a:rPr>
              <a:t>Buying from a non-preferred supplier</a:t>
            </a:r>
          </a:p>
          <a:p>
            <a:pPr marL="360000" indent="-360000">
              <a:spcBef>
                <a:spcPts val="600"/>
              </a:spcBef>
              <a:spcAft>
                <a:spcPts val="1200"/>
              </a:spcAft>
            </a:pPr>
            <a:r>
              <a:rPr lang="en-US" sz="2200" dirty="0" smtClean="0">
                <a:latin typeface="Helvetica" pitchFamily="34" charset="0"/>
              </a:rPr>
              <a:t>Changing enterprise policies and procedures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55298" name="Picture 2" descr="C:\Documents and Settings\Godaishu\Local Settings\Temporary Internet Files\Content.IE5\VL0QK7PC\MC900442070[1].wmf"/>
          <p:cNvPicPr>
            <a:picLocks noChangeAspect="1" noChangeArrowheads="1"/>
          </p:cNvPicPr>
          <p:nvPr/>
        </p:nvPicPr>
        <p:blipFill>
          <a:blip r:embed="rId3" cstate="print"/>
          <a:srcRect/>
          <a:stretch>
            <a:fillRect/>
          </a:stretch>
        </p:blipFill>
        <p:spPr bwMode="auto">
          <a:xfrm>
            <a:off x="6084168" y="2348880"/>
            <a:ext cx="1920875" cy="1368425"/>
          </a:xfrm>
          <a:prstGeom prst="rect">
            <a:avLst/>
          </a:prstGeom>
          <a:noFill/>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04862" y="1643050"/>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evaluating catering systems:</a:t>
            </a:r>
          </a:p>
          <a:p>
            <a:pPr marL="360000" indent="-360000">
              <a:spcBef>
                <a:spcPts val="600"/>
              </a:spcBef>
              <a:spcAft>
                <a:spcPts val="1200"/>
              </a:spcAft>
            </a:pPr>
            <a:r>
              <a:rPr lang="en-AU" sz="2200" dirty="0" smtClean="0">
                <a:latin typeface="Helvetica" pitchFamily="34" charset="0"/>
              </a:rPr>
              <a:t>Identify and research all systems relevant to identified catering requirements and enterprise constraints</a:t>
            </a:r>
          </a:p>
          <a:p>
            <a:pPr marL="360000" indent="-360000">
              <a:spcBef>
                <a:spcPts val="600"/>
              </a:spcBef>
              <a:spcAft>
                <a:spcPts val="1200"/>
              </a:spcAft>
            </a:pPr>
            <a:r>
              <a:rPr lang="en-AU" sz="2200" dirty="0" smtClean="0">
                <a:latin typeface="Helvetica" pitchFamily="34" charset="0"/>
              </a:rPr>
              <a:t>Understand the impact and importance of the food processing continuum on various systems</a:t>
            </a:r>
          </a:p>
          <a:p>
            <a:pPr marL="360000" indent="-360000">
              <a:spcBef>
                <a:spcPts val="600"/>
              </a:spcBef>
              <a:spcAft>
                <a:spcPts val="1200"/>
              </a:spcAft>
            </a:pPr>
            <a:r>
              <a:rPr lang="en-AU" sz="2200" dirty="0" smtClean="0">
                <a:latin typeface="Helvetica" pitchFamily="34" charset="0"/>
              </a:rPr>
              <a:t>Become familiar with the Conventional system</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pic>
        <p:nvPicPr>
          <p:cNvPr id="5" name="Picture 2" descr="C:\Documents and Settings\Godaishu\Local Settings\Temporary Internet Files\Content.IE5\AIDHLZ6J\MC900442036[1].wmf"/>
          <p:cNvPicPr>
            <a:picLocks noChangeAspect="1" noChangeArrowheads="1"/>
          </p:cNvPicPr>
          <p:nvPr/>
        </p:nvPicPr>
        <p:blipFill>
          <a:blip r:embed="rId3" cstate="print"/>
          <a:srcRect/>
          <a:stretch>
            <a:fillRect/>
          </a:stretch>
        </p:blipFill>
        <p:spPr bwMode="auto">
          <a:xfrm>
            <a:off x="7020272" y="4221088"/>
            <a:ext cx="1857375" cy="1838325"/>
          </a:xfrm>
          <a:prstGeom prst="rect">
            <a:avLst/>
          </a:prstGeom>
          <a:noFill/>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Know the difference between ‘centralised’ and ‘decentralised’ service</a:t>
            </a:r>
          </a:p>
          <a:p>
            <a:pPr marL="360000" indent="-360000">
              <a:spcBef>
                <a:spcPts val="600"/>
              </a:spcBef>
              <a:spcAft>
                <a:spcPts val="1200"/>
              </a:spcAft>
            </a:pPr>
            <a:r>
              <a:rPr lang="en-AU" sz="2200" dirty="0" smtClean="0">
                <a:latin typeface="Helvetica" pitchFamily="34" charset="0"/>
              </a:rPr>
              <a:t>Differentiate between cook-chill and cook-freeze options</a:t>
            </a:r>
          </a:p>
          <a:p>
            <a:pPr marL="360000" indent="-360000">
              <a:spcBef>
                <a:spcPts val="600"/>
              </a:spcBef>
              <a:spcAft>
                <a:spcPts val="1200"/>
              </a:spcAft>
            </a:pPr>
            <a:r>
              <a:rPr lang="en-AU" sz="2200" dirty="0" smtClean="0">
                <a:latin typeface="Helvetica" pitchFamily="34" charset="0"/>
              </a:rPr>
              <a:t>Be able to describe the commissary option using satellite kitchens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5" name="Picture 2" descr="C:\Documents and Settings\Godaishu\Local Settings\Temporary Internet Files\Content.IE5\AIDHLZ6J\MC900442036[1].wmf"/>
          <p:cNvPicPr>
            <a:picLocks noChangeAspect="1" noChangeArrowheads="1"/>
          </p:cNvPicPr>
          <p:nvPr/>
        </p:nvPicPr>
        <p:blipFill>
          <a:blip r:embed="rId3" cstate="print"/>
          <a:srcRect/>
          <a:stretch>
            <a:fillRect/>
          </a:stretch>
        </p:blipFill>
        <p:spPr bwMode="auto">
          <a:xfrm>
            <a:off x="6572264" y="4143380"/>
            <a:ext cx="1857375" cy="1838325"/>
          </a:xfrm>
          <a:prstGeom prst="rect">
            <a:avLst/>
          </a:prstGeom>
          <a:noFill/>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Understand the assembly-serve system</a:t>
            </a:r>
          </a:p>
          <a:p>
            <a:pPr marL="360000" indent="-360000">
              <a:spcBef>
                <a:spcPts val="600"/>
              </a:spcBef>
              <a:spcAft>
                <a:spcPts val="1200"/>
              </a:spcAft>
            </a:pPr>
            <a:r>
              <a:rPr lang="en-AU" sz="2200" dirty="0" smtClean="0">
                <a:latin typeface="Helvetica" pitchFamily="34" charset="0"/>
              </a:rPr>
              <a:t>Note the options provided by the </a:t>
            </a:r>
            <a:r>
              <a:rPr lang="en-AU" sz="2200" i="1" dirty="0" smtClean="0">
                <a:latin typeface="Helvetica" pitchFamily="34" charset="0"/>
              </a:rPr>
              <a:t>sous vide </a:t>
            </a:r>
            <a:r>
              <a:rPr lang="en-AU" sz="2200" dirty="0" smtClean="0">
                <a:latin typeface="Helvetica" pitchFamily="34" charset="0"/>
              </a:rPr>
              <a:t>system</a:t>
            </a:r>
          </a:p>
          <a:p>
            <a:pPr marL="360000" indent="-360000">
              <a:spcBef>
                <a:spcPts val="600"/>
              </a:spcBef>
              <a:spcAft>
                <a:spcPts val="1200"/>
              </a:spcAft>
            </a:pPr>
            <a:r>
              <a:rPr lang="en-AU" sz="2200" dirty="0" smtClean="0">
                <a:latin typeface="Helvetica" pitchFamily="34" charset="0"/>
              </a:rPr>
              <a:t>Realise an effective system may use a combination of different approaches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5" name="Picture 2" descr="C:\Documents and Settings\Godaishu\Local Settings\Temporary Internet Files\Content.IE5\AIDHLZ6J\MC900442036[1].wmf"/>
          <p:cNvPicPr>
            <a:picLocks noChangeAspect="1" noChangeArrowheads="1"/>
          </p:cNvPicPr>
          <p:nvPr/>
        </p:nvPicPr>
        <p:blipFill>
          <a:blip r:embed="rId3" cstate="print"/>
          <a:srcRect/>
          <a:stretch>
            <a:fillRect/>
          </a:stretch>
        </p:blipFill>
        <p:spPr bwMode="auto">
          <a:xfrm>
            <a:off x="6643702" y="3571876"/>
            <a:ext cx="1857375" cy="1838325"/>
          </a:xfrm>
          <a:prstGeom prst="rect">
            <a:avLst/>
          </a:prstGeom>
          <a:noFill/>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Use Key Selection Criteria and all other relevant factors (including identified constraints) as basis for evaluating catering systems</a:t>
            </a:r>
          </a:p>
          <a:p>
            <a:pPr marL="360000" indent="-360000">
              <a:spcBef>
                <a:spcPts val="600"/>
              </a:spcBef>
              <a:spcAft>
                <a:spcPts val="1200"/>
              </a:spcAft>
            </a:pPr>
            <a:r>
              <a:rPr lang="en-AU" sz="2200" dirty="0" smtClean="0">
                <a:latin typeface="Helvetica" pitchFamily="34" charset="0"/>
              </a:rPr>
              <a:t>Involve others in the evaluation process</a:t>
            </a:r>
          </a:p>
          <a:p>
            <a:pPr marL="360000" indent="-360000">
              <a:spcBef>
                <a:spcPts val="600"/>
              </a:spcBef>
              <a:spcAft>
                <a:spcPts val="1200"/>
              </a:spcAft>
            </a:pPr>
            <a:r>
              <a:rPr lang="en-AU" sz="2200" dirty="0" smtClean="0">
                <a:latin typeface="Helvetica" pitchFamily="34" charset="0"/>
              </a:rPr>
              <a:t>Ask lots of questions</a:t>
            </a:r>
          </a:p>
          <a:p>
            <a:pPr marL="360000" indent="-360000">
              <a:spcBef>
                <a:spcPts val="600"/>
              </a:spcBef>
              <a:spcAft>
                <a:spcPts val="1200"/>
              </a:spcAft>
            </a:pPr>
            <a:r>
              <a:rPr lang="en-AU" sz="2200" dirty="0" smtClean="0">
                <a:latin typeface="Helvetica" pitchFamily="34" charset="0"/>
              </a:rPr>
              <a:t>Document thoughts and findings of this stage of the process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pic>
        <p:nvPicPr>
          <p:cNvPr id="5" name="Picture 2" descr="C:\Documents and Settings\Godaishu\Local Settings\Temporary Internet Files\Content.IE5\AIDHLZ6J\MC900442036[1].wmf"/>
          <p:cNvPicPr>
            <a:picLocks noChangeAspect="1" noChangeArrowheads="1"/>
          </p:cNvPicPr>
          <p:nvPr/>
        </p:nvPicPr>
        <p:blipFill>
          <a:blip r:embed="rId3" cstate="print"/>
          <a:srcRect/>
          <a:stretch>
            <a:fillRect/>
          </a:stretch>
        </p:blipFill>
        <p:spPr bwMode="auto">
          <a:xfrm>
            <a:off x="7092280" y="2420888"/>
            <a:ext cx="1857375" cy="1838325"/>
          </a:xfrm>
          <a:prstGeom prst="rect">
            <a:avLst/>
          </a:prstGeom>
          <a:noFill/>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Recommend a catering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is:</a:t>
            </a:r>
          </a:p>
          <a:p>
            <a:pPr marL="360000" indent="-360000">
              <a:spcBef>
                <a:spcPts val="600"/>
              </a:spcBef>
              <a:spcAft>
                <a:spcPts val="1200"/>
              </a:spcAft>
            </a:pPr>
            <a:r>
              <a:rPr lang="en-US" sz="2200" dirty="0" smtClean="0">
                <a:latin typeface="Helvetica" pitchFamily="34" charset="0"/>
              </a:rPr>
              <a:t>Consider the advantages and disadvantages of systems in making recommendation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5" name="Picture 2" descr="C:\Documents and Settings\Godaishu\Local Settings\Temporary Internet Files\Content.IE5\AIDHLZ6J\MC900434663[1].wmf"/>
          <p:cNvPicPr>
            <a:picLocks noChangeAspect="1" noChangeArrowheads="1"/>
          </p:cNvPicPr>
          <p:nvPr/>
        </p:nvPicPr>
        <p:blipFill>
          <a:blip r:embed="rId3" cstate="print"/>
          <a:srcRect/>
          <a:stretch>
            <a:fillRect/>
          </a:stretch>
        </p:blipFill>
        <p:spPr bwMode="auto">
          <a:xfrm>
            <a:off x="5572132" y="2500306"/>
            <a:ext cx="450667" cy="595064"/>
          </a:xfrm>
          <a:prstGeom prst="rect">
            <a:avLst/>
          </a:prstGeom>
          <a:noFill/>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Consider advantages and disadvantages of systems in making recommendation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00034" y="1903433"/>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Points to note when making recommendation:</a:t>
            </a:r>
          </a:p>
          <a:p>
            <a:pPr marL="360000" indent="-360000">
              <a:spcBef>
                <a:spcPts val="600"/>
              </a:spcBef>
              <a:spcAft>
                <a:spcPts val="1200"/>
              </a:spcAft>
            </a:pPr>
            <a:r>
              <a:rPr lang="en-US" sz="2200" dirty="0" smtClean="0">
                <a:latin typeface="Helvetica" pitchFamily="34" charset="0"/>
              </a:rPr>
              <a:t>Involve others</a:t>
            </a:r>
          </a:p>
          <a:p>
            <a:pPr marL="360000" indent="-360000">
              <a:spcBef>
                <a:spcPts val="600"/>
              </a:spcBef>
              <a:spcAft>
                <a:spcPts val="1200"/>
              </a:spcAft>
            </a:pPr>
            <a:r>
              <a:rPr lang="en-US" sz="2200" dirty="0" smtClean="0">
                <a:latin typeface="Helvetica" pitchFamily="34" charset="0"/>
              </a:rPr>
              <a:t>Base recommendation on facts</a:t>
            </a:r>
          </a:p>
          <a:p>
            <a:pPr marL="360000" indent="-360000">
              <a:spcBef>
                <a:spcPts val="600"/>
              </a:spcBef>
              <a:spcAft>
                <a:spcPts val="1200"/>
              </a:spcAft>
            </a:pPr>
            <a:r>
              <a:rPr lang="en-US" sz="2200" dirty="0" smtClean="0">
                <a:latin typeface="Helvetica" pitchFamily="34" charset="0"/>
              </a:rPr>
              <a:t>Identify ‘opinion as opposed to ‘fact’</a:t>
            </a:r>
          </a:p>
          <a:p>
            <a:pPr marL="360000" indent="-360000">
              <a:spcBef>
                <a:spcPts val="600"/>
              </a:spcBef>
              <a:spcAft>
                <a:spcPts val="1200"/>
              </a:spcAft>
            </a:pPr>
            <a:r>
              <a:rPr lang="en-US" sz="2200" dirty="0" smtClean="0">
                <a:latin typeface="Helvetica" pitchFamily="34" charset="0"/>
              </a:rPr>
              <a:t>Include details of data collected and considered</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56322" name="Picture 2" descr="C:\Documents and Settings\Godaishu\Local Settings\Temporary Internet Files\Content.IE5\QE61NRUL\MP900442488[1].jpg"/>
          <p:cNvPicPr>
            <a:picLocks noChangeAspect="1" noChangeArrowheads="1"/>
          </p:cNvPicPr>
          <p:nvPr/>
        </p:nvPicPr>
        <p:blipFill>
          <a:blip r:embed="rId3" cstate="print"/>
          <a:srcRect/>
          <a:stretch>
            <a:fillRect/>
          </a:stretch>
        </p:blipFill>
        <p:spPr bwMode="auto">
          <a:xfrm>
            <a:off x="7286644" y="2786058"/>
            <a:ext cx="1299485" cy="1693398"/>
          </a:xfrm>
          <a:prstGeom prst="rect">
            <a:avLst/>
          </a:prstGeom>
          <a:noFill/>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Consider advantages and disadvantages of systems in making recommendation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357298"/>
            <a:ext cx="7467600" cy="4525963"/>
          </a:xfrm>
        </p:spPr>
        <p:txBody>
          <a:bodyPr>
            <a:normAutofit/>
          </a:bodyPr>
          <a:lstStyle/>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Make a definite clear recommendation</a:t>
            </a:r>
          </a:p>
          <a:p>
            <a:pPr marL="360000" indent="-360000">
              <a:spcBef>
                <a:spcPts val="600"/>
              </a:spcBef>
              <a:spcAft>
                <a:spcPts val="1200"/>
              </a:spcAft>
            </a:pPr>
            <a:r>
              <a:rPr lang="en-US" sz="2200" dirty="0" smtClean="0">
                <a:latin typeface="Helvetica" pitchFamily="34" charset="0"/>
              </a:rPr>
              <a:t>Prepare a written report</a:t>
            </a:r>
          </a:p>
          <a:p>
            <a:pPr marL="360000" indent="-360000">
              <a:spcBef>
                <a:spcPts val="600"/>
              </a:spcBef>
              <a:spcAft>
                <a:spcPts val="1200"/>
              </a:spcAft>
            </a:pPr>
            <a:r>
              <a:rPr lang="en-US" sz="2200" dirty="0" smtClean="0">
                <a:latin typeface="Helvetica" pitchFamily="34" charset="0"/>
              </a:rPr>
              <a:t>Organise a meeting where you make a verbal presentation of your recommendation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57346" name="Picture 2" descr="C:\Documents and Settings\Godaishu\Desktop\PHOTOS\2011\Culinary\Writing notes 2.jpg"/>
          <p:cNvPicPr>
            <a:picLocks noChangeAspect="1" noChangeArrowheads="1"/>
          </p:cNvPicPr>
          <p:nvPr/>
        </p:nvPicPr>
        <p:blipFill>
          <a:blip r:embed="rId3" cstate="print"/>
          <a:srcRect/>
          <a:stretch>
            <a:fillRect/>
          </a:stretch>
        </p:blipFill>
        <p:spPr bwMode="auto">
          <a:xfrm>
            <a:off x="3400801" y="4500570"/>
            <a:ext cx="2342399" cy="1554251"/>
          </a:xfrm>
          <a:prstGeom prst="rect">
            <a:avLst/>
          </a:prstGeom>
          <a:noFill/>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Consider advantages and disadvantages of systems in making recommendation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03433"/>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Advantages of the Conventional system:</a:t>
            </a:r>
          </a:p>
          <a:p>
            <a:pPr marL="360000" indent="-360000">
              <a:spcBef>
                <a:spcPts val="600"/>
              </a:spcBef>
              <a:spcAft>
                <a:spcPts val="1200"/>
              </a:spcAft>
            </a:pPr>
            <a:r>
              <a:rPr lang="en-US" sz="2200" dirty="0" smtClean="0">
                <a:latin typeface="Helvetica" pitchFamily="34" charset="0"/>
              </a:rPr>
              <a:t>Produces higher quality food</a:t>
            </a:r>
          </a:p>
          <a:p>
            <a:pPr marL="360000" indent="-360000">
              <a:spcBef>
                <a:spcPts val="600"/>
              </a:spcBef>
              <a:spcAft>
                <a:spcPts val="1200"/>
              </a:spcAft>
            </a:pPr>
            <a:r>
              <a:rPr lang="en-US" sz="2200" dirty="0" smtClean="0">
                <a:latin typeface="Helvetica" pitchFamily="34" charset="0"/>
              </a:rPr>
              <a:t>Results in greater acceptance by </a:t>
            </a:r>
            <a:br>
              <a:rPr lang="en-US" sz="2200" dirty="0" smtClean="0">
                <a:latin typeface="Helvetica" pitchFamily="34" charset="0"/>
              </a:rPr>
            </a:br>
            <a:r>
              <a:rPr lang="en-US" sz="2200" dirty="0" smtClean="0">
                <a:latin typeface="Helvetica" pitchFamily="34" charset="0"/>
              </a:rPr>
              <a:t>customers</a:t>
            </a:r>
          </a:p>
          <a:p>
            <a:pPr marL="360000" indent="-360000">
              <a:spcBef>
                <a:spcPts val="600"/>
              </a:spcBef>
              <a:spcAft>
                <a:spcPts val="1200"/>
              </a:spcAft>
            </a:pPr>
            <a:r>
              <a:rPr lang="en-US" sz="2200" dirty="0" smtClean="0">
                <a:latin typeface="Helvetica" pitchFamily="34" charset="0"/>
              </a:rPr>
              <a:t>Is familiar to most staff and prospective </a:t>
            </a:r>
            <a:br>
              <a:rPr lang="en-US" sz="2200" dirty="0" smtClean="0">
                <a:latin typeface="Helvetica" pitchFamily="34" charset="0"/>
              </a:rPr>
            </a:br>
            <a:r>
              <a:rPr lang="en-US" sz="2200" dirty="0" smtClean="0">
                <a:latin typeface="Helvetica" pitchFamily="34" charset="0"/>
              </a:rPr>
              <a:t>employees</a:t>
            </a:r>
          </a:p>
          <a:p>
            <a:pPr marL="360000" indent="-360000">
              <a:spcBef>
                <a:spcPts val="600"/>
              </a:spcBef>
              <a:spcAft>
                <a:spcPts val="1200"/>
              </a:spcAft>
              <a:buNone/>
            </a:pPr>
            <a:r>
              <a:rPr lang="en-US" sz="22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pic>
        <p:nvPicPr>
          <p:cNvPr id="5" name="Picture 4" descr="I:\Overseas Projects\PHOTOS\2011\Culinary\movida_004.jpg"/>
          <p:cNvPicPr/>
          <p:nvPr/>
        </p:nvPicPr>
        <p:blipFill>
          <a:blip r:embed="rId3" cstate="print"/>
          <a:srcRect/>
          <a:stretch>
            <a:fillRect/>
          </a:stretch>
        </p:blipFill>
        <p:spPr bwMode="auto">
          <a:xfrm>
            <a:off x="6403308" y="2714620"/>
            <a:ext cx="2097782" cy="153649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Consider advantages and disadvantages of systems in making recommendation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760557"/>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Provides opportunity for flexibility and responsiveness to demand</a:t>
            </a:r>
          </a:p>
          <a:p>
            <a:pPr marL="360000" indent="-360000">
              <a:spcBef>
                <a:spcPts val="600"/>
              </a:spcBef>
              <a:spcAft>
                <a:spcPts val="1200"/>
              </a:spcAft>
            </a:pPr>
            <a:r>
              <a:rPr lang="en-US" sz="2200" dirty="0" smtClean="0">
                <a:latin typeface="Helvetica" pitchFamily="34" charset="0"/>
              </a:rPr>
              <a:t>Requires less ‘holding’ space for prepared food</a:t>
            </a:r>
          </a:p>
          <a:p>
            <a:pPr marL="360000" indent="-360000">
              <a:spcBef>
                <a:spcPts val="600"/>
              </a:spcBef>
              <a:spcAft>
                <a:spcPts val="1200"/>
              </a:spcAft>
            </a:pPr>
            <a:r>
              <a:rPr lang="en-US" sz="2200" dirty="0" smtClean="0">
                <a:latin typeface="Helvetica" pitchFamily="34" charset="0"/>
              </a:rPr>
              <a:t>Provides potential to produce a wide variety of menu items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pic>
        <p:nvPicPr>
          <p:cNvPr id="58370" name="Picture 2" descr="C:\Documents and Settings\Godaishu\Desktop\PHOTOS\2011\Culinary\movida_006.jpg"/>
          <p:cNvPicPr>
            <a:picLocks noChangeAspect="1" noChangeArrowheads="1"/>
          </p:cNvPicPr>
          <p:nvPr/>
        </p:nvPicPr>
        <p:blipFill>
          <a:blip r:embed="rId3" cstate="print"/>
          <a:srcRect/>
          <a:stretch>
            <a:fillRect/>
          </a:stretch>
        </p:blipFill>
        <p:spPr bwMode="auto">
          <a:xfrm>
            <a:off x="3238054" y="4500682"/>
            <a:ext cx="2667892" cy="1785838"/>
          </a:xfrm>
          <a:prstGeom prst="rect">
            <a:avLst/>
          </a:prstGeom>
          <a:noFill/>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Consider advantages and disadvantages of systems in making recommendation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831995"/>
            <a:ext cx="7467600" cy="4525963"/>
          </a:xfrm>
        </p:spPr>
        <p:txBody>
          <a:bodyPr>
            <a:normAutofit/>
          </a:bodyPr>
          <a:lstStyle/>
          <a:p>
            <a:pPr marL="0" indent="0">
              <a:spcBef>
                <a:spcPts val="600"/>
              </a:spcBef>
              <a:spcAft>
                <a:spcPts val="1200"/>
              </a:spcAft>
              <a:buNone/>
            </a:pPr>
            <a:r>
              <a:rPr lang="en-US" sz="2200" dirty="0" smtClean="0">
                <a:latin typeface="Helvetica" pitchFamily="34" charset="0"/>
              </a:rPr>
              <a:t>Disadvantages of the Conventional system:</a:t>
            </a:r>
          </a:p>
          <a:p>
            <a:pPr marL="360000" indent="-360000">
              <a:spcBef>
                <a:spcPts val="600"/>
              </a:spcBef>
              <a:spcAft>
                <a:spcPts val="1200"/>
              </a:spcAft>
            </a:pPr>
            <a:r>
              <a:rPr lang="en-US" sz="2200" dirty="0" smtClean="0">
                <a:latin typeface="Helvetica" pitchFamily="34" charset="0"/>
              </a:rPr>
              <a:t>Higher food cost on a per unit basis</a:t>
            </a:r>
          </a:p>
          <a:p>
            <a:pPr marL="360000" indent="-360000">
              <a:spcBef>
                <a:spcPts val="600"/>
              </a:spcBef>
              <a:spcAft>
                <a:spcPts val="1200"/>
              </a:spcAft>
            </a:pPr>
            <a:r>
              <a:rPr lang="en-US" sz="2200" dirty="0" smtClean="0">
                <a:latin typeface="Helvetica" pitchFamily="34" charset="0"/>
              </a:rPr>
              <a:t>Consistency of finished product can vary</a:t>
            </a:r>
          </a:p>
          <a:p>
            <a:pPr marL="360000" indent="-360000">
              <a:spcBef>
                <a:spcPts val="600"/>
              </a:spcBef>
              <a:spcAft>
                <a:spcPts val="1200"/>
              </a:spcAft>
            </a:pPr>
            <a:r>
              <a:rPr lang="en-US" sz="2200" dirty="0" smtClean="0">
                <a:latin typeface="Helvetica" pitchFamily="34" charset="0"/>
              </a:rPr>
              <a:t>Higher labour costs</a:t>
            </a:r>
          </a:p>
          <a:p>
            <a:pPr marL="360000" indent="-360000">
              <a:spcBef>
                <a:spcPts val="600"/>
              </a:spcBef>
              <a:spcAft>
                <a:spcPts val="1200"/>
              </a:spcAft>
            </a:pPr>
            <a:r>
              <a:rPr lang="en-US" sz="2200" dirty="0" smtClean="0">
                <a:latin typeface="Helvetica" pitchFamily="34" charset="0"/>
              </a:rPr>
              <a:t>Potential need for extra equipment</a:t>
            </a:r>
          </a:p>
          <a:p>
            <a:pPr marL="360000" indent="-360000">
              <a:spcBef>
                <a:spcPts val="600"/>
              </a:spcBef>
              <a:spcAft>
                <a:spcPts val="1200"/>
              </a:spcAft>
            </a:pPr>
            <a:r>
              <a:rPr lang="en-US" sz="2200" dirty="0" smtClean="0">
                <a:latin typeface="Helvetica" pitchFamily="34" charset="0"/>
              </a:rPr>
              <a:t>Potential reduction in food safety</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pic>
        <p:nvPicPr>
          <p:cNvPr id="59394" name="Picture 2" descr="C:\Documents and Settings\Godaishu\Desktop\PHOTOS\2011\Culinary\dsc_0041.jpg"/>
          <p:cNvPicPr>
            <a:picLocks noChangeAspect="1" noChangeArrowheads="1"/>
          </p:cNvPicPr>
          <p:nvPr/>
        </p:nvPicPr>
        <p:blipFill>
          <a:blip r:embed="rId3" cstate="print"/>
          <a:srcRect/>
          <a:stretch>
            <a:fillRect/>
          </a:stretch>
        </p:blipFill>
        <p:spPr bwMode="auto">
          <a:xfrm>
            <a:off x="6300192" y="3651287"/>
            <a:ext cx="2132919" cy="1420787"/>
          </a:xfrm>
          <a:prstGeom prst="rect">
            <a:avLst/>
          </a:prstGeom>
          <a:noFill/>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Consider advantages and disadvantages of systems in making recommendation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974871"/>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Advantages of Ready prepared systems:</a:t>
            </a:r>
          </a:p>
          <a:p>
            <a:pPr marL="360000" indent="-360000">
              <a:spcBef>
                <a:spcPts val="600"/>
              </a:spcBef>
              <a:spcAft>
                <a:spcPts val="1200"/>
              </a:spcAft>
            </a:pPr>
            <a:r>
              <a:rPr lang="en-US" sz="2200" dirty="0" smtClean="0">
                <a:latin typeface="Helvetica" pitchFamily="34" charset="0"/>
              </a:rPr>
              <a:t>Reduced costs</a:t>
            </a:r>
          </a:p>
          <a:p>
            <a:pPr marL="360000" indent="-360000">
              <a:spcBef>
                <a:spcPts val="600"/>
              </a:spcBef>
              <a:spcAft>
                <a:spcPts val="1200"/>
              </a:spcAft>
            </a:pPr>
            <a:r>
              <a:rPr lang="en-US" sz="2200" dirty="0" smtClean="0">
                <a:latin typeface="Helvetica" pitchFamily="34" charset="0"/>
              </a:rPr>
              <a:t>Better yield</a:t>
            </a:r>
          </a:p>
          <a:p>
            <a:pPr marL="360000" indent="-360000">
              <a:spcBef>
                <a:spcPts val="600"/>
              </a:spcBef>
              <a:spcAft>
                <a:spcPts val="1200"/>
              </a:spcAft>
            </a:pPr>
            <a:r>
              <a:rPr lang="en-US" sz="2200" dirty="0" smtClean="0">
                <a:latin typeface="Helvetica" pitchFamily="34" charset="0"/>
              </a:rPr>
              <a:t>Address shortages of skilled labour</a:t>
            </a:r>
          </a:p>
          <a:p>
            <a:pPr marL="360000" indent="-360000">
              <a:spcBef>
                <a:spcPts val="600"/>
              </a:spcBef>
              <a:spcAft>
                <a:spcPts val="1200"/>
              </a:spcAft>
            </a:pPr>
            <a:r>
              <a:rPr lang="en-US" sz="2200" dirty="0" smtClean="0">
                <a:latin typeface="Helvetica" pitchFamily="34" charset="0"/>
              </a:rPr>
              <a:t>Produces food of consistent quality</a:t>
            </a:r>
          </a:p>
          <a:p>
            <a:pPr marL="360000" indent="-360000">
              <a:spcBef>
                <a:spcPts val="600"/>
              </a:spcBef>
              <a:spcAft>
                <a:spcPts val="1200"/>
              </a:spcAft>
            </a:pPr>
            <a:r>
              <a:rPr lang="en-US" sz="2200" dirty="0" smtClean="0">
                <a:latin typeface="Helvetica" pitchFamily="34" charset="0"/>
              </a:rPr>
              <a:t>Allows service at any time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5" name="Picture 4" descr="I:\Overseas Projects\PHOTOS\2013\Cookery\Cookery\freeimage-5174329.jpg"/>
          <p:cNvPicPr/>
          <p:nvPr/>
        </p:nvPicPr>
        <p:blipFill>
          <a:blip r:embed="rId3" cstate="print"/>
          <a:srcRect/>
          <a:stretch>
            <a:fillRect/>
          </a:stretch>
        </p:blipFill>
        <p:spPr bwMode="auto">
          <a:xfrm>
            <a:off x="6660232" y="2492896"/>
            <a:ext cx="1480613" cy="223224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Consider advantages and disadvantages of systems in making recommendation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92880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Disadvantages of Ready prepared systems:</a:t>
            </a:r>
          </a:p>
          <a:p>
            <a:pPr marL="360000" indent="-360000">
              <a:spcBef>
                <a:spcPts val="600"/>
              </a:spcBef>
              <a:spcAft>
                <a:spcPts val="1200"/>
              </a:spcAft>
            </a:pPr>
            <a:r>
              <a:rPr lang="en-US" sz="2200" dirty="0" smtClean="0">
                <a:latin typeface="Helvetica" pitchFamily="34" charset="0"/>
              </a:rPr>
              <a:t>Possible negative customer perceptions and backlash</a:t>
            </a:r>
          </a:p>
          <a:p>
            <a:pPr marL="360000" indent="-360000">
              <a:spcBef>
                <a:spcPts val="600"/>
              </a:spcBef>
              <a:spcAft>
                <a:spcPts val="1200"/>
              </a:spcAft>
            </a:pPr>
            <a:r>
              <a:rPr lang="en-US" sz="2200" dirty="0" smtClean="0">
                <a:latin typeface="Helvetica" pitchFamily="34" charset="0"/>
              </a:rPr>
              <a:t>Perceived possible lower quality of food</a:t>
            </a:r>
          </a:p>
          <a:p>
            <a:pPr marL="360000" indent="-360000">
              <a:spcBef>
                <a:spcPts val="600"/>
              </a:spcBef>
              <a:spcAft>
                <a:spcPts val="1200"/>
              </a:spcAft>
            </a:pPr>
            <a:r>
              <a:rPr lang="en-US" sz="2200" dirty="0" smtClean="0">
                <a:latin typeface="Helvetica" pitchFamily="34" charset="0"/>
              </a:rPr>
              <a:t>Higher establishment cost</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pic>
        <p:nvPicPr>
          <p:cNvPr id="60418" name="Picture 2" descr="C:\Documents and Settings\Godaishu\Desktop\PHOTOS\F &amp; B 2012\shutterstock_95222164.jpg"/>
          <p:cNvPicPr>
            <a:picLocks noChangeAspect="1" noChangeArrowheads="1"/>
          </p:cNvPicPr>
          <p:nvPr/>
        </p:nvPicPr>
        <p:blipFill>
          <a:blip r:embed="rId3" cstate="print"/>
          <a:srcRect/>
          <a:stretch>
            <a:fillRect/>
          </a:stretch>
        </p:blipFill>
        <p:spPr bwMode="auto">
          <a:xfrm>
            <a:off x="5929322" y="3786190"/>
            <a:ext cx="2417267" cy="1610252"/>
          </a:xfrm>
          <a:prstGeom prst="rect">
            <a:avLst/>
          </a:prstGeom>
          <a:noFill/>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Consider advantages and disadvantages of systems in making recommendation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Potential for limited menu choices</a:t>
            </a:r>
          </a:p>
          <a:p>
            <a:pPr marL="360000" indent="-360000">
              <a:spcBef>
                <a:spcPts val="600"/>
              </a:spcBef>
              <a:spcAft>
                <a:spcPts val="1200"/>
              </a:spcAft>
            </a:pPr>
            <a:r>
              <a:rPr lang="en-US" sz="2200" dirty="0" smtClean="0">
                <a:latin typeface="Helvetica" pitchFamily="34" charset="0"/>
              </a:rPr>
              <a:t>Higher potential loss as a result of ‘out-of-control’ situations</a:t>
            </a:r>
          </a:p>
          <a:p>
            <a:pPr marL="360000" indent="-360000">
              <a:spcBef>
                <a:spcPts val="600"/>
              </a:spcBef>
              <a:spcAft>
                <a:spcPts val="1200"/>
              </a:spcAft>
            </a:pPr>
            <a:r>
              <a:rPr lang="en-US" sz="2200" dirty="0" smtClean="0">
                <a:latin typeface="Helvetica" pitchFamily="34" charset="0"/>
              </a:rPr>
              <a:t>Need to hire (or train) staff with specialist skills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61442" name="Picture 2" descr="C:\Documents and Settings\Godaishu\Desktop\PHOTOS\2011\Culinary\dsc_0015.jpg"/>
          <p:cNvPicPr>
            <a:picLocks noChangeAspect="1" noChangeArrowheads="1"/>
          </p:cNvPicPr>
          <p:nvPr/>
        </p:nvPicPr>
        <p:blipFill>
          <a:blip r:embed="rId3" cstate="print"/>
          <a:srcRect/>
          <a:stretch>
            <a:fillRect/>
          </a:stretch>
        </p:blipFill>
        <p:spPr bwMode="auto">
          <a:xfrm>
            <a:off x="3410697" y="4221088"/>
            <a:ext cx="2322606" cy="1547142"/>
          </a:xfrm>
          <a:prstGeom prst="rect">
            <a:avLst/>
          </a:prstGeom>
          <a:noFill/>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Consider advantages and disadvantages of systems in making recommendation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831995"/>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Advantages of the Commissary system:</a:t>
            </a:r>
          </a:p>
          <a:p>
            <a:pPr marL="360000" indent="-360000">
              <a:spcBef>
                <a:spcPts val="600"/>
              </a:spcBef>
              <a:spcAft>
                <a:spcPts val="1200"/>
              </a:spcAft>
            </a:pPr>
            <a:r>
              <a:rPr lang="en-US" sz="2200" dirty="0" smtClean="0">
                <a:latin typeface="Helvetica" pitchFamily="34" charset="0"/>
              </a:rPr>
              <a:t>Allows central control</a:t>
            </a:r>
          </a:p>
          <a:p>
            <a:pPr marL="360000" indent="-360000">
              <a:spcBef>
                <a:spcPts val="600"/>
              </a:spcBef>
              <a:spcAft>
                <a:spcPts val="1200"/>
              </a:spcAft>
            </a:pPr>
            <a:r>
              <a:rPr lang="en-US" sz="2200" dirty="0" smtClean="0">
                <a:latin typeface="Helvetica" pitchFamily="34" charset="0"/>
              </a:rPr>
              <a:t>Provides reduced need for skilled staff in </a:t>
            </a:r>
            <a:br>
              <a:rPr lang="en-US" sz="2200" dirty="0" smtClean="0">
                <a:latin typeface="Helvetica" pitchFamily="34" charset="0"/>
              </a:rPr>
            </a:br>
            <a:r>
              <a:rPr lang="en-US" sz="2200" dirty="0" smtClean="0">
                <a:latin typeface="Helvetica" pitchFamily="34" charset="0"/>
              </a:rPr>
              <a:t>satellite kitchens</a:t>
            </a:r>
          </a:p>
          <a:p>
            <a:pPr marL="360000" indent="-360000">
              <a:spcBef>
                <a:spcPts val="600"/>
              </a:spcBef>
              <a:spcAft>
                <a:spcPts val="1200"/>
              </a:spcAft>
            </a:pPr>
            <a:r>
              <a:rPr lang="en-US" sz="2200" dirty="0" smtClean="0">
                <a:latin typeface="Helvetica" pitchFamily="34" charset="0"/>
              </a:rPr>
              <a:t>Brings higher productivity in main kitchen</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62466" name="Picture 2" descr="C:\Documents and Settings\Godaishu\Local Settings\Temporary Internet Files\Content.IE5\KPAZS1QF\MC910217048[1].png"/>
          <p:cNvPicPr>
            <a:picLocks noChangeAspect="1" noChangeArrowheads="1"/>
          </p:cNvPicPr>
          <p:nvPr/>
        </p:nvPicPr>
        <p:blipFill>
          <a:blip r:embed="rId3" cstate="print"/>
          <a:srcRect/>
          <a:stretch>
            <a:fillRect/>
          </a:stretch>
        </p:blipFill>
        <p:spPr bwMode="auto">
          <a:xfrm>
            <a:off x="6804248" y="2302546"/>
            <a:ext cx="1340768" cy="1340768"/>
          </a:xfrm>
          <a:prstGeom prst="rect">
            <a:avLst/>
          </a:prstGeom>
          <a:noFill/>
        </p:spPr>
      </p:pic>
      <p:pic>
        <p:nvPicPr>
          <p:cNvPr id="6" name="Picture 5" descr="C:\Documents and Settings\danielc\Desktop\578886_airline_meal.jpg"/>
          <p:cNvPicPr/>
          <p:nvPr/>
        </p:nvPicPr>
        <p:blipFill>
          <a:blip r:embed="rId4" cstate="print">
            <a:lum contrast="30000"/>
          </a:blip>
          <a:srcRect/>
          <a:stretch>
            <a:fillRect/>
          </a:stretch>
        </p:blipFill>
        <p:spPr bwMode="auto">
          <a:xfrm>
            <a:off x="6372200" y="4221088"/>
            <a:ext cx="2028114" cy="152854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Consider advantages and disadvantages of systems in making recommendation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03433"/>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Allows economies of scale</a:t>
            </a:r>
          </a:p>
          <a:p>
            <a:pPr marL="360000" indent="-360000">
              <a:spcBef>
                <a:spcPts val="600"/>
              </a:spcBef>
              <a:spcAft>
                <a:spcPts val="1200"/>
              </a:spcAft>
            </a:pPr>
            <a:r>
              <a:rPr lang="en-US" sz="2200" dirty="0" smtClean="0">
                <a:latin typeface="Helvetica" pitchFamily="34" charset="0"/>
              </a:rPr>
              <a:t>Means little or no need for food processing equipment in satellite kitchens</a:t>
            </a:r>
          </a:p>
          <a:p>
            <a:pPr marL="360000" indent="-360000">
              <a:spcBef>
                <a:spcPts val="600"/>
              </a:spcBef>
              <a:spcAft>
                <a:spcPts val="1200"/>
              </a:spcAft>
            </a:pPr>
            <a:r>
              <a:rPr lang="en-US" sz="2200" dirty="0" smtClean="0">
                <a:latin typeface="Helvetica" pitchFamily="34" charset="0"/>
              </a:rPr>
              <a:t>Facilitates the operation of multiple outlets and service points</a:t>
            </a:r>
          </a:p>
          <a:p>
            <a:pPr marL="360000" indent="-360000">
              <a:spcBef>
                <a:spcPts val="600"/>
              </a:spcBef>
              <a:spcAft>
                <a:spcPts val="1200"/>
              </a:spcAft>
            </a:pPr>
            <a:r>
              <a:rPr lang="en-US" sz="2200" dirty="0" smtClean="0">
                <a:latin typeface="Helvetica" pitchFamily="34" charset="0"/>
              </a:rPr>
              <a:t>Enables main kitchen to be built in least </a:t>
            </a:r>
            <a:br>
              <a:rPr lang="en-US" sz="2200" dirty="0" smtClean="0">
                <a:latin typeface="Helvetica" pitchFamily="34" charset="0"/>
              </a:rPr>
            </a:br>
            <a:r>
              <a:rPr lang="en-US" sz="2200" dirty="0" smtClean="0">
                <a:latin typeface="Helvetica" pitchFamily="34" charset="0"/>
              </a:rPr>
              <a:t>expensive area or location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pic>
        <p:nvPicPr>
          <p:cNvPr id="63490" name="Picture 2" descr="C:\Documents and Settings\Godaishu\Local Settings\Temporary Internet Files\Content.IE5\KPAZS1QF\MC910217048[1].png"/>
          <p:cNvPicPr>
            <a:picLocks noChangeAspect="1" noChangeArrowheads="1"/>
          </p:cNvPicPr>
          <p:nvPr/>
        </p:nvPicPr>
        <p:blipFill>
          <a:blip r:embed="rId3" cstate="print"/>
          <a:srcRect/>
          <a:stretch>
            <a:fillRect/>
          </a:stretch>
        </p:blipFill>
        <p:spPr bwMode="auto">
          <a:xfrm>
            <a:off x="7286644" y="4089612"/>
            <a:ext cx="982462" cy="982462"/>
          </a:xfrm>
          <a:prstGeom prst="rect">
            <a:avLst/>
          </a:prstGeom>
          <a:noFill/>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Consider advantages and disadvantages of systems in making recommendation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903433"/>
            <a:ext cx="7467600" cy="4525963"/>
          </a:xfrm>
        </p:spPr>
        <p:txBody>
          <a:bodyPr>
            <a:normAutofit/>
          </a:bodyPr>
          <a:lstStyle/>
          <a:p>
            <a:pPr marL="0" indent="0">
              <a:spcBef>
                <a:spcPts val="600"/>
              </a:spcBef>
              <a:spcAft>
                <a:spcPts val="1200"/>
              </a:spcAft>
              <a:buNone/>
            </a:pPr>
            <a:r>
              <a:rPr lang="en-US" sz="2200" dirty="0" smtClean="0">
                <a:latin typeface="Helvetica" pitchFamily="34" charset="0"/>
              </a:rPr>
              <a:t>Disadvantages of the Commissary system:</a:t>
            </a:r>
          </a:p>
          <a:p>
            <a:pPr marL="360000" indent="-360000">
              <a:spcBef>
                <a:spcPts val="600"/>
              </a:spcBef>
              <a:spcAft>
                <a:spcPts val="1200"/>
              </a:spcAft>
            </a:pPr>
            <a:r>
              <a:rPr lang="en-US" sz="2200" dirty="0" smtClean="0">
                <a:latin typeface="Helvetica" pitchFamily="34" charset="0"/>
              </a:rPr>
              <a:t>Quality-related issues with menu items</a:t>
            </a:r>
          </a:p>
          <a:p>
            <a:pPr marL="360000" indent="-360000">
              <a:spcBef>
                <a:spcPts val="600"/>
              </a:spcBef>
              <a:spcAft>
                <a:spcPts val="1200"/>
              </a:spcAft>
            </a:pPr>
            <a:r>
              <a:rPr lang="en-US" sz="2200" dirty="0" smtClean="0">
                <a:latin typeface="Helvetica" pitchFamily="34" charset="0"/>
              </a:rPr>
              <a:t>Limitations on menu items which can be offered at each outlet or service point</a:t>
            </a:r>
          </a:p>
          <a:p>
            <a:pPr marL="360000" indent="-360000">
              <a:spcBef>
                <a:spcPts val="600"/>
              </a:spcBef>
              <a:spcAft>
                <a:spcPts val="1200"/>
              </a:spcAft>
            </a:pPr>
            <a:r>
              <a:rPr lang="en-US" sz="2200" dirty="0" smtClean="0">
                <a:latin typeface="Helvetica" pitchFamily="34" charset="0"/>
              </a:rPr>
              <a:t>Little ability for satellite kitchens to respond to special requests and customer preferences</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64514" name="Picture 2" descr="C:\Documents and Settings\Godaishu\Local Settings\Temporary Internet Files\Content.IE5\7GWYLB5B\MC900440412[1].wmf"/>
          <p:cNvPicPr>
            <a:picLocks noChangeAspect="1" noChangeArrowheads="1"/>
          </p:cNvPicPr>
          <p:nvPr/>
        </p:nvPicPr>
        <p:blipFill>
          <a:blip r:embed="rId3" cstate="print"/>
          <a:srcRect/>
          <a:stretch>
            <a:fillRect/>
          </a:stretch>
        </p:blipFill>
        <p:spPr bwMode="auto">
          <a:xfrm>
            <a:off x="6444208" y="5015848"/>
            <a:ext cx="1830629" cy="1484986"/>
          </a:xfrm>
          <a:prstGeom prst="rect">
            <a:avLst/>
          </a:prstGeom>
          <a:noFill/>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Consider advantages and disadvantages of systems in making recommendation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04862" y="1500174"/>
            <a:ext cx="7467600" cy="4525963"/>
          </a:xfrm>
        </p:spPr>
        <p:txBody>
          <a:bodyPr>
            <a:normAutofit/>
          </a:bodyPr>
          <a:lstStyle/>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Need for highly skilled staff in main kitchen</a:t>
            </a:r>
          </a:p>
          <a:p>
            <a:pPr marL="360000" indent="-360000">
              <a:spcBef>
                <a:spcPts val="600"/>
              </a:spcBef>
              <a:spcAft>
                <a:spcPts val="1200"/>
              </a:spcAft>
            </a:pPr>
            <a:r>
              <a:rPr lang="en-US" sz="2200" dirty="0" smtClean="0">
                <a:latin typeface="Helvetica" pitchFamily="34" charset="0"/>
              </a:rPr>
              <a:t>Requires extra expense in packaging and distribution</a:t>
            </a:r>
          </a:p>
          <a:p>
            <a:pPr marL="360000" indent="-360000">
              <a:spcBef>
                <a:spcPts val="600"/>
              </a:spcBef>
              <a:spcAft>
                <a:spcPts val="1200"/>
              </a:spcAft>
            </a:pPr>
            <a:r>
              <a:rPr lang="en-US" sz="2200" dirty="0" smtClean="0">
                <a:latin typeface="Helvetica" pitchFamily="34" charset="0"/>
              </a:rPr>
              <a:t>Demands additional food safety protocols to be established, implemented and monitored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65538" name="Picture 2" descr="C:\Documents and Settings\Godaishu\Local Settings\Temporary Internet Files\Content.IE5\QE61NRUL\MC900441321[1].png"/>
          <p:cNvPicPr>
            <a:picLocks noChangeAspect="1" noChangeArrowheads="1"/>
          </p:cNvPicPr>
          <p:nvPr/>
        </p:nvPicPr>
        <p:blipFill>
          <a:blip r:embed="rId3" cstate="print"/>
          <a:srcRect/>
          <a:stretch>
            <a:fillRect/>
          </a:stretch>
        </p:blipFill>
        <p:spPr bwMode="auto">
          <a:xfrm>
            <a:off x="6340252" y="3839930"/>
            <a:ext cx="1803648" cy="1803648"/>
          </a:xfrm>
          <a:prstGeom prst="rect">
            <a:avLst/>
          </a:prstGeom>
          <a:noFill/>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Consider advantages and disadvantages of systems in making recommendation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24" y="1903433"/>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Advantages of the Assembly-serve system:</a:t>
            </a:r>
          </a:p>
          <a:p>
            <a:pPr marL="360000" indent="-360000">
              <a:spcBef>
                <a:spcPts val="600"/>
              </a:spcBef>
              <a:spcAft>
                <a:spcPts val="1200"/>
              </a:spcAft>
            </a:pPr>
            <a:r>
              <a:rPr lang="en-US" sz="2200" dirty="0" smtClean="0">
                <a:latin typeface="Helvetica" pitchFamily="34" charset="0"/>
              </a:rPr>
              <a:t>Low levels of equipment required</a:t>
            </a:r>
          </a:p>
          <a:p>
            <a:pPr marL="360000" indent="-360000">
              <a:spcBef>
                <a:spcPts val="600"/>
              </a:spcBef>
              <a:spcAft>
                <a:spcPts val="1200"/>
              </a:spcAft>
            </a:pPr>
            <a:r>
              <a:rPr lang="en-US" sz="2200" dirty="0" smtClean="0">
                <a:latin typeface="Helvetica" pitchFamily="34" charset="0"/>
              </a:rPr>
              <a:t>Less space required</a:t>
            </a:r>
          </a:p>
          <a:p>
            <a:pPr marL="360000" indent="-360000">
              <a:spcBef>
                <a:spcPts val="600"/>
              </a:spcBef>
              <a:spcAft>
                <a:spcPts val="1200"/>
              </a:spcAft>
            </a:pPr>
            <a:r>
              <a:rPr lang="en-US" sz="2200" dirty="0" smtClean="0">
                <a:latin typeface="Helvetica" pitchFamily="34" charset="0"/>
              </a:rPr>
              <a:t>Reduced labour cost</a:t>
            </a:r>
          </a:p>
          <a:p>
            <a:pPr marL="360000" indent="-360000">
              <a:spcBef>
                <a:spcPts val="600"/>
              </a:spcBef>
              <a:spcAft>
                <a:spcPts val="1200"/>
              </a:spcAft>
            </a:pPr>
            <a:r>
              <a:rPr lang="en-US" sz="2200" dirty="0" smtClean="0">
                <a:latin typeface="Helvetica" pitchFamily="34" charset="0"/>
              </a:rPr>
              <a:t>Flexible, ’anytime’ service is possible</a:t>
            </a:r>
          </a:p>
          <a:p>
            <a:pPr marL="360000" indent="-360000">
              <a:spcBef>
                <a:spcPts val="600"/>
              </a:spcBef>
              <a:spcAft>
                <a:spcPts val="1200"/>
              </a:spcAft>
            </a:pPr>
            <a:r>
              <a:rPr lang="en-US" sz="2200" dirty="0" smtClean="0">
                <a:latin typeface="Helvetica" pitchFamily="34" charset="0"/>
              </a:rPr>
              <a:t>Quick service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66562" name="Picture 2" descr="C:\Documents and Settings\Godaishu\Local Settings\Temporary Internet Files\Content.IE5\YISE4YB4\MC900437791[1].wmf"/>
          <p:cNvPicPr>
            <a:picLocks noChangeAspect="1" noChangeArrowheads="1"/>
          </p:cNvPicPr>
          <p:nvPr/>
        </p:nvPicPr>
        <p:blipFill>
          <a:blip r:embed="rId3" cstate="print"/>
          <a:srcRect/>
          <a:stretch>
            <a:fillRect/>
          </a:stretch>
        </p:blipFill>
        <p:spPr bwMode="auto">
          <a:xfrm>
            <a:off x="6424206" y="2374967"/>
            <a:ext cx="1831975" cy="1501775"/>
          </a:xfrm>
          <a:prstGeom prst="rect">
            <a:avLst/>
          </a:prstGeom>
          <a:noFill/>
        </p:spPr>
      </p:pic>
      <p:pic>
        <p:nvPicPr>
          <p:cNvPr id="6" name="Picture 5" descr="C:\Documents and Settings\danielc\Local Settings\Temporary Internet Files\Content.IE5\Y88G682L\MC900410451[1].wmf"/>
          <p:cNvPicPr/>
          <p:nvPr/>
        </p:nvPicPr>
        <p:blipFill>
          <a:blip r:embed="rId4" cstate="print"/>
          <a:srcRect/>
          <a:stretch>
            <a:fillRect/>
          </a:stretch>
        </p:blipFill>
        <p:spPr bwMode="auto">
          <a:xfrm>
            <a:off x="6712238" y="4175167"/>
            <a:ext cx="1645976" cy="189703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Consider advantages and disadvantages of systems in making recommendation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831995"/>
            <a:ext cx="7467600" cy="4525963"/>
          </a:xfrm>
        </p:spPr>
        <p:txBody>
          <a:bodyPr>
            <a:normAutofit/>
          </a:bodyPr>
          <a:lstStyle/>
          <a:p>
            <a:pPr marL="0" indent="0">
              <a:spcBef>
                <a:spcPts val="600"/>
              </a:spcBef>
              <a:spcAft>
                <a:spcPts val="1200"/>
              </a:spcAft>
              <a:buNone/>
            </a:pPr>
            <a:r>
              <a:rPr lang="en-US" sz="2200" dirty="0" smtClean="0">
                <a:latin typeface="Helvetica" pitchFamily="34" charset="0"/>
              </a:rPr>
              <a:t>Disadvantages of the Assembly-serve system:</a:t>
            </a:r>
          </a:p>
          <a:p>
            <a:pPr marL="360000" indent="-360000">
              <a:spcBef>
                <a:spcPts val="600"/>
              </a:spcBef>
              <a:spcAft>
                <a:spcPts val="1200"/>
              </a:spcAft>
            </a:pPr>
            <a:r>
              <a:rPr lang="en-US" sz="2200" dirty="0" smtClean="0">
                <a:latin typeface="Helvetica" pitchFamily="34" charset="0"/>
              </a:rPr>
              <a:t>Very limited choice</a:t>
            </a:r>
          </a:p>
          <a:p>
            <a:pPr marL="360000" indent="-360000">
              <a:spcBef>
                <a:spcPts val="600"/>
              </a:spcBef>
              <a:spcAft>
                <a:spcPts val="1200"/>
              </a:spcAft>
            </a:pPr>
            <a:r>
              <a:rPr lang="en-US" sz="2200" dirty="0" smtClean="0">
                <a:latin typeface="Helvetica" pitchFamily="34" charset="0"/>
              </a:rPr>
              <a:t>Totally reliant on others, suppliers</a:t>
            </a:r>
          </a:p>
          <a:p>
            <a:pPr marL="360000" indent="-360000">
              <a:spcBef>
                <a:spcPts val="600"/>
              </a:spcBef>
              <a:spcAft>
                <a:spcPts val="1200"/>
              </a:spcAft>
            </a:pPr>
            <a:r>
              <a:rPr lang="en-US" sz="2200" dirty="0" smtClean="0">
                <a:latin typeface="Helvetica" pitchFamily="34" charset="0"/>
              </a:rPr>
              <a:t>Relatively high food cost</a:t>
            </a:r>
          </a:p>
          <a:p>
            <a:pPr marL="360000" indent="-360000">
              <a:spcBef>
                <a:spcPts val="600"/>
              </a:spcBef>
              <a:spcAft>
                <a:spcPts val="1200"/>
              </a:spcAft>
            </a:pPr>
            <a:r>
              <a:rPr lang="en-US" sz="2200" dirty="0" smtClean="0">
                <a:latin typeface="Helvetica" pitchFamily="34" charset="0"/>
              </a:rPr>
              <a:t>Unable to respond to ‘special requests’</a:t>
            </a:r>
          </a:p>
          <a:p>
            <a:pPr marL="360000" indent="-360000">
              <a:spcBef>
                <a:spcPts val="600"/>
              </a:spcBef>
              <a:spcAft>
                <a:spcPts val="1200"/>
              </a:spcAft>
            </a:pPr>
            <a:r>
              <a:rPr lang="en-US" sz="2200" dirty="0" smtClean="0">
                <a:latin typeface="Helvetica" pitchFamily="34" charset="0"/>
              </a:rPr>
              <a:t>Quality-related issues and perceptions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67586" name="Picture 2" descr="C:\Documents and Settings\Godaishu\Local Settings\Temporary Internet Files\Content.IE5\7GWYLB5B\MC900311558[1].wmf"/>
          <p:cNvPicPr>
            <a:picLocks noChangeAspect="1" noChangeArrowheads="1"/>
          </p:cNvPicPr>
          <p:nvPr/>
        </p:nvPicPr>
        <p:blipFill>
          <a:blip r:embed="rId3" cstate="print"/>
          <a:srcRect/>
          <a:stretch>
            <a:fillRect/>
          </a:stretch>
        </p:blipFill>
        <p:spPr bwMode="auto">
          <a:xfrm>
            <a:off x="6916958" y="2736914"/>
            <a:ext cx="1369818" cy="1477904"/>
          </a:xfrm>
          <a:prstGeom prst="rect">
            <a:avLst/>
          </a:prstGeom>
          <a:noFill/>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Consider advantages and disadvantages of systems in making recommendation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760557"/>
            <a:ext cx="7776864" cy="4525963"/>
          </a:xfrm>
        </p:spPr>
        <p:txBody>
          <a:bodyPr>
            <a:normAutofit/>
          </a:bodyPr>
          <a:lstStyle/>
          <a:p>
            <a:pPr marL="0" indent="0">
              <a:spcBef>
                <a:spcPts val="600"/>
              </a:spcBef>
              <a:spcAft>
                <a:spcPts val="1200"/>
              </a:spcAft>
              <a:buNone/>
            </a:pPr>
            <a:r>
              <a:rPr lang="en-US" sz="2200" dirty="0" smtClean="0">
                <a:latin typeface="Helvetica" pitchFamily="34" charset="0"/>
              </a:rPr>
              <a:t>Additional topics to address when making recommendation:</a:t>
            </a:r>
          </a:p>
          <a:p>
            <a:pPr marL="360000" indent="-360000">
              <a:spcBef>
                <a:spcPts val="600"/>
              </a:spcBef>
              <a:spcAft>
                <a:spcPts val="1200"/>
              </a:spcAft>
            </a:pPr>
            <a:r>
              <a:rPr lang="en-AU" sz="2200" dirty="0" smtClean="0">
                <a:latin typeface="Helvetica" pitchFamily="34" charset="0"/>
              </a:rPr>
              <a:t>Calculation and comparison of costs of outright purchase against other acquisition options (such as leasing) factoring in all relevant issues</a:t>
            </a:r>
          </a:p>
          <a:p>
            <a:pPr marL="360000" indent="-360000">
              <a:spcBef>
                <a:spcPts val="600"/>
              </a:spcBef>
              <a:spcAft>
                <a:spcPts val="1200"/>
              </a:spcAft>
            </a:pPr>
            <a:r>
              <a:rPr lang="en-AU" sz="2200" dirty="0" smtClean="0">
                <a:latin typeface="Helvetica" pitchFamily="34" charset="0"/>
              </a:rPr>
              <a:t>Consideration of options and strategies for dealing with equipment breakdown, maintenance and service repair needs</a:t>
            </a: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5" name="Picture 4" descr="C:\Documents and Settings\danielc\Local Settings\Temporary Internet Files\Content.IE5\3DV3UKH9\MC900441529[1].wmf"/>
          <p:cNvPicPr/>
          <p:nvPr/>
        </p:nvPicPr>
        <p:blipFill>
          <a:blip r:embed="rId3" cstate="print"/>
          <a:srcRect/>
          <a:stretch>
            <a:fillRect/>
          </a:stretch>
        </p:blipFill>
        <p:spPr bwMode="auto">
          <a:xfrm>
            <a:off x="6228184" y="4635141"/>
            <a:ext cx="1837046" cy="165137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Consider advantages and disadvantages of systems in making recommendation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Comparison of ‘current’ to ‘projected’ positions and statistics</a:t>
            </a:r>
          </a:p>
          <a:p>
            <a:pPr marL="360000" indent="-360000">
              <a:spcBef>
                <a:spcPts val="600"/>
              </a:spcBef>
              <a:spcAft>
                <a:spcPts val="1200"/>
              </a:spcAft>
            </a:pPr>
            <a:r>
              <a:rPr lang="en-US" sz="2200" dirty="0" smtClean="0">
                <a:latin typeface="Helvetica" pitchFamily="34" charset="0"/>
              </a:rPr>
              <a:t>Relevant costs and timing issues</a:t>
            </a:r>
          </a:p>
          <a:p>
            <a:pPr marL="360000" indent="-360000">
              <a:spcBef>
                <a:spcPts val="600"/>
              </a:spcBef>
              <a:spcAft>
                <a:spcPts val="1200"/>
              </a:spcAft>
            </a:pPr>
            <a:r>
              <a:rPr lang="en-US" sz="2200" dirty="0" smtClean="0">
                <a:latin typeface="Helvetica" pitchFamily="34" charset="0"/>
              </a:rPr>
              <a:t>Required organisational changes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pic>
        <p:nvPicPr>
          <p:cNvPr id="69634" name="Picture 2" descr="C:\Documents and Settings\Godaishu\Local Settings\Temporary Internet Files\Content.IE5\AIDHLZ6J\MC900384434[1].wmf"/>
          <p:cNvPicPr>
            <a:picLocks noChangeAspect="1" noChangeArrowheads="1"/>
          </p:cNvPicPr>
          <p:nvPr/>
        </p:nvPicPr>
        <p:blipFill>
          <a:blip r:embed="rId3" cstate="print"/>
          <a:srcRect/>
          <a:stretch>
            <a:fillRect/>
          </a:stretch>
        </p:blipFill>
        <p:spPr bwMode="auto">
          <a:xfrm>
            <a:off x="5652120" y="3068960"/>
            <a:ext cx="2293178" cy="1728192"/>
          </a:xfrm>
          <a:prstGeom prst="rect">
            <a:avLst/>
          </a:prstGeom>
          <a:noFill/>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Consider advantages and disadvantages of systems in making recommendation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03433"/>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Activities to assist making recommendation:</a:t>
            </a:r>
          </a:p>
          <a:p>
            <a:pPr marL="360000" indent="-360000">
              <a:spcBef>
                <a:spcPts val="600"/>
              </a:spcBef>
              <a:spcAft>
                <a:spcPts val="1200"/>
              </a:spcAft>
            </a:pPr>
            <a:r>
              <a:rPr lang="en-US" sz="2200" dirty="0" smtClean="0">
                <a:latin typeface="Helvetica" pitchFamily="34" charset="0"/>
              </a:rPr>
              <a:t>Identify date, time and venue for face-to-face presentation</a:t>
            </a:r>
          </a:p>
          <a:p>
            <a:pPr marL="360000" indent="-360000">
              <a:spcBef>
                <a:spcPts val="600"/>
              </a:spcBef>
              <a:spcAft>
                <a:spcPts val="1200"/>
              </a:spcAft>
            </a:pPr>
            <a:r>
              <a:rPr lang="en-US" sz="2200" dirty="0" smtClean="0">
                <a:latin typeface="Helvetica" pitchFamily="34" charset="0"/>
              </a:rPr>
              <a:t>Invite stakeholders and urge them to attend</a:t>
            </a:r>
          </a:p>
          <a:p>
            <a:pPr marL="360000" indent="-360000">
              <a:spcBef>
                <a:spcPts val="600"/>
              </a:spcBef>
              <a:spcAft>
                <a:spcPts val="1200"/>
              </a:spcAft>
            </a:pPr>
            <a:r>
              <a:rPr lang="en-US" sz="2200" dirty="0" smtClean="0">
                <a:latin typeface="Helvetica" pitchFamily="34" charset="0"/>
              </a:rPr>
              <a:t>Circulate formal, written report in advance</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pic>
        <p:nvPicPr>
          <p:cNvPr id="5" name="Picture 4" descr="I:\Overseas Projects\PHOTOS\2011\Culinary\bw_pm24_046.jpg"/>
          <p:cNvPicPr/>
          <p:nvPr/>
        </p:nvPicPr>
        <p:blipFill>
          <a:blip r:embed="rId3" cstate="print"/>
          <a:srcRect/>
          <a:stretch>
            <a:fillRect/>
          </a:stretch>
        </p:blipFill>
        <p:spPr bwMode="auto">
          <a:xfrm>
            <a:off x="3283371" y="4772642"/>
            <a:ext cx="2577258" cy="172819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Consider advantages and disadvantages of systems in making recommendation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Include a tour of relevant venue or kitchen</a:t>
            </a:r>
          </a:p>
          <a:p>
            <a:pPr marL="360000" indent="-360000">
              <a:spcBef>
                <a:spcPts val="600"/>
              </a:spcBef>
              <a:spcAft>
                <a:spcPts val="1200"/>
              </a:spcAft>
            </a:pPr>
            <a:r>
              <a:rPr lang="en-US" sz="2200" dirty="0" smtClean="0">
                <a:latin typeface="Helvetica" pitchFamily="34" charset="0"/>
              </a:rPr>
              <a:t>Invite managers and operators from relevant venue to speak at the presentation</a:t>
            </a:r>
          </a:p>
          <a:p>
            <a:pPr marL="360000" indent="-360000">
              <a:spcBef>
                <a:spcPts val="600"/>
              </a:spcBef>
              <a:spcAft>
                <a:spcPts val="1200"/>
              </a:spcAft>
            </a:pPr>
            <a:r>
              <a:rPr lang="en-US" sz="2200" dirty="0" smtClean="0">
                <a:latin typeface="Helvetica" pitchFamily="34" charset="0"/>
              </a:rPr>
              <a:t>Ask suppliers of equipment and systems to attend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pic>
        <p:nvPicPr>
          <p:cNvPr id="68610" name="Picture 2" descr="C:\Documents and Settings\Godaishu\Desktop\PHOTOS\2011\Culinary\bw_pm24_036.jpg"/>
          <p:cNvPicPr>
            <a:picLocks noChangeAspect="1" noChangeArrowheads="1"/>
          </p:cNvPicPr>
          <p:nvPr/>
        </p:nvPicPr>
        <p:blipFill>
          <a:blip r:embed="rId3" cstate="print"/>
          <a:srcRect/>
          <a:stretch>
            <a:fillRect/>
          </a:stretch>
        </p:blipFill>
        <p:spPr bwMode="auto">
          <a:xfrm>
            <a:off x="3347864" y="4504816"/>
            <a:ext cx="2448272" cy="1638828"/>
          </a:xfrm>
          <a:prstGeom prst="rect">
            <a:avLst/>
          </a:prstGeom>
          <a:noFill/>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When recommending a catering system:</a:t>
            </a:r>
          </a:p>
          <a:p>
            <a:pPr marL="360000" indent="-360000">
              <a:spcBef>
                <a:spcPts val="600"/>
              </a:spcBef>
              <a:spcAft>
                <a:spcPts val="1200"/>
              </a:spcAft>
            </a:pPr>
            <a:r>
              <a:rPr lang="en-AU" sz="2200" dirty="0" smtClean="0">
                <a:latin typeface="Helvetica" pitchFamily="34" charset="0"/>
              </a:rPr>
              <a:t>Involve others in the process</a:t>
            </a:r>
          </a:p>
          <a:p>
            <a:pPr marL="360000" indent="-360000">
              <a:spcBef>
                <a:spcPts val="600"/>
              </a:spcBef>
              <a:spcAft>
                <a:spcPts val="1200"/>
              </a:spcAft>
            </a:pPr>
            <a:r>
              <a:rPr lang="en-AU" sz="2200" dirty="0" smtClean="0">
                <a:latin typeface="Helvetica" pitchFamily="34" charset="0"/>
              </a:rPr>
              <a:t>Base recommendations on facts</a:t>
            </a:r>
          </a:p>
          <a:p>
            <a:pPr marL="360000" indent="-360000">
              <a:spcBef>
                <a:spcPts val="600"/>
              </a:spcBef>
              <a:spcAft>
                <a:spcPts val="1200"/>
              </a:spcAft>
            </a:pPr>
            <a:r>
              <a:rPr lang="en-AU" sz="2200" dirty="0" smtClean="0">
                <a:latin typeface="Helvetica" pitchFamily="34" charset="0"/>
              </a:rPr>
              <a:t>Prepare and circulate a formal, written report</a:t>
            </a:r>
          </a:p>
          <a:p>
            <a:pPr marL="360000" indent="-360000">
              <a:spcBef>
                <a:spcPts val="600"/>
              </a:spcBef>
              <a:spcAft>
                <a:spcPts val="1200"/>
              </a:spcAft>
              <a:buNone/>
            </a:pPr>
            <a:r>
              <a:rPr lang="en-US"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112</a:t>
            </a:fld>
            <a:endParaRPr lang="en-US" dirty="0">
              <a:latin typeface="Helvetica" pitchFamily="34" charset="0"/>
            </a:endParaRPr>
          </a:p>
        </p:txBody>
      </p:sp>
      <p:pic>
        <p:nvPicPr>
          <p:cNvPr id="4098" name="Picture 2" descr="C:\Documents and Settings\Godaishu\Local Settings\Temporary Internet Files\Content.IE5\AIDHLZ6J\MC900442036[1].wmf"/>
          <p:cNvPicPr>
            <a:picLocks noChangeAspect="1" noChangeArrowheads="1"/>
          </p:cNvPicPr>
          <p:nvPr/>
        </p:nvPicPr>
        <p:blipFill>
          <a:blip r:embed="rId3" cstate="print"/>
          <a:srcRect/>
          <a:stretch>
            <a:fillRect/>
          </a:stretch>
        </p:blipFill>
        <p:spPr bwMode="auto">
          <a:xfrm>
            <a:off x="6084168" y="1412776"/>
            <a:ext cx="1857375" cy="1838325"/>
          </a:xfrm>
          <a:prstGeom prst="rect">
            <a:avLst/>
          </a:prstGeom>
          <a:noFill/>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Organise a meeting to support the written report and to present and explain recommendations</a:t>
            </a:r>
          </a:p>
          <a:p>
            <a:pPr marL="360000" indent="-360000">
              <a:spcBef>
                <a:spcPts val="600"/>
              </a:spcBef>
              <a:spcAft>
                <a:spcPts val="1200"/>
              </a:spcAft>
            </a:pPr>
            <a:r>
              <a:rPr lang="en-AU" sz="2200" dirty="0" smtClean="0">
                <a:latin typeface="Helvetica" pitchFamily="34" charset="0"/>
              </a:rPr>
              <a:t>List relevant and relative advantages and disadvantages of catering systems which have been considered</a:t>
            </a:r>
          </a:p>
          <a:p>
            <a:pPr marL="360000" indent="-360000">
              <a:spcBef>
                <a:spcPts val="600"/>
              </a:spcBef>
              <a:spcAft>
                <a:spcPts val="1200"/>
              </a:spcAft>
            </a:pPr>
            <a:r>
              <a:rPr lang="en-AU" sz="2200" dirty="0" smtClean="0">
                <a:latin typeface="Helvetica" pitchFamily="34" charset="0"/>
              </a:rPr>
              <a:t>Compare different catering systems against each other as well as identified catering requirements and organisational constraints</a:t>
            </a:r>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113</a:t>
            </a:fld>
            <a:endParaRPr lang="en-US" dirty="0">
              <a:latin typeface="Helvetica" pitchFamily="34" charset="0"/>
            </a:endParaRPr>
          </a:p>
        </p:txBody>
      </p:sp>
      <p:pic>
        <p:nvPicPr>
          <p:cNvPr id="5" name="Picture 2" descr="C:\Documents and Settings\Godaishu\Local Settings\Temporary Internet Files\Content.IE5\AIDHLZ6J\MC900442036[1].wmf"/>
          <p:cNvPicPr>
            <a:picLocks noChangeAspect="1" noChangeArrowheads="1"/>
          </p:cNvPicPr>
          <p:nvPr/>
        </p:nvPicPr>
        <p:blipFill>
          <a:blip r:embed="rId3" cstate="print"/>
          <a:srcRect/>
          <a:stretch>
            <a:fillRect/>
          </a:stretch>
        </p:blipFill>
        <p:spPr bwMode="auto">
          <a:xfrm>
            <a:off x="6876256" y="4437112"/>
            <a:ext cx="1857375" cy="1838325"/>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ASEAN PPT Template 010611 MV">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ASEAN PPT Template 010611 MV</Template>
  <TotalTime>1285</TotalTime>
  <Words>17133</Words>
  <Application>Microsoft Office PowerPoint</Application>
  <PresentationFormat>On-screen Show (4:3)</PresentationFormat>
  <Paragraphs>1972</Paragraphs>
  <Slides>113</Slides>
  <Notes>113</Notes>
  <HiddenSlides>0</HiddenSlides>
  <MMClips>0</MMClips>
  <ScaleCrop>false</ScaleCrop>
  <HeadingPairs>
    <vt:vector size="4" baseType="variant">
      <vt:variant>
        <vt:lpstr>Theme</vt:lpstr>
      </vt:variant>
      <vt:variant>
        <vt:i4>1</vt:i4>
      </vt:variant>
      <vt:variant>
        <vt:lpstr>Slide Titles</vt:lpstr>
      </vt:variant>
      <vt:variant>
        <vt:i4>113</vt:i4>
      </vt:variant>
    </vt:vector>
  </HeadingPairs>
  <TitlesOfParts>
    <vt:vector size="114" baseType="lpstr">
      <vt:lpstr>ASEAN PPT Template 010611 MV</vt:lpstr>
      <vt:lpstr>SELECT CATERING SYSTEMS</vt:lpstr>
      <vt:lpstr>Select catering systems</vt:lpstr>
      <vt:lpstr>Assessment</vt:lpstr>
      <vt:lpstr>Establish enterprise requirements for a catering system </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Research catering requirements the enterprise requires</vt:lpstr>
      <vt:lpstr>Identify the enterprise constraints in selecting a system</vt:lpstr>
      <vt:lpstr>Identify the enterprise constraints in selecting a system</vt:lpstr>
      <vt:lpstr>Identify the enterprise constraints in selecting a system</vt:lpstr>
      <vt:lpstr>Identify the enterprise constraints in selecting a system</vt:lpstr>
      <vt:lpstr>Identify the enterprise constraints in selecting a system</vt:lpstr>
      <vt:lpstr>Identify the enterprise constraints in selecting a system</vt:lpstr>
      <vt:lpstr>Identify the enterprise constraints in selecting a system</vt:lpstr>
      <vt:lpstr>Identify the enterprise constraints in selecting a system</vt:lpstr>
      <vt:lpstr>Identify the enterprise constraints in selecting a system</vt:lpstr>
      <vt:lpstr>Identify the enterprise constraints in selecting a system</vt:lpstr>
      <vt:lpstr>Identify the enterprise constraints in selecting a system</vt:lpstr>
      <vt:lpstr>Summary – Element 1</vt:lpstr>
      <vt:lpstr>Summary – Element 1</vt:lpstr>
      <vt:lpstr>Summary – Element 1</vt:lpstr>
      <vt:lpstr>Summary – Element 1</vt:lpstr>
      <vt:lpstr>Summary – Element 1</vt:lpstr>
      <vt:lpstr>Summary – Element 1</vt:lpstr>
      <vt:lpstr>Evaluate catering systems</vt:lpstr>
      <vt:lpstr>Identify a range of alternative catering systems</vt:lpstr>
      <vt:lpstr>Identify a range of alternative catering systems</vt:lpstr>
      <vt:lpstr>Identify a range of alternative catering systems</vt:lpstr>
      <vt:lpstr>Identify a range of alternative catering systems</vt:lpstr>
      <vt:lpstr>Identify a range of alternative catering systems</vt:lpstr>
      <vt:lpstr>Identify a range of alternative catering systems</vt:lpstr>
      <vt:lpstr>Identify a range of alternative catering systems</vt:lpstr>
      <vt:lpstr>Identify a range of alternative catering systems</vt:lpstr>
      <vt:lpstr>Identify a range of alternative catering systems</vt:lpstr>
      <vt:lpstr>Identify a range of alternative catering systems</vt:lpstr>
      <vt:lpstr>Identify a range of alternative catering systems</vt:lpstr>
      <vt:lpstr>Identify a range of alternative catering systems</vt:lpstr>
      <vt:lpstr>Identify a range of alternative catering systems</vt:lpstr>
      <vt:lpstr>Identify a range of alternative catering systems</vt:lpstr>
      <vt:lpstr>Identify a range of alternative catering systems</vt:lpstr>
      <vt:lpstr>Identify a range of alternative catering systems</vt:lpstr>
      <vt:lpstr>Identify a range of alternative catering systems</vt:lpstr>
      <vt:lpstr>Identify a range of alternative catering systems</vt:lpstr>
      <vt:lpstr>Identify a range of alternative catering systems</vt:lpstr>
      <vt:lpstr>Identify a range of alternative catering systems</vt:lpstr>
      <vt:lpstr>Evaluate agreed enterprise requirements against systems</vt:lpstr>
      <vt:lpstr>Evaluate agreed enterprise requirements against systems</vt:lpstr>
      <vt:lpstr>Evaluate agreed enterprise requirements against systems</vt:lpstr>
      <vt:lpstr>Evaluate agreed enterprise requirements against systems</vt:lpstr>
      <vt:lpstr>Evaluate agreed enterprise requirements against systems</vt:lpstr>
      <vt:lpstr>Evaluate agreed enterprise requirements against systems</vt:lpstr>
      <vt:lpstr>Evaluate agreed enterprise requirements against systems</vt:lpstr>
      <vt:lpstr>Evaluate agreed enterprise requirements against systems</vt:lpstr>
      <vt:lpstr>Evaluate agreed enterprise requirements against systems</vt:lpstr>
      <vt:lpstr>Evaluate agreed enterprise requirements against systems</vt:lpstr>
      <vt:lpstr>Evaluate agreed enterprise requirements against systems</vt:lpstr>
      <vt:lpstr>Summary – Element 2</vt:lpstr>
      <vt:lpstr>Summary – Element 2</vt:lpstr>
      <vt:lpstr>Summary – Element 2</vt:lpstr>
      <vt:lpstr>Summary – Element 2</vt:lpstr>
      <vt:lpstr>Recommend a catering system</vt:lpstr>
      <vt:lpstr>Consider advantages and disadvantages of systems in making recommendation</vt:lpstr>
      <vt:lpstr>Consider advantages and disadvantages of systems in making recommendation</vt:lpstr>
      <vt:lpstr>Consider advantages and disadvantages of systems in making recommendation</vt:lpstr>
      <vt:lpstr>Consider advantages and disadvantages of systems in making recommendation</vt:lpstr>
      <vt:lpstr>Consider advantages and disadvantages of systems in making recommendation</vt:lpstr>
      <vt:lpstr>Consider advantages and disadvantages of systems in making recommendation</vt:lpstr>
      <vt:lpstr>Consider advantages and disadvantages of systems in making recommendation</vt:lpstr>
      <vt:lpstr>Consider advantages and disadvantages of systems in making recommendation</vt:lpstr>
      <vt:lpstr>Consider advantages and disadvantages of systems in making recommendation</vt:lpstr>
      <vt:lpstr>Consider advantages and disadvantages of systems in making recommendation</vt:lpstr>
      <vt:lpstr>Consider advantages and disadvantages of systems in making recommendation</vt:lpstr>
      <vt:lpstr>Consider advantages and disadvantages of systems in making recommendation</vt:lpstr>
      <vt:lpstr>Consider advantages and disadvantages of systems in making recommendation</vt:lpstr>
      <vt:lpstr>Consider advantages and disadvantages of systems in making recommendation</vt:lpstr>
      <vt:lpstr>Consider advantages and disadvantages of systems in making recommendation</vt:lpstr>
      <vt:lpstr>Consider advantages and disadvantages of systems in making recommendation</vt:lpstr>
      <vt:lpstr>Consider advantages and disadvantages of systems in making recommendation</vt:lpstr>
      <vt:lpstr>Consider advantages and disadvantages of systems in making recommendation</vt:lpstr>
      <vt:lpstr>Summary – Element 3</vt:lpstr>
      <vt:lpstr>Summary – Element 3</vt:lpstr>
    </vt:vector>
  </TitlesOfParts>
  <Company>William Angliss Institute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SELECT CATERING SYSTEMS</dc:title>
  <dc:creator>Administrator</dc:creator>
  <cp:lastModifiedBy>Mai Vu</cp:lastModifiedBy>
  <cp:revision>148</cp:revision>
  <dcterms:created xsi:type="dcterms:W3CDTF">2012-04-04T02:32:13Z</dcterms:created>
  <dcterms:modified xsi:type="dcterms:W3CDTF">2014-02-03T01:51:41Z</dcterms:modified>
</cp:coreProperties>
</file>