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5"/>
  </p:notesMasterIdLst>
  <p:handoutMasterIdLst>
    <p:handoutMasterId r:id="rId66"/>
  </p:handoutMasterIdLst>
  <p:sldIdLst>
    <p:sldId id="256" r:id="rId2"/>
    <p:sldId id="257" r:id="rId3"/>
    <p:sldId id="258" r:id="rId4"/>
    <p:sldId id="259" r:id="rId5"/>
    <p:sldId id="260" r:id="rId6"/>
    <p:sldId id="261" r:id="rId7"/>
    <p:sldId id="262" r:id="rId8"/>
    <p:sldId id="263" r:id="rId9"/>
    <p:sldId id="271" r:id="rId10"/>
    <p:sldId id="270" r:id="rId11"/>
    <p:sldId id="269" r:id="rId12"/>
    <p:sldId id="268" r:id="rId13"/>
    <p:sldId id="267" r:id="rId14"/>
    <p:sldId id="266" r:id="rId15"/>
    <p:sldId id="265" r:id="rId16"/>
    <p:sldId id="264" r:id="rId17"/>
    <p:sldId id="272" r:id="rId18"/>
    <p:sldId id="274" r:id="rId19"/>
    <p:sldId id="276" r:id="rId20"/>
    <p:sldId id="273" r:id="rId21"/>
    <p:sldId id="275" r:id="rId22"/>
    <p:sldId id="277" r:id="rId23"/>
    <p:sldId id="278" r:id="rId24"/>
    <p:sldId id="279" r:id="rId25"/>
    <p:sldId id="280" r:id="rId26"/>
    <p:sldId id="281" r:id="rId27"/>
    <p:sldId id="282" r:id="rId28"/>
    <p:sldId id="283" r:id="rId29"/>
    <p:sldId id="286" r:id="rId30"/>
    <p:sldId id="284" r:id="rId31"/>
    <p:sldId id="292" r:id="rId32"/>
    <p:sldId id="291" r:id="rId33"/>
    <p:sldId id="290" r:id="rId34"/>
    <p:sldId id="289" r:id="rId35"/>
    <p:sldId id="295" r:id="rId36"/>
    <p:sldId id="294" r:id="rId37"/>
    <p:sldId id="296" r:id="rId38"/>
    <p:sldId id="297" r:id="rId39"/>
    <p:sldId id="298" r:id="rId40"/>
    <p:sldId id="299" r:id="rId41"/>
    <p:sldId id="301" r:id="rId42"/>
    <p:sldId id="300" r:id="rId43"/>
    <p:sldId id="302" r:id="rId44"/>
    <p:sldId id="304" r:id="rId45"/>
    <p:sldId id="303" r:id="rId46"/>
    <p:sldId id="308" r:id="rId47"/>
    <p:sldId id="307" r:id="rId48"/>
    <p:sldId id="306"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329" autoAdjust="0"/>
    <p:restoredTop sz="70971" autoAdjust="0"/>
  </p:normalViewPr>
  <p:slideViewPr>
    <p:cSldViewPr>
      <p:cViewPr varScale="1">
        <p:scale>
          <a:sx n="65" d="100"/>
          <a:sy n="65" d="100"/>
        </p:scale>
        <p:origin x="216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3/12/2015</a:t>
            </a:fld>
            <a:endParaRPr lang="en-GB">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a:latin typeface="Helvetica" pitchFamily="34" charset="0"/>
            </a:endParaRPr>
          </a:p>
        </p:txBody>
      </p:sp>
    </p:spTree>
    <p:extLst>
      <p:ext uri="{BB962C8B-B14F-4D97-AF65-F5344CB8AC3E}">
        <p14:creationId xmlns:p14="http://schemas.microsoft.com/office/powerpoint/2010/main" val="1375824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3/12/2015</a:t>
            </a:fld>
            <a:endParaRPr lang="en-US"/>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a:p>
        </p:txBody>
      </p:sp>
    </p:spTree>
    <p:extLst>
      <p:ext uri="{BB962C8B-B14F-4D97-AF65-F5344CB8AC3E}">
        <p14:creationId xmlns:p14="http://schemas.microsoft.com/office/powerpoint/2010/main" val="1455475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welcomes students to class.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5846449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this Unit comprises two Elements, as listed on the slide explaining:</a:t>
            </a:r>
          </a:p>
          <a:p>
            <a:pPr>
              <a:buFont typeface="Arial" pitchFamily="34" charset="0"/>
              <a:buChar char="•"/>
            </a:pPr>
            <a:r>
              <a:rPr lang="en-US" dirty="0" smtClean="0"/>
              <a:t> Each Element comprises a number of Performance Criteria which will be identified throughout the class and explained in detail</a:t>
            </a:r>
          </a:p>
          <a:p>
            <a:pPr>
              <a:buFont typeface="Arial" pitchFamily="34" charset="0"/>
              <a:buChar char="•"/>
            </a:pPr>
            <a:r>
              <a:rPr lang="en-US" dirty="0" smtClean="0"/>
              <a:t> Students can obtain more detail from their Trainee Manual</a:t>
            </a:r>
          </a:p>
          <a:p>
            <a:pPr>
              <a:buFont typeface="Arial" pitchFamily="34" charset="0"/>
              <a:buChar char="•"/>
            </a:pPr>
            <a:r>
              <a:rPr lang="en-US" dirty="0" smtClean="0"/>
              <a:t> The course presents advice and information but where their workplace requirements differ to what is presented, the workplace practices and standards must be observed.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5781248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advises students that assessment for this Unit may take several forms all of which are aimed at verifying they have achieved competency for the Unit as required.</a:t>
            </a:r>
          </a:p>
          <a:p>
            <a:endParaRPr lang="en-US" baseline="0" dirty="0" smtClean="0"/>
          </a:p>
          <a:p>
            <a:r>
              <a:rPr lang="en-US" baseline="0" dirty="0" smtClean="0"/>
              <a:t>Trainer indicates to students the methods of assessment that will be applied to them for this Unit.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1818826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a:t>
            </a:r>
            <a:r>
              <a:rPr lang="en-US" baseline="0" dirty="0" smtClean="0"/>
              <a:t> for students the Performance Criteria for this Element, as listed on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156273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identify</a:t>
            </a:r>
            <a:r>
              <a:rPr lang="en-US" baseline="0" dirty="0" smtClean="0"/>
              <a:t> the Performance Criteria for this Element, as listed on the slide.</a:t>
            </a:r>
          </a:p>
          <a:p>
            <a:endParaRPr lang="en-US" baseline="0" dirty="0" smtClean="0"/>
          </a:p>
          <a:p>
            <a:r>
              <a:rPr lang="en-US" b="1" dirty="0" smtClean="0"/>
              <a:t>Class Activity – General discussion</a:t>
            </a:r>
          </a:p>
          <a:p>
            <a:r>
              <a:rPr lang="en-US" dirty="0" smtClean="0"/>
              <a:t>Trainer leads a general class discussion on responding to incoming calls in the workplace asking questions such as:</a:t>
            </a:r>
          </a:p>
          <a:p>
            <a:pPr>
              <a:buFont typeface="Arial" pitchFamily="34" charset="0"/>
              <a:buChar char="•"/>
            </a:pPr>
            <a:r>
              <a:rPr lang="en-US" dirty="0" smtClean="0"/>
              <a:t> What experience have you had of taking incoming telephone calls at work?</a:t>
            </a:r>
          </a:p>
          <a:p>
            <a:pPr>
              <a:buFont typeface="Arial" pitchFamily="34" charset="0"/>
              <a:buChar char="•"/>
            </a:pPr>
            <a:r>
              <a:rPr lang="en-US" b="0" baseline="0" dirty="0" smtClean="0"/>
              <a:t> What sort of telephone system/s have you used?</a:t>
            </a:r>
          </a:p>
          <a:p>
            <a:pPr>
              <a:buFont typeface="Arial" pitchFamily="34" charset="0"/>
              <a:buChar char="•"/>
            </a:pPr>
            <a:r>
              <a:rPr lang="en-US" b="0" baseline="0" dirty="0" smtClean="0"/>
              <a:t> What workplace requirements are you aware of in relation to the use of the telephone?</a:t>
            </a:r>
          </a:p>
          <a:p>
            <a:pPr>
              <a:buFont typeface="Arial" pitchFamily="34" charset="0"/>
              <a:buChar char="•"/>
            </a:pPr>
            <a:r>
              <a:rPr lang="en-US" b="0" baseline="0" dirty="0" smtClean="0"/>
              <a:t> How should you answer an incoming call? What should you say?</a:t>
            </a:r>
          </a:p>
          <a:p>
            <a:pPr>
              <a:buFont typeface="Arial" pitchFamily="34" charset="0"/>
              <a:buChar char="•"/>
            </a:pPr>
            <a:r>
              <a:rPr lang="en-US" b="0" baseline="0" dirty="0" smtClean="0"/>
              <a:t> How important is the telephone for a business?</a:t>
            </a:r>
          </a:p>
          <a:p>
            <a:pPr>
              <a:buFont typeface="Arial" pitchFamily="34" charset="0"/>
              <a:buChar char="•"/>
            </a:pPr>
            <a:r>
              <a:rPr lang="en-US" b="0" baseline="0" dirty="0" smtClean="0"/>
              <a:t> What good or bad experiences have you experienced when someone at a business has answered a call you have made to them?</a:t>
            </a:r>
          </a:p>
          <a:p>
            <a:pPr>
              <a:buFont typeface="Arial" pitchFamily="34" charset="0"/>
              <a:buChar char="•"/>
            </a:pPr>
            <a:endParaRPr lang="en-US" b="0" baseline="0" dirty="0" smtClean="0"/>
          </a:p>
          <a:p>
            <a:pPr>
              <a:buFont typeface="Arial" pitchFamily="34" charset="0"/>
              <a:buChar char="•"/>
            </a:pPr>
            <a:endParaRPr lang="en-US" b="0" baseline="0" dirty="0" smtClean="0"/>
          </a:p>
          <a:p>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14946181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47593">
              <a:defRPr/>
            </a:pPr>
            <a:r>
              <a:rPr lang="en-AU" dirty="0" smtClean="0"/>
              <a:t>Trainer states to students that nearly everyone thinks they can use a telephone </a:t>
            </a:r>
            <a:r>
              <a:rPr lang="en-AU" i="1" dirty="0" smtClean="0"/>
              <a:t>competently </a:t>
            </a:r>
            <a:r>
              <a:rPr lang="en-AU" dirty="0" smtClean="0"/>
              <a:t>because they all use one on a regular basis in their everyday, private lives highlighting that using a telephone in a </a:t>
            </a:r>
            <a:r>
              <a:rPr lang="en-AU" b="1" dirty="0" smtClean="0"/>
              <a:t>workplace </a:t>
            </a:r>
            <a:r>
              <a:rPr lang="en-AU" dirty="0" smtClean="0"/>
              <a:t>situation is completely different to using the telephone at home or using a cell phone.</a:t>
            </a:r>
          </a:p>
          <a:p>
            <a:endParaRPr lang="en-US" dirty="0" smtClean="0"/>
          </a:p>
          <a:p>
            <a:r>
              <a:rPr lang="en-US" dirty="0" smtClean="0"/>
              <a:t>Trainer explains to students that the telephone is vital to the operation of any business and is used by customers to contact the business for a variety of reasons such as to:</a:t>
            </a:r>
          </a:p>
          <a:p>
            <a:pPr lvl="0">
              <a:buFont typeface="Arial" pitchFamily="34" charset="0"/>
              <a:buChar char="•"/>
            </a:pPr>
            <a:r>
              <a:rPr lang="en-AU" dirty="0" smtClean="0"/>
              <a:t> Make reservations for rooms, tours, travel and dining</a:t>
            </a:r>
          </a:p>
          <a:p>
            <a:pPr lvl="0">
              <a:buFont typeface="Arial" pitchFamily="34" charset="0"/>
              <a:buChar char="•"/>
            </a:pPr>
            <a:r>
              <a:rPr lang="en-AU" dirty="0" smtClean="0"/>
              <a:t> Check, query, modify or cancel arrangements already made in relation to bookings, meetings, quotations etc</a:t>
            </a:r>
          </a:p>
          <a:p>
            <a:pPr lvl="0">
              <a:buFont typeface="Arial" pitchFamily="34" charset="0"/>
              <a:buChar char="•"/>
            </a:pPr>
            <a:r>
              <a:rPr lang="en-AU" dirty="0" smtClean="0"/>
              <a:t> Make enquiries about functions and other services, products, facilities etc. the business offers</a:t>
            </a:r>
          </a:p>
          <a:p>
            <a:pPr lvl="0">
              <a:buFont typeface="Arial" pitchFamily="34" charset="0"/>
              <a:buChar char="•"/>
            </a:pPr>
            <a:r>
              <a:rPr lang="en-AU" dirty="0" smtClean="0"/>
              <a:t> Seek information about prices and products including special deals, promotional packages, limited time offers</a:t>
            </a:r>
          </a:p>
          <a:p>
            <a:pPr>
              <a:buFont typeface="Arial" pitchFamily="34" charset="0"/>
              <a:buChar char="•"/>
            </a:pPr>
            <a:r>
              <a:rPr lang="en-AU" dirty="0" smtClean="0"/>
              <a:t> Lodge compliments and complaints regarding products and/or service they have received.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495335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the potential negative consequences of not answering the workplace phone</a:t>
            </a:r>
            <a:r>
              <a:rPr lang="en-US" baseline="0" dirty="0" smtClean="0"/>
              <a:t> promptly or correctly highlighting this may result in:</a:t>
            </a:r>
          </a:p>
          <a:p>
            <a:pPr>
              <a:buFont typeface="Arial" pitchFamily="34" charset="0"/>
              <a:buChar char="•"/>
            </a:pPr>
            <a:r>
              <a:rPr lang="en-US" baseline="0" dirty="0" smtClean="0"/>
              <a:t> Customers taking their business elsewhere meaning loss of revenue for the business, and loss of jobs for staff</a:t>
            </a:r>
          </a:p>
          <a:p>
            <a:pPr>
              <a:buFont typeface="Arial" pitchFamily="34" charset="0"/>
              <a:buChar char="•"/>
            </a:pPr>
            <a:r>
              <a:rPr lang="en-US" baseline="0" dirty="0" smtClean="0"/>
              <a:t> Poor customer relations meaning customers may be annoyed with the </a:t>
            </a:r>
            <a:r>
              <a:rPr lang="en-AU" baseline="0" noProof="0" dirty="0" smtClean="0"/>
              <a:t>organisation</a:t>
            </a:r>
            <a:r>
              <a:rPr lang="en-US" baseline="0" dirty="0" smtClean="0"/>
              <a:t> and be more difficult to deal with or sell to</a:t>
            </a:r>
          </a:p>
          <a:p>
            <a:pPr>
              <a:buFont typeface="Arial" pitchFamily="34" charset="0"/>
              <a:buChar char="•"/>
            </a:pPr>
            <a:r>
              <a:rPr lang="en-US" baseline="0" dirty="0" smtClean="0"/>
              <a:t> Reduced company image – the image of the business will be adversely impacted by poor telephone techniques.</a:t>
            </a:r>
          </a:p>
          <a:p>
            <a:pPr>
              <a:buFont typeface="Arial" pitchFamily="34" charset="0"/>
              <a:buNone/>
            </a:pPr>
            <a:endParaRPr lang="en-US"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703947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students that the telephone is also important for the business because it is used by staff to undertake numerous</a:t>
            </a:r>
            <a:r>
              <a:rPr lang="en-US" baseline="0" dirty="0" smtClean="0"/>
              <a:t> activities on behalf of both the business and its customers highlighting these activities may include:</a:t>
            </a:r>
          </a:p>
          <a:p>
            <a:pPr lvl="0">
              <a:buFont typeface="Arial" pitchFamily="34" charset="0"/>
              <a:buChar char="•"/>
            </a:pPr>
            <a:r>
              <a:rPr lang="en-AU" dirty="0" smtClean="0"/>
              <a:t> Communicate with other staff or departments to pass on information, to advise of changed circumstances or arrangements</a:t>
            </a:r>
            <a:r>
              <a:rPr lang="en-AU" baseline="0" dirty="0" smtClean="0"/>
              <a:t> and </a:t>
            </a:r>
            <a:r>
              <a:rPr lang="en-AU" dirty="0" smtClean="0"/>
              <a:t> to find out information to use in their work</a:t>
            </a:r>
          </a:p>
          <a:p>
            <a:pPr lvl="0">
              <a:buFont typeface="Arial" pitchFamily="34" charset="0"/>
              <a:buChar char="•"/>
            </a:pPr>
            <a:r>
              <a:rPr lang="en-AU" dirty="0" smtClean="0"/>
              <a:t> Seek clarification about work directions,</a:t>
            </a:r>
            <a:r>
              <a:rPr lang="en-AU" baseline="0" dirty="0" smtClean="0"/>
              <a:t> </a:t>
            </a:r>
            <a:r>
              <a:rPr lang="en-AU" dirty="0" smtClean="0"/>
              <a:t>such as identifying work priorities</a:t>
            </a:r>
            <a:r>
              <a:rPr lang="en-AU" baseline="0" dirty="0" smtClean="0"/>
              <a:t>, </a:t>
            </a:r>
            <a:r>
              <a:rPr lang="en-AU" dirty="0" smtClean="0"/>
              <a:t>obtaining resources to do their work</a:t>
            </a:r>
            <a:r>
              <a:rPr lang="en-AU" baseline="0" dirty="0" smtClean="0"/>
              <a:t> or </a:t>
            </a:r>
            <a:r>
              <a:rPr lang="en-AU" dirty="0" smtClean="0"/>
              <a:t>having unclear instructions explained</a:t>
            </a:r>
          </a:p>
          <a:p>
            <a:pPr lvl="0">
              <a:buFont typeface="Arial" pitchFamily="34" charset="0"/>
              <a:buChar char="•"/>
            </a:pPr>
            <a:r>
              <a:rPr lang="en-AU" dirty="0" smtClean="0"/>
              <a:t> Contact nominated people in the event of an emergency situation,</a:t>
            </a:r>
            <a:r>
              <a:rPr lang="en-AU" baseline="0" dirty="0" smtClean="0"/>
              <a:t> </a:t>
            </a:r>
            <a:r>
              <a:rPr lang="en-AU" dirty="0" smtClean="0"/>
              <a:t>such as when there is a difficult customer, a fire or a medical emergency</a:t>
            </a:r>
          </a:p>
          <a:p>
            <a:pPr lvl="0">
              <a:buFont typeface="Arial" pitchFamily="34" charset="0"/>
              <a:buChar char="•"/>
            </a:pPr>
            <a:r>
              <a:rPr lang="en-AU" dirty="0" smtClean="0"/>
              <a:t> Provide feedback to management and co-workers about service and customers, complaints, issues requiring attention (maintenance of equipment, products or services that customers do not like)  </a:t>
            </a:r>
          </a:p>
          <a:p>
            <a:pPr lvl="0">
              <a:buFont typeface="Arial" pitchFamily="34" charset="0"/>
              <a:buChar char="•"/>
            </a:pPr>
            <a:r>
              <a:rPr lang="en-AU" dirty="0" smtClean="0"/>
              <a:t> Obtain help or stock where unexpected levels of demand</a:t>
            </a:r>
            <a:r>
              <a:rPr lang="en-AU" baseline="0" dirty="0" smtClean="0"/>
              <a:t> or </a:t>
            </a:r>
            <a:r>
              <a:rPr lang="en-AU" dirty="0" smtClean="0"/>
              <a:t>trade occur and stock runs out, or extra help in dealing with customers is required.</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5892028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explain to students the ways in which staff can use the workplace telephone:</a:t>
            </a:r>
          </a:p>
          <a:p>
            <a:pPr lvl="0">
              <a:buFont typeface="Arial" pitchFamily="34" charset="0"/>
              <a:buChar char="•"/>
            </a:pPr>
            <a:r>
              <a:rPr lang="en-AU" dirty="0" smtClean="0"/>
              <a:t> Order stock from suppliers.</a:t>
            </a:r>
            <a:r>
              <a:rPr lang="en-AU" baseline="0" dirty="0" smtClean="0"/>
              <a:t> T</a:t>
            </a:r>
            <a:r>
              <a:rPr lang="en-AU" dirty="0" smtClean="0"/>
              <a:t>hese are the resources and requirements a business needs to supply its customers</a:t>
            </a:r>
          </a:p>
          <a:p>
            <a:pPr lvl="0">
              <a:buFont typeface="Arial" pitchFamily="34" charset="0"/>
              <a:buChar char="•"/>
            </a:pPr>
            <a:r>
              <a:rPr lang="en-AU" dirty="0" smtClean="0"/>
              <a:t> Make bookings with providers to reflect bookings made with them by their customers.</a:t>
            </a:r>
            <a:r>
              <a:rPr lang="en-AU" baseline="0" dirty="0" smtClean="0"/>
              <a:t> W</a:t>
            </a:r>
            <a:r>
              <a:rPr lang="en-AU" dirty="0" smtClean="0"/>
              <a:t>hile many bookings will be processed online there are frequent occasions when it is necessary to ring a provider and discuss a booking to make sure it is processed as required</a:t>
            </a:r>
          </a:p>
          <a:p>
            <a:pPr lvl="0">
              <a:buFont typeface="Arial" pitchFamily="34" charset="0"/>
              <a:buChar char="•"/>
            </a:pPr>
            <a:r>
              <a:rPr lang="en-AU" dirty="0" smtClean="0"/>
              <a:t> Cold call prospects to generate sales</a:t>
            </a:r>
            <a:r>
              <a:rPr lang="en-AU" baseline="0" dirty="0" smtClean="0"/>
              <a:t> or </a:t>
            </a:r>
            <a:r>
              <a:rPr lang="en-AU" dirty="0" smtClean="0"/>
              <a:t>create bookings</a:t>
            </a:r>
          </a:p>
          <a:p>
            <a:pPr lvl="0">
              <a:buFont typeface="Arial" pitchFamily="34" charset="0"/>
              <a:buChar char="•"/>
            </a:pPr>
            <a:r>
              <a:rPr lang="en-AU" dirty="0" smtClean="0"/>
              <a:t> Place service</a:t>
            </a:r>
            <a:r>
              <a:rPr lang="en-AU" baseline="0" dirty="0" smtClean="0"/>
              <a:t> or </a:t>
            </a:r>
            <a:r>
              <a:rPr lang="en-AU" dirty="0" smtClean="0"/>
              <a:t>maintenance calls with support organisations to arrange service, maintenance, repairs to workplace equipment, systems</a:t>
            </a:r>
            <a:r>
              <a:rPr lang="en-AU" baseline="0" dirty="0" smtClean="0"/>
              <a:t> and</a:t>
            </a:r>
            <a:r>
              <a:rPr lang="en-AU" dirty="0" smtClean="0"/>
              <a:t> technology</a:t>
            </a:r>
          </a:p>
          <a:p>
            <a:pPr lvl="0">
              <a:buFont typeface="Arial" pitchFamily="34" charset="0"/>
              <a:buChar char="•"/>
            </a:pPr>
            <a:r>
              <a:rPr lang="en-AU" dirty="0" smtClean="0"/>
              <a:t> Seek advice from government authorities, industry bodies, and a range of business advisors to address needs related to a wide variety of operational needs such as security, legal, accounting and marketing/advertising.</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154224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urges students to remember that </a:t>
            </a:r>
            <a:r>
              <a:rPr lang="en-US" i="1" dirty="0" smtClean="0"/>
              <a:t>every time </a:t>
            </a:r>
            <a:r>
              <a:rPr lang="en-US" dirty="0" smtClean="0"/>
              <a:t>they use the telephone – whether this is to answer</a:t>
            </a:r>
            <a:r>
              <a:rPr lang="en-US" baseline="0" dirty="0" smtClean="0"/>
              <a:t> a call, or make a call – they </a:t>
            </a:r>
            <a:r>
              <a:rPr lang="en-US" i="1" baseline="0" dirty="0" smtClean="0"/>
              <a:t>are </a:t>
            </a:r>
            <a:r>
              <a:rPr lang="en-US" baseline="0" dirty="0" smtClean="0"/>
              <a:t>the business. Big mistakes workplace telephone users make is to:</a:t>
            </a:r>
          </a:p>
          <a:p>
            <a:pPr>
              <a:buFont typeface="Arial" pitchFamily="34" charset="0"/>
              <a:buChar char="•"/>
            </a:pPr>
            <a:r>
              <a:rPr lang="en-US" baseline="0" dirty="0" smtClean="0"/>
              <a:t> Not answer calls promptly – calls should be answered as quickly as possible </a:t>
            </a:r>
          </a:p>
          <a:p>
            <a:pPr>
              <a:buFont typeface="Arial" pitchFamily="34" charset="0"/>
              <a:buChar char="•"/>
            </a:pPr>
            <a:r>
              <a:rPr lang="en-US" baseline="0" dirty="0" smtClean="0"/>
              <a:t> Take the telephone for granted meaning they fail to pay sufficient attention to, and care with, the way they handle and process calls</a:t>
            </a:r>
          </a:p>
          <a:p>
            <a:pPr>
              <a:buFont typeface="Arial" pitchFamily="34" charset="0"/>
              <a:buChar char="•"/>
            </a:pPr>
            <a:r>
              <a:rPr lang="en-US" baseline="0" dirty="0" smtClean="0"/>
              <a:t> Believe their use of the phone comes naturally to them and believe they do not need training in its correct use.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5423959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advises students it is essential they use an appropriate telephone manner when using</a:t>
            </a:r>
            <a:r>
              <a:rPr lang="en-AU" baseline="0" dirty="0" smtClean="0"/>
              <a:t> or </a:t>
            </a:r>
            <a:r>
              <a:rPr lang="en-AU" dirty="0" smtClean="0"/>
              <a:t>answering the telephone, which includes:</a:t>
            </a:r>
          </a:p>
          <a:p>
            <a:pPr lvl="0">
              <a:buFont typeface="Arial" pitchFamily="34" charset="0"/>
              <a:buChar char="•"/>
            </a:pPr>
            <a:r>
              <a:rPr lang="en-AU" dirty="0" smtClean="0"/>
              <a:t> Using polite language at all times regardless of the language being used by the caller [more information presented on later slides]</a:t>
            </a:r>
          </a:p>
          <a:p>
            <a:pPr lvl="0">
              <a:buFont typeface="Arial" pitchFamily="34" charset="0"/>
              <a:buChar char="•"/>
            </a:pPr>
            <a:r>
              <a:rPr lang="en-AU" dirty="0" smtClean="0"/>
              <a:t> Using appropriate welcoming</a:t>
            </a:r>
            <a:r>
              <a:rPr lang="en-AU" baseline="0" dirty="0" smtClean="0"/>
              <a:t> or </a:t>
            </a:r>
            <a:r>
              <a:rPr lang="en-AU" dirty="0" smtClean="0"/>
              <a:t>greeting phrases as set by the employer.</a:t>
            </a:r>
            <a:r>
              <a:rPr lang="en-AU" baseline="0" dirty="0" smtClean="0"/>
              <a:t> T</a:t>
            </a:r>
            <a:r>
              <a:rPr lang="en-AU" dirty="0" smtClean="0"/>
              <a:t>he style of the greeting should reflect the style of business involved [more information presented on later slides]</a:t>
            </a:r>
          </a:p>
          <a:p>
            <a:pPr lvl="0">
              <a:buFont typeface="Arial" pitchFamily="34" charset="0"/>
              <a:buChar char="•"/>
            </a:pPr>
            <a:r>
              <a:rPr lang="en-AU" dirty="0" smtClean="0"/>
              <a:t> Showing enthusiasm (that is, a positive attitude</a:t>
            </a:r>
            <a:r>
              <a:rPr lang="en-AU" baseline="0" dirty="0" smtClean="0"/>
              <a:t> or </a:t>
            </a:r>
            <a:r>
              <a:rPr lang="en-AU" dirty="0" smtClean="0"/>
              <a:t>approach to the call) when taking a call.</a:t>
            </a:r>
            <a:r>
              <a:rPr lang="en-AU" baseline="0" dirty="0" smtClean="0"/>
              <a:t> This is </a:t>
            </a:r>
            <a:r>
              <a:rPr lang="en-AU" dirty="0" smtClean="0"/>
              <a:t>to demonstrate that the business is eager to talk to the caller and to do business with them</a:t>
            </a:r>
          </a:p>
          <a:p>
            <a:pPr lvl="0">
              <a:buFont typeface="Arial" pitchFamily="34" charset="0"/>
              <a:buChar char="•"/>
            </a:pPr>
            <a:r>
              <a:rPr lang="en-AU" dirty="0" smtClean="0"/>
              <a:t> Being friendly.</a:t>
            </a:r>
            <a:r>
              <a:rPr lang="en-AU" baseline="0" dirty="0" smtClean="0"/>
              <a:t> I</a:t>
            </a:r>
            <a:r>
              <a:rPr lang="en-AU" dirty="0" smtClean="0"/>
              <a:t>t is important for all those who take telephone calls to understand the need to be friendly to all callers.</a:t>
            </a:r>
            <a:r>
              <a:rPr lang="en-AU" baseline="0" dirty="0" smtClean="0"/>
              <a:t> T</a:t>
            </a:r>
            <a:r>
              <a:rPr lang="en-AU" dirty="0" smtClean="0"/>
              <a:t>his friendliness while on the telephone has been referred to as the need to ‘put a smile in your voice’ when talking on the telephone.</a:t>
            </a:r>
            <a:r>
              <a:rPr lang="en-AU" baseline="0" dirty="0" smtClean="0"/>
              <a:t> S</a:t>
            </a:r>
            <a:r>
              <a:rPr lang="en-AU" dirty="0" smtClean="0"/>
              <a:t>ome recommend placing a mirror near the telephone</a:t>
            </a:r>
            <a:r>
              <a:rPr lang="en-AU" baseline="0" dirty="0" smtClean="0"/>
              <a:t> or </a:t>
            </a:r>
            <a:r>
              <a:rPr lang="en-AU" dirty="0" smtClean="0"/>
              <a:t>on the desk to remind users to smile while on the phone</a:t>
            </a:r>
          </a:p>
          <a:p>
            <a:pPr lvl="0">
              <a:buFont typeface="Arial" pitchFamily="34" charset="0"/>
              <a:buChar char="•"/>
            </a:pPr>
            <a:r>
              <a:rPr lang="en-AU" dirty="0" smtClean="0"/>
              <a:t> Making an offer of help to the caller.</a:t>
            </a:r>
            <a:r>
              <a:rPr lang="en-AU" baseline="0" dirty="0" smtClean="0"/>
              <a:t> A</a:t>
            </a:r>
            <a:r>
              <a:rPr lang="en-AU" dirty="0" smtClean="0"/>
              <a:t> standard requirement when answering all telephone calls is to either ask the caller a direct question enquiring what assistance the caller wants, or have a positive predisposition towards providing whatever help the caller asks for [more information presented on later slides].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57030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the enterprise standards that apply for answering</a:t>
            </a:r>
            <a:r>
              <a:rPr lang="en-US" baseline="0" dirty="0" smtClean="0"/>
              <a:t> or </a:t>
            </a:r>
            <a:r>
              <a:rPr lang="en-US" dirty="0" smtClean="0"/>
              <a:t>using the telephone in their workplace will be provided to them in one or more ways including:</a:t>
            </a:r>
          </a:p>
          <a:p>
            <a:pPr>
              <a:buFont typeface="Arial" pitchFamily="34" charset="0"/>
              <a:buChar char="•"/>
            </a:pPr>
            <a:r>
              <a:rPr lang="en-US" dirty="0" smtClean="0"/>
              <a:t> On-the-job</a:t>
            </a:r>
            <a:r>
              <a:rPr lang="en-US" baseline="0" dirty="0" smtClean="0"/>
              <a:t> training – a formal course provided by the employer</a:t>
            </a:r>
          </a:p>
          <a:p>
            <a:pPr>
              <a:buFont typeface="Arial" pitchFamily="34" charset="0"/>
              <a:buChar char="•"/>
            </a:pPr>
            <a:r>
              <a:rPr lang="en-US" baseline="0" dirty="0" smtClean="0"/>
              <a:t> Personal observation – listening to what others do or say</a:t>
            </a:r>
          </a:p>
          <a:p>
            <a:pPr>
              <a:buFont typeface="Arial" pitchFamily="34" charset="0"/>
              <a:buChar char="•"/>
            </a:pPr>
            <a:r>
              <a:rPr lang="en-US" baseline="0" dirty="0" smtClean="0"/>
              <a:t> Reading the company policy on ‘Telephone Use/Operation’ (or similar) which will detail the exact requirements for all telephone use within the </a:t>
            </a:r>
            <a:r>
              <a:rPr lang="en-AU" baseline="0" noProof="0" dirty="0" smtClean="0"/>
              <a:t>organisation</a:t>
            </a:r>
          </a:p>
          <a:p>
            <a:pPr>
              <a:buFont typeface="Arial" pitchFamily="34" charset="0"/>
              <a:buChar char="•"/>
            </a:pPr>
            <a:r>
              <a:rPr lang="en-US" baseline="0" dirty="0" smtClean="0"/>
              <a:t> Reading the ‘Employee’s Handbook’ (or similar) which will provide a short-form of enterprise requirements and commonly contains sample phrases (such as greetings to use when answering a call, phrases to use when transferring a call and farewells to use when ending a call).</a:t>
            </a:r>
          </a:p>
          <a:p>
            <a:pPr>
              <a:buFont typeface="Arial" pitchFamily="34" charset="0"/>
              <a:buChar char="•"/>
            </a:pPr>
            <a:endParaRPr lang="en-US" baseline="0" dirty="0" smtClean="0"/>
          </a:p>
          <a:p>
            <a:r>
              <a:rPr lang="en-US" b="1" baseline="0" dirty="0" smtClean="0"/>
              <a:t>Class Activity – Consideration of workplace policies</a:t>
            </a:r>
          </a:p>
          <a:p>
            <a:r>
              <a:rPr lang="en-US" b="0" baseline="0" dirty="0" smtClean="0"/>
              <a:t>Trainer obtains from local businesses a range of policies relating to Telephone Use and Standards and:</a:t>
            </a:r>
          </a:p>
          <a:p>
            <a:pPr>
              <a:buFont typeface="Arial" pitchFamily="34" charset="0"/>
              <a:buChar char="•"/>
            </a:pPr>
            <a:r>
              <a:rPr lang="en-US" b="0" baseline="0" dirty="0" smtClean="0"/>
              <a:t> Shares these with students</a:t>
            </a:r>
          </a:p>
          <a:p>
            <a:pPr>
              <a:buFont typeface="Arial" pitchFamily="34" charset="0"/>
              <a:buChar char="•"/>
            </a:pPr>
            <a:r>
              <a:rPr lang="en-US" b="0" baseline="0" dirty="0" smtClean="0"/>
              <a:t> Discusses them, highlighting specific workplace requirements</a:t>
            </a:r>
          </a:p>
          <a:p>
            <a:pPr>
              <a:buFont typeface="Arial" pitchFamily="34" charset="0"/>
              <a:buChar char="•"/>
            </a:pPr>
            <a:r>
              <a:rPr lang="en-US" b="0" baseline="0" dirty="0" smtClean="0"/>
              <a:t> Identifies reasons behind workplace requirements as stated in the policies</a:t>
            </a:r>
          </a:p>
          <a:p>
            <a:pPr>
              <a:buFont typeface="Arial" pitchFamily="34" charset="0"/>
              <a:buChar char="•"/>
            </a:pPr>
            <a:r>
              <a:rPr lang="en-US" b="0" baseline="0" dirty="0" smtClean="0"/>
              <a:t> Highlights policy requirements that differ from the way individuals us or answer a phone in their personal life.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a:p>
        </p:txBody>
      </p:sp>
    </p:spTree>
    <p:extLst>
      <p:ext uri="{BB962C8B-B14F-4D97-AF65-F5344CB8AC3E}">
        <p14:creationId xmlns:p14="http://schemas.microsoft.com/office/powerpoint/2010/main" val="29715438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a:t>
            </a:r>
            <a:r>
              <a:rPr lang="en-US" baseline="0" dirty="0" smtClean="0"/>
              <a:t> students that ‘enterprise standards’ can vary between businesses but are similar in nature, highlighting they will normally require staff to make </a:t>
            </a:r>
            <a:r>
              <a:rPr lang="en-AU" dirty="0" smtClean="0"/>
              <a:t>a standard statement when answering the phone in which they may, for example, require them to:</a:t>
            </a:r>
            <a:endParaRPr lang="en-AU" sz="1100" dirty="0" smtClean="0"/>
          </a:p>
          <a:p>
            <a:pPr lvl="0">
              <a:buFont typeface="Arial" pitchFamily="34" charset="0"/>
              <a:buChar char="•"/>
            </a:pPr>
            <a:r>
              <a:rPr lang="en-AU" dirty="0" smtClean="0"/>
              <a:t> Greet the caller which may include a welcoming phrase dependent on the time of day: such as “Good morning”, “Good afternoon” or “Good evening”</a:t>
            </a:r>
            <a:endParaRPr lang="en-AU" sz="1100" dirty="0" smtClean="0"/>
          </a:p>
          <a:p>
            <a:pPr lvl="0">
              <a:buFont typeface="Arial" pitchFamily="34" charset="0"/>
              <a:buChar char="•"/>
            </a:pPr>
            <a:r>
              <a:rPr lang="en-AU" dirty="0" smtClean="0"/>
              <a:t> Identify the business by the name advised by management.</a:t>
            </a:r>
            <a:r>
              <a:rPr lang="en-AU" baseline="0" dirty="0" smtClean="0"/>
              <a:t> F</a:t>
            </a:r>
            <a:r>
              <a:rPr lang="en-AU" dirty="0" smtClean="0"/>
              <a:t>or example, the trading name of the business may not be the name management wants staff to use when answering the phone</a:t>
            </a:r>
            <a:endParaRPr lang="en-AU" sz="1100" dirty="0" smtClean="0"/>
          </a:p>
          <a:p>
            <a:pPr lvl="0">
              <a:buFont typeface="Arial" pitchFamily="34" charset="0"/>
              <a:buChar char="•"/>
            </a:pPr>
            <a:r>
              <a:rPr lang="en-AU" dirty="0" smtClean="0"/>
              <a:t> Identify yourself following the nominated preferences of the business: for example, using either first or surname (or both)</a:t>
            </a:r>
            <a:endParaRPr lang="en-AU" sz="1100" dirty="0" smtClean="0"/>
          </a:p>
          <a:p>
            <a:pPr lvl="0">
              <a:buFont typeface="Arial" pitchFamily="34" charset="0"/>
              <a:buChar char="•"/>
            </a:pPr>
            <a:r>
              <a:rPr lang="en-AU" dirty="0" smtClean="0"/>
              <a:t> Make an offer of assistance using a simple statement such as “How can I help you?”, “Where can I direct your call?” [more on later slides].</a:t>
            </a:r>
            <a:endParaRPr lang="en-AU" sz="11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a:p>
        </p:txBody>
      </p:sp>
    </p:spTree>
    <p:extLst>
      <p:ext uri="{BB962C8B-B14F-4D97-AF65-F5344CB8AC3E}">
        <p14:creationId xmlns:p14="http://schemas.microsoft.com/office/powerpoint/2010/main" val="5177106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t>Trainer continues to advise students about the possible requirements of enterprise standards as they relate to using</a:t>
            </a:r>
            <a:r>
              <a:rPr lang="en-US" baseline="0" dirty="0" smtClean="0"/>
              <a:t> or </a:t>
            </a:r>
            <a:r>
              <a:rPr lang="en-US" dirty="0" smtClean="0"/>
              <a:t>answering the workplace telephone:</a:t>
            </a:r>
          </a:p>
          <a:p>
            <a:pPr lvl="0">
              <a:buFont typeface="Arial" pitchFamily="34" charset="0"/>
              <a:buChar char="•"/>
            </a:pPr>
            <a:r>
              <a:rPr lang="en-AU" dirty="0" smtClean="0"/>
              <a:t> Use of the caller’s name.</a:t>
            </a:r>
            <a:r>
              <a:rPr lang="en-AU" baseline="0" dirty="0" smtClean="0"/>
              <a:t> W</a:t>
            </a:r>
            <a:r>
              <a:rPr lang="en-AU" dirty="0" smtClean="0"/>
              <a:t>hen you know the name of the person calling it is standard practice to use that name throughout the duration of the call.</a:t>
            </a:r>
            <a:r>
              <a:rPr lang="en-AU" baseline="0" dirty="0" smtClean="0"/>
              <a:t> I</a:t>
            </a:r>
            <a:r>
              <a:rPr lang="en-AU" dirty="0" smtClean="0"/>
              <a:t>t is often said everyone likes to hear the sound of their own name (so using the caller’s name is a positive thing to do), and it demonstrates to the caller you have taken the trouble to remember who they are.</a:t>
            </a:r>
            <a:r>
              <a:rPr lang="en-AU" baseline="0" dirty="0" smtClean="0"/>
              <a:t> U</a:t>
            </a:r>
            <a:r>
              <a:rPr lang="en-AU" dirty="0" smtClean="0"/>
              <a:t>sing their name personalises the call.</a:t>
            </a:r>
            <a:endParaRPr lang="en-AU" sz="1100" dirty="0" smtClean="0"/>
          </a:p>
          <a:p>
            <a:pPr lvl="0">
              <a:buFont typeface="Arial" pitchFamily="34" charset="0"/>
              <a:buChar char="•"/>
            </a:pPr>
            <a:r>
              <a:rPr lang="en-AU" dirty="0" smtClean="0"/>
              <a:t> Making an offer of assistance.</a:t>
            </a:r>
            <a:r>
              <a:rPr lang="en-AU" baseline="0" dirty="0" smtClean="0"/>
              <a:t> W</a:t>
            </a:r>
            <a:r>
              <a:rPr lang="en-AU" dirty="0" smtClean="0"/>
              <a:t>hen taking a telephone call you must always be alert to the need to (as appropriate):</a:t>
            </a:r>
            <a:endParaRPr lang="en-AU" sz="1100" dirty="0" smtClean="0"/>
          </a:p>
          <a:p>
            <a:pPr lvl="1">
              <a:buFont typeface="Arial" pitchFamily="34" charset="0"/>
              <a:buChar char="•"/>
            </a:pPr>
            <a:r>
              <a:rPr lang="en-AU" dirty="0" smtClean="0"/>
              <a:t> Make an initial offer of help to the caller – as identified on previous slide</a:t>
            </a:r>
            <a:endParaRPr lang="en-AU" sz="1100" dirty="0" smtClean="0"/>
          </a:p>
          <a:p>
            <a:pPr lvl="1">
              <a:buFont typeface="Arial" pitchFamily="34" charset="0"/>
              <a:buChar char="•"/>
            </a:pPr>
            <a:r>
              <a:rPr lang="en-AU" dirty="0" smtClean="0"/>
              <a:t> Be responsive to directing the call in accordance with the initial information provided by the caller:</a:t>
            </a:r>
            <a:endParaRPr lang="en-AU" sz="1100" dirty="0" smtClean="0"/>
          </a:p>
          <a:p>
            <a:pPr lvl="2">
              <a:buFont typeface="Arial" pitchFamily="34" charset="0"/>
              <a:buChar char="•"/>
            </a:pPr>
            <a:r>
              <a:rPr lang="en-AU" dirty="0" smtClean="0"/>
              <a:t> “It sounds as if you need to talk to our Function department, Mr Maguire. I’ll connect you to Mr Thomas, our Banquet Manager”</a:t>
            </a:r>
            <a:endParaRPr lang="en-AU" sz="1100" dirty="0" smtClean="0"/>
          </a:p>
          <a:p>
            <a:pPr lvl="2">
              <a:buFont typeface="Arial" pitchFamily="34" charset="0"/>
              <a:buChar char="•"/>
            </a:pPr>
            <a:r>
              <a:rPr lang="en-AU" dirty="0" smtClean="0"/>
              <a:t> “I think you will need to talk to Peter.</a:t>
            </a:r>
            <a:r>
              <a:rPr lang="en-AU" baseline="0" dirty="0" smtClean="0"/>
              <a:t> H</a:t>
            </a:r>
            <a:r>
              <a:rPr lang="en-AU" dirty="0" smtClean="0"/>
              <a:t>e’s in charge of reservations”</a:t>
            </a:r>
            <a:endParaRPr lang="en-AU" sz="1100" dirty="0" smtClean="0"/>
          </a:p>
          <a:p>
            <a:pPr lvl="1">
              <a:buFont typeface="Arial" pitchFamily="34" charset="0"/>
              <a:buChar char="•"/>
            </a:pPr>
            <a:r>
              <a:rPr lang="en-AU" dirty="0" smtClean="0"/>
              <a:t> Take a message if the person the caller needs to speak with is unavailable [more on later slides]:</a:t>
            </a:r>
            <a:endParaRPr lang="en-AU" sz="1100" dirty="0" smtClean="0"/>
          </a:p>
          <a:p>
            <a:pPr lvl="2">
              <a:buFont typeface="Arial" pitchFamily="34" charset="0"/>
              <a:buChar char="•"/>
            </a:pPr>
            <a:r>
              <a:rPr lang="en-AU" dirty="0" smtClean="0"/>
              <a:t> “I’m sorry Mr Smith, Mr Grey is unavailable at the moment. Can I take a message and get him to ring you back?”</a:t>
            </a:r>
            <a:endParaRPr lang="en-AU" sz="1100" dirty="0" smtClean="0"/>
          </a:p>
          <a:p>
            <a:pPr>
              <a:buFont typeface="Arial" pitchFamily="34" charset="0"/>
              <a:buChar char="•"/>
            </a:pPr>
            <a:r>
              <a:rPr lang="en-US" dirty="0" smtClean="0"/>
              <a:t> Do not answer someone else’s phone.</a:t>
            </a:r>
            <a:r>
              <a:rPr lang="en-US" baseline="0" dirty="0" smtClean="0"/>
              <a:t> L</a:t>
            </a:r>
            <a:r>
              <a:rPr lang="en-US" dirty="0" smtClean="0"/>
              <a:t>et the call be taken by an answering</a:t>
            </a:r>
            <a:r>
              <a:rPr lang="en-US" baseline="0" dirty="0" smtClean="0"/>
              <a:t> machine. Let it be automatically diverted by the system to another extension.</a:t>
            </a:r>
          </a:p>
          <a:p>
            <a:pPr>
              <a:buFont typeface="Arial" pitchFamily="34" charset="0"/>
              <a:buChar char="•"/>
            </a:pPr>
            <a:endParaRPr lang="en-US" dirty="0" smtClean="0"/>
          </a:p>
          <a:p>
            <a:r>
              <a:rPr lang="en-US" b="1" baseline="0" dirty="0" smtClean="0"/>
              <a:t>Class Activity 1 – Demonstration</a:t>
            </a:r>
          </a:p>
          <a:p>
            <a:r>
              <a:rPr lang="en-US" b="0" baseline="0" dirty="0" smtClean="0"/>
              <a:t>Trainer uses Training Institute telephone system to show students how to answer the telephone in an acceptable manner using an assortment of appropriate enterprise standards.</a:t>
            </a:r>
          </a:p>
          <a:p>
            <a:endParaRPr lang="en-US" b="0" baseline="0" dirty="0" smtClean="0"/>
          </a:p>
          <a:p>
            <a:r>
              <a:rPr lang="en-US" b="1" baseline="0" dirty="0" smtClean="0"/>
              <a:t>Class Activity 2 – Role plays/practical exercises</a:t>
            </a:r>
          </a:p>
          <a:p>
            <a:r>
              <a:rPr lang="en-US" b="0" baseline="0" dirty="0" smtClean="0"/>
              <a:t>Trainer presents students with several ‘workplace situations’ (describing time of day, name of the business the student represents etc.) and:</a:t>
            </a:r>
          </a:p>
          <a:p>
            <a:pPr>
              <a:buFont typeface="Arial" pitchFamily="34" charset="0"/>
              <a:buChar char="•"/>
            </a:pPr>
            <a:r>
              <a:rPr lang="en-US" b="0" baseline="0" dirty="0" smtClean="0"/>
              <a:t> Plays the role of a customer and calls students in class using a Training Institute extension/telephone</a:t>
            </a:r>
          </a:p>
          <a:p>
            <a:pPr>
              <a:buFont typeface="Arial" pitchFamily="34" charset="0"/>
              <a:buChar char="•"/>
            </a:pPr>
            <a:r>
              <a:rPr lang="en-US" b="0" baseline="0" dirty="0" smtClean="0"/>
              <a:t> Asks students to answer the call promptly and in an appropriate manner</a:t>
            </a:r>
          </a:p>
          <a:p>
            <a:pPr>
              <a:buFont typeface="Arial" pitchFamily="34" charset="0"/>
              <a:buChar char="•"/>
            </a:pPr>
            <a:r>
              <a:rPr lang="en-US" b="0" baseline="0" dirty="0" smtClean="0"/>
              <a:t> Provides feedback to students after the role plays/exercises.</a:t>
            </a:r>
          </a:p>
          <a:p>
            <a:pPr>
              <a:buFont typeface="Arial" pitchFamily="34" charset="0"/>
              <a:buChar char="•"/>
            </a:pPr>
            <a:endParaRPr lang="en-US"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a:p>
        </p:txBody>
      </p:sp>
    </p:spTree>
    <p:extLst>
      <p:ext uri="{BB962C8B-B14F-4D97-AF65-F5344CB8AC3E}">
        <p14:creationId xmlns:p14="http://schemas.microsoft.com/office/powerpoint/2010/main" val="27885544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students that when a need arises to place a call ‘on hold’ they should:</a:t>
            </a:r>
          </a:p>
          <a:p>
            <a:pPr>
              <a:buFont typeface="Arial" pitchFamily="34" charset="0"/>
              <a:buChar char="•"/>
            </a:pPr>
            <a:r>
              <a:rPr lang="en-US" dirty="0" smtClean="0"/>
              <a:t> Do it courteously following all applicable enterprise requirements</a:t>
            </a:r>
          </a:p>
          <a:p>
            <a:pPr>
              <a:buFont typeface="Arial" pitchFamily="34" charset="0"/>
              <a:buChar char="•"/>
            </a:pPr>
            <a:r>
              <a:rPr lang="en-US" dirty="0" smtClean="0"/>
              <a:t> Ask the caller if they want to be placed ‘on hold’ .</a:t>
            </a:r>
            <a:r>
              <a:rPr lang="en-US" baseline="0" dirty="0" smtClean="0"/>
              <a:t> S</a:t>
            </a:r>
            <a:r>
              <a:rPr lang="en-US" dirty="0" smtClean="0"/>
              <a:t>ome callers may prefer not to be placed on hold.</a:t>
            </a:r>
            <a:r>
              <a:rPr lang="en-US" baseline="0" dirty="0" smtClean="0"/>
              <a:t> T</a:t>
            </a:r>
            <a:r>
              <a:rPr lang="en-US" dirty="0" smtClean="0"/>
              <a:t>hey may prefer to ring back</a:t>
            </a:r>
            <a:r>
              <a:rPr lang="en-US" baseline="0" dirty="0" smtClean="0"/>
              <a:t> or</a:t>
            </a:r>
            <a:r>
              <a:rPr lang="en-US" dirty="0" smtClean="0"/>
              <a:t> they may want you to take a message</a:t>
            </a:r>
          </a:p>
          <a:p>
            <a:pPr>
              <a:buFont typeface="Arial" pitchFamily="34" charset="0"/>
              <a:buChar char="•"/>
            </a:pPr>
            <a:r>
              <a:rPr lang="en-US" dirty="0" smtClean="0"/>
              <a:t> Listen to their answer.</a:t>
            </a:r>
            <a:r>
              <a:rPr lang="en-US" baseline="0" dirty="0" smtClean="0"/>
              <a:t> W</a:t>
            </a:r>
            <a:r>
              <a:rPr lang="en-US" dirty="0" smtClean="0"/>
              <a:t>hen you have asked a caller if they wish to be placed on hold while you make enquiries you must listen for their response to the question.</a:t>
            </a:r>
            <a:r>
              <a:rPr lang="en-US" baseline="0" dirty="0" smtClean="0"/>
              <a:t> N</a:t>
            </a:r>
            <a:r>
              <a:rPr lang="en-US" dirty="0" smtClean="0"/>
              <a:t>ever assume the caller will want to hold</a:t>
            </a:r>
          </a:p>
          <a:p>
            <a:pPr>
              <a:buFont typeface="Arial" pitchFamily="34" charset="0"/>
              <a:buChar char="•"/>
            </a:pPr>
            <a:r>
              <a:rPr lang="en-US" dirty="0" smtClean="0"/>
              <a:t> Get back to all calls on hold every 30 seconds to advise them of your progress</a:t>
            </a:r>
            <a:r>
              <a:rPr lang="en-US" baseline="0" dirty="0" smtClean="0"/>
              <a:t> and</a:t>
            </a:r>
            <a:r>
              <a:rPr lang="en-US" dirty="0" smtClean="0"/>
              <a:t> to let them know you have not forgotten them so they know their call has not been disconnected.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a:p>
        </p:txBody>
      </p:sp>
    </p:spTree>
    <p:extLst>
      <p:ext uri="{BB962C8B-B14F-4D97-AF65-F5344CB8AC3E}">
        <p14:creationId xmlns:p14="http://schemas.microsoft.com/office/powerpoint/2010/main" val="2382469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reminds students that callers cannot see their facial expressions (that is, callers cannot read</a:t>
            </a:r>
            <a:r>
              <a:rPr lang="en-US" baseline="0" dirty="0" smtClean="0"/>
              <a:t> their body language to assist with the communication) </a:t>
            </a:r>
            <a:r>
              <a:rPr lang="en-US" dirty="0" smtClean="0"/>
              <a:t>when they telephone so this means it is more important for staff to use their voice appropriately.</a:t>
            </a:r>
          </a:p>
          <a:p>
            <a:endParaRPr lang="en-US" dirty="0" smtClean="0"/>
          </a:p>
          <a:p>
            <a:r>
              <a:rPr lang="en-AU" dirty="0" smtClean="0"/>
              <a:t>Trainer mentions that at all times, callers must be spoken to in a friendly tone (‘put a smile in your voice’) and assistance must be offered when and where necessary without giving the impression that doing so is an imposition.</a:t>
            </a:r>
          </a:p>
          <a:p>
            <a:endParaRPr lang="en-AU" dirty="0" smtClean="0"/>
          </a:p>
          <a:p>
            <a:r>
              <a:rPr lang="en-AU" dirty="0" smtClean="0"/>
              <a:t>Trainer highlights to students the key to answering queries is to be genuinely helpful which encompasses:</a:t>
            </a:r>
          </a:p>
          <a:p>
            <a:pPr lvl="0">
              <a:buFont typeface="Arial" pitchFamily="34" charset="0"/>
              <a:buChar char="•"/>
            </a:pPr>
            <a:r>
              <a:rPr lang="en-AU" dirty="0" smtClean="0"/>
              <a:t> Focusing on the call to the exclusion of other work: do not get distracted</a:t>
            </a:r>
          </a:p>
          <a:p>
            <a:pPr lvl="0">
              <a:buFont typeface="Arial" pitchFamily="34" charset="0"/>
              <a:buChar char="•"/>
            </a:pPr>
            <a:r>
              <a:rPr lang="en-AU" dirty="0" smtClean="0"/>
              <a:t> Trying to understand the caller’s problem/s so your response</a:t>
            </a:r>
            <a:r>
              <a:rPr lang="en-AU" baseline="0" dirty="0" smtClean="0"/>
              <a:t> or </a:t>
            </a:r>
            <a:r>
              <a:rPr lang="en-AU" dirty="0" smtClean="0"/>
              <a:t>action is appropriate to the needs of the caller</a:t>
            </a:r>
          </a:p>
          <a:p>
            <a:pPr lvl="0">
              <a:buFont typeface="Arial" pitchFamily="34" charset="0"/>
              <a:buChar char="•"/>
            </a:pPr>
            <a:r>
              <a:rPr lang="en-AU" dirty="0" smtClean="0"/>
              <a:t> Asking questions to obtain more information to assist in providing  relevant help</a:t>
            </a:r>
          </a:p>
          <a:p>
            <a:pPr lvl="0">
              <a:buFont typeface="Arial" pitchFamily="34" charset="0"/>
              <a:buChar char="•"/>
            </a:pPr>
            <a:r>
              <a:rPr lang="en-AU" dirty="0" smtClean="0"/>
              <a:t> Putting yourself in the caller’s shoes by seeing things from the caller’s perspective</a:t>
            </a:r>
          </a:p>
          <a:p>
            <a:pPr lvl="0">
              <a:buFont typeface="Arial" pitchFamily="34" charset="0"/>
              <a:buChar char="•"/>
            </a:pPr>
            <a:r>
              <a:rPr lang="en-AU" dirty="0" smtClean="0"/>
              <a:t> Taking time with the caller by not rushing the call or giving the impression you are eager to move on to another call</a:t>
            </a:r>
            <a:r>
              <a:rPr lang="en-AU" baseline="0" dirty="0" smtClean="0"/>
              <a:t> or to </a:t>
            </a:r>
            <a:r>
              <a:rPr lang="en-AU" dirty="0" smtClean="0"/>
              <a:t>other work</a:t>
            </a:r>
          </a:p>
          <a:p>
            <a:pPr lvl="0">
              <a:buFont typeface="Arial" pitchFamily="34" charset="0"/>
              <a:buChar char="•"/>
            </a:pPr>
            <a:r>
              <a:rPr lang="en-AU" dirty="0" smtClean="0"/>
              <a:t> Checking the caller’s level of satisfaction with what is happening, has been provided or is being suggested and altering service provision as necessary to improve service delivery.</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a:p>
        </p:txBody>
      </p:sp>
    </p:spTree>
    <p:extLst>
      <p:ext uri="{BB962C8B-B14F-4D97-AF65-F5344CB8AC3E}">
        <p14:creationId xmlns:p14="http://schemas.microsoft.com/office/powerpoint/2010/main" val="42478202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dirty="0" smtClean="0"/>
              <a:t>Trainer explains to students that the first step after providing an acceptable greeting to the caller is to quickly establish the purpose of the call, highlighting they must never assume they know why the caller has phoned and stressing they must always be on their guard to prevent listening to just one or two words the caller says and jumping to a wrong conclusion about the reason for the call in the mistaken belief they think they are being helpful.</a:t>
            </a:r>
          </a:p>
          <a:p>
            <a:endParaRPr lang="en-AU" dirty="0" smtClean="0"/>
          </a:p>
          <a:p>
            <a:r>
              <a:rPr lang="en-AU" dirty="0" smtClean="0"/>
              <a:t>Trainer gives an example of the problem of assuming you know what the caller wants:</a:t>
            </a:r>
          </a:p>
          <a:p>
            <a:pPr lvl="1">
              <a:buFont typeface="Arial" pitchFamily="34" charset="0"/>
              <a:buChar char="•"/>
            </a:pPr>
            <a:r>
              <a:rPr lang="en-AU" dirty="0" smtClean="0"/>
              <a:t>For example a caller says “I’m ringing about a reservation in the Grill Room” shouldn’t immediately be transferred to the Grill Room. They may have wanted to go on to say “I had a booking there the other night and there was a mix-up with it: I want to speak to the manager to make a complaint.”</a:t>
            </a:r>
          </a:p>
          <a:p>
            <a:endParaRPr lang="en-AU" dirty="0" smtClean="0"/>
          </a:p>
          <a:p>
            <a:r>
              <a:rPr lang="en-AU" dirty="0" smtClean="0"/>
              <a:t>Trainer explains to students keys in making sure they correctly establish the purpose of a call before processing it include:</a:t>
            </a:r>
          </a:p>
          <a:p>
            <a:pPr lvl="0">
              <a:buFont typeface="Arial" pitchFamily="34" charset="0"/>
              <a:buChar char="•"/>
            </a:pPr>
            <a:r>
              <a:rPr lang="en-AU" dirty="0" smtClean="0"/>
              <a:t> Asking questions.</a:t>
            </a:r>
            <a:r>
              <a:rPr lang="en-AU" baseline="0" dirty="0" smtClean="0"/>
              <a:t> I</a:t>
            </a:r>
            <a:r>
              <a:rPr lang="en-AU" dirty="0" smtClean="0"/>
              <a:t>t is common for people who answer telephone calls to have to ask the caller questions to better determine how</a:t>
            </a:r>
            <a:r>
              <a:rPr lang="en-AU" baseline="0" dirty="0" smtClean="0"/>
              <a:t> or </a:t>
            </a:r>
            <a:r>
              <a:rPr lang="en-AU" dirty="0" smtClean="0"/>
              <a:t>where to process their call.</a:t>
            </a:r>
            <a:r>
              <a:rPr lang="en-AU" baseline="0" dirty="0" smtClean="0"/>
              <a:t> T</a:t>
            </a:r>
            <a:r>
              <a:rPr lang="en-AU" dirty="0" smtClean="0"/>
              <a:t>his is because the caller often fully understands what they want to say</a:t>
            </a:r>
            <a:r>
              <a:rPr lang="en-AU" baseline="0" dirty="0" smtClean="0"/>
              <a:t> or</a:t>
            </a:r>
            <a:r>
              <a:rPr lang="en-AU" dirty="0" smtClean="0"/>
              <a:t> who they want to talk to but they fail to convey this and appear to assume you know what they want to talk about and who they need to speak with.</a:t>
            </a:r>
          </a:p>
          <a:p>
            <a:pPr lvl="0">
              <a:buFont typeface="Arial" pitchFamily="34" charset="0"/>
              <a:buChar char="•"/>
            </a:pPr>
            <a:r>
              <a:rPr lang="en-AU" dirty="0" smtClean="0"/>
              <a:t> Listening to information given by the caller.</a:t>
            </a:r>
            <a:r>
              <a:rPr lang="en-AU" baseline="0" dirty="0" smtClean="0"/>
              <a:t> T</a:t>
            </a:r>
            <a:r>
              <a:rPr lang="en-AU" dirty="0" smtClean="0"/>
              <a:t>his highlights how critical it is for those who take incoming telephone calls to apply ‘active listening’ techniques and focus completely on the words being spoken by the caller</a:t>
            </a:r>
          </a:p>
          <a:p>
            <a:pPr>
              <a:buFont typeface="Arial" pitchFamily="34" charset="0"/>
              <a:buChar char="•"/>
            </a:pPr>
            <a:r>
              <a:rPr lang="en-AU" dirty="0" smtClean="0"/>
              <a:t> A useful strategy when establishing the purpose of a call is to jot down notes about what the caller is talking about.</a:t>
            </a:r>
            <a:r>
              <a:rPr lang="en-AU" baseline="0" dirty="0" smtClean="0"/>
              <a:t> T</a:t>
            </a:r>
            <a:r>
              <a:rPr lang="en-AU" dirty="0" smtClean="0"/>
              <a:t>his provides a visual reference that jogs the memory and always helps to determine what the caller wants and where their call should be transferred.</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a:p>
        </p:txBody>
      </p:sp>
    </p:spTree>
    <p:extLst>
      <p:ext uri="{BB962C8B-B14F-4D97-AF65-F5344CB8AC3E}">
        <p14:creationId xmlns:p14="http://schemas.microsoft.com/office/powerpoint/2010/main" val="2273318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students that it may be necessary to repeat call details to confirm</a:t>
            </a:r>
            <a:r>
              <a:rPr lang="en-US" baseline="0" dirty="0" smtClean="0"/>
              <a:t> or </a:t>
            </a:r>
            <a:r>
              <a:rPr lang="en-US" dirty="0" smtClean="0"/>
              <a:t>clarify understanding regarding caller requirements, to save valuable time for the caller and make sure the call is connected to the right person</a:t>
            </a:r>
            <a:r>
              <a:rPr lang="en-US" baseline="0" dirty="0" smtClean="0"/>
              <a:t> or </a:t>
            </a:r>
            <a:r>
              <a:rPr lang="en-US" dirty="0" smtClean="0"/>
              <a:t>department.</a:t>
            </a:r>
          </a:p>
          <a:p>
            <a:endParaRPr lang="en-US" dirty="0" smtClean="0"/>
          </a:p>
          <a:p>
            <a:r>
              <a:rPr lang="en-US" dirty="0" smtClean="0"/>
              <a:t>Trainer identifies that confirming understanding of caller requirements involves:</a:t>
            </a:r>
          </a:p>
          <a:p>
            <a:pPr>
              <a:buFont typeface="Arial" pitchFamily="34" charset="0"/>
              <a:buChar char="•"/>
            </a:pPr>
            <a:r>
              <a:rPr lang="en-US" dirty="0" smtClean="0"/>
              <a:t> Awareness this may need to be done.</a:t>
            </a:r>
            <a:r>
              <a:rPr lang="en-US" baseline="0" dirty="0" smtClean="0"/>
              <a:t> R</a:t>
            </a:r>
            <a:r>
              <a:rPr lang="en-US" dirty="0" smtClean="0"/>
              <a:t>epeating call details is not required for every call but there is always a requirement you remain alert to the possibility you may need to clarify or confirm call details</a:t>
            </a:r>
          </a:p>
          <a:p>
            <a:pPr>
              <a:buFont typeface="Arial" pitchFamily="34" charset="0"/>
              <a:buChar char="•"/>
            </a:pPr>
            <a:r>
              <a:rPr lang="en-US" dirty="0" smtClean="0"/>
              <a:t> Awareness the caller never knows your workplace in the same detail you do.</a:t>
            </a:r>
            <a:r>
              <a:rPr lang="en-US" baseline="0" dirty="0" smtClean="0"/>
              <a:t> T</a:t>
            </a:r>
            <a:r>
              <a:rPr lang="en-US" dirty="0" smtClean="0"/>
              <a:t>hey may have no understanding at all, or some understanding but they will never know your workplace to the same extent you do (that is, all the policies and procedures; staff names, roles and responsibilities; options, prices, deals etc.)</a:t>
            </a:r>
          </a:p>
          <a:p>
            <a:pPr>
              <a:buFont typeface="Arial" pitchFamily="34" charset="0"/>
              <a:buChar char="•"/>
            </a:pPr>
            <a:r>
              <a:rPr lang="en-US" dirty="0" smtClean="0"/>
              <a:t> Stating back to the caller what is they have said, asked for or requested to make sure you have it right and to give them a chance to clarify</a:t>
            </a:r>
            <a:r>
              <a:rPr lang="en-US" baseline="0" dirty="0" smtClean="0"/>
              <a:t> and/or add more detail or information</a:t>
            </a:r>
          </a:p>
          <a:p>
            <a:pPr>
              <a:buFont typeface="Arial" pitchFamily="34" charset="0"/>
              <a:buChar char="•"/>
            </a:pPr>
            <a:r>
              <a:rPr lang="en-US" baseline="0" dirty="0" smtClean="0"/>
              <a:t> Asking questions to obtain more detail where the caller has not provided it, or to clarify points where the caller was unclear in what they said or asked for.</a:t>
            </a:r>
            <a:endParaRPr lang="en-US" dirty="0" smtClean="0"/>
          </a:p>
          <a:p>
            <a:pPr>
              <a:buFont typeface="Arial" pitchFamily="34" charset="0"/>
              <a:buNone/>
            </a:pPr>
            <a:endParaRPr lang="en-US" dirty="0" smtClean="0"/>
          </a:p>
          <a:p>
            <a:pPr>
              <a:buFont typeface="Arial" pitchFamily="34" charset="0"/>
              <a:buNone/>
            </a:pPr>
            <a:r>
              <a:rPr lang="en-US" dirty="0" smtClean="0"/>
              <a:t>Trainer advises students they should </a:t>
            </a:r>
            <a:r>
              <a:rPr lang="en-US" b="1" dirty="0" smtClean="0"/>
              <a:t>always </a:t>
            </a:r>
            <a:r>
              <a:rPr lang="en-US" dirty="0" smtClean="0"/>
              <a:t>keep callers informed about what they intend doing in relation to their call.</a:t>
            </a:r>
            <a:r>
              <a:rPr lang="en-US" baseline="0" dirty="0" smtClean="0"/>
              <a:t> T</a:t>
            </a:r>
            <a:r>
              <a:rPr lang="en-US" dirty="0" smtClean="0"/>
              <a:t>his may include:</a:t>
            </a:r>
          </a:p>
          <a:p>
            <a:pPr>
              <a:buFont typeface="Arial" pitchFamily="34" charset="0"/>
              <a:buChar char="•"/>
            </a:pPr>
            <a:r>
              <a:rPr lang="en-US" dirty="0" smtClean="0"/>
              <a:t> Advising them you can help them, take their booking, provide the information they are seeking</a:t>
            </a:r>
          </a:p>
          <a:p>
            <a:pPr>
              <a:buFont typeface="Arial" pitchFamily="34" charset="0"/>
              <a:buChar char="•"/>
            </a:pPr>
            <a:r>
              <a:rPr lang="en-US" dirty="0" smtClean="0"/>
              <a:t> Informing them you are going to transfer their call to a nominated department or person</a:t>
            </a:r>
          </a:p>
          <a:p>
            <a:pPr>
              <a:buFont typeface="Arial" pitchFamily="34" charset="0"/>
              <a:buChar char="•"/>
            </a:pPr>
            <a:r>
              <a:rPr lang="en-US" dirty="0" smtClean="0"/>
              <a:t> Asking if they would like to hold while you obtain required information.</a:t>
            </a:r>
          </a:p>
          <a:p>
            <a:pPr>
              <a:buFont typeface="Arial" pitchFamily="34" charset="0"/>
              <a:buChar char="•"/>
            </a:pPr>
            <a:endParaRPr lang="en-US" dirty="0" smtClean="0"/>
          </a:p>
          <a:p>
            <a:pPr>
              <a:buFont typeface="Arial" pitchFamily="34" charset="0"/>
              <a:buChar char="•"/>
            </a:pP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a:p>
        </p:txBody>
      </p:sp>
    </p:spTree>
    <p:extLst>
      <p:ext uri="{BB962C8B-B14F-4D97-AF65-F5344CB8AC3E}">
        <p14:creationId xmlns:p14="http://schemas.microsoft.com/office/powerpoint/2010/main" val="42039443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AU" dirty="0" smtClean="0"/>
              <a:t>Trainer advises students that most requests for a reservation will be forwarded to the appropriate area</a:t>
            </a:r>
            <a:r>
              <a:rPr lang="en-AU" baseline="0" dirty="0" smtClean="0"/>
              <a:t> or </a:t>
            </a:r>
            <a:r>
              <a:rPr lang="en-AU" dirty="0" smtClean="0"/>
              <a:t>person for them to handle stating this procedure is most effective because it allows the appropriate staff member to obtain extra information from the caller, arrange the best reservation for the caller and confirm (or deny) the booking.</a:t>
            </a:r>
          </a:p>
          <a:p>
            <a:endParaRPr lang="en-AU" dirty="0" smtClean="0"/>
          </a:p>
          <a:p>
            <a:r>
              <a:rPr lang="en-AU" dirty="0" smtClean="0"/>
              <a:t>Trainer indicates to students that where </a:t>
            </a:r>
            <a:r>
              <a:rPr lang="en-AU" i="1" dirty="0" smtClean="0"/>
              <a:t>they </a:t>
            </a:r>
            <a:r>
              <a:rPr lang="en-AU" dirty="0" smtClean="0"/>
              <a:t>are required to take a phone call and process a reservation as part of that call they must pay attention to:</a:t>
            </a:r>
          </a:p>
          <a:p>
            <a:pPr>
              <a:buFont typeface="Arial" pitchFamily="34" charset="0"/>
              <a:buChar char="•"/>
            </a:pPr>
            <a:r>
              <a:rPr lang="en-AU" dirty="0" smtClean="0"/>
              <a:t> Capturing all relevant details applicable to the type of reservation being processed, which may include:</a:t>
            </a:r>
          </a:p>
          <a:p>
            <a:pPr lvl="1">
              <a:buFont typeface="Arial" pitchFamily="34" charset="0"/>
              <a:buChar char="•"/>
            </a:pPr>
            <a:r>
              <a:rPr lang="en-US" dirty="0" smtClean="0"/>
              <a:t> Day and date: both should be confirmed as a means of making sure the correct date is being provided</a:t>
            </a:r>
          </a:p>
          <a:p>
            <a:pPr lvl="1">
              <a:buFont typeface="Arial" pitchFamily="34" charset="0"/>
              <a:buChar char="•"/>
            </a:pPr>
            <a:r>
              <a:rPr lang="en-US" dirty="0" smtClean="0"/>
              <a:t> Time – checking about</a:t>
            </a:r>
            <a:r>
              <a:rPr lang="en-US" baseline="0" dirty="0" smtClean="0"/>
              <a:t> AM or PM and using the 24-hour clock in many cases</a:t>
            </a:r>
          </a:p>
          <a:p>
            <a:pPr lvl="1">
              <a:buFont typeface="Arial" pitchFamily="34" charset="0"/>
              <a:buChar char="•"/>
            </a:pPr>
            <a:r>
              <a:rPr lang="en-US" baseline="0" dirty="0" smtClean="0"/>
              <a:t> N</a:t>
            </a:r>
            <a:r>
              <a:rPr lang="en-US" dirty="0" smtClean="0"/>
              <a:t>ames – with special attention paid to capturing all relevant names and ensuring the spelling of people’s names</a:t>
            </a:r>
            <a:r>
              <a:rPr lang="en-US" baseline="0" dirty="0" smtClean="0"/>
              <a:t> and</a:t>
            </a:r>
            <a:r>
              <a:rPr lang="en-US" dirty="0" smtClean="0"/>
              <a:t> business names is correct</a:t>
            </a:r>
          </a:p>
          <a:p>
            <a:pPr lvl="1">
              <a:buFont typeface="Arial" pitchFamily="34" charset="0"/>
              <a:buChar char="•"/>
            </a:pPr>
            <a:r>
              <a:rPr lang="en-US" dirty="0" smtClean="0"/>
              <a:t> Numbers involved in the booking and,</a:t>
            </a:r>
            <a:r>
              <a:rPr lang="en-US" baseline="0" dirty="0" smtClean="0"/>
              <a:t> where appropriate, noting gender and ages (especially where it is important to differentiate between adults and children)</a:t>
            </a:r>
          </a:p>
          <a:p>
            <a:pPr lvl="1">
              <a:buFont typeface="Arial" pitchFamily="34" charset="0"/>
              <a:buChar char="•"/>
            </a:pPr>
            <a:r>
              <a:rPr lang="en-US" dirty="0" smtClean="0"/>
              <a:t> Preferences – these relate to individual preferences for people making the booking such as,</a:t>
            </a:r>
            <a:r>
              <a:rPr lang="en-US" baseline="0" dirty="0" smtClean="0"/>
              <a:t> </a:t>
            </a:r>
            <a:r>
              <a:rPr lang="en-US" dirty="0" smtClean="0"/>
              <a:t>for example, location of seat [aisle/window], location of table (near window, near band) or specifications about a room (with a view, quiet, with a spa): most of this will be offered by the caller but</a:t>
            </a:r>
            <a:r>
              <a:rPr lang="en-US" baseline="0" dirty="0" smtClean="0"/>
              <a:t> some information will need to be asked for</a:t>
            </a:r>
          </a:p>
          <a:p>
            <a:pPr lvl="1">
              <a:buFont typeface="Arial" pitchFamily="34" charset="0"/>
              <a:buNone/>
            </a:pPr>
            <a:r>
              <a:rPr lang="en-US" baseline="0" dirty="0" smtClean="0"/>
              <a:t>Trainer advises details regarding taking of reservations will be explained in more detail in other relevant Units.</a:t>
            </a:r>
          </a:p>
          <a:p>
            <a:pPr>
              <a:buFont typeface="Arial" pitchFamily="34" charset="0"/>
              <a:buChar char="•"/>
            </a:pPr>
            <a:r>
              <a:rPr lang="en-US" baseline="0" dirty="0" smtClean="0"/>
              <a:t> Entering the information into the correct book or register or on to the correct CRS [</a:t>
            </a:r>
            <a:r>
              <a:rPr lang="en-AU" baseline="0" noProof="0" dirty="0" smtClean="0"/>
              <a:t>Computerised</a:t>
            </a:r>
            <a:r>
              <a:rPr lang="en-US" baseline="0" dirty="0" smtClean="0"/>
              <a:t> Reservation System] system (or field within the system)</a:t>
            </a:r>
          </a:p>
          <a:p>
            <a:pPr lvl="0">
              <a:buFont typeface="Arial" pitchFamily="34" charset="0"/>
              <a:buChar char="•"/>
            </a:pPr>
            <a:r>
              <a:rPr lang="en-AU" dirty="0" smtClean="0"/>
              <a:t> Applying standard customer service techniques which may include:</a:t>
            </a:r>
          </a:p>
          <a:p>
            <a:pPr lvl="1">
              <a:buFont typeface="Arial" pitchFamily="34" charset="0"/>
              <a:buChar char="•"/>
            </a:pPr>
            <a:r>
              <a:rPr lang="en-AU" dirty="0" smtClean="0"/>
              <a:t> Repeating back reservation details – see below</a:t>
            </a:r>
          </a:p>
          <a:p>
            <a:pPr lvl="1">
              <a:buFont typeface="Arial" pitchFamily="34" charset="0"/>
              <a:buChar char="•"/>
            </a:pPr>
            <a:r>
              <a:rPr lang="en-AU" dirty="0" smtClean="0"/>
              <a:t> Quoting reference</a:t>
            </a:r>
            <a:r>
              <a:rPr lang="en-AU" baseline="0" dirty="0" smtClean="0"/>
              <a:t> or </a:t>
            </a:r>
            <a:r>
              <a:rPr lang="en-AU" dirty="0" smtClean="0"/>
              <a:t>booking numbers, where necessary</a:t>
            </a:r>
            <a:r>
              <a:rPr lang="en-AU" baseline="0" dirty="0" smtClean="0"/>
              <a:t> or </a:t>
            </a:r>
            <a:r>
              <a:rPr lang="en-AU" dirty="0" smtClean="0"/>
              <a:t>appropriate</a:t>
            </a:r>
          </a:p>
          <a:p>
            <a:pPr lvl="1">
              <a:buFont typeface="Arial" pitchFamily="34" charset="0"/>
              <a:buChar char="•"/>
            </a:pPr>
            <a:r>
              <a:rPr lang="en-AU" dirty="0" smtClean="0"/>
              <a:t> Thanking the caller for their call/booking.</a:t>
            </a:r>
            <a:r>
              <a:rPr lang="en-AU" baseline="0" dirty="0" smtClean="0"/>
              <a:t> A</a:t>
            </a:r>
            <a:r>
              <a:rPr lang="en-AU" dirty="0" smtClean="0"/>
              <a:t>ll callers must be thanked, even where they only make an enquiry and do not make a booking</a:t>
            </a:r>
          </a:p>
          <a:p>
            <a:pPr lvl="1">
              <a:buFont typeface="Arial" pitchFamily="34" charset="0"/>
              <a:buChar char="•"/>
            </a:pPr>
            <a:r>
              <a:rPr lang="en-AU" dirty="0" smtClean="0"/>
              <a:t> Asking if you can be of extra service – “Is there anything else I can do for you today, Mr Cox?”</a:t>
            </a:r>
          </a:p>
          <a:p>
            <a:pPr lvl="0">
              <a:buFont typeface="Arial" pitchFamily="34" charset="0"/>
              <a:buChar char="•"/>
            </a:pPr>
            <a:r>
              <a:rPr lang="en-AU" dirty="0" smtClean="0"/>
              <a:t> Applying standard sales techniques which may include:</a:t>
            </a:r>
          </a:p>
          <a:p>
            <a:pPr lvl="1">
              <a:buFont typeface="Arial" pitchFamily="34" charset="0"/>
              <a:buChar char="•"/>
            </a:pPr>
            <a:r>
              <a:rPr lang="en-AU" dirty="0" smtClean="0"/>
              <a:t> Providing information on products, services, facilities, deals, policies, terms and conditions etc</a:t>
            </a:r>
            <a:endParaRPr lang="en-AU" sz="1100" dirty="0" smtClean="0"/>
          </a:p>
          <a:p>
            <a:pPr lvl="1">
              <a:buFont typeface="Arial" pitchFamily="34" charset="0"/>
              <a:buChar char="•"/>
            </a:pPr>
            <a:r>
              <a:rPr lang="en-AU" dirty="0" smtClean="0"/>
              <a:t> Up-selling and on-selling as appropriate to the nature of the caller</a:t>
            </a:r>
            <a:r>
              <a:rPr lang="en-AU" baseline="0" dirty="0" smtClean="0"/>
              <a:t> or </a:t>
            </a:r>
            <a:r>
              <a:rPr lang="en-AU" dirty="0" smtClean="0"/>
              <a:t>sale</a:t>
            </a:r>
            <a:endParaRPr lang="en-AU" sz="1100" dirty="0" smtClean="0"/>
          </a:p>
          <a:p>
            <a:pPr lvl="1">
              <a:buFont typeface="Arial" pitchFamily="34" charset="0"/>
              <a:buChar char="•"/>
            </a:pPr>
            <a:r>
              <a:rPr lang="en-AU" dirty="0" smtClean="0"/>
              <a:t> Selling the benefits as opposed to selling only the features of a product</a:t>
            </a:r>
            <a:r>
              <a:rPr lang="en-AU" baseline="0" dirty="0" smtClean="0"/>
              <a:t> or </a:t>
            </a:r>
            <a:r>
              <a:rPr lang="en-AU" dirty="0" smtClean="0"/>
              <a:t>deal.</a:t>
            </a:r>
            <a:endParaRPr lang="en-AU" sz="1100" dirty="0" smtClean="0"/>
          </a:p>
          <a:p>
            <a:pPr>
              <a:buFont typeface="Arial" pitchFamily="34" charset="0"/>
              <a:buChar char="•"/>
            </a:pPr>
            <a:endParaRPr lang="en-US" baseline="0" dirty="0" smtClean="0"/>
          </a:p>
          <a:p>
            <a:r>
              <a:rPr lang="en-US" b="1" baseline="0" dirty="0" smtClean="0"/>
              <a:t>Class Activity 1 – Demonstration</a:t>
            </a:r>
          </a:p>
          <a:p>
            <a:r>
              <a:rPr lang="en-US" b="0" baseline="0" dirty="0" smtClean="0"/>
              <a:t>Trainer uses Training Institute telephone system to show students how to process a telephone reservation for a room, tour, travel or dining.  Trainer plays the role of a staff member taking the booking and a student plays the role of the customer or caller.</a:t>
            </a:r>
          </a:p>
          <a:p>
            <a:endParaRPr lang="en-US" b="0" baseline="0" dirty="0" smtClean="0"/>
          </a:p>
          <a:p>
            <a:r>
              <a:rPr lang="en-US" b="1" baseline="0" dirty="0" smtClean="0"/>
              <a:t>Class Activity 2 – Role plays/practical exercises</a:t>
            </a:r>
          </a:p>
          <a:p>
            <a:r>
              <a:rPr lang="en-US" b="0" baseline="0" dirty="0" smtClean="0"/>
              <a:t>Trainer plays the role of a customer and calls students using a Training Institute extension/telephone to make a reservation for room, tour, travel or dining (as appropriate to the nature of student workplaces) asking them to:</a:t>
            </a:r>
          </a:p>
          <a:p>
            <a:pPr>
              <a:buFont typeface="Arial" pitchFamily="34" charset="0"/>
              <a:buChar char="•"/>
            </a:pPr>
            <a:r>
              <a:rPr lang="en-US" b="0" baseline="0" dirty="0" smtClean="0"/>
              <a:t> Capture and record required information</a:t>
            </a:r>
          </a:p>
          <a:p>
            <a:pPr>
              <a:buFont typeface="Arial" pitchFamily="34" charset="0"/>
              <a:buChar char="•"/>
            </a:pPr>
            <a:r>
              <a:rPr lang="en-US" b="0" baseline="0" dirty="0" smtClean="0"/>
              <a:t> Apply necessary customer relations and selling skills.</a:t>
            </a:r>
          </a:p>
          <a:p>
            <a:pPr>
              <a:buFont typeface="Arial" pitchFamily="34" charset="0"/>
              <a:buChar char="•"/>
            </a:pPr>
            <a:endParaRPr lang="en-US" b="0" baseline="0" dirty="0" smtClean="0"/>
          </a:p>
          <a:p>
            <a:pPr>
              <a:buFont typeface="Arial" pitchFamily="34" charset="0"/>
              <a:buChar char="•"/>
            </a:pPr>
            <a:r>
              <a:rPr lang="en-US" b="0" baseline="0" dirty="0" smtClean="0"/>
              <a:t> Provides feedback to students after the role plays/exercises.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a:p>
        </p:txBody>
      </p:sp>
    </p:spTree>
    <p:extLst>
      <p:ext uri="{BB962C8B-B14F-4D97-AF65-F5344CB8AC3E}">
        <p14:creationId xmlns:p14="http://schemas.microsoft.com/office/powerpoint/2010/main" val="13984233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to students that when they are using</a:t>
            </a:r>
            <a:r>
              <a:rPr lang="en-US" baseline="0" dirty="0" smtClean="0"/>
              <a:t> or </a:t>
            </a:r>
            <a:r>
              <a:rPr lang="en-US" dirty="0" smtClean="0"/>
              <a:t>answering</a:t>
            </a:r>
            <a:r>
              <a:rPr lang="en-US" baseline="0" dirty="0" smtClean="0"/>
              <a:t> the telephone at work </a:t>
            </a:r>
            <a:r>
              <a:rPr lang="en-US" dirty="0" smtClean="0"/>
              <a:t>it is vital they focus on the call</a:t>
            </a:r>
            <a:r>
              <a:rPr lang="en-US" baseline="0" dirty="0" smtClean="0"/>
              <a:t> and on </a:t>
            </a:r>
            <a:r>
              <a:rPr lang="en-US" dirty="0" smtClean="0"/>
              <a:t>what they are doing.</a:t>
            </a:r>
          </a:p>
          <a:p>
            <a:endParaRPr lang="en-US" dirty="0" smtClean="0"/>
          </a:p>
          <a:p>
            <a:r>
              <a:rPr lang="en-US" dirty="0" smtClean="0"/>
              <a:t>Trainer states</a:t>
            </a:r>
            <a:r>
              <a:rPr lang="en-US" baseline="0" dirty="0" smtClean="0"/>
              <a:t> students must try to never:</a:t>
            </a:r>
          </a:p>
          <a:p>
            <a:pPr>
              <a:buFont typeface="Arial" pitchFamily="34" charset="0"/>
              <a:buChar char="•"/>
            </a:pPr>
            <a:r>
              <a:rPr lang="en-US" dirty="0" smtClean="0"/>
              <a:t> Interrupt answering </a:t>
            </a:r>
            <a:r>
              <a:rPr lang="en-US" i="1" dirty="0" smtClean="0"/>
              <a:t>this </a:t>
            </a:r>
            <a:r>
              <a:rPr lang="en-US" dirty="0" smtClean="0"/>
              <a:t>call to answer another call.</a:t>
            </a:r>
            <a:r>
              <a:rPr lang="en-US" baseline="0" dirty="0" smtClean="0"/>
              <a:t> T</a:t>
            </a:r>
            <a:r>
              <a:rPr lang="en-US" dirty="0" smtClean="0"/>
              <a:t>he aim should be to deal with once call at a time, and deal with it fully before moving on to another call</a:t>
            </a:r>
          </a:p>
          <a:p>
            <a:pPr>
              <a:buFont typeface="Arial" pitchFamily="34" charset="0"/>
              <a:buChar char="•"/>
            </a:pPr>
            <a:r>
              <a:rPr lang="en-US" dirty="0" smtClean="0"/>
              <a:t> Be distracted by another call when answering this call.</a:t>
            </a:r>
            <a:r>
              <a:rPr lang="en-US" baseline="0" dirty="0" smtClean="0"/>
              <a:t> T</a:t>
            </a:r>
            <a:r>
              <a:rPr lang="en-US" dirty="0" smtClean="0"/>
              <a:t>he need to get back to a call ‘on hold’ must take second place to dealing with the current call</a:t>
            </a:r>
          </a:p>
          <a:p>
            <a:pPr>
              <a:buFont typeface="Arial" pitchFamily="34" charset="0"/>
              <a:buChar char="•"/>
            </a:pPr>
            <a:r>
              <a:rPr lang="en-US" dirty="0" smtClean="0"/>
              <a:t> Be distracted by in-person customers when answering a call.</a:t>
            </a:r>
            <a:r>
              <a:rPr lang="en-US" baseline="0" dirty="0" smtClean="0"/>
              <a:t> E</a:t>
            </a:r>
            <a:r>
              <a:rPr lang="en-US" dirty="0" smtClean="0"/>
              <a:t>nterprise standards</a:t>
            </a:r>
            <a:r>
              <a:rPr lang="en-US" baseline="0" dirty="0" smtClean="0"/>
              <a:t> or </a:t>
            </a:r>
            <a:r>
              <a:rPr lang="en-US" dirty="0" smtClean="0"/>
              <a:t>requirements in this regard must be observed but a call you are already dealing with must take priority over an in-person customer who arrives. By the same token, most businesses will require an in-person customer to</a:t>
            </a:r>
            <a:r>
              <a:rPr lang="en-US" baseline="0" dirty="0" smtClean="0"/>
              <a:t> be</a:t>
            </a:r>
            <a:r>
              <a:rPr lang="en-US" dirty="0" smtClean="0"/>
              <a:t> dealt with as</a:t>
            </a:r>
            <a:r>
              <a:rPr lang="en-US" baseline="0" dirty="0" smtClean="0"/>
              <a:t> a </a:t>
            </a:r>
            <a:r>
              <a:rPr lang="en-US" dirty="0" smtClean="0"/>
              <a:t>priority over a phone call that comes in.</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a:p>
        </p:txBody>
      </p:sp>
    </p:spTree>
    <p:extLst>
      <p:ext uri="{BB962C8B-B14F-4D97-AF65-F5344CB8AC3E}">
        <p14:creationId xmlns:p14="http://schemas.microsoft.com/office/powerpoint/2010/main" val="1721202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reminds students standard</a:t>
            </a:r>
            <a:r>
              <a:rPr lang="en-US" baseline="0" dirty="0" smtClean="0"/>
              <a:t> telephone practice is not to interrupt one call to answer another call, but where there is a need to do so they should:</a:t>
            </a:r>
          </a:p>
          <a:p>
            <a:pPr lvl="0">
              <a:buFont typeface="Arial" pitchFamily="34" charset="0"/>
              <a:buChar char="•"/>
            </a:pPr>
            <a:r>
              <a:rPr lang="en-AU" dirty="0" smtClean="0"/>
              <a:t> Excuse yourself from the caller you are talking to</a:t>
            </a:r>
            <a:endParaRPr lang="en-AU" sz="1100" dirty="0" smtClean="0"/>
          </a:p>
          <a:p>
            <a:pPr lvl="0">
              <a:buFont typeface="Arial" pitchFamily="34" charset="0"/>
              <a:buChar char="•"/>
            </a:pPr>
            <a:r>
              <a:rPr lang="en-AU" dirty="0" smtClean="0"/>
              <a:t> Answer the other incoming call and either:</a:t>
            </a:r>
            <a:endParaRPr lang="en-AU" sz="1100" dirty="0" smtClean="0"/>
          </a:p>
          <a:p>
            <a:pPr lvl="1">
              <a:buFont typeface="Arial" pitchFamily="34" charset="0"/>
              <a:buChar char="•"/>
            </a:pPr>
            <a:r>
              <a:rPr lang="en-AU" dirty="0" smtClean="0"/>
              <a:t> Apologise for the delay</a:t>
            </a:r>
            <a:endParaRPr lang="en-AU" sz="1100" dirty="0" smtClean="0"/>
          </a:p>
          <a:p>
            <a:pPr lvl="1">
              <a:buFont typeface="Arial" pitchFamily="34" charset="0"/>
              <a:buChar char="•"/>
            </a:pPr>
            <a:r>
              <a:rPr lang="en-AU" dirty="0" smtClean="0"/>
              <a:t> Ask them if they would mind holding</a:t>
            </a:r>
            <a:endParaRPr lang="en-AU" sz="1100" dirty="0" smtClean="0"/>
          </a:p>
          <a:p>
            <a:pPr lvl="1">
              <a:buFont typeface="Arial" pitchFamily="34" charset="0"/>
              <a:buChar char="•"/>
            </a:pPr>
            <a:r>
              <a:rPr lang="en-AU" dirty="0" smtClean="0"/>
              <a:t> Put them on hold, take their details and offer to call them back, or (not the preferred option) ask if they would mind ringing back </a:t>
            </a:r>
            <a:endParaRPr lang="en-AU" sz="1100" dirty="0" smtClean="0"/>
          </a:p>
          <a:p>
            <a:pPr lvl="1">
              <a:buFont typeface="Arial" pitchFamily="34" charset="0"/>
              <a:buChar char="•"/>
            </a:pPr>
            <a:r>
              <a:rPr lang="en-AU" dirty="0" smtClean="0"/>
              <a:t> Transfer the call to the appropriate person or department</a:t>
            </a:r>
            <a:endParaRPr lang="en-AU" sz="1100" dirty="0" smtClean="0"/>
          </a:p>
          <a:p>
            <a:pPr lvl="0">
              <a:buFont typeface="Arial" pitchFamily="34" charset="0"/>
              <a:buChar char="•"/>
            </a:pPr>
            <a:r>
              <a:rPr lang="en-AU" dirty="0" smtClean="0"/>
              <a:t> Go back to the original caller and apologise for the interruption and continue to focus on that call.</a:t>
            </a:r>
            <a:r>
              <a:rPr lang="en-AU" baseline="0" dirty="0" smtClean="0"/>
              <a:t> n</a:t>
            </a:r>
            <a:r>
              <a:rPr lang="en-AU" dirty="0" smtClean="0"/>
              <a:t>ote that in some situations you will have to make a value judgment about whether to ignore the other incoming call and simply continue with your existing call. </a:t>
            </a:r>
            <a:endParaRPr lang="en-AU" sz="1100"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a:p>
        </p:txBody>
      </p:sp>
    </p:spTree>
    <p:extLst>
      <p:ext uri="{BB962C8B-B14F-4D97-AF65-F5344CB8AC3E}">
        <p14:creationId xmlns:p14="http://schemas.microsoft.com/office/powerpoint/2010/main" val="1370201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when they answer a call they commonly will either need to answers a caller enquiry, or transfer the call to another person</a:t>
            </a:r>
            <a:r>
              <a:rPr lang="en-US" baseline="0" dirty="0" smtClean="0"/>
              <a:t> or </a:t>
            </a:r>
            <a:r>
              <a:rPr lang="en-US" dirty="0" smtClean="0"/>
              <a:t>department.</a:t>
            </a:r>
          </a:p>
          <a:p>
            <a:endParaRPr lang="en-US" dirty="0" smtClean="0"/>
          </a:p>
          <a:p>
            <a:r>
              <a:rPr lang="en-US" dirty="0" smtClean="0"/>
              <a:t>Trainer instructs students that to answer caller enquiries</a:t>
            </a:r>
            <a:r>
              <a:rPr lang="en-US" baseline="0" dirty="0" smtClean="0"/>
              <a:t> themselves they need to:</a:t>
            </a:r>
            <a:endParaRPr lang="en-US" dirty="0" smtClean="0"/>
          </a:p>
          <a:p>
            <a:pPr lvl="0">
              <a:buFont typeface="Arial" pitchFamily="34" charset="0"/>
              <a:buChar char="•"/>
            </a:pPr>
            <a:r>
              <a:rPr lang="en-AU" dirty="0" smtClean="0"/>
              <a:t> Identify the exact nature of the enquiries as soon as possible.</a:t>
            </a:r>
            <a:r>
              <a:rPr lang="en-AU" baseline="0" dirty="0" smtClean="0"/>
              <a:t> T</a:t>
            </a:r>
            <a:r>
              <a:rPr lang="en-AU" dirty="0" smtClean="0"/>
              <a:t>his will indicate to you whether or not you can deal with the call or whether you need to transfer the call to someone else, or take a message and get back to the caller</a:t>
            </a:r>
          </a:p>
          <a:p>
            <a:pPr lvl="0">
              <a:buFont typeface="Arial" pitchFamily="34" charset="0"/>
              <a:buChar char="•"/>
            </a:pPr>
            <a:r>
              <a:rPr lang="en-AU" dirty="0" smtClean="0"/>
              <a:t> Have resources handy to the telephone that you can refer to help deal with the call.</a:t>
            </a:r>
            <a:r>
              <a:rPr lang="en-AU" baseline="0" dirty="0" smtClean="0"/>
              <a:t> T</a:t>
            </a:r>
            <a:r>
              <a:rPr lang="en-AU" dirty="0" smtClean="0"/>
              <a:t>hese resources may be company operating manuals, copies of policies and procedures, advertising material, copies of room rates, menus, schedules etc.</a:t>
            </a:r>
          </a:p>
          <a:p>
            <a:pPr lvl="0">
              <a:buFont typeface="Arial" pitchFamily="34" charset="0"/>
              <a:buChar char="•"/>
            </a:pPr>
            <a:r>
              <a:rPr lang="en-AU" dirty="0" smtClean="0"/>
              <a:t> Develop a detailed internal telephone list identifying all staff in the business and their extension numbers, mobile numbers, pager numbers etc.</a:t>
            </a:r>
            <a:r>
              <a:rPr lang="en-AU" baseline="0" dirty="0" smtClean="0"/>
              <a:t> </a:t>
            </a:r>
            <a:r>
              <a:rPr lang="en-AU" dirty="0" smtClean="0"/>
              <a:t>so you can use this to seek assistance from other staff and/or transfer the call as necessary.</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a:p>
        </p:txBody>
      </p:sp>
    </p:spTree>
    <p:extLst>
      <p:ext uri="{BB962C8B-B14F-4D97-AF65-F5344CB8AC3E}">
        <p14:creationId xmlns:p14="http://schemas.microsoft.com/office/powerpoint/2010/main" val="4062178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the following techniques should be applied when answering caller enquiries in order to </a:t>
            </a:r>
            <a:r>
              <a:rPr lang="en-US" dirty="0" err="1" smtClean="0"/>
              <a:t>optimise</a:t>
            </a:r>
            <a:r>
              <a:rPr lang="en-US" dirty="0" smtClean="0"/>
              <a:t> customer service:</a:t>
            </a:r>
          </a:p>
          <a:p>
            <a:endParaRPr lang="en-US" dirty="0" smtClean="0"/>
          </a:p>
          <a:p>
            <a:pPr lvl="0">
              <a:buFont typeface="Arial" pitchFamily="34" charset="0"/>
              <a:buChar char="•"/>
            </a:pPr>
            <a:r>
              <a:rPr lang="en-AU" dirty="0" smtClean="0"/>
              <a:t> Put a smile in your voice (if appropriate – that is, it is </a:t>
            </a:r>
            <a:r>
              <a:rPr lang="en-AU" i="1" dirty="0" smtClean="0"/>
              <a:t>inappropriate</a:t>
            </a:r>
            <a:r>
              <a:rPr lang="en-AU" dirty="0" smtClean="0"/>
              <a:t> to put a smile in your voice if the caller is calling to make a complaint).</a:t>
            </a:r>
            <a:r>
              <a:rPr lang="en-AU" baseline="0" dirty="0" smtClean="0"/>
              <a:t> C</a:t>
            </a:r>
            <a:r>
              <a:rPr lang="en-AU" dirty="0" smtClean="0"/>
              <a:t>allers cannot see you so the sound of your voice is critical</a:t>
            </a:r>
          </a:p>
          <a:p>
            <a:pPr lvl="0">
              <a:buFont typeface="Arial" pitchFamily="34" charset="0"/>
              <a:buChar char="•"/>
            </a:pPr>
            <a:r>
              <a:rPr lang="en-AU" dirty="0" smtClean="0"/>
              <a:t> Ensure the caller can see you are trying to help them.</a:t>
            </a:r>
            <a:r>
              <a:rPr lang="en-AU" baseline="0" dirty="0" smtClean="0"/>
              <a:t> I</a:t>
            </a:r>
            <a:r>
              <a:rPr lang="en-AU" dirty="0" smtClean="0"/>
              <a:t> is important you become part of the solution to the reason they called, as opposed to becoming an additional problem for them to deal with</a:t>
            </a:r>
          </a:p>
          <a:p>
            <a:pPr lvl="0">
              <a:buFont typeface="Arial" pitchFamily="34" charset="0"/>
              <a:buChar char="•"/>
            </a:pPr>
            <a:r>
              <a:rPr lang="en-AU" dirty="0" smtClean="0"/>
              <a:t> Keep them informed.</a:t>
            </a:r>
            <a:r>
              <a:rPr lang="en-AU" baseline="0" dirty="0" smtClean="0"/>
              <a:t> T</a:t>
            </a:r>
            <a:r>
              <a:rPr lang="en-AU" dirty="0" smtClean="0"/>
              <a:t>ell the caller what you are doing to try to help them.</a:t>
            </a:r>
            <a:r>
              <a:rPr lang="en-AU" baseline="0" dirty="0" smtClean="0"/>
              <a:t> R</a:t>
            </a:r>
            <a:r>
              <a:rPr lang="en-AU" dirty="0" smtClean="0"/>
              <a:t>emember they cannot see you so you have to tell them what you are doing</a:t>
            </a:r>
          </a:p>
          <a:p>
            <a:pPr lvl="0">
              <a:buFont typeface="Arial" pitchFamily="34" charset="0"/>
              <a:buChar char="•"/>
            </a:pPr>
            <a:r>
              <a:rPr lang="en-AU" dirty="0" smtClean="0"/>
              <a:t> Always be honest.</a:t>
            </a:r>
            <a:r>
              <a:rPr lang="en-AU" baseline="0" dirty="0" smtClean="0"/>
              <a:t> N</a:t>
            </a:r>
            <a:r>
              <a:rPr lang="en-AU" dirty="0" smtClean="0"/>
              <a:t>ever make up an answer if you don’t know, and make sure you tell the caller the full story in response to their question as opposed to just giving them half</a:t>
            </a:r>
            <a:r>
              <a:rPr lang="en-AU" baseline="0" dirty="0" smtClean="0"/>
              <a:t> </a:t>
            </a:r>
            <a:r>
              <a:rPr lang="en-AU" dirty="0" smtClean="0"/>
              <a:t>the</a:t>
            </a:r>
            <a:r>
              <a:rPr lang="en-AU" baseline="0" dirty="0" smtClean="0"/>
              <a:t> </a:t>
            </a:r>
            <a:r>
              <a:rPr lang="en-AU" dirty="0" smtClean="0"/>
              <a:t>story thereby misleading them and/or creating false or unreal expectations</a:t>
            </a:r>
          </a:p>
          <a:p>
            <a:pPr lvl="0">
              <a:buFont typeface="Arial" pitchFamily="34" charset="0"/>
              <a:buChar char="•"/>
            </a:pPr>
            <a:r>
              <a:rPr lang="en-AU" dirty="0" smtClean="0"/>
              <a:t> Refer to documents</a:t>
            </a:r>
            <a:r>
              <a:rPr lang="en-AU" baseline="0" dirty="0" smtClean="0"/>
              <a:t> and</a:t>
            </a:r>
            <a:r>
              <a:rPr lang="en-AU" dirty="0" smtClean="0"/>
              <a:t> other staff where you are unsure.</a:t>
            </a:r>
            <a:r>
              <a:rPr lang="en-AU" baseline="0" dirty="0" smtClean="0"/>
              <a:t> F</a:t>
            </a:r>
            <a:r>
              <a:rPr lang="en-AU" dirty="0" smtClean="0"/>
              <a:t>or example, prices change and advertising promotions/campaigns alter over time.</a:t>
            </a:r>
            <a:r>
              <a:rPr lang="en-AU" baseline="0" dirty="0" smtClean="0"/>
              <a:t> W</a:t>
            </a:r>
            <a:r>
              <a:rPr lang="en-AU" dirty="0" smtClean="0"/>
              <a:t>here you are not 100% sure of your facts, look it up or ask the ‘right person’</a:t>
            </a:r>
          </a:p>
          <a:p>
            <a:pPr lvl="0">
              <a:buFont typeface="Arial" pitchFamily="34" charset="0"/>
              <a:buChar char="•"/>
            </a:pPr>
            <a:r>
              <a:rPr lang="en-AU" dirty="0" smtClean="0"/>
              <a:t> Realise as quickly as you can when you cannot help the caller any more</a:t>
            </a:r>
            <a:r>
              <a:rPr lang="en-AU" baseline="0" dirty="0" smtClean="0"/>
              <a:t> or </a:t>
            </a:r>
            <a:r>
              <a:rPr lang="en-AU" dirty="0" smtClean="0"/>
              <a:t>at all.</a:t>
            </a:r>
            <a:r>
              <a:rPr lang="en-AU" baseline="0" dirty="0" smtClean="0"/>
              <a:t> C</a:t>
            </a:r>
            <a:r>
              <a:rPr lang="en-AU" dirty="0" smtClean="0"/>
              <a:t>allers get quickly annoyed at having to explain themselves to you and then having to do the same thing all over again to another person: never waste the caller’s time </a:t>
            </a:r>
          </a:p>
          <a:p>
            <a:pPr lvl="0">
              <a:buFont typeface="Arial" pitchFamily="34" charset="0"/>
              <a:buChar char="•"/>
            </a:pPr>
            <a:r>
              <a:rPr lang="en-AU" dirty="0" smtClean="0"/>
              <a:t> Try harder when you are on the telephone.</a:t>
            </a:r>
            <a:r>
              <a:rPr lang="en-AU" baseline="0" dirty="0" smtClean="0"/>
              <a:t> M</a:t>
            </a:r>
            <a:r>
              <a:rPr lang="en-AU" dirty="0" smtClean="0"/>
              <a:t>ake an extra effort when dealing with people on the telephone in recognition of the fact they cannot see you and you cannot see them.</a:t>
            </a:r>
            <a:r>
              <a:rPr lang="en-AU" baseline="0" dirty="0" smtClean="0"/>
              <a:t> E</a:t>
            </a:r>
            <a:r>
              <a:rPr lang="en-AU" dirty="0" smtClean="0"/>
              <a:t>nsure your voice is appropriate and reflects the emotion you want to convey.</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a:p>
        </p:txBody>
      </p:sp>
    </p:spTree>
    <p:extLst>
      <p:ext uri="{BB962C8B-B14F-4D97-AF65-F5344CB8AC3E}">
        <p14:creationId xmlns:p14="http://schemas.microsoft.com/office/powerpoint/2010/main" val="35999792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a:t>
            </a:r>
            <a:r>
              <a:rPr lang="en-AU" dirty="0" smtClean="0"/>
              <a:t>their workplace may have standard protocols for them to follow when transferring calls and if they exist they must be adhered to.</a:t>
            </a:r>
          </a:p>
          <a:p>
            <a:endParaRPr lang="en-AU" dirty="0" smtClean="0"/>
          </a:p>
          <a:p>
            <a:r>
              <a:rPr lang="en-AU" dirty="0" smtClean="0"/>
              <a:t>Trainer indicates standard telephone procedures for transferring calls include:</a:t>
            </a:r>
          </a:p>
          <a:p>
            <a:pPr lvl="0">
              <a:buFont typeface="Arial" pitchFamily="34" charset="0"/>
              <a:buChar char="•"/>
            </a:pPr>
            <a:r>
              <a:rPr lang="en-AU" dirty="0" smtClean="0"/>
              <a:t> Apologise – if appropriate – for the need to transfer the call. Where the caller has asked for another person there is obviously no need to apologise</a:t>
            </a:r>
            <a:endParaRPr lang="en-AU" sz="1100" dirty="0" smtClean="0"/>
          </a:p>
          <a:p>
            <a:pPr lvl="0">
              <a:buFont typeface="Arial" pitchFamily="34" charset="0"/>
              <a:buChar char="•"/>
            </a:pPr>
            <a:r>
              <a:rPr lang="en-AU" dirty="0" smtClean="0"/>
              <a:t> Explain why you need to transfer the call.</a:t>
            </a:r>
            <a:r>
              <a:rPr lang="en-AU" baseline="0" dirty="0" smtClean="0"/>
              <a:t> H</a:t>
            </a:r>
            <a:r>
              <a:rPr lang="en-AU" dirty="0" smtClean="0"/>
              <a:t>ighlight the fact the person they are being transferred to will be best able to deal with their call</a:t>
            </a:r>
            <a:endParaRPr lang="en-AU" sz="1100" dirty="0" smtClean="0"/>
          </a:p>
          <a:p>
            <a:pPr lvl="0">
              <a:buFont typeface="Arial" pitchFamily="34" charset="0"/>
              <a:buChar char="•"/>
            </a:pPr>
            <a:r>
              <a:rPr lang="en-AU" dirty="0" smtClean="0"/>
              <a:t> Tell them who you want to transfer them to .</a:t>
            </a:r>
            <a:r>
              <a:rPr lang="en-AU" baseline="0" dirty="0" smtClean="0"/>
              <a:t> G</a:t>
            </a:r>
            <a:r>
              <a:rPr lang="en-AU" dirty="0" smtClean="0"/>
              <a:t>ive the person’s name and tile/position within the business</a:t>
            </a:r>
            <a:endParaRPr lang="en-AU" sz="1100" dirty="0" smtClean="0"/>
          </a:p>
          <a:p>
            <a:pPr lvl="0">
              <a:buFont typeface="Arial" pitchFamily="34" charset="0"/>
              <a:buChar char="•"/>
            </a:pPr>
            <a:r>
              <a:rPr lang="en-AU" dirty="0" smtClean="0"/>
              <a:t> Ask permission to transfer their call,</a:t>
            </a:r>
            <a:r>
              <a:rPr lang="en-AU" baseline="0" dirty="0" smtClean="0"/>
              <a:t> f</a:t>
            </a:r>
            <a:r>
              <a:rPr lang="en-AU" dirty="0" smtClean="0"/>
              <a:t>or example:</a:t>
            </a:r>
            <a:endParaRPr lang="en-AU" sz="1100" dirty="0" smtClean="0"/>
          </a:p>
          <a:p>
            <a:pPr lvl="1">
              <a:buFont typeface="Arial" pitchFamily="34" charset="0"/>
              <a:buChar char="•"/>
            </a:pPr>
            <a:r>
              <a:rPr lang="en-AU" dirty="0" smtClean="0"/>
              <a:t> “Mr Watts, I’m sorry I can’t help you with your query but I’d like to transfer you to Mr Brown who is the manager. Would you like to be connected to him?– I’m sure he will be able to give you the information you need” </a:t>
            </a:r>
            <a:endParaRPr lang="en-AU" sz="1100" dirty="0" smtClean="0"/>
          </a:p>
          <a:p>
            <a:pPr lvl="0">
              <a:buFont typeface="Arial" pitchFamily="34" charset="0"/>
              <a:buChar char="•"/>
            </a:pPr>
            <a:r>
              <a:rPr lang="en-AU" dirty="0" smtClean="0"/>
              <a:t> Transfer the call and monitor it .</a:t>
            </a:r>
            <a:r>
              <a:rPr lang="en-AU" baseline="0" dirty="0" smtClean="0"/>
              <a:t> I</a:t>
            </a:r>
            <a:r>
              <a:rPr lang="en-AU" dirty="0" smtClean="0"/>
              <a:t>f the call isn’t answered you must go back to the caller, apologise and make arrangements for the business or person to phone the caller back.</a:t>
            </a:r>
            <a:endParaRPr lang="en-AU" sz="1100" dirty="0" smtClean="0"/>
          </a:p>
          <a:p>
            <a:endParaRPr lang="en-AU" dirty="0" smtClean="0"/>
          </a:p>
          <a:p>
            <a:r>
              <a:rPr lang="en-US" b="1" dirty="0" smtClean="0"/>
              <a:t>Class Activity – Demonstration and practical exercise</a:t>
            </a:r>
          </a:p>
          <a:p>
            <a:r>
              <a:rPr lang="en-US" dirty="0" smtClean="0"/>
              <a:t>Trainer uses the Training Institute telephone system to demonstrate to students how to transfer a telephone call [Trainer may elect to use reception</a:t>
            </a:r>
            <a:r>
              <a:rPr lang="en-US" baseline="0" dirty="0" smtClean="0"/>
              <a:t> or </a:t>
            </a:r>
            <a:r>
              <a:rPr lang="en-US" dirty="0" smtClean="0"/>
              <a:t>administration</a:t>
            </a:r>
            <a:r>
              <a:rPr lang="en-US" baseline="0" dirty="0" smtClean="0"/>
              <a:t> staff to demonstrate this] and then</a:t>
            </a:r>
            <a:r>
              <a:rPr lang="en-US" dirty="0" smtClean="0"/>
              <a:t>:</a:t>
            </a:r>
          </a:p>
          <a:p>
            <a:pPr>
              <a:buFont typeface="Arial" pitchFamily="34" charset="0"/>
              <a:buChar char="•"/>
            </a:pPr>
            <a:r>
              <a:rPr lang="en-US" dirty="0" smtClean="0"/>
              <a:t> Uses</a:t>
            </a:r>
            <a:r>
              <a:rPr lang="en-US" baseline="0" dirty="0" smtClean="0"/>
              <a:t> Training Institute telephone system to call students and request someone or a department that will necessitate students transferring the call.</a:t>
            </a:r>
            <a:endParaRPr lang="en-US"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a:p>
        </p:txBody>
      </p:sp>
    </p:spTree>
    <p:extLst>
      <p:ext uri="{BB962C8B-B14F-4D97-AF65-F5344CB8AC3E}">
        <p14:creationId xmlns:p14="http://schemas.microsoft.com/office/powerpoint/2010/main" val="1680292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where the caller has asked to talk with someone who is unavailable they should:</a:t>
            </a:r>
          </a:p>
          <a:p>
            <a:pPr lvl="0">
              <a:buFont typeface="Arial" pitchFamily="34" charset="0"/>
              <a:buChar char="•"/>
            </a:pPr>
            <a:r>
              <a:rPr lang="en-AU" dirty="0" smtClean="0"/>
              <a:t> Apologise and tell them the person is unavailable but do not disclose where they are or why they are away</a:t>
            </a:r>
          </a:p>
          <a:p>
            <a:pPr lvl="0">
              <a:buFont typeface="Arial" pitchFamily="34" charset="0"/>
              <a:buChar char="•"/>
            </a:pPr>
            <a:r>
              <a:rPr lang="en-AU" dirty="0" smtClean="0"/>
              <a:t> Ask if they know of anyone else who might be able to help them.</a:t>
            </a:r>
            <a:r>
              <a:rPr lang="en-AU" baseline="0" dirty="0" smtClean="0"/>
              <a:t> T</a:t>
            </a:r>
            <a:r>
              <a:rPr lang="en-AU" dirty="0" smtClean="0"/>
              <a:t>his may involve you politely asking them the reason for their call so you can place it appropriately, or suggest another person who may be able to assist</a:t>
            </a:r>
          </a:p>
          <a:p>
            <a:pPr lvl="0">
              <a:buFont typeface="Arial" pitchFamily="34" charset="0"/>
              <a:buChar char="•"/>
            </a:pPr>
            <a:r>
              <a:rPr lang="en-AU" dirty="0" smtClean="0"/>
              <a:t> Ask if you can take a message and have the person concerned ring them back.</a:t>
            </a:r>
            <a:r>
              <a:rPr lang="en-AU" baseline="0" dirty="0" smtClean="0"/>
              <a:t> T</a:t>
            </a:r>
            <a:r>
              <a:rPr lang="en-AU" dirty="0" smtClean="0"/>
              <a:t>hen take a short but comprehensive message, repeating back the details to the caller (see section 1.5 for more details)</a:t>
            </a:r>
          </a:p>
          <a:p>
            <a:pPr lvl="0">
              <a:buFont typeface="Arial" pitchFamily="34" charset="0"/>
              <a:buChar char="•"/>
            </a:pPr>
            <a:r>
              <a:rPr lang="en-AU" dirty="0" smtClean="0"/>
              <a:t> Pass the message on to the appropriate person to make sure they receive the message.</a:t>
            </a:r>
            <a:r>
              <a:rPr lang="en-AU" baseline="0" dirty="0" smtClean="0"/>
              <a:t> A</a:t>
            </a:r>
            <a:r>
              <a:rPr lang="en-AU" dirty="0" smtClean="0"/>
              <a:t>lways remember taking a message is only part of the job. It is equally important to make sure it is passed on (see section 1.6)</a:t>
            </a:r>
          </a:p>
          <a:p>
            <a:pPr lvl="0">
              <a:buFont typeface="Arial" pitchFamily="34" charset="0"/>
              <a:buChar char="•"/>
            </a:pPr>
            <a:r>
              <a:rPr lang="en-AU" dirty="0" smtClean="0"/>
              <a:t> Monitor the action taken in response to the call.</a:t>
            </a:r>
            <a:r>
              <a:rPr lang="en-AU" baseline="0" dirty="0" smtClean="0"/>
              <a:t> F</a:t>
            </a:r>
            <a:r>
              <a:rPr lang="en-AU" dirty="0" smtClean="0"/>
              <a:t>or example, if the person who was required to reply to the call cannot be contacted, or is unable to answer, then you must provide quality service by telephoning the caller and advising them that even though their call has not been answered as intended, it has not been forgotten and will be dealt with shortly (by another person, where appropriate). You must keep trying to contact the caller, in this situation, until you are able to speak with them.</a:t>
            </a:r>
            <a:r>
              <a:rPr lang="en-AU" baseline="0" dirty="0" smtClean="0"/>
              <a:t> I</a:t>
            </a:r>
            <a:r>
              <a:rPr lang="en-AU" dirty="0" smtClean="0"/>
              <a:t>t is not acceptable to ring once, be unable to talk to them and then ignore the situation.</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a:p>
        </p:txBody>
      </p:sp>
    </p:spTree>
    <p:extLst>
      <p:ext uri="{BB962C8B-B14F-4D97-AF65-F5344CB8AC3E}">
        <p14:creationId xmlns:p14="http://schemas.microsoft.com/office/powerpoint/2010/main" val="26290361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a:t>
            </a:r>
            <a:r>
              <a:rPr lang="en-US" dirty="0" err="1" smtClean="0"/>
              <a:t>i</a:t>
            </a:r>
            <a:r>
              <a:rPr lang="en-AU" dirty="0" smtClean="0"/>
              <a:t>n some cases they will be the person who the caller needs to speak to, and they will be unable to answer all questions asked of them.</a:t>
            </a:r>
            <a:r>
              <a:rPr lang="en-AU" baseline="0" dirty="0" smtClean="0"/>
              <a:t> W</a:t>
            </a:r>
            <a:r>
              <a:rPr lang="en-AU" dirty="0" smtClean="0"/>
              <a:t>hen this occurs an appropriate response is to:</a:t>
            </a:r>
            <a:endParaRPr lang="en-AU" sz="1100" dirty="0" smtClean="0"/>
          </a:p>
          <a:p>
            <a:pPr lvl="0">
              <a:buFont typeface="Arial" pitchFamily="34" charset="0"/>
              <a:buChar char="•"/>
            </a:pPr>
            <a:r>
              <a:rPr lang="en-AU" dirty="0" smtClean="0"/>
              <a:t> Apologise quickly and sincerely.</a:t>
            </a:r>
            <a:r>
              <a:rPr lang="en-AU" baseline="0" dirty="0" smtClean="0"/>
              <a:t> I</a:t>
            </a:r>
            <a:r>
              <a:rPr lang="en-AU" dirty="0" smtClean="0"/>
              <a:t>f you don’t know the answer to a question then the sooner you identify this and inform the caller, the better</a:t>
            </a:r>
            <a:endParaRPr lang="en-AU" sz="1100" dirty="0" smtClean="0"/>
          </a:p>
          <a:p>
            <a:pPr lvl="0">
              <a:buFont typeface="Arial" pitchFamily="34" charset="0"/>
              <a:buChar char="•"/>
            </a:pPr>
            <a:r>
              <a:rPr lang="en-AU" dirty="0" smtClean="0"/>
              <a:t> Ask the caller if you can make some enquiries yourself and get back to them.</a:t>
            </a:r>
            <a:r>
              <a:rPr lang="en-AU" baseline="0" dirty="0" smtClean="0"/>
              <a:t> R</a:t>
            </a:r>
            <a:r>
              <a:rPr lang="en-AU" dirty="0" smtClean="0"/>
              <a:t>emember to ‘ask permission’ rather than ‘tell them’ what you are going to do</a:t>
            </a:r>
            <a:endParaRPr lang="en-AU" sz="1100" dirty="0" smtClean="0"/>
          </a:p>
          <a:p>
            <a:pPr lvl="0">
              <a:buFont typeface="Arial" pitchFamily="34" charset="0"/>
              <a:buChar char="•"/>
            </a:pPr>
            <a:r>
              <a:rPr lang="en-AU" dirty="0" smtClean="0"/>
              <a:t> Take their details and details of the query.</a:t>
            </a:r>
            <a:r>
              <a:rPr lang="en-AU" baseline="0" dirty="0" smtClean="0"/>
              <a:t> W</a:t>
            </a:r>
            <a:r>
              <a:rPr lang="en-AU" dirty="0" smtClean="0"/>
              <a:t>rite down their contact details,</a:t>
            </a:r>
            <a:r>
              <a:rPr lang="en-AU" baseline="0" dirty="0" smtClean="0"/>
              <a:t> </a:t>
            </a:r>
            <a:r>
              <a:rPr lang="en-AU" dirty="0" smtClean="0"/>
              <a:t> ask the best time to call back and capture all the details about the query</a:t>
            </a:r>
            <a:endParaRPr lang="en-AU" sz="1100" dirty="0" smtClean="0"/>
          </a:p>
          <a:p>
            <a:pPr lvl="0">
              <a:buFont typeface="Arial" pitchFamily="34" charset="0"/>
              <a:buChar char="•"/>
            </a:pPr>
            <a:r>
              <a:rPr lang="en-AU" dirty="0" smtClean="0"/>
              <a:t> Thank them for their call and confirm you will phone them back at the agreed time on the agreed number</a:t>
            </a:r>
            <a:endParaRPr lang="en-AU" sz="1100" dirty="0" smtClean="0"/>
          </a:p>
          <a:p>
            <a:pPr lvl="0">
              <a:buFont typeface="Arial" pitchFamily="34" charset="0"/>
              <a:buChar char="•"/>
            </a:pPr>
            <a:r>
              <a:rPr lang="en-AU" dirty="0" smtClean="0"/>
              <a:t> Find out the required answers.</a:t>
            </a:r>
            <a:r>
              <a:rPr lang="en-AU" baseline="0" dirty="0" smtClean="0"/>
              <a:t> A</a:t>
            </a:r>
            <a:r>
              <a:rPr lang="en-AU" dirty="0" smtClean="0"/>
              <a:t>sk other staff, research price lists, policies, schedules, menus etc.</a:t>
            </a:r>
            <a:endParaRPr lang="en-AU" sz="1100" dirty="0" smtClean="0"/>
          </a:p>
          <a:p>
            <a:pPr lvl="0">
              <a:buFont typeface="Arial" pitchFamily="34" charset="0"/>
              <a:buChar char="•"/>
            </a:pPr>
            <a:r>
              <a:rPr lang="en-AU" dirty="0" smtClean="0"/>
              <a:t> Phone them back as and when arranged</a:t>
            </a:r>
            <a:r>
              <a:rPr lang="en-AU" baseline="0" dirty="0" smtClean="0"/>
              <a:t> or </a:t>
            </a:r>
            <a:r>
              <a:rPr lang="en-AU" dirty="0" smtClean="0"/>
              <a:t>promised.</a:t>
            </a:r>
            <a:r>
              <a:rPr lang="en-AU" baseline="0" dirty="0" smtClean="0"/>
              <a:t> I</a:t>
            </a:r>
            <a:r>
              <a:rPr lang="en-AU" dirty="0" smtClean="0"/>
              <a:t>f there is difficulty obtaining the required information follow procedures as set out on next slide.</a:t>
            </a:r>
            <a:endParaRPr lang="en-AU" sz="1100"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a:p>
        </p:txBody>
      </p:sp>
    </p:spTree>
    <p:extLst>
      <p:ext uri="{BB962C8B-B14F-4D97-AF65-F5344CB8AC3E}">
        <p14:creationId xmlns:p14="http://schemas.microsoft.com/office/powerpoint/2010/main" val="17195218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a:t>
            </a:r>
            <a:r>
              <a:rPr lang="en-US" dirty="0" err="1" smtClean="0"/>
              <a:t>i</a:t>
            </a:r>
            <a:r>
              <a:rPr lang="en-AU" dirty="0" smtClean="0"/>
              <a:t>f they are having difficulty obtaining answers to callers questions as promised they should: </a:t>
            </a:r>
            <a:endParaRPr lang="en-AU" sz="1100" dirty="0" smtClean="0"/>
          </a:p>
          <a:p>
            <a:pPr lvl="0">
              <a:buFont typeface="Arial" pitchFamily="34" charset="0"/>
              <a:buChar char="•"/>
            </a:pPr>
            <a:r>
              <a:rPr lang="en-AU" dirty="0" smtClean="0"/>
              <a:t> Ring them and let them know you have not yet got the answer</a:t>
            </a:r>
            <a:endParaRPr lang="en-AU" sz="1100" dirty="0" smtClean="0"/>
          </a:p>
          <a:p>
            <a:pPr lvl="0">
              <a:buFont typeface="Arial" pitchFamily="34" charset="0"/>
              <a:buChar char="•"/>
            </a:pPr>
            <a:r>
              <a:rPr lang="en-AU" dirty="0" smtClean="0"/>
              <a:t> Apologise – sincerely but briefly</a:t>
            </a:r>
            <a:endParaRPr lang="en-AU" sz="1100" dirty="0" smtClean="0"/>
          </a:p>
          <a:p>
            <a:pPr lvl="0">
              <a:buFont typeface="Arial" pitchFamily="34" charset="0"/>
              <a:buChar char="•"/>
            </a:pPr>
            <a:r>
              <a:rPr lang="en-AU" dirty="0" smtClean="0"/>
              <a:t> Explain the situation – inform them why you are having difficulty (for example, the person you need to talk to may be away; the system may have crashed)</a:t>
            </a:r>
            <a:endParaRPr lang="en-AU" sz="1100" dirty="0" smtClean="0"/>
          </a:p>
          <a:p>
            <a:pPr lvl="0">
              <a:buFont typeface="Arial" pitchFamily="34" charset="0"/>
              <a:buChar char="•"/>
            </a:pPr>
            <a:r>
              <a:rPr lang="en-AU" dirty="0" smtClean="0"/>
              <a:t> Let them know you are still following up to demonstrate you are working for them</a:t>
            </a:r>
            <a:r>
              <a:rPr lang="en-AU" baseline="0" dirty="0" smtClean="0"/>
              <a:t> and </a:t>
            </a:r>
            <a:r>
              <a:rPr lang="en-AU" dirty="0" smtClean="0"/>
              <a:t>on their behalf</a:t>
            </a:r>
            <a:endParaRPr lang="en-AU" sz="1100" dirty="0" smtClean="0"/>
          </a:p>
          <a:p>
            <a:pPr lvl="0">
              <a:buFont typeface="Arial" pitchFamily="34" charset="0"/>
              <a:buChar char="•"/>
            </a:pPr>
            <a:r>
              <a:rPr lang="en-AU" dirty="0" smtClean="0"/>
              <a:t> Make a time to phone them back with the required answers and repeat this process where you still cannot find answers.</a:t>
            </a:r>
            <a:endParaRPr lang="en-AU" sz="1100"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a:p>
        </p:txBody>
      </p:sp>
    </p:spTree>
    <p:extLst>
      <p:ext uri="{BB962C8B-B14F-4D97-AF65-F5344CB8AC3E}">
        <p14:creationId xmlns:p14="http://schemas.microsoft.com/office/powerpoint/2010/main" val="38496507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students with tips to follow when transferring a phone call to another extension:</a:t>
            </a:r>
          </a:p>
          <a:p>
            <a:pPr lvl="0">
              <a:buFont typeface="Arial" pitchFamily="34" charset="0"/>
              <a:buChar char="•"/>
            </a:pPr>
            <a:r>
              <a:rPr lang="en-AU" dirty="0" smtClean="0"/>
              <a:t> Transfer calls promptly.</a:t>
            </a:r>
            <a:r>
              <a:rPr lang="en-AU" baseline="0" dirty="0" smtClean="0"/>
              <a:t> Q</a:t>
            </a:r>
            <a:r>
              <a:rPr lang="en-AU" dirty="0" smtClean="0"/>
              <a:t>uickly identify if there is a need to transfer the call or not</a:t>
            </a:r>
          </a:p>
          <a:p>
            <a:pPr lvl="0">
              <a:buFont typeface="Arial" pitchFamily="34" charset="0"/>
              <a:buChar char="•"/>
            </a:pPr>
            <a:r>
              <a:rPr lang="en-AU" dirty="0" smtClean="0"/>
              <a:t> Locate the required person for the caller</a:t>
            </a:r>
            <a:r>
              <a:rPr lang="en-AU" baseline="0" dirty="0" smtClean="0"/>
              <a:t> w</a:t>
            </a:r>
            <a:r>
              <a:rPr lang="en-AU" dirty="0" smtClean="0"/>
              <a:t>here necessary</a:t>
            </a:r>
            <a:r>
              <a:rPr lang="en-AU" baseline="0" dirty="0" smtClean="0"/>
              <a:t> or </a:t>
            </a:r>
            <a:r>
              <a:rPr lang="en-AU" dirty="0" smtClean="0"/>
              <a:t>appropriate, while the caller is on hold.</a:t>
            </a:r>
            <a:r>
              <a:rPr lang="en-AU" baseline="0" dirty="0" smtClean="0"/>
              <a:t> D</a:t>
            </a:r>
            <a:r>
              <a:rPr lang="en-AU" dirty="0" smtClean="0"/>
              <a:t>o this quickly and advise them there is a call for them </a:t>
            </a:r>
          </a:p>
          <a:p>
            <a:pPr lvl="0">
              <a:buFont typeface="Arial" pitchFamily="34" charset="0"/>
              <a:buChar char="•"/>
            </a:pPr>
            <a:r>
              <a:rPr lang="en-AU" dirty="0" smtClean="0"/>
              <a:t> Not transferring calls to people you know are not available.</a:t>
            </a:r>
            <a:r>
              <a:rPr lang="en-AU" baseline="0" dirty="0" smtClean="0"/>
              <a:t> T</a:t>
            </a:r>
            <a:r>
              <a:rPr lang="en-AU" dirty="0" smtClean="0"/>
              <a:t>here is no point transferring a call to, for example:</a:t>
            </a:r>
          </a:p>
          <a:p>
            <a:pPr lvl="1">
              <a:buFont typeface="Arial" pitchFamily="34" charset="0"/>
              <a:buChar char="•"/>
            </a:pPr>
            <a:r>
              <a:rPr lang="en-AU" dirty="0" smtClean="0"/>
              <a:t> Someone you know is away, sick</a:t>
            </a:r>
          </a:p>
          <a:p>
            <a:pPr lvl="1">
              <a:buFont typeface="Arial" pitchFamily="34" charset="0"/>
              <a:buChar char="•"/>
            </a:pPr>
            <a:r>
              <a:rPr lang="en-AU" dirty="0" smtClean="0"/>
              <a:t> Someone who is on another call, or busy with a face-to-face customer</a:t>
            </a:r>
          </a:p>
          <a:p>
            <a:pPr lvl="0">
              <a:buFont typeface="Arial" pitchFamily="34" charset="0"/>
              <a:buChar char="•"/>
            </a:pPr>
            <a:r>
              <a:rPr lang="en-AU" dirty="0" smtClean="0"/>
              <a:t> Only try to transfer a call once to an extension.</a:t>
            </a:r>
            <a:r>
              <a:rPr lang="en-AU" baseline="0" dirty="0" smtClean="0"/>
              <a:t> I</a:t>
            </a:r>
            <a:r>
              <a:rPr lang="en-AU" dirty="0" smtClean="0"/>
              <a:t>t is standard practice in most workplaces </a:t>
            </a:r>
            <a:r>
              <a:rPr lang="en-AU" b="1" dirty="0" smtClean="0"/>
              <a:t>not to re-try </a:t>
            </a:r>
            <a:r>
              <a:rPr lang="en-AU" dirty="0" smtClean="0"/>
              <a:t>transferring a call to an extension that was busy</a:t>
            </a:r>
            <a:r>
              <a:rPr lang="en-AU" baseline="0" dirty="0" smtClean="0"/>
              <a:t> or </a:t>
            </a:r>
            <a:r>
              <a:rPr lang="en-AU" dirty="0" smtClean="0"/>
              <a:t>unavailable</a:t>
            </a:r>
          </a:p>
          <a:p>
            <a:pPr lvl="0">
              <a:buFont typeface="Arial" pitchFamily="34" charset="0"/>
              <a:buChar char="•"/>
            </a:pPr>
            <a:r>
              <a:rPr lang="en-AU" dirty="0" smtClean="0"/>
              <a:t> Give caller choices if the required person is unavailable,</a:t>
            </a:r>
            <a:r>
              <a:rPr lang="en-AU" baseline="0" dirty="0" smtClean="0"/>
              <a:t> </a:t>
            </a:r>
            <a:r>
              <a:rPr lang="en-AU" dirty="0" smtClean="0"/>
              <a:t>such as:</a:t>
            </a:r>
          </a:p>
          <a:p>
            <a:pPr lvl="1">
              <a:buFont typeface="Arial" pitchFamily="34" charset="0"/>
              <a:buChar char="•"/>
            </a:pPr>
            <a:r>
              <a:rPr lang="en-AU" dirty="0" smtClean="0"/>
              <a:t> Continuing to hold</a:t>
            </a:r>
          </a:p>
          <a:p>
            <a:pPr lvl="1">
              <a:buFont typeface="Arial" pitchFamily="34" charset="0"/>
              <a:buChar char="•"/>
            </a:pPr>
            <a:r>
              <a:rPr lang="en-AU" dirty="0" smtClean="0"/>
              <a:t> Leaving a message</a:t>
            </a:r>
          </a:p>
          <a:p>
            <a:pPr lvl="1">
              <a:buFont typeface="Arial" pitchFamily="34" charset="0"/>
              <a:buChar char="•"/>
            </a:pPr>
            <a:r>
              <a:rPr lang="en-AU" dirty="0" smtClean="0"/>
              <a:t> Having the business call them back</a:t>
            </a:r>
          </a:p>
          <a:p>
            <a:pPr lvl="1">
              <a:buFont typeface="Arial" pitchFamily="34" charset="0"/>
              <a:buChar char="•"/>
            </a:pPr>
            <a:r>
              <a:rPr lang="en-AU" dirty="0" smtClean="0"/>
              <a:t> Calling back again later.</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a:p>
        </p:txBody>
      </p:sp>
    </p:spTree>
    <p:extLst>
      <p:ext uri="{BB962C8B-B14F-4D97-AF65-F5344CB8AC3E}">
        <p14:creationId xmlns:p14="http://schemas.microsoft.com/office/powerpoint/2010/main" val="2431092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stresses to students that all promises made on the telephone to a caller </a:t>
            </a:r>
            <a:r>
              <a:rPr lang="en-US" b="1" dirty="0" smtClean="0"/>
              <a:t>must be kept</a:t>
            </a:r>
            <a:r>
              <a:rPr lang="en-US" dirty="0" smtClean="0"/>
              <a:t>.</a:t>
            </a:r>
          </a:p>
          <a:p>
            <a:endParaRPr lang="en-US" dirty="0" smtClean="0"/>
          </a:p>
          <a:p>
            <a:r>
              <a:rPr lang="en-US" dirty="0" smtClean="0"/>
              <a:t>Trainer explains by stating (for example):</a:t>
            </a:r>
          </a:p>
          <a:p>
            <a:pPr>
              <a:buFont typeface="Arial" pitchFamily="34" charset="0"/>
              <a:buChar char="•"/>
            </a:pPr>
            <a:r>
              <a:rPr lang="en-US" dirty="0" smtClean="0"/>
              <a:t> If a promise is made to call them back then</a:t>
            </a:r>
            <a:r>
              <a:rPr lang="en-US" baseline="0" dirty="0" smtClean="0"/>
              <a:t> </a:t>
            </a:r>
            <a:r>
              <a:rPr lang="en-US" dirty="0" smtClean="0"/>
              <a:t>they must be called back</a:t>
            </a:r>
          </a:p>
          <a:p>
            <a:pPr>
              <a:buFont typeface="Arial" pitchFamily="34" charset="0"/>
              <a:buChar char="•"/>
            </a:pPr>
            <a:r>
              <a:rPr lang="en-US" dirty="0" smtClean="0"/>
              <a:t> If a promise is made that Mr. Sing will call back, Mr. Sing must call back</a:t>
            </a:r>
          </a:p>
          <a:p>
            <a:pPr>
              <a:buFont typeface="Arial" pitchFamily="34" charset="0"/>
              <a:buChar char="•"/>
            </a:pPr>
            <a:r>
              <a:rPr lang="en-US" dirty="0" smtClean="0"/>
              <a:t> If a promises was made to call back before 5:00PM, the</a:t>
            </a:r>
            <a:r>
              <a:rPr lang="en-US" baseline="0" dirty="0" smtClean="0"/>
              <a:t> </a:t>
            </a:r>
            <a:r>
              <a:rPr lang="en-US" dirty="0" smtClean="0"/>
              <a:t>call must be made back to them before this time.</a:t>
            </a:r>
          </a:p>
          <a:p>
            <a:endParaRPr lang="en-US" dirty="0" smtClean="0"/>
          </a:p>
          <a:p>
            <a:r>
              <a:rPr lang="en-US" dirty="0" smtClean="0"/>
              <a:t>Trainer highlights that keeping promises made on the telephone</a:t>
            </a:r>
            <a:r>
              <a:rPr lang="en-US" baseline="0" dirty="0" smtClean="0"/>
              <a:t> is a great way of:</a:t>
            </a:r>
          </a:p>
          <a:p>
            <a:pPr>
              <a:buFont typeface="Arial" pitchFamily="34" charset="0"/>
              <a:buChar char="•"/>
            </a:pPr>
            <a:r>
              <a:rPr lang="en-US" dirty="0" smtClean="0"/>
              <a:t> Building customer</a:t>
            </a:r>
            <a:r>
              <a:rPr lang="en-US" baseline="0" dirty="0" smtClean="0"/>
              <a:t> or </a:t>
            </a:r>
            <a:r>
              <a:rPr lang="en-US" dirty="0" smtClean="0"/>
              <a:t>caller confidence in the business.</a:t>
            </a:r>
            <a:r>
              <a:rPr lang="en-US" baseline="0" dirty="0" smtClean="0"/>
              <a:t> I</a:t>
            </a:r>
            <a:r>
              <a:rPr lang="en-US" dirty="0" smtClean="0"/>
              <a:t>f promises made on the telephone are honored,</a:t>
            </a:r>
            <a:r>
              <a:rPr lang="en-US" baseline="0" dirty="0" smtClean="0"/>
              <a:t> callers believe other promises made by the business when they do business with them will also be honored</a:t>
            </a:r>
            <a:endParaRPr lang="en-US" dirty="0" smtClean="0"/>
          </a:p>
          <a:p>
            <a:pPr>
              <a:buFont typeface="Arial" pitchFamily="34" charset="0"/>
              <a:buChar char="•"/>
            </a:pPr>
            <a:r>
              <a:rPr lang="en-US" dirty="0" smtClean="0"/>
              <a:t> Valuing the business of the caller by demonstrating the </a:t>
            </a:r>
            <a:r>
              <a:rPr lang="en-AU" noProof="0" dirty="0" smtClean="0"/>
              <a:t>organisation</a:t>
            </a:r>
            <a:r>
              <a:rPr lang="en-US" dirty="0" smtClean="0"/>
              <a:t> wants to do business with the caller</a:t>
            </a:r>
          </a:p>
          <a:p>
            <a:pPr>
              <a:buFont typeface="Arial" pitchFamily="34" charset="0"/>
              <a:buChar char="•"/>
            </a:pPr>
            <a:r>
              <a:rPr lang="en-US" dirty="0" smtClean="0"/>
              <a:t> Respecting the caller by extending the common courtesy of doing what was promised</a:t>
            </a:r>
          </a:p>
          <a:p>
            <a:pPr>
              <a:buFont typeface="Arial" pitchFamily="34" charset="0"/>
              <a:buChar char="•"/>
            </a:pPr>
            <a:r>
              <a:rPr lang="en-US" dirty="0" smtClean="0"/>
              <a:t> Differentiating the business from nearly every other business.</a:t>
            </a:r>
            <a:r>
              <a:rPr lang="en-US" baseline="0" dirty="0" smtClean="0"/>
              <a:t> M</a:t>
            </a:r>
            <a:r>
              <a:rPr lang="en-US" dirty="0" smtClean="0"/>
              <a:t>ost other businesses do not keep their promises so this is a simple and effective way to show how your business differs to the</a:t>
            </a:r>
            <a:r>
              <a:rPr lang="en-US" baseline="0" dirty="0" smtClean="0"/>
              <a:t> competition</a:t>
            </a:r>
            <a:r>
              <a:rPr lang="en-US" dirty="0" smtClean="0"/>
              <a:t>.</a:t>
            </a:r>
          </a:p>
          <a:p>
            <a:pPr>
              <a:buFont typeface="Arial" pitchFamily="34" charset="0"/>
              <a:buChar char="•"/>
            </a:pP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a:p>
        </p:txBody>
      </p:sp>
    </p:spTree>
    <p:extLst>
      <p:ext uri="{BB962C8B-B14F-4D97-AF65-F5344CB8AC3E}">
        <p14:creationId xmlns:p14="http://schemas.microsoft.com/office/powerpoint/2010/main" val="18580609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instructs students </a:t>
            </a:r>
            <a:r>
              <a:rPr lang="en-US" dirty="0" err="1" smtClean="0"/>
              <a:t>i</a:t>
            </a:r>
            <a:r>
              <a:rPr lang="en-AU" dirty="0" smtClean="0"/>
              <a:t>f the caller asks to leave a message or it becomes obvious a message needs to be taken, high levels of customer service must be provided and they must be on their guard to never give the impression that</a:t>
            </a:r>
            <a:r>
              <a:rPr lang="en-AU" baseline="0" dirty="0" smtClean="0"/>
              <a:t> </a:t>
            </a:r>
            <a:r>
              <a:rPr lang="en-AU" dirty="0" smtClean="0"/>
              <a:t>having to take a message is a nuisance or a burden.</a:t>
            </a:r>
          </a:p>
          <a:p>
            <a:endParaRPr lang="en-AU" dirty="0" smtClean="0"/>
          </a:p>
          <a:p>
            <a:r>
              <a:rPr lang="en-AU" dirty="0" smtClean="0"/>
              <a:t>Trainer explains taking a telephone message must be done:</a:t>
            </a:r>
          </a:p>
          <a:p>
            <a:pPr>
              <a:buFont typeface="Arial" pitchFamily="34" charset="0"/>
              <a:buChar char="•"/>
            </a:pPr>
            <a:r>
              <a:rPr lang="en-AU" dirty="0" smtClean="0"/>
              <a:t> Cheerfully.</a:t>
            </a:r>
            <a:r>
              <a:rPr lang="en-AU" baseline="0" dirty="0" smtClean="0"/>
              <a:t> T</a:t>
            </a:r>
            <a:r>
              <a:rPr lang="en-AU" dirty="0" smtClean="0"/>
              <a:t>he same level of customer service must be provided as dealing with all other aspects of telephone operation. </a:t>
            </a:r>
          </a:p>
          <a:p>
            <a:pPr lvl="0">
              <a:buFont typeface="Arial" pitchFamily="34" charset="0"/>
              <a:buChar char="•"/>
            </a:pPr>
            <a:r>
              <a:rPr lang="en-AU" dirty="0" smtClean="0"/>
              <a:t> Using the designated telephone message form – see following slide</a:t>
            </a:r>
          </a:p>
          <a:p>
            <a:pPr lvl="0">
              <a:buFont typeface="Arial" pitchFamily="34" charset="0"/>
              <a:buChar char="•"/>
            </a:pPr>
            <a:r>
              <a:rPr lang="en-AU" dirty="0" smtClean="0"/>
              <a:t> Making sure you capture all the information the caller gives you.</a:t>
            </a:r>
            <a:r>
              <a:rPr lang="en-AU" baseline="0" dirty="0" smtClean="0"/>
              <a:t> T</a:t>
            </a:r>
            <a:r>
              <a:rPr lang="en-AU" dirty="0" smtClean="0"/>
              <a:t>he message must be meaningful and comprehensive.</a:t>
            </a:r>
            <a:r>
              <a:rPr lang="en-AU" baseline="0" dirty="0" smtClean="0"/>
              <a:t> R</a:t>
            </a:r>
            <a:r>
              <a:rPr lang="en-AU" dirty="0" smtClean="0"/>
              <a:t>emember another person will have to read, interpret and act on it</a:t>
            </a:r>
          </a:p>
          <a:p>
            <a:pPr lvl="0">
              <a:buFont typeface="Arial" pitchFamily="34" charset="0"/>
              <a:buChar char="•"/>
            </a:pPr>
            <a:r>
              <a:rPr lang="en-AU" dirty="0" smtClean="0"/>
              <a:t> Ensuring  you get the details (times, dates, numbers, prices, addresses, flight numbers etc.) correct – double-check them. Special attention needs to be paid to spelling of names, addresses, towns etc. Ask the caller to spell out names and destinations if unsure of the spelling or where variations on traditional spelling exist </a:t>
            </a:r>
          </a:p>
          <a:p>
            <a:pPr lvl="0">
              <a:buFont typeface="Arial" pitchFamily="34" charset="0"/>
              <a:buChar char="•"/>
            </a:pPr>
            <a:r>
              <a:rPr lang="en-AU" dirty="0" smtClean="0"/>
              <a:t> Repeating the message back to the caller to confirm it and allow them to provide extra information</a:t>
            </a:r>
            <a:r>
              <a:rPr lang="en-AU" baseline="0" dirty="0" smtClean="0"/>
              <a:t> or </a:t>
            </a:r>
            <a:r>
              <a:rPr lang="en-AU" dirty="0" smtClean="0"/>
              <a:t>detail or change the details already provided and make corrections (adjustments, additions etc.) as required</a:t>
            </a:r>
          </a:p>
          <a:p>
            <a:pPr lvl="0">
              <a:buFont typeface="Arial" pitchFamily="34" charset="0"/>
              <a:buChar char="•"/>
            </a:pPr>
            <a:r>
              <a:rPr lang="en-AU" dirty="0" smtClean="0"/>
              <a:t> Thanking the caller for their call, leaving a message, calling back etc.</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a:p>
        </p:txBody>
      </p:sp>
    </p:spTree>
    <p:extLst>
      <p:ext uri="{BB962C8B-B14F-4D97-AF65-F5344CB8AC3E}">
        <p14:creationId xmlns:p14="http://schemas.microsoft.com/office/powerpoint/2010/main" val="23285462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once a message has been taken it</a:t>
            </a:r>
            <a:r>
              <a:rPr lang="en-US" baseline="0" dirty="0" smtClean="0"/>
              <a:t> must be passed on:</a:t>
            </a:r>
          </a:p>
          <a:p>
            <a:pPr>
              <a:buFont typeface="Arial" pitchFamily="34" charset="0"/>
              <a:buChar char="•"/>
            </a:pPr>
            <a:r>
              <a:rPr lang="en-US" baseline="0" dirty="0" smtClean="0"/>
              <a:t> To the appropriate person or department, as appropriate</a:t>
            </a:r>
          </a:p>
          <a:p>
            <a:pPr>
              <a:buFont typeface="Arial" pitchFamily="34" charset="0"/>
              <a:buChar char="•"/>
            </a:pPr>
            <a:r>
              <a:rPr lang="en-US" baseline="0" dirty="0" smtClean="0"/>
              <a:t> Promptly – which translates into ‘as soon as possible’</a:t>
            </a:r>
          </a:p>
          <a:p>
            <a:pPr>
              <a:buFont typeface="Arial" pitchFamily="34" charset="0"/>
              <a:buChar char="•"/>
            </a:pPr>
            <a:r>
              <a:rPr lang="en-US" baseline="0" dirty="0" smtClean="0"/>
              <a:t> In hard copy form. It is rarely acceptable simply to pass on a verbal message.</a:t>
            </a:r>
          </a:p>
          <a:p>
            <a:pPr>
              <a:buFont typeface="Arial" pitchFamily="34" charset="0"/>
              <a:buChar char="•"/>
            </a:pPr>
            <a:endParaRPr lang="en-US" baseline="0" dirty="0" smtClean="0"/>
          </a:p>
          <a:p>
            <a:pPr>
              <a:buFont typeface="Arial" pitchFamily="34" charset="0"/>
              <a:buNone/>
            </a:pPr>
            <a:r>
              <a:rPr lang="en-US" baseline="0" dirty="0" smtClean="0"/>
              <a:t>Trainer also advises students that to make sure the appropriate person has received their message they may:</a:t>
            </a:r>
          </a:p>
          <a:p>
            <a:pPr>
              <a:buFont typeface="Arial" pitchFamily="34" charset="0"/>
              <a:buChar char="•"/>
            </a:pPr>
            <a:r>
              <a:rPr lang="en-US" baseline="0" dirty="0" smtClean="0"/>
              <a:t> Physically check the staff notice board, or pigeon hole to see whether or not they have picked up their message</a:t>
            </a:r>
          </a:p>
          <a:p>
            <a:pPr>
              <a:buFont typeface="Arial" pitchFamily="34" charset="0"/>
              <a:buChar char="•"/>
            </a:pPr>
            <a:r>
              <a:rPr lang="en-US" baseline="0" dirty="0" smtClean="0"/>
              <a:t> Check the email system to verify a Read Receipt has been received acknowledging an email alert/message has been received </a:t>
            </a:r>
          </a:p>
          <a:p>
            <a:pPr>
              <a:buFont typeface="Arial" pitchFamily="34" charset="0"/>
              <a:buChar char="•"/>
            </a:pPr>
            <a:r>
              <a:rPr lang="en-US" baseline="0" dirty="0" smtClean="0"/>
              <a:t> Speak one-to-one with the person – in person or over the phone to confirm they have received their message.</a:t>
            </a:r>
          </a:p>
          <a:p>
            <a:endParaRPr lang="en-US" baseline="0"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a:p>
        </p:txBody>
      </p:sp>
    </p:spTree>
    <p:extLst>
      <p:ext uri="{BB962C8B-B14F-4D97-AF65-F5344CB8AC3E}">
        <p14:creationId xmlns:p14="http://schemas.microsoft.com/office/powerpoint/2010/main" val="11680188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tells students m</a:t>
            </a:r>
            <a:r>
              <a:rPr lang="en-AU" dirty="0" smtClean="0"/>
              <a:t>any businesses have a paper-based message book or a pad of ‘telephone message’ slips for recording telephone messages, highlighting these may be produced by the business for their individual use but most businesses will use a commercially available option found at stationers</a:t>
            </a:r>
          </a:p>
          <a:p>
            <a:endParaRPr lang="en-AU" dirty="0" smtClean="0"/>
          </a:p>
          <a:p>
            <a:r>
              <a:rPr lang="en-AU" dirty="0" smtClean="0"/>
              <a:t>Trainer explains:</a:t>
            </a:r>
          </a:p>
          <a:p>
            <a:pPr>
              <a:buFont typeface="Arial" pitchFamily="34" charset="0"/>
              <a:buChar char="•"/>
            </a:pPr>
            <a:r>
              <a:rPr lang="en-AU" dirty="0" smtClean="0"/>
              <a:t> These books/pads are duplicate in nature.</a:t>
            </a:r>
            <a:r>
              <a:rPr lang="en-AU" baseline="0" dirty="0" smtClean="0"/>
              <a:t> T</a:t>
            </a:r>
            <a:r>
              <a:rPr lang="en-AU" dirty="0" smtClean="0"/>
              <a:t>he top copy is given to the person for whom the message is intended and the duplicate</a:t>
            </a:r>
            <a:r>
              <a:rPr lang="en-AU" baseline="0" dirty="0" smtClean="0"/>
              <a:t> or </a:t>
            </a:r>
            <a:r>
              <a:rPr lang="en-AU" dirty="0" smtClean="0"/>
              <a:t>bottom copy stays in the book/pad.</a:t>
            </a:r>
          </a:p>
          <a:p>
            <a:pPr>
              <a:buFont typeface="Arial" pitchFamily="34" charset="0"/>
              <a:buChar char="•"/>
            </a:pPr>
            <a:r>
              <a:rPr lang="en-AU" dirty="0" smtClean="0"/>
              <a:t> If the top copy is lost, the duplicate copy can always be used as a reference. </a:t>
            </a:r>
          </a:p>
          <a:p>
            <a:pPr>
              <a:buFont typeface="Arial" pitchFamily="34" charset="0"/>
              <a:buChar char="•"/>
            </a:pPr>
            <a:r>
              <a:rPr lang="en-AU" dirty="0" smtClean="0"/>
              <a:t> When recording a telephone message ensure:</a:t>
            </a:r>
          </a:p>
          <a:p>
            <a:pPr lvl="1">
              <a:buFont typeface="Arial" pitchFamily="34" charset="0"/>
              <a:buChar char="•"/>
            </a:pPr>
            <a:r>
              <a:rPr lang="en-AU" dirty="0" smtClean="0"/>
              <a:t> Legibility – remember that someone else has to read it</a:t>
            </a:r>
          </a:p>
          <a:p>
            <a:pPr lvl="1">
              <a:buFont typeface="Arial" pitchFamily="34" charset="0"/>
              <a:buChar char="•"/>
            </a:pPr>
            <a:r>
              <a:rPr lang="en-AU" dirty="0" smtClean="0"/>
              <a:t> Put your name/initials on it so the recipient knows who took the message, allowing them to contact you for more information</a:t>
            </a:r>
          </a:p>
          <a:p>
            <a:pPr lvl="1">
              <a:buFont typeface="Arial" pitchFamily="34" charset="0"/>
              <a:buChar char="•"/>
            </a:pPr>
            <a:r>
              <a:rPr lang="en-AU" dirty="0" smtClean="0"/>
              <a:t> You record the caller’s name, phone number, nature of the call, query or message, and date and time of the call</a:t>
            </a:r>
          </a:p>
          <a:p>
            <a:pPr lvl="1">
              <a:buFont typeface="Arial" pitchFamily="34" charset="0"/>
              <a:buChar char="•"/>
            </a:pPr>
            <a:r>
              <a:rPr lang="en-AU" dirty="0" smtClean="0"/>
              <a:t> What action the recipient is required to take, if any – such as ‘ring back’, ‘forward function Information Kit’ etc: Remember this is a promise made to the caller so it is important it is kept.</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a:p>
        </p:txBody>
      </p:sp>
    </p:spTree>
    <p:extLst>
      <p:ext uri="{BB962C8B-B14F-4D97-AF65-F5344CB8AC3E}">
        <p14:creationId xmlns:p14="http://schemas.microsoft.com/office/powerpoint/2010/main" val="38188549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that when taking telephone messages:</a:t>
            </a:r>
          </a:p>
          <a:p>
            <a:pPr>
              <a:buFont typeface="Arial" pitchFamily="34" charset="0"/>
              <a:buChar char="•"/>
            </a:pPr>
            <a:r>
              <a:rPr lang="en-US" dirty="0" smtClean="0"/>
              <a:t> An electronic option to the paper-based ‘telephone message’ may exist in their workplace.</a:t>
            </a:r>
            <a:r>
              <a:rPr lang="en-US" baseline="0" dirty="0" smtClean="0"/>
              <a:t> T</a:t>
            </a:r>
            <a:r>
              <a:rPr lang="en-US" dirty="0" smtClean="0"/>
              <a:t>his is either a template facility, intranet or internal email and facilitates both the recording and distribution of telephone messages</a:t>
            </a:r>
          </a:p>
          <a:p>
            <a:pPr>
              <a:buFont typeface="Arial" pitchFamily="34" charset="0"/>
              <a:buChar char="•"/>
            </a:pPr>
            <a:r>
              <a:rPr lang="en-US" dirty="0" smtClean="0"/>
              <a:t> The use of scraps of paper to record telephone messages must be avoided at all times because;</a:t>
            </a:r>
          </a:p>
          <a:p>
            <a:pPr lvl="1">
              <a:buFont typeface="Arial" pitchFamily="34" charset="0"/>
              <a:buChar char="•"/>
            </a:pPr>
            <a:r>
              <a:rPr lang="en-US" dirty="0" smtClean="0"/>
              <a:t> They are unprofessional.</a:t>
            </a:r>
            <a:r>
              <a:rPr lang="en-US" baseline="0" dirty="0" smtClean="0"/>
              <a:t> I</a:t>
            </a:r>
            <a:r>
              <a:rPr lang="en-US" dirty="0" smtClean="0"/>
              <a:t>t looks bad to any customer who sees what you are doing</a:t>
            </a:r>
          </a:p>
          <a:p>
            <a:pPr lvl="1">
              <a:buFont typeface="Arial" pitchFamily="34" charset="0"/>
              <a:buChar char="•"/>
            </a:pPr>
            <a:r>
              <a:rPr lang="en-US" dirty="0" smtClean="0"/>
              <a:t> They are more easily lost.</a:t>
            </a:r>
            <a:r>
              <a:rPr lang="en-US" baseline="0" dirty="0" smtClean="0"/>
              <a:t> M</a:t>
            </a:r>
            <a:r>
              <a:rPr lang="en-US" dirty="0" smtClean="0"/>
              <a:t>essages in a telephone message book stay in place until physically removed</a:t>
            </a:r>
          </a:p>
          <a:p>
            <a:pPr lvl="1">
              <a:buFont typeface="Arial" pitchFamily="34" charset="0"/>
              <a:buChar char="•"/>
            </a:pPr>
            <a:r>
              <a:rPr lang="en-US" dirty="0" smtClean="0"/>
              <a:t> They do not prompt the message take to ask the necessary questions.</a:t>
            </a:r>
            <a:r>
              <a:rPr lang="en-US" baseline="0" dirty="0" smtClean="0"/>
              <a:t> T</a:t>
            </a:r>
            <a:r>
              <a:rPr lang="en-US" dirty="0" smtClean="0"/>
              <a:t>he sections on a telephone message pad function as prompts as to what questions to ask the caller in order to capture all the necessary call details.</a:t>
            </a:r>
          </a:p>
          <a:p>
            <a:endParaRPr lang="en-US" dirty="0" smtClean="0"/>
          </a:p>
          <a:p>
            <a:r>
              <a:rPr lang="en-US" b="1" dirty="0" smtClean="0"/>
              <a:t>Class</a:t>
            </a:r>
            <a:r>
              <a:rPr lang="en-US" b="1" baseline="0" dirty="0" smtClean="0"/>
              <a:t> Activity 1 – Distribution of telephone message forms</a:t>
            </a:r>
          </a:p>
          <a:p>
            <a:r>
              <a:rPr lang="en-US" b="0" dirty="0" smtClean="0"/>
              <a:t>Trainer obtains sample telephone message forms and distributes them to students, identifying the sections on the forms and explaining what each is used for.</a:t>
            </a:r>
          </a:p>
          <a:p>
            <a:endParaRPr lang="en-US" b="0" dirty="0" smtClean="0"/>
          </a:p>
          <a:p>
            <a:r>
              <a:rPr lang="en-US" b="1" dirty="0" smtClean="0"/>
              <a:t>Class Activity 2 – Exercises/simulation</a:t>
            </a:r>
          </a:p>
          <a:p>
            <a:r>
              <a:rPr lang="en-US" b="0" dirty="0" smtClean="0"/>
              <a:t>Trainer arranges for:</a:t>
            </a:r>
          </a:p>
          <a:p>
            <a:pPr>
              <a:buFont typeface="Arial" pitchFamily="34" charset="0"/>
              <a:buChar char="•"/>
            </a:pPr>
            <a:r>
              <a:rPr lang="en-US" b="0" dirty="0" smtClean="0"/>
              <a:t> Students to answer Training Institute telephone in their class and take a message (on a Telephone message Pad/Form) from</a:t>
            </a:r>
            <a:r>
              <a:rPr lang="en-US" b="0" baseline="0" dirty="0" smtClean="0"/>
              <a:t> another student, playing the role of a customer leaving a message for a staff member or department.</a:t>
            </a:r>
            <a:endParaRPr lang="en-US" b="0" dirty="0" smtClean="0"/>
          </a:p>
          <a:p>
            <a:pPr>
              <a:buFont typeface="Arial" pitchFamily="34" charset="0"/>
              <a:buChar char="•"/>
            </a:pPr>
            <a:endParaRPr lang="en-US" b="0" dirty="0" smtClean="0"/>
          </a:p>
          <a:p>
            <a:pPr>
              <a:buFont typeface="Arial" pitchFamily="34" charset="0"/>
              <a:buChar char="•"/>
            </a:pPr>
            <a:endParaRPr lang="en-US" b="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a:p>
        </p:txBody>
      </p:sp>
    </p:spTree>
    <p:extLst>
      <p:ext uri="{BB962C8B-B14F-4D97-AF65-F5344CB8AC3E}">
        <p14:creationId xmlns:p14="http://schemas.microsoft.com/office/powerpoint/2010/main" val="31997796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reminds students it vital for all telephone messages to be passed on.</a:t>
            </a:r>
          </a:p>
          <a:p>
            <a:endParaRPr lang="en-US" dirty="0" smtClean="0"/>
          </a:p>
          <a:p>
            <a:r>
              <a:rPr lang="en-AU" dirty="0" smtClean="0"/>
              <a:t>Trainer explains to students options for relaying messages may be covered by a company policy (so they must check with their Supervisor) but options may include:</a:t>
            </a:r>
          </a:p>
          <a:p>
            <a:pPr lvl="0">
              <a:buFont typeface="Arial" pitchFamily="34" charset="0"/>
              <a:buChar char="•"/>
            </a:pPr>
            <a:r>
              <a:rPr lang="en-AU" dirty="0" smtClean="0"/>
              <a:t> Placing the top copy of the telephone message form into the person’s pigeon hole for them to collect.</a:t>
            </a:r>
            <a:r>
              <a:rPr lang="en-AU" baseline="0" dirty="0" smtClean="0"/>
              <a:t> T</a:t>
            </a:r>
            <a:r>
              <a:rPr lang="en-AU" dirty="0" smtClean="0"/>
              <a:t>his is not acceptable where the message is urgent</a:t>
            </a:r>
          </a:p>
          <a:p>
            <a:pPr lvl="0">
              <a:buFont typeface="Arial" pitchFamily="34" charset="0"/>
              <a:buChar char="•"/>
            </a:pPr>
            <a:r>
              <a:rPr lang="en-AU" dirty="0" smtClean="0"/>
              <a:t> Pinning it to the staff notice board</a:t>
            </a:r>
          </a:p>
          <a:p>
            <a:pPr lvl="0">
              <a:buFont typeface="Arial" pitchFamily="34" charset="0"/>
              <a:buChar char="•"/>
            </a:pPr>
            <a:r>
              <a:rPr lang="en-AU" dirty="0" smtClean="0"/>
              <a:t> Sending the person an email – see previous section re electronic templates for phone messages</a:t>
            </a:r>
          </a:p>
          <a:p>
            <a:pPr lvl="0">
              <a:buFont typeface="Arial" pitchFamily="34" charset="0"/>
              <a:buChar char="•"/>
            </a:pPr>
            <a:r>
              <a:rPr lang="en-AU" dirty="0" smtClean="0"/>
              <a:t> Physically taking the message and giving it to the person (handing it to them – this is appropriate where the matter is urgent)</a:t>
            </a:r>
          </a:p>
          <a:p>
            <a:pPr lvl="0">
              <a:buFont typeface="Arial" pitchFamily="34" charset="0"/>
              <a:buChar char="•"/>
            </a:pPr>
            <a:r>
              <a:rPr lang="en-AU" dirty="0" smtClean="0"/>
              <a:t> Leaving the person a voice message to let them know they have a message and asking them to (as appropriate) contact you, check their email, pick the message up from their pigeon hole etc.</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a:p>
        </p:txBody>
      </p:sp>
    </p:spTree>
    <p:extLst>
      <p:ext uri="{BB962C8B-B14F-4D97-AF65-F5344CB8AC3E}">
        <p14:creationId xmlns:p14="http://schemas.microsoft.com/office/powerpoint/2010/main" val="4244374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additional information to students regarding the relaying of telephone messages:</a:t>
            </a:r>
          </a:p>
          <a:p>
            <a:pPr lvl="0">
              <a:buFont typeface="Arial" pitchFamily="34" charset="0"/>
              <a:buChar char="•"/>
            </a:pPr>
            <a:r>
              <a:rPr lang="en-AU" dirty="0" smtClean="0"/>
              <a:t> Never leave telephone messages in the telephone message book.</a:t>
            </a:r>
            <a:r>
              <a:rPr lang="en-AU" baseline="0" dirty="0" smtClean="0"/>
              <a:t> I</a:t>
            </a:r>
            <a:r>
              <a:rPr lang="en-AU" dirty="0" smtClean="0"/>
              <a:t>t must be forwarded according to need</a:t>
            </a:r>
            <a:r>
              <a:rPr lang="en-AU" baseline="0" dirty="0" smtClean="0"/>
              <a:t> or </a:t>
            </a:r>
            <a:r>
              <a:rPr lang="en-AU" dirty="0" smtClean="0"/>
              <a:t>company policy</a:t>
            </a:r>
          </a:p>
          <a:p>
            <a:pPr lvl="0">
              <a:buFont typeface="Arial" pitchFamily="34" charset="0"/>
              <a:buChar char="•"/>
            </a:pPr>
            <a:r>
              <a:rPr lang="en-AU" dirty="0" smtClean="0"/>
              <a:t> Always follow-up on messages to make sure they have been received and/or actioned</a:t>
            </a:r>
          </a:p>
          <a:p>
            <a:pPr lvl="0">
              <a:buFont typeface="Arial" pitchFamily="34" charset="0"/>
              <a:buChar char="•"/>
            </a:pPr>
            <a:r>
              <a:rPr lang="en-AU" dirty="0" smtClean="0"/>
              <a:t> Relay all telephone messages promptly.</a:t>
            </a:r>
            <a:r>
              <a:rPr lang="en-AU" baseline="0" dirty="0" smtClean="0"/>
              <a:t> T</a:t>
            </a:r>
            <a:r>
              <a:rPr lang="en-AU" dirty="0" smtClean="0"/>
              <a:t>he standard timeline is ‘as soon as possible’</a:t>
            </a:r>
          </a:p>
          <a:p>
            <a:pPr lvl="0">
              <a:buFont typeface="Arial" pitchFamily="34" charset="0"/>
              <a:buChar char="•"/>
            </a:pPr>
            <a:r>
              <a:rPr lang="en-AU" dirty="0" smtClean="0"/>
              <a:t> Notify Supervisor where messages have not</a:t>
            </a:r>
            <a:r>
              <a:rPr lang="en-AU" baseline="0" dirty="0" smtClean="0"/>
              <a:t> or </a:t>
            </a:r>
            <a:r>
              <a:rPr lang="en-AU" dirty="0" smtClean="0"/>
              <a:t>cannot be delivered.</a:t>
            </a:r>
            <a:r>
              <a:rPr lang="en-AU" baseline="0" dirty="0" smtClean="0"/>
              <a:t> I</a:t>
            </a:r>
            <a:r>
              <a:rPr lang="en-AU" dirty="0" smtClean="0"/>
              <a:t>f a message has not been passed on or actioned in 24 hours the Supervisor should be advised of this.</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a:p>
        </p:txBody>
      </p:sp>
    </p:spTree>
    <p:extLst>
      <p:ext uri="{BB962C8B-B14F-4D97-AF65-F5344CB8AC3E}">
        <p14:creationId xmlns:p14="http://schemas.microsoft.com/office/powerpoint/2010/main" val="18577922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dirty="0" smtClean="0"/>
              <a:t>Trainer informs students they must determine what the workplace protocols are for handling threatening and/or</a:t>
            </a:r>
            <a:r>
              <a:rPr lang="en-US" baseline="0" dirty="0" smtClean="0"/>
              <a:t> suspicious phone calls and adhere to those at all times.</a:t>
            </a:r>
          </a:p>
          <a:p>
            <a:endParaRPr lang="en-US" baseline="0" dirty="0" smtClean="0"/>
          </a:p>
          <a:p>
            <a:r>
              <a:rPr lang="en-US" baseline="0" dirty="0" smtClean="0"/>
              <a:t>Trainer identifies suspicious or threatening phone calls as:</a:t>
            </a:r>
          </a:p>
          <a:p>
            <a:pPr lvl="0">
              <a:buFont typeface="Arial" pitchFamily="34" charset="0"/>
              <a:buChar char="•"/>
            </a:pPr>
            <a:r>
              <a:rPr lang="en-AU" dirty="0" smtClean="0"/>
              <a:t> Bomb threats  </a:t>
            </a:r>
          </a:p>
          <a:p>
            <a:pPr lvl="0">
              <a:buFont typeface="Arial" pitchFamily="34" charset="0"/>
              <a:buChar char="•"/>
            </a:pPr>
            <a:r>
              <a:rPr lang="en-AU" dirty="0" smtClean="0"/>
              <a:t> Hold-up threats</a:t>
            </a:r>
          </a:p>
          <a:p>
            <a:pPr lvl="0">
              <a:buFont typeface="Arial" pitchFamily="34" charset="0"/>
              <a:buChar char="•"/>
            </a:pPr>
            <a:r>
              <a:rPr lang="en-AU" dirty="0" smtClean="0"/>
              <a:t> Threats to staff members</a:t>
            </a:r>
          </a:p>
          <a:p>
            <a:pPr lvl="0">
              <a:buFont typeface="Arial" pitchFamily="34" charset="0"/>
              <a:buChar char="•"/>
            </a:pPr>
            <a:r>
              <a:rPr lang="en-AU" dirty="0" smtClean="0"/>
              <a:t> Threats of retribution</a:t>
            </a:r>
          </a:p>
          <a:p>
            <a:pPr lvl="0">
              <a:buFont typeface="Arial" pitchFamily="34" charset="0"/>
              <a:buChar char="•"/>
            </a:pPr>
            <a:r>
              <a:rPr lang="en-AU" dirty="0" smtClean="0"/>
              <a:t> Threats to damage property</a:t>
            </a:r>
          </a:p>
          <a:p>
            <a:pPr lvl="0">
              <a:buFont typeface="Arial" pitchFamily="34" charset="0"/>
              <a:buChar char="•"/>
            </a:pPr>
            <a:r>
              <a:rPr lang="en-AU" dirty="0" smtClean="0"/>
              <a:t> Nuisance</a:t>
            </a:r>
            <a:r>
              <a:rPr lang="en-AU" baseline="0" dirty="0" smtClean="0"/>
              <a:t> or </a:t>
            </a:r>
            <a:r>
              <a:rPr lang="en-AU" dirty="0" smtClean="0"/>
              <a:t>prank callers.</a:t>
            </a:r>
          </a:p>
          <a:p>
            <a:pPr lvl="0">
              <a:buFont typeface="Arial" pitchFamily="34" charset="0"/>
              <a:buNone/>
            </a:pPr>
            <a:endParaRPr lang="en-AU" dirty="0" smtClean="0"/>
          </a:p>
          <a:p>
            <a:pPr lvl="0">
              <a:buFont typeface="Arial" pitchFamily="34" charset="0"/>
              <a:buNone/>
            </a:pPr>
            <a:r>
              <a:rPr lang="en-AU" dirty="0" smtClean="0"/>
              <a:t>Trainer advises students if they receive a threatening or suspicious phone call they should:</a:t>
            </a:r>
          </a:p>
          <a:p>
            <a:pPr lvl="0">
              <a:buFont typeface="Arial" pitchFamily="34" charset="0"/>
              <a:buChar char="•"/>
            </a:pPr>
            <a:r>
              <a:rPr lang="en-AU" dirty="0" smtClean="0"/>
              <a:t> Follow workplace procedures for dealing with threatening or suspicious calls.</a:t>
            </a:r>
            <a:r>
              <a:rPr lang="en-AU" baseline="0" dirty="0" smtClean="0"/>
              <a:t> T</a:t>
            </a:r>
            <a:r>
              <a:rPr lang="en-AU" dirty="0" smtClean="0"/>
              <a:t>here is a need to become familiar with those procedures now.</a:t>
            </a:r>
            <a:r>
              <a:rPr lang="en-AU" baseline="0" dirty="0" smtClean="0"/>
              <a:t> D</a:t>
            </a:r>
            <a:r>
              <a:rPr lang="en-AU" dirty="0" smtClean="0"/>
              <a:t>o not wait to receive a threatening call before finding out</a:t>
            </a:r>
          </a:p>
          <a:p>
            <a:pPr lvl="0">
              <a:buFont typeface="Arial" pitchFamily="34" charset="0"/>
              <a:buChar char="•"/>
            </a:pPr>
            <a:r>
              <a:rPr lang="en-AU" dirty="0" smtClean="0"/>
              <a:t> Ask questions.</a:t>
            </a:r>
            <a:r>
              <a:rPr lang="en-AU" baseline="0" dirty="0" smtClean="0"/>
              <a:t> I</a:t>
            </a:r>
            <a:r>
              <a:rPr lang="en-AU" dirty="0" smtClean="0"/>
              <a:t>t is important to ask questions of the caller when they make their threat [see next slide for examples]</a:t>
            </a:r>
          </a:p>
          <a:p>
            <a:pPr lvl="0">
              <a:buFont typeface="Arial" pitchFamily="34" charset="0"/>
              <a:buChar char="•"/>
            </a:pPr>
            <a:r>
              <a:rPr lang="en-AU" dirty="0" smtClean="0"/>
              <a:t> Use the dedicated form to record such calls.</a:t>
            </a:r>
            <a:r>
              <a:rPr lang="en-AU" baseline="0" dirty="0" smtClean="0"/>
              <a:t> K</a:t>
            </a:r>
            <a:r>
              <a:rPr lang="en-AU" dirty="0" smtClean="0"/>
              <a:t>now where the form is kept to record details of threatening calls and use it because it contains prompts about what questions to ask and about what information about the call and/or caller to record</a:t>
            </a:r>
          </a:p>
          <a:p>
            <a:pPr lvl="0">
              <a:buFont typeface="Arial" pitchFamily="34" charset="0"/>
              <a:buChar char="•"/>
            </a:pPr>
            <a:r>
              <a:rPr lang="en-AU" dirty="0" smtClean="0"/>
              <a:t> Alert management or the identified chain of command immediately without alarming customers or causing panic</a:t>
            </a:r>
          </a:p>
          <a:p>
            <a:pPr lvl="0">
              <a:buFont typeface="Arial" pitchFamily="34" charset="0"/>
              <a:buChar char="•"/>
            </a:pPr>
            <a:r>
              <a:rPr lang="en-AU" dirty="0" smtClean="0"/>
              <a:t> Never treat any threatening or suspicious call as a hoax.</a:t>
            </a:r>
            <a:r>
              <a:rPr lang="en-AU" baseline="0" dirty="0" smtClean="0"/>
              <a:t> E</a:t>
            </a:r>
            <a:r>
              <a:rPr lang="en-AU" dirty="0" smtClean="0"/>
              <a:t>very call must be considered genuine.</a:t>
            </a:r>
            <a:r>
              <a:rPr lang="en-AU" baseline="0" dirty="0" smtClean="0"/>
              <a:t> T</a:t>
            </a:r>
            <a:r>
              <a:rPr lang="en-AU" dirty="0" smtClean="0"/>
              <a:t>his means always reporting the call to your Supervisor immediately and undertaking planned responses (which may include evacuation, notifying the authorities, following the directions for the business as set out in the Emergency Management Plan for the business).</a:t>
            </a:r>
          </a:p>
          <a:p>
            <a:pPr lvl="0">
              <a:buFont typeface="Arial" pitchFamily="34" charset="0"/>
              <a:buNone/>
            </a:pPr>
            <a:endParaRPr lang="en-AU" dirty="0" smtClean="0"/>
          </a:p>
          <a:p>
            <a:pPr lvl="0">
              <a:buFont typeface="Arial" pitchFamily="34" charset="0"/>
              <a:buNone/>
            </a:pPr>
            <a:endParaRPr lang="en-AU" dirty="0" smtClean="0"/>
          </a:p>
          <a:p>
            <a:pPr lvl="0">
              <a:buFont typeface="Arial" pitchFamily="34" charset="0"/>
              <a:buNone/>
            </a:pPr>
            <a:endParaRPr lang="en-AU"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a:p>
        </p:txBody>
      </p:sp>
    </p:spTree>
    <p:extLst>
      <p:ext uri="{BB962C8B-B14F-4D97-AF65-F5344CB8AC3E}">
        <p14:creationId xmlns:p14="http://schemas.microsoft.com/office/powerpoint/2010/main" val="13162517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they should use a dedicated form to capture information about a bomb threat call stressing they should:</a:t>
            </a:r>
          </a:p>
          <a:p>
            <a:pPr>
              <a:buFont typeface="Arial" pitchFamily="34" charset="0"/>
              <a:buChar char="•"/>
            </a:pPr>
            <a:r>
              <a:rPr lang="en-US" dirty="0" smtClean="0"/>
              <a:t> Ask the caller lots of questions such as:</a:t>
            </a:r>
          </a:p>
          <a:p>
            <a:pPr lvl="1">
              <a:buFont typeface="Arial" pitchFamily="34" charset="0"/>
              <a:buChar char="•"/>
            </a:pPr>
            <a:r>
              <a:rPr lang="en-AU" dirty="0" smtClean="0"/>
              <a:t> “Who are you?” </a:t>
            </a:r>
          </a:p>
          <a:p>
            <a:pPr lvl="1">
              <a:buFont typeface="Arial" pitchFamily="34" charset="0"/>
              <a:buChar char="•"/>
            </a:pPr>
            <a:r>
              <a:rPr lang="en-AU" dirty="0" smtClean="0"/>
              <a:t> “What does the bomb look like?” </a:t>
            </a:r>
          </a:p>
          <a:p>
            <a:pPr lvl="1">
              <a:buFont typeface="Arial" pitchFamily="34" charset="0"/>
              <a:buChar char="•"/>
            </a:pPr>
            <a:r>
              <a:rPr lang="en-AU" dirty="0" smtClean="0"/>
              <a:t> “When is the bomb due to explode?” </a:t>
            </a:r>
          </a:p>
          <a:p>
            <a:pPr lvl="1">
              <a:buFont typeface="Arial" pitchFamily="34" charset="0"/>
              <a:buChar char="•"/>
            </a:pPr>
            <a:r>
              <a:rPr lang="en-AU" dirty="0" smtClean="0"/>
              <a:t> “Why did you plant the bomb?” </a:t>
            </a:r>
          </a:p>
          <a:p>
            <a:pPr lvl="1">
              <a:buFont typeface="Arial" pitchFamily="34" charset="0"/>
              <a:buChar char="•"/>
            </a:pPr>
            <a:r>
              <a:rPr lang="en-AU" dirty="0" smtClean="0"/>
              <a:t> “How can we defuse it?”</a:t>
            </a:r>
          </a:p>
          <a:p>
            <a:pPr>
              <a:buFont typeface="Arial" pitchFamily="34" charset="0"/>
              <a:buChar char="•"/>
            </a:pPr>
            <a:r>
              <a:rPr lang="en-US" dirty="0" smtClean="0"/>
              <a:t> Alert nearby staff you are receiving a bomb threat by waving arms, writing a note, activating a silent alarm</a:t>
            </a:r>
          </a:p>
          <a:p>
            <a:pPr>
              <a:buFont typeface="Arial" pitchFamily="34" charset="0"/>
              <a:buChar char="•"/>
            </a:pPr>
            <a:r>
              <a:rPr lang="en-US" dirty="0" smtClean="0"/>
              <a:t> Treat the call as genuine every time, regardless of personal thoughts about the call</a:t>
            </a:r>
          </a:p>
          <a:p>
            <a:endParaRPr lang="en-US" dirty="0" smtClean="0"/>
          </a:p>
          <a:p>
            <a:r>
              <a:rPr lang="en-US" b="1" dirty="0" smtClean="0"/>
              <a:t>Class Activity – Discussion of Bomb Threat Procedures and Checklist</a:t>
            </a:r>
          </a:p>
          <a:p>
            <a:r>
              <a:rPr lang="en-US" dirty="0" smtClean="0"/>
              <a:t>Trainer downloads document from http://www.dhs.gov/xlibrary/assets/ocso-bomb_threat_samepage-brochure.pdf and:</a:t>
            </a:r>
          </a:p>
          <a:p>
            <a:pPr>
              <a:buFont typeface="Arial" pitchFamily="34" charset="0"/>
              <a:buChar char="•"/>
            </a:pPr>
            <a:r>
              <a:rPr lang="en-US" baseline="0" dirty="0" smtClean="0"/>
              <a:t> Presents copy to students</a:t>
            </a:r>
          </a:p>
          <a:p>
            <a:pPr>
              <a:buFont typeface="Arial" pitchFamily="34" charset="0"/>
              <a:buChar char="•"/>
            </a:pPr>
            <a:r>
              <a:rPr lang="en-US" baseline="0" dirty="0" smtClean="0"/>
              <a:t> Discusses implementation of the procedures</a:t>
            </a:r>
          </a:p>
          <a:p>
            <a:pPr>
              <a:buFont typeface="Arial" pitchFamily="34" charset="0"/>
              <a:buChar char="•"/>
            </a:pPr>
            <a:r>
              <a:rPr lang="en-US" baseline="0" dirty="0" smtClean="0"/>
              <a:t> Demonstrates use of Checklist.</a:t>
            </a:r>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a:p>
        </p:txBody>
      </p:sp>
    </p:spTree>
    <p:extLst>
      <p:ext uri="{BB962C8B-B14F-4D97-AF65-F5344CB8AC3E}">
        <p14:creationId xmlns:p14="http://schemas.microsoft.com/office/powerpoint/2010/main" val="40627408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standard</a:t>
            </a:r>
            <a:r>
              <a:rPr lang="en-US" baseline="0" dirty="0" smtClean="0"/>
              <a:t> requirements when answering or using the telephone are:</a:t>
            </a:r>
          </a:p>
          <a:p>
            <a:pPr lvl="0">
              <a:buFont typeface="Arial" pitchFamily="34" charset="0"/>
              <a:buChar char="•"/>
            </a:pPr>
            <a:r>
              <a:rPr lang="en-AU" dirty="0" smtClean="0"/>
              <a:t> Being polite and respectful to all callers, regardless of:</a:t>
            </a:r>
          </a:p>
          <a:p>
            <a:pPr lvl="1">
              <a:buFont typeface="Arial" pitchFamily="34" charset="0"/>
              <a:buChar char="•"/>
            </a:pPr>
            <a:r>
              <a:rPr lang="en-AU" dirty="0" smtClean="0"/>
              <a:t> Their age, gender or nationality</a:t>
            </a:r>
          </a:p>
          <a:p>
            <a:pPr lvl="1">
              <a:buFont typeface="Arial" pitchFamily="34" charset="0"/>
              <a:buChar char="•"/>
            </a:pPr>
            <a:r>
              <a:rPr lang="en-AU" dirty="0" smtClean="0"/>
              <a:t> Other work</a:t>
            </a:r>
            <a:r>
              <a:rPr lang="en-AU" baseline="0" dirty="0" smtClean="0"/>
              <a:t> </a:t>
            </a:r>
            <a:r>
              <a:rPr lang="en-AU" dirty="0" smtClean="0"/>
              <a:t>pressures you are under</a:t>
            </a:r>
          </a:p>
          <a:p>
            <a:pPr lvl="1">
              <a:buFont typeface="Arial" pitchFamily="34" charset="0"/>
              <a:buChar char="•"/>
            </a:pPr>
            <a:r>
              <a:rPr lang="en-AU" dirty="0" smtClean="0"/>
              <a:t> Time of day.</a:t>
            </a:r>
            <a:r>
              <a:rPr lang="en-AU" baseline="0" dirty="0" smtClean="0"/>
              <a:t> T</a:t>
            </a:r>
            <a:r>
              <a:rPr lang="en-AU" dirty="0" smtClean="0"/>
              <a:t>reat the last call of the day with the same care and attention as the first call of the day</a:t>
            </a:r>
          </a:p>
          <a:p>
            <a:pPr lvl="0">
              <a:buFont typeface="Arial" pitchFamily="34" charset="0"/>
              <a:buChar char="•"/>
            </a:pPr>
            <a:r>
              <a:rPr lang="en-AU" dirty="0" smtClean="0"/>
              <a:t> Speaking correctly and distinctly – not mumbling, speaking directly into the phone, eliminating background noises that can hinder communication</a:t>
            </a:r>
            <a:r>
              <a:rPr lang="en-AU" baseline="0" dirty="0" smtClean="0"/>
              <a:t> or </a:t>
            </a:r>
            <a:r>
              <a:rPr lang="en-AU" dirty="0" smtClean="0"/>
              <a:t>cause a barrier to communication</a:t>
            </a:r>
          </a:p>
          <a:p>
            <a:pPr lvl="0">
              <a:buFont typeface="Arial" pitchFamily="34" charset="0"/>
              <a:buChar char="•"/>
            </a:pPr>
            <a:r>
              <a:rPr lang="en-AU" dirty="0" smtClean="0"/>
              <a:t> Not using slang, jargon or other unacceptable language.</a:t>
            </a:r>
            <a:r>
              <a:rPr lang="en-AU" baseline="0" dirty="0" smtClean="0"/>
              <a:t> This includes</a:t>
            </a:r>
            <a:r>
              <a:rPr lang="en-AU" dirty="0" smtClean="0"/>
              <a:t> not using trade</a:t>
            </a:r>
            <a:r>
              <a:rPr lang="en-AU" baseline="0" dirty="0" smtClean="0"/>
              <a:t> or </a:t>
            </a:r>
            <a:r>
              <a:rPr lang="en-AU" dirty="0" smtClean="0"/>
              <a:t>industry terms that the customer may not be familiar with</a:t>
            </a:r>
            <a:r>
              <a:rPr lang="en-AU" baseline="0" dirty="0" smtClean="0"/>
              <a:t> or m</a:t>
            </a:r>
            <a:r>
              <a:rPr lang="en-AU" dirty="0" smtClean="0"/>
              <a:t>ay not know the true meaning of.</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a:p>
        </p:txBody>
      </p:sp>
    </p:spTree>
    <p:extLst>
      <p:ext uri="{BB962C8B-B14F-4D97-AF65-F5344CB8AC3E}">
        <p14:creationId xmlns:p14="http://schemas.microsoft.com/office/powerpoint/2010/main" val="30212733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their </a:t>
            </a:r>
            <a:r>
              <a:rPr lang="en-US" i="1" dirty="0" smtClean="0"/>
              <a:t>standard </a:t>
            </a:r>
            <a:r>
              <a:rPr lang="en-US" dirty="0" smtClean="0"/>
              <a:t>voice on the telephone must be warm</a:t>
            </a:r>
            <a:r>
              <a:rPr lang="en-US" baseline="0" dirty="0" smtClean="0"/>
              <a:t> and</a:t>
            </a:r>
            <a:r>
              <a:rPr lang="en-US" dirty="0" smtClean="0"/>
              <a:t> friendly but they should strive to use their discretion</a:t>
            </a:r>
            <a:r>
              <a:rPr lang="en-US" baseline="0" dirty="0" smtClean="0"/>
              <a:t> or </a:t>
            </a:r>
            <a:r>
              <a:rPr lang="en-US" dirty="0" smtClean="0"/>
              <a:t>common sense to ensure their voice is matched to the individual call and its needs and the needs of the individual caller.</a:t>
            </a:r>
          </a:p>
          <a:p>
            <a:endParaRPr lang="en-US" dirty="0" smtClean="0"/>
          </a:p>
          <a:p>
            <a:r>
              <a:rPr lang="en-US" dirty="0" smtClean="0"/>
              <a:t>Trainer identifies for students situations where a departure from ‘standard’ language, tone</a:t>
            </a:r>
            <a:r>
              <a:rPr lang="en-US" baseline="0" dirty="0" smtClean="0"/>
              <a:t> and volume </a:t>
            </a:r>
            <a:r>
              <a:rPr lang="en-US" dirty="0" smtClean="0"/>
              <a:t>is appropriate:</a:t>
            </a:r>
          </a:p>
          <a:p>
            <a:pPr lvl="0">
              <a:buFont typeface="Arial" pitchFamily="34" charset="0"/>
              <a:buChar char="•"/>
            </a:pPr>
            <a:r>
              <a:rPr lang="en-AU" dirty="0" smtClean="0"/>
              <a:t> There may be instances when you need to raise your voice.</a:t>
            </a:r>
            <a:r>
              <a:rPr lang="en-AU" baseline="0" dirty="0" smtClean="0"/>
              <a:t> T</a:t>
            </a:r>
            <a:r>
              <a:rPr lang="en-AU" dirty="0" smtClean="0"/>
              <a:t>he caller may be in a noisy environment, they may have a hearing difficulty, or they may have asked you to ‘speak up’</a:t>
            </a:r>
            <a:endParaRPr lang="en-AU" sz="1100" dirty="0" smtClean="0"/>
          </a:p>
          <a:p>
            <a:pPr lvl="0">
              <a:buFont typeface="Arial" pitchFamily="34" charset="0"/>
              <a:buChar char="•"/>
            </a:pPr>
            <a:r>
              <a:rPr lang="en-AU" dirty="0" smtClean="0"/>
              <a:t> There may be times when the language you use needs to be considered and adjusted as required.</a:t>
            </a:r>
            <a:r>
              <a:rPr lang="en-AU" baseline="0" dirty="0" smtClean="0"/>
              <a:t> T</a:t>
            </a:r>
            <a:r>
              <a:rPr lang="en-AU" dirty="0" smtClean="0"/>
              <a:t>hese may be instances such as:</a:t>
            </a:r>
            <a:endParaRPr lang="en-AU" sz="1100" dirty="0" smtClean="0"/>
          </a:p>
          <a:p>
            <a:pPr lvl="1">
              <a:buFont typeface="Arial" pitchFamily="34" charset="0"/>
              <a:buChar char="•"/>
            </a:pPr>
            <a:r>
              <a:rPr lang="en-AU" dirty="0" smtClean="0"/>
              <a:t> Dealing with an industry person who is familiar with trade terminology and with whom you can use industry terms quite safely knowing they will understand what is being said</a:t>
            </a:r>
            <a:endParaRPr lang="en-AU" sz="1100" dirty="0" smtClean="0"/>
          </a:p>
          <a:p>
            <a:pPr lvl="1">
              <a:buFont typeface="Arial" pitchFamily="34" charset="0"/>
              <a:buChar char="•"/>
            </a:pPr>
            <a:r>
              <a:rPr lang="en-AU" dirty="0" smtClean="0"/>
              <a:t> Talking to someone who is a regular patron and is familiar with your business</a:t>
            </a:r>
            <a:r>
              <a:rPr lang="en-AU" baseline="0" dirty="0" smtClean="0"/>
              <a:t> or </a:t>
            </a:r>
            <a:r>
              <a:rPr lang="en-AU" dirty="0" smtClean="0"/>
              <a:t>your operations.</a:t>
            </a:r>
            <a:r>
              <a:rPr lang="en-AU" baseline="0" dirty="0" smtClean="0"/>
              <a:t> This means</a:t>
            </a:r>
            <a:r>
              <a:rPr lang="en-AU" dirty="0" smtClean="0"/>
              <a:t> you can make reference to various facilities, rooms, services in the business knowing they will understand what you are talking about</a:t>
            </a:r>
            <a:endParaRPr lang="en-AU" sz="1100" dirty="0" smtClean="0"/>
          </a:p>
          <a:p>
            <a:pPr lvl="1">
              <a:buFont typeface="Arial" pitchFamily="34" charset="0"/>
              <a:buChar char="•"/>
            </a:pPr>
            <a:r>
              <a:rPr lang="en-AU" dirty="0" smtClean="0"/>
              <a:t> Talking with a very young or very old person and meeting their expectations in terms of language</a:t>
            </a:r>
            <a:r>
              <a:rPr lang="en-AU" baseline="0" dirty="0" smtClean="0"/>
              <a:t> or </a:t>
            </a:r>
            <a:r>
              <a:rPr lang="en-AU" dirty="0" smtClean="0"/>
              <a:t>words used.</a:t>
            </a:r>
            <a:endParaRPr lang="en-AU" sz="1100" dirty="0" smtClean="0"/>
          </a:p>
          <a:p>
            <a:pPr lvl="0">
              <a:buFont typeface="Arial" pitchFamily="34" charset="0"/>
              <a:buChar char="•"/>
            </a:pPr>
            <a:r>
              <a:rPr lang="en-AU" dirty="0" smtClean="0"/>
              <a:t> There may also be times where you believe a change in your tone is called for.</a:t>
            </a:r>
            <a:r>
              <a:rPr lang="en-AU" baseline="0" dirty="0" smtClean="0"/>
              <a:t> P</a:t>
            </a:r>
            <a:r>
              <a:rPr lang="en-AU" dirty="0" smtClean="0"/>
              <a:t>erhaps when dealing with someone who is trying to reach a decision and requires lots of information, or someone who is being inappropriately suggestive on the phone.</a:t>
            </a:r>
            <a:endParaRPr lang="en-AU" sz="1100"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a:p>
        </p:txBody>
      </p:sp>
    </p:spTree>
    <p:extLst>
      <p:ext uri="{BB962C8B-B14F-4D97-AF65-F5344CB8AC3E}">
        <p14:creationId xmlns:p14="http://schemas.microsoft.com/office/powerpoint/2010/main" val="31911024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informs students they may answer a call from a rude or aggressive caller and if this occurs they:</a:t>
            </a:r>
          </a:p>
          <a:p>
            <a:pPr lvl="0">
              <a:buFont typeface="Arial" pitchFamily="34" charset="0"/>
              <a:buChar char="•"/>
            </a:pPr>
            <a:r>
              <a:rPr lang="en-AU" b="1" dirty="0" smtClean="0"/>
              <a:t> Must not</a:t>
            </a:r>
            <a:r>
              <a:rPr lang="en-AU" dirty="0" smtClean="0"/>
              <a:t> swear back at someone who swore at you in the first place</a:t>
            </a:r>
          </a:p>
          <a:p>
            <a:pPr lvl="0">
              <a:buFont typeface="Arial" pitchFamily="34" charset="0"/>
              <a:buChar char="•"/>
            </a:pPr>
            <a:r>
              <a:rPr lang="en-AU" b="1" dirty="0" smtClean="0"/>
              <a:t> Must not</a:t>
            </a:r>
            <a:r>
              <a:rPr lang="en-AU" dirty="0" smtClean="0"/>
              <a:t> use the same tone of voice as used by the caller when they are obviously annoyed</a:t>
            </a:r>
          </a:p>
          <a:p>
            <a:pPr lvl="0">
              <a:buFont typeface="Arial" pitchFamily="34" charset="0"/>
              <a:buChar char="•"/>
            </a:pPr>
            <a:r>
              <a:rPr lang="en-AU" b="1" dirty="0" smtClean="0"/>
              <a:t> Must not</a:t>
            </a:r>
            <a:r>
              <a:rPr lang="en-AU" dirty="0" smtClean="0"/>
              <a:t> use the same style of language.</a:t>
            </a:r>
            <a:r>
              <a:rPr lang="en-AU" baseline="0" dirty="0" smtClean="0"/>
              <a:t> Y</a:t>
            </a:r>
            <a:r>
              <a:rPr lang="en-AU" dirty="0" smtClean="0"/>
              <a:t>our responses and the language you use must always remain professional and always reflect the image</a:t>
            </a:r>
          </a:p>
          <a:p>
            <a:pPr lvl="0">
              <a:buFont typeface="Arial" pitchFamily="34" charset="0"/>
              <a:buChar char="•"/>
            </a:pPr>
            <a:r>
              <a:rPr lang="en-AU" b="1" dirty="0" smtClean="0"/>
              <a:t> Must not</a:t>
            </a:r>
            <a:r>
              <a:rPr lang="en-AU" dirty="0" smtClean="0"/>
              <a:t> be rude, in return.</a:t>
            </a:r>
            <a:r>
              <a:rPr lang="en-AU" baseline="0" dirty="0" smtClean="0"/>
              <a:t> W</a:t>
            </a:r>
            <a:r>
              <a:rPr lang="en-AU" dirty="0" smtClean="0"/>
              <a:t>hile at work there is never any justification for being rude to any caller</a:t>
            </a:r>
            <a:r>
              <a:rPr lang="en-AU" baseline="0" dirty="0" smtClean="0"/>
              <a:t> </a:t>
            </a:r>
            <a:r>
              <a:rPr lang="en-AU" dirty="0" smtClean="0"/>
              <a:t>or customer regardless of the circumstances.</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a:p>
        </p:txBody>
      </p:sp>
    </p:spTree>
    <p:extLst>
      <p:ext uri="{BB962C8B-B14F-4D97-AF65-F5344CB8AC3E}">
        <p14:creationId xmlns:p14="http://schemas.microsoft.com/office/powerpoint/2010/main" val="36850879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provides students with techniques to deal effectively with rude or aggressive calls:</a:t>
            </a:r>
          </a:p>
          <a:p>
            <a:pPr lvl="0">
              <a:buFont typeface="Arial" pitchFamily="34" charset="0"/>
              <a:buChar char="•"/>
            </a:pPr>
            <a:r>
              <a:rPr lang="en-AU" dirty="0" smtClean="0"/>
              <a:t> To remain calm and in control.</a:t>
            </a:r>
            <a:r>
              <a:rPr lang="en-AU" baseline="0" dirty="0" smtClean="0"/>
              <a:t> Th</a:t>
            </a:r>
            <a:r>
              <a:rPr lang="en-AU" dirty="0" smtClean="0"/>
              <a:t>is may be achieved by:</a:t>
            </a:r>
            <a:endParaRPr lang="en-AU" sz="1100" dirty="0" smtClean="0"/>
          </a:p>
          <a:p>
            <a:pPr lvl="1">
              <a:buFont typeface="Arial" pitchFamily="34" charset="0"/>
              <a:buChar char="•"/>
            </a:pPr>
            <a:r>
              <a:rPr lang="en-AU" dirty="0" smtClean="0"/>
              <a:t> Taking a deep breath mentally</a:t>
            </a:r>
            <a:endParaRPr lang="en-AU" sz="1100" dirty="0" smtClean="0"/>
          </a:p>
          <a:p>
            <a:pPr lvl="1">
              <a:buFont typeface="Arial" pitchFamily="34" charset="0"/>
              <a:buChar char="•"/>
            </a:pPr>
            <a:r>
              <a:rPr lang="en-AU" dirty="0" smtClean="0"/>
              <a:t> Recognising the call for what it is.</a:t>
            </a:r>
            <a:r>
              <a:rPr lang="en-AU" baseline="0" dirty="0" smtClean="0"/>
              <a:t> I</a:t>
            </a:r>
            <a:r>
              <a:rPr lang="en-AU" dirty="0" smtClean="0"/>
              <a:t>t is an unusual call (that is, accepting most calls are not like this): do not allow this call to spoil your day or ruin your reputation</a:t>
            </a:r>
          </a:p>
          <a:p>
            <a:pPr lvl="1">
              <a:buFont typeface="Arial" pitchFamily="34" charset="0"/>
              <a:buChar char="•"/>
            </a:pPr>
            <a:r>
              <a:rPr lang="en-AU" dirty="0" smtClean="0"/>
              <a:t> Seeing the call as a challenge rather than a problem/issue and doing your best to meet the challenge the call presents</a:t>
            </a:r>
            <a:endParaRPr lang="en-AU" sz="1100" dirty="0" smtClean="0"/>
          </a:p>
          <a:p>
            <a:pPr lvl="0">
              <a:buFont typeface="Arial" pitchFamily="34" charset="0"/>
              <a:buChar char="•"/>
            </a:pPr>
            <a:r>
              <a:rPr lang="en-AU" dirty="0" smtClean="0"/>
              <a:t> To not respond with anger regardless of how much you may feel like it, feel it is appropriate, or are being provoked.</a:t>
            </a:r>
            <a:r>
              <a:rPr lang="en-AU" baseline="0" dirty="0" smtClean="0"/>
              <a:t> Y</a:t>
            </a:r>
            <a:r>
              <a:rPr lang="en-AU" dirty="0" smtClean="0"/>
              <a:t>ou must respond calmly in order to try to calm the other person down</a:t>
            </a:r>
            <a:endParaRPr lang="en-AU" sz="1100" dirty="0" smtClean="0"/>
          </a:p>
          <a:p>
            <a:pPr lvl="0">
              <a:buFont typeface="Arial" pitchFamily="34" charset="0"/>
              <a:buChar char="•"/>
            </a:pPr>
            <a:r>
              <a:rPr lang="en-AU" dirty="0" smtClean="0"/>
              <a:t> To remain polite in your responses – using ‘Sir’, ‘Madam’, please’ and ‘thank you’.</a:t>
            </a:r>
            <a:r>
              <a:rPr lang="en-AU" baseline="0" dirty="0" smtClean="0"/>
              <a:t> T</a:t>
            </a:r>
            <a:r>
              <a:rPr lang="en-AU" dirty="0" smtClean="0"/>
              <a:t>he theory being the more polite you are, the more you encourage a similar response from the caller</a:t>
            </a:r>
            <a:endParaRPr lang="en-AU" sz="1100" dirty="0" smtClean="0"/>
          </a:p>
          <a:p>
            <a:pPr lvl="0">
              <a:buFont typeface="Arial" pitchFamily="34" charset="0"/>
              <a:buChar char="•"/>
            </a:pPr>
            <a:r>
              <a:rPr lang="en-AU" dirty="0" smtClean="0"/>
              <a:t> To not take the call personally.</a:t>
            </a:r>
            <a:r>
              <a:rPr lang="en-AU" baseline="0" dirty="0" smtClean="0"/>
              <a:t> T</a:t>
            </a:r>
            <a:r>
              <a:rPr lang="en-AU" dirty="0" smtClean="0"/>
              <a:t>ry to remember the caller is not upset with you personally, instead they are angry at someone or something else.</a:t>
            </a:r>
            <a:r>
              <a:rPr lang="en-AU" baseline="0" dirty="0" smtClean="0"/>
              <a:t> Y</a:t>
            </a:r>
            <a:r>
              <a:rPr lang="en-AU" dirty="0" smtClean="0"/>
              <a:t>ou just happened to be the one who picked up the phone so never believe their anger, rudeness, sarcasm, tone of voice is directed at you</a:t>
            </a:r>
            <a:endParaRPr lang="en-AU" sz="1100" dirty="0" smtClean="0"/>
          </a:p>
          <a:p>
            <a:pPr lvl="0">
              <a:buFont typeface="Arial" pitchFamily="34" charset="0"/>
              <a:buChar char="•"/>
            </a:pPr>
            <a:r>
              <a:rPr lang="en-AU" dirty="0" smtClean="0"/>
              <a:t> To get to the reason for the call as quickly as possible by redirecting their statements (criticisms, nastiness) back to the real point of the call (that is, what they want to discuss).</a:t>
            </a:r>
            <a:r>
              <a:rPr lang="en-AU" baseline="0" dirty="0" smtClean="0"/>
              <a:t> Y</a:t>
            </a:r>
            <a:r>
              <a:rPr lang="en-AU" dirty="0" smtClean="0"/>
              <a:t>ou need to cut through their initial anger as quickly as possible and start addressing their real problem:</a:t>
            </a:r>
            <a:endParaRPr lang="en-AU" sz="1100" dirty="0" smtClean="0"/>
          </a:p>
          <a:p>
            <a:pPr lvl="1">
              <a:buFont typeface="Arial" pitchFamily="34" charset="0"/>
              <a:buChar char="•"/>
            </a:pPr>
            <a:r>
              <a:rPr lang="en-AU" dirty="0" smtClean="0"/>
              <a:t> “Yes, Sir I can tell you are upset and I apologise. Will you allow me to transfer you to Mr Smith, our manager, so he can talk to you? He has the authority to deal with this kind of issue”</a:t>
            </a:r>
            <a:endParaRPr lang="en-AU" sz="1100" dirty="0" smtClean="0"/>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a:p>
        </p:txBody>
      </p:sp>
    </p:spTree>
    <p:extLst>
      <p:ext uri="{BB962C8B-B14F-4D97-AF65-F5344CB8AC3E}">
        <p14:creationId xmlns:p14="http://schemas.microsoft.com/office/powerpoint/2010/main" val="37240405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 recap of the Element asking questions to check student understanding and responding to questions from students, as required.</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a:p>
        </p:txBody>
      </p:sp>
    </p:spTree>
    <p:extLst>
      <p:ext uri="{BB962C8B-B14F-4D97-AF65-F5344CB8AC3E}">
        <p14:creationId xmlns:p14="http://schemas.microsoft.com/office/powerpoint/2010/main" val="18914661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 recap of the Element asking questions to check student understanding and responding to questions from students, as required.</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a:p>
        </p:txBody>
      </p:sp>
    </p:spTree>
    <p:extLst>
      <p:ext uri="{BB962C8B-B14F-4D97-AF65-F5344CB8AC3E}">
        <p14:creationId xmlns:p14="http://schemas.microsoft.com/office/powerpoint/2010/main" val="12388783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a:t>
            </a:r>
            <a:r>
              <a:rPr lang="en-US" baseline="0" dirty="0" smtClean="0"/>
              <a:t> for students the Performance Criteria for this Element, as listed on the slide.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a:p>
        </p:txBody>
      </p:sp>
    </p:spTree>
    <p:extLst>
      <p:ext uri="{BB962C8B-B14F-4D97-AF65-F5344CB8AC3E}">
        <p14:creationId xmlns:p14="http://schemas.microsoft.com/office/powerpoint/2010/main" val="2740864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students there can be numerous</a:t>
            </a:r>
            <a:r>
              <a:rPr lang="en-US" baseline="0" dirty="0" smtClean="0"/>
              <a:t> reasons to make an outgoing phone call from work.</a:t>
            </a:r>
          </a:p>
          <a:p>
            <a:endParaRPr lang="en-US" baseline="0" dirty="0" smtClean="0"/>
          </a:p>
          <a:p>
            <a:r>
              <a:rPr lang="en-US" b="1" baseline="0" dirty="0" smtClean="0"/>
              <a:t>Class Activity – General discussion</a:t>
            </a:r>
          </a:p>
          <a:p>
            <a:r>
              <a:rPr lang="en-US" b="0" baseline="0" dirty="0" smtClean="0"/>
              <a:t>Trainer asks students for examples of reasons why they may have to make an outgoing telephone call from a workplace and writes them on board.</a:t>
            </a:r>
          </a:p>
          <a:p>
            <a:endParaRPr lang="en-US" b="0" baseline="0" dirty="0" smtClean="0"/>
          </a:p>
          <a:p>
            <a:r>
              <a:rPr lang="en-US" b="1" i="1" baseline="0" dirty="0" smtClean="0"/>
              <a:t>Possible reasons/answers  may include:</a:t>
            </a:r>
          </a:p>
          <a:p>
            <a:pPr lvl="0">
              <a:buFont typeface="Arial" pitchFamily="34" charset="0"/>
              <a:buChar char="•"/>
            </a:pPr>
            <a:r>
              <a:rPr lang="en-AU" dirty="0" smtClean="0"/>
              <a:t> Confirm a reservation with a booking holder</a:t>
            </a:r>
          </a:p>
          <a:p>
            <a:pPr lvl="0">
              <a:buFont typeface="Arial" pitchFamily="34" charset="0"/>
              <a:buChar char="•"/>
            </a:pPr>
            <a:r>
              <a:rPr lang="en-AU" dirty="0" smtClean="0"/>
              <a:t> Place an order with a supplier or lodge a booking with a provider</a:t>
            </a:r>
          </a:p>
          <a:p>
            <a:pPr lvl="0">
              <a:buFont typeface="Arial" pitchFamily="34" charset="0"/>
              <a:buChar char="•"/>
            </a:pPr>
            <a:r>
              <a:rPr lang="en-AU" dirty="0" smtClean="0"/>
              <a:t> Follow</a:t>
            </a:r>
            <a:r>
              <a:rPr lang="en-AU" baseline="0" dirty="0" smtClean="0"/>
              <a:t> </a:t>
            </a:r>
            <a:r>
              <a:rPr lang="en-AU" dirty="0" smtClean="0"/>
              <a:t>up a customer enquiry by phoning the customer back</a:t>
            </a:r>
          </a:p>
          <a:p>
            <a:pPr lvl="0">
              <a:buFont typeface="Arial" pitchFamily="34" charset="0"/>
              <a:buChar char="•"/>
            </a:pPr>
            <a:r>
              <a:rPr lang="en-AU" dirty="0" smtClean="0"/>
              <a:t> Follow</a:t>
            </a:r>
            <a:r>
              <a:rPr lang="en-AU" baseline="0" dirty="0" smtClean="0"/>
              <a:t> </a:t>
            </a:r>
            <a:r>
              <a:rPr lang="en-AU" dirty="0" smtClean="0"/>
              <a:t>up a customer complaint</a:t>
            </a:r>
          </a:p>
          <a:p>
            <a:pPr lvl="0">
              <a:buFont typeface="Arial" pitchFamily="34" charset="0"/>
              <a:buChar char="•"/>
            </a:pPr>
            <a:r>
              <a:rPr lang="en-AU" dirty="0" smtClean="0"/>
              <a:t> Make an enquiry or find information</a:t>
            </a:r>
          </a:p>
          <a:p>
            <a:pPr lvl="0">
              <a:buFont typeface="Arial" pitchFamily="34" charset="0"/>
              <a:buChar char="•"/>
            </a:pPr>
            <a:r>
              <a:rPr lang="en-AU" dirty="0" smtClean="0"/>
              <a:t> Promote a service, facility or product </a:t>
            </a:r>
          </a:p>
          <a:p>
            <a:pPr lvl="0">
              <a:buFont typeface="Arial" pitchFamily="34" charset="0"/>
              <a:buChar char="•"/>
            </a:pPr>
            <a:r>
              <a:rPr lang="en-AU" dirty="0" smtClean="0"/>
              <a:t> Pass on messages.</a:t>
            </a:r>
          </a:p>
          <a:p>
            <a:endParaRPr lang="en-US" b="1" i="1" dirty="0" smtClean="0"/>
          </a:p>
          <a:p>
            <a:r>
              <a:rPr lang="en-US" b="0" i="0" dirty="0" smtClean="0"/>
              <a:t>Trainer stresses it is important for students to obtain the correct telephone number before dialing as not doing so can:</a:t>
            </a:r>
          </a:p>
          <a:p>
            <a:pPr lvl="0">
              <a:buFont typeface="Arial" pitchFamily="34" charset="0"/>
              <a:buChar char="•"/>
            </a:pPr>
            <a:r>
              <a:rPr lang="en-AU" dirty="0" smtClean="0"/>
              <a:t> Be embarrassing – to you especially when you do so in front of a customer who is waiting on the outcome of the call</a:t>
            </a:r>
          </a:p>
          <a:p>
            <a:pPr lvl="0">
              <a:buFont typeface="Arial" pitchFamily="34" charset="0"/>
              <a:buChar char="•"/>
            </a:pPr>
            <a:r>
              <a:rPr lang="en-AU" dirty="0" smtClean="0"/>
              <a:t> Lead to bad public relations – for the business when the other party knows who made the call </a:t>
            </a:r>
          </a:p>
          <a:p>
            <a:pPr lvl="0">
              <a:buFont typeface="Arial" pitchFamily="34" charset="0"/>
              <a:buChar char="•"/>
            </a:pPr>
            <a:r>
              <a:rPr lang="en-AU" dirty="0" smtClean="0"/>
              <a:t> Cost money – every phone call costs the business money</a:t>
            </a:r>
          </a:p>
          <a:p>
            <a:pPr lvl="0">
              <a:buFont typeface="Arial" pitchFamily="34" charset="0"/>
              <a:buChar char="•"/>
            </a:pPr>
            <a:r>
              <a:rPr lang="en-AU" dirty="0" smtClean="0"/>
              <a:t> Waste time – in re-</a:t>
            </a:r>
            <a:r>
              <a:rPr lang="en-US" dirty="0" smtClean="0"/>
              <a:t>dialing</a:t>
            </a:r>
            <a:r>
              <a:rPr lang="en-AU" dirty="0" smtClean="0"/>
              <a:t>; in finding the correct number – it is often, therefore, quicker, to find the correct number in the first place.</a:t>
            </a:r>
          </a:p>
          <a:p>
            <a:endParaRPr lang="en-US" b="0" i="0" dirty="0" smtClean="0"/>
          </a:p>
          <a:p>
            <a:endParaRPr lang="en-US" b="1" i="1"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a:p>
        </p:txBody>
      </p:sp>
    </p:spTree>
    <p:extLst>
      <p:ext uri="{BB962C8B-B14F-4D97-AF65-F5344CB8AC3E}">
        <p14:creationId xmlns:p14="http://schemas.microsoft.com/office/powerpoint/2010/main" val="251247429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students the standard ways of determining the ‘correct’ telephone number for a call they want to make are:</a:t>
            </a:r>
          </a:p>
          <a:p>
            <a:pPr>
              <a:buFont typeface="Arial" pitchFamily="34" charset="0"/>
              <a:buChar char="•"/>
            </a:pPr>
            <a:r>
              <a:rPr lang="en-US" dirty="0" smtClean="0"/>
              <a:t> Use speed dial,</a:t>
            </a:r>
            <a:r>
              <a:rPr lang="en-US" baseline="0" dirty="0" smtClean="0"/>
              <a:t> </a:t>
            </a:r>
            <a:r>
              <a:rPr lang="en-US" dirty="0" smtClean="0"/>
              <a:t>making sure all numbers in the speed-dial facilities are updated as required when </a:t>
            </a:r>
            <a:r>
              <a:rPr lang="en-AU" noProof="0" dirty="0" smtClean="0"/>
              <a:t>organisations</a:t>
            </a:r>
            <a:r>
              <a:rPr lang="en-US" dirty="0" smtClean="0"/>
              <a:t>  change their numbers</a:t>
            </a:r>
          </a:p>
          <a:p>
            <a:pPr>
              <a:buFont typeface="Arial" pitchFamily="34" charset="0"/>
              <a:buChar char="•"/>
            </a:pPr>
            <a:r>
              <a:rPr lang="en-US" dirty="0" smtClean="0"/>
              <a:t> Search online directory using the Internet facilities at your workplace.</a:t>
            </a:r>
            <a:r>
              <a:rPr lang="en-US" baseline="0" dirty="0" smtClean="0"/>
              <a:t> I</a:t>
            </a:r>
            <a:r>
              <a:rPr lang="en-US" dirty="0" smtClean="0"/>
              <a:t>t is a good idea to Bookmark commonly used Telephone Directory information sites from different countries</a:t>
            </a:r>
            <a:r>
              <a:rPr lang="en-US" baseline="0" dirty="0" smtClean="0"/>
              <a:t> or </a:t>
            </a:r>
            <a:r>
              <a:rPr lang="en-US" dirty="0" smtClean="0"/>
              <a:t>areas</a:t>
            </a:r>
          </a:p>
          <a:p>
            <a:pPr>
              <a:buFont typeface="Arial" pitchFamily="34" charset="0"/>
              <a:buChar char="•"/>
            </a:pPr>
            <a:r>
              <a:rPr lang="en-US" dirty="0" smtClean="0"/>
              <a:t> Read a document from the person</a:t>
            </a:r>
            <a:r>
              <a:rPr lang="en-US" baseline="0" dirty="0" smtClean="0"/>
              <a:t> or </a:t>
            </a:r>
            <a:r>
              <a:rPr lang="en-US" dirty="0" smtClean="0"/>
              <a:t>company.</a:t>
            </a:r>
            <a:r>
              <a:rPr lang="en-US" baseline="0" dirty="0" smtClean="0"/>
              <a:t> A</a:t>
            </a:r>
            <a:r>
              <a:rPr lang="en-US" dirty="0" smtClean="0"/>
              <a:t> letter from a customer may contain their phone number.</a:t>
            </a:r>
            <a:r>
              <a:rPr lang="en-US" baseline="0" dirty="0" smtClean="0"/>
              <a:t> M</a:t>
            </a:r>
            <a:r>
              <a:rPr lang="en-US" dirty="0" smtClean="0"/>
              <a:t>ost documents from suppliers</a:t>
            </a:r>
            <a:r>
              <a:rPr lang="en-US" baseline="0" dirty="0" smtClean="0"/>
              <a:t> or </a:t>
            </a:r>
            <a:r>
              <a:rPr lang="en-US" dirty="0" smtClean="0"/>
              <a:t>providers will feature their telephone number and there will often be a </a:t>
            </a:r>
            <a:r>
              <a:rPr lang="en-US" dirty="0" err="1" smtClean="0"/>
              <a:t>Freecall</a:t>
            </a:r>
            <a:r>
              <a:rPr lang="en-US" dirty="0" smtClean="0"/>
              <a:t> number</a:t>
            </a:r>
          </a:p>
          <a:p>
            <a:pPr>
              <a:buFont typeface="Arial" pitchFamily="34" charset="0"/>
              <a:buChar char="•"/>
            </a:pPr>
            <a:r>
              <a:rPr lang="en-US" dirty="0" smtClean="0"/>
              <a:t> Contact ‘Directory Assistance’ and ask them for the required number.</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a:p>
        </p:txBody>
      </p:sp>
    </p:spTree>
    <p:extLst>
      <p:ext uri="{BB962C8B-B14F-4D97-AF65-F5344CB8AC3E}">
        <p14:creationId xmlns:p14="http://schemas.microsoft.com/office/powerpoint/2010/main" val="34688509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advises students that when they search for an international number they must make sure they:</a:t>
            </a:r>
          </a:p>
          <a:p>
            <a:pPr>
              <a:buFont typeface="Arial" pitchFamily="34" charset="0"/>
              <a:buChar char="•"/>
            </a:pPr>
            <a:r>
              <a:rPr lang="en-US" dirty="0" smtClean="0"/>
              <a:t> Obtain all the necessary codes and numbers to enable the call to be made:</a:t>
            </a:r>
          </a:p>
          <a:p>
            <a:pPr lvl="1">
              <a:buFont typeface="Arial" pitchFamily="34" charset="0"/>
              <a:buChar char="•"/>
            </a:pPr>
            <a:r>
              <a:rPr lang="en-AU" dirty="0" smtClean="0"/>
              <a:t> Country code</a:t>
            </a:r>
          </a:p>
          <a:p>
            <a:pPr lvl="1">
              <a:buFont typeface="Arial" pitchFamily="34" charset="0"/>
              <a:buChar char="•"/>
            </a:pPr>
            <a:r>
              <a:rPr lang="en-AU" dirty="0" smtClean="0"/>
              <a:t> Area code</a:t>
            </a:r>
          </a:p>
          <a:p>
            <a:pPr lvl="1">
              <a:buFont typeface="Arial" pitchFamily="34" charset="0"/>
              <a:buChar char="•"/>
            </a:pPr>
            <a:r>
              <a:rPr lang="en-AU" dirty="0" smtClean="0"/>
              <a:t> Number for the business/person</a:t>
            </a:r>
          </a:p>
          <a:p>
            <a:pPr lvl="1">
              <a:buFont typeface="Arial" pitchFamily="34" charset="0"/>
              <a:buChar char="•"/>
            </a:pPr>
            <a:r>
              <a:rPr lang="en-AU" dirty="0" smtClean="0"/>
              <a:t> </a:t>
            </a:r>
            <a:r>
              <a:rPr lang="en-AU" dirty="0" err="1" smtClean="0"/>
              <a:t>Freecall</a:t>
            </a:r>
            <a:r>
              <a:rPr lang="en-AU" dirty="0" smtClean="0"/>
              <a:t> number.</a:t>
            </a:r>
          </a:p>
          <a:p>
            <a:pPr>
              <a:buFont typeface="Arial" pitchFamily="34" charset="0"/>
              <a:buChar char="•"/>
            </a:pPr>
            <a:r>
              <a:rPr lang="en-US" dirty="0" smtClean="0"/>
              <a:t> Always use </a:t>
            </a:r>
            <a:r>
              <a:rPr lang="en-US" dirty="0" err="1" smtClean="0"/>
              <a:t>Freecall</a:t>
            </a:r>
            <a:r>
              <a:rPr lang="en-US" dirty="0" smtClean="0"/>
              <a:t> numbers where they exist to save money for the workplace</a:t>
            </a:r>
          </a:p>
          <a:p>
            <a:pPr>
              <a:buFont typeface="Arial" pitchFamily="34" charset="0"/>
              <a:buChar char="•"/>
            </a:pPr>
            <a:r>
              <a:rPr lang="en-US" dirty="0" smtClean="0"/>
              <a:t> Factor in time zones differences to the timing of when the call is placed to avoid placing a call at an inappropriate time where this is relevant</a:t>
            </a:r>
          </a:p>
          <a:p>
            <a:pPr>
              <a:buFont typeface="Arial" pitchFamily="34" charset="0"/>
              <a:buChar char="•"/>
            </a:pPr>
            <a:r>
              <a:rPr lang="en-US" dirty="0" smtClean="0"/>
              <a:t> Obtain additional call details as necessary, such as name of person</a:t>
            </a:r>
            <a:r>
              <a:rPr lang="en-US" baseline="0" dirty="0" smtClean="0"/>
              <a:t> or </a:t>
            </a:r>
            <a:r>
              <a:rPr lang="en-US" dirty="0" smtClean="0"/>
              <a:t>department to be spoken to</a:t>
            </a:r>
            <a:r>
              <a:rPr lang="en-US" baseline="0" dirty="0" smtClean="0"/>
              <a:t> and</a:t>
            </a:r>
            <a:r>
              <a:rPr lang="en-US" dirty="0" smtClean="0"/>
              <a:t> their title position.</a:t>
            </a:r>
          </a:p>
          <a:p>
            <a:pPr>
              <a:buFont typeface="Arial" pitchFamily="34" charset="0"/>
              <a:buNone/>
            </a:pPr>
            <a:endParaRPr lang="en-US" dirty="0" smtClean="0"/>
          </a:p>
          <a:p>
            <a:pPr>
              <a:buFont typeface="Arial" pitchFamily="34" charset="0"/>
              <a:buNone/>
            </a:pPr>
            <a:r>
              <a:rPr lang="en-US" b="1" dirty="0" smtClean="0"/>
              <a:t>Class Activity – Research exercise</a:t>
            </a:r>
          </a:p>
          <a:p>
            <a:pPr>
              <a:buFont typeface="Arial" pitchFamily="34" charset="0"/>
              <a:buNone/>
            </a:pPr>
            <a:r>
              <a:rPr lang="en-US" dirty="0" smtClean="0"/>
              <a:t>Trainer provides students with the names of five </a:t>
            </a:r>
            <a:r>
              <a:rPr lang="en-US" dirty="0" err="1" smtClean="0"/>
              <a:t>organisations</a:t>
            </a:r>
            <a:r>
              <a:rPr lang="en-US" dirty="0" smtClean="0"/>
              <a:t> in different countries and asks them:</a:t>
            </a:r>
          </a:p>
          <a:p>
            <a:pPr>
              <a:buFont typeface="Arial" pitchFamily="34" charset="0"/>
              <a:buChar char="•"/>
            </a:pPr>
            <a:r>
              <a:rPr lang="en-US" dirty="0" smtClean="0"/>
              <a:t> To find out the full telephone number including Country, Area and other codes necessary to make the call</a:t>
            </a:r>
          </a:p>
          <a:p>
            <a:pPr>
              <a:buFont typeface="Arial" pitchFamily="34" charset="0"/>
              <a:buChar char="•"/>
            </a:pPr>
            <a:r>
              <a:rPr lang="en-US" dirty="0" smtClean="0"/>
              <a:t> To identify the local time each call would need to be placed to contact the other country at 10:00AM their time.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a:p>
        </p:txBody>
      </p:sp>
    </p:spTree>
    <p:extLst>
      <p:ext uri="{BB962C8B-B14F-4D97-AF65-F5344CB8AC3E}">
        <p14:creationId xmlns:p14="http://schemas.microsoft.com/office/powerpoint/2010/main" val="7435743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identifies to students a common fault people make when making a phone call is to dial the number and </a:t>
            </a:r>
            <a:r>
              <a:rPr lang="en-AU" i="1" dirty="0" smtClean="0"/>
              <a:t>then</a:t>
            </a:r>
            <a:r>
              <a:rPr lang="en-AU" dirty="0" smtClean="0"/>
              <a:t> try to work out what it is they are going to say which often results in:</a:t>
            </a:r>
          </a:p>
          <a:p>
            <a:pPr lvl="0">
              <a:buFont typeface="Arial" pitchFamily="34" charset="0"/>
              <a:buChar char="•"/>
            </a:pPr>
            <a:r>
              <a:rPr lang="en-AU" dirty="0" smtClean="0"/>
              <a:t> Confusion for all parties.</a:t>
            </a:r>
            <a:r>
              <a:rPr lang="en-AU" baseline="0" dirty="0" smtClean="0"/>
              <a:t> I</a:t>
            </a:r>
            <a:r>
              <a:rPr lang="en-AU" dirty="0" smtClean="0"/>
              <a:t>t is much more difficult for the other party to understand what you are saying and what you want if </a:t>
            </a:r>
            <a:r>
              <a:rPr lang="en-AU" b="1" dirty="0" smtClean="0"/>
              <a:t>you </a:t>
            </a:r>
            <a:r>
              <a:rPr lang="en-AU" dirty="0" smtClean="0"/>
              <a:t>do not know</a:t>
            </a:r>
          </a:p>
          <a:p>
            <a:pPr lvl="0">
              <a:buFont typeface="Arial" pitchFamily="34" charset="0"/>
              <a:buChar char="•"/>
            </a:pPr>
            <a:r>
              <a:rPr lang="en-AU" dirty="0" smtClean="0"/>
              <a:t> Failure to achieve what was the intended purpose of the call.</a:t>
            </a:r>
            <a:r>
              <a:rPr lang="en-AU" baseline="0" dirty="0" smtClean="0"/>
              <a:t> F</a:t>
            </a:r>
            <a:r>
              <a:rPr lang="en-AU" dirty="0" smtClean="0"/>
              <a:t>ailing to plan increases the chances of you not securing information you wanted, not passing on necessary information etc.</a:t>
            </a:r>
          </a:p>
          <a:p>
            <a:pPr lvl="0">
              <a:buFont typeface="Arial" pitchFamily="34" charset="0"/>
              <a:buChar char="•"/>
            </a:pPr>
            <a:r>
              <a:rPr lang="en-AU" dirty="0" smtClean="0"/>
              <a:t> Time wasting.</a:t>
            </a:r>
            <a:r>
              <a:rPr lang="en-AU" baseline="0" dirty="0" smtClean="0"/>
              <a:t> A</a:t>
            </a:r>
            <a:r>
              <a:rPr lang="en-AU" dirty="0" smtClean="0"/>
              <a:t> call that fails to achieve its intended outcomes often has to be repeated.</a:t>
            </a:r>
            <a:r>
              <a:rPr lang="en-AU" baseline="0" dirty="0" smtClean="0"/>
              <a:t> T</a:t>
            </a:r>
            <a:r>
              <a:rPr lang="en-AU" dirty="0" smtClean="0"/>
              <a:t>he ‘waste of time’ refers to a waste of time for the business and for the other party (customer, supplier, provider)</a:t>
            </a:r>
          </a:p>
          <a:p>
            <a:pPr lvl="0">
              <a:buFont typeface="Arial" pitchFamily="34" charset="0"/>
              <a:buChar char="•"/>
            </a:pPr>
            <a:r>
              <a:rPr lang="en-AU" dirty="0" smtClean="0"/>
              <a:t> A poor image</a:t>
            </a:r>
            <a:r>
              <a:rPr lang="en-AU" baseline="0" dirty="0" smtClean="0"/>
              <a:t> or </a:t>
            </a:r>
            <a:r>
              <a:rPr lang="en-AU" dirty="0" smtClean="0"/>
              <a:t>reputation for the business which may result in others not referring potential customers to us.</a:t>
            </a:r>
            <a:r>
              <a:rPr lang="en-AU" baseline="0" dirty="0" smtClean="0"/>
              <a:t> T</a:t>
            </a:r>
            <a:r>
              <a:rPr lang="en-AU" dirty="0" smtClean="0"/>
              <a:t>hey may also tell others about our unprofessional attitude and approach</a:t>
            </a:r>
          </a:p>
          <a:p>
            <a:pPr lvl="0">
              <a:buFont typeface="Arial" pitchFamily="34" charset="0"/>
              <a:buChar char="•"/>
            </a:pPr>
            <a:r>
              <a:rPr lang="en-AU" dirty="0" smtClean="0"/>
              <a:t> Loss of business as the other party loses confidence in the organisation.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a:p>
        </p:txBody>
      </p:sp>
    </p:spTree>
    <p:extLst>
      <p:ext uri="{BB962C8B-B14F-4D97-AF65-F5344CB8AC3E}">
        <p14:creationId xmlns:p14="http://schemas.microsoft.com/office/powerpoint/2010/main" val="6126839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dirty="0" smtClean="0"/>
              <a:t>Trainer explains to students in order to optimise the chances of making an effective telephone call, </a:t>
            </a:r>
            <a:r>
              <a:rPr lang="en-AU" b="1" dirty="0" smtClean="0"/>
              <a:t>before making the call </a:t>
            </a:r>
            <a:r>
              <a:rPr lang="en-AU" dirty="0" smtClean="0"/>
              <a:t>they need to:</a:t>
            </a:r>
            <a:endParaRPr lang="en-AU" sz="1100" dirty="0" smtClean="0"/>
          </a:p>
          <a:p>
            <a:pPr lvl="0">
              <a:buFont typeface="Arial" pitchFamily="34" charset="0"/>
              <a:buChar char="•"/>
            </a:pPr>
            <a:r>
              <a:rPr lang="en-AU" dirty="0" smtClean="0"/>
              <a:t> Establish the purpose of the call.</a:t>
            </a:r>
            <a:r>
              <a:rPr lang="en-AU" baseline="0" dirty="0" smtClean="0"/>
              <a:t> W</a:t>
            </a:r>
            <a:r>
              <a:rPr lang="en-AU" dirty="0" smtClean="0"/>
              <a:t>hy are you phoning this person or organisation?  What is it you want to achieve? Do you want to obtain information or provide it? Exactly what information needs to be captured or given?</a:t>
            </a:r>
            <a:endParaRPr lang="en-AU" sz="1100" dirty="0" smtClean="0"/>
          </a:p>
          <a:p>
            <a:pPr lvl="0">
              <a:buFont typeface="Arial" pitchFamily="34" charset="0"/>
              <a:buChar char="•"/>
            </a:pPr>
            <a:r>
              <a:rPr lang="en-AU" dirty="0" smtClean="0"/>
              <a:t> Determine who you need to speak to.</a:t>
            </a:r>
            <a:r>
              <a:rPr lang="en-AU" baseline="0" dirty="0" smtClean="0"/>
              <a:t> I</a:t>
            </a:r>
            <a:r>
              <a:rPr lang="en-AU" dirty="0" smtClean="0"/>
              <a:t>f you do not know a person’s name you should at least determine which department or area  you need to make contact with</a:t>
            </a:r>
            <a:endParaRPr lang="en-AU" sz="1100" dirty="0" smtClean="0"/>
          </a:p>
          <a:p>
            <a:pPr lvl="0">
              <a:buFont typeface="Arial" pitchFamily="34" charset="0"/>
              <a:buChar char="•"/>
            </a:pPr>
            <a:r>
              <a:rPr lang="en-AU" dirty="0" smtClean="0"/>
              <a:t> Have all relevant information at your fingertips depending on the reason for the call.</a:t>
            </a:r>
            <a:r>
              <a:rPr lang="en-AU" baseline="0" dirty="0" smtClean="0"/>
              <a:t> T</a:t>
            </a:r>
            <a:r>
              <a:rPr lang="en-AU" dirty="0" smtClean="0"/>
              <a:t>his could include:</a:t>
            </a:r>
            <a:endParaRPr lang="en-AU" sz="1100" dirty="0" smtClean="0"/>
          </a:p>
          <a:p>
            <a:pPr lvl="1">
              <a:buFont typeface="Arial" pitchFamily="34" charset="0"/>
              <a:buChar char="•"/>
            </a:pPr>
            <a:r>
              <a:rPr lang="en-AU" dirty="0" smtClean="0"/>
              <a:t> Previous correspondence with that person</a:t>
            </a:r>
            <a:r>
              <a:rPr lang="en-AU" baseline="0" dirty="0" smtClean="0"/>
              <a:t> or </a:t>
            </a:r>
            <a:r>
              <a:rPr lang="en-AU" dirty="0" smtClean="0"/>
              <a:t>organisation </a:t>
            </a:r>
            <a:endParaRPr lang="en-AU" sz="1100" dirty="0" smtClean="0"/>
          </a:p>
          <a:p>
            <a:pPr lvl="1">
              <a:buFont typeface="Arial" pitchFamily="34" charset="0"/>
              <a:buChar char="•"/>
            </a:pPr>
            <a:r>
              <a:rPr lang="en-AU" dirty="0" smtClean="0"/>
              <a:t> Lists or brochures relating to products or services,</a:t>
            </a:r>
            <a:r>
              <a:rPr lang="en-AU" baseline="0" dirty="0" smtClean="0"/>
              <a:t> </a:t>
            </a:r>
            <a:r>
              <a:rPr lang="en-AU" dirty="0" smtClean="0"/>
              <a:t>including price lists, special deals/offers, product information sheets, menus, flight/tour schedules</a:t>
            </a:r>
            <a:endParaRPr lang="en-AU" sz="1100" dirty="0" smtClean="0"/>
          </a:p>
          <a:p>
            <a:pPr lvl="1">
              <a:buFont typeface="Arial" pitchFamily="34" charset="0"/>
              <a:buChar char="•"/>
            </a:pPr>
            <a:r>
              <a:rPr lang="en-AU" dirty="0" smtClean="0"/>
              <a:t> Details on the important points of the discussion you want to have with the other person such as the details of an offer, the parameters of any negotiation you intend entering into, process details, dates, times, numbers/statistics. Make sure you only ever negotiate with people within your specified scope of authority and be prepared to pass the call on to a Supervisor or other appropriate person when these limits are reached and/or there is need for the negotiation to go beyond these boundaries.</a:t>
            </a:r>
            <a:endParaRPr lang="en-AU" sz="1100" dirty="0" smtClean="0"/>
          </a:p>
          <a:p>
            <a:pPr>
              <a:buFont typeface="Arial" pitchFamily="34" charset="0"/>
              <a:buChar char="•"/>
            </a:pPr>
            <a:r>
              <a:rPr lang="en-US" dirty="0" smtClean="0"/>
              <a:t> Ensure pen and paper are close by to record any information given by the other party</a:t>
            </a:r>
          </a:p>
          <a:p>
            <a:pPr>
              <a:buFont typeface="Arial" pitchFamily="34" charset="0"/>
              <a:buChar char="•"/>
            </a:pPr>
            <a:r>
              <a:rPr lang="en-US" dirty="0" smtClean="0"/>
              <a:t> Make the environment</a:t>
            </a:r>
            <a:r>
              <a:rPr lang="en-US" baseline="0" dirty="0" smtClean="0"/>
              <a:t> as quiet as possible – close doors, turn down or turn off music etc.</a:t>
            </a:r>
          </a:p>
          <a:p>
            <a:pPr>
              <a:buFont typeface="Arial" pitchFamily="34" charset="0"/>
              <a:buChar char="•"/>
            </a:pPr>
            <a:endParaRPr lang="en-US" baseline="0" dirty="0" smtClean="0"/>
          </a:p>
          <a:p>
            <a:r>
              <a:rPr lang="en-AU" dirty="0" smtClean="0"/>
              <a:t>Trainer states to students it is </a:t>
            </a:r>
            <a:r>
              <a:rPr lang="en-AU" b="1" dirty="0" smtClean="0"/>
              <a:t>never acceptable </a:t>
            </a:r>
            <a:r>
              <a:rPr lang="en-AU" dirty="0" smtClean="0"/>
              <a:t>to use the work phone to receive or make private phone calls, highlighting this is unacceptable in all workplaces as it costs the employer time and money.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a:p>
        </p:txBody>
      </p:sp>
    </p:spTree>
    <p:extLst>
      <p:ext uri="{BB962C8B-B14F-4D97-AF65-F5344CB8AC3E}">
        <p14:creationId xmlns:p14="http://schemas.microsoft.com/office/powerpoint/2010/main" val="19023481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advises students that some organisations maintain a ‘Calls Out’ book/’Outward Calls’ register requiring them to log all calls placed detailing all or some of the following:</a:t>
            </a:r>
          </a:p>
          <a:p>
            <a:pPr lvl="0">
              <a:buFont typeface="Arial" pitchFamily="34" charset="0"/>
              <a:buChar char="•"/>
            </a:pPr>
            <a:r>
              <a:rPr lang="en-AU" dirty="0" smtClean="0"/>
              <a:t> Date and time of the call.</a:t>
            </a:r>
            <a:r>
              <a:rPr lang="en-AU" baseline="0" dirty="0" smtClean="0"/>
              <a:t> T</a:t>
            </a:r>
            <a:r>
              <a:rPr lang="en-AU" dirty="0" smtClean="0"/>
              <a:t>he duration of the call may be required where the call is international or out-of-area</a:t>
            </a:r>
          </a:p>
          <a:p>
            <a:pPr lvl="0">
              <a:buFont typeface="Arial" pitchFamily="34" charset="0"/>
              <a:buChar char="•"/>
            </a:pPr>
            <a:r>
              <a:rPr lang="en-AU" dirty="0" smtClean="0"/>
              <a:t> Who placed the call – by name or initials</a:t>
            </a:r>
          </a:p>
          <a:p>
            <a:pPr lvl="0">
              <a:buFont typeface="Arial" pitchFamily="34" charset="0"/>
              <a:buChar char="•"/>
            </a:pPr>
            <a:r>
              <a:rPr lang="en-AU" dirty="0" smtClean="0"/>
              <a:t> Who the call was to</a:t>
            </a:r>
            <a:r>
              <a:rPr lang="en-AU" baseline="0" dirty="0" smtClean="0"/>
              <a:t> or </a:t>
            </a:r>
            <a:r>
              <a:rPr lang="en-AU" dirty="0" smtClean="0"/>
              <a:t>who was spoken to,</a:t>
            </a:r>
            <a:r>
              <a:rPr lang="en-AU" baseline="0" dirty="0" smtClean="0"/>
              <a:t> </a:t>
            </a:r>
            <a:r>
              <a:rPr lang="en-AU" dirty="0" smtClean="0"/>
              <a:t>meaning the name of a person, company or organisation has to be entered</a:t>
            </a:r>
          </a:p>
          <a:p>
            <a:pPr lvl="0">
              <a:buFont typeface="Arial" pitchFamily="34" charset="0"/>
              <a:buChar char="•"/>
            </a:pPr>
            <a:r>
              <a:rPr lang="en-AU" dirty="0" smtClean="0"/>
              <a:t> Reason for the call – ‘Confirm booking’, ‘Cold call’, ‘Return call’ etc.</a:t>
            </a:r>
          </a:p>
          <a:p>
            <a:endParaRPr lang="en-US" dirty="0" smtClean="0"/>
          </a:p>
          <a:p>
            <a:r>
              <a:rPr lang="en-US" b="1" dirty="0" smtClean="0"/>
              <a:t>Class Activity – Outwards Calls Register</a:t>
            </a:r>
          </a:p>
          <a:p>
            <a:r>
              <a:rPr lang="en-US" b="0" dirty="0" smtClean="0"/>
              <a:t>Trainer obtains a sample Outwards Calls Register (or book, or similar – the one used by the Training Institute may be suitable) and:</a:t>
            </a:r>
          </a:p>
          <a:p>
            <a:pPr>
              <a:buFont typeface="Arial" pitchFamily="34" charset="0"/>
              <a:buChar char="•"/>
            </a:pPr>
            <a:r>
              <a:rPr lang="en-US" b="0" dirty="0" smtClean="0"/>
              <a:t> Shows it to students</a:t>
            </a:r>
          </a:p>
          <a:p>
            <a:pPr>
              <a:buFont typeface="Arial" pitchFamily="34" charset="0"/>
              <a:buChar char="•"/>
            </a:pPr>
            <a:r>
              <a:rPr lang="en-US" b="0" dirty="0" smtClean="0"/>
              <a:t> Explains each heading</a:t>
            </a:r>
          </a:p>
          <a:p>
            <a:pPr>
              <a:buFont typeface="Arial" pitchFamily="34" charset="0"/>
              <a:buChar char="•"/>
            </a:pPr>
            <a:r>
              <a:rPr lang="en-US" b="0" dirty="0" smtClean="0"/>
              <a:t> Illustrates the use of the book/register by reference to entries made.</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a:p>
        </p:txBody>
      </p:sp>
    </p:spTree>
    <p:extLst>
      <p:ext uri="{BB962C8B-B14F-4D97-AF65-F5344CB8AC3E}">
        <p14:creationId xmlns:p14="http://schemas.microsoft.com/office/powerpoint/2010/main" val="55470599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notes to students the telephone at work is likely to be different to what they use at home.</a:t>
            </a:r>
            <a:r>
              <a:rPr lang="en-AU" baseline="0" dirty="0" smtClean="0"/>
              <a:t> He/she explains that,</a:t>
            </a:r>
            <a:r>
              <a:rPr lang="en-AU" dirty="0" smtClean="0"/>
              <a:t> while there are certainly going to be similarities between their home phone and their work phone, the work phone is generally part of a larger system, has many more facilities, and commonly requires them to undertake some form of training to become fully competent in its use.</a:t>
            </a:r>
          </a:p>
          <a:p>
            <a:endParaRPr lang="en-AU" dirty="0" smtClean="0"/>
          </a:p>
          <a:p>
            <a:r>
              <a:rPr lang="en-AU" dirty="0" smtClean="0"/>
              <a:t>Trainer states to students their ability to operate the system</a:t>
            </a:r>
            <a:r>
              <a:rPr lang="en-AU" baseline="0" dirty="0" smtClean="0"/>
              <a:t> or </a:t>
            </a:r>
            <a:r>
              <a:rPr lang="en-AU" dirty="0" smtClean="0"/>
              <a:t>equipment properly will depend on:</a:t>
            </a:r>
          </a:p>
          <a:p>
            <a:pPr>
              <a:buFont typeface="Arial" pitchFamily="34" charset="0"/>
              <a:buChar char="•"/>
            </a:pPr>
            <a:r>
              <a:rPr lang="en-AU" dirty="0" smtClean="0"/>
              <a:t> Obtaining training which can include:</a:t>
            </a:r>
          </a:p>
          <a:p>
            <a:pPr lvl="1">
              <a:buFont typeface="Arial" pitchFamily="34" charset="0"/>
              <a:buChar char="•"/>
            </a:pPr>
            <a:r>
              <a:rPr lang="en-AU" dirty="0" smtClean="0"/>
              <a:t> Attending a course conducted by the supplier or manufacturer of the system.</a:t>
            </a:r>
            <a:r>
              <a:rPr lang="en-AU" baseline="0" dirty="0" smtClean="0"/>
              <a:t> T</a:t>
            </a:r>
            <a:r>
              <a:rPr lang="en-AU" dirty="0" smtClean="0"/>
              <a:t>his is only an option for those who live in</a:t>
            </a:r>
            <a:r>
              <a:rPr lang="en-AU" baseline="0" dirty="0" smtClean="0"/>
              <a:t> or </a:t>
            </a:r>
            <a:r>
              <a:rPr lang="en-AU" dirty="0" smtClean="0"/>
              <a:t>near a capital city in most cases. In limited cases, the supplier may also make an on-site visit to train staff.</a:t>
            </a:r>
            <a:r>
              <a:rPr lang="en-AU" baseline="0" dirty="0" smtClean="0"/>
              <a:t> T</a:t>
            </a:r>
            <a:r>
              <a:rPr lang="en-AU" dirty="0" smtClean="0"/>
              <a:t>his usually only applies where a new system has been installed and is not generally available to individual staff as they join an organisation as a new staff member</a:t>
            </a:r>
          </a:p>
          <a:p>
            <a:pPr lvl="1">
              <a:buFont typeface="Arial" pitchFamily="34" charset="0"/>
              <a:buChar char="•"/>
            </a:pPr>
            <a:r>
              <a:rPr lang="en-AU" dirty="0" smtClean="0"/>
              <a:t> Reading the manual</a:t>
            </a:r>
            <a:r>
              <a:rPr lang="en-AU" baseline="0" dirty="0" smtClean="0"/>
              <a:t> or </a:t>
            </a:r>
            <a:r>
              <a:rPr lang="en-AU" dirty="0" smtClean="0"/>
              <a:t>instructions</a:t>
            </a:r>
            <a:r>
              <a:rPr lang="en-AU" baseline="0" dirty="0" smtClean="0"/>
              <a:t> </a:t>
            </a:r>
            <a:r>
              <a:rPr lang="en-AU" dirty="0" smtClean="0"/>
              <a:t>and practicing with the system as you read to assist in becoming familiar with how it operates</a:t>
            </a:r>
          </a:p>
          <a:p>
            <a:pPr lvl="1">
              <a:buFont typeface="Arial" pitchFamily="34" charset="0"/>
              <a:buChar char="•"/>
            </a:pPr>
            <a:r>
              <a:rPr lang="en-AU" dirty="0" smtClean="0"/>
              <a:t> Receiving on-the-job training.</a:t>
            </a:r>
            <a:r>
              <a:rPr lang="en-AU" baseline="0" dirty="0" smtClean="0"/>
              <a:t> T</a:t>
            </a:r>
            <a:r>
              <a:rPr lang="en-AU" dirty="0" smtClean="0"/>
              <a:t>his is the most common and features an experienced operator explaining the system to you.</a:t>
            </a:r>
            <a:r>
              <a:rPr lang="en-AU" baseline="0" dirty="0" smtClean="0"/>
              <a:t> I</a:t>
            </a:r>
            <a:r>
              <a:rPr lang="en-AU" dirty="0" smtClean="0"/>
              <a:t>t involves you watching and listening to them and then you gradually take over progressively more complex tasks as you learn the system and gain confidence and competency</a:t>
            </a:r>
          </a:p>
          <a:p>
            <a:pPr lvl="1">
              <a:buFont typeface="Arial" pitchFamily="34" charset="0"/>
              <a:buChar char="•"/>
            </a:pPr>
            <a:r>
              <a:rPr lang="en-AU" dirty="0" smtClean="0"/>
              <a:t> Attending in-house training courses.</a:t>
            </a:r>
            <a:r>
              <a:rPr lang="en-AU" baseline="0" dirty="0" smtClean="0"/>
              <a:t> S</a:t>
            </a:r>
            <a:r>
              <a:rPr lang="en-AU" dirty="0" smtClean="0"/>
              <a:t>ome establishments will offer training in their training room in relation to what the phone system can do, and how to use it.</a:t>
            </a:r>
          </a:p>
          <a:p>
            <a:pPr>
              <a:buFont typeface="Arial" pitchFamily="34" charset="0"/>
              <a:buChar char="•"/>
            </a:pPr>
            <a:endParaRPr lang="en-AU"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a:p>
        </p:txBody>
      </p:sp>
    </p:spTree>
    <p:extLst>
      <p:ext uri="{BB962C8B-B14F-4D97-AF65-F5344CB8AC3E}">
        <p14:creationId xmlns:p14="http://schemas.microsoft.com/office/powerpoint/2010/main" val="36691956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students they will only need to learn how to use the telephone system and equipment as it exists within their workplace suggesting their effort should be focused on:</a:t>
            </a:r>
          </a:p>
          <a:p>
            <a:pPr lvl="0">
              <a:buFont typeface="Arial" pitchFamily="34" charset="0"/>
              <a:buChar char="•"/>
            </a:pPr>
            <a:r>
              <a:rPr lang="en-AU" dirty="0" smtClean="0"/>
              <a:t> Identifying the parts</a:t>
            </a:r>
            <a:r>
              <a:rPr lang="en-AU" baseline="0" dirty="0" smtClean="0"/>
              <a:t> and c</a:t>
            </a:r>
            <a:r>
              <a:rPr lang="en-AU" dirty="0" smtClean="0"/>
              <a:t>omponents of the system – buttons, lights, displays, add-on and integrated components</a:t>
            </a:r>
          </a:p>
          <a:p>
            <a:pPr lvl="0">
              <a:buFont typeface="Arial" pitchFamily="34" charset="0"/>
              <a:buChar char="•"/>
            </a:pPr>
            <a:r>
              <a:rPr lang="en-AU" dirty="0" smtClean="0"/>
              <a:t> Learning how to answer a call – both an internal call and an external</a:t>
            </a:r>
            <a:r>
              <a:rPr lang="en-AU" baseline="0" dirty="0" smtClean="0"/>
              <a:t> -</a:t>
            </a:r>
            <a:r>
              <a:rPr lang="en-AU" dirty="0" smtClean="0"/>
              <a:t> as well as learning how to identify the difference between these calls</a:t>
            </a:r>
          </a:p>
          <a:p>
            <a:pPr lvl="0">
              <a:buFont typeface="Arial" pitchFamily="34" charset="0"/>
              <a:buChar char="•"/>
            </a:pPr>
            <a:r>
              <a:rPr lang="en-AU" dirty="0" smtClean="0"/>
              <a:t> Learning how to place a call on hold</a:t>
            </a:r>
          </a:p>
          <a:p>
            <a:pPr lvl="0">
              <a:buFont typeface="Arial" pitchFamily="34" charset="0"/>
              <a:buChar char="•"/>
            </a:pPr>
            <a:r>
              <a:rPr lang="en-AU" dirty="0" smtClean="0"/>
              <a:t> Learning how to transfer a call</a:t>
            </a:r>
          </a:p>
          <a:p>
            <a:pPr lvl="0">
              <a:buFont typeface="Arial" pitchFamily="34" charset="0"/>
              <a:buChar char="•"/>
            </a:pPr>
            <a:r>
              <a:rPr lang="en-AU" dirty="0" smtClean="0"/>
              <a:t> recognising the different tones relating to the system.</a:t>
            </a:r>
            <a:r>
              <a:rPr lang="en-AU" baseline="0" dirty="0" smtClean="0"/>
              <a:t> M</a:t>
            </a:r>
            <a:r>
              <a:rPr lang="en-AU" dirty="0" smtClean="0"/>
              <a:t>ost systems produce a different tone to distinguish between internal incoming calls and external incoming calls.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a:p>
        </p:txBody>
      </p:sp>
    </p:spTree>
    <p:extLst>
      <p:ext uri="{BB962C8B-B14F-4D97-AF65-F5344CB8AC3E}">
        <p14:creationId xmlns:p14="http://schemas.microsoft.com/office/powerpoint/2010/main" val="39664261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identify for students the aspects of a workplace telephone system and equipment they should focus on learning:</a:t>
            </a:r>
          </a:p>
          <a:p>
            <a:pPr lvl="0">
              <a:buFont typeface="Arial" pitchFamily="34" charset="0"/>
              <a:buChar char="•"/>
            </a:pPr>
            <a:r>
              <a:rPr lang="en-AU" dirty="0" smtClean="0"/>
              <a:t> Learning and deciphering the display on the handset/console</a:t>
            </a:r>
          </a:p>
          <a:p>
            <a:pPr lvl="0">
              <a:buFont typeface="Arial" pitchFamily="34" charset="0"/>
              <a:buChar char="•"/>
            </a:pPr>
            <a:r>
              <a:rPr lang="en-AU" dirty="0" smtClean="0"/>
              <a:t> Being able to use the call monitoring features as specific to individual systems, makes and models</a:t>
            </a:r>
          </a:p>
          <a:p>
            <a:pPr lvl="0">
              <a:buFont typeface="Arial" pitchFamily="34" charset="0"/>
              <a:buChar char="•"/>
            </a:pPr>
            <a:r>
              <a:rPr lang="en-AU" dirty="0" smtClean="0"/>
              <a:t> Using the speed dial which will involve finding out about the numbers and associated contacts entered into the speed dial facility (this may be a paper-based list or a system-based display on the handset/console)</a:t>
            </a:r>
          </a:p>
          <a:p>
            <a:pPr lvl="0">
              <a:buFont typeface="Arial" pitchFamily="34" charset="0"/>
              <a:buChar char="•"/>
            </a:pPr>
            <a:r>
              <a:rPr lang="en-AU" dirty="0" smtClean="0"/>
              <a:t> Using last number redial</a:t>
            </a:r>
          </a:p>
          <a:p>
            <a:pPr lvl="0">
              <a:buFont typeface="Arial" pitchFamily="34" charset="0"/>
              <a:buChar char="•"/>
            </a:pPr>
            <a:r>
              <a:rPr lang="en-AU" dirty="0" smtClean="0"/>
              <a:t> Using handsets and headsets.</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a:p>
        </p:txBody>
      </p:sp>
    </p:spTree>
    <p:extLst>
      <p:ext uri="{BB962C8B-B14F-4D97-AF65-F5344CB8AC3E}">
        <p14:creationId xmlns:p14="http://schemas.microsoft.com/office/powerpoint/2010/main" val="356090492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highlights to students individual systems vary depending on their size, cost and the needs of the business and learning the advanced features may cover things such as:</a:t>
            </a:r>
          </a:p>
          <a:p>
            <a:pPr lvl="0">
              <a:buFont typeface="Arial" pitchFamily="34" charset="0"/>
              <a:buChar char="•"/>
            </a:pPr>
            <a:r>
              <a:rPr lang="en-AU" dirty="0" smtClean="0"/>
              <a:t> Activating ‘call forward’ for individual numbers.</a:t>
            </a:r>
            <a:r>
              <a:rPr lang="en-AU" baseline="0" dirty="0" smtClean="0"/>
              <a:t> T</a:t>
            </a:r>
            <a:r>
              <a:rPr lang="en-AU" dirty="0" smtClean="0"/>
              <a:t>his forwards an incoming call to a designated number if the extension does not answer within a given number of rings</a:t>
            </a:r>
          </a:p>
          <a:p>
            <a:pPr lvl="0">
              <a:buFont typeface="Arial" pitchFamily="34" charset="0"/>
              <a:buChar char="•"/>
            </a:pPr>
            <a:r>
              <a:rPr lang="en-AU" dirty="0" smtClean="0"/>
              <a:t> Activating ‘call back’ for individual numbers</a:t>
            </a:r>
          </a:p>
          <a:p>
            <a:pPr lvl="0">
              <a:buFont typeface="Arial" pitchFamily="34" charset="0"/>
              <a:buChar char="•"/>
            </a:pPr>
            <a:r>
              <a:rPr lang="en-AU" dirty="0" smtClean="0"/>
              <a:t> Recording voice messages</a:t>
            </a:r>
            <a:r>
              <a:rPr lang="en-AU" baseline="0" dirty="0" smtClean="0"/>
              <a:t> </a:t>
            </a:r>
            <a:r>
              <a:rPr lang="en-AU" dirty="0" smtClean="0"/>
              <a:t>such as greetings</a:t>
            </a:r>
          </a:p>
          <a:p>
            <a:pPr lvl="0">
              <a:buFont typeface="Arial" pitchFamily="34" charset="0"/>
              <a:buChar char="•"/>
            </a:pPr>
            <a:r>
              <a:rPr lang="en-AU" dirty="0" smtClean="0"/>
              <a:t> Setting up conference calls.</a:t>
            </a:r>
            <a:r>
              <a:rPr lang="en-AU" baseline="0" dirty="0" smtClean="0"/>
              <a:t> This is us</a:t>
            </a:r>
            <a:r>
              <a:rPr lang="en-AU" dirty="0" smtClean="0"/>
              <a:t>ed by many businesses, especially where they have numerous offices in different countries</a:t>
            </a:r>
            <a:r>
              <a:rPr lang="en-AU" baseline="0" dirty="0" smtClean="0"/>
              <a:t> or </a:t>
            </a:r>
            <a:r>
              <a:rPr lang="en-AU" dirty="0" smtClean="0"/>
              <a:t>locations</a:t>
            </a:r>
          </a:p>
          <a:p>
            <a:pPr lvl="0">
              <a:buFont typeface="Arial" pitchFamily="34" charset="0"/>
              <a:buChar char="•"/>
            </a:pPr>
            <a:r>
              <a:rPr lang="en-AU" dirty="0" smtClean="0"/>
              <a:t> Initiating ‘Do Not Disturb’ for designated numbers.</a:t>
            </a:r>
            <a:r>
              <a:rPr lang="en-AU" baseline="0" dirty="0" smtClean="0"/>
              <a:t> This is i</a:t>
            </a:r>
            <a:r>
              <a:rPr lang="en-AU" dirty="0" smtClean="0"/>
              <a:t>mportant in businesses where staff</a:t>
            </a:r>
            <a:r>
              <a:rPr lang="en-AU" baseline="0" dirty="0" smtClean="0"/>
              <a:t> or </a:t>
            </a:r>
            <a:r>
              <a:rPr lang="en-AU" dirty="0" smtClean="0"/>
              <a:t>management are in conferences or meetings and do not want to be interrupted.</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a:p>
        </p:txBody>
      </p:sp>
    </p:spTree>
    <p:extLst>
      <p:ext uri="{BB962C8B-B14F-4D97-AF65-F5344CB8AC3E}">
        <p14:creationId xmlns:p14="http://schemas.microsoft.com/office/powerpoint/2010/main" val="23604752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to identify the ‘advanced features’ of a telephone system that students should strive to learn how to use:</a:t>
            </a:r>
          </a:p>
          <a:p>
            <a:pPr lvl="0">
              <a:buFont typeface="Arial" pitchFamily="34" charset="0"/>
              <a:buChar char="•"/>
            </a:pPr>
            <a:r>
              <a:rPr lang="en-AU" dirty="0" smtClean="0"/>
              <a:t> Initiating password protection on designated lines</a:t>
            </a:r>
            <a:r>
              <a:rPr lang="en-AU" baseline="0" dirty="0" smtClean="0"/>
              <a:t> or </a:t>
            </a:r>
            <a:r>
              <a:rPr lang="en-AU" dirty="0" smtClean="0"/>
              <a:t>numbers</a:t>
            </a:r>
          </a:p>
          <a:p>
            <a:pPr lvl="0">
              <a:buFont typeface="Arial" pitchFamily="34" charset="0"/>
              <a:buChar char="•"/>
            </a:pPr>
            <a:r>
              <a:rPr lang="en-AU" dirty="0" smtClean="0"/>
              <a:t> Establishing call groups for ease of use</a:t>
            </a:r>
          </a:p>
          <a:p>
            <a:pPr lvl="0">
              <a:buFont typeface="Arial" pitchFamily="34" charset="0"/>
              <a:buChar char="•"/>
            </a:pPr>
            <a:r>
              <a:rPr lang="en-AU" dirty="0" smtClean="0"/>
              <a:t> Adding, deleting and amending system details for nominated internal lines or numbers</a:t>
            </a:r>
          </a:p>
          <a:p>
            <a:pPr lvl="0">
              <a:buFont typeface="Arial" pitchFamily="34" charset="0"/>
              <a:buChar char="•"/>
            </a:pPr>
            <a:r>
              <a:rPr lang="en-AU" dirty="0" smtClean="0"/>
              <a:t> Operating system features that integrate with other systems such as pagers, call costing, wake and reminder calls, barring or limiting calls to and from designated numbers, messaging etc.</a:t>
            </a:r>
          </a:p>
          <a:p>
            <a:pPr lvl="0">
              <a:buFont typeface="Arial" pitchFamily="34" charset="0"/>
              <a:buChar char="•"/>
            </a:pPr>
            <a:r>
              <a:rPr lang="en-AU" dirty="0" smtClean="0"/>
              <a:t> Using programmable keys</a:t>
            </a:r>
            <a:r>
              <a:rPr lang="en-AU" baseline="0" dirty="0" smtClean="0"/>
              <a:t> or </a:t>
            </a:r>
            <a:r>
              <a:rPr lang="en-AU" dirty="0" smtClean="0"/>
              <a:t>buttons as appropriate to the individual workplace.</a:t>
            </a:r>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a:p>
        </p:txBody>
      </p:sp>
    </p:spTree>
    <p:extLst>
      <p:ext uri="{BB962C8B-B14F-4D97-AF65-F5344CB8AC3E}">
        <p14:creationId xmlns:p14="http://schemas.microsoft.com/office/powerpoint/2010/main" val="42734979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explains to students that</a:t>
            </a:r>
            <a:r>
              <a:rPr lang="en-US" baseline="0" dirty="0" smtClean="0"/>
              <a:t> </a:t>
            </a:r>
            <a:r>
              <a:rPr lang="en-US" dirty="0" smtClean="0"/>
              <a:t>whenever they make a call from their workplace they should begin the call when it is answered by:</a:t>
            </a:r>
          </a:p>
          <a:p>
            <a:pPr lvl="0">
              <a:buFont typeface="Arial" pitchFamily="34" charset="0"/>
              <a:buChar char="•"/>
            </a:pPr>
            <a:r>
              <a:rPr lang="en-AU" dirty="0" smtClean="0"/>
              <a:t> Stating your name clearly: the name may be your full name (that is, first and surname), or just the first name (in accordance with workplace standards)</a:t>
            </a:r>
          </a:p>
          <a:p>
            <a:pPr lvl="0">
              <a:buFont typeface="Arial" pitchFamily="34" charset="0"/>
              <a:buChar char="•"/>
            </a:pPr>
            <a:r>
              <a:rPr lang="en-AU" dirty="0" smtClean="0"/>
              <a:t> Identifying the business you represent according to accepted</a:t>
            </a:r>
            <a:r>
              <a:rPr lang="en-AU" baseline="0" dirty="0" smtClean="0"/>
              <a:t> or </a:t>
            </a:r>
            <a:r>
              <a:rPr lang="en-AU" dirty="0" smtClean="0"/>
              <a:t>required format: that is the words ‘proprietary’, ‘company’, ‘limited’ and certain other words are commonly omitted</a:t>
            </a:r>
          </a:p>
          <a:p>
            <a:pPr lvl="0">
              <a:buFont typeface="Arial" pitchFamily="34" charset="0"/>
              <a:buChar char="•"/>
            </a:pPr>
            <a:r>
              <a:rPr lang="en-AU" dirty="0" smtClean="0"/>
              <a:t> Advising them of the reason for your call or the person you want to speak with.</a:t>
            </a:r>
          </a:p>
          <a:p>
            <a:endParaRPr lang="en-US" dirty="0" smtClean="0"/>
          </a:p>
          <a:p>
            <a:r>
              <a:rPr lang="en-US" dirty="0" smtClean="0"/>
              <a:t>Trainer explains to students that ‘phone tag’ </a:t>
            </a:r>
            <a:r>
              <a:rPr lang="en-AU" dirty="0" smtClean="0"/>
              <a:t>is where they ring someone and the person they want is unavailable, so they leave a message or their number. The other person then returns their call and finds the person who left the message is unavailable, so they leave a message. The first caller then phones back … and the cycle continues.</a:t>
            </a:r>
          </a:p>
          <a:p>
            <a:endParaRPr lang="en-AU" dirty="0" smtClean="0"/>
          </a:p>
          <a:p>
            <a:r>
              <a:rPr lang="en-AU" dirty="0" smtClean="0"/>
              <a:t>Trainer indicates some organisations and/or individuals prefer not to get caught up in this ‘game of tag’ and will neither leave a message nor give a return number.</a:t>
            </a:r>
            <a:r>
              <a:rPr lang="en-AU" baseline="0" dirty="0" smtClean="0"/>
              <a:t> T</a:t>
            </a:r>
            <a:r>
              <a:rPr lang="en-AU" dirty="0" smtClean="0"/>
              <a:t>heir preference may be to keep control of the communication by deciding it is best if they retain the decision about when to make the call and speak to the other person. </a:t>
            </a:r>
          </a:p>
          <a:p>
            <a:endParaRPr lang="en-AU" dirty="0" smtClean="0"/>
          </a:p>
          <a:p>
            <a:r>
              <a:rPr lang="en-AU" dirty="0" smtClean="0"/>
              <a:t>Trainer recommends students talk to their Supervisor and see if their employer has any preferences in this regard, stressing most businesses will want a message to be left where:</a:t>
            </a:r>
          </a:p>
          <a:p>
            <a:pPr lvl="0">
              <a:buFont typeface="Arial" pitchFamily="34" charset="0"/>
              <a:buChar char="•"/>
            </a:pPr>
            <a:r>
              <a:rPr lang="en-AU" dirty="0" smtClean="0"/>
              <a:t> They have promised to call</a:t>
            </a:r>
          </a:p>
          <a:p>
            <a:pPr lvl="0">
              <a:buFont typeface="Arial" pitchFamily="34" charset="0"/>
              <a:buChar char="•"/>
            </a:pPr>
            <a:r>
              <a:rPr lang="en-AU" dirty="0" smtClean="0"/>
              <a:t> They have promised to provide information</a:t>
            </a:r>
          </a:p>
          <a:p>
            <a:pPr lvl="0">
              <a:buFont typeface="Arial" pitchFamily="34" charset="0"/>
              <a:buChar char="•"/>
            </a:pPr>
            <a:r>
              <a:rPr lang="en-AU" dirty="0" smtClean="0"/>
              <a:t> The matter is urgent.</a:t>
            </a:r>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a:p>
        </p:txBody>
      </p:sp>
    </p:spTree>
    <p:extLst>
      <p:ext uri="{BB962C8B-B14F-4D97-AF65-F5344CB8AC3E}">
        <p14:creationId xmlns:p14="http://schemas.microsoft.com/office/powerpoint/2010/main" val="23731669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to students that stating their name, the business they represent and their purpose for calling must be done in accordance with enterprise standards.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a:p>
        </p:txBody>
      </p:sp>
    </p:spTree>
    <p:extLst>
      <p:ext uri="{BB962C8B-B14F-4D97-AF65-F5344CB8AC3E}">
        <p14:creationId xmlns:p14="http://schemas.microsoft.com/office/powerpoint/2010/main" val="33631971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states to students that in the same way they are expected to be polite and courteous when </a:t>
            </a:r>
            <a:r>
              <a:rPr lang="en-AU" i="1" dirty="0" smtClean="0"/>
              <a:t>taking </a:t>
            </a:r>
            <a:r>
              <a:rPr lang="en-AU" dirty="0" smtClean="0"/>
              <a:t>a telephone call, so too are they expected to be polite and courteous when </a:t>
            </a:r>
            <a:r>
              <a:rPr lang="en-AU" i="1" dirty="0" smtClean="0"/>
              <a:t>making</a:t>
            </a:r>
            <a:r>
              <a:rPr lang="en-AU" dirty="0" smtClean="0"/>
              <a:t> a call.</a:t>
            </a:r>
          </a:p>
          <a:p>
            <a:endParaRPr lang="en-AU" dirty="0" smtClean="0"/>
          </a:p>
          <a:p>
            <a:r>
              <a:rPr lang="en-AU" dirty="0" smtClean="0"/>
              <a:t>Trainer presents points to note when taking or making a call include:</a:t>
            </a:r>
          </a:p>
          <a:p>
            <a:pPr lvl="0">
              <a:buFont typeface="Arial" pitchFamily="34" charset="0"/>
              <a:buChar char="•"/>
            </a:pPr>
            <a:r>
              <a:rPr lang="en-AU" dirty="0" smtClean="0"/>
              <a:t> Always say ‘please’ when asking for something</a:t>
            </a:r>
          </a:p>
          <a:p>
            <a:pPr lvl="0">
              <a:buFont typeface="Arial" pitchFamily="34" charset="0"/>
              <a:buChar char="•"/>
            </a:pPr>
            <a:r>
              <a:rPr lang="en-AU" dirty="0" smtClean="0"/>
              <a:t> Always say ‘thank you’ when provided with information or assistance that was required</a:t>
            </a:r>
          </a:p>
          <a:p>
            <a:pPr lvl="0">
              <a:buFont typeface="Arial" pitchFamily="34" charset="0"/>
              <a:buChar char="•"/>
            </a:pPr>
            <a:r>
              <a:rPr lang="en-AU" dirty="0" smtClean="0"/>
              <a:t> Make mention of your appreciation of any special effort the other person has made on your behalf such as extra effort in locating a certain person, finding required information, making a sensible suggestion that may not have solved your problem but has helped it along the way</a:t>
            </a:r>
          </a:p>
          <a:p>
            <a:pPr lvl="0">
              <a:buFont typeface="Arial" pitchFamily="34" charset="0"/>
              <a:buChar char="•"/>
            </a:pPr>
            <a:r>
              <a:rPr lang="en-AU" dirty="0" smtClean="0"/>
              <a:t> Always remain a professional even when the other party may be rude, unhelpful, or extremely unprofessional themselves</a:t>
            </a:r>
          </a:p>
          <a:p>
            <a:pPr lvl="0">
              <a:buFont typeface="Arial" pitchFamily="34" charset="0"/>
              <a:buChar char="•"/>
            </a:pPr>
            <a:r>
              <a:rPr lang="en-AU" dirty="0" smtClean="0"/>
              <a:t> Never run down a third party to the person you are speaking to.</a:t>
            </a:r>
            <a:r>
              <a:rPr lang="en-AU" baseline="0" dirty="0" smtClean="0"/>
              <a:t> F</a:t>
            </a:r>
            <a:r>
              <a:rPr lang="en-AU" dirty="0" smtClean="0"/>
              <a:t>or example, don’t mention to the person in Accounts the person on the switchboard was slow, or unhelpful.</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a:p>
        </p:txBody>
      </p:sp>
    </p:spTree>
    <p:extLst>
      <p:ext uri="{BB962C8B-B14F-4D97-AF65-F5344CB8AC3E}">
        <p14:creationId xmlns:p14="http://schemas.microsoft.com/office/powerpoint/2010/main" val="264881336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continues to present points to note when taking or making a call:</a:t>
            </a:r>
          </a:p>
          <a:p>
            <a:pPr lvl="0">
              <a:buFont typeface="Arial" pitchFamily="34" charset="0"/>
              <a:buChar char="•"/>
            </a:pPr>
            <a:r>
              <a:rPr lang="en-AU" dirty="0" smtClean="0"/>
              <a:t> Ask when a person who is unavailable is likely to be available or ask them when the best time to call is </a:t>
            </a:r>
          </a:p>
          <a:p>
            <a:pPr lvl="0">
              <a:buFont typeface="Arial" pitchFamily="34" charset="0"/>
              <a:buChar char="•"/>
            </a:pPr>
            <a:r>
              <a:rPr lang="en-AU" dirty="0" smtClean="0"/>
              <a:t> Use the person’s name if known or use ‘Sir’ or ‘Madam’ according to business protocols when talking to a caller</a:t>
            </a:r>
          </a:p>
          <a:p>
            <a:pPr lvl="0">
              <a:buFont typeface="Arial" pitchFamily="34" charset="0"/>
              <a:buChar char="•"/>
            </a:pPr>
            <a:r>
              <a:rPr lang="en-AU" dirty="0" smtClean="0"/>
              <a:t> Speak at a normal volume – don’t whisper and never shout</a:t>
            </a:r>
          </a:p>
          <a:p>
            <a:pPr lvl="0">
              <a:buFont typeface="Arial" pitchFamily="34" charset="0"/>
              <a:buChar char="•"/>
            </a:pPr>
            <a:r>
              <a:rPr lang="en-AU" dirty="0" smtClean="0"/>
              <a:t> Talk at a normal rate – don’t rush the call</a:t>
            </a:r>
          </a:p>
          <a:p>
            <a:pPr lvl="0">
              <a:buFont typeface="Arial" pitchFamily="34" charset="0"/>
              <a:buChar char="•"/>
            </a:pPr>
            <a:r>
              <a:rPr lang="en-AU" dirty="0" smtClean="0"/>
              <a:t> Use correct language – don’t swear, never use slang expressions, don’t joke (many complaints have arisen as a result of a staff member making what they thought was a funny comment but which the other person didn’t find at all humorous); don’t make racist, sexist or ageist comments</a:t>
            </a:r>
          </a:p>
          <a:p>
            <a:pPr lvl="0">
              <a:buFont typeface="Arial" pitchFamily="34" charset="0"/>
              <a:buChar char="•"/>
            </a:pPr>
            <a:r>
              <a:rPr lang="en-AU" dirty="0" smtClean="0"/>
              <a:t> Avoid using industry terms and/or business-specific terminology unless speaking to another industry professional – this can confuse people outside the organisation and make them feel they are being excluded from the conversation.</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a:p>
        </p:txBody>
      </p:sp>
    </p:spTree>
    <p:extLst>
      <p:ext uri="{BB962C8B-B14F-4D97-AF65-F5344CB8AC3E}">
        <p14:creationId xmlns:p14="http://schemas.microsoft.com/office/powerpoint/2010/main" val="17388060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continues to present points to note when taking or making a call:</a:t>
            </a:r>
          </a:p>
          <a:p>
            <a:pPr lvl="0">
              <a:buFont typeface="Arial" pitchFamily="34" charset="0"/>
              <a:buChar char="•"/>
            </a:pPr>
            <a:r>
              <a:rPr lang="en-AU" dirty="0" smtClean="0"/>
              <a:t> Eliminate any background noise as far as possible – turn off radios/music; close doors and windows to reduce noise from other areas </a:t>
            </a:r>
          </a:p>
          <a:p>
            <a:pPr lvl="0">
              <a:buFont typeface="Arial" pitchFamily="34" charset="0"/>
              <a:buChar char="•"/>
            </a:pPr>
            <a:r>
              <a:rPr lang="en-AU" dirty="0" smtClean="0"/>
              <a:t> Talk directly into the phone or headpiece/mouthpiece to optimise likelihood of other person understanding</a:t>
            </a:r>
          </a:p>
          <a:p>
            <a:pPr lvl="0">
              <a:buFont typeface="Arial" pitchFamily="34" charset="0"/>
              <a:buChar char="•"/>
            </a:pPr>
            <a:r>
              <a:rPr lang="en-AU" dirty="0" smtClean="0"/>
              <a:t> Pronounce your words correctly to facilitate correct hearing</a:t>
            </a:r>
          </a:p>
          <a:p>
            <a:pPr lvl="0">
              <a:buFont typeface="Arial" pitchFamily="34" charset="0"/>
              <a:buChar char="•"/>
            </a:pPr>
            <a:r>
              <a:rPr lang="en-AU" dirty="0" smtClean="0"/>
              <a:t> Spell out any words</a:t>
            </a:r>
            <a:r>
              <a:rPr lang="en-AU" baseline="0" dirty="0" smtClean="0"/>
              <a:t> or </a:t>
            </a:r>
            <a:r>
              <a:rPr lang="en-AU" dirty="0" smtClean="0"/>
              <a:t>terms you can realistically expect the other party will be unfamiliar with </a:t>
            </a:r>
          </a:p>
          <a:p>
            <a:pPr lvl="0">
              <a:buFont typeface="Arial" pitchFamily="34" charset="0"/>
              <a:buChar char="•"/>
            </a:pPr>
            <a:r>
              <a:rPr lang="en-AU" dirty="0" smtClean="0"/>
              <a:t> Be careful how you put the phone down when you are talking to the caller.</a:t>
            </a:r>
            <a:r>
              <a:rPr lang="en-AU" baseline="0" dirty="0" smtClean="0"/>
              <a:t> P</a:t>
            </a:r>
            <a:r>
              <a:rPr lang="en-AU" dirty="0" smtClean="0"/>
              <a:t>ut it down gently to avoid noise to the other party</a:t>
            </a:r>
          </a:p>
          <a:p>
            <a:pPr lvl="0">
              <a:buFont typeface="Arial" pitchFamily="34" charset="0"/>
              <a:buChar char="•"/>
            </a:pPr>
            <a:r>
              <a:rPr lang="en-AU" dirty="0" smtClean="0"/>
              <a:t> Never talk to a third party while you are on the phone to someone else – it is rude, unprofessional and distracting.</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a:p>
        </p:txBody>
      </p:sp>
    </p:spTree>
    <p:extLst>
      <p:ext uri="{BB962C8B-B14F-4D97-AF65-F5344CB8AC3E}">
        <p14:creationId xmlns:p14="http://schemas.microsoft.com/office/powerpoint/2010/main" val="191034593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smtClean="0"/>
              <a:t>Trainer continues to present points to note when taking or making a call:</a:t>
            </a:r>
          </a:p>
          <a:p>
            <a:pPr lvl="0">
              <a:buFont typeface="Arial" pitchFamily="34" charset="0"/>
              <a:buChar char="•"/>
            </a:pPr>
            <a:r>
              <a:rPr lang="en-AU" dirty="0" smtClean="0"/>
              <a:t> Ask callers if you can help them in any other way before hanging up.</a:t>
            </a:r>
            <a:r>
              <a:rPr lang="en-AU" baseline="0" dirty="0" smtClean="0"/>
              <a:t> T</a:t>
            </a:r>
            <a:r>
              <a:rPr lang="en-AU" dirty="0" smtClean="0"/>
              <a:t>his applies to ending incoming calls</a:t>
            </a:r>
          </a:p>
          <a:p>
            <a:pPr lvl="0">
              <a:buFont typeface="Arial" pitchFamily="34" charset="0"/>
              <a:buChar char="•"/>
            </a:pPr>
            <a:r>
              <a:rPr lang="en-AU" dirty="0" smtClean="0"/>
              <a:t> Thank callers for their call, where appropriate.</a:t>
            </a:r>
            <a:r>
              <a:rPr lang="en-AU" baseline="0" dirty="0" smtClean="0"/>
              <a:t> Once a</a:t>
            </a:r>
            <a:r>
              <a:rPr lang="en-AU" dirty="0" smtClean="0"/>
              <a:t>gain, this only applies to incoming calls</a:t>
            </a:r>
          </a:p>
          <a:p>
            <a:pPr lvl="0">
              <a:buFont typeface="Arial" pitchFamily="34" charset="0"/>
              <a:buChar char="•"/>
            </a:pPr>
            <a:r>
              <a:rPr lang="en-AU" dirty="0" smtClean="0"/>
              <a:t> Let the caller hang up before you do just in case they think of a last-minute statement they want to make, or question they want to ask.</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a:p>
        </p:txBody>
      </p:sp>
    </p:spTree>
    <p:extLst>
      <p:ext uri="{BB962C8B-B14F-4D97-AF65-F5344CB8AC3E}">
        <p14:creationId xmlns:p14="http://schemas.microsoft.com/office/powerpoint/2010/main" val="35422461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 recap of the Element asking questions to check student understanding and responding to questions from students, as required.</a:t>
            </a:r>
          </a:p>
          <a:p>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a:p>
        </p:txBody>
      </p:sp>
    </p:spTree>
    <p:extLst>
      <p:ext uri="{BB962C8B-B14F-4D97-AF65-F5344CB8AC3E}">
        <p14:creationId xmlns:p14="http://schemas.microsoft.com/office/powerpoint/2010/main" val="4672159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provides a recap of the Element asking questions to check student understanding and responding to questions from students, as required.</a:t>
            </a:r>
          </a:p>
          <a:p>
            <a:endParaRPr lang="en-US" dirty="0" smtClean="0"/>
          </a:p>
          <a:p>
            <a:r>
              <a:rPr lang="en-US" dirty="0" smtClean="0"/>
              <a:t>Trainer thanks students for their attention and encourages them to apply course content in their workplace activities.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a:p>
        </p:txBody>
      </p:sp>
    </p:spTree>
    <p:extLst>
      <p:ext uri="{BB962C8B-B14F-4D97-AF65-F5344CB8AC3E}">
        <p14:creationId xmlns:p14="http://schemas.microsoft.com/office/powerpoint/2010/main" val="550128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3/12/2015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3/12/2015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3/12/2015</a:t>
            </a:fld>
            <a:endParaRPr lang="en-US"/>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3/12/2015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3/12/2015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3/12/2015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3/12/2015</a:t>
            </a:fld>
            <a:endParaRPr 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s>
</file>

<file path=ppt/slides/_rels/slide21.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43.wmf"/></Relationships>
</file>

<file path=ppt/slides/_rels/slide38.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48.x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4.jpeg"/></Relationships>
</file>

<file path=ppt/slides/_rels/slide4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58.wmf"/><Relationship Id="rId4" Type="http://schemas.openxmlformats.org/officeDocument/2006/relationships/image" Target="../media/image57.wmf"/></Relationships>
</file>

<file path=ppt/slides/_rels/slide51.x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68.jpeg"/></Relationships>
</file>

<file path=ppt/slides/_rels/slide6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C:\Documents and Settings\danielc\Local Settings\Temporary Internet Files\Content.IE5\9N3QFUEZ\MP900409708[1].jpg"/>
          <p:cNvPicPr>
            <a:picLocks noChangeAspect="1" noChangeArrowheads="1"/>
          </p:cNvPicPr>
          <p:nvPr/>
        </p:nvPicPr>
        <p:blipFill>
          <a:blip r:embed="rId3" cstate="print"/>
          <a:srcRect/>
          <a:stretch>
            <a:fillRect/>
          </a:stretch>
        </p:blipFill>
        <p:spPr bwMode="auto">
          <a:xfrm>
            <a:off x="5857884" y="4572008"/>
            <a:ext cx="2747479" cy="1828791"/>
          </a:xfrm>
          <a:prstGeom prst="rect">
            <a:avLst/>
          </a:prstGeom>
          <a:noFill/>
        </p:spPr>
      </p:pic>
      <p:sp>
        <p:nvSpPr>
          <p:cNvPr id="2" name="Title 1"/>
          <p:cNvSpPr>
            <a:spLocks noGrp="1"/>
          </p:cNvSpPr>
          <p:nvPr>
            <p:ph type="ctrTitle"/>
          </p:nvPr>
        </p:nvSpPr>
        <p:spPr>
          <a:xfrm>
            <a:off x="1878166" y="1500174"/>
            <a:ext cx="6480048" cy="1285884"/>
          </a:xfrm>
        </p:spPr>
        <p:txBody>
          <a:bodyPr>
            <a:normAutofit fontScale="90000"/>
          </a:bodyPr>
          <a:lstStyle/>
          <a:p>
            <a:r>
              <a:rPr lang="en-US" sz="4000" dirty="0" smtClean="0">
                <a:ln w="5000" cmpd="sng">
                  <a:noFill/>
                  <a:prstDash val="solid"/>
                </a:ln>
                <a:solidFill>
                  <a:srgbClr val="FF6600"/>
                </a:solidFill>
                <a:latin typeface="Helvetica" pitchFamily="34" charset="0"/>
              </a:rPr>
              <a:t>Communicate On </a:t>
            </a:r>
            <a:br>
              <a:rPr lang="en-US" sz="4000" dirty="0" smtClean="0">
                <a:ln w="5000" cmpd="sng">
                  <a:noFill/>
                  <a:prstDash val="solid"/>
                </a:ln>
                <a:solidFill>
                  <a:srgbClr val="FF6600"/>
                </a:solidFill>
                <a:latin typeface="Helvetica" pitchFamily="34" charset="0"/>
              </a:rPr>
            </a:br>
            <a:r>
              <a:rPr lang="en-US" sz="4000" dirty="0" smtClean="0">
                <a:ln w="5000" cmpd="sng">
                  <a:noFill/>
                  <a:prstDash val="solid"/>
                </a:ln>
                <a:solidFill>
                  <a:srgbClr val="FF6600"/>
                </a:solidFill>
                <a:latin typeface="Helvetica" pitchFamily="34" charset="0"/>
              </a:rPr>
              <a:t>The Telephone</a:t>
            </a:r>
            <a:endParaRPr lang="en-US"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1643042" y="3000372"/>
            <a:ext cx="6715172" cy="714380"/>
          </a:xfrm>
        </p:spPr>
        <p:txBody>
          <a:bodyPr>
            <a:noAutofit/>
          </a:bodyPr>
          <a:lstStyle/>
          <a:p>
            <a:r>
              <a:rPr lang="en-AU" dirty="0" smtClean="0">
                <a:latin typeface="Helvetica" pitchFamily="34" charset="0"/>
              </a:rPr>
              <a:t>D1.HRS.CL1.04</a:t>
            </a:r>
            <a:br>
              <a:rPr lang="en-AU" dirty="0" smtClean="0">
                <a:latin typeface="Helvetica" pitchFamily="34" charset="0"/>
              </a:rPr>
            </a:br>
            <a:r>
              <a:rPr lang="en-AU" dirty="0" smtClean="0">
                <a:latin typeface="Helvetica" pitchFamily="34" charset="0"/>
              </a:rPr>
              <a:t>D1.HOT.CL1.07</a:t>
            </a:r>
            <a:br>
              <a:rPr lang="en-AU" dirty="0" smtClean="0">
                <a:latin typeface="Helvetica" pitchFamily="34" charset="0"/>
              </a:rPr>
            </a:br>
            <a:r>
              <a:rPr lang="en-AU" dirty="0" smtClean="0">
                <a:latin typeface="Helvetica" pitchFamily="34" charset="0"/>
              </a:rPr>
              <a:t>D2.TCC.CL1.05</a:t>
            </a:r>
            <a:endParaRPr lang="en-US"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1</a:t>
            </a:fld>
            <a:endParaRPr lang="en-US" dirty="0"/>
          </a:p>
        </p:txBody>
      </p:sp>
      <p:pic>
        <p:nvPicPr>
          <p:cNvPr id="5" name="Picture 4" descr="motion.jpg"/>
          <p:cNvPicPr>
            <a:picLocks noChangeAspect="1"/>
          </p:cNvPicPr>
          <p:nvPr/>
        </p:nvPicPr>
        <p:blipFill>
          <a:blip r:embed="rId4" cstate="print"/>
          <a:stretch>
            <a:fillRect/>
          </a:stretch>
        </p:blipFill>
        <p:spPr>
          <a:xfrm>
            <a:off x="4071934" y="3429000"/>
            <a:ext cx="2176463" cy="2000250"/>
          </a:xfrm>
          <a:prstGeom prst="rect">
            <a:avLst/>
          </a:prstGeom>
          <a:ln w="12700">
            <a:solidFill>
              <a:schemeClr val="bg1"/>
            </a:solidFill>
          </a:ln>
        </p:spPr>
      </p:pic>
      <p:pic>
        <p:nvPicPr>
          <p:cNvPr id="1026" name="Picture 2" descr="C:\Documents and Settings\danielc\Desktop\iStock_Comm on Phone.jpg"/>
          <p:cNvPicPr>
            <a:picLocks noChangeAspect="1" noChangeArrowheads="1"/>
          </p:cNvPicPr>
          <p:nvPr/>
        </p:nvPicPr>
        <p:blipFill>
          <a:blip r:embed="rId5" cstate="print"/>
          <a:srcRect/>
          <a:stretch>
            <a:fillRect/>
          </a:stretch>
        </p:blipFill>
        <p:spPr bwMode="auto">
          <a:xfrm>
            <a:off x="642910" y="2214554"/>
            <a:ext cx="3648340" cy="2357454"/>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smtClean="0">
                <a:solidFill>
                  <a:srgbClr val="FF6600"/>
                </a:solidFill>
                <a:latin typeface="Helvetica" pitchFamily="34" charset="0"/>
              </a:rPr>
              <a:t>Communicate on the telephone</a:t>
            </a:r>
            <a:endParaRPr lang="en-US" sz="3400" dirty="0">
              <a:solidFill>
                <a:srgbClr val="FF6600"/>
              </a:solidFill>
              <a:latin typeface="Helvetica" pitchFamily="34" charset="0"/>
            </a:endParaRPr>
          </a:p>
        </p:txBody>
      </p:sp>
      <p:sp>
        <p:nvSpPr>
          <p:cNvPr id="3" name="Content Placeholder 2"/>
          <p:cNvSpPr>
            <a:spLocks noGrp="1"/>
          </p:cNvSpPr>
          <p:nvPr>
            <p:ph idx="1"/>
          </p:nvPr>
        </p:nvSpPr>
        <p:spPr/>
        <p:txBody>
          <a:bodyPr/>
          <a:lstStyle/>
          <a:p>
            <a:pPr marL="453600" indent="-453600">
              <a:spcBef>
                <a:spcPts val="600"/>
              </a:spcBef>
              <a:spcAft>
                <a:spcPts val="1200"/>
              </a:spcAft>
              <a:buNone/>
            </a:pPr>
            <a:r>
              <a:rPr lang="en-US" sz="2200" dirty="0" smtClean="0">
                <a:latin typeface="Helvetica" pitchFamily="34" charset="0"/>
              </a:rPr>
              <a:t>This Unit comprises two Elements:</a:t>
            </a:r>
          </a:p>
          <a:p>
            <a:pPr>
              <a:spcBef>
                <a:spcPts val="600"/>
              </a:spcBef>
              <a:spcAft>
                <a:spcPts val="1200"/>
              </a:spcAft>
            </a:pPr>
            <a:r>
              <a:rPr lang="en-US" sz="2200" dirty="0" smtClean="0">
                <a:latin typeface="Helvetica" pitchFamily="34" charset="0"/>
              </a:rPr>
              <a:t>1. Respond to incoming telephone calls</a:t>
            </a:r>
          </a:p>
          <a:p>
            <a:pPr>
              <a:spcBef>
                <a:spcPts val="600"/>
              </a:spcBef>
              <a:spcAft>
                <a:spcPts val="1200"/>
              </a:spcAft>
            </a:pPr>
            <a:r>
              <a:rPr lang="en-US" sz="2200" dirty="0" smtClean="0">
                <a:latin typeface="Helvetica" pitchFamily="34" charset="0"/>
              </a:rPr>
              <a:t>2. Make telephone calls.</a:t>
            </a:r>
          </a:p>
          <a:p>
            <a:pPr>
              <a:buNone/>
            </a:pPr>
            <a:endParaRPr lang="en-US"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a:t>
            </a:fld>
            <a:endParaRPr lang="en-US" dirty="0"/>
          </a:p>
        </p:txBody>
      </p:sp>
      <p:pic>
        <p:nvPicPr>
          <p:cNvPr id="1026" name="Picture 2" descr="C:\Documents and Settings\danielc\Local Settings\Temporary Internet Files\Content.IE5\29XKYQ1Q\MP900444315[1].jpg"/>
          <p:cNvPicPr>
            <a:picLocks noChangeAspect="1" noChangeArrowheads="1"/>
          </p:cNvPicPr>
          <p:nvPr/>
        </p:nvPicPr>
        <p:blipFill>
          <a:blip r:embed="rId3" cstate="print"/>
          <a:srcRect/>
          <a:stretch>
            <a:fillRect/>
          </a:stretch>
        </p:blipFill>
        <p:spPr bwMode="auto">
          <a:xfrm>
            <a:off x="6286512" y="2000240"/>
            <a:ext cx="2593848" cy="1719072"/>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smtClean="0">
                <a:solidFill>
                  <a:srgbClr val="FF6600"/>
                </a:solidFill>
                <a:latin typeface="Helvetica" pitchFamily="34" charset="0"/>
              </a:rPr>
              <a:t>Assessment</a:t>
            </a:r>
            <a:endParaRPr lang="en-US" sz="3400" dirty="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spcBef>
                <a:spcPts val="600"/>
              </a:spcBef>
              <a:spcAft>
                <a:spcPts val="1200"/>
              </a:spcAft>
              <a:buNone/>
            </a:pPr>
            <a:r>
              <a:rPr lang="en-US" sz="2200" dirty="0" smtClean="0">
                <a:latin typeface="Helvetica" pitchFamily="34" charset="0"/>
              </a:rPr>
              <a:t>Assessment for this Unit may include:</a:t>
            </a:r>
          </a:p>
          <a:p>
            <a:pPr>
              <a:spcBef>
                <a:spcPts val="600"/>
              </a:spcBef>
              <a:spcAft>
                <a:spcPts val="1200"/>
              </a:spcAft>
            </a:pPr>
            <a:r>
              <a:rPr lang="en-US" sz="2200" dirty="0" smtClean="0">
                <a:latin typeface="Helvetica" pitchFamily="34" charset="0"/>
              </a:rPr>
              <a:t>Oral questions</a:t>
            </a:r>
          </a:p>
          <a:p>
            <a:pPr>
              <a:spcBef>
                <a:spcPts val="600"/>
              </a:spcBef>
              <a:spcAft>
                <a:spcPts val="1200"/>
              </a:spcAft>
            </a:pPr>
            <a:r>
              <a:rPr lang="en-US" sz="2200" dirty="0" smtClean="0">
                <a:latin typeface="Helvetica" pitchFamily="34" charset="0"/>
              </a:rPr>
              <a:t>Written questions</a:t>
            </a:r>
          </a:p>
          <a:p>
            <a:pPr>
              <a:spcBef>
                <a:spcPts val="600"/>
              </a:spcBef>
              <a:spcAft>
                <a:spcPts val="1200"/>
              </a:spcAft>
            </a:pPr>
            <a:r>
              <a:rPr lang="en-US" sz="2200" dirty="0" smtClean="0">
                <a:latin typeface="Helvetica" pitchFamily="34" charset="0"/>
              </a:rPr>
              <a:t>Work projects</a:t>
            </a:r>
          </a:p>
          <a:p>
            <a:pPr>
              <a:spcBef>
                <a:spcPts val="600"/>
              </a:spcBef>
              <a:spcAft>
                <a:spcPts val="1200"/>
              </a:spcAft>
            </a:pPr>
            <a:r>
              <a:rPr lang="en-US" sz="2200" dirty="0" smtClean="0">
                <a:latin typeface="Helvetica" pitchFamily="34" charset="0"/>
              </a:rPr>
              <a:t>Workplace observation of practical skills</a:t>
            </a:r>
          </a:p>
          <a:p>
            <a:pPr>
              <a:spcBef>
                <a:spcPts val="600"/>
              </a:spcBef>
              <a:spcAft>
                <a:spcPts val="1200"/>
              </a:spcAft>
            </a:pPr>
            <a:r>
              <a:rPr lang="en-US" sz="2200" dirty="0" smtClean="0">
                <a:latin typeface="Helvetica" pitchFamily="34" charset="0"/>
              </a:rPr>
              <a:t>Practical exercises</a:t>
            </a:r>
          </a:p>
          <a:p>
            <a:pPr>
              <a:spcBef>
                <a:spcPts val="600"/>
              </a:spcBef>
              <a:spcAft>
                <a:spcPts val="1200"/>
              </a:spcAft>
            </a:pPr>
            <a:r>
              <a:rPr lang="en-US" sz="2200" dirty="0" smtClean="0">
                <a:latin typeface="Helvetica" pitchFamily="34" charset="0"/>
              </a:rPr>
              <a:t>Formal report from employer/supervisor.</a:t>
            </a:r>
          </a:p>
          <a:p>
            <a:endParaRPr lang="en-US" dirty="0"/>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3</a:t>
            </a:fld>
            <a:endParaRPr lang="en-US" dirty="0"/>
          </a:p>
        </p:txBody>
      </p:sp>
      <p:pic>
        <p:nvPicPr>
          <p:cNvPr id="2050"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6286512" y="2643182"/>
            <a:ext cx="2560320" cy="1704442"/>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smtClean="0">
                <a:solidFill>
                  <a:srgbClr val="FF6600"/>
                </a:solidFill>
                <a:latin typeface="Helvetica" pitchFamily="34" charset="0"/>
              </a:rPr>
              <a:t>Respond to incoming telephone calls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457200" y="1357298"/>
            <a:ext cx="7467600" cy="4857784"/>
          </a:xfrm>
        </p:spPr>
        <p:txBody>
          <a:bodyPr>
            <a:normAutofit/>
          </a:bodyPr>
          <a:lstStyle/>
          <a:p>
            <a:pPr>
              <a:spcBef>
                <a:spcPts val="600"/>
              </a:spcBef>
              <a:spcAft>
                <a:spcPts val="1200"/>
              </a:spcAft>
              <a:buNone/>
            </a:pPr>
            <a:r>
              <a:rPr lang="en-US" sz="2100" dirty="0" smtClean="0">
                <a:latin typeface="Helvetica" pitchFamily="34" charset="0"/>
              </a:rPr>
              <a:t>Performance Criteria for this Element are:</a:t>
            </a:r>
          </a:p>
          <a:p>
            <a:pPr>
              <a:spcBef>
                <a:spcPts val="600"/>
              </a:spcBef>
              <a:spcAft>
                <a:spcPts val="1200"/>
              </a:spcAft>
            </a:pPr>
            <a:r>
              <a:rPr lang="en-US" sz="2100" dirty="0" smtClean="0">
                <a:latin typeface="Helvetica" pitchFamily="34" charset="0"/>
              </a:rPr>
              <a:t>1.1 </a:t>
            </a:r>
            <a:r>
              <a:rPr lang="en-US" sz="2100" dirty="0">
                <a:latin typeface="Helvetica" pitchFamily="34" charset="0"/>
              </a:rPr>
              <a:t>Answer calls </a:t>
            </a:r>
            <a:r>
              <a:rPr lang="en-US" sz="2100" dirty="0" smtClean="0">
                <a:latin typeface="Helvetica" pitchFamily="34" charset="0"/>
              </a:rPr>
              <a:t>promptly </a:t>
            </a:r>
            <a:r>
              <a:rPr lang="en-US" sz="2100" dirty="0">
                <a:latin typeface="Helvetica" pitchFamily="34" charset="0"/>
              </a:rPr>
              <a:t>in an appropriate manner in accordance with enterprise </a:t>
            </a:r>
            <a:r>
              <a:rPr lang="en-US" sz="2100" dirty="0" smtClean="0">
                <a:latin typeface="Helvetica" pitchFamily="34" charset="0"/>
              </a:rPr>
              <a:t>standards</a:t>
            </a:r>
          </a:p>
          <a:p>
            <a:pPr>
              <a:spcBef>
                <a:spcPts val="600"/>
              </a:spcBef>
              <a:spcAft>
                <a:spcPts val="1200"/>
              </a:spcAft>
            </a:pPr>
            <a:r>
              <a:rPr lang="en-US" sz="2100" dirty="0" smtClean="0">
                <a:latin typeface="Helvetica" pitchFamily="34" charset="0"/>
              </a:rPr>
              <a:t>1.2 </a:t>
            </a:r>
            <a:r>
              <a:rPr lang="en-US" sz="2100" dirty="0">
                <a:latin typeface="Helvetica" pitchFamily="34" charset="0"/>
              </a:rPr>
              <a:t>Offer friendly assistance to the caller and </a:t>
            </a:r>
            <a:r>
              <a:rPr lang="en-US" sz="2100" dirty="0" smtClean="0">
                <a:latin typeface="Helvetica" pitchFamily="34" charset="0"/>
              </a:rPr>
              <a:t/>
            </a:r>
            <a:br>
              <a:rPr lang="en-US" sz="2100" dirty="0" smtClean="0">
                <a:latin typeface="Helvetica" pitchFamily="34" charset="0"/>
              </a:rPr>
            </a:br>
            <a:r>
              <a:rPr lang="en-US" sz="2100" dirty="0" smtClean="0">
                <a:latin typeface="Helvetica" pitchFamily="34" charset="0"/>
              </a:rPr>
              <a:t>accurately </a:t>
            </a:r>
            <a:r>
              <a:rPr lang="en-US" sz="2100" dirty="0">
                <a:latin typeface="Helvetica" pitchFamily="34" charset="0"/>
              </a:rPr>
              <a:t>establish the purpose of the </a:t>
            </a:r>
            <a:r>
              <a:rPr lang="en-US" sz="2100" dirty="0" smtClean="0">
                <a:latin typeface="Helvetica" pitchFamily="34" charset="0"/>
              </a:rPr>
              <a:t>call</a:t>
            </a:r>
          </a:p>
          <a:p>
            <a:pPr>
              <a:spcBef>
                <a:spcPts val="600"/>
              </a:spcBef>
              <a:spcAft>
                <a:spcPts val="1200"/>
              </a:spcAft>
            </a:pPr>
            <a:r>
              <a:rPr lang="en-US" sz="2100" dirty="0" smtClean="0">
                <a:latin typeface="Helvetica" pitchFamily="34" charset="0"/>
              </a:rPr>
              <a:t>1.3 </a:t>
            </a:r>
            <a:r>
              <a:rPr lang="en-US" sz="2100" dirty="0">
                <a:latin typeface="Helvetica" pitchFamily="34" charset="0"/>
              </a:rPr>
              <a:t>Repeat call details to the caller to confirm </a:t>
            </a:r>
            <a:r>
              <a:rPr lang="en-US" sz="2100" dirty="0" smtClean="0">
                <a:latin typeface="Helvetica" pitchFamily="34" charset="0"/>
              </a:rPr>
              <a:t>understanding</a:t>
            </a:r>
          </a:p>
          <a:p>
            <a:pPr>
              <a:spcBef>
                <a:spcPts val="600"/>
              </a:spcBef>
              <a:spcAft>
                <a:spcPts val="1200"/>
              </a:spcAft>
            </a:pPr>
            <a:r>
              <a:rPr lang="en-US" sz="2100" dirty="0" smtClean="0">
                <a:latin typeface="Helvetica" pitchFamily="34" charset="0"/>
              </a:rPr>
              <a:t>1.4 </a:t>
            </a:r>
            <a:r>
              <a:rPr lang="en-US" sz="2100" dirty="0">
                <a:latin typeface="Helvetica" pitchFamily="34" charset="0"/>
              </a:rPr>
              <a:t>Answer caller enquiries promptly or transfer caller to the appropriate </a:t>
            </a:r>
            <a:r>
              <a:rPr lang="en-US" sz="2100" dirty="0" smtClean="0">
                <a:latin typeface="Helvetica" pitchFamily="34" charset="0"/>
              </a:rPr>
              <a:t>location or person</a:t>
            </a:r>
          </a:p>
          <a:p>
            <a:pPr>
              <a:buNone/>
            </a:pPr>
            <a:endParaRPr lang="en-US" sz="2100" dirty="0" smtClean="0">
              <a:latin typeface="Helvetica" pitchFamily="34" charset="0"/>
            </a:endParaRPr>
          </a:p>
          <a:p>
            <a:pPr>
              <a:buNone/>
            </a:pPr>
            <a:r>
              <a:rPr lang="en-US" sz="2100" dirty="0" smtClean="0">
                <a:latin typeface="Helvetica" pitchFamily="34" charset="0"/>
              </a:rPr>
              <a:t>(Continued)</a:t>
            </a:r>
            <a:endParaRPr lang="en-AU" sz="2100" dirty="0">
              <a:latin typeface="Helvetica" pitchFamily="34" charset="0"/>
            </a:endParaRPr>
          </a:p>
          <a:p>
            <a:pPr>
              <a:buNone/>
            </a:pPr>
            <a:endParaRPr lang="en-US" sz="2000" dirty="0"/>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4</a:t>
            </a:fld>
            <a:endParaRPr lang="en-US" dirty="0"/>
          </a:p>
        </p:txBody>
      </p:sp>
      <p:pic>
        <p:nvPicPr>
          <p:cNvPr id="3074" name="Picture 2" descr="C:\Documents and Settings\danielc\Local Settings\Temporary Internet Files\Content.IE5\TVERO29A\MP900442453[1].jpg"/>
          <p:cNvPicPr>
            <a:picLocks noChangeAspect="1" noChangeArrowheads="1"/>
          </p:cNvPicPr>
          <p:nvPr/>
        </p:nvPicPr>
        <p:blipFill>
          <a:blip r:embed="rId3" cstate="print"/>
          <a:srcRect/>
          <a:stretch>
            <a:fillRect/>
          </a:stretch>
        </p:blipFill>
        <p:spPr bwMode="auto">
          <a:xfrm>
            <a:off x="6572264" y="2643182"/>
            <a:ext cx="2159000" cy="143510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smtClean="0">
                <a:solidFill>
                  <a:srgbClr val="FF6600"/>
                </a:solidFill>
                <a:latin typeface="Helvetica" pitchFamily="34" charset="0"/>
              </a:rPr>
              <a:t>Respond to incoming telephone calls</a:t>
            </a:r>
            <a:endParaRPr lang="en-US" sz="3400" dirty="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spcBef>
                <a:spcPts val="600"/>
              </a:spcBef>
              <a:spcAft>
                <a:spcPts val="1200"/>
              </a:spcAft>
            </a:pPr>
            <a:r>
              <a:rPr lang="en-US" sz="2200" dirty="0" smtClean="0">
                <a:latin typeface="Helvetica" pitchFamily="34" charset="0"/>
              </a:rPr>
              <a:t>1.5 </a:t>
            </a:r>
            <a:r>
              <a:rPr lang="en-US" sz="2200" dirty="0">
                <a:latin typeface="Helvetica" pitchFamily="34" charset="0"/>
              </a:rPr>
              <a:t>Record caller requests accurately and pass on to the appropriate </a:t>
            </a:r>
            <a:r>
              <a:rPr lang="en-US" sz="2200" dirty="0" smtClean="0">
                <a:latin typeface="Helvetica" pitchFamily="34" charset="0"/>
              </a:rPr>
              <a:t>department or person </a:t>
            </a:r>
            <a:r>
              <a:rPr lang="en-US" sz="2200" dirty="0">
                <a:latin typeface="Helvetica" pitchFamily="34" charset="0"/>
              </a:rPr>
              <a:t>for follow-up</a:t>
            </a:r>
            <a:endParaRPr lang="en-AU" sz="2200" dirty="0">
              <a:latin typeface="Helvetica" pitchFamily="34" charset="0"/>
            </a:endParaRPr>
          </a:p>
          <a:p>
            <a:pPr>
              <a:spcBef>
                <a:spcPts val="600"/>
              </a:spcBef>
              <a:spcAft>
                <a:spcPts val="1200"/>
              </a:spcAft>
            </a:pPr>
            <a:r>
              <a:rPr lang="en-US" sz="2200" dirty="0" smtClean="0">
                <a:latin typeface="Helvetica" pitchFamily="34" charset="0"/>
              </a:rPr>
              <a:t>1.6 </a:t>
            </a:r>
            <a:r>
              <a:rPr lang="en-US" sz="2200" dirty="0">
                <a:latin typeface="Helvetica" pitchFamily="34" charset="0"/>
              </a:rPr>
              <a:t>Relay messages accurately to the </a:t>
            </a:r>
            <a:r>
              <a:rPr lang="en-US" sz="2200" dirty="0" smtClean="0">
                <a:latin typeface="Helvetica" pitchFamily="34" charset="0"/>
              </a:rPr>
              <a:t/>
            </a:r>
            <a:br>
              <a:rPr lang="en-US" sz="2200" dirty="0" smtClean="0">
                <a:latin typeface="Helvetica" pitchFamily="34" charset="0"/>
              </a:rPr>
            </a:br>
            <a:r>
              <a:rPr lang="en-US" sz="2200" dirty="0" smtClean="0">
                <a:latin typeface="Helvetica" pitchFamily="34" charset="0"/>
              </a:rPr>
              <a:t>nominated </a:t>
            </a:r>
            <a:r>
              <a:rPr lang="en-US" sz="2200" dirty="0">
                <a:latin typeface="Helvetica" pitchFamily="34" charset="0"/>
              </a:rPr>
              <a:t>person within designated timelines</a:t>
            </a:r>
            <a:endParaRPr lang="en-AU" sz="2200" dirty="0">
              <a:latin typeface="Helvetica" pitchFamily="34" charset="0"/>
            </a:endParaRPr>
          </a:p>
          <a:p>
            <a:pPr>
              <a:spcBef>
                <a:spcPts val="600"/>
              </a:spcBef>
              <a:spcAft>
                <a:spcPts val="1200"/>
              </a:spcAft>
            </a:pPr>
            <a:r>
              <a:rPr lang="en-US" sz="2200" dirty="0" smtClean="0">
                <a:latin typeface="Helvetica" pitchFamily="34" charset="0"/>
              </a:rPr>
              <a:t>1.7 </a:t>
            </a:r>
            <a:r>
              <a:rPr lang="en-US" sz="2200" dirty="0">
                <a:latin typeface="Helvetica" pitchFamily="34" charset="0"/>
              </a:rPr>
              <a:t>Report threatening or suspicious phone calls promptly to the appropriate person in accordance </a:t>
            </a:r>
            <a:r>
              <a:rPr lang="en-US" sz="2200" dirty="0" smtClean="0">
                <a:latin typeface="Helvetica" pitchFamily="34" charset="0"/>
              </a:rPr>
              <a:t/>
            </a:r>
            <a:br>
              <a:rPr lang="en-US" sz="2200" dirty="0" smtClean="0">
                <a:latin typeface="Helvetica" pitchFamily="34" charset="0"/>
              </a:rPr>
            </a:br>
            <a:r>
              <a:rPr lang="en-US" sz="2200" dirty="0" smtClean="0">
                <a:latin typeface="Helvetica" pitchFamily="34" charset="0"/>
              </a:rPr>
              <a:t>with </a:t>
            </a:r>
            <a:r>
              <a:rPr lang="en-US" sz="2200" dirty="0">
                <a:latin typeface="Helvetica" pitchFamily="34" charset="0"/>
              </a:rPr>
              <a:t>enterprise procedures</a:t>
            </a:r>
            <a:endParaRPr lang="en-AU" sz="2200" dirty="0">
              <a:latin typeface="Helvetica" pitchFamily="34" charset="0"/>
            </a:endParaRPr>
          </a:p>
          <a:p>
            <a:pPr>
              <a:spcBef>
                <a:spcPts val="600"/>
              </a:spcBef>
              <a:spcAft>
                <a:spcPts val="1200"/>
              </a:spcAft>
            </a:pPr>
            <a:r>
              <a:rPr lang="en-US" sz="2200" dirty="0" smtClean="0">
                <a:latin typeface="Helvetica" pitchFamily="34" charset="0"/>
              </a:rPr>
              <a:t>1.8 </a:t>
            </a:r>
            <a:r>
              <a:rPr lang="en-US" sz="2200" dirty="0">
                <a:latin typeface="Helvetica" pitchFamily="34" charset="0"/>
              </a:rPr>
              <a:t>Use language, tone and volume appropriate </a:t>
            </a:r>
            <a:r>
              <a:rPr lang="en-US" sz="2200" dirty="0" smtClean="0">
                <a:latin typeface="Helvetica" pitchFamily="34" charset="0"/>
              </a:rPr>
              <a:t/>
            </a:r>
            <a:br>
              <a:rPr lang="en-US" sz="2200" dirty="0" smtClean="0">
                <a:latin typeface="Helvetica" pitchFamily="34" charset="0"/>
              </a:rPr>
            </a:br>
            <a:r>
              <a:rPr lang="en-US" sz="2200" dirty="0" smtClean="0">
                <a:latin typeface="Helvetica" pitchFamily="34" charset="0"/>
              </a:rPr>
              <a:t>to </a:t>
            </a:r>
            <a:r>
              <a:rPr lang="en-US" sz="2200" dirty="0">
                <a:latin typeface="Helvetica" pitchFamily="34" charset="0"/>
              </a:rPr>
              <a:t>phone </a:t>
            </a:r>
            <a:r>
              <a:rPr lang="en-US" sz="2200" dirty="0" smtClean="0">
                <a:latin typeface="Helvetica" pitchFamily="34" charset="0"/>
              </a:rPr>
              <a:t>calls.</a:t>
            </a:r>
            <a:endParaRPr lang="en-AU" sz="2200" dirty="0">
              <a:latin typeface="Helvetica" pitchFamily="34" charset="0"/>
            </a:endParaRPr>
          </a:p>
          <a:p>
            <a:pPr>
              <a:buNone/>
            </a:pPr>
            <a:endParaRPr lang="en-US" sz="2000" dirty="0"/>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5</a:t>
            </a:fld>
            <a:endParaRPr lang="en-US" dirty="0"/>
          </a:p>
        </p:txBody>
      </p:sp>
      <p:pic>
        <p:nvPicPr>
          <p:cNvPr id="5" name="Picture 4" descr="C:\Documents and Settings\Godaishu\Local Settings\Temporary Internet Files\Content.IE5\7GWYLB5B\MP900438367[1].jpg"/>
          <p:cNvPicPr/>
          <p:nvPr/>
        </p:nvPicPr>
        <p:blipFill>
          <a:blip r:embed="rId3" cstate="print"/>
          <a:srcRect/>
          <a:stretch>
            <a:fillRect/>
          </a:stretch>
        </p:blipFill>
        <p:spPr bwMode="auto">
          <a:xfrm>
            <a:off x="7286644" y="5072074"/>
            <a:ext cx="1682107" cy="1140031"/>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smtClean="0">
                <a:solidFill>
                  <a:srgbClr val="FF6600"/>
                </a:solidFill>
                <a:latin typeface="Helvetica" pitchFamily="34" charset="0"/>
              </a:rPr>
              <a:t>Answering calls promptly</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457200" y="1500174"/>
            <a:ext cx="7467600" cy="4525963"/>
          </a:xfrm>
        </p:spPr>
        <p:txBody>
          <a:bodyPr>
            <a:normAutofit/>
          </a:bodyPr>
          <a:lstStyle/>
          <a:p>
            <a:pPr lvl="0">
              <a:spcBef>
                <a:spcPts val="600"/>
              </a:spcBef>
              <a:spcAft>
                <a:spcPts val="1200"/>
              </a:spcAft>
              <a:buNone/>
            </a:pPr>
            <a:r>
              <a:rPr lang="en-AU" sz="2200" dirty="0" smtClean="0">
                <a:latin typeface="Helvetica" pitchFamily="34" charset="0"/>
              </a:rPr>
              <a:t>Customers can use the phone to:</a:t>
            </a:r>
          </a:p>
          <a:p>
            <a:pPr lvl="0">
              <a:spcBef>
                <a:spcPts val="600"/>
              </a:spcBef>
              <a:spcAft>
                <a:spcPts val="1200"/>
              </a:spcAft>
            </a:pPr>
            <a:r>
              <a:rPr lang="en-AU" sz="2200" dirty="0" smtClean="0">
                <a:latin typeface="Helvetica" pitchFamily="34" charset="0"/>
              </a:rPr>
              <a:t>Make </a:t>
            </a:r>
            <a:r>
              <a:rPr lang="en-AU" sz="2200" dirty="0">
                <a:latin typeface="Helvetica" pitchFamily="34" charset="0"/>
              </a:rPr>
              <a:t>reservations for rooms, tours and travel</a:t>
            </a:r>
          </a:p>
          <a:p>
            <a:pPr lvl="0">
              <a:spcBef>
                <a:spcPts val="600"/>
              </a:spcBef>
              <a:spcAft>
                <a:spcPts val="1200"/>
              </a:spcAft>
            </a:pPr>
            <a:r>
              <a:rPr lang="en-AU" sz="2200" dirty="0" smtClean="0">
                <a:latin typeface="Helvetica" pitchFamily="34" charset="0"/>
              </a:rPr>
              <a:t>Check</a:t>
            </a:r>
            <a:r>
              <a:rPr lang="en-AU" sz="2200" dirty="0">
                <a:latin typeface="Helvetica" pitchFamily="34" charset="0"/>
              </a:rPr>
              <a:t>, query, modify or cancel arrangements already made</a:t>
            </a:r>
          </a:p>
          <a:p>
            <a:pPr lvl="0">
              <a:spcBef>
                <a:spcPts val="600"/>
              </a:spcBef>
              <a:spcAft>
                <a:spcPts val="1200"/>
              </a:spcAft>
            </a:pPr>
            <a:r>
              <a:rPr lang="en-AU" sz="2200" dirty="0" smtClean="0">
                <a:latin typeface="Helvetica" pitchFamily="34" charset="0"/>
              </a:rPr>
              <a:t>Make </a:t>
            </a:r>
            <a:r>
              <a:rPr lang="en-AU" sz="2200" dirty="0">
                <a:latin typeface="Helvetica" pitchFamily="34" charset="0"/>
              </a:rPr>
              <a:t>enquiries about functions</a:t>
            </a:r>
          </a:p>
          <a:p>
            <a:pPr lvl="0">
              <a:spcBef>
                <a:spcPts val="600"/>
              </a:spcBef>
              <a:spcAft>
                <a:spcPts val="1200"/>
              </a:spcAft>
            </a:pPr>
            <a:r>
              <a:rPr lang="en-AU" sz="2200" dirty="0" smtClean="0">
                <a:latin typeface="Helvetica" pitchFamily="34" charset="0"/>
              </a:rPr>
              <a:t>Seek </a:t>
            </a:r>
            <a:r>
              <a:rPr lang="en-AU" sz="2200" dirty="0">
                <a:latin typeface="Helvetica" pitchFamily="34" charset="0"/>
              </a:rPr>
              <a:t>information about prices and products</a:t>
            </a:r>
          </a:p>
          <a:p>
            <a:pPr lvl="0">
              <a:spcBef>
                <a:spcPts val="600"/>
              </a:spcBef>
              <a:spcAft>
                <a:spcPts val="1200"/>
              </a:spcAft>
            </a:pPr>
            <a:r>
              <a:rPr lang="en-AU" sz="2200" dirty="0" smtClean="0">
                <a:latin typeface="Helvetica" pitchFamily="34" charset="0"/>
              </a:rPr>
              <a:t>Lodge </a:t>
            </a:r>
            <a:r>
              <a:rPr lang="en-AU" sz="2200" dirty="0">
                <a:latin typeface="Helvetica" pitchFamily="34" charset="0"/>
              </a:rPr>
              <a:t>compliments and complaints.</a:t>
            </a:r>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6</a:t>
            </a:fld>
            <a:endParaRPr lang="en-US" dirty="0"/>
          </a:p>
        </p:txBody>
      </p:sp>
      <p:pic>
        <p:nvPicPr>
          <p:cNvPr id="5" name="Picture 4" descr="C:\Documents and Settings\Godaishu\Local Settings\Temporary Internet Files\Content.IE5\7GWYLB5B\MP900387955[1].jpg"/>
          <p:cNvPicPr/>
          <p:nvPr/>
        </p:nvPicPr>
        <p:blipFill>
          <a:blip r:embed="rId3" cstate="print"/>
          <a:srcRect/>
          <a:stretch>
            <a:fillRect/>
          </a:stretch>
        </p:blipFill>
        <p:spPr bwMode="auto">
          <a:xfrm>
            <a:off x="7429520" y="3429000"/>
            <a:ext cx="1457746" cy="1045029"/>
          </a:xfrm>
          <a:prstGeom prst="rect">
            <a:avLst/>
          </a:prstGeom>
          <a:noFill/>
          <a:ln w="9525">
            <a:noFill/>
            <a:miter lim="800000"/>
            <a:headEnd/>
            <a:tailEnd/>
          </a:ln>
        </p:spPr>
      </p:pic>
      <p:pic>
        <p:nvPicPr>
          <p:cNvPr id="4098" name="Picture 2" descr="C:\Documents and Settings\danielc\Local Settings\Temporary Internet Files\Content.IE5\YP6W50B7\MP900309309[1].jpg"/>
          <p:cNvPicPr>
            <a:picLocks noChangeAspect="1" noChangeArrowheads="1"/>
          </p:cNvPicPr>
          <p:nvPr/>
        </p:nvPicPr>
        <p:blipFill>
          <a:blip r:embed="rId4" cstate="print"/>
          <a:srcRect/>
          <a:stretch>
            <a:fillRect/>
          </a:stretch>
        </p:blipFill>
        <p:spPr bwMode="auto">
          <a:xfrm>
            <a:off x="7429520" y="1571612"/>
            <a:ext cx="1466184" cy="989646"/>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solidFill>
                  <a:srgbClr val="FF6600"/>
                </a:solidFill>
                <a:latin typeface="Helvetica" pitchFamily="34" charset="0"/>
              </a:rPr>
              <a:t>Answering calls promptly</a:t>
            </a:r>
          </a:p>
        </p:txBody>
      </p:sp>
      <p:sp>
        <p:nvSpPr>
          <p:cNvPr id="3" name="Content Placeholder 2"/>
          <p:cNvSpPr>
            <a:spLocks noGrp="1"/>
          </p:cNvSpPr>
          <p:nvPr>
            <p:ph idx="1"/>
          </p:nvPr>
        </p:nvSpPr>
        <p:spPr/>
        <p:txBody>
          <a:bodyPr>
            <a:noAutofit/>
          </a:bodyPr>
          <a:lstStyle/>
          <a:p>
            <a:pPr marL="0" indent="0">
              <a:spcBef>
                <a:spcPts val="600"/>
              </a:spcBef>
              <a:spcAft>
                <a:spcPts val="1200"/>
              </a:spcAft>
              <a:buNone/>
            </a:pPr>
            <a:r>
              <a:rPr lang="en-US" sz="2200" dirty="0">
                <a:latin typeface="Helvetica" pitchFamily="34" charset="0"/>
              </a:rPr>
              <a:t>Failure to answer the telephone promptly </a:t>
            </a:r>
            <a:r>
              <a:rPr lang="en-US" sz="2200" dirty="0" smtClean="0">
                <a:latin typeface="Helvetica" pitchFamily="34" charset="0"/>
              </a:rPr>
              <a:t>and </a:t>
            </a:r>
            <a:r>
              <a:rPr lang="en-US" sz="2200" dirty="0">
                <a:latin typeface="Helvetica" pitchFamily="34" charset="0"/>
              </a:rPr>
              <a:t>correctly can result in:</a:t>
            </a:r>
          </a:p>
          <a:p>
            <a:pPr>
              <a:spcBef>
                <a:spcPts val="600"/>
              </a:spcBef>
              <a:spcAft>
                <a:spcPts val="1200"/>
              </a:spcAft>
            </a:pPr>
            <a:r>
              <a:rPr lang="en-US" sz="2200" dirty="0" smtClean="0">
                <a:latin typeface="Helvetica" pitchFamily="34" charset="0"/>
              </a:rPr>
              <a:t>Loss </a:t>
            </a:r>
            <a:r>
              <a:rPr lang="en-US" sz="2200" dirty="0">
                <a:latin typeface="Helvetica" pitchFamily="34" charset="0"/>
              </a:rPr>
              <a:t>of </a:t>
            </a:r>
            <a:r>
              <a:rPr lang="en-US" sz="2200" dirty="0" smtClean="0">
                <a:latin typeface="Helvetica" pitchFamily="34" charset="0"/>
              </a:rPr>
              <a:t>business or revenue</a:t>
            </a:r>
            <a:endParaRPr lang="en-US" sz="2200" dirty="0">
              <a:latin typeface="Helvetica" pitchFamily="34" charset="0"/>
            </a:endParaRPr>
          </a:p>
          <a:p>
            <a:pPr>
              <a:spcBef>
                <a:spcPts val="600"/>
              </a:spcBef>
              <a:spcAft>
                <a:spcPts val="1200"/>
              </a:spcAft>
            </a:pPr>
            <a:r>
              <a:rPr lang="en-US" sz="2200" dirty="0" smtClean="0">
                <a:latin typeface="Helvetica" pitchFamily="34" charset="0"/>
              </a:rPr>
              <a:t>Loss </a:t>
            </a:r>
            <a:r>
              <a:rPr lang="en-US" sz="2200" dirty="0">
                <a:latin typeface="Helvetica" pitchFamily="34" charset="0"/>
              </a:rPr>
              <a:t>of jobs</a:t>
            </a:r>
          </a:p>
          <a:p>
            <a:pPr>
              <a:spcBef>
                <a:spcPts val="600"/>
              </a:spcBef>
              <a:spcAft>
                <a:spcPts val="1200"/>
              </a:spcAft>
            </a:pPr>
            <a:r>
              <a:rPr lang="en-US" sz="2200" dirty="0" smtClean="0">
                <a:latin typeface="Helvetica" pitchFamily="34" charset="0"/>
              </a:rPr>
              <a:t>Poor or negative </a:t>
            </a:r>
            <a:r>
              <a:rPr lang="en-US" sz="2200" dirty="0">
                <a:latin typeface="Helvetica" pitchFamily="34" charset="0"/>
              </a:rPr>
              <a:t>customer relations</a:t>
            </a:r>
          </a:p>
          <a:p>
            <a:pPr>
              <a:spcBef>
                <a:spcPts val="600"/>
              </a:spcBef>
              <a:spcAft>
                <a:spcPts val="1200"/>
              </a:spcAft>
            </a:pPr>
            <a:r>
              <a:rPr lang="en-US" sz="2200" dirty="0" smtClean="0">
                <a:latin typeface="Helvetica" pitchFamily="34" charset="0"/>
              </a:rPr>
              <a:t>Customers </a:t>
            </a:r>
            <a:r>
              <a:rPr lang="en-US" sz="2200" dirty="0">
                <a:latin typeface="Helvetica" pitchFamily="34" charset="0"/>
              </a:rPr>
              <a:t>who are more difficult to deal with</a:t>
            </a:r>
          </a:p>
          <a:p>
            <a:pPr>
              <a:spcBef>
                <a:spcPts val="600"/>
              </a:spcBef>
              <a:spcAft>
                <a:spcPts val="1200"/>
              </a:spcAft>
            </a:pPr>
            <a:r>
              <a:rPr lang="en-US" sz="2200" dirty="0" smtClean="0">
                <a:latin typeface="Helvetica" pitchFamily="34" charset="0"/>
              </a:rPr>
              <a:t>Reduced </a:t>
            </a:r>
            <a:r>
              <a:rPr lang="en-US" sz="2200" dirty="0">
                <a:latin typeface="Helvetica" pitchFamily="34" charset="0"/>
              </a:rPr>
              <a:t>business image in </a:t>
            </a:r>
            <a:r>
              <a:rPr lang="en-US" sz="2200" dirty="0" smtClean="0">
                <a:latin typeface="Helvetica" pitchFamily="34" charset="0"/>
              </a:rPr>
              <a:t>the </a:t>
            </a:r>
            <a:r>
              <a:rPr lang="en-US" sz="2200" dirty="0">
                <a:latin typeface="Helvetica" pitchFamily="34" charset="0"/>
              </a:rPr>
              <a:t>eyes of </a:t>
            </a:r>
            <a:r>
              <a:rPr lang="en-US" sz="2200" dirty="0" smtClean="0">
                <a:latin typeface="Helvetica" pitchFamily="34" charset="0"/>
              </a:rPr>
              <a:t>customers. </a:t>
            </a:r>
            <a:endParaRPr lang="en-US" sz="2200" dirty="0">
              <a:latin typeface="Helvetica" pitchFamily="34" charset="0"/>
            </a:endParaRPr>
          </a:p>
          <a:p>
            <a:pPr>
              <a:spcBef>
                <a:spcPts val="600"/>
              </a:spcBef>
              <a:spcAft>
                <a:spcPts val="1200"/>
              </a:spcAft>
            </a:pPr>
            <a:endParaRPr lang="en-US" sz="2200" dirty="0" smtClean="0">
              <a:latin typeface="Helvetica" pitchFamily="34" charset="0"/>
            </a:endParaRPr>
          </a:p>
          <a:p>
            <a:pPr>
              <a:spcBef>
                <a:spcPts val="600"/>
              </a:spcBef>
              <a:spcAft>
                <a:spcPts val="1200"/>
              </a:spcAft>
            </a:pP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7</a:t>
            </a:fld>
            <a:endParaRPr lang="en-US" dirty="0"/>
          </a:p>
        </p:txBody>
      </p:sp>
      <p:pic>
        <p:nvPicPr>
          <p:cNvPr id="5122" name="Picture 2" descr="C:\Documents and Settings\danielc\Local Settings\Temporary Internet Files\Content.IE5\9N3QFUEZ\MP900442650[1].jpg"/>
          <p:cNvPicPr>
            <a:picLocks noChangeAspect="1" noChangeArrowheads="1"/>
          </p:cNvPicPr>
          <p:nvPr/>
        </p:nvPicPr>
        <p:blipFill>
          <a:blip r:embed="rId3" cstate="print"/>
          <a:srcRect/>
          <a:stretch>
            <a:fillRect/>
          </a:stretch>
        </p:blipFill>
        <p:spPr bwMode="auto">
          <a:xfrm>
            <a:off x="6000760" y="2428868"/>
            <a:ext cx="2142176" cy="1384213"/>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solidFill>
                  <a:srgbClr val="FF6600"/>
                </a:solidFill>
                <a:latin typeface="Helvetica" pitchFamily="34" charset="0"/>
              </a:rPr>
              <a:t>Answering calls promptly</a:t>
            </a:r>
          </a:p>
        </p:txBody>
      </p:sp>
      <p:sp>
        <p:nvSpPr>
          <p:cNvPr id="3" name="Content Placeholder 2"/>
          <p:cNvSpPr>
            <a:spLocks noGrp="1"/>
          </p:cNvSpPr>
          <p:nvPr>
            <p:ph idx="1"/>
          </p:nvPr>
        </p:nvSpPr>
        <p:spPr>
          <a:xfrm>
            <a:off x="457200" y="1357298"/>
            <a:ext cx="7901014" cy="4525963"/>
          </a:xfrm>
        </p:spPr>
        <p:txBody>
          <a:bodyPr>
            <a:noAutofit/>
          </a:bodyPr>
          <a:lstStyle/>
          <a:p>
            <a:pPr marL="0" indent="-457200">
              <a:spcBef>
                <a:spcPts val="600"/>
              </a:spcBef>
              <a:spcAft>
                <a:spcPts val="1200"/>
              </a:spcAft>
              <a:buNone/>
            </a:pPr>
            <a:r>
              <a:rPr lang="en-US" sz="2200" dirty="0" smtClean="0">
                <a:latin typeface="Helvetica" pitchFamily="34" charset="0"/>
              </a:rPr>
              <a:t>Staff also use the phone on behalf of customers </a:t>
            </a:r>
            <a:br>
              <a:rPr lang="en-US" sz="2200" dirty="0" smtClean="0">
                <a:latin typeface="Helvetica" pitchFamily="34" charset="0"/>
              </a:rPr>
            </a:br>
            <a:r>
              <a:rPr lang="en-US" sz="2200" dirty="0" smtClean="0">
                <a:latin typeface="Helvetica" pitchFamily="34" charset="0"/>
              </a:rPr>
              <a:t>and for business reasons to:</a:t>
            </a:r>
          </a:p>
          <a:p>
            <a:pPr marL="457200" lvl="0" indent="-457200">
              <a:spcBef>
                <a:spcPts val="600"/>
              </a:spcBef>
              <a:spcAft>
                <a:spcPts val="1200"/>
              </a:spcAft>
            </a:pPr>
            <a:r>
              <a:rPr lang="en-AU" sz="2200" dirty="0" smtClean="0">
                <a:latin typeface="Helvetica" pitchFamily="34" charset="0"/>
              </a:rPr>
              <a:t>Communicate </a:t>
            </a:r>
            <a:r>
              <a:rPr lang="en-AU" sz="2200" dirty="0">
                <a:latin typeface="Helvetica" pitchFamily="34" charset="0"/>
              </a:rPr>
              <a:t>with other </a:t>
            </a:r>
            <a:r>
              <a:rPr lang="en-AU" sz="2200" dirty="0" smtClean="0">
                <a:latin typeface="Helvetica" pitchFamily="34" charset="0"/>
              </a:rPr>
              <a:t>staff or departments</a:t>
            </a:r>
            <a:endParaRPr lang="en-AU" sz="2200" dirty="0">
              <a:latin typeface="Helvetica" pitchFamily="34" charset="0"/>
            </a:endParaRPr>
          </a:p>
          <a:p>
            <a:pPr marL="457200" lvl="0" indent="-457200">
              <a:spcBef>
                <a:spcPts val="600"/>
              </a:spcBef>
              <a:spcAft>
                <a:spcPts val="1200"/>
              </a:spcAft>
            </a:pPr>
            <a:r>
              <a:rPr lang="en-AU" sz="2200" dirty="0" smtClean="0">
                <a:latin typeface="Helvetica" pitchFamily="34" charset="0"/>
              </a:rPr>
              <a:t>Seek </a:t>
            </a:r>
            <a:r>
              <a:rPr lang="en-AU" sz="2200" dirty="0">
                <a:latin typeface="Helvetica" pitchFamily="34" charset="0"/>
              </a:rPr>
              <a:t>clarification about work directions</a:t>
            </a:r>
          </a:p>
          <a:p>
            <a:pPr marL="457200" lvl="0" indent="-457200">
              <a:spcBef>
                <a:spcPts val="600"/>
              </a:spcBef>
              <a:spcAft>
                <a:spcPts val="1200"/>
              </a:spcAft>
            </a:pPr>
            <a:r>
              <a:rPr lang="en-AU" sz="2200" dirty="0" smtClean="0">
                <a:latin typeface="Helvetica" pitchFamily="34" charset="0"/>
              </a:rPr>
              <a:t>Contact </a:t>
            </a:r>
            <a:r>
              <a:rPr lang="en-AU" sz="2200" dirty="0">
                <a:latin typeface="Helvetica" pitchFamily="34" charset="0"/>
              </a:rPr>
              <a:t>nominated people in the event of </a:t>
            </a:r>
            <a:r>
              <a:rPr lang="en-AU" sz="2200" dirty="0" smtClean="0">
                <a:latin typeface="Helvetica" pitchFamily="34" charset="0"/>
              </a:rPr>
              <a:t/>
            </a:r>
            <a:br>
              <a:rPr lang="en-AU" sz="2200" dirty="0" smtClean="0">
                <a:latin typeface="Helvetica" pitchFamily="34" charset="0"/>
              </a:rPr>
            </a:br>
            <a:r>
              <a:rPr lang="en-AU" sz="2200" dirty="0" smtClean="0">
                <a:latin typeface="Helvetica" pitchFamily="34" charset="0"/>
              </a:rPr>
              <a:t>an </a:t>
            </a:r>
            <a:r>
              <a:rPr lang="en-AU" sz="2200" dirty="0">
                <a:latin typeface="Helvetica" pitchFamily="34" charset="0"/>
              </a:rPr>
              <a:t>emergency situation</a:t>
            </a:r>
          </a:p>
          <a:p>
            <a:pPr marL="457200" lvl="0" indent="-457200">
              <a:spcBef>
                <a:spcPts val="600"/>
              </a:spcBef>
              <a:spcAft>
                <a:spcPts val="1200"/>
              </a:spcAft>
            </a:pPr>
            <a:r>
              <a:rPr lang="en-AU" sz="2200" dirty="0" smtClean="0">
                <a:latin typeface="Helvetica" pitchFamily="34" charset="0"/>
              </a:rPr>
              <a:t>Provide </a:t>
            </a:r>
            <a:r>
              <a:rPr lang="en-AU" sz="2200" dirty="0">
                <a:latin typeface="Helvetica" pitchFamily="34" charset="0"/>
              </a:rPr>
              <a:t>feedback </a:t>
            </a:r>
            <a:r>
              <a:rPr lang="en-AU" sz="2200" dirty="0" smtClean="0">
                <a:latin typeface="Helvetica" pitchFamily="34" charset="0"/>
              </a:rPr>
              <a:t>to </a:t>
            </a:r>
            <a:r>
              <a:rPr lang="en-AU" sz="2200" dirty="0">
                <a:latin typeface="Helvetica" pitchFamily="34" charset="0"/>
              </a:rPr>
              <a:t>management </a:t>
            </a:r>
            <a:r>
              <a:rPr lang="en-AU" sz="2200" dirty="0" smtClean="0">
                <a:latin typeface="Helvetica" pitchFamily="34" charset="0"/>
              </a:rPr>
              <a:t>and co-workers</a:t>
            </a:r>
            <a:endParaRPr lang="en-AU" sz="2200" dirty="0">
              <a:latin typeface="Helvetica" pitchFamily="34" charset="0"/>
            </a:endParaRPr>
          </a:p>
          <a:p>
            <a:pPr marL="457200" lvl="0" indent="-457200">
              <a:spcBef>
                <a:spcPts val="600"/>
              </a:spcBef>
              <a:spcAft>
                <a:spcPts val="1200"/>
              </a:spcAft>
            </a:pPr>
            <a:r>
              <a:rPr lang="en-AU" sz="2200" dirty="0" smtClean="0">
                <a:latin typeface="Helvetica" pitchFamily="34" charset="0"/>
              </a:rPr>
              <a:t>Obtain </a:t>
            </a:r>
            <a:r>
              <a:rPr lang="en-AU" sz="2200" dirty="0">
                <a:latin typeface="Helvetica" pitchFamily="34" charset="0"/>
              </a:rPr>
              <a:t>help </a:t>
            </a:r>
            <a:r>
              <a:rPr lang="en-AU" sz="2200" dirty="0" smtClean="0">
                <a:latin typeface="Helvetica" pitchFamily="34" charset="0"/>
              </a:rPr>
              <a:t>or stock</a:t>
            </a:r>
          </a:p>
          <a:p>
            <a:pPr marL="0" lvl="0" indent="-457200">
              <a:spcBef>
                <a:spcPts val="600"/>
              </a:spcBef>
              <a:spcAft>
                <a:spcPts val="1200"/>
              </a:spcAft>
              <a:buNone/>
            </a:pPr>
            <a:r>
              <a:rPr lang="en-AU" sz="2200" dirty="0" smtClean="0">
                <a:latin typeface="Helvetica" pitchFamily="34" charset="0"/>
              </a:rPr>
              <a:t>(Continued)</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8</a:t>
            </a:fld>
            <a:endParaRPr lang="en-US" dirty="0"/>
          </a:p>
        </p:txBody>
      </p:sp>
      <p:pic>
        <p:nvPicPr>
          <p:cNvPr id="6146" name="Picture 2" descr="C:\Documents and Settings\danielc\Local Settings\Temporary Internet Files\Content.IE5\2IERTBRT\MP900443123[1].jpg"/>
          <p:cNvPicPr>
            <a:picLocks noChangeAspect="1" noChangeArrowheads="1"/>
          </p:cNvPicPr>
          <p:nvPr/>
        </p:nvPicPr>
        <p:blipFill>
          <a:blip r:embed="rId3" cstate="print"/>
          <a:srcRect/>
          <a:stretch>
            <a:fillRect/>
          </a:stretch>
        </p:blipFill>
        <p:spPr bwMode="auto">
          <a:xfrm>
            <a:off x="6715140" y="2643182"/>
            <a:ext cx="2114536" cy="14072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solidFill>
                  <a:srgbClr val="FF6600"/>
                </a:solidFill>
                <a:latin typeface="Helvetica" pitchFamily="34" charset="0"/>
              </a:rPr>
              <a:t>Answering calls promptly</a:t>
            </a:r>
          </a:p>
        </p:txBody>
      </p:sp>
      <p:sp>
        <p:nvSpPr>
          <p:cNvPr id="3" name="Content Placeholder 2"/>
          <p:cNvSpPr>
            <a:spLocks noGrp="1"/>
          </p:cNvSpPr>
          <p:nvPr>
            <p:ph idx="1"/>
          </p:nvPr>
        </p:nvSpPr>
        <p:spPr/>
        <p:txBody>
          <a:bodyPr>
            <a:normAutofit/>
          </a:bodyPr>
          <a:lstStyle/>
          <a:p>
            <a:pPr lvl="0">
              <a:spcBef>
                <a:spcPts val="600"/>
              </a:spcBef>
              <a:spcAft>
                <a:spcPts val="1200"/>
              </a:spcAft>
            </a:pPr>
            <a:r>
              <a:rPr lang="en-AU" sz="2200" dirty="0">
                <a:latin typeface="Helvetica" pitchFamily="34" charset="0"/>
              </a:rPr>
              <a:t>Order stock from suppliers</a:t>
            </a:r>
          </a:p>
          <a:p>
            <a:pPr lvl="0">
              <a:spcBef>
                <a:spcPts val="600"/>
              </a:spcBef>
              <a:spcAft>
                <a:spcPts val="1200"/>
              </a:spcAft>
            </a:pPr>
            <a:r>
              <a:rPr lang="en-AU" sz="2200" dirty="0" smtClean="0">
                <a:latin typeface="Helvetica" pitchFamily="34" charset="0"/>
              </a:rPr>
              <a:t>Make </a:t>
            </a:r>
            <a:r>
              <a:rPr lang="en-AU" sz="2200" dirty="0">
                <a:latin typeface="Helvetica" pitchFamily="34" charset="0"/>
              </a:rPr>
              <a:t>bookings with providers</a:t>
            </a:r>
          </a:p>
          <a:p>
            <a:pPr lvl="0">
              <a:spcBef>
                <a:spcPts val="600"/>
              </a:spcBef>
              <a:spcAft>
                <a:spcPts val="1200"/>
              </a:spcAft>
            </a:pPr>
            <a:r>
              <a:rPr lang="en-AU" sz="2200" dirty="0" smtClean="0">
                <a:latin typeface="Helvetica" pitchFamily="34" charset="0"/>
              </a:rPr>
              <a:t>Cold </a:t>
            </a:r>
            <a:r>
              <a:rPr lang="en-AU" sz="2200" dirty="0">
                <a:latin typeface="Helvetica" pitchFamily="34" charset="0"/>
              </a:rPr>
              <a:t>call </a:t>
            </a:r>
            <a:r>
              <a:rPr lang="en-AU" sz="2200" dirty="0" smtClean="0">
                <a:latin typeface="Helvetica" pitchFamily="34" charset="0"/>
              </a:rPr>
              <a:t>prospects</a:t>
            </a:r>
            <a:endParaRPr lang="en-AU" sz="2200" dirty="0">
              <a:latin typeface="Helvetica" pitchFamily="34" charset="0"/>
            </a:endParaRPr>
          </a:p>
          <a:p>
            <a:pPr lvl="0">
              <a:spcBef>
                <a:spcPts val="600"/>
              </a:spcBef>
              <a:spcAft>
                <a:spcPts val="1200"/>
              </a:spcAft>
            </a:pPr>
            <a:r>
              <a:rPr lang="en-AU" sz="2200" dirty="0" smtClean="0">
                <a:latin typeface="Helvetica" pitchFamily="34" charset="0"/>
              </a:rPr>
              <a:t>Place service or maintenance </a:t>
            </a:r>
            <a:r>
              <a:rPr lang="en-AU" sz="2200" dirty="0">
                <a:latin typeface="Helvetica" pitchFamily="34" charset="0"/>
              </a:rPr>
              <a:t>calls with support organisations</a:t>
            </a:r>
          </a:p>
          <a:p>
            <a:pPr lvl="0">
              <a:spcBef>
                <a:spcPts val="600"/>
              </a:spcBef>
              <a:spcAft>
                <a:spcPts val="1200"/>
              </a:spcAft>
            </a:pPr>
            <a:r>
              <a:rPr lang="en-AU" sz="2200" dirty="0" smtClean="0">
                <a:latin typeface="Helvetica" pitchFamily="34" charset="0"/>
              </a:rPr>
              <a:t>Seek </a:t>
            </a:r>
            <a:r>
              <a:rPr lang="en-AU" sz="2200" dirty="0">
                <a:latin typeface="Helvetica" pitchFamily="34" charset="0"/>
              </a:rPr>
              <a:t>advice from government authorities, industry bodies, and a range of business </a:t>
            </a:r>
            <a:r>
              <a:rPr lang="en-AU" sz="2200" dirty="0" smtClean="0">
                <a:latin typeface="Helvetica" pitchFamily="34" charset="0"/>
              </a:rPr>
              <a:t>advisors.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9</a:t>
            </a:fld>
            <a:endParaRPr lang="en-US" dirty="0"/>
          </a:p>
        </p:txBody>
      </p:sp>
      <p:pic>
        <p:nvPicPr>
          <p:cNvPr id="7170" name="Picture 2" descr="C:\Documents and Settings\danielc\Local Settings\Temporary Internet Files\Content.IE5\C278ONHS\MP900385337[1].jpg"/>
          <p:cNvPicPr>
            <a:picLocks noChangeAspect="1" noChangeArrowheads="1"/>
          </p:cNvPicPr>
          <p:nvPr/>
        </p:nvPicPr>
        <p:blipFill>
          <a:blip r:embed="rId3" cstate="print"/>
          <a:srcRect/>
          <a:stretch>
            <a:fillRect/>
          </a:stretch>
        </p:blipFill>
        <p:spPr bwMode="auto">
          <a:xfrm>
            <a:off x="7143768" y="1785926"/>
            <a:ext cx="1571620" cy="2200268"/>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solidFill>
                  <a:srgbClr val="FF6600"/>
                </a:solidFill>
                <a:latin typeface="Helvetica" pitchFamily="34" charset="0"/>
              </a:rPr>
              <a:t>Answering calls promptly</a:t>
            </a:r>
          </a:p>
        </p:txBody>
      </p:sp>
      <p:sp>
        <p:nvSpPr>
          <p:cNvPr id="3" name="Content Placeholder 2"/>
          <p:cNvSpPr>
            <a:spLocks noGrp="1"/>
          </p:cNvSpPr>
          <p:nvPr>
            <p:ph idx="1"/>
          </p:nvPr>
        </p:nvSpPr>
        <p:spPr/>
        <p:txBody>
          <a:bodyPr>
            <a:normAutofit/>
          </a:bodyPr>
          <a:lstStyle/>
          <a:p>
            <a:pPr>
              <a:spcBef>
                <a:spcPts val="600"/>
              </a:spcBef>
              <a:spcAft>
                <a:spcPts val="1200"/>
              </a:spcAft>
            </a:pPr>
            <a:r>
              <a:rPr lang="en-US" sz="2200" dirty="0" smtClean="0">
                <a:latin typeface="Helvetica" pitchFamily="34" charset="0"/>
              </a:rPr>
              <a:t>Every time you use the phone at work you </a:t>
            </a:r>
            <a:r>
              <a:rPr lang="en-US" sz="2200" b="1" dirty="0" smtClean="0">
                <a:latin typeface="Helvetica" pitchFamily="34" charset="0"/>
              </a:rPr>
              <a:t>are </a:t>
            </a:r>
            <a:r>
              <a:rPr lang="en-US" sz="2200" dirty="0" smtClean="0">
                <a:latin typeface="Helvetica" pitchFamily="34" charset="0"/>
              </a:rPr>
              <a:t>the business</a:t>
            </a:r>
          </a:p>
          <a:p>
            <a:pPr>
              <a:spcBef>
                <a:spcPts val="600"/>
              </a:spcBef>
              <a:spcAft>
                <a:spcPts val="1200"/>
              </a:spcAft>
            </a:pPr>
            <a:r>
              <a:rPr lang="en-US" sz="2200" dirty="0" smtClean="0">
                <a:latin typeface="Helvetica" pitchFamily="34" charset="0"/>
              </a:rPr>
              <a:t>Callers – and people you call – judge the business by the way you handle the call</a:t>
            </a:r>
          </a:p>
          <a:p>
            <a:pPr>
              <a:spcBef>
                <a:spcPts val="600"/>
              </a:spcBef>
              <a:spcAft>
                <a:spcPts val="1200"/>
              </a:spcAft>
            </a:pPr>
            <a:r>
              <a:rPr lang="en-US" sz="2200" dirty="0" smtClean="0">
                <a:latin typeface="Helvetica" pitchFamily="34" charset="0"/>
              </a:rPr>
              <a:t>Common, big mistakes telephone users make is to:</a:t>
            </a:r>
          </a:p>
          <a:p>
            <a:pPr lvl="1">
              <a:spcBef>
                <a:spcPts val="600"/>
              </a:spcBef>
              <a:spcAft>
                <a:spcPts val="1200"/>
              </a:spcAft>
            </a:pPr>
            <a:r>
              <a:rPr lang="en-US" sz="2200" dirty="0" smtClean="0">
                <a:latin typeface="Helvetica" pitchFamily="34" charset="0"/>
              </a:rPr>
              <a:t>Not answer calls promptly</a:t>
            </a:r>
          </a:p>
          <a:p>
            <a:pPr lvl="1">
              <a:spcBef>
                <a:spcPts val="600"/>
              </a:spcBef>
              <a:spcAft>
                <a:spcPts val="1200"/>
              </a:spcAft>
            </a:pPr>
            <a:r>
              <a:rPr lang="en-US" sz="2200" dirty="0" smtClean="0">
                <a:latin typeface="Helvetica" pitchFamily="34" charset="0"/>
              </a:rPr>
              <a:t>Take the telephone for granted</a:t>
            </a:r>
          </a:p>
          <a:p>
            <a:pPr lvl="1">
              <a:spcBef>
                <a:spcPts val="600"/>
              </a:spcBef>
              <a:spcAft>
                <a:spcPts val="1200"/>
              </a:spcAft>
            </a:pPr>
            <a:r>
              <a:rPr lang="en-US" sz="2200" dirty="0" smtClean="0">
                <a:latin typeface="Helvetica" pitchFamily="34" charset="0"/>
              </a:rPr>
              <a:t>Believe use of the telephone comes ‘naturally’.</a:t>
            </a:r>
          </a:p>
          <a:p>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10</a:t>
            </a:fld>
            <a:endParaRPr lang="en-US" dirty="0"/>
          </a:p>
        </p:txBody>
      </p:sp>
      <p:pic>
        <p:nvPicPr>
          <p:cNvPr id="8194" name="Picture 2" descr="C:\Documents and Settings\danielc\Local Settings\Temporary Internet Files\Content.IE5\YI0F6H43\MC900071073[1].wmf"/>
          <p:cNvPicPr>
            <a:picLocks noChangeAspect="1" noChangeArrowheads="1"/>
          </p:cNvPicPr>
          <p:nvPr/>
        </p:nvPicPr>
        <p:blipFill>
          <a:blip r:embed="rId3" cstate="print"/>
          <a:srcRect/>
          <a:stretch>
            <a:fillRect/>
          </a:stretch>
        </p:blipFill>
        <p:spPr bwMode="auto">
          <a:xfrm>
            <a:off x="7429520" y="4000504"/>
            <a:ext cx="1517964" cy="162962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solidFill>
                  <a:srgbClr val="FF6600"/>
                </a:solidFill>
                <a:latin typeface="Helvetica" pitchFamily="34" charset="0"/>
              </a:rPr>
              <a:t>Answering calls promptly</a:t>
            </a:r>
          </a:p>
        </p:txBody>
      </p:sp>
      <p:sp>
        <p:nvSpPr>
          <p:cNvPr id="3" name="Content Placeholder 2"/>
          <p:cNvSpPr>
            <a:spLocks noGrp="1"/>
          </p:cNvSpPr>
          <p:nvPr>
            <p:ph idx="1"/>
          </p:nvPr>
        </p:nvSpPr>
        <p:spPr>
          <a:xfrm>
            <a:off x="457200" y="1500174"/>
            <a:ext cx="7467600" cy="4525963"/>
          </a:xfrm>
        </p:spPr>
        <p:txBody>
          <a:bodyPr>
            <a:normAutofit/>
          </a:bodyPr>
          <a:lstStyle/>
          <a:p>
            <a:pPr marL="0" indent="-421200">
              <a:spcBef>
                <a:spcPts val="600"/>
              </a:spcBef>
              <a:spcAft>
                <a:spcPts val="1200"/>
              </a:spcAft>
              <a:buNone/>
            </a:pPr>
            <a:r>
              <a:rPr lang="en-US" sz="2200" dirty="0" smtClean="0">
                <a:latin typeface="Helvetica" pitchFamily="34" charset="0"/>
              </a:rPr>
              <a:t>An appropriate telephone manner must be applied when using the telephone:</a:t>
            </a:r>
          </a:p>
          <a:p>
            <a:pPr lvl="0">
              <a:spcBef>
                <a:spcPts val="600"/>
              </a:spcBef>
              <a:spcAft>
                <a:spcPts val="1200"/>
              </a:spcAft>
            </a:pPr>
            <a:r>
              <a:rPr lang="en-AU" sz="2200" dirty="0" smtClean="0">
                <a:latin typeface="Helvetica" pitchFamily="34" charset="0"/>
              </a:rPr>
              <a:t>Using </a:t>
            </a:r>
            <a:r>
              <a:rPr lang="en-AU" sz="2200" dirty="0">
                <a:latin typeface="Helvetica" pitchFamily="34" charset="0"/>
              </a:rPr>
              <a:t>polite language at all </a:t>
            </a:r>
            <a:r>
              <a:rPr lang="en-AU" sz="2200" dirty="0" smtClean="0">
                <a:latin typeface="Helvetica" pitchFamily="34" charset="0"/>
              </a:rPr>
              <a:t>times</a:t>
            </a:r>
            <a:endParaRPr lang="en-AU" sz="2200" dirty="0">
              <a:latin typeface="Helvetica" pitchFamily="34" charset="0"/>
            </a:endParaRPr>
          </a:p>
          <a:p>
            <a:pPr lvl="0">
              <a:spcBef>
                <a:spcPts val="600"/>
              </a:spcBef>
              <a:spcAft>
                <a:spcPts val="1200"/>
              </a:spcAft>
            </a:pPr>
            <a:r>
              <a:rPr lang="en-AU" sz="2200" dirty="0" smtClean="0">
                <a:latin typeface="Helvetica" pitchFamily="34" charset="0"/>
              </a:rPr>
              <a:t>Using </a:t>
            </a:r>
            <a:r>
              <a:rPr lang="en-AU" sz="2200" dirty="0">
                <a:latin typeface="Helvetica" pitchFamily="34" charset="0"/>
              </a:rPr>
              <a:t>appropriate </a:t>
            </a:r>
            <a:r>
              <a:rPr lang="en-AU" sz="2200" dirty="0" smtClean="0">
                <a:latin typeface="Helvetica" pitchFamily="34" charset="0"/>
              </a:rPr>
              <a:t>welcoming or greeting phrases</a:t>
            </a:r>
            <a:endParaRPr lang="en-AU" sz="2200" dirty="0">
              <a:latin typeface="Helvetica" pitchFamily="34" charset="0"/>
            </a:endParaRPr>
          </a:p>
          <a:p>
            <a:pPr lvl="0">
              <a:spcBef>
                <a:spcPts val="600"/>
              </a:spcBef>
              <a:spcAft>
                <a:spcPts val="1200"/>
              </a:spcAft>
            </a:pPr>
            <a:r>
              <a:rPr lang="en-AU" sz="2200" dirty="0" smtClean="0">
                <a:latin typeface="Helvetica" pitchFamily="34" charset="0"/>
              </a:rPr>
              <a:t>Showing </a:t>
            </a:r>
            <a:r>
              <a:rPr lang="en-AU" sz="2200" dirty="0">
                <a:latin typeface="Helvetica" pitchFamily="34" charset="0"/>
              </a:rPr>
              <a:t>enthusiasm </a:t>
            </a:r>
            <a:r>
              <a:rPr lang="en-AU" sz="2200" dirty="0" smtClean="0">
                <a:latin typeface="Helvetica" pitchFamily="34" charset="0"/>
              </a:rPr>
              <a:t>when </a:t>
            </a:r>
            <a:r>
              <a:rPr lang="en-AU" sz="2200" dirty="0">
                <a:latin typeface="Helvetica" pitchFamily="34" charset="0"/>
              </a:rPr>
              <a:t>taking a </a:t>
            </a:r>
            <a:r>
              <a:rPr lang="en-AU" sz="2200" dirty="0" smtClean="0">
                <a:latin typeface="Helvetica" pitchFamily="34" charset="0"/>
              </a:rPr>
              <a:t>call</a:t>
            </a:r>
            <a:endParaRPr lang="en-AU" sz="2200" dirty="0">
              <a:latin typeface="Helvetica" pitchFamily="34" charset="0"/>
            </a:endParaRPr>
          </a:p>
          <a:p>
            <a:pPr lvl="0">
              <a:spcBef>
                <a:spcPts val="600"/>
              </a:spcBef>
              <a:spcAft>
                <a:spcPts val="1200"/>
              </a:spcAft>
            </a:pPr>
            <a:r>
              <a:rPr lang="en-AU" sz="2200" dirty="0" smtClean="0">
                <a:latin typeface="Helvetica" pitchFamily="34" charset="0"/>
              </a:rPr>
              <a:t>Being friendly</a:t>
            </a:r>
            <a:endParaRPr lang="en-AU" sz="2200" dirty="0">
              <a:latin typeface="Helvetica" pitchFamily="34" charset="0"/>
            </a:endParaRPr>
          </a:p>
          <a:p>
            <a:pPr lvl="0">
              <a:spcBef>
                <a:spcPts val="600"/>
              </a:spcBef>
              <a:spcAft>
                <a:spcPts val="1200"/>
              </a:spcAft>
            </a:pPr>
            <a:r>
              <a:rPr lang="en-AU" sz="2200" dirty="0" smtClean="0">
                <a:latin typeface="Helvetica" pitchFamily="34" charset="0"/>
              </a:rPr>
              <a:t>Making </a:t>
            </a:r>
            <a:r>
              <a:rPr lang="en-AU" sz="2200" dirty="0">
                <a:latin typeface="Helvetica" pitchFamily="34" charset="0"/>
              </a:rPr>
              <a:t>an offer of help to the </a:t>
            </a:r>
            <a:r>
              <a:rPr lang="en-AU" sz="2200" dirty="0" smtClean="0">
                <a:latin typeface="Helvetica" pitchFamily="34" charset="0"/>
              </a:rPr>
              <a:t>caller.</a:t>
            </a:r>
            <a:endParaRPr lang="en-AU" sz="2200" dirty="0">
              <a:latin typeface="Helvetica" pitchFamily="34" charset="0"/>
            </a:endParaRPr>
          </a:p>
          <a:p>
            <a:endParaRPr lang="en-US" sz="2000" dirty="0"/>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11</a:t>
            </a:fld>
            <a:endParaRPr lang="en-US" dirty="0"/>
          </a:p>
        </p:txBody>
      </p:sp>
      <p:pic>
        <p:nvPicPr>
          <p:cNvPr id="9218" name="Picture 2" descr="C:\Documents and Settings\danielc\Local Settings\Temporary Internet Files\Content.IE5\D95FJ757\MP900409325[1].jpg"/>
          <p:cNvPicPr>
            <a:picLocks noChangeAspect="1" noChangeArrowheads="1"/>
          </p:cNvPicPr>
          <p:nvPr/>
        </p:nvPicPr>
        <p:blipFill>
          <a:blip r:embed="rId3" cstate="print"/>
          <a:srcRect/>
          <a:stretch>
            <a:fillRect/>
          </a:stretch>
        </p:blipFill>
        <p:spPr bwMode="auto">
          <a:xfrm>
            <a:off x="7286644" y="3500438"/>
            <a:ext cx="1453580" cy="2179306"/>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dirty="0">
                <a:solidFill>
                  <a:srgbClr val="FF6600"/>
                </a:solidFill>
                <a:latin typeface="Helvetica" pitchFamily="34" charset="0"/>
              </a:rPr>
              <a:t>Answering calls promptly</a:t>
            </a: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200" dirty="0" smtClean="0">
                <a:latin typeface="Helvetica" pitchFamily="34" charset="0"/>
              </a:rPr>
              <a:t>You will become aware of your workplace ‘enterprise standards’ for answering or using the telephone in the following ways:</a:t>
            </a:r>
          </a:p>
          <a:p>
            <a:pPr>
              <a:spcBef>
                <a:spcPts val="600"/>
              </a:spcBef>
              <a:spcAft>
                <a:spcPts val="1200"/>
              </a:spcAft>
            </a:pPr>
            <a:r>
              <a:rPr lang="en-US" sz="2200" dirty="0" smtClean="0">
                <a:latin typeface="Helvetica" pitchFamily="34" charset="0"/>
              </a:rPr>
              <a:t>On-the-job training </a:t>
            </a:r>
          </a:p>
          <a:p>
            <a:pPr>
              <a:spcBef>
                <a:spcPts val="600"/>
              </a:spcBef>
              <a:spcAft>
                <a:spcPts val="1200"/>
              </a:spcAft>
            </a:pPr>
            <a:r>
              <a:rPr lang="en-US" sz="2200" dirty="0" smtClean="0">
                <a:latin typeface="Helvetica" pitchFamily="34" charset="0"/>
              </a:rPr>
              <a:t>Personal observation</a:t>
            </a:r>
          </a:p>
          <a:p>
            <a:pPr>
              <a:spcBef>
                <a:spcPts val="600"/>
              </a:spcBef>
              <a:spcAft>
                <a:spcPts val="1200"/>
              </a:spcAft>
            </a:pPr>
            <a:r>
              <a:rPr lang="en-US" sz="2200" dirty="0" smtClean="0">
                <a:latin typeface="Helvetica" pitchFamily="34" charset="0"/>
              </a:rPr>
              <a:t>Reading company policy on Telephone </a:t>
            </a:r>
            <a:br>
              <a:rPr lang="en-US" sz="2200" dirty="0" smtClean="0">
                <a:latin typeface="Helvetica" pitchFamily="34" charset="0"/>
              </a:rPr>
            </a:br>
            <a:r>
              <a:rPr lang="en-US" sz="2200" dirty="0" smtClean="0">
                <a:latin typeface="Helvetica" pitchFamily="34" charset="0"/>
              </a:rPr>
              <a:t>Use or Operation</a:t>
            </a:r>
          </a:p>
          <a:p>
            <a:pPr>
              <a:spcBef>
                <a:spcPts val="600"/>
              </a:spcBef>
              <a:spcAft>
                <a:spcPts val="1200"/>
              </a:spcAft>
            </a:pPr>
            <a:r>
              <a:rPr lang="en-US" sz="2200" dirty="0" smtClean="0">
                <a:latin typeface="Helvetica" pitchFamily="34" charset="0"/>
              </a:rPr>
              <a:t>Reading relevant section of Employee’s </a:t>
            </a:r>
            <a:br>
              <a:rPr lang="en-US" sz="2200" dirty="0" smtClean="0">
                <a:latin typeface="Helvetica" pitchFamily="34" charset="0"/>
              </a:rPr>
            </a:br>
            <a:r>
              <a:rPr lang="en-US" sz="2200" dirty="0" smtClean="0">
                <a:latin typeface="Helvetica" pitchFamily="34" charset="0"/>
              </a:rPr>
              <a:t>Handbook.</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Slide </a:t>
            </a:r>
            <a:fld id="{90BDF71C-F485-43AE-8825-5070AF1EA8C9}" type="slidenum">
              <a:rPr lang="en-US" smtClean="0"/>
              <a:pPr/>
              <a:t>12</a:t>
            </a:fld>
            <a:endParaRPr lang="en-US" dirty="0"/>
          </a:p>
        </p:txBody>
      </p:sp>
      <p:pic>
        <p:nvPicPr>
          <p:cNvPr id="10242" name="Picture 2" descr="C:\Documents and Settings\danielc\Local Settings\Temporary Internet Files\Content.IE5\EJ204J5G\MP900178586[1].jpg"/>
          <p:cNvPicPr>
            <a:picLocks noChangeAspect="1" noChangeArrowheads="1"/>
          </p:cNvPicPr>
          <p:nvPr/>
        </p:nvPicPr>
        <p:blipFill>
          <a:blip r:embed="rId3" cstate="print"/>
          <a:srcRect/>
          <a:stretch>
            <a:fillRect/>
          </a:stretch>
        </p:blipFill>
        <p:spPr bwMode="auto">
          <a:xfrm>
            <a:off x="6467536" y="3286124"/>
            <a:ext cx="2152701" cy="142437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a:solidFill>
                  <a:srgbClr val="FF6600"/>
                </a:solidFill>
                <a:latin typeface="Helvetica" pitchFamily="34" charset="0"/>
              </a:rPr>
              <a:t>Answering calls promptly</a:t>
            </a:r>
          </a:p>
        </p:txBody>
      </p:sp>
      <p:sp>
        <p:nvSpPr>
          <p:cNvPr id="3" name="Content Placeholder 2"/>
          <p:cNvSpPr>
            <a:spLocks noGrp="1"/>
          </p:cNvSpPr>
          <p:nvPr>
            <p:ph idx="1"/>
          </p:nvPr>
        </p:nvSpPr>
        <p:spPr>
          <a:xfrm>
            <a:off x="457200" y="1428737"/>
            <a:ext cx="7686700" cy="4500594"/>
          </a:xfrm>
        </p:spPr>
        <p:txBody>
          <a:bodyPr>
            <a:noAutofit/>
          </a:bodyPr>
          <a:lstStyle/>
          <a:p>
            <a:pPr>
              <a:spcBef>
                <a:spcPts val="600"/>
              </a:spcBef>
              <a:spcAft>
                <a:spcPts val="1200"/>
              </a:spcAft>
              <a:buNone/>
            </a:pPr>
            <a:r>
              <a:rPr lang="en-AU" sz="2100" smtClean="0">
                <a:latin typeface="Helvetica" pitchFamily="34" charset="0"/>
              </a:rPr>
              <a:t>Enterprise standards may relate to:</a:t>
            </a:r>
          </a:p>
          <a:p>
            <a:pPr lvl="0">
              <a:spcBef>
                <a:spcPts val="600"/>
              </a:spcBef>
              <a:spcAft>
                <a:spcPts val="1200"/>
              </a:spcAft>
            </a:pPr>
            <a:r>
              <a:rPr lang="en-AU" sz="2100" smtClean="0">
                <a:latin typeface="Helvetica" pitchFamily="34" charset="0"/>
              </a:rPr>
              <a:t>The use of appropriate greetings or welcoming phrases when answering the telephone. These may require you to:</a:t>
            </a:r>
          </a:p>
          <a:p>
            <a:pPr lvl="1">
              <a:spcBef>
                <a:spcPts val="300"/>
              </a:spcBef>
              <a:spcAft>
                <a:spcPts val="600"/>
              </a:spcAft>
            </a:pPr>
            <a:r>
              <a:rPr lang="en-AU" sz="2100" smtClean="0">
                <a:latin typeface="Helvetica" pitchFamily="34" charset="0"/>
              </a:rPr>
              <a:t>Greet the caller</a:t>
            </a:r>
          </a:p>
          <a:p>
            <a:pPr lvl="1">
              <a:spcBef>
                <a:spcPts val="300"/>
              </a:spcBef>
              <a:spcAft>
                <a:spcPts val="600"/>
              </a:spcAft>
            </a:pPr>
            <a:r>
              <a:rPr lang="en-AU" sz="2100" smtClean="0">
                <a:latin typeface="Helvetica" pitchFamily="34" charset="0"/>
              </a:rPr>
              <a:t>Identify the business</a:t>
            </a:r>
          </a:p>
          <a:p>
            <a:pPr lvl="1">
              <a:spcBef>
                <a:spcPts val="300"/>
              </a:spcBef>
              <a:spcAft>
                <a:spcPts val="600"/>
              </a:spcAft>
            </a:pPr>
            <a:r>
              <a:rPr lang="en-AU" sz="2100" smtClean="0">
                <a:latin typeface="Helvetica" pitchFamily="34" charset="0"/>
              </a:rPr>
              <a:t>Identify yourself</a:t>
            </a:r>
          </a:p>
          <a:p>
            <a:pPr lvl="1">
              <a:spcBef>
                <a:spcPts val="300"/>
              </a:spcBef>
              <a:spcAft>
                <a:spcPts val="600"/>
              </a:spcAft>
            </a:pPr>
            <a:r>
              <a:rPr lang="en-AU" sz="2100" smtClean="0">
                <a:latin typeface="Helvetica" pitchFamily="34" charset="0"/>
              </a:rPr>
              <a:t>Make an offer of assistance</a:t>
            </a:r>
          </a:p>
          <a:p>
            <a:pPr>
              <a:spcBef>
                <a:spcPts val="600"/>
              </a:spcBef>
              <a:spcAft>
                <a:spcPts val="1200"/>
              </a:spcAft>
            </a:pPr>
            <a:r>
              <a:rPr lang="en-US" sz="2100" smtClean="0">
                <a:latin typeface="Helvetica" pitchFamily="34" charset="0"/>
              </a:rPr>
              <a:t>It is never acceptable to simply pick up the phone and say:</a:t>
            </a:r>
          </a:p>
          <a:p>
            <a:pPr lvl="1">
              <a:spcBef>
                <a:spcPts val="600"/>
              </a:spcBef>
              <a:spcAft>
                <a:spcPts val="1200"/>
              </a:spcAft>
            </a:pPr>
            <a:r>
              <a:rPr lang="en-AU" sz="2100" smtClean="0">
                <a:latin typeface="Helvetica" pitchFamily="34" charset="0"/>
              </a:rPr>
              <a:t>“What?”, “Yes” or “Hello”.</a:t>
            </a:r>
          </a:p>
          <a:p>
            <a:pPr marL="0" lvl="1">
              <a:spcBef>
                <a:spcPts val="600"/>
              </a:spcBef>
              <a:spcAft>
                <a:spcPts val="1200"/>
              </a:spcAft>
              <a:buNone/>
            </a:pPr>
            <a:r>
              <a:rPr lang="en-AU" sz="2100" smtClean="0">
                <a:latin typeface="Helvetica" pitchFamily="34" charset="0"/>
              </a:rPr>
              <a:t>(Continued)</a:t>
            </a:r>
          </a:p>
          <a:p>
            <a:pPr lvl="1">
              <a:buNone/>
            </a:pPr>
            <a:endParaRPr lang="en-AU" sz="2200" smtClean="0">
              <a:latin typeface="Helvetica" pitchFamily="34" charset="0"/>
            </a:endParaRPr>
          </a:p>
          <a:p>
            <a:pPr lvl="1">
              <a:buNone/>
            </a:pPr>
            <a:endParaRPr lang="en-AU" sz="2200" smtClean="0">
              <a:latin typeface="Helvetica" pitchFamily="34" charset="0"/>
            </a:endParaRPr>
          </a:p>
          <a:p>
            <a:endParaRPr lang="en-AU" sz="2200" smtClean="0">
              <a:latin typeface="Helvetica" pitchFamily="34" charset="0"/>
            </a:endParaRPr>
          </a:p>
          <a:p>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13</a:t>
            </a:fld>
            <a:endParaRPr lang="en-US"/>
          </a:p>
        </p:txBody>
      </p:sp>
      <p:pic>
        <p:nvPicPr>
          <p:cNvPr id="11266" name="Picture 2" descr="C:\Documents and Settings\danielc\Local Settings\Temporary Internet Files\Content.IE5\E5HVZFEA\MP900178602[1].jpg"/>
          <p:cNvPicPr>
            <a:picLocks noChangeAspect="1" noChangeArrowheads="1"/>
          </p:cNvPicPr>
          <p:nvPr/>
        </p:nvPicPr>
        <p:blipFill>
          <a:blip r:embed="rId3" cstate="print"/>
          <a:srcRect/>
          <a:stretch>
            <a:fillRect/>
          </a:stretch>
        </p:blipFill>
        <p:spPr bwMode="auto">
          <a:xfrm>
            <a:off x="6750592" y="3000372"/>
            <a:ext cx="2107688" cy="1408638"/>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a:solidFill>
                  <a:srgbClr val="FF6600"/>
                </a:solidFill>
                <a:latin typeface="Helvetica" pitchFamily="34" charset="0"/>
              </a:rPr>
              <a:t>Answering calls promptly</a:t>
            </a:r>
          </a:p>
        </p:txBody>
      </p:sp>
      <p:sp>
        <p:nvSpPr>
          <p:cNvPr id="3" name="Content Placeholder 2"/>
          <p:cNvSpPr>
            <a:spLocks noGrp="1"/>
          </p:cNvSpPr>
          <p:nvPr>
            <p:ph idx="1"/>
          </p:nvPr>
        </p:nvSpPr>
        <p:spPr>
          <a:xfrm>
            <a:off x="357158" y="1403367"/>
            <a:ext cx="8429684" cy="4525963"/>
          </a:xfrm>
        </p:spPr>
        <p:txBody>
          <a:bodyPr>
            <a:noAutofit/>
          </a:bodyPr>
          <a:lstStyle/>
          <a:p>
            <a:pPr lvl="0">
              <a:spcBef>
                <a:spcPts val="600"/>
              </a:spcBef>
              <a:spcAft>
                <a:spcPts val="600"/>
              </a:spcAft>
            </a:pPr>
            <a:r>
              <a:rPr lang="en-AU" sz="2000" smtClean="0">
                <a:latin typeface="Helvetica" pitchFamily="34" charset="0"/>
              </a:rPr>
              <a:t>Use of the caller’s name</a:t>
            </a:r>
          </a:p>
          <a:p>
            <a:pPr lvl="0">
              <a:spcBef>
                <a:spcPts val="600"/>
              </a:spcBef>
              <a:spcAft>
                <a:spcPts val="600"/>
              </a:spcAft>
            </a:pPr>
            <a:r>
              <a:rPr lang="en-AU" sz="2000" smtClean="0">
                <a:latin typeface="Helvetica" pitchFamily="34" charset="0"/>
              </a:rPr>
              <a:t>Making an offer of assistance :</a:t>
            </a:r>
          </a:p>
          <a:p>
            <a:pPr lvl="1">
              <a:spcBef>
                <a:spcPts val="600"/>
              </a:spcBef>
              <a:spcAft>
                <a:spcPts val="600"/>
              </a:spcAft>
            </a:pPr>
            <a:r>
              <a:rPr lang="en-AU" sz="2000" smtClean="0">
                <a:latin typeface="Helvetica" pitchFamily="34" charset="0"/>
              </a:rPr>
              <a:t>Make an initial offer of help to the caller </a:t>
            </a:r>
          </a:p>
          <a:p>
            <a:pPr lvl="1">
              <a:spcBef>
                <a:spcPts val="600"/>
              </a:spcBef>
              <a:spcAft>
                <a:spcPts val="600"/>
              </a:spcAft>
            </a:pPr>
            <a:r>
              <a:rPr lang="en-AU" sz="2000" smtClean="0">
                <a:latin typeface="Helvetica" pitchFamily="34" charset="0"/>
              </a:rPr>
              <a:t>Be responsive to directing the call :</a:t>
            </a:r>
          </a:p>
          <a:p>
            <a:pPr lvl="2">
              <a:spcBef>
                <a:spcPts val="600"/>
              </a:spcBef>
              <a:spcAft>
                <a:spcPts val="600"/>
              </a:spcAft>
            </a:pPr>
            <a:r>
              <a:rPr lang="en-AU" sz="2000" smtClean="0">
                <a:latin typeface="Helvetica" pitchFamily="34" charset="0"/>
              </a:rPr>
              <a:t>“It sounds as if you need to talk to our Function department Manager, Mr Maguire. I’ll connect you to Mr Thomas, our Banquet Manager”</a:t>
            </a:r>
          </a:p>
          <a:p>
            <a:pPr lvl="2">
              <a:spcBef>
                <a:spcPts val="600"/>
              </a:spcBef>
              <a:spcAft>
                <a:spcPts val="600"/>
              </a:spcAft>
            </a:pPr>
            <a:r>
              <a:rPr lang="en-AU" sz="2000" smtClean="0">
                <a:latin typeface="Helvetica" pitchFamily="34" charset="0"/>
              </a:rPr>
              <a:t>“I think you need to talk to Peter, he’s in charge of reservations”</a:t>
            </a:r>
          </a:p>
          <a:p>
            <a:pPr lvl="1">
              <a:spcBef>
                <a:spcPts val="600"/>
              </a:spcBef>
              <a:spcAft>
                <a:spcPts val="600"/>
              </a:spcAft>
            </a:pPr>
            <a:r>
              <a:rPr lang="en-AU" sz="2000" smtClean="0">
                <a:latin typeface="Helvetica" pitchFamily="34" charset="0"/>
              </a:rPr>
              <a:t>Take a message :</a:t>
            </a:r>
          </a:p>
          <a:p>
            <a:pPr lvl="2">
              <a:spcBef>
                <a:spcPts val="600"/>
              </a:spcBef>
              <a:spcAft>
                <a:spcPts val="600"/>
              </a:spcAft>
            </a:pPr>
            <a:r>
              <a:rPr lang="en-AU" sz="2000" smtClean="0">
                <a:latin typeface="Helvetica" pitchFamily="34" charset="0"/>
              </a:rPr>
              <a:t>“I’m sorry Mr Smith, Mr Grey is unavailable at the moment. Can I take a message and get him to ring you back?”</a:t>
            </a:r>
          </a:p>
          <a:p>
            <a:pPr>
              <a:spcBef>
                <a:spcPts val="600"/>
              </a:spcBef>
              <a:spcAft>
                <a:spcPts val="600"/>
              </a:spcAft>
            </a:pPr>
            <a:r>
              <a:rPr lang="en-US" sz="2000" smtClean="0">
                <a:latin typeface="Helvetica" pitchFamily="34" charset="0"/>
              </a:rPr>
              <a:t>Do not answer someone else’s extension or phone.</a:t>
            </a:r>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14</a:t>
            </a:fld>
            <a:endParaRPr lang="en-US"/>
          </a:p>
        </p:txBody>
      </p:sp>
      <p:pic>
        <p:nvPicPr>
          <p:cNvPr id="12290" name="Picture 2" descr="C:\Documents and Settings\danielc\Local Settings\Temporary Internet Files\Content.IE5\A0P7OY30\MC900290794[1].wmf"/>
          <p:cNvPicPr>
            <a:picLocks noChangeAspect="1" noChangeArrowheads="1"/>
          </p:cNvPicPr>
          <p:nvPr/>
        </p:nvPicPr>
        <p:blipFill>
          <a:blip r:embed="rId3" cstate="print"/>
          <a:srcRect/>
          <a:stretch>
            <a:fillRect/>
          </a:stretch>
        </p:blipFill>
        <p:spPr bwMode="auto">
          <a:xfrm>
            <a:off x="6858016" y="928670"/>
            <a:ext cx="2011946" cy="1915218"/>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a:solidFill>
                  <a:srgbClr val="FF6600"/>
                </a:solidFill>
                <a:latin typeface="Helvetica" pitchFamily="34" charset="0"/>
              </a:rPr>
              <a:t>Answering calls promptly</a:t>
            </a:r>
          </a:p>
        </p:txBody>
      </p:sp>
      <p:sp>
        <p:nvSpPr>
          <p:cNvPr id="3" name="Content Placeholder 2"/>
          <p:cNvSpPr>
            <a:spLocks noGrp="1"/>
          </p:cNvSpPr>
          <p:nvPr>
            <p:ph idx="1"/>
          </p:nvPr>
        </p:nvSpPr>
        <p:spPr>
          <a:xfrm>
            <a:off x="457200" y="1428736"/>
            <a:ext cx="7467600" cy="4525963"/>
          </a:xfrm>
        </p:spPr>
        <p:txBody>
          <a:bodyPr>
            <a:normAutofit/>
          </a:bodyPr>
          <a:lstStyle/>
          <a:p>
            <a:pPr>
              <a:spcBef>
                <a:spcPts val="600"/>
              </a:spcBef>
              <a:spcAft>
                <a:spcPts val="1200"/>
              </a:spcAft>
              <a:buNone/>
            </a:pPr>
            <a:r>
              <a:rPr lang="en-US" sz="2200" smtClean="0">
                <a:latin typeface="Helvetica" pitchFamily="34" charset="0"/>
              </a:rPr>
              <a:t>When placing a call ‘on hold’:</a:t>
            </a:r>
          </a:p>
          <a:p>
            <a:pPr>
              <a:spcBef>
                <a:spcPts val="600"/>
              </a:spcBef>
              <a:spcAft>
                <a:spcPts val="1200"/>
              </a:spcAft>
            </a:pPr>
            <a:r>
              <a:rPr lang="en-US" sz="2200" smtClean="0">
                <a:latin typeface="Helvetica" pitchFamily="34" charset="0"/>
              </a:rPr>
              <a:t>Do it courteously</a:t>
            </a:r>
          </a:p>
          <a:p>
            <a:pPr>
              <a:spcBef>
                <a:spcPts val="600"/>
              </a:spcBef>
              <a:spcAft>
                <a:spcPts val="1200"/>
              </a:spcAft>
            </a:pPr>
            <a:r>
              <a:rPr lang="en-US" sz="2200" smtClean="0">
                <a:latin typeface="Helvetica" pitchFamily="34" charset="0"/>
              </a:rPr>
              <a:t>Ask the caller if they want to be placed ‘on hold’</a:t>
            </a:r>
          </a:p>
          <a:p>
            <a:pPr>
              <a:spcBef>
                <a:spcPts val="600"/>
              </a:spcBef>
              <a:spcAft>
                <a:spcPts val="1200"/>
              </a:spcAft>
            </a:pPr>
            <a:r>
              <a:rPr lang="en-US" sz="2200" smtClean="0">
                <a:latin typeface="Helvetica" pitchFamily="34" charset="0"/>
              </a:rPr>
              <a:t>Listen to their answer and act accordingly</a:t>
            </a:r>
          </a:p>
          <a:p>
            <a:pPr>
              <a:spcBef>
                <a:spcPts val="600"/>
              </a:spcBef>
              <a:spcAft>
                <a:spcPts val="1200"/>
              </a:spcAft>
            </a:pPr>
            <a:r>
              <a:rPr lang="en-US" sz="2200" smtClean="0">
                <a:latin typeface="Helvetica" pitchFamily="34" charset="0"/>
              </a:rPr>
              <a:t>Get back to all calls ‘on hold’ every 30 seconds.</a:t>
            </a:r>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15</a:t>
            </a:fld>
            <a:endParaRPr lang="en-US"/>
          </a:p>
        </p:txBody>
      </p:sp>
      <p:pic>
        <p:nvPicPr>
          <p:cNvPr id="13314" name="Picture 2" descr="C:\Documents and Settings\danielc\Local Settings\Temporary Internet Files\Content.IE5\7NII6ZZT\MP900410143[1].jpg"/>
          <p:cNvPicPr>
            <a:picLocks noChangeAspect="1" noChangeArrowheads="1"/>
          </p:cNvPicPr>
          <p:nvPr/>
        </p:nvPicPr>
        <p:blipFill>
          <a:blip r:embed="rId3" cstate="print"/>
          <a:srcRect/>
          <a:stretch>
            <a:fillRect/>
          </a:stretch>
        </p:blipFill>
        <p:spPr bwMode="auto">
          <a:xfrm>
            <a:off x="6286512" y="857232"/>
            <a:ext cx="1164338" cy="1717987"/>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Offering assistance and establishing the purpose of the call</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spcBef>
                <a:spcPts val="600"/>
              </a:spcBef>
              <a:spcAft>
                <a:spcPts val="1200"/>
              </a:spcAft>
            </a:pPr>
            <a:r>
              <a:rPr lang="en-US" sz="2100" smtClean="0">
                <a:latin typeface="Helvetica" pitchFamily="34" charset="0"/>
              </a:rPr>
              <a:t>Always use a friendly tone when answering the phone</a:t>
            </a:r>
          </a:p>
          <a:p>
            <a:pPr>
              <a:spcBef>
                <a:spcPts val="600"/>
              </a:spcBef>
              <a:spcAft>
                <a:spcPts val="1200"/>
              </a:spcAft>
            </a:pPr>
            <a:r>
              <a:rPr lang="en-US" sz="2100" smtClean="0">
                <a:latin typeface="Helvetica" pitchFamily="34" charset="0"/>
              </a:rPr>
              <a:t>The key to answering caller enquiries is to be genuinely helpful:</a:t>
            </a:r>
          </a:p>
          <a:p>
            <a:pPr lvl="1">
              <a:spcBef>
                <a:spcPts val="600"/>
              </a:spcBef>
              <a:spcAft>
                <a:spcPts val="400"/>
              </a:spcAft>
            </a:pPr>
            <a:r>
              <a:rPr lang="en-US" sz="2100" smtClean="0">
                <a:latin typeface="Helvetica" pitchFamily="34" charset="0"/>
              </a:rPr>
              <a:t>Focus just on the call</a:t>
            </a:r>
          </a:p>
          <a:p>
            <a:pPr lvl="1">
              <a:spcBef>
                <a:spcPts val="600"/>
              </a:spcBef>
              <a:spcAft>
                <a:spcPts val="400"/>
              </a:spcAft>
            </a:pPr>
            <a:r>
              <a:rPr lang="en-US" sz="2100" smtClean="0">
                <a:latin typeface="Helvetica" pitchFamily="34" charset="0"/>
              </a:rPr>
              <a:t>Try to understand the caller’s problem or situation</a:t>
            </a:r>
          </a:p>
          <a:p>
            <a:pPr lvl="1">
              <a:spcBef>
                <a:spcPts val="600"/>
              </a:spcBef>
              <a:spcAft>
                <a:spcPts val="400"/>
              </a:spcAft>
            </a:pPr>
            <a:r>
              <a:rPr lang="en-US" sz="2100" smtClean="0">
                <a:latin typeface="Helvetica" pitchFamily="34" charset="0"/>
              </a:rPr>
              <a:t>Ask questions</a:t>
            </a:r>
          </a:p>
          <a:p>
            <a:pPr lvl="1">
              <a:spcBef>
                <a:spcPts val="600"/>
              </a:spcBef>
              <a:spcAft>
                <a:spcPts val="400"/>
              </a:spcAft>
            </a:pPr>
            <a:r>
              <a:rPr lang="en-US" sz="2100" smtClean="0">
                <a:latin typeface="Helvetica" pitchFamily="34" charset="0"/>
              </a:rPr>
              <a:t> Put yourself in the caller’s shoes</a:t>
            </a:r>
          </a:p>
          <a:p>
            <a:pPr lvl="1">
              <a:spcBef>
                <a:spcPts val="600"/>
              </a:spcBef>
              <a:spcAft>
                <a:spcPts val="400"/>
              </a:spcAft>
            </a:pPr>
            <a:r>
              <a:rPr lang="en-US" sz="2100" smtClean="0">
                <a:latin typeface="Helvetica" pitchFamily="34" charset="0"/>
              </a:rPr>
              <a:t>Take time with the call</a:t>
            </a:r>
          </a:p>
          <a:p>
            <a:pPr lvl="1">
              <a:spcBef>
                <a:spcPts val="600"/>
              </a:spcBef>
              <a:spcAft>
                <a:spcPts val="400"/>
              </a:spcAft>
            </a:pPr>
            <a:r>
              <a:rPr lang="en-US" sz="2100" smtClean="0">
                <a:latin typeface="Helvetica" pitchFamily="34" charset="0"/>
              </a:rPr>
              <a:t>Check the caller’s level of satisfaction with what is being provided and what is happening with their call.</a:t>
            </a:r>
          </a:p>
          <a:p>
            <a:endParaRPr lang="en-US" sz="2100" smtClean="0">
              <a:latin typeface="Helvetica" pitchFamily="34" charset="0"/>
            </a:endParaRPr>
          </a:p>
          <a:p>
            <a:pPr lvl="1"/>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16</a:t>
            </a:fld>
            <a:endParaRPr lang="en-US"/>
          </a:p>
        </p:txBody>
      </p:sp>
      <p:pic>
        <p:nvPicPr>
          <p:cNvPr id="14338" name="Picture 2" descr="C:\Documents and Settings\danielc\Local Settings\Temporary Internet Files\Content.IE5\YP6W50B7\MP900449118[1].jpg"/>
          <p:cNvPicPr>
            <a:picLocks noChangeAspect="1" noChangeArrowheads="1"/>
          </p:cNvPicPr>
          <p:nvPr/>
        </p:nvPicPr>
        <p:blipFill>
          <a:blip r:embed="rId3" cstate="print"/>
          <a:srcRect/>
          <a:stretch>
            <a:fillRect/>
          </a:stretch>
        </p:blipFill>
        <p:spPr bwMode="auto">
          <a:xfrm>
            <a:off x="7286644" y="2857496"/>
            <a:ext cx="1457315" cy="1714488"/>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Offering assistance and establishing the purpose of the call</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600200"/>
            <a:ext cx="8401080" cy="4525963"/>
          </a:xfrm>
        </p:spPr>
        <p:txBody>
          <a:bodyPr>
            <a:normAutofit/>
          </a:bodyPr>
          <a:lstStyle/>
          <a:p>
            <a:pPr marL="0">
              <a:spcBef>
                <a:spcPts val="600"/>
              </a:spcBef>
              <a:spcAft>
                <a:spcPts val="1200"/>
              </a:spcAft>
              <a:buNone/>
            </a:pPr>
            <a:r>
              <a:rPr lang="en-US" sz="2000" smtClean="0">
                <a:latin typeface="Helvetica" pitchFamily="34" charset="0"/>
              </a:rPr>
              <a:t>When you have provided an appropriate greeting and welcome you need to:</a:t>
            </a:r>
          </a:p>
          <a:p>
            <a:pPr>
              <a:spcBef>
                <a:spcPts val="600"/>
              </a:spcBef>
              <a:spcAft>
                <a:spcPts val="1200"/>
              </a:spcAft>
            </a:pPr>
            <a:r>
              <a:rPr lang="en-US" sz="2000" smtClean="0">
                <a:latin typeface="Helvetica" pitchFamily="34" charset="0"/>
              </a:rPr>
              <a:t>Quickly identify why the caller has phoned:</a:t>
            </a:r>
          </a:p>
          <a:p>
            <a:pPr lvl="1">
              <a:spcBef>
                <a:spcPts val="600"/>
              </a:spcBef>
              <a:spcAft>
                <a:spcPts val="600"/>
              </a:spcAft>
            </a:pPr>
            <a:r>
              <a:rPr lang="en-US" sz="2000" smtClean="0">
                <a:latin typeface="Helvetica" pitchFamily="34" charset="0"/>
              </a:rPr>
              <a:t>Ask questions</a:t>
            </a:r>
          </a:p>
          <a:p>
            <a:pPr lvl="1">
              <a:spcBef>
                <a:spcPts val="600"/>
              </a:spcBef>
              <a:spcAft>
                <a:spcPts val="600"/>
              </a:spcAft>
            </a:pPr>
            <a:r>
              <a:rPr lang="en-US" sz="2000" smtClean="0">
                <a:latin typeface="Helvetica" pitchFamily="34" charset="0"/>
              </a:rPr>
              <a:t>Never assume anything from one or two words spoken by the caller</a:t>
            </a:r>
          </a:p>
          <a:p>
            <a:pPr lvl="1">
              <a:spcBef>
                <a:spcPts val="600"/>
              </a:spcBef>
              <a:spcAft>
                <a:spcPts val="600"/>
              </a:spcAft>
            </a:pPr>
            <a:r>
              <a:rPr lang="en-US" sz="2000" smtClean="0">
                <a:latin typeface="Helvetica" pitchFamily="34" charset="0"/>
              </a:rPr>
              <a:t>Use active listening</a:t>
            </a:r>
          </a:p>
          <a:p>
            <a:pPr lvl="1">
              <a:spcBef>
                <a:spcPts val="600"/>
              </a:spcBef>
              <a:spcAft>
                <a:spcPts val="600"/>
              </a:spcAft>
            </a:pPr>
            <a:r>
              <a:rPr lang="en-US" sz="2000" smtClean="0">
                <a:latin typeface="Helvetica" pitchFamily="34" charset="0"/>
              </a:rPr>
              <a:t>Take brief notes.</a:t>
            </a:r>
          </a:p>
          <a:p>
            <a:pPr lvl="1"/>
            <a:endParaRPr lang="en-US" sz="2000" smtClean="0">
              <a:latin typeface="Helvetica" pitchFamily="34" charset="0"/>
            </a:endParaRPr>
          </a:p>
          <a:p>
            <a:pPr lvl="1"/>
            <a:endParaRPr lang="en-US" sz="2000" smtClean="0">
              <a:latin typeface="Helvetica" pitchFamily="34" charset="0"/>
            </a:endParaRPr>
          </a:p>
          <a:p>
            <a:endParaRPr lang="en-US" sz="2000" smtClean="0">
              <a:latin typeface="Helvetica" pitchFamily="34" charset="0"/>
            </a:endParaRPr>
          </a:p>
          <a:p>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17</a:t>
            </a:fld>
            <a:endParaRPr lang="en-US"/>
          </a:p>
        </p:txBody>
      </p:sp>
      <p:pic>
        <p:nvPicPr>
          <p:cNvPr id="15362" name="Picture 2" descr="C:\Documents and Settings\danielc\Local Settings\Temporary Internet Files\Content.IE5\9N3QFUEZ\MP900409708[1].jpg"/>
          <p:cNvPicPr>
            <a:picLocks noChangeAspect="1" noChangeArrowheads="1"/>
          </p:cNvPicPr>
          <p:nvPr/>
        </p:nvPicPr>
        <p:blipFill>
          <a:blip r:embed="rId3" cstate="print"/>
          <a:srcRect/>
          <a:stretch>
            <a:fillRect/>
          </a:stretch>
        </p:blipFill>
        <p:spPr bwMode="auto">
          <a:xfrm>
            <a:off x="6072198" y="4143380"/>
            <a:ext cx="2747479" cy="182879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Repeating call details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357298"/>
            <a:ext cx="7467600" cy="4525963"/>
          </a:xfrm>
        </p:spPr>
        <p:txBody>
          <a:bodyPr>
            <a:noAutofit/>
          </a:bodyPr>
          <a:lstStyle/>
          <a:p>
            <a:pPr marL="0">
              <a:lnSpc>
                <a:spcPct val="110000"/>
              </a:lnSpc>
              <a:spcBef>
                <a:spcPts val="600"/>
              </a:spcBef>
              <a:spcAft>
                <a:spcPts val="1200"/>
              </a:spcAft>
              <a:buNone/>
            </a:pPr>
            <a:r>
              <a:rPr lang="en-US" sz="2000" smtClean="0">
                <a:latin typeface="Helvetica" pitchFamily="34" charset="0"/>
              </a:rPr>
              <a:t>It may be necessary to repeat call details to the caller to confirm or clarify the purpose of the call from the caller’s perspective.</a:t>
            </a:r>
          </a:p>
          <a:p>
            <a:pPr>
              <a:lnSpc>
                <a:spcPct val="110000"/>
              </a:lnSpc>
              <a:spcBef>
                <a:spcPts val="600"/>
              </a:spcBef>
              <a:spcAft>
                <a:spcPts val="1200"/>
              </a:spcAft>
              <a:buNone/>
            </a:pPr>
            <a:r>
              <a:rPr lang="en-US" sz="2000" smtClean="0">
                <a:latin typeface="Helvetica" pitchFamily="34" charset="0"/>
              </a:rPr>
              <a:t>Repeating call detail requires:</a:t>
            </a:r>
          </a:p>
          <a:p>
            <a:pPr>
              <a:lnSpc>
                <a:spcPct val="110000"/>
              </a:lnSpc>
              <a:spcBef>
                <a:spcPts val="600"/>
              </a:spcBef>
              <a:spcAft>
                <a:spcPts val="1200"/>
              </a:spcAft>
            </a:pPr>
            <a:r>
              <a:rPr lang="en-US" sz="2000" smtClean="0">
                <a:latin typeface="Helvetica" pitchFamily="34" charset="0"/>
              </a:rPr>
              <a:t>Awareness this may need to be done</a:t>
            </a:r>
          </a:p>
          <a:p>
            <a:pPr>
              <a:lnSpc>
                <a:spcPct val="110000"/>
              </a:lnSpc>
              <a:spcBef>
                <a:spcPts val="600"/>
              </a:spcBef>
              <a:spcAft>
                <a:spcPts val="1200"/>
              </a:spcAft>
            </a:pPr>
            <a:r>
              <a:rPr lang="en-US" sz="2000" smtClean="0">
                <a:latin typeface="Helvetica" pitchFamily="34" charset="0"/>
              </a:rPr>
              <a:t>Awareness the caller never knows the business the </a:t>
            </a:r>
            <a:br>
              <a:rPr lang="en-US" sz="2000" smtClean="0">
                <a:latin typeface="Helvetica" pitchFamily="34" charset="0"/>
              </a:rPr>
            </a:br>
            <a:r>
              <a:rPr lang="en-US" sz="2000" smtClean="0">
                <a:latin typeface="Helvetica" pitchFamily="34" charset="0"/>
              </a:rPr>
              <a:t>way you do</a:t>
            </a:r>
          </a:p>
          <a:p>
            <a:pPr>
              <a:lnSpc>
                <a:spcPct val="110000"/>
              </a:lnSpc>
              <a:spcBef>
                <a:spcPts val="600"/>
              </a:spcBef>
              <a:spcAft>
                <a:spcPts val="1200"/>
              </a:spcAft>
            </a:pPr>
            <a:r>
              <a:rPr lang="en-US" sz="2000" smtClean="0">
                <a:latin typeface="Helvetica" pitchFamily="34" charset="0"/>
              </a:rPr>
              <a:t>Stating back to the caller what you believe they have said, what they want or what they have asked for</a:t>
            </a:r>
          </a:p>
          <a:p>
            <a:pPr>
              <a:lnSpc>
                <a:spcPct val="110000"/>
              </a:lnSpc>
              <a:spcBef>
                <a:spcPts val="600"/>
              </a:spcBef>
              <a:spcAft>
                <a:spcPts val="1200"/>
              </a:spcAft>
            </a:pPr>
            <a:r>
              <a:rPr lang="en-US" sz="2000" smtClean="0">
                <a:latin typeface="Helvetica" pitchFamily="34" charset="0"/>
              </a:rPr>
              <a:t>Asking questions.</a:t>
            </a:r>
          </a:p>
          <a:p>
            <a:pPr algn="ctr">
              <a:lnSpc>
                <a:spcPct val="110000"/>
              </a:lnSpc>
              <a:spcBef>
                <a:spcPts val="600"/>
              </a:spcBef>
              <a:spcAft>
                <a:spcPts val="1200"/>
              </a:spcAft>
              <a:buNone/>
            </a:pPr>
            <a:r>
              <a:rPr lang="en-US" sz="2000" b="1" smtClean="0">
                <a:latin typeface="Helvetica" pitchFamily="34" charset="0"/>
              </a:rPr>
              <a:t>Always keep the caller advised of what you are going to do.</a:t>
            </a:r>
          </a:p>
          <a:p>
            <a:pPr>
              <a:lnSpc>
                <a:spcPct val="110000"/>
              </a:lnSpc>
              <a:spcBef>
                <a:spcPts val="600"/>
              </a:spcBef>
              <a:spcAft>
                <a:spcPts val="1200"/>
              </a:spcAft>
            </a:pPr>
            <a:endParaRPr lang="en-US" sz="2000" smtClean="0">
              <a:latin typeface="Helvetica" pitchFamily="34" charset="0"/>
            </a:endParaRPr>
          </a:p>
          <a:p>
            <a:pPr>
              <a:lnSpc>
                <a:spcPct val="110000"/>
              </a:lnSpc>
              <a:spcBef>
                <a:spcPts val="600"/>
              </a:spcBef>
              <a:spcAft>
                <a:spcPts val="1200"/>
              </a:spcAft>
            </a:pPr>
            <a:endParaRPr lang="en-US" sz="2000" smtClean="0">
              <a:latin typeface="Helvetica" pitchFamily="34" charset="0"/>
            </a:endParaRPr>
          </a:p>
          <a:p>
            <a:pPr lvl="1">
              <a:lnSpc>
                <a:spcPct val="110000"/>
              </a:lnSpc>
              <a:spcBef>
                <a:spcPts val="600"/>
              </a:spcBef>
              <a:spcAft>
                <a:spcPts val="1200"/>
              </a:spcAft>
            </a:pPr>
            <a:endParaRPr lang="en-US" sz="2000" smtClean="0">
              <a:latin typeface="Helvetica" pitchFamily="34" charset="0"/>
            </a:endParaRPr>
          </a:p>
          <a:p>
            <a:pPr>
              <a:lnSpc>
                <a:spcPct val="110000"/>
              </a:lnSpc>
              <a:spcBef>
                <a:spcPts val="600"/>
              </a:spcBef>
              <a:spcAft>
                <a:spcPts val="1200"/>
              </a:spcAft>
            </a:pPr>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18</a:t>
            </a:fld>
            <a:endParaRPr lang="en-US"/>
          </a:p>
        </p:txBody>
      </p:sp>
      <p:pic>
        <p:nvPicPr>
          <p:cNvPr id="16386" name="Picture 2" descr="C:\Documents and Settings\danielc\Local Settings\Temporary Internet Files\Content.IE5\2IERTBRT\MP900409072[1].jpg"/>
          <p:cNvPicPr>
            <a:picLocks noChangeAspect="1" noChangeArrowheads="1"/>
          </p:cNvPicPr>
          <p:nvPr/>
        </p:nvPicPr>
        <p:blipFill>
          <a:blip r:embed="rId3" cstate="print"/>
          <a:srcRect/>
          <a:stretch>
            <a:fillRect/>
          </a:stretch>
        </p:blipFill>
        <p:spPr bwMode="auto">
          <a:xfrm>
            <a:off x="7215206" y="2428868"/>
            <a:ext cx="1643074" cy="1643074"/>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Repeating call details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buNone/>
            </a:pPr>
            <a:r>
              <a:rPr lang="en-US" sz="2000" smtClean="0">
                <a:latin typeface="Helvetica" pitchFamily="34" charset="0"/>
              </a:rPr>
              <a:t>When taking a telephone reservation (for travel, tours, rooms, dining), make sure you:</a:t>
            </a:r>
          </a:p>
          <a:p>
            <a:pPr>
              <a:buNone/>
            </a:pPr>
            <a:endParaRPr lang="en-US" sz="2000" smtClean="0">
              <a:latin typeface="Helvetica" pitchFamily="34" charset="0"/>
            </a:endParaRPr>
          </a:p>
          <a:p>
            <a:pPr>
              <a:spcBef>
                <a:spcPts val="600"/>
              </a:spcBef>
              <a:spcAft>
                <a:spcPts val="1200"/>
              </a:spcAft>
            </a:pPr>
            <a:r>
              <a:rPr lang="en-US" sz="2000" smtClean="0">
                <a:latin typeface="Helvetica" pitchFamily="34" charset="0"/>
              </a:rPr>
              <a:t>Capture the basic information about the booking</a:t>
            </a:r>
          </a:p>
          <a:p>
            <a:pPr>
              <a:spcBef>
                <a:spcPts val="600"/>
              </a:spcBef>
              <a:spcAft>
                <a:spcPts val="1200"/>
              </a:spcAft>
            </a:pPr>
            <a:r>
              <a:rPr lang="en-US" sz="2000" smtClean="0">
                <a:latin typeface="Helvetica" pitchFamily="34" charset="0"/>
              </a:rPr>
              <a:t>Record information into appropriate register or on to appropriate system</a:t>
            </a:r>
          </a:p>
          <a:p>
            <a:pPr>
              <a:spcBef>
                <a:spcPts val="600"/>
              </a:spcBef>
              <a:spcAft>
                <a:spcPts val="1200"/>
              </a:spcAft>
            </a:pPr>
            <a:r>
              <a:rPr lang="en-US" sz="2000" smtClean="0">
                <a:latin typeface="Helvetica" pitchFamily="34" charset="0"/>
              </a:rPr>
              <a:t>Apply standard customer service techniques</a:t>
            </a:r>
          </a:p>
          <a:p>
            <a:pPr>
              <a:spcBef>
                <a:spcPts val="600"/>
              </a:spcBef>
              <a:spcAft>
                <a:spcPts val="1200"/>
              </a:spcAft>
            </a:pPr>
            <a:r>
              <a:rPr lang="en-US" sz="2000" smtClean="0">
                <a:latin typeface="Helvetica" pitchFamily="34" charset="0"/>
              </a:rPr>
              <a:t>Apply standard sales techniques.</a:t>
            </a: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19</a:t>
            </a:fld>
            <a:endParaRPr lang="en-US"/>
          </a:p>
        </p:txBody>
      </p:sp>
      <p:pic>
        <p:nvPicPr>
          <p:cNvPr id="17410" name="Picture 2" descr="C:\Documents and Settings\danielc\Local Settings\Temporary Internet Files\Content.IE5\C278ONHS\MP900410121[1].jpg"/>
          <p:cNvPicPr>
            <a:picLocks noChangeAspect="1" noChangeArrowheads="1"/>
          </p:cNvPicPr>
          <p:nvPr/>
        </p:nvPicPr>
        <p:blipFill>
          <a:blip r:embed="rId3" cstate="print"/>
          <a:srcRect/>
          <a:stretch>
            <a:fillRect/>
          </a:stretch>
        </p:blipFill>
        <p:spPr bwMode="auto">
          <a:xfrm>
            <a:off x="7143768" y="2285992"/>
            <a:ext cx="1710311" cy="2571744"/>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Repeating call details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buNone/>
            </a:pPr>
            <a:r>
              <a:rPr lang="en-US" sz="2100" dirty="0" smtClean="0">
                <a:latin typeface="Helvetica" pitchFamily="34" charset="0"/>
              </a:rPr>
              <a:t>The call you are answering </a:t>
            </a:r>
            <a:r>
              <a:rPr lang="en-US" sz="2100" b="1" dirty="0" smtClean="0">
                <a:latin typeface="Helvetica" pitchFamily="34" charset="0"/>
              </a:rPr>
              <a:t>must be </a:t>
            </a:r>
            <a:r>
              <a:rPr lang="en-US" sz="2100" dirty="0" smtClean="0">
                <a:latin typeface="Helvetica" pitchFamily="34" charset="0"/>
              </a:rPr>
              <a:t>your </a:t>
            </a:r>
            <a:r>
              <a:rPr lang="en-US" sz="2100" b="1" dirty="0" smtClean="0">
                <a:latin typeface="Helvetica" pitchFamily="34" charset="0"/>
              </a:rPr>
              <a:t>primary focus</a:t>
            </a:r>
            <a:r>
              <a:rPr lang="en-US" sz="2100" dirty="0" smtClean="0">
                <a:latin typeface="Helvetica" pitchFamily="34" charset="0"/>
              </a:rPr>
              <a:t>:</a:t>
            </a:r>
          </a:p>
          <a:p>
            <a:pPr>
              <a:buNone/>
            </a:pPr>
            <a:endParaRPr lang="en-US" sz="2100" dirty="0" smtClean="0">
              <a:latin typeface="Helvetica" pitchFamily="34" charset="0"/>
            </a:endParaRPr>
          </a:p>
          <a:p>
            <a:pPr>
              <a:spcBef>
                <a:spcPts val="600"/>
              </a:spcBef>
              <a:spcAft>
                <a:spcPts val="1200"/>
              </a:spcAft>
            </a:pPr>
            <a:r>
              <a:rPr lang="en-US" sz="2100" dirty="0" smtClean="0">
                <a:latin typeface="Helvetica" pitchFamily="34" charset="0"/>
              </a:rPr>
              <a:t>Never interrupt answering this call to answer another </a:t>
            </a:r>
            <a:br>
              <a:rPr lang="en-US" sz="2100" dirty="0" smtClean="0">
                <a:latin typeface="Helvetica" pitchFamily="34" charset="0"/>
              </a:rPr>
            </a:br>
            <a:r>
              <a:rPr lang="en-US" sz="2100" dirty="0" smtClean="0">
                <a:latin typeface="Helvetica" pitchFamily="34" charset="0"/>
              </a:rPr>
              <a:t>call unless this is a specific </a:t>
            </a:r>
            <a:r>
              <a:rPr lang="en-AU" sz="2100" dirty="0" smtClean="0">
                <a:latin typeface="Helvetica" pitchFamily="34" charset="0"/>
              </a:rPr>
              <a:t>organisation</a:t>
            </a:r>
            <a:r>
              <a:rPr lang="en-US" sz="2100" dirty="0" smtClean="0">
                <a:latin typeface="Helvetica" pitchFamily="34" charset="0"/>
              </a:rPr>
              <a:t> requirement</a:t>
            </a:r>
          </a:p>
          <a:p>
            <a:pPr>
              <a:spcBef>
                <a:spcPts val="600"/>
              </a:spcBef>
              <a:spcAft>
                <a:spcPts val="1200"/>
              </a:spcAft>
            </a:pPr>
            <a:r>
              <a:rPr lang="en-US" sz="2100" dirty="0" smtClean="0">
                <a:latin typeface="Helvetica" pitchFamily="34" charset="0"/>
              </a:rPr>
              <a:t>Never be distracted by another call when answering </a:t>
            </a:r>
            <a:br>
              <a:rPr lang="en-US" sz="2100" dirty="0" smtClean="0">
                <a:latin typeface="Helvetica" pitchFamily="34" charset="0"/>
              </a:rPr>
            </a:br>
            <a:r>
              <a:rPr lang="en-US" sz="2100" dirty="0" smtClean="0">
                <a:latin typeface="Helvetica" pitchFamily="34" charset="0"/>
              </a:rPr>
              <a:t>this call</a:t>
            </a:r>
          </a:p>
          <a:p>
            <a:pPr>
              <a:spcBef>
                <a:spcPts val="600"/>
              </a:spcBef>
              <a:spcAft>
                <a:spcPts val="1200"/>
              </a:spcAft>
            </a:pPr>
            <a:r>
              <a:rPr lang="en-US" sz="2100" dirty="0" smtClean="0">
                <a:latin typeface="Helvetica" pitchFamily="34" charset="0"/>
              </a:rPr>
              <a:t>Never be distracted by in-person customers when answering a call.</a:t>
            </a:r>
          </a:p>
          <a:p>
            <a:endParaRPr lang="en-US" sz="2100" dirty="0" smtClean="0">
              <a:latin typeface="Helvetica" pitchFamily="34" charset="0"/>
            </a:endParaRPr>
          </a:p>
          <a:p>
            <a:pPr algn="ctr">
              <a:buNone/>
            </a:pPr>
            <a:r>
              <a:rPr lang="en-US" sz="2100" dirty="0" smtClean="0">
                <a:latin typeface="Helvetica" pitchFamily="34" charset="0"/>
              </a:rPr>
              <a:t>	</a:t>
            </a:r>
            <a:r>
              <a:rPr lang="en-US" sz="2100" b="1" dirty="0" smtClean="0">
                <a:latin typeface="Helvetica" pitchFamily="34" charset="0"/>
              </a:rPr>
              <a:t>The </a:t>
            </a:r>
            <a:r>
              <a:rPr lang="en-AU" sz="2100" b="1" dirty="0" smtClean="0">
                <a:latin typeface="Helvetica" pitchFamily="34" charset="0"/>
              </a:rPr>
              <a:t>Golden Rule when dealing with a phone call is to focus completely on the caller you are dealing with.</a:t>
            </a:r>
            <a:endParaRPr lang="en-US" sz="2100" b="1" dirty="0" smtClean="0">
              <a:latin typeface="Helvetica" pitchFamily="34" charset="0"/>
            </a:endParaRPr>
          </a:p>
          <a:p>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20</a:t>
            </a:fld>
            <a:endParaRPr lang="en-US"/>
          </a:p>
        </p:txBody>
      </p:sp>
      <p:pic>
        <p:nvPicPr>
          <p:cNvPr id="18434" name="Picture 2" descr="C:\Documents and Settings\danielc\Local Settings\Temporary Internet Files\Content.IE5\YI0F6H43\MP900407165[1].jpg"/>
          <p:cNvPicPr>
            <a:picLocks noChangeAspect="1" noChangeArrowheads="1"/>
          </p:cNvPicPr>
          <p:nvPr/>
        </p:nvPicPr>
        <p:blipFill>
          <a:blip r:embed="rId3" cstate="print"/>
          <a:srcRect/>
          <a:stretch>
            <a:fillRect/>
          </a:stretch>
        </p:blipFill>
        <p:spPr bwMode="auto">
          <a:xfrm>
            <a:off x="7693629" y="2143004"/>
            <a:ext cx="1286555" cy="857368"/>
          </a:xfrm>
          <a:prstGeom prst="rect">
            <a:avLst/>
          </a:prstGeom>
          <a:noFill/>
        </p:spPr>
      </p:pic>
      <p:pic>
        <p:nvPicPr>
          <p:cNvPr id="18435" name="Picture 3" descr="C:\Documents and Settings\danielc\Local Settings\Temporary Internet Files\Content.IE5\8GDE57UC\MP900407376[1].jpg"/>
          <p:cNvPicPr>
            <a:picLocks noChangeAspect="1" noChangeArrowheads="1"/>
          </p:cNvPicPr>
          <p:nvPr/>
        </p:nvPicPr>
        <p:blipFill>
          <a:blip r:embed="rId4" cstate="print"/>
          <a:srcRect/>
          <a:stretch>
            <a:fillRect/>
          </a:stretch>
        </p:blipFill>
        <p:spPr bwMode="auto">
          <a:xfrm>
            <a:off x="7715272" y="3929066"/>
            <a:ext cx="1307527" cy="785818"/>
          </a:xfrm>
          <a:prstGeom prst="rect">
            <a:avLst/>
          </a:prstGeom>
          <a:noFill/>
        </p:spPr>
      </p:pic>
      <p:pic>
        <p:nvPicPr>
          <p:cNvPr id="18436" name="Picture 4" descr="C:\Documents and Settings\danielc\Local Settings\Temporary Internet Files\Content.IE5\BOJS87VR\MP900407164[1].jpg"/>
          <p:cNvPicPr>
            <a:picLocks noChangeAspect="1" noChangeArrowheads="1"/>
          </p:cNvPicPr>
          <p:nvPr/>
        </p:nvPicPr>
        <p:blipFill>
          <a:blip r:embed="rId5" cstate="print"/>
          <a:srcRect/>
          <a:stretch>
            <a:fillRect/>
          </a:stretch>
        </p:blipFill>
        <p:spPr bwMode="auto">
          <a:xfrm>
            <a:off x="7693378" y="3071810"/>
            <a:ext cx="1307778" cy="785818"/>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Repeating call details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buNone/>
            </a:pPr>
            <a:r>
              <a:rPr lang="en-US" sz="2100" smtClean="0">
                <a:latin typeface="Helvetica" pitchFamily="34" charset="0"/>
              </a:rPr>
              <a:t>Where you need to interrupt one call to answer another call, the following is a useful guide on how handle this situation:</a:t>
            </a:r>
          </a:p>
          <a:p>
            <a:pPr lvl="0"/>
            <a:endParaRPr lang="en-AU" sz="2100" smtClean="0">
              <a:latin typeface="Helvetica" pitchFamily="34" charset="0"/>
            </a:endParaRPr>
          </a:p>
          <a:p>
            <a:pPr lvl="0">
              <a:spcBef>
                <a:spcPts val="600"/>
              </a:spcBef>
              <a:spcAft>
                <a:spcPts val="1200"/>
              </a:spcAft>
            </a:pPr>
            <a:r>
              <a:rPr lang="en-AU" sz="2100" smtClean="0">
                <a:latin typeface="Helvetica" pitchFamily="34" charset="0"/>
              </a:rPr>
              <a:t>Excuse yourself from the caller you are talking to</a:t>
            </a:r>
          </a:p>
          <a:p>
            <a:pPr lvl="0">
              <a:spcBef>
                <a:spcPts val="600"/>
              </a:spcBef>
              <a:spcAft>
                <a:spcPts val="1200"/>
              </a:spcAft>
            </a:pPr>
            <a:r>
              <a:rPr lang="en-AU" sz="2100" smtClean="0">
                <a:latin typeface="Helvetica" pitchFamily="34" charset="0"/>
              </a:rPr>
              <a:t>Answer the other incoming call  and process it in some way, quickly</a:t>
            </a:r>
          </a:p>
          <a:p>
            <a:pPr lvl="0">
              <a:spcBef>
                <a:spcPts val="600"/>
              </a:spcBef>
              <a:spcAft>
                <a:spcPts val="1200"/>
              </a:spcAft>
            </a:pPr>
            <a:r>
              <a:rPr lang="en-AU" sz="2100" smtClean="0">
                <a:latin typeface="Helvetica" pitchFamily="34" charset="0"/>
              </a:rPr>
              <a:t>Go back to the original caller, apologise for the interruption and continue to focus on that call. </a:t>
            </a: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21</a:t>
            </a:fld>
            <a:endParaRPr lang="en-US"/>
          </a:p>
        </p:txBody>
      </p:sp>
      <p:pic>
        <p:nvPicPr>
          <p:cNvPr id="19458" name="Picture 2" descr="C:\Documents and Settings\danielc\Local Settings\Temporary Internet Files\Content.IE5\29XKYQ1Q\MC900233557[1].wmf"/>
          <p:cNvPicPr>
            <a:picLocks noChangeAspect="1" noChangeArrowheads="1"/>
          </p:cNvPicPr>
          <p:nvPr/>
        </p:nvPicPr>
        <p:blipFill>
          <a:blip r:embed="rId3" cstate="print"/>
          <a:srcRect/>
          <a:stretch>
            <a:fillRect/>
          </a:stretch>
        </p:blipFill>
        <p:spPr bwMode="auto">
          <a:xfrm>
            <a:off x="6715140" y="4071942"/>
            <a:ext cx="1753354" cy="1700543"/>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buNone/>
            </a:pPr>
            <a:r>
              <a:rPr lang="en-US" sz="2100" smtClean="0">
                <a:latin typeface="Helvetica" pitchFamily="34" charset="0"/>
              </a:rPr>
              <a:t>To respond effectively yourself to caller enquiries:</a:t>
            </a:r>
          </a:p>
          <a:p>
            <a:pPr lvl="0"/>
            <a:endParaRPr lang="en-AU" sz="2100" smtClean="0">
              <a:latin typeface="Helvetica" pitchFamily="34" charset="0"/>
            </a:endParaRPr>
          </a:p>
          <a:p>
            <a:pPr lvl="0">
              <a:spcBef>
                <a:spcPts val="600"/>
              </a:spcBef>
              <a:spcAft>
                <a:spcPts val="1200"/>
              </a:spcAft>
            </a:pPr>
            <a:r>
              <a:rPr lang="en-AU" sz="2100" smtClean="0">
                <a:latin typeface="Helvetica" pitchFamily="34" charset="0"/>
              </a:rPr>
              <a:t>Identify exact nature of enquiries as soon as </a:t>
            </a:r>
            <a:br>
              <a:rPr lang="en-AU" sz="2100" smtClean="0">
                <a:latin typeface="Helvetica" pitchFamily="34" charset="0"/>
              </a:rPr>
            </a:br>
            <a:r>
              <a:rPr lang="en-AU" sz="2100" smtClean="0">
                <a:latin typeface="Helvetica" pitchFamily="34" charset="0"/>
              </a:rPr>
              <a:t>possible</a:t>
            </a:r>
          </a:p>
          <a:p>
            <a:pPr lvl="0">
              <a:spcBef>
                <a:spcPts val="600"/>
              </a:spcBef>
              <a:spcAft>
                <a:spcPts val="1200"/>
              </a:spcAft>
            </a:pPr>
            <a:r>
              <a:rPr lang="en-AU" sz="2100" smtClean="0">
                <a:latin typeface="Helvetica" pitchFamily="34" charset="0"/>
              </a:rPr>
              <a:t>Have resources handy you can refer to help deal </a:t>
            </a:r>
            <a:br>
              <a:rPr lang="en-AU" sz="2100" smtClean="0">
                <a:latin typeface="Helvetica" pitchFamily="34" charset="0"/>
              </a:rPr>
            </a:br>
            <a:r>
              <a:rPr lang="en-AU" sz="2100" smtClean="0">
                <a:latin typeface="Helvetica" pitchFamily="34" charset="0"/>
              </a:rPr>
              <a:t>with calls</a:t>
            </a:r>
          </a:p>
          <a:p>
            <a:pPr lvl="0">
              <a:spcBef>
                <a:spcPts val="600"/>
              </a:spcBef>
              <a:spcAft>
                <a:spcPts val="1200"/>
              </a:spcAft>
            </a:pPr>
            <a:r>
              <a:rPr lang="en-AU" sz="2100" smtClean="0">
                <a:latin typeface="Helvetica" pitchFamily="34" charset="0"/>
              </a:rPr>
              <a:t>Develop a detailed internal telephone list.</a:t>
            </a:r>
          </a:p>
          <a:p>
            <a:endParaRPr lang="en-US" sz="2100" smtClean="0">
              <a:latin typeface="Helvetica" pitchFamily="34" charset="0"/>
            </a:endParaRPr>
          </a:p>
          <a:p>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22</a:t>
            </a:fld>
            <a:endParaRPr lang="en-US"/>
          </a:p>
        </p:txBody>
      </p:sp>
      <p:pic>
        <p:nvPicPr>
          <p:cNvPr id="20482" name="Picture 2" descr="C:\Documents and Settings\danielc\Local Settings\Temporary Internet Files\Content.IE5\A4B80UVD\MP900284906[1].jpg"/>
          <p:cNvPicPr>
            <a:picLocks noChangeAspect="1" noChangeArrowheads="1"/>
          </p:cNvPicPr>
          <p:nvPr/>
        </p:nvPicPr>
        <p:blipFill>
          <a:blip r:embed="rId3" cstate="print"/>
          <a:srcRect/>
          <a:stretch>
            <a:fillRect/>
          </a:stretch>
        </p:blipFill>
        <p:spPr bwMode="auto">
          <a:xfrm>
            <a:off x="7143768" y="2000240"/>
            <a:ext cx="1753930" cy="2657468"/>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a:spcBef>
                <a:spcPts val="600"/>
              </a:spcBef>
              <a:spcAft>
                <a:spcPts val="1200"/>
              </a:spcAft>
              <a:buNone/>
            </a:pPr>
            <a:r>
              <a:rPr lang="en-US" sz="2000" smtClean="0">
                <a:latin typeface="Helvetica" pitchFamily="34" charset="0"/>
              </a:rPr>
              <a:t>To </a:t>
            </a:r>
            <a:r>
              <a:rPr lang="en-US" sz="2000" err="1" smtClean="0">
                <a:latin typeface="Helvetica" pitchFamily="34" charset="0"/>
              </a:rPr>
              <a:t>optimise</a:t>
            </a:r>
            <a:r>
              <a:rPr lang="en-US" sz="2000" smtClean="0">
                <a:latin typeface="Helvetica" pitchFamily="34" charset="0"/>
              </a:rPr>
              <a:t> customer service when answering caller enquiries:</a:t>
            </a:r>
          </a:p>
          <a:p>
            <a:pPr lvl="0">
              <a:spcBef>
                <a:spcPts val="600"/>
              </a:spcBef>
              <a:spcAft>
                <a:spcPts val="1200"/>
              </a:spcAft>
            </a:pPr>
            <a:r>
              <a:rPr lang="en-AU" sz="2000" smtClean="0">
                <a:latin typeface="Helvetica" pitchFamily="34" charset="0"/>
              </a:rPr>
              <a:t>Put a smile in your voice</a:t>
            </a:r>
          </a:p>
          <a:p>
            <a:pPr lvl="0">
              <a:spcBef>
                <a:spcPts val="600"/>
              </a:spcBef>
              <a:spcAft>
                <a:spcPts val="1200"/>
              </a:spcAft>
            </a:pPr>
            <a:r>
              <a:rPr lang="en-AU" sz="2000" smtClean="0">
                <a:latin typeface="Helvetica" pitchFamily="34" charset="0"/>
              </a:rPr>
              <a:t>Ensure the caller can see you are trying to help them</a:t>
            </a:r>
          </a:p>
          <a:p>
            <a:pPr lvl="0">
              <a:spcBef>
                <a:spcPts val="600"/>
              </a:spcBef>
              <a:spcAft>
                <a:spcPts val="1200"/>
              </a:spcAft>
            </a:pPr>
            <a:r>
              <a:rPr lang="en-AU" sz="2000" smtClean="0">
                <a:latin typeface="Helvetica" pitchFamily="34" charset="0"/>
              </a:rPr>
              <a:t>Keep them informed</a:t>
            </a:r>
          </a:p>
          <a:p>
            <a:pPr lvl="0">
              <a:spcBef>
                <a:spcPts val="600"/>
              </a:spcBef>
              <a:spcAft>
                <a:spcPts val="1200"/>
              </a:spcAft>
            </a:pPr>
            <a:r>
              <a:rPr lang="en-AU" sz="2000" smtClean="0">
                <a:latin typeface="Helvetica" pitchFamily="34" charset="0"/>
              </a:rPr>
              <a:t>Always be honest</a:t>
            </a:r>
          </a:p>
          <a:p>
            <a:pPr lvl="0">
              <a:spcBef>
                <a:spcPts val="600"/>
              </a:spcBef>
              <a:spcAft>
                <a:spcPts val="1200"/>
              </a:spcAft>
            </a:pPr>
            <a:r>
              <a:rPr lang="en-AU" sz="2000" smtClean="0">
                <a:latin typeface="Helvetica" pitchFamily="34" charset="0"/>
              </a:rPr>
              <a:t>Refer to documents or other staff where you are unsure</a:t>
            </a:r>
          </a:p>
          <a:p>
            <a:pPr lvl="0">
              <a:spcBef>
                <a:spcPts val="600"/>
              </a:spcBef>
              <a:spcAft>
                <a:spcPts val="1200"/>
              </a:spcAft>
            </a:pPr>
            <a:r>
              <a:rPr lang="en-AU" sz="2000" smtClean="0">
                <a:latin typeface="Helvetica" pitchFamily="34" charset="0"/>
              </a:rPr>
              <a:t>Realise as quickly as you can when you cannot help the caller any more</a:t>
            </a:r>
          </a:p>
          <a:p>
            <a:pPr lvl="0">
              <a:spcBef>
                <a:spcPts val="600"/>
              </a:spcBef>
              <a:spcAft>
                <a:spcPts val="1200"/>
              </a:spcAft>
            </a:pPr>
            <a:r>
              <a:rPr lang="en-AU" sz="2000" smtClean="0">
                <a:latin typeface="Helvetica" pitchFamily="34" charset="0"/>
              </a:rPr>
              <a:t>Try harder when you are on the telephone.</a:t>
            </a:r>
          </a:p>
          <a:p>
            <a:pPr lvl="0"/>
            <a:endParaRPr lang="en-AU" sz="2000" smtClean="0">
              <a:latin typeface="Helvetica" pitchFamily="34" charset="0"/>
            </a:endParaRPr>
          </a:p>
          <a:p>
            <a:endParaRPr lang="en-US" sz="2000" smtClean="0">
              <a:latin typeface="Helvetica" pitchFamily="34" charset="0"/>
            </a:endParaRPr>
          </a:p>
          <a:p>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23</a:t>
            </a:fld>
            <a:endParaRPr lang="en-US"/>
          </a:p>
        </p:txBody>
      </p:sp>
      <p:pic>
        <p:nvPicPr>
          <p:cNvPr id="21506" name="Picture 2" descr="C:\Documents and Settings\danielc\Local Settings\Temporary Internet Files\Content.IE5\TVERO29A\MP900406625[1].jpg"/>
          <p:cNvPicPr>
            <a:picLocks noChangeAspect="1" noChangeArrowheads="1"/>
          </p:cNvPicPr>
          <p:nvPr/>
        </p:nvPicPr>
        <p:blipFill>
          <a:blip r:embed="rId3" cstate="print"/>
          <a:srcRect/>
          <a:stretch>
            <a:fillRect/>
          </a:stretch>
        </p:blipFill>
        <p:spPr bwMode="auto">
          <a:xfrm>
            <a:off x="7164992" y="3071810"/>
            <a:ext cx="1715182" cy="1143008"/>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a:spcBef>
                <a:spcPts val="600"/>
              </a:spcBef>
              <a:spcAft>
                <a:spcPts val="1200"/>
              </a:spcAft>
              <a:buNone/>
            </a:pPr>
            <a:r>
              <a:rPr lang="en-US" sz="2200" smtClean="0">
                <a:latin typeface="Helvetica" pitchFamily="34" charset="0"/>
              </a:rPr>
              <a:t>To respond effectively yourself to caller enquiries:</a:t>
            </a:r>
          </a:p>
          <a:p>
            <a:pPr lvl="0">
              <a:spcBef>
                <a:spcPts val="600"/>
              </a:spcBef>
              <a:spcAft>
                <a:spcPts val="1200"/>
              </a:spcAft>
            </a:pPr>
            <a:r>
              <a:rPr lang="en-AU" sz="2200" smtClean="0">
                <a:latin typeface="Helvetica" pitchFamily="34" charset="0"/>
              </a:rPr>
              <a:t>Apologise – if appropriate – for the need to transfer the call</a:t>
            </a:r>
          </a:p>
          <a:p>
            <a:pPr lvl="0">
              <a:spcBef>
                <a:spcPts val="600"/>
              </a:spcBef>
              <a:spcAft>
                <a:spcPts val="1200"/>
              </a:spcAft>
            </a:pPr>
            <a:r>
              <a:rPr lang="en-AU" sz="2200" smtClean="0">
                <a:latin typeface="Helvetica" pitchFamily="34" charset="0"/>
              </a:rPr>
              <a:t>Explain why you need to transfer the call </a:t>
            </a:r>
          </a:p>
          <a:p>
            <a:pPr lvl="0">
              <a:spcBef>
                <a:spcPts val="600"/>
              </a:spcBef>
              <a:spcAft>
                <a:spcPts val="1200"/>
              </a:spcAft>
            </a:pPr>
            <a:r>
              <a:rPr lang="en-AU" sz="2200" smtClean="0">
                <a:latin typeface="Helvetica" pitchFamily="34" charset="0"/>
              </a:rPr>
              <a:t>Tell them who you want to transfer them to</a:t>
            </a:r>
          </a:p>
          <a:p>
            <a:pPr lvl="0">
              <a:spcBef>
                <a:spcPts val="600"/>
              </a:spcBef>
              <a:spcAft>
                <a:spcPts val="1200"/>
              </a:spcAft>
            </a:pPr>
            <a:r>
              <a:rPr lang="en-AU" sz="2200" smtClean="0">
                <a:latin typeface="Helvetica" pitchFamily="34" charset="0"/>
              </a:rPr>
              <a:t>Ask permission to transfer their call</a:t>
            </a:r>
          </a:p>
          <a:p>
            <a:pPr lvl="0">
              <a:spcBef>
                <a:spcPts val="600"/>
              </a:spcBef>
              <a:spcAft>
                <a:spcPts val="1200"/>
              </a:spcAft>
            </a:pPr>
            <a:r>
              <a:rPr lang="en-AU" sz="2200" smtClean="0">
                <a:latin typeface="Helvetica" pitchFamily="34" charset="0"/>
              </a:rPr>
              <a:t>Transfer the call and monitor it.</a:t>
            </a:r>
          </a:p>
          <a:p>
            <a:endParaRPr lang="en-US" sz="2200" smtClean="0">
              <a:latin typeface="Helvetica" pitchFamily="34" charset="0"/>
            </a:endParaRPr>
          </a:p>
          <a:p>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24</a:t>
            </a:fld>
            <a:endParaRPr lang="en-US"/>
          </a:p>
        </p:txBody>
      </p:sp>
      <p:pic>
        <p:nvPicPr>
          <p:cNvPr id="22530" name="Picture 2" descr="C:\Documents and Settings\danielc\Local Settings\Temporary Internet Files\Content.IE5\YP6W50B7\MC900447047[1].jpg"/>
          <p:cNvPicPr>
            <a:picLocks noChangeAspect="1" noChangeArrowheads="1"/>
          </p:cNvPicPr>
          <p:nvPr/>
        </p:nvPicPr>
        <p:blipFill>
          <a:blip r:embed="rId3" cstate="print"/>
          <a:srcRect/>
          <a:stretch>
            <a:fillRect/>
          </a:stretch>
        </p:blipFill>
        <p:spPr bwMode="auto">
          <a:xfrm>
            <a:off x="7143768" y="2649176"/>
            <a:ext cx="1500198" cy="1497858"/>
          </a:xfrm>
          <a:prstGeom prst="rect">
            <a:avLst/>
          </a:prstGeom>
          <a:noFill/>
        </p:spPr>
      </p:pic>
      <p:pic>
        <p:nvPicPr>
          <p:cNvPr id="22531" name="Picture 3" descr="C:\Documents and Settings\danielc\Local Settings\Temporary Internet Files\Content.IE5\9N3QFUEZ\MC900447046[1].jpg"/>
          <p:cNvPicPr>
            <a:picLocks noChangeAspect="1" noChangeArrowheads="1"/>
          </p:cNvPicPr>
          <p:nvPr/>
        </p:nvPicPr>
        <p:blipFill>
          <a:blip r:embed="rId4" cstate="print"/>
          <a:srcRect/>
          <a:stretch>
            <a:fillRect/>
          </a:stretch>
        </p:blipFill>
        <p:spPr bwMode="auto">
          <a:xfrm>
            <a:off x="7143768" y="4214818"/>
            <a:ext cx="1502518" cy="1500174"/>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buNone/>
            </a:pPr>
            <a:r>
              <a:rPr lang="en-US" sz="2000" smtClean="0">
                <a:latin typeface="Helvetica" pitchFamily="34" charset="0"/>
              </a:rPr>
              <a:t>To respond effectively yourself to caller enquiries:</a:t>
            </a:r>
          </a:p>
          <a:p>
            <a:pPr lvl="0"/>
            <a:endParaRPr lang="en-AU" sz="2000" smtClean="0">
              <a:latin typeface="Helvetica" pitchFamily="34" charset="0"/>
            </a:endParaRPr>
          </a:p>
          <a:p>
            <a:pPr lvl="0">
              <a:spcBef>
                <a:spcPts val="600"/>
              </a:spcBef>
              <a:spcAft>
                <a:spcPts val="1200"/>
              </a:spcAft>
            </a:pPr>
            <a:r>
              <a:rPr lang="en-AU" sz="2000" smtClean="0">
                <a:latin typeface="Helvetica" pitchFamily="34" charset="0"/>
              </a:rPr>
              <a:t>Apologise</a:t>
            </a:r>
          </a:p>
          <a:p>
            <a:pPr lvl="0">
              <a:spcBef>
                <a:spcPts val="600"/>
              </a:spcBef>
              <a:spcAft>
                <a:spcPts val="1200"/>
              </a:spcAft>
            </a:pPr>
            <a:r>
              <a:rPr lang="en-AU" sz="2000" smtClean="0">
                <a:latin typeface="Helvetica" pitchFamily="34" charset="0"/>
              </a:rPr>
              <a:t>Ask if they know who might be able to help them – or suggest someone</a:t>
            </a:r>
          </a:p>
          <a:p>
            <a:pPr lvl="0">
              <a:spcBef>
                <a:spcPts val="600"/>
              </a:spcBef>
              <a:spcAft>
                <a:spcPts val="1200"/>
              </a:spcAft>
            </a:pPr>
            <a:r>
              <a:rPr lang="en-AU" sz="2000" smtClean="0">
                <a:latin typeface="Helvetica" pitchFamily="34" charset="0"/>
              </a:rPr>
              <a:t>Ask if you can take a message and have the person ring them back</a:t>
            </a:r>
          </a:p>
          <a:p>
            <a:pPr lvl="0">
              <a:spcBef>
                <a:spcPts val="600"/>
              </a:spcBef>
              <a:spcAft>
                <a:spcPts val="1200"/>
              </a:spcAft>
            </a:pPr>
            <a:r>
              <a:rPr lang="en-AU" sz="2000" smtClean="0">
                <a:latin typeface="Helvetica" pitchFamily="34" charset="0"/>
              </a:rPr>
              <a:t>Pass the message on to the appropriate person</a:t>
            </a:r>
          </a:p>
          <a:p>
            <a:pPr lvl="0">
              <a:spcBef>
                <a:spcPts val="600"/>
              </a:spcBef>
              <a:spcAft>
                <a:spcPts val="1200"/>
              </a:spcAft>
            </a:pPr>
            <a:r>
              <a:rPr lang="en-AU" sz="2000" smtClean="0">
                <a:latin typeface="Helvetica" pitchFamily="34" charset="0"/>
              </a:rPr>
              <a:t>Monitor the action taken in response to the call.</a:t>
            </a:r>
          </a:p>
          <a:p>
            <a:pPr lvl="0"/>
            <a:endParaRPr lang="en-AU" sz="2000" smtClean="0">
              <a:latin typeface="Helvetica" pitchFamily="34" charset="0"/>
            </a:endParaRPr>
          </a:p>
          <a:p>
            <a:endParaRPr lang="en-US" sz="2000" smtClean="0">
              <a:latin typeface="Helvetica" pitchFamily="34" charset="0"/>
            </a:endParaRPr>
          </a:p>
          <a:p>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25</a:t>
            </a:fld>
            <a:endParaRPr lang="en-US"/>
          </a:p>
        </p:txBody>
      </p:sp>
      <p:pic>
        <p:nvPicPr>
          <p:cNvPr id="23554" name="Picture 2" descr="C:\Documents and Settings\danielc\Local Settings\Temporary Internet Files\Content.IE5\2IERTBRT\MP900285025[1].jpg"/>
          <p:cNvPicPr>
            <a:picLocks noChangeAspect="1" noChangeArrowheads="1"/>
          </p:cNvPicPr>
          <p:nvPr/>
        </p:nvPicPr>
        <p:blipFill>
          <a:blip r:embed="rId3" cstate="print"/>
          <a:srcRect/>
          <a:stretch>
            <a:fillRect/>
          </a:stretch>
        </p:blipFill>
        <p:spPr bwMode="auto">
          <a:xfrm>
            <a:off x="7500958" y="1285860"/>
            <a:ext cx="1365687" cy="2090338"/>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100" dirty="0" smtClean="0">
                <a:latin typeface="Helvetica" pitchFamily="34" charset="0"/>
              </a:rPr>
              <a:t>If you cannot answer questions asked, an appropriate response is:</a:t>
            </a:r>
          </a:p>
          <a:p>
            <a:pPr lvl="0">
              <a:spcBef>
                <a:spcPts val="600"/>
              </a:spcBef>
              <a:spcAft>
                <a:spcPts val="1200"/>
              </a:spcAft>
            </a:pPr>
            <a:r>
              <a:rPr lang="en-AU" sz="2100" dirty="0" smtClean="0">
                <a:latin typeface="Helvetica" pitchFamily="34" charset="0"/>
              </a:rPr>
              <a:t>Apologise</a:t>
            </a:r>
          </a:p>
          <a:p>
            <a:pPr lvl="0">
              <a:spcBef>
                <a:spcPts val="600"/>
              </a:spcBef>
              <a:spcAft>
                <a:spcPts val="1200"/>
              </a:spcAft>
            </a:pPr>
            <a:r>
              <a:rPr lang="en-AU" sz="2100" dirty="0" smtClean="0">
                <a:latin typeface="Helvetica" pitchFamily="34" charset="0"/>
              </a:rPr>
              <a:t>Ask caller if you can make some enquiries yourself and get back to them</a:t>
            </a:r>
          </a:p>
          <a:p>
            <a:pPr lvl="0">
              <a:spcBef>
                <a:spcPts val="600"/>
              </a:spcBef>
              <a:spcAft>
                <a:spcPts val="1200"/>
              </a:spcAft>
            </a:pPr>
            <a:r>
              <a:rPr lang="en-AU" sz="2100" dirty="0" smtClean="0">
                <a:latin typeface="Helvetica" pitchFamily="34" charset="0"/>
              </a:rPr>
              <a:t>Take their details and details of the query</a:t>
            </a:r>
          </a:p>
          <a:p>
            <a:pPr lvl="0">
              <a:spcBef>
                <a:spcPts val="600"/>
              </a:spcBef>
              <a:spcAft>
                <a:spcPts val="1200"/>
              </a:spcAft>
            </a:pPr>
            <a:r>
              <a:rPr lang="en-AU" sz="2100" dirty="0" smtClean="0">
                <a:latin typeface="Helvetica" pitchFamily="34" charset="0"/>
              </a:rPr>
              <a:t>Thank them for their call</a:t>
            </a:r>
          </a:p>
          <a:p>
            <a:pPr lvl="0">
              <a:spcBef>
                <a:spcPts val="600"/>
              </a:spcBef>
              <a:spcAft>
                <a:spcPts val="1200"/>
              </a:spcAft>
            </a:pPr>
            <a:r>
              <a:rPr lang="en-AU" sz="2100" dirty="0" smtClean="0">
                <a:latin typeface="Helvetica" pitchFamily="34" charset="0"/>
              </a:rPr>
              <a:t>Find out the required answers  </a:t>
            </a:r>
          </a:p>
          <a:p>
            <a:pPr lvl="0">
              <a:spcBef>
                <a:spcPts val="600"/>
              </a:spcBef>
              <a:spcAft>
                <a:spcPts val="1200"/>
              </a:spcAft>
            </a:pPr>
            <a:r>
              <a:rPr lang="en-AU" sz="2100" dirty="0" smtClean="0">
                <a:latin typeface="Helvetica" pitchFamily="34" charset="0"/>
              </a:rPr>
              <a:t>Phone them back – as and when arranged or promised.</a:t>
            </a:r>
          </a:p>
          <a:p>
            <a:endParaRPr lang="en-US" sz="2100" dirty="0" smtClean="0">
              <a:latin typeface="Helvetica" pitchFamily="34" charset="0"/>
            </a:endParaRPr>
          </a:p>
          <a:p>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26</a:t>
            </a:fld>
            <a:endParaRPr lang="en-US"/>
          </a:p>
        </p:txBody>
      </p:sp>
      <p:pic>
        <p:nvPicPr>
          <p:cNvPr id="24578" name="Picture 2" descr="C:\Documents and Settings\danielc\Local Settings\Temporary Internet Files\Content.IE5\C278ONHS\MC900090524[1].wmf"/>
          <p:cNvPicPr>
            <a:picLocks noChangeAspect="1" noChangeArrowheads="1"/>
          </p:cNvPicPr>
          <p:nvPr/>
        </p:nvPicPr>
        <p:blipFill>
          <a:blip r:embed="rId3" cstate="print"/>
          <a:srcRect/>
          <a:stretch>
            <a:fillRect/>
          </a:stretch>
        </p:blipFill>
        <p:spPr bwMode="auto">
          <a:xfrm>
            <a:off x="6643702" y="3714752"/>
            <a:ext cx="1949513" cy="1643204"/>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67544" y="1484784"/>
            <a:ext cx="8229600" cy="4525963"/>
          </a:xfrm>
        </p:spPr>
        <p:txBody>
          <a:bodyPr>
            <a:normAutofit/>
          </a:bodyPr>
          <a:lstStyle/>
          <a:p>
            <a:pPr lvl="0">
              <a:spcBef>
                <a:spcPts val="600"/>
              </a:spcBef>
              <a:spcAft>
                <a:spcPts val="1200"/>
              </a:spcAft>
              <a:buNone/>
            </a:pPr>
            <a:r>
              <a:rPr lang="en-AU" sz="2200" smtClean="0">
                <a:latin typeface="Helvetica" pitchFamily="34" charset="0"/>
              </a:rPr>
              <a:t>If you are having difficulty obtaining answers to their questions: </a:t>
            </a:r>
          </a:p>
          <a:p>
            <a:pPr>
              <a:spcBef>
                <a:spcPts val="600"/>
              </a:spcBef>
              <a:spcAft>
                <a:spcPts val="1200"/>
              </a:spcAft>
            </a:pPr>
            <a:r>
              <a:rPr lang="en-AU" sz="2200" smtClean="0">
                <a:latin typeface="Helvetica" pitchFamily="34" charset="0"/>
              </a:rPr>
              <a:t>Ring them</a:t>
            </a:r>
          </a:p>
          <a:p>
            <a:pPr>
              <a:spcBef>
                <a:spcPts val="600"/>
              </a:spcBef>
              <a:spcAft>
                <a:spcPts val="1200"/>
              </a:spcAft>
            </a:pPr>
            <a:r>
              <a:rPr lang="en-AU" sz="2200" smtClean="0">
                <a:latin typeface="Helvetica" pitchFamily="34" charset="0"/>
              </a:rPr>
              <a:t>Apologise</a:t>
            </a:r>
          </a:p>
          <a:p>
            <a:pPr>
              <a:spcBef>
                <a:spcPts val="600"/>
              </a:spcBef>
              <a:spcAft>
                <a:spcPts val="1200"/>
              </a:spcAft>
            </a:pPr>
            <a:r>
              <a:rPr lang="en-AU" sz="2200" smtClean="0">
                <a:latin typeface="Helvetica" pitchFamily="34" charset="0"/>
              </a:rPr>
              <a:t>Explain the situation </a:t>
            </a:r>
          </a:p>
          <a:p>
            <a:pPr>
              <a:spcBef>
                <a:spcPts val="600"/>
              </a:spcBef>
              <a:spcAft>
                <a:spcPts val="1200"/>
              </a:spcAft>
            </a:pPr>
            <a:r>
              <a:rPr lang="en-AU" sz="2200" smtClean="0">
                <a:latin typeface="Helvetica" pitchFamily="34" charset="0"/>
              </a:rPr>
              <a:t>Let them know you are still following up</a:t>
            </a:r>
          </a:p>
          <a:p>
            <a:pPr>
              <a:spcBef>
                <a:spcPts val="600"/>
              </a:spcBef>
              <a:spcAft>
                <a:spcPts val="1200"/>
              </a:spcAft>
            </a:pPr>
            <a:r>
              <a:rPr lang="en-AU" sz="2200" smtClean="0">
                <a:latin typeface="Helvetica" pitchFamily="34" charset="0"/>
              </a:rPr>
              <a:t>Make a time to phone them back with the required answers.</a:t>
            </a:r>
          </a:p>
          <a:p>
            <a:pPr>
              <a:spcBef>
                <a:spcPts val="600"/>
              </a:spcBef>
              <a:spcAft>
                <a:spcPts val="1200"/>
              </a:spcAft>
            </a:pPr>
            <a:endParaRPr lang="en-US" sz="2200" smtClean="0">
              <a:latin typeface="Helvetica" pitchFamily="34" charset="0"/>
            </a:endParaRPr>
          </a:p>
          <a:p>
            <a:pPr>
              <a:spcBef>
                <a:spcPts val="600"/>
              </a:spcBef>
              <a:spcAft>
                <a:spcPts val="1200"/>
              </a:spcAft>
            </a:pPr>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27</a:t>
            </a:fld>
            <a:endParaRPr lang="en-US"/>
          </a:p>
        </p:txBody>
      </p:sp>
      <p:pic>
        <p:nvPicPr>
          <p:cNvPr id="25602" name="Picture 2" descr="C:\Documents and Settings\danielc\Local Settings\Temporary Internet Files\Content.IE5\YI0F6H43\MC900295893[1].wmf"/>
          <p:cNvPicPr>
            <a:picLocks noChangeAspect="1" noChangeArrowheads="1"/>
          </p:cNvPicPr>
          <p:nvPr/>
        </p:nvPicPr>
        <p:blipFill>
          <a:blip r:embed="rId3" cstate="print"/>
          <a:srcRect/>
          <a:stretch>
            <a:fillRect/>
          </a:stretch>
        </p:blipFill>
        <p:spPr bwMode="auto">
          <a:xfrm>
            <a:off x="6858016" y="2285992"/>
            <a:ext cx="1341422" cy="1771461"/>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a:spcBef>
                <a:spcPts val="600"/>
              </a:spcBef>
              <a:spcAft>
                <a:spcPts val="1200"/>
              </a:spcAft>
              <a:buNone/>
            </a:pPr>
            <a:r>
              <a:rPr lang="en-US" sz="2200" smtClean="0">
                <a:latin typeface="Helvetica" pitchFamily="34" charset="0"/>
              </a:rPr>
              <a:t>Tips to follow when transferring a telephone call include:</a:t>
            </a:r>
          </a:p>
          <a:p>
            <a:pPr lvl="0">
              <a:spcBef>
                <a:spcPts val="600"/>
              </a:spcBef>
              <a:spcAft>
                <a:spcPts val="1200"/>
              </a:spcAft>
            </a:pPr>
            <a:r>
              <a:rPr lang="en-AU" sz="2200" smtClean="0">
                <a:latin typeface="Helvetica" pitchFamily="34" charset="0"/>
              </a:rPr>
              <a:t>Transfer calls promptly</a:t>
            </a:r>
          </a:p>
          <a:p>
            <a:pPr lvl="0">
              <a:spcBef>
                <a:spcPts val="600"/>
              </a:spcBef>
              <a:spcAft>
                <a:spcPts val="1200"/>
              </a:spcAft>
            </a:pPr>
            <a:r>
              <a:rPr lang="en-AU" sz="2200" smtClean="0">
                <a:latin typeface="Helvetica" pitchFamily="34" charset="0"/>
              </a:rPr>
              <a:t>Locate the required person for the caller</a:t>
            </a:r>
          </a:p>
          <a:p>
            <a:pPr lvl="0">
              <a:spcBef>
                <a:spcPts val="600"/>
              </a:spcBef>
              <a:spcAft>
                <a:spcPts val="1200"/>
              </a:spcAft>
            </a:pPr>
            <a:r>
              <a:rPr lang="en-AU" sz="2200" smtClean="0">
                <a:latin typeface="Helvetica" pitchFamily="34" charset="0"/>
              </a:rPr>
              <a:t>Not transferring calls to people you </a:t>
            </a:r>
            <a:r>
              <a:rPr lang="en-AU" sz="2200" b="1" smtClean="0">
                <a:latin typeface="Helvetica" pitchFamily="34" charset="0"/>
              </a:rPr>
              <a:t>know </a:t>
            </a:r>
            <a:r>
              <a:rPr lang="en-AU" sz="2200" smtClean="0">
                <a:latin typeface="Helvetica" pitchFamily="34" charset="0"/>
              </a:rPr>
              <a:t>are </a:t>
            </a:r>
            <a:br>
              <a:rPr lang="en-AU" sz="2200" smtClean="0">
                <a:latin typeface="Helvetica" pitchFamily="34" charset="0"/>
              </a:rPr>
            </a:br>
            <a:r>
              <a:rPr lang="en-AU" sz="2200" smtClean="0">
                <a:latin typeface="Helvetica" pitchFamily="34" charset="0"/>
              </a:rPr>
              <a:t>not there</a:t>
            </a:r>
          </a:p>
          <a:p>
            <a:pPr lvl="0">
              <a:spcBef>
                <a:spcPts val="600"/>
              </a:spcBef>
              <a:spcAft>
                <a:spcPts val="1200"/>
              </a:spcAft>
            </a:pPr>
            <a:r>
              <a:rPr lang="en-AU" sz="2200" smtClean="0">
                <a:latin typeface="Helvetica" pitchFamily="34" charset="0"/>
              </a:rPr>
              <a:t>Only try to transfer a call once to an extension</a:t>
            </a:r>
          </a:p>
          <a:p>
            <a:pPr lvl="0">
              <a:spcBef>
                <a:spcPts val="600"/>
              </a:spcBef>
              <a:spcAft>
                <a:spcPts val="1200"/>
              </a:spcAft>
            </a:pPr>
            <a:r>
              <a:rPr lang="en-AU" sz="2200" smtClean="0">
                <a:latin typeface="Helvetica" pitchFamily="34" charset="0"/>
              </a:rPr>
              <a:t>Give caller choices if the required person is unavailable.</a:t>
            </a:r>
          </a:p>
          <a:p>
            <a:pPr lvl="0"/>
            <a:endParaRPr lang="en-AU" sz="2200" smtClean="0">
              <a:latin typeface="Helvetica" pitchFamily="34" charset="0"/>
            </a:endParaRPr>
          </a:p>
          <a:p>
            <a:endParaRPr lang="en-US" sz="2200" smtClean="0">
              <a:latin typeface="Helvetica" pitchFamily="34" charset="0"/>
            </a:endParaRPr>
          </a:p>
          <a:p>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28</a:t>
            </a:fld>
            <a:endParaRPr lang="en-US"/>
          </a:p>
        </p:txBody>
      </p:sp>
      <p:pic>
        <p:nvPicPr>
          <p:cNvPr id="26626" name="Picture 2" descr="C:\Documents and Settings\danielc\Local Settings\Temporary Internet Files\Content.IE5\TVERO29A\MP900442453[1].jpg"/>
          <p:cNvPicPr>
            <a:picLocks noChangeAspect="1" noChangeArrowheads="1"/>
          </p:cNvPicPr>
          <p:nvPr/>
        </p:nvPicPr>
        <p:blipFill>
          <a:blip r:embed="rId3" cstate="print"/>
          <a:srcRect/>
          <a:stretch>
            <a:fillRect/>
          </a:stretch>
        </p:blipFill>
        <p:spPr bwMode="auto">
          <a:xfrm>
            <a:off x="6715140" y="2643182"/>
            <a:ext cx="2214545" cy="1472021"/>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Answering caller enquiries or transferring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200" smtClean="0">
                <a:latin typeface="Helvetica" pitchFamily="34" charset="0"/>
              </a:rPr>
              <a:t>All promises made on the telephone must be kept, when promised, as promised.</a:t>
            </a:r>
          </a:p>
          <a:p>
            <a:pPr lvl="0">
              <a:spcBef>
                <a:spcPts val="600"/>
              </a:spcBef>
              <a:spcAft>
                <a:spcPts val="1200"/>
              </a:spcAft>
              <a:buNone/>
            </a:pPr>
            <a:r>
              <a:rPr lang="en-AU" sz="2200" smtClean="0">
                <a:latin typeface="Helvetica" pitchFamily="34" charset="0"/>
              </a:rPr>
              <a:t>Keeping promises made on the telephone:</a:t>
            </a:r>
          </a:p>
          <a:p>
            <a:pPr lvl="0">
              <a:spcBef>
                <a:spcPts val="600"/>
              </a:spcBef>
              <a:spcAft>
                <a:spcPts val="1200"/>
              </a:spcAft>
            </a:pPr>
            <a:r>
              <a:rPr lang="en-AU" sz="2200" smtClean="0">
                <a:latin typeface="Helvetica" pitchFamily="34" charset="0"/>
              </a:rPr>
              <a:t>Builds confidence</a:t>
            </a:r>
          </a:p>
          <a:p>
            <a:pPr lvl="0">
              <a:spcBef>
                <a:spcPts val="600"/>
              </a:spcBef>
              <a:spcAft>
                <a:spcPts val="1200"/>
              </a:spcAft>
            </a:pPr>
            <a:r>
              <a:rPr lang="en-AU" sz="2200" smtClean="0">
                <a:latin typeface="Helvetica" pitchFamily="34" charset="0"/>
              </a:rPr>
              <a:t>Values and respects the caller</a:t>
            </a:r>
          </a:p>
          <a:p>
            <a:pPr lvl="0">
              <a:spcBef>
                <a:spcPts val="600"/>
              </a:spcBef>
              <a:spcAft>
                <a:spcPts val="1200"/>
              </a:spcAft>
            </a:pPr>
            <a:r>
              <a:rPr lang="en-AU" sz="2200" smtClean="0">
                <a:latin typeface="Helvetica" pitchFamily="34" charset="0"/>
              </a:rPr>
              <a:t>Differentiates the business from others.</a:t>
            </a:r>
          </a:p>
          <a:p>
            <a:pPr lvl="0"/>
            <a:endParaRPr lang="en-AU" sz="2200" smtClean="0">
              <a:latin typeface="Helvetica" pitchFamily="34" charset="0"/>
            </a:endParaRPr>
          </a:p>
          <a:p>
            <a:endParaRPr lang="en-US" sz="2200" smtClean="0">
              <a:latin typeface="Helvetica" pitchFamily="34" charset="0"/>
            </a:endParaRPr>
          </a:p>
          <a:p>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29</a:t>
            </a:fld>
            <a:endParaRPr lang="en-US"/>
          </a:p>
        </p:txBody>
      </p:sp>
      <p:pic>
        <p:nvPicPr>
          <p:cNvPr id="27650" name="Picture 2" descr="C:\Documents and Settings\danielc\Local Settings\Temporary Internet Files\Content.IE5\8GDE57UC\MP900305826[1].jpg"/>
          <p:cNvPicPr>
            <a:picLocks noChangeAspect="1" noChangeArrowheads="1"/>
          </p:cNvPicPr>
          <p:nvPr/>
        </p:nvPicPr>
        <p:blipFill>
          <a:blip r:embed="rId3" cstate="print"/>
          <a:srcRect/>
          <a:stretch>
            <a:fillRect/>
          </a:stretch>
        </p:blipFill>
        <p:spPr bwMode="auto">
          <a:xfrm>
            <a:off x="6786578" y="2357430"/>
            <a:ext cx="1453128" cy="2300466"/>
          </a:xfrm>
          <a:prstGeom prst="rect">
            <a:avLst/>
          </a:prstGeo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Recording and passing on messages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500174"/>
            <a:ext cx="7467600" cy="4525963"/>
          </a:xfrm>
        </p:spPr>
        <p:txBody>
          <a:bodyPr>
            <a:noAutofit/>
          </a:bodyPr>
          <a:lstStyle/>
          <a:p>
            <a:pPr marL="0">
              <a:spcBef>
                <a:spcPts val="600"/>
              </a:spcBef>
              <a:spcAft>
                <a:spcPts val="1200"/>
              </a:spcAft>
              <a:buNone/>
            </a:pPr>
            <a:r>
              <a:rPr lang="en-US" sz="2200" smtClean="0">
                <a:latin typeface="Helvetica" pitchFamily="34" charset="0"/>
              </a:rPr>
              <a:t>Where a telephone message has to be taken, do so:</a:t>
            </a:r>
          </a:p>
          <a:p>
            <a:pPr marL="0">
              <a:spcBef>
                <a:spcPts val="600"/>
              </a:spcBef>
              <a:spcAft>
                <a:spcPts val="1200"/>
              </a:spcAft>
            </a:pPr>
            <a:r>
              <a:rPr lang="en-AU" sz="2200" smtClean="0">
                <a:latin typeface="Helvetica" pitchFamily="34" charset="0"/>
              </a:rPr>
              <a:t>Cheerfully</a:t>
            </a:r>
          </a:p>
          <a:p>
            <a:pPr marL="0" lvl="0">
              <a:spcBef>
                <a:spcPts val="600"/>
              </a:spcBef>
              <a:spcAft>
                <a:spcPts val="1200"/>
              </a:spcAft>
            </a:pPr>
            <a:r>
              <a:rPr lang="en-AU" sz="2200" smtClean="0">
                <a:latin typeface="Helvetica" pitchFamily="34" charset="0"/>
              </a:rPr>
              <a:t>Using the designated telephone message form</a:t>
            </a:r>
          </a:p>
          <a:p>
            <a:pPr marL="385200" lvl="0">
              <a:spcBef>
                <a:spcPts val="600"/>
              </a:spcBef>
              <a:spcAft>
                <a:spcPts val="1200"/>
              </a:spcAft>
            </a:pPr>
            <a:r>
              <a:rPr lang="en-AU" sz="2200" smtClean="0">
                <a:latin typeface="Helvetica" pitchFamily="34" charset="0"/>
              </a:rPr>
              <a:t>Making sure you capture all the information the caller gives you</a:t>
            </a:r>
          </a:p>
          <a:p>
            <a:pPr marL="0" lvl="0">
              <a:spcBef>
                <a:spcPts val="600"/>
              </a:spcBef>
              <a:spcAft>
                <a:spcPts val="1200"/>
              </a:spcAft>
            </a:pPr>
            <a:r>
              <a:rPr lang="en-AU" sz="2200" smtClean="0">
                <a:latin typeface="Helvetica" pitchFamily="34" charset="0"/>
              </a:rPr>
              <a:t>Ensuring  you get the details correct</a:t>
            </a:r>
          </a:p>
          <a:p>
            <a:pPr marL="0" lvl="0">
              <a:spcBef>
                <a:spcPts val="600"/>
              </a:spcBef>
              <a:spcAft>
                <a:spcPts val="1200"/>
              </a:spcAft>
            </a:pPr>
            <a:r>
              <a:rPr lang="en-AU" sz="2200" smtClean="0">
                <a:latin typeface="Helvetica" pitchFamily="34" charset="0"/>
              </a:rPr>
              <a:t>Repeating the message back to the caller to confirm it</a:t>
            </a:r>
          </a:p>
          <a:p>
            <a:pPr marL="0" lvl="0">
              <a:spcBef>
                <a:spcPts val="600"/>
              </a:spcBef>
              <a:spcAft>
                <a:spcPts val="1200"/>
              </a:spcAft>
            </a:pPr>
            <a:r>
              <a:rPr lang="en-AU" sz="2200" smtClean="0">
                <a:latin typeface="Helvetica" pitchFamily="34" charset="0"/>
              </a:rPr>
              <a:t>Thanking the caller.</a:t>
            </a:r>
          </a:p>
          <a:p>
            <a:pPr marL="0">
              <a:spcBef>
                <a:spcPts val="600"/>
              </a:spcBef>
              <a:spcAft>
                <a:spcPts val="1200"/>
              </a:spcAft>
            </a:pPr>
            <a:endParaRPr lang="en-US" sz="2200" smtClean="0">
              <a:latin typeface="Helvetica" pitchFamily="34" charset="0"/>
            </a:endParaRPr>
          </a:p>
          <a:p>
            <a:pPr marL="0">
              <a:spcBef>
                <a:spcPts val="600"/>
              </a:spcBef>
              <a:spcAft>
                <a:spcPts val="1200"/>
              </a:spcAft>
            </a:pPr>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30</a:t>
            </a:fld>
            <a:endParaRPr lang="en-US"/>
          </a:p>
        </p:txBody>
      </p:sp>
      <p:pic>
        <p:nvPicPr>
          <p:cNvPr id="28674" name="Picture 2" descr="C:\Documents and Settings\danielc\Local Settings\Temporary Internet Files\Content.IE5\BOJS87VR\MC900237627[1].wmf"/>
          <p:cNvPicPr>
            <a:picLocks noChangeAspect="1" noChangeArrowheads="1"/>
          </p:cNvPicPr>
          <p:nvPr/>
        </p:nvPicPr>
        <p:blipFill>
          <a:blip r:embed="rId3" cstate="print"/>
          <a:srcRect/>
          <a:stretch>
            <a:fillRect/>
          </a:stretch>
        </p:blipFill>
        <p:spPr bwMode="auto">
          <a:xfrm>
            <a:off x="7429520" y="1714488"/>
            <a:ext cx="1409747" cy="1364851"/>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Recording and passing on messages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600200"/>
            <a:ext cx="7758138" cy="4525963"/>
          </a:xfrm>
        </p:spPr>
        <p:txBody>
          <a:bodyPr>
            <a:normAutofit fontScale="92500"/>
          </a:bodyPr>
          <a:lstStyle/>
          <a:p>
            <a:pPr marL="0">
              <a:spcBef>
                <a:spcPts val="600"/>
              </a:spcBef>
              <a:spcAft>
                <a:spcPts val="1200"/>
              </a:spcAft>
              <a:buNone/>
            </a:pPr>
            <a:r>
              <a:rPr lang="en-US" sz="2200" smtClean="0">
                <a:latin typeface="Helvetica" pitchFamily="34" charset="0"/>
              </a:rPr>
              <a:t>When a telephone message has been taken it must be passed on:</a:t>
            </a:r>
          </a:p>
          <a:p>
            <a:pPr lvl="0">
              <a:spcBef>
                <a:spcPts val="600"/>
              </a:spcBef>
              <a:spcAft>
                <a:spcPts val="1200"/>
              </a:spcAft>
            </a:pPr>
            <a:r>
              <a:rPr lang="en-AU" sz="2200" smtClean="0">
                <a:latin typeface="Helvetica" pitchFamily="34" charset="0"/>
              </a:rPr>
              <a:t>To the appropriate person</a:t>
            </a:r>
          </a:p>
          <a:p>
            <a:pPr lvl="0">
              <a:spcBef>
                <a:spcPts val="600"/>
              </a:spcBef>
              <a:spcAft>
                <a:spcPts val="1200"/>
              </a:spcAft>
            </a:pPr>
            <a:r>
              <a:rPr lang="en-AU" sz="2200" smtClean="0">
                <a:latin typeface="Helvetica" pitchFamily="34" charset="0"/>
              </a:rPr>
              <a:t>Promptly</a:t>
            </a:r>
          </a:p>
          <a:p>
            <a:pPr lvl="0">
              <a:spcBef>
                <a:spcPts val="600"/>
              </a:spcBef>
              <a:spcAft>
                <a:spcPts val="1200"/>
              </a:spcAft>
            </a:pPr>
            <a:r>
              <a:rPr lang="en-AU" sz="2200" smtClean="0">
                <a:latin typeface="Helvetica" pitchFamily="34" charset="0"/>
              </a:rPr>
              <a:t>In hard copy form.</a:t>
            </a:r>
          </a:p>
          <a:p>
            <a:pPr marL="0" lvl="0">
              <a:spcBef>
                <a:spcPts val="600"/>
              </a:spcBef>
              <a:spcAft>
                <a:spcPts val="1200"/>
              </a:spcAft>
              <a:buNone/>
            </a:pPr>
            <a:r>
              <a:rPr lang="en-AU" sz="2200" smtClean="0">
                <a:latin typeface="Helvetica" pitchFamily="34" charset="0"/>
              </a:rPr>
              <a:t>It is never sufficient just to take a telephone message:</a:t>
            </a:r>
          </a:p>
          <a:p>
            <a:pPr lvl="0">
              <a:spcBef>
                <a:spcPts val="600"/>
              </a:spcBef>
              <a:spcAft>
                <a:spcPts val="1200"/>
              </a:spcAft>
            </a:pPr>
            <a:r>
              <a:rPr lang="en-AU" sz="2200" smtClean="0">
                <a:latin typeface="Helvetica" pitchFamily="34" charset="0"/>
              </a:rPr>
              <a:t>Check the person has picked up their message</a:t>
            </a:r>
          </a:p>
          <a:p>
            <a:pPr lvl="0">
              <a:spcBef>
                <a:spcPts val="600"/>
              </a:spcBef>
              <a:spcAft>
                <a:spcPts val="1200"/>
              </a:spcAft>
            </a:pPr>
            <a:r>
              <a:rPr lang="en-AU" sz="2200" smtClean="0">
                <a:latin typeface="Helvetica" pitchFamily="34" charset="0"/>
              </a:rPr>
              <a:t>Check they have acknowledged your email</a:t>
            </a:r>
          </a:p>
          <a:p>
            <a:pPr lvl="0">
              <a:spcBef>
                <a:spcPts val="600"/>
              </a:spcBef>
              <a:spcAft>
                <a:spcPts val="1200"/>
              </a:spcAft>
            </a:pPr>
            <a:r>
              <a:rPr lang="en-AU" sz="2200" smtClean="0">
                <a:latin typeface="Helvetica" pitchFamily="34" charset="0"/>
              </a:rPr>
              <a:t>Speak to the person to ask if they have received the message.</a:t>
            </a:r>
          </a:p>
          <a:p>
            <a:pPr lvl="0">
              <a:buNone/>
            </a:pPr>
            <a:endParaRPr lang="en-AU" sz="2000" smtClean="0">
              <a:latin typeface="Helvetica" pitchFamily="34" charset="0"/>
            </a:endParaRPr>
          </a:p>
          <a:p>
            <a:endParaRPr lang="en-US" sz="2000" smtClean="0">
              <a:latin typeface="Helvetica" pitchFamily="34" charset="0"/>
            </a:endParaRPr>
          </a:p>
          <a:p>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31</a:t>
            </a:fld>
            <a:endParaRPr lang="en-US"/>
          </a:p>
        </p:txBody>
      </p:sp>
      <p:pic>
        <p:nvPicPr>
          <p:cNvPr id="29698" name="Picture 2" descr="C:\Documents and Settings\danielc\Local Settings\Temporary Internet Files\Content.IE5\I9R90UNG\MC900230846[1].wmf"/>
          <p:cNvPicPr>
            <a:picLocks noChangeAspect="1" noChangeArrowheads="1"/>
          </p:cNvPicPr>
          <p:nvPr/>
        </p:nvPicPr>
        <p:blipFill>
          <a:blip r:embed="rId3" cstate="print"/>
          <a:srcRect/>
          <a:stretch>
            <a:fillRect/>
          </a:stretch>
        </p:blipFill>
        <p:spPr bwMode="auto">
          <a:xfrm>
            <a:off x="6858016" y="2214554"/>
            <a:ext cx="1661902" cy="1751668"/>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Recording and passing on messages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000" smtClean="0">
                <a:latin typeface="Helvetica" pitchFamily="34" charset="0"/>
              </a:rPr>
              <a:t>Most businesses use a standard form telephone message pad/form to record telephone messages:</a:t>
            </a:r>
          </a:p>
          <a:p>
            <a:pPr lvl="0" indent="-421200">
              <a:spcBef>
                <a:spcPts val="600"/>
              </a:spcBef>
              <a:spcAft>
                <a:spcPts val="1200"/>
              </a:spcAft>
            </a:pPr>
            <a:r>
              <a:rPr lang="en-AU" sz="2000" smtClean="0">
                <a:latin typeface="Helvetica" pitchFamily="34" charset="0"/>
              </a:rPr>
              <a:t>They are ‘duplicate’ – top copy goes to receiver of message; bottom copy stays in book/pad</a:t>
            </a:r>
          </a:p>
          <a:p>
            <a:pPr lvl="0" indent="-421200">
              <a:spcBef>
                <a:spcPts val="600"/>
              </a:spcBef>
              <a:spcAft>
                <a:spcPts val="1200"/>
              </a:spcAft>
            </a:pPr>
            <a:r>
              <a:rPr lang="en-AU" sz="2000" smtClean="0">
                <a:latin typeface="Helvetica" pitchFamily="34" charset="0"/>
              </a:rPr>
              <a:t>When recording a phone message:</a:t>
            </a:r>
          </a:p>
          <a:p>
            <a:pPr lvl="1">
              <a:spcBef>
                <a:spcPts val="600"/>
              </a:spcBef>
              <a:spcAft>
                <a:spcPts val="1200"/>
              </a:spcAft>
            </a:pPr>
            <a:r>
              <a:rPr lang="en-AU" sz="2000" smtClean="0">
                <a:latin typeface="Helvetica" pitchFamily="34" charset="0"/>
              </a:rPr>
              <a:t>Write legibly</a:t>
            </a:r>
          </a:p>
          <a:p>
            <a:pPr lvl="1">
              <a:spcBef>
                <a:spcPts val="600"/>
              </a:spcBef>
              <a:spcAft>
                <a:spcPts val="1200"/>
              </a:spcAft>
            </a:pPr>
            <a:r>
              <a:rPr lang="en-AU" sz="2000" smtClean="0">
                <a:latin typeface="Helvetica" pitchFamily="34" charset="0"/>
              </a:rPr>
              <a:t>Put your name or initials on the message</a:t>
            </a:r>
          </a:p>
          <a:p>
            <a:pPr lvl="1">
              <a:spcBef>
                <a:spcPts val="600"/>
              </a:spcBef>
              <a:spcAft>
                <a:spcPts val="1200"/>
              </a:spcAft>
            </a:pPr>
            <a:r>
              <a:rPr lang="en-AU" sz="2000" smtClean="0">
                <a:latin typeface="Helvetica" pitchFamily="34" charset="0"/>
              </a:rPr>
              <a:t>Include caller details</a:t>
            </a:r>
          </a:p>
          <a:p>
            <a:pPr lvl="1">
              <a:spcBef>
                <a:spcPts val="600"/>
              </a:spcBef>
              <a:spcAft>
                <a:spcPts val="1200"/>
              </a:spcAft>
            </a:pPr>
            <a:r>
              <a:rPr lang="en-AU" sz="2000" smtClean="0">
                <a:latin typeface="Helvetica" pitchFamily="34" charset="0"/>
              </a:rPr>
              <a:t>Include ‘action required or promised’.</a:t>
            </a:r>
          </a:p>
          <a:p>
            <a:pPr lvl="1"/>
            <a:endParaRPr lang="en-AU" sz="2000" smtClean="0">
              <a:latin typeface="Helvetica" pitchFamily="34" charset="0"/>
            </a:endParaRPr>
          </a:p>
          <a:p>
            <a:pPr lvl="1"/>
            <a:endParaRPr lang="en-AU" sz="2000" smtClean="0">
              <a:latin typeface="Helvetica" pitchFamily="34" charset="0"/>
            </a:endParaRPr>
          </a:p>
          <a:p>
            <a:endParaRPr lang="en-US" sz="2000" smtClean="0">
              <a:latin typeface="Helvetica" pitchFamily="34" charset="0"/>
            </a:endParaRPr>
          </a:p>
          <a:p>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32</a:t>
            </a:fld>
            <a:endParaRPr lang="en-US"/>
          </a:p>
        </p:txBody>
      </p:sp>
      <p:pic>
        <p:nvPicPr>
          <p:cNvPr id="30722" name="Picture 2" descr="C:\Documents and Settings\danielc\Local Settings\Temporary Internet Files\Content.IE5\EJ204J5G\MC900215730[1].wmf"/>
          <p:cNvPicPr>
            <a:picLocks noChangeAspect="1" noChangeArrowheads="1"/>
          </p:cNvPicPr>
          <p:nvPr/>
        </p:nvPicPr>
        <p:blipFill>
          <a:blip r:embed="rId3" cstate="print"/>
          <a:srcRect/>
          <a:stretch>
            <a:fillRect/>
          </a:stretch>
        </p:blipFill>
        <p:spPr bwMode="auto">
          <a:xfrm>
            <a:off x="6143636" y="4214818"/>
            <a:ext cx="2784742" cy="1928826"/>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Recording and passing on messages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428736"/>
            <a:ext cx="7467600" cy="4525963"/>
          </a:xfrm>
        </p:spPr>
        <p:txBody>
          <a:bodyPr>
            <a:noAutofit/>
          </a:bodyPr>
          <a:lstStyle/>
          <a:p>
            <a:pPr>
              <a:spcBef>
                <a:spcPts val="600"/>
              </a:spcBef>
              <a:spcAft>
                <a:spcPts val="1200"/>
              </a:spcAft>
              <a:buNone/>
            </a:pPr>
            <a:r>
              <a:rPr lang="en-US" sz="2100" smtClean="0">
                <a:latin typeface="Helvetica" pitchFamily="34" charset="0"/>
              </a:rPr>
              <a:t>Further points to observe when taking telephone messages:</a:t>
            </a:r>
          </a:p>
          <a:p>
            <a:pPr lvl="0">
              <a:spcBef>
                <a:spcPts val="600"/>
              </a:spcBef>
              <a:spcAft>
                <a:spcPts val="1200"/>
              </a:spcAft>
            </a:pPr>
            <a:r>
              <a:rPr lang="en-AU" sz="2100" smtClean="0">
                <a:latin typeface="Helvetica" pitchFamily="34" charset="0"/>
              </a:rPr>
              <a:t>Use any internal electronic system in place at the business:</a:t>
            </a:r>
          </a:p>
          <a:p>
            <a:pPr lvl="1">
              <a:spcBef>
                <a:spcPts val="600"/>
              </a:spcBef>
              <a:spcAft>
                <a:spcPts val="600"/>
              </a:spcAft>
            </a:pPr>
            <a:r>
              <a:rPr lang="en-AU" sz="2100" smtClean="0">
                <a:latin typeface="Helvetica" pitchFamily="34" charset="0"/>
              </a:rPr>
              <a:t>Facilitates recording of message</a:t>
            </a:r>
          </a:p>
          <a:p>
            <a:pPr lvl="1">
              <a:spcBef>
                <a:spcPts val="600"/>
              </a:spcBef>
              <a:spcAft>
                <a:spcPts val="600"/>
              </a:spcAft>
            </a:pPr>
            <a:r>
              <a:rPr lang="en-AU" sz="2100" smtClean="0">
                <a:latin typeface="Helvetica" pitchFamily="34" charset="0"/>
              </a:rPr>
              <a:t>Saves time</a:t>
            </a:r>
          </a:p>
          <a:p>
            <a:pPr lvl="1">
              <a:spcBef>
                <a:spcPts val="600"/>
              </a:spcBef>
              <a:spcAft>
                <a:spcPts val="600"/>
              </a:spcAft>
            </a:pPr>
            <a:r>
              <a:rPr lang="en-AU" sz="2100" smtClean="0">
                <a:latin typeface="Helvetica" pitchFamily="34" charset="0"/>
              </a:rPr>
              <a:t>Makes distribution of messages easier</a:t>
            </a:r>
          </a:p>
          <a:p>
            <a:pPr>
              <a:spcBef>
                <a:spcPts val="600"/>
              </a:spcBef>
              <a:spcAft>
                <a:spcPts val="1200"/>
              </a:spcAft>
            </a:pPr>
            <a:r>
              <a:rPr lang="en-AU" sz="2100" smtClean="0">
                <a:latin typeface="Helvetica" pitchFamily="34" charset="0"/>
              </a:rPr>
              <a:t>Never take messages on scraps of paper:</a:t>
            </a:r>
          </a:p>
          <a:p>
            <a:pPr lvl="1">
              <a:spcBef>
                <a:spcPts val="600"/>
              </a:spcBef>
              <a:spcAft>
                <a:spcPts val="600"/>
              </a:spcAft>
            </a:pPr>
            <a:r>
              <a:rPr lang="en-AU" sz="2100" smtClean="0">
                <a:latin typeface="Helvetica" pitchFamily="34" charset="0"/>
              </a:rPr>
              <a:t>It is unprofessional</a:t>
            </a:r>
          </a:p>
          <a:p>
            <a:pPr lvl="1">
              <a:spcBef>
                <a:spcPts val="600"/>
              </a:spcBef>
              <a:spcAft>
                <a:spcPts val="600"/>
              </a:spcAft>
            </a:pPr>
            <a:r>
              <a:rPr lang="en-AU" sz="2100" smtClean="0">
                <a:latin typeface="Helvetica" pitchFamily="34" charset="0"/>
              </a:rPr>
              <a:t>They are easy to lose</a:t>
            </a:r>
          </a:p>
          <a:p>
            <a:pPr lvl="1">
              <a:spcBef>
                <a:spcPts val="600"/>
              </a:spcBef>
              <a:spcAft>
                <a:spcPts val="600"/>
              </a:spcAft>
            </a:pPr>
            <a:r>
              <a:rPr lang="en-AU" sz="2100" smtClean="0">
                <a:latin typeface="Helvetica" pitchFamily="34" charset="0"/>
              </a:rPr>
              <a:t>They do not prompt you to capture all message details.</a:t>
            </a:r>
          </a:p>
          <a:p>
            <a:pPr lvl="0">
              <a:spcBef>
                <a:spcPts val="600"/>
              </a:spcBef>
              <a:spcAft>
                <a:spcPts val="1200"/>
              </a:spcAft>
            </a:pPr>
            <a:endParaRPr lang="en-AU" sz="2100" smtClean="0">
              <a:latin typeface="Helvetica" pitchFamily="34" charset="0"/>
            </a:endParaRPr>
          </a:p>
          <a:p>
            <a:pPr>
              <a:spcBef>
                <a:spcPts val="600"/>
              </a:spcBef>
              <a:spcAft>
                <a:spcPts val="1200"/>
              </a:spcAft>
            </a:pPr>
            <a:endParaRPr lang="en-US" sz="2100" smtClean="0">
              <a:latin typeface="Helvetica" pitchFamily="34" charset="0"/>
            </a:endParaRP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33</a:t>
            </a:fld>
            <a:endParaRPr lang="en-US"/>
          </a:p>
        </p:txBody>
      </p:sp>
      <p:pic>
        <p:nvPicPr>
          <p:cNvPr id="31746" name="Picture 2" descr="C:\Documents and Settings\danielc\Local Settings\Temporary Internet Files\Content.IE5\YP6W50B7\MC900287283[1].wmf"/>
          <p:cNvPicPr>
            <a:picLocks noChangeAspect="1" noChangeArrowheads="1"/>
          </p:cNvPicPr>
          <p:nvPr/>
        </p:nvPicPr>
        <p:blipFill>
          <a:blip r:embed="rId3" cstate="print"/>
          <a:srcRect/>
          <a:stretch>
            <a:fillRect/>
          </a:stretch>
        </p:blipFill>
        <p:spPr bwMode="auto">
          <a:xfrm>
            <a:off x="6572264" y="3071810"/>
            <a:ext cx="2170699" cy="1785950"/>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Relaying telephone messages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403367"/>
            <a:ext cx="7467600" cy="4525963"/>
          </a:xfrm>
        </p:spPr>
        <p:txBody>
          <a:bodyPr>
            <a:noAutofit/>
          </a:bodyPr>
          <a:lstStyle/>
          <a:p>
            <a:pPr marL="0">
              <a:lnSpc>
                <a:spcPct val="110000"/>
              </a:lnSpc>
              <a:spcBef>
                <a:spcPts val="600"/>
              </a:spcBef>
              <a:spcAft>
                <a:spcPts val="1200"/>
              </a:spcAft>
              <a:buNone/>
            </a:pPr>
            <a:r>
              <a:rPr lang="en-US" sz="2000" smtClean="0">
                <a:latin typeface="Helvetica" pitchFamily="34" charset="0"/>
              </a:rPr>
              <a:t>Check with Supervisor for company procedures for relaying telephone messages. Options include:</a:t>
            </a:r>
          </a:p>
          <a:p>
            <a:pPr lvl="0">
              <a:spcBef>
                <a:spcPts val="600"/>
              </a:spcBef>
              <a:spcAft>
                <a:spcPts val="1200"/>
              </a:spcAft>
            </a:pPr>
            <a:r>
              <a:rPr lang="en-AU" sz="2000" smtClean="0">
                <a:latin typeface="Helvetica" pitchFamily="34" charset="0"/>
              </a:rPr>
              <a:t>Placing in person’s pigeon hole</a:t>
            </a:r>
          </a:p>
          <a:p>
            <a:pPr lvl="0">
              <a:spcBef>
                <a:spcPts val="600"/>
              </a:spcBef>
              <a:spcAft>
                <a:spcPts val="1200"/>
              </a:spcAft>
            </a:pPr>
            <a:r>
              <a:rPr lang="en-AU" sz="2000" smtClean="0">
                <a:latin typeface="Helvetica" pitchFamily="34" charset="0"/>
              </a:rPr>
              <a:t>Pinning it on the staff notice board</a:t>
            </a:r>
          </a:p>
          <a:p>
            <a:pPr lvl="0">
              <a:spcBef>
                <a:spcPts val="600"/>
              </a:spcBef>
              <a:spcAft>
                <a:spcPts val="1200"/>
              </a:spcAft>
            </a:pPr>
            <a:r>
              <a:rPr lang="en-AU" sz="2000" smtClean="0">
                <a:latin typeface="Helvetica" pitchFamily="34" charset="0"/>
              </a:rPr>
              <a:t>Sending the person an email</a:t>
            </a:r>
          </a:p>
          <a:p>
            <a:pPr lvl="0">
              <a:spcBef>
                <a:spcPts val="600"/>
              </a:spcBef>
              <a:spcAft>
                <a:spcPts val="1200"/>
              </a:spcAft>
            </a:pPr>
            <a:r>
              <a:rPr lang="en-AU" sz="2000" smtClean="0">
                <a:latin typeface="Helvetica" pitchFamily="34" charset="0"/>
              </a:rPr>
              <a:t>Physically taking the message and handing it to them</a:t>
            </a:r>
          </a:p>
          <a:p>
            <a:pPr lvl="0">
              <a:spcBef>
                <a:spcPts val="600"/>
              </a:spcBef>
              <a:spcAft>
                <a:spcPts val="1200"/>
              </a:spcAft>
            </a:pPr>
            <a:r>
              <a:rPr lang="en-AU" sz="2000" smtClean="0">
                <a:latin typeface="Helvetica" pitchFamily="34" charset="0"/>
              </a:rPr>
              <a:t>Leaving the person a voice message to let them know they have a message.</a:t>
            </a:r>
          </a:p>
          <a:p>
            <a:endParaRPr lang="en-US" sz="2000" smtClean="0">
              <a:latin typeface="Helvetica" pitchFamily="34" charset="0"/>
            </a:endParaRPr>
          </a:p>
          <a:p>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34</a:t>
            </a:fld>
            <a:endParaRPr lang="en-US"/>
          </a:p>
        </p:txBody>
      </p:sp>
      <p:pic>
        <p:nvPicPr>
          <p:cNvPr id="32770" name="Picture 2" descr="C:\Documents and Settings\danielc\Local Settings\Temporary Internet Files\Content.IE5\A0P7OY30\MP900443235[1].jpg"/>
          <p:cNvPicPr>
            <a:picLocks noChangeAspect="1" noChangeArrowheads="1"/>
          </p:cNvPicPr>
          <p:nvPr/>
        </p:nvPicPr>
        <p:blipFill>
          <a:blip r:embed="rId3" cstate="print"/>
          <a:srcRect/>
          <a:stretch>
            <a:fillRect/>
          </a:stretch>
        </p:blipFill>
        <p:spPr bwMode="auto">
          <a:xfrm>
            <a:off x="6643702" y="2214554"/>
            <a:ext cx="2111122" cy="1404928"/>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Relaying telephone messages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474805"/>
            <a:ext cx="7467600" cy="4525963"/>
          </a:xfrm>
        </p:spPr>
        <p:txBody>
          <a:bodyPr>
            <a:normAutofit/>
          </a:bodyPr>
          <a:lstStyle/>
          <a:p>
            <a:pPr marL="0">
              <a:spcBef>
                <a:spcPts val="600"/>
              </a:spcBef>
              <a:spcAft>
                <a:spcPts val="1200"/>
              </a:spcAft>
              <a:buNone/>
            </a:pPr>
            <a:r>
              <a:rPr lang="en-US" sz="2100" smtClean="0">
                <a:latin typeface="Helvetica" pitchFamily="34" charset="0"/>
              </a:rPr>
              <a:t>Additional points to note regarding relaying telephone message include:</a:t>
            </a:r>
          </a:p>
          <a:p>
            <a:pPr lvl="0">
              <a:spcBef>
                <a:spcPts val="600"/>
              </a:spcBef>
              <a:spcAft>
                <a:spcPts val="1200"/>
              </a:spcAft>
            </a:pPr>
            <a:r>
              <a:rPr lang="en-AU" sz="2100" smtClean="0">
                <a:latin typeface="Helvetica" pitchFamily="34" charset="0"/>
              </a:rPr>
              <a:t>Never leave telephone messages in the telephone message book</a:t>
            </a:r>
          </a:p>
          <a:p>
            <a:pPr lvl="0">
              <a:spcBef>
                <a:spcPts val="600"/>
              </a:spcBef>
              <a:spcAft>
                <a:spcPts val="1200"/>
              </a:spcAft>
            </a:pPr>
            <a:r>
              <a:rPr lang="en-AU" sz="2100" smtClean="0">
                <a:latin typeface="Helvetica" pitchFamily="34" charset="0"/>
              </a:rPr>
              <a:t>Always follow up on messages</a:t>
            </a:r>
          </a:p>
          <a:p>
            <a:pPr lvl="0">
              <a:spcBef>
                <a:spcPts val="600"/>
              </a:spcBef>
              <a:spcAft>
                <a:spcPts val="1200"/>
              </a:spcAft>
            </a:pPr>
            <a:r>
              <a:rPr lang="en-AU" sz="2100" smtClean="0">
                <a:latin typeface="Helvetica" pitchFamily="34" charset="0"/>
              </a:rPr>
              <a:t>Relay all telephone messages promptly</a:t>
            </a:r>
          </a:p>
          <a:p>
            <a:pPr lvl="0">
              <a:spcBef>
                <a:spcPts val="600"/>
              </a:spcBef>
              <a:spcAft>
                <a:spcPts val="1200"/>
              </a:spcAft>
            </a:pPr>
            <a:r>
              <a:rPr lang="en-AU" sz="2100" smtClean="0">
                <a:latin typeface="Helvetica" pitchFamily="34" charset="0"/>
              </a:rPr>
              <a:t>Notify Supervisor where messages have not or cannot be delivered.</a:t>
            </a:r>
          </a:p>
          <a:p>
            <a:endParaRPr lang="en-US" sz="2100" smtClean="0">
              <a:latin typeface="Helvetica" pitchFamily="34" charset="0"/>
            </a:endParaRPr>
          </a:p>
          <a:p>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35</a:t>
            </a:fld>
            <a:endParaRPr lang="en-US"/>
          </a:p>
        </p:txBody>
      </p:sp>
      <p:pic>
        <p:nvPicPr>
          <p:cNvPr id="33794" name="Picture 2" descr="C:\Documents and Settings\danielc\Local Settings\Temporary Internet Files\Content.IE5\7NII6ZZT\MP900448493[1].jpg"/>
          <p:cNvPicPr>
            <a:picLocks noChangeAspect="1" noChangeArrowheads="1"/>
          </p:cNvPicPr>
          <p:nvPr/>
        </p:nvPicPr>
        <p:blipFill>
          <a:blip r:embed="rId3" cstate="print"/>
          <a:srcRect/>
          <a:stretch>
            <a:fillRect/>
          </a:stretch>
        </p:blipFill>
        <p:spPr bwMode="auto">
          <a:xfrm>
            <a:off x="3428992" y="4905406"/>
            <a:ext cx="2285984" cy="1523990"/>
          </a:xfrm>
          <a:prstGeom prst="rect">
            <a:avLst/>
          </a:prstGeom>
          <a:noFill/>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Reporting threatening or suspicious phone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a:spcBef>
                <a:spcPts val="600"/>
              </a:spcBef>
              <a:spcAft>
                <a:spcPts val="1200"/>
              </a:spcAft>
              <a:buNone/>
            </a:pPr>
            <a:r>
              <a:rPr lang="en-US" sz="2200" smtClean="0">
                <a:latin typeface="Helvetica" pitchFamily="34" charset="0"/>
              </a:rPr>
              <a:t>Where you receive a threatening or suspicious phone call:</a:t>
            </a:r>
          </a:p>
          <a:p>
            <a:pPr lvl="0">
              <a:spcBef>
                <a:spcPts val="600"/>
              </a:spcBef>
              <a:spcAft>
                <a:spcPts val="1200"/>
              </a:spcAft>
            </a:pPr>
            <a:r>
              <a:rPr lang="en-AU" sz="2200" smtClean="0">
                <a:latin typeface="Helvetica" pitchFamily="34" charset="0"/>
              </a:rPr>
              <a:t>Adhere to workplace requirements as set out in policies and procedures, on-the-job training</a:t>
            </a:r>
          </a:p>
          <a:p>
            <a:pPr lvl="0">
              <a:spcBef>
                <a:spcPts val="600"/>
              </a:spcBef>
              <a:spcAft>
                <a:spcPts val="1200"/>
              </a:spcAft>
            </a:pPr>
            <a:r>
              <a:rPr lang="en-AU" sz="2200" smtClean="0">
                <a:latin typeface="Helvetica" pitchFamily="34" charset="0"/>
              </a:rPr>
              <a:t>Ask questions</a:t>
            </a:r>
          </a:p>
          <a:p>
            <a:pPr lvl="0">
              <a:spcBef>
                <a:spcPts val="600"/>
              </a:spcBef>
              <a:spcAft>
                <a:spcPts val="1200"/>
              </a:spcAft>
            </a:pPr>
            <a:r>
              <a:rPr lang="en-AU" sz="2200" smtClean="0">
                <a:latin typeface="Helvetica" pitchFamily="34" charset="0"/>
              </a:rPr>
              <a:t>Use specific form to record call and caller details</a:t>
            </a:r>
          </a:p>
          <a:p>
            <a:pPr lvl="0">
              <a:spcBef>
                <a:spcPts val="600"/>
              </a:spcBef>
              <a:spcAft>
                <a:spcPts val="1200"/>
              </a:spcAft>
            </a:pPr>
            <a:r>
              <a:rPr lang="en-AU" sz="2200" smtClean="0">
                <a:latin typeface="Helvetica" pitchFamily="34" charset="0"/>
              </a:rPr>
              <a:t>Alert management as soon as possible</a:t>
            </a:r>
          </a:p>
          <a:p>
            <a:pPr lvl="0">
              <a:spcBef>
                <a:spcPts val="600"/>
              </a:spcBef>
              <a:spcAft>
                <a:spcPts val="1200"/>
              </a:spcAft>
            </a:pPr>
            <a:r>
              <a:rPr lang="en-AU" sz="2200" smtClean="0">
                <a:latin typeface="Helvetica" pitchFamily="34" charset="0"/>
              </a:rPr>
              <a:t>NEVER treat call as a hoax.</a:t>
            </a:r>
          </a:p>
          <a:p>
            <a:pPr lvl="0"/>
            <a:endParaRPr lang="en-AU" sz="2200" smtClean="0">
              <a:latin typeface="Helvetica" pitchFamily="34" charset="0"/>
            </a:endParaRPr>
          </a:p>
          <a:p>
            <a:endParaRPr lang="en-US" sz="2200" smtClean="0">
              <a:latin typeface="Helvetica" pitchFamily="34" charset="0"/>
            </a:endParaRPr>
          </a:p>
          <a:p>
            <a:endParaRPr lang="en-US" sz="22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36</a:t>
            </a:fld>
            <a:endParaRPr lang="en-US"/>
          </a:p>
        </p:txBody>
      </p:sp>
      <p:pic>
        <p:nvPicPr>
          <p:cNvPr id="34818" name="Picture 2" descr="C:\Documents and Settings\danielc\Local Settings\Temporary Internet Files\Content.IE5\I9R90UNG\MC900048774[1].wmf"/>
          <p:cNvPicPr>
            <a:picLocks noChangeAspect="1" noChangeArrowheads="1"/>
          </p:cNvPicPr>
          <p:nvPr/>
        </p:nvPicPr>
        <p:blipFill>
          <a:blip r:embed="rId3" cstate="print"/>
          <a:srcRect/>
          <a:stretch>
            <a:fillRect/>
          </a:stretch>
        </p:blipFill>
        <p:spPr bwMode="auto">
          <a:xfrm>
            <a:off x="6500826" y="4286256"/>
            <a:ext cx="1668780" cy="1694383"/>
          </a:xfrm>
          <a:prstGeom prst="rect">
            <a:avLst/>
          </a:prstGeom>
          <a:noFill/>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Reporting threatening or suspicious phone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a:spcBef>
                <a:spcPts val="600"/>
              </a:spcBef>
              <a:spcAft>
                <a:spcPts val="1200"/>
              </a:spcAft>
              <a:buNone/>
            </a:pPr>
            <a:r>
              <a:rPr lang="en-US" sz="2100" smtClean="0">
                <a:latin typeface="Helvetica" pitchFamily="34" charset="0"/>
              </a:rPr>
              <a:t>If you receive a bomb threat phone call:</a:t>
            </a:r>
          </a:p>
          <a:p>
            <a:pPr lvl="0">
              <a:spcBef>
                <a:spcPts val="600"/>
              </a:spcBef>
              <a:spcAft>
                <a:spcPts val="1200"/>
              </a:spcAft>
            </a:pPr>
            <a:r>
              <a:rPr lang="en-AU" sz="2100" smtClean="0">
                <a:latin typeface="Helvetica" pitchFamily="34" charset="0"/>
              </a:rPr>
              <a:t>Record the call on a Bomb Threat form</a:t>
            </a:r>
          </a:p>
          <a:p>
            <a:pPr>
              <a:spcBef>
                <a:spcPts val="600"/>
              </a:spcBef>
              <a:spcAft>
                <a:spcPts val="1200"/>
              </a:spcAft>
            </a:pPr>
            <a:r>
              <a:rPr lang="en-AU" sz="2100" smtClean="0">
                <a:latin typeface="Helvetica" pitchFamily="34" charset="0"/>
              </a:rPr>
              <a:t>Ask lots of questions such as [see Bomb Threat Form/Checklist]:</a:t>
            </a:r>
          </a:p>
          <a:p>
            <a:pPr lvl="1">
              <a:spcBef>
                <a:spcPts val="600"/>
              </a:spcBef>
              <a:spcAft>
                <a:spcPts val="600"/>
              </a:spcAft>
            </a:pPr>
            <a:r>
              <a:rPr lang="en-AU" sz="2100" smtClean="0">
                <a:latin typeface="Helvetica" pitchFamily="34" charset="0"/>
              </a:rPr>
              <a:t>What kind of bomb is it?</a:t>
            </a:r>
          </a:p>
          <a:p>
            <a:pPr lvl="1">
              <a:spcBef>
                <a:spcPts val="600"/>
              </a:spcBef>
              <a:spcAft>
                <a:spcPts val="600"/>
              </a:spcAft>
            </a:pPr>
            <a:r>
              <a:rPr lang="en-AU" sz="2100" smtClean="0">
                <a:latin typeface="Helvetica" pitchFamily="34" charset="0"/>
              </a:rPr>
              <a:t>What will cause it to explode?</a:t>
            </a:r>
          </a:p>
          <a:p>
            <a:pPr lvl="1">
              <a:spcBef>
                <a:spcPts val="600"/>
              </a:spcBef>
              <a:spcAft>
                <a:spcPts val="600"/>
              </a:spcAft>
            </a:pPr>
            <a:r>
              <a:rPr lang="en-AU" sz="2100" smtClean="0">
                <a:latin typeface="Helvetica" pitchFamily="34" charset="0"/>
              </a:rPr>
              <a:t>Why did you plant it?</a:t>
            </a:r>
          </a:p>
          <a:p>
            <a:pPr>
              <a:spcBef>
                <a:spcPts val="600"/>
              </a:spcBef>
              <a:spcAft>
                <a:spcPts val="1200"/>
              </a:spcAft>
            </a:pPr>
            <a:r>
              <a:rPr lang="en-AU" sz="2100" smtClean="0">
                <a:latin typeface="Helvetica" pitchFamily="34" charset="0"/>
              </a:rPr>
              <a:t>Alert nearby staff you are taking a bomb threat</a:t>
            </a:r>
          </a:p>
          <a:p>
            <a:pPr>
              <a:spcBef>
                <a:spcPts val="600"/>
              </a:spcBef>
              <a:spcAft>
                <a:spcPts val="1200"/>
              </a:spcAft>
            </a:pPr>
            <a:r>
              <a:rPr lang="en-AU" sz="2100" smtClean="0">
                <a:latin typeface="Helvetica" pitchFamily="34" charset="0"/>
              </a:rPr>
              <a:t>Treat every call as genuine.</a:t>
            </a:r>
            <a:endParaRPr lang="en-US" sz="2100" smtClean="0">
              <a:latin typeface="Helvetica" pitchFamily="34" charset="0"/>
            </a:endParaRPr>
          </a:p>
          <a:p>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37</a:t>
            </a:fld>
            <a:endParaRPr lang="en-US"/>
          </a:p>
        </p:txBody>
      </p:sp>
      <p:pic>
        <p:nvPicPr>
          <p:cNvPr id="35842" name="Picture 2" descr="C:\Documents and Settings\danielc\Local Settings\Temporary Internet Files\Content.IE5\EJ204J5G\MC900312474[1].wmf"/>
          <p:cNvPicPr>
            <a:picLocks noChangeAspect="1" noChangeArrowheads="1"/>
          </p:cNvPicPr>
          <p:nvPr/>
        </p:nvPicPr>
        <p:blipFill>
          <a:blip r:embed="rId3" cstate="print"/>
          <a:srcRect/>
          <a:stretch>
            <a:fillRect/>
          </a:stretch>
        </p:blipFill>
        <p:spPr bwMode="auto">
          <a:xfrm>
            <a:off x="7000892" y="1428736"/>
            <a:ext cx="1487729" cy="1785823"/>
          </a:xfrm>
          <a:prstGeom prst="rect">
            <a:avLst/>
          </a:prstGeom>
          <a:noFill/>
        </p:spPr>
      </p:pic>
      <p:pic>
        <p:nvPicPr>
          <p:cNvPr id="35843" name="Picture 3" descr="C:\Documents and Settings\danielc\Local Settings\Temporary Internet Files\Content.IE5\E5HVZFEA\MC900058942[1].wmf"/>
          <p:cNvPicPr>
            <a:picLocks noChangeAspect="1" noChangeArrowheads="1"/>
          </p:cNvPicPr>
          <p:nvPr/>
        </p:nvPicPr>
        <p:blipFill>
          <a:blip r:embed="rId4" cstate="print"/>
          <a:srcRect/>
          <a:stretch>
            <a:fillRect/>
          </a:stretch>
        </p:blipFill>
        <p:spPr bwMode="auto">
          <a:xfrm>
            <a:off x="7000892" y="4786322"/>
            <a:ext cx="1788566" cy="1294790"/>
          </a:xfrm>
          <a:prstGeom prst="rect">
            <a:avLst/>
          </a:prstGeom>
          <a:noFill/>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appropriate language, tone and volume</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200" smtClean="0">
                <a:latin typeface="Helvetica" pitchFamily="34" charset="0"/>
              </a:rPr>
              <a:t>Standard requirements when answering or using a phone are:</a:t>
            </a:r>
          </a:p>
          <a:p>
            <a:pPr lvl="0">
              <a:spcBef>
                <a:spcPts val="600"/>
              </a:spcBef>
              <a:spcAft>
                <a:spcPts val="1200"/>
              </a:spcAft>
            </a:pPr>
            <a:r>
              <a:rPr lang="en-AU" sz="2200" smtClean="0">
                <a:latin typeface="Helvetica" pitchFamily="34" charset="0"/>
              </a:rPr>
              <a:t>Being polite and respectful</a:t>
            </a:r>
          </a:p>
          <a:p>
            <a:pPr lvl="0">
              <a:spcBef>
                <a:spcPts val="600"/>
              </a:spcBef>
              <a:spcAft>
                <a:spcPts val="1200"/>
              </a:spcAft>
            </a:pPr>
            <a:r>
              <a:rPr lang="en-AU" sz="2200" smtClean="0">
                <a:latin typeface="Helvetica" pitchFamily="34" charset="0"/>
              </a:rPr>
              <a:t>Speaking correctly and distinctly</a:t>
            </a:r>
          </a:p>
          <a:p>
            <a:pPr lvl="0">
              <a:spcBef>
                <a:spcPts val="600"/>
              </a:spcBef>
              <a:spcAft>
                <a:spcPts val="1200"/>
              </a:spcAft>
            </a:pPr>
            <a:r>
              <a:rPr lang="en-AU" sz="2200" smtClean="0">
                <a:latin typeface="Helvetica" pitchFamily="34" charset="0"/>
              </a:rPr>
              <a:t>Not using slang, jargon or other unacceptable language.</a:t>
            </a: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38</a:t>
            </a:fld>
            <a:endParaRPr lang="en-US"/>
          </a:p>
        </p:txBody>
      </p:sp>
      <p:pic>
        <p:nvPicPr>
          <p:cNvPr id="36866" name="Picture 2" descr="C:\Documents and Settings\danielc\Local Settings\Temporary Internet Files\Content.IE5\A4B80UVD\MC900250406[1].wmf"/>
          <p:cNvPicPr>
            <a:picLocks noChangeAspect="1" noChangeArrowheads="1"/>
          </p:cNvPicPr>
          <p:nvPr/>
        </p:nvPicPr>
        <p:blipFill>
          <a:blip r:embed="rId3" cstate="print"/>
          <a:srcRect/>
          <a:stretch>
            <a:fillRect/>
          </a:stretch>
        </p:blipFill>
        <p:spPr bwMode="auto">
          <a:xfrm>
            <a:off x="5572132" y="4143380"/>
            <a:ext cx="2951430" cy="1536071"/>
          </a:xfrm>
          <a:prstGeom prst="rect">
            <a:avLst/>
          </a:prstGeom>
          <a:noFill/>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appropriate language, tone and volume</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buNone/>
            </a:pPr>
            <a:r>
              <a:rPr lang="en-US" sz="2100" smtClean="0">
                <a:latin typeface="Helvetica" pitchFamily="34" charset="0"/>
              </a:rPr>
              <a:t>Your voice must convey </a:t>
            </a:r>
            <a:r>
              <a:rPr lang="en-AU" sz="2100" smtClean="0">
                <a:latin typeface="Helvetica" pitchFamily="34" charset="0"/>
              </a:rPr>
              <a:t>warmth, interest, sincerity and a willingness to be of service and assistance but at times you may need to ‘match your voice to the call’ </a:t>
            </a:r>
            <a:r>
              <a:rPr lang="en-US" sz="2100" smtClean="0">
                <a:latin typeface="Helvetica" pitchFamily="34" charset="0"/>
              </a:rPr>
              <a:t>:</a:t>
            </a:r>
          </a:p>
          <a:p>
            <a:pPr lvl="0"/>
            <a:endParaRPr lang="en-AU" sz="2100" smtClean="0">
              <a:latin typeface="Helvetica" pitchFamily="34" charset="0"/>
            </a:endParaRPr>
          </a:p>
          <a:p>
            <a:pPr lvl="0">
              <a:spcBef>
                <a:spcPts val="600"/>
              </a:spcBef>
              <a:spcAft>
                <a:spcPts val="1200"/>
              </a:spcAft>
            </a:pPr>
            <a:r>
              <a:rPr lang="en-AU" sz="2100" smtClean="0">
                <a:latin typeface="Helvetica" pitchFamily="34" charset="0"/>
              </a:rPr>
              <a:t>You can raise your voice if the environment is noisy, caller has asked you to or caller has difficulty hearing</a:t>
            </a:r>
          </a:p>
          <a:p>
            <a:pPr lvl="0">
              <a:spcBef>
                <a:spcPts val="600"/>
              </a:spcBef>
              <a:spcAft>
                <a:spcPts val="1200"/>
              </a:spcAft>
            </a:pPr>
            <a:r>
              <a:rPr lang="en-AU" sz="2100" smtClean="0">
                <a:latin typeface="Helvetica" pitchFamily="34" charset="0"/>
              </a:rPr>
              <a:t>You can use industry or business terminology where caller is familiar with your business/ or industry</a:t>
            </a:r>
          </a:p>
          <a:p>
            <a:pPr lvl="0">
              <a:spcBef>
                <a:spcPts val="600"/>
              </a:spcBef>
              <a:spcAft>
                <a:spcPts val="1200"/>
              </a:spcAft>
            </a:pPr>
            <a:r>
              <a:rPr lang="en-AU" sz="2100" smtClean="0">
                <a:latin typeface="Helvetica" pitchFamily="34" charset="0"/>
              </a:rPr>
              <a:t>You can change tone of voice where the focus of the call indicates or demands you do so</a:t>
            </a:r>
          </a:p>
          <a:p>
            <a:pPr lvl="0"/>
            <a:endParaRPr lang="en-AU" sz="2100" smtClean="0">
              <a:latin typeface="Helvetica" pitchFamily="34" charset="0"/>
            </a:endParaRPr>
          </a:p>
          <a:p>
            <a:pPr lvl="0"/>
            <a:endParaRPr lang="en-AU" sz="2100" smtClean="0">
              <a:latin typeface="Helvetica" pitchFamily="34" charset="0"/>
            </a:endParaRPr>
          </a:p>
          <a:p>
            <a:endParaRPr lang="en-US" sz="2100" smtClean="0">
              <a:latin typeface="Helvetica" pitchFamily="34" charset="0"/>
            </a:endParaRPr>
          </a:p>
          <a:p>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appropriate language, tone and volume</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100" smtClean="0">
                <a:latin typeface="Helvetica" pitchFamily="34" charset="0"/>
              </a:rPr>
              <a:t>If you receive a call from a person who is rude or aggressive you cannot respond to them in the same way. You:</a:t>
            </a:r>
          </a:p>
          <a:p>
            <a:pPr lvl="0">
              <a:spcBef>
                <a:spcPts val="600"/>
              </a:spcBef>
              <a:spcAft>
                <a:spcPts val="1200"/>
              </a:spcAft>
            </a:pPr>
            <a:r>
              <a:rPr lang="en-AU" sz="2100" b="1" smtClean="0">
                <a:latin typeface="Helvetica" pitchFamily="34" charset="0"/>
              </a:rPr>
              <a:t>Must not</a:t>
            </a:r>
            <a:r>
              <a:rPr lang="en-AU" sz="2100" smtClean="0">
                <a:latin typeface="Helvetica" pitchFamily="34" charset="0"/>
              </a:rPr>
              <a:t> swear back at someone </a:t>
            </a:r>
          </a:p>
          <a:p>
            <a:pPr lvl="0">
              <a:spcBef>
                <a:spcPts val="600"/>
              </a:spcBef>
              <a:spcAft>
                <a:spcPts val="1200"/>
              </a:spcAft>
            </a:pPr>
            <a:r>
              <a:rPr lang="en-AU" sz="2100" b="1" smtClean="0">
                <a:latin typeface="Helvetica" pitchFamily="34" charset="0"/>
              </a:rPr>
              <a:t>Must not</a:t>
            </a:r>
            <a:r>
              <a:rPr lang="en-AU" sz="2100" smtClean="0">
                <a:latin typeface="Helvetica" pitchFamily="34" charset="0"/>
              </a:rPr>
              <a:t> use the same tone of voice as used by the caller</a:t>
            </a:r>
          </a:p>
          <a:p>
            <a:pPr lvl="0">
              <a:spcBef>
                <a:spcPts val="600"/>
              </a:spcBef>
              <a:spcAft>
                <a:spcPts val="1200"/>
              </a:spcAft>
            </a:pPr>
            <a:r>
              <a:rPr lang="en-AU" sz="2100" b="1" smtClean="0">
                <a:latin typeface="Helvetica" pitchFamily="34" charset="0"/>
              </a:rPr>
              <a:t>Must not</a:t>
            </a:r>
            <a:r>
              <a:rPr lang="en-AU" sz="2100" smtClean="0">
                <a:latin typeface="Helvetica" pitchFamily="34" charset="0"/>
              </a:rPr>
              <a:t> use the same style of language</a:t>
            </a:r>
          </a:p>
          <a:p>
            <a:pPr lvl="0">
              <a:spcBef>
                <a:spcPts val="600"/>
              </a:spcBef>
              <a:spcAft>
                <a:spcPts val="1200"/>
              </a:spcAft>
            </a:pPr>
            <a:r>
              <a:rPr lang="en-AU" sz="2100" b="1" smtClean="0">
                <a:latin typeface="Helvetica" pitchFamily="34" charset="0"/>
              </a:rPr>
              <a:t>Must not</a:t>
            </a:r>
            <a:r>
              <a:rPr lang="en-AU" sz="2100" smtClean="0">
                <a:latin typeface="Helvetica" pitchFamily="34" charset="0"/>
              </a:rPr>
              <a:t> be rude, in return</a:t>
            </a:r>
          </a:p>
          <a:p>
            <a:endParaRPr lang="en-US" sz="2100" smtClean="0">
              <a:latin typeface="Helvetica" pitchFamily="34" charset="0"/>
            </a:endParaRPr>
          </a:p>
          <a:p>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40</a:t>
            </a:fld>
            <a:endParaRPr lang="en-US"/>
          </a:p>
        </p:txBody>
      </p:sp>
      <p:pic>
        <p:nvPicPr>
          <p:cNvPr id="37890" name="Picture 2" descr="C:\Documents and Settings\danielc\Local Settings\Temporary Internet Files\Content.IE5\YP6W50B7\MC900434699[1].wmf"/>
          <p:cNvPicPr>
            <a:picLocks noChangeAspect="1" noChangeArrowheads="1"/>
          </p:cNvPicPr>
          <p:nvPr/>
        </p:nvPicPr>
        <p:blipFill>
          <a:blip r:embed="rId3" cstate="print"/>
          <a:srcRect/>
          <a:stretch>
            <a:fillRect/>
          </a:stretch>
        </p:blipFill>
        <p:spPr bwMode="auto">
          <a:xfrm>
            <a:off x="7429520" y="2500306"/>
            <a:ext cx="1485897" cy="1508074"/>
          </a:xfrm>
          <a:prstGeom prst="rect">
            <a:avLst/>
          </a:prstGeom>
          <a:noFill/>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appropriate language, tone and volume</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buNone/>
            </a:pPr>
            <a:r>
              <a:rPr lang="en-US" sz="2000" smtClean="0">
                <a:latin typeface="Helvetica" pitchFamily="34" charset="0"/>
              </a:rPr>
              <a:t>Keys to respond effectively to rude or aggressive callers are:</a:t>
            </a:r>
          </a:p>
          <a:p>
            <a:pPr lvl="0"/>
            <a:endParaRPr lang="en-AU" sz="2000" smtClean="0">
              <a:latin typeface="Helvetica" pitchFamily="34" charset="0"/>
            </a:endParaRPr>
          </a:p>
          <a:p>
            <a:pPr lvl="0"/>
            <a:r>
              <a:rPr lang="en-AU" sz="2000" smtClean="0">
                <a:latin typeface="Helvetica" pitchFamily="34" charset="0"/>
              </a:rPr>
              <a:t>To remain calm and in control </a:t>
            </a:r>
          </a:p>
          <a:p>
            <a:pPr lvl="0"/>
            <a:endParaRPr lang="en-AU" sz="2000" smtClean="0">
              <a:latin typeface="Helvetica" pitchFamily="34" charset="0"/>
            </a:endParaRPr>
          </a:p>
          <a:p>
            <a:pPr lvl="0"/>
            <a:r>
              <a:rPr lang="en-AU" sz="2000" smtClean="0">
                <a:latin typeface="Helvetica" pitchFamily="34" charset="0"/>
              </a:rPr>
              <a:t>To not respond with anger</a:t>
            </a:r>
          </a:p>
          <a:p>
            <a:pPr lvl="0"/>
            <a:endParaRPr lang="en-AU" sz="2000" smtClean="0">
              <a:latin typeface="Helvetica" pitchFamily="34" charset="0"/>
            </a:endParaRPr>
          </a:p>
          <a:p>
            <a:pPr lvl="0"/>
            <a:r>
              <a:rPr lang="en-AU" sz="2000" smtClean="0">
                <a:latin typeface="Helvetica" pitchFamily="34" charset="0"/>
              </a:rPr>
              <a:t>To remain polite</a:t>
            </a:r>
          </a:p>
          <a:p>
            <a:pPr lvl="0"/>
            <a:endParaRPr lang="en-AU" sz="2000" smtClean="0">
              <a:latin typeface="Helvetica" pitchFamily="34" charset="0"/>
            </a:endParaRPr>
          </a:p>
          <a:p>
            <a:pPr lvl="0"/>
            <a:r>
              <a:rPr lang="en-AU" sz="2000" smtClean="0">
                <a:latin typeface="Helvetica" pitchFamily="34" charset="0"/>
              </a:rPr>
              <a:t>To not take the call personally</a:t>
            </a:r>
          </a:p>
          <a:p>
            <a:pPr lvl="0"/>
            <a:endParaRPr lang="en-AU" sz="2000" smtClean="0">
              <a:latin typeface="Helvetica" pitchFamily="34" charset="0"/>
            </a:endParaRPr>
          </a:p>
          <a:p>
            <a:pPr lvl="0"/>
            <a:r>
              <a:rPr lang="en-AU" sz="2000" smtClean="0">
                <a:latin typeface="Helvetica" pitchFamily="34" charset="0"/>
              </a:rPr>
              <a:t>To get to the reason for the call as quickly as possible.</a:t>
            </a:r>
          </a:p>
          <a:p>
            <a:endParaRPr lang="en-US" sz="2000" smtClean="0">
              <a:latin typeface="Helvetica" pitchFamily="34" charset="0"/>
            </a:endParaRPr>
          </a:p>
          <a:p>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41</a:t>
            </a:fld>
            <a:endParaRPr lang="en-US"/>
          </a:p>
        </p:txBody>
      </p:sp>
      <p:pic>
        <p:nvPicPr>
          <p:cNvPr id="38914" name="Picture 2" descr="C:\Documents and Settings\danielc\Local Settings\Temporary Internet Files\Content.IE5\YP6W50B7\MP900438394[1].jpg"/>
          <p:cNvPicPr>
            <a:picLocks noChangeAspect="1" noChangeArrowheads="1"/>
          </p:cNvPicPr>
          <p:nvPr/>
        </p:nvPicPr>
        <p:blipFill>
          <a:blip r:embed="rId3" cstate="print"/>
          <a:srcRect/>
          <a:stretch>
            <a:fillRect/>
          </a:stretch>
        </p:blipFill>
        <p:spPr bwMode="auto">
          <a:xfrm>
            <a:off x="5715008" y="2571744"/>
            <a:ext cx="2451371" cy="1636582"/>
          </a:xfrm>
          <a:prstGeom prst="rect">
            <a:avLst/>
          </a:prstGeom>
          <a:noFill/>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Summary – Element 1</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142984"/>
            <a:ext cx="7467600" cy="4525963"/>
          </a:xfrm>
        </p:spPr>
        <p:txBody>
          <a:bodyPr>
            <a:noAutofit/>
          </a:bodyPr>
          <a:lstStyle/>
          <a:p>
            <a:pPr>
              <a:spcBef>
                <a:spcPts val="600"/>
              </a:spcBef>
              <a:spcAft>
                <a:spcPts val="1200"/>
              </a:spcAft>
              <a:buNone/>
            </a:pPr>
            <a:r>
              <a:rPr lang="en-AU" sz="1900" smtClean="0">
                <a:latin typeface="Helvetica" pitchFamily="34" charset="0"/>
              </a:rPr>
              <a:t>When responding to incoming telephone calls:</a:t>
            </a:r>
          </a:p>
          <a:p>
            <a:pPr lvl="0">
              <a:spcBef>
                <a:spcPts val="600"/>
              </a:spcBef>
              <a:spcAft>
                <a:spcPts val="1200"/>
              </a:spcAft>
            </a:pPr>
            <a:r>
              <a:rPr lang="en-AU" sz="1900" smtClean="0">
                <a:latin typeface="Helvetica" pitchFamily="34" charset="0"/>
              </a:rPr>
              <a:t>Answer all calls as soon as possible using the business-approved greeting</a:t>
            </a:r>
          </a:p>
          <a:p>
            <a:pPr lvl="0">
              <a:spcBef>
                <a:spcPts val="600"/>
              </a:spcBef>
              <a:spcAft>
                <a:spcPts val="1200"/>
              </a:spcAft>
            </a:pPr>
            <a:r>
              <a:rPr lang="en-AU" sz="1900" smtClean="0">
                <a:latin typeface="Helvetica" pitchFamily="34" charset="0"/>
              </a:rPr>
              <a:t>Display a friendly and helpful demeanour that demonstrates your willingness to be of service</a:t>
            </a:r>
          </a:p>
          <a:p>
            <a:pPr lvl="0">
              <a:spcBef>
                <a:spcPts val="600"/>
              </a:spcBef>
              <a:spcAft>
                <a:spcPts val="1200"/>
              </a:spcAft>
            </a:pPr>
            <a:r>
              <a:rPr lang="en-AU" sz="1900" smtClean="0">
                <a:latin typeface="Helvetica" pitchFamily="34" charset="0"/>
              </a:rPr>
              <a:t>Quickly identify the caller’s reason for phoning and provide the required assistance promptly or re-direct the call so someone else can deal with the call</a:t>
            </a:r>
          </a:p>
          <a:p>
            <a:pPr lvl="0">
              <a:spcBef>
                <a:spcPts val="600"/>
              </a:spcBef>
              <a:spcAft>
                <a:spcPts val="1200"/>
              </a:spcAft>
            </a:pPr>
            <a:r>
              <a:rPr lang="en-AU" sz="1900" smtClean="0">
                <a:latin typeface="Helvetica" pitchFamily="34" charset="0"/>
              </a:rPr>
              <a:t>Be prepared to clarify caller details, booking details or the reason for the call</a:t>
            </a:r>
          </a:p>
          <a:p>
            <a:pPr>
              <a:spcBef>
                <a:spcPts val="600"/>
              </a:spcBef>
              <a:spcAft>
                <a:spcPts val="1200"/>
              </a:spcAft>
            </a:pPr>
            <a:r>
              <a:rPr lang="en-AU" sz="1900" smtClean="0">
                <a:latin typeface="Helvetica" pitchFamily="34" charset="0"/>
              </a:rPr>
              <a:t>Make sure all telephone messages are recorded accurately and comprehensively and forwarded to the appropriate person</a:t>
            </a:r>
          </a:p>
          <a:p>
            <a:pPr lvl="0">
              <a:spcBef>
                <a:spcPts val="600"/>
              </a:spcBef>
              <a:spcAft>
                <a:spcPts val="1200"/>
              </a:spcAft>
              <a:buNone/>
            </a:pPr>
            <a:r>
              <a:rPr lang="en-AU" sz="1900" smtClean="0">
                <a:latin typeface="Helvetica" pitchFamily="34" charset="0"/>
              </a:rPr>
              <a:t>(Continued)</a:t>
            </a:r>
          </a:p>
          <a:p>
            <a:pPr>
              <a:spcBef>
                <a:spcPts val="600"/>
              </a:spcBef>
              <a:spcAft>
                <a:spcPts val="1200"/>
              </a:spcAft>
            </a:pPr>
            <a:endParaRPr lang="en-US" sz="1900" smtClean="0">
              <a:latin typeface="Helvetica" pitchFamily="34" charset="0"/>
            </a:endParaRPr>
          </a:p>
          <a:p>
            <a:pPr>
              <a:spcBef>
                <a:spcPts val="600"/>
              </a:spcBef>
              <a:spcAft>
                <a:spcPts val="1200"/>
              </a:spcAft>
            </a:pPr>
            <a:endParaRPr lang="en-US" sz="19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42</a:t>
            </a:fld>
            <a:endParaRPr lang="en-US"/>
          </a:p>
        </p:txBody>
      </p:sp>
      <p:pic>
        <p:nvPicPr>
          <p:cNvPr id="39938" name="Picture 2" descr="C:\Documents and Settings\danielc\Local Settings\Temporary Internet Files\Content.IE5\29XKYQ1Q\MC900391740[1].wmf"/>
          <p:cNvPicPr>
            <a:picLocks noChangeAspect="1" noChangeArrowheads="1"/>
          </p:cNvPicPr>
          <p:nvPr/>
        </p:nvPicPr>
        <p:blipFill>
          <a:blip r:embed="rId3" cstate="print"/>
          <a:srcRect/>
          <a:stretch>
            <a:fillRect/>
          </a:stretch>
        </p:blipFill>
        <p:spPr bwMode="auto">
          <a:xfrm>
            <a:off x="7429520" y="1071546"/>
            <a:ext cx="1218124" cy="1214446"/>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Summary – Element 1</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lvl="0">
              <a:spcBef>
                <a:spcPts val="600"/>
              </a:spcBef>
              <a:spcAft>
                <a:spcPts val="1200"/>
              </a:spcAft>
            </a:pPr>
            <a:r>
              <a:rPr lang="en-AU" sz="2000" smtClean="0">
                <a:latin typeface="Helvetica" pitchFamily="34" charset="0"/>
              </a:rPr>
              <a:t>Follow-up on all telephone messages taken to ensure </a:t>
            </a:r>
            <a:br>
              <a:rPr lang="en-AU" sz="2000" smtClean="0">
                <a:latin typeface="Helvetica" pitchFamily="34" charset="0"/>
              </a:rPr>
            </a:br>
            <a:r>
              <a:rPr lang="en-AU" sz="2000" smtClean="0">
                <a:latin typeface="Helvetica" pitchFamily="34" charset="0"/>
              </a:rPr>
              <a:t>they have been received and/or actioned</a:t>
            </a:r>
          </a:p>
          <a:p>
            <a:pPr lvl="0">
              <a:spcBef>
                <a:spcPts val="600"/>
              </a:spcBef>
              <a:spcAft>
                <a:spcPts val="1200"/>
              </a:spcAft>
            </a:pPr>
            <a:r>
              <a:rPr lang="en-AU" sz="2000" smtClean="0">
                <a:latin typeface="Helvetica" pitchFamily="34" charset="0"/>
              </a:rPr>
              <a:t>Treat all suspicious or threatening phone calls seriously and report them immediately to your Supervisor</a:t>
            </a:r>
          </a:p>
          <a:p>
            <a:pPr lvl="0">
              <a:spcBef>
                <a:spcPts val="600"/>
              </a:spcBef>
              <a:spcAft>
                <a:spcPts val="1200"/>
              </a:spcAft>
            </a:pPr>
            <a:r>
              <a:rPr lang="en-AU" sz="2000" smtClean="0">
                <a:latin typeface="Helvetica" pitchFamily="34" charset="0"/>
              </a:rPr>
              <a:t>Always use language, tone and volume appropriate to the nature of the call to demonstrate respect for the other person and to show their call is valued.</a:t>
            </a:r>
          </a:p>
          <a:p>
            <a:pPr>
              <a:spcBef>
                <a:spcPts val="600"/>
              </a:spcBef>
              <a:spcAft>
                <a:spcPts val="1200"/>
              </a:spcAft>
            </a:pPr>
            <a:endParaRPr lang="en-US" sz="2000" smtClean="0">
              <a:latin typeface="Helvetica" pitchFamily="34" charset="0"/>
            </a:endParaRPr>
          </a:p>
          <a:p>
            <a:pPr>
              <a:spcBef>
                <a:spcPts val="600"/>
              </a:spcBef>
              <a:spcAft>
                <a:spcPts val="1200"/>
              </a:spcAft>
            </a:pPr>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43</a:t>
            </a:fld>
            <a:endParaRPr lang="en-US"/>
          </a:p>
        </p:txBody>
      </p:sp>
      <p:pic>
        <p:nvPicPr>
          <p:cNvPr id="5" name="Picture 2" descr="C:\Documents and Settings\danielc\Local Settings\Temporary Internet Files\Content.IE5\29XKYQ1Q\MC900391740[1].wmf"/>
          <p:cNvPicPr>
            <a:picLocks noChangeAspect="1" noChangeArrowheads="1"/>
          </p:cNvPicPr>
          <p:nvPr/>
        </p:nvPicPr>
        <p:blipFill>
          <a:blip r:embed="rId3" cstate="print">
            <a:duotone>
              <a:schemeClr val="accent1">
                <a:shade val="45000"/>
                <a:satMod val="135000"/>
              </a:schemeClr>
              <a:prstClr val="white"/>
            </a:duotone>
          </a:blip>
          <a:srcRect/>
          <a:stretch>
            <a:fillRect/>
          </a:stretch>
        </p:blipFill>
        <p:spPr bwMode="auto">
          <a:xfrm>
            <a:off x="7786710" y="1071546"/>
            <a:ext cx="1003810" cy="1000779"/>
          </a:xfrm>
          <a:prstGeom prst="rect">
            <a:avLst/>
          </a:prstGeom>
          <a:noFill/>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Make telephone calls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spcBef>
                <a:spcPts val="600"/>
              </a:spcBef>
              <a:spcAft>
                <a:spcPts val="1200"/>
              </a:spcAft>
              <a:buNone/>
            </a:pPr>
            <a:r>
              <a:rPr lang="en-US" sz="2000" smtClean="0">
                <a:latin typeface="Helvetica" pitchFamily="34" charset="0"/>
              </a:rPr>
              <a:t>Performance Criteria for this Element are:</a:t>
            </a:r>
          </a:p>
          <a:p>
            <a:pPr>
              <a:spcBef>
                <a:spcPts val="600"/>
              </a:spcBef>
              <a:spcAft>
                <a:spcPts val="1200"/>
              </a:spcAft>
            </a:pPr>
            <a:r>
              <a:rPr lang="en-US" sz="2000" smtClean="0">
                <a:latin typeface="Helvetica" pitchFamily="34" charset="0"/>
              </a:rPr>
              <a:t>2.1 Obtain correct telephone numbers</a:t>
            </a:r>
            <a:endParaRPr lang="en-AU" sz="2000" smtClean="0">
              <a:latin typeface="Helvetica" pitchFamily="34" charset="0"/>
            </a:endParaRPr>
          </a:p>
          <a:p>
            <a:pPr>
              <a:spcBef>
                <a:spcPts val="600"/>
              </a:spcBef>
              <a:spcAft>
                <a:spcPts val="1200"/>
              </a:spcAft>
            </a:pPr>
            <a:r>
              <a:rPr lang="en-US" sz="2000" smtClean="0">
                <a:latin typeface="Helvetica" pitchFamily="34" charset="0"/>
              </a:rPr>
              <a:t>2.2 Establish clearly the purpose of the call prior to calling</a:t>
            </a:r>
            <a:endParaRPr lang="en-AU" sz="2000" smtClean="0">
              <a:latin typeface="Helvetica" pitchFamily="34" charset="0"/>
            </a:endParaRPr>
          </a:p>
          <a:p>
            <a:pPr>
              <a:spcBef>
                <a:spcPts val="600"/>
              </a:spcBef>
              <a:spcAft>
                <a:spcPts val="1200"/>
              </a:spcAft>
            </a:pPr>
            <a:r>
              <a:rPr lang="en-US" sz="2000" smtClean="0">
                <a:latin typeface="Helvetica" pitchFamily="34" charset="0"/>
              </a:rPr>
              <a:t>2.3 Use telephone equipment correctly</a:t>
            </a:r>
            <a:endParaRPr lang="en-AU" sz="2000" smtClean="0">
              <a:latin typeface="Helvetica" pitchFamily="34" charset="0"/>
            </a:endParaRPr>
          </a:p>
          <a:p>
            <a:pPr>
              <a:spcBef>
                <a:spcPts val="600"/>
              </a:spcBef>
              <a:spcAft>
                <a:spcPts val="1200"/>
              </a:spcAft>
            </a:pPr>
            <a:r>
              <a:rPr lang="en-US" sz="2000" smtClean="0">
                <a:latin typeface="Helvetica" pitchFamily="34" charset="0"/>
              </a:rPr>
              <a:t>2.4 Communicate clearly your name, company and reason for calling</a:t>
            </a:r>
            <a:endParaRPr lang="en-AU" sz="2000" smtClean="0">
              <a:latin typeface="Helvetica" pitchFamily="34" charset="0"/>
            </a:endParaRPr>
          </a:p>
          <a:p>
            <a:pPr>
              <a:spcBef>
                <a:spcPts val="600"/>
              </a:spcBef>
              <a:spcAft>
                <a:spcPts val="1200"/>
              </a:spcAft>
            </a:pPr>
            <a:r>
              <a:rPr lang="en-US" sz="2000" smtClean="0">
                <a:latin typeface="Helvetica" pitchFamily="34" charset="0"/>
              </a:rPr>
              <a:t>2.5 Be polite and courteous at all times.</a:t>
            </a:r>
            <a:endParaRPr lang="en-AU" sz="2000" smtClean="0">
              <a:latin typeface="Helvetica" pitchFamily="34" charset="0"/>
            </a:endParaRPr>
          </a:p>
          <a:p>
            <a:pPr>
              <a:spcBef>
                <a:spcPts val="600"/>
              </a:spcBef>
              <a:spcAft>
                <a:spcPts val="1200"/>
              </a:spcAft>
              <a:buNone/>
            </a:pPr>
            <a:endParaRPr lang="en-US" sz="20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44</a:t>
            </a:fld>
            <a:endParaRPr lang="en-US"/>
          </a:p>
        </p:txBody>
      </p:sp>
      <p:pic>
        <p:nvPicPr>
          <p:cNvPr id="40962" name="Picture 2" descr="C:\Documents and Settings\danielc\Local Settings\Temporary Internet Files\Content.IE5\D95FJ757\MP900438702[1].jpg"/>
          <p:cNvPicPr>
            <a:picLocks noChangeAspect="1" noChangeArrowheads="1"/>
          </p:cNvPicPr>
          <p:nvPr/>
        </p:nvPicPr>
        <p:blipFill>
          <a:blip r:embed="rId3" cstate="print"/>
          <a:srcRect/>
          <a:stretch>
            <a:fillRect/>
          </a:stretch>
        </p:blipFill>
        <p:spPr bwMode="auto">
          <a:xfrm>
            <a:off x="6286512" y="4714883"/>
            <a:ext cx="2343144" cy="1555401"/>
          </a:xfrm>
          <a:prstGeom prst="rect">
            <a:avLst/>
          </a:prstGeo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Obtaining correct telephone numbers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spcBef>
                <a:spcPts val="600"/>
              </a:spcBef>
              <a:spcAft>
                <a:spcPts val="1200"/>
              </a:spcAft>
              <a:buNone/>
            </a:pPr>
            <a:r>
              <a:rPr lang="en-US" sz="2100" smtClean="0">
                <a:latin typeface="Helvetica" pitchFamily="34" charset="0"/>
              </a:rPr>
              <a:t>Dialing the wrong number:</a:t>
            </a:r>
          </a:p>
          <a:p>
            <a:pPr>
              <a:spcBef>
                <a:spcPts val="600"/>
              </a:spcBef>
              <a:spcAft>
                <a:spcPts val="1200"/>
              </a:spcAft>
            </a:pPr>
            <a:r>
              <a:rPr lang="en-US" sz="2100" smtClean="0">
                <a:latin typeface="Helvetica" pitchFamily="34" charset="0"/>
              </a:rPr>
              <a:t>Is embarrassing</a:t>
            </a:r>
          </a:p>
          <a:p>
            <a:pPr>
              <a:spcBef>
                <a:spcPts val="600"/>
              </a:spcBef>
              <a:spcAft>
                <a:spcPts val="1200"/>
              </a:spcAft>
            </a:pPr>
            <a:r>
              <a:rPr lang="en-US" sz="2100" smtClean="0">
                <a:latin typeface="Helvetica" pitchFamily="34" charset="0"/>
              </a:rPr>
              <a:t>Can cause bad PR</a:t>
            </a:r>
          </a:p>
          <a:p>
            <a:pPr>
              <a:spcBef>
                <a:spcPts val="600"/>
              </a:spcBef>
              <a:spcAft>
                <a:spcPts val="1200"/>
              </a:spcAft>
            </a:pPr>
            <a:r>
              <a:rPr lang="en-US" sz="2100" smtClean="0">
                <a:latin typeface="Helvetica" pitchFamily="34" charset="0"/>
              </a:rPr>
              <a:t>Costs money</a:t>
            </a:r>
          </a:p>
          <a:p>
            <a:pPr>
              <a:spcBef>
                <a:spcPts val="600"/>
              </a:spcBef>
              <a:spcAft>
                <a:spcPts val="1200"/>
              </a:spcAft>
            </a:pPr>
            <a:r>
              <a:rPr lang="en-US" sz="2100" smtClean="0">
                <a:latin typeface="Helvetica" pitchFamily="34" charset="0"/>
              </a:rPr>
              <a:t>Wastes time.</a:t>
            </a: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45</a:t>
            </a:fld>
            <a:endParaRPr lang="en-US"/>
          </a:p>
        </p:txBody>
      </p:sp>
      <p:pic>
        <p:nvPicPr>
          <p:cNvPr id="41986" name="Picture 2" descr="C:\Documents and Settings\danielc\Local Settings\Temporary Internet Files\Content.IE5\A0P7OY30\MP900442430[1].jpg"/>
          <p:cNvPicPr>
            <a:picLocks noChangeAspect="1" noChangeArrowheads="1"/>
          </p:cNvPicPr>
          <p:nvPr/>
        </p:nvPicPr>
        <p:blipFill>
          <a:blip r:embed="rId3" cstate="print"/>
          <a:srcRect/>
          <a:stretch>
            <a:fillRect/>
          </a:stretch>
        </p:blipFill>
        <p:spPr bwMode="auto">
          <a:xfrm>
            <a:off x="5214942" y="2285992"/>
            <a:ext cx="2794301" cy="1857388"/>
          </a:xfrm>
          <a:prstGeom prst="rect">
            <a:avLst/>
          </a:prstGeom>
          <a:noFill/>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Obtaining correct telephone numbers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marL="0">
              <a:spcBef>
                <a:spcPts val="600"/>
              </a:spcBef>
              <a:spcAft>
                <a:spcPts val="1200"/>
              </a:spcAft>
              <a:buNone/>
            </a:pPr>
            <a:r>
              <a:rPr lang="en-US" sz="2100" smtClean="0">
                <a:latin typeface="Helvetica" pitchFamily="34" charset="0"/>
              </a:rPr>
              <a:t>Standard ways to obtain the correct number for a call you want to make are:</a:t>
            </a:r>
          </a:p>
          <a:p>
            <a:pPr>
              <a:spcBef>
                <a:spcPts val="600"/>
              </a:spcBef>
              <a:spcAft>
                <a:spcPts val="1200"/>
              </a:spcAft>
            </a:pPr>
            <a:r>
              <a:rPr lang="en-US" sz="2100" smtClean="0">
                <a:latin typeface="Helvetica" pitchFamily="34" charset="0"/>
              </a:rPr>
              <a:t>Use speed dial</a:t>
            </a:r>
          </a:p>
          <a:p>
            <a:pPr>
              <a:spcBef>
                <a:spcPts val="600"/>
              </a:spcBef>
              <a:spcAft>
                <a:spcPts val="1200"/>
              </a:spcAft>
            </a:pPr>
            <a:r>
              <a:rPr lang="en-US" sz="2100" smtClean="0">
                <a:latin typeface="Helvetica" pitchFamily="34" charset="0"/>
              </a:rPr>
              <a:t>Search online directory</a:t>
            </a:r>
          </a:p>
          <a:p>
            <a:pPr>
              <a:spcBef>
                <a:spcPts val="600"/>
              </a:spcBef>
              <a:spcAft>
                <a:spcPts val="1200"/>
              </a:spcAft>
            </a:pPr>
            <a:r>
              <a:rPr lang="en-US" sz="2100" smtClean="0">
                <a:latin typeface="Helvetica" pitchFamily="34" charset="0"/>
              </a:rPr>
              <a:t>Read a document from the person/company</a:t>
            </a:r>
          </a:p>
          <a:p>
            <a:pPr>
              <a:spcBef>
                <a:spcPts val="600"/>
              </a:spcBef>
              <a:spcAft>
                <a:spcPts val="1200"/>
              </a:spcAft>
            </a:pPr>
            <a:r>
              <a:rPr lang="en-US" sz="2100" smtClean="0">
                <a:latin typeface="Helvetica" pitchFamily="34" charset="0"/>
              </a:rPr>
              <a:t>Search workplace database</a:t>
            </a:r>
          </a:p>
          <a:p>
            <a:pPr>
              <a:spcBef>
                <a:spcPts val="600"/>
              </a:spcBef>
              <a:spcAft>
                <a:spcPts val="1200"/>
              </a:spcAft>
            </a:pPr>
            <a:r>
              <a:rPr lang="en-US" sz="2100" smtClean="0">
                <a:latin typeface="Helvetica" pitchFamily="34" charset="0"/>
              </a:rPr>
              <a:t>Contact ‘Directory Assistance’.</a:t>
            </a: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46</a:t>
            </a:fld>
            <a:endParaRPr lang="en-US"/>
          </a:p>
        </p:txBody>
      </p:sp>
      <p:pic>
        <p:nvPicPr>
          <p:cNvPr id="43010" name="Picture 2" descr="C:\Documents and Settings\danielc\Local Settings\Temporary Internet Files\Content.IE5\YI0F6H43\MC910217048[1].png"/>
          <p:cNvPicPr>
            <a:picLocks noChangeAspect="1" noChangeArrowheads="1"/>
          </p:cNvPicPr>
          <p:nvPr/>
        </p:nvPicPr>
        <p:blipFill>
          <a:blip r:embed="rId3" cstate="print"/>
          <a:srcRect/>
          <a:stretch>
            <a:fillRect/>
          </a:stretch>
        </p:blipFill>
        <p:spPr bwMode="auto">
          <a:xfrm>
            <a:off x="7000892" y="2500306"/>
            <a:ext cx="1500174" cy="1500174"/>
          </a:xfrm>
          <a:prstGeom prst="rect">
            <a:avLst/>
          </a:prstGeom>
          <a:noFill/>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Obtaining correct telephone numbers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spcBef>
                <a:spcPts val="600"/>
              </a:spcBef>
              <a:spcAft>
                <a:spcPts val="1200"/>
              </a:spcAft>
              <a:buNone/>
            </a:pPr>
            <a:r>
              <a:rPr lang="en-US" sz="2100" smtClean="0">
                <a:latin typeface="Helvetica" pitchFamily="34" charset="0"/>
              </a:rPr>
              <a:t>When intending to make a call to another country:</a:t>
            </a:r>
          </a:p>
          <a:p>
            <a:pPr>
              <a:spcBef>
                <a:spcPts val="600"/>
              </a:spcBef>
              <a:spcAft>
                <a:spcPts val="1200"/>
              </a:spcAft>
            </a:pPr>
            <a:r>
              <a:rPr lang="en-US" sz="2100" smtClean="0">
                <a:latin typeface="Helvetica" pitchFamily="34" charset="0"/>
              </a:rPr>
              <a:t>Obtain all the necessary codes and numbers to </a:t>
            </a:r>
            <a:br>
              <a:rPr lang="en-US" sz="2100" smtClean="0">
                <a:latin typeface="Helvetica" pitchFamily="34" charset="0"/>
              </a:rPr>
            </a:br>
            <a:r>
              <a:rPr lang="en-US" sz="2100" smtClean="0">
                <a:latin typeface="Helvetica" pitchFamily="34" charset="0"/>
              </a:rPr>
              <a:t>enable the call to be made</a:t>
            </a:r>
          </a:p>
          <a:p>
            <a:pPr>
              <a:spcBef>
                <a:spcPts val="600"/>
              </a:spcBef>
              <a:spcAft>
                <a:spcPts val="1200"/>
              </a:spcAft>
            </a:pPr>
            <a:r>
              <a:rPr lang="en-US" sz="2100" smtClean="0">
                <a:latin typeface="Helvetica" pitchFamily="34" charset="0"/>
              </a:rPr>
              <a:t>Always use Freecall numbers where they exist</a:t>
            </a:r>
          </a:p>
          <a:p>
            <a:pPr>
              <a:spcBef>
                <a:spcPts val="600"/>
              </a:spcBef>
              <a:spcAft>
                <a:spcPts val="1200"/>
              </a:spcAft>
            </a:pPr>
            <a:r>
              <a:rPr lang="en-US" sz="2100" smtClean="0">
                <a:latin typeface="Helvetica" pitchFamily="34" charset="0"/>
              </a:rPr>
              <a:t>Factor in time zones differences to the timing of when the call is placed</a:t>
            </a:r>
          </a:p>
          <a:p>
            <a:pPr>
              <a:spcBef>
                <a:spcPts val="600"/>
              </a:spcBef>
              <a:spcAft>
                <a:spcPts val="1200"/>
              </a:spcAft>
            </a:pPr>
            <a:r>
              <a:rPr lang="en-US" sz="2100" smtClean="0">
                <a:latin typeface="Helvetica" pitchFamily="34" charset="0"/>
              </a:rPr>
              <a:t>Obtain the necessary details for the person or business to be contacted.</a:t>
            </a: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47</a:t>
            </a:fld>
            <a:endParaRPr lang="en-US"/>
          </a:p>
        </p:txBody>
      </p:sp>
      <p:pic>
        <p:nvPicPr>
          <p:cNvPr id="44035" name="Picture 3" descr="C:\Documents and Settings\danielc\Local Settings\Temporary Internet Files\Content.IE5\7NII6ZZT\MP900438383[1].jpg"/>
          <p:cNvPicPr>
            <a:picLocks noChangeAspect="1" noChangeArrowheads="1"/>
          </p:cNvPicPr>
          <p:nvPr/>
        </p:nvPicPr>
        <p:blipFill>
          <a:blip r:embed="rId3" cstate="print"/>
          <a:srcRect/>
          <a:stretch>
            <a:fillRect/>
          </a:stretch>
        </p:blipFill>
        <p:spPr bwMode="auto">
          <a:xfrm>
            <a:off x="3571868" y="5072074"/>
            <a:ext cx="2200268" cy="1550665"/>
          </a:xfrm>
          <a:prstGeom prst="rect">
            <a:avLst/>
          </a:prstGeom>
          <a:noFill/>
        </p:spPr>
      </p:pic>
      <p:pic>
        <p:nvPicPr>
          <p:cNvPr id="7" name="Picture 6" descr="C:\Documents and Settings\danielc\Local Settings\Temporary Internet Files\Content.IE5\EJ204J5G\MP900442441[1].jpg"/>
          <p:cNvPicPr/>
          <p:nvPr/>
        </p:nvPicPr>
        <p:blipFill>
          <a:blip r:embed="rId4" cstate="print"/>
          <a:srcRect/>
          <a:stretch>
            <a:fillRect/>
          </a:stretch>
        </p:blipFill>
        <p:spPr bwMode="auto">
          <a:xfrm>
            <a:off x="6929234" y="2000240"/>
            <a:ext cx="1822327" cy="1428760"/>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Obtaining correct telephone numbers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marL="0">
              <a:spcBef>
                <a:spcPts val="600"/>
              </a:spcBef>
              <a:spcAft>
                <a:spcPts val="1200"/>
              </a:spcAft>
              <a:buNone/>
            </a:pPr>
            <a:r>
              <a:rPr lang="en-US" sz="2100" smtClean="0">
                <a:latin typeface="Helvetica" pitchFamily="34" charset="0"/>
              </a:rPr>
              <a:t>You should plan all telephone calls you make. This often only takes a second and has the potential to avoid many negative results:</a:t>
            </a:r>
          </a:p>
          <a:p>
            <a:pPr lvl="0">
              <a:spcBef>
                <a:spcPts val="600"/>
              </a:spcBef>
              <a:spcAft>
                <a:spcPts val="1200"/>
              </a:spcAft>
            </a:pPr>
            <a:r>
              <a:rPr lang="en-AU" sz="2100" smtClean="0">
                <a:latin typeface="Helvetica" pitchFamily="34" charset="0"/>
              </a:rPr>
              <a:t>Confusion</a:t>
            </a:r>
          </a:p>
          <a:p>
            <a:pPr lvl="0">
              <a:spcBef>
                <a:spcPts val="600"/>
              </a:spcBef>
              <a:spcAft>
                <a:spcPts val="1200"/>
              </a:spcAft>
            </a:pPr>
            <a:r>
              <a:rPr lang="en-AU" sz="2100" smtClean="0">
                <a:latin typeface="Helvetica" pitchFamily="34" charset="0"/>
              </a:rPr>
              <a:t>Failure to achieve what was the intended purpose </a:t>
            </a:r>
            <a:br>
              <a:rPr lang="en-AU" sz="2100" smtClean="0">
                <a:latin typeface="Helvetica" pitchFamily="34" charset="0"/>
              </a:rPr>
            </a:br>
            <a:r>
              <a:rPr lang="en-AU" sz="2100" smtClean="0">
                <a:latin typeface="Helvetica" pitchFamily="34" charset="0"/>
              </a:rPr>
              <a:t>of the call</a:t>
            </a:r>
          </a:p>
          <a:p>
            <a:pPr lvl="0">
              <a:spcBef>
                <a:spcPts val="600"/>
              </a:spcBef>
              <a:spcAft>
                <a:spcPts val="1200"/>
              </a:spcAft>
            </a:pPr>
            <a:r>
              <a:rPr lang="en-AU" sz="2100" smtClean="0">
                <a:latin typeface="Helvetica" pitchFamily="34" charset="0"/>
              </a:rPr>
              <a:t>Time wasting</a:t>
            </a:r>
          </a:p>
          <a:p>
            <a:pPr lvl="0">
              <a:spcBef>
                <a:spcPts val="600"/>
              </a:spcBef>
              <a:spcAft>
                <a:spcPts val="1200"/>
              </a:spcAft>
            </a:pPr>
            <a:r>
              <a:rPr lang="en-AU" sz="2100" smtClean="0">
                <a:latin typeface="Helvetica" pitchFamily="34" charset="0"/>
              </a:rPr>
              <a:t>A poor image or reputation for the business</a:t>
            </a:r>
          </a:p>
          <a:p>
            <a:pPr lvl="0">
              <a:spcBef>
                <a:spcPts val="600"/>
              </a:spcBef>
              <a:spcAft>
                <a:spcPts val="1200"/>
              </a:spcAft>
            </a:pPr>
            <a:r>
              <a:rPr lang="en-AU" sz="2100" smtClean="0">
                <a:latin typeface="Helvetica" pitchFamily="34" charset="0"/>
              </a:rPr>
              <a:t>Loss of business.</a:t>
            </a: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48</a:t>
            </a:fld>
            <a:endParaRPr lang="en-US"/>
          </a:p>
        </p:txBody>
      </p:sp>
      <p:pic>
        <p:nvPicPr>
          <p:cNvPr id="45058" name="Picture 2" descr="C:\Documents and Settings\danielc\Local Settings\Temporary Internet Files\Content.IE5\E5HVZFEA\MC900232631[1].wmf"/>
          <p:cNvPicPr>
            <a:picLocks noChangeAspect="1" noChangeArrowheads="1"/>
          </p:cNvPicPr>
          <p:nvPr/>
        </p:nvPicPr>
        <p:blipFill>
          <a:blip r:embed="rId3" cstate="print"/>
          <a:srcRect/>
          <a:stretch>
            <a:fillRect/>
          </a:stretch>
        </p:blipFill>
        <p:spPr bwMode="auto">
          <a:xfrm>
            <a:off x="7358082" y="4714884"/>
            <a:ext cx="1548004" cy="1530173"/>
          </a:xfrm>
          <a:prstGeom prst="rect">
            <a:avLst/>
          </a:prstGeom>
          <a:noFill/>
        </p:spPr>
      </p:pic>
      <p:pic>
        <p:nvPicPr>
          <p:cNvPr id="45059" name="Picture 3" descr="C:\Documents and Settings\danielc\Local Settings\Temporary Internet Files\Content.IE5\29XKYQ1Q\MP910218706[1].jpg"/>
          <p:cNvPicPr>
            <a:picLocks noChangeAspect="1" noChangeArrowheads="1"/>
          </p:cNvPicPr>
          <p:nvPr/>
        </p:nvPicPr>
        <p:blipFill>
          <a:blip r:embed="rId4" cstate="print"/>
          <a:srcRect/>
          <a:stretch>
            <a:fillRect/>
          </a:stretch>
        </p:blipFill>
        <p:spPr bwMode="auto">
          <a:xfrm>
            <a:off x="7500958" y="2571744"/>
            <a:ext cx="1278167" cy="1914516"/>
          </a:xfrm>
          <a:prstGeom prst="rect">
            <a:avLst/>
          </a:prstGeom>
          <a:noFill/>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Obtaining correct telephone numbers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a:spcBef>
                <a:spcPts val="600"/>
              </a:spcBef>
              <a:spcAft>
                <a:spcPts val="1200"/>
              </a:spcAft>
              <a:buNone/>
            </a:pPr>
            <a:r>
              <a:rPr lang="en-US" sz="2100" dirty="0" smtClean="0">
                <a:latin typeface="Helvetica" pitchFamily="34" charset="0"/>
              </a:rPr>
              <a:t>Plans and preparations before making a call should include:</a:t>
            </a:r>
          </a:p>
          <a:p>
            <a:pPr>
              <a:spcBef>
                <a:spcPts val="600"/>
              </a:spcBef>
              <a:spcAft>
                <a:spcPts val="1200"/>
              </a:spcAft>
            </a:pPr>
            <a:r>
              <a:rPr lang="en-US" sz="2100" dirty="0" smtClean="0">
                <a:latin typeface="Helvetica" pitchFamily="34" charset="0"/>
              </a:rPr>
              <a:t>Establishing the purpose of the call</a:t>
            </a:r>
          </a:p>
          <a:p>
            <a:pPr>
              <a:spcBef>
                <a:spcPts val="600"/>
              </a:spcBef>
              <a:spcAft>
                <a:spcPts val="1200"/>
              </a:spcAft>
            </a:pPr>
            <a:r>
              <a:rPr lang="en-US" sz="2100" dirty="0" smtClean="0">
                <a:latin typeface="Helvetica" pitchFamily="34" charset="0"/>
              </a:rPr>
              <a:t>Determining who you need to speak to</a:t>
            </a:r>
          </a:p>
          <a:p>
            <a:pPr>
              <a:spcBef>
                <a:spcPts val="600"/>
              </a:spcBef>
              <a:spcAft>
                <a:spcPts val="1200"/>
              </a:spcAft>
            </a:pPr>
            <a:r>
              <a:rPr lang="en-US" sz="2100" dirty="0" smtClean="0">
                <a:latin typeface="Helvetica" pitchFamily="34" charset="0"/>
              </a:rPr>
              <a:t>Making sure all material you will need to use or refer to is nearby</a:t>
            </a:r>
          </a:p>
          <a:p>
            <a:pPr>
              <a:spcBef>
                <a:spcPts val="600"/>
              </a:spcBef>
              <a:spcAft>
                <a:spcPts val="1200"/>
              </a:spcAft>
            </a:pPr>
            <a:r>
              <a:rPr lang="en-US" sz="2100" dirty="0" smtClean="0">
                <a:latin typeface="Helvetica" pitchFamily="34" charset="0"/>
              </a:rPr>
              <a:t>Ensure pen and paper are close by</a:t>
            </a:r>
          </a:p>
          <a:p>
            <a:pPr>
              <a:spcBef>
                <a:spcPts val="600"/>
              </a:spcBef>
              <a:spcAft>
                <a:spcPts val="1200"/>
              </a:spcAft>
            </a:pPr>
            <a:r>
              <a:rPr lang="en-US" sz="2100" dirty="0" smtClean="0">
                <a:latin typeface="Helvetica" pitchFamily="34" charset="0"/>
              </a:rPr>
              <a:t>Make the environment as quiet as possible.</a:t>
            </a:r>
          </a:p>
          <a:p>
            <a:pPr algn="ctr">
              <a:spcBef>
                <a:spcPts val="600"/>
              </a:spcBef>
              <a:spcAft>
                <a:spcPts val="1200"/>
              </a:spcAft>
              <a:buNone/>
            </a:pPr>
            <a:r>
              <a:rPr lang="en-US" sz="2100" b="1" dirty="0" smtClean="0">
                <a:latin typeface="Helvetica" pitchFamily="34" charset="0"/>
              </a:rPr>
              <a:t>Never use workplace phone for making private calls.</a:t>
            </a:r>
          </a:p>
          <a:p>
            <a:pPr>
              <a:spcBef>
                <a:spcPts val="600"/>
              </a:spcBef>
              <a:spcAft>
                <a:spcPts val="1200"/>
              </a:spcAft>
            </a:pPr>
            <a:endParaRPr lang="en-US" sz="2100" dirty="0" smtClean="0">
              <a:latin typeface="Helvetica" pitchFamily="34" charset="0"/>
            </a:endParaRPr>
          </a:p>
          <a:p>
            <a:pPr>
              <a:spcBef>
                <a:spcPts val="600"/>
              </a:spcBef>
              <a:spcAft>
                <a:spcPts val="1200"/>
              </a:spcAft>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49</a:t>
            </a:fld>
            <a:endParaRPr lang="en-US"/>
          </a:p>
        </p:txBody>
      </p:sp>
      <p:pic>
        <p:nvPicPr>
          <p:cNvPr id="5" name="Picture 4" descr="C:\Documents and Settings\danielc\Local Settings\Temporary Internet Files\Content.IE5\D95FJ757\MP900284966[1].jpg"/>
          <p:cNvPicPr/>
          <p:nvPr/>
        </p:nvPicPr>
        <p:blipFill>
          <a:blip r:embed="rId3" cstate="print"/>
          <a:srcRect/>
          <a:stretch>
            <a:fillRect/>
          </a:stretch>
        </p:blipFill>
        <p:spPr bwMode="auto">
          <a:xfrm>
            <a:off x="7619090" y="4214818"/>
            <a:ext cx="1354117" cy="2071702"/>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Obtaining correct telephone numbers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100" smtClean="0">
                <a:latin typeface="Helvetica" pitchFamily="34" charset="0"/>
              </a:rPr>
              <a:t>You may be required to record details of outward calls in a nominated ‘register’ or ‘book’ . Details may relate to:</a:t>
            </a:r>
          </a:p>
          <a:p>
            <a:pPr lvl="0">
              <a:spcBef>
                <a:spcPts val="600"/>
              </a:spcBef>
              <a:spcAft>
                <a:spcPts val="1200"/>
              </a:spcAft>
            </a:pPr>
            <a:r>
              <a:rPr lang="en-AU" sz="2100" smtClean="0">
                <a:latin typeface="Helvetica" pitchFamily="34" charset="0"/>
              </a:rPr>
              <a:t>Date and time of the call </a:t>
            </a:r>
          </a:p>
          <a:p>
            <a:pPr lvl="0">
              <a:spcBef>
                <a:spcPts val="600"/>
              </a:spcBef>
              <a:spcAft>
                <a:spcPts val="1200"/>
              </a:spcAft>
            </a:pPr>
            <a:r>
              <a:rPr lang="en-AU" sz="2100" smtClean="0">
                <a:latin typeface="Helvetica" pitchFamily="34" charset="0"/>
              </a:rPr>
              <a:t>Who placed the call</a:t>
            </a:r>
          </a:p>
          <a:p>
            <a:pPr lvl="0">
              <a:spcBef>
                <a:spcPts val="600"/>
              </a:spcBef>
              <a:spcAft>
                <a:spcPts val="1200"/>
              </a:spcAft>
            </a:pPr>
            <a:r>
              <a:rPr lang="en-AU" sz="2100" smtClean="0">
                <a:latin typeface="Helvetica" pitchFamily="34" charset="0"/>
              </a:rPr>
              <a:t>Who the call was to and who was spoken to</a:t>
            </a:r>
          </a:p>
          <a:p>
            <a:pPr lvl="0">
              <a:spcBef>
                <a:spcPts val="600"/>
              </a:spcBef>
              <a:spcAft>
                <a:spcPts val="1200"/>
              </a:spcAft>
            </a:pPr>
            <a:r>
              <a:rPr lang="en-AU" sz="2100" smtClean="0">
                <a:latin typeface="Helvetica" pitchFamily="34" charset="0"/>
              </a:rPr>
              <a:t>Reason for the call.</a:t>
            </a:r>
          </a:p>
          <a:p>
            <a:pPr>
              <a:spcBef>
                <a:spcPts val="600"/>
              </a:spcBef>
              <a:spcAft>
                <a:spcPts val="1200"/>
              </a:spcAft>
            </a:pPr>
            <a:endParaRPr lang="en-US" sz="2100" smtClean="0">
              <a:latin typeface="Helvetica" pitchFamily="34" charset="0"/>
            </a:endParaRP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50</a:t>
            </a:fld>
            <a:endParaRPr lang="en-US"/>
          </a:p>
        </p:txBody>
      </p:sp>
      <p:pic>
        <p:nvPicPr>
          <p:cNvPr id="46082" name="Picture 2" descr="C:\Documents and Settings\danielc\Local Settings\Temporary Internet Files\Content.IE5\8GDE57UC\MC900030293[1].wmf"/>
          <p:cNvPicPr>
            <a:picLocks noChangeAspect="1" noChangeArrowheads="1"/>
          </p:cNvPicPr>
          <p:nvPr/>
        </p:nvPicPr>
        <p:blipFill>
          <a:blip r:embed="rId3" cstate="print"/>
          <a:srcRect/>
          <a:stretch>
            <a:fillRect/>
          </a:stretch>
        </p:blipFill>
        <p:spPr bwMode="auto">
          <a:xfrm>
            <a:off x="7072330" y="4857760"/>
            <a:ext cx="1826057" cy="1399032"/>
          </a:xfrm>
          <a:prstGeom prst="rect">
            <a:avLst/>
          </a:prstGeom>
          <a:noFill/>
        </p:spPr>
      </p:pic>
      <p:pic>
        <p:nvPicPr>
          <p:cNvPr id="46083" name="Picture 3" descr="C:\Documents and Settings\danielc\Local Settings\Temporary Internet Files\Content.IE5\BOJS87VR\MC900353941[1].wmf"/>
          <p:cNvPicPr>
            <a:picLocks noChangeAspect="1" noChangeArrowheads="1"/>
          </p:cNvPicPr>
          <p:nvPr/>
        </p:nvPicPr>
        <p:blipFill>
          <a:blip r:embed="rId4" cstate="print"/>
          <a:srcRect/>
          <a:stretch>
            <a:fillRect/>
          </a:stretch>
        </p:blipFill>
        <p:spPr bwMode="auto">
          <a:xfrm>
            <a:off x="6715140" y="2643182"/>
            <a:ext cx="2308634" cy="2070226"/>
          </a:xfrm>
          <a:prstGeom prst="rect">
            <a:avLst/>
          </a:prstGeom>
          <a:noFill/>
        </p:spPr>
      </p:pic>
      <p:pic>
        <p:nvPicPr>
          <p:cNvPr id="46084" name="Picture 4" descr="C:\Documents and Settings\danielc\Local Settings\Temporary Internet Files\Content.IE5\A4B80UVD\MC900048654[1].wmf"/>
          <p:cNvPicPr>
            <a:picLocks noChangeAspect="1" noChangeArrowheads="1"/>
          </p:cNvPicPr>
          <p:nvPr/>
        </p:nvPicPr>
        <p:blipFill>
          <a:blip r:embed="rId5" cstate="print"/>
          <a:srcRect/>
          <a:stretch>
            <a:fillRect/>
          </a:stretch>
        </p:blipFill>
        <p:spPr bwMode="auto">
          <a:xfrm>
            <a:off x="4187004" y="4500570"/>
            <a:ext cx="2451884" cy="1753594"/>
          </a:xfrm>
          <a:prstGeom prst="rect">
            <a:avLst/>
          </a:prstGeo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telephone equipment correctly</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100" dirty="0" smtClean="0">
                <a:latin typeface="Helvetica" pitchFamily="34" charset="0"/>
              </a:rPr>
              <a:t>In order to use your workplace telephone equipment correctly you must:</a:t>
            </a:r>
          </a:p>
          <a:p>
            <a:pPr>
              <a:spcBef>
                <a:spcPts val="600"/>
              </a:spcBef>
              <a:spcAft>
                <a:spcPts val="1200"/>
              </a:spcAft>
            </a:pPr>
            <a:r>
              <a:rPr lang="en-AU" sz="2100" dirty="0" smtClean="0">
                <a:latin typeface="Helvetica" pitchFamily="34" charset="0"/>
              </a:rPr>
              <a:t>Realise</a:t>
            </a:r>
            <a:r>
              <a:rPr lang="en-US" sz="2100" dirty="0" smtClean="0">
                <a:latin typeface="Helvetica" pitchFamily="34" charset="0"/>
              </a:rPr>
              <a:t> the workplace system and equipment is different to your home phone</a:t>
            </a:r>
          </a:p>
          <a:p>
            <a:pPr>
              <a:spcBef>
                <a:spcPts val="600"/>
              </a:spcBef>
              <a:spcAft>
                <a:spcPts val="1200"/>
              </a:spcAft>
            </a:pPr>
            <a:r>
              <a:rPr lang="en-US" sz="2100" dirty="0" smtClean="0">
                <a:latin typeface="Helvetica" pitchFamily="34" charset="0"/>
              </a:rPr>
              <a:t>Obtain training</a:t>
            </a:r>
          </a:p>
          <a:p>
            <a:pPr>
              <a:spcBef>
                <a:spcPts val="600"/>
              </a:spcBef>
              <a:spcAft>
                <a:spcPts val="1200"/>
              </a:spcAft>
            </a:pPr>
            <a:r>
              <a:rPr lang="en-US" sz="2100" dirty="0" smtClean="0">
                <a:latin typeface="Helvetica" pitchFamily="34" charset="0"/>
              </a:rPr>
              <a:t>Follow manufacturer’s instructions</a:t>
            </a:r>
          </a:p>
          <a:p>
            <a:pPr>
              <a:spcBef>
                <a:spcPts val="600"/>
              </a:spcBef>
              <a:spcAft>
                <a:spcPts val="1200"/>
              </a:spcAft>
            </a:pPr>
            <a:r>
              <a:rPr lang="en-US" sz="2100" dirty="0" smtClean="0">
                <a:latin typeface="Helvetica" pitchFamily="34" charset="0"/>
              </a:rPr>
              <a:t>Apply workplace telephone procedures</a:t>
            </a:r>
          </a:p>
          <a:p>
            <a:pPr>
              <a:spcBef>
                <a:spcPts val="600"/>
              </a:spcBef>
              <a:spcAft>
                <a:spcPts val="1200"/>
              </a:spcAft>
            </a:pPr>
            <a:endParaRPr lang="en-US" sz="2100" dirty="0" smtClean="0">
              <a:latin typeface="Helvetica" pitchFamily="34" charset="0"/>
            </a:endParaRPr>
          </a:p>
          <a:p>
            <a:pPr>
              <a:spcBef>
                <a:spcPts val="600"/>
              </a:spcBef>
              <a:spcAft>
                <a:spcPts val="1200"/>
              </a:spcAft>
            </a:pPr>
            <a:endParaRPr lang="en-US"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51</a:t>
            </a:fld>
            <a:endParaRPr lang="en-US"/>
          </a:p>
        </p:txBody>
      </p:sp>
      <p:pic>
        <p:nvPicPr>
          <p:cNvPr id="47106" name="Picture 2" descr="C:\Documents and Settings\danielc\Local Settings\Temporary Internet Files\Content.IE5\TVERO29A\MC900250462[1].wmf"/>
          <p:cNvPicPr>
            <a:picLocks noChangeAspect="1" noChangeArrowheads="1"/>
          </p:cNvPicPr>
          <p:nvPr/>
        </p:nvPicPr>
        <p:blipFill>
          <a:blip r:embed="rId3" cstate="print"/>
          <a:srcRect/>
          <a:stretch>
            <a:fillRect/>
          </a:stretch>
        </p:blipFill>
        <p:spPr bwMode="auto">
          <a:xfrm>
            <a:off x="6500826" y="3571876"/>
            <a:ext cx="2283355" cy="1956300"/>
          </a:xfrm>
          <a:prstGeom prst="rect">
            <a:avLst/>
          </a:prstGeom>
          <a:noFill/>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telephone equipment correctly</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marL="0">
              <a:spcBef>
                <a:spcPts val="600"/>
              </a:spcBef>
              <a:spcAft>
                <a:spcPts val="1200"/>
              </a:spcAft>
              <a:buNone/>
            </a:pPr>
            <a:r>
              <a:rPr lang="en-US" sz="2100" smtClean="0">
                <a:latin typeface="Helvetica" pitchFamily="34" charset="0"/>
              </a:rPr>
              <a:t>When learning about how to use your workplace telephone system focus on:</a:t>
            </a:r>
          </a:p>
          <a:p>
            <a:pPr lvl="0">
              <a:spcBef>
                <a:spcPts val="600"/>
              </a:spcBef>
              <a:spcAft>
                <a:spcPts val="1200"/>
              </a:spcAft>
            </a:pPr>
            <a:r>
              <a:rPr lang="en-AU" sz="2100" smtClean="0">
                <a:latin typeface="Helvetica" pitchFamily="34" charset="0"/>
              </a:rPr>
              <a:t>Identifying the parts and components of the system</a:t>
            </a:r>
          </a:p>
          <a:p>
            <a:pPr lvl="0">
              <a:spcBef>
                <a:spcPts val="600"/>
              </a:spcBef>
              <a:spcAft>
                <a:spcPts val="1200"/>
              </a:spcAft>
            </a:pPr>
            <a:r>
              <a:rPr lang="en-AU" sz="2100" smtClean="0">
                <a:latin typeface="Helvetica" pitchFamily="34" charset="0"/>
              </a:rPr>
              <a:t>Learning how to answer a call </a:t>
            </a:r>
          </a:p>
          <a:p>
            <a:pPr lvl="0">
              <a:spcBef>
                <a:spcPts val="600"/>
              </a:spcBef>
              <a:spcAft>
                <a:spcPts val="1200"/>
              </a:spcAft>
            </a:pPr>
            <a:r>
              <a:rPr lang="en-AU" sz="2100" smtClean="0">
                <a:latin typeface="Helvetica" pitchFamily="34" charset="0"/>
              </a:rPr>
              <a:t>Learning how to place a call on hold</a:t>
            </a:r>
          </a:p>
          <a:p>
            <a:pPr lvl="0">
              <a:spcBef>
                <a:spcPts val="600"/>
              </a:spcBef>
              <a:spcAft>
                <a:spcPts val="1200"/>
              </a:spcAft>
            </a:pPr>
            <a:r>
              <a:rPr lang="en-AU" sz="2100" smtClean="0">
                <a:latin typeface="Helvetica" pitchFamily="34" charset="0"/>
              </a:rPr>
              <a:t>Learning how to transfer a call</a:t>
            </a:r>
          </a:p>
          <a:p>
            <a:pPr lvl="0">
              <a:spcBef>
                <a:spcPts val="600"/>
              </a:spcBef>
              <a:spcAft>
                <a:spcPts val="1200"/>
              </a:spcAft>
            </a:pPr>
            <a:r>
              <a:rPr lang="en-AU" sz="2100" smtClean="0">
                <a:latin typeface="Helvetica" pitchFamily="34" charset="0"/>
              </a:rPr>
              <a:t>recognising the different tones relating to the system</a:t>
            </a:r>
          </a:p>
          <a:p>
            <a:pPr lvl="0">
              <a:spcBef>
                <a:spcPts val="600"/>
              </a:spcBef>
              <a:spcAft>
                <a:spcPts val="1200"/>
              </a:spcAft>
              <a:buNone/>
            </a:pPr>
            <a:r>
              <a:rPr lang="en-AU" sz="2100" smtClean="0">
                <a:latin typeface="Helvetica" pitchFamily="34" charset="0"/>
              </a:rPr>
              <a:t>(Continued)</a:t>
            </a: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52</a:t>
            </a:fld>
            <a:endParaRPr lang="en-US"/>
          </a:p>
        </p:txBody>
      </p:sp>
      <p:pic>
        <p:nvPicPr>
          <p:cNvPr id="6" name="Picture 5" descr="C:\Documents and Settings\danielc\Local Settings\Temporary Internet Files\Content.IE5\D95FJ757\MC900363376[1].wmf"/>
          <p:cNvPicPr/>
          <p:nvPr/>
        </p:nvPicPr>
        <p:blipFill>
          <a:blip r:embed="rId3" cstate="print"/>
          <a:srcRect/>
          <a:stretch>
            <a:fillRect/>
          </a:stretch>
        </p:blipFill>
        <p:spPr bwMode="auto">
          <a:xfrm>
            <a:off x="7215206" y="2714620"/>
            <a:ext cx="1579714" cy="1571636"/>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telephone equipment correctly</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lvl="0">
              <a:lnSpc>
                <a:spcPct val="120000"/>
              </a:lnSpc>
              <a:spcBef>
                <a:spcPts val="600"/>
              </a:spcBef>
              <a:spcAft>
                <a:spcPts val="1200"/>
              </a:spcAft>
            </a:pPr>
            <a:r>
              <a:rPr lang="en-AU" sz="2100" smtClean="0">
                <a:latin typeface="Helvetica" pitchFamily="34" charset="0"/>
              </a:rPr>
              <a:t>Learning and deciphering the display</a:t>
            </a:r>
          </a:p>
          <a:p>
            <a:pPr lvl="0">
              <a:lnSpc>
                <a:spcPct val="120000"/>
              </a:lnSpc>
              <a:spcBef>
                <a:spcPts val="600"/>
              </a:spcBef>
              <a:spcAft>
                <a:spcPts val="1200"/>
              </a:spcAft>
            </a:pPr>
            <a:r>
              <a:rPr lang="en-AU" sz="2100" smtClean="0">
                <a:latin typeface="Helvetica" pitchFamily="34" charset="0"/>
              </a:rPr>
              <a:t>Being able to use the call monitoring features</a:t>
            </a:r>
          </a:p>
          <a:p>
            <a:pPr lvl="0">
              <a:lnSpc>
                <a:spcPct val="120000"/>
              </a:lnSpc>
              <a:spcBef>
                <a:spcPts val="600"/>
              </a:spcBef>
              <a:spcAft>
                <a:spcPts val="1200"/>
              </a:spcAft>
            </a:pPr>
            <a:r>
              <a:rPr lang="en-AU" sz="2100" smtClean="0">
                <a:latin typeface="Helvetica" pitchFamily="34" charset="0"/>
              </a:rPr>
              <a:t>Using the speed dial</a:t>
            </a:r>
          </a:p>
          <a:p>
            <a:pPr lvl="0">
              <a:lnSpc>
                <a:spcPct val="120000"/>
              </a:lnSpc>
              <a:spcBef>
                <a:spcPts val="600"/>
              </a:spcBef>
              <a:spcAft>
                <a:spcPts val="1200"/>
              </a:spcAft>
            </a:pPr>
            <a:r>
              <a:rPr lang="en-AU" sz="2100" smtClean="0">
                <a:latin typeface="Helvetica" pitchFamily="34" charset="0"/>
              </a:rPr>
              <a:t>Using last number redial</a:t>
            </a:r>
          </a:p>
          <a:p>
            <a:pPr lvl="0">
              <a:lnSpc>
                <a:spcPct val="120000"/>
              </a:lnSpc>
              <a:spcBef>
                <a:spcPts val="600"/>
              </a:spcBef>
              <a:spcAft>
                <a:spcPts val="1200"/>
              </a:spcAft>
            </a:pPr>
            <a:r>
              <a:rPr lang="en-AU" sz="2100" smtClean="0">
                <a:latin typeface="Helvetica" pitchFamily="34" charset="0"/>
              </a:rPr>
              <a:t>Using handsets and headsets.</a:t>
            </a: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53</a:t>
            </a:fld>
            <a:endParaRPr lang="en-US"/>
          </a:p>
        </p:txBody>
      </p:sp>
      <p:pic>
        <p:nvPicPr>
          <p:cNvPr id="5" name="Picture 4" descr="C:\Documents and Settings\danielc\Local Settings\Temporary Internet Files\Content.IE5\TVERO29A\MC900363374[1].wmf"/>
          <p:cNvPicPr/>
          <p:nvPr/>
        </p:nvPicPr>
        <p:blipFill>
          <a:blip r:embed="rId3" cstate="print"/>
          <a:srcRect/>
          <a:stretch>
            <a:fillRect/>
          </a:stretch>
        </p:blipFill>
        <p:spPr bwMode="auto">
          <a:xfrm>
            <a:off x="6715140" y="2214554"/>
            <a:ext cx="1633480" cy="1625127"/>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telephone equipment correctly</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100" smtClean="0">
                <a:latin typeface="Helvetica" pitchFamily="34" charset="0"/>
              </a:rPr>
              <a:t>You should also learn the ‘advanced features’ of your workplace telephone, such as:</a:t>
            </a:r>
          </a:p>
          <a:p>
            <a:pPr lvl="0">
              <a:spcBef>
                <a:spcPts val="600"/>
              </a:spcBef>
              <a:spcAft>
                <a:spcPts val="1200"/>
              </a:spcAft>
            </a:pPr>
            <a:r>
              <a:rPr lang="en-AU" sz="2100" smtClean="0">
                <a:latin typeface="Helvetica" pitchFamily="34" charset="0"/>
              </a:rPr>
              <a:t>Activating ‘call forward’ for individual numbers</a:t>
            </a:r>
          </a:p>
          <a:p>
            <a:pPr lvl="0">
              <a:spcBef>
                <a:spcPts val="600"/>
              </a:spcBef>
              <a:spcAft>
                <a:spcPts val="1200"/>
              </a:spcAft>
            </a:pPr>
            <a:r>
              <a:rPr lang="en-AU" sz="2100" smtClean="0">
                <a:latin typeface="Helvetica" pitchFamily="34" charset="0"/>
              </a:rPr>
              <a:t>Activating ‘call back’ for individual numbers</a:t>
            </a:r>
          </a:p>
          <a:p>
            <a:pPr lvl="0">
              <a:spcBef>
                <a:spcPts val="600"/>
              </a:spcBef>
              <a:spcAft>
                <a:spcPts val="1200"/>
              </a:spcAft>
            </a:pPr>
            <a:r>
              <a:rPr lang="en-AU" sz="2100" smtClean="0">
                <a:latin typeface="Helvetica" pitchFamily="34" charset="0"/>
              </a:rPr>
              <a:t>Recording voice messages such as greetings</a:t>
            </a:r>
          </a:p>
          <a:p>
            <a:pPr lvl="0">
              <a:spcBef>
                <a:spcPts val="600"/>
              </a:spcBef>
              <a:spcAft>
                <a:spcPts val="1200"/>
              </a:spcAft>
            </a:pPr>
            <a:r>
              <a:rPr lang="en-AU" sz="2100" smtClean="0">
                <a:latin typeface="Helvetica" pitchFamily="34" charset="0"/>
              </a:rPr>
              <a:t>Setting up conference calls</a:t>
            </a:r>
          </a:p>
          <a:p>
            <a:pPr lvl="0">
              <a:spcBef>
                <a:spcPts val="600"/>
              </a:spcBef>
              <a:spcAft>
                <a:spcPts val="1200"/>
              </a:spcAft>
            </a:pPr>
            <a:r>
              <a:rPr lang="en-AU" sz="2100" smtClean="0">
                <a:latin typeface="Helvetica" pitchFamily="34" charset="0"/>
              </a:rPr>
              <a:t>Initiating ‘Do Not Disturb’ for designated numbers</a:t>
            </a:r>
          </a:p>
          <a:p>
            <a:pPr lvl="0">
              <a:spcBef>
                <a:spcPts val="600"/>
              </a:spcBef>
              <a:spcAft>
                <a:spcPts val="1200"/>
              </a:spcAft>
              <a:buNone/>
            </a:pPr>
            <a:r>
              <a:rPr lang="en-AU" sz="2100" smtClean="0">
                <a:latin typeface="Helvetica" pitchFamily="34" charset="0"/>
              </a:rPr>
              <a:t>(Continued)</a:t>
            </a: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54</a:t>
            </a:fld>
            <a:endParaRPr lang="en-US"/>
          </a:p>
        </p:txBody>
      </p:sp>
      <p:pic>
        <p:nvPicPr>
          <p:cNvPr id="48130" name="Picture 2" descr="C:\Documents and Settings\danielc\Local Settings\Temporary Internet Files\Content.IE5\C278ONHS\MC900044848[1].wmf"/>
          <p:cNvPicPr>
            <a:picLocks noChangeAspect="1" noChangeArrowheads="1"/>
          </p:cNvPicPr>
          <p:nvPr/>
        </p:nvPicPr>
        <p:blipFill>
          <a:blip r:embed="rId3" cstate="print"/>
          <a:srcRect/>
          <a:stretch>
            <a:fillRect/>
          </a:stretch>
        </p:blipFill>
        <p:spPr bwMode="auto">
          <a:xfrm>
            <a:off x="7143768" y="2000240"/>
            <a:ext cx="1505102" cy="2008022"/>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Using telephone equipment correctly</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lvl="0">
              <a:spcBef>
                <a:spcPts val="600"/>
              </a:spcBef>
              <a:spcAft>
                <a:spcPts val="1200"/>
              </a:spcAft>
            </a:pPr>
            <a:r>
              <a:rPr lang="en-AU" sz="2100" smtClean="0">
                <a:latin typeface="Helvetica" pitchFamily="34" charset="0"/>
              </a:rPr>
              <a:t>Initiating password protection</a:t>
            </a:r>
          </a:p>
          <a:p>
            <a:pPr lvl="0">
              <a:spcBef>
                <a:spcPts val="600"/>
              </a:spcBef>
              <a:spcAft>
                <a:spcPts val="1200"/>
              </a:spcAft>
            </a:pPr>
            <a:r>
              <a:rPr lang="en-AU" sz="2100" smtClean="0">
                <a:latin typeface="Helvetica" pitchFamily="34" charset="0"/>
              </a:rPr>
              <a:t>Establishing call groups</a:t>
            </a:r>
          </a:p>
          <a:p>
            <a:pPr lvl="0">
              <a:spcBef>
                <a:spcPts val="600"/>
              </a:spcBef>
              <a:spcAft>
                <a:spcPts val="1200"/>
              </a:spcAft>
            </a:pPr>
            <a:r>
              <a:rPr lang="en-AU" sz="2100" smtClean="0">
                <a:latin typeface="Helvetica" pitchFamily="34" charset="0"/>
              </a:rPr>
              <a:t>Adding, deleting and amending system details</a:t>
            </a:r>
          </a:p>
          <a:p>
            <a:pPr lvl="0">
              <a:spcBef>
                <a:spcPts val="600"/>
              </a:spcBef>
              <a:spcAft>
                <a:spcPts val="1200"/>
              </a:spcAft>
            </a:pPr>
            <a:r>
              <a:rPr lang="en-AU" sz="2100" smtClean="0">
                <a:latin typeface="Helvetica" pitchFamily="34" charset="0"/>
              </a:rPr>
              <a:t>Operating system features that integrate with other systems</a:t>
            </a:r>
          </a:p>
          <a:p>
            <a:pPr lvl="0">
              <a:spcBef>
                <a:spcPts val="600"/>
              </a:spcBef>
              <a:spcAft>
                <a:spcPts val="1200"/>
              </a:spcAft>
            </a:pPr>
            <a:r>
              <a:rPr lang="en-AU" sz="2100" smtClean="0">
                <a:latin typeface="Helvetica" pitchFamily="34" charset="0"/>
              </a:rPr>
              <a:t>Using programmable keys or buttons.</a:t>
            </a: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55</a:t>
            </a:fld>
            <a:endParaRPr lang="en-US"/>
          </a:p>
        </p:txBody>
      </p:sp>
      <p:pic>
        <p:nvPicPr>
          <p:cNvPr id="49154" name="Picture 2" descr="C:\Documents and Settings\danielc\Local Settings\Temporary Internet Files\Content.IE5\YI0F6H43\MC900055400[1].wmf"/>
          <p:cNvPicPr>
            <a:picLocks noChangeAspect="1" noChangeArrowheads="1"/>
          </p:cNvPicPr>
          <p:nvPr/>
        </p:nvPicPr>
        <p:blipFill>
          <a:blip r:embed="rId3" cstate="print"/>
          <a:srcRect/>
          <a:stretch>
            <a:fillRect/>
          </a:stretch>
        </p:blipFill>
        <p:spPr bwMode="auto">
          <a:xfrm>
            <a:off x="6786578" y="1357298"/>
            <a:ext cx="1833211" cy="1792351"/>
          </a:xfrm>
          <a:prstGeom prst="rect">
            <a:avLst/>
          </a:prstGeom>
          <a:noFill/>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Communicating name, company and reason for calling</a:t>
            </a:r>
          </a:p>
        </p:txBody>
      </p:sp>
      <p:sp>
        <p:nvSpPr>
          <p:cNvPr id="3" name="Content Placeholder 2"/>
          <p:cNvSpPr>
            <a:spLocks noGrp="1"/>
          </p:cNvSpPr>
          <p:nvPr>
            <p:ph idx="1"/>
          </p:nvPr>
        </p:nvSpPr>
        <p:spPr/>
        <p:txBody>
          <a:bodyPr>
            <a:normAutofit/>
          </a:bodyPr>
          <a:lstStyle/>
          <a:p>
            <a:pPr marL="0">
              <a:spcBef>
                <a:spcPts val="600"/>
              </a:spcBef>
              <a:spcAft>
                <a:spcPts val="1200"/>
              </a:spcAft>
              <a:buNone/>
            </a:pPr>
            <a:r>
              <a:rPr lang="en-US" sz="2100" smtClean="0">
                <a:latin typeface="Helvetica" pitchFamily="34" charset="0"/>
              </a:rPr>
              <a:t>When making a call from work, you should, when the other party answers the call:</a:t>
            </a:r>
          </a:p>
          <a:p>
            <a:pPr lvl="0">
              <a:spcBef>
                <a:spcPts val="600"/>
              </a:spcBef>
              <a:spcAft>
                <a:spcPts val="1200"/>
              </a:spcAft>
            </a:pPr>
            <a:r>
              <a:rPr lang="en-AU" sz="2100" smtClean="0">
                <a:latin typeface="Helvetica" pitchFamily="34" charset="0"/>
              </a:rPr>
              <a:t>State your name </a:t>
            </a:r>
          </a:p>
          <a:p>
            <a:pPr lvl="0">
              <a:spcBef>
                <a:spcPts val="600"/>
              </a:spcBef>
              <a:spcAft>
                <a:spcPts val="1200"/>
              </a:spcAft>
            </a:pPr>
            <a:r>
              <a:rPr lang="en-AU" sz="2100" smtClean="0">
                <a:latin typeface="Helvetica" pitchFamily="34" charset="0"/>
              </a:rPr>
              <a:t>Identify the business you represent</a:t>
            </a:r>
          </a:p>
          <a:p>
            <a:pPr lvl="0">
              <a:spcBef>
                <a:spcPts val="600"/>
              </a:spcBef>
              <a:spcAft>
                <a:spcPts val="1200"/>
              </a:spcAft>
            </a:pPr>
            <a:r>
              <a:rPr lang="en-AU" sz="2100" smtClean="0">
                <a:latin typeface="Helvetica" pitchFamily="34" charset="0"/>
              </a:rPr>
              <a:t>Advise them of the reason for your call.</a:t>
            </a:r>
          </a:p>
          <a:p>
            <a:pPr lvl="0" algn="ctr">
              <a:spcBef>
                <a:spcPts val="600"/>
              </a:spcBef>
              <a:spcAft>
                <a:spcPts val="1200"/>
              </a:spcAft>
              <a:buNone/>
            </a:pPr>
            <a:r>
              <a:rPr lang="en-AU" sz="2100" b="1" smtClean="0">
                <a:latin typeface="Helvetica" pitchFamily="34" charset="0"/>
              </a:rPr>
              <a:t>Try to avoid playing ‘phone tag’.</a:t>
            </a: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56</a:t>
            </a:fld>
            <a:endParaRPr lang="en-US"/>
          </a:p>
        </p:txBody>
      </p:sp>
      <p:pic>
        <p:nvPicPr>
          <p:cNvPr id="50178" name="Picture 2" descr="C:\Documents and Settings\danielc\Local Settings\Temporary Internet Files\Content.IE5\8GDE57UC\MC900250534[1].wmf"/>
          <p:cNvPicPr>
            <a:picLocks noChangeAspect="1" noChangeArrowheads="1"/>
          </p:cNvPicPr>
          <p:nvPr/>
        </p:nvPicPr>
        <p:blipFill>
          <a:blip r:embed="rId3" cstate="print"/>
          <a:srcRect/>
          <a:stretch>
            <a:fillRect/>
          </a:stretch>
        </p:blipFill>
        <p:spPr bwMode="auto">
          <a:xfrm>
            <a:off x="6000760" y="2643182"/>
            <a:ext cx="2720566" cy="1730721"/>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Communicating name, company and reason for calling</a:t>
            </a:r>
          </a:p>
        </p:txBody>
      </p:sp>
      <p:sp>
        <p:nvSpPr>
          <p:cNvPr id="3" name="Content Placeholder 2"/>
          <p:cNvSpPr>
            <a:spLocks noGrp="1"/>
          </p:cNvSpPr>
          <p:nvPr>
            <p:ph idx="1"/>
          </p:nvPr>
        </p:nvSpPr>
        <p:spPr>
          <a:xfrm>
            <a:off x="457200" y="1600200"/>
            <a:ext cx="7829576" cy="4525963"/>
          </a:xfrm>
        </p:spPr>
        <p:txBody>
          <a:bodyPr>
            <a:noAutofit/>
          </a:bodyPr>
          <a:lstStyle/>
          <a:p>
            <a:pPr lvl="0">
              <a:lnSpc>
                <a:spcPct val="120000"/>
              </a:lnSpc>
              <a:spcBef>
                <a:spcPts val="600"/>
              </a:spcBef>
              <a:spcAft>
                <a:spcPts val="1200"/>
              </a:spcAft>
            </a:pPr>
            <a:r>
              <a:rPr lang="en-AU" sz="1800" smtClean="0">
                <a:latin typeface="Helvetica" pitchFamily="34" charset="0"/>
              </a:rPr>
              <a:t>“Good afternoon, it’s Gary Walsh here from Nursery Ridge Travel. Can I speak with someone who can help me with booking desert tours?”</a:t>
            </a:r>
          </a:p>
          <a:p>
            <a:pPr lvl="0">
              <a:lnSpc>
                <a:spcPct val="120000"/>
              </a:lnSpc>
              <a:spcBef>
                <a:spcPts val="600"/>
              </a:spcBef>
              <a:spcAft>
                <a:spcPts val="1200"/>
              </a:spcAft>
            </a:pPr>
            <a:r>
              <a:rPr lang="en-AU" sz="1800" smtClean="0">
                <a:latin typeface="Helvetica" pitchFamily="34" charset="0"/>
              </a:rPr>
              <a:t>“Good morning, my name is Joe Smith from the reception desk at The Walsh on Lime. I’m phoning on behalf of one of our guests, Mr Graham, who is on hold at the moment and wishes to speak to Emma Gregson about a booking he has with you.”</a:t>
            </a:r>
          </a:p>
          <a:p>
            <a:pPr lvl="0">
              <a:lnSpc>
                <a:spcPct val="120000"/>
              </a:lnSpc>
              <a:spcBef>
                <a:spcPts val="600"/>
              </a:spcBef>
              <a:spcAft>
                <a:spcPts val="1200"/>
              </a:spcAft>
            </a:pPr>
            <a:r>
              <a:rPr lang="en-AU" sz="1800" smtClean="0">
                <a:latin typeface="Helvetica" pitchFamily="34" charset="0"/>
              </a:rPr>
              <a:t>“Hi, it’s Ryan here from Bob’s Bar and Grill. Can I speak to your accounts department please?”</a:t>
            </a:r>
          </a:p>
          <a:p>
            <a:pPr lvl="0">
              <a:lnSpc>
                <a:spcPct val="120000"/>
              </a:lnSpc>
              <a:spcBef>
                <a:spcPts val="600"/>
              </a:spcBef>
              <a:spcAft>
                <a:spcPts val="1200"/>
              </a:spcAft>
            </a:pPr>
            <a:r>
              <a:rPr lang="en-AU" sz="1800" smtClean="0">
                <a:latin typeface="Helvetica" pitchFamily="34" charset="0"/>
              </a:rPr>
              <a:t>“Hello, my name is Linda from Catering and Cakes and I wanted to speak to someone about obtaining information on the products you supply to retail outlets. We’re thinking of changing suppliers and I wanted to get some quotes.”</a:t>
            </a:r>
          </a:p>
          <a:p>
            <a:pPr>
              <a:lnSpc>
                <a:spcPct val="120000"/>
              </a:lnSpc>
              <a:spcBef>
                <a:spcPts val="600"/>
              </a:spcBef>
              <a:spcAft>
                <a:spcPts val="1200"/>
              </a:spcAft>
              <a:buNone/>
            </a:pPr>
            <a:endParaRPr lang="en-AU" sz="1800" smtClean="0">
              <a:latin typeface="Helvetica" pitchFamily="34" charset="0"/>
            </a:endParaRPr>
          </a:p>
          <a:p>
            <a:pPr lvl="0">
              <a:lnSpc>
                <a:spcPct val="120000"/>
              </a:lnSpc>
              <a:spcBef>
                <a:spcPts val="600"/>
              </a:spcBef>
              <a:spcAft>
                <a:spcPts val="1200"/>
              </a:spcAft>
            </a:pPr>
            <a:endParaRPr lang="en-AU" sz="1800" smtClean="0">
              <a:latin typeface="Helvetica" pitchFamily="34" charset="0"/>
            </a:endParaRPr>
          </a:p>
          <a:p>
            <a:pPr lvl="0">
              <a:lnSpc>
                <a:spcPct val="120000"/>
              </a:lnSpc>
              <a:spcBef>
                <a:spcPts val="600"/>
              </a:spcBef>
              <a:spcAft>
                <a:spcPts val="1200"/>
              </a:spcAft>
            </a:pPr>
            <a:endParaRPr lang="en-AU" sz="1800" smtClean="0">
              <a:latin typeface="Helvetica" pitchFamily="34" charset="0"/>
            </a:endParaRPr>
          </a:p>
          <a:p>
            <a:pPr>
              <a:lnSpc>
                <a:spcPct val="120000"/>
              </a:lnSpc>
              <a:spcBef>
                <a:spcPts val="600"/>
              </a:spcBef>
              <a:spcAft>
                <a:spcPts val="1200"/>
              </a:spcAft>
            </a:pPr>
            <a:endParaRPr lang="en-US" sz="18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Being polite and courteous at all times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marL="0">
              <a:spcBef>
                <a:spcPts val="600"/>
              </a:spcBef>
              <a:spcAft>
                <a:spcPts val="1200"/>
              </a:spcAft>
              <a:buNone/>
            </a:pPr>
            <a:r>
              <a:rPr lang="en-US" sz="2100" smtClean="0">
                <a:latin typeface="Helvetica" pitchFamily="34" charset="0"/>
              </a:rPr>
              <a:t>You must be polite and courteous when answering or placing a call:</a:t>
            </a:r>
          </a:p>
          <a:p>
            <a:pPr lvl="0">
              <a:spcBef>
                <a:spcPts val="600"/>
              </a:spcBef>
              <a:spcAft>
                <a:spcPts val="1200"/>
              </a:spcAft>
            </a:pPr>
            <a:r>
              <a:rPr lang="en-AU" sz="2100" smtClean="0">
                <a:latin typeface="Helvetica" pitchFamily="34" charset="0"/>
              </a:rPr>
              <a:t>Always say ‘please’</a:t>
            </a:r>
          </a:p>
          <a:p>
            <a:pPr lvl="0">
              <a:spcBef>
                <a:spcPts val="600"/>
              </a:spcBef>
              <a:spcAft>
                <a:spcPts val="1200"/>
              </a:spcAft>
            </a:pPr>
            <a:r>
              <a:rPr lang="en-AU" sz="2100" smtClean="0">
                <a:latin typeface="Helvetica" pitchFamily="34" charset="0"/>
              </a:rPr>
              <a:t>Always say ‘thank you’</a:t>
            </a:r>
          </a:p>
          <a:p>
            <a:pPr lvl="0">
              <a:spcBef>
                <a:spcPts val="600"/>
              </a:spcBef>
              <a:spcAft>
                <a:spcPts val="1200"/>
              </a:spcAft>
            </a:pPr>
            <a:r>
              <a:rPr lang="en-AU" sz="2100" smtClean="0">
                <a:latin typeface="Helvetica" pitchFamily="34" charset="0"/>
              </a:rPr>
              <a:t>Mention appreciation of special effort the other person has made</a:t>
            </a:r>
          </a:p>
          <a:p>
            <a:pPr lvl="0">
              <a:spcBef>
                <a:spcPts val="600"/>
              </a:spcBef>
              <a:spcAft>
                <a:spcPts val="1200"/>
              </a:spcAft>
            </a:pPr>
            <a:r>
              <a:rPr lang="en-AU" sz="2100" smtClean="0">
                <a:latin typeface="Helvetica" pitchFamily="34" charset="0"/>
              </a:rPr>
              <a:t>Always remain a professional</a:t>
            </a:r>
          </a:p>
          <a:p>
            <a:pPr lvl="0">
              <a:spcBef>
                <a:spcPts val="600"/>
              </a:spcBef>
              <a:spcAft>
                <a:spcPts val="1200"/>
              </a:spcAft>
            </a:pPr>
            <a:r>
              <a:rPr lang="en-AU" sz="2100" smtClean="0">
                <a:latin typeface="Helvetica" pitchFamily="34" charset="0"/>
              </a:rPr>
              <a:t>Never run down a third party to the person you are speaking to</a:t>
            </a:r>
          </a:p>
          <a:p>
            <a:pPr lvl="0">
              <a:spcBef>
                <a:spcPts val="600"/>
              </a:spcBef>
              <a:spcAft>
                <a:spcPts val="1200"/>
              </a:spcAft>
              <a:buNone/>
            </a:pPr>
            <a:r>
              <a:rPr lang="en-AU" sz="2100" smtClean="0">
                <a:latin typeface="Helvetica" pitchFamily="34" charset="0"/>
              </a:rPr>
              <a:t>(Continued)</a:t>
            </a: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58</a:t>
            </a:fld>
            <a:endParaRPr lang="en-US"/>
          </a:p>
        </p:txBody>
      </p:sp>
      <p:pic>
        <p:nvPicPr>
          <p:cNvPr id="51203" name="Picture 3" descr="C:\Documents and Settings\danielc\Local Settings\Temporary Internet Files\Content.IE5\TVERO29A\MC900127683[1].wmf"/>
          <p:cNvPicPr>
            <a:picLocks noChangeAspect="1" noChangeArrowheads="1"/>
          </p:cNvPicPr>
          <p:nvPr/>
        </p:nvPicPr>
        <p:blipFill>
          <a:blip r:embed="rId3" cstate="print"/>
          <a:srcRect/>
          <a:stretch>
            <a:fillRect/>
          </a:stretch>
        </p:blipFill>
        <p:spPr bwMode="auto">
          <a:xfrm>
            <a:off x="7072330" y="1428736"/>
            <a:ext cx="1907166" cy="1864045"/>
          </a:xfrm>
          <a:prstGeom prst="rect">
            <a:avLst/>
          </a:prstGeom>
          <a:noFill/>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Being polite and courteous at all times</a:t>
            </a:r>
            <a:endParaRPr lang="en-US" sz="3400">
              <a:solidFill>
                <a:srgbClr val="FF6600"/>
              </a:solidFill>
              <a:latin typeface="Helvetica" pitchFamily="34" charset="0"/>
            </a:endParaRPr>
          </a:p>
        </p:txBody>
      </p:sp>
      <p:sp>
        <p:nvSpPr>
          <p:cNvPr id="3" name="Content Placeholder 2"/>
          <p:cNvSpPr>
            <a:spLocks noGrp="1"/>
          </p:cNvSpPr>
          <p:nvPr>
            <p:ph idx="1"/>
          </p:nvPr>
        </p:nvSpPr>
        <p:spPr>
          <a:xfrm>
            <a:off x="457200" y="1600200"/>
            <a:ext cx="8329642" cy="4525963"/>
          </a:xfrm>
        </p:spPr>
        <p:txBody>
          <a:bodyPr>
            <a:noAutofit/>
          </a:bodyPr>
          <a:lstStyle/>
          <a:p>
            <a:pPr lvl="0">
              <a:spcBef>
                <a:spcPts val="600"/>
              </a:spcBef>
              <a:spcAft>
                <a:spcPts val="1200"/>
              </a:spcAft>
            </a:pPr>
            <a:r>
              <a:rPr lang="en-AU" sz="2100" smtClean="0">
                <a:latin typeface="Helvetica" pitchFamily="34" charset="0"/>
              </a:rPr>
              <a:t>Ask when a person who is unavailable is likely to be available</a:t>
            </a:r>
          </a:p>
          <a:p>
            <a:pPr lvl="0">
              <a:spcBef>
                <a:spcPts val="600"/>
              </a:spcBef>
              <a:spcAft>
                <a:spcPts val="1200"/>
              </a:spcAft>
            </a:pPr>
            <a:r>
              <a:rPr lang="en-AU" sz="2100" smtClean="0">
                <a:latin typeface="Helvetica" pitchFamily="34" charset="0"/>
              </a:rPr>
              <a:t>Use the person’s name if known</a:t>
            </a:r>
          </a:p>
          <a:p>
            <a:pPr lvl="0">
              <a:spcBef>
                <a:spcPts val="600"/>
              </a:spcBef>
              <a:spcAft>
                <a:spcPts val="1200"/>
              </a:spcAft>
            </a:pPr>
            <a:r>
              <a:rPr lang="en-AU" sz="2100" smtClean="0">
                <a:latin typeface="Helvetica" pitchFamily="34" charset="0"/>
              </a:rPr>
              <a:t>Speak at a normal volume</a:t>
            </a:r>
          </a:p>
          <a:p>
            <a:pPr lvl="0">
              <a:spcBef>
                <a:spcPts val="600"/>
              </a:spcBef>
              <a:spcAft>
                <a:spcPts val="1200"/>
              </a:spcAft>
            </a:pPr>
            <a:r>
              <a:rPr lang="en-AU" sz="2100" smtClean="0">
                <a:latin typeface="Helvetica" pitchFamily="34" charset="0"/>
              </a:rPr>
              <a:t>Talk at a normal rate</a:t>
            </a:r>
          </a:p>
          <a:p>
            <a:pPr lvl="0">
              <a:spcBef>
                <a:spcPts val="600"/>
              </a:spcBef>
              <a:spcAft>
                <a:spcPts val="1200"/>
              </a:spcAft>
            </a:pPr>
            <a:r>
              <a:rPr lang="en-AU" sz="2100" smtClean="0">
                <a:latin typeface="Helvetica" pitchFamily="34" charset="0"/>
              </a:rPr>
              <a:t>Use correct language</a:t>
            </a:r>
          </a:p>
          <a:p>
            <a:pPr lvl="0">
              <a:spcBef>
                <a:spcPts val="600"/>
              </a:spcBef>
              <a:spcAft>
                <a:spcPts val="1200"/>
              </a:spcAft>
            </a:pPr>
            <a:r>
              <a:rPr lang="en-AU" sz="2100" smtClean="0">
                <a:latin typeface="Helvetica" pitchFamily="34" charset="0"/>
              </a:rPr>
              <a:t>Avoid using industry terms and/or business-specific terminology unless speaking to another industry professional</a:t>
            </a:r>
          </a:p>
          <a:p>
            <a:pPr lvl="0">
              <a:spcBef>
                <a:spcPts val="600"/>
              </a:spcBef>
              <a:spcAft>
                <a:spcPts val="1200"/>
              </a:spcAft>
              <a:buNone/>
            </a:pPr>
            <a:r>
              <a:rPr lang="en-AU" sz="2100" smtClean="0">
                <a:latin typeface="Helvetica" pitchFamily="34" charset="0"/>
              </a:rPr>
              <a:t>(Continued)</a:t>
            </a: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59</a:t>
            </a:fld>
            <a:endParaRPr lang="en-US"/>
          </a:p>
        </p:txBody>
      </p:sp>
      <p:pic>
        <p:nvPicPr>
          <p:cNvPr id="52226" name="Picture 2" descr="C:\Documents and Settings\danielc\Local Settings\Temporary Internet Files\Content.IE5\D95FJ757\MP900409690[1].jpg"/>
          <p:cNvPicPr>
            <a:picLocks noChangeAspect="1" noChangeArrowheads="1"/>
          </p:cNvPicPr>
          <p:nvPr/>
        </p:nvPicPr>
        <p:blipFill>
          <a:blip r:embed="rId3" cstate="print"/>
          <a:srcRect/>
          <a:stretch>
            <a:fillRect/>
          </a:stretch>
        </p:blipFill>
        <p:spPr bwMode="auto">
          <a:xfrm>
            <a:off x="7429520" y="2285992"/>
            <a:ext cx="1185982" cy="1785950"/>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Being polite and courteous at all times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Autofit/>
          </a:bodyPr>
          <a:lstStyle/>
          <a:p>
            <a:pPr lvl="0">
              <a:lnSpc>
                <a:spcPct val="110000"/>
              </a:lnSpc>
              <a:spcBef>
                <a:spcPts val="600"/>
              </a:spcBef>
              <a:spcAft>
                <a:spcPts val="1200"/>
              </a:spcAft>
            </a:pPr>
            <a:r>
              <a:rPr lang="en-AU" sz="2100" smtClean="0">
                <a:latin typeface="Helvetica" pitchFamily="34" charset="0"/>
              </a:rPr>
              <a:t>Eliminate any background noise as far as possible</a:t>
            </a:r>
          </a:p>
          <a:p>
            <a:pPr lvl="0">
              <a:lnSpc>
                <a:spcPct val="110000"/>
              </a:lnSpc>
              <a:spcBef>
                <a:spcPts val="600"/>
              </a:spcBef>
              <a:spcAft>
                <a:spcPts val="1200"/>
              </a:spcAft>
            </a:pPr>
            <a:r>
              <a:rPr lang="en-AU" sz="2100" smtClean="0">
                <a:latin typeface="Helvetica" pitchFamily="34" charset="0"/>
              </a:rPr>
              <a:t>Talk directly into the phone or headpiece/mouthpiece </a:t>
            </a:r>
          </a:p>
          <a:p>
            <a:pPr lvl="0">
              <a:lnSpc>
                <a:spcPct val="110000"/>
              </a:lnSpc>
              <a:spcBef>
                <a:spcPts val="600"/>
              </a:spcBef>
              <a:spcAft>
                <a:spcPts val="1200"/>
              </a:spcAft>
            </a:pPr>
            <a:r>
              <a:rPr lang="en-AU" sz="2100" smtClean="0">
                <a:latin typeface="Helvetica" pitchFamily="34" charset="0"/>
              </a:rPr>
              <a:t>Pronounce your words correctly</a:t>
            </a:r>
          </a:p>
          <a:p>
            <a:pPr lvl="0">
              <a:lnSpc>
                <a:spcPct val="110000"/>
              </a:lnSpc>
              <a:spcBef>
                <a:spcPts val="600"/>
              </a:spcBef>
              <a:spcAft>
                <a:spcPts val="1200"/>
              </a:spcAft>
            </a:pPr>
            <a:r>
              <a:rPr lang="en-AU" sz="2100" smtClean="0">
                <a:latin typeface="Helvetica" pitchFamily="34" charset="0"/>
              </a:rPr>
              <a:t>Spell out any words you can expect the other party will be unfamiliar with </a:t>
            </a:r>
          </a:p>
          <a:p>
            <a:pPr lvl="0">
              <a:lnSpc>
                <a:spcPct val="110000"/>
              </a:lnSpc>
              <a:spcBef>
                <a:spcPts val="600"/>
              </a:spcBef>
              <a:spcAft>
                <a:spcPts val="1200"/>
              </a:spcAft>
            </a:pPr>
            <a:r>
              <a:rPr lang="en-AU" sz="2100" smtClean="0">
                <a:latin typeface="Helvetica" pitchFamily="34" charset="0"/>
              </a:rPr>
              <a:t>Be careful how you put the phone down when you are talking to the caller</a:t>
            </a:r>
          </a:p>
          <a:p>
            <a:pPr lvl="0">
              <a:lnSpc>
                <a:spcPct val="110000"/>
              </a:lnSpc>
              <a:spcBef>
                <a:spcPts val="600"/>
              </a:spcBef>
              <a:spcAft>
                <a:spcPts val="1200"/>
              </a:spcAft>
            </a:pPr>
            <a:r>
              <a:rPr lang="en-AU" sz="2100" smtClean="0">
                <a:latin typeface="Helvetica" pitchFamily="34" charset="0"/>
              </a:rPr>
              <a:t>Never talk to a third party while you are on the phone to someone else</a:t>
            </a:r>
          </a:p>
          <a:p>
            <a:pPr lvl="0">
              <a:lnSpc>
                <a:spcPct val="110000"/>
              </a:lnSpc>
              <a:spcBef>
                <a:spcPts val="600"/>
              </a:spcBef>
              <a:spcAft>
                <a:spcPts val="1200"/>
              </a:spcAft>
              <a:buNone/>
            </a:pPr>
            <a:r>
              <a:rPr lang="en-AU" sz="2100" smtClean="0">
                <a:latin typeface="Helvetica" pitchFamily="34" charset="0"/>
              </a:rPr>
              <a:t>(Continued)</a:t>
            </a:r>
          </a:p>
          <a:p>
            <a:pPr>
              <a:lnSpc>
                <a:spcPct val="110000"/>
              </a:lnSpc>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60</a:t>
            </a:fld>
            <a:endParaRPr lang="en-US"/>
          </a:p>
        </p:txBody>
      </p:sp>
      <p:pic>
        <p:nvPicPr>
          <p:cNvPr id="5" name="Picture 4" descr="C:\Documents and Settings\danielc\Local Settings\Temporary Internet Files\Content.IE5\D95FJ757\MP900442182[1].jpg"/>
          <p:cNvPicPr/>
          <p:nvPr/>
        </p:nvPicPr>
        <p:blipFill>
          <a:blip r:embed="rId3" cstate="print"/>
          <a:srcRect/>
          <a:stretch>
            <a:fillRect/>
          </a:stretch>
        </p:blipFill>
        <p:spPr bwMode="auto">
          <a:xfrm>
            <a:off x="7572396" y="1785926"/>
            <a:ext cx="1299111" cy="866899"/>
          </a:xfrm>
          <a:prstGeom prst="rect">
            <a:avLst/>
          </a:prstGeom>
          <a:noFill/>
          <a:ln w="9525">
            <a:noFill/>
            <a:miter lim="800000"/>
            <a:headEnd/>
            <a:tailEnd/>
          </a:ln>
        </p:spPr>
      </p:pic>
      <p:pic>
        <p:nvPicPr>
          <p:cNvPr id="53250" name="Picture 2" descr="C:\Documents and Settings\danielc\Local Settings\Temporary Internet Files\Content.IE5\I9R90UNG\MP900401934[1].jpg"/>
          <p:cNvPicPr>
            <a:picLocks noChangeAspect="1" noChangeArrowheads="1"/>
          </p:cNvPicPr>
          <p:nvPr/>
        </p:nvPicPr>
        <p:blipFill>
          <a:blip r:embed="rId4" cstate="print"/>
          <a:srcRect/>
          <a:stretch>
            <a:fillRect/>
          </a:stretch>
        </p:blipFill>
        <p:spPr bwMode="auto">
          <a:xfrm>
            <a:off x="7929586" y="2857496"/>
            <a:ext cx="898016" cy="1346367"/>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Being polite and courteous at all times</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lvl="0">
              <a:spcBef>
                <a:spcPts val="600"/>
              </a:spcBef>
              <a:spcAft>
                <a:spcPts val="1200"/>
              </a:spcAft>
            </a:pPr>
            <a:r>
              <a:rPr lang="en-AU" sz="2100" smtClean="0">
                <a:latin typeface="Helvetica" pitchFamily="34" charset="0"/>
              </a:rPr>
              <a:t>Ask callers if you can help them in any other way before hanging up</a:t>
            </a:r>
          </a:p>
          <a:p>
            <a:pPr lvl="0">
              <a:spcBef>
                <a:spcPts val="600"/>
              </a:spcBef>
              <a:spcAft>
                <a:spcPts val="1200"/>
              </a:spcAft>
            </a:pPr>
            <a:r>
              <a:rPr lang="en-AU" sz="2100" smtClean="0">
                <a:latin typeface="Helvetica" pitchFamily="34" charset="0"/>
              </a:rPr>
              <a:t>Thank callers for their call</a:t>
            </a:r>
          </a:p>
          <a:p>
            <a:pPr lvl="0">
              <a:spcBef>
                <a:spcPts val="600"/>
              </a:spcBef>
              <a:spcAft>
                <a:spcPts val="1200"/>
              </a:spcAft>
            </a:pPr>
            <a:r>
              <a:rPr lang="en-AU" sz="2100" smtClean="0">
                <a:latin typeface="Helvetica" pitchFamily="34" charset="0"/>
              </a:rPr>
              <a:t>Let the caller hang up before you do.</a:t>
            </a: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61</a:t>
            </a:fld>
            <a:endParaRPr lang="en-US"/>
          </a:p>
        </p:txBody>
      </p:sp>
      <p:pic>
        <p:nvPicPr>
          <p:cNvPr id="54274" name="Picture 2" descr="C:\Documents and Settings\danielc\Local Settings\Temporary Internet Files\Content.IE5\E5HVZFEA\MP900438370[1].jpg"/>
          <p:cNvPicPr>
            <a:picLocks noChangeAspect="1" noChangeArrowheads="1"/>
          </p:cNvPicPr>
          <p:nvPr/>
        </p:nvPicPr>
        <p:blipFill>
          <a:blip r:embed="rId3" cstate="print"/>
          <a:srcRect/>
          <a:stretch>
            <a:fillRect/>
          </a:stretch>
        </p:blipFill>
        <p:spPr bwMode="auto">
          <a:xfrm>
            <a:off x="5786446" y="2500306"/>
            <a:ext cx="2454094" cy="1643074"/>
          </a:xfrm>
          <a:prstGeom prst="rect">
            <a:avLst/>
          </a:prstGeom>
          <a:noFill/>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Summary – Element 2</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a:spcBef>
                <a:spcPts val="600"/>
              </a:spcBef>
              <a:spcAft>
                <a:spcPts val="1200"/>
              </a:spcAft>
              <a:buNone/>
            </a:pPr>
            <a:r>
              <a:rPr lang="en-AU" sz="2100" smtClean="0">
                <a:latin typeface="Helvetica" pitchFamily="34" charset="0"/>
              </a:rPr>
              <a:t>When making telephone calls:</a:t>
            </a:r>
          </a:p>
          <a:p>
            <a:pPr lvl="0">
              <a:spcBef>
                <a:spcPts val="600"/>
              </a:spcBef>
              <a:spcAft>
                <a:spcPts val="1200"/>
              </a:spcAft>
            </a:pPr>
            <a:r>
              <a:rPr lang="en-AU" sz="2100" smtClean="0">
                <a:latin typeface="Helvetica" pitchFamily="34" charset="0"/>
              </a:rPr>
              <a:t>Always prepare in advance before placing a call</a:t>
            </a:r>
          </a:p>
          <a:p>
            <a:pPr lvl="0">
              <a:spcBef>
                <a:spcPts val="600"/>
              </a:spcBef>
              <a:spcAft>
                <a:spcPts val="1200"/>
              </a:spcAft>
            </a:pPr>
            <a:r>
              <a:rPr lang="en-AU" sz="2100" smtClean="0">
                <a:latin typeface="Helvetica" pitchFamily="34" charset="0"/>
              </a:rPr>
              <a:t>Obtain the correct telephone number</a:t>
            </a:r>
          </a:p>
          <a:p>
            <a:pPr lvl="0">
              <a:spcBef>
                <a:spcPts val="600"/>
              </a:spcBef>
              <a:spcAft>
                <a:spcPts val="1200"/>
              </a:spcAft>
            </a:pPr>
            <a:r>
              <a:rPr lang="en-AU" sz="2100" smtClean="0">
                <a:latin typeface="Helvetica" pitchFamily="34" charset="0"/>
              </a:rPr>
              <a:t>Determine what you want to achieve as the outcome of the call</a:t>
            </a:r>
          </a:p>
          <a:p>
            <a:pPr lvl="0">
              <a:spcBef>
                <a:spcPts val="600"/>
              </a:spcBef>
              <a:spcAft>
                <a:spcPts val="1200"/>
              </a:spcAft>
            </a:pPr>
            <a:r>
              <a:rPr lang="en-AU" sz="2100" smtClean="0">
                <a:latin typeface="Helvetica" pitchFamily="34" charset="0"/>
              </a:rPr>
              <a:t>Identify who you need to speak with</a:t>
            </a:r>
          </a:p>
          <a:p>
            <a:pPr lvl="0">
              <a:spcBef>
                <a:spcPts val="600"/>
              </a:spcBef>
              <a:spcAft>
                <a:spcPts val="1200"/>
              </a:spcAft>
            </a:pPr>
            <a:r>
              <a:rPr lang="en-AU" sz="2100" smtClean="0">
                <a:latin typeface="Helvetica" pitchFamily="34" charset="0"/>
              </a:rPr>
              <a:t>Plan what you are going to say</a:t>
            </a:r>
          </a:p>
          <a:p>
            <a:pPr lvl="0">
              <a:spcBef>
                <a:spcPts val="600"/>
              </a:spcBef>
              <a:spcAft>
                <a:spcPts val="1200"/>
              </a:spcAft>
              <a:buNone/>
            </a:pPr>
            <a:r>
              <a:rPr lang="en-AU" sz="2100" smtClean="0">
                <a:latin typeface="Helvetica" pitchFamily="34" charset="0"/>
              </a:rPr>
              <a:t>(Continued)</a:t>
            </a:r>
          </a:p>
          <a:p>
            <a:pPr>
              <a:spcBef>
                <a:spcPts val="600"/>
              </a:spcBef>
              <a:spcAft>
                <a:spcPts val="1200"/>
              </a:spcAft>
            </a:pPr>
            <a:endParaRPr lang="en-US" sz="2100" smtClean="0">
              <a:latin typeface="Helvetica" pitchFamily="34" charset="0"/>
            </a:endParaRPr>
          </a:p>
          <a:p>
            <a:pPr>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62</a:t>
            </a:fld>
            <a:endParaRPr lang="en-US"/>
          </a:p>
        </p:txBody>
      </p:sp>
      <p:pic>
        <p:nvPicPr>
          <p:cNvPr id="5" name="Picture 4" descr="C:\Documents and Settings\danielc\Local Settings\Temporary Internet Files\Content.IE5\2IERTBRT\MC900433838[1].png"/>
          <p:cNvPicPr/>
          <p:nvPr/>
        </p:nvPicPr>
        <p:blipFill>
          <a:blip r:embed="rId3" cstate="print"/>
          <a:srcRect/>
          <a:stretch>
            <a:fillRect/>
          </a:stretch>
        </p:blipFill>
        <p:spPr bwMode="auto">
          <a:xfrm>
            <a:off x="7486664" y="3929066"/>
            <a:ext cx="1285884" cy="1285884"/>
          </a:xfrm>
          <a:prstGeom prst="rect">
            <a:avLst/>
          </a:prstGeom>
          <a:noFill/>
          <a:ln w="9525">
            <a:noFill/>
            <a:miter lim="800000"/>
            <a:headEnd/>
            <a:tailEnd/>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400" smtClean="0">
                <a:solidFill>
                  <a:srgbClr val="FF6600"/>
                </a:solidFill>
                <a:latin typeface="Helvetica" pitchFamily="34" charset="0"/>
              </a:rPr>
              <a:t>Summary – Element 2</a:t>
            </a:r>
            <a:endParaRPr lang="en-US" sz="3400">
              <a:solidFill>
                <a:srgbClr val="FF6600"/>
              </a:solidFill>
              <a:latin typeface="Helvetica" pitchFamily="34" charset="0"/>
            </a:endParaRPr>
          </a:p>
        </p:txBody>
      </p:sp>
      <p:sp>
        <p:nvSpPr>
          <p:cNvPr id="3" name="Content Placeholder 2"/>
          <p:cNvSpPr>
            <a:spLocks noGrp="1"/>
          </p:cNvSpPr>
          <p:nvPr>
            <p:ph idx="1"/>
          </p:nvPr>
        </p:nvSpPr>
        <p:spPr/>
        <p:txBody>
          <a:bodyPr>
            <a:normAutofit/>
          </a:bodyPr>
          <a:lstStyle/>
          <a:p>
            <a:pPr lvl="0">
              <a:lnSpc>
                <a:spcPct val="120000"/>
              </a:lnSpc>
              <a:spcBef>
                <a:spcPts val="600"/>
              </a:spcBef>
              <a:spcAft>
                <a:spcPts val="1200"/>
              </a:spcAft>
            </a:pPr>
            <a:r>
              <a:rPr lang="en-AU" sz="2100" smtClean="0">
                <a:latin typeface="Helvetica" pitchFamily="34" charset="0"/>
              </a:rPr>
              <a:t>Use the workplace telephone system in accordance with the manufacturer’s instructions and workplace protocols</a:t>
            </a:r>
          </a:p>
          <a:p>
            <a:pPr lvl="0">
              <a:lnSpc>
                <a:spcPct val="120000"/>
              </a:lnSpc>
              <a:spcBef>
                <a:spcPts val="600"/>
              </a:spcBef>
              <a:spcAft>
                <a:spcPts val="1200"/>
              </a:spcAft>
            </a:pPr>
            <a:r>
              <a:rPr lang="en-AU" sz="2100" smtClean="0">
                <a:latin typeface="Helvetica" pitchFamily="34" charset="0"/>
              </a:rPr>
              <a:t>Identify yourself, the name of the organisation you represent and the reason for your call when making contact with the other party</a:t>
            </a:r>
          </a:p>
          <a:p>
            <a:pPr lvl="0">
              <a:lnSpc>
                <a:spcPct val="120000"/>
              </a:lnSpc>
              <a:spcBef>
                <a:spcPts val="600"/>
              </a:spcBef>
              <a:spcAft>
                <a:spcPts val="1200"/>
              </a:spcAft>
            </a:pPr>
            <a:r>
              <a:rPr lang="en-AU" sz="2100" smtClean="0">
                <a:latin typeface="Helvetica" pitchFamily="34" charset="0"/>
              </a:rPr>
              <a:t>Do not use the workplace telephone for private calls</a:t>
            </a:r>
          </a:p>
          <a:p>
            <a:pPr lvl="0">
              <a:lnSpc>
                <a:spcPct val="120000"/>
              </a:lnSpc>
              <a:spcBef>
                <a:spcPts val="600"/>
              </a:spcBef>
              <a:spcAft>
                <a:spcPts val="1200"/>
              </a:spcAft>
            </a:pPr>
            <a:r>
              <a:rPr lang="en-AU" sz="2100" smtClean="0">
                <a:latin typeface="Helvetica" pitchFamily="34" charset="0"/>
              </a:rPr>
              <a:t>Maintain a polite and courteous manner at all times.</a:t>
            </a:r>
            <a:endParaRPr lang="en-US" sz="2100" smtClean="0">
              <a:latin typeface="Helvetica" pitchFamily="34" charset="0"/>
            </a:endParaRPr>
          </a:p>
          <a:p>
            <a:pPr>
              <a:lnSpc>
                <a:spcPct val="120000"/>
              </a:lnSpc>
              <a:spcBef>
                <a:spcPts val="600"/>
              </a:spcBef>
              <a:spcAft>
                <a:spcPts val="1200"/>
              </a:spcAft>
            </a:pPr>
            <a:endParaRPr lang="en-US" sz="2100">
              <a:latin typeface="Helvetica" pitchFamily="34" charset="0"/>
            </a:endParaRPr>
          </a:p>
        </p:txBody>
      </p:sp>
      <p:sp>
        <p:nvSpPr>
          <p:cNvPr id="4" name="Slide Number Placeholder 3"/>
          <p:cNvSpPr>
            <a:spLocks noGrp="1"/>
          </p:cNvSpPr>
          <p:nvPr>
            <p:ph type="sldNum" sz="quarter" idx="12"/>
          </p:nvPr>
        </p:nvSpPr>
        <p:spPr/>
        <p:txBody>
          <a:bodyPr/>
          <a:lstStyle/>
          <a:p>
            <a:r>
              <a:rPr lang="en-US" smtClean="0"/>
              <a:t>Slide </a:t>
            </a:r>
            <a:fld id="{90BDF71C-F485-43AE-8825-5070AF1EA8C9}" type="slidenum">
              <a:rPr lang="en-US" smtClean="0"/>
              <a:pPr/>
              <a:t>63</a:t>
            </a:fld>
            <a:endParaRPr lang="en-US"/>
          </a:p>
        </p:txBody>
      </p:sp>
      <p:pic>
        <p:nvPicPr>
          <p:cNvPr id="6" name="Picture 5" descr="C:\Documents and Settings\danielc\Local Settings\Temporary Internet Files\Content.IE5\2IERTBRT\MC900433838[1].png"/>
          <p:cNvPicPr/>
          <p:nvPr/>
        </p:nvPicPr>
        <p:blipFill>
          <a:blip r:embed="rId3" cstate="print"/>
          <a:srcRect/>
          <a:stretch>
            <a:fillRect/>
          </a:stretch>
        </p:blipFill>
        <p:spPr bwMode="auto">
          <a:xfrm>
            <a:off x="7643834" y="3786190"/>
            <a:ext cx="1285884" cy="1285884"/>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Technic">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4021</TotalTime>
  <Words>14354</Words>
  <Application>Microsoft Office PowerPoint</Application>
  <PresentationFormat>On-screen Show (4:3)</PresentationFormat>
  <Paragraphs>1095</Paragraphs>
  <Slides>63</Slides>
  <Notes>63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Helvetica</vt:lpstr>
      <vt:lpstr>Wingdings 2</vt:lpstr>
      <vt:lpstr>Technic</vt:lpstr>
      <vt:lpstr>Communicate On  The Telephone</vt:lpstr>
      <vt:lpstr>Communicate on the telephone</vt:lpstr>
      <vt:lpstr>Assessment</vt:lpstr>
      <vt:lpstr>Respond to incoming telephone calls</vt:lpstr>
      <vt:lpstr>Respond to incoming telephone calls</vt:lpstr>
      <vt:lpstr>Answering calls promptly</vt:lpstr>
      <vt:lpstr>Answering calls promptly</vt:lpstr>
      <vt:lpstr>Answering calls promptly</vt:lpstr>
      <vt:lpstr>Answering calls promptly</vt:lpstr>
      <vt:lpstr>Answering calls promptly</vt:lpstr>
      <vt:lpstr>Answering calls promptly</vt:lpstr>
      <vt:lpstr>Answering calls promptly</vt:lpstr>
      <vt:lpstr>Answering calls promptly</vt:lpstr>
      <vt:lpstr>Answering calls promptly</vt:lpstr>
      <vt:lpstr>Answering calls promptly</vt:lpstr>
      <vt:lpstr>Offering assistance and establishing the purpose of the call</vt:lpstr>
      <vt:lpstr>Offering assistance and establishing the purpose of the call</vt:lpstr>
      <vt:lpstr>Repeating call details</vt:lpstr>
      <vt:lpstr>Repeating call details</vt:lpstr>
      <vt:lpstr>Repeating call details</vt:lpstr>
      <vt:lpstr>Repeating call details</vt:lpstr>
      <vt:lpstr>Answering caller enquiries or transferring calls</vt:lpstr>
      <vt:lpstr>Answering caller enquiries or transferring calls</vt:lpstr>
      <vt:lpstr>Answering caller enquiries or transferring calls</vt:lpstr>
      <vt:lpstr>Answering caller enquiries or transferring calls</vt:lpstr>
      <vt:lpstr>Answering caller enquiries or transferring calls</vt:lpstr>
      <vt:lpstr>Answering caller enquiries or transferring calls</vt:lpstr>
      <vt:lpstr>Answering caller enquiries or transferring calls</vt:lpstr>
      <vt:lpstr>Answering caller enquiries or transferring calls</vt:lpstr>
      <vt:lpstr>Recording and passing on messages</vt:lpstr>
      <vt:lpstr>Recording and passing on messages</vt:lpstr>
      <vt:lpstr>Recording and passing on messages</vt:lpstr>
      <vt:lpstr>Recording and passing on messages</vt:lpstr>
      <vt:lpstr>Relaying telephone messages</vt:lpstr>
      <vt:lpstr>Relaying telephone messages</vt:lpstr>
      <vt:lpstr>Reporting threatening or suspicious phone calls</vt:lpstr>
      <vt:lpstr>Reporting threatening or suspicious phone calls</vt:lpstr>
      <vt:lpstr>Using appropriate language, tone and volume</vt:lpstr>
      <vt:lpstr>Using appropriate language, tone and volume</vt:lpstr>
      <vt:lpstr>Using appropriate language, tone and volume</vt:lpstr>
      <vt:lpstr>Using appropriate language, tone and volume</vt:lpstr>
      <vt:lpstr>Summary – Element 1</vt:lpstr>
      <vt:lpstr>Summary – Element 1</vt:lpstr>
      <vt:lpstr>Make telephone calls</vt:lpstr>
      <vt:lpstr>Obtaining correct telephone numbers</vt:lpstr>
      <vt:lpstr>Obtaining correct telephone numbers</vt:lpstr>
      <vt:lpstr>Obtaining correct telephone numbers</vt:lpstr>
      <vt:lpstr>Obtaining correct telephone numbers</vt:lpstr>
      <vt:lpstr>Obtaining correct telephone numbers</vt:lpstr>
      <vt:lpstr>Obtaining correct telephone numbers</vt:lpstr>
      <vt:lpstr>Using telephone equipment correctly</vt:lpstr>
      <vt:lpstr>Using telephone equipment correctly</vt:lpstr>
      <vt:lpstr>Using telephone equipment correctly</vt:lpstr>
      <vt:lpstr>Using telephone equipment correctly</vt:lpstr>
      <vt:lpstr>Using telephone equipment correctly</vt:lpstr>
      <vt:lpstr>Communicating name, company and reason for calling</vt:lpstr>
      <vt:lpstr>Communicating name, company and reason for calling</vt:lpstr>
      <vt:lpstr>Being polite and courteous at all times</vt:lpstr>
      <vt:lpstr>Being polite and courteous at all times</vt:lpstr>
      <vt:lpstr>Being polite and courteous at all times</vt:lpstr>
      <vt:lpstr>Being polite and courteous at all times</vt:lpstr>
      <vt:lpstr>Summary – Element 2</vt:lpstr>
      <vt:lpstr>Summary – Element 2</vt:lpstr>
    </vt:vector>
  </TitlesOfParts>
  <Company>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Communicate on the telephone</dc:title>
  <dc:creator>MsCarla</dc:creator>
  <cp:lastModifiedBy>Carla Angelica Co</cp:lastModifiedBy>
  <cp:revision>290</cp:revision>
  <dcterms:created xsi:type="dcterms:W3CDTF">2010-09-02T07:22:47Z</dcterms:created>
  <dcterms:modified xsi:type="dcterms:W3CDTF">2015-03-12T08:12:01Z</dcterms:modified>
</cp:coreProperties>
</file>