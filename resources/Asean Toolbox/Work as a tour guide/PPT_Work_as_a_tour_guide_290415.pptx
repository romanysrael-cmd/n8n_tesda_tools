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56"/>
  </p:notesMasterIdLst>
  <p:handoutMasterIdLst>
    <p:handoutMasterId r:id="rId157"/>
  </p:handoutMasterIdLst>
  <p:sldIdLst>
    <p:sldId id="256" r:id="rId2"/>
    <p:sldId id="269" r:id="rId3"/>
    <p:sldId id="270" r:id="rId4"/>
    <p:sldId id="271" r:id="rId5"/>
    <p:sldId id="272" r:id="rId6"/>
    <p:sldId id="257" r:id="rId7"/>
    <p:sldId id="273" r:id="rId8"/>
    <p:sldId id="274" r:id="rId9"/>
    <p:sldId id="275" r:id="rId10"/>
    <p:sldId id="276" r:id="rId11"/>
    <p:sldId id="258" r:id="rId12"/>
    <p:sldId id="277" r:id="rId13"/>
    <p:sldId id="278" r:id="rId14"/>
    <p:sldId id="279" r:id="rId15"/>
    <p:sldId id="280" r:id="rId16"/>
    <p:sldId id="259" r:id="rId17"/>
    <p:sldId id="281" r:id="rId18"/>
    <p:sldId id="282" r:id="rId19"/>
    <p:sldId id="283" r:id="rId20"/>
    <p:sldId id="284" r:id="rId21"/>
    <p:sldId id="285" r:id="rId22"/>
    <p:sldId id="286" r:id="rId23"/>
    <p:sldId id="287" r:id="rId24"/>
    <p:sldId id="288" r:id="rId25"/>
    <p:sldId id="260" r:id="rId26"/>
    <p:sldId id="262" r:id="rId27"/>
    <p:sldId id="289" r:id="rId28"/>
    <p:sldId id="290" r:id="rId29"/>
    <p:sldId id="263" r:id="rId30"/>
    <p:sldId id="297" r:id="rId31"/>
    <p:sldId id="299" r:id="rId32"/>
    <p:sldId id="300" r:id="rId33"/>
    <p:sldId id="301" r:id="rId34"/>
    <p:sldId id="264" r:id="rId35"/>
    <p:sldId id="302" r:id="rId36"/>
    <p:sldId id="291" r:id="rId37"/>
    <p:sldId id="303" r:id="rId38"/>
    <p:sldId id="304" r:id="rId39"/>
    <p:sldId id="305" r:id="rId40"/>
    <p:sldId id="307" r:id="rId41"/>
    <p:sldId id="308" r:id="rId42"/>
    <p:sldId id="292" r:id="rId43"/>
    <p:sldId id="293" r:id="rId44"/>
    <p:sldId id="294" r:id="rId45"/>
    <p:sldId id="295" r:id="rId46"/>
    <p:sldId id="314" r:id="rId47"/>
    <p:sldId id="315" r:id="rId48"/>
    <p:sldId id="296" r:id="rId49"/>
    <p:sldId id="316" r:id="rId50"/>
    <p:sldId id="317" r:id="rId51"/>
    <p:sldId id="318" r:id="rId52"/>
    <p:sldId id="265" r:id="rId53"/>
    <p:sldId id="319" r:id="rId54"/>
    <p:sldId id="320" r:id="rId55"/>
    <p:sldId id="321" r:id="rId56"/>
    <p:sldId id="322" r:id="rId57"/>
    <p:sldId id="323" r:id="rId58"/>
    <p:sldId id="324" r:id="rId59"/>
    <p:sldId id="266" r:id="rId60"/>
    <p:sldId id="325" r:id="rId61"/>
    <p:sldId id="326" r:id="rId62"/>
    <p:sldId id="267" r:id="rId63"/>
    <p:sldId id="268" r:id="rId64"/>
    <p:sldId id="327" r:id="rId65"/>
    <p:sldId id="328" r:id="rId66"/>
    <p:sldId id="329" r:id="rId67"/>
    <p:sldId id="349" r:id="rId68"/>
    <p:sldId id="350" r:id="rId69"/>
    <p:sldId id="351" r:id="rId70"/>
    <p:sldId id="330" r:id="rId71"/>
    <p:sldId id="331" r:id="rId72"/>
    <p:sldId id="332" r:id="rId73"/>
    <p:sldId id="333" r:id="rId74"/>
    <p:sldId id="334" r:id="rId75"/>
    <p:sldId id="352" r:id="rId76"/>
    <p:sldId id="355" r:id="rId77"/>
    <p:sldId id="356" r:id="rId78"/>
    <p:sldId id="357" r:id="rId79"/>
    <p:sldId id="353" r:id="rId80"/>
    <p:sldId id="358" r:id="rId81"/>
    <p:sldId id="335" r:id="rId82"/>
    <p:sldId id="359" r:id="rId83"/>
    <p:sldId id="360" r:id="rId84"/>
    <p:sldId id="361" r:id="rId85"/>
    <p:sldId id="362" r:id="rId86"/>
    <p:sldId id="363" r:id="rId87"/>
    <p:sldId id="364" r:id="rId88"/>
    <p:sldId id="367" r:id="rId89"/>
    <p:sldId id="368" r:id="rId90"/>
    <p:sldId id="369" r:id="rId91"/>
    <p:sldId id="370" r:id="rId92"/>
    <p:sldId id="365" r:id="rId93"/>
    <p:sldId id="371" r:id="rId94"/>
    <p:sldId id="372" r:id="rId95"/>
    <p:sldId id="366" r:id="rId96"/>
    <p:sldId id="336" r:id="rId97"/>
    <p:sldId id="337" r:id="rId98"/>
    <p:sldId id="376" r:id="rId99"/>
    <p:sldId id="377" r:id="rId100"/>
    <p:sldId id="379" r:id="rId101"/>
    <p:sldId id="380" r:id="rId102"/>
    <p:sldId id="381" r:id="rId103"/>
    <p:sldId id="373" r:id="rId104"/>
    <p:sldId id="382" r:id="rId105"/>
    <p:sldId id="384" r:id="rId106"/>
    <p:sldId id="385" r:id="rId107"/>
    <p:sldId id="386" r:id="rId108"/>
    <p:sldId id="387" r:id="rId109"/>
    <p:sldId id="388" r:id="rId110"/>
    <p:sldId id="389" r:id="rId111"/>
    <p:sldId id="390" r:id="rId112"/>
    <p:sldId id="391" r:id="rId113"/>
    <p:sldId id="374" r:id="rId114"/>
    <p:sldId id="375" r:id="rId115"/>
    <p:sldId id="310" r:id="rId116"/>
    <p:sldId id="415" r:id="rId117"/>
    <p:sldId id="416" r:id="rId118"/>
    <p:sldId id="417" r:id="rId119"/>
    <p:sldId id="418" r:id="rId120"/>
    <p:sldId id="419" r:id="rId121"/>
    <p:sldId id="420" r:id="rId122"/>
    <p:sldId id="421" r:id="rId123"/>
    <p:sldId id="422" r:id="rId124"/>
    <p:sldId id="423" r:id="rId125"/>
    <p:sldId id="424" r:id="rId126"/>
    <p:sldId id="425" r:id="rId127"/>
    <p:sldId id="406" r:id="rId128"/>
    <p:sldId id="426" r:id="rId129"/>
    <p:sldId id="427" r:id="rId130"/>
    <p:sldId id="428" r:id="rId131"/>
    <p:sldId id="429" r:id="rId132"/>
    <p:sldId id="407" r:id="rId133"/>
    <p:sldId id="430" r:id="rId134"/>
    <p:sldId id="432" r:id="rId135"/>
    <p:sldId id="433" r:id="rId136"/>
    <p:sldId id="444" r:id="rId137"/>
    <p:sldId id="445" r:id="rId138"/>
    <p:sldId id="446" r:id="rId139"/>
    <p:sldId id="447" r:id="rId140"/>
    <p:sldId id="413" r:id="rId141"/>
    <p:sldId id="414" r:id="rId142"/>
    <p:sldId id="311" r:id="rId143"/>
    <p:sldId id="312" r:id="rId144"/>
    <p:sldId id="401" r:id="rId145"/>
    <p:sldId id="402" r:id="rId146"/>
    <p:sldId id="403" r:id="rId147"/>
    <p:sldId id="404" r:id="rId148"/>
    <p:sldId id="405" r:id="rId149"/>
    <p:sldId id="396" r:id="rId150"/>
    <p:sldId id="400" r:id="rId151"/>
    <p:sldId id="398" r:id="rId152"/>
    <p:sldId id="399" r:id="rId153"/>
    <p:sldId id="313" r:id="rId154"/>
    <p:sldId id="261" r:id="rId155"/>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335" autoAdjust="0"/>
    <p:restoredTop sz="64478" autoAdjust="0"/>
  </p:normalViewPr>
  <p:slideViewPr>
    <p:cSldViewPr>
      <p:cViewPr>
        <p:scale>
          <a:sx n="80" d="100"/>
          <a:sy n="80" d="100"/>
        </p:scale>
        <p:origin x="-2790" y="-21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slide" Target="slides/slide137.xml"/><Relationship Id="rId154" Type="http://schemas.openxmlformats.org/officeDocument/2006/relationships/slide" Target="slides/slide153.xml"/><Relationship Id="rId159" Type="http://schemas.openxmlformats.org/officeDocument/2006/relationships/viewProps" Target="view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144" Type="http://schemas.openxmlformats.org/officeDocument/2006/relationships/slide" Target="slides/slide143.xml"/><Relationship Id="rId149" Type="http://schemas.openxmlformats.org/officeDocument/2006/relationships/slide" Target="slides/slide14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160" Type="http://schemas.openxmlformats.org/officeDocument/2006/relationships/theme" Target="theme/theme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slide" Target="slides/slide15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slide" Target="slides/slide139.xml"/><Relationship Id="rId145" Type="http://schemas.openxmlformats.org/officeDocument/2006/relationships/slide" Target="slides/slide144.xml"/><Relationship Id="rId153" Type="http://schemas.openxmlformats.org/officeDocument/2006/relationships/slide" Target="slides/slide152.xml"/><Relationship Id="rId16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slide" Target="slides/slide142.xml"/><Relationship Id="rId148" Type="http://schemas.openxmlformats.org/officeDocument/2006/relationships/slide" Target="slides/slide147.xml"/><Relationship Id="rId151" Type="http://schemas.openxmlformats.org/officeDocument/2006/relationships/slide" Target="slides/slide150.xml"/><Relationship Id="rId156"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handoutMaster" Target="handoutMasters/handoutMaster1.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pPr/>
              <a:t>3/11/2015</a:t>
            </a:fld>
            <a:endParaRPr lang="en-GB" dirty="0"/>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pPr/>
              <a:t>‹#›</a:t>
            </a:fld>
            <a:endParaRPr lang="en-GB" dirty="0"/>
          </a:p>
        </p:txBody>
      </p:sp>
    </p:spTree>
    <p:extLst>
      <p:ext uri="{BB962C8B-B14F-4D97-AF65-F5344CB8AC3E}">
        <p14:creationId xmlns:p14="http://schemas.microsoft.com/office/powerpoint/2010/main" val="1493299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vl1pPr>
          </a:lstStyle>
          <a:p>
            <a:fld id="{BC34F173-2430-41D6-9CA5-C9CD3BDF7E96}" type="datetimeFigureOut">
              <a:rPr lang="en-US" smtClean="0"/>
              <a:pPr/>
              <a:t>3/11/2015</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3155990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atic.com.au/images/uploads/industry_resources/sustainable_tourism_principles.pdf"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guides-online.visitsingapore.com/tgls/application/STG_FAQ_App.pdf"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www.interpretiveguides.org/dbfiles/2.pdf" TargetMode="External"/><Relationship Id="rId2" Type="http://schemas.openxmlformats.org/officeDocument/2006/relationships/slide" Target="../slides/slide28.xml"/><Relationship Id="rId1" Type="http://schemas.openxmlformats.org/officeDocument/2006/relationships/notesMaster" Target="../notesMasters/notesMaster1.xml"/><Relationship Id="rId4" Type="http://schemas.openxmlformats.org/officeDocument/2006/relationships/hyperlink" Target="http://www.resourcesandenergy.nsw.gov.au/__data/assets/pdf_file/0004/358555/GGHG_2010_Cove.pdf" TargetMode="Externa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3" Type="http://schemas.openxmlformats.org/officeDocument/2006/relationships/hyperlink" Target="http://www.affordabletours.com/search/Type/" TargetMode="External"/><Relationship Id="rId7" Type="http://schemas.openxmlformats.org/officeDocument/2006/relationships/hyperlink" Target="http://psna.ru/index.php?p=ekskursovod&amp;st=en8" TargetMode="External"/><Relationship Id="rId2" Type="http://schemas.openxmlformats.org/officeDocument/2006/relationships/slide" Target="../slides/slide33.xml"/><Relationship Id="rId1" Type="http://schemas.openxmlformats.org/officeDocument/2006/relationships/notesMaster" Target="../notesMasters/notesMaster1.xml"/><Relationship Id="rId6" Type="http://schemas.openxmlformats.org/officeDocument/2006/relationships/hyperlink" Target="http://www.jobmonkey.com/landtours/html/types_of_tours.html" TargetMode="External"/><Relationship Id="rId5" Type="http://schemas.openxmlformats.org/officeDocument/2006/relationships/hyperlink" Target="http://www.theguardian.com/travel/typesoftrip" TargetMode="External"/><Relationship Id="rId4" Type="http://schemas.openxmlformats.org/officeDocument/2006/relationships/hyperlink" Target="http://www2.amk.fi/digma.fi/www.amk.fi/opintojaksot/050809/1184649944500/1184650138999/1184654457131/1184654823506.html" TargetMode="Externa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3" Type="http://schemas.openxmlformats.org/officeDocument/2006/relationships/hyperlink" Target="http://travelblog.viator.com/top-10-characteristics-of-a-great-tour-guide/" TargetMode="External"/><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3" Type="http://schemas.openxmlformats.org/officeDocument/2006/relationships/hyperlink" Target="http://www.toursbylocals.com/TBL/WebObjects/ToursByLocals.woa/1/wa/textPopup?wosid=MGGNmilnEdy0tGBZHVGdbw&amp;c=16&amp;t=Tour+Guide+Business+Principles&amp;s1=&amp;s2" TargetMode="External"/><Relationship Id="rId2" Type="http://schemas.openxmlformats.org/officeDocument/2006/relationships/slide" Target="../slides/slide39.xml"/><Relationship Id="rId1" Type="http://schemas.openxmlformats.org/officeDocument/2006/relationships/notesMaster" Target="../notesMasters/notesMaster1.xml"/><Relationship Id="rId4" Type="http://schemas.openxmlformats.org/officeDocument/2006/relationships/hyperlink" Target="http://localprivatetourguides.blogspot.com.au/2010/11/dressing-code-for-tour-guides.html" TargetMode="Externa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3" Type="http://schemas.openxmlformats.org/officeDocument/2006/relationships/hyperlink" Target="http://www.wftga.org/tourist-guiding/code-guiding-practice" TargetMode="External"/><Relationship Id="rId7" Type="http://schemas.openxmlformats.org/officeDocument/2006/relationships/hyperlink" Target="http://www.cato.asn.au/About/code-of-ethics" TargetMode="External"/><Relationship Id="rId2" Type="http://schemas.openxmlformats.org/officeDocument/2006/relationships/slide" Target="../slides/slide45.xml"/><Relationship Id="rId1" Type="http://schemas.openxmlformats.org/officeDocument/2006/relationships/notesMaster" Target="../notesMasters/notesMaster1.xml"/><Relationship Id="rId6" Type="http://schemas.openxmlformats.org/officeDocument/2006/relationships/hyperlink" Target="http://learnline.cdu.edu.au/tourism/uluru/downloads/readings/reading20_code_of_conduct.pdf" TargetMode="External"/><Relationship Id="rId5" Type="http://schemas.openxmlformats.org/officeDocument/2006/relationships/hyperlink" Target="http://www.tichk.org/public/website/en/guides/code/html" TargetMode="External"/><Relationship Id="rId4" Type="http://schemas.openxmlformats.org/officeDocument/2006/relationships/hyperlink" Target="http://washingtondctourguides.com/about-the-guild/code-of-ethics" TargetMode="External"/></Relationships>
</file>

<file path=ppt/notesSlides/_rels/notesSlide46.xml.rels><?xml version="1.0" encoding="UTF-8" standalone="yes"?>
<Relationships xmlns="http://schemas.openxmlformats.org/package/2006/relationships"><Relationship Id="rId3" Type="http://schemas.openxmlformats.org/officeDocument/2006/relationships/hyperlink" Target="http://www.invesp.com/blog-rank/General_Travel" TargetMode="External"/><Relationship Id="rId2" Type="http://schemas.openxmlformats.org/officeDocument/2006/relationships/slide" Target="../slides/slide46.xml"/><Relationship Id="rId1" Type="http://schemas.openxmlformats.org/officeDocument/2006/relationships/notesMaster" Target="../notesMasters/notesMaster1.xml"/><Relationship Id="rId6" Type="http://schemas.openxmlformats.org/officeDocument/2006/relationships/hyperlink" Target="http://www.thelongestwayhome.com/travel-blog-directory.html" TargetMode="External"/><Relationship Id="rId5" Type="http://schemas.openxmlformats.org/officeDocument/2006/relationships/hyperlink" Target="http://www.livingthedreamrtw.com/p/massive-list-of-travel-bloggers.html" TargetMode="External"/><Relationship Id="rId4" Type="http://schemas.openxmlformats.org/officeDocument/2006/relationships/hyperlink" Target="http://konector.com/best-blogs/best-travel-blogs" TargetMode="Externa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3" Type="http://schemas.openxmlformats.org/officeDocument/2006/relationships/hyperlink" Target="http://www.wftga.org/" TargetMode="External"/><Relationship Id="rId2" Type="http://schemas.openxmlformats.org/officeDocument/2006/relationships/slide" Target="../slides/slide50.xml"/><Relationship Id="rId1" Type="http://schemas.openxmlformats.org/officeDocument/2006/relationships/notesMaster" Target="../notesMasters/notesMaster1.xml"/><Relationship Id="rId6" Type="http://schemas.openxmlformats.org/officeDocument/2006/relationships/hyperlink" Target="http://www.societyoftouristguides.org.sg/" TargetMode="External"/><Relationship Id="rId5" Type="http://schemas.openxmlformats.org/officeDocument/2006/relationships/hyperlink" Target="http://stga.com.my/" TargetMode="External"/><Relationship Id="rId4" Type="http://schemas.openxmlformats.org/officeDocument/2006/relationships/hyperlink" Target="http://www.seatga.org/" TargetMode="Externa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3" Type="http://schemas.openxmlformats.org/officeDocument/2006/relationships/hyperlink" Target="http://insight.typepad.co.uk/40_icebreakers_for_small_groups.pdf" TargetMode="External"/><Relationship Id="rId2" Type="http://schemas.openxmlformats.org/officeDocument/2006/relationships/slide" Target="../slides/slide82.xml"/><Relationship Id="rId1" Type="http://schemas.openxmlformats.org/officeDocument/2006/relationships/notesMaster" Target="../notesMasters/notesMaster1.xml"/><Relationship Id="rId4" Type="http://schemas.openxmlformats.org/officeDocument/2006/relationships/hyperlink" Target="http://training-games.com/pdf/40FreeIceBreakers.pdf" TargetMode="Externa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3" Type="http://schemas.openxmlformats.org/officeDocument/2006/relationships/hyperlink" Target="http://www2.unescobkk.org/elib/publications/IMPACT_LuangPrabang/impact.pdf" TargetMode="External"/><Relationship Id="rId2" Type="http://schemas.openxmlformats.org/officeDocument/2006/relationships/slide" Target="../slides/slide132.xml"/><Relationship Id="rId1" Type="http://schemas.openxmlformats.org/officeDocument/2006/relationships/notesMaster" Target="../notesMasters/notesMaster1.xml"/><Relationship Id="rId6" Type="http://schemas.openxmlformats.org/officeDocument/2006/relationships/hyperlink" Target="http://www.unesco.org/education/tlsf/mods/theme_c/mod16.html" TargetMode="External"/><Relationship Id="rId5" Type="http://schemas.openxmlformats.org/officeDocument/2006/relationships/hyperlink" Target="http://www.tourismconcern.org.uk/principles-and-definitions.html" TargetMode="External"/><Relationship Id="rId4" Type="http://schemas.openxmlformats.org/officeDocument/2006/relationships/hyperlink" Target="http://www.toinitiative.org/fileadmin/docs/publications/sustainable_tourism.pdf" TargetMode="Externa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Trainer welcomes students to class.</a:t>
            </a:r>
          </a:p>
          <a:p>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11120220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trainees this Unit comprises five Elements, as listed on the slide explaining:</a:t>
            </a:r>
          </a:p>
          <a:p>
            <a:pPr marL="171450" indent="-171450">
              <a:buFont typeface="Arial" panose="020B0604020202020204" pitchFamily="34" charset="0"/>
              <a:buChar char="•"/>
            </a:pPr>
            <a:r>
              <a:rPr lang="en-AU" sz="1200" kern="1200" baseline="0" dirty="0" smtClean="0">
                <a:solidFill>
                  <a:schemeClr val="tx1"/>
                </a:solidFill>
                <a:ea typeface="+mn-ea"/>
                <a:cs typeface="+mn-cs"/>
              </a:rPr>
              <a:t>Each Element comprises a number of Performance Criteria which will be identified throughout the class and explained in detail</a:t>
            </a:r>
          </a:p>
          <a:p>
            <a:pPr marL="171450" indent="-171450">
              <a:buFont typeface="Arial" panose="020B0604020202020204" pitchFamily="34" charset="0"/>
              <a:buChar char="•"/>
            </a:pPr>
            <a:r>
              <a:rPr lang="en-AU" sz="1200" kern="1200" baseline="0" dirty="0" smtClean="0">
                <a:solidFill>
                  <a:schemeClr val="tx1"/>
                </a:solidFill>
                <a:ea typeface="+mn-ea"/>
                <a:cs typeface="+mn-cs"/>
              </a:rPr>
              <a:t>Trainees can obtain more detail from their Trainee Manual</a:t>
            </a:r>
          </a:p>
          <a:p>
            <a:pPr marL="171450" indent="-171450">
              <a:buFont typeface="Arial" panose="020B0604020202020204" pitchFamily="34" charset="0"/>
              <a:buChar char="•"/>
            </a:pPr>
            <a:r>
              <a:rPr lang="en-AU" sz="1200" kern="1200" baseline="0" dirty="0" smtClean="0">
                <a:solidFill>
                  <a:schemeClr val="tx1"/>
                </a:solidFill>
                <a:ea typeface="+mn-ea"/>
                <a:cs typeface="+mn-cs"/>
              </a:rPr>
              <a:t>At times the course presents advice and information about various protocols but where their workplace requirements differ to what is presented, the workplace practices and standards, as well as policies and procedures must be observed.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10257717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trainees that assessment for this Unit may take several forms, all of which are aimed at verifying they have achieved competency for the Unit as required.</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Trainer indicates to trainees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33034773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US" dirty="0" smtClean="0"/>
          </a:p>
          <a:p>
            <a:pPr>
              <a:buFont typeface="Arial" pitchFamily="34" charset="0"/>
              <a:buNone/>
            </a:pPr>
            <a:endParaRPr lang="en-US" baseline="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38719748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US" dirty="0" smtClean="0"/>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by asking questions such as:</a:t>
            </a:r>
          </a:p>
          <a:p>
            <a:pPr marL="171450" indent="-171450">
              <a:buFont typeface="Arial" pitchFamily="34" charset="0"/>
              <a:buChar char="•"/>
            </a:pPr>
            <a:r>
              <a:rPr lang="en-US" baseline="0" dirty="0" smtClean="0"/>
              <a:t>What is a Tour Guide and what do they do?</a:t>
            </a:r>
          </a:p>
          <a:p>
            <a:pPr marL="171450" indent="-171450">
              <a:buFont typeface="Arial" pitchFamily="34" charset="0"/>
              <a:buChar char="•"/>
            </a:pPr>
            <a:r>
              <a:rPr lang="en-US" baseline="0" dirty="0" smtClean="0"/>
              <a:t>What experience do you have of being of being a Tour Guide?</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smtClean="0"/>
              <a:t>What different types of tours are you aware of?</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smtClean="0"/>
              <a:t>What tours have you been on and what was they experience like? Why?</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smtClean="0"/>
              <a:t>What do you think are the characteristics required by a good/effective Tour Guide?</a:t>
            </a:r>
          </a:p>
          <a:p>
            <a:pPr marL="171450" indent="-171450">
              <a:buFont typeface="Arial" pitchFamily="34" charset="0"/>
              <a:buChar char="•"/>
            </a:pPr>
            <a:endParaRPr lang="en-US" baseline="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374605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introduces topic stating:</a:t>
            </a:r>
          </a:p>
          <a:p>
            <a:pPr marL="171450" indent="-171450">
              <a:buFont typeface="Arial" pitchFamily="34" charset="0"/>
              <a:buChar char="•"/>
            </a:pPr>
            <a:r>
              <a:rPr lang="en-AU" sz="1200" kern="1200" dirty="0" smtClean="0">
                <a:solidFill>
                  <a:schemeClr val="tx1"/>
                </a:solidFill>
                <a:latin typeface="+mn-lt"/>
                <a:ea typeface="+mn-ea"/>
                <a:cs typeface="+mn-cs"/>
              </a:rPr>
              <a:t>Being a Tour Guide/Tourist Guide requires attention to a wide range of roles, functions and responsibilities</a:t>
            </a:r>
          </a:p>
          <a:p>
            <a:pPr marL="171450" indent="-171450">
              <a:buFont typeface="Arial" pitchFamily="34" charset="0"/>
              <a:buChar char="•"/>
            </a:pPr>
            <a:r>
              <a:rPr lang="en-AU" sz="1200" kern="1200" dirty="0" smtClean="0">
                <a:solidFill>
                  <a:schemeClr val="tx1"/>
                </a:solidFill>
                <a:latin typeface="+mn-lt"/>
                <a:ea typeface="+mn-ea"/>
                <a:cs typeface="+mn-cs"/>
              </a:rPr>
              <a:t>Tour Guides are often referred to as ‘the mortar that binds the tour together’. </a:t>
            </a:r>
          </a:p>
          <a:p>
            <a:pPr marL="171450" indent="-171450">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27189639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pPr>
              <a:buFont typeface="Arial" pitchFamily="34" charset="0"/>
              <a:buNone/>
            </a:pPr>
            <a:r>
              <a:rPr lang="en-US" noProof="0" dirty="0" smtClean="0"/>
              <a:t>Trainer identifies the range</a:t>
            </a:r>
            <a:r>
              <a:rPr lang="en-US" baseline="0" noProof="0" dirty="0" smtClean="0"/>
              <a:t> of roles, functions and responsibilities of a Tour Guide:</a:t>
            </a:r>
          </a:p>
          <a:p>
            <a:r>
              <a:rPr lang="en-AU" sz="1200" b="1" kern="1200" dirty="0" smtClean="0">
                <a:solidFill>
                  <a:schemeClr val="tx1"/>
                </a:solidFill>
                <a:latin typeface="+mn-lt"/>
                <a:ea typeface="+mn-ea"/>
                <a:cs typeface="+mn-cs"/>
              </a:rPr>
              <a:t>Manager and leader</a:t>
            </a:r>
            <a:endParaRPr lang="en-AU" sz="1200" kern="1200" dirty="0" smtClean="0">
              <a:solidFill>
                <a:schemeClr val="tx1"/>
              </a:solidFill>
              <a:latin typeface="+mn-lt"/>
              <a:ea typeface="+mn-ea"/>
              <a:cs typeface="+mn-cs"/>
            </a:endParaRPr>
          </a:p>
          <a:p>
            <a:pPr>
              <a:buFont typeface="Arial" pitchFamily="34" charset="0"/>
              <a:buNone/>
            </a:pPr>
            <a:r>
              <a:rPr lang="en-AU" sz="1200" kern="1200" dirty="0" smtClean="0">
                <a:solidFill>
                  <a:schemeClr val="tx1"/>
                </a:solidFill>
                <a:latin typeface="+mn-lt"/>
                <a:ea typeface="+mn-ea"/>
                <a:cs typeface="+mn-cs"/>
              </a:rPr>
              <a:t>This is vital and central role because tourists/visitors and the employer expect the Tour Guide to take charge/control of the tour and tour group members.</a:t>
            </a:r>
          </a:p>
          <a:p>
            <a:pPr>
              <a:buFont typeface="Arial" pitchFamily="34" charset="0"/>
              <a:buNone/>
            </a:pPr>
            <a:r>
              <a:rPr lang="en-AU" sz="1200" kern="1200" dirty="0" smtClean="0">
                <a:solidFill>
                  <a:schemeClr val="tx1"/>
                </a:solidFill>
                <a:latin typeface="+mn-lt"/>
                <a:ea typeface="+mn-ea"/>
                <a:cs typeface="+mn-cs"/>
              </a:rPr>
              <a:t>This can involve:</a:t>
            </a:r>
          </a:p>
          <a:p>
            <a:pPr marL="171450" lvl="0" indent="-171450">
              <a:buFont typeface="Arial" pitchFamily="34" charset="0"/>
              <a:buChar char="•"/>
            </a:pPr>
            <a:r>
              <a:rPr lang="en-AU" sz="1200" kern="1200" dirty="0" smtClean="0">
                <a:solidFill>
                  <a:schemeClr val="tx1"/>
                </a:solidFill>
                <a:latin typeface="+mn-lt"/>
                <a:ea typeface="+mn-ea"/>
                <a:cs typeface="+mn-cs"/>
              </a:rPr>
              <a:t>Managing the tour group members and leading the tour so:</a:t>
            </a:r>
          </a:p>
          <a:p>
            <a:pPr marL="628650" lvl="1" indent="-171450">
              <a:buFont typeface="Arial" pitchFamily="34" charset="0"/>
              <a:buChar char="•"/>
            </a:pPr>
            <a:r>
              <a:rPr lang="en-AU" sz="1200" kern="1200" dirty="0" smtClean="0">
                <a:solidFill>
                  <a:schemeClr val="tx1"/>
                </a:solidFill>
                <a:latin typeface="+mn-lt"/>
                <a:ea typeface="+mn-ea"/>
                <a:cs typeface="+mn-cs"/>
              </a:rPr>
              <a:t>The schedule of the tour is adhered to </a:t>
            </a:r>
          </a:p>
          <a:p>
            <a:pPr marL="628650" lvl="1" indent="-171450">
              <a:buFont typeface="Arial" pitchFamily="34" charset="0"/>
              <a:buChar char="•"/>
            </a:pPr>
            <a:r>
              <a:rPr lang="en-AU" sz="1200" kern="1200" dirty="0" smtClean="0">
                <a:solidFill>
                  <a:schemeClr val="tx1"/>
                </a:solidFill>
                <a:latin typeface="+mn-lt"/>
                <a:ea typeface="+mn-ea"/>
                <a:cs typeface="+mn-cs"/>
              </a:rPr>
              <a:t>No-one gets lost </a:t>
            </a:r>
          </a:p>
          <a:p>
            <a:pPr marL="628650" lvl="1" indent="-171450">
              <a:buFont typeface="Arial" pitchFamily="34" charset="0"/>
              <a:buChar char="•"/>
            </a:pPr>
            <a:r>
              <a:rPr lang="en-AU" sz="1200" kern="1200" dirty="0" smtClean="0">
                <a:solidFill>
                  <a:schemeClr val="tx1"/>
                </a:solidFill>
                <a:latin typeface="+mn-lt"/>
                <a:ea typeface="+mn-ea"/>
                <a:cs typeface="+mn-cs"/>
              </a:rPr>
              <a:t>Behaviour is acceptable </a:t>
            </a:r>
          </a:p>
          <a:p>
            <a:pPr marL="628650" lvl="1" indent="-171450">
              <a:buFont typeface="Arial" pitchFamily="34" charset="0"/>
              <a:buChar char="•"/>
            </a:pPr>
            <a:r>
              <a:rPr lang="en-AU" sz="1200" kern="1200" dirty="0" smtClean="0">
                <a:solidFill>
                  <a:schemeClr val="tx1"/>
                </a:solidFill>
                <a:latin typeface="+mn-lt"/>
                <a:ea typeface="+mn-ea"/>
                <a:cs typeface="+mn-cs"/>
              </a:rPr>
              <a:t>All participants get maximum value from the tour </a:t>
            </a:r>
          </a:p>
          <a:p>
            <a:pPr marL="171450" lvl="0" indent="-171450">
              <a:buFont typeface="Arial" pitchFamily="34" charset="0"/>
              <a:buChar char="•"/>
            </a:pPr>
            <a:r>
              <a:rPr lang="en-AU" sz="1200" kern="1200" dirty="0" smtClean="0">
                <a:solidFill>
                  <a:schemeClr val="tx1"/>
                </a:solidFill>
                <a:latin typeface="+mn-lt"/>
                <a:ea typeface="+mn-ea"/>
                <a:cs typeface="+mn-cs"/>
              </a:rPr>
              <a:t>Issuing items as required for the tour – such as tickets, badges, equipment, handouts and other group-specific or tour-specific items</a:t>
            </a:r>
          </a:p>
          <a:p>
            <a:pPr marL="171450" lvl="0" indent="-171450">
              <a:buFont typeface="Arial" pitchFamily="34" charset="0"/>
              <a:buChar char="•"/>
            </a:pPr>
            <a:r>
              <a:rPr lang="en-AU" sz="1200" kern="1200" dirty="0" smtClean="0">
                <a:solidFill>
                  <a:schemeClr val="tx1"/>
                </a:solidFill>
                <a:latin typeface="+mn-lt"/>
                <a:ea typeface="+mn-ea"/>
                <a:cs typeface="+mn-cs"/>
              </a:rPr>
              <a:t>Briefing people – on practical tour-related issues, and giving necessary operational and/or safety-related instructions</a:t>
            </a:r>
          </a:p>
          <a:p>
            <a:pPr marL="171450" lvl="0" indent="-171450">
              <a:buFont typeface="Arial" pitchFamily="34" charset="0"/>
              <a:buChar char="•"/>
            </a:pPr>
            <a:r>
              <a:rPr lang="en-AU" sz="1200" kern="1200" dirty="0" smtClean="0">
                <a:solidFill>
                  <a:schemeClr val="tx1"/>
                </a:solidFill>
                <a:latin typeface="+mn-lt"/>
                <a:ea typeface="+mn-ea"/>
                <a:cs typeface="+mn-cs"/>
              </a:rPr>
              <a:t>Taking responsibility for the tour group – highlighting the need to:</a:t>
            </a:r>
          </a:p>
          <a:p>
            <a:pPr marL="628650" lvl="1" indent="-171450">
              <a:buFont typeface="Arial" pitchFamily="34" charset="0"/>
              <a:buChar char="•"/>
            </a:pPr>
            <a:r>
              <a:rPr lang="en-AU" sz="1200" kern="1200" dirty="0" smtClean="0">
                <a:solidFill>
                  <a:schemeClr val="tx1"/>
                </a:solidFill>
                <a:latin typeface="+mn-lt"/>
                <a:ea typeface="+mn-ea"/>
                <a:cs typeface="+mn-cs"/>
              </a:rPr>
              <a:t>Ensure comfort of the group</a:t>
            </a:r>
          </a:p>
          <a:p>
            <a:pPr marL="628650" lvl="1" indent="-171450">
              <a:buFont typeface="Arial" pitchFamily="34" charset="0"/>
              <a:buChar char="•"/>
            </a:pPr>
            <a:r>
              <a:rPr lang="en-AU" sz="1200" kern="1200" dirty="0" smtClean="0">
                <a:solidFill>
                  <a:schemeClr val="tx1"/>
                </a:solidFill>
                <a:latin typeface="+mn-lt"/>
                <a:ea typeface="+mn-ea"/>
                <a:cs typeface="+mn-cs"/>
              </a:rPr>
              <a:t>Guarantee their safety and security</a:t>
            </a:r>
          </a:p>
          <a:p>
            <a:pPr marL="628650" lvl="1" indent="-171450">
              <a:buFont typeface="Arial" pitchFamily="34" charset="0"/>
              <a:buChar char="•"/>
            </a:pPr>
            <a:r>
              <a:rPr lang="en-AU" sz="1200" kern="1200" dirty="0" smtClean="0">
                <a:solidFill>
                  <a:schemeClr val="tx1"/>
                </a:solidFill>
                <a:latin typeface="+mn-lt"/>
                <a:ea typeface="+mn-ea"/>
                <a:cs typeface="+mn-cs"/>
              </a:rPr>
              <a:t>Respond to their individual needs/preferences</a:t>
            </a:r>
          </a:p>
          <a:p>
            <a:pPr marL="628650" lvl="1" indent="-171450">
              <a:buFont typeface="Arial" pitchFamily="34" charset="0"/>
              <a:buChar char="•"/>
            </a:pPr>
            <a:r>
              <a:rPr lang="en-AU" sz="1200" kern="1200" dirty="0" smtClean="0">
                <a:solidFill>
                  <a:schemeClr val="tx1"/>
                </a:solidFill>
                <a:latin typeface="+mn-lt"/>
                <a:ea typeface="+mn-ea"/>
                <a:cs typeface="+mn-cs"/>
              </a:rPr>
              <a:t>Make sure visitors/tour group members enjoy their experience and ensure the tour lives up to advertisements/promises made about it and enhances the reputation and image of the Tour Operator and the destinations and host country</a:t>
            </a:r>
          </a:p>
          <a:p>
            <a:pPr marL="628650" lvl="1" indent="-171450">
              <a:buFont typeface="Arial" pitchFamily="34" charset="0"/>
              <a:buChar char="•"/>
            </a:pPr>
            <a:r>
              <a:rPr lang="en-AU" sz="1200" kern="1200" dirty="0" smtClean="0">
                <a:solidFill>
                  <a:schemeClr val="tx1"/>
                </a:solidFill>
                <a:latin typeface="+mn-lt"/>
                <a:ea typeface="+mn-ea"/>
                <a:cs typeface="+mn-cs"/>
              </a:rPr>
              <a:t>Comply with all legal, moral and ethical requirements – including commonly accepted social standards/norms</a:t>
            </a:r>
          </a:p>
          <a:p>
            <a:pPr marL="628650" lvl="1" indent="-171450">
              <a:buFont typeface="Arial" pitchFamily="34" charset="0"/>
              <a:buChar char="•"/>
            </a:pPr>
            <a:r>
              <a:rPr lang="en-AU" sz="1200" kern="1200" dirty="0" smtClean="0">
                <a:solidFill>
                  <a:schemeClr val="tx1"/>
                </a:solidFill>
                <a:latin typeface="+mn-lt"/>
                <a:ea typeface="+mn-ea"/>
                <a:cs typeface="+mn-cs"/>
              </a:rPr>
              <a:t>Monitor and supervise actions, language and interactions of the tour group </a:t>
            </a:r>
          </a:p>
          <a:p>
            <a:pPr marL="171450" lvl="0" indent="-171450">
              <a:buFont typeface="Arial" pitchFamily="34" charset="0"/>
              <a:buChar char="•"/>
            </a:pPr>
            <a:r>
              <a:rPr lang="en-AU" sz="1200" kern="1200" dirty="0" smtClean="0">
                <a:solidFill>
                  <a:schemeClr val="tx1"/>
                </a:solidFill>
                <a:latin typeface="+mn-lt"/>
                <a:ea typeface="+mn-ea"/>
                <a:cs typeface="+mn-cs"/>
              </a:rPr>
              <a:t>Escorting tour group members to protect them and ensure their safety – this can mean taking charge and taking appropriate action when an emergency arises or when there is a need to take decisive action to accommodate unforeseen/unexpected  circumstances</a:t>
            </a:r>
          </a:p>
          <a:p>
            <a:pPr marL="171450" lvl="0" indent="-171450">
              <a:buFont typeface="Arial" pitchFamily="34" charset="0"/>
              <a:buChar char="•"/>
            </a:pPr>
            <a:r>
              <a:rPr lang="en-AU" sz="1200" kern="1200" dirty="0" smtClean="0">
                <a:solidFill>
                  <a:schemeClr val="tx1"/>
                </a:solidFill>
                <a:latin typeface="+mn-lt"/>
                <a:ea typeface="+mn-ea"/>
                <a:cs typeface="+mn-cs"/>
              </a:rPr>
              <a:t>Demonstrating confidence and credibility – by dressing appropriately, by acting and speaking professionally, by proving things are organised, by providing relevant and interesting information and insight into what is said</a:t>
            </a:r>
          </a:p>
          <a:p>
            <a:pPr marL="171450" lvl="0" indent="-171450">
              <a:buFont typeface="Arial" pitchFamily="34" charset="0"/>
              <a:buChar char="•"/>
            </a:pPr>
            <a:r>
              <a:rPr lang="en-AU" sz="1200" kern="1200" dirty="0" smtClean="0">
                <a:solidFill>
                  <a:schemeClr val="tx1"/>
                </a:solidFill>
                <a:latin typeface="+mn-lt"/>
                <a:ea typeface="+mn-ea"/>
                <a:cs typeface="+mn-cs"/>
              </a:rPr>
              <a:t>Acting as a role model – about how tour group members should act/behave, about where they can go and cannot go, how to talk to others</a:t>
            </a:r>
          </a:p>
          <a:p>
            <a:pPr marL="171450" lvl="0" indent="-171450">
              <a:buFont typeface="Arial" pitchFamily="34" charset="0"/>
              <a:buChar char="•"/>
            </a:pPr>
            <a:r>
              <a:rPr lang="en-AU" sz="1200" kern="1200" dirty="0" smtClean="0">
                <a:solidFill>
                  <a:schemeClr val="tx1"/>
                </a:solidFill>
                <a:latin typeface="+mn-lt"/>
                <a:ea typeface="+mn-ea"/>
                <a:cs typeface="+mn-cs"/>
              </a:rPr>
              <a:t>Directing, navigating and moving people in relation to where they go, what they do, how long they spend in an area/on an activity </a:t>
            </a:r>
          </a:p>
          <a:p>
            <a:pPr marL="171450" lvl="0" indent="-171450">
              <a:buFont typeface="Arial" pitchFamily="34" charset="0"/>
              <a:buChar char="•"/>
            </a:pPr>
            <a:r>
              <a:rPr lang="en-AU" sz="1200" kern="1200" dirty="0" smtClean="0">
                <a:solidFill>
                  <a:schemeClr val="tx1"/>
                </a:solidFill>
                <a:latin typeface="+mn-lt"/>
                <a:ea typeface="+mn-ea"/>
                <a:cs typeface="+mn-cs"/>
              </a:rPr>
              <a:t>Showing people what to do – such as demonstrating skills, demonstrating safety equipment/requirements, demonstrating local activities</a:t>
            </a:r>
          </a:p>
          <a:p>
            <a:pPr marL="171450" lvl="0" indent="-171450">
              <a:buFont typeface="Arial" pitchFamily="34" charset="0"/>
              <a:buChar char="•"/>
            </a:pPr>
            <a:r>
              <a:rPr lang="en-AU" sz="1200" kern="1200" dirty="0" smtClean="0">
                <a:solidFill>
                  <a:schemeClr val="tx1"/>
                </a:solidFill>
                <a:latin typeface="+mn-lt"/>
                <a:ea typeface="+mn-ea"/>
                <a:cs typeface="+mn-cs"/>
              </a:rPr>
              <a:t>Path-finding – to show the way so people know where to go.</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24004075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identifying the range</a:t>
            </a:r>
            <a:r>
              <a:rPr lang="en-US" baseline="0" noProof="0" dirty="0" smtClean="0"/>
              <a:t> of roles, functions and responsibilities of a Tour Guide:</a:t>
            </a:r>
          </a:p>
          <a:p>
            <a:r>
              <a:rPr lang="en-AU" sz="1200" b="1" kern="1200" dirty="0" smtClean="0">
                <a:solidFill>
                  <a:schemeClr val="tx1"/>
                </a:solidFill>
                <a:latin typeface="+mn-lt"/>
                <a:ea typeface="+mn-ea"/>
                <a:cs typeface="+mn-cs"/>
              </a:rPr>
              <a:t>Mediator </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This is needed in order to:</a:t>
            </a:r>
          </a:p>
          <a:p>
            <a:pPr marL="171450" lvl="0" indent="-171450">
              <a:buFont typeface="Arial" pitchFamily="34" charset="0"/>
              <a:buChar char="•"/>
            </a:pPr>
            <a:r>
              <a:rPr lang="en-AU" sz="1200" kern="1200" dirty="0" smtClean="0">
                <a:solidFill>
                  <a:schemeClr val="tx1"/>
                </a:solidFill>
                <a:latin typeface="+mn-lt"/>
                <a:ea typeface="+mn-ea"/>
                <a:cs typeface="+mn-cs"/>
              </a:rPr>
              <a:t>Mediate problems and/or conflict within the group – or between individuals in the group </a:t>
            </a:r>
          </a:p>
          <a:p>
            <a:pPr marL="171450" lvl="0" indent="-171450">
              <a:buFont typeface="Arial" pitchFamily="34" charset="0"/>
              <a:buChar char="•"/>
            </a:pPr>
            <a:r>
              <a:rPr lang="en-AU" sz="1200" kern="1200" dirty="0" smtClean="0">
                <a:solidFill>
                  <a:schemeClr val="tx1"/>
                </a:solidFill>
                <a:latin typeface="+mn-lt"/>
                <a:ea typeface="+mn-ea"/>
                <a:cs typeface="+mn-cs"/>
              </a:rPr>
              <a:t>Mediate issues between the tour and the place where the tour is being conducted – which may relate to issues such as:</a:t>
            </a:r>
          </a:p>
          <a:p>
            <a:pPr marL="628650" lvl="1" indent="-171450">
              <a:buFont typeface="Arial" pitchFamily="34" charset="0"/>
              <a:buChar char="•"/>
            </a:pPr>
            <a:r>
              <a:rPr lang="en-AU" sz="1200" kern="1200" dirty="0" smtClean="0">
                <a:solidFill>
                  <a:schemeClr val="tx1"/>
                </a:solidFill>
                <a:latin typeface="+mn-lt"/>
                <a:ea typeface="+mn-ea"/>
                <a:cs typeface="+mn-cs"/>
              </a:rPr>
              <a:t>Timing of activities </a:t>
            </a:r>
          </a:p>
          <a:p>
            <a:pPr marL="628650" lvl="1" indent="-171450">
              <a:buFont typeface="Arial" pitchFamily="34" charset="0"/>
              <a:buChar char="•"/>
            </a:pPr>
            <a:r>
              <a:rPr lang="en-AU" sz="1200" kern="1200" dirty="0" smtClean="0">
                <a:solidFill>
                  <a:schemeClr val="tx1"/>
                </a:solidFill>
                <a:latin typeface="+mn-lt"/>
                <a:ea typeface="+mn-ea"/>
                <a:cs typeface="+mn-cs"/>
              </a:rPr>
              <a:t>Access to exhibits/areas </a:t>
            </a:r>
          </a:p>
          <a:p>
            <a:pPr marL="628650" lvl="1" indent="-171450">
              <a:buFont typeface="Arial" pitchFamily="34" charset="0"/>
              <a:buChar char="•"/>
            </a:pPr>
            <a:r>
              <a:rPr lang="en-AU" sz="1200" kern="1200" dirty="0" smtClean="0">
                <a:solidFill>
                  <a:schemeClr val="tx1"/>
                </a:solidFill>
                <a:latin typeface="+mn-lt"/>
                <a:ea typeface="+mn-ea"/>
                <a:cs typeface="+mn-cs"/>
              </a:rPr>
              <a:t>Duration of demonstrations </a:t>
            </a:r>
          </a:p>
          <a:p>
            <a:pPr marL="628650" lvl="1" indent="-171450">
              <a:buFont typeface="Arial" pitchFamily="34" charset="0"/>
              <a:buChar char="•"/>
            </a:pPr>
            <a:r>
              <a:rPr lang="en-AU" sz="1200" kern="1200" dirty="0" smtClean="0">
                <a:solidFill>
                  <a:schemeClr val="tx1"/>
                </a:solidFill>
                <a:latin typeface="+mn-lt"/>
                <a:ea typeface="+mn-ea"/>
                <a:cs typeface="+mn-cs"/>
              </a:rPr>
              <a:t>Movement of groups </a:t>
            </a:r>
          </a:p>
          <a:p>
            <a:pPr marL="628650" lvl="1" indent="-171450">
              <a:buFont typeface="Arial" pitchFamily="34" charset="0"/>
              <a:buChar char="•"/>
            </a:pPr>
            <a:r>
              <a:rPr lang="en-AU" sz="1200" kern="1200" dirty="0" smtClean="0">
                <a:solidFill>
                  <a:schemeClr val="tx1"/>
                </a:solidFill>
                <a:latin typeface="+mn-lt"/>
                <a:ea typeface="+mn-ea"/>
                <a:cs typeface="+mn-cs"/>
              </a:rPr>
              <a:t>Actions of individuals within the tour group. </a:t>
            </a:r>
          </a:p>
          <a:p>
            <a:r>
              <a:rPr lang="en-AU" sz="1200" kern="1200" dirty="0" smtClean="0">
                <a:solidFill>
                  <a:schemeClr val="tx1"/>
                </a:solidFill>
                <a:latin typeface="+mn-lt"/>
                <a:ea typeface="+mn-ea"/>
                <a:cs typeface="+mn-cs"/>
              </a:rPr>
              <a:t>Tourist Guides are often required to be the ‘social lubricant’ (regarded as a ‘social facilitator’) between members of a group to handle disputes and facilitate individual engagement with the tour (that is, to draw out those who appear alone, reluctant to participate or unhappy): high levels of social and interpersonal skills are essential for those who deliver tours.</a:t>
            </a:r>
          </a:p>
          <a:p>
            <a:r>
              <a:rPr lang="en-AU" sz="1200" kern="1200" dirty="0" smtClean="0">
                <a:solidFill>
                  <a:schemeClr val="tx1"/>
                </a:solidFill>
                <a:latin typeface="+mn-lt"/>
                <a:ea typeface="+mn-ea"/>
                <a:cs typeface="+mn-cs"/>
              </a:rPr>
              <a:t>All Tourist Guides must be a ‘people person’.</a:t>
            </a:r>
          </a:p>
          <a:p>
            <a:r>
              <a:rPr lang="en-AU" sz="1200" b="1" kern="1200" dirty="0" smtClean="0">
                <a:solidFill>
                  <a:schemeClr val="tx1"/>
                </a:solidFill>
                <a:latin typeface="+mn-lt"/>
                <a:ea typeface="+mn-ea"/>
                <a:cs typeface="+mn-cs"/>
              </a:rPr>
              <a:t>Communicator </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This involves:</a:t>
            </a:r>
          </a:p>
          <a:p>
            <a:pPr marL="171450" lvl="0" indent="-171450">
              <a:buFont typeface="Arial" pitchFamily="34" charset="0"/>
              <a:buChar char="•"/>
            </a:pPr>
            <a:r>
              <a:rPr lang="en-AU" sz="1200" kern="1200" dirty="0" smtClean="0">
                <a:solidFill>
                  <a:schemeClr val="tx1"/>
                </a:solidFill>
                <a:latin typeface="+mn-lt"/>
                <a:ea typeface="+mn-ea"/>
                <a:cs typeface="+mn-cs"/>
              </a:rPr>
              <a:t>Welcoming people to the tour – genuinely, warmly, personally and sincerely</a:t>
            </a:r>
          </a:p>
          <a:p>
            <a:pPr marL="171450" lvl="0" indent="-171450">
              <a:buFont typeface="Arial" pitchFamily="34" charset="0"/>
              <a:buChar char="•"/>
            </a:pPr>
            <a:r>
              <a:rPr lang="en-AU" sz="1200" kern="1200" dirty="0" smtClean="0">
                <a:solidFill>
                  <a:schemeClr val="tx1"/>
                </a:solidFill>
                <a:latin typeface="+mn-lt"/>
                <a:ea typeface="+mn-ea"/>
                <a:cs typeface="+mn-cs"/>
              </a:rPr>
              <a:t>Delivering a commentary to tour group members – to explain, inform, illustrate and interpret the tour and to promote cultural awareness</a:t>
            </a:r>
          </a:p>
          <a:p>
            <a:pPr marL="171450" lvl="0" indent="-171450">
              <a:buFont typeface="Arial" pitchFamily="34" charset="0"/>
              <a:buChar char="•"/>
            </a:pPr>
            <a:r>
              <a:rPr lang="en-AU" sz="1200" kern="1200" dirty="0" smtClean="0">
                <a:solidFill>
                  <a:schemeClr val="tx1"/>
                </a:solidFill>
                <a:latin typeface="+mn-lt"/>
                <a:ea typeface="+mn-ea"/>
                <a:cs typeface="+mn-cs"/>
              </a:rPr>
              <a:t>Responding to questions – asked by tour group members</a:t>
            </a:r>
          </a:p>
          <a:p>
            <a:pPr marL="171450" lvl="0" indent="-171450">
              <a:buFont typeface="Arial" pitchFamily="34" charset="0"/>
              <a:buChar char="•"/>
            </a:pPr>
            <a:r>
              <a:rPr lang="en-AU" sz="1200" kern="1200" dirty="0" smtClean="0">
                <a:solidFill>
                  <a:schemeClr val="tx1"/>
                </a:solidFill>
                <a:latin typeface="+mn-lt"/>
                <a:ea typeface="+mn-ea"/>
                <a:cs typeface="+mn-cs"/>
              </a:rPr>
              <a:t>Providing information – about tour sites, locations, destinations, surrounding areas, products and services, events and festivals, history and culture, business, and (generally speaking) anything to do with the local area/country.</a:t>
            </a:r>
          </a:p>
          <a:p>
            <a:pPr>
              <a:buFont typeface="Arial" pitchFamily="34" charset="0"/>
              <a:buNone/>
            </a:pPr>
            <a:r>
              <a:rPr lang="en-AU" sz="1200" kern="1200" dirty="0" smtClean="0">
                <a:solidFill>
                  <a:schemeClr val="tx1"/>
                </a:solidFill>
                <a:latin typeface="+mn-lt"/>
                <a:ea typeface="+mn-ea"/>
                <a:cs typeface="+mn-cs"/>
              </a:rPr>
              <a:t>Being a good communicator also requires interpretation of aspects of the tour (such as culture and customs, history, the environment, social factors and the economy)</a:t>
            </a:r>
          </a:p>
          <a:p>
            <a:r>
              <a:rPr lang="en-AU" sz="1200" b="1" kern="1200" dirty="0" smtClean="0">
                <a:solidFill>
                  <a:schemeClr val="tx1"/>
                </a:solidFill>
                <a:latin typeface="+mn-lt"/>
                <a:ea typeface="+mn-ea"/>
                <a:cs typeface="+mn-cs"/>
              </a:rPr>
              <a:t>Cultural host </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This relates to promoting and respecting local culture.</a:t>
            </a:r>
          </a:p>
          <a:p>
            <a:pPr marL="171450" indent="-171450">
              <a:buFont typeface="Arial" pitchFamily="34" charset="0"/>
              <a:buChar char="•"/>
            </a:pPr>
            <a:r>
              <a:rPr lang="en-AU" sz="1200" kern="1200" dirty="0" smtClean="0">
                <a:solidFill>
                  <a:schemeClr val="tx1"/>
                </a:solidFill>
                <a:latin typeface="+mn-lt"/>
                <a:ea typeface="+mn-ea"/>
                <a:cs typeface="+mn-cs"/>
              </a:rPr>
              <a:t>More on this is presented on later slides.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baseline="0" noProof="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baseline="0" noProof="0" dirty="0" smtClean="0"/>
              <a:t>Class Activity – Guest Speaker</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0" baseline="0" noProof="0" dirty="0" smtClean="0"/>
              <a:t>Trainer arranges for a Tour Operator to attend and talk about their expectations of Tour Guides in relation to their roles, functions and responsibilities.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39850345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identifying the range</a:t>
            </a:r>
            <a:r>
              <a:rPr lang="en-US" baseline="0" noProof="0" dirty="0" smtClean="0"/>
              <a:t> of roles, functions and responsibilities of a Tour Guide:</a:t>
            </a:r>
          </a:p>
          <a:p>
            <a:r>
              <a:rPr lang="en-AU" sz="1200" b="1" kern="1200" dirty="0" smtClean="0">
                <a:solidFill>
                  <a:schemeClr val="tx1"/>
                </a:solidFill>
                <a:latin typeface="+mn-lt"/>
                <a:ea typeface="+mn-ea"/>
                <a:cs typeface="+mn-cs"/>
              </a:rPr>
              <a:t>Teacher and mentor </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All tours contain an element of teaching people something or facilitating their learning.</a:t>
            </a:r>
          </a:p>
          <a:p>
            <a:r>
              <a:rPr lang="en-AU" sz="1200" kern="1200" dirty="0" smtClean="0">
                <a:solidFill>
                  <a:schemeClr val="tx1"/>
                </a:solidFill>
                <a:latin typeface="+mn-lt"/>
                <a:ea typeface="+mn-ea"/>
                <a:cs typeface="+mn-cs"/>
              </a:rPr>
              <a:t>This means the tour guide must have:</a:t>
            </a:r>
          </a:p>
          <a:p>
            <a:pPr marL="171450" lvl="0" indent="-171450">
              <a:buFont typeface="Arial" pitchFamily="34" charset="0"/>
              <a:buChar char="•"/>
            </a:pPr>
            <a:r>
              <a:rPr lang="en-AU" sz="1200" kern="1200" dirty="0" smtClean="0">
                <a:solidFill>
                  <a:schemeClr val="tx1"/>
                </a:solidFill>
                <a:latin typeface="+mn-lt"/>
                <a:ea typeface="+mn-ea"/>
                <a:cs typeface="+mn-cs"/>
              </a:rPr>
              <a:t>Extensive knowledge of the topic/area which is the focus of the tour – so they can show, tell and explain as required as well as respond to questions </a:t>
            </a:r>
          </a:p>
          <a:p>
            <a:pPr marL="171450" lvl="0" indent="-171450">
              <a:buFont typeface="Arial" pitchFamily="34" charset="0"/>
              <a:buChar char="•"/>
            </a:pPr>
            <a:r>
              <a:rPr lang="en-AU" sz="1200" kern="1200" dirty="0" smtClean="0">
                <a:solidFill>
                  <a:schemeClr val="tx1"/>
                </a:solidFill>
                <a:latin typeface="+mn-lt"/>
                <a:ea typeface="+mn-ea"/>
                <a:cs typeface="+mn-cs"/>
              </a:rPr>
              <a:t>Extensive knowledge of the wider area/country/region – in order to be an ambassador for the country/location</a:t>
            </a:r>
          </a:p>
          <a:p>
            <a:pPr marL="171450" lvl="0" indent="-171450">
              <a:buFont typeface="Arial" pitchFamily="34" charset="0"/>
              <a:buChar char="•"/>
            </a:pPr>
            <a:r>
              <a:rPr lang="en-AU" sz="1200" kern="1200" dirty="0" smtClean="0">
                <a:solidFill>
                  <a:schemeClr val="tx1"/>
                </a:solidFill>
                <a:latin typeface="+mn-lt"/>
                <a:ea typeface="+mn-ea"/>
                <a:cs typeface="+mn-cs"/>
              </a:rPr>
              <a:t>Skills and techniques to enable them to impart the knowledge they have – to groups and individuals.</a:t>
            </a:r>
          </a:p>
          <a:p>
            <a:r>
              <a:rPr lang="en-AU" sz="1200" b="1" kern="1200" dirty="0" smtClean="0">
                <a:solidFill>
                  <a:schemeClr val="tx1"/>
                </a:solidFill>
                <a:latin typeface="+mn-lt"/>
                <a:ea typeface="+mn-ea"/>
                <a:cs typeface="+mn-cs"/>
              </a:rPr>
              <a:t>Environmentalist  </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All Tourist Guides are expected to:</a:t>
            </a:r>
          </a:p>
          <a:p>
            <a:pPr marL="171450" lvl="0" indent="-171450">
              <a:buFont typeface="Arial" pitchFamily="34" charset="0"/>
              <a:buChar char="•"/>
            </a:pPr>
            <a:r>
              <a:rPr lang="en-AU" sz="1200" kern="1200" dirty="0" smtClean="0">
                <a:solidFill>
                  <a:schemeClr val="tx1"/>
                </a:solidFill>
                <a:latin typeface="+mn-lt"/>
                <a:ea typeface="+mn-ea"/>
                <a:cs typeface="+mn-cs"/>
              </a:rPr>
              <a:t>Advise tour group members about actions to help preserve and protect all environments they visit – to demonstrate responsibility and support the principle us sustainable tourism</a:t>
            </a:r>
          </a:p>
          <a:p>
            <a:pPr marL="171450" lvl="0" indent="-171450">
              <a:buFont typeface="Arial" pitchFamily="34" charset="0"/>
              <a:buChar char="•"/>
            </a:pPr>
            <a:r>
              <a:rPr lang="en-AU" sz="1200" kern="1200" dirty="0" smtClean="0">
                <a:solidFill>
                  <a:schemeClr val="tx1"/>
                </a:solidFill>
                <a:latin typeface="+mn-lt"/>
                <a:ea typeface="+mn-ea"/>
                <a:cs typeface="+mn-cs"/>
              </a:rPr>
              <a:t>Take action to minimise tourist impact – on the environment</a:t>
            </a:r>
          </a:p>
          <a:p>
            <a:pPr marL="171450" lvl="0" indent="-171450">
              <a:buFont typeface="Arial" pitchFamily="34" charset="0"/>
              <a:buChar char="•"/>
            </a:pPr>
            <a:r>
              <a:rPr lang="en-AU" sz="1200" kern="1200" dirty="0" smtClean="0">
                <a:solidFill>
                  <a:schemeClr val="tx1"/>
                </a:solidFill>
                <a:latin typeface="+mn-lt"/>
                <a:ea typeface="+mn-ea"/>
                <a:cs typeface="+mn-cs"/>
              </a:rPr>
              <a:t>Subscribe to the principles of sustainable tourism</a:t>
            </a:r>
          </a:p>
          <a:p>
            <a:pPr marL="171450" lvl="0" indent="-171450">
              <a:buFont typeface="Arial" pitchFamily="34" charset="0"/>
              <a:buChar char="•"/>
            </a:pPr>
            <a:r>
              <a:rPr lang="en-AU" sz="1200" kern="1200" dirty="0" smtClean="0">
                <a:solidFill>
                  <a:schemeClr val="tx1"/>
                </a:solidFill>
                <a:latin typeface="+mn-lt"/>
                <a:ea typeface="+mn-ea"/>
                <a:cs typeface="+mn-cs"/>
              </a:rPr>
              <a:t>Inform tourists of relevant local environmental issues and concerns – in relation to environmental issues, problems and initiatives. </a:t>
            </a:r>
          </a:p>
          <a:p>
            <a:r>
              <a:rPr lang="en-AU" sz="1200" b="1" kern="1200" dirty="0" smtClean="0">
                <a:solidFill>
                  <a:schemeClr val="tx1"/>
                </a:solidFill>
                <a:latin typeface="+mn-lt"/>
                <a:ea typeface="+mn-ea"/>
                <a:cs typeface="+mn-cs"/>
              </a:rPr>
              <a:t>Entertainer</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All tours have some degree of entertainment and the Tour Guide needs to be able to:</a:t>
            </a:r>
          </a:p>
          <a:p>
            <a:pPr marL="171450" lvl="0" indent="-171450">
              <a:buFont typeface="Arial" pitchFamily="34" charset="0"/>
              <a:buChar char="•"/>
            </a:pPr>
            <a:r>
              <a:rPr lang="en-AU" sz="1200" kern="1200" dirty="0" smtClean="0">
                <a:solidFill>
                  <a:schemeClr val="tx1"/>
                </a:solidFill>
                <a:latin typeface="+mn-lt"/>
                <a:ea typeface="+mn-ea"/>
                <a:cs typeface="+mn-cs"/>
              </a:rPr>
              <a:t>Optimise enjoyment – of the group</a:t>
            </a:r>
          </a:p>
          <a:p>
            <a:pPr marL="171450" lvl="0" indent="-171450">
              <a:buFont typeface="Arial" pitchFamily="34" charset="0"/>
              <a:buChar char="•"/>
            </a:pPr>
            <a:r>
              <a:rPr lang="en-AU" sz="1200" kern="1200" dirty="0" smtClean="0">
                <a:solidFill>
                  <a:schemeClr val="tx1"/>
                </a:solidFill>
                <a:latin typeface="+mn-lt"/>
                <a:ea typeface="+mn-ea"/>
                <a:cs typeface="+mn-cs"/>
              </a:rPr>
              <a:t>Enhance interest – in the tour and activities</a:t>
            </a:r>
          </a:p>
          <a:p>
            <a:pPr marL="171450" lvl="0" indent="-171450">
              <a:buFont typeface="Arial" pitchFamily="34" charset="0"/>
              <a:buChar char="•"/>
            </a:pPr>
            <a:r>
              <a:rPr lang="en-AU" sz="1200" kern="1200" dirty="0" smtClean="0">
                <a:solidFill>
                  <a:schemeClr val="tx1"/>
                </a:solidFill>
                <a:latin typeface="+mn-lt"/>
                <a:ea typeface="+mn-ea"/>
                <a:cs typeface="+mn-cs"/>
              </a:rPr>
              <a:t>Make people  smile and laugh -= at appropriate times and for appropriate reasons</a:t>
            </a:r>
          </a:p>
          <a:p>
            <a:pPr marL="171450" lvl="0" indent="-171450">
              <a:buFont typeface="Arial" pitchFamily="34" charset="0"/>
              <a:buChar char="•"/>
            </a:pPr>
            <a:r>
              <a:rPr lang="en-AU" sz="1200" kern="1200" dirty="0" smtClean="0">
                <a:solidFill>
                  <a:schemeClr val="tx1"/>
                </a:solidFill>
                <a:latin typeface="+mn-lt"/>
                <a:ea typeface="+mn-ea"/>
                <a:cs typeface="+mn-cs"/>
              </a:rPr>
              <a:t>Captivate and amuse – people on tours, especially younger ones/children.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baseline="0" noProof="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baseline="0" noProof="0" dirty="0" smtClean="0"/>
              <a:t>Class Activity – Internet Research</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0" baseline="0" noProof="0" dirty="0" smtClean="0"/>
              <a:t>Trainer facilitates student research of and discussion regarding content of following and other similar/relevant websites:</a:t>
            </a:r>
          </a:p>
          <a:p>
            <a:pPr marL="0" marR="0" lvl="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u="sng" kern="1200" dirty="0" smtClean="0">
                <a:solidFill>
                  <a:schemeClr val="tx1"/>
                </a:solidFill>
                <a:latin typeface="+mn-lt"/>
                <a:ea typeface="+mn-ea"/>
                <a:cs typeface="+mn-cs"/>
                <a:hlinkClick r:id="rId3"/>
              </a:rPr>
              <a:t>http://satic.com.au/images/uploads/industry_resources/sustainable_tourism_principles.pdf</a:t>
            </a:r>
            <a:r>
              <a:rPr lang="en-AU" sz="1200" kern="1200" dirty="0" smtClean="0">
                <a:solidFill>
                  <a:schemeClr val="tx1"/>
                </a:solidFill>
                <a:latin typeface="+mn-lt"/>
                <a:ea typeface="+mn-ea"/>
                <a:cs typeface="+mn-cs"/>
              </a:rPr>
              <a:t>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b="0"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41224190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identifying the range</a:t>
            </a:r>
            <a:r>
              <a:rPr lang="en-US" baseline="0" noProof="0" dirty="0" smtClean="0"/>
              <a:t> of roles, functions and responsibilities of a Tour Guide:</a:t>
            </a:r>
          </a:p>
          <a:p>
            <a:r>
              <a:rPr lang="en-AU" sz="1200" b="1" kern="1200" dirty="0" smtClean="0">
                <a:solidFill>
                  <a:schemeClr val="tx1"/>
                </a:solidFill>
                <a:latin typeface="+mn-lt"/>
                <a:ea typeface="+mn-ea"/>
                <a:cs typeface="+mn-cs"/>
              </a:rPr>
              <a:t>Safety and security officer </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Delivering a tour can require:</a:t>
            </a:r>
          </a:p>
          <a:p>
            <a:pPr marL="171450" lvl="0" indent="-171450">
              <a:buFont typeface="Arial" pitchFamily="34" charset="0"/>
              <a:buChar char="•"/>
            </a:pPr>
            <a:r>
              <a:rPr lang="en-AU" sz="1200" kern="1200" dirty="0" smtClean="0">
                <a:solidFill>
                  <a:schemeClr val="tx1"/>
                </a:solidFill>
                <a:latin typeface="+mn-lt"/>
                <a:ea typeface="+mn-ea"/>
                <a:cs typeface="+mn-cs"/>
              </a:rPr>
              <a:t>Explanation of safety requirements – telling people what they should and should not do to remain safe</a:t>
            </a:r>
          </a:p>
          <a:p>
            <a:pPr marL="171450" lvl="0" indent="-171450">
              <a:buFont typeface="Arial" pitchFamily="34" charset="0"/>
              <a:buChar char="•"/>
            </a:pPr>
            <a:r>
              <a:rPr lang="en-AU" sz="1200" kern="1200" dirty="0" smtClean="0">
                <a:solidFill>
                  <a:schemeClr val="tx1"/>
                </a:solidFill>
                <a:latin typeface="+mn-lt"/>
                <a:ea typeface="+mn-ea"/>
                <a:cs typeface="+mn-cs"/>
              </a:rPr>
              <a:t>Distribution of  safety equipment – and demonstration of how to wear/use it, as well as assisting people to get into safety/protective clothing </a:t>
            </a:r>
          </a:p>
          <a:p>
            <a:pPr marL="171450" lvl="0" indent="-171450">
              <a:buFont typeface="Arial" pitchFamily="34" charset="0"/>
              <a:buChar char="•"/>
            </a:pPr>
            <a:r>
              <a:rPr lang="en-AU" sz="1200" kern="1200" dirty="0" smtClean="0">
                <a:solidFill>
                  <a:schemeClr val="tx1"/>
                </a:solidFill>
                <a:latin typeface="+mn-lt"/>
                <a:ea typeface="+mn-ea"/>
                <a:cs typeface="+mn-cs"/>
              </a:rPr>
              <a:t>Observing and monitoring tour group members – to ensure they do not get lost, injured or place themselves (or others) in danger</a:t>
            </a:r>
          </a:p>
          <a:p>
            <a:pPr marL="171450" lvl="0" indent="-171450">
              <a:buFont typeface="Arial" pitchFamily="34" charset="0"/>
              <a:buChar char="•"/>
            </a:pPr>
            <a:r>
              <a:rPr lang="en-AU" sz="1200" kern="1200" dirty="0" smtClean="0">
                <a:solidFill>
                  <a:schemeClr val="tx1"/>
                </a:solidFill>
                <a:latin typeface="+mn-lt"/>
                <a:ea typeface="+mn-ea"/>
                <a:cs typeface="+mn-cs"/>
              </a:rPr>
              <a:t>Monitoring of the environment – to predict potential threats/warning signs</a:t>
            </a:r>
          </a:p>
          <a:p>
            <a:pPr marL="171450" lvl="0" indent="-171450">
              <a:buFont typeface="Arial" pitchFamily="34" charset="0"/>
              <a:buChar char="•"/>
            </a:pPr>
            <a:r>
              <a:rPr lang="en-AU" sz="1200" kern="1200" dirty="0" smtClean="0">
                <a:solidFill>
                  <a:schemeClr val="tx1"/>
                </a:solidFill>
                <a:latin typeface="+mn-lt"/>
                <a:ea typeface="+mn-ea"/>
                <a:cs typeface="+mn-cs"/>
              </a:rPr>
              <a:t>Taking appropriate action when danger threatens or an emergency situation occurs – or when a person is injured.</a:t>
            </a:r>
          </a:p>
          <a:p>
            <a:r>
              <a:rPr lang="en-AU" sz="1200" b="1" kern="1200" dirty="0" smtClean="0">
                <a:solidFill>
                  <a:schemeClr val="tx1"/>
                </a:solidFill>
                <a:latin typeface="+mn-lt"/>
                <a:ea typeface="+mn-ea"/>
                <a:cs typeface="+mn-cs"/>
              </a:rPr>
              <a:t>Sales person </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A Tour Guide can be required to:</a:t>
            </a:r>
          </a:p>
          <a:p>
            <a:pPr marL="171450" lvl="0" indent="-171450">
              <a:buFont typeface="Arial" pitchFamily="34" charset="0"/>
              <a:buChar char="•"/>
            </a:pPr>
            <a:r>
              <a:rPr lang="en-AU" sz="1200" kern="1200" dirty="0" smtClean="0">
                <a:solidFill>
                  <a:schemeClr val="tx1"/>
                </a:solidFill>
                <a:latin typeface="+mn-lt"/>
                <a:ea typeface="+mn-ea"/>
                <a:cs typeface="+mn-cs"/>
              </a:rPr>
              <a:t>Promote retail opportunities – available within the tour to optimise sales</a:t>
            </a:r>
          </a:p>
          <a:p>
            <a:pPr marL="171450" lvl="0" indent="-171450">
              <a:buFont typeface="Arial" pitchFamily="34" charset="0"/>
              <a:buChar char="•"/>
            </a:pPr>
            <a:r>
              <a:rPr lang="en-AU" sz="1200" kern="1200" dirty="0" smtClean="0">
                <a:solidFill>
                  <a:schemeClr val="tx1"/>
                </a:solidFill>
                <a:latin typeface="+mn-lt"/>
                <a:ea typeface="+mn-ea"/>
                <a:cs typeface="+mn-cs"/>
              </a:rPr>
              <a:t>Encourage referral business – that is, encouraging people on the tour to suggest/recommend the tour and/or the country to their families and friends </a:t>
            </a:r>
          </a:p>
          <a:p>
            <a:pPr marL="171450" lvl="0" indent="-171450">
              <a:buFont typeface="Arial" pitchFamily="34" charset="0"/>
              <a:buChar char="•"/>
            </a:pPr>
            <a:r>
              <a:rPr lang="en-AU" sz="1200" kern="1200" dirty="0" smtClean="0">
                <a:solidFill>
                  <a:schemeClr val="tx1"/>
                </a:solidFill>
                <a:latin typeface="+mn-lt"/>
                <a:ea typeface="+mn-ea"/>
                <a:cs typeface="+mn-cs"/>
              </a:rPr>
              <a:t>Generate repeat business – where participants come back for another tour</a:t>
            </a:r>
          </a:p>
          <a:p>
            <a:pPr marL="171450" lvl="0" indent="-171450">
              <a:buFont typeface="Arial" pitchFamily="34" charset="0"/>
              <a:buChar char="•"/>
            </a:pPr>
            <a:r>
              <a:rPr lang="en-AU" sz="1200" kern="1200" dirty="0" smtClean="0">
                <a:solidFill>
                  <a:schemeClr val="tx1"/>
                </a:solidFill>
                <a:latin typeface="+mn-lt"/>
                <a:ea typeface="+mn-ea"/>
                <a:cs typeface="+mn-cs"/>
              </a:rPr>
              <a:t>Advertise any aspect of the business/site – as determined or required by management</a:t>
            </a:r>
          </a:p>
          <a:p>
            <a:r>
              <a:rPr lang="en-AU" sz="1200" b="1" kern="1200" dirty="0" smtClean="0">
                <a:solidFill>
                  <a:schemeClr val="tx1"/>
                </a:solidFill>
                <a:latin typeface="+mn-lt"/>
                <a:ea typeface="+mn-ea"/>
                <a:cs typeface="+mn-cs"/>
              </a:rPr>
              <a:t>Administrator </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Which can involve:</a:t>
            </a:r>
          </a:p>
          <a:p>
            <a:pPr marL="171450" lvl="0" indent="-171450">
              <a:buFont typeface="Arial" pitchFamily="34" charset="0"/>
              <a:buChar char="•"/>
            </a:pPr>
            <a:r>
              <a:rPr lang="en-AU" sz="1200" kern="1200" dirty="0" smtClean="0">
                <a:solidFill>
                  <a:schemeClr val="tx1"/>
                </a:solidFill>
                <a:latin typeface="+mn-lt"/>
                <a:ea typeface="+mn-ea"/>
                <a:cs typeface="+mn-cs"/>
              </a:rPr>
              <a:t>Liaising with other operators and businesses – to organise or otherwise facilitate tours and visits</a:t>
            </a:r>
          </a:p>
          <a:p>
            <a:pPr marL="171450" lvl="0" indent="-171450">
              <a:buFont typeface="Arial" pitchFamily="34" charset="0"/>
              <a:buChar char="•"/>
            </a:pPr>
            <a:r>
              <a:rPr lang="en-AU" sz="1200" kern="1200" dirty="0" smtClean="0">
                <a:solidFill>
                  <a:schemeClr val="tx1"/>
                </a:solidFill>
                <a:latin typeface="+mn-lt"/>
                <a:ea typeface="+mn-ea"/>
                <a:cs typeface="+mn-cs"/>
              </a:rPr>
              <a:t>Planning and organising tour activities – to suit identified need</a:t>
            </a:r>
          </a:p>
          <a:p>
            <a:pPr marL="171450" lvl="0" indent="-171450">
              <a:buFont typeface="Arial" pitchFamily="34" charset="0"/>
              <a:buChar char="•"/>
            </a:pPr>
            <a:r>
              <a:rPr lang="en-AU" sz="1200" kern="1200" dirty="0" smtClean="0">
                <a:solidFill>
                  <a:schemeClr val="tx1"/>
                </a:solidFill>
                <a:latin typeface="+mn-lt"/>
                <a:ea typeface="+mn-ea"/>
                <a:cs typeface="+mn-cs"/>
              </a:rPr>
              <a:t>Arranging supporting inclusions for the tour – such as food/meals, drinks, transport, accommodation and other items appropriate to the type of tour and identified need of tour group members</a:t>
            </a:r>
          </a:p>
          <a:p>
            <a:pPr marL="171450" lvl="0" indent="-171450">
              <a:buFont typeface="Arial" pitchFamily="34" charset="0"/>
              <a:buChar char="•"/>
            </a:pPr>
            <a:r>
              <a:rPr lang="en-AU" sz="1200" kern="1200" dirty="0" smtClean="0">
                <a:solidFill>
                  <a:schemeClr val="tx1"/>
                </a:solidFill>
                <a:latin typeface="+mn-lt"/>
                <a:ea typeface="+mn-ea"/>
                <a:cs typeface="+mn-cs"/>
              </a:rPr>
              <a:t>Completing necessary reports – as required by employer</a:t>
            </a:r>
          </a:p>
          <a:p>
            <a:pPr marL="171450" lvl="0" indent="-171450">
              <a:buFont typeface="Arial" pitchFamily="34" charset="0"/>
              <a:buChar char="•"/>
            </a:pPr>
            <a:r>
              <a:rPr lang="en-AU" sz="1200" kern="1200" dirty="0" smtClean="0">
                <a:solidFill>
                  <a:schemeClr val="tx1"/>
                </a:solidFill>
                <a:latin typeface="+mn-lt"/>
                <a:ea typeface="+mn-ea"/>
                <a:cs typeface="+mn-cs"/>
              </a:rPr>
              <a:t>Maintaining records – of each tour as necessary.</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baseline="0" noProof="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baseline="0" noProof="0" dirty="0" smtClean="0"/>
              <a:t>Class Activity – Guest Speaker</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0" baseline="0" noProof="0" dirty="0" smtClean="0"/>
              <a:t>Trainer arranges for Tour Guide/s to attend and talk to students about their job and the roles, functions and responsibilities inherent in their work.</a:t>
            </a:r>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28568342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a:t>
            </a:r>
            <a:r>
              <a:rPr lang="en-US" baseline="0" noProof="0" dirty="0" smtClean="0"/>
              <a:t> discusses context for different types of Tour Guides stating </a:t>
            </a:r>
            <a:r>
              <a:rPr lang="en-AU" sz="1200" kern="1200" dirty="0" smtClean="0">
                <a:solidFill>
                  <a:schemeClr val="tx1"/>
                </a:solidFill>
                <a:latin typeface="+mn-lt"/>
                <a:ea typeface="+mn-ea"/>
                <a:cs typeface="+mn-cs"/>
              </a:rPr>
              <a:t>within the industry it is important to understand:</a:t>
            </a:r>
          </a:p>
          <a:p>
            <a:pPr marL="171450" lvl="0" indent="-171450">
              <a:buFont typeface="Arial" pitchFamily="34" charset="0"/>
              <a:buChar char="•"/>
            </a:pPr>
            <a:r>
              <a:rPr lang="en-AU" sz="1200" kern="1200" dirty="0" smtClean="0">
                <a:solidFill>
                  <a:schemeClr val="tx1"/>
                </a:solidFill>
                <a:latin typeface="+mn-lt"/>
                <a:ea typeface="+mn-ea"/>
                <a:cs typeface="+mn-cs"/>
              </a:rPr>
              <a:t>Tour Operators can elect to employ a variety of different classifications of Tour Guides – or they may only employ one type depending on the profile of tours they offer</a:t>
            </a:r>
          </a:p>
          <a:p>
            <a:pPr marL="171450" lvl="0" indent="-171450">
              <a:buFont typeface="Arial" pitchFamily="34" charset="0"/>
              <a:buChar char="•"/>
            </a:pPr>
            <a:r>
              <a:rPr lang="en-AU" sz="1200" kern="1200" dirty="0" smtClean="0">
                <a:solidFill>
                  <a:schemeClr val="tx1"/>
                </a:solidFill>
                <a:latin typeface="+mn-lt"/>
                <a:ea typeface="+mn-ea"/>
                <a:cs typeface="+mn-cs"/>
              </a:rPr>
              <a:t>Individuals can choose to be self-employed – and present/promote themselves as any type of Tour Guide they want to</a:t>
            </a:r>
          </a:p>
          <a:p>
            <a:pPr marL="171450" lvl="0" indent="-171450">
              <a:buFont typeface="Arial" pitchFamily="34" charset="0"/>
              <a:buChar char="•"/>
            </a:pPr>
            <a:r>
              <a:rPr lang="en-AU" sz="1200" kern="1200" dirty="0" smtClean="0">
                <a:solidFill>
                  <a:schemeClr val="tx1"/>
                </a:solidFill>
                <a:latin typeface="+mn-lt"/>
                <a:ea typeface="+mn-ea"/>
                <a:cs typeface="+mn-cs"/>
              </a:rPr>
              <a:t>Some countries stipulate classifications of Tourist Guides – which underpin their attempts to regulate entrants into the Tour Guiding industry.</a:t>
            </a:r>
          </a:p>
          <a:p>
            <a:pPr>
              <a:buFont typeface="Arial" pitchFamily="34" charset="0"/>
              <a:buNone/>
            </a:pPr>
            <a:r>
              <a:rPr lang="en-US" baseline="0" noProof="0" dirty="0" smtClean="0"/>
              <a:t>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30753139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a:t>
            </a:r>
            <a:r>
              <a:rPr lang="en-US" baseline="0" noProof="0" dirty="0" smtClean="0"/>
              <a:t> states it </a:t>
            </a:r>
            <a:r>
              <a:rPr lang="en-AU" sz="1200" kern="1200" dirty="0" smtClean="0">
                <a:solidFill>
                  <a:schemeClr val="tx1"/>
                </a:solidFill>
                <a:latin typeface="+mn-lt"/>
                <a:ea typeface="+mn-ea"/>
                <a:cs typeface="+mn-cs"/>
              </a:rPr>
              <a:t>is common for the following types of Tour Guides to be available for employers and visitors/tour groups to choose from:</a:t>
            </a:r>
          </a:p>
          <a:p>
            <a:r>
              <a:rPr lang="en-AU" sz="1200" b="1" kern="1200" dirty="0" smtClean="0">
                <a:solidFill>
                  <a:schemeClr val="tx1"/>
                </a:solidFill>
                <a:latin typeface="+mn-lt"/>
                <a:ea typeface="+mn-ea"/>
                <a:cs typeface="+mn-cs"/>
              </a:rPr>
              <a:t>On-site attractions guides</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These Tour Guides:</a:t>
            </a:r>
          </a:p>
          <a:p>
            <a:pPr marL="171450" lvl="0" indent="-171450">
              <a:buFont typeface="Arial" pitchFamily="34" charset="0"/>
              <a:buChar char="•"/>
            </a:pPr>
            <a:r>
              <a:rPr lang="en-AU" sz="1200" kern="1200" dirty="0" smtClean="0">
                <a:solidFill>
                  <a:schemeClr val="tx1"/>
                </a:solidFill>
                <a:latin typeface="+mn-lt"/>
                <a:ea typeface="+mn-ea"/>
                <a:cs typeface="+mn-cs"/>
              </a:rPr>
              <a:t>Are specific to one (or a limited number) of venues, attractions, parks, gardens or destinations</a:t>
            </a:r>
          </a:p>
          <a:p>
            <a:pPr marL="171450" lvl="0" indent="-171450">
              <a:buFont typeface="Arial" pitchFamily="34" charset="0"/>
              <a:buChar char="•"/>
            </a:pPr>
            <a:r>
              <a:rPr lang="en-AU" sz="1200" kern="1200" dirty="0" smtClean="0">
                <a:solidFill>
                  <a:schemeClr val="tx1"/>
                </a:solidFill>
                <a:latin typeface="+mn-lt"/>
                <a:ea typeface="+mn-ea"/>
                <a:cs typeface="+mn-cs"/>
              </a:rPr>
              <a:t>Meet and greet tourists on arrival</a:t>
            </a:r>
          </a:p>
          <a:p>
            <a:pPr marL="171450" lvl="0" indent="-171450">
              <a:buFont typeface="Arial" pitchFamily="34" charset="0"/>
              <a:buChar char="•"/>
            </a:pPr>
            <a:r>
              <a:rPr lang="en-AU" sz="1200" kern="1200" dirty="0" smtClean="0">
                <a:solidFill>
                  <a:schemeClr val="tx1"/>
                </a:solidFill>
                <a:latin typeface="+mn-lt"/>
                <a:ea typeface="+mn-ea"/>
                <a:cs typeface="+mn-cs"/>
              </a:rPr>
              <a:t>Have an </a:t>
            </a:r>
            <a:r>
              <a:rPr lang="en-AU" sz="1200" i="1" kern="1200" dirty="0" smtClean="0">
                <a:solidFill>
                  <a:schemeClr val="tx1"/>
                </a:solidFill>
                <a:latin typeface="+mn-lt"/>
                <a:ea typeface="+mn-ea"/>
                <a:cs typeface="+mn-cs"/>
              </a:rPr>
              <a:t>extremely</a:t>
            </a:r>
            <a:r>
              <a:rPr lang="en-AU" sz="1200" kern="1200" dirty="0" smtClean="0">
                <a:solidFill>
                  <a:schemeClr val="tx1"/>
                </a:solidFill>
                <a:latin typeface="+mn-lt"/>
                <a:ea typeface="+mn-ea"/>
                <a:cs typeface="+mn-cs"/>
              </a:rPr>
              <a:t> detailed knowledge of the site they are working in</a:t>
            </a:r>
          </a:p>
          <a:p>
            <a:pPr marL="171450" lvl="0" indent="-171450">
              <a:buFont typeface="Arial" pitchFamily="34" charset="0"/>
              <a:buChar char="•"/>
            </a:pPr>
            <a:r>
              <a:rPr lang="en-AU" sz="1200" kern="1200" dirty="0" smtClean="0">
                <a:solidFill>
                  <a:schemeClr val="tx1"/>
                </a:solidFill>
                <a:latin typeface="+mn-lt"/>
                <a:ea typeface="+mn-ea"/>
                <a:cs typeface="+mn-cs"/>
              </a:rPr>
              <a:t>Will be expected to promote sales within the site/attraction</a:t>
            </a:r>
          </a:p>
          <a:p>
            <a:pPr marL="171450" lvl="0" indent="-171450">
              <a:buFont typeface="Arial" pitchFamily="34" charset="0"/>
              <a:buChar char="•"/>
            </a:pPr>
            <a:r>
              <a:rPr lang="en-AU" sz="1200" kern="1200" dirty="0" smtClean="0">
                <a:solidFill>
                  <a:schemeClr val="tx1"/>
                </a:solidFill>
                <a:latin typeface="+mn-lt"/>
                <a:ea typeface="+mn-ea"/>
                <a:cs typeface="+mn-cs"/>
              </a:rPr>
              <a:t>Manage tourists and visitors while they are on-site</a:t>
            </a:r>
          </a:p>
          <a:p>
            <a:pPr marL="171450" lvl="0" indent="-171450">
              <a:buFont typeface="Arial" pitchFamily="34" charset="0"/>
              <a:buChar char="•"/>
            </a:pPr>
            <a:r>
              <a:rPr lang="en-AU" sz="1200" kern="1200" dirty="0" smtClean="0">
                <a:solidFill>
                  <a:schemeClr val="tx1"/>
                </a:solidFill>
                <a:latin typeface="+mn-lt"/>
                <a:ea typeface="+mn-ea"/>
                <a:cs typeface="+mn-cs"/>
              </a:rPr>
              <a:t>Will frequently:</a:t>
            </a:r>
          </a:p>
          <a:p>
            <a:pPr marL="628650" lvl="1" indent="-171450">
              <a:buFont typeface="Arial" pitchFamily="34" charset="0"/>
              <a:buChar char="•"/>
            </a:pPr>
            <a:r>
              <a:rPr lang="en-AU" sz="1200" kern="1200" dirty="0" smtClean="0">
                <a:solidFill>
                  <a:schemeClr val="tx1"/>
                </a:solidFill>
                <a:latin typeface="+mn-lt"/>
                <a:ea typeface="+mn-ea"/>
                <a:cs typeface="+mn-cs"/>
              </a:rPr>
              <a:t>Lead on-site tours; Conduct demonstrations relevant to the site/type of attraction; Supervise activities – such as experiential learning; Provide commentaries; Drive site-specific transport/vehicles; Organise and monitor on-site inclusions – such as meals, photo opportunities, displays, events, distribution of materials, rides, games; Farewell visitors and encourage repeat and referral business.</a:t>
            </a:r>
          </a:p>
          <a:p>
            <a:pPr>
              <a:buFont typeface="Arial" pitchFamily="34" charset="0"/>
              <a:buNone/>
            </a:pPr>
            <a:endParaRPr lang="en-US" noProof="0" dirty="0" smtClean="0"/>
          </a:p>
          <a:p>
            <a:pPr>
              <a:buFont typeface="Arial" pitchFamily="34" charset="0"/>
              <a:buNone/>
            </a:pPr>
            <a:r>
              <a:rPr lang="en-US" b="1" noProof="0" dirty="0" smtClean="0"/>
              <a:t>Class Activity – Guest Speaker</a:t>
            </a:r>
          </a:p>
          <a:p>
            <a:pPr>
              <a:buFont typeface="Arial" pitchFamily="34" charset="0"/>
              <a:buNone/>
            </a:pPr>
            <a:r>
              <a:rPr lang="en-US" b="0" noProof="0" dirty="0" smtClean="0"/>
              <a:t>Trainer arranges for a Tour Guide of the type identified on the slide to attend and talk about their role, functions and responsibilities.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7451676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a:buFont typeface="Arial" pitchFamily="34" charset="0"/>
              <a:buNone/>
            </a:pPr>
            <a:r>
              <a:rPr lang="en-US" noProof="0" dirty="0" smtClean="0"/>
              <a:t>Trainer</a:t>
            </a:r>
            <a:r>
              <a:rPr lang="en-US" baseline="0" noProof="0" dirty="0" smtClean="0"/>
              <a:t> continues identifying and describing work of different types of Tour Guides:</a:t>
            </a:r>
          </a:p>
          <a:p>
            <a:r>
              <a:rPr lang="en-AU" sz="1200" b="1" kern="1200" dirty="0" smtClean="0">
                <a:solidFill>
                  <a:schemeClr val="tx1"/>
                </a:solidFill>
                <a:latin typeface="+mn-lt"/>
                <a:ea typeface="+mn-ea"/>
                <a:cs typeface="+mn-cs"/>
              </a:rPr>
              <a:t>City guides</a:t>
            </a:r>
          </a:p>
          <a:p>
            <a:r>
              <a:rPr lang="en-AU" sz="1200" kern="1200" dirty="0" smtClean="0">
                <a:solidFill>
                  <a:schemeClr val="tx1"/>
                </a:solidFill>
                <a:latin typeface="+mn-lt"/>
                <a:ea typeface="+mn-ea"/>
                <a:cs typeface="+mn-cs"/>
              </a:rPr>
              <a:t>These Tour Guides:</a:t>
            </a:r>
          </a:p>
          <a:p>
            <a:pPr marL="171450" lvl="0" indent="-171450">
              <a:buFont typeface="Arial" pitchFamily="34" charset="0"/>
              <a:buChar char="•"/>
            </a:pPr>
            <a:r>
              <a:rPr lang="en-AU" sz="1200" kern="1200" dirty="0" smtClean="0">
                <a:solidFill>
                  <a:schemeClr val="tx1"/>
                </a:solidFill>
                <a:latin typeface="+mn-lt"/>
                <a:ea typeface="+mn-ea"/>
                <a:cs typeface="+mn-cs"/>
              </a:rPr>
              <a:t>Specialise in leading tours of one or more cities. May conduct:</a:t>
            </a:r>
          </a:p>
          <a:p>
            <a:pPr marL="628650" lvl="1" indent="-171450">
              <a:buFont typeface="Arial" pitchFamily="34" charset="0"/>
              <a:buChar char="•"/>
            </a:pPr>
            <a:r>
              <a:rPr lang="en-AU" sz="1200" kern="1200" dirty="0" smtClean="0">
                <a:solidFill>
                  <a:schemeClr val="tx1"/>
                </a:solidFill>
                <a:latin typeface="+mn-lt"/>
                <a:ea typeface="+mn-ea"/>
                <a:cs typeface="+mn-cs"/>
              </a:rPr>
              <a:t>‘City walks’ ; ‘Bicycle tours’; ‘Hop on, hop off’ tours – using public transport; Tours of a specific area of a city; Tours of specific business/property types within the city – such as fashion and clothing houses, restaurants, electronic wholesalers/retailers; Tours of certain lifestyle/life choices – such as medicine, nightlife, arts and culture, museums, history, activity-based options</a:t>
            </a:r>
          </a:p>
          <a:p>
            <a:pPr marL="171450" lvl="0" indent="-171450">
              <a:buFont typeface="Arial" pitchFamily="34" charset="0"/>
              <a:buChar char="•"/>
            </a:pPr>
            <a:r>
              <a:rPr lang="en-AU" sz="1200" kern="1200" dirty="0" smtClean="0">
                <a:solidFill>
                  <a:schemeClr val="tx1"/>
                </a:solidFill>
                <a:latin typeface="+mn-lt"/>
                <a:ea typeface="+mn-ea"/>
                <a:cs typeface="+mn-cs"/>
              </a:rPr>
              <a:t>Often work closely with:</a:t>
            </a:r>
          </a:p>
          <a:p>
            <a:pPr marL="628650" lvl="1" indent="-171450">
              <a:buFont typeface="Arial" pitchFamily="34" charset="0"/>
              <a:buChar char="•"/>
            </a:pPr>
            <a:r>
              <a:rPr lang="en-AU" sz="1200" kern="1200" dirty="0" smtClean="0">
                <a:solidFill>
                  <a:schemeClr val="tx1"/>
                </a:solidFill>
                <a:latin typeface="+mn-lt"/>
                <a:ea typeface="+mn-ea"/>
                <a:cs typeface="+mn-cs"/>
              </a:rPr>
              <a:t>Councils; Tourism bodies including semi=government authorities; Local businesses.</a:t>
            </a:r>
          </a:p>
          <a:p>
            <a:r>
              <a:rPr lang="en-AU" sz="1200" b="1" kern="1200" dirty="0" smtClean="0">
                <a:solidFill>
                  <a:schemeClr val="tx1"/>
                </a:solidFill>
                <a:latin typeface="+mn-lt"/>
                <a:ea typeface="+mn-ea"/>
                <a:cs typeface="+mn-cs"/>
              </a:rPr>
              <a:t>Government guides</a:t>
            </a:r>
          </a:p>
          <a:p>
            <a:r>
              <a:rPr lang="en-AU" sz="1200" b="0" kern="1200" dirty="0" smtClean="0">
                <a:solidFill>
                  <a:schemeClr val="tx1"/>
                </a:solidFill>
                <a:latin typeface="+mn-lt"/>
                <a:ea typeface="+mn-ea"/>
                <a:cs typeface="+mn-cs"/>
              </a:rPr>
              <a:t>Government guides are employed by the government or government-funded bodies or agencies. These Tour Guides:</a:t>
            </a:r>
            <a:endParaRPr lang="en-AU" sz="1200" b="1" kern="1200" dirty="0" smtClean="0">
              <a:solidFill>
                <a:schemeClr val="tx1"/>
              </a:solidFill>
              <a:latin typeface="+mn-lt"/>
              <a:ea typeface="+mn-ea"/>
              <a:cs typeface="+mn-cs"/>
            </a:endParaRPr>
          </a:p>
          <a:p>
            <a:pPr marL="171450" lvl="0" indent="-171450">
              <a:buFont typeface="Arial" pitchFamily="34" charset="0"/>
              <a:buChar char="•"/>
            </a:pPr>
            <a:r>
              <a:rPr lang="en-AU" sz="1200" kern="1200" dirty="0" smtClean="0">
                <a:solidFill>
                  <a:schemeClr val="tx1"/>
                </a:solidFill>
                <a:latin typeface="+mn-lt"/>
                <a:ea typeface="+mn-ea"/>
                <a:cs typeface="+mn-cs"/>
              </a:rPr>
              <a:t>Are employed by the government – but may not be obviously designated (to visitors/tourists) as government employees</a:t>
            </a:r>
          </a:p>
          <a:p>
            <a:pPr marL="171450" lvl="0" indent="-171450">
              <a:buFont typeface="Arial" pitchFamily="34" charset="0"/>
              <a:buChar char="•"/>
            </a:pPr>
            <a:r>
              <a:rPr lang="en-AU" sz="1200" kern="1200" dirty="0" smtClean="0">
                <a:solidFill>
                  <a:schemeClr val="tx1"/>
                </a:solidFill>
                <a:latin typeface="+mn-lt"/>
                <a:ea typeface="+mn-ea"/>
                <a:cs typeface="+mn-cs"/>
              </a:rPr>
              <a:t>Need to comply with pre-requisite compliance requirements – which often relates to minimum requirements for experience as well as holding designated qualifications and/or a local tour licence/permit </a:t>
            </a:r>
          </a:p>
          <a:p>
            <a:pPr marL="171450" lvl="0" indent="-171450">
              <a:buFont typeface="Arial" pitchFamily="34" charset="0"/>
              <a:buChar char="•"/>
            </a:pPr>
            <a:r>
              <a:rPr lang="en-AU" sz="1200" kern="1200" dirty="0" smtClean="0">
                <a:solidFill>
                  <a:schemeClr val="tx1"/>
                </a:solidFill>
                <a:latin typeface="+mn-lt"/>
                <a:ea typeface="+mn-ea"/>
                <a:cs typeface="+mn-cs"/>
              </a:rPr>
              <a:t>Are often to communicate prescribed information to visitors – as part of the government effort to impart knowledge and/or promote a certain point of view or initiative</a:t>
            </a:r>
          </a:p>
          <a:p>
            <a:pPr marL="171450" lvl="0" indent="-171450">
              <a:buFont typeface="Arial" pitchFamily="34" charset="0"/>
              <a:buChar char="•"/>
            </a:pPr>
            <a:r>
              <a:rPr lang="en-AU" sz="1200" kern="1200" dirty="0" smtClean="0">
                <a:solidFill>
                  <a:schemeClr val="tx1"/>
                </a:solidFill>
                <a:latin typeface="+mn-lt"/>
                <a:ea typeface="+mn-ea"/>
                <a:cs typeface="+mn-cs"/>
              </a:rPr>
              <a:t>May:</a:t>
            </a:r>
          </a:p>
          <a:p>
            <a:pPr marL="628650" lvl="1" indent="-171450">
              <a:buFont typeface="Arial" pitchFamily="34" charset="0"/>
              <a:buChar char="•"/>
            </a:pPr>
            <a:r>
              <a:rPr lang="en-AU" sz="1200" kern="1200" dirty="0" smtClean="0">
                <a:solidFill>
                  <a:schemeClr val="tx1"/>
                </a:solidFill>
                <a:latin typeface="+mn-lt"/>
                <a:ea typeface="+mn-ea"/>
                <a:cs typeface="+mn-cs"/>
              </a:rPr>
              <a:t>Lead tours of government buildings and other government-owned and managed destinations</a:t>
            </a:r>
          </a:p>
          <a:p>
            <a:pPr marL="628650" lvl="1" indent="-171450">
              <a:buFont typeface="Arial" pitchFamily="34" charset="0"/>
              <a:buChar char="•"/>
            </a:pPr>
            <a:r>
              <a:rPr lang="en-AU" sz="1200" kern="1200" dirty="0" smtClean="0">
                <a:solidFill>
                  <a:schemeClr val="tx1"/>
                </a:solidFill>
                <a:latin typeface="+mn-lt"/>
                <a:ea typeface="+mn-ea"/>
                <a:cs typeface="+mn-cs"/>
              </a:rPr>
              <a:t>Conduct tours of general areas, cities and other attractions.</a:t>
            </a:r>
          </a:p>
          <a:p>
            <a:pPr>
              <a:buFont typeface="Arial" pitchFamily="34" charset="0"/>
              <a:buNone/>
            </a:pPr>
            <a:endParaRPr lang="en-US" noProof="0" dirty="0" smtClean="0"/>
          </a:p>
          <a:p>
            <a:pPr>
              <a:buFont typeface="Arial" pitchFamily="34" charset="0"/>
              <a:buNone/>
            </a:pPr>
            <a:r>
              <a:rPr lang="en-US" b="1" noProof="0" dirty="0" smtClean="0"/>
              <a:t>Class Activity – Guest Speakers</a:t>
            </a:r>
          </a:p>
          <a:p>
            <a:pPr>
              <a:buFont typeface="Arial" pitchFamily="34" charset="0"/>
              <a:buNone/>
            </a:pPr>
            <a:r>
              <a:rPr lang="en-US" b="0" noProof="0" dirty="0" smtClean="0"/>
              <a:t>Trainer arranges for Tour Guides of the type identified on the slide to attend and talk about their role, functions and responsibilities.</a:t>
            </a:r>
            <a:endParaRPr lang="en-AU" b="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9837458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a:buFont typeface="Arial" pitchFamily="34" charset="0"/>
              <a:buNone/>
            </a:pPr>
            <a:r>
              <a:rPr lang="en-US" noProof="0" dirty="0" smtClean="0"/>
              <a:t>Trainer</a:t>
            </a:r>
            <a:r>
              <a:rPr lang="en-US" baseline="0" noProof="0" dirty="0" smtClean="0"/>
              <a:t> continues identifying and describing work of different types of Tour Guides:</a:t>
            </a:r>
          </a:p>
          <a:p>
            <a:r>
              <a:rPr lang="en-AU" sz="1200" b="1" kern="1200" dirty="0" smtClean="0">
                <a:solidFill>
                  <a:schemeClr val="tx1"/>
                </a:solidFill>
                <a:latin typeface="+mn-lt"/>
                <a:ea typeface="+mn-ea"/>
                <a:cs typeface="+mn-cs"/>
              </a:rPr>
              <a:t>Specialised guides</a:t>
            </a:r>
          </a:p>
          <a:p>
            <a:r>
              <a:rPr lang="en-AU" sz="1200" kern="1200" dirty="0" smtClean="0">
                <a:solidFill>
                  <a:schemeClr val="tx1"/>
                </a:solidFill>
                <a:latin typeface="+mn-lt"/>
                <a:ea typeface="+mn-ea"/>
                <a:cs typeface="+mn-cs"/>
              </a:rPr>
              <a:t>These Tour Guides:</a:t>
            </a:r>
          </a:p>
          <a:p>
            <a:pPr marL="171450" lvl="0" indent="-171450">
              <a:buFont typeface="Arial" pitchFamily="34" charset="0"/>
              <a:buChar char="•"/>
            </a:pPr>
            <a:r>
              <a:rPr lang="en-AU" sz="1200" kern="1200" dirty="0" smtClean="0">
                <a:solidFill>
                  <a:schemeClr val="tx1"/>
                </a:solidFill>
                <a:latin typeface="+mn-lt"/>
                <a:ea typeface="+mn-ea"/>
                <a:cs typeface="+mn-cs"/>
              </a:rPr>
              <a:t>Specialise on one or more type of tours – such as, for example:</a:t>
            </a:r>
          </a:p>
          <a:p>
            <a:pPr marL="628650" lvl="1" indent="-171450">
              <a:buFont typeface="Arial" pitchFamily="34" charset="0"/>
              <a:buChar char="•"/>
            </a:pPr>
            <a:r>
              <a:rPr lang="en-AU" sz="1200" kern="1200" dirty="0" smtClean="0">
                <a:solidFill>
                  <a:schemeClr val="tx1"/>
                </a:solidFill>
                <a:latin typeface="+mn-lt"/>
                <a:ea typeface="+mn-ea"/>
                <a:cs typeface="+mn-cs"/>
              </a:rPr>
              <a:t>Action and adventure tours; Historic tours; Culture tours; The Arts’ Eco-tourism and nature</a:t>
            </a:r>
          </a:p>
          <a:p>
            <a:pPr marL="171450" lvl="0" indent="-171450">
              <a:buFont typeface="Arial" pitchFamily="34" charset="0"/>
              <a:buChar char="•"/>
            </a:pPr>
            <a:r>
              <a:rPr lang="en-AU" sz="1200" kern="1200" dirty="0" smtClean="0">
                <a:solidFill>
                  <a:schemeClr val="tx1"/>
                </a:solidFill>
                <a:latin typeface="+mn-lt"/>
                <a:ea typeface="+mn-ea"/>
                <a:cs typeface="+mn-cs"/>
              </a:rPr>
              <a:t>Must have:</a:t>
            </a:r>
          </a:p>
          <a:p>
            <a:pPr marL="628650" lvl="1" indent="-171450">
              <a:buFont typeface="Arial" pitchFamily="34" charset="0"/>
              <a:buChar char="•"/>
            </a:pPr>
            <a:r>
              <a:rPr lang="en-AU" sz="1200" kern="1200" dirty="0" smtClean="0">
                <a:solidFill>
                  <a:schemeClr val="tx1"/>
                </a:solidFill>
                <a:latin typeface="+mn-lt"/>
                <a:ea typeface="+mn-ea"/>
                <a:cs typeface="+mn-cs"/>
              </a:rPr>
              <a:t>Extensive knowledge of the areas they are specialising in; Sound skills relating to the activities which are the focus of their tours; Often operate as other guide types – in addition to their chosen specialisation’ </a:t>
            </a:r>
          </a:p>
          <a:p>
            <a:pPr marL="171450" lvl="0" indent="-171450">
              <a:buFont typeface="Arial" pitchFamily="34" charset="0"/>
              <a:buChar char="•"/>
            </a:pPr>
            <a:r>
              <a:rPr lang="en-AU" sz="1200" kern="1200" dirty="0" smtClean="0">
                <a:solidFill>
                  <a:schemeClr val="tx1"/>
                </a:solidFill>
                <a:latin typeface="+mn-lt"/>
                <a:ea typeface="+mn-ea"/>
                <a:cs typeface="+mn-cs"/>
              </a:rPr>
              <a:t>May be classified as such by local regulations – for example Singapore STG classification</a:t>
            </a:r>
          </a:p>
          <a:p>
            <a:r>
              <a:rPr lang="en-AU" sz="1200" b="1" kern="1200" dirty="0" smtClean="0">
                <a:solidFill>
                  <a:schemeClr val="tx1"/>
                </a:solidFill>
                <a:latin typeface="+mn-lt"/>
                <a:ea typeface="+mn-ea"/>
                <a:cs typeface="+mn-cs"/>
              </a:rPr>
              <a:t>Independent guide</a:t>
            </a:r>
          </a:p>
          <a:p>
            <a:r>
              <a:rPr lang="en-AU" sz="1200" b="0" kern="1200" dirty="0" smtClean="0">
                <a:solidFill>
                  <a:schemeClr val="tx1"/>
                </a:solidFill>
                <a:latin typeface="+mn-lt"/>
                <a:ea typeface="+mn-ea"/>
                <a:cs typeface="+mn-cs"/>
              </a:rPr>
              <a:t>An independent guide:</a:t>
            </a:r>
            <a:endParaRPr lang="en-AU" sz="1200" b="1" kern="1200" dirty="0" smtClean="0">
              <a:solidFill>
                <a:schemeClr val="tx1"/>
              </a:solidFill>
              <a:latin typeface="+mn-lt"/>
              <a:ea typeface="+mn-ea"/>
              <a:cs typeface="+mn-cs"/>
            </a:endParaRPr>
          </a:p>
          <a:p>
            <a:pPr marL="171450" lvl="0" indent="-171450">
              <a:buFont typeface="Arial" pitchFamily="34" charset="0"/>
              <a:buChar char="•"/>
            </a:pPr>
            <a:r>
              <a:rPr lang="en-AU" sz="1200" kern="1200" dirty="0" smtClean="0">
                <a:solidFill>
                  <a:schemeClr val="tx1"/>
                </a:solidFill>
                <a:latin typeface="+mn-lt"/>
                <a:ea typeface="+mn-ea"/>
                <a:cs typeface="+mn-cs"/>
              </a:rPr>
              <a:t>Is self-employed</a:t>
            </a:r>
          </a:p>
          <a:p>
            <a:pPr marL="171450" lvl="0" indent="-171450">
              <a:buFont typeface="Arial" pitchFamily="34" charset="0"/>
              <a:buChar char="•"/>
            </a:pPr>
            <a:r>
              <a:rPr lang="en-AU" sz="1200" kern="1200" dirty="0" smtClean="0">
                <a:solidFill>
                  <a:schemeClr val="tx1"/>
                </a:solidFill>
                <a:latin typeface="+mn-lt"/>
                <a:ea typeface="+mn-ea"/>
                <a:cs typeface="+mn-cs"/>
              </a:rPr>
              <a:t>May also work for Tour Operators, Government agencies or attractions or destinations on a contractual basis – in any Tour Guide capacity as listed in this section</a:t>
            </a:r>
          </a:p>
          <a:p>
            <a:pPr marL="171450" lvl="0" indent="-171450">
              <a:buFont typeface="Arial" pitchFamily="34" charset="0"/>
              <a:buChar char="•"/>
            </a:pPr>
            <a:r>
              <a:rPr lang="en-AU" sz="1200" kern="1200" dirty="0" smtClean="0">
                <a:solidFill>
                  <a:schemeClr val="tx1"/>
                </a:solidFill>
                <a:latin typeface="+mn-lt"/>
                <a:ea typeface="+mn-ea"/>
                <a:cs typeface="+mn-cs"/>
              </a:rPr>
              <a:t>May need to be registered by local authorities – in order to function in this capacity</a:t>
            </a:r>
          </a:p>
          <a:p>
            <a:pPr marL="171450" lvl="0" indent="-171450">
              <a:buFont typeface="Arial" pitchFamily="34" charset="0"/>
              <a:buChar char="•"/>
            </a:pPr>
            <a:r>
              <a:rPr lang="en-AU" sz="1200" kern="1200" dirty="0" smtClean="0">
                <a:solidFill>
                  <a:schemeClr val="tx1"/>
                </a:solidFill>
                <a:latin typeface="+mn-lt"/>
                <a:ea typeface="+mn-ea"/>
                <a:cs typeface="+mn-cs"/>
              </a:rPr>
              <a:t>May need to ensure they meet local compliance obligations imposed by law/the authorities – which may relate to:</a:t>
            </a:r>
          </a:p>
          <a:p>
            <a:pPr marL="628650" lvl="1" indent="-171450">
              <a:buFont typeface="Arial" pitchFamily="34" charset="0"/>
              <a:buChar char="•"/>
            </a:pPr>
            <a:r>
              <a:rPr lang="en-AU" sz="1200" kern="1200" dirty="0" smtClean="0">
                <a:solidFill>
                  <a:schemeClr val="tx1"/>
                </a:solidFill>
                <a:latin typeface="+mn-lt"/>
                <a:ea typeface="+mn-ea"/>
                <a:cs typeface="+mn-cs"/>
              </a:rPr>
              <a:t>Advertising and promotion; Conduct and ethical practices – including complaint resolution; Insurance coverage.</a:t>
            </a:r>
          </a:p>
          <a:p>
            <a:pPr>
              <a:buFont typeface="Arial" pitchFamily="34" charset="0"/>
              <a:buNone/>
            </a:pPr>
            <a:endParaRPr lang="en-US" baseline="0" noProof="0" dirty="0" smtClean="0"/>
          </a:p>
          <a:p>
            <a:pPr>
              <a:buFont typeface="Arial" pitchFamily="34" charset="0"/>
              <a:buNone/>
            </a:pPr>
            <a:r>
              <a:rPr lang="en-US" b="1" baseline="0" noProof="0" dirty="0" smtClean="0"/>
              <a:t>Class Activity (1) – Internet Research</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0" baseline="0" noProof="0" dirty="0" smtClean="0"/>
              <a:t>Trainer facilitates student research of and discussion regarding content of following and other similar/relevant websites:</a:t>
            </a:r>
          </a:p>
          <a:p>
            <a:pPr>
              <a:buFont typeface="Arial" pitchFamily="34" charset="0"/>
              <a:buNone/>
            </a:pPr>
            <a:r>
              <a:rPr lang="en-AU" sz="1200" u="sng" kern="1200" dirty="0" smtClean="0">
                <a:solidFill>
                  <a:schemeClr val="tx1"/>
                </a:solidFill>
                <a:latin typeface="+mn-lt"/>
                <a:ea typeface="+mn-ea"/>
                <a:cs typeface="+mn-cs"/>
                <a:hlinkClick r:id="rId3"/>
              </a:rPr>
              <a:t>online.visitsingapore.com/tgls/application/STG_FAQ_App.pdf</a:t>
            </a:r>
            <a:r>
              <a:rPr lang="en-AU" sz="1200" kern="1200" dirty="0" smtClean="0">
                <a:solidFill>
                  <a:schemeClr val="tx1"/>
                </a:solidFill>
                <a:latin typeface="+mn-lt"/>
                <a:ea typeface="+mn-ea"/>
                <a:cs typeface="+mn-cs"/>
              </a:rPr>
              <a:t> </a:t>
            </a:r>
          </a:p>
          <a:p>
            <a:pPr>
              <a:buFont typeface="Arial" pitchFamily="34" charset="0"/>
              <a:buNone/>
            </a:pPr>
            <a:endParaRPr lang="en-US" b="1" baseline="0" noProof="0" dirty="0" smtClean="0"/>
          </a:p>
          <a:p>
            <a:pPr>
              <a:buFont typeface="Arial" pitchFamily="34" charset="0"/>
              <a:buNone/>
            </a:pPr>
            <a:r>
              <a:rPr lang="en-US" b="1" noProof="0" dirty="0" smtClean="0"/>
              <a:t>Class Activity (2) – Guest Speakers</a:t>
            </a:r>
          </a:p>
          <a:p>
            <a:pPr>
              <a:buFont typeface="Arial" pitchFamily="34" charset="0"/>
              <a:buNone/>
            </a:pPr>
            <a:r>
              <a:rPr lang="en-US" b="0" noProof="0" dirty="0" smtClean="0"/>
              <a:t>Trainer arranges for Tour Guides of the type identified on the slide to attend and talk about their role, functions and responsibilities.</a:t>
            </a:r>
            <a:endParaRPr lang="en-AU" b="0" noProof="0" dirty="0" smtClean="0"/>
          </a:p>
          <a:p>
            <a:pPr>
              <a:buFont typeface="Arial" pitchFamily="34" charset="0"/>
              <a:buNone/>
            </a:pPr>
            <a:endParaRPr lang="en-US" b="1"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35470655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pPr>
              <a:buFont typeface="Arial" pitchFamily="34" charset="0"/>
              <a:buNone/>
            </a:pPr>
            <a:r>
              <a:rPr lang="en-US" noProof="0" dirty="0" smtClean="0"/>
              <a:t>Trainer</a:t>
            </a:r>
            <a:r>
              <a:rPr lang="en-US" baseline="0" noProof="0" dirty="0" smtClean="0"/>
              <a:t> continues identifying and describing work of different types of Tour Guides:</a:t>
            </a:r>
          </a:p>
          <a:p>
            <a:r>
              <a:rPr lang="en-AU" sz="1200" b="1" kern="1200" dirty="0" smtClean="0">
                <a:solidFill>
                  <a:schemeClr val="tx1"/>
                </a:solidFill>
                <a:latin typeface="+mn-lt"/>
                <a:ea typeface="+mn-ea"/>
                <a:cs typeface="+mn-cs"/>
              </a:rPr>
              <a:t>Business and industry guides</a:t>
            </a:r>
          </a:p>
          <a:p>
            <a:r>
              <a:rPr lang="en-AU" sz="1200" b="0" kern="1200" dirty="0" smtClean="0">
                <a:solidFill>
                  <a:schemeClr val="tx1"/>
                </a:solidFill>
                <a:latin typeface="+mn-lt"/>
                <a:ea typeface="+mn-ea"/>
                <a:cs typeface="+mn-cs"/>
              </a:rPr>
              <a:t>These Tourist Guides:</a:t>
            </a:r>
            <a:endParaRPr lang="en-AU" sz="1200" b="1" kern="1200" dirty="0" smtClean="0">
              <a:solidFill>
                <a:schemeClr val="tx1"/>
              </a:solidFill>
              <a:latin typeface="+mn-lt"/>
              <a:ea typeface="+mn-ea"/>
              <a:cs typeface="+mn-cs"/>
            </a:endParaRPr>
          </a:p>
          <a:p>
            <a:pPr marL="171450" lvl="0" indent="-171450">
              <a:buFont typeface="Arial" pitchFamily="34" charset="0"/>
              <a:buChar char="•"/>
            </a:pPr>
            <a:r>
              <a:rPr lang="en-AU" sz="1200" kern="1200" dirty="0" smtClean="0">
                <a:solidFill>
                  <a:schemeClr val="tx1"/>
                </a:solidFill>
                <a:latin typeface="+mn-lt"/>
                <a:ea typeface="+mn-ea"/>
                <a:cs typeface="+mn-cs"/>
              </a:rPr>
              <a:t>Are ‘Specialised guides’ who focus on leading tours to:</a:t>
            </a:r>
          </a:p>
          <a:p>
            <a:pPr lvl="1">
              <a:buFont typeface="Arial" pitchFamily="34" charset="0"/>
              <a:buChar char="•"/>
            </a:pPr>
            <a:r>
              <a:rPr lang="en-AU" sz="1200" kern="1200" dirty="0" smtClean="0">
                <a:solidFill>
                  <a:schemeClr val="tx1"/>
                </a:solidFill>
                <a:latin typeface="+mn-lt"/>
                <a:ea typeface="+mn-ea"/>
                <a:cs typeface="+mn-cs"/>
              </a:rPr>
              <a:t>Nominated business houses; Specific industry types or sectors</a:t>
            </a:r>
          </a:p>
          <a:p>
            <a:pPr marL="171450" lvl="0" indent="-171450">
              <a:buFont typeface="Arial" pitchFamily="34" charset="0"/>
              <a:buChar char="•"/>
            </a:pPr>
            <a:r>
              <a:rPr lang="en-AU" sz="1200" kern="1200" dirty="0" smtClean="0">
                <a:solidFill>
                  <a:schemeClr val="tx1"/>
                </a:solidFill>
                <a:latin typeface="+mn-lt"/>
                <a:ea typeface="+mn-ea"/>
                <a:cs typeface="+mn-cs"/>
              </a:rPr>
              <a:t>May be self-employed or employed by the businesses/industries they serve</a:t>
            </a:r>
          </a:p>
          <a:p>
            <a:pPr marL="171450" lvl="0" indent="-171450">
              <a:buFont typeface="Arial" pitchFamily="34" charset="0"/>
              <a:buChar char="•"/>
            </a:pPr>
            <a:r>
              <a:rPr lang="en-AU" sz="1200" kern="1200" dirty="0" smtClean="0">
                <a:solidFill>
                  <a:schemeClr val="tx1"/>
                </a:solidFill>
                <a:latin typeface="+mn-lt"/>
                <a:ea typeface="+mn-ea"/>
                <a:cs typeface="+mn-cs"/>
              </a:rPr>
              <a:t>Can operate (wholly or partially) on a ‘commission basis – based on the sales made to visitors/tour groups while they are at individual establishments.</a:t>
            </a:r>
          </a:p>
          <a:p>
            <a:r>
              <a:rPr lang="en-AU" sz="1200" b="1" kern="1200" dirty="0" smtClean="0">
                <a:solidFill>
                  <a:schemeClr val="tx1"/>
                </a:solidFill>
                <a:latin typeface="+mn-lt"/>
                <a:ea typeface="+mn-ea"/>
                <a:cs typeface="+mn-cs"/>
              </a:rPr>
              <a:t>Duration-based guides</a:t>
            </a:r>
          </a:p>
          <a:p>
            <a:r>
              <a:rPr lang="en-AU" sz="1200" kern="1200" dirty="0" smtClean="0">
                <a:solidFill>
                  <a:schemeClr val="tx1"/>
                </a:solidFill>
                <a:latin typeface="+mn-lt"/>
                <a:ea typeface="+mn-ea"/>
                <a:cs typeface="+mn-cs"/>
              </a:rPr>
              <a:t>These Tour Guides may be:</a:t>
            </a:r>
          </a:p>
          <a:p>
            <a:pPr marL="171450" lvl="0" indent="-171450">
              <a:buFont typeface="Arial" pitchFamily="34" charset="0"/>
              <a:buChar char="•"/>
            </a:pPr>
            <a:r>
              <a:rPr lang="en-AU" sz="1200" kern="1200" dirty="0" smtClean="0">
                <a:solidFill>
                  <a:schemeClr val="tx1"/>
                </a:solidFill>
                <a:latin typeface="+mn-lt"/>
                <a:ea typeface="+mn-ea"/>
                <a:cs typeface="+mn-cs"/>
              </a:rPr>
              <a:t>One-day Tour guides – leading tours of (generally) six to twelve hours duration</a:t>
            </a:r>
          </a:p>
          <a:p>
            <a:pPr marL="171450" lvl="0" indent="-171450">
              <a:buFont typeface="Arial" pitchFamily="34" charset="0"/>
              <a:buChar char="•"/>
            </a:pPr>
            <a:r>
              <a:rPr lang="en-AU" sz="1200" kern="1200" dirty="0" smtClean="0">
                <a:solidFill>
                  <a:schemeClr val="tx1"/>
                </a:solidFill>
                <a:latin typeface="+mn-lt"/>
                <a:ea typeface="+mn-ea"/>
                <a:cs typeface="+mn-cs"/>
              </a:rPr>
              <a:t>Extended Tour Guides – conducting multiple day tours.</a:t>
            </a:r>
          </a:p>
          <a:p>
            <a:r>
              <a:rPr lang="en-AU" sz="1200" kern="1200" dirty="0" smtClean="0">
                <a:solidFill>
                  <a:schemeClr val="tx1"/>
                </a:solidFill>
                <a:latin typeface="+mn-lt"/>
                <a:ea typeface="+mn-ea"/>
                <a:cs typeface="+mn-cs"/>
              </a:rPr>
              <a:t>They:</a:t>
            </a:r>
          </a:p>
          <a:p>
            <a:pPr marL="171450" lvl="0" indent="-171450">
              <a:buFont typeface="Arial" pitchFamily="34" charset="0"/>
              <a:buChar char="•"/>
            </a:pPr>
            <a:r>
              <a:rPr lang="en-AU" sz="1200" kern="1200" dirty="0" smtClean="0">
                <a:solidFill>
                  <a:schemeClr val="tx1"/>
                </a:solidFill>
                <a:latin typeface="+mn-lt"/>
                <a:ea typeface="+mn-ea"/>
                <a:cs typeface="+mn-cs"/>
              </a:rPr>
              <a:t>May be required to drive a vehicle – or may work in conjunction with a dedicated driver</a:t>
            </a:r>
          </a:p>
          <a:p>
            <a:pPr marL="171450" lvl="0" indent="-171450">
              <a:buFont typeface="Arial" pitchFamily="34" charset="0"/>
              <a:buChar char="•"/>
            </a:pPr>
            <a:r>
              <a:rPr lang="en-AU" sz="1200" kern="1200" dirty="0" smtClean="0">
                <a:solidFill>
                  <a:schemeClr val="tx1"/>
                </a:solidFill>
                <a:latin typeface="+mn-lt"/>
                <a:ea typeface="+mn-ea"/>
                <a:cs typeface="+mn-cs"/>
              </a:rPr>
              <a:t>May be required to cook/prepare meals – or may work with a dedicated cook</a:t>
            </a:r>
          </a:p>
          <a:p>
            <a:pPr marL="171450" lvl="0" indent="-171450">
              <a:buFont typeface="Arial" pitchFamily="34" charset="0"/>
              <a:buChar char="•"/>
            </a:pPr>
            <a:r>
              <a:rPr lang="en-AU" sz="1200" kern="1200" dirty="0" smtClean="0">
                <a:solidFill>
                  <a:schemeClr val="tx1"/>
                </a:solidFill>
                <a:latin typeface="+mn-lt"/>
                <a:ea typeface="+mn-ea"/>
                <a:cs typeface="+mn-cs"/>
              </a:rPr>
              <a:t>Can be a generalist Tour Guide – with general knowledge about an area and/or a range of topics, or a Specialised Tourist Guide</a:t>
            </a:r>
          </a:p>
          <a:p>
            <a:pPr marL="171450" lvl="0" indent="-171450">
              <a:buFont typeface="Arial" pitchFamily="34" charset="0"/>
              <a:buChar char="•"/>
            </a:pPr>
            <a:r>
              <a:rPr lang="en-AU" sz="1200" kern="1200" dirty="0" smtClean="0">
                <a:solidFill>
                  <a:schemeClr val="tx1"/>
                </a:solidFill>
                <a:latin typeface="+mn-lt"/>
                <a:ea typeface="+mn-ea"/>
                <a:cs typeface="+mn-cs"/>
              </a:rPr>
              <a:t>May be required to arrange and supervise accommodation of tour group members</a:t>
            </a:r>
          </a:p>
          <a:p>
            <a:pPr marL="171450" lvl="0" indent="-171450">
              <a:buFont typeface="Arial" pitchFamily="34" charset="0"/>
              <a:buChar char="•"/>
            </a:pPr>
            <a:r>
              <a:rPr lang="en-AU" sz="1200" kern="1200" dirty="0" smtClean="0">
                <a:solidFill>
                  <a:schemeClr val="tx1"/>
                </a:solidFill>
                <a:latin typeface="+mn-lt"/>
                <a:ea typeface="+mn-ea"/>
                <a:cs typeface="+mn-cs"/>
              </a:rPr>
              <a:t>Will need exceptional levels of interpersonal and communication skills – given the length and nature of the contact they have with visitors</a:t>
            </a:r>
          </a:p>
          <a:p>
            <a:pPr marL="171450" lvl="0" indent="-171450">
              <a:buFont typeface="Arial" pitchFamily="34" charset="0"/>
              <a:buChar char="•"/>
            </a:pPr>
            <a:r>
              <a:rPr lang="en-AU" sz="1200" kern="1200" dirty="0" smtClean="0">
                <a:solidFill>
                  <a:schemeClr val="tx1"/>
                </a:solidFill>
                <a:latin typeface="+mn-lt"/>
                <a:ea typeface="+mn-ea"/>
                <a:cs typeface="+mn-cs"/>
              </a:rPr>
              <a:t>Must monitor group dynamics more than other types of Tour Guides given the longer duration of tours and the greater potential for problems to arise. </a:t>
            </a:r>
          </a:p>
          <a:p>
            <a:r>
              <a:rPr lang="en-AU" sz="1200" b="1" kern="1200" dirty="0" smtClean="0">
                <a:solidFill>
                  <a:schemeClr val="tx1"/>
                </a:solidFill>
                <a:latin typeface="+mn-lt"/>
                <a:ea typeface="+mn-ea"/>
                <a:cs typeface="+mn-cs"/>
              </a:rPr>
              <a:t>Driver guide</a:t>
            </a:r>
          </a:p>
          <a:p>
            <a:r>
              <a:rPr lang="en-AU" sz="1200" kern="1200" dirty="0" smtClean="0">
                <a:solidFill>
                  <a:schemeClr val="tx1"/>
                </a:solidFill>
                <a:latin typeface="+mn-lt"/>
                <a:ea typeface="+mn-ea"/>
                <a:cs typeface="+mn-cs"/>
              </a:rPr>
              <a:t>These Tour Guides:</a:t>
            </a:r>
          </a:p>
          <a:p>
            <a:pPr marL="171450" lvl="0" indent="-171450">
              <a:buFont typeface="Arial" pitchFamily="34" charset="0"/>
              <a:buChar char="•"/>
            </a:pPr>
            <a:r>
              <a:rPr lang="en-AU" sz="1200" kern="1200" dirty="0" smtClean="0">
                <a:solidFill>
                  <a:schemeClr val="tx1"/>
                </a:solidFill>
                <a:latin typeface="+mn-lt"/>
                <a:ea typeface="+mn-ea"/>
                <a:cs typeface="+mn-cs"/>
              </a:rPr>
              <a:t>May be any classification of Tour Guide as identified above – who combine their other Tour Guide duties with driving a vehicle</a:t>
            </a:r>
          </a:p>
          <a:p>
            <a:pPr marL="171450" lvl="0" indent="-171450">
              <a:buFont typeface="Arial" pitchFamily="34" charset="0"/>
              <a:buChar char="•"/>
            </a:pPr>
            <a:r>
              <a:rPr lang="en-AU" sz="1200" kern="1200" dirty="0" smtClean="0">
                <a:solidFill>
                  <a:schemeClr val="tx1"/>
                </a:solidFill>
                <a:latin typeface="+mn-lt"/>
                <a:ea typeface="+mn-ea"/>
                <a:cs typeface="+mn-cs"/>
              </a:rPr>
              <a:t>Often need to hold a nominated type of driving licence as appropriate to the type of vehicle being driven – which may be:</a:t>
            </a:r>
          </a:p>
          <a:p>
            <a:pPr marL="628650" lvl="1" indent="-171450">
              <a:buFont typeface="Arial" pitchFamily="34" charset="0"/>
              <a:buChar char="•"/>
            </a:pPr>
            <a:r>
              <a:rPr lang="en-AU" sz="1200" kern="1200" dirty="0" smtClean="0">
                <a:solidFill>
                  <a:schemeClr val="tx1"/>
                </a:solidFill>
                <a:latin typeface="+mn-lt"/>
                <a:ea typeface="+mn-ea"/>
                <a:cs typeface="+mn-cs"/>
              </a:rPr>
              <a:t>A car or van with limited passenger capacity; A four-wheel drive vehicle – especially on adventure/remote area tours; A bus or coach</a:t>
            </a:r>
          </a:p>
          <a:p>
            <a:pPr marL="171450" lvl="0" indent="-171450">
              <a:buFont typeface="Arial" pitchFamily="34" charset="0"/>
              <a:buChar char="•"/>
            </a:pPr>
            <a:r>
              <a:rPr lang="en-AU" sz="1200" kern="1200" dirty="0" smtClean="0">
                <a:solidFill>
                  <a:schemeClr val="tx1"/>
                </a:solidFill>
                <a:latin typeface="+mn-lt"/>
                <a:ea typeface="+mn-ea"/>
                <a:cs typeface="+mn-cs"/>
              </a:rPr>
              <a:t>May drive:</a:t>
            </a:r>
          </a:p>
          <a:p>
            <a:pPr marL="628650" lvl="1" indent="-171450">
              <a:buFont typeface="Arial" pitchFamily="34" charset="0"/>
              <a:buChar char="•"/>
            </a:pPr>
            <a:r>
              <a:rPr lang="en-AU" sz="1200" kern="1200" dirty="0" smtClean="0">
                <a:solidFill>
                  <a:schemeClr val="tx1"/>
                </a:solidFill>
                <a:latin typeface="+mn-lt"/>
                <a:ea typeface="+mn-ea"/>
                <a:cs typeface="+mn-cs"/>
              </a:rPr>
              <a:t>Vehicles on public roads; Conveyances within the boundaries of attractions – such as tractor-trains</a:t>
            </a:r>
          </a:p>
          <a:p>
            <a:pPr marL="171450" lvl="0" indent="-171450">
              <a:buFont typeface="Arial" pitchFamily="34" charset="0"/>
              <a:buChar char="•"/>
            </a:pPr>
            <a:r>
              <a:rPr lang="en-AU" sz="1200" kern="1200" dirty="0" smtClean="0">
                <a:solidFill>
                  <a:schemeClr val="tx1"/>
                </a:solidFill>
                <a:latin typeface="+mn-lt"/>
                <a:ea typeface="+mn-ea"/>
                <a:cs typeface="+mn-cs"/>
              </a:rPr>
              <a:t>Will often need to have:</a:t>
            </a:r>
          </a:p>
          <a:p>
            <a:pPr marL="628650" lvl="1" indent="-171450">
              <a:buFont typeface="Arial" pitchFamily="34" charset="0"/>
              <a:buChar char="•"/>
            </a:pPr>
            <a:r>
              <a:rPr lang="en-AU" sz="1200" kern="1200" dirty="0" smtClean="0">
                <a:solidFill>
                  <a:schemeClr val="tx1"/>
                </a:solidFill>
                <a:latin typeface="+mn-lt"/>
                <a:ea typeface="+mn-ea"/>
                <a:cs typeface="+mn-cs"/>
              </a:rPr>
              <a:t>Specialist driving training; Nominated experience/ability with vehicle maintenance and repairs.</a:t>
            </a:r>
          </a:p>
          <a:p>
            <a:pPr>
              <a:buFont typeface="Arial" pitchFamily="34" charset="0"/>
              <a:buNone/>
            </a:pPr>
            <a:endParaRPr lang="en-US" baseline="0" noProof="0" dirty="0" smtClean="0"/>
          </a:p>
          <a:p>
            <a:pPr>
              <a:buFont typeface="Arial" pitchFamily="34" charset="0"/>
              <a:buNone/>
            </a:pPr>
            <a:r>
              <a:rPr lang="en-US" b="1" noProof="0" dirty="0" smtClean="0"/>
              <a:t>Class Activity – Guest Speakers</a:t>
            </a:r>
          </a:p>
          <a:p>
            <a:pPr>
              <a:buFont typeface="Arial" pitchFamily="34" charset="0"/>
              <a:buNone/>
            </a:pPr>
            <a:r>
              <a:rPr lang="en-US" b="0" noProof="0" dirty="0" smtClean="0"/>
              <a:t>Trainer arranges for Tour Guides of the type identified on the slide to attend and talk about their role, functions and responsibilities.</a:t>
            </a:r>
            <a:endParaRPr lang="en-AU" b="0" noProof="0" dirty="0" smtClean="0"/>
          </a:p>
          <a:p>
            <a:pPr>
              <a:buFont typeface="Arial" pitchFamily="34" charset="0"/>
              <a:buNone/>
            </a:pPr>
            <a:endParaRPr lang="en-US"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6030856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leads discussions on industry terms and their definition/interpretation:</a:t>
            </a:r>
          </a:p>
          <a:p>
            <a:r>
              <a:rPr lang="en-AU" sz="1200" b="1" kern="1200" dirty="0" smtClean="0">
                <a:solidFill>
                  <a:schemeClr val="tx1"/>
                </a:solidFill>
                <a:latin typeface="+mn-lt"/>
                <a:ea typeface="+mn-ea"/>
                <a:cs typeface="+mn-cs"/>
              </a:rPr>
              <a:t>All inclusive tour</a:t>
            </a:r>
          </a:p>
          <a:p>
            <a:pPr marL="171450" indent="-171450">
              <a:buFont typeface="Arial" pitchFamily="34" charset="0"/>
              <a:buChar char="•"/>
            </a:pPr>
            <a:r>
              <a:rPr lang="en-AU" sz="1200" kern="1200" dirty="0" smtClean="0">
                <a:solidFill>
                  <a:schemeClr val="tx1"/>
                </a:solidFill>
                <a:latin typeface="+mn-lt"/>
                <a:ea typeface="+mn-ea"/>
                <a:cs typeface="+mn-cs"/>
              </a:rPr>
              <a:t>An all inclusive tour is (more or less) what the name implies</a:t>
            </a:r>
          </a:p>
          <a:p>
            <a:pPr marL="171450" indent="-171450">
              <a:buFont typeface="Arial" pitchFamily="34" charset="0"/>
              <a:buChar char="•"/>
            </a:pPr>
            <a:r>
              <a:rPr lang="en-AU" sz="1200" kern="1200" dirty="0" smtClean="0">
                <a:solidFill>
                  <a:schemeClr val="tx1"/>
                </a:solidFill>
                <a:latin typeface="+mn-lt"/>
                <a:ea typeface="+mn-ea"/>
                <a:cs typeface="+mn-cs"/>
              </a:rPr>
              <a:t>It is a tour where all of the inclusions are included in the purchase price. All inclusive tours generally apply to coach and sea travel/cruises</a:t>
            </a:r>
          </a:p>
          <a:p>
            <a:pPr marL="171450" indent="-171450">
              <a:buFont typeface="Arial" pitchFamily="34" charset="0"/>
              <a:buChar char="•"/>
            </a:pPr>
            <a:r>
              <a:rPr lang="en-AU" sz="1200" kern="1200" dirty="0" smtClean="0">
                <a:solidFill>
                  <a:schemeClr val="tx1"/>
                </a:solidFill>
                <a:latin typeface="+mn-lt"/>
                <a:ea typeface="+mn-ea"/>
                <a:cs typeface="+mn-cs"/>
              </a:rPr>
              <a:t>The exact nature of these inclusions will vary depending on the tour and, of course, they can also vary between providers/Tour Operators</a:t>
            </a:r>
          </a:p>
          <a:p>
            <a:pPr marL="171450" indent="-171450">
              <a:buFont typeface="Arial" pitchFamily="34" charset="0"/>
              <a:buChar char="•"/>
            </a:pPr>
            <a:r>
              <a:rPr lang="en-AU" sz="1200" kern="1200" dirty="0" smtClean="0">
                <a:solidFill>
                  <a:schemeClr val="tx1"/>
                </a:solidFill>
                <a:latin typeface="+mn-lt"/>
                <a:ea typeface="+mn-ea"/>
                <a:cs typeface="+mn-cs"/>
              </a:rPr>
              <a:t>Common inclusions are:</a:t>
            </a:r>
          </a:p>
          <a:p>
            <a:pPr marL="628650" lvl="1" indent="-171450">
              <a:buFont typeface="Arial" pitchFamily="34" charset="0"/>
              <a:buChar char="•"/>
            </a:pPr>
            <a:r>
              <a:rPr lang="en-AU" sz="1200" kern="1200" dirty="0" smtClean="0">
                <a:solidFill>
                  <a:schemeClr val="tx1"/>
                </a:solidFill>
                <a:latin typeface="+mn-lt"/>
                <a:ea typeface="+mn-ea"/>
                <a:cs typeface="+mn-cs"/>
              </a:rPr>
              <a:t>Tickets/fares/travel; Transfers; Accommodation; Meals; Certain beverages – alcohol is usually not included; Side trips and sight-seeing; Listed activities – excursions, attractions, events, entertainment; On-site services/facilities – gymnasium, sports, spa, games; Tips/gratuities.</a:t>
            </a:r>
          </a:p>
          <a:p>
            <a:pPr>
              <a:buFont typeface="Arial" pitchFamily="34" charset="0"/>
              <a:buNone/>
            </a:pPr>
            <a:r>
              <a:rPr lang="en-US" noProof="0" dirty="0" smtClean="0"/>
              <a:t> </a:t>
            </a:r>
            <a:endParaRPr lang="en-AU" noProof="0" dirty="0" smtClean="0"/>
          </a:p>
          <a:p>
            <a:pPr>
              <a:buFont typeface="Arial" pitchFamily="34" charset="0"/>
              <a:buNone/>
            </a:pPr>
            <a:r>
              <a:rPr lang="en-US" b="1" noProof="0" dirty="0" smtClean="0"/>
              <a:t>Class</a:t>
            </a:r>
            <a:r>
              <a:rPr lang="en-US" b="1" baseline="0" noProof="0" dirty="0" smtClean="0"/>
              <a:t> Activity – Handouts</a:t>
            </a:r>
          </a:p>
          <a:p>
            <a:pPr>
              <a:buFont typeface="Arial" pitchFamily="34" charset="0"/>
              <a:buNone/>
            </a:pPr>
            <a:r>
              <a:rPr lang="en-US" b="0" baseline="0" noProof="0" dirty="0" smtClean="0"/>
              <a:t>Trainer distributes and discusses promotional materials from Tour Operators advertising the tour type identified on the slide.</a:t>
            </a:r>
            <a:endParaRPr lang="en-US" b="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367813094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US" noProof="0" dirty="0" smtClean="0"/>
              <a:t>Trainer continues leading discussions on industry terms and their definition/interpretation:</a:t>
            </a:r>
          </a:p>
          <a:p>
            <a:r>
              <a:rPr lang="en-AU" sz="1200" b="1" kern="1200" dirty="0" smtClean="0">
                <a:solidFill>
                  <a:schemeClr val="tx1"/>
                </a:solidFill>
                <a:latin typeface="+mn-lt"/>
                <a:ea typeface="+mn-ea"/>
                <a:cs typeface="+mn-cs"/>
              </a:rPr>
              <a:t>Escorted tour</a:t>
            </a:r>
          </a:p>
          <a:p>
            <a:pPr marL="171450" indent="-171450">
              <a:buFont typeface="Arial" pitchFamily="34" charset="0"/>
              <a:buChar char="•"/>
            </a:pPr>
            <a:r>
              <a:rPr lang="en-AU" sz="1200" kern="1200" dirty="0" smtClean="0">
                <a:solidFill>
                  <a:schemeClr val="tx1"/>
                </a:solidFill>
                <a:latin typeface="+mn-lt"/>
                <a:ea typeface="+mn-ea"/>
                <a:cs typeface="+mn-cs"/>
              </a:rPr>
              <a:t>An escorted tour is a group tour where the travel agent or organising agency provides a Tour Guide (or tour group leader or ‘tour director’) who escorts the tour group members for the duration of the tour</a:t>
            </a:r>
          </a:p>
          <a:p>
            <a:pPr marL="171450" indent="-171450">
              <a:buFont typeface="Arial" pitchFamily="34" charset="0"/>
              <a:buChar char="•"/>
            </a:pPr>
            <a:r>
              <a:rPr lang="en-AU" sz="1200" kern="1200" dirty="0" smtClean="0">
                <a:solidFill>
                  <a:schemeClr val="tx1"/>
                </a:solidFill>
                <a:latin typeface="+mn-lt"/>
                <a:ea typeface="+mn-ea"/>
                <a:cs typeface="+mn-cs"/>
              </a:rPr>
              <a:t>An escorted tour is distinct from a self-guided tour where the traveller makes their own arrangements and makes their own way</a:t>
            </a:r>
          </a:p>
          <a:p>
            <a:pPr marL="171450" indent="-171450">
              <a:buFont typeface="Arial" pitchFamily="34" charset="0"/>
              <a:buChar char="•"/>
            </a:pPr>
            <a:r>
              <a:rPr lang="en-AU" sz="1200" kern="1200" dirty="0" smtClean="0">
                <a:solidFill>
                  <a:schemeClr val="tx1"/>
                </a:solidFill>
                <a:latin typeface="+mn-lt"/>
                <a:ea typeface="+mn-ea"/>
                <a:cs typeface="+mn-cs"/>
              </a:rPr>
              <a:t>Escorted tours may be sea-based or land-based, and generally all inclusive</a:t>
            </a:r>
          </a:p>
          <a:p>
            <a:pPr marL="171450" indent="-171450">
              <a:buFont typeface="Arial" pitchFamily="34" charset="0"/>
              <a:buChar char="•"/>
            </a:pPr>
            <a:r>
              <a:rPr lang="en-AU" sz="1200" kern="1200" dirty="0" smtClean="0">
                <a:solidFill>
                  <a:schemeClr val="tx1"/>
                </a:solidFill>
                <a:latin typeface="+mn-lt"/>
                <a:ea typeface="+mn-ea"/>
                <a:cs typeface="+mn-cs"/>
              </a:rPr>
              <a:t>Many people prefer an escorted tour as they fell safer and believe they will have less problems and/or get more from the experience when in the presence of an experienced leader.</a:t>
            </a:r>
          </a:p>
          <a:p>
            <a:pPr marL="171450" indent="-171450">
              <a:buFont typeface="Arial" pitchFamily="34" charset="0"/>
              <a:buChar char="•"/>
            </a:pPr>
            <a:r>
              <a:rPr lang="en-AU" sz="1200" kern="1200" dirty="0" smtClean="0">
                <a:solidFill>
                  <a:schemeClr val="tx1"/>
                </a:solidFill>
                <a:latin typeface="+mn-lt"/>
                <a:ea typeface="+mn-ea"/>
                <a:cs typeface="+mn-cs"/>
              </a:rPr>
              <a:t>The tour leader will:</a:t>
            </a:r>
          </a:p>
          <a:p>
            <a:pPr marL="628650" lvl="1" indent="-171450">
              <a:buFont typeface="Arial" pitchFamily="34" charset="0"/>
              <a:buChar char="•"/>
            </a:pPr>
            <a:r>
              <a:rPr lang="en-AU" sz="1200" kern="1200" dirty="0" smtClean="0">
                <a:solidFill>
                  <a:schemeClr val="tx1"/>
                </a:solidFill>
                <a:latin typeface="+mn-lt"/>
                <a:ea typeface="+mn-ea"/>
                <a:cs typeface="+mn-cs"/>
              </a:rPr>
              <a:t>Assist with boarding protocols when getting on a coach, ship, train or other transport</a:t>
            </a:r>
          </a:p>
          <a:p>
            <a:pPr marL="628650" lvl="1" indent="-171450">
              <a:buFont typeface="Arial" pitchFamily="34" charset="0"/>
              <a:buChar char="•"/>
            </a:pPr>
            <a:r>
              <a:rPr lang="en-AU" sz="1200" kern="1200" dirty="0" smtClean="0">
                <a:solidFill>
                  <a:schemeClr val="tx1"/>
                </a:solidFill>
                <a:latin typeface="+mn-lt"/>
                <a:ea typeface="+mn-ea"/>
                <a:cs typeface="+mn-cs"/>
              </a:rPr>
              <a:t>Facilitate check-in at hotels and entry to attractions and other sites</a:t>
            </a:r>
          </a:p>
          <a:p>
            <a:pPr marL="628650" lvl="1" indent="-171450">
              <a:buFont typeface="Arial" pitchFamily="34" charset="0"/>
              <a:buChar char="•"/>
            </a:pPr>
            <a:r>
              <a:rPr lang="en-AU" sz="1200" kern="1200" dirty="0" smtClean="0">
                <a:solidFill>
                  <a:schemeClr val="tx1"/>
                </a:solidFill>
                <a:latin typeface="+mn-lt"/>
                <a:ea typeface="+mn-ea"/>
                <a:cs typeface="+mn-cs"/>
              </a:rPr>
              <a:t>Help solve problems which may relate to customs, immigration, local laws and customs</a:t>
            </a:r>
          </a:p>
          <a:p>
            <a:pPr marL="628650" lvl="1" indent="-171450">
              <a:buFont typeface="Arial" pitchFamily="34" charset="0"/>
              <a:buChar char="•"/>
            </a:pPr>
            <a:r>
              <a:rPr lang="en-AU" sz="1200" kern="1200" dirty="0" smtClean="0">
                <a:solidFill>
                  <a:schemeClr val="tx1"/>
                </a:solidFill>
                <a:latin typeface="+mn-lt"/>
                <a:ea typeface="+mn-ea"/>
                <a:cs typeface="+mn-cs"/>
              </a:rPr>
              <a:t>Provide advice and information in relation to the areas/sires visited</a:t>
            </a:r>
          </a:p>
          <a:p>
            <a:pPr marL="628650" lvl="1" indent="-171450">
              <a:buFont typeface="Arial" pitchFamily="34" charset="0"/>
              <a:buChar char="•"/>
            </a:pPr>
            <a:r>
              <a:rPr lang="en-AU" sz="1200" kern="1200" dirty="0" smtClean="0">
                <a:solidFill>
                  <a:schemeClr val="tx1"/>
                </a:solidFill>
                <a:latin typeface="+mn-lt"/>
                <a:ea typeface="+mn-ea"/>
                <a:cs typeface="+mn-cs"/>
              </a:rPr>
              <a:t>Liaise as required with local officials, businesses and individuals</a:t>
            </a:r>
          </a:p>
          <a:p>
            <a:pPr marL="628650" lvl="1" indent="-171450">
              <a:buFont typeface="Arial" pitchFamily="34" charset="0"/>
              <a:buChar char="•"/>
            </a:pPr>
            <a:r>
              <a:rPr lang="en-AU" sz="1200" kern="1200" dirty="0" smtClean="0">
                <a:solidFill>
                  <a:schemeClr val="tx1"/>
                </a:solidFill>
                <a:latin typeface="+mn-lt"/>
                <a:ea typeface="+mn-ea"/>
                <a:cs typeface="+mn-cs"/>
              </a:rPr>
              <a:t>Monitor the safety and security of the group and take appropriate action when needed</a:t>
            </a:r>
          </a:p>
          <a:p>
            <a:pPr marL="628650" lvl="1" indent="-171450">
              <a:buFont typeface="Arial" pitchFamily="34" charset="0"/>
              <a:buChar char="•"/>
            </a:pPr>
            <a:r>
              <a:rPr lang="en-AU" sz="1200" kern="1200" dirty="0" smtClean="0">
                <a:solidFill>
                  <a:schemeClr val="tx1"/>
                </a:solidFill>
                <a:latin typeface="+mn-lt"/>
                <a:ea typeface="+mn-ea"/>
                <a:cs typeface="+mn-cs"/>
              </a:rPr>
              <a:t>Manage the tour group and address any interpersonal issues which may arise. </a:t>
            </a:r>
          </a:p>
          <a:p>
            <a:pPr>
              <a:buFont typeface="Arial" pitchFamily="34" charset="0"/>
              <a:buNone/>
            </a:pPr>
            <a:endParaRPr lang="en-US" noProof="0" dirty="0" smtClean="0"/>
          </a:p>
          <a:p>
            <a:pPr>
              <a:buFont typeface="Arial" pitchFamily="34" charset="0"/>
              <a:buNone/>
            </a:pPr>
            <a:r>
              <a:rPr lang="en-US" b="1" noProof="0" dirty="0" smtClean="0"/>
              <a:t>Class</a:t>
            </a:r>
            <a:r>
              <a:rPr lang="en-US" b="1" baseline="0" noProof="0" dirty="0" smtClean="0"/>
              <a:t> Activity – Handouts</a:t>
            </a:r>
          </a:p>
          <a:p>
            <a:pPr>
              <a:buFont typeface="Arial" pitchFamily="34" charset="0"/>
              <a:buNone/>
            </a:pPr>
            <a:r>
              <a:rPr lang="en-US" b="0" baseline="0" noProof="0" dirty="0" smtClean="0"/>
              <a:t>Trainer distributes and discusses promotional materials from Tour Operators advertising the tour type identified on the slide.</a:t>
            </a:r>
            <a:endParaRPr lang="en-US" b="0" noProof="0" dirty="0" smtClean="0"/>
          </a:p>
          <a:p>
            <a:pPr>
              <a:buFont typeface="Arial" pitchFamily="34" charset="0"/>
              <a:buNone/>
            </a:pPr>
            <a:endParaRPr lang="en-US"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32787756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leading discussions on industry terms and their definition/interpretation:</a:t>
            </a:r>
          </a:p>
          <a:p>
            <a:r>
              <a:rPr lang="en-AU" sz="1200" b="1" kern="1200" dirty="0" smtClean="0">
                <a:solidFill>
                  <a:schemeClr val="tx1"/>
                </a:solidFill>
                <a:latin typeface="+mn-lt"/>
                <a:ea typeface="+mn-ea"/>
                <a:cs typeface="+mn-cs"/>
              </a:rPr>
              <a:t>Fully independent tour</a:t>
            </a:r>
          </a:p>
          <a:p>
            <a:pPr marL="171450" indent="-171450">
              <a:buFont typeface="Arial" pitchFamily="34" charset="0"/>
              <a:buChar char="•"/>
            </a:pPr>
            <a:r>
              <a:rPr lang="en-AU" sz="1200" kern="1200" dirty="0" smtClean="0">
                <a:solidFill>
                  <a:schemeClr val="tx1"/>
                </a:solidFill>
                <a:latin typeface="+mn-lt"/>
                <a:ea typeface="+mn-ea"/>
                <a:cs typeface="+mn-cs"/>
              </a:rPr>
              <a:t>This is an unescorted tour</a:t>
            </a:r>
          </a:p>
          <a:p>
            <a:pPr marL="171450" indent="-171450">
              <a:buFont typeface="Arial" pitchFamily="34" charset="0"/>
              <a:buChar char="•"/>
            </a:pPr>
            <a:r>
              <a:rPr lang="en-AU" sz="1200" kern="1200" dirty="0" smtClean="0">
                <a:solidFill>
                  <a:schemeClr val="tx1"/>
                </a:solidFill>
                <a:latin typeface="+mn-lt"/>
                <a:ea typeface="+mn-ea"/>
                <a:cs typeface="+mn-cs"/>
              </a:rPr>
              <a:t>The client purchases a package deal/tour – called a Fully Independent Package – (which may include travel, accommodation, meals, admission to sites/attractions, car hire) from an agent or Tour Operator and then undertakes the trip on their own without a tour leader or Guide </a:t>
            </a:r>
          </a:p>
          <a:p>
            <a:pPr marL="171450" indent="-171450">
              <a:buFont typeface="Arial" pitchFamily="34" charset="0"/>
              <a:buChar char="•"/>
            </a:pPr>
            <a:r>
              <a:rPr lang="en-AU" sz="1200" kern="1200" dirty="0" smtClean="0">
                <a:solidFill>
                  <a:schemeClr val="tx1"/>
                </a:solidFill>
                <a:latin typeface="+mn-lt"/>
                <a:ea typeface="+mn-ea"/>
                <a:cs typeface="+mn-cs"/>
              </a:rPr>
              <a:t>This gives the customer the benefit of a planned tour but the flexibility/freedom to do (within the constraints of the itinerary) what they want, when they want.</a:t>
            </a:r>
          </a:p>
          <a:p>
            <a:pPr>
              <a:buFont typeface="Arial" pitchFamily="34" charset="0"/>
              <a:buNone/>
            </a:pPr>
            <a:endParaRPr lang="en-US" noProof="0" dirty="0" smtClean="0"/>
          </a:p>
          <a:p>
            <a:pPr>
              <a:buFont typeface="Arial" pitchFamily="34" charset="0"/>
              <a:buNone/>
            </a:pPr>
            <a:r>
              <a:rPr lang="en-US" b="1" noProof="0" dirty="0" smtClean="0"/>
              <a:t>Class</a:t>
            </a:r>
            <a:r>
              <a:rPr lang="en-US" b="1" baseline="0" noProof="0" dirty="0" smtClean="0"/>
              <a:t> Activity – Handouts</a:t>
            </a:r>
          </a:p>
          <a:p>
            <a:pPr>
              <a:buFont typeface="Arial" pitchFamily="34" charset="0"/>
              <a:buNone/>
            </a:pPr>
            <a:r>
              <a:rPr lang="en-US" b="0" baseline="0" noProof="0" dirty="0" smtClean="0"/>
              <a:t>Trainer distributes and discusses promotional materials from Tour Operators advertising the tour type identified on the slide.</a:t>
            </a:r>
            <a:endParaRPr lang="en-US" b="0" noProof="0" dirty="0" smtClean="0"/>
          </a:p>
          <a:p>
            <a:pPr>
              <a:buFont typeface="Arial" pitchFamily="34" charset="0"/>
              <a:buNone/>
            </a:pPr>
            <a:endParaRPr lang="en-US"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36009537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leading discussions on industry terms and their definition/interpretation:</a:t>
            </a:r>
          </a:p>
          <a:p>
            <a:r>
              <a:rPr lang="en-AU" sz="1200" b="1" kern="1200" dirty="0" smtClean="0">
                <a:solidFill>
                  <a:schemeClr val="tx1"/>
                </a:solidFill>
                <a:latin typeface="+mn-lt"/>
                <a:ea typeface="+mn-ea"/>
                <a:cs typeface="+mn-cs"/>
              </a:rPr>
              <a:t>Group inclusive tour</a:t>
            </a:r>
          </a:p>
          <a:p>
            <a:pPr marL="171450" indent="-171450">
              <a:buFont typeface="Arial" pitchFamily="34" charset="0"/>
              <a:buChar char="•"/>
            </a:pPr>
            <a:r>
              <a:rPr lang="en-AU" sz="1200" kern="1200" dirty="0" smtClean="0">
                <a:solidFill>
                  <a:schemeClr val="tx1"/>
                </a:solidFill>
                <a:latin typeface="+mn-lt"/>
                <a:ea typeface="+mn-ea"/>
                <a:cs typeface="+mn-cs"/>
              </a:rPr>
              <a:t>A GIT is a tour arranged for, or bought by, a group from an agent or Tour Operator</a:t>
            </a:r>
          </a:p>
          <a:p>
            <a:pPr marL="171450" indent="-171450">
              <a:buFont typeface="Arial" pitchFamily="34" charset="0"/>
              <a:buChar char="•"/>
            </a:pPr>
            <a:r>
              <a:rPr lang="en-AU" sz="1200" kern="1200" dirty="0" smtClean="0">
                <a:solidFill>
                  <a:schemeClr val="tx1"/>
                </a:solidFill>
                <a:latin typeface="+mn-lt"/>
                <a:ea typeface="+mn-ea"/>
                <a:cs typeface="+mn-cs"/>
              </a:rPr>
              <a:t>All members of the group follow the same itinerary and have access to the same inclusions</a:t>
            </a:r>
          </a:p>
          <a:p>
            <a:pPr marL="171450" indent="-171450">
              <a:buFont typeface="Arial" pitchFamily="34" charset="0"/>
              <a:buChar char="•"/>
            </a:pPr>
            <a:r>
              <a:rPr lang="en-AU" sz="1200" kern="1200" dirty="0" smtClean="0">
                <a:solidFill>
                  <a:schemeClr val="tx1"/>
                </a:solidFill>
                <a:latin typeface="+mn-lt"/>
                <a:ea typeface="+mn-ea"/>
                <a:cs typeface="+mn-cs"/>
              </a:rPr>
              <a:t>It may be escorted or unescorted</a:t>
            </a:r>
          </a:p>
          <a:p>
            <a:pPr marL="171450" indent="-171450">
              <a:buFont typeface="Arial" pitchFamily="34" charset="0"/>
              <a:buChar char="•"/>
            </a:pPr>
            <a:r>
              <a:rPr lang="en-AU" sz="1200" kern="1200" dirty="0" smtClean="0">
                <a:solidFill>
                  <a:schemeClr val="tx1"/>
                </a:solidFill>
                <a:latin typeface="+mn-lt"/>
                <a:ea typeface="+mn-ea"/>
                <a:cs typeface="+mn-cs"/>
              </a:rPr>
              <a:t>It is ‘inclusive’ because it contains the traditional inclusions of travel, accommodation, meals, admissions, insurance, and transfers</a:t>
            </a:r>
          </a:p>
          <a:p>
            <a:pPr marL="171450" indent="-171450">
              <a:buFont typeface="Arial" pitchFamily="34" charset="0"/>
              <a:buChar char="•"/>
            </a:pPr>
            <a:r>
              <a:rPr lang="en-AU" sz="1200" kern="1200" dirty="0" smtClean="0">
                <a:solidFill>
                  <a:schemeClr val="tx1"/>
                </a:solidFill>
                <a:latin typeface="+mn-lt"/>
                <a:ea typeface="+mn-ea"/>
                <a:cs typeface="+mn-cs"/>
              </a:rPr>
              <a:t>GITs are attractive to groups because the purchase price is usually less than the sum of the elements comprising the package.</a:t>
            </a:r>
          </a:p>
          <a:p>
            <a:pPr>
              <a:buFont typeface="Arial" pitchFamily="34" charset="0"/>
              <a:buNone/>
            </a:pPr>
            <a:endParaRPr lang="en-US" b="1" noProof="0" dirty="0" smtClean="0"/>
          </a:p>
          <a:p>
            <a:pPr>
              <a:buFont typeface="Arial" pitchFamily="34" charset="0"/>
              <a:buNone/>
            </a:pPr>
            <a:r>
              <a:rPr lang="en-US" b="1" noProof="0" dirty="0" smtClean="0"/>
              <a:t>Class</a:t>
            </a:r>
            <a:r>
              <a:rPr lang="en-US" b="1" baseline="0" noProof="0" dirty="0" smtClean="0"/>
              <a:t> Activity – Handouts</a:t>
            </a:r>
          </a:p>
          <a:p>
            <a:pPr>
              <a:buFont typeface="Arial" pitchFamily="34" charset="0"/>
              <a:buNone/>
            </a:pPr>
            <a:r>
              <a:rPr lang="en-US" b="0" baseline="0" noProof="0" dirty="0" smtClean="0"/>
              <a:t>Trainer distributes and discusses promotional materials from Tour Operators advertising the tour type identified on the slide.</a:t>
            </a:r>
            <a:endParaRPr lang="en-US" b="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22652122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leading discussions on industry terms and their definition/interpretation:</a:t>
            </a:r>
          </a:p>
          <a:p>
            <a:r>
              <a:rPr lang="en-AU" sz="1200" b="1" kern="1200" dirty="0" smtClean="0">
                <a:solidFill>
                  <a:schemeClr val="tx1"/>
                </a:solidFill>
                <a:latin typeface="+mn-lt"/>
                <a:ea typeface="+mn-ea"/>
                <a:cs typeface="+mn-cs"/>
              </a:rPr>
              <a:t>Itinerary </a:t>
            </a:r>
          </a:p>
          <a:p>
            <a:pPr marL="171450" indent="-171450">
              <a:buFont typeface="Arial" pitchFamily="34" charset="0"/>
              <a:buChar char="•"/>
            </a:pPr>
            <a:r>
              <a:rPr lang="en-AU" sz="1200" kern="1200" dirty="0" smtClean="0">
                <a:solidFill>
                  <a:schemeClr val="tx1"/>
                </a:solidFill>
                <a:latin typeface="+mn-lt"/>
                <a:ea typeface="+mn-ea"/>
                <a:cs typeface="+mn-cs"/>
              </a:rPr>
              <a:t>An itinerary is the plan for a trip </a:t>
            </a:r>
          </a:p>
          <a:p>
            <a:pPr marL="171450" indent="-171450">
              <a:buFont typeface="Arial" pitchFamily="34" charset="0"/>
              <a:buChar char="•"/>
            </a:pPr>
            <a:r>
              <a:rPr lang="en-AU" sz="1200" kern="1200" dirty="0" smtClean="0">
                <a:solidFill>
                  <a:schemeClr val="tx1"/>
                </a:solidFill>
                <a:latin typeface="+mn-lt"/>
                <a:ea typeface="+mn-ea"/>
                <a:cs typeface="+mn-cs"/>
              </a:rPr>
              <a:t>Itineraries are developed for travel by air, sea and road (coach trips and extended trips using other land-based options)</a:t>
            </a:r>
          </a:p>
          <a:p>
            <a:pPr marL="171450" indent="-171450">
              <a:buFont typeface="Arial" pitchFamily="34" charset="0"/>
              <a:buChar char="•"/>
            </a:pPr>
            <a:r>
              <a:rPr lang="en-AU" sz="1200" kern="1200" dirty="0" smtClean="0">
                <a:solidFill>
                  <a:schemeClr val="tx1"/>
                </a:solidFill>
                <a:latin typeface="+mn-lt"/>
                <a:ea typeface="+mn-ea"/>
                <a:cs typeface="+mn-cs"/>
              </a:rPr>
              <a:t>An itinerary is commonly provided for every trip and all travel sold, and provided to the client</a:t>
            </a:r>
          </a:p>
          <a:p>
            <a:pPr marL="171450" indent="-171450">
              <a:buFont typeface="Arial" pitchFamily="34" charset="0"/>
              <a:buChar char="•"/>
            </a:pPr>
            <a:r>
              <a:rPr lang="en-AU" sz="1200" kern="1200" dirty="0" smtClean="0">
                <a:solidFill>
                  <a:schemeClr val="tx1"/>
                </a:solidFill>
                <a:latin typeface="+mn-lt"/>
                <a:ea typeface="+mn-ea"/>
                <a:cs typeface="+mn-cs"/>
              </a:rPr>
              <a:t>It may list:</a:t>
            </a:r>
          </a:p>
          <a:p>
            <a:pPr marL="171450" lvl="0" indent="-171450">
              <a:buFont typeface="Arial" pitchFamily="34" charset="0"/>
              <a:buChar char="•"/>
            </a:pPr>
            <a:r>
              <a:rPr lang="en-AU" sz="1200" kern="1200" dirty="0" smtClean="0">
                <a:solidFill>
                  <a:schemeClr val="tx1"/>
                </a:solidFill>
                <a:latin typeface="+mn-lt"/>
                <a:ea typeface="+mn-ea"/>
                <a:cs typeface="+mn-cs"/>
              </a:rPr>
              <a:t>Name and contact details of the organisation which has organised/sold the trip, tour or travel</a:t>
            </a:r>
          </a:p>
          <a:p>
            <a:pPr marL="628650" lvl="1" indent="-171450">
              <a:buFont typeface="Arial" pitchFamily="34" charset="0"/>
              <a:buChar char="•"/>
            </a:pPr>
            <a:r>
              <a:rPr lang="en-AU" sz="1200" kern="1200" dirty="0" smtClean="0">
                <a:solidFill>
                  <a:schemeClr val="tx1"/>
                </a:solidFill>
                <a:latin typeface="+mn-lt"/>
                <a:ea typeface="+mn-ea"/>
                <a:cs typeface="+mn-cs"/>
              </a:rPr>
              <a:t>Name of client</a:t>
            </a:r>
          </a:p>
          <a:p>
            <a:pPr marL="628650" lvl="1" indent="-171450">
              <a:buFont typeface="Arial" pitchFamily="34" charset="0"/>
              <a:buChar char="•"/>
            </a:pPr>
            <a:r>
              <a:rPr lang="en-AU" sz="1200" kern="1200" dirty="0" smtClean="0">
                <a:solidFill>
                  <a:schemeClr val="tx1"/>
                </a:solidFill>
                <a:latin typeface="+mn-lt"/>
                <a:ea typeface="+mn-ea"/>
                <a:cs typeface="+mn-cs"/>
              </a:rPr>
              <a:t>Dates and times – of travel (arrivals and departures) as well as trip time </a:t>
            </a:r>
          </a:p>
          <a:p>
            <a:pPr marL="628650" lvl="1" indent="-171450">
              <a:buFont typeface="Arial" pitchFamily="34" charset="0"/>
              <a:buChar char="•"/>
            </a:pPr>
            <a:r>
              <a:rPr lang="en-AU" sz="1200" kern="1200" dirty="0" smtClean="0">
                <a:solidFill>
                  <a:schemeClr val="tx1"/>
                </a:solidFill>
                <a:latin typeface="+mn-lt"/>
                <a:ea typeface="+mn-ea"/>
                <a:cs typeface="+mn-cs"/>
              </a:rPr>
              <a:t>Destinations</a:t>
            </a:r>
          </a:p>
          <a:p>
            <a:pPr marL="628650" lvl="1" indent="-171450">
              <a:buFont typeface="Arial" pitchFamily="34" charset="0"/>
              <a:buChar char="•"/>
            </a:pPr>
            <a:r>
              <a:rPr lang="en-AU" sz="1200" kern="1200" dirty="0" smtClean="0">
                <a:solidFill>
                  <a:schemeClr val="tx1"/>
                </a:solidFill>
                <a:latin typeface="+mn-lt"/>
                <a:ea typeface="+mn-ea"/>
                <a:cs typeface="+mn-cs"/>
              </a:rPr>
              <a:t>Activities</a:t>
            </a:r>
          </a:p>
          <a:p>
            <a:pPr marL="628650" lvl="1" indent="-171450">
              <a:buFont typeface="Arial" pitchFamily="34" charset="0"/>
              <a:buChar char="•"/>
            </a:pPr>
            <a:r>
              <a:rPr lang="en-AU" sz="1200" kern="1200" dirty="0" smtClean="0">
                <a:solidFill>
                  <a:schemeClr val="tx1"/>
                </a:solidFill>
                <a:latin typeface="+mn-lt"/>
                <a:ea typeface="+mn-ea"/>
                <a:cs typeface="+mn-cs"/>
              </a:rPr>
              <a:t>Modes of travel</a:t>
            </a:r>
          </a:p>
          <a:p>
            <a:pPr marL="628650" lvl="1" indent="-171450">
              <a:buFont typeface="Arial" pitchFamily="34" charset="0"/>
              <a:buChar char="•"/>
            </a:pPr>
            <a:r>
              <a:rPr lang="en-AU" sz="1200" kern="1200" dirty="0" smtClean="0">
                <a:solidFill>
                  <a:schemeClr val="tx1"/>
                </a:solidFill>
                <a:latin typeface="+mn-lt"/>
                <a:ea typeface="+mn-ea"/>
                <a:cs typeface="+mn-cs"/>
              </a:rPr>
              <a:t>Transportation details – such as name of vessel, flight number</a:t>
            </a:r>
          </a:p>
          <a:p>
            <a:pPr marL="628650" lvl="1" indent="-171450">
              <a:buFont typeface="Arial" pitchFamily="34" charset="0"/>
              <a:buChar char="•"/>
            </a:pPr>
            <a:r>
              <a:rPr lang="en-AU" sz="1200" kern="1200" dirty="0" smtClean="0">
                <a:solidFill>
                  <a:schemeClr val="tx1"/>
                </a:solidFill>
                <a:latin typeface="+mn-lt"/>
                <a:ea typeface="+mn-ea"/>
                <a:cs typeface="+mn-cs"/>
              </a:rPr>
              <a:t>Accommodation arrangements – name of facility/hotel, room type, room number, dates</a:t>
            </a:r>
          </a:p>
          <a:p>
            <a:pPr marL="628650" lvl="1" indent="-171450">
              <a:buFont typeface="Arial" pitchFamily="34" charset="0"/>
              <a:buChar char="•"/>
            </a:pPr>
            <a:r>
              <a:rPr lang="en-AU" sz="1200" kern="1200" dirty="0" smtClean="0">
                <a:solidFill>
                  <a:schemeClr val="tx1"/>
                </a:solidFill>
                <a:latin typeface="+mn-lt"/>
                <a:ea typeface="+mn-ea"/>
                <a:cs typeface="+mn-cs"/>
              </a:rPr>
              <a:t>Terms and conditions – for carriers, accommodation and other service providers</a:t>
            </a:r>
          </a:p>
          <a:p>
            <a:pPr marL="628650" lvl="1" indent="-171450">
              <a:buFont typeface="Arial" pitchFamily="34" charset="0"/>
              <a:buChar char="•"/>
            </a:pPr>
            <a:r>
              <a:rPr lang="en-AU" sz="1200" kern="1200" dirty="0" smtClean="0">
                <a:solidFill>
                  <a:schemeClr val="tx1"/>
                </a:solidFill>
                <a:latin typeface="+mn-lt"/>
                <a:ea typeface="+mn-ea"/>
                <a:cs typeface="+mn-cs"/>
              </a:rPr>
              <a:t>Specific requirements relating to the travel/destinations – such as:</a:t>
            </a:r>
          </a:p>
          <a:p>
            <a:pPr marL="628650" lvl="1" indent="-171450">
              <a:buFont typeface="Arial" pitchFamily="34" charset="0"/>
              <a:buChar char="•"/>
            </a:pPr>
            <a:r>
              <a:rPr lang="en-AU" sz="1200" kern="1200" dirty="0" smtClean="0">
                <a:solidFill>
                  <a:schemeClr val="tx1"/>
                </a:solidFill>
                <a:latin typeface="+mn-lt"/>
                <a:ea typeface="+mn-ea"/>
                <a:cs typeface="+mn-cs"/>
              </a:rPr>
              <a:t>Visa requirements</a:t>
            </a:r>
          </a:p>
          <a:p>
            <a:pPr marL="628650" lvl="1" indent="-171450">
              <a:buFont typeface="Arial" pitchFamily="34" charset="0"/>
              <a:buChar char="•"/>
            </a:pPr>
            <a:r>
              <a:rPr lang="en-AU" sz="1200" kern="1200" dirty="0" smtClean="0">
                <a:solidFill>
                  <a:schemeClr val="tx1"/>
                </a:solidFill>
                <a:latin typeface="+mn-lt"/>
                <a:ea typeface="+mn-ea"/>
                <a:cs typeface="+mn-cs"/>
              </a:rPr>
              <a:t>Health issues</a:t>
            </a:r>
          </a:p>
          <a:p>
            <a:pPr marL="628650" lvl="1" indent="-171450">
              <a:buFont typeface="Arial" pitchFamily="34" charset="0"/>
              <a:buChar char="•"/>
            </a:pPr>
            <a:r>
              <a:rPr lang="en-AU" sz="1200" kern="1200" dirty="0" smtClean="0">
                <a:solidFill>
                  <a:schemeClr val="tx1"/>
                </a:solidFill>
                <a:latin typeface="+mn-lt"/>
                <a:ea typeface="+mn-ea"/>
                <a:cs typeface="+mn-cs"/>
              </a:rPr>
              <a:t>Time to arrive prior to departure</a:t>
            </a:r>
          </a:p>
          <a:p>
            <a:pPr marL="628650" lvl="1" indent="-171450">
              <a:buFont typeface="Arial" pitchFamily="34" charset="0"/>
              <a:buChar char="•"/>
            </a:pPr>
            <a:r>
              <a:rPr lang="en-AU" sz="1200" kern="1200" dirty="0" smtClean="0">
                <a:solidFill>
                  <a:schemeClr val="tx1"/>
                </a:solidFill>
                <a:latin typeface="+mn-lt"/>
                <a:ea typeface="+mn-ea"/>
                <a:cs typeface="+mn-cs"/>
              </a:rPr>
              <a:t>Customs and immigration requirements.</a:t>
            </a:r>
          </a:p>
          <a:p>
            <a:pPr marL="171450" indent="-171450">
              <a:buFont typeface="Arial" pitchFamily="34" charset="0"/>
              <a:buChar char="•"/>
            </a:pPr>
            <a:r>
              <a:rPr lang="en-AU" sz="1200" kern="1200" dirty="0" smtClean="0">
                <a:solidFill>
                  <a:schemeClr val="tx1"/>
                </a:solidFill>
                <a:latin typeface="+mn-lt"/>
                <a:ea typeface="+mn-ea"/>
                <a:cs typeface="+mn-cs"/>
              </a:rPr>
              <a:t>When the itinerary is provided the company may also supply additional promotional materials and/or merchandise such as:</a:t>
            </a:r>
          </a:p>
          <a:p>
            <a:pPr marL="628650" lvl="1" indent="-171450">
              <a:buFont typeface="Arial" pitchFamily="34" charset="0"/>
              <a:buChar char="•"/>
            </a:pPr>
            <a:r>
              <a:rPr lang="en-AU" sz="1200" kern="1200" dirty="0" smtClean="0">
                <a:solidFill>
                  <a:schemeClr val="tx1"/>
                </a:solidFill>
                <a:latin typeface="+mn-lt"/>
                <a:ea typeface="+mn-ea"/>
                <a:cs typeface="+mn-cs"/>
              </a:rPr>
              <a:t>Travel bags</a:t>
            </a:r>
          </a:p>
          <a:p>
            <a:pPr marL="628650" lvl="1" indent="-171450">
              <a:buFont typeface="Arial" pitchFamily="34" charset="0"/>
              <a:buChar char="•"/>
            </a:pPr>
            <a:r>
              <a:rPr lang="en-AU" sz="1200" kern="1200" dirty="0" smtClean="0">
                <a:solidFill>
                  <a:schemeClr val="tx1"/>
                </a:solidFill>
                <a:latin typeface="+mn-lt"/>
                <a:ea typeface="+mn-ea"/>
                <a:cs typeface="+mn-cs"/>
              </a:rPr>
              <a:t>Luggage tags</a:t>
            </a:r>
          </a:p>
          <a:p>
            <a:pPr marL="628650" lvl="1" indent="-171450">
              <a:buFont typeface="Arial" pitchFamily="34" charset="0"/>
              <a:buChar char="•"/>
            </a:pPr>
            <a:r>
              <a:rPr lang="en-AU" sz="1200" kern="1200" dirty="0" smtClean="0">
                <a:solidFill>
                  <a:schemeClr val="tx1"/>
                </a:solidFill>
                <a:latin typeface="+mn-lt"/>
                <a:ea typeface="+mn-ea"/>
                <a:cs typeface="+mn-cs"/>
              </a:rPr>
              <a:t>Maps</a:t>
            </a:r>
          </a:p>
          <a:p>
            <a:pPr marL="628650" lvl="1" indent="-171450">
              <a:buFont typeface="Arial" pitchFamily="34" charset="0"/>
              <a:buChar char="•"/>
            </a:pPr>
            <a:r>
              <a:rPr lang="en-AU" sz="1200" kern="1200" dirty="0" smtClean="0">
                <a:solidFill>
                  <a:schemeClr val="tx1"/>
                </a:solidFill>
                <a:latin typeface="+mn-lt"/>
                <a:ea typeface="+mn-ea"/>
                <a:cs typeface="+mn-cs"/>
              </a:rPr>
              <a:t>Fact/information sheets – about the carriers, destinations, specific topics which may be the focus of the type of trip/travel being undertaken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noProof="0" dirty="0" smtClean="0"/>
          </a:p>
          <a:p>
            <a:pPr>
              <a:buFont typeface="Arial" pitchFamily="34" charset="0"/>
              <a:buNone/>
            </a:pPr>
            <a:r>
              <a:rPr lang="en-US" b="1" noProof="0" dirty="0" smtClean="0"/>
              <a:t>Class</a:t>
            </a:r>
            <a:r>
              <a:rPr lang="en-US" b="1" baseline="0" noProof="0" dirty="0" smtClean="0"/>
              <a:t> Activity – Handouts</a:t>
            </a:r>
          </a:p>
          <a:p>
            <a:pPr>
              <a:buFont typeface="Arial" pitchFamily="34" charset="0"/>
              <a:buNone/>
            </a:pPr>
            <a:r>
              <a:rPr lang="en-US" b="0" baseline="0" noProof="0" dirty="0" smtClean="0"/>
              <a:t>Trainer distributes and discusses sample itineraries.</a:t>
            </a:r>
            <a:endParaRPr lang="en-US" b="0" noProof="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extLst>
      <p:ext uri="{BB962C8B-B14F-4D97-AF65-F5344CB8AC3E}">
        <p14:creationId xmlns:p14="http://schemas.microsoft.com/office/powerpoint/2010/main" val="7453212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leading discussions on industry terms and their definition/interpretation:</a:t>
            </a:r>
          </a:p>
          <a:p>
            <a:r>
              <a:rPr lang="en-AU" sz="1200" b="1" kern="1200" dirty="0" smtClean="0">
                <a:solidFill>
                  <a:schemeClr val="tx1"/>
                </a:solidFill>
                <a:latin typeface="+mn-lt"/>
                <a:ea typeface="+mn-ea"/>
                <a:cs typeface="+mn-cs"/>
              </a:rPr>
              <a:t>Seat in Coach</a:t>
            </a:r>
          </a:p>
          <a:p>
            <a:pPr marL="171450" indent="-171450">
              <a:buFont typeface="Arial" pitchFamily="34" charset="0"/>
              <a:buChar char="•"/>
            </a:pPr>
            <a:r>
              <a:rPr lang="en-AU" sz="1200" kern="1200" dirty="0" smtClean="0">
                <a:solidFill>
                  <a:schemeClr val="tx1"/>
                </a:solidFill>
                <a:latin typeface="+mn-lt"/>
                <a:ea typeface="+mn-ea"/>
                <a:cs typeface="+mn-cs"/>
              </a:rPr>
              <a:t>Also known as ‘Seat in Vehicle’ this term refers to tours where the customer has purchased a ticket (on a coach, or other vehicle)</a:t>
            </a:r>
          </a:p>
          <a:p>
            <a:pPr marL="171450" indent="-171450">
              <a:buFont typeface="Arial" pitchFamily="34" charset="0"/>
              <a:buChar char="•"/>
            </a:pPr>
            <a:r>
              <a:rPr lang="en-AU" sz="1200" kern="1200" dirty="0" smtClean="0">
                <a:solidFill>
                  <a:schemeClr val="tx1"/>
                </a:solidFill>
                <a:latin typeface="+mn-lt"/>
                <a:ea typeface="+mn-ea"/>
                <a:cs typeface="+mn-cs"/>
              </a:rPr>
              <a:t>This provides a much cheaper way of travelling (when compared to a private tour)</a:t>
            </a:r>
          </a:p>
          <a:p>
            <a:pPr marL="171450" indent="-171450">
              <a:buFont typeface="Arial" pitchFamily="34" charset="0"/>
              <a:buChar char="•"/>
            </a:pPr>
            <a:r>
              <a:rPr lang="en-AU" sz="1200" kern="1200" dirty="0" smtClean="0">
                <a:solidFill>
                  <a:schemeClr val="tx1"/>
                </a:solidFill>
                <a:latin typeface="+mn-lt"/>
                <a:ea typeface="+mn-ea"/>
                <a:cs typeface="+mn-cs"/>
              </a:rPr>
              <a:t>Seats </a:t>
            </a:r>
            <a:r>
              <a:rPr lang="en-AU" sz="1200" i="1" kern="1200" dirty="0" smtClean="0">
                <a:solidFill>
                  <a:schemeClr val="tx1"/>
                </a:solidFill>
                <a:latin typeface="+mn-lt"/>
                <a:ea typeface="+mn-ea"/>
                <a:cs typeface="+mn-cs"/>
              </a:rPr>
              <a:t>may</a:t>
            </a:r>
            <a:r>
              <a:rPr lang="en-AU" sz="1200" kern="1200" dirty="0" smtClean="0">
                <a:solidFill>
                  <a:schemeClr val="tx1"/>
                </a:solidFill>
                <a:latin typeface="+mn-lt"/>
                <a:ea typeface="+mn-ea"/>
                <a:cs typeface="+mn-cs"/>
              </a:rPr>
              <a:t> not be allocated and a ‘first come, first served’ basis may apply, making this a potential issue for couples, groups and families</a:t>
            </a:r>
          </a:p>
          <a:p>
            <a:pPr marL="171450" indent="-171450">
              <a:buFont typeface="Arial" pitchFamily="34" charset="0"/>
              <a:buChar char="•"/>
            </a:pPr>
            <a:r>
              <a:rPr lang="en-AU" sz="1200" kern="1200" dirty="0" smtClean="0">
                <a:solidFill>
                  <a:schemeClr val="tx1"/>
                </a:solidFill>
                <a:latin typeface="+mn-lt"/>
                <a:ea typeface="+mn-ea"/>
                <a:cs typeface="+mn-cs"/>
              </a:rPr>
              <a:t>The purchase of a ticket simply guarantees a seat</a:t>
            </a:r>
          </a:p>
          <a:p>
            <a:pPr marL="171450" indent="-171450">
              <a:buFont typeface="Arial" pitchFamily="34" charset="0"/>
              <a:buChar char="•"/>
            </a:pPr>
            <a:r>
              <a:rPr lang="en-AU" sz="1200" kern="1200" dirty="0" smtClean="0">
                <a:solidFill>
                  <a:schemeClr val="tx1"/>
                </a:solidFill>
                <a:latin typeface="+mn-lt"/>
                <a:ea typeface="+mn-ea"/>
                <a:cs typeface="+mn-cs"/>
              </a:rPr>
              <a:t>Such arrangements are popular/common for airport/cruise centre transfers and for short-distance sight-seeing trips.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extLst>
      <p:ext uri="{BB962C8B-B14F-4D97-AF65-F5344CB8AC3E}">
        <p14:creationId xmlns:p14="http://schemas.microsoft.com/office/powerpoint/2010/main" val="13166393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advises:</a:t>
            </a:r>
          </a:p>
          <a:p>
            <a:pPr marL="171450" indent="-171450">
              <a:buFont typeface="Arial" pitchFamily="34" charset="0"/>
              <a:buChar char="•"/>
            </a:pPr>
            <a:r>
              <a:rPr lang="en-AU" sz="1200" kern="1200" dirty="0" smtClean="0">
                <a:solidFill>
                  <a:schemeClr val="tx1"/>
                </a:solidFill>
                <a:latin typeface="+mn-lt"/>
                <a:ea typeface="+mn-ea"/>
                <a:cs typeface="+mn-cs"/>
              </a:rPr>
              <a:t>Tour Guides may be required to lead:</a:t>
            </a:r>
          </a:p>
          <a:p>
            <a:pPr marL="628650" lvl="1" indent="-171450">
              <a:buFont typeface="Arial" pitchFamily="34" charset="0"/>
              <a:buChar char="•"/>
            </a:pPr>
            <a:r>
              <a:rPr lang="en-AU" sz="1200" kern="1200" dirty="0" smtClean="0">
                <a:solidFill>
                  <a:schemeClr val="tx1"/>
                </a:solidFill>
                <a:latin typeface="+mn-lt"/>
                <a:ea typeface="+mn-ea"/>
                <a:cs typeface="+mn-cs"/>
              </a:rPr>
              <a:t>Domestic tour parties – local nationals who wish to participate in a tour experience</a:t>
            </a:r>
          </a:p>
          <a:p>
            <a:pPr marL="628650" lvl="1" indent="-171450">
              <a:buFont typeface="Arial" pitchFamily="34" charset="0"/>
              <a:buChar char="•"/>
            </a:pPr>
            <a:r>
              <a:rPr lang="en-AU" sz="1200" kern="1200" dirty="0" smtClean="0">
                <a:solidFill>
                  <a:schemeClr val="tx1"/>
                </a:solidFill>
                <a:latin typeface="+mn-lt"/>
                <a:ea typeface="+mn-ea"/>
                <a:cs typeface="+mn-cs"/>
              </a:rPr>
              <a:t>International tour parties – who may be:</a:t>
            </a:r>
          </a:p>
          <a:p>
            <a:pPr marL="1085850" lvl="2" indent="-171450">
              <a:buFont typeface="Arial" pitchFamily="34" charset="0"/>
              <a:buChar char="•"/>
            </a:pPr>
            <a:r>
              <a:rPr lang="en-AU" sz="1200" kern="1200" dirty="0" smtClean="0">
                <a:solidFill>
                  <a:schemeClr val="tx1"/>
                </a:solidFill>
                <a:latin typeface="+mn-lt"/>
                <a:ea typeface="+mn-ea"/>
                <a:cs typeface="+mn-cs"/>
              </a:rPr>
              <a:t>Structured groups engaging in an organised tour – which often are focused on a central theme or range of themes</a:t>
            </a:r>
          </a:p>
          <a:p>
            <a:pPr marL="1085850" lvl="2" indent="-171450">
              <a:buFont typeface="Arial" pitchFamily="34" charset="0"/>
              <a:buChar char="•"/>
            </a:pPr>
            <a:r>
              <a:rPr lang="en-AU" sz="1200" kern="1200" dirty="0" smtClean="0">
                <a:solidFill>
                  <a:schemeClr val="tx1"/>
                </a:solidFill>
                <a:latin typeface="+mn-lt"/>
                <a:ea typeface="+mn-ea"/>
                <a:cs typeface="+mn-cs"/>
              </a:rPr>
              <a:t>FITs participating in random tours, trips or excursions – to suit their individual needs as represented by the type of tour they have chosen.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extLst>
      <p:ext uri="{BB962C8B-B14F-4D97-AF65-F5344CB8AC3E}">
        <p14:creationId xmlns:p14="http://schemas.microsoft.com/office/powerpoint/2010/main" val="38214151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noProof="0" dirty="0" smtClean="0"/>
              <a:t>Trainer notes </a:t>
            </a:r>
            <a:r>
              <a:rPr lang="en-AU" sz="1200" kern="1200" dirty="0" smtClean="0">
                <a:solidFill>
                  <a:schemeClr val="tx1"/>
                </a:solidFill>
                <a:latin typeface="+mn-lt"/>
                <a:ea typeface="+mn-ea"/>
                <a:cs typeface="+mn-cs"/>
              </a:rPr>
              <a:t>tour groups may be:</a:t>
            </a:r>
          </a:p>
          <a:p>
            <a:pPr marL="171450" lvl="0" indent="-171450">
              <a:buFont typeface="Arial" pitchFamily="34" charset="0"/>
              <a:buChar char="•"/>
            </a:pPr>
            <a:r>
              <a:rPr lang="en-AU" sz="1200" kern="1200" dirty="0" smtClean="0">
                <a:solidFill>
                  <a:schemeClr val="tx1"/>
                </a:solidFill>
                <a:latin typeface="+mn-lt"/>
                <a:ea typeface="+mn-ea"/>
                <a:cs typeface="+mn-cs"/>
              </a:rPr>
              <a:t>Package groups – who have purchased this tour as part of a bigger package, trip or travel arrangements</a:t>
            </a:r>
          </a:p>
          <a:p>
            <a:pPr marL="628650" lvl="1" indent="-171450">
              <a:buFont typeface="Arial" pitchFamily="34" charset="0"/>
              <a:buChar char="•"/>
            </a:pPr>
            <a:r>
              <a:rPr lang="en-AU" sz="1200" kern="1200" dirty="0" smtClean="0">
                <a:solidFill>
                  <a:schemeClr val="tx1"/>
                </a:solidFill>
                <a:latin typeface="+mn-lt"/>
                <a:ea typeface="+mn-ea"/>
                <a:cs typeface="+mn-cs"/>
              </a:rPr>
              <a:t>These groups may or may not have a specific common interest. Often they are simply general-interest groups who share common demographic characteristics such as age, marital status, and/or country of origin.</a:t>
            </a:r>
          </a:p>
          <a:p>
            <a:pPr marL="171450" lvl="0" indent="-171450">
              <a:buFont typeface="Arial" pitchFamily="34" charset="0"/>
              <a:buChar char="•"/>
            </a:pPr>
            <a:r>
              <a:rPr lang="en-AU" sz="1200" kern="1200" dirty="0" smtClean="0">
                <a:solidFill>
                  <a:schemeClr val="tx1"/>
                </a:solidFill>
                <a:latin typeface="+mn-lt"/>
                <a:ea typeface="+mn-ea"/>
                <a:cs typeface="+mn-cs"/>
              </a:rPr>
              <a:t>Public tour groups – are groups comprising members of the general public</a:t>
            </a:r>
          </a:p>
          <a:p>
            <a:pPr marL="628650" lvl="1" indent="-171450">
              <a:buFont typeface="Arial" pitchFamily="34" charset="0"/>
              <a:buChar char="•"/>
            </a:pPr>
            <a:r>
              <a:rPr lang="en-AU" sz="1200" kern="1200" dirty="0" smtClean="0">
                <a:solidFill>
                  <a:schemeClr val="tx1"/>
                </a:solidFill>
                <a:latin typeface="+mn-lt"/>
                <a:ea typeface="+mn-ea"/>
                <a:cs typeface="+mn-cs"/>
              </a:rPr>
              <a:t>They are commonly (but not always) characterised by:</a:t>
            </a:r>
          </a:p>
          <a:p>
            <a:pPr marL="1085850" lvl="2" indent="-171450">
              <a:buFont typeface="Arial" pitchFamily="34" charset="0"/>
              <a:buChar char="•"/>
            </a:pPr>
            <a:r>
              <a:rPr lang="en-AU" sz="1200" kern="1200" dirty="0" smtClean="0">
                <a:solidFill>
                  <a:schemeClr val="tx1"/>
                </a:solidFill>
                <a:latin typeface="+mn-lt"/>
                <a:ea typeface="+mn-ea"/>
                <a:cs typeface="+mn-cs"/>
              </a:rPr>
              <a:t>Diversity of characteristics</a:t>
            </a:r>
          </a:p>
          <a:p>
            <a:pPr marL="1085850" lvl="2" indent="-171450">
              <a:buFont typeface="Arial" pitchFamily="34" charset="0"/>
              <a:buChar char="•"/>
            </a:pPr>
            <a:r>
              <a:rPr lang="en-AU" sz="1200" kern="1200" dirty="0" smtClean="0">
                <a:solidFill>
                  <a:schemeClr val="tx1"/>
                </a:solidFill>
                <a:latin typeface="+mn-lt"/>
                <a:ea typeface="+mn-ea"/>
                <a:cs typeface="+mn-cs"/>
              </a:rPr>
              <a:t>Being free-of-charge</a:t>
            </a:r>
          </a:p>
          <a:p>
            <a:pPr marL="1085850" lvl="2" indent="-171450">
              <a:buFont typeface="Arial" pitchFamily="34" charset="0"/>
              <a:buChar char="•"/>
            </a:pPr>
            <a:r>
              <a:rPr lang="en-AU" sz="1200" kern="1200" dirty="0" smtClean="0">
                <a:solidFill>
                  <a:schemeClr val="tx1"/>
                </a:solidFill>
                <a:latin typeface="+mn-lt"/>
                <a:ea typeface="+mn-ea"/>
                <a:cs typeface="+mn-cs"/>
              </a:rPr>
              <a:t>Operating on a first-come, first served basis – that is, often there is no reservation/booking facility</a:t>
            </a:r>
          </a:p>
          <a:p>
            <a:pPr marL="1085850" lvl="2" indent="-171450">
              <a:buFont typeface="Arial" pitchFamily="34" charset="0"/>
              <a:buChar char="•"/>
            </a:pPr>
            <a:r>
              <a:rPr lang="en-AU" sz="1200" kern="1200" dirty="0" smtClean="0">
                <a:solidFill>
                  <a:schemeClr val="tx1"/>
                </a:solidFill>
                <a:latin typeface="+mn-lt"/>
                <a:ea typeface="+mn-ea"/>
                <a:cs typeface="+mn-cs"/>
              </a:rPr>
              <a:t>Relatively short duration.</a:t>
            </a:r>
          </a:p>
          <a:p>
            <a:pPr marL="171450" lvl="0" indent="-171450">
              <a:buFont typeface="Arial" pitchFamily="34" charset="0"/>
              <a:buChar char="•"/>
            </a:pPr>
            <a:r>
              <a:rPr lang="en-AU" sz="1200" kern="1200" dirty="0" smtClean="0">
                <a:solidFill>
                  <a:schemeClr val="tx1"/>
                </a:solidFill>
                <a:latin typeface="+mn-lt"/>
                <a:ea typeface="+mn-ea"/>
                <a:cs typeface="+mn-cs"/>
              </a:rPr>
              <a:t>Students – a growing market for tours is students</a:t>
            </a:r>
          </a:p>
          <a:p>
            <a:pPr marL="628650" lvl="1" indent="-171450">
              <a:buFont typeface="Arial" pitchFamily="34" charset="0"/>
              <a:buChar char="•"/>
            </a:pPr>
            <a:r>
              <a:rPr lang="en-AU" sz="1200" kern="1200" dirty="0" smtClean="0">
                <a:solidFill>
                  <a:schemeClr val="tx1"/>
                </a:solidFill>
                <a:latin typeface="+mn-lt"/>
                <a:ea typeface="+mn-ea"/>
                <a:cs typeface="+mn-cs"/>
              </a:rPr>
              <a:t>Their tour is generally:</a:t>
            </a:r>
          </a:p>
          <a:p>
            <a:pPr marL="1085850" lvl="2" indent="-171450">
              <a:buFont typeface="Arial" pitchFamily="34" charset="0"/>
              <a:buChar char="•"/>
            </a:pPr>
            <a:r>
              <a:rPr lang="en-AU" sz="1200" kern="1200" dirty="0" smtClean="0">
                <a:solidFill>
                  <a:schemeClr val="tx1"/>
                </a:solidFill>
                <a:latin typeface="+mn-lt"/>
                <a:ea typeface="+mn-ea"/>
                <a:cs typeface="+mn-cs"/>
              </a:rPr>
              <a:t>Arranged by the school they attend</a:t>
            </a:r>
          </a:p>
          <a:p>
            <a:pPr marL="1085850" lvl="2" indent="-171450">
              <a:buFont typeface="Arial" pitchFamily="34" charset="0"/>
              <a:buChar char="•"/>
            </a:pPr>
            <a:r>
              <a:rPr lang="en-AU" sz="1200" kern="1200" dirty="0" smtClean="0">
                <a:solidFill>
                  <a:schemeClr val="tx1"/>
                </a:solidFill>
                <a:latin typeface="+mn-lt"/>
                <a:ea typeface="+mn-ea"/>
                <a:cs typeface="+mn-cs"/>
              </a:rPr>
              <a:t>Conducted to address specific curriculum-based topics</a:t>
            </a:r>
          </a:p>
          <a:p>
            <a:pPr marL="1085850" lvl="2" indent="-171450">
              <a:buFont typeface="Arial" pitchFamily="34" charset="0"/>
              <a:buChar char="•"/>
            </a:pPr>
            <a:r>
              <a:rPr lang="en-AU" sz="1200" kern="1200" dirty="0" smtClean="0">
                <a:solidFill>
                  <a:schemeClr val="tx1"/>
                </a:solidFill>
                <a:latin typeface="+mn-lt"/>
                <a:ea typeface="+mn-ea"/>
                <a:cs typeface="+mn-cs"/>
              </a:rPr>
              <a:t>Required to include experiential learning activities</a:t>
            </a:r>
          </a:p>
          <a:p>
            <a:pPr marL="1085850" lvl="2" indent="-171450">
              <a:buFont typeface="Arial" pitchFamily="34" charset="0"/>
              <a:buChar char="•"/>
            </a:pPr>
            <a:r>
              <a:rPr lang="en-AU" sz="1200" kern="1200" dirty="0" smtClean="0">
                <a:solidFill>
                  <a:schemeClr val="tx1"/>
                </a:solidFill>
                <a:latin typeface="+mn-lt"/>
                <a:ea typeface="+mn-ea"/>
                <a:cs typeface="+mn-cs"/>
              </a:rPr>
              <a:t>Very time-oriented – there are usually strictly defined time parameters for arrival, activities, meals, departures</a:t>
            </a:r>
          </a:p>
          <a:p>
            <a:pPr marL="1085850" lvl="2" indent="-171450">
              <a:buFont typeface="Arial" pitchFamily="34" charset="0"/>
              <a:buChar char="•"/>
            </a:pPr>
            <a:r>
              <a:rPr lang="en-AU" sz="1200" kern="1200" dirty="0" smtClean="0">
                <a:solidFill>
                  <a:schemeClr val="tx1"/>
                </a:solidFill>
                <a:latin typeface="+mn-lt"/>
                <a:ea typeface="+mn-ea"/>
                <a:cs typeface="+mn-cs"/>
              </a:rPr>
              <a:t>Restricted in terms of what the participants can be expected to spend during the tour – student groups historically spend markedly less (on food, merchandise and similar) than other groups.</a:t>
            </a:r>
          </a:p>
          <a:p>
            <a:pPr marL="171450" lvl="0" indent="-171450">
              <a:buFont typeface="Arial" pitchFamily="34" charset="0"/>
              <a:buChar char="•"/>
            </a:pPr>
            <a:r>
              <a:rPr lang="en-AU" sz="1200" kern="1200" dirty="0" smtClean="0">
                <a:solidFill>
                  <a:schemeClr val="tx1"/>
                </a:solidFill>
                <a:latin typeface="+mn-lt"/>
                <a:ea typeface="+mn-ea"/>
                <a:cs typeface="+mn-cs"/>
              </a:rPr>
              <a:t>Families and friends – many operators and destinations actively promote themselves to family groups declaring they are ‘family friendly’ </a:t>
            </a:r>
          </a:p>
          <a:p>
            <a:pPr marL="628650" lvl="1" indent="-171450">
              <a:buFont typeface="Arial" pitchFamily="34" charset="0"/>
              <a:buChar char="•"/>
            </a:pPr>
            <a:r>
              <a:rPr lang="en-AU" sz="1200" kern="1200" dirty="0" smtClean="0">
                <a:solidFill>
                  <a:schemeClr val="tx1"/>
                </a:solidFill>
                <a:latin typeface="+mn-lt"/>
                <a:ea typeface="+mn-ea"/>
                <a:cs typeface="+mn-cs"/>
              </a:rPr>
              <a:t>These groups:</a:t>
            </a:r>
          </a:p>
          <a:p>
            <a:pPr marL="1085850" lvl="2" indent="-171450">
              <a:buFont typeface="Arial" pitchFamily="34" charset="0"/>
              <a:buChar char="•"/>
            </a:pPr>
            <a:r>
              <a:rPr lang="en-AU" sz="1200" kern="1200" dirty="0" smtClean="0">
                <a:solidFill>
                  <a:schemeClr val="tx1"/>
                </a:solidFill>
                <a:latin typeface="+mn-lt"/>
                <a:ea typeface="+mn-ea"/>
                <a:cs typeface="+mn-cs"/>
              </a:rPr>
              <a:t>Expect facilities to support their family orientation – such as baby change facilities, children-friendly menus, games, rides, activities and staff</a:t>
            </a:r>
          </a:p>
          <a:p>
            <a:pPr marL="1085850" lvl="2" indent="-171450">
              <a:buFont typeface="Arial" pitchFamily="34" charset="0"/>
              <a:buChar char="•"/>
            </a:pPr>
            <a:r>
              <a:rPr lang="en-AU" sz="1200" kern="1200" dirty="0" smtClean="0">
                <a:solidFill>
                  <a:schemeClr val="tx1"/>
                </a:solidFill>
                <a:latin typeface="+mn-lt"/>
                <a:ea typeface="+mn-ea"/>
                <a:cs typeface="+mn-cs"/>
              </a:rPr>
              <a:t>Tend to focus expectations and expressions of satisfaction on issues such as relaxation, group experiences, family interactions and time spent together</a:t>
            </a:r>
          </a:p>
          <a:p>
            <a:pPr marL="1085850" lvl="2" indent="-171450">
              <a:buFont typeface="Arial" pitchFamily="34" charset="0"/>
              <a:buChar char="•"/>
            </a:pPr>
            <a:r>
              <a:rPr lang="en-AU" sz="1200" kern="1200" dirty="0" smtClean="0">
                <a:solidFill>
                  <a:schemeClr val="tx1"/>
                </a:solidFill>
                <a:latin typeface="+mn-lt"/>
                <a:ea typeface="+mn-ea"/>
                <a:cs typeface="+mn-cs"/>
              </a:rPr>
              <a:t>Will seek to purchase ‘family tickets’ – as opposed to single tickets.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57851662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US" noProof="0" dirty="0" smtClean="0"/>
              <a:t>Trainer continues presenting tour group types:</a:t>
            </a:r>
          </a:p>
          <a:p>
            <a:pPr marL="171450" lvl="0" indent="-171450">
              <a:buFont typeface="Arial" pitchFamily="34" charset="0"/>
              <a:buChar char="•"/>
            </a:pPr>
            <a:r>
              <a:rPr lang="en-AU" sz="1200" kern="1200" dirty="0" smtClean="0">
                <a:solidFill>
                  <a:schemeClr val="tx1"/>
                </a:solidFill>
                <a:latin typeface="+mn-lt"/>
                <a:ea typeface="+mn-ea"/>
                <a:cs typeface="+mn-cs"/>
              </a:rPr>
              <a:t>Clubs and associations – many clubs and associations use tours as:</a:t>
            </a:r>
          </a:p>
          <a:p>
            <a:pPr marL="628650" lvl="1" indent="-171450">
              <a:buFont typeface="Arial" pitchFamily="34" charset="0"/>
              <a:buChar char="•"/>
            </a:pPr>
            <a:r>
              <a:rPr lang="en-AU" sz="1200" kern="1200" dirty="0" smtClean="0">
                <a:solidFill>
                  <a:schemeClr val="tx1"/>
                </a:solidFill>
                <a:latin typeface="+mn-lt"/>
                <a:ea typeface="+mn-ea"/>
                <a:cs typeface="+mn-cs"/>
              </a:rPr>
              <a:t>Social outings</a:t>
            </a:r>
          </a:p>
          <a:p>
            <a:pPr marL="628650" lvl="1" indent="-171450">
              <a:buFont typeface="Arial" pitchFamily="34" charset="0"/>
              <a:buChar char="•"/>
            </a:pPr>
            <a:r>
              <a:rPr lang="en-AU" sz="1200" kern="1200" dirty="0" smtClean="0">
                <a:solidFill>
                  <a:schemeClr val="tx1"/>
                </a:solidFill>
                <a:latin typeface="+mn-lt"/>
                <a:ea typeface="+mn-ea"/>
                <a:cs typeface="+mn-cs"/>
              </a:rPr>
              <a:t>Learning experiences.</a:t>
            </a:r>
          </a:p>
          <a:p>
            <a:pPr marL="171450" indent="-171450">
              <a:buFont typeface="Arial" pitchFamily="34" charset="0"/>
              <a:buChar char="•"/>
            </a:pPr>
            <a:r>
              <a:rPr lang="en-AU" sz="1200" kern="1200" dirty="0" smtClean="0">
                <a:solidFill>
                  <a:schemeClr val="tx1"/>
                </a:solidFill>
                <a:latin typeface="+mn-lt"/>
                <a:ea typeface="+mn-ea"/>
                <a:cs typeface="+mn-cs"/>
              </a:rPr>
              <a:t>These groups:</a:t>
            </a:r>
          </a:p>
          <a:p>
            <a:pPr marL="628650" lvl="1" indent="-171450">
              <a:buFont typeface="Arial" pitchFamily="34" charset="0"/>
              <a:buChar char="•"/>
            </a:pPr>
            <a:r>
              <a:rPr lang="en-AU" sz="1200" kern="1200" dirty="0" smtClean="0">
                <a:solidFill>
                  <a:schemeClr val="tx1"/>
                </a:solidFill>
                <a:latin typeface="+mn-lt"/>
                <a:ea typeface="+mn-ea"/>
                <a:cs typeface="+mn-cs"/>
              </a:rPr>
              <a:t>Expect a dedicated Tour Guide – for their members while they are in attendance</a:t>
            </a:r>
          </a:p>
          <a:p>
            <a:pPr marL="628650" lvl="1" indent="-171450">
              <a:buFont typeface="Arial" pitchFamily="34" charset="0"/>
              <a:buChar char="•"/>
            </a:pPr>
            <a:r>
              <a:rPr lang="en-AU" sz="1200" kern="1200" dirty="0" smtClean="0">
                <a:solidFill>
                  <a:schemeClr val="tx1"/>
                </a:solidFill>
                <a:latin typeface="+mn-lt"/>
                <a:ea typeface="+mn-ea"/>
                <a:cs typeface="+mn-cs"/>
              </a:rPr>
              <a:t>Generally arrive and depart as a group</a:t>
            </a:r>
          </a:p>
          <a:p>
            <a:pPr marL="628650" lvl="1" indent="-171450">
              <a:buFont typeface="Arial" pitchFamily="34" charset="0"/>
              <a:buChar char="•"/>
            </a:pPr>
            <a:r>
              <a:rPr lang="en-AU" sz="1200" kern="1200" dirty="0" smtClean="0">
                <a:solidFill>
                  <a:schemeClr val="tx1"/>
                </a:solidFill>
                <a:latin typeface="+mn-lt"/>
                <a:ea typeface="+mn-ea"/>
                <a:cs typeface="+mn-cs"/>
              </a:rPr>
              <a:t>Commonly require meals, entertainment, activities and/or other nominated experiences as arranged with relevant Secretaries or other club/association representatives</a:t>
            </a:r>
          </a:p>
          <a:p>
            <a:pPr marL="628650" lvl="1" indent="-171450">
              <a:buFont typeface="Arial" pitchFamily="34" charset="0"/>
              <a:buChar char="•"/>
            </a:pPr>
            <a:r>
              <a:rPr lang="en-AU" sz="1200" kern="1200" dirty="0" smtClean="0">
                <a:solidFill>
                  <a:schemeClr val="tx1"/>
                </a:solidFill>
                <a:latin typeface="+mn-lt"/>
                <a:ea typeface="+mn-ea"/>
                <a:cs typeface="+mn-cs"/>
              </a:rPr>
              <a:t>Often undertake tours to coincide with a special event or commemoration.</a:t>
            </a:r>
          </a:p>
          <a:p>
            <a:pPr marL="171450" lvl="0" indent="-171450">
              <a:buFont typeface="Arial" pitchFamily="34" charset="0"/>
              <a:buChar char="•"/>
            </a:pPr>
            <a:r>
              <a:rPr lang="en-AU" sz="1200" kern="1200" dirty="0" smtClean="0">
                <a:solidFill>
                  <a:schemeClr val="tx1"/>
                </a:solidFill>
                <a:latin typeface="+mn-lt"/>
                <a:ea typeface="+mn-ea"/>
                <a:cs typeface="+mn-cs"/>
              </a:rPr>
              <a:t>Senior citizens – as populations age there has been an increase in older people participating in tours</a:t>
            </a:r>
          </a:p>
          <a:p>
            <a:pPr marL="628650" lvl="1" indent="-171450">
              <a:buFont typeface="Arial" pitchFamily="34" charset="0"/>
              <a:buChar char="•"/>
            </a:pPr>
            <a:r>
              <a:rPr lang="en-AU" sz="1200" kern="1200" dirty="0" smtClean="0">
                <a:solidFill>
                  <a:schemeClr val="tx1"/>
                </a:solidFill>
                <a:latin typeface="+mn-lt"/>
                <a:ea typeface="+mn-ea"/>
                <a:cs typeface="+mn-cs"/>
              </a:rPr>
              <a:t>These groups:</a:t>
            </a:r>
          </a:p>
          <a:p>
            <a:pPr marL="1085850" lvl="2" indent="-171450">
              <a:buFont typeface="Arial" pitchFamily="34" charset="0"/>
              <a:buChar char="•"/>
            </a:pPr>
            <a:r>
              <a:rPr lang="en-AU" sz="1200" kern="1200" dirty="0" smtClean="0">
                <a:solidFill>
                  <a:schemeClr val="tx1"/>
                </a:solidFill>
                <a:latin typeface="+mn-lt"/>
                <a:ea typeface="+mn-ea"/>
                <a:cs typeface="+mn-cs"/>
              </a:rPr>
              <a:t>May have tours arranged by a club or association</a:t>
            </a:r>
          </a:p>
          <a:p>
            <a:pPr marL="1085850" lvl="2" indent="-171450">
              <a:buFont typeface="Arial" pitchFamily="34" charset="0"/>
              <a:buChar char="•"/>
            </a:pPr>
            <a:r>
              <a:rPr lang="en-AU" sz="1200" kern="1200" dirty="0" smtClean="0">
                <a:solidFill>
                  <a:schemeClr val="tx1"/>
                </a:solidFill>
                <a:latin typeface="+mn-lt"/>
                <a:ea typeface="+mn-ea"/>
                <a:cs typeface="+mn-cs"/>
              </a:rPr>
              <a:t>Generally require more leisurely itinerary</a:t>
            </a:r>
          </a:p>
          <a:p>
            <a:pPr marL="1085850" lvl="2" indent="-171450">
              <a:buFont typeface="Arial" pitchFamily="34" charset="0"/>
              <a:buChar char="•"/>
            </a:pPr>
            <a:r>
              <a:rPr lang="en-AU" sz="1200" kern="1200" dirty="0" smtClean="0">
                <a:solidFill>
                  <a:schemeClr val="tx1"/>
                </a:solidFill>
                <a:latin typeface="+mn-lt"/>
                <a:ea typeface="+mn-ea"/>
                <a:cs typeface="+mn-cs"/>
              </a:rPr>
              <a:t>Tend to focus on observation and entertainment – rather than on activity and participation</a:t>
            </a:r>
          </a:p>
          <a:p>
            <a:pPr marL="1085850" lvl="2" indent="-171450">
              <a:buFont typeface="Arial" pitchFamily="34" charset="0"/>
              <a:buChar char="•"/>
            </a:pPr>
            <a:r>
              <a:rPr lang="en-AU" sz="1200" kern="1200" dirty="0" smtClean="0">
                <a:solidFill>
                  <a:schemeClr val="tx1"/>
                </a:solidFill>
                <a:latin typeface="+mn-lt"/>
                <a:ea typeface="+mn-ea"/>
                <a:cs typeface="+mn-cs"/>
              </a:rPr>
              <a:t>Seek knowledge and interaction with others</a:t>
            </a:r>
          </a:p>
          <a:p>
            <a:pPr marL="1085850" lvl="2" indent="-171450">
              <a:buFont typeface="Arial" pitchFamily="34" charset="0"/>
              <a:buChar char="•"/>
            </a:pPr>
            <a:r>
              <a:rPr lang="en-AU" sz="1200" kern="1200" dirty="0" smtClean="0">
                <a:solidFill>
                  <a:schemeClr val="tx1"/>
                </a:solidFill>
                <a:latin typeface="+mn-lt"/>
                <a:ea typeface="+mn-ea"/>
                <a:cs typeface="+mn-cs"/>
              </a:rPr>
              <a:t>Can have specialised dietary needs</a:t>
            </a:r>
          </a:p>
          <a:p>
            <a:pPr marL="1085850" lvl="2" indent="-171450">
              <a:buFont typeface="Arial" pitchFamily="34" charset="0"/>
              <a:buChar char="•"/>
            </a:pPr>
            <a:r>
              <a:rPr lang="en-AU" sz="1200" kern="1200" dirty="0" smtClean="0">
                <a:solidFill>
                  <a:schemeClr val="tx1"/>
                </a:solidFill>
                <a:latin typeface="+mn-lt"/>
                <a:ea typeface="+mn-ea"/>
                <a:cs typeface="+mn-cs"/>
              </a:rPr>
              <a:t>May require transportation in situations where other groups are able/prepared to walk.</a:t>
            </a:r>
          </a:p>
          <a:p>
            <a:pPr marL="171450" lvl="0" indent="-171450">
              <a:buFont typeface="Arial" pitchFamily="34" charset="0"/>
              <a:buChar char="•"/>
            </a:pPr>
            <a:r>
              <a:rPr lang="en-AU" sz="1200" kern="1200" dirty="0" smtClean="0">
                <a:solidFill>
                  <a:schemeClr val="tx1"/>
                </a:solidFill>
                <a:latin typeface="+mn-lt"/>
                <a:ea typeface="+mn-ea"/>
                <a:cs typeface="+mn-cs"/>
              </a:rPr>
              <a:t>Special interest groups – there is really no limit to what groups may be interested in</a:t>
            </a:r>
          </a:p>
          <a:p>
            <a:pPr marL="628650" lvl="1" indent="-171450">
              <a:buFont typeface="Arial" pitchFamily="34" charset="0"/>
              <a:buChar char="•"/>
            </a:pPr>
            <a:r>
              <a:rPr lang="en-AU" sz="1200" kern="1200" dirty="0" smtClean="0">
                <a:solidFill>
                  <a:schemeClr val="tx1"/>
                </a:solidFill>
                <a:latin typeface="+mn-lt"/>
                <a:ea typeface="+mn-ea"/>
                <a:cs typeface="+mn-cs"/>
              </a:rPr>
              <a:t>Indicative/representative interests can include:</a:t>
            </a:r>
          </a:p>
          <a:p>
            <a:pPr marL="1085850" lvl="2" indent="-171450">
              <a:buFont typeface="Arial" pitchFamily="34" charset="0"/>
              <a:buChar char="•"/>
            </a:pPr>
            <a:r>
              <a:rPr lang="en-AU" sz="1200" kern="1200" dirty="0" smtClean="0">
                <a:solidFill>
                  <a:schemeClr val="tx1"/>
                </a:solidFill>
                <a:latin typeface="+mn-lt"/>
                <a:ea typeface="+mn-ea"/>
                <a:cs typeface="+mn-cs"/>
              </a:rPr>
              <a:t>Heritage; Adventure; Sport; Culture; Arts; Indigenous tourism; Nature; Eco-tourism.</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p14="http://schemas.microsoft.com/office/powerpoint/2010/main" val="25720970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states the </a:t>
            </a:r>
            <a:r>
              <a:rPr lang="en-AU" sz="1200" kern="1200" dirty="0" smtClean="0">
                <a:solidFill>
                  <a:schemeClr val="tx1"/>
                </a:solidFill>
                <a:latin typeface="+mn-lt"/>
                <a:ea typeface="+mn-ea"/>
                <a:cs typeface="+mn-cs"/>
              </a:rPr>
              <a:t>interpretive approach to tour guiding is based on the Latin word </a:t>
            </a:r>
            <a:r>
              <a:rPr lang="en-AU" sz="1200" i="1" kern="1200" dirty="0" smtClean="0">
                <a:solidFill>
                  <a:schemeClr val="tx1"/>
                </a:solidFill>
                <a:latin typeface="+mn-lt"/>
                <a:ea typeface="+mn-ea"/>
                <a:cs typeface="+mn-cs"/>
              </a:rPr>
              <a:t>interpretari </a:t>
            </a:r>
            <a:r>
              <a:rPr lang="en-AU" sz="1200" kern="1200" dirty="0" smtClean="0">
                <a:solidFill>
                  <a:schemeClr val="tx1"/>
                </a:solidFill>
                <a:latin typeface="+mn-lt"/>
                <a:ea typeface="+mn-ea"/>
                <a:cs typeface="+mn-cs"/>
              </a:rPr>
              <a:t>meaning:</a:t>
            </a:r>
          </a:p>
          <a:p>
            <a:pPr marL="171450" lvl="0" indent="-171450">
              <a:buFont typeface="Arial" pitchFamily="34" charset="0"/>
              <a:buChar char="•"/>
            </a:pPr>
            <a:r>
              <a:rPr lang="en-AU" sz="1200" kern="1200" dirty="0" smtClean="0">
                <a:solidFill>
                  <a:schemeClr val="tx1"/>
                </a:solidFill>
                <a:latin typeface="+mn-lt"/>
                <a:ea typeface="+mn-ea"/>
                <a:cs typeface="+mn-cs"/>
              </a:rPr>
              <a:t>To explain </a:t>
            </a:r>
          </a:p>
          <a:p>
            <a:pPr marL="171450" lvl="0" indent="-171450">
              <a:buFont typeface="Arial" pitchFamily="34" charset="0"/>
              <a:buChar char="•"/>
            </a:pPr>
            <a:r>
              <a:rPr lang="en-AU" sz="1200" kern="1200" dirty="0" smtClean="0">
                <a:solidFill>
                  <a:schemeClr val="tx1"/>
                </a:solidFill>
                <a:latin typeface="+mn-lt"/>
                <a:ea typeface="+mn-ea"/>
                <a:cs typeface="+mn-cs"/>
              </a:rPr>
              <a:t>To translate</a:t>
            </a:r>
          </a:p>
          <a:p>
            <a:pPr marL="171450" lvl="0" indent="-171450">
              <a:buFont typeface="Arial" pitchFamily="34" charset="0"/>
              <a:buChar char="•"/>
            </a:pPr>
            <a:r>
              <a:rPr lang="en-AU" sz="1200" kern="1200" dirty="0" smtClean="0">
                <a:solidFill>
                  <a:schemeClr val="tx1"/>
                </a:solidFill>
                <a:latin typeface="+mn-lt"/>
                <a:ea typeface="+mn-ea"/>
                <a:cs typeface="+mn-cs"/>
              </a:rPr>
              <a:t>To interpret.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extLst>
      <p:ext uri="{BB962C8B-B14F-4D97-AF65-F5344CB8AC3E}">
        <p14:creationId xmlns:p14="http://schemas.microsoft.com/office/powerpoint/2010/main" val="29992765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explains in </a:t>
            </a:r>
            <a:r>
              <a:rPr lang="en-AU" sz="1200" kern="1200" dirty="0" smtClean="0">
                <a:solidFill>
                  <a:schemeClr val="tx1"/>
                </a:solidFill>
                <a:latin typeface="+mn-lt"/>
                <a:ea typeface="+mn-ea"/>
                <a:cs typeface="+mn-cs"/>
              </a:rPr>
              <a:t>essence the primary aims of the interpretive approach are to:</a:t>
            </a:r>
          </a:p>
          <a:p>
            <a:pPr marL="171450" lvl="0" indent="-171450">
              <a:buFont typeface="Arial" pitchFamily="34" charset="0"/>
              <a:buChar char="•"/>
            </a:pPr>
            <a:r>
              <a:rPr lang="en-AU" sz="1200" kern="1200" dirty="0" smtClean="0">
                <a:solidFill>
                  <a:schemeClr val="tx1"/>
                </a:solidFill>
                <a:latin typeface="+mn-lt"/>
                <a:ea typeface="+mn-ea"/>
                <a:cs typeface="+mn-cs"/>
              </a:rPr>
              <a:t>Inform and educate</a:t>
            </a:r>
          </a:p>
          <a:p>
            <a:pPr marL="171450" lvl="0" indent="-171450">
              <a:buFont typeface="Arial" pitchFamily="34" charset="0"/>
              <a:buChar char="•"/>
            </a:pPr>
            <a:r>
              <a:rPr lang="en-AU" sz="1200" kern="1200" dirty="0" smtClean="0">
                <a:solidFill>
                  <a:schemeClr val="tx1"/>
                </a:solidFill>
                <a:latin typeface="+mn-lt"/>
                <a:ea typeface="+mn-ea"/>
                <a:cs typeface="+mn-cs"/>
              </a:rPr>
              <a:t>Enrich the experience</a:t>
            </a:r>
          </a:p>
          <a:p>
            <a:pPr marL="171450" lvl="0" indent="-171450">
              <a:buFont typeface="Arial" pitchFamily="34" charset="0"/>
              <a:buChar char="•"/>
            </a:pPr>
            <a:r>
              <a:rPr lang="en-AU" sz="1200" kern="1200" dirty="0" smtClean="0">
                <a:solidFill>
                  <a:schemeClr val="tx1"/>
                </a:solidFill>
                <a:latin typeface="+mn-lt"/>
                <a:ea typeface="+mn-ea"/>
                <a:cs typeface="+mn-cs"/>
              </a:rPr>
              <a:t>Engage the members of the tour group</a:t>
            </a:r>
          </a:p>
          <a:p>
            <a:pPr marL="171450" lvl="0" indent="-171450">
              <a:buFont typeface="Arial" pitchFamily="34" charset="0"/>
              <a:buChar char="•"/>
            </a:pPr>
            <a:r>
              <a:rPr lang="en-AU" sz="1200" kern="1200" dirty="0" smtClean="0">
                <a:solidFill>
                  <a:schemeClr val="tx1"/>
                </a:solidFill>
                <a:latin typeface="+mn-lt"/>
                <a:ea typeface="+mn-ea"/>
                <a:cs typeface="+mn-cs"/>
              </a:rPr>
              <a:t>Communicate emotion/feelings as well as facts and figures</a:t>
            </a:r>
          </a:p>
          <a:p>
            <a:pPr marL="171450" lvl="0" indent="-171450">
              <a:buFont typeface="Arial" pitchFamily="34" charset="0"/>
              <a:buChar char="•"/>
            </a:pPr>
            <a:r>
              <a:rPr lang="en-AU" sz="1200" kern="1200" dirty="0" smtClean="0">
                <a:solidFill>
                  <a:schemeClr val="tx1"/>
                </a:solidFill>
                <a:latin typeface="+mn-lt"/>
                <a:ea typeface="+mn-ea"/>
                <a:cs typeface="+mn-cs"/>
              </a:rPr>
              <a:t>Provide insight.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extLst>
      <p:ext uri="{BB962C8B-B14F-4D97-AF65-F5344CB8AC3E}">
        <p14:creationId xmlns:p14="http://schemas.microsoft.com/office/powerpoint/2010/main" val="59667600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identifies and describes elements of the interpretive approach to guiding:</a:t>
            </a:r>
          </a:p>
          <a:p>
            <a:pPr marL="171450" lvl="0" indent="-171450">
              <a:buFont typeface="Arial" pitchFamily="34" charset="0"/>
              <a:buChar char="•"/>
            </a:pPr>
            <a:r>
              <a:rPr lang="en-AU" sz="1200" kern="1200" dirty="0" smtClean="0">
                <a:solidFill>
                  <a:schemeClr val="tx1"/>
                </a:solidFill>
                <a:latin typeface="+mn-lt"/>
                <a:ea typeface="+mn-ea"/>
                <a:cs typeface="+mn-cs"/>
              </a:rPr>
              <a:t>Engaging participants – a key is to resonate and communicate with the tour group members of the tour</a:t>
            </a:r>
          </a:p>
          <a:p>
            <a:pPr marL="628650" lvl="1" indent="-171450">
              <a:buFont typeface="Arial" pitchFamily="34" charset="0"/>
              <a:buChar char="•"/>
            </a:pPr>
            <a:r>
              <a:rPr lang="en-AU" sz="1200" kern="1200" dirty="0" smtClean="0">
                <a:solidFill>
                  <a:schemeClr val="tx1"/>
                </a:solidFill>
                <a:latin typeface="+mn-lt"/>
                <a:ea typeface="+mn-ea"/>
                <a:cs typeface="+mn-cs"/>
              </a:rPr>
              <a:t>The aim is for active involvement of the audience where ‘active involvement may relate to physical or cerebral activity.</a:t>
            </a:r>
          </a:p>
          <a:p>
            <a:pPr marL="171450" lvl="0" indent="-171450">
              <a:buFont typeface="Arial" pitchFamily="34" charset="0"/>
              <a:buChar char="•"/>
            </a:pPr>
            <a:r>
              <a:rPr lang="en-AU" sz="1200" kern="1200" dirty="0" smtClean="0">
                <a:solidFill>
                  <a:schemeClr val="tx1"/>
                </a:solidFill>
                <a:latin typeface="+mn-lt"/>
                <a:ea typeface="+mn-ea"/>
                <a:cs typeface="+mn-cs"/>
              </a:rPr>
              <a:t>Providing a verbal commentary – to explain and translate the characteristics, significance and features of the tour</a:t>
            </a:r>
          </a:p>
          <a:p>
            <a:pPr marL="171450" lvl="0" indent="-171450">
              <a:buFont typeface="Arial" pitchFamily="34" charset="0"/>
              <a:buChar char="•"/>
            </a:pPr>
            <a:r>
              <a:rPr lang="en-AU" sz="1200" kern="1200" dirty="0" smtClean="0">
                <a:solidFill>
                  <a:schemeClr val="tx1"/>
                </a:solidFill>
                <a:latin typeface="+mn-lt"/>
                <a:ea typeface="+mn-ea"/>
                <a:cs typeface="+mn-cs"/>
              </a:rPr>
              <a:t>Identifying, explaining and attributing local, cultural and contextual meaning – to sights, activities and other topics which are the focus of the tour</a:t>
            </a:r>
          </a:p>
          <a:p>
            <a:pPr marL="171450" lvl="0" indent="-171450">
              <a:buFont typeface="Arial" pitchFamily="34" charset="0"/>
              <a:buChar char="•"/>
            </a:pPr>
            <a:r>
              <a:rPr lang="en-AU" sz="1200" kern="1200" dirty="0" smtClean="0">
                <a:solidFill>
                  <a:schemeClr val="tx1"/>
                </a:solidFill>
                <a:latin typeface="+mn-lt"/>
                <a:ea typeface="+mn-ea"/>
                <a:cs typeface="+mn-cs"/>
              </a:rPr>
              <a:t>Facilitating learning – through development of understanding and awareness of the issues/subjects and content and revelation of hidden and/or deeper meanings</a:t>
            </a:r>
          </a:p>
          <a:p>
            <a:pPr>
              <a:buFont typeface="Arial" pitchFamily="34" charset="0"/>
              <a:buNone/>
            </a:pPr>
            <a:endParaRPr lang="en-US" noProof="0" dirty="0" smtClean="0"/>
          </a:p>
          <a:p>
            <a:pPr>
              <a:buFont typeface="Arial" pitchFamily="34" charset="0"/>
              <a:buNone/>
            </a:pPr>
            <a:r>
              <a:rPr lang="en-US" b="1" noProof="0" dirty="0" smtClean="0"/>
              <a:t>Class Activity – Excursion</a:t>
            </a:r>
          </a:p>
          <a:p>
            <a:pPr>
              <a:buFont typeface="Arial" pitchFamily="34" charset="0"/>
              <a:buNone/>
            </a:pPr>
            <a:r>
              <a:rPr lang="en-US" b="0" noProof="0" dirty="0" smtClean="0"/>
              <a:t>Trainer arranges to take students on a tour which features the interpretive approach so they can gain first-hand experience of this orientation to the delivery of a tour.</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extLst>
      <p:ext uri="{BB962C8B-B14F-4D97-AF65-F5344CB8AC3E}">
        <p14:creationId xmlns:p14="http://schemas.microsoft.com/office/powerpoint/2010/main" val="36443335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identifying and describing elements of the interpretive approach to guiding:</a:t>
            </a:r>
          </a:p>
          <a:p>
            <a:pPr marL="171450" lvl="0" indent="-171450">
              <a:buFont typeface="Arial" pitchFamily="34" charset="0"/>
              <a:buChar char="•"/>
            </a:pPr>
            <a:r>
              <a:rPr lang="en-AU" sz="1200" kern="1200" dirty="0" smtClean="0">
                <a:solidFill>
                  <a:schemeClr val="tx1"/>
                </a:solidFill>
                <a:latin typeface="+mn-lt"/>
                <a:ea typeface="+mn-ea"/>
                <a:cs typeface="+mn-cs"/>
              </a:rPr>
              <a:t>Contextualising the tour – in terms of a local framework, local history, local culture, local issues and local flavour</a:t>
            </a:r>
          </a:p>
          <a:p>
            <a:pPr marL="171450" lvl="0" indent="-171450">
              <a:buFont typeface="Arial" pitchFamily="34" charset="0"/>
              <a:buChar char="•"/>
            </a:pPr>
            <a:r>
              <a:rPr lang="en-AU" sz="1200" kern="1200" dirty="0" smtClean="0">
                <a:solidFill>
                  <a:schemeClr val="tx1"/>
                </a:solidFill>
                <a:latin typeface="+mn-lt"/>
                <a:ea typeface="+mn-ea"/>
                <a:cs typeface="+mn-cs"/>
              </a:rPr>
              <a:t>Generating and demonstrating respect and appreciation as appropriate to the tour – which may relate to local customs, history, people and the environment</a:t>
            </a:r>
          </a:p>
          <a:p>
            <a:pPr marL="171450" lvl="0" indent="-171450">
              <a:buFont typeface="Arial" pitchFamily="34" charset="0"/>
              <a:buChar char="•"/>
            </a:pPr>
            <a:r>
              <a:rPr lang="en-AU" sz="1200" kern="1200" dirty="0" smtClean="0">
                <a:solidFill>
                  <a:schemeClr val="tx1"/>
                </a:solidFill>
                <a:latin typeface="+mn-lt"/>
                <a:ea typeface="+mn-ea"/>
                <a:cs typeface="+mn-cs"/>
              </a:rPr>
              <a:t>Being provocative – in terms of encouraging questions, stimulating thought, cultivating curiosity and promoting personal/self-reflection on issues</a:t>
            </a:r>
          </a:p>
          <a:p>
            <a:pPr marL="171450" lvl="0" indent="-171450">
              <a:buFont typeface="Arial" pitchFamily="34" charset="0"/>
              <a:buChar char="•"/>
            </a:pPr>
            <a:r>
              <a:rPr lang="en-AU" sz="1200" kern="1200" dirty="0" smtClean="0">
                <a:solidFill>
                  <a:schemeClr val="tx1"/>
                </a:solidFill>
                <a:latin typeface="+mn-lt"/>
                <a:ea typeface="+mn-ea"/>
                <a:cs typeface="+mn-cs"/>
              </a:rPr>
              <a:t>Doing whatever is needed to bring the tour to life within the context of the individual tour – which can mean:</a:t>
            </a:r>
          </a:p>
          <a:p>
            <a:pPr marL="628650" lvl="1" indent="-171450">
              <a:buFont typeface="Arial" pitchFamily="34" charset="0"/>
              <a:buChar char="•"/>
            </a:pPr>
            <a:r>
              <a:rPr lang="en-AU" sz="1200" kern="1200" dirty="0" smtClean="0">
                <a:solidFill>
                  <a:schemeClr val="tx1"/>
                </a:solidFill>
                <a:latin typeface="+mn-lt"/>
                <a:ea typeface="+mn-ea"/>
                <a:cs typeface="+mn-cs"/>
              </a:rPr>
              <a:t>Using costumes; Telling stories and anecdotes; Demonstrating; Involving participants in a variety of ways in different activities; Meeting/interacting with locals; Experiential learning</a:t>
            </a:r>
          </a:p>
          <a:p>
            <a:pPr marL="171450" lvl="0" indent="-171450">
              <a:buFont typeface="Arial" pitchFamily="34" charset="0"/>
              <a:buChar char="•"/>
            </a:pPr>
            <a:r>
              <a:rPr lang="en-AU" sz="1200" kern="1200" dirty="0" smtClean="0">
                <a:solidFill>
                  <a:schemeClr val="tx1"/>
                </a:solidFill>
                <a:latin typeface="+mn-lt"/>
                <a:ea typeface="+mn-ea"/>
                <a:cs typeface="+mn-cs"/>
              </a:rPr>
              <a:t>Building relationships – between tour group members and:</a:t>
            </a:r>
          </a:p>
          <a:p>
            <a:pPr marL="628650" lvl="1" indent="-171450">
              <a:buFont typeface="Arial" pitchFamily="34" charset="0"/>
              <a:buChar char="•"/>
            </a:pPr>
            <a:r>
              <a:rPr lang="en-AU" sz="1200" kern="1200" dirty="0" smtClean="0">
                <a:solidFill>
                  <a:schemeClr val="tx1"/>
                </a:solidFill>
                <a:latin typeface="+mn-lt"/>
                <a:ea typeface="+mn-ea"/>
                <a:cs typeface="+mn-cs"/>
              </a:rPr>
              <a:t>Locals; The environment; Whatever is the focus of the tour.</a:t>
            </a:r>
          </a:p>
          <a:p>
            <a:pPr>
              <a:buFont typeface="Arial" pitchFamily="34" charset="0"/>
              <a:buNone/>
            </a:pPr>
            <a:endParaRPr lang="en-US" noProof="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baseline="0" noProof="0" dirty="0" smtClean="0"/>
              <a:t>Class Activity – Internet Research</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0" baseline="0" noProof="0" dirty="0" smtClean="0"/>
              <a:t>Trainer facilitates student research of and discussion regarding content of following and other similar/relevant websites:</a:t>
            </a:r>
          </a:p>
          <a:p>
            <a:r>
              <a:rPr lang="en-AU" sz="1200" u="sng" kern="1200" dirty="0" smtClean="0">
                <a:solidFill>
                  <a:schemeClr val="tx1"/>
                </a:solidFill>
                <a:latin typeface="+mn-lt"/>
                <a:ea typeface="+mn-ea"/>
                <a:cs typeface="+mn-cs"/>
                <a:hlinkClick r:id="rId3"/>
              </a:rPr>
              <a:t>http://www.interpretiveguides.org/dbfiles/2.pdf</a:t>
            </a:r>
            <a:r>
              <a:rPr lang="en-AU" sz="1200" kern="1200" dirty="0" smtClean="0">
                <a:solidFill>
                  <a:schemeClr val="tx1"/>
                </a:solidFill>
                <a:latin typeface="+mn-lt"/>
                <a:ea typeface="+mn-ea"/>
                <a:cs typeface="+mn-cs"/>
              </a:rPr>
              <a:t> - Handbook for interpretive guides: Interpretive Guides Association</a:t>
            </a:r>
          </a:p>
          <a:p>
            <a:r>
              <a:rPr lang="en-AU" sz="1200" u="sng" kern="1200" dirty="0" smtClean="0">
                <a:solidFill>
                  <a:schemeClr val="tx1"/>
                </a:solidFill>
                <a:latin typeface="+mn-lt"/>
                <a:ea typeface="+mn-ea"/>
                <a:cs typeface="+mn-cs"/>
                <a:hlinkClick r:id="rId4"/>
              </a:rPr>
              <a:t>http://www.resourcesandenergy.nsw.gov.au/__data/assets/pdf_file/0004/358555/GGHG_2010_Cove.pdf</a:t>
            </a:r>
            <a:r>
              <a:rPr lang="en-AU" sz="1200" kern="1200" dirty="0" smtClean="0">
                <a:solidFill>
                  <a:schemeClr val="tx1"/>
                </a:solidFill>
                <a:latin typeface="+mn-lt"/>
                <a:ea typeface="+mn-ea"/>
                <a:cs typeface="+mn-cs"/>
              </a:rPr>
              <a:t> - The Essential Role of Interpretive Guiding in Ensuring Understanding and Conservation of Sensitive Geosites</a:t>
            </a:r>
          </a:p>
          <a:p>
            <a:pPr>
              <a:buFont typeface="Arial" pitchFamily="34" charset="0"/>
              <a:buNone/>
            </a:pPr>
            <a:endParaRPr lang="en-US"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extLst>
      <p:ext uri="{BB962C8B-B14F-4D97-AF65-F5344CB8AC3E}">
        <p14:creationId xmlns:p14="http://schemas.microsoft.com/office/powerpoint/2010/main" val="33872122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states in </a:t>
            </a:r>
            <a:r>
              <a:rPr lang="en-AU" sz="1200" kern="1200" dirty="0" smtClean="0">
                <a:solidFill>
                  <a:schemeClr val="tx1"/>
                </a:solidFill>
                <a:latin typeface="+mn-lt"/>
                <a:ea typeface="+mn-ea"/>
                <a:cs typeface="+mn-cs"/>
              </a:rPr>
              <a:t>addition to the classification of tours outlines in section 1.3 tours may be further categorised into generic tour classifications such as:</a:t>
            </a:r>
          </a:p>
          <a:p>
            <a:pPr marL="171450" lvl="0" indent="-171450">
              <a:buFont typeface="Arial" pitchFamily="34" charset="0"/>
              <a:buChar char="•"/>
            </a:pPr>
            <a:r>
              <a:rPr lang="en-AU" sz="1200" kern="1200" dirty="0" smtClean="0">
                <a:solidFill>
                  <a:schemeClr val="tx1"/>
                </a:solidFill>
                <a:latin typeface="+mn-lt"/>
                <a:ea typeface="+mn-ea"/>
                <a:cs typeface="+mn-cs"/>
              </a:rPr>
              <a:t>Site-based tours</a:t>
            </a:r>
          </a:p>
          <a:p>
            <a:pPr marL="171450" lvl="0" indent="-171450">
              <a:buFont typeface="Arial" pitchFamily="34" charset="0"/>
              <a:buChar char="•"/>
            </a:pPr>
            <a:r>
              <a:rPr lang="en-AU" sz="1200" kern="1200" dirty="0" smtClean="0">
                <a:solidFill>
                  <a:schemeClr val="tx1"/>
                </a:solidFill>
                <a:latin typeface="+mn-lt"/>
                <a:ea typeface="+mn-ea"/>
                <a:cs typeface="+mn-cs"/>
              </a:rPr>
              <a:t>Special interest tours</a:t>
            </a:r>
          </a:p>
          <a:p>
            <a:pPr marL="171450" lvl="0" indent="-171450">
              <a:buFont typeface="Arial" pitchFamily="34" charset="0"/>
              <a:buChar char="•"/>
            </a:pPr>
            <a:r>
              <a:rPr lang="en-AU" sz="1200" kern="1200" dirty="0" smtClean="0">
                <a:solidFill>
                  <a:schemeClr val="tx1"/>
                </a:solidFill>
                <a:latin typeface="+mn-lt"/>
                <a:ea typeface="+mn-ea"/>
                <a:cs typeface="+mn-cs"/>
              </a:rPr>
              <a:t>Water-based tours</a:t>
            </a:r>
          </a:p>
          <a:p>
            <a:pPr marL="171450" lvl="0" indent="-171450">
              <a:buFont typeface="Arial" pitchFamily="34" charset="0"/>
              <a:buChar char="•"/>
            </a:pPr>
            <a:r>
              <a:rPr lang="en-AU" sz="1200" kern="1200" dirty="0" smtClean="0">
                <a:solidFill>
                  <a:schemeClr val="tx1"/>
                </a:solidFill>
                <a:latin typeface="+mn-lt"/>
                <a:ea typeface="+mn-ea"/>
                <a:cs typeface="+mn-cs"/>
              </a:rPr>
              <a:t>Land-based tours.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extLst>
      <p:ext uri="{BB962C8B-B14F-4D97-AF65-F5344CB8AC3E}">
        <p14:creationId xmlns:p14="http://schemas.microsoft.com/office/powerpoint/2010/main" val="35035181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observes </a:t>
            </a:r>
            <a:r>
              <a:rPr lang="en-AU" sz="1200" kern="1200" dirty="0" smtClean="0">
                <a:solidFill>
                  <a:schemeClr val="tx1"/>
                </a:solidFill>
                <a:latin typeface="+mn-lt"/>
                <a:ea typeface="+mn-ea"/>
                <a:cs typeface="+mn-cs"/>
              </a:rPr>
              <a:t>site-based tours may include:</a:t>
            </a:r>
          </a:p>
          <a:p>
            <a:pPr marL="171450" lvl="0" indent="-171450">
              <a:buFont typeface="Arial" pitchFamily="34" charset="0"/>
              <a:buChar char="•"/>
            </a:pPr>
            <a:r>
              <a:rPr lang="en-AU" sz="1200" kern="1200" dirty="0" smtClean="0">
                <a:solidFill>
                  <a:schemeClr val="tx1"/>
                </a:solidFill>
                <a:latin typeface="+mn-lt"/>
                <a:ea typeface="+mn-ea"/>
                <a:cs typeface="+mn-cs"/>
              </a:rPr>
              <a:t>Museums, historic sites and galleries tours</a:t>
            </a:r>
          </a:p>
          <a:p>
            <a:pPr marL="171450" lvl="0" indent="-171450">
              <a:buFont typeface="Arial" pitchFamily="34" charset="0"/>
              <a:buChar char="•"/>
            </a:pPr>
            <a:r>
              <a:rPr lang="en-AU" sz="1200" kern="1200" dirty="0" smtClean="0">
                <a:solidFill>
                  <a:schemeClr val="tx1"/>
                </a:solidFill>
                <a:latin typeface="+mn-lt"/>
                <a:ea typeface="+mn-ea"/>
                <a:cs typeface="+mn-cs"/>
              </a:rPr>
              <a:t>Zoos, preserves and wildlife parks tours</a:t>
            </a:r>
          </a:p>
          <a:p>
            <a:pPr marL="171450" lvl="0" indent="-171450">
              <a:buFont typeface="Arial" pitchFamily="34" charset="0"/>
              <a:buChar char="•"/>
            </a:pPr>
            <a:r>
              <a:rPr lang="en-AU" sz="1200" kern="1200" dirty="0" smtClean="0">
                <a:solidFill>
                  <a:schemeClr val="tx1"/>
                </a:solidFill>
                <a:latin typeface="+mn-lt"/>
                <a:ea typeface="+mn-ea"/>
                <a:cs typeface="+mn-cs"/>
              </a:rPr>
              <a:t>Gardens, parks, forests and national parks tours</a:t>
            </a:r>
          </a:p>
          <a:p>
            <a:pPr marL="171450" lvl="0" indent="-171450">
              <a:buFont typeface="Arial" pitchFamily="34" charset="0"/>
              <a:buChar char="•"/>
            </a:pPr>
            <a:r>
              <a:rPr lang="en-AU" sz="1200" kern="1200" dirty="0" smtClean="0">
                <a:solidFill>
                  <a:schemeClr val="tx1"/>
                </a:solidFill>
                <a:latin typeface="+mn-lt"/>
                <a:ea typeface="+mn-ea"/>
                <a:cs typeface="+mn-cs"/>
              </a:rPr>
              <a:t>Tours of factories, businesses, production and processing plants</a:t>
            </a:r>
          </a:p>
          <a:p>
            <a:pPr marL="171450" lvl="0" indent="-171450">
              <a:buFont typeface="Arial" pitchFamily="34" charset="0"/>
              <a:buChar char="•"/>
            </a:pPr>
            <a:r>
              <a:rPr lang="en-AU" sz="1200" kern="1200" dirty="0" smtClean="0">
                <a:solidFill>
                  <a:schemeClr val="tx1"/>
                </a:solidFill>
                <a:latin typeface="+mn-lt"/>
                <a:ea typeface="+mn-ea"/>
                <a:cs typeface="+mn-cs"/>
              </a:rPr>
              <a:t>Tours of government and semi-government utilities – including power-generating stations, reservoirs and waste-water treatment plants.</a:t>
            </a:r>
          </a:p>
          <a:p>
            <a:pPr>
              <a:buFont typeface="Arial" pitchFamily="34" charset="0"/>
              <a:buNone/>
            </a:pPr>
            <a:endParaRPr lang="en-US" noProof="0" dirty="0" smtClean="0"/>
          </a:p>
          <a:p>
            <a:pPr>
              <a:buFont typeface="Arial" pitchFamily="34" charset="0"/>
              <a:buNone/>
            </a:pPr>
            <a:r>
              <a:rPr lang="en-US" b="1" noProof="0" dirty="0" smtClean="0"/>
              <a:t>Class Activity (1) – Handouts</a:t>
            </a:r>
          </a:p>
          <a:p>
            <a:pPr>
              <a:buFont typeface="Arial" pitchFamily="34" charset="0"/>
              <a:buNone/>
            </a:pPr>
            <a:r>
              <a:rPr lang="en-US" b="0" noProof="0" dirty="0" smtClean="0"/>
              <a:t>Trainer distributes</a:t>
            </a:r>
            <a:r>
              <a:rPr lang="en-US" b="0" baseline="0" noProof="0" dirty="0" smtClean="0"/>
              <a:t> and discusses promotional/advertising  material for the tour type identified on the slide.</a:t>
            </a:r>
          </a:p>
          <a:p>
            <a:pPr>
              <a:buFont typeface="Arial" pitchFamily="34" charset="0"/>
              <a:buNone/>
            </a:pPr>
            <a:endParaRPr lang="en-US" b="0" baseline="0" noProof="0" dirty="0" smtClean="0"/>
          </a:p>
          <a:p>
            <a:pPr>
              <a:buFont typeface="Arial" pitchFamily="34" charset="0"/>
              <a:buNone/>
            </a:pPr>
            <a:r>
              <a:rPr lang="en-US" b="1" baseline="0" noProof="0" dirty="0" smtClean="0"/>
              <a:t>Class Activity (2) – Excursion</a:t>
            </a:r>
          </a:p>
          <a:p>
            <a:pPr>
              <a:buFont typeface="Arial" pitchFamily="34" charset="0"/>
              <a:buNone/>
            </a:pPr>
            <a:r>
              <a:rPr lang="en-US" b="0" baseline="0" noProof="0" dirty="0" smtClean="0"/>
              <a:t>Trainer arranges for students to participate in a tour type as identified on the slide.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extLst>
      <p:ext uri="{BB962C8B-B14F-4D97-AF65-F5344CB8AC3E}">
        <p14:creationId xmlns:p14="http://schemas.microsoft.com/office/powerpoint/2010/main" val="452673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a:t>
            </a:r>
            <a:r>
              <a:rPr lang="en-AU" sz="1200" kern="1200" dirty="0" smtClean="0">
                <a:solidFill>
                  <a:schemeClr val="tx1"/>
                </a:solidFill>
                <a:latin typeface="+mn-lt"/>
                <a:ea typeface="+mn-ea"/>
                <a:cs typeface="+mn-cs"/>
              </a:rPr>
              <a:t>notes special interest tours can include:</a:t>
            </a:r>
          </a:p>
          <a:p>
            <a:pPr marL="171450" lvl="0" indent="-171450">
              <a:buFont typeface="Arial" pitchFamily="34" charset="0"/>
              <a:buChar char="•"/>
            </a:pPr>
            <a:r>
              <a:rPr lang="en-AU" sz="1200" kern="1200" dirty="0" smtClean="0">
                <a:solidFill>
                  <a:schemeClr val="tx1"/>
                </a:solidFill>
                <a:latin typeface="+mn-lt"/>
                <a:ea typeface="+mn-ea"/>
                <a:cs typeface="+mn-cs"/>
              </a:rPr>
              <a:t>Photography tours</a:t>
            </a:r>
          </a:p>
          <a:p>
            <a:pPr marL="171450" lvl="0" indent="-171450">
              <a:buFont typeface="Arial" pitchFamily="34" charset="0"/>
              <a:buChar char="•"/>
            </a:pPr>
            <a:r>
              <a:rPr lang="en-AU" sz="1200" kern="1200" dirty="0" smtClean="0">
                <a:solidFill>
                  <a:schemeClr val="tx1"/>
                </a:solidFill>
                <a:latin typeface="+mn-lt"/>
                <a:ea typeface="+mn-ea"/>
                <a:cs typeface="+mn-cs"/>
              </a:rPr>
              <a:t>Wildlife tours</a:t>
            </a:r>
          </a:p>
          <a:p>
            <a:pPr marL="171450" lvl="0" indent="-171450">
              <a:buFont typeface="Arial" pitchFamily="34" charset="0"/>
              <a:buChar char="•"/>
            </a:pPr>
            <a:r>
              <a:rPr lang="en-AU" sz="1200" kern="1200" dirty="0" smtClean="0">
                <a:solidFill>
                  <a:schemeClr val="tx1"/>
                </a:solidFill>
                <a:latin typeface="+mn-lt"/>
                <a:ea typeface="+mn-ea"/>
                <a:cs typeface="+mn-cs"/>
              </a:rPr>
              <a:t>Aerial tours</a:t>
            </a:r>
          </a:p>
          <a:p>
            <a:pPr marL="171450" lvl="0" indent="-171450">
              <a:buFont typeface="Arial" pitchFamily="34" charset="0"/>
              <a:buChar char="•"/>
            </a:pPr>
            <a:r>
              <a:rPr lang="en-AU" sz="1200" kern="1200" dirty="0" smtClean="0">
                <a:solidFill>
                  <a:schemeClr val="tx1"/>
                </a:solidFill>
                <a:latin typeface="+mn-lt"/>
                <a:ea typeface="+mn-ea"/>
                <a:cs typeface="+mn-cs"/>
              </a:rPr>
              <a:t>Parks and gardens tours</a:t>
            </a:r>
          </a:p>
          <a:p>
            <a:pPr marL="171450" lvl="0" indent="-171450">
              <a:buFont typeface="Arial" pitchFamily="34" charset="0"/>
              <a:buChar char="•"/>
            </a:pPr>
            <a:r>
              <a:rPr lang="en-AU" sz="1200" kern="1200" dirty="0" smtClean="0">
                <a:solidFill>
                  <a:schemeClr val="tx1"/>
                </a:solidFill>
                <a:latin typeface="+mn-lt"/>
                <a:ea typeface="+mn-ea"/>
                <a:cs typeface="+mn-cs"/>
              </a:rPr>
              <a:t>Sport events/tours – including as participants and observers</a:t>
            </a:r>
          </a:p>
          <a:p>
            <a:pPr marL="171450" lvl="0" indent="-171450">
              <a:buFont typeface="Arial" pitchFamily="34" charset="0"/>
              <a:buChar char="•"/>
            </a:pPr>
            <a:r>
              <a:rPr lang="en-AU" sz="1200" kern="1200" dirty="0" smtClean="0">
                <a:solidFill>
                  <a:schemeClr val="tx1"/>
                </a:solidFill>
                <a:latin typeface="+mn-lt"/>
                <a:ea typeface="+mn-ea"/>
                <a:cs typeface="+mn-cs"/>
              </a:rPr>
              <a:t>Flora and fauna tours</a:t>
            </a:r>
          </a:p>
          <a:p>
            <a:pPr marL="171450" lvl="0" indent="-171450">
              <a:buFont typeface="Arial" pitchFamily="34" charset="0"/>
              <a:buChar char="•"/>
            </a:pPr>
            <a:r>
              <a:rPr lang="en-AU" sz="1200" kern="1200" dirty="0" smtClean="0">
                <a:solidFill>
                  <a:schemeClr val="tx1"/>
                </a:solidFill>
                <a:latin typeface="+mn-lt"/>
                <a:ea typeface="+mn-ea"/>
                <a:cs typeface="+mn-cs"/>
              </a:rPr>
              <a:t>Wine and food tours</a:t>
            </a:r>
          </a:p>
          <a:p>
            <a:pPr marL="171450" lvl="0" indent="-171450">
              <a:buFont typeface="Arial" pitchFamily="34" charset="0"/>
              <a:buChar char="•"/>
            </a:pPr>
            <a:r>
              <a:rPr lang="en-AU" sz="1200" kern="1200" dirty="0" smtClean="0">
                <a:solidFill>
                  <a:schemeClr val="tx1"/>
                </a:solidFill>
                <a:latin typeface="+mn-lt"/>
                <a:ea typeface="+mn-ea"/>
                <a:cs typeface="+mn-cs"/>
              </a:rPr>
              <a:t>Tours of nominated geographical regions, areas and destinations</a:t>
            </a:r>
          </a:p>
          <a:p>
            <a:pPr marL="171450" lvl="0" indent="-171450">
              <a:buFont typeface="Arial" pitchFamily="34" charset="0"/>
              <a:buChar char="•"/>
            </a:pPr>
            <a:r>
              <a:rPr lang="en-AU" sz="1200" kern="1200" dirty="0" smtClean="0">
                <a:solidFill>
                  <a:schemeClr val="tx1"/>
                </a:solidFill>
                <a:latin typeface="+mn-lt"/>
                <a:ea typeface="+mn-ea"/>
                <a:cs typeface="+mn-cs"/>
              </a:rPr>
              <a:t>Scientific and educational tours.</a:t>
            </a:r>
          </a:p>
          <a:p>
            <a:pPr>
              <a:buFont typeface="Arial" pitchFamily="34" charset="0"/>
              <a:buNone/>
            </a:pPr>
            <a:endParaRPr lang="en-US" noProof="0" dirty="0" smtClean="0"/>
          </a:p>
          <a:p>
            <a:pPr>
              <a:buFont typeface="Arial" pitchFamily="34" charset="0"/>
              <a:buNone/>
            </a:pPr>
            <a:r>
              <a:rPr lang="en-US" b="1" noProof="0" dirty="0" smtClean="0"/>
              <a:t>Class Activity (1) – Handouts</a:t>
            </a:r>
          </a:p>
          <a:p>
            <a:pPr>
              <a:buFont typeface="Arial" pitchFamily="34" charset="0"/>
              <a:buNone/>
            </a:pPr>
            <a:r>
              <a:rPr lang="en-US" b="0" noProof="0" dirty="0" smtClean="0"/>
              <a:t>Trainer distributes</a:t>
            </a:r>
            <a:r>
              <a:rPr lang="en-US" b="0" baseline="0" noProof="0" dirty="0" smtClean="0"/>
              <a:t> and discusses promotional/advertising  material for the tour type identified on the slide.</a:t>
            </a:r>
          </a:p>
          <a:p>
            <a:pPr>
              <a:buFont typeface="Arial" pitchFamily="34" charset="0"/>
              <a:buNone/>
            </a:pPr>
            <a:endParaRPr lang="en-US" b="0" baseline="0" noProof="0" dirty="0" smtClean="0"/>
          </a:p>
          <a:p>
            <a:pPr>
              <a:buFont typeface="Arial" pitchFamily="34" charset="0"/>
              <a:buNone/>
            </a:pPr>
            <a:r>
              <a:rPr lang="en-US" b="1" baseline="0" noProof="0" dirty="0" smtClean="0"/>
              <a:t>Class Activity (2) – Excursion</a:t>
            </a:r>
          </a:p>
          <a:p>
            <a:pPr>
              <a:buFont typeface="Arial" pitchFamily="34" charset="0"/>
              <a:buNone/>
            </a:pPr>
            <a:r>
              <a:rPr lang="en-US" b="0" baseline="0" noProof="0" dirty="0" smtClean="0"/>
              <a:t>Trainer arranges for students to participate in a tour type as identified on the slide.</a:t>
            </a:r>
            <a:endParaRPr lang="en-AU" b="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extLst>
      <p:ext uri="{BB962C8B-B14F-4D97-AF65-F5344CB8AC3E}">
        <p14:creationId xmlns:p14="http://schemas.microsoft.com/office/powerpoint/2010/main" val="262804227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states </a:t>
            </a:r>
            <a:r>
              <a:rPr lang="en-AU" sz="1200" kern="1200" dirty="0" smtClean="0">
                <a:solidFill>
                  <a:schemeClr val="tx1"/>
                </a:solidFill>
                <a:latin typeface="+mn-lt"/>
                <a:ea typeface="+mn-ea"/>
                <a:cs typeface="+mn-cs"/>
              </a:rPr>
              <a:t>water-based tours include:</a:t>
            </a:r>
          </a:p>
          <a:p>
            <a:pPr marL="171450" lvl="0" indent="-171450">
              <a:buFont typeface="Arial" pitchFamily="34" charset="0"/>
              <a:buChar char="•"/>
            </a:pPr>
            <a:r>
              <a:rPr lang="en-AU" sz="1200" kern="1200" dirty="0" smtClean="0">
                <a:solidFill>
                  <a:schemeClr val="tx1"/>
                </a:solidFill>
                <a:latin typeface="+mn-lt"/>
                <a:ea typeface="+mn-ea"/>
                <a:cs typeface="+mn-cs"/>
              </a:rPr>
              <a:t>Cruises</a:t>
            </a:r>
          </a:p>
          <a:p>
            <a:pPr marL="171450" lvl="0" indent="-171450">
              <a:buFont typeface="Arial" pitchFamily="34" charset="0"/>
              <a:buChar char="•"/>
            </a:pPr>
            <a:r>
              <a:rPr lang="en-AU" sz="1200" kern="1200" dirty="0" smtClean="0">
                <a:solidFill>
                  <a:schemeClr val="tx1"/>
                </a:solidFill>
                <a:latin typeface="+mn-lt"/>
                <a:ea typeface="+mn-ea"/>
                <a:cs typeface="+mn-cs"/>
              </a:rPr>
              <a:t>Boating and yachting trips</a:t>
            </a:r>
          </a:p>
          <a:p>
            <a:pPr marL="171450" lvl="0" indent="-171450">
              <a:buFont typeface="Arial" pitchFamily="34" charset="0"/>
              <a:buChar char="•"/>
            </a:pPr>
            <a:r>
              <a:rPr lang="en-AU" sz="1200" kern="1200" dirty="0" smtClean="0">
                <a:solidFill>
                  <a:schemeClr val="tx1"/>
                </a:solidFill>
                <a:latin typeface="+mn-lt"/>
                <a:ea typeface="+mn-ea"/>
                <a:cs typeface="+mn-cs"/>
              </a:rPr>
              <a:t>Snorkelling </a:t>
            </a:r>
          </a:p>
          <a:p>
            <a:pPr marL="171450" lvl="0" indent="-171450">
              <a:buFont typeface="Arial" pitchFamily="34" charset="0"/>
              <a:buChar char="•"/>
            </a:pPr>
            <a:r>
              <a:rPr lang="en-AU" sz="1200" kern="1200" dirty="0" smtClean="0">
                <a:solidFill>
                  <a:schemeClr val="tx1"/>
                </a:solidFill>
                <a:latin typeface="+mn-lt"/>
                <a:ea typeface="+mn-ea"/>
                <a:cs typeface="+mn-cs"/>
              </a:rPr>
              <a:t>Scuba diving</a:t>
            </a:r>
          </a:p>
          <a:p>
            <a:pPr marL="171450" lvl="0" indent="-171450">
              <a:buFont typeface="Arial" pitchFamily="34" charset="0"/>
              <a:buChar char="•"/>
            </a:pPr>
            <a:r>
              <a:rPr lang="en-AU" sz="1200" kern="1200" dirty="0" smtClean="0">
                <a:solidFill>
                  <a:schemeClr val="tx1"/>
                </a:solidFill>
                <a:latin typeface="+mn-lt"/>
                <a:ea typeface="+mn-ea"/>
                <a:cs typeface="+mn-cs"/>
              </a:rPr>
              <a:t>Fishing tours.</a:t>
            </a:r>
          </a:p>
          <a:p>
            <a:pPr>
              <a:buFont typeface="Arial" pitchFamily="34" charset="0"/>
              <a:buNone/>
            </a:pPr>
            <a:endParaRPr lang="en-US" noProof="0" dirty="0" smtClean="0"/>
          </a:p>
          <a:p>
            <a:pPr>
              <a:buFont typeface="Arial" pitchFamily="34" charset="0"/>
              <a:buNone/>
            </a:pPr>
            <a:r>
              <a:rPr lang="en-US" b="1" noProof="0" dirty="0" smtClean="0"/>
              <a:t>Class Activity (1) – Handouts</a:t>
            </a:r>
          </a:p>
          <a:p>
            <a:pPr>
              <a:buFont typeface="Arial" pitchFamily="34" charset="0"/>
              <a:buNone/>
            </a:pPr>
            <a:r>
              <a:rPr lang="en-US" b="0" noProof="0" dirty="0" smtClean="0"/>
              <a:t>Trainer distributes</a:t>
            </a:r>
            <a:r>
              <a:rPr lang="en-US" b="0" baseline="0" noProof="0" dirty="0" smtClean="0"/>
              <a:t> and discusses promotional/advertising  material for the tour type identified on the slide.</a:t>
            </a:r>
          </a:p>
          <a:p>
            <a:pPr>
              <a:buFont typeface="Arial" pitchFamily="34" charset="0"/>
              <a:buNone/>
            </a:pPr>
            <a:endParaRPr lang="en-US" b="0" baseline="0" noProof="0" dirty="0" smtClean="0"/>
          </a:p>
          <a:p>
            <a:pPr>
              <a:buFont typeface="Arial" pitchFamily="34" charset="0"/>
              <a:buNone/>
            </a:pPr>
            <a:r>
              <a:rPr lang="en-US" b="1" baseline="0" noProof="0" dirty="0" smtClean="0"/>
              <a:t>Class Activity (2) – Excursion</a:t>
            </a:r>
          </a:p>
          <a:p>
            <a:pPr>
              <a:buFont typeface="Arial" pitchFamily="34" charset="0"/>
              <a:buNone/>
            </a:pPr>
            <a:r>
              <a:rPr lang="en-US" b="0" baseline="0" noProof="0" dirty="0" smtClean="0"/>
              <a:t>Trainer arranges for students to participate in a tour type as identified on the slide.</a:t>
            </a:r>
            <a:endParaRPr lang="en-AU" b="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extLst>
      <p:ext uri="{BB962C8B-B14F-4D97-AF65-F5344CB8AC3E}">
        <p14:creationId xmlns:p14="http://schemas.microsoft.com/office/powerpoint/2010/main" val="225645602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noProof="0" dirty="0" smtClean="0"/>
              <a:t>Trainer presents land</a:t>
            </a:r>
            <a:r>
              <a:rPr lang="en-AU" sz="1200" kern="1200" dirty="0" smtClean="0">
                <a:solidFill>
                  <a:schemeClr val="tx1"/>
                </a:solidFill>
                <a:latin typeface="+mn-lt"/>
                <a:ea typeface="+mn-ea"/>
                <a:cs typeface="+mn-cs"/>
              </a:rPr>
              <a:t>-based tours include:</a:t>
            </a:r>
          </a:p>
          <a:p>
            <a:pPr marL="171450" lvl="0" indent="-171450">
              <a:buFont typeface="Arial" pitchFamily="34" charset="0"/>
              <a:buChar char="•"/>
            </a:pPr>
            <a:r>
              <a:rPr lang="en-AU" sz="1200" kern="1200" dirty="0" smtClean="0">
                <a:solidFill>
                  <a:schemeClr val="tx1"/>
                </a:solidFill>
                <a:latin typeface="+mn-lt"/>
                <a:ea typeface="+mn-ea"/>
                <a:cs typeface="+mn-cs"/>
              </a:rPr>
              <a:t>Four-wheel drive tours</a:t>
            </a:r>
          </a:p>
          <a:p>
            <a:pPr marL="171450" lvl="0" indent="-171450">
              <a:buFont typeface="Arial" pitchFamily="34" charset="0"/>
              <a:buChar char="•"/>
            </a:pPr>
            <a:r>
              <a:rPr lang="en-AU" sz="1200" kern="1200" dirty="0" smtClean="0">
                <a:solidFill>
                  <a:schemeClr val="tx1"/>
                </a:solidFill>
                <a:latin typeface="+mn-lt"/>
                <a:ea typeface="+mn-ea"/>
                <a:cs typeface="+mn-cs"/>
              </a:rPr>
              <a:t>Remote area tours</a:t>
            </a:r>
          </a:p>
          <a:p>
            <a:pPr marL="171450" lvl="0" indent="-171450">
              <a:buFont typeface="Arial" pitchFamily="34" charset="0"/>
              <a:buChar char="•"/>
            </a:pPr>
            <a:r>
              <a:rPr lang="en-AU" sz="1200" kern="1200" dirty="0" smtClean="0">
                <a:solidFill>
                  <a:schemeClr val="tx1"/>
                </a:solidFill>
                <a:latin typeface="+mn-lt"/>
                <a:ea typeface="+mn-ea"/>
                <a:cs typeface="+mn-cs"/>
              </a:rPr>
              <a:t>Rail tours</a:t>
            </a:r>
          </a:p>
          <a:p>
            <a:pPr marL="171450" lvl="0" indent="-171450">
              <a:buFont typeface="Arial" pitchFamily="34" charset="0"/>
              <a:buChar char="•"/>
            </a:pPr>
            <a:r>
              <a:rPr lang="en-AU" sz="1200" kern="1200" dirty="0" smtClean="0">
                <a:solidFill>
                  <a:schemeClr val="tx1"/>
                </a:solidFill>
                <a:latin typeface="+mn-lt"/>
                <a:ea typeface="+mn-ea"/>
                <a:cs typeface="+mn-cs"/>
              </a:rPr>
              <a:t>Bus/coach tours</a:t>
            </a:r>
          </a:p>
          <a:p>
            <a:pPr marL="171450" lvl="0" indent="-171450">
              <a:buFont typeface="Arial" pitchFamily="34" charset="0"/>
              <a:buChar char="•"/>
            </a:pPr>
            <a:r>
              <a:rPr lang="en-AU" sz="1200" kern="1200" dirty="0" smtClean="0">
                <a:solidFill>
                  <a:schemeClr val="tx1"/>
                </a:solidFill>
                <a:latin typeface="+mn-lt"/>
                <a:ea typeface="+mn-ea"/>
                <a:cs typeface="+mn-cs"/>
              </a:rPr>
              <a:t>Bicycle and motor bike tours</a:t>
            </a:r>
          </a:p>
          <a:p>
            <a:pPr marL="171450" lvl="0" indent="-171450">
              <a:buFont typeface="Arial" pitchFamily="34" charset="0"/>
              <a:buChar char="•"/>
            </a:pPr>
            <a:r>
              <a:rPr lang="en-AU" sz="1200" kern="1200" dirty="0" smtClean="0">
                <a:solidFill>
                  <a:schemeClr val="tx1"/>
                </a:solidFill>
                <a:latin typeface="+mn-lt"/>
                <a:ea typeface="+mn-ea"/>
                <a:cs typeface="+mn-cs"/>
              </a:rPr>
              <a:t>Walking tours</a:t>
            </a:r>
          </a:p>
          <a:p>
            <a:pPr marL="171450" lvl="0" indent="-171450">
              <a:buFont typeface="Arial" pitchFamily="34" charset="0"/>
              <a:buChar char="•"/>
            </a:pPr>
            <a:r>
              <a:rPr lang="en-AU" sz="1200" kern="1200" dirty="0" smtClean="0">
                <a:solidFill>
                  <a:schemeClr val="tx1"/>
                </a:solidFill>
                <a:latin typeface="+mn-lt"/>
                <a:ea typeface="+mn-ea"/>
                <a:cs typeface="+mn-cs"/>
              </a:rPr>
              <a:t>Horse and camel</a:t>
            </a:r>
          </a:p>
          <a:p>
            <a:pPr marL="171450" lvl="0" indent="-171450">
              <a:buFont typeface="Arial" pitchFamily="34" charset="0"/>
              <a:buChar char="•"/>
            </a:pPr>
            <a:r>
              <a:rPr lang="en-AU" sz="1200" kern="1200" dirty="0" smtClean="0">
                <a:solidFill>
                  <a:schemeClr val="tx1"/>
                </a:solidFill>
                <a:latin typeface="+mn-lt"/>
                <a:ea typeface="+mn-ea"/>
                <a:cs typeface="+mn-cs"/>
              </a:rPr>
              <a:t>Caravan and camper tours.</a:t>
            </a:r>
          </a:p>
          <a:p>
            <a:pPr>
              <a:buFont typeface="Arial" pitchFamily="34" charset="0"/>
              <a:buNone/>
            </a:pPr>
            <a:endParaRPr lang="en-US" noProof="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baseline="0" noProof="0" dirty="0" smtClean="0"/>
              <a:t>Class Activity (1) – Internet Research</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0" baseline="0" noProof="0" dirty="0" smtClean="0"/>
              <a:t>Trainer facilitates student research of and discussion regarding content of following and other similar/relevant websites:</a:t>
            </a:r>
          </a:p>
          <a:p>
            <a:r>
              <a:rPr lang="en-AU" sz="1200" u="sng" kern="1200" dirty="0" smtClean="0">
                <a:solidFill>
                  <a:schemeClr val="tx1"/>
                </a:solidFill>
                <a:latin typeface="+mn-lt"/>
                <a:ea typeface="+mn-ea"/>
                <a:cs typeface="+mn-cs"/>
                <a:hlinkClick r:id="rId3"/>
              </a:rPr>
              <a:t>http://www.affordabletours.com/search/Type/</a:t>
            </a:r>
            <a:r>
              <a:rPr lang="en-AU" sz="1200" kern="1200" dirty="0" smtClean="0">
                <a:solidFill>
                  <a:schemeClr val="tx1"/>
                </a:solidFill>
                <a:latin typeface="+mn-lt"/>
                <a:ea typeface="+mn-ea"/>
                <a:cs typeface="+mn-cs"/>
              </a:rPr>
              <a:t> - Different tour types at Affordable Tours.com</a:t>
            </a:r>
          </a:p>
          <a:p>
            <a:r>
              <a:rPr lang="en-AU" sz="1200" u="none" strike="noStrike" kern="1200" dirty="0" smtClean="0">
                <a:solidFill>
                  <a:schemeClr val="tx1"/>
                </a:solidFill>
                <a:latin typeface="+mn-lt"/>
                <a:ea typeface="+mn-ea"/>
                <a:cs typeface="+mn-cs"/>
                <a:hlinkClick r:id="rId4"/>
              </a:rPr>
              <a:t>http</a:t>
            </a:r>
            <a:r>
              <a:rPr lang="en-AU" sz="1200" u="sng" kern="1200" dirty="0" smtClean="0">
                <a:solidFill>
                  <a:schemeClr val="tx1"/>
                </a:solidFill>
                <a:latin typeface="+mn-lt"/>
                <a:ea typeface="+mn-ea"/>
                <a:cs typeface="+mn-cs"/>
                <a:hlinkClick r:id="rId4"/>
              </a:rPr>
              <a:t>://www2.amk.fi/digma.fi/www.amk.fi/opintojaksot/050809/1184649944500/1184650138999/1184654457131/1184654823506.html</a:t>
            </a:r>
            <a:r>
              <a:rPr lang="en-AU" sz="1200" u="sng" kern="1200" dirty="0" smtClean="0">
                <a:solidFill>
                  <a:schemeClr val="tx1"/>
                </a:solidFill>
                <a:latin typeface="+mn-lt"/>
                <a:ea typeface="+mn-ea"/>
                <a:cs typeface="+mn-cs"/>
              </a:rPr>
              <a:t> </a:t>
            </a:r>
            <a:r>
              <a:rPr lang="en-AU" sz="1200" kern="1200" dirty="0" smtClean="0">
                <a:solidFill>
                  <a:schemeClr val="tx1"/>
                </a:solidFill>
                <a:latin typeface="+mn-lt"/>
                <a:ea typeface="+mn-ea"/>
                <a:cs typeface="+mn-cs"/>
              </a:rPr>
              <a:t>- Types of Tours (VirtuaaliAMK</a:t>
            </a:r>
            <a:r>
              <a:rPr lang="en-AU" sz="1200" u="sng" kern="1200" dirty="0" smtClean="0">
                <a:solidFill>
                  <a:schemeClr val="tx1"/>
                </a:solidFill>
                <a:latin typeface="+mn-lt"/>
                <a:ea typeface="+mn-ea"/>
                <a:cs typeface="+mn-cs"/>
              </a:rPr>
              <a:t> </a:t>
            </a:r>
            <a:r>
              <a:rPr lang="en-AU" sz="1200" kern="1200" dirty="0" smtClean="0">
                <a:solidFill>
                  <a:schemeClr val="tx1"/>
                </a:solidFill>
                <a:latin typeface="+mn-lt"/>
                <a:ea typeface="+mn-ea"/>
                <a:cs typeface="+mn-cs"/>
              </a:rPr>
              <a:t>Tourism Intermediaries)</a:t>
            </a:r>
          </a:p>
          <a:p>
            <a:r>
              <a:rPr lang="en-AU" sz="1200" u="sng" kern="1200" dirty="0" smtClean="0">
                <a:solidFill>
                  <a:schemeClr val="tx1"/>
                </a:solidFill>
                <a:latin typeface="+mn-lt"/>
                <a:ea typeface="+mn-ea"/>
                <a:cs typeface="+mn-cs"/>
                <a:hlinkClick r:id="rId5"/>
              </a:rPr>
              <a:t>http://www.theguardian.com/travel/typesoftrip</a:t>
            </a:r>
            <a:r>
              <a:rPr lang="en-AU" sz="1200" kern="1200" dirty="0" smtClean="0">
                <a:solidFill>
                  <a:schemeClr val="tx1"/>
                </a:solidFill>
                <a:latin typeface="+mn-lt"/>
                <a:ea typeface="+mn-ea"/>
                <a:cs typeface="+mn-cs"/>
              </a:rPr>
              <a:t> - Types of Trips (The Guardian)</a:t>
            </a:r>
          </a:p>
          <a:p>
            <a:r>
              <a:rPr lang="en-AU" sz="1200" u="sng" kern="1200" dirty="0" smtClean="0">
                <a:solidFill>
                  <a:schemeClr val="tx1"/>
                </a:solidFill>
                <a:latin typeface="+mn-lt"/>
                <a:ea typeface="+mn-ea"/>
                <a:cs typeface="+mn-cs"/>
                <a:hlinkClick r:id="rId6"/>
              </a:rPr>
              <a:t>http://www.jobmonkey.com/landtours/html/types_of_tours.html</a:t>
            </a:r>
            <a:r>
              <a:rPr lang="en-AU" sz="1200" kern="1200" dirty="0" smtClean="0">
                <a:solidFill>
                  <a:schemeClr val="tx1"/>
                </a:solidFill>
                <a:latin typeface="+mn-lt"/>
                <a:ea typeface="+mn-ea"/>
                <a:cs typeface="+mn-cs"/>
              </a:rPr>
              <a:t> - Tour Guide Jobs: Types of Tours</a:t>
            </a:r>
          </a:p>
          <a:p>
            <a:r>
              <a:rPr lang="en-AU" sz="1200" u="sng" kern="1200" dirty="0" smtClean="0">
                <a:solidFill>
                  <a:schemeClr val="tx1"/>
                </a:solidFill>
                <a:latin typeface="+mn-lt"/>
                <a:ea typeface="+mn-ea"/>
                <a:cs typeface="+mn-cs"/>
                <a:hlinkClick r:id="rId7"/>
              </a:rPr>
              <a:t>http://psna.ru/index.php?p=ekskursovod&amp;st=en8</a:t>
            </a:r>
            <a:r>
              <a:rPr lang="en-AU" sz="1200" u="sng" kern="1200" dirty="0" smtClean="0">
                <a:solidFill>
                  <a:schemeClr val="tx1"/>
                </a:solidFill>
                <a:latin typeface="+mn-lt"/>
                <a:ea typeface="+mn-ea"/>
                <a:cs typeface="+mn-cs"/>
              </a:rPr>
              <a:t> </a:t>
            </a:r>
            <a:r>
              <a:rPr lang="en-AU" sz="1200" kern="1200" dirty="0" smtClean="0">
                <a:solidFill>
                  <a:schemeClr val="tx1"/>
                </a:solidFill>
                <a:latin typeface="+mn-lt"/>
                <a:ea typeface="+mn-ea"/>
                <a:cs typeface="+mn-cs"/>
              </a:rPr>
              <a:t>– Classifications of Tours</a:t>
            </a:r>
          </a:p>
          <a:p>
            <a:pPr>
              <a:buFont typeface="Arial" pitchFamily="34" charset="0"/>
              <a:buNone/>
            </a:pPr>
            <a:endParaRPr lang="en-US" b="1" noProof="0" dirty="0" smtClean="0"/>
          </a:p>
          <a:p>
            <a:pPr>
              <a:buFont typeface="Arial" pitchFamily="34" charset="0"/>
              <a:buNone/>
            </a:pPr>
            <a:r>
              <a:rPr lang="en-US" b="1" noProof="0" dirty="0" smtClean="0"/>
              <a:t>Class Activity (2) – Handouts</a:t>
            </a:r>
          </a:p>
          <a:p>
            <a:pPr>
              <a:buFont typeface="Arial" pitchFamily="34" charset="0"/>
              <a:buNone/>
            </a:pPr>
            <a:r>
              <a:rPr lang="en-US" b="0" noProof="0" dirty="0" smtClean="0"/>
              <a:t>Trainer distributes</a:t>
            </a:r>
            <a:r>
              <a:rPr lang="en-US" b="0" baseline="0" noProof="0" dirty="0" smtClean="0"/>
              <a:t> and discusses promotional/advertising  material for the tour type identified on the slide.</a:t>
            </a:r>
          </a:p>
          <a:p>
            <a:pPr>
              <a:buFont typeface="Arial" pitchFamily="34" charset="0"/>
              <a:buNone/>
            </a:pPr>
            <a:endParaRPr lang="en-US" b="0" baseline="0" noProof="0" dirty="0" smtClean="0"/>
          </a:p>
          <a:p>
            <a:pPr>
              <a:buFont typeface="Arial" pitchFamily="34" charset="0"/>
              <a:buNone/>
            </a:pPr>
            <a:r>
              <a:rPr lang="en-US" b="1" baseline="0" noProof="0" dirty="0" smtClean="0"/>
              <a:t>Class Activity (3) – Excursion</a:t>
            </a:r>
          </a:p>
          <a:p>
            <a:pPr>
              <a:buFont typeface="Arial" pitchFamily="34" charset="0"/>
              <a:buNone/>
            </a:pPr>
            <a:r>
              <a:rPr lang="en-US" b="0" baseline="0" noProof="0" dirty="0" smtClean="0"/>
              <a:t>Trainer arranges for students to participate in a tour type as identified on the slide.</a:t>
            </a:r>
            <a:endParaRPr lang="en-AU" b="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extLst>
      <p:ext uri="{BB962C8B-B14F-4D97-AF65-F5344CB8AC3E}">
        <p14:creationId xmlns:p14="http://schemas.microsoft.com/office/powerpoint/2010/main" val="414554306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identifies </a:t>
            </a:r>
            <a:r>
              <a:rPr lang="en-AU" sz="1200" kern="1200" dirty="0" smtClean="0">
                <a:solidFill>
                  <a:schemeClr val="tx1"/>
                </a:solidFill>
                <a:latin typeface="+mn-lt"/>
                <a:ea typeface="+mn-ea"/>
                <a:cs typeface="+mn-cs"/>
              </a:rPr>
              <a:t>the following are accepted as being essential characteristics for Tour Guides:</a:t>
            </a:r>
          </a:p>
          <a:p>
            <a:pPr marL="171450" lvl="0" indent="-171450">
              <a:buFont typeface="Arial" pitchFamily="34" charset="0"/>
              <a:buChar char="•"/>
            </a:pPr>
            <a:r>
              <a:rPr lang="en-AU" sz="1200" kern="1200" dirty="0" smtClean="0">
                <a:solidFill>
                  <a:schemeClr val="tx1"/>
                </a:solidFill>
                <a:latin typeface="+mn-lt"/>
                <a:ea typeface="+mn-ea"/>
                <a:cs typeface="+mn-cs"/>
              </a:rPr>
              <a:t>Honesty – in relation to:</a:t>
            </a:r>
          </a:p>
          <a:p>
            <a:pPr marL="628650" lvl="1" indent="-171450">
              <a:buFont typeface="Arial" pitchFamily="34" charset="0"/>
              <a:buChar char="•"/>
            </a:pPr>
            <a:r>
              <a:rPr lang="en-AU" sz="1200" kern="1200" dirty="0" smtClean="0">
                <a:solidFill>
                  <a:schemeClr val="tx1"/>
                </a:solidFill>
                <a:latin typeface="+mn-lt"/>
                <a:ea typeface="+mn-ea"/>
                <a:cs typeface="+mn-cs"/>
              </a:rPr>
              <a:t>Dealing with people</a:t>
            </a:r>
          </a:p>
          <a:p>
            <a:pPr marL="628650" lvl="1" indent="-171450">
              <a:buFont typeface="Arial" pitchFamily="34" charset="0"/>
              <a:buChar char="•"/>
            </a:pPr>
            <a:r>
              <a:rPr lang="en-AU" sz="1200" kern="1200" dirty="0" smtClean="0">
                <a:solidFill>
                  <a:schemeClr val="tx1"/>
                </a:solidFill>
                <a:latin typeface="+mn-lt"/>
                <a:ea typeface="+mn-ea"/>
                <a:cs typeface="+mn-cs"/>
              </a:rPr>
              <a:t>Handling money</a:t>
            </a:r>
          </a:p>
          <a:p>
            <a:pPr marL="628650" lvl="1" indent="-171450">
              <a:buFont typeface="Arial" pitchFamily="34" charset="0"/>
              <a:buChar char="•"/>
            </a:pPr>
            <a:r>
              <a:rPr lang="en-AU" sz="1200" kern="1200" dirty="0" smtClean="0">
                <a:solidFill>
                  <a:schemeClr val="tx1"/>
                </a:solidFill>
                <a:latin typeface="+mn-lt"/>
                <a:ea typeface="+mn-ea"/>
                <a:cs typeface="+mn-cs"/>
              </a:rPr>
              <a:t>Looking after people’s property</a:t>
            </a:r>
          </a:p>
          <a:p>
            <a:pPr marL="628650" lvl="1" indent="-171450">
              <a:buFont typeface="Arial" pitchFamily="34" charset="0"/>
              <a:buChar char="•"/>
            </a:pPr>
            <a:r>
              <a:rPr lang="en-AU" sz="1200" kern="1200" dirty="0" smtClean="0">
                <a:solidFill>
                  <a:schemeClr val="tx1"/>
                </a:solidFill>
                <a:latin typeface="+mn-lt"/>
                <a:ea typeface="+mn-ea"/>
                <a:cs typeface="+mn-cs"/>
              </a:rPr>
              <a:t>What they tell people in terms of commentary</a:t>
            </a:r>
          </a:p>
          <a:p>
            <a:pPr marL="171450" lvl="0" indent="-171450">
              <a:buFont typeface="Arial" pitchFamily="34" charset="0"/>
              <a:buChar char="•"/>
            </a:pPr>
            <a:r>
              <a:rPr lang="en-AU" sz="1200" kern="1200" dirty="0" smtClean="0">
                <a:solidFill>
                  <a:schemeClr val="tx1"/>
                </a:solidFill>
                <a:latin typeface="+mn-lt"/>
                <a:ea typeface="+mn-ea"/>
                <a:cs typeface="+mn-cs"/>
              </a:rPr>
              <a:t>Practicality – in terms of:</a:t>
            </a:r>
          </a:p>
          <a:p>
            <a:pPr marL="628650" lvl="1" indent="-171450">
              <a:buFont typeface="Arial" pitchFamily="34" charset="0"/>
              <a:buChar char="•"/>
            </a:pPr>
            <a:r>
              <a:rPr lang="en-AU" sz="1200" kern="1200" dirty="0" smtClean="0">
                <a:solidFill>
                  <a:schemeClr val="tx1"/>
                </a:solidFill>
                <a:latin typeface="+mn-lt"/>
                <a:ea typeface="+mn-ea"/>
                <a:cs typeface="+mn-cs"/>
              </a:rPr>
              <a:t>Resolving issues and solving problems</a:t>
            </a:r>
          </a:p>
          <a:p>
            <a:pPr marL="628650" lvl="1" indent="-171450">
              <a:buFont typeface="Arial" pitchFamily="34" charset="0"/>
              <a:buChar char="•"/>
            </a:pPr>
            <a:r>
              <a:rPr lang="en-AU" sz="1200" kern="1200" dirty="0" smtClean="0">
                <a:solidFill>
                  <a:schemeClr val="tx1"/>
                </a:solidFill>
                <a:latin typeface="+mn-lt"/>
                <a:ea typeface="+mn-ea"/>
                <a:cs typeface="+mn-cs"/>
              </a:rPr>
              <a:t>Keeping the tour on track and on schedule</a:t>
            </a:r>
          </a:p>
          <a:p>
            <a:pPr marL="628650" lvl="1" indent="-171450">
              <a:buFont typeface="Arial" pitchFamily="34" charset="0"/>
              <a:buChar char="•"/>
            </a:pPr>
            <a:r>
              <a:rPr lang="en-AU" sz="1200" kern="1200" dirty="0" smtClean="0">
                <a:solidFill>
                  <a:schemeClr val="tx1"/>
                </a:solidFill>
                <a:latin typeface="+mn-lt"/>
                <a:ea typeface="+mn-ea"/>
                <a:cs typeface="+mn-cs"/>
              </a:rPr>
              <a:t>Addressing problems arising</a:t>
            </a:r>
          </a:p>
          <a:p>
            <a:pPr marL="628650" lvl="1" indent="-171450">
              <a:buFont typeface="Arial" pitchFamily="34" charset="0"/>
              <a:buChar char="•"/>
            </a:pPr>
            <a:r>
              <a:rPr lang="en-AU" sz="1200" kern="1200" dirty="0" smtClean="0">
                <a:solidFill>
                  <a:schemeClr val="tx1"/>
                </a:solidFill>
                <a:latin typeface="+mn-lt"/>
                <a:ea typeface="+mn-ea"/>
                <a:cs typeface="+mn-cs"/>
              </a:rPr>
              <a:t>Responding to requests and being flexible</a:t>
            </a:r>
          </a:p>
          <a:p>
            <a:pPr marL="171450" lvl="0" indent="-171450">
              <a:buFont typeface="Arial" pitchFamily="34" charset="0"/>
              <a:buChar char="•"/>
            </a:pPr>
            <a:r>
              <a:rPr lang="en-AU" sz="1200" kern="1200" dirty="0" smtClean="0">
                <a:solidFill>
                  <a:schemeClr val="tx1"/>
                </a:solidFill>
                <a:latin typeface="+mn-lt"/>
                <a:ea typeface="+mn-ea"/>
                <a:cs typeface="+mn-cs"/>
              </a:rPr>
              <a:t>Friendliness – towards: </a:t>
            </a:r>
          </a:p>
          <a:p>
            <a:pPr marL="628650" lvl="1" indent="-171450">
              <a:buFont typeface="Arial" pitchFamily="34" charset="0"/>
              <a:buChar char="•"/>
            </a:pPr>
            <a:r>
              <a:rPr lang="en-AU" sz="1200" kern="1200" dirty="0" smtClean="0">
                <a:solidFill>
                  <a:schemeClr val="tx1"/>
                </a:solidFill>
                <a:latin typeface="+mn-lt"/>
                <a:ea typeface="+mn-ea"/>
                <a:cs typeface="+mn-cs"/>
              </a:rPr>
              <a:t>People of all ages</a:t>
            </a:r>
          </a:p>
          <a:p>
            <a:pPr marL="628650" lvl="1" indent="-171450">
              <a:buFont typeface="Arial" pitchFamily="34" charset="0"/>
              <a:buChar char="•"/>
            </a:pPr>
            <a:r>
              <a:rPr lang="en-AU" sz="1200" kern="1200" dirty="0" smtClean="0">
                <a:solidFill>
                  <a:schemeClr val="tx1"/>
                </a:solidFill>
                <a:latin typeface="+mn-lt"/>
                <a:ea typeface="+mn-ea"/>
                <a:cs typeface="+mn-cs"/>
              </a:rPr>
              <a:t>People from all countries</a:t>
            </a:r>
          </a:p>
          <a:p>
            <a:pPr marL="628650" lvl="1" indent="-171450">
              <a:buFont typeface="Arial" pitchFamily="34" charset="0"/>
              <a:buChar char="•"/>
            </a:pPr>
            <a:r>
              <a:rPr lang="en-AU" sz="1200" kern="1200" dirty="0" smtClean="0">
                <a:solidFill>
                  <a:schemeClr val="tx1"/>
                </a:solidFill>
                <a:latin typeface="+mn-lt"/>
                <a:ea typeface="+mn-ea"/>
                <a:cs typeface="+mn-cs"/>
              </a:rPr>
              <a:t>Those who most need it</a:t>
            </a:r>
          </a:p>
          <a:p>
            <a:pPr marL="628650" lvl="1" indent="-171450">
              <a:buFont typeface="Arial" pitchFamily="34" charset="0"/>
              <a:buChar char="•"/>
            </a:pPr>
            <a:r>
              <a:rPr lang="en-AU" sz="1200" kern="1200" dirty="0" smtClean="0">
                <a:solidFill>
                  <a:schemeClr val="tx1"/>
                </a:solidFill>
                <a:latin typeface="+mn-lt"/>
                <a:ea typeface="+mn-ea"/>
                <a:cs typeface="+mn-cs"/>
              </a:rPr>
              <a:t>Those who are having a bad day</a:t>
            </a:r>
          </a:p>
          <a:p>
            <a:pPr marL="628650" lvl="1" indent="-171450">
              <a:buFont typeface="Arial" pitchFamily="34" charset="0"/>
              <a:buChar char="•"/>
            </a:pPr>
            <a:r>
              <a:rPr lang="en-AU" sz="1200" kern="1200" dirty="0" smtClean="0">
                <a:solidFill>
                  <a:schemeClr val="tx1"/>
                </a:solidFill>
                <a:latin typeface="+mn-lt"/>
                <a:ea typeface="+mn-ea"/>
                <a:cs typeface="+mn-cs"/>
              </a:rPr>
              <a:t>Those who appear excluded from the tour</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extLst>
      <p:ext uri="{BB962C8B-B14F-4D97-AF65-F5344CB8AC3E}">
        <p14:creationId xmlns:p14="http://schemas.microsoft.com/office/powerpoint/2010/main" val="108550793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identifying essential characteristics of Tour Guides:</a:t>
            </a:r>
          </a:p>
          <a:p>
            <a:pPr marL="171450" lvl="0" indent="-171450">
              <a:buFont typeface="Arial" pitchFamily="34" charset="0"/>
              <a:buChar char="•"/>
            </a:pPr>
            <a:r>
              <a:rPr lang="en-AU" sz="1200" kern="1200" dirty="0" smtClean="0">
                <a:solidFill>
                  <a:schemeClr val="tx1"/>
                </a:solidFill>
                <a:latin typeface="+mn-lt"/>
                <a:ea typeface="+mn-ea"/>
                <a:cs typeface="+mn-cs"/>
              </a:rPr>
              <a:t>Willingness to serve – with reference to:</a:t>
            </a:r>
          </a:p>
          <a:p>
            <a:pPr marL="628650" lvl="1" indent="-171450">
              <a:buFont typeface="Arial" pitchFamily="34" charset="0"/>
              <a:buChar char="•"/>
            </a:pPr>
            <a:r>
              <a:rPr lang="en-AU" sz="1200" kern="1200" dirty="0" smtClean="0">
                <a:solidFill>
                  <a:schemeClr val="tx1"/>
                </a:solidFill>
                <a:latin typeface="+mn-lt"/>
                <a:ea typeface="+mn-ea"/>
                <a:cs typeface="+mn-cs"/>
              </a:rPr>
              <a:t>Demonstrating service as a pleasure and not a chore</a:t>
            </a:r>
          </a:p>
          <a:p>
            <a:pPr marL="628650" lvl="1" indent="-171450">
              <a:buFont typeface="Arial" pitchFamily="34" charset="0"/>
              <a:buChar char="•"/>
            </a:pPr>
            <a:r>
              <a:rPr lang="en-AU" sz="1200" kern="1200" dirty="0" smtClean="0">
                <a:solidFill>
                  <a:schemeClr val="tx1"/>
                </a:solidFill>
                <a:latin typeface="+mn-lt"/>
                <a:ea typeface="+mn-ea"/>
                <a:cs typeface="+mn-cs"/>
              </a:rPr>
              <a:t>Offering to help without waiting to be asked</a:t>
            </a:r>
          </a:p>
          <a:p>
            <a:pPr marL="628650" lvl="1" indent="-171450">
              <a:buFont typeface="Arial" pitchFamily="34" charset="0"/>
              <a:buChar char="•"/>
            </a:pPr>
            <a:r>
              <a:rPr lang="en-AU" sz="1200" kern="1200" dirty="0" smtClean="0">
                <a:solidFill>
                  <a:schemeClr val="tx1"/>
                </a:solidFill>
                <a:latin typeface="+mn-lt"/>
                <a:ea typeface="+mn-ea"/>
                <a:cs typeface="+mn-cs"/>
              </a:rPr>
              <a:t>Predicting and avoiding problems</a:t>
            </a:r>
          </a:p>
          <a:p>
            <a:pPr marL="628650" lvl="1" indent="-171450">
              <a:buFont typeface="Arial" pitchFamily="34" charset="0"/>
              <a:buChar char="•"/>
            </a:pPr>
            <a:r>
              <a:rPr lang="en-AU" sz="1200" kern="1200" dirty="0" smtClean="0">
                <a:solidFill>
                  <a:schemeClr val="tx1"/>
                </a:solidFill>
                <a:latin typeface="+mn-lt"/>
                <a:ea typeface="+mn-ea"/>
                <a:cs typeface="+mn-cs"/>
              </a:rPr>
              <a:t>Smiling</a:t>
            </a:r>
          </a:p>
          <a:p>
            <a:pPr marL="628650" lvl="1" indent="-171450">
              <a:buFont typeface="Arial" pitchFamily="34" charset="0"/>
              <a:buChar char="•"/>
            </a:pPr>
            <a:r>
              <a:rPr lang="en-AU" sz="1200" kern="1200" dirty="0" smtClean="0">
                <a:solidFill>
                  <a:schemeClr val="tx1"/>
                </a:solidFill>
                <a:latin typeface="+mn-lt"/>
                <a:ea typeface="+mn-ea"/>
                <a:cs typeface="+mn-cs"/>
              </a:rPr>
              <a:t>Asking lots of questions</a:t>
            </a:r>
          </a:p>
          <a:p>
            <a:pPr marL="171450" lvl="0" indent="-171450">
              <a:buFont typeface="Arial" pitchFamily="34" charset="0"/>
              <a:buChar char="•"/>
            </a:pPr>
            <a:r>
              <a:rPr lang="en-AU" sz="1200" kern="1200" dirty="0" smtClean="0">
                <a:solidFill>
                  <a:schemeClr val="tx1"/>
                </a:solidFill>
                <a:latin typeface="+mn-lt"/>
                <a:ea typeface="+mn-ea"/>
                <a:cs typeface="+mn-cs"/>
              </a:rPr>
              <a:t>Local knowledge – as it applies:</a:t>
            </a:r>
          </a:p>
          <a:p>
            <a:pPr marL="628650" lvl="1" indent="-171450">
              <a:buFont typeface="Arial" pitchFamily="34" charset="0"/>
              <a:buChar char="•"/>
            </a:pPr>
            <a:r>
              <a:rPr lang="en-AU" sz="1200" kern="1200" dirty="0" smtClean="0">
                <a:solidFill>
                  <a:schemeClr val="tx1"/>
                </a:solidFill>
                <a:latin typeface="+mn-lt"/>
                <a:ea typeface="+mn-ea"/>
                <a:cs typeface="+mn-cs"/>
              </a:rPr>
              <a:t>Currently – knowledge must be up-to-date</a:t>
            </a:r>
          </a:p>
          <a:p>
            <a:pPr marL="628650" lvl="1" indent="-171450">
              <a:buFont typeface="Arial" pitchFamily="34" charset="0"/>
              <a:buChar char="•"/>
            </a:pPr>
            <a:r>
              <a:rPr lang="en-AU" sz="1200" kern="1200" dirty="0" smtClean="0">
                <a:solidFill>
                  <a:schemeClr val="tx1"/>
                </a:solidFill>
                <a:latin typeface="+mn-lt"/>
                <a:ea typeface="+mn-ea"/>
                <a:cs typeface="+mn-cs"/>
              </a:rPr>
              <a:t>To tour destinations </a:t>
            </a:r>
          </a:p>
          <a:p>
            <a:pPr marL="628650" lvl="1" indent="-171450">
              <a:buFont typeface="Arial" pitchFamily="34" charset="0"/>
              <a:buChar char="•"/>
            </a:pPr>
            <a:r>
              <a:rPr lang="en-AU" sz="1200" kern="1200" dirty="0" smtClean="0">
                <a:solidFill>
                  <a:schemeClr val="tx1"/>
                </a:solidFill>
                <a:latin typeface="+mn-lt"/>
                <a:ea typeface="+mn-ea"/>
                <a:cs typeface="+mn-cs"/>
              </a:rPr>
              <a:t>To the host country</a:t>
            </a:r>
          </a:p>
          <a:p>
            <a:pPr marL="171450" lvl="0" indent="-171450">
              <a:buFont typeface="Arial" pitchFamily="34" charset="0"/>
              <a:buChar char="•"/>
            </a:pPr>
            <a:r>
              <a:rPr lang="en-AU" sz="1200" kern="1200" dirty="0" smtClean="0">
                <a:solidFill>
                  <a:schemeClr val="tx1"/>
                </a:solidFill>
                <a:latin typeface="+mn-lt"/>
                <a:ea typeface="+mn-ea"/>
                <a:cs typeface="+mn-cs"/>
              </a:rPr>
              <a:t>Excellent appearance – in terms of</a:t>
            </a:r>
          </a:p>
          <a:p>
            <a:pPr marL="628650" lvl="1" indent="-171450">
              <a:buFont typeface="Arial" pitchFamily="34" charset="0"/>
              <a:buChar char="•"/>
            </a:pPr>
            <a:r>
              <a:rPr lang="en-AU" sz="1200" kern="1200" dirty="0" smtClean="0">
                <a:solidFill>
                  <a:schemeClr val="tx1"/>
                </a:solidFill>
                <a:latin typeface="+mn-lt"/>
                <a:ea typeface="+mn-ea"/>
                <a:cs typeface="+mn-cs"/>
              </a:rPr>
              <a:t>Personal presentation</a:t>
            </a:r>
          </a:p>
          <a:p>
            <a:pPr marL="628650" lvl="1" indent="-171450">
              <a:buFont typeface="Arial" pitchFamily="34" charset="0"/>
              <a:buChar char="•"/>
            </a:pPr>
            <a:r>
              <a:rPr lang="en-AU" sz="1200" kern="1200" dirty="0" smtClean="0">
                <a:solidFill>
                  <a:schemeClr val="tx1"/>
                </a:solidFill>
                <a:latin typeface="+mn-lt"/>
                <a:ea typeface="+mn-ea"/>
                <a:cs typeface="+mn-cs"/>
              </a:rPr>
              <a:t>Personal hygiene</a:t>
            </a:r>
          </a:p>
          <a:p>
            <a:pPr marL="171450" lvl="0" indent="-171450">
              <a:buFont typeface="Arial" pitchFamily="34" charset="0"/>
              <a:buChar char="•"/>
            </a:pPr>
            <a:r>
              <a:rPr lang="en-AU" sz="1200" kern="1200" dirty="0" smtClean="0">
                <a:solidFill>
                  <a:schemeClr val="tx1"/>
                </a:solidFill>
                <a:latin typeface="+mn-lt"/>
                <a:ea typeface="+mn-ea"/>
                <a:cs typeface="+mn-cs"/>
              </a:rPr>
              <a:t>A range of skills, knowledge and abilities to conduct/lead the tour for which they have responsibility – see later slides.</a:t>
            </a:r>
          </a:p>
          <a:p>
            <a:pPr>
              <a:buFont typeface="Arial" pitchFamily="34" charset="0"/>
              <a:buNone/>
            </a:pPr>
            <a:endParaRPr lang="en-US" noProof="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baseline="0" noProof="0" dirty="0" smtClean="0"/>
              <a:t>Class Activity – Internet Research</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0" baseline="0" noProof="0" dirty="0" smtClean="0"/>
              <a:t>Trainer facilitates student research of and discussion regarding content of following and other similar/relevant websites:</a:t>
            </a:r>
          </a:p>
          <a:p>
            <a:pPr>
              <a:buFont typeface="Arial" pitchFamily="34" charset="0"/>
              <a:buNone/>
            </a:pPr>
            <a:r>
              <a:rPr lang="en-AU" sz="1200" u="sng" kern="1200" dirty="0" smtClean="0">
                <a:solidFill>
                  <a:schemeClr val="tx1"/>
                </a:solidFill>
                <a:latin typeface="+mn-lt"/>
                <a:ea typeface="+mn-ea"/>
                <a:cs typeface="+mn-cs"/>
                <a:hlinkClick r:id="rId3"/>
              </a:rPr>
              <a:t>http://travelblog.viator.com/top-10-characteristics-of-a-great-tour-guide/</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extLst>
      <p:ext uri="{BB962C8B-B14F-4D97-AF65-F5344CB8AC3E}">
        <p14:creationId xmlns:p14="http://schemas.microsoft.com/office/powerpoint/2010/main" val="330905743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a:t>
            </a:r>
            <a:r>
              <a:rPr lang="en-AU" sz="1200" kern="1200" dirty="0" smtClean="0">
                <a:solidFill>
                  <a:schemeClr val="tx1"/>
                </a:solidFill>
                <a:latin typeface="+mn-lt"/>
                <a:ea typeface="+mn-ea"/>
                <a:cs typeface="+mn-cs"/>
              </a:rPr>
              <a:t>notes tour guiding principles are guidelines governing how Tour Guides operate and function stating these principles govern and control the thoughts, action and speech of Tour Guides in their day-to-day working life and highlighting tour guiding principles can exist in a number of ways:</a:t>
            </a:r>
          </a:p>
          <a:p>
            <a:pPr marL="171450" lvl="0" indent="-171450">
              <a:buFont typeface="Arial" pitchFamily="34" charset="0"/>
              <a:buChar char="•"/>
            </a:pPr>
            <a:r>
              <a:rPr lang="en-AU" sz="1200" kern="1200" dirty="0" smtClean="0">
                <a:solidFill>
                  <a:schemeClr val="tx1"/>
                </a:solidFill>
                <a:latin typeface="+mn-lt"/>
                <a:ea typeface="+mn-ea"/>
                <a:cs typeface="+mn-cs"/>
              </a:rPr>
              <a:t>They can be requirements imposed on Tour Guides by their employer – as part of the terms and conditions of employment with a Tour Operator</a:t>
            </a:r>
          </a:p>
          <a:p>
            <a:pPr marL="171450" lvl="0" indent="-171450">
              <a:buFont typeface="Arial" pitchFamily="34" charset="0"/>
              <a:buChar char="•"/>
            </a:pPr>
            <a:r>
              <a:rPr lang="en-AU" sz="1200" kern="1200" dirty="0" smtClean="0">
                <a:solidFill>
                  <a:schemeClr val="tx1"/>
                </a:solidFill>
                <a:latin typeface="+mn-lt"/>
                <a:ea typeface="+mn-ea"/>
                <a:cs typeface="+mn-cs"/>
              </a:rPr>
              <a:t>They may be requirements imposed by a governing body (a government agency or a peak industry body) in the form of a Code of Conduct or similar – designed to give tourists confidence in the services provided by Tour Operators who subscribe to the Code</a:t>
            </a:r>
          </a:p>
          <a:p>
            <a:pPr marL="171450" lvl="0" indent="-171450">
              <a:buFont typeface="Arial" pitchFamily="34" charset="0"/>
              <a:buChar char="•"/>
            </a:pPr>
            <a:r>
              <a:rPr lang="en-AU" sz="1200" kern="1200" dirty="0" smtClean="0">
                <a:solidFill>
                  <a:schemeClr val="tx1"/>
                </a:solidFill>
                <a:latin typeface="+mn-lt"/>
                <a:ea typeface="+mn-ea"/>
                <a:cs typeface="+mn-cs"/>
              </a:rPr>
              <a:t>They can flow from standard ethical business practices – which demand honesty, accountability and integrity from all organisations regardless of the type of business they operate</a:t>
            </a:r>
          </a:p>
          <a:p>
            <a:pPr marL="171450" lvl="0" indent="-171450">
              <a:buFont typeface="Arial" pitchFamily="34" charset="0"/>
              <a:buChar char="•"/>
            </a:pPr>
            <a:r>
              <a:rPr lang="en-AU" sz="1200" kern="1200" dirty="0" smtClean="0">
                <a:solidFill>
                  <a:schemeClr val="tx1"/>
                </a:solidFill>
                <a:latin typeface="+mn-lt"/>
                <a:ea typeface="+mn-ea"/>
                <a:cs typeface="+mn-cs"/>
              </a:rPr>
              <a:t>They have evolved over time – in response to issues and problems encountered, feedback from tour group members, market research, common sense and action taken by other businesses in other industry types and sectors.</a:t>
            </a:r>
          </a:p>
          <a:p>
            <a:pPr>
              <a:buFont typeface="Arial" pitchFamily="34" charset="0"/>
              <a:buNone/>
            </a:pPr>
            <a:endParaRPr lang="en-US" noProof="0" dirty="0" smtClean="0"/>
          </a:p>
          <a:p>
            <a:pPr>
              <a:buFont typeface="Arial" pitchFamily="34" charset="0"/>
              <a:buNone/>
            </a:pPr>
            <a:r>
              <a:rPr lang="en-US" b="1" noProof="0" dirty="0" smtClean="0"/>
              <a:t>Class Activity – Handouts</a:t>
            </a:r>
          </a:p>
          <a:p>
            <a:pPr>
              <a:buFont typeface="Arial" pitchFamily="34" charset="0"/>
              <a:buNone/>
            </a:pPr>
            <a:r>
              <a:rPr lang="en-US" b="0" noProof="0" dirty="0" smtClean="0"/>
              <a:t>Trainer distributes and discusses Codes and related other documents which represent/provide guidance or direction in relation to tour guiding principles. </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extLst>
      <p:ext uri="{BB962C8B-B14F-4D97-AF65-F5344CB8AC3E}">
        <p14:creationId xmlns:p14="http://schemas.microsoft.com/office/powerpoint/2010/main" val="349084255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observes </a:t>
            </a:r>
            <a:r>
              <a:rPr lang="en-AU" sz="1200" kern="1200" dirty="0" smtClean="0">
                <a:solidFill>
                  <a:schemeClr val="tx1"/>
                </a:solidFill>
                <a:latin typeface="+mn-lt"/>
                <a:ea typeface="+mn-ea"/>
                <a:cs typeface="+mn-cs"/>
              </a:rPr>
              <a:t>the following is indicative of what exists and provides a sound basis for the delivery of professional guiding services:</a:t>
            </a:r>
          </a:p>
          <a:p>
            <a:r>
              <a:rPr lang="en-AU" sz="1200" b="1" kern="1200" dirty="0" smtClean="0">
                <a:solidFill>
                  <a:schemeClr val="tx1"/>
                </a:solidFill>
                <a:latin typeface="+mn-lt"/>
                <a:ea typeface="+mn-ea"/>
                <a:cs typeface="+mn-cs"/>
              </a:rPr>
              <a:t>Need to ensure the safety and security </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This applies to:</a:t>
            </a:r>
          </a:p>
          <a:p>
            <a:pPr marL="628650" lvl="1" indent="-171450">
              <a:buFont typeface="Arial" pitchFamily="34" charset="0"/>
              <a:buChar char="•"/>
            </a:pPr>
            <a:r>
              <a:rPr lang="en-AU" sz="1200" kern="1200" dirty="0" smtClean="0">
                <a:solidFill>
                  <a:schemeClr val="tx1"/>
                </a:solidFill>
                <a:latin typeface="+mn-lt"/>
                <a:ea typeface="+mn-ea"/>
                <a:cs typeface="+mn-cs"/>
              </a:rPr>
              <a:t>Tour group members</a:t>
            </a:r>
          </a:p>
          <a:p>
            <a:pPr marL="628650" lvl="1" indent="-171450">
              <a:buFont typeface="Arial" pitchFamily="34" charset="0"/>
              <a:buChar char="•"/>
            </a:pPr>
            <a:r>
              <a:rPr lang="en-AU" sz="1200" kern="1200" dirty="0" smtClean="0">
                <a:solidFill>
                  <a:schemeClr val="tx1"/>
                </a:solidFill>
                <a:latin typeface="+mn-lt"/>
                <a:ea typeface="+mn-ea"/>
                <a:cs typeface="+mn-cs"/>
              </a:rPr>
              <a:t>Their property</a:t>
            </a:r>
          </a:p>
          <a:p>
            <a:pPr marL="628650" lvl="1" indent="-171450">
              <a:buFont typeface="Arial" pitchFamily="34" charset="0"/>
              <a:buChar char="•"/>
            </a:pPr>
            <a:r>
              <a:rPr lang="en-AU" sz="1200" kern="1200" dirty="0" smtClean="0">
                <a:solidFill>
                  <a:schemeClr val="tx1"/>
                </a:solidFill>
                <a:latin typeface="+mn-lt"/>
                <a:ea typeface="+mn-ea"/>
                <a:cs typeface="+mn-cs"/>
              </a:rPr>
              <a:t>Assets of the employer</a:t>
            </a:r>
          </a:p>
          <a:p>
            <a:pPr marL="628650" lvl="1" indent="-171450">
              <a:buFont typeface="Arial" pitchFamily="34" charset="0"/>
              <a:buChar char="•"/>
            </a:pPr>
            <a:r>
              <a:rPr lang="en-AU" sz="1200" kern="1200" dirty="0" smtClean="0">
                <a:solidFill>
                  <a:schemeClr val="tx1"/>
                </a:solidFill>
                <a:latin typeface="+mn-lt"/>
                <a:ea typeface="+mn-ea"/>
                <a:cs typeface="+mn-cs"/>
              </a:rPr>
              <a:t>Property owned by businesses/sites and people/communities visited.</a:t>
            </a:r>
          </a:p>
          <a:p>
            <a:pPr marL="171450" indent="-171450">
              <a:buFont typeface="Arial" pitchFamily="34" charset="0"/>
              <a:buChar char="•"/>
            </a:pPr>
            <a:r>
              <a:rPr lang="en-AU" sz="1200" kern="1200" dirty="0" smtClean="0">
                <a:solidFill>
                  <a:schemeClr val="tx1"/>
                </a:solidFill>
                <a:latin typeface="+mn-lt"/>
                <a:ea typeface="+mn-ea"/>
                <a:cs typeface="+mn-cs"/>
              </a:rPr>
              <a:t>It also embraces need for:</a:t>
            </a:r>
          </a:p>
          <a:p>
            <a:pPr marL="628650" lvl="1" indent="-171450">
              <a:buFont typeface="Arial" pitchFamily="34" charset="0"/>
              <a:buChar char="•"/>
            </a:pPr>
            <a:r>
              <a:rPr lang="en-AU" sz="1200" kern="1200" dirty="0" smtClean="0">
                <a:solidFill>
                  <a:schemeClr val="tx1"/>
                </a:solidFill>
                <a:latin typeface="+mn-lt"/>
                <a:ea typeface="+mn-ea"/>
                <a:cs typeface="+mn-cs"/>
              </a:rPr>
              <a:t>Risk management – including risk identification and assessment, and the implementation of risk control for tours</a:t>
            </a:r>
          </a:p>
          <a:p>
            <a:pPr marL="628650" lvl="1" indent="-171450">
              <a:buFont typeface="Arial" pitchFamily="34" charset="0"/>
              <a:buChar char="•"/>
            </a:pPr>
            <a:r>
              <a:rPr lang="en-AU" sz="1200" kern="1200" dirty="0" smtClean="0">
                <a:solidFill>
                  <a:schemeClr val="tx1"/>
                </a:solidFill>
                <a:latin typeface="+mn-lt"/>
                <a:ea typeface="+mn-ea"/>
                <a:cs typeface="+mn-cs"/>
              </a:rPr>
              <a:t>Development of contingency plans – to address identified emergency conditions</a:t>
            </a:r>
          </a:p>
          <a:p>
            <a:pPr marL="628650" lvl="1" indent="-171450">
              <a:buFont typeface="Arial" pitchFamily="34" charset="0"/>
              <a:buChar char="•"/>
            </a:pPr>
            <a:r>
              <a:rPr lang="en-AU" sz="1200" kern="1200" dirty="0" smtClean="0">
                <a:solidFill>
                  <a:schemeClr val="tx1"/>
                </a:solidFill>
                <a:latin typeface="+mn-lt"/>
                <a:ea typeface="+mn-ea"/>
                <a:cs typeface="+mn-cs"/>
              </a:rPr>
              <a:t>Training to enable safe and secure operation of tours</a:t>
            </a:r>
          </a:p>
          <a:p>
            <a:pPr marL="628650" lvl="1" indent="-171450">
              <a:buFont typeface="Arial" pitchFamily="34" charset="0"/>
              <a:buChar char="•"/>
            </a:pPr>
            <a:r>
              <a:rPr lang="en-AU" sz="1200" kern="1200" dirty="0" smtClean="0">
                <a:solidFill>
                  <a:schemeClr val="tx1"/>
                </a:solidFill>
                <a:latin typeface="+mn-lt"/>
                <a:ea typeface="+mn-ea"/>
                <a:cs typeface="+mn-cs"/>
              </a:rPr>
              <a:t>Equipment, facilities and technology to support tour safety and security.</a:t>
            </a:r>
          </a:p>
          <a:p>
            <a:pPr marL="0" indent="0">
              <a:buFont typeface="Arial" panose="020B0604020202020204" pitchFamily="34" charset="0"/>
              <a:buNone/>
            </a:pPr>
            <a:r>
              <a:rPr lang="en-AU" sz="1200" b="1" kern="1200" dirty="0" smtClean="0">
                <a:solidFill>
                  <a:schemeClr val="tx1"/>
                </a:solidFill>
                <a:latin typeface="+mn-lt"/>
                <a:ea typeface="+mn-ea"/>
                <a:cs typeface="+mn-cs"/>
              </a:rPr>
              <a:t>Need for care and respect </a:t>
            </a:r>
            <a:endParaRPr lang="en-AU" sz="1200" kern="1200" dirty="0" smtClean="0">
              <a:solidFill>
                <a:schemeClr val="tx1"/>
              </a:solidFill>
              <a:latin typeface="+mn-lt"/>
              <a:ea typeface="+mn-ea"/>
              <a:cs typeface="+mn-cs"/>
            </a:endParaRPr>
          </a:p>
          <a:p>
            <a:pPr marL="171450" indent="-171450">
              <a:buFont typeface="Arial" panose="020B0604020202020204" pitchFamily="34" charset="0"/>
              <a:buChar char="•"/>
            </a:pPr>
            <a:r>
              <a:rPr lang="en-AU" sz="1200" kern="1200" dirty="0" smtClean="0">
                <a:solidFill>
                  <a:schemeClr val="tx1"/>
                </a:solidFill>
                <a:latin typeface="+mn-lt"/>
                <a:ea typeface="+mn-ea"/>
                <a:cs typeface="+mn-cs"/>
              </a:rPr>
              <a:t>Which needs to be demonstrated/shown towards:</a:t>
            </a:r>
          </a:p>
          <a:p>
            <a:pPr marL="628650" lvl="1" indent="-171450">
              <a:buFont typeface="Arial" pitchFamily="34" charset="0"/>
              <a:buChar char="•"/>
            </a:pPr>
            <a:r>
              <a:rPr lang="en-AU" sz="1200" kern="1200" dirty="0" smtClean="0">
                <a:solidFill>
                  <a:schemeClr val="tx1"/>
                </a:solidFill>
                <a:latin typeface="+mn-lt"/>
                <a:ea typeface="+mn-ea"/>
                <a:cs typeface="+mn-cs"/>
              </a:rPr>
              <a:t>The employer</a:t>
            </a:r>
          </a:p>
          <a:p>
            <a:pPr marL="628650" lvl="1" indent="-171450">
              <a:buFont typeface="Arial" pitchFamily="34" charset="0"/>
              <a:buChar char="•"/>
            </a:pPr>
            <a:r>
              <a:rPr lang="en-AU" sz="1200" kern="1200" dirty="0" smtClean="0">
                <a:solidFill>
                  <a:schemeClr val="tx1"/>
                </a:solidFill>
                <a:latin typeface="+mn-lt"/>
                <a:ea typeface="+mn-ea"/>
                <a:cs typeface="+mn-cs"/>
              </a:rPr>
              <a:t>The tour group members</a:t>
            </a:r>
          </a:p>
          <a:p>
            <a:pPr marL="628650" lvl="1" indent="-171450">
              <a:buFont typeface="Arial" pitchFamily="34" charset="0"/>
              <a:buChar char="•"/>
            </a:pPr>
            <a:r>
              <a:rPr lang="en-AU" sz="1200" kern="1200" dirty="0" smtClean="0">
                <a:solidFill>
                  <a:schemeClr val="tx1"/>
                </a:solidFill>
                <a:latin typeface="+mn-lt"/>
                <a:ea typeface="+mn-ea"/>
                <a:cs typeface="+mn-cs"/>
              </a:rPr>
              <a:t>The host country</a:t>
            </a:r>
          </a:p>
          <a:p>
            <a:pPr marL="628650" lvl="1" indent="-171450">
              <a:buFont typeface="Arial" pitchFamily="34" charset="0"/>
              <a:buChar char="•"/>
            </a:pPr>
            <a:r>
              <a:rPr lang="en-AU" sz="1200" kern="1200" dirty="0" smtClean="0">
                <a:solidFill>
                  <a:schemeClr val="tx1"/>
                </a:solidFill>
                <a:latin typeface="+mn-lt"/>
                <a:ea typeface="+mn-ea"/>
                <a:cs typeface="+mn-cs"/>
              </a:rPr>
              <a:t>The sites/destinations to be visited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extLst>
      <p:ext uri="{BB962C8B-B14F-4D97-AF65-F5344CB8AC3E}">
        <p14:creationId xmlns:p14="http://schemas.microsoft.com/office/powerpoint/2010/main" val="181832678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US" noProof="0" dirty="0" smtClean="0"/>
              <a:t>Trainer continues identifying tour guiding principles:</a:t>
            </a:r>
          </a:p>
          <a:p>
            <a:r>
              <a:rPr lang="en-AU" sz="1200" b="1" kern="1200" dirty="0" smtClean="0">
                <a:solidFill>
                  <a:schemeClr val="tx1"/>
                </a:solidFill>
                <a:latin typeface="+mn-lt"/>
                <a:ea typeface="+mn-ea"/>
                <a:cs typeface="+mn-cs"/>
              </a:rPr>
              <a:t>Need for appropriate skills and abilities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This highlights the need for Tour Guides to possess the necessary competencies to enable them to conduct/lead the tour/s for which they have responsibility</a:t>
            </a:r>
          </a:p>
          <a:p>
            <a:pPr marL="171450" indent="-171450">
              <a:buFont typeface="Arial" pitchFamily="34" charset="0"/>
              <a:buChar char="•"/>
            </a:pPr>
            <a:r>
              <a:rPr lang="en-AU" sz="1200" kern="1200" dirty="0" smtClean="0">
                <a:solidFill>
                  <a:schemeClr val="tx1"/>
                </a:solidFill>
                <a:latin typeface="+mn-lt"/>
                <a:ea typeface="+mn-ea"/>
                <a:cs typeface="+mn-cs"/>
              </a:rPr>
              <a:t>In general these can be expected to include:</a:t>
            </a:r>
          </a:p>
          <a:p>
            <a:pPr marL="628650" lvl="1" indent="-171450">
              <a:buFont typeface="Arial" pitchFamily="34" charset="0"/>
              <a:buChar char="•"/>
            </a:pPr>
            <a:r>
              <a:rPr lang="en-AU" sz="1200" kern="1200" dirty="0" smtClean="0">
                <a:solidFill>
                  <a:schemeClr val="tx1"/>
                </a:solidFill>
                <a:latin typeface="+mn-lt"/>
                <a:ea typeface="+mn-ea"/>
                <a:cs typeface="+mn-cs"/>
              </a:rPr>
              <a:t>Unique skills relevant to the type of tour being guided – which may (for example) include ability to drive a bus, skills in cooking, language skills as well as abilities related specifically to the type/nature of the tour such as climbing skills, white water rafting skills, animal handling skills, motor bike riding skills</a:t>
            </a:r>
          </a:p>
          <a:p>
            <a:pPr marL="628650" lvl="1" indent="-171450">
              <a:buFont typeface="Arial" pitchFamily="34" charset="0"/>
              <a:buChar char="•"/>
            </a:pPr>
            <a:r>
              <a:rPr lang="en-AU" sz="1200" kern="1200" dirty="0" smtClean="0">
                <a:solidFill>
                  <a:schemeClr val="tx1"/>
                </a:solidFill>
                <a:latin typeface="+mn-lt"/>
                <a:ea typeface="+mn-ea"/>
                <a:cs typeface="+mn-cs"/>
              </a:rPr>
              <a:t>Communication and interpersonal skills</a:t>
            </a:r>
          </a:p>
          <a:p>
            <a:pPr marL="628650" lvl="1" indent="-171450">
              <a:buFont typeface="Arial" pitchFamily="34" charset="0"/>
              <a:buChar char="•"/>
            </a:pPr>
            <a:r>
              <a:rPr lang="en-AU" sz="1200" kern="1200" dirty="0" smtClean="0">
                <a:solidFill>
                  <a:schemeClr val="tx1"/>
                </a:solidFill>
                <a:latin typeface="+mn-lt"/>
                <a:ea typeface="+mn-ea"/>
                <a:cs typeface="+mn-cs"/>
              </a:rPr>
              <a:t>Negotiation and conflict resolution skills</a:t>
            </a:r>
          </a:p>
          <a:p>
            <a:pPr marL="628650" lvl="1" indent="-171450">
              <a:buFont typeface="Arial" pitchFamily="34" charset="0"/>
              <a:buChar char="•"/>
            </a:pPr>
            <a:r>
              <a:rPr lang="en-AU" sz="1200" kern="1200" dirty="0" smtClean="0">
                <a:solidFill>
                  <a:schemeClr val="tx1"/>
                </a:solidFill>
                <a:latin typeface="+mn-lt"/>
                <a:ea typeface="+mn-ea"/>
                <a:cs typeface="+mn-cs"/>
              </a:rPr>
              <a:t>Planning, researching, organising and strategic thinking skills</a:t>
            </a:r>
          </a:p>
          <a:p>
            <a:pPr marL="628650" lvl="1" indent="-171450">
              <a:buFont typeface="Arial" pitchFamily="34" charset="0"/>
              <a:buChar char="•"/>
            </a:pPr>
            <a:r>
              <a:rPr lang="en-AU" sz="1200" kern="1200" dirty="0" smtClean="0">
                <a:solidFill>
                  <a:schemeClr val="tx1"/>
                </a:solidFill>
                <a:latin typeface="+mn-lt"/>
                <a:ea typeface="+mn-ea"/>
                <a:cs typeface="+mn-cs"/>
              </a:rPr>
              <a:t>Risk and emergency management skills</a:t>
            </a:r>
          </a:p>
          <a:p>
            <a:pPr marL="628650" lvl="1" indent="-171450">
              <a:buFont typeface="Arial" pitchFamily="34" charset="0"/>
              <a:buChar char="•"/>
            </a:pPr>
            <a:r>
              <a:rPr lang="en-AU" sz="1200" kern="1200" dirty="0" smtClean="0">
                <a:solidFill>
                  <a:schemeClr val="tx1"/>
                </a:solidFill>
                <a:latin typeface="+mn-lt"/>
                <a:ea typeface="+mn-ea"/>
                <a:cs typeface="+mn-cs"/>
              </a:rPr>
              <a:t>First aid skills and the ability to respond to accidents </a:t>
            </a:r>
          </a:p>
          <a:p>
            <a:pPr marL="628650" lvl="1" indent="-171450">
              <a:buFont typeface="Arial" pitchFamily="34" charset="0"/>
              <a:buChar char="•"/>
            </a:pPr>
            <a:r>
              <a:rPr lang="en-AU" sz="1200" kern="1200" dirty="0" smtClean="0">
                <a:solidFill>
                  <a:schemeClr val="tx1"/>
                </a:solidFill>
                <a:latin typeface="+mn-lt"/>
                <a:ea typeface="+mn-ea"/>
                <a:cs typeface="+mn-cs"/>
              </a:rPr>
              <a:t>Ability to operate basic emergency equipment and communication systems</a:t>
            </a:r>
          </a:p>
          <a:p>
            <a:pPr marL="628650" lvl="1" indent="-171450">
              <a:buFont typeface="Arial" pitchFamily="34" charset="0"/>
              <a:buChar char="•"/>
            </a:pPr>
            <a:r>
              <a:rPr lang="en-AU" sz="1200" kern="1200" dirty="0" smtClean="0">
                <a:solidFill>
                  <a:schemeClr val="tx1"/>
                </a:solidFill>
                <a:latin typeface="+mn-lt"/>
                <a:ea typeface="+mn-ea"/>
                <a:cs typeface="+mn-cs"/>
              </a:rPr>
              <a:t>Leadership and control skills.</a:t>
            </a:r>
          </a:p>
          <a:p>
            <a:r>
              <a:rPr lang="en-AU" sz="1200" b="1" kern="1200" dirty="0" smtClean="0">
                <a:solidFill>
                  <a:schemeClr val="tx1"/>
                </a:solidFill>
                <a:latin typeface="+mn-lt"/>
                <a:ea typeface="+mn-ea"/>
                <a:cs typeface="+mn-cs"/>
              </a:rPr>
              <a:t>Need for knowledge</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Every Tour Guide must have:</a:t>
            </a:r>
          </a:p>
          <a:p>
            <a:pPr marL="628650" lvl="1" indent="-171450">
              <a:buFont typeface="Arial" pitchFamily="34" charset="0"/>
              <a:buChar char="•"/>
            </a:pPr>
            <a:r>
              <a:rPr lang="en-AU" sz="1200" kern="1200" dirty="0" smtClean="0">
                <a:solidFill>
                  <a:schemeClr val="tx1"/>
                </a:solidFill>
                <a:latin typeface="+mn-lt"/>
                <a:ea typeface="+mn-ea"/>
                <a:cs typeface="+mn-cs"/>
              </a:rPr>
              <a:t>Comprehensive, accurate and current knowledge of:</a:t>
            </a:r>
          </a:p>
          <a:p>
            <a:pPr marL="1085850" lvl="2" indent="-171450">
              <a:buFont typeface="Arial" pitchFamily="34" charset="0"/>
              <a:buChar char="•"/>
            </a:pPr>
            <a:r>
              <a:rPr lang="en-AU" sz="1200" kern="1200" dirty="0" smtClean="0">
                <a:solidFill>
                  <a:schemeClr val="tx1"/>
                </a:solidFill>
                <a:latin typeface="+mn-lt"/>
                <a:ea typeface="+mn-ea"/>
                <a:cs typeface="+mn-cs"/>
              </a:rPr>
              <a:t>The host country</a:t>
            </a:r>
          </a:p>
          <a:p>
            <a:pPr marL="1085850" lvl="2" indent="-171450">
              <a:buFont typeface="Arial" pitchFamily="34" charset="0"/>
              <a:buChar char="•"/>
            </a:pPr>
            <a:r>
              <a:rPr lang="en-AU" sz="1200" kern="1200" dirty="0" smtClean="0">
                <a:solidFill>
                  <a:schemeClr val="tx1"/>
                </a:solidFill>
                <a:latin typeface="+mn-lt"/>
                <a:ea typeface="+mn-ea"/>
                <a:cs typeface="+mn-cs"/>
              </a:rPr>
              <a:t>All areas, businesses, attractions, sites, venues and destinations to be visited on tour</a:t>
            </a:r>
          </a:p>
          <a:p>
            <a:pPr marL="1085850" lvl="2" indent="-171450">
              <a:buFont typeface="Arial" pitchFamily="34" charset="0"/>
              <a:buChar char="•"/>
            </a:pPr>
            <a:r>
              <a:rPr lang="en-AU" sz="1200" kern="1200" dirty="0" smtClean="0">
                <a:solidFill>
                  <a:schemeClr val="tx1"/>
                </a:solidFill>
                <a:latin typeface="+mn-lt"/>
                <a:ea typeface="+mn-ea"/>
                <a:cs typeface="+mn-cs"/>
              </a:rPr>
              <a:t>Local culture, customs, language, transport, currency, services, facilities, foods</a:t>
            </a:r>
          </a:p>
          <a:p>
            <a:pPr marL="1085850" lvl="2" indent="-171450">
              <a:buFont typeface="Arial" pitchFamily="34" charset="0"/>
              <a:buChar char="•"/>
            </a:pPr>
            <a:r>
              <a:rPr lang="en-AU" sz="1200" kern="1200" dirty="0" smtClean="0">
                <a:solidFill>
                  <a:schemeClr val="tx1"/>
                </a:solidFill>
                <a:latin typeface="+mn-lt"/>
                <a:ea typeface="+mn-ea"/>
                <a:cs typeface="+mn-cs"/>
              </a:rPr>
              <a:t>The Tour Operator and the services/tours provided</a:t>
            </a:r>
          </a:p>
          <a:p>
            <a:pPr marL="628650" lvl="1" indent="-171450">
              <a:buFont typeface="Arial" pitchFamily="34" charset="0"/>
              <a:buChar char="•"/>
            </a:pPr>
            <a:r>
              <a:rPr lang="en-AU" sz="1200" kern="1200" dirty="0" smtClean="0">
                <a:solidFill>
                  <a:schemeClr val="tx1"/>
                </a:solidFill>
                <a:latin typeface="+mn-lt"/>
                <a:ea typeface="+mn-ea"/>
                <a:cs typeface="+mn-cs"/>
              </a:rPr>
              <a:t>Ability to source information as required – to address questions/issues where the information is not known.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extLst>
      <p:ext uri="{BB962C8B-B14F-4D97-AF65-F5344CB8AC3E}">
        <p14:creationId xmlns:p14="http://schemas.microsoft.com/office/powerpoint/2010/main" val="221270572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a:buFont typeface="Arial" pitchFamily="34" charset="0"/>
              <a:buNone/>
            </a:pPr>
            <a:r>
              <a:rPr lang="en-US" noProof="0" dirty="0" smtClean="0"/>
              <a:t>Trainer continues identifying tour guiding principles:</a:t>
            </a:r>
          </a:p>
          <a:p>
            <a:r>
              <a:rPr lang="en-AU" sz="1200" b="1" kern="1200" dirty="0" smtClean="0">
                <a:solidFill>
                  <a:schemeClr val="tx1"/>
                </a:solidFill>
                <a:latin typeface="+mn-lt"/>
                <a:ea typeface="+mn-ea"/>
                <a:cs typeface="+mn-cs"/>
              </a:rPr>
              <a:t>Need to provide a positive and memorable tour</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This embraces requirements to:</a:t>
            </a:r>
          </a:p>
          <a:p>
            <a:pPr marL="628650" lvl="1" indent="-171450">
              <a:buFont typeface="Arial" pitchFamily="34" charset="0"/>
              <a:buChar char="•"/>
            </a:pPr>
            <a:r>
              <a:rPr lang="en-AU" sz="1200" kern="1200" dirty="0" smtClean="0">
                <a:solidFill>
                  <a:schemeClr val="tx1"/>
                </a:solidFill>
                <a:latin typeface="+mn-lt"/>
                <a:ea typeface="+mn-ea"/>
                <a:cs typeface="+mn-cs"/>
              </a:rPr>
              <a:t>Make all tours interesting and engaging</a:t>
            </a:r>
          </a:p>
          <a:p>
            <a:pPr marL="628650" lvl="1" indent="-171450">
              <a:buFont typeface="Arial" pitchFamily="34" charset="0"/>
              <a:buChar char="•"/>
            </a:pPr>
            <a:r>
              <a:rPr lang="en-AU" sz="1200" kern="1200" dirty="0" smtClean="0">
                <a:solidFill>
                  <a:schemeClr val="tx1"/>
                </a:solidFill>
                <a:latin typeface="+mn-lt"/>
                <a:ea typeface="+mn-ea"/>
                <a:cs typeface="+mn-cs"/>
              </a:rPr>
              <a:t>Provide a tour meeting identified needs of tour group members</a:t>
            </a:r>
          </a:p>
          <a:p>
            <a:pPr marL="628650" lvl="1" indent="-171450">
              <a:buFont typeface="Arial" pitchFamily="34" charset="0"/>
              <a:buChar char="•"/>
            </a:pPr>
            <a:r>
              <a:rPr lang="en-AU" sz="1200" kern="1200" dirty="0" smtClean="0">
                <a:solidFill>
                  <a:schemeClr val="tx1"/>
                </a:solidFill>
                <a:latin typeface="+mn-lt"/>
                <a:ea typeface="+mn-ea"/>
                <a:cs typeface="+mn-cs"/>
              </a:rPr>
              <a:t>Give informative commentary</a:t>
            </a:r>
          </a:p>
          <a:p>
            <a:pPr marL="628650" lvl="1" indent="-171450">
              <a:buFont typeface="Arial" pitchFamily="34" charset="0"/>
              <a:buChar char="•"/>
            </a:pPr>
            <a:r>
              <a:rPr lang="en-AU" sz="1200" kern="1200" dirty="0" smtClean="0">
                <a:solidFill>
                  <a:schemeClr val="tx1"/>
                </a:solidFill>
                <a:latin typeface="+mn-lt"/>
                <a:ea typeface="+mn-ea"/>
                <a:cs typeface="+mn-cs"/>
              </a:rPr>
              <a:t>Include interactive experiences</a:t>
            </a:r>
          </a:p>
          <a:p>
            <a:pPr marL="628650" lvl="1" indent="-171450">
              <a:buFont typeface="Arial" pitchFamily="34" charset="0"/>
              <a:buChar char="•"/>
            </a:pPr>
            <a:r>
              <a:rPr lang="en-AU" sz="1200" kern="1200" dirty="0" smtClean="0">
                <a:solidFill>
                  <a:schemeClr val="tx1"/>
                </a:solidFill>
                <a:latin typeface="+mn-lt"/>
                <a:ea typeface="+mn-ea"/>
                <a:cs typeface="+mn-cs"/>
              </a:rPr>
              <a:t>Ensure all tour group members feel included/part of the tour.</a:t>
            </a:r>
          </a:p>
          <a:p>
            <a:r>
              <a:rPr lang="en-AU" sz="1200" b="1" kern="1200" dirty="0" smtClean="0">
                <a:solidFill>
                  <a:schemeClr val="tx1"/>
                </a:solidFill>
                <a:latin typeface="+mn-lt"/>
                <a:ea typeface="+mn-ea"/>
                <a:cs typeface="+mn-cs"/>
              </a:rPr>
              <a:t>Need for ethical conduct</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Which requires Tour Guides to:</a:t>
            </a:r>
          </a:p>
          <a:p>
            <a:pPr marL="628650" lvl="1" indent="-171450">
              <a:buFont typeface="Arial" pitchFamily="34" charset="0"/>
              <a:buChar char="•"/>
            </a:pPr>
            <a:r>
              <a:rPr lang="en-AU" sz="1200" kern="1200" dirty="0" smtClean="0">
                <a:solidFill>
                  <a:schemeClr val="tx1"/>
                </a:solidFill>
                <a:latin typeface="+mn-lt"/>
                <a:ea typeface="+mn-ea"/>
                <a:cs typeface="+mn-cs"/>
              </a:rPr>
              <a:t>Act in the best interests of the tour group</a:t>
            </a:r>
          </a:p>
          <a:p>
            <a:pPr marL="628650" lvl="1" indent="-171450">
              <a:buFont typeface="Arial" pitchFamily="34" charset="0"/>
              <a:buChar char="•"/>
            </a:pPr>
            <a:r>
              <a:rPr lang="en-AU" sz="1200" kern="1200" dirty="0" smtClean="0">
                <a:solidFill>
                  <a:schemeClr val="tx1"/>
                </a:solidFill>
                <a:latin typeface="+mn-lt"/>
                <a:ea typeface="+mn-ea"/>
                <a:cs typeface="+mn-cs"/>
              </a:rPr>
              <a:t>Disclose any personal interests, family connections or financial arrangements with sites, businesses or destinations visited on tour</a:t>
            </a:r>
          </a:p>
          <a:p>
            <a:pPr marL="628650" lvl="1" indent="-171450">
              <a:buFont typeface="Arial" pitchFamily="34" charset="0"/>
              <a:buChar char="•"/>
            </a:pPr>
            <a:r>
              <a:rPr lang="en-AU" sz="1200" kern="1200" dirty="0" smtClean="0">
                <a:solidFill>
                  <a:schemeClr val="tx1"/>
                </a:solidFill>
                <a:latin typeface="+mn-lt"/>
                <a:ea typeface="+mn-ea"/>
                <a:cs typeface="+mn-cs"/>
              </a:rPr>
              <a:t>Be honest in all dealings and statements</a:t>
            </a:r>
          </a:p>
          <a:p>
            <a:pPr marL="628650" lvl="1" indent="-171450">
              <a:buFont typeface="Arial" pitchFamily="34" charset="0"/>
              <a:buChar char="•"/>
            </a:pPr>
            <a:r>
              <a:rPr lang="en-AU" sz="1200" kern="1200" dirty="0" smtClean="0">
                <a:solidFill>
                  <a:schemeClr val="tx1"/>
                </a:solidFill>
                <a:latin typeface="+mn-lt"/>
                <a:ea typeface="+mn-ea"/>
                <a:cs typeface="+mn-cs"/>
              </a:rPr>
              <a:t>Never be intentionally misleading or deceitful</a:t>
            </a:r>
          </a:p>
          <a:p>
            <a:pPr marL="628650" lvl="1" indent="-171450">
              <a:buFont typeface="Arial" pitchFamily="34" charset="0"/>
              <a:buChar char="•"/>
            </a:pPr>
            <a:r>
              <a:rPr lang="en-AU" sz="1200" kern="1200" dirty="0" smtClean="0">
                <a:solidFill>
                  <a:schemeClr val="tx1"/>
                </a:solidFill>
                <a:latin typeface="+mn-lt"/>
                <a:ea typeface="+mn-ea"/>
                <a:cs typeface="+mn-cs"/>
              </a:rPr>
              <a:t>Obey all rules, laws, regulations and company policies</a:t>
            </a:r>
          </a:p>
          <a:p>
            <a:pPr marL="628650" lvl="1" indent="-171450">
              <a:buFont typeface="Arial" pitchFamily="34" charset="0"/>
              <a:buChar char="•"/>
            </a:pPr>
            <a:r>
              <a:rPr lang="en-AU" sz="1200" kern="1200" dirty="0" smtClean="0">
                <a:solidFill>
                  <a:schemeClr val="tx1"/>
                </a:solidFill>
                <a:latin typeface="+mn-lt"/>
                <a:ea typeface="+mn-ea"/>
                <a:cs typeface="+mn-cs"/>
              </a:rPr>
              <a:t>Not tout for tips/gratuities.</a:t>
            </a:r>
          </a:p>
          <a:p>
            <a:r>
              <a:rPr lang="en-AU" sz="1200" b="1" kern="1200" dirty="0" smtClean="0">
                <a:solidFill>
                  <a:schemeClr val="tx1"/>
                </a:solidFill>
                <a:latin typeface="+mn-lt"/>
                <a:ea typeface="+mn-ea"/>
                <a:cs typeface="+mn-cs"/>
              </a:rPr>
              <a:t>Need to cater for special needs individuals and groups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This requires taking appropriate action to effectively accommodate:</a:t>
            </a:r>
          </a:p>
          <a:p>
            <a:pPr marL="628650" lvl="1" indent="-171450">
              <a:buFont typeface="Arial" pitchFamily="34" charset="0"/>
              <a:buChar char="•"/>
            </a:pPr>
            <a:r>
              <a:rPr lang="en-AU" sz="1200" kern="1200" dirty="0" smtClean="0">
                <a:solidFill>
                  <a:schemeClr val="tx1"/>
                </a:solidFill>
                <a:latin typeface="+mn-lt"/>
                <a:ea typeface="+mn-ea"/>
                <a:cs typeface="+mn-cs"/>
              </a:rPr>
              <a:t>Visitors with language barriers/difficulties</a:t>
            </a:r>
          </a:p>
          <a:p>
            <a:pPr marL="628650" lvl="1" indent="-171450">
              <a:buFont typeface="Arial" pitchFamily="34" charset="0"/>
              <a:buChar char="•"/>
            </a:pPr>
            <a:r>
              <a:rPr lang="en-AU" sz="1200" kern="1200" dirty="0" smtClean="0">
                <a:solidFill>
                  <a:schemeClr val="tx1"/>
                </a:solidFill>
                <a:latin typeface="+mn-lt"/>
                <a:ea typeface="+mn-ea"/>
                <a:cs typeface="+mn-cs"/>
              </a:rPr>
              <a:t>People with physical or mental disabilities</a:t>
            </a:r>
          </a:p>
          <a:p>
            <a:pPr marL="628650" lvl="1" indent="-171450">
              <a:buFont typeface="Arial" pitchFamily="34" charset="0"/>
              <a:buChar char="•"/>
            </a:pPr>
            <a:r>
              <a:rPr lang="en-AU" sz="1200" kern="1200" dirty="0" smtClean="0">
                <a:solidFill>
                  <a:schemeClr val="tx1"/>
                </a:solidFill>
                <a:latin typeface="+mn-lt"/>
                <a:ea typeface="+mn-ea"/>
                <a:cs typeface="+mn-cs"/>
              </a:rPr>
              <a:t>Those with limited mobility or other sensory acuity</a:t>
            </a:r>
          </a:p>
          <a:p>
            <a:pPr marL="628650" lvl="1" indent="-171450">
              <a:buFont typeface="Arial" pitchFamily="34" charset="0"/>
              <a:buChar char="•"/>
            </a:pPr>
            <a:r>
              <a:rPr lang="en-AU" sz="1200" kern="1200" dirty="0" smtClean="0">
                <a:solidFill>
                  <a:schemeClr val="tx1"/>
                </a:solidFill>
                <a:latin typeface="+mn-lt"/>
                <a:ea typeface="+mn-ea"/>
                <a:cs typeface="+mn-cs"/>
              </a:rPr>
              <a:t>Certain age groups – with a focus on the very young and the very old.</a:t>
            </a:r>
          </a:p>
          <a:p>
            <a:pPr>
              <a:buFont typeface="Arial" pitchFamily="34" charset="0"/>
              <a:buNone/>
            </a:pPr>
            <a:endParaRPr lang="en-US" noProof="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baseline="0" noProof="0" dirty="0" smtClean="0"/>
              <a:t>Class Activity – Internet Research</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0" baseline="0" noProof="0" dirty="0" smtClean="0"/>
              <a:t>Trainer facilitates student research of and discussion regarding content of following and other similar/relevant websites:</a:t>
            </a:r>
          </a:p>
          <a:p>
            <a:r>
              <a:rPr lang="en-AU" sz="1200" u="sng" kern="1200" dirty="0" smtClean="0">
                <a:solidFill>
                  <a:schemeClr val="tx1"/>
                </a:solidFill>
                <a:latin typeface="+mn-lt"/>
                <a:ea typeface="+mn-ea"/>
                <a:cs typeface="+mn-cs"/>
                <a:hlinkClick r:id="rId3"/>
              </a:rPr>
              <a:t>http://www.toursbylocals.com/TBL/WebObjects/ToursByLocals.woa/1/wa/textPopup?wosid=MGGNmilnEdy0tGBZHVGdbw&amp;c=16&amp;t=Tour+Guide+Business+Principles&amp;s1=&amp;s2</a:t>
            </a:r>
            <a:r>
              <a:rPr lang="en-AU" sz="1200" u="sng" kern="1200" dirty="0" smtClean="0">
                <a:solidFill>
                  <a:schemeClr val="tx1"/>
                </a:solidFill>
                <a:latin typeface="+mn-lt"/>
                <a:ea typeface="+mn-ea"/>
                <a:cs typeface="+mn-cs"/>
              </a:rPr>
              <a:t>= </a:t>
            </a:r>
            <a:r>
              <a:rPr lang="en-AU" sz="1200" kern="1200" dirty="0" smtClean="0">
                <a:solidFill>
                  <a:schemeClr val="tx1"/>
                </a:solidFill>
                <a:latin typeface="+mn-lt"/>
                <a:ea typeface="+mn-ea"/>
                <a:cs typeface="+mn-cs"/>
              </a:rPr>
              <a:t>- Tour Guide Business Principles</a:t>
            </a:r>
          </a:p>
          <a:p>
            <a:r>
              <a:rPr lang="en-AU" sz="1200" u="sng" kern="1200" dirty="0" smtClean="0">
                <a:solidFill>
                  <a:schemeClr val="tx1"/>
                </a:solidFill>
                <a:latin typeface="+mn-lt"/>
                <a:ea typeface="+mn-ea"/>
                <a:cs typeface="+mn-cs"/>
                <a:hlinkClick r:id="rId4"/>
              </a:rPr>
              <a:t>http://localprivatetourguides.blogspot.com.au/2010/11/dressing-code-for-tour-guides.html</a:t>
            </a:r>
            <a:r>
              <a:rPr lang="en-AU" sz="1200" u="sng" kern="1200" dirty="0" smtClean="0">
                <a:solidFill>
                  <a:schemeClr val="tx1"/>
                </a:solidFill>
                <a:latin typeface="+mn-lt"/>
                <a:ea typeface="+mn-ea"/>
                <a:cs typeface="+mn-cs"/>
              </a:rPr>
              <a:t> </a:t>
            </a:r>
            <a:r>
              <a:rPr lang="en-AU" sz="1200" kern="1200" dirty="0" smtClean="0">
                <a:solidFill>
                  <a:schemeClr val="tx1"/>
                </a:solidFill>
                <a:latin typeface="+mn-lt"/>
                <a:ea typeface="+mn-ea"/>
                <a:cs typeface="+mn-cs"/>
              </a:rPr>
              <a:t>- Dressing code for tour guides</a:t>
            </a:r>
          </a:p>
          <a:p>
            <a:pPr>
              <a:buFont typeface="Arial" pitchFamily="34" charset="0"/>
              <a:buNone/>
            </a:pPr>
            <a:endParaRPr lang="en-US" noProof="0" dirty="0" smtClean="0"/>
          </a:p>
          <a:p>
            <a:pPr>
              <a:buFont typeface="Arial" pitchFamily="34" charset="0"/>
              <a:buNone/>
            </a:pPr>
            <a:endParaRPr lang="en-US"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extLst>
      <p:ext uri="{BB962C8B-B14F-4D97-AF65-F5344CB8AC3E}">
        <p14:creationId xmlns:p14="http://schemas.microsoft.com/office/powerpoint/2010/main" val="253995712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identifies </a:t>
            </a:r>
            <a:r>
              <a:rPr lang="en-AU" sz="1200" kern="1200" dirty="0" smtClean="0">
                <a:solidFill>
                  <a:schemeClr val="tx1"/>
                </a:solidFill>
                <a:latin typeface="+mn-lt"/>
                <a:ea typeface="+mn-ea"/>
                <a:cs typeface="+mn-cs"/>
              </a:rPr>
              <a:t>standard protocols for dealing with special needs participants include:</a:t>
            </a:r>
          </a:p>
          <a:p>
            <a:pPr marL="171450" lvl="0" indent="-171450">
              <a:buFont typeface="Arial" pitchFamily="34" charset="0"/>
              <a:buChar char="•"/>
            </a:pPr>
            <a:r>
              <a:rPr lang="en-AU" sz="1200" kern="1200" dirty="0" smtClean="0">
                <a:solidFill>
                  <a:schemeClr val="tx1"/>
                </a:solidFill>
                <a:latin typeface="+mn-lt"/>
                <a:ea typeface="+mn-ea"/>
                <a:cs typeface="+mn-cs"/>
              </a:rPr>
              <a:t>Recognise their special need to indicate awareness of it – this means verbally acknowledging/mentioning the need and how this will impact things for the visitor/tour</a:t>
            </a:r>
          </a:p>
          <a:p>
            <a:pPr marL="171450" lvl="0" indent="-171450">
              <a:buFont typeface="Arial" pitchFamily="34" charset="0"/>
              <a:buChar char="•"/>
            </a:pPr>
            <a:r>
              <a:rPr lang="en-AU" sz="1200" kern="1200" dirty="0" smtClean="0">
                <a:solidFill>
                  <a:schemeClr val="tx1"/>
                </a:solidFill>
                <a:latin typeface="+mn-lt"/>
                <a:ea typeface="+mn-ea"/>
                <a:cs typeface="+mn-cs"/>
              </a:rPr>
              <a:t>Explain arrangements which have been made – to accommodate those needs (where applicable): this demonstrates requests made by the group have been received and actioned and/or willingness to be of service/be accommodating of special needs</a:t>
            </a:r>
          </a:p>
          <a:p>
            <a:pPr marL="171450" lvl="0" indent="-171450">
              <a:buFont typeface="Arial" pitchFamily="34" charset="0"/>
              <a:buChar char="•"/>
            </a:pPr>
            <a:r>
              <a:rPr lang="en-AU" sz="1200" kern="1200" dirty="0" smtClean="0">
                <a:solidFill>
                  <a:schemeClr val="tx1"/>
                </a:solidFill>
                <a:latin typeface="+mn-lt"/>
                <a:ea typeface="+mn-ea"/>
                <a:cs typeface="+mn-cs"/>
              </a:rPr>
              <a:t>Identify the facilities available – within the site/venue/area to meet those needs, and advising these will be pointed out, implemented as and when appropriate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extLst>
      <p:ext uri="{BB962C8B-B14F-4D97-AF65-F5344CB8AC3E}">
        <p14:creationId xmlns:p14="http://schemas.microsoft.com/office/powerpoint/2010/main" val="112687953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continues identifying </a:t>
            </a:r>
            <a:r>
              <a:rPr lang="en-AU" sz="1200" kern="1200" dirty="0" smtClean="0">
                <a:solidFill>
                  <a:schemeClr val="tx1"/>
                </a:solidFill>
                <a:latin typeface="+mn-lt"/>
                <a:ea typeface="+mn-ea"/>
                <a:cs typeface="+mn-cs"/>
              </a:rPr>
              <a:t>standard protocols for dealing with special needs participants include:</a:t>
            </a:r>
          </a:p>
          <a:p>
            <a:pPr marL="171450" lvl="0" indent="-171450">
              <a:buFont typeface="Arial" pitchFamily="34" charset="0"/>
              <a:buChar char="•"/>
            </a:pPr>
            <a:r>
              <a:rPr lang="en-AU" sz="1200" kern="1200" dirty="0" smtClean="0">
                <a:solidFill>
                  <a:schemeClr val="tx1"/>
                </a:solidFill>
                <a:latin typeface="+mn-lt"/>
                <a:ea typeface="+mn-ea"/>
                <a:cs typeface="+mn-cs"/>
              </a:rPr>
              <a:t>Empathise with their situation – without being condescending, flippant or demeaning them in front of others in the group </a:t>
            </a:r>
          </a:p>
          <a:p>
            <a:pPr marL="171450" lvl="0" indent="-171450">
              <a:buFont typeface="Arial" pitchFamily="34" charset="0"/>
              <a:buChar char="•"/>
            </a:pPr>
            <a:r>
              <a:rPr lang="en-AU" sz="1200" kern="1200" dirty="0" smtClean="0">
                <a:solidFill>
                  <a:schemeClr val="tx1"/>
                </a:solidFill>
                <a:latin typeface="+mn-lt"/>
                <a:ea typeface="+mn-ea"/>
                <a:cs typeface="+mn-cs"/>
              </a:rPr>
              <a:t>Be respectful and never make special needs people think they are being done a favour by meeting their special needs – or that they have created ‘extra work’</a:t>
            </a:r>
          </a:p>
          <a:p>
            <a:pPr marL="171450" lvl="0" indent="-171450">
              <a:buFont typeface="Arial" pitchFamily="34" charset="0"/>
              <a:buChar char="•"/>
            </a:pPr>
            <a:r>
              <a:rPr lang="en-AU" sz="1200" kern="1200" dirty="0" smtClean="0">
                <a:solidFill>
                  <a:schemeClr val="tx1"/>
                </a:solidFill>
                <a:latin typeface="+mn-lt"/>
                <a:ea typeface="+mn-ea"/>
                <a:cs typeface="+mn-cs"/>
              </a:rPr>
              <a:t>Never raise false expectations – in general terms:</a:t>
            </a:r>
          </a:p>
          <a:p>
            <a:pPr marL="628650" lvl="1" indent="-171450">
              <a:buFont typeface="Arial" pitchFamily="34" charset="0"/>
              <a:buChar char="•"/>
            </a:pPr>
            <a:r>
              <a:rPr lang="en-AU" sz="1200" kern="1200" dirty="0" smtClean="0">
                <a:solidFill>
                  <a:schemeClr val="tx1"/>
                </a:solidFill>
                <a:latin typeface="+mn-lt"/>
                <a:ea typeface="+mn-ea"/>
                <a:cs typeface="+mn-cs"/>
              </a:rPr>
              <a:t>Follow internal policies and procedures – to the extent of individual scope of authority </a:t>
            </a:r>
          </a:p>
          <a:p>
            <a:pPr marL="628650" lvl="1" indent="-171450">
              <a:buFont typeface="Arial" pitchFamily="34" charset="0"/>
              <a:buChar char="•"/>
            </a:pPr>
            <a:r>
              <a:rPr lang="en-AU" sz="1200" kern="1200" dirty="0" smtClean="0">
                <a:solidFill>
                  <a:schemeClr val="tx1"/>
                </a:solidFill>
                <a:latin typeface="+mn-lt"/>
                <a:ea typeface="+mn-ea"/>
                <a:cs typeface="+mn-cs"/>
              </a:rPr>
              <a:t>Tell them what can be done to meet their need – if anything: try/make an effort to accommodate their needs</a:t>
            </a:r>
          </a:p>
          <a:p>
            <a:pPr marL="628650" lvl="1" indent="-171450">
              <a:buFont typeface="Arial" pitchFamily="34" charset="0"/>
              <a:buChar char="•"/>
            </a:pPr>
            <a:r>
              <a:rPr lang="en-AU" sz="1200" kern="1200" dirty="0" smtClean="0">
                <a:solidFill>
                  <a:schemeClr val="tx1"/>
                </a:solidFill>
                <a:latin typeface="+mn-lt"/>
                <a:ea typeface="+mn-ea"/>
                <a:cs typeface="+mn-cs"/>
              </a:rPr>
              <a:t>Never over-promise what can be done – they are better off knowing right from the start if their need cannot be met</a:t>
            </a:r>
          </a:p>
          <a:p>
            <a:pPr marL="628650" lvl="1" indent="-171450">
              <a:buFont typeface="Arial" pitchFamily="34" charset="0"/>
              <a:buChar char="•"/>
            </a:pPr>
            <a:r>
              <a:rPr lang="en-AU" sz="1200" kern="1200" dirty="0" smtClean="0">
                <a:solidFill>
                  <a:schemeClr val="tx1"/>
                </a:solidFill>
                <a:latin typeface="+mn-lt"/>
                <a:ea typeface="+mn-ea"/>
                <a:cs typeface="+mn-cs"/>
              </a:rPr>
              <a:t>Contact management or another worker at the site/venue to determine if they can assist in meeting the special need</a:t>
            </a:r>
          </a:p>
          <a:p>
            <a:pPr marL="628650" lvl="1" indent="-171450">
              <a:buFont typeface="Arial" pitchFamily="34" charset="0"/>
              <a:buChar char="•"/>
            </a:pPr>
            <a:r>
              <a:rPr lang="en-AU" sz="1200" kern="1200" dirty="0" smtClean="0">
                <a:solidFill>
                  <a:schemeClr val="tx1"/>
                </a:solidFill>
                <a:latin typeface="+mn-lt"/>
                <a:ea typeface="+mn-ea"/>
                <a:cs typeface="+mn-cs"/>
              </a:rPr>
              <a:t>Apologise where a special need cannot be accommodated.</a:t>
            </a:r>
          </a:p>
          <a:p>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extLst>
      <p:ext uri="{BB962C8B-B14F-4D97-AF65-F5344CB8AC3E}">
        <p14:creationId xmlns:p14="http://schemas.microsoft.com/office/powerpoint/2010/main" val="418374763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extLst>
      <p:ext uri="{BB962C8B-B14F-4D97-AF65-F5344CB8AC3E}">
        <p14:creationId xmlns:p14="http://schemas.microsoft.com/office/powerpoint/2010/main" val="152679871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extLst>
      <p:ext uri="{BB962C8B-B14F-4D97-AF65-F5344CB8AC3E}">
        <p14:creationId xmlns:p14="http://schemas.microsoft.com/office/powerpoint/2010/main" val="145073054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sz="1200" kern="1200" baseline="0" dirty="0" smtClean="0">
              <a:solidFill>
                <a:schemeClr val="tx1"/>
              </a:solidFill>
              <a:ea typeface="+mn-ea"/>
              <a:cs typeface="+mn-cs"/>
            </a:endParaRPr>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by asking questions such as:</a:t>
            </a:r>
          </a:p>
          <a:p>
            <a:pPr marL="171450" indent="-171450">
              <a:buFont typeface="Arial" pitchFamily="34" charset="0"/>
              <a:buChar char="•"/>
            </a:pPr>
            <a:r>
              <a:rPr lang="en-US" sz="1200" kern="1200" baseline="0" noProof="0" dirty="0" smtClean="0">
                <a:solidFill>
                  <a:schemeClr val="tx1"/>
                </a:solidFill>
                <a:ea typeface="+mn-ea"/>
                <a:cs typeface="+mn-cs"/>
              </a:rPr>
              <a:t>What sources of information for a Tour Guide do you know of/have you used?</a:t>
            </a:r>
          </a:p>
          <a:p>
            <a:pPr marL="171450" indent="-171450">
              <a:buFont typeface="Arial" pitchFamily="34" charset="0"/>
              <a:buChar char="•"/>
            </a:pPr>
            <a:r>
              <a:rPr lang="en-US" sz="1200" kern="1200" baseline="0" noProof="0" dirty="0" smtClean="0">
                <a:solidFill>
                  <a:schemeClr val="tx1"/>
                </a:solidFill>
                <a:ea typeface="+mn-ea"/>
                <a:cs typeface="+mn-cs"/>
              </a:rPr>
              <a:t>Who do you know who could help provide advice about Tour Guide skills and knowledge?</a:t>
            </a:r>
          </a:p>
          <a:p>
            <a:pPr marL="171450" indent="-171450">
              <a:buFont typeface="Arial" pitchFamily="34" charset="0"/>
              <a:buChar char="•"/>
            </a:pPr>
            <a:r>
              <a:rPr lang="en-US" sz="1200" kern="1200" baseline="0" noProof="0" dirty="0" smtClean="0">
                <a:solidFill>
                  <a:schemeClr val="tx1"/>
                </a:solidFill>
                <a:ea typeface="+mn-ea"/>
                <a:cs typeface="+mn-cs"/>
              </a:rPr>
              <a:t>Why is it important for Tour Guides to have up-to-date knowledge and skills?</a:t>
            </a:r>
          </a:p>
          <a:p>
            <a:pPr marL="171450" indent="-171450">
              <a:buFont typeface="Arial" pitchFamily="34" charset="0"/>
              <a:buChar char="•"/>
            </a:pPr>
            <a:r>
              <a:rPr lang="en-US" sz="1200" kern="1200" baseline="0" noProof="0" dirty="0" smtClean="0">
                <a:solidFill>
                  <a:schemeClr val="tx1"/>
                </a:solidFill>
                <a:ea typeface="+mn-ea"/>
                <a:cs typeface="+mn-cs"/>
              </a:rPr>
              <a:t>What legal requirements are you aware of in relation to delivery of guiding services?</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noProof="0" dirty="0" smtClean="0">
                <a:solidFill>
                  <a:schemeClr val="tx1"/>
                </a:solidFill>
                <a:ea typeface="+mn-ea"/>
                <a:cs typeface="+mn-cs"/>
              </a:rPr>
              <a:t>What ethical requirements are you aware of in relation to delivery of guiding services?</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noProof="0" dirty="0" smtClean="0">
                <a:solidFill>
                  <a:schemeClr val="tx1"/>
                </a:solidFill>
                <a:ea typeface="+mn-ea"/>
                <a:cs typeface="+mn-cs"/>
              </a:rPr>
              <a:t>What safety requirements are you aware of in relation to delivery of guiding services?</a:t>
            </a:r>
            <a:endParaRPr lang="en-AU" noProof="0"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extLst>
      <p:ext uri="{BB962C8B-B14F-4D97-AF65-F5344CB8AC3E}">
        <p14:creationId xmlns:p14="http://schemas.microsoft.com/office/powerpoint/2010/main" val="112810354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a:buFont typeface="Arial" pitchFamily="34" charset="0"/>
              <a:buNone/>
            </a:pPr>
            <a:r>
              <a:rPr lang="en-US" noProof="0" dirty="0" smtClean="0"/>
              <a:t>Trainer presents sources of guide information:</a:t>
            </a:r>
          </a:p>
          <a:p>
            <a:r>
              <a:rPr lang="en-AU" sz="1200" b="1" kern="1200" dirty="0" smtClean="0">
                <a:solidFill>
                  <a:schemeClr val="tx1"/>
                </a:solidFill>
                <a:latin typeface="+mn-lt"/>
                <a:ea typeface="+mn-ea"/>
                <a:cs typeface="+mn-cs"/>
              </a:rPr>
              <a:t>Tour Operators and wholesalers</a:t>
            </a:r>
          </a:p>
          <a:p>
            <a:pPr>
              <a:buFont typeface="Arial" pitchFamily="34" charset="0"/>
              <a:buNone/>
            </a:pPr>
            <a:r>
              <a:rPr lang="en-AU" sz="1200" kern="1200" dirty="0" smtClean="0">
                <a:solidFill>
                  <a:schemeClr val="tx1"/>
                </a:solidFill>
                <a:latin typeface="+mn-lt"/>
                <a:ea typeface="+mn-ea"/>
                <a:cs typeface="+mn-cs"/>
              </a:rPr>
              <a:t>These are excellent sources of: </a:t>
            </a:r>
          </a:p>
          <a:p>
            <a:pPr marL="171450" lvl="0" indent="-171450">
              <a:buFont typeface="Arial" pitchFamily="34" charset="0"/>
              <a:buChar char="•"/>
            </a:pPr>
            <a:r>
              <a:rPr lang="en-AU" sz="1200" kern="1200" dirty="0" smtClean="0">
                <a:solidFill>
                  <a:schemeClr val="tx1"/>
                </a:solidFill>
                <a:latin typeface="+mn-lt"/>
                <a:ea typeface="+mn-ea"/>
                <a:cs typeface="+mn-cs"/>
              </a:rPr>
              <a:t>Sample tour and travel packages; Available tour options and inclusions; Schedules; Prices; Terms and conditions; Policies and procedures; </a:t>
            </a:r>
          </a:p>
          <a:p>
            <a:pPr marL="171450" lvl="0" indent="-171450">
              <a:buFont typeface="Arial" pitchFamily="34" charset="0"/>
              <a:buChar char="•"/>
            </a:pPr>
            <a:r>
              <a:rPr lang="en-AU" sz="1200" kern="1200" dirty="0" smtClean="0">
                <a:solidFill>
                  <a:schemeClr val="tx1"/>
                </a:solidFill>
                <a:latin typeface="+mn-lt"/>
                <a:ea typeface="+mn-ea"/>
                <a:cs typeface="+mn-cs"/>
              </a:rPr>
              <a:t>Insight into:</a:t>
            </a:r>
          </a:p>
          <a:p>
            <a:pPr marL="628650" lvl="1" indent="-171450">
              <a:buFont typeface="Arial" pitchFamily="34" charset="0"/>
              <a:buChar char="•"/>
            </a:pPr>
            <a:r>
              <a:rPr lang="en-AU" sz="1200" kern="1200" dirty="0" smtClean="0">
                <a:solidFill>
                  <a:schemeClr val="tx1"/>
                </a:solidFill>
                <a:latin typeface="+mn-lt"/>
                <a:ea typeface="+mn-ea"/>
                <a:cs typeface="+mn-cs"/>
              </a:rPr>
              <a:t>Customers, visitors and tour groups; Tourist needs, wants and preferences; Experiences with groups.</a:t>
            </a:r>
          </a:p>
          <a:p>
            <a:r>
              <a:rPr lang="en-AU" sz="1200" b="1" kern="1200" dirty="0" smtClean="0">
                <a:solidFill>
                  <a:schemeClr val="tx1"/>
                </a:solidFill>
                <a:latin typeface="+mn-lt"/>
                <a:ea typeface="+mn-ea"/>
                <a:cs typeface="+mn-cs"/>
              </a:rPr>
              <a:t>Venue operators</a:t>
            </a:r>
          </a:p>
          <a:p>
            <a:r>
              <a:rPr lang="en-AU" sz="1200" kern="1200" dirty="0" smtClean="0">
                <a:solidFill>
                  <a:schemeClr val="tx1"/>
                </a:solidFill>
                <a:latin typeface="+mn-lt"/>
                <a:ea typeface="+mn-ea"/>
                <a:cs typeface="+mn-cs"/>
              </a:rPr>
              <a:t>These provide excellent information in relation to: </a:t>
            </a:r>
          </a:p>
          <a:p>
            <a:pPr marL="171450" lvl="0" indent="-171450">
              <a:buFont typeface="Arial" pitchFamily="34" charset="0"/>
              <a:buChar char="•"/>
            </a:pPr>
            <a:r>
              <a:rPr lang="en-AU" sz="1200" kern="1200" dirty="0" smtClean="0">
                <a:solidFill>
                  <a:schemeClr val="tx1"/>
                </a:solidFill>
                <a:latin typeface="+mn-lt"/>
                <a:ea typeface="+mn-ea"/>
                <a:cs typeface="+mn-cs"/>
              </a:rPr>
              <a:t>Promotional and advertising brochures and flyers</a:t>
            </a:r>
          </a:p>
          <a:p>
            <a:pPr marL="171450" lvl="0" indent="-171450">
              <a:buFont typeface="Arial" pitchFamily="34" charset="0"/>
              <a:buChar char="•"/>
            </a:pPr>
            <a:r>
              <a:rPr lang="en-AU" sz="1200" kern="1200" dirty="0" smtClean="0">
                <a:solidFill>
                  <a:schemeClr val="tx1"/>
                </a:solidFill>
                <a:latin typeface="+mn-lt"/>
                <a:ea typeface="+mn-ea"/>
                <a:cs typeface="+mn-cs"/>
              </a:rPr>
              <a:t>Opening days and times</a:t>
            </a:r>
          </a:p>
          <a:p>
            <a:pPr marL="171450" lvl="0" indent="-171450">
              <a:buFont typeface="Arial" pitchFamily="34" charset="0"/>
              <a:buChar char="•"/>
            </a:pPr>
            <a:r>
              <a:rPr lang="en-AU" sz="1200" kern="1200" dirty="0" smtClean="0">
                <a:solidFill>
                  <a:schemeClr val="tx1"/>
                </a:solidFill>
                <a:latin typeface="+mn-lt"/>
                <a:ea typeface="+mn-ea"/>
                <a:cs typeface="+mn-cs"/>
              </a:rPr>
              <a:t>Entry fees</a:t>
            </a:r>
          </a:p>
          <a:p>
            <a:pPr marL="171450" lvl="0" indent="-171450">
              <a:buFont typeface="Arial" pitchFamily="34" charset="0"/>
              <a:buChar char="•"/>
            </a:pPr>
            <a:r>
              <a:rPr lang="en-AU" sz="1200" kern="1200" dirty="0" smtClean="0">
                <a:solidFill>
                  <a:schemeClr val="tx1"/>
                </a:solidFill>
                <a:latin typeface="+mn-lt"/>
                <a:ea typeface="+mn-ea"/>
                <a:cs typeface="+mn-cs"/>
              </a:rPr>
              <a:t>Attractions, displays and events</a:t>
            </a:r>
          </a:p>
          <a:p>
            <a:pPr marL="171450" lvl="0" indent="-171450">
              <a:buFont typeface="Arial" pitchFamily="34" charset="0"/>
              <a:buChar char="•"/>
            </a:pPr>
            <a:r>
              <a:rPr lang="en-AU" sz="1200" kern="1200" dirty="0" smtClean="0">
                <a:solidFill>
                  <a:schemeClr val="tx1"/>
                </a:solidFill>
                <a:latin typeface="+mn-lt"/>
                <a:ea typeface="+mn-ea"/>
                <a:cs typeface="+mn-cs"/>
              </a:rPr>
              <a:t>Facilities provided</a:t>
            </a:r>
          </a:p>
          <a:p>
            <a:pPr marL="171450" lvl="0" indent="-171450">
              <a:buFont typeface="Arial" pitchFamily="34" charset="0"/>
              <a:buChar char="•"/>
            </a:pPr>
            <a:r>
              <a:rPr lang="en-AU" sz="1200" kern="1200" dirty="0" smtClean="0">
                <a:solidFill>
                  <a:schemeClr val="tx1"/>
                </a:solidFill>
                <a:latin typeface="+mn-lt"/>
                <a:ea typeface="+mn-ea"/>
                <a:cs typeface="+mn-cs"/>
              </a:rPr>
              <a:t>Meals/refreshments available</a:t>
            </a:r>
          </a:p>
          <a:p>
            <a:pPr marL="171450" lvl="0" indent="-171450">
              <a:buFont typeface="Arial" pitchFamily="34" charset="0"/>
              <a:buChar char="•"/>
            </a:pPr>
            <a:r>
              <a:rPr lang="en-AU" sz="1200" kern="1200" dirty="0" smtClean="0">
                <a:solidFill>
                  <a:schemeClr val="tx1"/>
                </a:solidFill>
                <a:latin typeface="+mn-lt"/>
                <a:ea typeface="+mn-ea"/>
                <a:cs typeface="+mn-cs"/>
              </a:rPr>
              <a:t>Location and access</a:t>
            </a:r>
          </a:p>
          <a:p>
            <a:pPr marL="171450" lvl="0" indent="-171450">
              <a:buFont typeface="Arial" pitchFamily="34" charset="0"/>
              <a:buChar char="•"/>
            </a:pPr>
            <a:r>
              <a:rPr lang="en-AU" sz="1200" kern="1200" dirty="0" smtClean="0">
                <a:solidFill>
                  <a:schemeClr val="tx1"/>
                </a:solidFill>
                <a:latin typeface="+mn-lt"/>
                <a:ea typeface="+mn-ea"/>
                <a:cs typeface="+mn-cs"/>
              </a:rPr>
              <a:t>Booking provisions and ticketing.</a:t>
            </a:r>
          </a:p>
          <a:p>
            <a:r>
              <a:rPr lang="en-AU" sz="1200" b="1" kern="1200" dirty="0" smtClean="0">
                <a:solidFill>
                  <a:schemeClr val="tx1"/>
                </a:solidFill>
                <a:latin typeface="+mn-lt"/>
                <a:ea typeface="+mn-ea"/>
                <a:cs typeface="+mn-cs"/>
              </a:rPr>
              <a:t>Industry Codes</a:t>
            </a:r>
          </a:p>
          <a:p>
            <a:r>
              <a:rPr lang="en-AU" sz="1200" kern="1200" dirty="0" smtClean="0">
                <a:solidFill>
                  <a:schemeClr val="tx1"/>
                </a:solidFill>
                <a:latin typeface="+mn-lt"/>
                <a:ea typeface="+mn-ea"/>
                <a:cs typeface="+mn-cs"/>
              </a:rPr>
              <a:t>These provide details and insight into ethics and practices deemed necessary/acceptable for the industry.</a:t>
            </a:r>
          </a:p>
          <a:p>
            <a:pPr>
              <a:buFont typeface="Arial" pitchFamily="34" charset="0"/>
              <a:buNone/>
            </a:pPr>
            <a:endParaRPr lang="en-US" noProof="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baseline="0" noProof="0" dirty="0" smtClean="0"/>
              <a:t>Class Activity – Internet Research</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0" baseline="0" noProof="0" dirty="0" smtClean="0"/>
              <a:t>Trainer facilitates student research of and discussion regarding content of following and other similar/relevant websites:</a:t>
            </a:r>
          </a:p>
          <a:p>
            <a:r>
              <a:rPr lang="en-AU" sz="1200" u="sng" kern="1200" dirty="0" smtClean="0">
                <a:solidFill>
                  <a:schemeClr val="tx1"/>
                </a:solidFill>
                <a:latin typeface="+mn-lt"/>
                <a:ea typeface="+mn-ea"/>
                <a:cs typeface="+mn-cs"/>
                <a:hlinkClick r:id="rId3"/>
              </a:rPr>
              <a:t>http://www.wftga.org/tourist-guiding/code-guiding-practice</a:t>
            </a:r>
            <a:r>
              <a:rPr lang="en-AU" sz="1200" u="sng" kern="1200" dirty="0" smtClean="0">
                <a:solidFill>
                  <a:schemeClr val="tx1"/>
                </a:solidFill>
                <a:latin typeface="+mn-lt"/>
                <a:ea typeface="+mn-ea"/>
                <a:cs typeface="+mn-cs"/>
              </a:rPr>
              <a:t> </a:t>
            </a:r>
            <a:r>
              <a:rPr lang="en-AU" sz="1200" kern="1200" dirty="0" smtClean="0">
                <a:solidFill>
                  <a:schemeClr val="tx1"/>
                </a:solidFill>
                <a:latin typeface="+mn-lt"/>
                <a:ea typeface="+mn-ea"/>
                <a:cs typeface="+mn-cs"/>
              </a:rPr>
              <a:t>- The code of guiding practice</a:t>
            </a:r>
          </a:p>
          <a:p>
            <a:r>
              <a:rPr lang="en-AU" sz="1200" u="sng" kern="1200" dirty="0" smtClean="0">
                <a:solidFill>
                  <a:schemeClr val="tx1"/>
                </a:solidFill>
                <a:latin typeface="+mn-lt"/>
                <a:ea typeface="+mn-ea"/>
                <a:cs typeface="+mn-cs"/>
                <a:hlinkClick r:id="rId4"/>
              </a:rPr>
              <a:t>http://washingtondctourguides.com/about-the-guild/code-of-ethics</a:t>
            </a:r>
            <a:r>
              <a:rPr lang="en-AU" sz="1200" u="sng" kern="1200" dirty="0" smtClean="0">
                <a:solidFill>
                  <a:schemeClr val="tx1"/>
                </a:solidFill>
                <a:latin typeface="+mn-lt"/>
                <a:ea typeface="+mn-ea"/>
                <a:cs typeface="+mn-cs"/>
              </a:rPr>
              <a:t> </a:t>
            </a:r>
            <a:r>
              <a:rPr lang="en-AU" sz="1200" kern="1200" dirty="0" smtClean="0">
                <a:solidFill>
                  <a:schemeClr val="tx1"/>
                </a:solidFill>
                <a:latin typeface="+mn-lt"/>
                <a:ea typeface="+mn-ea"/>
                <a:cs typeface="+mn-cs"/>
              </a:rPr>
              <a:t>- Professional guide’s code of ethics and business practice</a:t>
            </a:r>
          </a:p>
          <a:p>
            <a:r>
              <a:rPr lang="en-AU" sz="1200" u="sng" kern="1200" dirty="0" smtClean="0">
                <a:solidFill>
                  <a:schemeClr val="tx1"/>
                </a:solidFill>
                <a:latin typeface="+mn-lt"/>
                <a:ea typeface="+mn-ea"/>
                <a:cs typeface="+mn-cs"/>
                <a:hlinkClick r:id="rId5"/>
              </a:rPr>
              <a:t>http://www.tichk.org/public/website/en/guides/code/html</a:t>
            </a:r>
            <a:r>
              <a:rPr lang="en-AU" sz="1200" u="sng" kern="1200" dirty="0" smtClean="0">
                <a:solidFill>
                  <a:schemeClr val="tx1"/>
                </a:solidFill>
                <a:latin typeface="+mn-lt"/>
                <a:ea typeface="+mn-ea"/>
                <a:cs typeface="+mn-cs"/>
              </a:rPr>
              <a:t> </a:t>
            </a:r>
            <a:r>
              <a:rPr lang="en-AU" sz="1200" kern="1200" dirty="0" smtClean="0">
                <a:solidFill>
                  <a:schemeClr val="tx1"/>
                </a:solidFill>
                <a:latin typeface="+mn-lt"/>
                <a:ea typeface="+mn-ea"/>
                <a:cs typeface="+mn-cs"/>
              </a:rPr>
              <a:t>- Code of Conduct for Tourist Guides</a:t>
            </a:r>
          </a:p>
          <a:p>
            <a:r>
              <a:rPr lang="en-AU" sz="1200" u="sng" kern="1200" dirty="0" smtClean="0">
                <a:solidFill>
                  <a:schemeClr val="tx1"/>
                </a:solidFill>
                <a:latin typeface="+mn-lt"/>
                <a:ea typeface="+mn-ea"/>
                <a:cs typeface="+mn-cs"/>
                <a:hlinkClick r:id="rId6"/>
              </a:rPr>
              <a:t>http://learnline.cdu.edu.au/tourism/uluru/downloads/readings/reading20_code_of_conduct.pdf</a:t>
            </a:r>
            <a:r>
              <a:rPr lang="en-AU" sz="1200" u="sng" kern="1200" dirty="0" smtClean="0">
                <a:solidFill>
                  <a:schemeClr val="tx1"/>
                </a:solidFill>
                <a:latin typeface="+mn-lt"/>
                <a:ea typeface="+mn-ea"/>
                <a:cs typeface="+mn-cs"/>
              </a:rPr>
              <a:t> </a:t>
            </a:r>
            <a:r>
              <a:rPr lang="en-AU" sz="1200" kern="1200" dirty="0" smtClean="0">
                <a:solidFill>
                  <a:schemeClr val="tx1"/>
                </a:solidFill>
                <a:latin typeface="+mn-lt"/>
                <a:ea typeface="+mn-ea"/>
                <a:cs typeface="+mn-cs"/>
              </a:rPr>
              <a:t>- Tour guide code of practice</a:t>
            </a:r>
          </a:p>
          <a:p>
            <a:r>
              <a:rPr lang="en-AU" sz="1200" u="sng" kern="1200" dirty="0" smtClean="0">
                <a:solidFill>
                  <a:schemeClr val="tx1"/>
                </a:solidFill>
                <a:latin typeface="+mn-lt"/>
                <a:ea typeface="+mn-ea"/>
                <a:cs typeface="+mn-cs"/>
                <a:hlinkClick r:id="rId7"/>
              </a:rPr>
              <a:t>http://www.cato.asn.au/About/code-of-ethics</a:t>
            </a:r>
            <a:r>
              <a:rPr lang="en-AU" sz="1200" kern="1200" dirty="0" smtClean="0">
                <a:solidFill>
                  <a:schemeClr val="tx1"/>
                </a:solidFill>
                <a:latin typeface="+mn-lt"/>
                <a:ea typeface="+mn-ea"/>
                <a:cs typeface="+mn-cs"/>
              </a:rPr>
              <a:t> - Code of Ethics: Council of Australian Tour Operators.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extLst>
      <p:ext uri="{BB962C8B-B14F-4D97-AF65-F5344CB8AC3E}">
        <p14:creationId xmlns:p14="http://schemas.microsoft.com/office/powerpoint/2010/main" val="158996720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a:buFont typeface="Arial" pitchFamily="34" charset="0"/>
              <a:buNone/>
            </a:pPr>
            <a:r>
              <a:rPr lang="en-US" noProof="0" dirty="0" smtClean="0"/>
              <a:t>Trainer continues presenting sources of guide information:</a:t>
            </a:r>
          </a:p>
          <a:p>
            <a:r>
              <a:rPr lang="en-AU" sz="1200" b="1" kern="1200" dirty="0" smtClean="0">
                <a:solidFill>
                  <a:schemeClr val="tx1"/>
                </a:solidFill>
                <a:latin typeface="+mn-lt"/>
                <a:ea typeface="+mn-ea"/>
                <a:cs typeface="+mn-cs"/>
              </a:rPr>
              <a:t>Internet</a:t>
            </a:r>
          </a:p>
          <a:p>
            <a:r>
              <a:rPr lang="en-AU" sz="1200" kern="1200" dirty="0" smtClean="0">
                <a:solidFill>
                  <a:schemeClr val="tx1"/>
                </a:solidFill>
                <a:latin typeface="+mn-lt"/>
                <a:ea typeface="+mn-ea"/>
                <a:cs typeface="+mn-cs"/>
              </a:rPr>
              <a:t>The internet is an excellent information source but the following advice may be of use:</a:t>
            </a:r>
          </a:p>
          <a:p>
            <a:pPr marL="171450" lvl="0" indent="-171450">
              <a:buFont typeface="Arial" pitchFamily="34" charset="0"/>
              <a:buChar char="•"/>
            </a:pPr>
            <a:r>
              <a:rPr lang="en-AU" sz="1200" kern="1200" dirty="0" smtClean="0">
                <a:solidFill>
                  <a:schemeClr val="tx1"/>
                </a:solidFill>
                <a:latin typeface="+mn-lt"/>
                <a:ea typeface="+mn-ea"/>
                <a:cs typeface="+mn-cs"/>
              </a:rPr>
              <a:t>Never use the internet </a:t>
            </a:r>
            <a:r>
              <a:rPr lang="en-AU" sz="1200" i="1" kern="1200" dirty="0" smtClean="0">
                <a:solidFill>
                  <a:schemeClr val="tx1"/>
                </a:solidFill>
                <a:latin typeface="+mn-lt"/>
                <a:ea typeface="+mn-ea"/>
                <a:cs typeface="+mn-cs"/>
              </a:rPr>
              <a:t>only</a:t>
            </a:r>
            <a:r>
              <a:rPr lang="en-AU" sz="1200" kern="1200" dirty="0" smtClean="0">
                <a:solidFill>
                  <a:schemeClr val="tx1"/>
                </a:solidFill>
                <a:latin typeface="+mn-lt"/>
                <a:ea typeface="+mn-ea"/>
                <a:cs typeface="+mn-cs"/>
              </a:rPr>
              <a:t> for references/information – it is important to make direct contact with ‘real people’</a:t>
            </a:r>
          </a:p>
          <a:p>
            <a:pPr marL="171450" lvl="0" indent="-171450">
              <a:buFont typeface="Arial" pitchFamily="34" charset="0"/>
              <a:buChar char="•"/>
            </a:pPr>
            <a:r>
              <a:rPr lang="en-AU" sz="1200" kern="1200" dirty="0" smtClean="0">
                <a:solidFill>
                  <a:schemeClr val="tx1"/>
                </a:solidFill>
                <a:latin typeface="+mn-lt"/>
                <a:ea typeface="+mn-ea"/>
                <a:cs typeface="+mn-cs"/>
              </a:rPr>
              <a:t>Travel and tourism blogs can be worthwhile sources for gauging general client thoughts about aspects of the industry – all manner of issues are discussed including agencies and their prices and service; reliability and credibility of providers; satisfaction with carriers, destinations and attractions plus a wide range of other topics.</a:t>
            </a:r>
          </a:p>
          <a:p>
            <a:pPr marL="171450" lvl="0" indent="-171450">
              <a:buFont typeface="Arial" pitchFamily="34" charset="0"/>
              <a:buChar char="•"/>
            </a:pPr>
            <a:r>
              <a:rPr lang="en-AU" sz="1200" kern="1200" dirty="0" smtClean="0">
                <a:solidFill>
                  <a:schemeClr val="tx1"/>
                </a:solidFill>
                <a:latin typeface="+mn-lt"/>
                <a:ea typeface="+mn-ea"/>
                <a:cs typeface="+mn-cs"/>
              </a:rPr>
              <a:t>Create a ‘Travel’ folder under ‘Favourites’ and ‘Bookmark’ any site of interest – so useful sites can easily be re-visited</a:t>
            </a:r>
          </a:p>
          <a:p>
            <a:pPr marL="171450" lvl="0" indent="-171450">
              <a:buFont typeface="Arial" pitchFamily="34" charset="0"/>
              <a:buChar char="•"/>
            </a:pPr>
            <a:r>
              <a:rPr lang="en-AU" sz="1200" kern="1200" dirty="0" smtClean="0">
                <a:solidFill>
                  <a:schemeClr val="tx1"/>
                </a:solidFill>
                <a:latin typeface="+mn-lt"/>
                <a:ea typeface="+mn-ea"/>
                <a:cs typeface="+mn-cs"/>
              </a:rPr>
              <a:t>Be prepared to:</a:t>
            </a:r>
          </a:p>
          <a:p>
            <a:pPr marL="628650" lvl="1" indent="-171450">
              <a:buFont typeface="Arial" pitchFamily="34" charset="0"/>
              <a:buChar char="•"/>
            </a:pPr>
            <a:r>
              <a:rPr lang="en-AU" sz="1200" kern="1200" dirty="0" smtClean="0">
                <a:solidFill>
                  <a:schemeClr val="tx1"/>
                </a:solidFill>
                <a:latin typeface="+mn-lt"/>
                <a:ea typeface="+mn-ea"/>
                <a:cs typeface="+mn-cs"/>
              </a:rPr>
              <a:t>Print relevant pages/information</a:t>
            </a:r>
          </a:p>
          <a:p>
            <a:pPr marL="628650" lvl="1" indent="-171450">
              <a:buFont typeface="Arial" pitchFamily="34" charset="0"/>
              <a:buChar char="•"/>
            </a:pPr>
            <a:r>
              <a:rPr lang="en-AU" sz="1200" kern="1200" dirty="0" smtClean="0">
                <a:solidFill>
                  <a:schemeClr val="tx1"/>
                </a:solidFill>
                <a:latin typeface="+mn-lt"/>
                <a:ea typeface="+mn-ea"/>
                <a:cs typeface="+mn-cs"/>
              </a:rPr>
              <a:t>Follow links on pages to other sites</a:t>
            </a:r>
          </a:p>
          <a:p>
            <a:pPr marL="628650" lvl="1" indent="-171450">
              <a:buFont typeface="Arial" pitchFamily="34" charset="0"/>
              <a:buChar char="•"/>
            </a:pPr>
            <a:r>
              <a:rPr lang="en-AU" sz="1200" kern="1200" dirty="0" smtClean="0">
                <a:solidFill>
                  <a:schemeClr val="tx1"/>
                </a:solidFill>
                <a:latin typeface="+mn-lt"/>
                <a:ea typeface="+mn-ea"/>
                <a:cs typeface="+mn-cs"/>
              </a:rPr>
              <a:t>Take notes from the pages visited</a:t>
            </a:r>
          </a:p>
          <a:p>
            <a:pPr marL="628650" lvl="1" indent="-171450">
              <a:buFont typeface="Arial" pitchFamily="34" charset="0"/>
              <a:buChar char="•"/>
            </a:pPr>
            <a:r>
              <a:rPr lang="en-AU" sz="1200" kern="1200" dirty="0" smtClean="0">
                <a:solidFill>
                  <a:schemeClr val="tx1"/>
                </a:solidFill>
                <a:latin typeface="+mn-lt"/>
                <a:ea typeface="+mn-ea"/>
                <a:cs typeface="+mn-cs"/>
              </a:rPr>
              <a:t>Follow-up – take the time to (as appropriate):</a:t>
            </a:r>
          </a:p>
          <a:p>
            <a:pPr marL="628650" lvl="1" indent="-171450">
              <a:buFont typeface="Arial" pitchFamily="34" charset="0"/>
              <a:buChar char="•"/>
            </a:pPr>
            <a:r>
              <a:rPr lang="en-AU" sz="1200" kern="1200" dirty="0" smtClean="0">
                <a:solidFill>
                  <a:schemeClr val="tx1"/>
                </a:solidFill>
                <a:latin typeface="+mn-lt"/>
                <a:ea typeface="+mn-ea"/>
                <a:cs typeface="+mn-cs"/>
              </a:rPr>
              <a:t>Register for free updates, e-magazines, reports </a:t>
            </a:r>
          </a:p>
          <a:p>
            <a:pPr marL="628650" lvl="1" indent="-171450">
              <a:buFont typeface="Arial" pitchFamily="34" charset="0"/>
              <a:buChar char="•"/>
            </a:pPr>
            <a:r>
              <a:rPr lang="en-AU" sz="1200" kern="1200" dirty="0" smtClean="0">
                <a:solidFill>
                  <a:schemeClr val="tx1"/>
                </a:solidFill>
                <a:latin typeface="+mn-lt"/>
                <a:ea typeface="+mn-ea"/>
                <a:cs typeface="+mn-cs"/>
              </a:rPr>
              <a:t>Make personal contact with the organisation – to grow personal network of industry contacts.</a:t>
            </a:r>
          </a:p>
          <a:p>
            <a:r>
              <a:rPr lang="en-AU" sz="1200" b="1" kern="1200" dirty="0" smtClean="0">
                <a:solidFill>
                  <a:schemeClr val="tx1"/>
                </a:solidFill>
                <a:latin typeface="+mn-lt"/>
                <a:ea typeface="+mn-ea"/>
                <a:cs typeface="+mn-cs"/>
              </a:rPr>
              <a:t>Formal industry organisations</a:t>
            </a:r>
          </a:p>
          <a:p>
            <a:r>
              <a:rPr lang="en-AU" sz="1200" b="0" kern="1200" dirty="0" smtClean="0">
                <a:solidFill>
                  <a:schemeClr val="tx1"/>
                </a:solidFill>
                <a:latin typeface="+mn-lt"/>
                <a:ea typeface="+mn-ea"/>
                <a:cs typeface="+mn-cs"/>
              </a:rPr>
              <a:t>These can include:</a:t>
            </a:r>
            <a:endParaRPr lang="en-AU" sz="1200" b="1" kern="1200" dirty="0" smtClean="0">
              <a:solidFill>
                <a:schemeClr val="tx1"/>
              </a:solidFill>
              <a:latin typeface="+mn-lt"/>
              <a:ea typeface="+mn-ea"/>
              <a:cs typeface="+mn-cs"/>
            </a:endParaRPr>
          </a:p>
          <a:p>
            <a:pPr marL="171450" lvl="0" indent="-171450">
              <a:buFont typeface="Arial" pitchFamily="34" charset="0"/>
              <a:buChar char="•"/>
            </a:pPr>
            <a:r>
              <a:rPr lang="en-AU" sz="1200" kern="1200" dirty="0" smtClean="0">
                <a:solidFill>
                  <a:schemeClr val="tx1"/>
                </a:solidFill>
                <a:latin typeface="+mn-lt"/>
                <a:ea typeface="+mn-ea"/>
                <a:cs typeface="+mn-cs"/>
              </a:rPr>
              <a:t>Professional Tour Guide bodies and peak industry associations</a:t>
            </a:r>
          </a:p>
          <a:p>
            <a:pPr marL="171450" lvl="0" indent="-171450">
              <a:buFont typeface="Arial" pitchFamily="34" charset="0"/>
              <a:buChar char="•"/>
            </a:pPr>
            <a:r>
              <a:rPr lang="en-AU" sz="1200" kern="1200" dirty="0" smtClean="0">
                <a:solidFill>
                  <a:schemeClr val="tx1"/>
                </a:solidFill>
                <a:latin typeface="+mn-lt"/>
                <a:ea typeface="+mn-ea"/>
                <a:cs typeface="+mn-cs"/>
              </a:rPr>
              <a:t>Government and semi-government authorities</a:t>
            </a:r>
          </a:p>
          <a:p>
            <a:pPr marL="171450" lvl="0" indent="-171450">
              <a:buFont typeface="Arial" pitchFamily="34" charset="0"/>
              <a:buChar char="•"/>
            </a:pPr>
            <a:r>
              <a:rPr lang="en-AU" sz="1200" kern="1200" dirty="0" smtClean="0">
                <a:solidFill>
                  <a:schemeClr val="tx1"/>
                </a:solidFill>
                <a:latin typeface="+mn-lt"/>
                <a:ea typeface="+mn-ea"/>
                <a:cs typeface="+mn-cs"/>
              </a:rPr>
              <a:t>Licensing agencies.</a:t>
            </a:r>
          </a:p>
          <a:p>
            <a:pPr>
              <a:buFont typeface="Arial" pitchFamily="34" charset="0"/>
              <a:buNone/>
            </a:pPr>
            <a:endParaRPr lang="en-US" noProof="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baseline="0" noProof="0" dirty="0" smtClean="0"/>
              <a:t>Class Activity – Internet Research</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0" baseline="0" noProof="0" dirty="0" smtClean="0"/>
              <a:t>Trainer facilitates student research of and discussion regarding content of following and other similar/relevant websites:</a:t>
            </a:r>
          </a:p>
          <a:p>
            <a:r>
              <a:rPr lang="en-AU" sz="1200" u="sng" kern="1200" dirty="0" smtClean="0">
                <a:solidFill>
                  <a:schemeClr val="tx1"/>
                </a:solidFill>
                <a:latin typeface="+mn-lt"/>
                <a:ea typeface="+mn-ea"/>
                <a:cs typeface="+mn-cs"/>
                <a:hlinkClick r:id="rId3"/>
              </a:rPr>
              <a:t>http://www.invesp.com/blog-rank/General_Travel</a:t>
            </a:r>
            <a:endParaRPr lang="en-AU" sz="1200" kern="1200" dirty="0" smtClean="0">
              <a:solidFill>
                <a:schemeClr val="tx1"/>
              </a:solidFill>
              <a:latin typeface="+mn-lt"/>
              <a:ea typeface="+mn-ea"/>
              <a:cs typeface="+mn-cs"/>
            </a:endParaRPr>
          </a:p>
          <a:p>
            <a:r>
              <a:rPr lang="en-AU" sz="1200" u="sng" kern="1200" dirty="0" smtClean="0">
                <a:solidFill>
                  <a:schemeClr val="tx1"/>
                </a:solidFill>
                <a:latin typeface="+mn-lt"/>
                <a:ea typeface="+mn-ea"/>
                <a:cs typeface="+mn-cs"/>
                <a:hlinkClick r:id="rId4"/>
              </a:rPr>
              <a:t>http://konector.com/best-blogs/best-travel-blogs</a:t>
            </a:r>
            <a:endParaRPr lang="en-AU" sz="1200" kern="1200" dirty="0" smtClean="0">
              <a:solidFill>
                <a:schemeClr val="tx1"/>
              </a:solidFill>
              <a:latin typeface="+mn-lt"/>
              <a:ea typeface="+mn-ea"/>
              <a:cs typeface="+mn-cs"/>
            </a:endParaRPr>
          </a:p>
          <a:p>
            <a:r>
              <a:rPr lang="en-AU" sz="1200" u="sng" kern="1200" dirty="0" smtClean="0">
                <a:solidFill>
                  <a:schemeClr val="tx1"/>
                </a:solidFill>
                <a:latin typeface="+mn-lt"/>
                <a:ea typeface="+mn-ea"/>
                <a:cs typeface="+mn-cs"/>
                <a:hlinkClick r:id="rId5"/>
              </a:rPr>
              <a:t>http://www.livingthedreamrtw.com/p/massive-list-of-travel-bloggers.html</a:t>
            </a:r>
            <a:endParaRPr lang="en-AU" sz="1200" kern="1200" dirty="0" smtClean="0">
              <a:solidFill>
                <a:schemeClr val="tx1"/>
              </a:solidFill>
              <a:latin typeface="+mn-lt"/>
              <a:ea typeface="+mn-ea"/>
              <a:cs typeface="+mn-cs"/>
            </a:endParaRPr>
          </a:p>
          <a:p>
            <a:r>
              <a:rPr lang="en-AU" sz="1200" u="sng" kern="1200" dirty="0" smtClean="0">
                <a:solidFill>
                  <a:schemeClr val="tx1"/>
                </a:solidFill>
                <a:latin typeface="+mn-lt"/>
                <a:ea typeface="+mn-ea"/>
                <a:cs typeface="+mn-cs"/>
                <a:hlinkClick r:id="rId6"/>
              </a:rPr>
              <a:t>http://www.thelongestwayhome.com/travel-blog-directory.html</a:t>
            </a:r>
            <a:endParaRPr lang="en-AU" sz="1200" kern="1200" dirty="0" smtClean="0">
              <a:solidFill>
                <a:schemeClr val="tx1"/>
              </a:solidFill>
              <a:latin typeface="+mn-lt"/>
              <a:ea typeface="+mn-ea"/>
              <a:cs typeface="+mn-cs"/>
            </a:endParaRPr>
          </a:p>
          <a:p>
            <a:pPr>
              <a:buFont typeface="Arial" pitchFamily="34" charset="0"/>
              <a:buNone/>
            </a:pPr>
            <a:endParaRPr lang="en-US"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extLst>
      <p:ext uri="{BB962C8B-B14F-4D97-AF65-F5344CB8AC3E}">
        <p14:creationId xmlns:p14="http://schemas.microsoft.com/office/powerpoint/2010/main" val="421249138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US" noProof="0" dirty="0" smtClean="0"/>
              <a:t>Trainer continues presenting sources of guide information:</a:t>
            </a:r>
          </a:p>
          <a:p>
            <a:r>
              <a:rPr lang="en-AU" sz="1200" b="1" kern="1200" dirty="0" smtClean="0">
                <a:solidFill>
                  <a:schemeClr val="tx1"/>
                </a:solidFill>
                <a:latin typeface="+mn-lt"/>
                <a:ea typeface="+mn-ea"/>
                <a:cs typeface="+mn-cs"/>
              </a:rPr>
              <a:t>Literature</a:t>
            </a:r>
          </a:p>
          <a:p>
            <a:r>
              <a:rPr lang="en-AU" sz="1200" kern="1200" dirty="0" smtClean="0">
                <a:solidFill>
                  <a:schemeClr val="tx1"/>
                </a:solidFill>
                <a:latin typeface="+mn-lt"/>
                <a:ea typeface="+mn-ea"/>
                <a:cs typeface="+mn-cs"/>
              </a:rPr>
              <a:t>Good sources of information are:</a:t>
            </a:r>
          </a:p>
          <a:p>
            <a:pPr marL="171450" lvl="0" indent="-171450">
              <a:buFont typeface="Arial" pitchFamily="34" charset="0"/>
              <a:buChar char="•"/>
            </a:pPr>
            <a:r>
              <a:rPr lang="en-AU" sz="1200" kern="1200" dirty="0" smtClean="0">
                <a:solidFill>
                  <a:schemeClr val="tx1"/>
                </a:solidFill>
                <a:latin typeface="+mn-lt"/>
                <a:ea typeface="+mn-ea"/>
                <a:cs typeface="+mn-cs"/>
              </a:rPr>
              <a:t>Guide books – such as Lonely Planet, Access, Fodor’s, National Geographic, Frommer’s; Newspaper and magazine articles; Local telephone books; History books; Reports; Travel and tour/promotional brochures. </a:t>
            </a:r>
          </a:p>
          <a:p>
            <a:r>
              <a:rPr lang="en-AU" sz="1200" b="1" kern="1200" dirty="0" smtClean="0">
                <a:solidFill>
                  <a:schemeClr val="tx1"/>
                </a:solidFill>
                <a:latin typeface="+mn-lt"/>
                <a:ea typeface="+mn-ea"/>
                <a:cs typeface="+mn-cs"/>
              </a:rPr>
              <a:t>Network of personal contacts</a:t>
            </a:r>
          </a:p>
          <a:p>
            <a:r>
              <a:rPr lang="en-AU" sz="1200" kern="1200" dirty="0" smtClean="0">
                <a:solidFill>
                  <a:schemeClr val="tx1"/>
                </a:solidFill>
                <a:latin typeface="+mn-lt"/>
                <a:ea typeface="+mn-ea"/>
                <a:cs typeface="+mn-cs"/>
              </a:rPr>
              <a:t>It is vital to develop an extensive network of personal contacts.</a:t>
            </a:r>
          </a:p>
          <a:p>
            <a:r>
              <a:rPr lang="en-AU" sz="1200" kern="1200" dirty="0" smtClean="0">
                <a:solidFill>
                  <a:schemeClr val="tx1"/>
                </a:solidFill>
                <a:latin typeface="+mn-lt"/>
                <a:ea typeface="+mn-ea"/>
                <a:cs typeface="+mn-cs"/>
              </a:rPr>
              <a:t>Those in the network could include:</a:t>
            </a:r>
          </a:p>
          <a:p>
            <a:pPr marL="171450" lvl="0" indent="-171450">
              <a:buFont typeface="Arial" pitchFamily="34" charset="0"/>
              <a:buChar char="•"/>
            </a:pPr>
            <a:r>
              <a:rPr lang="en-AU" sz="1200" kern="1200" dirty="0" smtClean="0">
                <a:solidFill>
                  <a:schemeClr val="tx1"/>
                </a:solidFill>
                <a:latin typeface="+mn-lt"/>
                <a:ea typeface="+mn-ea"/>
                <a:cs typeface="+mn-cs"/>
              </a:rPr>
              <a:t>A selection of Tour Guides – from different employers and who conduct a variety of different tour types</a:t>
            </a:r>
          </a:p>
          <a:p>
            <a:pPr marL="171450" lvl="0" indent="-171450">
              <a:buFont typeface="Arial" pitchFamily="34" charset="0"/>
              <a:buChar char="•"/>
            </a:pPr>
            <a:r>
              <a:rPr lang="en-AU" sz="1200" kern="1200" dirty="0" smtClean="0">
                <a:solidFill>
                  <a:schemeClr val="tx1"/>
                </a:solidFill>
                <a:latin typeface="+mn-lt"/>
                <a:ea typeface="+mn-ea"/>
                <a:cs typeface="+mn-cs"/>
              </a:rPr>
              <a:t>Local Tour Operators and travel agents</a:t>
            </a:r>
          </a:p>
          <a:p>
            <a:pPr marL="171450" lvl="0" indent="-171450">
              <a:buFont typeface="Arial" pitchFamily="34" charset="0"/>
              <a:buChar char="•"/>
            </a:pPr>
            <a:r>
              <a:rPr lang="en-AU" sz="1200" kern="1200" dirty="0" smtClean="0">
                <a:solidFill>
                  <a:schemeClr val="tx1"/>
                </a:solidFill>
                <a:latin typeface="+mn-lt"/>
                <a:ea typeface="+mn-ea"/>
                <a:cs typeface="+mn-cs"/>
              </a:rPr>
              <a:t>Carriers</a:t>
            </a:r>
          </a:p>
          <a:p>
            <a:pPr marL="171450" lvl="0" indent="-171450">
              <a:buFont typeface="Arial" pitchFamily="34" charset="0"/>
              <a:buChar char="•"/>
            </a:pPr>
            <a:r>
              <a:rPr lang="en-AU" sz="1200" kern="1200" dirty="0" smtClean="0">
                <a:solidFill>
                  <a:schemeClr val="tx1"/>
                </a:solidFill>
                <a:latin typeface="+mn-lt"/>
                <a:ea typeface="+mn-ea"/>
                <a:cs typeface="+mn-cs"/>
              </a:rPr>
              <a:t>Venue operators</a:t>
            </a:r>
          </a:p>
          <a:p>
            <a:pPr marL="171450" lvl="0" indent="-171450">
              <a:buFont typeface="Arial" pitchFamily="34" charset="0"/>
              <a:buChar char="•"/>
            </a:pPr>
            <a:r>
              <a:rPr lang="en-AU" sz="1200" kern="1200" dirty="0" smtClean="0">
                <a:solidFill>
                  <a:schemeClr val="tx1"/>
                </a:solidFill>
                <a:latin typeface="+mn-lt"/>
                <a:ea typeface="+mn-ea"/>
                <a:cs typeface="+mn-cs"/>
              </a:rPr>
              <a:t>Government officials</a:t>
            </a:r>
          </a:p>
          <a:p>
            <a:pPr marL="171450" lvl="0" indent="-171450">
              <a:buFont typeface="Arial" pitchFamily="34" charset="0"/>
              <a:buChar char="•"/>
            </a:pPr>
            <a:r>
              <a:rPr lang="en-AU" sz="1200" kern="1200" dirty="0" smtClean="0">
                <a:solidFill>
                  <a:schemeClr val="tx1"/>
                </a:solidFill>
                <a:latin typeface="+mn-lt"/>
                <a:ea typeface="+mn-ea"/>
                <a:cs typeface="+mn-cs"/>
              </a:rPr>
              <a:t>People at local Tourist Information centres.</a:t>
            </a:r>
          </a:p>
          <a:p>
            <a:r>
              <a:rPr lang="en-AU" sz="1200" kern="1200" dirty="0" smtClean="0">
                <a:solidFill>
                  <a:schemeClr val="tx1"/>
                </a:solidFill>
                <a:latin typeface="+mn-lt"/>
                <a:ea typeface="+mn-ea"/>
                <a:cs typeface="+mn-cs"/>
              </a:rPr>
              <a:t>It is important there is two-way communication with people in the network.</a:t>
            </a:r>
          </a:p>
          <a:p>
            <a:pPr>
              <a:buFont typeface="Arial" pitchFamily="34" charset="0"/>
              <a:buNone/>
            </a:pPr>
            <a:endParaRPr lang="en-US" noProof="0" dirty="0" smtClean="0"/>
          </a:p>
          <a:p>
            <a:pPr>
              <a:buFont typeface="Arial" pitchFamily="34" charset="0"/>
              <a:buNone/>
            </a:pPr>
            <a:r>
              <a:rPr lang="en-US" b="1" noProof="0" dirty="0" smtClean="0"/>
              <a:t>Class Activity (1) – Handouts</a:t>
            </a:r>
          </a:p>
          <a:p>
            <a:pPr>
              <a:buFont typeface="Arial" pitchFamily="34" charset="0"/>
              <a:buNone/>
            </a:pPr>
            <a:r>
              <a:rPr lang="en-US" b="0" noProof="0" dirty="0" smtClean="0"/>
              <a:t>Trainer distributes and discusses sample literature which</a:t>
            </a:r>
            <a:r>
              <a:rPr lang="en-US" b="0" baseline="0" noProof="0" dirty="0" smtClean="0"/>
              <a:t> can be used by Tour Guides for information.</a:t>
            </a:r>
          </a:p>
          <a:p>
            <a:pPr>
              <a:buFont typeface="Arial" pitchFamily="34" charset="0"/>
              <a:buNone/>
            </a:pPr>
            <a:endParaRPr lang="en-US" b="0" baseline="0" noProof="0" dirty="0" smtClean="0"/>
          </a:p>
          <a:p>
            <a:pPr>
              <a:buFont typeface="Arial" pitchFamily="34" charset="0"/>
              <a:buNone/>
            </a:pPr>
            <a:r>
              <a:rPr lang="en-US" b="1" baseline="0" noProof="0" dirty="0" smtClean="0"/>
              <a:t>Class Activity (2) – Guest Speakers </a:t>
            </a:r>
          </a:p>
          <a:p>
            <a:pPr>
              <a:buFont typeface="Arial" pitchFamily="34" charset="0"/>
              <a:buNone/>
            </a:pPr>
            <a:r>
              <a:rPr lang="en-US" b="0" baseline="0" noProof="0" dirty="0" smtClean="0"/>
              <a:t>Trainer arranges for a group of local people who may be useful ‘personal contacts’ for the students to attend and talk about their special industry knowledge.</a:t>
            </a:r>
            <a:endParaRPr lang="en-US" b="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extLst>
      <p:ext uri="{BB962C8B-B14F-4D97-AF65-F5344CB8AC3E}">
        <p14:creationId xmlns:p14="http://schemas.microsoft.com/office/powerpoint/2010/main" val="366577642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notes </a:t>
            </a:r>
            <a:r>
              <a:rPr lang="en-AU" sz="1200" kern="1200" dirty="0" smtClean="0">
                <a:solidFill>
                  <a:schemeClr val="tx1"/>
                </a:solidFill>
                <a:latin typeface="+mn-lt"/>
                <a:ea typeface="+mn-ea"/>
                <a:cs typeface="+mn-cs"/>
              </a:rPr>
              <a:t>activities associated with acquiring and up-dating skills and knowledge are:</a:t>
            </a:r>
          </a:p>
          <a:p>
            <a:pPr marL="171450" lvl="0" indent="-171450">
              <a:buFont typeface="Arial" pitchFamily="34" charset="0"/>
              <a:buChar char="•"/>
            </a:pPr>
            <a:r>
              <a:rPr lang="en-AU" sz="1200" kern="1200" dirty="0" smtClean="0">
                <a:solidFill>
                  <a:schemeClr val="tx1"/>
                </a:solidFill>
                <a:latin typeface="+mn-lt"/>
                <a:ea typeface="+mn-ea"/>
                <a:cs typeface="+mn-cs"/>
              </a:rPr>
              <a:t>Readily available – there are many of them, easily accessible</a:t>
            </a:r>
          </a:p>
          <a:p>
            <a:pPr marL="171450" lvl="0" indent="-171450">
              <a:buFont typeface="Arial" pitchFamily="34" charset="0"/>
              <a:buChar char="•"/>
            </a:pPr>
            <a:r>
              <a:rPr lang="en-AU" sz="1200" kern="1200" dirty="0" smtClean="0">
                <a:solidFill>
                  <a:schemeClr val="tx1"/>
                </a:solidFill>
                <a:latin typeface="+mn-lt"/>
                <a:ea typeface="+mn-ea"/>
                <a:cs typeface="+mn-cs"/>
              </a:rPr>
              <a:t>Relatively inexpensive to use/access –  most require an investment of time rather than large amounts of money.</a:t>
            </a:r>
          </a:p>
          <a:p>
            <a:pPr>
              <a:buFont typeface="Arial" pitchFamily="34" charset="0"/>
              <a:buNone/>
            </a:pPr>
            <a:r>
              <a:rPr lang="en-US" noProof="0" dirty="0" smtClean="0"/>
              <a:t>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extLst>
      <p:ext uri="{BB962C8B-B14F-4D97-AF65-F5344CB8AC3E}">
        <p14:creationId xmlns:p14="http://schemas.microsoft.com/office/powerpoint/2010/main" val="359817279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a:buFont typeface="Arial" pitchFamily="34" charset="0"/>
              <a:buNone/>
            </a:pPr>
            <a:r>
              <a:rPr lang="en-US" noProof="0" dirty="0" smtClean="0"/>
              <a:t>Trainer presents</a:t>
            </a:r>
            <a:r>
              <a:rPr lang="en-US" baseline="0" noProof="0" dirty="0" smtClean="0"/>
              <a:t> examples of activities to acquire and update industry skills and knowledge:</a:t>
            </a:r>
          </a:p>
          <a:p>
            <a:r>
              <a:rPr lang="en-AU" sz="1200" b="1" kern="1200" dirty="0" smtClean="0">
                <a:solidFill>
                  <a:schemeClr val="tx1"/>
                </a:solidFill>
                <a:latin typeface="+mn-lt"/>
                <a:ea typeface="+mn-ea"/>
                <a:cs typeface="+mn-cs"/>
              </a:rPr>
              <a:t>Attending industry seminars </a:t>
            </a:r>
          </a:p>
          <a:p>
            <a:pPr marL="171450" indent="-171450">
              <a:buFont typeface="Arial" pitchFamily="34" charset="0"/>
              <a:buChar char="•"/>
            </a:pPr>
            <a:r>
              <a:rPr lang="en-AU" sz="1200" kern="1200" dirty="0" smtClean="0">
                <a:solidFill>
                  <a:schemeClr val="tx1"/>
                </a:solidFill>
                <a:latin typeface="+mn-lt"/>
                <a:ea typeface="+mn-ea"/>
                <a:cs typeface="+mn-cs"/>
              </a:rPr>
              <a:t>These are advertised in the media, industry magazines and actively promoted through industry associations, websites, newsletters and direct mail</a:t>
            </a:r>
          </a:p>
          <a:p>
            <a:pPr marL="171450" indent="-171450">
              <a:buFont typeface="Arial" pitchFamily="34" charset="0"/>
              <a:buChar char="•"/>
            </a:pPr>
            <a:r>
              <a:rPr lang="en-AU" sz="1200" kern="1200" dirty="0" smtClean="0">
                <a:solidFill>
                  <a:schemeClr val="tx1"/>
                </a:solidFill>
                <a:latin typeface="+mn-lt"/>
                <a:ea typeface="+mn-ea"/>
                <a:cs typeface="+mn-cs"/>
              </a:rPr>
              <a:t>They may be held locally or elsewhere and often feature a wide array of</a:t>
            </a:r>
          </a:p>
          <a:p>
            <a:pPr marL="628650" lvl="1" indent="-171450">
              <a:buFont typeface="Arial" pitchFamily="34" charset="0"/>
              <a:buChar char="•"/>
            </a:pPr>
            <a:r>
              <a:rPr lang="en-AU" sz="1200" kern="1200" dirty="0" smtClean="0">
                <a:solidFill>
                  <a:schemeClr val="tx1"/>
                </a:solidFill>
                <a:latin typeface="+mn-lt"/>
                <a:ea typeface="+mn-ea"/>
                <a:cs typeface="+mn-cs"/>
              </a:rPr>
              <a:t>Exhibitors</a:t>
            </a:r>
          </a:p>
          <a:p>
            <a:pPr marL="628650" lvl="1" indent="-171450">
              <a:buFont typeface="Arial" pitchFamily="34" charset="0"/>
              <a:buChar char="•"/>
            </a:pPr>
            <a:r>
              <a:rPr lang="en-AU" sz="1200" kern="1200" dirty="0" smtClean="0">
                <a:solidFill>
                  <a:schemeClr val="tx1"/>
                </a:solidFill>
                <a:latin typeface="+mn-lt"/>
                <a:ea typeface="+mn-ea"/>
                <a:cs typeface="+mn-cs"/>
              </a:rPr>
              <a:t>Speakers</a:t>
            </a:r>
          </a:p>
          <a:p>
            <a:pPr marL="628650" lvl="1" indent="-171450">
              <a:buFont typeface="Arial" pitchFamily="34" charset="0"/>
              <a:buChar char="•"/>
            </a:pPr>
            <a:r>
              <a:rPr lang="en-AU" sz="1200" kern="1200" dirty="0" smtClean="0">
                <a:solidFill>
                  <a:schemeClr val="tx1"/>
                </a:solidFill>
                <a:latin typeface="+mn-lt"/>
                <a:ea typeface="+mn-ea"/>
                <a:cs typeface="+mn-cs"/>
              </a:rPr>
              <a:t>Products and services</a:t>
            </a:r>
          </a:p>
          <a:p>
            <a:pPr marL="171450" indent="-171450">
              <a:buFont typeface="Arial" pitchFamily="34" charset="0"/>
              <a:buChar char="•"/>
            </a:pPr>
            <a:r>
              <a:rPr lang="en-AU" sz="1200" kern="1200" dirty="0" smtClean="0">
                <a:solidFill>
                  <a:schemeClr val="tx1"/>
                </a:solidFill>
                <a:latin typeface="+mn-lt"/>
                <a:ea typeface="+mn-ea"/>
                <a:cs typeface="+mn-cs"/>
              </a:rPr>
              <a:t>There may be a need to pay to attend or they may be free of charge – there is often a need to register interest or intention to attend to facilitate catering and other arrangements</a:t>
            </a:r>
          </a:p>
          <a:p>
            <a:pPr marL="171450" indent="-171450">
              <a:buFont typeface="Arial" pitchFamily="34" charset="0"/>
              <a:buChar char="•"/>
            </a:pPr>
            <a:r>
              <a:rPr lang="en-AU" sz="1200" kern="1200" dirty="0" smtClean="0">
                <a:solidFill>
                  <a:schemeClr val="tx1"/>
                </a:solidFill>
                <a:latin typeface="+mn-lt"/>
                <a:ea typeface="+mn-ea"/>
                <a:cs typeface="+mn-cs"/>
              </a:rPr>
              <a:t>They are an excellent opportunity for:</a:t>
            </a:r>
          </a:p>
          <a:p>
            <a:pPr marL="628650" lvl="1" indent="-171450">
              <a:buFont typeface="Arial" pitchFamily="34" charset="0"/>
              <a:buChar char="•"/>
            </a:pPr>
            <a:r>
              <a:rPr lang="en-AU" sz="1200" kern="1200" dirty="0" smtClean="0">
                <a:solidFill>
                  <a:schemeClr val="tx1"/>
                </a:solidFill>
                <a:latin typeface="+mn-lt"/>
                <a:ea typeface="+mn-ea"/>
                <a:cs typeface="+mn-cs"/>
              </a:rPr>
              <a:t>Expanding personal networks</a:t>
            </a:r>
          </a:p>
          <a:p>
            <a:pPr marL="628650" lvl="1" indent="-171450">
              <a:buFont typeface="Arial" pitchFamily="34" charset="0"/>
              <a:buChar char="•"/>
            </a:pPr>
            <a:r>
              <a:rPr lang="en-AU" sz="1200" kern="1200" dirty="0" smtClean="0">
                <a:solidFill>
                  <a:schemeClr val="tx1"/>
                </a:solidFill>
                <a:latin typeface="+mn-lt"/>
                <a:ea typeface="+mn-ea"/>
                <a:cs typeface="+mn-cs"/>
              </a:rPr>
              <a:t>Learning about new products, services, packages, initiatives, deals, providers and industry issues.</a:t>
            </a:r>
          </a:p>
          <a:p>
            <a:r>
              <a:rPr lang="en-AU" sz="1200" b="1" kern="1200" dirty="0" smtClean="0">
                <a:solidFill>
                  <a:schemeClr val="tx1"/>
                </a:solidFill>
                <a:latin typeface="+mn-lt"/>
                <a:ea typeface="+mn-ea"/>
                <a:cs typeface="+mn-cs"/>
              </a:rPr>
              <a:t>Partaking in industry and related training courses </a:t>
            </a:r>
          </a:p>
          <a:p>
            <a:pPr marL="171450" indent="-171450">
              <a:buFont typeface="Arial" pitchFamily="34" charset="0"/>
              <a:buChar char="•"/>
            </a:pPr>
            <a:r>
              <a:rPr lang="en-AU" sz="1200" kern="1200" dirty="0" smtClean="0">
                <a:solidFill>
                  <a:schemeClr val="tx1"/>
                </a:solidFill>
                <a:latin typeface="+mn-lt"/>
                <a:ea typeface="+mn-ea"/>
                <a:cs typeface="+mn-cs"/>
              </a:rPr>
              <a:t>This training may be provided by:</a:t>
            </a:r>
          </a:p>
          <a:p>
            <a:pPr marL="628650" lvl="1" indent="-171450">
              <a:buFont typeface="Arial" pitchFamily="34" charset="0"/>
              <a:buChar char="•"/>
            </a:pPr>
            <a:r>
              <a:rPr lang="en-AU" sz="1200" kern="1200" dirty="0" smtClean="0">
                <a:solidFill>
                  <a:schemeClr val="tx1"/>
                </a:solidFill>
                <a:latin typeface="+mn-lt"/>
                <a:ea typeface="+mn-ea"/>
                <a:cs typeface="+mn-cs"/>
              </a:rPr>
              <a:t>Industry stakeholders  such as carriers, providers, suppliers, key industry organisations, representative bodies and/or government organisations/authorities</a:t>
            </a:r>
          </a:p>
          <a:p>
            <a:pPr marL="628650" lvl="1" indent="-171450">
              <a:buFont typeface="Arial" pitchFamily="34" charset="0"/>
              <a:buChar char="•"/>
            </a:pPr>
            <a:r>
              <a:rPr lang="en-AU" sz="1200" kern="1200" dirty="0" smtClean="0">
                <a:solidFill>
                  <a:schemeClr val="tx1"/>
                </a:solidFill>
                <a:latin typeface="+mn-lt"/>
                <a:ea typeface="+mn-ea"/>
                <a:cs typeface="+mn-cs"/>
              </a:rPr>
              <a:t>Training institutions – both private and public </a:t>
            </a:r>
          </a:p>
          <a:p>
            <a:pPr marL="171450" indent="-171450">
              <a:buFont typeface="Arial" pitchFamily="34" charset="0"/>
              <a:buChar char="•"/>
            </a:pPr>
            <a:r>
              <a:rPr lang="en-AU" sz="1200" kern="1200" dirty="0" smtClean="0">
                <a:solidFill>
                  <a:schemeClr val="tx1"/>
                </a:solidFill>
                <a:latin typeface="+mn-lt"/>
                <a:ea typeface="+mn-ea"/>
                <a:cs typeface="+mn-cs"/>
              </a:rPr>
              <a:t>These courses may:</a:t>
            </a:r>
          </a:p>
          <a:p>
            <a:pPr marL="628650" lvl="1" indent="-171450">
              <a:buFont typeface="Arial" pitchFamily="34" charset="0"/>
              <a:buChar char="•"/>
            </a:pPr>
            <a:r>
              <a:rPr lang="en-AU" sz="1200" kern="1200" dirty="0" smtClean="0">
                <a:solidFill>
                  <a:schemeClr val="tx1"/>
                </a:solidFill>
                <a:latin typeface="+mn-lt"/>
                <a:ea typeface="+mn-ea"/>
                <a:cs typeface="+mn-cs"/>
              </a:rPr>
              <a:t>Be free or fee-for-service</a:t>
            </a:r>
          </a:p>
          <a:p>
            <a:pPr marL="628650" lvl="1" indent="-171450">
              <a:buFont typeface="Arial" pitchFamily="34" charset="0"/>
              <a:buChar char="•"/>
            </a:pPr>
            <a:r>
              <a:rPr lang="en-AU" sz="1200" kern="1200" dirty="0" smtClean="0">
                <a:solidFill>
                  <a:schemeClr val="tx1"/>
                </a:solidFill>
                <a:latin typeface="+mn-lt"/>
                <a:ea typeface="+mn-ea"/>
                <a:cs typeface="+mn-cs"/>
              </a:rPr>
              <a:t>Result in formal or informal outcomes – formal outcomes provide recognised/accredited qualification/s and will be formally assessed</a:t>
            </a:r>
          </a:p>
          <a:p>
            <a:pPr marL="628650" lvl="1" indent="-171450">
              <a:buFont typeface="Arial" pitchFamily="34" charset="0"/>
              <a:buChar char="•"/>
            </a:pPr>
            <a:r>
              <a:rPr lang="en-AU" sz="1200" kern="1200" dirty="0" smtClean="0">
                <a:solidFill>
                  <a:schemeClr val="tx1"/>
                </a:solidFill>
                <a:latin typeface="+mn-lt"/>
                <a:ea typeface="+mn-ea"/>
                <a:cs typeface="+mn-cs"/>
              </a:rPr>
              <a:t>Conducted on-site in organisations – or at some other remote location such as a training facility, supplier warehouse or government building</a:t>
            </a:r>
          </a:p>
          <a:p>
            <a:pPr marL="628650" lvl="1" indent="-171450">
              <a:buFont typeface="Arial" pitchFamily="34" charset="0"/>
              <a:buChar char="•"/>
            </a:pPr>
            <a:r>
              <a:rPr lang="en-AU" sz="1200" kern="1200" dirty="0" smtClean="0">
                <a:solidFill>
                  <a:schemeClr val="tx1"/>
                </a:solidFill>
                <a:latin typeface="+mn-lt"/>
                <a:ea typeface="+mn-ea"/>
                <a:cs typeface="+mn-cs"/>
              </a:rPr>
              <a:t>Feature a mix of theory and practical training</a:t>
            </a:r>
          </a:p>
          <a:p>
            <a:pPr marL="171450" indent="-171450">
              <a:buFont typeface="Arial" pitchFamily="34" charset="0"/>
              <a:buChar char="•"/>
            </a:pPr>
            <a:r>
              <a:rPr lang="en-AU" sz="1200" kern="1200" dirty="0" smtClean="0">
                <a:solidFill>
                  <a:schemeClr val="tx1"/>
                </a:solidFill>
                <a:latin typeface="+mn-lt"/>
                <a:ea typeface="+mn-ea"/>
                <a:cs typeface="+mn-cs"/>
              </a:rPr>
              <a:t>Inherent in this option is also the potential to arrange for objective evaluation and assessment of personal skill and knowledge levels to gain recognition/certification.</a:t>
            </a:r>
          </a:p>
          <a:p>
            <a:pPr>
              <a:buFont typeface="Arial" pitchFamily="34" charset="0"/>
              <a:buNone/>
            </a:pPr>
            <a:endParaRPr lang="en-US" noProof="0" dirty="0" smtClean="0"/>
          </a:p>
          <a:p>
            <a:pPr>
              <a:buFont typeface="Arial" pitchFamily="34" charset="0"/>
              <a:buNone/>
            </a:pPr>
            <a:r>
              <a:rPr lang="en-US" b="1" noProof="0" dirty="0" smtClean="0"/>
              <a:t>Class Activity – Excursion</a:t>
            </a:r>
          </a:p>
          <a:p>
            <a:pPr>
              <a:buFont typeface="Arial" pitchFamily="34" charset="0"/>
              <a:buNone/>
            </a:pPr>
            <a:r>
              <a:rPr lang="en-US" b="0" noProof="0" dirty="0" smtClean="0"/>
              <a:t>Trainer takes students to a relevant industry event,</a:t>
            </a:r>
            <a:r>
              <a:rPr lang="en-US" b="0" baseline="0" noProof="0" dirty="0" smtClean="0"/>
              <a:t> exhibition, seminar, conference.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extLst>
      <p:ext uri="{BB962C8B-B14F-4D97-AF65-F5344CB8AC3E}">
        <p14:creationId xmlns:p14="http://schemas.microsoft.com/office/powerpoint/2010/main" val="144976066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pPr>
              <a:buFont typeface="Arial" pitchFamily="34" charset="0"/>
              <a:buNone/>
            </a:pPr>
            <a:r>
              <a:rPr lang="en-US" noProof="0" dirty="0" smtClean="0"/>
              <a:t>Trainer continues presenting</a:t>
            </a:r>
            <a:r>
              <a:rPr lang="en-US" baseline="0" noProof="0" dirty="0" smtClean="0"/>
              <a:t> examples of activities to acquire and update industry skills and knowledge:</a:t>
            </a:r>
          </a:p>
          <a:p>
            <a:r>
              <a:rPr lang="en-AU" sz="1200" b="1" kern="1200" dirty="0" smtClean="0">
                <a:solidFill>
                  <a:schemeClr val="tx1"/>
                </a:solidFill>
                <a:latin typeface="+mn-lt"/>
                <a:ea typeface="+mn-ea"/>
                <a:cs typeface="+mn-cs"/>
              </a:rPr>
              <a:t>Undertaking fam tours </a:t>
            </a:r>
          </a:p>
          <a:p>
            <a:pPr marL="171450" indent="-171450">
              <a:buFont typeface="Arial" pitchFamily="34" charset="0"/>
              <a:buChar char="•"/>
            </a:pPr>
            <a:r>
              <a:rPr lang="en-AU" sz="1200" kern="1200" dirty="0" smtClean="0">
                <a:solidFill>
                  <a:schemeClr val="tx1"/>
                </a:solidFill>
                <a:latin typeface="+mn-lt"/>
                <a:ea typeface="+mn-ea"/>
                <a:cs typeface="+mn-cs"/>
              </a:rPr>
              <a:t>These are commonplace within the industry</a:t>
            </a:r>
          </a:p>
          <a:p>
            <a:pPr marL="171450" indent="-171450">
              <a:buFont typeface="Arial" pitchFamily="34" charset="0"/>
              <a:buChar char="•"/>
            </a:pPr>
            <a:r>
              <a:rPr lang="en-AU" sz="1200" kern="1200" dirty="0" smtClean="0">
                <a:solidFill>
                  <a:schemeClr val="tx1"/>
                </a:solidFill>
                <a:latin typeface="+mn-lt"/>
                <a:ea typeface="+mn-ea"/>
                <a:cs typeface="+mn-cs"/>
              </a:rPr>
              <a:t>They are conducted/operated by:</a:t>
            </a:r>
          </a:p>
          <a:p>
            <a:pPr marL="628650" lvl="1" indent="-171450">
              <a:buFont typeface="Arial" pitchFamily="34" charset="0"/>
              <a:buChar char="•"/>
            </a:pPr>
            <a:r>
              <a:rPr lang="en-AU" sz="1200" kern="1200" dirty="0" smtClean="0">
                <a:solidFill>
                  <a:schemeClr val="tx1"/>
                </a:solidFill>
                <a:latin typeface="+mn-lt"/>
                <a:ea typeface="+mn-ea"/>
                <a:cs typeface="+mn-cs"/>
              </a:rPr>
              <a:t>Industry attractions; Venues; Sites</a:t>
            </a:r>
          </a:p>
          <a:p>
            <a:pPr marL="171450" indent="-171450">
              <a:buFont typeface="Arial" pitchFamily="34" charset="0"/>
              <a:buChar char="•"/>
            </a:pPr>
            <a:r>
              <a:rPr lang="en-AU" sz="1200" kern="1200" dirty="0" smtClean="0">
                <a:solidFill>
                  <a:schemeClr val="tx1"/>
                </a:solidFill>
                <a:latin typeface="+mn-lt"/>
                <a:ea typeface="+mn-ea"/>
                <a:cs typeface="+mn-cs"/>
              </a:rPr>
              <a:t>They are provided:</a:t>
            </a:r>
          </a:p>
          <a:p>
            <a:pPr marL="628650" lvl="1" indent="-171450">
              <a:buFont typeface="Arial" pitchFamily="34" charset="0"/>
              <a:buChar char="•"/>
            </a:pPr>
            <a:r>
              <a:rPr lang="en-AU" sz="1200" kern="1200" dirty="0" smtClean="0">
                <a:solidFill>
                  <a:schemeClr val="tx1"/>
                </a:solidFill>
                <a:latin typeface="+mn-lt"/>
                <a:ea typeface="+mn-ea"/>
                <a:cs typeface="+mn-cs"/>
              </a:rPr>
              <a:t>Free of charge; To industry personnel; In order to make industry personnel aware of (‘familiar with’) the destination so they will promote it/recommend it to visitors and tourists</a:t>
            </a:r>
          </a:p>
          <a:p>
            <a:pPr marL="171450" indent="-171450">
              <a:buFont typeface="Arial" pitchFamily="34" charset="0"/>
              <a:buChar char="•"/>
            </a:pPr>
            <a:r>
              <a:rPr lang="en-AU" sz="1200" kern="1200" dirty="0" smtClean="0">
                <a:solidFill>
                  <a:schemeClr val="tx1"/>
                </a:solidFill>
                <a:latin typeface="+mn-lt"/>
                <a:ea typeface="+mn-ea"/>
                <a:cs typeface="+mn-cs"/>
              </a:rPr>
              <a:t>They need to be arranged in advance for a mutually convenient time, usually by contacting the destination and making a request.</a:t>
            </a:r>
          </a:p>
          <a:p>
            <a:r>
              <a:rPr lang="en-AU" sz="1200" b="1" kern="1200" dirty="0" smtClean="0">
                <a:solidFill>
                  <a:schemeClr val="tx1"/>
                </a:solidFill>
                <a:latin typeface="+mn-lt"/>
                <a:ea typeface="+mn-ea"/>
                <a:cs typeface="+mn-cs"/>
              </a:rPr>
              <a:t>Joining a professional guiding association</a:t>
            </a:r>
          </a:p>
          <a:p>
            <a:pPr marL="171450" indent="-171450">
              <a:buFont typeface="Arial" pitchFamily="34" charset="0"/>
              <a:buChar char="•"/>
            </a:pPr>
            <a:r>
              <a:rPr lang="en-AU" sz="1200" kern="1200" dirty="0" smtClean="0">
                <a:solidFill>
                  <a:schemeClr val="tx1"/>
                </a:solidFill>
                <a:latin typeface="+mn-lt"/>
                <a:ea typeface="+mn-ea"/>
                <a:cs typeface="+mn-cs"/>
              </a:rPr>
              <a:t>It is strongly recommended all Tour Guide join at least one recognised professional guiding association</a:t>
            </a:r>
          </a:p>
          <a:p>
            <a:pPr marL="171450" indent="-171450">
              <a:buFont typeface="Arial" pitchFamily="34" charset="0"/>
              <a:buChar char="•"/>
            </a:pPr>
            <a:r>
              <a:rPr lang="en-AU" sz="1200" kern="1200" dirty="0" smtClean="0">
                <a:solidFill>
                  <a:schemeClr val="tx1"/>
                </a:solidFill>
                <a:latin typeface="+mn-lt"/>
                <a:ea typeface="+mn-ea"/>
                <a:cs typeface="+mn-cs"/>
              </a:rPr>
              <a:t>The association may be:</a:t>
            </a:r>
          </a:p>
          <a:p>
            <a:pPr marL="628650" lvl="1" indent="-171450">
              <a:buFont typeface="Arial" pitchFamily="34" charset="0"/>
              <a:buChar char="•"/>
            </a:pPr>
            <a:r>
              <a:rPr lang="en-AU" sz="1200" kern="1200" dirty="0" smtClean="0">
                <a:solidFill>
                  <a:schemeClr val="tx1"/>
                </a:solidFill>
                <a:latin typeface="+mn-lt"/>
                <a:ea typeface="+mn-ea"/>
                <a:cs typeface="+mn-cs"/>
              </a:rPr>
              <a:t>A local Chapter/Branch of a larger organisation</a:t>
            </a:r>
          </a:p>
          <a:p>
            <a:pPr marL="628650" lvl="1" indent="-171450">
              <a:buFont typeface="Arial" pitchFamily="34" charset="0"/>
              <a:buChar char="•"/>
            </a:pPr>
            <a:r>
              <a:rPr lang="en-AU" sz="1200" kern="1200" dirty="0" smtClean="0">
                <a:solidFill>
                  <a:schemeClr val="tx1"/>
                </a:solidFill>
                <a:latin typeface="+mn-lt"/>
                <a:ea typeface="+mn-ea"/>
                <a:cs typeface="+mn-cs"/>
              </a:rPr>
              <a:t>A stand-alone local body</a:t>
            </a:r>
          </a:p>
          <a:p>
            <a:pPr marL="171450" indent="-171450">
              <a:buFont typeface="Arial" pitchFamily="34" charset="0"/>
              <a:buChar char="•"/>
            </a:pPr>
            <a:r>
              <a:rPr lang="en-AU" sz="1200" kern="1200" dirty="0" smtClean="0">
                <a:solidFill>
                  <a:schemeClr val="tx1"/>
                </a:solidFill>
                <a:latin typeface="+mn-lt"/>
                <a:ea typeface="+mn-ea"/>
                <a:cs typeface="+mn-cs"/>
              </a:rPr>
              <a:t>Many Tour Guides belong to more than one such organisation</a:t>
            </a:r>
          </a:p>
          <a:p>
            <a:pPr marL="171450" indent="-171450">
              <a:buFont typeface="Arial" pitchFamily="34" charset="0"/>
              <a:buChar char="•"/>
            </a:pPr>
            <a:r>
              <a:rPr lang="en-AU" sz="1200" kern="1200" dirty="0" smtClean="0">
                <a:solidFill>
                  <a:schemeClr val="tx1"/>
                </a:solidFill>
                <a:latin typeface="+mn-lt"/>
                <a:ea typeface="+mn-ea"/>
                <a:cs typeface="+mn-cs"/>
              </a:rPr>
              <a:t>In some cases, being a member of a guiding association may be a legislated requirement where the body oversees/administers Tourist Guides licences/permits.</a:t>
            </a:r>
          </a:p>
          <a:p>
            <a:pPr>
              <a:buFont typeface="Arial" pitchFamily="34" charset="0"/>
              <a:buNone/>
            </a:pPr>
            <a:endParaRPr lang="en-US" baseline="0" noProof="0" dirty="0" smtClean="0"/>
          </a:p>
          <a:p>
            <a:pPr>
              <a:buFont typeface="Arial" pitchFamily="34" charset="0"/>
              <a:buNone/>
            </a:pPr>
            <a:r>
              <a:rPr lang="en-US" b="1" baseline="0" noProof="0" dirty="0" smtClean="0"/>
              <a:t>Class Activity (1) – Excursion </a:t>
            </a:r>
          </a:p>
          <a:p>
            <a:pPr>
              <a:buFont typeface="Arial" pitchFamily="34" charset="0"/>
              <a:buNone/>
            </a:pPr>
            <a:r>
              <a:rPr lang="en-US" b="0" baseline="0" noProof="0" dirty="0" smtClean="0"/>
              <a:t>Trainer arranges for students to undertake a fam tour of one or more local attractions, venues or destinations.</a:t>
            </a:r>
          </a:p>
          <a:p>
            <a:pPr>
              <a:buFont typeface="Arial" pitchFamily="34" charset="0"/>
              <a:buNone/>
            </a:pPr>
            <a:endParaRPr lang="en-US" b="0" baseline="0" noProof="0" dirty="0" smtClean="0"/>
          </a:p>
          <a:p>
            <a:pPr>
              <a:buFont typeface="Arial" pitchFamily="34" charset="0"/>
              <a:buNone/>
            </a:pPr>
            <a:r>
              <a:rPr lang="en-US" b="1" baseline="0" noProof="0" dirty="0" smtClean="0"/>
              <a:t>Class Activity (2) – Guest Speaker</a:t>
            </a:r>
          </a:p>
          <a:p>
            <a:pPr>
              <a:buFont typeface="Arial" pitchFamily="34" charset="0"/>
              <a:buNone/>
            </a:pPr>
            <a:r>
              <a:rPr lang="en-US" b="0" baseline="0" noProof="0" dirty="0" smtClean="0"/>
              <a:t>Trainer arranges for representative from local professional guiding association to attend and talk about the benefits of being a member.</a:t>
            </a:r>
          </a:p>
          <a:p>
            <a:pPr>
              <a:buFont typeface="Arial" pitchFamily="34" charset="0"/>
              <a:buNone/>
            </a:pPr>
            <a:endParaRPr lang="en-US" b="0" baseline="0" noProof="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baseline="0" noProof="0" dirty="0" smtClean="0"/>
              <a:t>Class Activity (3) – Internet Research</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0" baseline="0" noProof="0" dirty="0" smtClean="0"/>
              <a:t>Trainer facilitates student research of and discussion regarding content of following and other similar/relevant websites:</a:t>
            </a:r>
          </a:p>
          <a:p>
            <a:r>
              <a:rPr lang="en-AU" sz="1200" u="sng" kern="1200" dirty="0" smtClean="0">
                <a:solidFill>
                  <a:schemeClr val="tx1"/>
                </a:solidFill>
                <a:latin typeface="+mn-lt"/>
                <a:ea typeface="+mn-ea"/>
                <a:cs typeface="+mn-cs"/>
                <a:hlinkClick r:id="rId3"/>
              </a:rPr>
              <a:t>http://www.wftga.org/</a:t>
            </a:r>
            <a:r>
              <a:rPr lang="en-AU" sz="1200" kern="1200" dirty="0" smtClean="0">
                <a:solidFill>
                  <a:schemeClr val="tx1"/>
                </a:solidFill>
                <a:latin typeface="+mn-lt"/>
                <a:ea typeface="+mn-ea"/>
                <a:cs typeface="+mn-cs"/>
              </a:rPr>
              <a:t> - World Federation of Tourist Guide Associations</a:t>
            </a:r>
          </a:p>
          <a:p>
            <a:r>
              <a:rPr lang="en-AU" sz="1200" u="sng" kern="1200" dirty="0" smtClean="0">
                <a:solidFill>
                  <a:schemeClr val="tx1"/>
                </a:solidFill>
                <a:latin typeface="+mn-lt"/>
                <a:ea typeface="+mn-ea"/>
                <a:cs typeface="+mn-cs"/>
                <a:hlinkClick r:id="rId4"/>
              </a:rPr>
              <a:t>http://www.seatga.org/</a:t>
            </a:r>
            <a:r>
              <a:rPr lang="en-AU" sz="1200" kern="1200" dirty="0" smtClean="0">
                <a:solidFill>
                  <a:schemeClr val="tx1"/>
                </a:solidFill>
                <a:latin typeface="+mn-lt"/>
                <a:ea typeface="+mn-ea"/>
                <a:cs typeface="+mn-cs"/>
              </a:rPr>
              <a:t> - South East Asia Tourist Guides Association</a:t>
            </a:r>
          </a:p>
          <a:p>
            <a:r>
              <a:rPr lang="en-AU" sz="1200" u="sng" kern="1200" dirty="0" smtClean="0">
                <a:solidFill>
                  <a:schemeClr val="tx1"/>
                </a:solidFill>
                <a:latin typeface="+mn-lt"/>
                <a:ea typeface="+mn-ea"/>
                <a:cs typeface="+mn-cs"/>
                <a:hlinkClick r:id="rId5"/>
              </a:rPr>
              <a:t>http://stga.com.my/</a:t>
            </a:r>
            <a:r>
              <a:rPr lang="en-AU" sz="1200" kern="1200" dirty="0" smtClean="0">
                <a:solidFill>
                  <a:schemeClr val="tx1"/>
                </a:solidFill>
                <a:latin typeface="+mn-lt"/>
                <a:ea typeface="+mn-ea"/>
                <a:cs typeface="+mn-cs"/>
              </a:rPr>
              <a:t> - Sabah Tourist Guides Association</a:t>
            </a:r>
          </a:p>
          <a:p>
            <a:r>
              <a:rPr lang="en-AU" sz="1200" u="sng" kern="1200" dirty="0" smtClean="0">
                <a:solidFill>
                  <a:schemeClr val="tx1"/>
                </a:solidFill>
                <a:latin typeface="+mn-lt"/>
                <a:ea typeface="+mn-ea"/>
                <a:cs typeface="+mn-cs"/>
                <a:hlinkClick r:id="rId6"/>
              </a:rPr>
              <a:t>http://www.societyoftouristguides.org.sg/</a:t>
            </a:r>
            <a:r>
              <a:rPr lang="en-AU" sz="1200" kern="1200" dirty="0" smtClean="0">
                <a:solidFill>
                  <a:schemeClr val="tx1"/>
                </a:solidFill>
                <a:latin typeface="+mn-lt"/>
                <a:ea typeface="+mn-ea"/>
                <a:cs typeface="+mn-cs"/>
              </a:rPr>
              <a:t> - Society of Tourist Guides Singapore.</a:t>
            </a:r>
          </a:p>
          <a:p>
            <a:pPr>
              <a:buFont typeface="Arial" pitchFamily="34" charset="0"/>
              <a:buNone/>
            </a:pPr>
            <a:endParaRPr lang="en-US" b="0"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extLst>
      <p:ext uri="{BB962C8B-B14F-4D97-AF65-F5344CB8AC3E}">
        <p14:creationId xmlns:p14="http://schemas.microsoft.com/office/powerpoint/2010/main" val="186651798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presenting</a:t>
            </a:r>
            <a:r>
              <a:rPr lang="en-US" baseline="0" noProof="0" dirty="0" smtClean="0"/>
              <a:t> examples of activities to acquire and update industry skills and knowledge:</a:t>
            </a:r>
          </a:p>
          <a:p>
            <a:r>
              <a:rPr lang="en-AU" sz="1200" b="1" kern="1200" dirty="0" smtClean="0">
                <a:solidFill>
                  <a:schemeClr val="tx1"/>
                </a:solidFill>
                <a:latin typeface="+mn-lt"/>
                <a:ea typeface="+mn-ea"/>
                <a:cs typeface="+mn-cs"/>
              </a:rPr>
              <a:t>Undertaking formal and informal research</a:t>
            </a:r>
          </a:p>
          <a:p>
            <a:pPr marL="171450" indent="-171450">
              <a:buFont typeface="Arial" pitchFamily="34" charset="0"/>
              <a:buChar char="•"/>
            </a:pPr>
            <a:r>
              <a:rPr lang="en-AU" sz="1200" kern="1200" dirty="0" smtClean="0">
                <a:solidFill>
                  <a:schemeClr val="tx1"/>
                </a:solidFill>
                <a:latin typeface="+mn-lt"/>
                <a:ea typeface="+mn-ea"/>
                <a:cs typeface="+mn-cs"/>
              </a:rPr>
              <a:t>Formal research relates to:</a:t>
            </a:r>
          </a:p>
          <a:p>
            <a:pPr marL="628650" lvl="1" indent="-171450">
              <a:buFont typeface="Arial" pitchFamily="34" charset="0"/>
              <a:buChar char="•"/>
            </a:pPr>
            <a:r>
              <a:rPr lang="en-AU" sz="1200" kern="1200" dirty="0" smtClean="0">
                <a:solidFill>
                  <a:schemeClr val="tx1"/>
                </a:solidFill>
                <a:latin typeface="+mn-lt"/>
                <a:ea typeface="+mn-ea"/>
                <a:cs typeface="+mn-cs"/>
              </a:rPr>
              <a:t>Reading relevant text books; Undertaking formal courses of study; Reading industry reports; </a:t>
            </a:r>
          </a:p>
          <a:p>
            <a:pPr marL="628650" lvl="1" indent="-171450">
              <a:buFont typeface="Arial" pitchFamily="34" charset="0"/>
              <a:buChar char="•"/>
            </a:pPr>
            <a:r>
              <a:rPr lang="en-AU" sz="1200" kern="1200" dirty="0" smtClean="0">
                <a:solidFill>
                  <a:schemeClr val="tx1"/>
                </a:solidFill>
                <a:latin typeface="+mn-lt"/>
                <a:ea typeface="+mn-ea"/>
                <a:cs typeface="+mn-cs"/>
              </a:rPr>
              <a:t>Attending industry-based events </a:t>
            </a:r>
          </a:p>
          <a:p>
            <a:pPr marL="171450" indent="-171450">
              <a:buFont typeface="Arial" pitchFamily="34" charset="0"/>
              <a:buChar char="•"/>
            </a:pPr>
            <a:r>
              <a:rPr lang="en-AU" sz="1200" kern="1200" dirty="0" smtClean="0">
                <a:solidFill>
                  <a:schemeClr val="tx1"/>
                </a:solidFill>
                <a:latin typeface="+mn-lt"/>
                <a:ea typeface="+mn-ea"/>
                <a:cs typeface="+mn-cs"/>
              </a:rPr>
              <a:t>Informal research relates to:</a:t>
            </a:r>
          </a:p>
          <a:p>
            <a:pPr marL="628650" lvl="1" indent="-171450">
              <a:buFont typeface="Arial" pitchFamily="34" charset="0"/>
              <a:buChar char="•"/>
            </a:pPr>
            <a:r>
              <a:rPr lang="en-AU" sz="1200" kern="1200" dirty="0" smtClean="0">
                <a:solidFill>
                  <a:schemeClr val="tx1"/>
                </a:solidFill>
                <a:latin typeface="+mn-lt"/>
                <a:ea typeface="+mn-ea"/>
                <a:cs typeface="+mn-cs"/>
              </a:rPr>
              <a:t>Talking to network of contacts; Reading general media articles; Speaking with tourists/visitors; </a:t>
            </a:r>
          </a:p>
          <a:p>
            <a:pPr marL="628650" lvl="1" indent="-171450">
              <a:buFont typeface="Arial" pitchFamily="34" charset="0"/>
              <a:buChar char="•"/>
            </a:pPr>
            <a:r>
              <a:rPr lang="en-AU" sz="1200" kern="1200" dirty="0" smtClean="0">
                <a:solidFill>
                  <a:schemeClr val="tx1"/>
                </a:solidFill>
                <a:latin typeface="+mn-lt"/>
                <a:ea typeface="+mn-ea"/>
                <a:cs typeface="+mn-cs"/>
              </a:rPr>
              <a:t>Visiting destinations, sites and attractions.</a:t>
            </a:r>
          </a:p>
          <a:p>
            <a:r>
              <a:rPr lang="en-AU" sz="1200" b="1" kern="1200" dirty="0" smtClean="0">
                <a:solidFill>
                  <a:schemeClr val="tx1"/>
                </a:solidFill>
                <a:latin typeface="+mn-lt"/>
                <a:ea typeface="+mn-ea"/>
                <a:cs typeface="+mn-cs"/>
              </a:rPr>
              <a:t>Practicing required skills </a:t>
            </a:r>
          </a:p>
          <a:p>
            <a:r>
              <a:rPr lang="en-AU" sz="1200" kern="1200" dirty="0" smtClean="0">
                <a:solidFill>
                  <a:schemeClr val="tx1"/>
                </a:solidFill>
                <a:latin typeface="+mn-lt"/>
                <a:ea typeface="+mn-ea"/>
                <a:cs typeface="+mn-cs"/>
              </a:rPr>
              <a:t>This means implementing newly learned competencies so they become familiar and easy to perform.</a:t>
            </a:r>
          </a:p>
          <a:p>
            <a:pPr marL="171450" indent="-171450">
              <a:buFont typeface="Arial" pitchFamily="34" charset="0"/>
              <a:buChar char="•"/>
            </a:pPr>
            <a:r>
              <a:rPr lang="en-AU" sz="1200" kern="1200" dirty="0" smtClean="0">
                <a:solidFill>
                  <a:schemeClr val="tx1"/>
                </a:solidFill>
                <a:latin typeface="+mn-lt"/>
                <a:ea typeface="+mn-ea"/>
                <a:cs typeface="+mn-cs"/>
              </a:rPr>
              <a:t>It relates to the concepts of:</a:t>
            </a:r>
          </a:p>
          <a:p>
            <a:pPr marL="628650" lvl="1" indent="-171450">
              <a:buFont typeface="Arial" pitchFamily="34" charset="0"/>
              <a:buChar char="•"/>
            </a:pPr>
            <a:r>
              <a:rPr lang="en-AU" sz="1200" kern="1200" dirty="0" smtClean="0">
                <a:solidFill>
                  <a:schemeClr val="tx1"/>
                </a:solidFill>
                <a:latin typeface="+mn-lt"/>
                <a:ea typeface="+mn-ea"/>
                <a:cs typeface="+mn-cs"/>
              </a:rPr>
              <a:t>Drill; Repetition ; Role plays; Practical exercises; Demonstrations</a:t>
            </a:r>
          </a:p>
          <a:p>
            <a:pPr marL="171450" indent="-171450">
              <a:buFont typeface="Arial" pitchFamily="34" charset="0"/>
              <a:buChar char="•"/>
            </a:pPr>
            <a:r>
              <a:rPr lang="en-AU" sz="1200" kern="1200" dirty="0" smtClean="0">
                <a:solidFill>
                  <a:schemeClr val="tx1"/>
                </a:solidFill>
                <a:latin typeface="+mn-lt"/>
                <a:ea typeface="+mn-ea"/>
                <a:cs typeface="+mn-cs"/>
              </a:rPr>
              <a:t>The practice may:</a:t>
            </a:r>
          </a:p>
          <a:p>
            <a:pPr marL="628650" lvl="1" indent="-171450">
              <a:buFont typeface="Arial" pitchFamily="34" charset="0"/>
              <a:buChar char="•"/>
            </a:pPr>
            <a:r>
              <a:rPr lang="en-AU" sz="1200" kern="1200" dirty="0" smtClean="0">
                <a:solidFill>
                  <a:schemeClr val="tx1"/>
                </a:solidFill>
                <a:latin typeface="+mn-lt"/>
                <a:ea typeface="+mn-ea"/>
                <a:cs typeface="+mn-cs"/>
              </a:rPr>
              <a:t>Occur in an actual industry setting; Take place in a simulated environment; Be undertaken while acting as an assistant to another (or </a:t>
            </a:r>
            <a:r>
              <a:rPr lang="en-AU" sz="1200" i="1" kern="1200" dirty="0" smtClean="0">
                <a:solidFill>
                  <a:schemeClr val="tx1"/>
                </a:solidFill>
                <a:latin typeface="+mn-lt"/>
                <a:ea typeface="+mn-ea"/>
                <a:cs typeface="+mn-cs"/>
              </a:rPr>
              <a:t>bona fide</a:t>
            </a:r>
            <a:r>
              <a:rPr lang="en-AU" sz="1200" kern="1200" dirty="0" smtClean="0">
                <a:solidFill>
                  <a:schemeClr val="tx1"/>
                </a:solidFill>
                <a:latin typeface="+mn-lt"/>
                <a:ea typeface="+mn-ea"/>
                <a:cs typeface="+mn-cs"/>
              </a:rPr>
              <a:t>) tour guide.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extLst>
      <p:ext uri="{BB962C8B-B14F-4D97-AF65-F5344CB8AC3E}">
        <p14:creationId xmlns:p14="http://schemas.microsoft.com/office/powerpoint/2010/main" val="31246301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noProof="0" dirty="0" smtClean="0"/>
              <a:t>Trainer advises in regard to legal issues there is a need to need to be aware of </a:t>
            </a:r>
          </a:p>
          <a:p>
            <a:r>
              <a:rPr lang="en-AU" sz="1200" b="1" kern="1200" dirty="0" smtClean="0">
                <a:solidFill>
                  <a:schemeClr val="tx1"/>
                </a:solidFill>
                <a:latin typeface="+mn-lt"/>
                <a:ea typeface="+mn-ea"/>
                <a:cs typeface="+mn-cs"/>
              </a:rPr>
              <a:t>Criminal liability</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Criminal liability refers to situations where a person is found ‘guilty’ of an offence</a:t>
            </a:r>
          </a:p>
          <a:p>
            <a:pPr marL="171450" indent="-171450">
              <a:buFont typeface="Arial" pitchFamily="34" charset="0"/>
              <a:buChar char="•"/>
            </a:pPr>
            <a:r>
              <a:rPr lang="en-AU" sz="1200" kern="1200" dirty="0" smtClean="0">
                <a:solidFill>
                  <a:schemeClr val="tx1"/>
                </a:solidFill>
                <a:latin typeface="+mn-lt"/>
                <a:ea typeface="+mn-ea"/>
                <a:cs typeface="+mn-cs"/>
              </a:rPr>
              <a:t>Guilt must be proved ‘beyond reasonable doubt’</a:t>
            </a:r>
          </a:p>
          <a:p>
            <a:pPr marL="171450" indent="-171450">
              <a:buFont typeface="Arial" pitchFamily="34" charset="0"/>
              <a:buChar char="•"/>
            </a:pPr>
            <a:r>
              <a:rPr lang="en-AU" sz="1200" kern="1200" dirty="0" smtClean="0">
                <a:solidFill>
                  <a:schemeClr val="tx1"/>
                </a:solidFill>
                <a:latin typeface="+mn-lt"/>
                <a:ea typeface="+mn-ea"/>
                <a:cs typeface="+mn-cs"/>
              </a:rPr>
              <a:t>Action is taken against the person by the authorities</a:t>
            </a:r>
          </a:p>
          <a:p>
            <a:pPr marL="171450" indent="-171450">
              <a:buFont typeface="Arial" pitchFamily="34" charset="0"/>
              <a:buChar char="•"/>
            </a:pPr>
            <a:r>
              <a:rPr lang="en-AU" sz="1200" kern="1200" dirty="0" smtClean="0">
                <a:solidFill>
                  <a:schemeClr val="tx1"/>
                </a:solidFill>
                <a:latin typeface="+mn-lt"/>
                <a:ea typeface="+mn-ea"/>
                <a:cs typeface="+mn-cs"/>
              </a:rPr>
              <a:t>A guilty decision may result in:</a:t>
            </a:r>
          </a:p>
          <a:p>
            <a:pPr marL="628650" lvl="1" indent="-171450">
              <a:buFont typeface="Arial" pitchFamily="34" charset="0"/>
              <a:buChar char="•"/>
            </a:pPr>
            <a:r>
              <a:rPr lang="en-AU" sz="1200" kern="1200" dirty="0" smtClean="0">
                <a:solidFill>
                  <a:schemeClr val="tx1"/>
                </a:solidFill>
                <a:latin typeface="+mn-lt"/>
                <a:ea typeface="+mn-ea"/>
                <a:cs typeface="+mn-cs"/>
              </a:rPr>
              <a:t>A fine </a:t>
            </a:r>
          </a:p>
          <a:p>
            <a:pPr marL="628650" lvl="1" indent="-171450">
              <a:buFont typeface="Arial" pitchFamily="34" charset="0"/>
              <a:buChar char="•"/>
            </a:pPr>
            <a:r>
              <a:rPr lang="en-AU" sz="1200" kern="1200" dirty="0" smtClean="0">
                <a:solidFill>
                  <a:schemeClr val="tx1"/>
                </a:solidFill>
                <a:latin typeface="+mn-lt"/>
                <a:ea typeface="+mn-ea"/>
                <a:cs typeface="+mn-cs"/>
              </a:rPr>
              <a:t>Imprisonment </a:t>
            </a:r>
          </a:p>
          <a:p>
            <a:pPr marL="628650" lvl="1" indent="-171450">
              <a:buFont typeface="Arial" pitchFamily="34" charset="0"/>
              <a:buChar char="•"/>
            </a:pPr>
            <a:r>
              <a:rPr lang="en-AU" sz="1200" kern="1200" dirty="0" smtClean="0">
                <a:solidFill>
                  <a:schemeClr val="tx1"/>
                </a:solidFill>
                <a:latin typeface="+mn-lt"/>
                <a:ea typeface="+mn-ea"/>
                <a:cs typeface="+mn-cs"/>
              </a:rPr>
              <a:t>Other outcomes such as business closure, licence/permit cancelation or suspension, legally-binding directive.</a:t>
            </a:r>
          </a:p>
          <a:p>
            <a:r>
              <a:rPr lang="en-AU" sz="1200" b="1" kern="1200" dirty="0" smtClean="0">
                <a:solidFill>
                  <a:schemeClr val="tx1"/>
                </a:solidFill>
                <a:latin typeface="+mn-lt"/>
                <a:ea typeface="+mn-ea"/>
                <a:cs typeface="+mn-cs"/>
              </a:rPr>
              <a:t>Civil liability</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Civil liability refers to situations where a person is found ‘liable’ in relation to an occurrence</a:t>
            </a:r>
          </a:p>
          <a:p>
            <a:pPr marL="171450" indent="-171450">
              <a:buFont typeface="Arial" pitchFamily="34" charset="0"/>
              <a:buChar char="•"/>
            </a:pPr>
            <a:r>
              <a:rPr lang="en-AU" sz="1200" kern="1200" dirty="0" smtClean="0">
                <a:solidFill>
                  <a:schemeClr val="tx1"/>
                </a:solidFill>
                <a:latin typeface="+mn-lt"/>
                <a:ea typeface="+mn-ea"/>
                <a:cs typeface="+mn-cs"/>
              </a:rPr>
              <a:t>‘Liability’ only needs to be proven ‘on the balance of probabilities’</a:t>
            </a:r>
          </a:p>
          <a:p>
            <a:pPr marL="171450" indent="-171450">
              <a:buFont typeface="Arial" pitchFamily="34" charset="0"/>
              <a:buChar char="•"/>
            </a:pPr>
            <a:r>
              <a:rPr lang="en-AU" sz="1200" kern="1200" dirty="0" smtClean="0">
                <a:solidFill>
                  <a:schemeClr val="tx1"/>
                </a:solidFill>
                <a:latin typeface="+mn-lt"/>
                <a:ea typeface="+mn-ea"/>
                <a:cs typeface="+mn-cs"/>
              </a:rPr>
              <a:t>Action is taken against the person by another person or a business for things such as:</a:t>
            </a:r>
          </a:p>
          <a:p>
            <a:pPr marL="628650" lvl="1" indent="-171450">
              <a:buFont typeface="Arial" pitchFamily="34" charset="0"/>
              <a:buChar char="•"/>
            </a:pPr>
            <a:r>
              <a:rPr lang="en-AU" sz="1200" kern="1200" dirty="0" smtClean="0">
                <a:solidFill>
                  <a:schemeClr val="tx1"/>
                </a:solidFill>
                <a:latin typeface="+mn-lt"/>
                <a:ea typeface="+mn-ea"/>
                <a:cs typeface="+mn-cs"/>
              </a:rPr>
              <a:t>Protecting their personal interests</a:t>
            </a:r>
          </a:p>
          <a:p>
            <a:pPr marL="628650" lvl="1" indent="-171450">
              <a:buFont typeface="Arial" pitchFamily="34" charset="0"/>
              <a:buChar char="•"/>
            </a:pPr>
            <a:r>
              <a:rPr lang="en-AU" sz="1200" kern="1200" dirty="0" smtClean="0">
                <a:solidFill>
                  <a:schemeClr val="tx1"/>
                </a:solidFill>
                <a:latin typeface="+mn-lt"/>
                <a:ea typeface="+mn-ea"/>
                <a:cs typeface="+mn-cs"/>
              </a:rPr>
              <a:t>Failing to take reasonable care</a:t>
            </a:r>
          </a:p>
          <a:p>
            <a:pPr marL="628650" lvl="1" indent="-171450">
              <a:buFont typeface="Arial" pitchFamily="34" charset="0"/>
              <a:buChar char="•"/>
            </a:pPr>
            <a:r>
              <a:rPr lang="en-AU" sz="1200" kern="1200" dirty="0" smtClean="0">
                <a:solidFill>
                  <a:schemeClr val="tx1"/>
                </a:solidFill>
                <a:latin typeface="+mn-lt"/>
                <a:ea typeface="+mn-ea"/>
                <a:cs typeface="+mn-cs"/>
              </a:rPr>
              <a:t>Breach of contract</a:t>
            </a:r>
          </a:p>
          <a:p>
            <a:pPr marL="171450" indent="-171450">
              <a:buFont typeface="Arial" pitchFamily="34" charset="0"/>
              <a:buChar char="•"/>
            </a:pPr>
            <a:r>
              <a:rPr lang="en-AU" sz="1200" kern="1200" dirty="0" smtClean="0">
                <a:solidFill>
                  <a:schemeClr val="tx1"/>
                </a:solidFill>
                <a:latin typeface="+mn-lt"/>
                <a:ea typeface="+mn-ea"/>
                <a:cs typeface="+mn-cs"/>
              </a:rPr>
              <a:t>Being found liable can result in:</a:t>
            </a:r>
          </a:p>
          <a:p>
            <a:pPr marL="628650" lvl="1" indent="-171450">
              <a:buFont typeface="Arial" pitchFamily="34" charset="0"/>
              <a:buChar char="•"/>
            </a:pPr>
            <a:r>
              <a:rPr lang="en-AU" sz="1200" kern="1200" dirty="0" smtClean="0">
                <a:solidFill>
                  <a:schemeClr val="tx1"/>
                </a:solidFill>
                <a:latin typeface="+mn-lt"/>
                <a:ea typeface="+mn-ea"/>
                <a:cs typeface="+mn-cs"/>
              </a:rPr>
              <a:t>Damages being awarded against the person found liable</a:t>
            </a:r>
          </a:p>
          <a:p>
            <a:pPr marL="628650" lvl="1" indent="-171450">
              <a:buFont typeface="Arial" pitchFamily="34" charset="0"/>
              <a:buChar char="•"/>
            </a:pPr>
            <a:r>
              <a:rPr lang="en-AU" sz="1200" kern="1200" dirty="0" smtClean="0">
                <a:solidFill>
                  <a:schemeClr val="tx1"/>
                </a:solidFill>
                <a:latin typeface="+mn-lt"/>
                <a:ea typeface="+mn-ea"/>
                <a:cs typeface="+mn-cs"/>
              </a:rPr>
              <a:t>An injunction being issues forcing them to do, or refrain from doing, certain thing/s.</a:t>
            </a:r>
          </a:p>
          <a:p>
            <a:r>
              <a:rPr lang="en-AU" sz="1200" b="1" kern="1200" dirty="0" smtClean="0">
                <a:solidFill>
                  <a:schemeClr val="tx1"/>
                </a:solidFill>
                <a:latin typeface="+mn-lt"/>
                <a:ea typeface="+mn-ea"/>
                <a:cs typeface="+mn-cs"/>
              </a:rPr>
              <a:t>Combination of the two</a:t>
            </a:r>
          </a:p>
          <a:p>
            <a:pPr marL="171450" indent="-171450">
              <a:buFont typeface="Arial" pitchFamily="34" charset="0"/>
              <a:buChar char="•"/>
            </a:pPr>
            <a:r>
              <a:rPr lang="en-AU" sz="1200" b="0" kern="1200" dirty="0" smtClean="0">
                <a:solidFill>
                  <a:schemeClr val="tx1"/>
                </a:solidFill>
                <a:latin typeface="+mn-lt"/>
                <a:ea typeface="+mn-ea"/>
                <a:cs typeface="+mn-cs"/>
              </a:rPr>
              <a:t>In some situations the same event/occurrence can give rise to:</a:t>
            </a:r>
            <a:endParaRPr lang="en-AU" sz="1200" b="1" kern="1200" dirty="0" smtClean="0">
              <a:solidFill>
                <a:schemeClr val="tx1"/>
              </a:solidFill>
              <a:latin typeface="+mn-lt"/>
              <a:ea typeface="+mn-ea"/>
              <a:cs typeface="+mn-cs"/>
            </a:endParaRPr>
          </a:p>
          <a:p>
            <a:pPr marL="628650" lvl="1" indent="-171450">
              <a:buFont typeface="Arial" pitchFamily="34" charset="0"/>
              <a:buChar char="•"/>
            </a:pPr>
            <a:r>
              <a:rPr lang="en-AU" sz="1200" kern="1200" dirty="0" smtClean="0">
                <a:solidFill>
                  <a:schemeClr val="tx1"/>
                </a:solidFill>
                <a:latin typeface="+mn-lt"/>
                <a:ea typeface="+mn-ea"/>
                <a:cs typeface="+mn-cs"/>
              </a:rPr>
              <a:t>Criminal charges</a:t>
            </a:r>
          </a:p>
          <a:p>
            <a:pPr marL="628650" lvl="1" indent="-171450">
              <a:buFont typeface="Arial" pitchFamily="34" charset="0"/>
              <a:buChar char="•"/>
            </a:pPr>
            <a:r>
              <a:rPr lang="en-AU" sz="1200" kern="1200" dirty="0" smtClean="0">
                <a:solidFill>
                  <a:schemeClr val="tx1"/>
                </a:solidFill>
                <a:latin typeface="+mn-lt"/>
                <a:ea typeface="+mn-ea"/>
                <a:cs typeface="+mn-cs"/>
              </a:rPr>
              <a:t>Civil action.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extLst>
      <p:ext uri="{BB962C8B-B14F-4D97-AF65-F5344CB8AC3E}">
        <p14:creationId xmlns:p14="http://schemas.microsoft.com/office/powerpoint/2010/main" val="74690876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noProof="0" dirty="0" smtClean="0"/>
              <a:t>Trainer further observes </a:t>
            </a:r>
            <a:r>
              <a:rPr lang="en-AU" sz="1200" b="0" kern="1200" dirty="0" smtClean="0">
                <a:solidFill>
                  <a:schemeClr val="tx1"/>
                </a:solidFill>
                <a:latin typeface="+mn-lt"/>
                <a:ea typeface="+mn-ea"/>
                <a:cs typeface="+mn-cs"/>
              </a:rPr>
              <a:t>it is also important for Tour Guides to be aware of the following key legal issues:</a:t>
            </a:r>
            <a:endParaRPr lang="en-AU" sz="1200" b="1"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Duty of care </a:t>
            </a:r>
          </a:p>
          <a:p>
            <a:pPr marL="171450" indent="-171450">
              <a:buFont typeface="Arial" pitchFamily="34" charset="0"/>
              <a:buChar char="•"/>
            </a:pPr>
            <a:r>
              <a:rPr lang="en-AU" sz="1200" kern="1200" dirty="0" smtClean="0">
                <a:solidFill>
                  <a:schemeClr val="tx1"/>
                </a:solidFill>
                <a:latin typeface="+mn-lt"/>
                <a:ea typeface="+mn-ea"/>
                <a:cs typeface="+mn-cs"/>
              </a:rPr>
              <a:t>All Tour Guides are under a common law Duty of Care liability to take ‘reasonable’ care of the people they are leading/providing guiding services to</a:t>
            </a:r>
          </a:p>
          <a:p>
            <a:pPr marL="628650" lvl="1" indent="-171450">
              <a:buFont typeface="Arial" pitchFamily="34" charset="0"/>
              <a:buChar char="•"/>
            </a:pPr>
            <a:r>
              <a:rPr lang="en-AU" sz="1200" kern="1200" dirty="0" smtClean="0">
                <a:solidFill>
                  <a:schemeClr val="tx1"/>
                </a:solidFill>
                <a:latin typeface="+mn-lt"/>
                <a:ea typeface="+mn-ea"/>
                <a:cs typeface="+mn-cs"/>
              </a:rPr>
              <a:t>In essence this means they must avoid causing ‘foreseeable’ harm to any tour group members</a:t>
            </a:r>
          </a:p>
          <a:p>
            <a:pPr marL="171450" indent="-171450">
              <a:buFont typeface="Arial" pitchFamily="34" charset="0"/>
              <a:buChar char="•"/>
            </a:pPr>
            <a:r>
              <a:rPr lang="en-AU" sz="1200" kern="1200" dirty="0" smtClean="0">
                <a:solidFill>
                  <a:schemeClr val="tx1"/>
                </a:solidFill>
                <a:latin typeface="+mn-lt"/>
                <a:ea typeface="+mn-ea"/>
                <a:cs typeface="+mn-cs"/>
              </a:rPr>
              <a:t>Failure to discharge this Duty of Care can result in being sued for negligence. Different types/levels of negligence exist:</a:t>
            </a:r>
          </a:p>
          <a:p>
            <a:pPr marL="628650" lvl="1" indent="-171450">
              <a:buFont typeface="Arial" pitchFamily="34" charset="0"/>
              <a:buChar char="•"/>
            </a:pPr>
            <a:r>
              <a:rPr lang="en-AU" sz="1200" kern="1200" dirty="0" smtClean="0">
                <a:solidFill>
                  <a:schemeClr val="tx1"/>
                </a:solidFill>
                <a:latin typeface="+mn-lt"/>
                <a:ea typeface="+mn-ea"/>
                <a:cs typeface="+mn-cs"/>
              </a:rPr>
              <a:t>Contributory negligence</a:t>
            </a:r>
          </a:p>
          <a:p>
            <a:pPr marL="628650" lvl="1" indent="-171450">
              <a:buFont typeface="Arial" pitchFamily="34" charset="0"/>
              <a:buChar char="•"/>
            </a:pPr>
            <a:r>
              <a:rPr lang="en-AU" sz="1200" kern="1200" dirty="0" smtClean="0">
                <a:solidFill>
                  <a:schemeClr val="tx1"/>
                </a:solidFill>
                <a:latin typeface="+mn-lt"/>
                <a:ea typeface="+mn-ea"/>
                <a:cs typeface="+mn-cs"/>
              </a:rPr>
              <a:t>Gross negligence</a:t>
            </a:r>
          </a:p>
          <a:p>
            <a:pPr marL="628650" lvl="1" indent="-171450">
              <a:buFont typeface="Arial" pitchFamily="34" charset="0"/>
              <a:buChar char="•"/>
            </a:pPr>
            <a:r>
              <a:rPr lang="en-AU" sz="1200" kern="1200" dirty="0" smtClean="0">
                <a:solidFill>
                  <a:schemeClr val="tx1"/>
                </a:solidFill>
                <a:latin typeface="+mn-lt"/>
                <a:ea typeface="+mn-ea"/>
                <a:cs typeface="+mn-cs"/>
              </a:rPr>
              <a:t>Vicarious liability</a:t>
            </a:r>
          </a:p>
          <a:p>
            <a:pPr marL="628650" lvl="1" indent="-171450">
              <a:buFont typeface="Arial" pitchFamily="34" charset="0"/>
              <a:buChar char="•"/>
            </a:pPr>
            <a:r>
              <a:rPr lang="en-AU" sz="1200" kern="1200" dirty="0" smtClean="0">
                <a:solidFill>
                  <a:schemeClr val="tx1"/>
                </a:solidFill>
                <a:latin typeface="+mn-lt"/>
                <a:ea typeface="+mn-ea"/>
                <a:cs typeface="+mn-cs"/>
              </a:rPr>
              <a:t>Comparative negligence</a:t>
            </a:r>
          </a:p>
          <a:p>
            <a:pPr marL="171450" indent="-171450">
              <a:buFont typeface="Arial" pitchFamily="34" charset="0"/>
              <a:buChar char="•"/>
            </a:pPr>
            <a:r>
              <a:rPr lang="en-AU" sz="1200" kern="1200" dirty="0" smtClean="0">
                <a:solidFill>
                  <a:schemeClr val="tx1"/>
                </a:solidFill>
                <a:latin typeface="+mn-lt"/>
                <a:ea typeface="+mn-ea"/>
                <a:cs typeface="+mn-cs"/>
              </a:rPr>
              <a:t>The various classifications of negligence help determine the penalty if found liable.</a:t>
            </a:r>
          </a:p>
          <a:p>
            <a:r>
              <a:rPr lang="en-AU" sz="1200" b="1" kern="1200" dirty="0" smtClean="0">
                <a:solidFill>
                  <a:schemeClr val="tx1"/>
                </a:solidFill>
                <a:latin typeface="+mn-lt"/>
                <a:ea typeface="+mn-ea"/>
                <a:cs typeface="+mn-cs"/>
              </a:rPr>
              <a:t>Advertising</a:t>
            </a:r>
          </a:p>
          <a:p>
            <a:pPr marL="171450" indent="-171450">
              <a:buFont typeface="Arial" pitchFamily="34" charset="0"/>
              <a:buChar char="•"/>
            </a:pPr>
            <a:r>
              <a:rPr lang="en-AU" sz="1200" b="0" kern="1200" dirty="0" smtClean="0">
                <a:solidFill>
                  <a:schemeClr val="tx1"/>
                </a:solidFill>
                <a:latin typeface="+mn-lt"/>
                <a:ea typeface="+mn-ea"/>
                <a:cs typeface="+mn-cs"/>
              </a:rPr>
              <a:t>All Tour Operators and Tour Guides are under a legal obligation to ensure their advertising complies with standard ‘fair trading’ requirements. Advertising in this context refers to:</a:t>
            </a:r>
            <a:endParaRPr lang="en-AU" sz="1200" b="1" kern="1200" dirty="0" smtClean="0">
              <a:solidFill>
                <a:schemeClr val="tx1"/>
              </a:solidFill>
              <a:latin typeface="+mn-lt"/>
              <a:ea typeface="+mn-ea"/>
              <a:cs typeface="+mn-cs"/>
            </a:endParaRPr>
          </a:p>
          <a:p>
            <a:pPr marL="628650" lvl="1" indent="-171450">
              <a:buFont typeface="Arial" pitchFamily="34" charset="0"/>
              <a:buChar char="•"/>
            </a:pPr>
            <a:r>
              <a:rPr lang="en-AU" sz="1200" kern="1200" dirty="0" smtClean="0">
                <a:solidFill>
                  <a:schemeClr val="tx1"/>
                </a:solidFill>
                <a:latin typeface="+mn-lt"/>
                <a:ea typeface="+mn-ea"/>
                <a:cs typeface="+mn-cs"/>
              </a:rPr>
              <a:t>Printed materials, promotional brochures or statements made about tours, Tour Guides (ability, experience, skills, knowledge), destinations, products, services</a:t>
            </a:r>
          </a:p>
          <a:p>
            <a:pPr marL="628650" lvl="1" indent="-171450">
              <a:buFont typeface="Arial" pitchFamily="34" charset="0"/>
              <a:buChar char="•"/>
            </a:pPr>
            <a:r>
              <a:rPr lang="en-AU" sz="1200" kern="1200" dirty="0" smtClean="0">
                <a:solidFill>
                  <a:schemeClr val="tx1"/>
                </a:solidFill>
                <a:latin typeface="+mn-lt"/>
                <a:ea typeface="+mn-ea"/>
                <a:cs typeface="+mn-cs"/>
              </a:rPr>
              <a:t>Verbal statement made in relation to any of the above</a:t>
            </a:r>
          </a:p>
          <a:p>
            <a:pPr marL="171450" indent="-171450">
              <a:buFont typeface="Arial" pitchFamily="34" charset="0"/>
              <a:buChar char="•"/>
            </a:pPr>
            <a:r>
              <a:rPr lang="en-AU" sz="1200" b="0" kern="1200" dirty="0" smtClean="0">
                <a:solidFill>
                  <a:schemeClr val="tx1"/>
                </a:solidFill>
                <a:latin typeface="+mn-lt"/>
                <a:ea typeface="+mn-ea"/>
                <a:cs typeface="+mn-cs"/>
              </a:rPr>
              <a:t>The basic requirement is all such claims must be truthful and honest – they must not be:</a:t>
            </a:r>
            <a:endParaRPr lang="en-AU" sz="1200" b="1" kern="1200" dirty="0" smtClean="0">
              <a:solidFill>
                <a:schemeClr val="tx1"/>
              </a:solidFill>
              <a:latin typeface="+mn-lt"/>
              <a:ea typeface="+mn-ea"/>
              <a:cs typeface="+mn-cs"/>
            </a:endParaRPr>
          </a:p>
          <a:p>
            <a:pPr marL="628650" lvl="1" indent="-171450">
              <a:buFont typeface="Arial" pitchFamily="34" charset="0"/>
              <a:buChar char="•"/>
            </a:pPr>
            <a:r>
              <a:rPr lang="en-AU" sz="1200" kern="1200" dirty="0" smtClean="0">
                <a:solidFill>
                  <a:schemeClr val="tx1"/>
                </a:solidFill>
                <a:latin typeface="+mn-lt"/>
                <a:ea typeface="+mn-ea"/>
                <a:cs typeface="+mn-cs"/>
              </a:rPr>
              <a:t>False </a:t>
            </a:r>
          </a:p>
          <a:p>
            <a:pPr marL="628650" lvl="1" indent="-171450">
              <a:buFont typeface="Arial" pitchFamily="34" charset="0"/>
              <a:buChar char="•"/>
            </a:pPr>
            <a:r>
              <a:rPr lang="en-AU" sz="1200" kern="1200" dirty="0" smtClean="0">
                <a:solidFill>
                  <a:schemeClr val="tx1"/>
                </a:solidFill>
                <a:latin typeface="+mn-lt"/>
                <a:ea typeface="+mn-ea"/>
                <a:cs typeface="+mn-cs"/>
              </a:rPr>
              <a:t>Misleading </a:t>
            </a:r>
          </a:p>
          <a:p>
            <a:pPr marL="628650" lvl="1" indent="-171450">
              <a:buFont typeface="Arial" pitchFamily="34" charset="0"/>
              <a:buChar char="•"/>
            </a:pPr>
            <a:r>
              <a:rPr lang="en-AU" sz="1200" kern="1200" dirty="0" smtClean="0">
                <a:solidFill>
                  <a:schemeClr val="tx1"/>
                </a:solidFill>
                <a:latin typeface="+mn-lt"/>
                <a:ea typeface="+mn-ea"/>
                <a:cs typeface="+mn-cs"/>
              </a:rPr>
              <a:t>Deceptive</a:t>
            </a:r>
          </a:p>
          <a:p>
            <a:pPr marL="171450" indent="-171450">
              <a:buFont typeface="Arial" pitchFamily="34" charset="0"/>
              <a:buChar char="•"/>
            </a:pPr>
            <a:r>
              <a:rPr lang="en-AU" sz="1200" b="0" kern="1200" dirty="0" smtClean="0">
                <a:solidFill>
                  <a:schemeClr val="tx1"/>
                </a:solidFill>
                <a:latin typeface="+mn-lt"/>
                <a:ea typeface="+mn-ea"/>
                <a:cs typeface="+mn-cs"/>
              </a:rPr>
              <a:t>Breaching these requirements may give rise to criminal and civil action.</a:t>
            </a:r>
            <a:endParaRPr lang="en-AU" sz="1200" b="1" kern="1200" dirty="0" smtClean="0">
              <a:solidFill>
                <a:schemeClr val="tx1"/>
              </a:solidFill>
              <a:latin typeface="+mn-lt"/>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extLst>
      <p:ext uri="{BB962C8B-B14F-4D97-AF65-F5344CB8AC3E}">
        <p14:creationId xmlns:p14="http://schemas.microsoft.com/office/powerpoint/2010/main" val="254457424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pPr>
              <a:buFont typeface="Arial" pitchFamily="34" charset="0"/>
              <a:buNone/>
            </a:pPr>
            <a:r>
              <a:rPr lang="en-US" noProof="0" dirty="0" smtClean="0"/>
              <a:t>Trainer continues advising of legal issues which are important for Guides to be aware of:</a:t>
            </a:r>
          </a:p>
          <a:p>
            <a:r>
              <a:rPr lang="en-AU" sz="1200" b="1" kern="1200" dirty="0" smtClean="0">
                <a:solidFill>
                  <a:schemeClr val="tx1"/>
                </a:solidFill>
                <a:latin typeface="+mn-lt"/>
                <a:ea typeface="+mn-ea"/>
                <a:cs typeface="+mn-cs"/>
              </a:rPr>
              <a:t>Breach of contract</a:t>
            </a:r>
          </a:p>
          <a:p>
            <a:pPr marL="171450" indent="-171450">
              <a:buFont typeface="Arial" pitchFamily="34" charset="0"/>
              <a:buChar char="•"/>
            </a:pPr>
            <a:r>
              <a:rPr lang="en-AU" sz="1200" b="0" kern="1200" dirty="0" smtClean="0">
                <a:solidFill>
                  <a:schemeClr val="tx1"/>
                </a:solidFill>
                <a:latin typeface="+mn-lt"/>
                <a:ea typeface="+mn-ea"/>
                <a:cs typeface="+mn-cs"/>
              </a:rPr>
              <a:t>A contract is a legally-binding agreement which imposes rights and obligations on all parties to it. Essentially the parties agree/promise to do something, or refrain from doing something, in return for something (‘consideration’). There must be a formal ‘offer’ and ‘acceptance’ for a contract to exist</a:t>
            </a:r>
            <a:endParaRPr lang="en-AU" sz="1200" b="1" kern="1200" dirty="0" smtClean="0">
              <a:solidFill>
                <a:schemeClr val="tx1"/>
              </a:solidFill>
              <a:latin typeface="+mn-lt"/>
              <a:ea typeface="+mn-ea"/>
              <a:cs typeface="+mn-cs"/>
            </a:endParaRPr>
          </a:p>
          <a:p>
            <a:pPr marL="628650" lvl="1" indent="-171450">
              <a:buFont typeface="Arial" pitchFamily="34" charset="0"/>
              <a:buChar char="•"/>
            </a:pPr>
            <a:r>
              <a:rPr lang="en-AU" sz="1200" b="0" kern="1200" dirty="0" smtClean="0">
                <a:solidFill>
                  <a:schemeClr val="tx1"/>
                </a:solidFill>
                <a:latin typeface="+mn-lt"/>
                <a:ea typeface="+mn-ea"/>
                <a:cs typeface="+mn-cs"/>
              </a:rPr>
              <a:t>When a visitor/tourist buys a ticket they enter into a contract with the Tour Operator</a:t>
            </a:r>
            <a:endParaRPr lang="en-AU" sz="1200" b="1" kern="1200" dirty="0" smtClean="0">
              <a:solidFill>
                <a:schemeClr val="tx1"/>
              </a:solidFill>
              <a:latin typeface="+mn-lt"/>
              <a:ea typeface="+mn-ea"/>
              <a:cs typeface="+mn-cs"/>
            </a:endParaRPr>
          </a:p>
          <a:p>
            <a:pPr marL="628650" lvl="1" indent="-171450">
              <a:buFont typeface="Arial" pitchFamily="34" charset="0"/>
              <a:buChar char="•"/>
            </a:pPr>
            <a:r>
              <a:rPr lang="en-AU" sz="1200" b="0" kern="1200" dirty="0" smtClean="0">
                <a:solidFill>
                  <a:schemeClr val="tx1"/>
                </a:solidFill>
                <a:latin typeface="+mn-lt"/>
                <a:ea typeface="+mn-ea"/>
                <a:cs typeface="+mn-cs"/>
              </a:rPr>
              <a:t>They have paid money (their consideration) and the Tour Operator agrees/promises to provide an agreed tour with stated/advertised inclusions to nominated destinations subject to conditions, terms and warranties imposed by the business as part of the transaction</a:t>
            </a:r>
            <a:endParaRPr lang="en-AU" sz="1200" b="1" kern="1200" dirty="0" smtClean="0">
              <a:solidFill>
                <a:schemeClr val="tx1"/>
              </a:solidFill>
              <a:latin typeface="+mn-lt"/>
              <a:ea typeface="+mn-ea"/>
              <a:cs typeface="+mn-cs"/>
            </a:endParaRPr>
          </a:p>
          <a:p>
            <a:pPr marL="628650" lvl="1" indent="-171450">
              <a:buFont typeface="Arial" pitchFamily="34" charset="0"/>
              <a:buChar char="•"/>
            </a:pPr>
            <a:r>
              <a:rPr lang="en-AU" sz="1200" b="0" kern="1200" dirty="0" smtClean="0">
                <a:solidFill>
                  <a:schemeClr val="tx1"/>
                </a:solidFill>
                <a:latin typeface="+mn-lt"/>
                <a:ea typeface="+mn-ea"/>
                <a:cs typeface="+mn-cs"/>
              </a:rPr>
              <a:t>Where the Tour Operator or Tour Guide fails to deliver the promises the aggrieved party can choose to take a civil action for breach of contract</a:t>
            </a:r>
            <a:endParaRPr lang="en-AU" sz="1200" b="1" kern="1200" dirty="0" smtClean="0">
              <a:solidFill>
                <a:schemeClr val="tx1"/>
              </a:solidFill>
              <a:latin typeface="+mn-lt"/>
              <a:ea typeface="+mn-ea"/>
              <a:cs typeface="+mn-cs"/>
            </a:endParaRPr>
          </a:p>
          <a:p>
            <a:pPr marL="171450" indent="-171450">
              <a:buFont typeface="Arial" pitchFamily="34" charset="0"/>
              <a:buChar char="•"/>
            </a:pPr>
            <a:r>
              <a:rPr lang="en-AU" sz="1200" b="0" kern="1200" dirty="0" smtClean="0">
                <a:solidFill>
                  <a:schemeClr val="tx1"/>
                </a:solidFill>
                <a:latin typeface="+mn-lt"/>
                <a:ea typeface="+mn-ea"/>
                <a:cs typeface="+mn-cs"/>
              </a:rPr>
              <a:t>In Court the tourist will need to provide evidence to support their claim and the system will determine if the action/inaction was a breach of a term, condition, warranty or guarantee and make a decision based on the evidence and the seriousness of the breach</a:t>
            </a:r>
            <a:endParaRPr lang="en-AU" sz="1200" b="1" kern="1200" dirty="0" smtClean="0">
              <a:solidFill>
                <a:schemeClr val="tx1"/>
              </a:solidFill>
              <a:latin typeface="+mn-lt"/>
              <a:ea typeface="+mn-ea"/>
              <a:cs typeface="+mn-cs"/>
            </a:endParaRPr>
          </a:p>
          <a:p>
            <a:pPr marL="628650" lvl="1" indent="-171450">
              <a:buFont typeface="Arial" pitchFamily="34" charset="0"/>
              <a:buChar char="•"/>
            </a:pPr>
            <a:r>
              <a:rPr lang="en-AU" sz="1200" b="0" kern="1200" dirty="0" smtClean="0">
                <a:solidFill>
                  <a:schemeClr val="tx1"/>
                </a:solidFill>
                <a:latin typeface="+mn-lt"/>
                <a:ea typeface="+mn-ea"/>
                <a:cs typeface="+mn-cs"/>
              </a:rPr>
              <a:t>Even though the Courts may not allocate large amounts in the way of ‘damages’ many of these civil cases attract media attention which is far more damaging to the operator than the amounts awarded by the Courts.</a:t>
            </a:r>
            <a:endParaRPr lang="en-AU" sz="1200" b="1" kern="1200" dirty="0" smtClean="0">
              <a:solidFill>
                <a:schemeClr val="tx1"/>
              </a:solidFill>
              <a:latin typeface="+mn-lt"/>
              <a:ea typeface="+mn-ea"/>
              <a:cs typeface="+mn-cs"/>
            </a:endParaRPr>
          </a:p>
          <a:p>
            <a:r>
              <a:rPr lang="en-AU" sz="1200" b="1" kern="1200" dirty="0" smtClean="0">
                <a:solidFill>
                  <a:schemeClr val="tx1"/>
                </a:solidFill>
                <a:latin typeface="+mn-lt"/>
                <a:ea typeface="+mn-ea"/>
                <a:cs typeface="+mn-cs"/>
              </a:rPr>
              <a:t>Complying legislation </a:t>
            </a:r>
          </a:p>
          <a:p>
            <a:pPr marL="171450" indent="-171450">
              <a:buFont typeface="Arial" pitchFamily="34" charset="0"/>
              <a:buChar char="•"/>
            </a:pPr>
            <a:r>
              <a:rPr lang="en-AU" sz="1200" b="0" kern="1200" dirty="0" smtClean="0">
                <a:solidFill>
                  <a:schemeClr val="tx1"/>
                </a:solidFill>
                <a:latin typeface="+mn-lt"/>
                <a:ea typeface="+mn-ea"/>
                <a:cs typeface="+mn-cs"/>
              </a:rPr>
              <a:t>It is a standard procedure all Tour Guides comply with all relevant legislation. In practice this means they must identify and meet all requirements and regulations: </a:t>
            </a:r>
            <a:endParaRPr lang="en-AU" sz="1200" b="1" kern="1200" dirty="0" smtClean="0">
              <a:solidFill>
                <a:schemeClr val="tx1"/>
              </a:solidFill>
              <a:latin typeface="+mn-lt"/>
              <a:ea typeface="+mn-ea"/>
              <a:cs typeface="+mn-cs"/>
            </a:endParaRPr>
          </a:p>
          <a:p>
            <a:pPr marL="628650" lvl="1" indent="-171450">
              <a:buFont typeface="Arial" pitchFamily="34" charset="0"/>
              <a:buChar char="•"/>
            </a:pPr>
            <a:r>
              <a:rPr lang="en-AU" sz="1200" kern="1200" dirty="0" smtClean="0">
                <a:solidFill>
                  <a:schemeClr val="tx1"/>
                </a:solidFill>
                <a:latin typeface="+mn-lt"/>
                <a:ea typeface="+mn-ea"/>
                <a:cs typeface="+mn-cs"/>
              </a:rPr>
              <a:t>Applicable specifically to Tour Guides – where such legislation exists</a:t>
            </a:r>
          </a:p>
          <a:p>
            <a:pPr marL="628650" lvl="1" indent="-171450">
              <a:buFont typeface="Arial" pitchFamily="34" charset="0"/>
              <a:buChar char="•"/>
            </a:pPr>
            <a:r>
              <a:rPr lang="en-AU" sz="1200" kern="1200" dirty="0" smtClean="0">
                <a:solidFill>
                  <a:schemeClr val="tx1"/>
                </a:solidFill>
                <a:latin typeface="+mn-lt"/>
                <a:ea typeface="+mn-ea"/>
                <a:cs typeface="+mn-cs"/>
              </a:rPr>
              <a:t>Applicable in their host country</a:t>
            </a:r>
          </a:p>
          <a:p>
            <a:pPr marL="628650" lvl="1" indent="-171450">
              <a:buFont typeface="Arial" pitchFamily="34" charset="0"/>
              <a:buChar char="•"/>
            </a:pPr>
            <a:r>
              <a:rPr lang="en-AU" sz="1200" kern="1200" dirty="0" smtClean="0">
                <a:solidFill>
                  <a:schemeClr val="tx1"/>
                </a:solidFill>
                <a:latin typeface="+mn-lt"/>
                <a:ea typeface="+mn-ea"/>
                <a:cs typeface="+mn-cs"/>
              </a:rPr>
              <a:t>Applicable in different countries they visit/lead tours to</a:t>
            </a:r>
          </a:p>
          <a:p>
            <a:pPr marL="628650" lvl="1" indent="-171450">
              <a:buFont typeface="Arial" pitchFamily="34" charset="0"/>
              <a:buChar char="•"/>
            </a:pPr>
            <a:r>
              <a:rPr lang="en-AU" sz="1200" kern="1200" dirty="0" smtClean="0">
                <a:solidFill>
                  <a:schemeClr val="tx1"/>
                </a:solidFill>
                <a:latin typeface="+mn-lt"/>
                <a:ea typeface="+mn-ea"/>
                <a:cs typeface="+mn-cs"/>
              </a:rPr>
              <a:t>Applicable to all activities undertaken on tour</a:t>
            </a:r>
          </a:p>
          <a:p>
            <a:pPr marL="171450" indent="-171450">
              <a:buFont typeface="Arial" pitchFamily="34" charset="0"/>
              <a:buChar char="•"/>
            </a:pPr>
            <a:r>
              <a:rPr lang="en-AU" sz="1200" b="0" kern="1200" dirty="0" smtClean="0">
                <a:solidFill>
                  <a:schemeClr val="tx1"/>
                </a:solidFill>
                <a:latin typeface="+mn-lt"/>
                <a:ea typeface="+mn-ea"/>
                <a:cs typeface="+mn-cs"/>
              </a:rPr>
              <a:t>It is worth noting:</a:t>
            </a:r>
            <a:endParaRPr lang="en-AU" sz="1200" b="1" kern="1200" dirty="0" smtClean="0">
              <a:solidFill>
                <a:schemeClr val="tx1"/>
              </a:solidFill>
              <a:latin typeface="+mn-lt"/>
              <a:ea typeface="+mn-ea"/>
              <a:cs typeface="+mn-cs"/>
            </a:endParaRPr>
          </a:p>
          <a:p>
            <a:pPr marL="628650" lvl="1" indent="-171450">
              <a:buFont typeface="Arial" pitchFamily="34" charset="0"/>
              <a:buChar char="•"/>
            </a:pPr>
            <a:r>
              <a:rPr lang="en-AU" sz="1200" kern="1200" dirty="0" smtClean="0">
                <a:solidFill>
                  <a:schemeClr val="tx1"/>
                </a:solidFill>
                <a:latin typeface="+mn-lt"/>
                <a:ea typeface="+mn-ea"/>
                <a:cs typeface="+mn-cs"/>
              </a:rPr>
              <a:t>Employers may be vicarious liable for the actions of their staff</a:t>
            </a:r>
          </a:p>
          <a:p>
            <a:pPr marL="628650" lvl="1" indent="-171450">
              <a:buFont typeface="Arial" pitchFamily="34" charset="0"/>
              <a:buChar char="•"/>
            </a:pPr>
            <a:r>
              <a:rPr lang="en-AU" sz="1200" kern="1200" dirty="0" smtClean="0">
                <a:solidFill>
                  <a:schemeClr val="tx1"/>
                </a:solidFill>
                <a:latin typeface="+mn-lt"/>
                <a:ea typeface="+mn-ea"/>
                <a:cs typeface="+mn-cs"/>
              </a:rPr>
              <a:t>Employees </a:t>
            </a:r>
            <a:r>
              <a:rPr lang="en-AU" sz="1200" b="1" kern="1200" dirty="0" smtClean="0">
                <a:solidFill>
                  <a:schemeClr val="tx1"/>
                </a:solidFill>
                <a:latin typeface="+mn-lt"/>
                <a:ea typeface="+mn-ea"/>
                <a:cs typeface="+mn-cs"/>
              </a:rPr>
              <a:t>do not have a legal defence</a:t>
            </a:r>
            <a:r>
              <a:rPr lang="en-AU" sz="1200" kern="1200" dirty="0" smtClean="0">
                <a:solidFill>
                  <a:schemeClr val="tx1"/>
                </a:solidFill>
                <a:latin typeface="+mn-lt"/>
                <a:ea typeface="+mn-ea"/>
                <a:cs typeface="+mn-cs"/>
              </a:rPr>
              <a:t> if they commit an offence because their employer told them to break or ignore a law.</a:t>
            </a:r>
          </a:p>
          <a:p>
            <a:pPr>
              <a:buFont typeface="Arial" pitchFamily="34" charset="0"/>
              <a:buNone/>
            </a:pPr>
            <a:endParaRPr lang="en-US" noProof="0" dirty="0" smtClean="0"/>
          </a:p>
          <a:p>
            <a:pPr>
              <a:buFont typeface="Arial" pitchFamily="34" charset="0"/>
              <a:buNone/>
            </a:pPr>
            <a:r>
              <a:rPr lang="en-US" b="1" noProof="0" dirty="0" smtClean="0"/>
              <a:t>Class Activity – Handouts</a:t>
            </a:r>
          </a:p>
          <a:p>
            <a:pPr>
              <a:buFont typeface="Arial" pitchFamily="34" charset="0"/>
              <a:buNone/>
            </a:pPr>
            <a:r>
              <a:rPr lang="en-US" b="0" noProof="0" dirty="0" smtClean="0"/>
              <a:t>Trainer distributes and discusses passages of relevant legislation Tour Guides are required to comply with.</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extLst>
      <p:ext uri="{BB962C8B-B14F-4D97-AF65-F5344CB8AC3E}">
        <p14:creationId xmlns:p14="http://schemas.microsoft.com/office/powerpoint/2010/main" val="388929029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observes </a:t>
            </a:r>
            <a:r>
              <a:rPr lang="en-AU" sz="1200" b="0" kern="1200" dirty="0" smtClean="0">
                <a:solidFill>
                  <a:schemeClr val="tx1"/>
                </a:solidFill>
                <a:latin typeface="+mn-lt"/>
                <a:ea typeface="+mn-ea"/>
                <a:cs typeface="+mn-cs"/>
              </a:rPr>
              <a:t>standard ethical issues which impact on Tour Guides include the need to:</a:t>
            </a:r>
            <a:endParaRPr lang="en-AU" sz="1200" b="1" kern="1200" dirty="0" smtClean="0">
              <a:solidFill>
                <a:schemeClr val="tx1"/>
              </a:solidFill>
              <a:latin typeface="+mn-lt"/>
              <a:ea typeface="+mn-ea"/>
              <a:cs typeface="+mn-cs"/>
            </a:endParaRPr>
          </a:p>
          <a:p>
            <a:pPr marL="171450" lvl="0" indent="-171450">
              <a:buFont typeface="Arial" pitchFamily="34" charset="0"/>
              <a:buChar char="•"/>
            </a:pPr>
            <a:r>
              <a:rPr lang="en-AU" sz="1200" kern="1200" dirty="0" smtClean="0">
                <a:solidFill>
                  <a:schemeClr val="tx1"/>
                </a:solidFill>
                <a:latin typeface="+mn-lt"/>
                <a:ea typeface="+mn-ea"/>
                <a:cs typeface="+mn-cs"/>
              </a:rPr>
              <a:t>Be truthful and honest regarding information provided to customers, including a total ban on fabrication of information</a:t>
            </a:r>
          </a:p>
          <a:p>
            <a:pPr marL="171450" lvl="0" indent="-171450">
              <a:buFont typeface="Arial" pitchFamily="34" charset="0"/>
              <a:buChar char="•"/>
            </a:pPr>
            <a:r>
              <a:rPr lang="en-AU" sz="1200" kern="1200" dirty="0" smtClean="0">
                <a:solidFill>
                  <a:schemeClr val="tx1"/>
                </a:solidFill>
                <a:latin typeface="+mn-lt"/>
                <a:ea typeface="+mn-ea"/>
                <a:cs typeface="+mn-cs"/>
              </a:rPr>
              <a:t>Provide products and services in accordance with advertised itinerary and promises</a:t>
            </a:r>
          </a:p>
          <a:p>
            <a:pPr marL="171450" lvl="0" indent="-171450">
              <a:buFont typeface="Arial" pitchFamily="34" charset="0"/>
              <a:buChar char="•"/>
            </a:pPr>
            <a:r>
              <a:rPr lang="en-AU" sz="1200" kern="1200" dirty="0" smtClean="0">
                <a:solidFill>
                  <a:schemeClr val="tx1"/>
                </a:solidFill>
                <a:latin typeface="+mn-lt"/>
                <a:ea typeface="+mn-ea"/>
                <a:cs typeface="+mn-cs"/>
              </a:rPr>
              <a:t>Demonstrate respect for local communities, local culture, sites and the environment, including the objective of minimal impact tour guiding practices aimed at sustainable operations</a:t>
            </a:r>
          </a:p>
          <a:p>
            <a:pPr marL="171450" lvl="0" indent="-171450">
              <a:buFont typeface="Arial" pitchFamily="34" charset="0"/>
              <a:buChar char="•"/>
            </a:pPr>
            <a:r>
              <a:rPr lang="en-AU" sz="1200" kern="1200" dirty="0" smtClean="0">
                <a:solidFill>
                  <a:schemeClr val="tx1"/>
                </a:solidFill>
                <a:latin typeface="+mn-lt"/>
                <a:ea typeface="+mn-ea"/>
                <a:cs typeface="+mn-cs"/>
              </a:rPr>
              <a:t>Maintain principled relationships with key stakeholders.</a:t>
            </a:r>
          </a:p>
          <a:p>
            <a:pPr>
              <a:buFont typeface="Arial" pitchFamily="34" charset="0"/>
              <a:buNone/>
            </a:pPr>
            <a:r>
              <a:rPr lang="en-US" noProof="0" dirty="0" smtClean="0"/>
              <a:t>More on ethics is presented on later slides.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extLst>
      <p:ext uri="{BB962C8B-B14F-4D97-AF65-F5344CB8AC3E}">
        <p14:creationId xmlns:p14="http://schemas.microsoft.com/office/powerpoint/2010/main" val="137089912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states </a:t>
            </a:r>
            <a:r>
              <a:rPr lang="en-AU" sz="1200" b="0" kern="1200" dirty="0" smtClean="0">
                <a:solidFill>
                  <a:schemeClr val="tx1"/>
                </a:solidFill>
                <a:latin typeface="+mn-lt"/>
                <a:ea typeface="+mn-ea"/>
                <a:cs typeface="+mn-cs"/>
              </a:rPr>
              <a:t>specific safety requirements will vary depending on:</a:t>
            </a:r>
            <a:endParaRPr lang="en-AU" sz="1200" b="1" kern="1200" dirty="0" smtClean="0">
              <a:solidFill>
                <a:schemeClr val="tx1"/>
              </a:solidFill>
              <a:latin typeface="+mn-lt"/>
              <a:ea typeface="+mn-ea"/>
              <a:cs typeface="+mn-cs"/>
            </a:endParaRPr>
          </a:p>
          <a:p>
            <a:pPr marL="171450" lvl="0" indent="-171450">
              <a:buFont typeface="Arial" pitchFamily="34" charset="0"/>
              <a:buChar char="•"/>
            </a:pPr>
            <a:r>
              <a:rPr lang="en-AU" sz="1200" kern="1200" dirty="0" smtClean="0">
                <a:solidFill>
                  <a:schemeClr val="tx1"/>
                </a:solidFill>
                <a:latin typeface="+mn-lt"/>
                <a:ea typeface="+mn-ea"/>
                <a:cs typeface="+mn-cs"/>
              </a:rPr>
              <a:t>Tour type </a:t>
            </a:r>
          </a:p>
          <a:p>
            <a:pPr marL="171450" lvl="0" indent="-171450">
              <a:buFont typeface="Arial" pitchFamily="34" charset="0"/>
              <a:buChar char="•"/>
            </a:pPr>
            <a:r>
              <a:rPr lang="en-AU" sz="1200" kern="1200" dirty="0" smtClean="0">
                <a:solidFill>
                  <a:schemeClr val="tx1"/>
                </a:solidFill>
                <a:latin typeface="+mn-lt"/>
                <a:ea typeface="+mn-ea"/>
                <a:cs typeface="+mn-cs"/>
              </a:rPr>
              <a:t>Destinations visited</a:t>
            </a:r>
          </a:p>
          <a:p>
            <a:pPr marL="171450" lvl="0" indent="-171450">
              <a:buFont typeface="Arial" pitchFamily="34" charset="0"/>
              <a:buChar char="•"/>
            </a:pPr>
            <a:r>
              <a:rPr lang="en-AU" sz="1200" kern="1200" dirty="0" smtClean="0">
                <a:solidFill>
                  <a:schemeClr val="tx1"/>
                </a:solidFill>
                <a:latin typeface="+mn-lt"/>
                <a:ea typeface="+mn-ea"/>
                <a:cs typeface="+mn-cs"/>
              </a:rPr>
              <a:t>Activities being conducted </a:t>
            </a:r>
          </a:p>
          <a:p>
            <a:pPr marL="171450" lvl="0" indent="-171450">
              <a:buFont typeface="Arial" pitchFamily="34" charset="0"/>
              <a:buChar char="•"/>
            </a:pPr>
            <a:r>
              <a:rPr lang="en-AU" sz="1200" kern="1200" dirty="0" smtClean="0">
                <a:solidFill>
                  <a:schemeClr val="tx1"/>
                </a:solidFill>
                <a:latin typeface="+mn-lt"/>
                <a:ea typeface="+mn-ea"/>
                <a:cs typeface="+mn-cs"/>
              </a:rPr>
              <a:t>Size of the group</a:t>
            </a:r>
          </a:p>
          <a:p>
            <a:pPr marL="171450" lvl="0" indent="-171450">
              <a:buFont typeface="Arial" pitchFamily="34" charset="0"/>
              <a:buChar char="•"/>
            </a:pPr>
            <a:r>
              <a:rPr lang="en-AU" sz="1200" kern="1200" dirty="0" smtClean="0">
                <a:solidFill>
                  <a:schemeClr val="tx1"/>
                </a:solidFill>
                <a:latin typeface="+mn-lt"/>
                <a:ea typeface="+mn-ea"/>
                <a:cs typeface="+mn-cs"/>
              </a:rPr>
              <a:t>Composition and characteristics of the tour group</a:t>
            </a:r>
          </a:p>
          <a:p>
            <a:pPr marL="171450" lvl="0" indent="-171450">
              <a:buFont typeface="Arial" pitchFamily="34" charset="0"/>
              <a:buChar char="•"/>
            </a:pPr>
            <a:r>
              <a:rPr lang="en-AU" sz="1200" kern="1200" dirty="0" smtClean="0">
                <a:solidFill>
                  <a:schemeClr val="tx1"/>
                </a:solidFill>
                <a:latin typeface="+mn-lt"/>
                <a:ea typeface="+mn-ea"/>
                <a:cs typeface="+mn-cs"/>
              </a:rPr>
              <a:t>Weather and local environmental and other conditions.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extLst>
      <p:ext uri="{BB962C8B-B14F-4D97-AF65-F5344CB8AC3E}">
        <p14:creationId xmlns:p14="http://schemas.microsoft.com/office/powerpoint/2010/main" val="409515751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notes </a:t>
            </a:r>
            <a:r>
              <a:rPr lang="en-AU" sz="1200" b="0" kern="1200" dirty="0" smtClean="0">
                <a:solidFill>
                  <a:schemeClr val="tx1"/>
                </a:solidFill>
                <a:latin typeface="+mn-lt"/>
                <a:ea typeface="+mn-ea"/>
                <a:cs typeface="+mn-cs"/>
              </a:rPr>
              <a:t>examples of what may apply include:</a:t>
            </a:r>
            <a:endParaRPr lang="en-AU" sz="1200" b="1" kern="1200" dirty="0" smtClean="0">
              <a:solidFill>
                <a:schemeClr val="tx1"/>
              </a:solidFill>
              <a:latin typeface="+mn-lt"/>
              <a:ea typeface="+mn-ea"/>
              <a:cs typeface="+mn-cs"/>
            </a:endParaRPr>
          </a:p>
          <a:p>
            <a:pPr marL="171450" lvl="0" indent="-171450">
              <a:buFont typeface="Arial" pitchFamily="34" charset="0"/>
              <a:buChar char="•"/>
            </a:pPr>
            <a:r>
              <a:rPr lang="en-AU" sz="1200" kern="1200" dirty="0" smtClean="0">
                <a:solidFill>
                  <a:schemeClr val="tx1"/>
                </a:solidFill>
                <a:latin typeface="+mn-lt"/>
                <a:ea typeface="+mn-ea"/>
                <a:cs typeface="+mn-cs"/>
              </a:rPr>
              <a:t>Complying with occupational health, safety and welfare requirements – as they apply to individual tours and situations</a:t>
            </a:r>
          </a:p>
          <a:p>
            <a:pPr marL="171450" lvl="0" indent="-171450">
              <a:buFont typeface="Arial" pitchFamily="34" charset="0"/>
              <a:buChar char="•"/>
            </a:pPr>
            <a:r>
              <a:rPr lang="en-AU" sz="1200" kern="1200" dirty="0" smtClean="0">
                <a:solidFill>
                  <a:schemeClr val="tx1"/>
                </a:solidFill>
                <a:latin typeface="+mn-lt"/>
                <a:ea typeface="+mn-ea"/>
                <a:cs typeface="+mn-cs"/>
              </a:rPr>
              <a:t>Ensuring the responsible behaviour of customers – including:</a:t>
            </a:r>
          </a:p>
          <a:p>
            <a:pPr marL="628650" lvl="1" indent="-171450">
              <a:buFont typeface="Arial" pitchFamily="34" charset="0"/>
              <a:buChar char="•"/>
            </a:pPr>
            <a:r>
              <a:rPr lang="en-AU" sz="1200" kern="1200" dirty="0" smtClean="0">
                <a:solidFill>
                  <a:schemeClr val="tx1"/>
                </a:solidFill>
                <a:latin typeface="+mn-lt"/>
                <a:ea typeface="+mn-ea"/>
                <a:cs typeface="+mn-cs"/>
              </a:rPr>
              <a:t>Controlling unacceptable behaviour </a:t>
            </a:r>
          </a:p>
          <a:p>
            <a:pPr marL="628650" lvl="1" indent="-171450">
              <a:buFont typeface="Arial" pitchFamily="34" charset="0"/>
              <a:buChar char="•"/>
            </a:pPr>
            <a:r>
              <a:rPr lang="en-AU" sz="1200" kern="1200" dirty="0" smtClean="0">
                <a:solidFill>
                  <a:schemeClr val="tx1"/>
                </a:solidFill>
                <a:latin typeface="+mn-lt"/>
                <a:ea typeface="+mn-ea"/>
                <a:cs typeface="+mn-cs"/>
              </a:rPr>
              <a:t>Modifying unsafe behaviour</a:t>
            </a:r>
          </a:p>
          <a:p>
            <a:pPr marL="171450" lvl="0" indent="-171450">
              <a:buFont typeface="Arial" pitchFamily="34" charset="0"/>
              <a:buChar char="•"/>
            </a:pPr>
            <a:r>
              <a:rPr lang="en-AU" sz="1200" kern="1200" dirty="0" smtClean="0">
                <a:solidFill>
                  <a:schemeClr val="tx1"/>
                </a:solidFill>
                <a:latin typeface="+mn-lt"/>
                <a:ea typeface="+mn-ea"/>
                <a:cs typeface="+mn-cs"/>
              </a:rPr>
              <a:t>Checking equipment, locations, facilities and the environment – prior to engaging with or using same so there is full knowledge of applicable conditions/the environment</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Practising implementation of prescribed emergency responses – to identified emergency situations.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extLst>
      <p:ext uri="{BB962C8B-B14F-4D97-AF65-F5344CB8AC3E}">
        <p14:creationId xmlns:p14="http://schemas.microsoft.com/office/powerpoint/2010/main" val="351343502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giving examples of possible safety requirements:</a:t>
            </a:r>
          </a:p>
          <a:p>
            <a:pPr marL="171450" lvl="0" indent="-171450">
              <a:buFont typeface="Arial" pitchFamily="34" charset="0"/>
              <a:buChar char="•"/>
            </a:pPr>
            <a:r>
              <a:rPr lang="en-AU" sz="1200" kern="1200" dirty="0" smtClean="0">
                <a:solidFill>
                  <a:schemeClr val="tx1"/>
                </a:solidFill>
                <a:latin typeface="+mn-lt"/>
                <a:ea typeface="+mn-ea"/>
                <a:cs typeface="+mn-cs"/>
              </a:rPr>
              <a:t>Managing risk – including:</a:t>
            </a:r>
          </a:p>
          <a:p>
            <a:pPr marL="628650" lvl="1" indent="-171450">
              <a:buFont typeface="Arial" pitchFamily="34" charset="0"/>
              <a:buChar char="•"/>
            </a:pPr>
            <a:r>
              <a:rPr lang="en-AU" sz="1200" kern="1200" dirty="0" smtClean="0">
                <a:solidFill>
                  <a:schemeClr val="tx1"/>
                </a:solidFill>
                <a:latin typeface="+mn-lt"/>
                <a:ea typeface="+mn-ea"/>
                <a:cs typeface="+mn-cs"/>
              </a:rPr>
              <a:t>Risk identification</a:t>
            </a:r>
          </a:p>
          <a:p>
            <a:pPr marL="628650" lvl="1" indent="-171450">
              <a:buFont typeface="Arial" pitchFamily="34" charset="0"/>
              <a:buChar char="•"/>
            </a:pPr>
            <a:r>
              <a:rPr lang="en-AU" sz="1200" kern="1200" dirty="0" smtClean="0">
                <a:solidFill>
                  <a:schemeClr val="tx1"/>
                </a:solidFill>
                <a:latin typeface="+mn-lt"/>
                <a:ea typeface="+mn-ea"/>
                <a:cs typeface="+mn-cs"/>
              </a:rPr>
              <a:t>Risk assessment</a:t>
            </a:r>
          </a:p>
          <a:p>
            <a:pPr marL="628650" lvl="1" indent="-171450">
              <a:buFont typeface="Arial" pitchFamily="34" charset="0"/>
              <a:buChar char="•"/>
            </a:pPr>
            <a:r>
              <a:rPr lang="en-AU" sz="1200" kern="1200" dirty="0" smtClean="0">
                <a:solidFill>
                  <a:schemeClr val="tx1"/>
                </a:solidFill>
                <a:latin typeface="+mn-lt"/>
                <a:ea typeface="+mn-ea"/>
                <a:cs typeface="+mn-cs"/>
              </a:rPr>
              <a:t>Risk control</a:t>
            </a:r>
          </a:p>
          <a:p>
            <a:pPr marL="628650" lvl="1" indent="-171450">
              <a:buFont typeface="Arial" pitchFamily="34" charset="0"/>
              <a:buChar char="•"/>
            </a:pPr>
            <a:r>
              <a:rPr lang="en-AU" sz="1200" kern="1200" dirty="0" smtClean="0">
                <a:solidFill>
                  <a:schemeClr val="tx1"/>
                </a:solidFill>
                <a:latin typeface="+mn-lt"/>
                <a:ea typeface="+mn-ea"/>
                <a:cs typeface="+mn-cs"/>
              </a:rPr>
              <a:t>Explanation of  potential hazards to others</a:t>
            </a:r>
          </a:p>
          <a:p>
            <a:pPr marL="171450" lvl="0" indent="-171450">
              <a:buFont typeface="Arial" pitchFamily="34" charset="0"/>
              <a:buChar char="•"/>
            </a:pPr>
            <a:r>
              <a:rPr lang="en-AU" sz="1200" kern="1200" dirty="0" smtClean="0">
                <a:solidFill>
                  <a:schemeClr val="tx1"/>
                </a:solidFill>
                <a:latin typeface="+mn-lt"/>
                <a:ea typeface="+mn-ea"/>
                <a:cs typeface="+mn-cs"/>
              </a:rPr>
              <a:t>Removing identified dangerous activities or undertakings from the itinerary – where necessary and (if possible) replacing them with an appropriate alternative</a:t>
            </a:r>
          </a:p>
          <a:p>
            <a:pPr marL="171450" lvl="0" indent="-171450">
              <a:buFont typeface="Arial" pitchFamily="34" charset="0"/>
              <a:buChar char="•"/>
            </a:pPr>
            <a:r>
              <a:rPr lang="en-AU" sz="1200" kern="1200" dirty="0" smtClean="0">
                <a:solidFill>
                  <a:schemeClr val="tx1"/>
                </a:solidFill>
                <a:latin typeface="+mn-lt"/>
                <a:ea typeface="+mn-ea"/>
                <a:cs typeface="+mn-cs"/>
              </a:rPr>
              <a:t>Abandoning the tour under conditions where the safety of customers cannot be guaranteed – and adhering to company policy regarding reimbursement of payment</a:t>
            </a:r>
          </a:p>
          <a:p>
            <a:pPr marL="171450" lvl="0" indent="-171450">
              <a:buFont typeface="Arial" pitchFamily="34" charset="0"/>
              <a:buChar char="•"/>
            </a:pPr>
            <a:r>
              <a:rPr lang="en-AU" sz="1200" kern="1200" dirty="0" smtClean="0">
                <a:solidFill>
                  <a:schemeClr val="tx1"/>
                </a:solidFill>
                <a:latin typeface="+mn-lt"/>
                <a:ea typeface="+mn-ea"/>
                <a:cs typeface="+mn-cs"/>
              </a:rPr>
              <a:t>Providing safety advice, directions and demonstrations to customers – including:</a:t>
            </a:r>
          </a:p>
          <a:p>
            <a:pPr marL="628650" lvl="1" indent="-171450">
              <a:buFont typeface="Arial" pitchFamily="34" charset="0"/>
              <a:buChar char="•"/>
            </a:pPr>
            <a:r>
              <a:rPr lang="en-AU" sz="1200" kern="1200" dirty="0" smtClean="0">
                <a:solidFill>
                  <a:schemeClr val="tx1"/>
                </a:solidFill>
                <a:latin typeface="+mn-lt"/>
                <a:ea typeface="+mn-ea"/>
                <a:cs typeface="+mn-cs"/>
              </a:rPr>
              <a:t>Monitoring of the implementation of advice </a:t>
            </a:r>
          </a:p>
          <a:p>
            <a:pPr marL="628650" lvl="1" indent="-171450">
              <a:buFont typeface="Arial" pitchFamily="34" charset="0"/>
              <a:buChar char="•"/>
            </a:pPr>
            <a:r>
              <a:rPr lang="en-AU" sz="1200" kern="1200" dirty="0" smtClean="0">
                <a:solidFill>
                  <a:schemeClr val="tx1"/>
                </a:solidFill>
                <a:latin typeface="+mn-lt"/>
                <a:ea typeface="+mn-ea"/>
                <a:cs typeface="+mn-cs"/>
              </a:rPr>
              <a:t>Provision of supplementary guidance as necessary</a:t>
            </a:r>
          </a:p>
          <a:p>
            <a:pPr marL="171450" lvl="0" indent="-171450">
              <a:buFont typeface="Arial" pitchFamily="34" charset="0"/>
              <a:buChar char="•"/>
            </a:pPr>
            <a:r>
              <a:rPr lang="en-AU" sz="1200" kern="1200" dirty="0" smtClean="0">
                <a:solidFill>
                  <a:schemeClr val="tx1"/>
                </a:solidFill>
                <a:latin typeface="+mn-lt"/>
                <a:ea typeface="+mn-ea"/>
                <a:cs typeface="+mn-cs"/>
              </a:rPr>
              <a:t>Actively participating in discussions regarding the development of new tours and itineraries and contributing personal experiences and lessons learned from previous tours.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More on safety is presented on later slides.</a:t>
            </a:r>
            <a:endParaRPr lang="en-AU"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extLst>
      <p:ext uri="{BB962C8B-B14F-4D97-AF65-F5344CB8AC3E}">
        <p14:creationId xmlns:p14="http://schemas.microsoft.com/office/powerpoint/2010/main" val="116809820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extLst>
      <p:ext uri="{BB962C8B-B14F-4D97-AF65-F5344CB8AC3E}">
        <p14:creationId xmlns:p14="http://schemas.microsoft.com/office/powerpoint/2010/main" val="1317405146"/>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extLst>
      <p:ext uri="{BB962C8B-B14F-4D97-AF65-F5344CB8AC3E}">
        <p14:creationId xmlns:p14="http://schemas.microsoft.com/office/powerpoint/2010/main" val="335416977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extLst>
      <p:ext uri="{BB962C8B-B14F-4D97-AF65-F5344CB8AC3E}">
        <p14:creationId xmlns:p14="http://schemas.microsoft.com/office/powerpoint/2010/main" val="209695832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sz="1200" kern="1200" baseline="0" dirty="0" smtClean="0">
              <a:solidFill>
                <a:schemeClr val="tx1"/>
              </a:solidFill>
              <a:ea typeface="+mn-ea"/>
              <a:cs typeface="+mn-cs"/>
            </a:endParaRPr>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by asking questions such as:</a:t>
            </a:r>
          </a:p>
          <a:p>
            <a:pPr marL="171450" indent="-171450">
              <a:buFont typeface="Arial" pitchFamily="34" charset="0"/>
              <a:buChar char="•"/>
            </a:pPr>
            <a:r>
              <a:rPr lang="en-US" noProof="0" dirty="0" smtClean="0"/>
              <a:t>What is involved in providing guiding services?</a:t>
            </a:r>
          </a:p>
          <a:p>
            <a:pPr marL="171450" indent="-171450">
              <a:buFont typeface="Arial" pitchFamily="34" charset="0"/>
              <a:buChar char="•"/>
            </a:pPr>
            <a:r>
              <a:rPr lang="en-US" noProof="0" dirty="0" smtClean="0"/>
              <a:t>What experience have you had</a:t>
            </a:r>
            <a:r>
              <a:rPr lang="en-US" baseline="0" noProof="0" dirty="0" smtClean="0"/>
              <a:t> with providing guiding services?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extLst>
      <p:ext uri="{BB962C8B-B14F-4D97-AF65-F5344CB8AC3E}">
        <p14:creationId xmlns:p14="http://schemas.microsoft.com/office/powerpoint/2010/main" val="188282742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advises </a:t>
            </a:r>
            <a:r>
              <a:rPr lang="en-AU" sz="1200" kern="1200" dirty="0" smtClean="0">
                <a:solidFill>
                  <a:schemeClr val="tx1"/>
                </a:solidFill>
                <a:latin typeface="+mn-lt"/>
                <a:ea typeface="+mn-ea"/>
                <a:cs typeface="+mn-cs"/>
              </a:rPr>
              <a:t>Tour Guide requirements can be classified into the following sections to assist with identifying and applying what is necessary: </a:t>
            </a:r>
          </a:p>
          <a:p>
            <a:pPr marL="171450" lvl="0" indent="-171450">
              <a:buFont typeface="Arial" pitchFamily="34" charset="0"/>
              <a:buChar char="•"/>
            </a:pPr>
            <a:r>
              <a:rPr lang="en-AU" sz="1200" kern="1200" dirty="0" smtClean="0">
                <a:solidFill>
                  <a:schemeClr val="tx1"/>
                </a:solidFill>
                <a:latin typeface="+mn-lt"/>
                <a:ea typeface="+mn-ea"/>
                <a:cs typeface="+mn-cs"/>
              </a:rPr>
              <a:t>Pre-arrival activities – concentrating on tasks to be completed before tour groups arrive for their tours</a:t>
            </a:r>
          </a:p>
          <a:p>
            <a:pPr marL="171450" lvl="0" indent="-171450">
              <a:buFont typeface="Arial" pitchFamily="34" charset="0"/>
              <a:buChar char="•"/>
            </a:pPr>
            <a:r>
              <a:rPr lang="en-AU" sz="1200" kern="1200" dirty="0" smtClean="0">
                <a:solidFill>
                  <a:schemeClr val="tx1"/>
                </a:solidFill>
                <a:latin typeface="+mn-lt"/>
                <a:ea typeface="+mn-ea"/>
                <a:cs typeface="+mn-cs"/>
              </a:rPr>
              <a:t>Pre-departure checks –featuring activities necessary to ensure safe and compliant  operation of the tour in accordance with legal requirements and promotions</a:t>
            </a:r>
          </a:p>
          <a:p>
            <a:pPr marL="171450" lvl="0" indent="-171450">
              <a:buFont typeface="Arial" pitchFamily="34" charset="0"/>
              <a:buChar char="•"/>
            </a:pPr>
            <a:r>
              <a:rPr lang="en-AU" sz="1200" kern="1200" dirty="0" smtClean="0">
                <a:solidFill>
                  <a:schemeClr val="tx1"/>
                </a:solidFill>
                <a:latin typeface="+mn-lt"/>
                <a:ea typeface="+mn-ea"/>
                <a:cs typeface="+mn-cs"/>
              </a:rPr>
              <a:t>During tour activities – relating to all the duties required to lead the tour and conduct activities</a:t>
            </a:r>
          </a:p>
          <a:p>
            <a:pPr marL="171450" lvl="0" indent="-171450">
              <a:buFont typeface="Arial" pitchFamily="34" charset="0"/>
              <a:buChar char="•"/>
            </a:pPr>
            <a:r>
              <a:rPr lang="en-AU" sz="1200" kern="1200" dirty="0" smtClean="0">
                <a:solidFill>
                  <a:schemeClr val="tx1"/>
                </a:solidFill>
                <a:latin typeface="+mn-lt"/>
                <a:ea typeface="+mn-ea"/>
                <a:cs typeface="+mn-cs"/>
              </a:rPr>
              <a:t>Post-departure activities – focussing on administrative work required by the employer to finalise the departure of tours.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extLst>
      <p:ext uri="{BB962C8B-B14F-4D97-AF65-F5344CB8AC3E}">
        <p14:creationId xmlns:p14="http://schemas.microsoft.com/office/powerpoint/2010/main" val="141156144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describes pre-arrival activities:</a:t>
            </a:r>
          </a:p>
          <a:p>
            <a:r>
              <a:rPr lang="en-AU" sz="1200" b="1" kern="1200" dirty="0" smtClean="0">
                <a:solidFill>
                  <a:schemeClr val="tx1"/>
                </a:solidFill>
                <a:latin typeface="+mn-lt"/>
                <a:ea typeface="+mn-ea"/>
                <a:cs typeface="+mn-cs"/>
              </a:rPr>
              <a:t>Checking of arrival schedules </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To ensure:</a:t>
            </a:r>
          </a:p>
          <a:p>
            <a:pPr marL="171450" lvl="0" indent="-171450">
              <a:buFont typeface="Arial" pitchFamily="34" charset="0"/>
              <a:buChar char="•"/>
            </a:pPr>
            <a:r>
              <a:rPr lang="en-AU" sz="1200" kern="1200" dirty="0" smtClean="0">
                <a:solidFill>
                  <a:schemeClr val="tx1"/>
                </a:solidFill>
                <a:latin typeface="+mn-lt"/>
                <a:ea typeface="+mn-ea"/>
                <a:cs typeface="+mn-cs"/>
              </a:rPr>
              <a:t>Capturing hard copy information about tours and groups for the day/shift</a:t>
            </a:r>
          </a:p>
          <a:p>
            <a:pPr marL="171450" lvl="0" indent="-171450">
              <a:buFont typeface="Arial" pitchFamily="34" charset="0"/>
              <a:buChar char="•"/>
            </a:pPr>
            <a:r>
              <a:rPr lang="en-AU" sz="1200" kern="1200" dirty="0" smtClean="0">
                <a:solidFill>
                  <a:schemeClr val="tx1"/>
                </a:solidFill>
                <a:latin typeface="+mn-lt"/>
                <a:ea typeface="+mn-ea"/>
                <a:cs typeface="+mn-cs"/>
              </a:rPr>
              <a:t>Knowledge of times groups are arriving</a:t>
            </a:r>
          </a:p>
          <a:p>
            <a:pPr marL="171450" lvl="0" indent="-171450">
              <a:buFont typeface="Arial" pitchFamily="34" charset="0"/>
              <a:buChar char="•"/>
            </a:pPr>
            <a:r>
              <a:rPr lang="en-AU" sz="1200" kern="1200" dirty="0" smtClean="0">
                <a:solidFill>
                  <a:schemeClr val="tx1"/>
                </a:solidFill>
                <a:latin typeface="+mn-lt"/>
                <a:ea typeface="+mn-ea"/>
                <a:cs typeface="+mn-cs"/>
              </a:rPr>
              <a:t>Knowledge about composition of group</a:t>
            </a:r>
          </a:p>
          <a:p>
            <a:pPr marL="171450" lvl="0" indent="-171450">
              <a:buFont typeface="Arial" pitchFamily="34" charset="0"/>
              <a:buChar char="•"/>
            </a:pPr>
            <a:r>
              <a:rPr lang="en-AU" sz="1200" kern="1200" dirty="0" smtClean="0">
                <a:solidFill>
                  <a:schemeClr val="tx1"/>
                </a:solidFill>
                <a:latin typeface="+mn-lt"/>
                <a:ea typeface="+mn-ea"/>
                <a:cs typeface="+mn-cs"/>
              </a:rPr>
              <a:t>Knowledge about any issue/detail to be clarified and/or obtained in relation to the group/individual members of the group</a:t>
            </a:r>
          </a:p>
          <a:p>
            <a:pPr marL="171450" lvl="0" indent="-171450">
              <a:buFont typeface="Arial" pitchFamily="34" charset="0"/>
              <a:buChar char="•"/>
            </a:pPr>
            <a:r>
              <a:rPr lang="en-AU" sz="1200" kern="1200" dirty="0" smtClean="0">
                <a:solidFill>
                  <a:schemeClr val="tx1"/>
                </a:solidFill>
                <a:latin typeface="+mn-lt"/>
                <a:ea typeface="+mn-ea"/>
                <a:cs typeface="+mn-cs"/>
              </a:rPr>
              <a:t>Knowledge about how groups/members are arriving – public transport, private vehicle, shuttle bus</a:t>
            </a:r>
          </a:p>
          <a:p>
            <a:pPr marL="171450" lvl="0" indent="-171450">
              <a:buFont typeface="Arial" pitchFamily="34" charset="0"/>
              <a:buChar char="•"/>
            </a:pPr>
            <a:r>
              <a:rPr lang="en-AU" sz="1200" kern="1200" dirty="0" smtClean="0">
                <a:solidFill>
                  <a:schemeClr val="tx1"/>
                </a:solidFill>
                <a:latin typeface="+mn-lt"/>
                <a:ea typeface="+mn-ea"/>
                <a:cs typeface="+mn-cs"/>
              </a:rPr>
              <a:t>Knowledge about exactly where they will be arriving – booking office, departure lounge, outside on footpath/in car park (‘muster point’).</a:t>
            </a:r>
          </a:p>
          <a:p>
            <a:pPr>
              <a:buFont typeface="Arial" pitchFamily="34" charset="0"/>
              <a:buNone/>
            </a:pPr>
            <a:endParaRPr lang="en-US" noProof="0" dirty="0" smtClean="0"/>
          </a:p>
          <a:p>
            <a:pPr>
              <a:buFont typeface="Arial" pitchFamily="34" charset="0"/>
              <a:buNone/>
            </a:pPr>
            <a:r>
              <a:rPr lang="en-US" b="1" noProof="0" dirty="0" smtClean="0"/>
              <a:t>Class Activity – Handouts</a:t>
            </a:r>
          </a:p>
          <a:p>
            <a:pPr>
              <a:buFont typeface="Arial" pitchFamily="34" charset="0"/>
              <a:buNone/>
            </a:pPr>
            <a:r>
              <a:rPr lang="en-US" b="0" noProof="0" dirty="0" smtClean="0"/>
              <a:t>Trainer distributes and discusses sample arrival sheets/reservation documentation used to identify tours and bookings for the shift/day.</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extLst>
      <p:ext uri="{BB962C8B-B14F-4D97-AF65-F5344CB8AC3E}">
        <p14:creationId xmlns:p14="http://schemas.microsoft.com/office/powerpoint/2010/main" val="131145667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describing pre-arrival activities:</a:t>
            </a:r>
          </a:p>
          <a:p>
            <a:r>
              <a:rPr lang="en-AU" sz="1200" b="1" kern="1200" dirty="0" smtClean="0">
                <a:solidFill>
                  <a:schemeClr val="tx1"/>
                </a:solidFill>
                <a:latin typeface="+mn-lt"/>
                <a:ea typeface="+mn-ea"/>
                <a:cs typeface="+mn-cs"/>
              </a:rPr>
              <a:t>Checking reservations </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To gain knowledge of:</a:t>
            </a:r>
          </a:p>
          <a:p>
            <a:pPr marL="171450" lvl="0" indent="-171450">
              <a:buFont typeface="Arial" pitchFamily="34" charset="0"/>
              <a:buChar char="•"/>
            </a:pPr>
            <a:r>
              <a:rPr lang="en-AU" sz="1200" kern="1200" dirty="0" smtClean="0">
                <a:solidFill>
                  <a:schemeClr val="tx1"/>
                </a:solidFill>
                <a:latin typeface="+mn-lt"/>
                <a:ea typeface="+mn-ea"/>
                <a:cs typeface="+mn-cs"/>
              </a:rPr>
              <a:t>Payments made and/or to be collected prior to departure</a:t>
            </a:r>
          </a:p>
          <a:p>
            <a:pPr marL="171450" lvl="0" indent="-171450">
              <a:buFont typeface="Arial" pitchFamily="34" charset="0"/>
              <a:buChar char="•"/>
            </a:pPr>
            <a:r>
              <a:rPr lang="en-AU" sz="1200" kern="1200" dirty="0" smtClean="0">
                <a:solidFill>
                  <a:schemeClr val="tx1"/>
                </a:solidFill>
                <a:latin typeface="+mn-lt"/>
                <a:ea typeface="+mn-ea"/>
                <a:cs typeface="+mn-cs"/>
              </a:rPr>
              <a:t>Special requests made by tour groups/members – and:</a:t>
            </a:r>
          </a:p>
          <a:p>
            <a:pPr marL="628650" lvl="1" indent="-171450">
              <a:buFont typeface="Arial" pitchFamily="34" charset="0"/>
              <a:buChar char="•"/>
            </a:pPr>
            <a:r>
              <a:rPr lang="en-AU" sz="1200" kern="1200" dirty="0" smtClean="0">
                <a:solidFill>
                  <a:schemeClr val="tx1"/>
                </a:solidFill>
                <a:latin typeface="+mn-lt"/>
                <a:ea typeface="+mn-ea"/>
                <a:cs typeface="+mn-cs"/>
              </a:rPr>
              <a:t>Tour Operator responses to these</a:t>
            </a:r>
          </a:p>
          <a:p>
            <a:pPr marL="628650" lvl="1" indent="-171450">
              <a:buFont typeface="Arial" pitchFamily="34" charset="0"/>
              <a:buChar char="•"/>
            </a:pPr>
            <a:r>
              <a:rPr lang="en-AU" sz="1200" kern="1200" dirty="0" smtClean="0">
                <a:solidFill>
                  <a:schemeClr val="tx1"/>
                </a:solidFill>
                <a:latin typeface="+mn-lt"/>
                <a:ea typeface="+mn-ea"/>
                <a:cs typeface="+mn-cs"/>
              </a:rPr>
              <a:t>Tour Guide commitments in this regard</a:t>
            </a:r>
          </a:p>
          <a:p>
            <a:pPr marL="171450" lvl="0" indent="-171450">
              <a:buFont typeface="Arial" pitchFamily="34" charset="0"/>
              <a:buChar char="•"/>
            </a:pPr>
            <a:r>
              <a:rPr lang="en-AU" sz="1200" kern="1200" dirty="0" smtClean="0">
                <a:solidFill>
                  <a:schemeClr val="tx1"/>
                </a:solidFill>
                <a:latin typeface="+mn-lt"/>
                <a:ea typeface="+mn-ea"/>
                <a:cs typeface="+mn-cs"/>
              </a:rPr>
              <a:t>Types of bookings which have been made – and how (if applicable) this impacts inclusions and/or tour guiding to be provided</a:t>
            </a:r>
          </a:p>
          <a:p>
            <a:pPr marL="171450" lvl="0" indent="-171450">
              <a:buFont typeface="Arial" pitchFamily="34" charset="0"/>
              <a:buChar char="•"/>
            </a:pPr>
            <a:r>
              <a:rPr lang="en-AU" sz="1200" kern="1200" dirty="0" smtClean="0">
                <a:solidFill>
                  <a:schemeClr val="tx1"/>
                </a:solidFill>
                <a:latin typeface="+mn-lt"/>
                <a:ea typeface="+mn-ea"/>
                <a:cs typeface="+mn-cs"/>
              </a:rPr>
              <a:t>Seats/tickets remaining available for sale – so action can be taken to promote and sell these.</a:t>
            </a:r>
          </a:p>
          <a:p>
            <a:pPr>
              <a:buFont typeface="Arial" pitchFamily="34" charset="0"/>
              <a:buNone/>
            </a:pPr>
            <a:endParaRPr lang="en-US"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extLst>
      <p:ext uri="{BB962C8B-B14F-4D97-AF65-F5344CB8AC3E}">
        <p14:creationId xmlns:p14="http://schemas.microsoft.com/office/powerpoint/2010/main" val="133662364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describing pre-arrival activities:</a:t>
            </a:r>
          </a:p>
          <a:p>
            <a:r>
              <a:rPr lang="en-AU" sz="1200" b="1" kern="1200" dirty="0" smtClean="0">
                <a:solidFill>
                  <a:schemeClr val="tx1"/>
                </a:solidFill>
                <a:latin typeface="+mn-lt"/>
                <a:ea typeface="+mn-ea"/>
                <a:cs typeface="+mn-cs"/>
              </a:rPr>
              <a:t>Verifying itinerary </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This may involve:</a:t>
            </a:r>
          </a:p>
          <a:p>
            <a:pPr marL="171450" lvl="0" indent="-171450">
              <a:buFont typeface="Arial" pitchFamily="34" charset="0"/>
              <a:buChar char="•"/>
            </a:pPr>
            <a:r>
              <a:rPr lang="en-AU" sz="1200" kern="1200" dirty="0" smtClean="0">
                <a:solidFill>
                  <a:schemeClr val="tx1"/>
                </a:solidFill>
                <a:latin typeface="+mn-lt"/>
                <a:ea typeface="+mn-ea"/>
                <a:cs typeface="+mn-cs"/>
              </a:rPr>
              <a:t>Contacting destinations and providers – and confirming arrangements</a:t>
            </a:r>
          </a:p>
          <a:p>
            <a:pPr marL="171450" lvl="0" indent="-171450">
              <a:buFont typeface="Arial" pitchFamily="34" charset="0"/>
              <a:buChar char="•"/>
            </a:pPr>
            <a:r>
              <a:rPr lang="en-AU" sz="1200" kern="1200" dirty="0" smtClean="0">
                <a:solidFill>
                  <a:schemeClr val="tx1"/>
                </a:solidFill>
                <a:latin typeface="+mn-lt"/>
                <a:ea typeface="+mn-ea"/>
                <a:cs typeface="+mn-cs"/>
              </a:rPr>
              <a:t>Determining weather and other local conditions – and factoring this knowledge into plans</a:t>
            </a:r>
          </a:p>
          <a:p>
            <a:pPr marL="171450" lvl="0" indent="-171450">
              <a:buFont typeface="Arial" pitchFamily="34" charset="0"/>
              <a:buChar char="•"/>
            </a:pPr>
            <a:r>
              <a:rPr lang="en-AU" sz="1200" kern="1200" dirty="0" smtClean="0">
                <a:solidFill>
                  <a:schemeClr val="tx1"/>
                </a:solidFill>
                <a:latin typeface="+mn-lt"/>
                <a:ea typeface="+mn-ea"/>
                <a:cs typeface="+mn-cs"/>
              </a:rPr>
              <a:t>Arranging suitable alternatives – where necessary</a:t>
            </a:r>
          </a:p>
          <a:p>
            <a:pPr marL="171450" lvl="0" indent="-171450">
              <a:buFont typeface="Arial" pitchFamily="34" charset="0"/>
              <a:buChar char="•"/>
            </a:pPr>
            <a:r>
              <a:rPr lang="en-AU" sz="1200" kern="1200" dirty="0" smtClean="0">
                <a:solidFill>
                  <a:schemeClr val="tx1"/>
                </a:solidFill>
                <a:latin typeface="+mn-lt"/>
                <a:ea typeface="+mn-ea"/>
                <a:cs typeface="+mn-cs"/>
              </a:rPr>
              <a:t>Confirming basics of the tour – in relation to knowledge of:</a:t>
            </a:r>
          </a:p>
          <a:p>
            <a:pPr marL="628650" lvl="1" indent="-171450">
              <a:buFont typeface="Arial" pitchFamily="34" charset="0"/>
              <a:buChar char="•"/>
            </a:pPr>
            <a:r>
              <a:rPr lang="en-AU" sz="1200" kern="1200" dirty="0" smtClean="0">
                <a:solidFill>
                  <a:schemeClr val="tx1"/>
                </a:solidFill>
                <a:latin typeface="+mn-lt"/>
                <a:ea typeface="+mn-ea"/>
                <a:cs typeface="+mn-cs"/>
              </a:rPr>
              <a:t>Departure and arrival times</a:t>
            </a:r>
          </a:p>
          <a:p>
            <a:pPr marL="628650" lvl="1" indent="-171450">
              <a:buFont typeface="Arial" pitchFamily="34" charset="0"/>
              <a:buChar char="•"/>
            </a:pPr>
            <a:r>
              <a:rPr lang="en-AU" sz="1200" kern="1200" dirty="0" smtClean="0">
                <a:solidFill>
                  <a:schemeClr val="tx1"/>
                </a:solidFill>
                <a:latin typeface="+mn-lt"/>
                <a:ea typeface="+mn-ea"/>
                <a:cs typeface="+mn-cs"/>
              </a:rPr>
              <a:t>Transportation</a:t>
            </a:r>
          </a:p>
          <a:p>
            <a:pPr marL="628650" lvl="1" indent="-171450">
              <a:buFont typeface="Arial" pitchFamily="34" charset="0"/>
              <a:buChar char="•"/>
            </a:pPr>
            <a:r>
              <a:rPr lang="en-AU" sz="1200" kern="1200" dirty="0" smtClean="0">
                <a:solidFill>
                  <a:schemeClr val="tx1"/>
                </a:solidFill>
                <a:latin typeface="+mn-lt"/>
                <a:ea typeface="+mn-ea"/>
                <a:cs typeface="+mn-cs"/>
              </a:rPr>
              <a:t>Routes</a:t>
            </a:r>
          </a:p>
          <a:p>
            <a:pPr marL="628650" lvl="1" indent="-171450">
              <a:buFont typeface="Arial" pitchFamily="34" charset="0"/>
              <a:buChar char="•"/>
            </a:pPr>
            <a:r>
              <a:rPr lang="en-AU" sz="1200" kern="1200" dirty="0" smtClean="0">
                <a:solidFill>
                  <a:schemeClr val="tx1"/>
                </a:solidFill>
                <a:latin typeface="+mn-lt"/>
                <a:ea typeface="+mn-ea"/>
                <a:cs typeface="+mn-cs"/>
              </a:rPr>
              <a:t>Inclusions</a:t>
            </a:r>
          </a:p>
          <a:p>
            <a:pPr marL="628650" lvl="1" indent="-171450">
              <a:buFont typeface="Arial" pitchFamily="34" charset="0"/>
              <a:buChar char="•"/>
            </a:pPr>
            <a:r>
              <a:rPr lang="en-AU" sz="1200" kern="1200" dirty="0" smtClean="0">
                <a:solidFill>
                  <a:schemeClr val="tx1"/>
                </a:solidFill>
                <a:latin typeface="+mn-lt"/>
                <a:ea typeface="+mn-ea"/>
                <a:cs typeface="+mn-cs"/>
              </a:rPr>
              <a:t>Breaks and meals/refreshments</a:t>
            </a:r>
          </a:p>
          <a:p>
            <a:pPr marL="628650" lvl="1" indent="-171450">
              <a:buFont typeface="Arial" pitchFamily="34" charset="0"/>
              <a:buChar char="•"/>
            </a:pPr>
            <a:r>
              <a:rPr lang="en-AU" sz="1200" kern="1200" dirty="0" smtClean="0">
                <a:solidFill>
                  <a:schemeClr val="tx1"/>
                </a:solidFill>
                <a:latin typeface="+mn-lt"/>
                <a:ea typeface="+mn-ea"/>
                <a:cs typeface="+mn-cs"/>
              </a:rPr>
              <a:t>Activities.</a:t>
            </a:r>
          </a:p>
          <a:p>
            <a:pPr>
              <a:buFont typeface="Arial" pitchFamily="34" charset="0"/>
              <a:buNone/>
            </a:pPr>
            <a:endParaRPr lang="en-US"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extLst>
      <p:ext uri="{BB962C8B-B14F-4D97-AF65-F5344CB8AC3E}">
        <p14:creationId xmlns:p14="http://schemas.microsoft.com/office/powerpoint/2010/main" val="2037616875"/>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describing pre-arrival activities:</a:t>
            </a:r>
          </a:p>
          <a:p>
            <a:r>
              <a:rPr lang="en-AU" sz="1200" b="1" kern="1200" dirty="0" smtClean="0">
                <a:solidFill>
                  <a:schemeClr val="tx1"/>
                </a:solidFill>
                <a:latin typeface="+mn-lt"/>
                <a:ea typeface="+mn-ea"/>
                <a:cs typeface="+mn-cs"/>
              </a:rPr>
              <a:t>Collecting resources relevant to the tour to be conducted </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This can require:</a:t>
            </a:r>
          </a:p>
          <a:p>
            <a:pPr marL="171450" lvl="0" indent="-171450">
              <a:buFont typeface="Arial" pitchFamily="34" charset="0"/>
              <a:buChar char="•"/>
            </a:pPr>
            <a:r>
              <a:rPr lang="en-AU" sz="1200" kern="1200" dirty="0" smtClean="0">
                <a:solidFill>
                  <a:schemeClr val="tx1"/>
                </a:solidFill>
                <a:latin typeface="+mn-lt"/>
                <a:ea typeface="+mn-ea"/>
                <a:cs typeface="+mn-cs"/>
              </a:rPr>
              <a:t>Obtaining and checking guide kit – as appropriate for the individual needs of specific tour types which will contain essential items to enable the effective and safe conduct of the tour, such as:</a:t>
            </a:r>
          </a:p>
          <a:p>
            <a:pPr marL="628650" lvl="1" indent="-171450">
              <a:buFont typeface="Arial" pitchFamily="34" charset="0"/>
              <a:buChar char="•"/>
            </a:pPr>
            <a:r>
              <a:rPr lang="en-AU" sz="1200" kern="1200" dirty="0" smtClean="0">
                <a:solidFill>
                  <a:schemeClr val="tx1"/>
                </a:solidFill>
                <a:latin typeface="+mn-lt"/>
                <a:ea typeface="+mn-ea"/>
                <a:cs typeface="+mn-cs"/>
              </a:rPr>
              <a:t>Maps; First aid kits; Communications devices; Pen and paper and nominated internal forms; Contact List; Tour notes and script for commentary; Prop kit</a:t>
            </a:r>
          </a:p>
          <a:p>
            <a:pPr marL="171450" lvl="0" indent="-171450">
              <a:buFont typeface="Arial" pitchFamily="34" charset="0"/>
              <a:buChar char="•"/>
            </a:pPr>
            <a:r>
              <a:rPr lang="en-AU" sz="1200" kern="1200" dirty="0" smtClean="0">
                <a:solidFill>
                  <a:schemeClr val="tx1"/>
                </a:solidFill>
                <a:latin typeface="+mn-lt"/>
                <a:ea typeface="+mn-ea"/>
                <a:cs typeface="+mn-cs"/>
              </a:rPr>
              <a:t>Obtaining resources and other materials for distribution to tour group members – such as:</a:t>
            </a:r>
          </a:p>
          <a:p>
            <a:pPr marL="628650" lvl="1" indent="-171450">
              <a:buFont typeface="Arial" pitchFamily="34" charset="0"/>
              <a:buChar char="•"/>
            </a:pPr>
            <a:r>
              <a:rPr lang="en-AU" sz="1200" kern="1200" dirty="0" smtClean="0">
                <a:solidFill>
                  <a:schemeClr val="tx1"/>
                </a:solidFill>
                <a:latin typeface="+mn-lt"/>
                <a:ea typeface="+mn-ea"/>
                <a:cs typeface="+mn-cs"/>
              </a:rPr>
              <a:t>Information brochures and Fact Sheets; Safety advice and information; Tour maps; Specific information relating to individual destinations, events, activities on tour</a:t>
            </a:r>
          </a:p>
          <a:p>
            <a:pPr marL="171450" lvl="0" indent="-171450">
              <a:buFont typeface="Arial" pitchFamily="34" charset="0"/>
              <a:buChar char="•"/>
            </a:pPr>
            <a:r>
              <a:rPr lang="en-AU" sz="1200" kern="1200" dirty="0" smtClean="0">
                <a:solidFill>
                  <a:schemeClr val="tx1"/>
                </a:solidFill>
                <a:latin typeface="+mn-lt"/>
                <a:ea typeface="+mn-ea"/>
                <a:cs typeface="+mn-cs"/>
              </a:rPr>
              <a:t>Obtaining necessary vouchers to reflect tour group numbers and inclusions – such as for:</a:t>
            </a:r>
          </a:p>
          <a:p>
            <a:pPr marL="628650" lvl="1" indent="-171450">
              <a:buFont typeface="Arial" pitchFamily="34" charset="0"/>
              <a:buChar char="•"/>
            </a:pPr>
            <a:r>
              <a:rPr lang="en-AU" sz="1200" kern="1200" dirty="0" smtClean="0">
                <a:solidFill>
                  <a:schemeClr val="tx1"/>
                </a:solidFill>
                <a:latin typeface="+mn-lt"/>
                <a:ea typeface="+mn-ea"/>
                <a:cs typeface="+mn-cs"/>
              </a:rPr>
              <a:t>Entry to venues/destinations; Meals/food and beverages; Merchandise and nominated services; Discounts on certain purchases.</a:t>
            </a:r>
          </a:p>
          <a:p>
            <a:pPr>
              <a:buFont typeface="Arial" pitchFamily="34" charset="0"/>
              <a:buNone/>
            </a:pPr>
            <a:endParaRPr lang="en-US" noProof="0" dirty="0" smtClean="0"/>
          </a:p>
          <a:p>
            <a:pPr>
              <a:buFont typeface="Arial" pitchFamily="34" charset="0"/>
              <a:buNone/>
            </a:pPr>
            <a:r>
              <a:rPr lang="en-US" b="1" noProof="0" dirty="0" smtClean="0"/>
              <a:t>Class Activity – Samples and Handouts</a:t>
            </a:r>
          </a:p>
          <a:p>
            <a:pPr>
              <a:buFont typeface="Arial" pitchFamily="34" charset="0"/>
              <a:buNone/>
            </a:pPr>
            <a:r>
              <a:rPr lang="en-US" b="0" noProof="0" dirty="0" smtClean="0"/>
              <a:t>Trainer presents samples of items listed in slide explaining how they are checked and used by Tour Guides.</a:t>
            </a:r>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extLst>
      <p:ext uri="{BB962C8B-B14F-4D97-AF65-F5344CB8AC3E}">
        <p14:creationId xmlns:p14="http://schemas.microsoft.com/office/powerpoint/2010/main" val="319923061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US" noProof="0" dirty="0" smtClean="0"/>
              <a:t>Trainer continues describing pre-arrival activities:</a:t>
            </a:r>
          </a:p>
          <a:p>
            <a:r>
              <a:rPr lang="en-AU" sz="1200" b="1" kern="1200" dirty="0" smtClean="0">
                <a:solidFill>
                  <a:schemeClr val="tx1"/>
                </a:solidFill>
                <a:latin typeface="+mn-lt"/>
                <a:ea typeface="+mn-ea"/>
                <a:cs typeface="+mn-cs"/>
              </a:rPr>
              <a:t>Testing items</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Which may require:</a:t>
            </a:r>
          </a:p>
          <a:p>
            <a:pPr marL="171450" lvl="0" indent="-171450">
              <a:buFont typeface="Arial" pitchFamily="34" charset="0"/>
              <a:buChar char="•"/>
            </a:pPr>
            <a:r>
              <a:rPr lang="en-AU" sz="1200" kern="1200" dirty="0" smtClean="0">
                <a:solidFill>
                  <a:schemeClr val="tx1"/>
                </a:solidFill>
                <a:latin typeface="+mn-lt"/>
                <a:ea typeface="+mn-ea"/>
                <a:cs typeface="+mn-cs"/>
              </a:rPr>
              <a:t>Testing communication items/devices:</a:t>
            </a:r>
          </a:p>
          <a:p>
            <a:pPr marL="628650" lvl="1" indent="-171450">
              <a:buFont typeface="Arial" pitchFamily="34" charset="0"/>
              <a:buChar char="•"/>
            </a:pPr>
            <a:r>
              <a:rPr lang="en-AU" sz="1200" kern="1200" dirty="0" smtClean="0">
                <a:solidFill>
                  <a:schemeClr val="tx1"/>
                </a:solidFill>
                <a:latin typeface="+mn-lt"/>
                <a:ea typeface="+mn-ea"/>
                <a:cs typeface="+mn-cs"/>
              </a:rPr>
              <a:t>Microphones on PA systems; Megaphones; Walkie-talkies/two-way radios; Cell phones; Pagers; Portable PA systems; Laser light pointers; Personal audio facilities – these are more commonly used for self-guided tours but can be used for certain portions of a longer tour – for example, the headset and player unit may be distributed to tour group members when  they are given 90 minutes to wander at their leisure through the museum part of a larger site; Audio-visual equipment – where it is to be used for presentations:</a:t>
            </a:r>
          </a:p>
          <a:p>
            <a:pPr marL="1085850" lvl="2" indent="-171450">
              <a:buFont typeface="Arial" pitchFamily="34" charset="0"/>
              <a:buChar char="•"/>
            </a:pPr>
            <a:r>
              <a:rPr lang="en-AU" sz="1200" kern="1200" dirty="0" smtClean="0">
                <a:solidFill>
                  <a:schemeClr val="tx1"/>
                </a:solidFill>
                <a:latin typeface="+mn-lt"/>
                <a:ea typeface="+mn-ea"/>
                <a:cs typeface="+mn-cs"/>
              </a:rPr>
              <a:t>PowerPoint/data projectors and screen</a:t>
            </a:r>
          </a:p>
          <a:p>
            <a:pPr marL="1085850" lvl="2" indent="-171450">
              <a:buFont typeface="Arial" pitchFamily="34" charset="0"/>
              <a:buChar char="•"/>
            </a:pPr>
            <a:r>
              <a:rPr lang="en-AU" sz="1200" kern="1200" dirty="0" smtClean="0">
                <a:solidFill>
                  <a:schemeClr val="tx1"/>
                </a:solidFill>
                <a:latin typeface="+mn-lt"/>
                <a:ea typeface="+mn-ea"/>
                <a:cs typeface="+mn-cs"/>
              </a:rPr>
              <a:t>Overhead projectors and screen</a:t>
            </a:r>
          </a:p>
          <a:p>
            <a:pPr marL="1085850" lvl="2" indent="-171450">
              <a:buFont typeface="Arial" pitchFamily="34" charset="0"/>
              <a:buChar char="•"/>
            </a:pPr>
            <a:r>
              <a:rPr lang="en-AU" sz="1200" kern="1200" dirty="0" smtClean="0">
                <a:solidFill>
                  <a:schemeClr val="tx1"/>
                </a:solidFill>
                <a:latin typeface="+mn-lt"/>
                <a:ea typeface="+mn-ea"/>
                <a:cs typeface="+mn-cs"/>
              </a:rPr>
              <a:t>DVD players and monitor</a:t>
            </a:r>
          </a:p>
          <a:p>
            <a:pPr marL="1085850" lvl="2" indent="-171450">
              <a:buFont typeface="Arial" pitchFamily="34" charset="0"/>
              <a:buChar char="•"/>
            </a:pPr>
            <a:r>
              <a:rPr lang="en-AU" sz="1200" kern="1200" dirty="0" smtClean="0">
                <a:solidFill>
                  <a:schemeClr val="tx1"/>
                </a:solidFill>
                <a:latin typeface="+mn-lt"/>
                <a:ea typeface="+mn-ea"/>
                <a:cs typeface="+mn-cs"/>
              </a:rPr>
              <a:t>Movie projectors and screen</a:t>
            </a:r>
          </a:p>
          <a:p>
            <a:pPr marL="1085850" lvl="2" indent="-171450">
              <a:buFont typeface="Arial" pitchFamily="34" charset="0"/>
              <a:buChar char="•"/>
            </a:pPr>
            <a:r>
              <a:rPr lang="en-AU" sz="1200" kern="1200" dirty="0" smtClean="0">
                <a:solidFill>
                  <a:schemeClr val="tx1"/>
                </a:solidFill>
                <a:latin typeface="+mn-lt"/>
                <a:ea typeface="+mn-ea"/>
                <a:cs typeface="+mn-cs"/>
              </a:rPr>
              <a:t>Computers – and internet connection where this will form part of the tour or a component of a presentation or tour activity</a:t>
            </a:r>
          </a:p>
          <a:p>
            <a:pPr marL="171450" lvl="0" indent="-171450">
              <a:buFont typeface="Arial" pitchFamily="34" charset="0"/>
              <a:buChar char="•"/>
            </a:pPr>
            <a:r>
              <a:rPr lang="en-AU" sz="1200" kern="1200" dirty="0" smtClean="0">
                <a:solidFill>
                  <a:schemeClr val="tx1"/>
                </a:solidFill>
                <a:latin typeface="+mn-lt"/>
                <a:ea typeface="+mn-ea"/>
                <a:cs typeface="+mn-cs"/>
              </a:rPr>
              <a:t>Testing/checking sporting equipment – as required for games and sporting activities to be played:</a:t>
            </a:r>
          </a:p>
          <a:p>
            <a:pPr marL="628650" lvl="1" indent="-171450">
              <a:buFont typeface="Arial" pitchFamily="34" charset="0"/>
              <a:buChar char="•"/>
            </a:pPr>
            <a:r>
              <a:rPr lang="en-AU" sz="1200" kern="1200" dirty="0" smtClean="0">
                <a:solidFill>
                  <a:schemeClr val="tx1"/>
                </a:solidFill>
                <a:latin typeface="+mn-lt"/>
                <a:ea typeface="+mn-ea"/>
                <a:cs typeface="+mn-cs"/>
              </a:rPr>
              <a:t>Bats, racquets and balls</a:t>
            </a:r>
          </a:p>
          <a:p>
            <a:pPr marL="628650" lvl="1" indent="-171450">
              <a:buFont typeface="Arial" pitchFamily="34" charset="0"/>
              <a:buChar char="•"/>
            </a:pPr>
            <a:r>
              <a:rPr lang="en-AU" sz="1200" kern="1200" dirty="0" smtClean="0">
                <a:solidFill>
                  <a:schemeClr val="tx1"/>
                </a:solidFill>
                <a:latin typeface="+mn-lt"/>
                <a:ea typeface="+mn-ea"/>
                <a:cs typeface="+mn-cs"/>
              </a:rPr>
              <a:t>Boats and cars (pedal cars, luge cars; motorised kiddies cars)</a:t>
            </a:r>
          </a:p>
          <a:p>
            <a:pPr marL="628650" lvl="1" indent="-171450">
              <a:buFont typeface="Arial" pitchFamily="34" charset="0"/>
              <a:buChar char="•"/>
            </a:pPr>
            <a:r>
              <a:rPr lang="en-AU" sz="1200" kern="1200" dirty="0" smtClean="0">
                <a:solidFill>
                  <a:schemeClr val="tx1"/>
                </a:solidFill>
                <a:latin typeface="+mn-lt"/>
                <a:ea typeface="+mn-ea"/>
                <a:cs typeface="+mn-cs"/>
              </a:rPr>
              <a:t>Protective clothing and equipment</a:t>
            </a:r>
          </a:p>
          <a:p>
            <a:pPr marL="171450" lvl="0" indent="-171450">
              <a:buFont typeface="Arial" pitchFamily="34" charset="0"/>
              <a:buChar char="•"/>
            </a:pPr>
            <a:r>
              <a:rPr lang="en-AU" sz="1200" kern="1200" dirty="0" smtClean="0">
                <a:solidFill>
                  <a:schemeClr val="tx1"/>
                </a:solidFill>
                <a:latin typeface="+mn-lt"/>
                <a:ea typeface="+mn-ea"/>
                <a:cs typeface="+mn-cs"/>
              </a:rPr>
              <a:t>Checking items required to enable tour group members to participate in scheduled activities:</a:t>
            </a:r>
          </a:p>
          <a:p>
            <a:pPr marL="628650" lvl="1" indent="-171450">
              <a:buFont typeface="Arial" pitchFamily="34" charset="0"/>
              <a:buChar char="•"/>
            </a:pPr>
            <a:r>
              <a:rPr lang="en-AU" sz="1200" kern="1200" dirty="0" smtClean="0">
                <a:solidFill>
                  <a:schemeClr val="tx1"/>
                </a:solidFill>
                <a:latin typeface="+mn-lt"/>
                <a:ea typeface="+mn-ea"/>
                <a:cs typeface="+mn-cs"/>
              </a:rPr>
              <a:t>Ingredients people are going to use</a:t>
            </a:r>
          </a:p>
          <a:p>
            <a:pPr marL="628650" lvl="1" indent="-171450">
              <a:buFont typeface="Arial" pitchFamily="34" charset="0"/>
              <a:buChar char="•"/>
            </a:pPr>
            <a:r>
              <a:rPr lang="en-AU" sz="1200" kern="1200" dirty="0" smtClean="0">
                <a:solidFill>
                  <a:schemeClr val="tx1"/>
                </a:solidFill>
                <a:latin typeface="+mn-lt"/>
                <a:ea typeface="+mn-ea"/>
                <a:cs typeface="+mn-cs"/>
              </a:rPr>
              <a:t>Utensils and items of hand-held or powered equipment. </a:t>
            </a:r>
          </a:p>
          <a:p>
            <a:pPr>
              <a:buFont typeface="Arial" pitchFamily="34" charset="0"/>
              <a:buChar char="•"/>
            </a:pPr>
            <a:endParaRPr lang="en-US"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extLst>
      <p:ext uri="{BB962C8B-B14F-4D97-AF65-F5344CB8AC3E}">
        <p14:creationId xmlns:p14="http://schemas.microsoft.com/office/powerpoint/2010/main" val="3797903047"/>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describing pre-arrival activities:</a:t>
            </a:r>
          </a:p>
          <a:p>
            <a:r>
              <a:rPr lang="en-AU" sz="1200" b="1" kern="1200" dirty="0" smtClean="0">
                <a:solidFill>
                  <a:schemeClr val="tx1"/>
                </a:solidFill>
                <a:latin typeface="+mn-lt"/>
                <a:ea typeface="+mn-ea"/>
                <a:cs typeface="+mn-cs"/>
              </a:rPr>
              <a:t>Preparing scripted commentaries</a:t>
            </a:r>
            <a:endParaRPr lang="en-AU" sz="1200" kern="1200" dirty="0" smtClean="0">
              <a:solidFill>
                <a:schemeClr val="tx1"/>
              </a:solidFill>
              <a:latin typeface="+mn-lt"/>
              <a:ea typeface="+mn-ea"/>
              <a:cs typeface="+mn-cs"/>
            </a:endParaRPr>
          </a:p>
          <a:p>
            <a:pPr marL="171450" indent="-171450">
              <a:buFont typeface="Arial" pitchFamily="34" charset="0"/>
              <a:buChar char="•"/>
            </a:pPr>
            <a:r>
              <a:rPr lang="en-AU" sz="1200" kern="1200" dirty="0" smtClean="0">
                <a:solidFill>
                  <a:schemeClr val="tx1"/>
                </a:solidFill>
                <a:latin typeface="+mn-lt"/>
                <a:ea typeface="+mn-ea"/>
                <a:cs typeface="+mn-cs"/>
              </a:rPr>
              <a:t>A scripted commentary is a prepared talk about an identified topic/topics of interest to a group of tour group members</a:t>
            </a:r>
          </a:p>
          <a:p>
            <a:pPr marL="171450" indent="-171450">
              <a:buFont typeface="Arial" pitchFamily="34" charset="0"/>
              <a:buChar char="•"/>
            </a:pPr>
            <a:r>
              <a:rPr lang="en-AU" sz="1200" kern="1200" dirty="0" smtClean="0">
                <a:solidFill>
                  <a:schemeClr val="tx1"/>
                </a:solidFill>
                <a:latin typeface="+mn-lt"/>
                <a:ea typeface="+mn-ea"/>
                <a:cs typeface="+mn-cs"/>
              </a:rPr>
              <a:t>The scripted commentary may be prepared by the agency and provided for use, or there may be a need to develop a scripted commentary for a certain tour, group and/to meet special requests/needs of a tour</a:t>
            </a:r>
          </a:p>
          <a:p>
            <a:pPr marL="171450" indent="-171450">
              <a:buFont typeface="Arial" pitchFamily="34" charset="0"/>
              <a:buChar char="•"/>
            </a:pPr>
            <a:r>
              <a:rPr lang="en-AU" sz="1200" kern="1200" dirty="0" smtClean="0">
                <a:solidFill>
                  <a:schemeClr val="tx1"/>
                </a:solidFill>
                <a:latin typeface="+mn-lt"/>
                <a:ea typeface="+mn-ea"/>
                <a:cs typeface="+mn-cs"/>
              </a:rPr>
              <a:t>A scripted commentary should be thought of as a </a:t>
            </a:r>
            <a:r>
              <a:rPr lang="en-AU" sz="1200" b="1" i="1" kern="1200" dirty="0" smtClean="0">
                <a:solidFill>
                  <a:schemeClr val="tx1"/>
                </a:solidFill>
                <a:latin typeface="+mn-lt"/>
                <a:ea typeface="+mn-ea"/>
                <a:cs typeface="+mn-cs"/>
              </a:rPr>
              <a:t>guide</a:t>
            </a:r>
            <a:r>
              <a:rPr lang="en-AU" sz="1200" kern="1200" dirty="0" smtClean="0">
                <a:solidFill>
                  <a:schemeClr val="tx1"/>
                </a:solidFill>
                <a:latin typeface="+mn-lt"/>
                <a:ea typeface="+mn-ea"/>
                <a:cs typeface="+mn-cs"/>
              </a:rPr>
              <a:t> about what needs to be said rather than a </a:t>
            </a:r>
            <a:r>
              <a:rPr lang="en-AU" sz="1200" i="1" kern="1200" dirty="0" smtClean="0">
                <a:solidFill>
                  <a:schemeClr val="tx1"/>
                </a:solidFill>
                <a:latin typeface="+mn-lt"/>
                <a:ea typeface="+mn-ea"/>
                <a:cs typeface="+mn-cs"/>
              </a:rPr>
              <a:t>complete list</a:t>
            </a:r>
            <a:r>
              <a:rPr lang="en-AU" sz="1200" kern="1200" dirty="0" smtClean="0">
                <a:solidFill>
                  <a:schemeClr val="tx1"/>
                </a:solidFill>
                <a:latin typeface="+mn-lt"/>
                <a:ea typeface="+mn-ea"/>
                <a:cs typeface="+mn-cs"/>
              </a:rPr>
              <a:t> of everything that needs to be said during a tour</a:t>
            </a:r>
          </a:p>
          <a:p>
            <a:pPr marL="628650" lvl="1" indent="-171450">
              <a:buFont typeface="Arial" pitchFamily="34" charset="0"/>
              <a:buChar char="•"/>
            </a:pPr>
            <a:r>
              <a:rPr lang="en-AU" sz="1200" kern="1200" dirty="0" smtClean="0">
                <a:solidFill>
                  <a:schemeClr val="tx1"/>
                </a:solidFill>
                <a:latin typeface="+mn-lt"/>
                <a:ea typeface="+mn-ea"/>
                <a:cs typeface="+mn-cs"/>
              </a:rPr>
              <a:t>There will always be a need to provide some unscripted commentary to supplement whatever scripted commentary is prepared</a:t>
            </a:r>
          </a:p>
          <a:p>
            <a:pPr marL="1085850" lvl="2" indent="-171450">
              <a:buFont typeface="Arial" pitchFamily="34" charset="0"/>
              <a:buChar char="•"/>
            </a:pPr>
            <a:r>
              <a:rPr lang="en-AU" sz="1200" kern="1200" dirty="0" smtClean="0">
                <a:solidFill>
                  <a:schemeClr val="tx1"/>
                </a:solidFill>
                <a:latin typeface="+mn-lt"/>
                <a:ea typeface="+mn-ea"/>
                <a:cs typeface="+mn-cs"/>
              </a:rPr>
              <a:t>Unscripted commentary refers to the situation where information is provided to the tour throughout the tour but reference is not made to a script when doing so</a:t>
            </a:r>
          </a:p>
          <a:p>
            <a:pPr marL="171450" lvl="0" indent="-171450">
              <a:buFont typeface="Arial" pitchFamily="34" charset="0"/>
              <a:buChar char="•"/>
            </a:pPr>
            <a:r>
              <a:rPr lang="en-AU" sz="1200" kern="1200" dirty="0" smtClean="0">
                <a:solidFill>
                  <a:schemeClr val="tx1"/>
                </a:solidFill>
                <a:latin typeface="+mn-lt"/>
                <a:ea typeface="+mn-ea"/>
                <a:cs typeface="+mn-cs"/>
              </a:rPr>
              <a:t>Writing a commentary takes time – it cannot be done on-the-spot and rarely on-the-day it is required. Writing a commentary can take weeks.</a:t>
            </a:r>
          </a:p>
          <a:p>
            <a:pPr>
              <a:buFont typeface="Arial" pitchFamily="34" charset="0"/>
              <a:buChar char="•"/>
            </a:pPr>
            <a:endParaRPr lang="en-US"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extLst>
      <p:ext uri="{BB962C8B-B14F-4D97-AF65-F5344CB8AC3E}">
        <p14:creationId xmlns:p14="http://schemas.microsoft.com/office/powerpoint/2010/main" val="345794261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a:buFont typeface="Arial" pitchFamily="34" charset="0"/>
              <a:buNone/>
            </a:pPr>
            <a:r>
              <a:rPr lang="en-US" noProof="0" dirty="0" smtClean="0"/>
              <a:t>Trainer presents activities involved in preparing a scripted commentary:</a:t>
            </a:r>
          </a:p>
          <a:p>
            <a:pPr marL="171450" lvl="0" indent="-171450">
              <a:buFont typeface="Arial" pitchFamily="34" charset="0"/>
              <a:buChar char="•"/>
            </a:pPr>
            <a:r>
              <a:rPr lang="en-AU" sz="1200" kern="1200" dirty="0" smtClean="0">
                <a:solidFill>
                  <a:schemeClr val="tx1"/>
                </a:solidFill>
                <a:latin typeface="+mn-lt"/>
                <a:ea typeface="+mn-ea"/>
                <a:cs typeface="+mn-cs"/>
              </a:rPr>
              <a:t>Research the tour – knowledge is a critical underpinning element of every effective and engaging commentary:</a:t>
            </a:r>
          </a:p>
          <a:p>
            <a:pPr marL="628650" lvl="1" indent="-171450">
              <a:buFont typeface="Arial" pitchFamily="34" charset="0"/>
              <a:buChar char="•"/>
            </a:pPr>
            <a:r>
              <a:rPr lang="en-AU" sz="1200" kern="1200" dirty="0" smtClean="0">
                <a:solidFill>
                  <a:schemeClr val="tx1"/>
                </a:solidFill>
                <a:latin typeface="+mn-lt"/>
                <a:ea typeface="+mn-ea"/>
                <a:cs typeface="+mn-cs"/>
              </a:rPr>
              <a:t>Research is required about what the visitors want, need and/or prefer to hear about</a:t>
            </a:r>
          </a:p>
          <a:p>
            <a:pPr marL="628650" lvl="1" indent="-171450">
              <a:buFont typeface="Arial" pitchFamily="34" charset="0"/>
              <a:buChar char="•"/>
            </a:pPr>
            <a:r>
              <a:rPr lang="en-AU" sz="1200" kern="1200" dirty="0" smtClean="0">
                <a:solidFill>
                  <a:schemeClr val="tx1"/>
                </a:solidFill>
                <a:latin typeface="+mn-lt"/>
                <a:ea typeface="+mn-ea"/>
                <a:cs typeface="+mn-cs"/>
              </a:rPr>
              <a:t>Research is essential about the site/location/venue where the tour will be delivered to obtain statistics (people just love figures as part of a commentary – height of things, number of things, weight of things, speed of things, temperatures, size/dimensions), history, details about the facilities, interesting facts about the area or venue, names of owners … and, of course, loads of facts/details about anything which is the main focus of the tour. For example:</a:t>
            </a:r>
          </a:p>
          <a:p>
            <a:pPr marL="1085850" lvl="2" indent="-171450">
              <a:buFont typeface="Arial" pitchFamily="34" charset="0"/>
              <a:buChar char="•"/>
            </a:pPr>
            <a:r>
              <a:rPr lang="en-AU" sz="1200" kern="1200" dirty="0" smtClean="0">
                <a:solidFill>
                  <a:schemeClr val="tx1"/>
                </a:solidFill>
                <a:latin typeface="+mn-lt"/>
                <a:ea typeface="+mn-ea"/>
                <a:cs typeface="+mn-cs"/>
              </a:rPr>
              <a:t>If preparing a commentary for a zoo it is vital to know all there is to know about the animals, their habitat and their feeding habits</a:t>
            </a:r>
          </a:p>
          <a:p>
            <a:pPr marL="1085850" lvl="2" indent="-171450">
              <a:buFont typeface="Arial" pitchFamily="34" charset="0"/>
              <a:buChar char="•"/>
            </a:pPr>
            <a:r>
              <a:rPr lang="en-AU" sz="1200" kern="1200" dirty="0" smtClean="0">
                <a:solidFill>
                  <a:schemeClr val="tx1"/>
                </a:solidFill>
                <a:latin typeface="+mn-lt"/>
                <a:ea typeface="+mn-ea"/>
                <a:cs typeface="+mn-cs"/>
              </a:rPr>
              <a:t>If preparing a script for an historical tour it is critical to know important dates, events, people, and sites</a:t>
            </a:r>
          </a:p>
          <a:p>
            <a:pPr marL="171450" lvl="0" indent="-171450">
              <a:buFont typeface="Arial" pitchFamily="34" charset="0"/>
              <a:buChar char="•"/>
            </a:pPr>
            <a:r>
              <a:rPr lang="en-AU" sz="1200" kern="1200" dirty="0" smtClean="0">
                <a:solidFill>
                  <a:schemeClr val="tx1"/>
                </a:solidFill>
                <a:latin typeface="+mn-lt"/>
                <a:ea typeface="+mn-ea"/>
                <a:cs typeface="+mn-cs"/>
              </a:rPr>
              <a:t>Check the advertising undertaken by the tour company, the site or the venue to identify topics promoted to visitors – and then ensure these are covered by the commentary in order to meet expectations and advertised promises</a:t>
            </a:r>
          </a:p>
          <a:p>
            <a:pPr marL="171450" lvl="0" indent="-171450">
              <a:buFont typeface="Arial" pitchFamily="34" charset="0"/>
              <a:buChar char="•"/>
            </a:pPr>
            <a:r>
              <a:rPr lang="en-AU" sz="1200" kern="1200" dirty="0" smtClean="0">
                <a:solidFill>
                  <a:schemeClr val="tx1"/>
                </a:solidFill>
                <a:latin typeface="+mn-lt"/>
                <a:ea typeface="+mn-ea"/>
                <a:cs typeface="+mn-cs"/>
              </a:rPr>
              <a:t>Know the route – the commentary will/should describe and provide information about the venue/site in general but (more so) on what is visible on the tour itself. This means a need to cover in some detail all buildings, natural and built attractions, events as the tour sees them/passes them</a:t>
            </a:r>
          </a:p>
          <a:p>
            <a:pPr marL="628650" lvl="1" indent="-171450">
              <a:buFont typeface="Arial" pitchFamily="34" charset="0"/>
              <a:buChar char="•"/>
            </a:pPr>
            <a:r>
              <a:rPr lang="en-AU" sz="1200" kern="1200" dirty="0" smtClean="0">
                <a:solidFill>
                  <a:schemeClr val="tx1"/>
                </a:solidFill>
                <a:latin typeface="+mn-lt"/>
                <a:ea typeface="+mn-ea"/>
                <a:cs typeface="+mn-cs"/>
              </a:rPr>
              <a:t>There is no need to cover – or cover in far less detail – buildings and similar not viewed or visited as part of the tour however there still remains a need to have knowledge about them.</a:t>
            </a:r>
          </a:p>
          <a:p>
            <a:pPr marL="171450" lvl="0" indent="-171450">
              <a:buFont typeface="Arial" pitchFamily="34" charset="0"/>
              <a:buChar char="•"/>
            </a:pPr>
            <a:r>
              <a:rPr lang="en-AU" sz="1200" kern="1200" dirty="0" smtClean="0">
                <a:solidFill>
                  <a:schemeClr val="tx1"/>
                </a:solidFill>
                <a:latin typeface="+mn-lt"/>
                <a:ea typeface="+mn-ea"/>
                <a:cs typeface="+mn-cs"/>
              </a:rPr>
              <a:t>Involve others – the scripting process should involve others to:</a:t>
            </a:r>
          </a:p>
          <a:p>
            <a:pPr marL="628650" lvl="1" indent="-171450">
              <a:buFont typeface="Arial" pitchFamily="34" charset="0"/>
              <a:buChar char="•"/>
            </a:pPr>
            <a:r>
              <a:rPr lang="en-AU" sz="1200" kern="1200" dirty="0" smtClean="0">
                <a:solidFill>
                  <a:schemeClr val="tx1"/>
                </a:solidFill>
                <a:latin typeface="+mn-lt"/>
                <a:ea typeface="+mn-ea"/>
                <a:cs typeface="+mn-cs"/>
              </a:rPr>
              <a:t>Contribute ideas</a:t>
            </a:r>
          </a:p>
          <a:p>
            <a:pPr marL="628650" lvl="1" indent="-171450">
              <a:buFont typeface="Arial" pitchFamily="34" charset="0"/>
              <a:buChar char="•"/>
            </a:pPr>
            <a:r>
              <a:rPr lang="en-AU" sz="1200" kern="1200" dirty="0" smtClean="0">
                <a:solidFill>
                  <a:schemeClr val="tx1"/>
                </a:solidFill>
                <a:latin typeface="+mn-lt"/>
                <a:ea typeface="+mn-ea"/>
                <a:cs typeface="+mn-cs"/>
              </a:rPr>
              <a:t>Provide information, facts and figures</a:t>
            </a:r>
          </a:p>
          <a:p>
            <a:pPr marL="628650" lvl="1" indent="-171450">
              <a:buFont typeface="Arial" pitchFamily="34" charset="0"/>
              <a:buChar char="•"/>
            </a:pPr>
            <a:r>
              <a:rPr lang="en-AU" sz="1200" kern="1200" dirty="0" smtClean="0">
                <a:solidFill>
                  <a:schemeClr val="tx1"/>
                </a:solidFill>
                <a:latin typeface="+mn-lt"/>
                <a:ea typeface="+mn-ea"/>
                <a:cs typeface="+mn-cs"/>
              </a:rPr>
              <a:t>Bounce ideas off</a:t>
            </a:r>
          </a:p>
          <a:p>
            <a:pPr marL="628650" lvl="1" indent="-171450">
              <a:buFont typeface="Arial" pitchFamily="34" charset="0"/>
              <a:buChar char="•"/>
            </a:pPr>
            <a:r>
              <a:rPr lang="en-AU" sz="1200" kern="1200" dirty="0" smtClean="0">
                <a:solidFill>
                  <a:schemeClr val="tx1"/>
                </a:solidFill>
                <a:latin typeface="+mn-lt"/>
                <a:ea typeface="+mn-ea"/>
                <a:cs typeface="+mn-cs"/>
              </a:rPr>
              <a:t>Practice on.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extLst>
      <p:ext uri="{BB962C8B-B14F-4D97-AF65-F5344CB8AC3E}">
        <p14:creationId xmlns:p14="http://schemas.microsoft.com/office/powerpoint/2010/main" val="173317435"/>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presenting activities involved in preparing a scripted commentary:</a:t>
            </a:r>
          </a:p>
          <a:p>
            <a:pPr marL="171450" lvl="0" indent="-171450">
              <a:buFont typeface="Arial" pitchFamily="34" charset="0"/>
              <a:buChar char="•"/>
            </a:pPr>
            <a:r>
              <a:rPr lang="en-AU" sz="1200" kern="1200" dirty="0" smtClean="0">
                <a:solidFill>
                  <a:schemeClr val="tx1"/>
                </a:solidFill>
                <a:latin typeface="+mn-lt"/>
                <a:ea typeface="+mn-ea"/>
                <a:cs typeface="+mn-cs"/>
              </a:rPr>
              <a:t>Experience some other commentaries – before starting to develop the commentary to learn from:</a:t>
            </a:r>
          </a:p>
          <a:p>
            <a:pPr marL="628650" lvl="1" indent="-171450">
              <a:buFont typeface="Arial" pitchFamily="34" charset="0"/>
              <a:buChar char="•"/>
            </a:pPr>
            <a:r>
              <a:rPr lang="en-AU" sz="1200" kern="1200" dirty="0" smtClean="0">
                <a:solidFill>
                  <a:schemeClr val="tx1"/>
                </a:solidFill>
                <a:latin typeface="+mn-lt"/>
                <a:ea typeface="+mn-ea"/>
                <a:cs typeface="+mn-cs"/>
              </a:rPr>
              <a:t>What they do/say </a:t>
            </a:r>
          </a:p>
          <a:p>
            <a:pPr marL="628650" lvl="1" indent="-171450">
              <a:buFont typeface="Arial" pitchFamily="34" charset="0"/>
              <a:buChar char="•"/>
            </a:pPr>
            <a:r>
              <a:rPr lang="en-AU" sz="1200" kern="1200" dirty="0" smtClean="0">
                <a:solidFill>
                  <a:schemeClr val="tx1"/>
                </a:solidFill>
                <a:latin typeface="+mn-lt"/>
                <a:ea typeface="+mn-ea"/>
                <a:cs typeface="+mn-cs"/>
              </a:rPr>
              <a:t>How they do and say it</a:t>
            </a:r>
          </a:p>
          <a:p>
            <a:pPr marL="628650" lvl="1" indent="-171450">
              <a:buFont typeface="Arial" pitchFamily="34" charset="0"/>
              <a:buChar char="•"/>
            </a:pPr>
            <a:r>
              <a:rPr lang="en-AU" sz="1200" kern="1200" dirty="0" smtClean="0">
                <a:solidFill>
                  <a:schemeClr val="tx1"/>
                </a:solidFill>
                <a:latin typeface="+mn-lt"/>
                <a:ea typeface="+mn-ea"/>
                <a:cs typeface="+mn-cs"/>
              </a:rPr>
              <a:t>When they do and say things</a:t>
            </a:r>
          </a:p>
          <a:p>
            <a:pPr marL="628650" lvl="1" indent="-171450">
              <a:buFont typeface="Arial" pitchFamily="34" charset="0"/>
              <a:buChar char="•"/>
            </a:pPr>
            <a:r>
              <a:rPr lang="en-AU" sz="1200" kern="1200" dirty="0" smtClean="0">
                <a:solidFill>
                  <a:schemeClr val="tx1"/>
                </a:solidFill>
                <a:latin typeface="+mn-lt"/>
                <a:ea typeface="+mn-ea"/>
                <a:cs typeface="+mn-cs"/>
              </a:rPr>
              <a:t>The amount of commentary they provide</a:t>
            </a:r>
          </a:p>
          <a:p>
            <a:pPr marL="171450" lvl="0" indent="-171450">
              <a:buFont typeface="Arial" pitchFamily="34" charset="0"/>
              <a:buChar char="•"/>
            </a:pPr>
            <a:r>
              <a:rPr lang="en-AU" sz="1200" kern="1200" dirty="0" smtClean="0">
                <a:solidFill>
                  <a:schemeClr val="tx1"/>
                </a:solidFill>
                <a:latin typeface="+mn-lt"/>
                <a:ea typeface="+mn-ea"/>
                <a:cs typeface="+mn-cs"/>
              </a:rPr>
              <a:t>Avoid personal opinions, thoughts, beliefs and prejudices – a commentary is not the place to air personal views</a:t>
            </a:r>
          </a:p>
          <a:p>
            <a:pPr marL="171450" lvl="0" indent="-171450">
              <a:buFont typeface="Arial" pitchFamily="34" charset="0"/>
              <a:buChar char="•"/>
            </a:pPr>
            <a:r>
              <a:rPr lang="en-AU" sz="1200" kern="1200" dirty="0" smtClean="0">
                <a:solidFill>
                  <a:schemeClr val="tx1"/>
                </a:solidFill>
                <a:latin typeface="+mn-lt"/>
                <a:ea typeface="+mn-ea"/>
                <a:cs typeface="+mn-cs"/>
              </a:rPr>
              <a:t>Avoid inappropriate language – such as:</a:t>
            </a:r>
          </a:p>
          <a:p>
            <a:pPr marL="628650" lvl="1" indent="-171450">
              <a:buFont typeface="Arial" pitchFamily="34" charset="0"/>
              <a:buChar char="•"/>
            </a:pPr>
            <a:r>
              <a:rPr lang="en-AU" sz="1200" kern="1200" dirty="0" smtClean="0">
                <a:solidFill>
                  <a:schemeClr val="tx1"/>
                </a:solidFill>
                <a:latin typeface="+mn-lt"/>
                <a:ea typeface="+mn-ea"/>
                <a:cs typeface="+mn-cs"/>
              </a:rPr>
              <a:t>Swearing/bad language</a:t>
            </a:r>
          </a:p>
          <a:p>
            <a:pPr marL="628650" lvl="1" indent="-171450">
              <a:buFont typeface="Arial" pitchFamily="34" charset="0"/>
              <a:buChar char="•"/>
            </a:pPr>
            <a:r>
              <a:rPr lang="en-AU" sz="1200" kern="1200" dirty="0" smtClean="0">
                <a:solidFill>
                  <a:schemeClr val="tx1"/>
                </a:solidFill>
                <a:latin typeface="+mn-lt"/>
                <a:ea typeface="+mn-ea"/>
                <a:cs typeface="+mn-cs"/>
              </a:rPr>
              <a:t>Racist terms</a:t>
            </a:r>
          </a:p>
          <a:p>
            <a:pPr marL="628650" lvl="1" indent="-171450">
              <a:buFont typeface="Arial" pitchFamily="34" charset="0"/>
              <a:buChar char="•"/>
            </a:pPr>
            <a:r>
              <a:rPr lang="en-AU" sz="1200" kern="1200" dirty="0" smtClean="0">
                <a:solidFill>
                  <a:schemeClr val="tx1"/>
                </a:solidFill>
                <a:latin typeface="+mn-lt"/>
                <a:ea typeface="+mn-ea"/>
                <a:cs typeface="+mn-cs"/>
              </a:rPr>
              <a:t>Gender bias</a:t>
            </a:r>
          </a:p>
          <a:p>
            <a:pPr marL="171450" lvl="0" indent="-171450">
              <a:buFont typeface="Arial" pitchFamily="34" charset="0"/>
              <a:buChar char="•"/>
            </a:pPr>
            <a:r>
              <a:rPr lang="en-AU" sz="1200" kern="1200" dirty="0" smtClean="0">
                <a:solidFill>
                  <a:schemeClr val="tx1"/>
                </a:solidFill>
                <a:latin typeface="+mn-lt"/>
                <a:ea typeface="+mn-ea"/>
                <a:cs typeface="+mn-cs"/>
              </a:rPr>
              <a:t>Prepare a draft – and then revise it time and time again until it has been polished to the required standard</a:t>
            </a:r>
          </a:p>
          <a:p>
            <a:pPr marL="171450" lvl="0" indent="-171450">
              <a:buFont typeface="Arial" pitchFamily="34" charset="0"/>
              <a:buChar char="•"/>
            </a:pPr>
            <a:r>
              <a:rPr lang="en-AU" sz="1200" kern="1200" dirty="0" smtClean="0">
                <a:solidFill>
                  <a:schemeClr val="tx1"/>
                </a:solidFill>
                <a:latin typeface="+mn-lt"/>
                <a:ea typeface="+mn-ea"/>
                <a:cs typeface="+mn-cs"/>
              </a:rPr>
              <a:t>‘Speak’ the commentary when trialling it – it must be spoken aloud to get a proper feel of it. Simply reading it in the mind will not do it.</a:t>
            </a:r>
          </a:p>
          <a:p>
            <a:pPr marL="628650" lvl="1" indent="-171450">
              <a:buFont typeface="Arial" pitchFamily="34" charset="0"/>
              <a:buChar char="•"/>
            </a:pPr>
            <a:r>
              <a:rPr lang="en-AU" sz="1200" kern="1200" dirty="0" smtClean="0">
                <a:solidFill>
                  <a:schemeClr val="tx1"/>
                </a:solidFill>
                <a:latin typeface="+mn-lt"/>
                <a:ea typeface="+mn-ea"/>
                <a:cs typeface="+mn-cs"/>
              </a:rPr>
              <a:t>Read it out loud to others for their feedback/comment.</a:t>
            </a:r>
          </a:p>
          <a:p>
            <a:pPr marL="628650" lvl="1" indent="-171450">
              <a:buFont typeface="Arial" pitchFamily="34" charset="0"/>
              <a:buChar char="•"/>
            </a:pPr>
            <a:r>
              <a:rPr lang="en-AU" sz="1200" kern="1200" dirty="0" smtClean="0">
                <a:solidFill>
                  <a:schemeClr val="tx1"/>
                </a:solidFill>
                <a:latin typeface="+mn-lt"/>
                <a:ea typeface="+mn-ea"/>
                <a:cs typeface="+mn-cs"/>
              </a:rPr>
              <a:t>Record it and listen to it and self-critique.</a:t>
            </a:r>
          </a:p>
          <a:p>
            <a:pPr>
              <a:buFont typeface="Arial" pitchFamily="34" charset="0"/>
              <a:buNone/>
            </a:pPr>
            <a:endParaRPr lang="en-US" noProof="0" dirty="0" smtClean="0"/>
          </a:p>
          <a:p>
            <a:pPr>
              <a:buFont typeface="Arial" pitchFamily="34" charset="0"/>
              <a:buNone/>
            </a:pPr>
            <a:r>
              <a:rPr lang="en-US" b="1" noProof="0" dirty="0" smtClean="0"/>
              <a:t>Class Activity – Guest Speaker</a:t>
            </a:r>
          </a:p>
          <a:p>
            <a:pPr>
              <a:buFont typeface="Arial" pitchFamily="34" charset="0"/>
              <a:buNone/>
            </a:pPr>
            <a:r>
              <a:rPr lang="en-US" b="0" noProof="0" dirty="0" smtClean="0"/>
              <a:t>Trainer arranges for a Tour Guide to attend and discuss the preparation of scripted commentary for a tour. </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extLst>
      <p:ext uri="{BB962C8B-B14F-4D97-AF65-F5344CB8AC3E}">
        <p14:creationId xmlns:p14="http://schemas.microsoft.com/office/powerpoint/2010/main" val="183452335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presenting activities involved in preparing a scripted commentary:</a:t>
            </a:r>
          </a:p>
          <a:p>
            <a:pPr marL="171450" lvl="0" indent="-171450">
              <a:buFont typeface="Arial" pitchFamily="34" charset="0"/>
              <a:buChar char="•"/>
            </a:pPr>
            <a:r>
              <a:rPr lang="en-AU" sz="1200" kern="1200" dirty="0" smtClean="0">
                <a:solidFill>
                  <a:schemeClr val="tx1"/>
                </a:solidFill>
                <a:latin typeface="+mn-lt"/>
                <a:ea typeface="+mn-ea"/>
                <a:cs typeface="+mn-cs"/>
              </a:rPr>
              <a:t>Write the script from the guest/visitor perspective – for example if at the front of a bus or tractor train and facing backwards towards the visitors, the landmarks must be identified from their viewpoint</a:t>
            </a:r>
          </a:p>
          <a:p>
            <a:pPr marL="628650" lvl="1" indent="-171450">
              <a:buFont typeface="Arial" pitchFamily="34" charset="0"/>
              <a:buChar char="•"/>
            </a:pPr>
            <a:r>
              <a:rPr lang="en-AU" sz="1200" kern="1200" dirty="0" smtClean="0">
                <a:solidFill>
                  <a:schemeClr val="tx1"/>
                </a:solidFill>
                <a:latin typeface="+mn-lt"/>
                <a:ea typeface="+mn-ea"/>
                <a:cs typeface="+mn-cs"/>
              </a:rPr>
              <a:t>For example, do not say “On my right is a fine example of …”, instead say ‘On your left”</a:t>
            </a:r>
          </a:p>
          <a:p>
            <a:pPr marL="171450" lvl="0" indent="-171450">
              <a:buFont typeface="Arial" pitchFamily="34" charset="0"/>
              <a:buChar char="•"/>
            </a:pPr>
            <a:r>
              <a:rPr lang="en-AU" sz="1200" kern="1200" dirty="0" smtClean="0">
                <a:solidFill>
                  <a:schemeClr val="tx1"/>
                </a:solidFill>
                <a:latin typeface="+mn-lt"/>
                <a:ea typeface="+mn-ea"/>
                <a:cs typeface="+mn-cs"/>
              </a:rPr>
              <a:t>Use simple, plain language – this is not to infer a need to be condescending but highlights the need to keep things simple and easy to understand</a:t>
            </a:r>
          </a:p>
          <a:p>
            <a:pPr marL="628650" lvl="1" indent="-171450">
              <a:buFont typeface="Arial" pitchFamily="34" charset="0"/>
              <a:buChar char="•"/>
            </a:pPr>
            <a:r>
              <a:rPr lang="en-AU" sz="1200" kern="1200" dirty="0" smtClean="0">
                <a:solidFill>
                  <a:schemeClr val="tx1"/>
                </a:solidFill>
                <a:latin typeface="+mn-lt"/>
                <a:ea typeface="+mn-ea"/>
                <a:cs typeface="+mn-cs"/>
              </a:rPr>
              <a:t>Use simple sentences, not long ones and use simple words and not complex ones</a:t>
            </a:r>
          </a:p>
          <a:p>
            <a:pPr marL="628650" lvl="1" indent="-171450">
              <a:buFont typeface="Arial" pitchFamily="34" charset="0"/>
              <a:buChar char="•"/>
            </a:pPr>
            <a:r>
              <a:rPr lang="en-AU" sz="1200" kern="1200" dirty="0" smtClean="0">
                <a:solidFill>
                  <a:schemeClr val="tx1"/>
                </a:solidFill>
                <a:latin typeface="+mn-lt"/>
                <a:ea typeface="+mn-ea"/>
                <a:cs typeface="+mn-cs"/>
              </a:rPr>
              <a:t>The easier a commentary is for people to understand, the more they will enjoy it, the more they will learn from it, the more they will engage with the tour and the more satisfaction they will get from the tour</a:t>
            </a:r>
          </a:p>
          <a:p>
            <a:pPr marL="171450" lvl="0" indent="-171450">
              <a:buFont typeface="Arial" pitchFamily="34" charset="0"/>
              <a:buChar char="•"/>
            </a:pPr>
            <a:r>
              <a:rPr lang="en-AU" sz="1200" kern="1200" dirty="0" smtClean="0">
                <a:solidFill>
                  <a:schemeClr val="tx1"/>
                </a:solidFill>
                <a:latin typeface="+mn-lt"/>
                <a:ea typeface="+mn-ea"/>
                <a:cs typeface="+mn-cs"/>
              </a:rPr>
              <a:t>Reflect the nature of the tour – for example a tour focussing on nature may be expansive and emphasise grandeur and awesome natural spectacle. A tour of prison, museum or war-related tour would take a vastly different approach and be more restrained, respectful and serious.</a:t>
            </a:r>
          </a:p>
          <a:p>
            <a:pPr>
              <a:buFont typeface="Arial" pitchFamily="34" charset="0"/>
              <a:buNone/>
            </a:pPr>
            <a:endParaRPr lang="en-US" noProof="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noProof="0" dirty="0" smtClean="0"/>
              <a:t>Class Activity – Excursion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0" noProof="0" dirty="0" smtClean="0"/>
              <a:t>Trainer arranges an excursion where students can hear a Tour Guide present a scripted</a:t>
            </a:r>
            <a:r>
              <a:rPr lang="en-US" b="0" baseline="0" noProof="0" dirty="0" smtClean="0"/>
              <a:t> commentary.</a:t>
            </a:r>
            <a:endParaRPr lang="en-US" b="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extLst>
      <p:ext uri="{BB962C8B-B14F-4D97-AF65-F5344CB8AC3E}">
        <p14:creationId xmlns:p14="http://schemas.microsoft.com/office/powerpoint/2010/main" val="244992094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presenting activities involved in preparing a scripted commentary:</a:t>
            </a:r>
          </a:p>
          <a:p>
            <a:pPr marL="171450" lvl="0" indent="-171450">
              <a:buFont typeface="Arial" pitchFamily="34" charset="0"/>
              <a:buChar char="•"/>
            </a:pPr>
            <a:r>
              <a:rPr lang="en-AU" sz="1200" kern="1200" dirty="0" smtClean="0">
                <a:solidFill>
                  <a:schemeClr val="tx1"/>
                </a:solidFill>
                <a:latin typeface="+mn-lt"/>
                <a:ea typeface="+mn-ea"/>
                <a:cs typeface="+mn-cs"/>
              </a:rPr>
              <a:t>Revise the scripted commentary – as required when things change to keep it current</a:t>
            </a:r>
          </a:p>
          <a:p>
            <a:pPr marL="171450" lvl="0" indent="-171450">
              <a:buFont typeface="Arial" pitchFamily="34" charset="0"/>
              <a:buChar char="•"/>
            </a:pPr>
            <a:r>
              <a:rPr lang="en-AU" sz="1200" kern="1200" dirty="0" smtClean="0">
                <a:solidFill>
                  <a:schemeClr val="tx1"/>
                </a:solidFill>
                <a:latin typeface="+mn-lt"/>
                <a:ea typeface="+mn-ea"/>
                <a:cs typeface="+mn-cs"/>
              </a:rPr>
              <a:t>Practice the commentary before using/delivering it – which means:</a:t>
            </a:r>
          </a:p>
          <a:p>
            <a:pPr marL="628650" lvl="1" indent="-171450">
              <a:buFont typeface="Arial" pitchFamily="34" charset="0"/>
              <a:buChar char="•"/>
            </a:pPr>
            <a:r>
              <a:rPr lang="en-AU" sz="1200" kern="1200" dirty="0" smtClean="0">
                <a:solidFill>
                  <a:schemeClr val="tx1"/>
                </a:solidFill>
                <a:latin typeface="+mn-lt"/>
                <a:ea typeface="+mn-ea"/>
                <a:cs typeface="+mn-cs"/>
              </a:rPr>
              <a:t>Reading it out aloud several times – not just once: five is a minimum</a:t>
            </a:r>
          </a:p>
          <a:p>
            <a:pPr marL="628650" lvl="1" indent="-171450">
              <a:buFont typeface="Arial" pitchFamily="34" charset="0"/>
              <a:buChar char="•"/>
            </a:pPr>
            <a:r>
              <a:rPr lang="en-AU" sz="1200" kern="1200" dirty="0" smtClean="0">
                <a:solidFill>
                  <a:schemeClr val="tx1"/>
                </a:solidFill>
                <a:latin typeface="+mn-lt"/>
                <a:ea typeface="+mn-ea"/>
                <a:cs typeface="+mn-cs"/>
              </a:rPr>
              <a:t>Reading it </a:t>
            </a:r>
            <a:r>
              <a:rPr lang="en-AU" sz="1200" i="1" kern="1200" dirty="0" smtClean="0">
                <a:solidFill>
                  <a:schemeClr val="tx1"/>
                </a:solidFill>
                <a:latin typeface="+mn-lt"/>
                <a:ea typeface="+mn-ea"/>
                <a:cs typeface="+mn-cs"/>
              </a:rPr>
              <a:t>in situ</a:t>
            </a:r>
            <a:r>
              <a:rPr lang="en-AU" sz="1200" kern="1200" dirty="0" smtClean="0">
                <a:solidFill>
                  <a:schemeClr val="tx1"/>
                </a:solidFill>
                <a:latin typeface="+mn-lt"/>
                <a:ea typeface="+mn-ea"/>
                <a:cs typeface="+mn-cs"/>
              </a:rPr>
              <a:t> – this means walking/driving the tour route and commentating to align with points of interest and items mentioned in the commentary</a:t>
            </a:r>
          </a:p>
          <a:p>
            <a:pPr marL="628650" lvl="1" indent="-171450">
              <a:buFont typeface="Arial" pitchFamily="34" charset="0"/>
              <a:buChar char="•"/>
            </a:pPr>
            <a:r>
              <a:rPr lang="en-AU" sz="1200" kern="1200" dirty="0" smtClean="0">
                <a:solidFill>
                  <a:schemeClr val="tx1"/>
                </a:solidFill>
                <a:latin typeface="+mn-lt"/>
                <a:ea typeface="+mn-ea"/>
                <a:cs typeface="+mn-cs"/>
              </a:rPr>
              <a:t>Bringing the standard commentary to life with personal anecdotes or knowledge as appropriate to the venue, topics or interests of the group.</a:t>
            </a:r>
          </a:p>
          <a:p>
            <a:pPr lvl="0">
              <a:buFont typeface="Arial" pitchFamily="34" charset="0"/>
              <a:buNone/>
            </a:pPr>
            <a:endParaRPr lang="en-US" sz="1200" kern="1200" dirty="0" smtClean="0">
              <a:solidFill>
                <a:schemeClr val="tx1"/>
              </a:solidFill>
              <a:latin typeface="+mn-lt"/>
              <a:ea typeface="+mn-ea"/>
              <a:cs typeface="+mn-cs"/>
            </a:endParaRPr>
          </a:p>
          <a:p>
            <a:pPr>
              <a:buFont typeface="Arial" pitchFamily="34" charset="0"/>
              <a:buNone/>
            </a:pPr>
            <a:r>
              <a:rPr lang="en-US" b="1" noProof="0" dirty="0" smtClean="0"/>
              <a:t>Class Activity – Individual Exercise</a:t>
            </a:r>
          </a:p>
          <a:p>
            <a:pPr>
              <a:buFont typeface="Arial" pitchFamily="34" charset="0"/>
              <a:buNone/>
            </a:pPr>
            <a:r>
              <a:rPr lang="en-US" b="0" noProof="0" dirty="0" smtClean="0"/>
              <a:t>Trainer asks students to prepare a scripted commentary to accompany an agreed tour.</a:t>
            </a:r>
            <a:endParaRPr lang="en-AU" b="0" noProof="0" dirty="0" smtClean="0"/>
          </a:p>
          <a:p>
            <a:pPr lvl="0">
              <a:buFont typeface="Arial" pitchFamily="34" charset="0"/>
              <a:buNone/>
            </a:pPr>
            <a:endParaRPr lang="en-AU" sz="1200"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extLst>
      <p:ext uri="{BB962C8B-B14F-4D97-AF65-F5344CB8AC3E}">
        <p14:creationId xmlns:p14="http://schemas.microsoft.com/office/powerpoint/2010/main" val="428781337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describes pre-departure checks:</a:t>
            </a:r>
          </a:p>
          <a:p>
            <a:r>
              <a:rPr lang="en-AU" sz="1200" b="1" kern="1200" dirty="0" smtClean="0">
                <a:solidFill>
                  <a:schemeClr val="tx1"/>
                </a:solidFill>
                <a:latin typeface="+mn-lt"/>
                <a:ea typeface="+mn-ea"/>
                <a:cs typeface="+mn-cs"/>
              </a:rPr>
              <a:t>Checking tour requirements </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This requires:</a:t>
            </a:r>
          </a:p>
          <a:p>
            <a:pPr marL="171450" indent="-171450">
              <a:buFont typeface="Arial" pitchFamily="34" charset="0"/>
              <a:buChar char="•"/>
            </a:pPr>
            <a:r>
              <a:rPr lang="en-AU" sz="1200" kern="1200" dirty="0" smtClean="0">
                <a:solidFill>
                  <a:schemeClr val="tx1"/>
                </a:solidFill>
                <a:latin typeface="+mn-lt"/>
                <a:ea typeface="+mn-ea"/>
                <a:cs typeface="+mn-cs"/>
              </a:rPr>
              <a:t>Talking with other personnel (such as Tour Operator/manager, drivers, assistants, cooks) to:</a:t>
            </a:r>
          </a:p>
          <a:p>
            <a:pPr marL="628650" lvl="1" indent="-171450">
              <a:buFont typeface="Arial" pitchFamily="34" charset="0"/>
              <a:buChar char="•"/>
            </a:pPr>
            <a:r>
              <a:rPr lang="en-AU" sz="1200" kern="1200" dirty="0" smtClean="0">
                <a:solidFill>
                  <a:schemeClr val="tx1"/>
                </a:solidFill>
                <a:latin typeface="+mn-lt"/>
                <a:ea typeface="+mn-ea"/>
                <a:cs typeface="+mn-cs"/>
              </a:rPr>
              <a:t>Confirm plans/arrangements</a:t>
            </a:r>
          </a:p>
          <a:p>
            <a:pPr marL="628650" lvl="1" indent="-171450">
              <a:buFont typeface="Arial" pitchFamily="34" charset="0"/>
              <a:buChar char="•"/>
            </a:pPr>
            <a:r>
              <a:rPr lang="en-AU" sz="1200" kern="1200" dirty="0" smtClean="0">
                <a:solidFill>
                  <a:schemeClr val="tx1"/>
                </a:solidFill>
                <a:latin typeface="+mn-lt"/>
                <a:ea typeface="+mn-ea"/>
                <a:cs typeface="+mn-cs"/>
              </a:rPr>
              <a:t>Discuss imposed/necessary changes</a:t>
            </a:r>
          </a:p>
          <a:p>
            <a:pPr marL="628650" lvl="1" indent="-171450">
              <a:buFont typeface="Arial" pitchFamily="34" charset="0"/>
              <a:buChar char="•"/>
            </a:pPr>
            <a:r>
              <a:rPr lang="en-AU" sz="1200" kern="1200" dirty="0" smtClean="0">
                <a:solidFill>
                  <a:schemeClr val="tx1"/>
                </a:solidFill>
                <a:latin typeface="+mn-lt"/>
                <a:ea typeface="+mn-ea"/>
                <a:cs typeface="+mn-cs"/>
              </a:rPr>
              <a:t>Determine alternatives</a:t>
            </a:r>
          </a:p>
          <a:p>
            <a:pPr marL="628650" lvl="1" indent="-171450">
              <a:buFont typeface="Arial" pitchFamily="34" charset="0"/>
              <a:buChar char="•"/>
            </a:pPr>
            <a:r>
              <a:rPr lang="en-AU" sz="1200" kern="1200" dirty="0" smtClean="0">
                <a:solidFill>
                  <a:schemeClr val="tx1"/>
                </a:solidFill>
                <a:latin typeface="+mn-lt"/>
                <a:ea typeface="+mn-ea"/>
                <a:cs typeface="+mn-cs"/>
              </a:rPr>
              <a:t>Recap allocated roles and responsibilities.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extLst>
      <p:ext uri="{BB962C8B-B14F-4D97-AF65-F5344CB8AC3E}">
        <p14:creationId xmlns:p14="http://schemas.microsoft.com/office/powerpoint/2010/main" val="959999826"/>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describing pre-departure checks:</a:t>
            </a:r>
          </a:p>
          <a:p>
            <a:r>
              <a:rPr lang="en-AU" sz="1200" b="1" kern="1200" dirty="0" smtClean="0">
                <a:solidFill>
                  <a:schemeClr val="tx1"/>
                </a:solidFill>
                <a:latin typeface="+mn-lt"/>
                <a:ea typeface="+mn-ea"/>
                <a:cs typeface="+mn-cs"/>
              </a:rPr>
              <a:t>Preparing transportation </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Which may require:</a:t>
            </a:r>
          </a:p>
          <a:p>
            <a:pPr marL="171450" lvl="0" indent="-171450">
              <a:buFont typeface="Arial" pitchFamily="34" charset="0"/>
              <a:buChar char="•"/>
            </a:pPr>
            <a:r>
              <a:rPr lang="en-AU" sz="1200" kern="1200" dirty="0" smtClean="0">
                <a:solidFill>
                  <a:schemeClr val="tx1"/>
                </a:solidFill>
                <a:latin typeface="+mn-lt"/>
                <a:ea typeface="+mn-ea"/>
                <a:cs typeface="+mn-cs"/>
              </a:rPr>
              <a:t>Undertaking mandatory safety checks/inspections</a:t>
            </a:r>
          </a:p>
          <a:p>
            <a:pPr marL="171450" lvl="0" indent="-171450">
              <a:buFont typeface="Arial" pitchFamily="34" charset="0"/>
              <a:buChar char="•"/>
            </a:pPr>
            <a:r>
              <a:rPr lang="en-AU" sz="1200" kern="1200" dirty="0" smtClean="0">
                <a:solidFill>
                  <a:schemeClr val="tx1"/>
                </a:solidFill>
                <a:latin typeface="+mn-lt"/>
                <a:ea typeface="+mn-ea"/>
                <a:cs typeface="+mn-cs"/>
              </a:rPr>
              <a:t>Cleaning</a:t>
            </a:r>
          </a:p>
          <a:p>
            <a:pPr marL="171450" lvl="0" indent="-171450">
              <a:buFont typeface="Arial" pitchFamily="34" charset="0"/>
              <a:buChar char="•"/>
            </a:pPr>
            <a:r>
              <a:rPr lang="en-AU" sz="1200" kern="1200" dirty="0" smtClean="0">
                <a:solidFill>
                  <a:schemeClr val="tx1"/>
                </a:solidFill>
                <a:latin typeface="+mn-lt"/>
                <a:ea typeface="+mn-ea"/>
                <a:cs typeface="+mn-cs"/>
              </a:rPr>
              <a:t>Replenishment of on-board supplies.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extLst>
      <p:ext uri="{BB962C8B-B14F-4D97-AF65-F5344CB8AC3E}">
        <p14:creationId xmlns:p14="http://schemas.microsoft.com/office/powerpoint/2010/main" val="339373554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describing pre-departure checks:</a:t>
            </a:r>
          </a:p>
          <a:p>
            <a:r>
              <a:rPr lang="en-AU" sz="1200" b="1" kern="1200" dirty="0" smtClean="0">
                <a:solidFill>
                  <a:schemeClr val="tx1"/>
                </a:solidFill>
                <a:latin typeface="+mn-lt"/>
                <a:ea typeface="+mn-ea"/>
                <a:cs typeface="+mn-cs"/>
              </a:rPr>
              <a:t>Processing tour resources</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Which can include need to:</a:t>
            </a:r>
          </a:p>
          <a:p>
            <a:pPr marL="171450" lvl="0" indent="-171450">
              <a:buFont typeface="Arial" pitchFamily="34" charset="0"/>
              <a:buChar char="•"/>
            </a:pPr>
            <a:r>
              <a:rPr lang="en-AU" sz="1200" kern="1200" dirty="0" smtClean="0">
                <a:solidFill>
                  <a:schemeClr val="tx1"/>
                </a:solidFill>
                <a:latin typeface="+mn-lt"/>
                <a:ea typeface="+mn-ea"/>
                <a:cs typeface="+mn-cs"/>
              </a:rPr>
              <a:t>Requisition/order resources – as required based on tour type, group, numbers and budget</a:t>
            </a:r>
          </a:p>
          <a:p>
            <a:pPr marL="171450" lvl="0" indent="-171450">
              <a:buFont typeface="Arial" pitchFamily="34" charset="0"/>
              <a:buChar char="•"/>
            </a:pPr>
            <a:r>
              <a:rPr lang="en-AU" sz="1200" kern="1200" dirty="0" smtClean="0">
                <a:solidFill>
                  <a:schemeClr val="tx1"/>
                </a:solidFill>
                <a:latin typeface="+mn-lt"/>
                <a:ea typeface="+mn-ea"/>
                <a:cs typeface="+mn-cs"/>
              </a:rPr>
              <a:t>Obtain and check/inspect  resources provided – to ensure integrity, sufficiency, appropriateness and safety</a:t>
            </a:r>
          </a:p>
          <a:p>
            <a:pPr marL="171450" lvl="0" indent="-171450">
              <a:buFont typeface="Arial" pitchFamily="34" charset="0"/>
              <a:buChar char="•"/>
            </a:pPr>
            <a:r>
              <a:rPr lang="en-AU" sz="1200" kern="1200" dirty="0" smtClean="0">
                <a:solidFill>
                  <a:schemeClr val="tx1"/>
                </a:solidFill>
                <a:latin typeface="+mn-lt"/>
                <a:ea typeface="+mn-ea"/>
                <a:cs typeface="+mn-cs"/>
              </a:rPr>
              <a:t>Loading/stowing items on transport.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extLst>
      <p:ext uri="{BB962C8B-B14F-4D97-AF65-F5344CB8AC3E}">
        <p14:creationId xmlns:p14="http://schemas.microsoft.com/office/powerpoint/2010/main" val="112174555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describing pre-departure checks:</a:t>
            </a:r>
          </a:p>
          <a:p>
            <a:r>
              <a:rPr lang="en-AU" sz="1200" b="1" kern="1200" dirty="0" smtClean="0">
                <a:solidFill>
                  <a:schemeClr val="tx1"/>
                </a:solidFill>
                <a:latin typeface="+mn-lt"/>
                <a:ea typeface="+mn-ea"/>
                <a:cs typeface="+mn-cs"/>
              </a:rPr>
              <a:t>Completing documentation </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Which will relate to:</a:t>
            </a:r>
          </a:p>
          <a:p>
            <a:pPr marL="171450" lvl="0" indent="-171450">
              <a:buFont typeface="Arial" pitchFamily="34" charset="0"/>
              <a:buChar char="•"/>
            </a:pPr>
            <a:r>
              <a:rPr lang="en-AU" sz="1200" kern="1200" dirty="0" smtClean="0">
                <a:solidFill>
                  <a:schemeClr val="tx1"/>
                </a:solidFill>
                <a:latin typeface="+mn-lt"/>
                <a:ea typeface="+mn-ea"/>
                <a:cs typeface="+mn-cs"/>
              </a:rPr>
              <a:t>Vehicle/transportation documentation/logs – recording mileage, dates, driver name, destination, tour type</a:t>
            </a:r>
          </a:p>
          <a:p>
            <a:pPr marL="171450" lvl="0" indent="-171450">
              <a:buFont typeface="Arial" pitchFamily="34" charset="0"/>
              <a:buChar char="•"/>
            </a:pPr>
            <a:r>
              <a:rPr lang="en-AU" sz="1200" kern="1200" dirty="0" smtClean="0">
                <a:solidFill>
                  <a:schemeClr val="tx1"/>
                </a:solidFill>
                <a:latin typeface="+mn-lt"/>
                <a:ea typeface="+mn-ea"/>
                <a:cs typeface="+mn-cs"/>
              </a:rPr>
              <a:t>Internal paperwork to record resources used – by tour</a:t>
            </a:r>
          </a:p>
          <a:p>
            <a:pPr marL="171450" lvl="0" indent="-171450">
              <a:buFont typeface="Arial" pitchFamily="34" charset="0"/>
              <a:buChar char="•"/>
            </a:pPr>
            <a:r>
              <a:rPr lang="en-AU" sz="1200" kern="1200" dirty="0" smtClean="0">
                <a:solidFill>
                  <a:schemeClr val="tx1"/>
                </a:solidFill>
                <a:latin typeface="+mn-lt"/>
                <a:ea typeface="+mn-ea"/>
                <a:cs typeface="+mn-cs"/>
              </a:rPr>
              <a:t>Time sheets</a:t>
            </a:r>
          </a:p>
          <a:p>
            <a:pPr marL="171450" lvl="0" indent="-171450">
              <a:buFont typeface="Arial" pitchFamily="34" charset="0"/>
              <a:buChar char="•"/>
            </a:pPr>
            <a:r>
              <a:rPr lang="en-AU" sz="1200" kern="1200" dirty="0" smtClean="0">
                <a:solidFill>
                  <a:schemeClr val="tx1"/>
                </a:solidFill>
                <a:latin typeface="+mn-lt"/>
                <a:ea typeface="+mn-ea"/>
                <a:cs typeface="+mn-cs"/>
              </a:rPr>
              <a:t>Tour manifests</a:t>
            </a:r>
          </a:p>
          <a:p>
            <a:pPr marL="171450" lvl="0" indent="-171450">
              <a:buFont typeface="Arial" pitchFamily="34" charset="0"/>
              <a:buChar char="•"/>
            </a:pPr>
            <a:r>
              <a:rPr lang="en-AU" sz="1200" kern="1200" dirty="0" smtClean="0">
                <a:solidFill>
                  <a:schemeClr val="tx1"/>
                </a:solidFill>
                <a:latin typeface="+mn-lt"/>
                <a:ea typeface="+mn-ea"/>
                <a:cs typeface="+mn-cs"/>
              </a:rPr>
              <a:t>Signing for items – keys, credit cards, acknowledgement of directives/orders from management, cash advances.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noProof="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noProof="0" dirty="0" smtClean="0"/>
              <a:t>Class Activity – Handouts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0" noProof="0" dirty="0" smtClean="0"/>
              <a:t>Trainer distributes and discusses documents identified on the slide.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extLst>
      <p:ext uri="{BB962C8B-B14F-4D97-AF65-F5344CB8AC3E}">
        <p14:creationId xmlns:p14="http://schemas.microsoft.com/office/powerpoint/2010/main" val="212047286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describing pre-departure checks:</a:t>
            </a:r>
          </a:p>
          <a:p>
            <a:r>
              <a:rPr lang="en-AU" sz="1200" b="1" kern="1200" dirty="0" smtClean="0">
                <a:solidFill>
                  <a:schemeClr val="tx1"/>
                </a:solidFill>
                <a:latin typeface="+mn-lt"/>
                <a:ea typeface="+mn-ea"/>
                <a:cs typeface="+mn-cs"/>
              </a:rPr>
              <a:t>Checking of personal appearance </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Which will require attention to:</a:t>
            </a:r>
          </a:p>
          <a:p>
            <a:pPr marL="171450" lvl="0" indent="-171450">
              <a:buFont typeface="Arial" pitchFamily="34" charset="0"/>
              <a:buChar char="•"/>
            </a:pPr>
            <a:r>
              <a:rPr lang="en-AU" sz="1200" kern="1200" dirty="0" smtClean="0">
                <a:solidFill>
                  <a:schemeClr val="tx1"/>
                </a:solidFill>
                <a:latin typeface="+mn-lt"/>
                <a:ea typeface="+mn-ea"/>
                <a:cs typeface="+mn-cs"/>
              </a:rPr>
              <a:t>Standards of dress and grooming required by the employer</a:t>
            </a:r>
          </a:p>
          <a:p>
            <a:pPr marL="171450" lvl="0" indent="-171450">
              <a:buFont typeface="Arial" pitchFamily="34" charset="0"/>
              <a:buChar char="•"/>
            </a:pPr>
            <a:r>
              <a:rPr lang="en-AU" sz="1200" kern="1200" dirty="0" smtClean="0">
                <a:solidFill>
                  <a:schemeClr val="tx1"/>
                </a:solidFill>
                <a:latin typeface="+mn-lt"/>
                <a:ea typeface="+mn-ea"/>
                <a:cs typeface="+mn-cs"/>
              </a:rPr>
              <a:t>Standards of decency and common sense</a:t>
            </a:r>
          </a:p>
          <a:p>
            <a:pPr marL="171450" lvl="0" indent="-171450">
              <a:buFont typeface="Arial" pitchFamily="34" charset="0"/>
              <a:buChar char="•"/>
            </a:pPr>
            <a:r>
              <a:rPr lang="en-AU" sz="1200" kern="1200" dirty="0" smtClean="0">
                <a:solidFill>
                  <a:schemeClr val="tx1"/>
                </a:solidFill>
                <a:latin typeface="+mn-lt"/>
                <a:ea typeface="+mn-ea"/>
                <a:cs typeface="+mn-cs"/>
              </a:rPr>
              <a:t>Requirements of the tour to be conducted</a:t>
            </a:r>
          </a:p>
          <a:p>
            <a:pPr marL="171450" lvl="0" indent="-171450">
              <a:buFont typeface="Arial" pitchFamily="34" charset="0"/>
              <a:buChar char="•"/>
            </a:pPr>
            <a:r>
              <a:rPr lang="en-AU" sz="1200" kern="1200" dirty="0" smtClean="0">
                <a:solidFill>
                  <a:schemeClr val="tx1"/>
                </a:solidFill>
                <a:latin typeface="+mn-lt"/>
                <a:ea typeface="+mn-ea"/>
                <a:cs typeface="+mn-cs"/>
              </a:rPr>
              <a:t>Personal hygiene.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noProof="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noProof="0" dirty="0" smtClean="0"/>
              <a:t>Class Activity – Excursion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0" noProof="0" dirty="0" smtClean="0"/>
              <a:t>Trainer arranges excursion to a tour operator so students can view pre-departure</a:t>
            </a:r>
            <a:r>
              <a:rPr lang="en-US" b="0" baseline="0" noProof="0" dirty="0" smtClean="0"/>
              <a:t> checks and activities and talk to Tour Guides about same.</a:t>
            </a:r>
            <a:endParaRPr lang="en-US" b="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extLst>
      <p:ext uri="{BB962C8B-B14F-4D97-AF65-F5344CB8AC3E}">
        <p14:creationId xmlns:p14="http://schemas.microsoft.com/office/powerpoint/2010/main" val="3038565170"/>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describes during-tour activities:</a:t>
            </a:r>
          </a:p>
          <a:p>
            <a:r>
              <a:rPr lang="en-AU" sz="1200" b="1" kern="1200" dirty="0" smtClean="0">
                <a:solidFill>
                  <a:schemeClr val="tx1"/>
                </a:solidFill>
                <a:latin typeface="+mn-lt"/>
                <a:ea typeface="+mn-ea"/>
                <a:cs typeface="+mn-cs"/>
              </a:rPr>
              <a:t>Greeting tour group/tour group members</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Which requires:</a:t>
            </a:r>
          </a:p>
          <a:p>
            <a:pPr marL="171450" lvl="0" indent="-171450">
              <a:buFont typeface="Arial" pitchFamily="34" charset="0"/>
              <a:buChar char="•"/>
            </a:pPr>
            <a:r>
              <a:rPr lang="en-AU" sz="1200" kern="1200" dirty="0" smtClean="0">
                <a:solidFill>
                  <a:schemeClr val="tx1"/>
                </a:solidFill>
                <a:latin typeface="+mn-lt"/>
                <a:ea typeface="+mn-ea"/>
                <a:cs typeface="+mn-cs"/>
              </a:rPr>
              <a:t>Being there – it is important to be there </a:t>
            </a:r>
            <a:r>
              <a:rPr lang="en-AU" sz="1200" i="1" kern="1200" dirty="0" smtClean="0">
                <a:solidFill>
                  <a:schemeClr val="tx1"/>
                </a:solidFill>
                <a:latin typeface="+mn-lt"/>
                <a:ea typeface="+mn-ea"/>
                <a:cs typeface="+mn-cs"/>
              </a:rPr>
              <a:t>before</a:t>
            </a:r>
            <a:r>
              <a:rPr lang="en-AU" sz="1200" kern="1200" dirty="0" smtClean="0">
                <a:solidFill>
                  <a:schemeClr val="tx1"/>
                </a:solidFill>
                <a:latin typeface="+mn-lt"/>
                <a:ea typeface="+mn-ea"/>
                <a:cs typeface="+mn-cs"/>
              </a:rPr>
              <a:t> the advertised/promised starting time and before tourists arrive to demonstrate preparedness for their arrival</a:t>
            </a:r>
          </a:p>
          <a:p>
            <a:pPr marL="171450" lvl="0" indent="-171450">
              <a:buFont typeface="Arial" pitchFamily="34" charset="0"/>
              <a:buChar char="•"/>
            </a:pPr>
            <a:r>
              <a:rPr lang="en-AU" sz="1200" kern="1200" dirty="0" smtClean="0">
                <a:solidFill>
                  <a:schemeClr val="tx1"/>
                </a:solidFill>
                <a:latin typeface="+mn-lt"/>
                <a:ea typeface="+mn-ea"/>
                <a:cs typeface="+mn-cs"/>
              </a:rPr>
              <a:t>A verbal welcome – to the group and individuals</a:t>
            </a:r>
          </a:p>
          <a:p>
            <a:pPr marL="171450" lvl="0" indent="-171450">
              <a:buFont typeface="Arial" pitchFamily="34" charset="0"/>
              <a:buChar char="•"/>
            </a:pPr>
            <a:r>
              <a:rPr lang="en-AU" sz="1200" kern="1200" dirty="0" smtClean="0">
                <a:solidFill>
                  <a:schemeClr val="tx1"/>
                </a:solidFill>
                <a:latin typeface="+mn-lt"/>
                <a:ea typeface="+mn-ea"/>
                <a:cs typeface="+mn-cs"/>
              </a:rPr>
              <a:t>Introducing self – and role</a:t>
            </a:r>
          </a:p>
          <a:p>
            <a:pPr marL="171450" lvl="0" indent="-171450">
              <a:buFont typeface="Arial" pitchFamily="34" charset="0"/>
              <a:buChar char="•"/>
            </a:pPr>
            <a:r>
              <a:rPr lang="en-AU" sz="1200" kern="1200" dirty="0" smtClean="0">
                <a:solidFill>
                  <a:schemeClr val="tx1"/>
                </a:solidFill>
                <a:latin typeface="+mn-lt"/>
                <a:ea typeface="+mn-ea"/>
                <a:cs typeface="+mn-cs"/>
              </a:rPr>
              <a:t>Thanking them – for arriving/taking the tour</a:t>
            </a:r>
          </a:p>
          <a:p>
            <a:pPr marL="171450" lvl="0" indent="-171450">
              <a:buFont typeface="Arial" pitchFamily="34" charset="0"/>
              <a:buChar char="•"/>
            </a:pPr>
            <a:r>
              <a:rPr lang="en-AU" sz="1200" kern="1200" dirty="0" smtClean="0">
                <a:solidFill>
                  <a:schemeClr val="tx1"/>
                </a:solidFill>
                <a:latin typeface="+mn-lt"/>
                <a:ea typeface="+mn-ea"/>
                <a:cs typeface="+mn-cs"/>
              </a:rPr>
              <a:t>Smiling – the universal language</a:t>
            </a:r>
          </a:p>
          <a:p>
            <a:pPr marL="171450" lvl="0" indent="-171450">
              <a:buFont typeface="Arial" pitchFamily="34" charset="0"/>
              <a:buChar char="•"/>
            </a:pPr>
            <a:r>
              <a:rPr lang="en-AU" sz="1200" kern="1200" dirty="0" smtClean="0">
                <a:solidFill>
                  <a:schemeClr val="tx1"/>
                </a:solidFill>
                <a:latin typeface="+mn-lt"/>
                <a:ea typeface="+mn-ea"/>
                <a:cs typeface="+mn-cs"/>
              </a:rPr>
              <a:t>Making necessary introductions – to other tour group members and to other staff Tour Guides who will be on tour</a:t>
            </a:r>
          </a:p>
          <a:p>
            <a:pPr marL="171450" lvl="0" indent="-171450">
              <a:buFont typeface="Arial" pitchFamily="34" charset="0"/>
              <a:buChar char="•"/>
            </a:pPr>
            <a:r>
              <a:rPr lang="en-AU" sz="1200" kern="1200" dirty="0" smtClean="0">
                <a:solidFill>
                  <a:schemeClr val="tx1"/>
                </a:solidFill>
                <a:latin typeface="+mn-lt"/>
                <a:ea typeface="+mn-ea"/>
                <a:cs typeface="+mn-cs"/>
              </a:rPr>
              <a:t>Establishing a rapport with the group/individuals.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noProof="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noProof="0" dirty="0" smtClean="0"/>
              <a:t>Class Activity – Demonstration and Practical</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0" noProof="0" dirty="0" smtClean="0"/>
              <a:t>Trainer demonstrates greeting of tour group members and provides opportunity for students to do same.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extLst>
      <p:ext uri="{BB962C8B-B14F-4D97-AF65-F5344CB8AC3E}">
        <p14:creationId xmlns:p14="http://schemas.microsoft.com/office/powerpoint/2010/main" val="291674812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describing during-tour activities:</a:t>
            </a:r>
          </a:p>
          <a:p>
            <a:r>
              <a:rPr lang="en-AU" sz="1200" b="1" kern="1200" dirty="0" smtClean="0">
                <a:solidFill>
                  <a:schemeClr val="tx1"/>
                </a:solidFill>
                <a:latin typeface="+mn-lt"/>
                <a:ea typeface="+mn-ea"/>
                <a:cs typeface="+mn-cs"/>
              </a:rPr>
              <a:t>Confirming tour details</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Which can embrace need to:</a:t>
            </a:r>
          </a:p>
          <a:p>
            <a:pPr marL="171450" lvl="0" indent="-171450">
              <a:buFont typeface="Arial" pitchFamily="34" charset="0"/>
              <a:buChar char="•"/>
            </a:pPr>
            <a:r>
              <a:rPr lang="en-AU" sz="1200" kern="1200" dirty="0" smtClean="0">
                <a:solidFill>
                  <a:schemeClr val="tx1"/>
                </a:solidFill>
                <a:latin typeface="+mn-lt"/>
                <a:ea typeface="+mn-ea"/>
                <a:cs typeface="+mn-cs"/>
              </a:rPr>
              <a:t>Verbally provide itinerary details – highlighting points of interest and special events and arrangements</a:t>
            </a:r>
          </a:p>
          <a:p>
            <a:pPr marL="171450" lvl="0" indent="-171450">
              <a:buFont typeface="Arial" pitchFamily="34" charset="0"/>
              <a:buChar char="•"/>
            </a:pPr>
            <a:r>
              <a:rPr lang="en-AU" sz="1200" kern="1200" dirty="0" smtClean="0">
                <a:solidFill>
                  <a:schemeClr val="tx1"/>
                </a:solidFill>
                <a:latin typeface="+mn-lt"/>
                <a:ea typeface="+mn-ea"/>
                <a:cs typeface="+mn-cs"/>
              </a:rPr>
              <a:t>Distribute materials – such as name tags, itineraries, tickets, vouchers, handouts, tour materials</a:t>
            </a:r>
          </a:p>
          <a:p>
            <a:pPr marL="171450" lvl="0" indent="-171450">
              <a:buFont typeface="Arial" pitchFamily="34" charset="0"/>
              <a:buChar char="•"/>
            </a:pPr>
            <a:r>
              <a:rPr lang="en-AU" sz="1200" kern="1200" dirty="0" smtClean="0">
                <a:solidFill>
                  <a:schemeClr val="tx1"/>
                </a:solidFill>
                <a:latin typeface="+mn-lt"/>
                <a:ea typeface="+mn-ea"/>
                <a:cs typeface="+mn-cs"/>
              </a:rPr>
              <a:t>Include a Q &amp; A session – so participants have an opportunity to clarify issues, ease anxiety and obtain answers to their pressing questions/concerns</a:t>
            </a:r>
          </a:p>
          <a:p>
            <a:pPr marL="171450" lvl="0" indent="-171450">
              <a:buFont typeface="Arial" pitchFamily="34" charset="0"/>
              <a:buChar char="•"/>
            </a:pPr>
            <a:r>
              <a:rPr lang="en-AU" sz="1200" kern="1200" dirty="0" smtClean="0">
                <a:solidFill>
                  <a:schemeClr val="tx1"/>
                </a:solidFill>
                <a:latin typeface="+mn-lt"/>
                <a:ea typeface="+mn-ea"/>
                <a:cs typeface="+mn-cs"/>
              </a:rPr>
              <a:t>Mention potential hazards – and identify safety protocols and emergency measures which have been established</a:t>
            </a:r>
          </a:p>
          <a:p>
            <a:pPr marL="171450" lvl="0" indent="-171450">
              <a:buFont typeface="Arial" pitchFamily="34" charset="0"/>
              <a:buChar char="•"/>
            </a:pPr>
            <a:r>
              <a:rPr lang="en-AU" sz="1200" kern="1200" dirty="0" smtClean="0">
                <a:solidFill>
                  <a:schemeClr val="tx1"/>
                </a:solidFill>
                <a:latin typeface="+mn-lt"/>
                <a:ea typeface="+mn-ea"/>
                <a:cs typeface="+mn-cs"/>
              </a:rPr>
              <a:t>Explain tour group management protocols to ensure safety of all and no-one is separated from group or ‘lost’ on tour – covering:</a:t>
            </a:r>
          </a:p>
          <a:p>
            <a:pPr marL="628650" lvl="1" indent="-171450">
              <a:buFont typeface="Arial" pitchFamily="34" charset="0"/>
              <a:buChar char="•"/>
            </a:pPr>
            <a:r>
              <a:rPr lang="en-AU" sz="1200" kern="1200" dirty="0" smtClean="0">
                <a:solidFill>
                  <a:schemeClr val="tx1"/>
                </a:solidFill>
                <a:latin typeface="+mn-lt"/>
                <a:ea typeface="+mn-ea"/>
                <a:cs typeface="+mn-cs"/>
              </a:rPr>
              <a:t>Muster points</a:t>
            </a:r>
          </a:p>
          <a:p>
            <a:pPr marL="628650" lvl="1" indent="-171450">
              <a:buFont typeface="Arial" pitchFamily="34" charset="0"/>
              <a:buChar char="•"/>
            </a:pPr>
            <a:r>
              <a:rPr lang="en-AU" sz="1200" kern="1200" dirty="0" smtClean="0">
                <a:solidFill>
                  <a:schemeClr val="tx1"/>
                </a:solidFill>
                <a:latin typeface="+mn-lt"/>
                <a:ea typeface="+mn-ea"/>
                <a:cs typeface="+mn-cs"/>
              </a:rPr>
              <a:t>Need for everyone to check on others</a:t>
            </a:r>
          </a:p>
          <a:p>
            <a:pPr marL="628650" lvl="1" indent="-171450">
              <a:buFont typeface="Arial" pitchFamily="34" charset="0"/>
              <a:buChar char="•"/>
            </a:pPr>
            <a:r>
              <a:rPr lang="en-AU" sz="1200" kern="1200" dirty="0" smtClean="0">
                <a:solidFill>
                  <a:schemeClr val="tx1"/>
                </a:solidFill>
                <a:latin typeface="+mn-lt"/>
                <a:ea typeface="+mn-ea"/>
                <a:cs typeface="+mn-cs"/>
              </a:rPr>
              <a:t>Use of head counts</a:t>
            </a:r>
          </a:p>
          <a:p>
            <a:pPr marL="628650" lvl="1" indent="-171450">
              <a:buFont typeface="Arial" pitchFamily="34" charset="0"/>
              <a:buChar char="•"/>
            </a:pPr>
            <a:r>
              <a:rPr lang="en-AU" sz="1200" kern="1200" dirty="0" smtClean="0">
                <a:solidFill>
                  <a:schemeClr val="tx1"/>
                </a:solidFill>
                <a:latin typeface="+mn-lt"/>
                <a:ea typeface="+mn-ea"/>
                <a:cs typeface="+mn-cs"/>
              </a:rPr>
              <a:t>Provision of cell phone number for Tour Guide, driver, Tour Operator for people to use in emergency.</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noProof="0" dirty="0" smtClean="0"/>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extLst>
      <p:ext uri="{BB962C8B-B14F-4D97-AF65-F5344CB8AC3E}">
        <p14:creationId xmlns:p14="http://schemas.microsoft.com/office/powerpoint/2010/main" val="3765754683"/>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describing during-tour activities:</a:t>
            </a:r>
          </a:p>
          <a:p>
            <a:r>
              <a:rPr lang="en-AU" sz="1200" b="1" kern="1200" dirty="0" smtClean="0">
                <a:solidFill>
                  <a:schemeClr val="tx1"/>
                </a:solidFill>
                <a:latin typeface="+mn-lt"/>
                <a:ea typeface="+mn-ea"/>
                <a:cs typeface="+mn-cs"/>
              </a:rPr>
              <a:t>Commencing the tour</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Which can embrace need to:</a:t>
            </a:r>
          </a:p>
          <a:p>
            <a:pPr marL="171450" lvl="0" indent="-171450">
              <a:buFont typeface="Arial" pitchFamily="34" charset="0"/>
              <a:buChar char="•"/>
            </a:pPr>
            <a:r>
              <a:rPr lang="en-AU" sz="1200" kern="1200" dirty="0" smtClean="0">
                <a:solidFill>
                  <a:schemeClr val="tx1"/>
                </a:solidFill>
                <a:latin typeface="+mn-lt"/>
                <a:ea typeface="+mn-ea"/>
                <a:cs typeface="+mn-cs"/>
              </a:rPr>
              <a:t>Do a head count for the tour group – to identify/confirm ‘pax’</a:t>
            </a:r>
          </a:p>
          <a:p>
            <a:pPr marL="171450" lvl="0" indent="-171450">
              <a:buFont typeface="Arial" pitchFamily="34" charset="0"/>
              <a:buChar char="•"/>
            </a:pPr>
            <a:r>
              <a:rPr lang="en-AU" sz="1200" kern="1200" dirty="0" smtClean="0">
                <a:solidFill>
                  <a:schemeClr val="tx1"/>
                </a:solidFill>
                <a:latin typeface="+mn-lt"/>
                <a:ea typeface="+mn-ea"/>
                <a:cs typeface="+mn-cs"/>
              </a:rPr>
              <a:t>Lead tour group members to vehicle/bus – and assist with boarding</a:t>
            </a:r>
          </a:p>
          <a:p>
            <a:pPr marL="171450" lvl="0" indent="-171450">
              <a:buFont typeface="Arial" pitchFamily="34" charset="0"/>
              <a:buChar char="•"/>
            </a:pPr>
            <a:r>
              <a:rPr lang="en-AU" sz="1200" kern="1200" dirty="0" smtClean="0">
                <a:solidFill>
                  <a:schemeClr val="tx1"/>
                </a:solidFill>
                <a:latin typeface="+mn-lt"/>
                <a:ea typeface="+mn-ea"/>
                <a:cs typeface="+mn-cs"/>
              </a:rPr>
              <a:t>Explain facilities on board – and any relevant ‘rules’ relating to the transport</a:t>
            </a:r>
          </a:p>
          <a:p>
            <a:pPr marL="171450" lvl="0" indent="-171450">
              <a:buFont typeface="Arial" pitchFamily="34" charset="0"/>
              <a:buChar char="•"/>
            </a:pPr>
            <a:r>
              <a:rPr lang="en-AU" sz="1200" kern="1200" dirty="0" smtClean="0">
                <a:solidFill>
                  <a:schemeClr val="tx1"/>
                </a:solidFill>
                <a:latin typeface="+mn-lt"/>
                <a:ea typeface="+mn-ea"/>
                <a:cs typeface="+mn-cs"/>
              </a:rPr>
              <a:t>Start the tour on time – so it runs according to schedule: this is important:</a:t>
            </a:r>
          </a:p>
          <a:p>
            <a:pPr marL="628650" lvl="1" indent="-171450">
              <a:buFont typeface="Arial" pitchFamily="34" charset="0"/>
              <a:buChar char="•"/>
            </a:pPr>
            <a:r>
              <a:rPr lang="en-AU" sz="1200" kern="1200" dirty="0" smtClean="0">
                <a:solidFill>
                  <a:schemeClr val="tx1"/>
                </a:solidFill>
                <a:latin typeface="+mn-lt"/>
                <a:ea typeface="+mn-ea"/>
                <a:cs typeface="+mn-cs"/>
              </a:rPr>
              <a:t>Because destinations, sites and attractions are expecting the tour at set times</a:t>
            </a:r>
          </a:p>
          <a:p>
            <a:pPr marL="628650" lvl="1" indent="-171450">
              <a:buFont typeface="Arial" pitchFamily="34" charset="0"/>
              <a:buChar char="•"/>
            </a:pPr>
            <a:r>
              <a:rPr lang="en-AU" sz="1200" kern="1200" dirty="0" smtClean="0">
                <a:solidFill>
                  <a:schemeClr val="tx1"/>
                </a:solidFill>
                <a:latin typeface="+mn-lt"/>
                <a:ea typeface="+mn-ea"/>
                <a:cs typeface="+mn-cs"/>
              </a:rPr>
              <a:t>As tour group members may have made other arrangements based on the advertised finishing time of the tour</a:t>
            </a:r>
          </a:p>
          <a:p>
            <a:pPr marL="628650" lvl="1" indent="-171450">
              <a:buFont typeface="Arial" pitchFamily="34" charset="0"/>
              <a:buChar char="•"/>
            </a:pPr>
            <a:r>
              <a:rPr lang="en-AU" sz="1200" kern="1200" dirty="0" smtClean="0">
                <a:solidFill>
                  <a:schemeClr val="tx1"/>
                </a:solidFill>
                <a:latin typeface="+mn-lt"/>
                <a:ea typeface="+mn-ea"/>
                <a:cs typeface="+mn-cs"/>
              </a:rPr>
              <a:t>So the next tour can start on time.</a:t>
            </a:r>
            <a:endParaRPr lang="en-US"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extLst>
      <p:ext uri="{BB962C8B-B14F-4D97-AF65-F5344CB8AC3E}">
        <p14:creationId xmlns:p14="http://schemas.microsoft.com/office/powerpoint/2010/main" val="38769009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describing during-tour activities:</a:t>
            </a:r>
          </a:p>
          <a:p>
            <a:r>
              <a:rPr lang="en-AU" sz="1200" b="1" kern="1200" dirty="0" smtClean="0">
                <a:solidFill>
                  <a:schemeClr val="tx1"/>
                </a:solidFill>
                <a:latin typeface="+mn-lt"/>
                <a:ea typeface="+mn-ea"/>
                <a:cs typeface="+mn-cs"/>
              </a:rPr>
              <a:t>Continue relationship building and interactions with tour group members</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Techniques to build rapport with participants may include:</a:t>
            </a:r>
          </a:p>
          <a:p>
            <a:pPr marL="171450" lvl="0" indent="-171450">
              <a:buFont typeface="Arial" pitchFamily="34" charset="0"/>
              <a:buChar char="•"/>
            </a:pPr>
            <a:r>
              <a:rPr lang="en-AU" sz="1200" kern="1200" dirty="0" smtClean="0">
                <a:solidFill>
                  <a:schemeClr val="tx1"/>
                </a:solidFill>
                <a:latin typeface="+mn-lt"/>
                <a:ea typeface="+mn-ea"/>
                <a:cs typeface="+mn-cs"/>
              </a:rPr>
              <a:t>Extending/building on conversations when people were initially greeted– such as:</a:t>
            </a:r>
          </a:p>
          <a:p>
            <a:pPr marL="628650" lvl="1" indent="-171450">
              <a:buFont typeface="Arial" pitchFamily="34" charset="0"/>
              <a:buChar char="•"/>
            </a:pPr>
            <a:r>
              <a:rPr lang="en-AU" sz="1200" kern="1200" dirty="0" smtClean="0">
                <a:solidFill>
                  <a:schemeClr val="tx1"/>
                </a:solidFill>
                <a:latin typeface="+mn-lt"/>
                <a:ea typeface="+mn-ea"/>
                <a:cs typeface="+mn-cs"/>
              </a:rPr>
              <a:t>Remembering and using the person’s name</a:t>
            </a:r>
          </a:p>
          <a:p>
            <a:pPr marL="628650" lvl="1" indent="-171450">
              <a:buFont typeface="Arial" pitchFamily="34" charset="0"/>
              <a:buChar char="•"/>
            </a:pPr>
            <a:r>
              <a:rPr lang="en-AU" sz="1200" kern="1200" dirty="0" smtClean="0">
                <a:solidFill>
                  <a:schemeClr val="tx1"/>
                </a:solidFill>
                <a:latin typeface="+mn-lt"/>
                <a:ea typeface="+mn-ea"/>
                <a:cs typeface="+mn-cs"/>
              </a:rPr>
              <a:t>Mentioning something talked about as part of the previous contact</a:t>
            </a:r>
          </a:p>
          <a:p>
            <a:pPr marL="628650" lvl="1" indent="-171450">
              <a:buFont typeface="Arial" pitchFamily="34" charset="0"/>
              <a:buChar char="•"/>
            </a:pPr>
            <a:r>
              <a:rPr lang="en-AU" sz="1200" kern="1200" dirty="0" smtClean="0">
                <a:solidFill>
                  <a:schemeClr val="tx1"/>
                </a:solidFill>
                <a:latin typeface="+mn-lt"/>
                <a:ea typeface="+mn-ea"/>
                <a:cs typeface="+mn-cs"/>
              </a:rPr>
              <a:t>Checking to ensure something they queries earlier has been resolved to their satisfaction</a:t>
            </a:r>
          </a:p>
          <a:p>
            <a:pPr marL="171450" lvl="0" indent="-171450">
              <a:buFont typeface="Arial" pitchFamily="34" charset="0"/>
              <a:buChar char="•"/>
            </a:pPr>
            <a:r>
              <a:rPr lang="en-AU" sz="1200" kern="1200" dirty="0" smtClean="0">
                <a:solidFill>
                  <a:schemeClr val="tx1"/>
                </a:solidFill>
                <a:latin typeface="+mn-lt"/>
                <a:ea typeface="+mn-ea"/>
                <a:cs typeface="+mn-cs"/>
              </a:rPr>
              <a:t>Asking participants questions – about topics such as:</a:t>
            </a:r>
          </a:p>
          <a:p>
            <a:pPr marL="628650" lvl="1" indent="-171450">
              <a:buFont typeface="Arial" pitchFamily="34" charset="0"/>
              <a:buChar char="•"/>
            </a:pPr>
            <a:r>
              <a:rPr lang="en-AU" sz="1200" kern="1200" dirty="0" smtClean="0">
                <a:solidFill>
                  <a:schemeClr val="tx1"/>
                </a:solidFill>
                <a:latin typeface="+mn-lt"/>
                <a:ea typeface="+mn-ea"/>
                <a:cs typeface="+mn-cs"/>
              </a:rPr>
              <a:t>Their country of origin </a:t>
            </a:r>
          </a:p>
          <a:p>
            <a:pPr marL="628650" lvl="1" indent="-171450">
              <a:buFont typeface="Arial" pitchFamily="34" charset="0"/>
              <a:buChar char="•"/>
            </a:pPr>
            <a:r>
              <a:rPr lang="en-AU" sz="1200" kern="1200" dirty="0" smtClean="0">
                <a:solidFill>
                  <a:schemeClr val="tx1"/>
                </a:solidFill>
                <a:latin typeface="+mn-lt"/>
                <a:ea typeface="+mn-ea"/>
                <a:cs typeface="+mn-cs"/>
              </a:rPr>
              <a:t>Personal interests and specific interests for this tour</a:t>
            </a:r>
          </a:p>
          <a:p>
            <a:pPr marL="628650" lvl="1" indent="-171450">
              <a:buFont typeface="Arial" pitchFamily="34" charset="0"/>
              <a:buChar char="•"/>
            </a:pPr>
            <a:r>
              <a:rPr lang="en-AU" sz="1200" kern="1200" dirty="0" smtClean="0">
                <a:solidFill>
                  <a:schemeClr val="tx1"/>
                </a:solidFill>
                <a:latin typeface="+mn-lt"/>
                <a:ea typeface="+mn-ea"/>
                <a:cs typeface="+mn-cs"/>
              </a:rPr>
              <a:t>Their reasons for being on tour</a:t>
            </a:r>
          </a:p>
          <a:p>
            <a:pPr marL="628650" lvl="1" indent="-171450">
              <a:buFont typeface="Arial" pitchFamily="34" charset="0"/>
              <a:buChar char="•"/>
            </a:pPr>
            <a:r>
              <a:rPr lang="en-AU" sz="1200" kern="1200" dirty="0" smtClean="0">
                <a:solidFill>
                  <a:schemeClr val="tx1"/>
                </a:solidFill>
                <a:latin typeface="+mn-lt"/>
                <a:ea typeface="+mn-ea"/>
                <a:cs typeface="+mn-cs"/>
              </a:rPr>
              <a:t>Their previous experiences and tours</a:t>
            </a:r>
          </a:p>
          <a:p>
            <a:pPr marL="171450" lvl="0" indent="-171450">
              <a:buFont typeface="Arial" pitchFamily="34" charset="0"/>
              <a:buChar char="•"/>
            </a:pPr>
            <a:r>
              <a:rPr lang="en-AU" sz="1200" kern="1200" dirty="0" smtClean="0">
                <a:solidFill>
                  <a:schemeClr val="tx1"/>
                </a:solidFill>
                <a:latin typeface="+mn-lt"/>
                <a:ea typeface="+mn-ea"/>
                <a:cs typeface="+mn-cs"/>
              </a:rPr>
              <a:t>Using icebreakers – these are quick exercises which can be used to ‘break the ice’ and introduce tour group members to each other. They are really only suitable where:</a:t>
            </a:r>
          </a:p>
          <a:p>
            <a:pPr marL="628650" lvl="1" indent="-171450">
              <a:buFont typeface="Arial" pitchFamily="34" charset="0"/>
              <a:buChar char="•"/>
            </a:pPr>
            <a:r>
              <a:rPr lang="en-AU" sz="1200" kern="1200" dirty="0" smtClean="0">
                <a:solidFill>
                  <a:schemeClr val="tx1"/>
                </a:solidFill>
                <a:latin typeface="+mn-lt"/>
                <a:ea typeface="+mn-ea"/>
                <a:cs typeface="+mn-cs"/>
              </a:rPr>
              <a:t>The participants do not already know each other – if the group members already know each other then ice-breakers are often not appreciated and many resent having to participate in them</a:t>
            </a:r>
          </a:p>
          <a:p>
            <a:pPr marL="628650" lvl="1" indent="-171450">
              <a:buFont typeface="Arial" pitchFamily="34" charset="0"/>
              <a:buChar char="•"/>
            </a:pPr>
            <a:r>
              <a:rPr lang="en-AU" sz="1200" kern="1200" dirty="0" smtClean="0">
                <a:solidFill>
                  <a:schemeClr val="tx1"/>
                </a:solidFill>
                <a:latin typeface="+mn-lt"/>
                <a:ea typeface="+mn-ea"/>
                <a:cs typeface="+mn-cs"/>
              </a:rPr>
              <a:t>There is sufficient time to conduct them – they can be quite time consuming</a:t>
            </a:r>
          </a:p>
          <a:p>
            <a:pPr marL="628650" lvl="1" indent="-171450">
              <a:buFont typeface="Arial" pitchFamily="34" charset="0"/>
              <a:buChar char="•"/>
            </a:pPr>
            <a:r>
              <a:rPr lang="en-AU" sz="1200" kern="1200" dirty="0" smtClean="0">
                <a:solidFill>
                  <a:schemeClr val="tx1"/>
                </a:solidFill>
                <a:latin typeface="+mn-lt"/>
                <a:ea typeface="+mn-ea"/>
                <a:cs typeface="+mn-cs"/>
              </a:rPr>
              <a:t>A suitable, comfortable location exists to do them – standing in the heat is not a good location.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noProof="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noProof="0" dirty="0" smtClean="0"/>
              <a:t>Class Activity (1) – Internet Research</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0" baseline="0" noProof="0" dirty="0" smtClean="0"/>
              <a:t>Trainer facilitates student research of and discussion regarding content of following and other similar/relevant websites: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u="sng" kern="1200" dirty="0" smtClean="0">
                <a:solidFill>
                  <a:schemeClr val="tx1"/>
                </a:solidFill>
                <a:latin typeface="+mn-lt"/>
                <a:ea typeface="+mn-ea"/>
                <a:cs typeface="+mn-cs"/>
                <a:hlinkClick r:id="rId3"/>
              </a:rPr>
              <a:t>http://insight.typepad.co.uk/40_icebreakers_for_small_groups.pdf</a:t>
            </a:r>
            <a:r>
              <a:rPr lang="en-AU" sz="1200" kern="1200" dirty="0" smtClean="0">
                <a:solidFill>
                  <a:schemeClr val="tx1"/>
                </a:solidFill>
                <a:latin typeface="+mn-lt"/>
                <a:ea typeface="+mn-ea"/>
                <a:cs typeface="+mn-cs"/>
              </a:rPr>
              <a:t> and </a:t>
            </a:r>
            <a:r>
              <a:rPr lang="en-AU" sz="1200" u="sng" kern="1200" dirty="0" smtClean="0">
                <a:solidFill>
                  <a:schemeClr val="tx1"/>
                </a:solidFill>
                <a:latin typeface="+mn-lt"/>
                <a:ea typeface="+mn-ea"/>
                <a:cs typeface="+mn-cs"/>
                <a:hlinkClick r:id="rId4"/>
              </a:rPr>
              <a:t>http://training-games.com/pdf/40FreeIceBreakers.pdf</a:t>
            </a:r>
            <a:endParaRPr lang="en-AU" sz="1200" u="sng" kern="120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sz="1200" b="0" u="sng" kern="1200" noProof="0" dirty="0" smtClean="0">
              <a:solidFill>
                <a:schemeClr val="tx1"/>
              </a:solidFill>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b="1" u="none" kern="1200" noProof="0" dirty="0" smtClean="0">
                <a:solidFill>
                  <a:schemeClr val="tx1"/>
                </a:solidFill>
                <a:latin typeface="+mn-lt"/>
                <a:ea typeface="+mn-ea"/>
                <a:cs typeface="+mn-cs"/>
              </a:rPr>
              <a:t>Class Activity (2) – Activity/Role Play</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sz="1200" b="0" u="none" kern="1200" noProof="0" dirty="0" smtClean="0">
                <a:solidFill>
                  <a:schemeClr val="tx1"/>
                </a:solidFill>
                <a:latin typeface="+mn-lt"/>
                <a:ea typeface="+mn-ea"/>
                <a:cs typeface="+mn-cs"/>
              </a:rPr>
              <a:t>Trainer demonstrates how to use ice breaker activity with tour group and provides opportunity for students to do same.</a:t>
            </a:r>
            <a:endParaRPr lang="en-US" b="0" u="none"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82</a:t>
            </a:fld>
            <a:endParaRPr lang="en-US" dirty="0"/>
          </a:p>
        </p:txBody>
      </p:sp>
    </p:spTree>
    <p:extLst>
      <p:ext uri="{BB962C8B-B14F-4D97-AF65-F5344CB8AC3E}">
        <p14:creationId xmlns:p14="http://schemas.microsoft.com/office/powerpoint/2010/main" val="112786600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describing relationship building during-tour activities:</a:t>
            </a:r>
          </a:p>
          <a:p>
            <a:pPr marL="171450" lvl="0" indent="-171450">
              <a:buFont typeface="Arial" pitchFamily="34" charset="0"/>
              <a:buChar char="•"/>
            </a:pPr>
            <a:r>
              <a:rPr lang="en-AU" sz="1200" kern="1200" dirty="0" smtClean="0">
                <a:solidFill>
                  <a:schemeClr val="tx1"/>
                </a:solidFill>
                <a:latin typeface="+mn-lt"/>
                <a:ea typeface="+mn-ea"/>
                <a:cs typeface="+mn-cs"/>
              </a:rPr>
              <a:t>Using anecdotes when interacting with participants – these are short stories relevant to the site, location or up-coming tour and are used as they add interest and provide insight into the experience</a:t>
            </a:r>
          </a:p>
          <a:p>
            <a:pPr marL="171450" lvl="0" indent="-171450">
              <a:buFont typeface="Arial" pitchFamily="34" charset="0"/>
              <a:buChar char="•"/>
            </a:pPr>
            <a:r>
              <a:rPr lang="en-AU" sz="1200" kern="1200" dirty="0" smtClean="0">
                <a:solidFill>
                  <a:schemeClr val="tx1"/>
                </a:solidFill>
                <a:latin typeface="+mn-lt"/>
                <a:ea typeface="+mn-ea"/>
                <a:cs typeface="+mn-cs"/>
              </a:rPr>
              <a:t>Using humour when talking with people – most tours contain an element of fun and the use of appropriate humour at appropriate times can set the scene for fun and actually impart fun and enjoyment before the tour starts</a:t>
            </a:r>
          </a:p>
          <a:p>
            <a:pPr marL="171450" lvl="0" indent="-171450">
              <a:buFont typeface="Arial" pitchFamily="34" charset="0"/>
              <a:buChar char="•"/>
            </a:pPr>
            <a:r>
              <a:rPr lang="en-AU" sz="1200" kern="1200" dirty="0" smtClean="0">
                <a:solidFill>
                  <a:schemeClr val="tx1"/>
                </a:solidFill>
                <a:latin typeface="+mn-lt"/>
                <a:ea typeface="+mn-ea"/>
                <a:cs typeface="+mn-cs"/>
              </a:rPr>
              <a:t>Checking on people’s welfare – by asking if they need anything, verifying they are OK and prepared, and helping them solve their problems</a:t>
            </a:r>
          </a:p>
          <a:p>
            <a:pPr marL="171450" lvl="0" indent="-171450">
              <a:buFont typeface="Arial" pitchFamily="34" charset="0"/>
              <a:buChar char="•"/>
            </a:pPr>
            <a:r>
              <a:rPr lang="en-AU" sz="1200" kern="1200" dirty="0" smtClean="0">
                <a:solidFill>
                  <a:schemeClr val="tx1"/>
                </a:solidFill>
                <a:latin typeface="+mn-lt"/>
                <a:ea typeface="+mn-ea"/>
                <a:cs typeface="+mn-cs"/>
              </a:rPr>
              <a:t>Applying suitable interpersonal and communication skills at every opportunity/exchange – such as:</a:t>
            </a:r>
          </a:p>
          <a:p>
            <a:pPr marL="628650" lvl="1" indent="-171450">
              <a:buFont typeface="Arial" pitchFamily="34" charset="0"/>
              <a:buChar char="•"/>
            </a:pPr>
            <a:r>
              <a:rPr lang="en-AU" sz="1200" kern="1200" dirty="0" smtClean="0">
                <a:solidFill>
                  <a:schemeClr val="tx1"/>
                </a:solidFill>
                <a:latin typeface="+mn-lt"/>
                <a:ea typeface="+mn-ea"/>
                <a:cs typeface="+mn-cs"/>
              </a:rPr>
              <a:t> Smiling; Eye contact; Demonstrating interest; Responding to questions; Clarifying information</a:t>
            </a:r>
          </a:p>
          <a:p>
            <a:pPr marL="171450" lvl="0" indent="-171450">
              <a:buFont typeface="Arial" pitchFamily="34" charset="0"/>
              <a:buChar char="•"/>
            </a:pPr>
            <a:r>
              <a:rPr lang="en-AU" sz="1200" kern="1200" dirty="0" smtClean="0">
                <a:solidFill>
                  <a:schemeClr val="tx1"/>
                </a:solidFill>
                <a:latin typeface="+mn-lt"/>
                <a:ea typeface="+mn-ea"/>
                <a:cs typeface="+mn-cs"/>
              </a:rPr>
              <a:t>Involving them in what is happening – this can include:</a:t>
            </a:r>
          </a:p>
          <a:p>
            <a:pPr marL="628650" lvl="1" indent="-171450">
              <a:buFont typeface="Arial" pitchFamily="34" charset="0"/>
              <a:buChar char="•"/>
            </a:pPr>
            <a:r>
              <a:rPr lang="en-AU" sz="1200" kern="1200" dirty="0" smtClean="0">
                <a:solidFill>
                  <a:schemeClr val="tx1"/>
                </a:solidFill>
                <a:latin typeface="+mn-lt"/>
                <a:ea typeface="+mn-ea"/>
                <a:cs typeface="+mn-cs"/>
              </a:rPr>
              <a:t>Telling them what is about to happen; Giving them something to do – this may even extend to giving them a simple task to assist (depending on nature of tour and organisational policies); </a:t>
            </a:r>
          </a:p>
          <a:p>
            <a:pPr marL="628650" lvl="1" indent="-171450">
              <a:buFont typeface="Arial" pitchFamily="34" charset="0"/>
              <a:buChar char="•"/>
            </a:pPr>
            <a:r>
              <a:rPr lang="en-AU" sz="1200" kern="1200" dirty="0" smtClean="0">
                <a:solidFill>
                  <a:schemeClr val="tx1"/>
                </a:solidFill>
                <a:latin typeface="+mn-lt"/>
                <a:ea typeface="+mn-ea"/>
                <a:cs typeface="+mn-cs"/>
              </a:rPr>
              <a:t>Giving them something to look at/read.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83</a:t>
            </a:fld>
            <a:endParaRPr lang="en-US" dirty="0"/>
          </a:p>
        </p:txBody>
      </p:sp>
    </p:spTree>
    <p:extLst>
      <p:ext uri="{BB962C8B-B14F-4D97-AF65-F5344CB8AC3E}">
        <p14:creationId xmlns:p14="http://schemas.microsoft.com/office/powerpoint/2010/main" val="2090843757"/>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describing during-tour activities:</a:t>
            </a:r>
          </a:p>
          <a:p>
            <a:r>
              <a:rPr lang="en-AU" sz="1200" b="1" kern="1200" dirty="0" smtClean="0">
                <a:solidFill>
                  <a:schemeClr val="tx1"/>
                </a:solidFill>
                <a:latin typeface="+mn-lt"/>
                <a:ea typeface="+mn-ea"/>
                <a:cs typeface="+mn-cs"/>
              </a:rPr>
              <a:t>Providing commentary</a:t>
            </a:r>
            <a:endParaRPr lang="en-AU" sz="1200" kern="1200" dirty="0" smtClean="0">
              <a:solidFill>
                <a:schemeClr val="tx1"/>
              </a:solidFill>
              <a:latin typeface="+mn-lt"/>
              <a:ea typeface="+mn-ea"/>
              <a:cs typeface="+mn-cs"/>
            </a:endParaRPr>
          </a:p>
          <a:p>
            <a:pPr>
              <a:buFont typeface="Arial" pitchFamily="34" charset="0"/>
              <a:buNone/>
            </a:pPr>
            <a:r>
              <a:rPr lang="en-AU" sz="1200" kern="1200" dirty="0" smtClean="0">
                <a:solidFill>
                  <a:schemeClr val="tx1"/>
                </a:solidFill>
                <a:latin typeface="+mn-lt"/>
                <a:ea typeface="+mn-ea"/>
                <a:cs typeface="+mn-cs"/>
              </a:rPr>
              <a:t>Basic communication strategies which can/should be used to deliver commentaries may include:</a:t>
            </a:r>
          </a:p>
          <a:p>
            <a:pPr marL="171450" lvl="0" indent="-171450">
              <a:buFont typeface="Arial" pitchFamily="34" charset="0"/>
              <a:buChar char="•"/>
            </a:pPr>
            <a:r>
              <a:rPr lang="en-AU" sz="1200" kern="1200" dirty="0" smtClean="0">
                <a:solidFill>
                  <a:schemeClr val="tx1"/>
                </a:solidFill>
                <a:latin typeface="+mn-lt"/>
                <a:ea typeface="+mn-ea"/>
                <a:cs typeface="+mn-cs"/>
              </a:rPr>
              <a:t>Ensuring visibility to all tour group members – it is preferable if all people on the tour can also read/see lips but at a minimum they should at least be able to see the person speaking to some extent</a:t>
            </a:r>
          </a:p>
          <a:p>
            <a:pPr marL="171450" lvl="0" indent="-171450">
              <a:buFont typeface="Arial" pitchFamily="34" charset="0"/>
              <a:buChar char="•"/>
            </a:pPr>
            <a:r>
              <a:rPr lang="en-AU" sz="1200" kern="1200" dirty="0" smtClean="0">
                <a:solidFill>
                  <a:schemeClr val="tx1"/>
                </a:solidFill>
                <a:latin typeface="+mn-lt"/>
                <a:ea typeface="+mn-ea"/>
                <a:cs typeface="+mn-cs"/>
              </a:rPr>
              <a:t>Facing the group – to the greatest extent possible</a:t>
            </a:r>
          </a:p>
          <a:p>
            <a:pPr marL="171450" lvl="0" indent="-171450">
              <a:buFont typeface="Arial" pitchFamily="34" charset="0"/>
              <a:buChar char="•"/>
            </a:pPr>
            <a:r>
              <a:rPr lang="en-AU" sz="1200" kern="1200" dirty="0" smtClean="0">
                <a:solidFill>
                  <a:schemeClr val="tx1"/>
                </a:solidFill>
                <a:latin typeface="+mn-lt"/>
                <a:ea typeface="+mn-ea"/>
                <a:cs typeface="+mn-cs"/>
              </a:rPr>
              <a:t>Speaking loudly enough for everyone to hear – or using technology to help project the voice</a:t>
            </a:r>
          </a:p>
          <a:p>
            <a:pPr marL="171450" lvl="0" indent="-171450">
              <a:buFont typeface="Arial" pitchFamily="34" charset="0"/>
              <a:buChar char="•"/>
            </a:pPr>
            <a:r>
              <a:rPr lang="en-AU" sz="1200" kern="1200" dirty="0" smtClean="0">
                <a:solidFill>
                  <a:schemeClr val="tx1"/>
                </a:solidFill>
                <a:latin typeface="+mn-lt"/>
                <a:ea typeface="+mn-ea"/>
                <a:cs typeface="+mn-cs"/>
              </a:rPr>
              <a:t>Remaining enthusiastic and appropriate for the tour content – and as appropriate to the nature/profile of the tour group members: some tours/topics require a sombre approach and others a lively and engaging demeanour.</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84</a:t>
            </a:fld>
            <a:endParaRPr lang="en-US" dirty="0"/>
          </a:p>
        </p:txBody>
      </p:sp>
    </p:spTree>
    <p:extLst>
      <p:ext uri="{BB962C8B-B14F-4D97-AF65-F5344CB8AC3E}">
        <p14:creationId xmlns:p14="http://schemas.microsoft.com/office/powerpoint/2010/main" val="2829140405"/>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describing providing commentary during-tour activities:</a:t>
            </a:r>
          </a:p>
          <a:p>
            <a:pPr marL="171450" lvl="0" indent="-171450">
              <a:buFont typeface="Arial" pitchFamily="34" charset="0"/>
              <a:buChar char="•"/>
            </a:pPr>
            <a:r>
              <a:rPr lang="en-AU" sz="1200" kern="1200" dirty="0" smtClean="0">
                <a:solidFill>
                  <a:schemeClr val="tx1"/>
                </a:solidFill>
                <a:latin typeface="+mn-lt"/>
                <a:ea typeface="+mn-ea"/>
                <a:cs typeface="+mn-cs"/>
              </a:rPr>
              <a:t>Beginning the verbal commentary sufficiently in advance of a scheduled tour stop so participants have time to focus on whatever is the focus of the commentary</a:t>
            </a:r>
          </a:p>
          <a:p>
            <a:pPr marL="628650" lvl="1" indent="-171450">
              <a:buFont typeface="Arial" pitchFamily="34" charset="0"/>
              <a:buChar char="•"/>
            </a:pPr>
            <a:r>
              <a:rPr lang="en-AU" sz="1200" kern="1200" dirty="0" smtClean="0">
                <a:solidFill>
                  <a:schemeClr val="tx1"/>
                </a:solidFill>
                <a:latin typeface="+mn-lt"/>
                <a:ea typeface="+mn-ea"/>
                <a:cs typeface="+mn-cs"/>
              </a:rPr>
              <a:t>Alternatively a decision may be taken to arrive at the stop, and then deliver all the commentary at this point</a:t>
            </a:r>
          </a:p>
          <a:p>
            <a:pPr marL="171450" lvl="0" indent="-171450">
              <a:buFont typeface="Arial" pitchFamily="34" charset="0"/>
              <a:buChar char="•"/>
            </a:pPr>
            <a:r>
              <a:rPr lang="en-AU" sz="1200" kern="1200" dirty="0" smtClean="0">
                <a:solidFill>
                  <a:schemeClr val="tx1"/>
                </a:solidFill>
                <a:latin typeface="+mn-lt"/>
                <a:ea typeface="+mn-ea"/>
                <a:cs typeface="+mn-cs"/>
              </a:rPr>
              <a:t>Focussing attention on entire group – the commentary must be directed at, and embrace, all the tour group members</a:t>
            </a:r>
          </a:p>
          <a:p>
            <a:pPr marL="628650" lvl="1" indent="-171450">
              <a:buFont typeface="Arial" pitchFamily="34" charset="0"/>
              <a:buChar char="•"/>
            </a:pPr>
            <a:r>
              <a:rPr lang="en-AU" sz="1200" kern="1200" dirty="0" smtClean="0">
                <a:solidFill>
                  <a:schemeClr val="tx1"/>
                </a:solidFill>
                <a:latin typeface="+mn-lt"/>
                <a:ea typeface="+mn-ea"/>
                <a:cs typeface="+mn-cs"/>
              </a:rPr>
              <a:t>Never fall for the common traps of:</a:t>
            </a:r>
          </a:p>
          <a:p>
            <a:pPr marL="1085850" lvl="2" indent="-171450">
              <a:buFont typeface="Arial" pitchFamily="34" charset="0"/>
              <a:buChar char="•"/>
            </a:pPr>
            <a:r>
              <a:rPr lang="en-AU" sz="1200" kern="1200" dirty="0" smtClean="0">
                <a:solidFill>
                  <a:schemeClr val="tx1"/>
                </a:solidFill>
                <a:latin typeface="+mn-lt"/>
                <a:ea typeface="+mn-ea"/>
                <a:cs typeface="+mn-cs"/>
              </a:rPr>
              <a:t>Talking only to those who are closest </a:t>
            </a:r>
          </a:p>
          <a:p>
            <a:pPr marL="1085850" lvl="2" indent="-171450">
              <a:buFont typeface="Arial" pitchFamily="34" charset="0"/>
              <a:buChar char="•"/>
            </a:pPr>
            <a:r>
              <a:rPr lang="en-AU" sz="1200" kern="1200" dirty="0" smtClean="0">
                <a:solidFill>
                  <a:schemeClr val="tx1"/>
                </a:solidFill>
                <a:latin typeface="+mn-lt"/>
                <a:ea typeface="+mn-ea"/>
                <a:cs typeface="+mn-cs"/>
              </a:rPr>
              <a:t>Directing commentary at those in the immediate line-of-sight</a:t>
            </a:r>
          </a:p>
          <a:p>
            <a:pPr marL="1085850" lvl="2" indent="-171450">
              <a:buFont typeface="Arial" pitchFamily="34" charset="0"/>
              <a:buChar char="•"/>
            </a:pPr>
            <a:r>
              <a:rPr lang="en-AU" sz="1200" kern="1200" dirty="0" smtClean="0">
                <a:solidFill>
                  <a:schemeClr val="tx1"/>
                </a:solidFill>
                <a:latin typeface="+mn-lt"/>
                <a:ea typeface="+mn-ea"/>
                <a:cs typeface="+mn-cs"/>
              </a:rPr>
              <a:t>Commentating only to one or two ‘special’ group members</a:t>
            </a:r>
          </a:p>
          <a:p>
            <a:pPr marL="1085850" lvl="2" indent="-171450">
              <a:buFont typeface="Arial" pitchFamily="34" charset="0"/>
              <a:buChar char="•"/>
            </a:pPr>
            <a:r>
              <a:rPr lang="en-AU" sz="1200" kern="1200" dirty="0" smtClean="0">
                <a:solidFill>
                  <a:schemeClr val="tx1"/>
                </a:solidFill>
                <a:latin typeface="+mn-lt"/>
                <a:ea typeface="+mn-ea"/>
                <a:cs typeface="+mn-cs"/>
              </a:rPr>
              <a:t>Focussing on a certain person, age group, nationality or gender</a:t>
            </a:r>
          </a:p>
          <a:p>
            <a:pPr marL="171450" lvl="0" indent="-171450">
              <a:buFont typeface="Arial" pitchFamily="34" charset="0"/>
              <a:buChar char="•"/>
            </a:pPr>
            <a:r>
              <a:rPr lang="en-AU" sz="1200" kern="1200" dirty="0" smtClean="0">
                <a:solidFill>
                  <a:schemeClr val="tx1"/>
                </a:solidFill>
                <a:latin typeface="+mn-lt"/>
                <a:ea typeface="+mn-ea"/>
                <a:cs typeface="+mn-cs"/>
              </a:rPr>
              <a:t>Communicating at level that will be understood by the audience considering their age, education, language, culture and special needs – this frequently means:</a:t>
            </a:r>
          </a:p>
          <a:p>
            <a:pPr marL="628650" lvl="1" indent="-171450">
              <a:buFont typeface="Arial" pitchFamily="34" charset="0"/>
              <a:buChar char="•"/>
            </a:pPr>
            <a:r>
              <a:rPr lang="en-AU" sz="1200" kern="1200" dirty="0" smtClean="0">
                <a:solidFill>
                  <a:schemeClr val="tx1"/>
                </a:solidFill>
                <a:latin typeface="+mn-lt"/>
                <a:ea typeface="+mn-ea"/>
                <a:cs typeface="+mn-cs"/>
              </a:rPr>
              <a:t>Keeping things simple</a:t>
            </a:r>
          </a:p>
          <a:p>
            <a:pPr marL="628650" lvl="1" indent="-171450">
              <a:buFont typeface="Arial" pitchFamily="34" charset="0"/>
              <a:buChar char="•"/>
            </a:pPr>
            <a:r>
              <a:rPr lang="en-AU" sz="1200" kern="1200" dirty="0" smtClean="0">
                <a:solidFill>
                  <a:schemeClr val="tx1"/>
                </a:solidFill>
                <a:latin typeface="+mn-lt"/>
                <a:ea typeface="+mn-ea"/>
                <a:cs typeface="+mn-cs"/>
              </a:rPr>
              <a:t>Using hand gestures to accompany verbal communication</a:t>
            </a:r>
          </a:p>
          <a:p>
            <a:pPr marL="628650" lvl="1" indent="-171450">
              <a:buFont typeface="Arial" pitchFamily="34" charset="0"/>
              <a:buChar char="•"/>
            </a:pPr>
            <a:r>
              <a:rPr lang="en-AU" sz="1200" kern="1200" dirty="0" smtClean="0">
                <a:solidFill>
                  <a:schemeClr val="tx1"/>
                </a:solidFill>
                <a:latin typeface="+mn-lt"/>
                <a:ea typeface="+mn-ea"/>
                <a:cs typeface="+mn-cs"/>
              </a:rPr>
              <a:t>Using appropriate words, terms and phrases</a:t>
            </a:r>
          </a:p>
          <a:p>
            <a:pPr marL="628650" lvl="1" indent="-171450">
              <a:buFont typeface="Arial" pitchFamily="34" charset="0"/>
              <a:buChar char="•"/>
            </a:pPr>
            <a:r>
              <a:rPr lang="en-AU" sz="1200" kern="1200" dirty="0" smtClean="0">
                <a:solidFill>
                  <a:schemeClr val="tx1"/>
                </a:solidFill>
                <a:latin typeface="+mn-lt"/>
                <a:ea typeface="+mn-ea"/>
                <a:cs typeface="+mn-cs"/>
              </a:rPr>
              <a:t>Highlighting points identified as being of interest to the group.</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85</a:t>
            </a:fld>
            <a:endParaRPr lang="en-US" dirty="0"/>
          </a:p>
        </p:txBody>
      </p:sp>
    </p:spTree>
    <p:extLst>
      <p:ext uri="{BB962C8B-B14F-4D97-AF65-F5344CB8AC3E}">
        <p14:creationId xmlns:p14="http://schemas.microsoft.com/office/powerpoint/2010/main" val="2746736394"/>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describing providing commentary during-tour activities:</a:t>
            </a:r>
          </a:p>
          <a:p>
            <a:pPr marL="171450" lvl="0" indent="-171450">
              <a:buFont typeface="Arial" pitchFamily="34" charset="0"/>
              <a:buChar char="•"/>
            </a:pPr>
            <a:r>
              <a:rPr lang="en-AU" sz="1200" kern="1200" dirty="0" smtClean="0">
                <a:solidFill>
                  <a:schemeClr val="tx1"/>
                </a:solidFill>
                <a:latin typeface="+mn-lt"/>
                <a:ea typeface="+mn-ea"/>
                <a:cs typeface="+mn-cs"/>
              </a:rPr>
              <a:t>Seeking feedback from the group throughout the commentary:</a:t>
            </a:r>
          </a:p>
          <a:p>
            <a:pPr marL="628650" lvl="1" indent="-171450">
              <a:buFont typeface="Arial" pitchFamily="34" charset="0"/>
              <a:buChar char="•"/>
            </a:pPr>
            <a:r>
              <a:rPr lang="en-AU" sz="1200" kern="1200" dirty="0" smtClean="0">
                <a:solidFill>
                  <a:schemeClr val="tx1"/>
                </a:solidFill>
                <a:latin typeface="+mn-lt"/>
                <a:ea typeface="+mn-ea"/>
                <a:cs typeface="+mn-cs"/>
              </a:rPr>
              <a:t>Can they hear/see?</a:t>
            </a:r>
          </a:p>
          <a:p>
            <a:pPr marL="628650" lvl="1" indent="-171450">
              <a:buFont typeface="Arial" pitchFamily="34" charset="0"/>
              <a:buChar char="•"/>
            </a:pPr>
            <a:r>
              <a:rPr lang="en-AU" sz="1200" kern="1200" dirty="0" smtClean="0">
                <a:solidFill>
                  <a:schemeClr val="tx1"/>
                </a:solidFill>
                <a:latin typeface="+mn-lt"/>
                <a:ea typeface="+mn-ea"/>
                <a:cs typeface="+mn-cs"/>
              </a:rPr>
              <a:t>Anything else they want to know?</a:t>
            </a:r>
          </a:p>
          <a:p>
            <a:pPr marL="628650" lvl="1" indent="-171450">
              <a:buFont typeface="Arial" pitchFamily="34" charset="0"/>
              <a:buChar char="•"/>
            </a:pPr>
            <a:r>
              <a:rPr lang="en-AU" sz="1200" kern="1200" dirty="0" smtClean="0">
                <a:solidFill>
                  <a:schemeClr val="tx1"/>
                </a:solidFill>
                <a:latin typeface="+mn-lt"/>
                <a:ea typeface="+mn-ea"/>
                <a:cs typeface="+mn-cs"/>
              </a:rPr>
              <a:t>Do they want a break/rest?</a:t>
            </a:r>
          </a:p>
          <a:p>
            <a:pPr marL="171450" lvl="0" indent="-171450">
              <a:buFont typeface="Arial" pitchFamily="34" charset="0"/>
              <a:buChar char="•"/>
            </a:pPr>
            <a:r>
              <a:rPr lang="en-AU" sz="1200" kern="1200" dirty="0" smtClean="0">
                <a:solidFill>
                  <a:schemeClr val="tx1"/>
                </a:solidFill>
                <a:latin typeface="+mn-lt"/>
                <a:ea typeface="+mn-ea"/>
                <a:cs typeface="+mn-cs"/>
              </a:rPr>
              <a:t>Encouraging questions – and responding to them in a way which demonstrates questions really are encouraged and appreciated</a:t>
            </a:r>
          </a:p>
          <a:p>
            <a:pPr marL="171450" lvl="0" indent="-171450">
              <a:buFont typeface="Arial" pitchFamily="34" charset="0"/>
              <a:buChar char="•"/>
            </a:pPr>
            <a:r>
              <a:rPr lang="en-AU" sz="1200" kern="1200" dirty="0" smtClean="0">
                <a:solidFill>
                  <a:schemeClr val="tx1"/>
                </a:solidFill>
                <a:latin typeface="+mn-lt"/>
                <a:ea typeface="+mn-ea"/>
                <a:cs typeface="+mn-cs"/>
              </a:rPr>
              <a:t>Making the commentary a ‘unique’ event – avoid allowing commentaries to:</a:t>
            </a:r>
          </a:p>
          <a:p>
            <a:pPr marL="628650" lvl="1" indent="-171450">
              <a:buFont typeface="Arial" pitchFamily="34" charset="0"/>
              <a:buChar char="•"/>
            </a:pPr>
            <a:r>
              <a:rPr lang="en-AU" sz="1200" kern="1200" dirty="0" smtClean="0">
                <a:solidFill>
                  <a:schemeClr val="tx1"/>
                </a:solidFill>
                <a:latin typeface="+mn-lt"/>
                <a:ea typeface="+mn-ea"/>
                <a:cs typeface="+mn-cs"/>
              </a:rPr>
              <a:t>Become boring and lifeless</a:t>
            </a:r>
          </a:p>
          <a:p>
            <a:pPr marL="628650" lvl="1" indent="-171450">
              <a:buFont typeface="Arial" pitchFamily="34" charset="0"/>
              <a:buChar char="•"/>
            </a:pPr>
            <a:r>
              <a:rPr lang="en-AU" sz="1200" kern="1200" dirty="0" smtClean="0">
                <a:solidFill>
                  <a:schemeClr val="tx1"/>
                </a:solidFill>
                <a:latin typeface="+mn-lt"/>
                <a:ea typeface="+mn-ea"/>
                <a:cs typeface="+mn-cs"/>
              </a:rPr>
              <a:t>Sound rote and mechanised/robotic</a:t>
            </a:r>
          </a:p>
          <a:p>
            <a:pPr marL="628650" lvl="1" indent="-171450">
              <a:buFont typeface="Arial" pitchFamily="34" charset="0"/>
              <a:buChar char="•"/>
            </a:pPr>
            <a:r>
              <a:rPr lang="en-AU" sz="1200" kern="1200" dirty="0" smtClean="0">
                <a:solidFill>
                  <a:schemeClr val="tx1"/>
                </a:solidFill>
                <a:latin typeface="+mn-lt"/>
                <a:ea typeface="+mn-ea"/>
                <a:cs typeface="+mn-cs"/>
              </a:rPr>
              <a:t>Adding comments which include new information and target the interests of the group</a:t>
            </a:r>
          </a:p>
          <a:p>
            <a:pPr marL="171450" lvl="0" indent="-171450">
              <a:buFont typeface="Arial" pitchFamily="34" charset="0"/>
              <a:buChar char="•"/>
            </a:pPr>
            <a:r>
              <a:rPr lang="en-AU" sz="1200" kern="1200" dirty="0" smtClean="0">
                <a:solidFill>
                  <a:schemeClr val="tx1"/>
                </a:solidFill>
                <a:latin typeface="+mn-lt"/>
                <a:ea typeface="+mn-ea"/>
                <a:cs typeface="+mn-cs"/>
              </a:rPr>
              <a:t>Knowing when to be quiet – many people who deliver tours seem to think their job is to talk ‘all the time’ and this is definitely not the case/requirement. It is important to keep quiet to allow participants to:</a:t>
            </a:r>
          </a:p>
          <a:p>
            <a:pPr marL="628650" lvl="1" indent="-171450">
              <a:buFont typeface="Arial" pitchFamily="34" charset="0"/>
              <a:buChar char="•"/>
            </a:pPr>
            <a:r>
              <a:rPr lang="en-AU" sz="1200" kern="1200" dirty="0" smtClean="0">
                <a:solidFill>
                  <a:schemeClr val="tx1"/>
                </a:solidFill>
                <a:latin typeface="+mn-lt"/>
                <a:ea typeface="+mn-ea"/>
                <a:cs typeface="+mn-cs"/>
              </a:rPr>
              <a:t>Have a break from being talked at/to</a:t>
            </a:r>
          </a:p>
          <a:p>
            <a:pPr marL="628650" lvl="1" indent="-171450">
              <a:buFont typeface="Arial" pitchFamily="34" charset="0"/>
              <a:buChar char="•"/>
            </a:pPr>
            <a:r>
              <a:rPr lang="en-AU" sz="1200" kern="1200" dirty="0" smtClean="0">
                <a:solidFill>
                  <a:schemeClr val="tx1"/>
                </a:solidFill>
                <a:latin typeface="+mn-lt"/>
                <a:ea typeface="+mn-ea"/>
                <a:cs typeface="+mn-cs"/>
              </a:rPr>
              <a:t>Experience the tour in relative peace and quiet</a:t>
            </a:r>
          </a:p>
          <a:p>
            <a:pPr marL="628650" lvl="1" indent="-171450">
              <a:buFont typeface="Arial" pitchFamily="34" charset="0"/>
              <a:buChar char="•"/>
            </a:pPr>
            <a:r>
              <a:rPr lang="en-AU" sz="1200" kern="1200" dirty="0" smtClean="0">
                <a:solidFill>
                  <a:schemeClr val="tx1"/>
                </a:solidFill>
                <a:latin typeface="+mn-lt"/>
                <a:ea typeface="+mn-ea"/>
                <a:cs typeface="+mn-cs"/>
              </a:rPr>
              <a:t>Enjoy the experience on their own</a:t>
            </a:r>
          </a:p>
          <a:p>
            <a:pPr marL="171450" lvl="0" indent="-171450">
              <a:buFont typeface="Arial" pitchFamily="34" charset="0"/>
              <a:buChar char="•"/>
            </a:pPr>
            <a:r>
              <a:rPr lang="en-AU" sz="1200" kern="1200" dirty="0" smtClean="0">
                <a:solidFill>
                  <a:schemeClr val="tx1"/>
                </a:solidFill>
                <a:latin typeface="+mn-lt"/>
                <a:ea typeface="+mn-ea"/>
                <a:cs typeface="+mn-cs"/>
              </a:rPr>
              <a:t>Adjusting the commentary as required – to accommodate:</a:t>
            </a:r>
          </a:p>
          <a:p>
            <a:pPr marL="628650" lvl="1" indent="-171450">
              <a:buFont typeface="Arial" pitchFamily="34" charset="0"/>
              <a:buChar char="•"/>
            </a:pPr>
            <a:r>
              <a:rPr lang="en-AU" sz="1200" kern="1200" dirty="0" smtClean="0">
                <a:solidFill>
                  <a:schemeClr val="tx1"/>
                </a:solidFill>
                <a:latin typeface="+mn-lt"/>
                <a:ea typeface="+mn-ea"/>
                <a:cs typeface="+mn-cs"/>
              </a:rPr>
              <a:t>Identified interest of the group</a:t>
            </a:r>
          </a:p>
          <a:p>
            <a:pPr marL="628650" lvl="1" indent="-171450">
              <a:buFont typeface="Arial" pitchFamily="34" charset="0"/>
              <a:buChar char="•"/>
            </a:pPr>
            <a:r>
              <a:rPr lang="en-AU" sz="1200" kern="1200" dirty="0" smtClean="0">
                <a:solidFill>
                  <a:schemeClr val="tx1"/>
                </a:solidFill>
                <a:latin typeface="+mn-lt"/>
                <a:ea typeface="+mn-ea"/>
                <a:cs typeface="+mn-cs"/>
              </a:rPr>
              <a:t>Emerging events.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86</a:t>
            </a:fld>
            <a:endParaRPr lang="en-US" dirty="0"/>
          </a:p>
        </p:txBody>
      </p:sp>
    </p:spTree>
    <p:extLst>
      <p:ext uri="{BB962C8B-B14F-4D97-AF65-F5344CB8AC3E}">
        <p14:creationId xmlns:p14="http://schemas.microsoft.com/office/powerpoint/2010/main" val="543149250"/>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describing during-tour activities:</a:t>
            </a:r>
          </a:p>
          <a:p>
            <a:r>
              <a:rPr lang="en-AU" sz="1200" b="1" kern="1200" dirty="0" smtClean="0">
                <a:solidFill>
                  <a:schemeClr val="tx1"/>
                </a:solidFill>
                <a:latin typeface="+mn-lt"/>
                <a:ea typeface="+mn-ea"/>
                <a:cs typeface="+mn-cs"/>
              </a:rPr>
              <a:t>Using correct protocols when using communication equipment on tour</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It is common for the following to be standard procedures regarding the use of radios and communication when leading a tour group:</a:t>
            </a:r>
          </a:p>
          <a:p>
            <a:pPr marL="171450" lvl="0" indent="-171450">
              <a:buFont typeface="Arial" pitchFamily="34" charset="0"/>
              <a:buChar char="•"/>
            </a:pPr>
            <a:r>
              <a:rPr lang="en-AU" sz="1200" kern="1200" dirty="0" smtClean="0">
                <a:solidFill>
                  <a:schemeClr val="tx1"/>
                </a:solidFill>
                <a:latin typeface="+mn-lt"/>
                <a:ea typeface="+mn-ea"/>
                <a:cs typeface="+mn-cs"/>
              </a:rPr>
              <a:t>Keeping communication lines clear unless addressing urgent issues </a:t>
            </a:r>
          </a:p>
          <a:p>
            <a:pPr marL="171450" lvl="0" indent="-171450">
              <a:buFont typeface="Arial" pitchFamily="34" charset="0"/>
              <a:buChar char="•"/>
            </a:pPr>
            <a:r>
              <a:rPr lang="en-AU" sz="1200" kern="1200" dirty="0" smtClean="0">
                <a:solidFill>
                  <a:schemeClr val="tx1"/>
                </a:solidFill>
                <a:latin typeface="+mn-lt"/>
                <a:ea typeface="+mn-ea"/>
                <a:cs typeface="+mn-cs"/>
              </a:rPr>
              <a:t>Using designated channels for communication</a:t>
            </a:r>
          </a:p>
          <a:p>
            <a:pPr marL="171450" lvl="0" indent="-171450">
              <a:buFont typeface="Arial" pitchFamily="34" charset="0"/>
              <a:buChar char="•"/>
            </a:pPr>
            <a:r>
              <a:rPr lang="en-AU" sz="1200" kern="1200" dirty="0" smtClean="0">
                <a:solidFill>
                  <a:schemeClr val="tx1"/>
                </a:solidFill>
                <a:latin typeface="+mn-lt"/>
                <a:ea typeface="+mn-ea"/>
                <a:cs typeface="+mn-cs"/>
              </a:rPr>
              <a:t>Using established protocols for:</a:t>
            </a:r>
          </a:p>
          <a:p>
            <a:pPr marL="628650" lvl="1" indent="-171450">
              <a:buFont typeface="Arial" pitchFamily="34" charset="0"/>
              <a:buChar char="•"/>
            </a:pPr>
            <a:r>
              <a:rPr lang="en-AU" sz="1200" kern="1200" dirty="0" smtClean="0">
                <a:solidFill>
                  <a:schemeClr val="tx1"/>
                </a:solidFill>
                <a:latin typeface="+mn-lt"/>
                <a:ea typeface="+mn-ea"/>
                <a:cs typeface="+mn-cs"/>
              </a:rPr>
              <a:t>Responding to a transmission</a:t>
            </a:r>
          </a:p>
          <a:p>
            <a:pPr marL="628650" lvl="1" indent="-171450">
              <a:buFont typeface="Arial" pitchFamily="34" charset="0"/>
              <a:buChar char="•"/>
            </a:pPr>
            <a:r>
              <a:rPr lang="en-AU" sz="1200" kern="1200" dirty="0" smtClean="0">
                <a:solidFill>
                  <a:schemeClr val="tx1"/>
                </a:solidFill>
                <a:latin typeface="+mn-lt"/>
                <a:ea typeface="+mn-ea"/>
                <a:cs typeface="+mn-cs"/>
              </a:rPr>
              <a:t>Sending a transmission</a:t>
            </a:r>
          </a:p>
          <a:p>
            <a:pPr marL="628650" lvl="1" indent="-171450">
              <a:buFont typeface="Arial" pitchFamily="34" charset="0"/>
              <a:buChar char="•"/>
            </a:pPr>
            <a:r>
              <a:rPr lang="en-AU" sz="1200" kern="1200" dirty="0" smtClean="0">
                <a:solidFill>
                  <a:schemeClr val="tx1"/>
                </a:solidFill>
                <a:latin typeface="+mn-lt"/>
                <a:ea typeface="+mn-ea"/>
                <a:cs typeface="+mn-cs"/>
              </a:rPr>
              <a:t>Spelling out a name – using the phonetic alphabet (see following slides)</a:t>
            </a:r>
          </a:p>
          <a:p>
            <a:pPr marL="171450" lvl="0" indent="-171450">
              <a:buFont typeface="Arial" pitchFamily="34" charset="0"/>
              <a:buChar char="•"/>
            </a:pPr>
            <a:r>
              <a:rPr lang="en-AU" sz="1200" kern="1200" dirty="0" smtClean="0">
                <a:solidFill>
                  <a:schemeClr val="tx1"/>
                </a:solidFill>
                <a:latin typeface="+mn-lt"/>
                <a:ea typeface="+mn-ea"/>
                <a:cs typeface="+mn-cs"/>
              </a:rPr>
              <a:t>Knowing emergency transmission words that will give the message priority – ‘Urgent’, or ‘No duff’ </a:t>
            </a:r>
          </a:p>
          <a:p>
            <a:pPr marL="171450" lvl="0" indent="-171450">
              <a:buFont typeface="Arial" pitchFamily="34" charset="0"/>
              <a:buChar char="•"/>
            </a:pPr>
            <a:r>
              <a:rPr lang="en-AU" sz="1200" kern="1200" dirty="0" smtClean="0">
                <a:solidFill>
                  <a:schemeClr val="tx1"/>
                </a:solidFill>
                <a:latin typeface="+mn-lt"/>
                <a:ea typeface="+mn-ea"/>
                <a:cs typeface="+mn-cs"/>
              </a:rPr>
              <a:t>Checking-in as required - at designated times, after completion of designated activities/events, when arriving at a designated location.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noProof="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noProof="0" dirty="0" smtClean="0"/>
              <a:t>Class Activity – Demonstration and Practical</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0" noProof="0" dirty="0" smtClean="0"/>
              <a:t>Trainer demonstrates how to use an assortment of communication equipment</a:t>
            </a:r>
            <a:r>
              <a:rPr lang="en-US" b="0" baseline="0" noProof="0" dirty="0" smtClean="0"/>
              <a:t> and gives students an opportunity to do same.</a:t>
            </a:r>
            <a:endParaRPr lang="en-US" b="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87</a:t>
            </a:fld>
            <a:endParaRPr lang="en-US" dirty="0"/>
          </a:p>
        </p:txBody>
      </p:sp>
    </p:spTree>
    <p:extLst>
      <p:ext uri="{BB962C8B-B14F-4D97-AF65-F5344CB8AC3E}">
        <p14:creationId xmlns:p14="http://schemas.microsoft.com/office/powerpoint/2010/main" val="61155237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describing communication protocols as</a:t>
            </a:r>
            <a:r>
              <a:rPr lang="en-US" baseline="0" noProof="0" dirty="0" smtClean="0"/>
              <a:t> part of </a:t>
            </a:r>
            <a:r>
              <a:rPr lang="en-US" noProof="0" dirty="0" smtClean="0"/>
              <a:t>during-tour activities:</a:t>
            </a:r>
          </a:p>
          <a:p>
            <a:pPr marL="171450" lvl="0" indent="-171450">
              <a:buFont typeface="Arial" pitchFamily="34" charset="0"/>
              <a:buChar char="•"/>
            </a:pPr>
            <a:r>
              <a:rPr lang="en-AU" sz="1200" kern="1200" dirty="0" smtClean="0">
                <a:solidFill>
                  <a:schemeClr val="tx1"/>
                </a:solidFill>
                <a:latin typeface="+mn-lt"/>
                <a:ea typeface="+mn-ea"/>
                <a:cs typeface="+mn-cs"/>
              </a:rPr>
              <a:t>Ensuring transmissions do not talk over other transmissions</a:t>
            </a:r>
          </a:p>
          <a:p>
            <a:pPr marL="171450" lvl="0" indent="-171450">
              <a:buFont typeface="Arial" pitchFamily="34" charset="0"/>
              <a:buChar char="•"/>
            </a:pPr>
            <a:r>
              <a:rPr lang="en-AU" sz="1200" kern="1200" dirty="0" smtClean="0">
                <a:solidFill>
                  <a:schemeClr val="tx1"/>
                </a:solidFill>
                <a:latin typeface="+mn-lt"/>
                <a:ea typeface="+mn-ea"/>
                <a:cs typeface="+mn-cs"/>
              </a:rPr>
              <a:t>Using ‘over’ at the end of each sent transmission</a:t>
            </a:r>
          </a:p>
          <a:p>
            <a:pPr marL="171450" lvl="0" indent="-171450">
              <a:buFont typeface="Arial" pitchFamily="34" charset="0"/>
              <a:buChar char="•"/>
            </a:pPr>
            <a:r>
              <a:rPr lang="en-AU" sz="1200" kern="1200" dirty="0" smtClean="0">
                <a:solidFill>
                  <a:schemeClr val="tx1"/>
                </a:solidFill>
                <a:latin typeface="+mn-lt"/>
                <a:ea typeface="+mn-ea"/>
                <a:cs typeface="+mn-cs"/>
              </a:rPr>
              <a:t>Using ‘go ahead’ to indicate readiness to receive</a:t>
            </a:r>
          </a:p>
          <a:p>
            <a:pPr marL="171450" lvl="0" indent="-171450">
              <a:buFont typeface="Arial" pitchFamily="34" charset="0"/>
              <a:buChar char="•"/>
            </a:pPr>
            <a:r>
              <a:rPr lang="en-AU" sz="1200" kern="1200" dirty="0" smtClean="0">
                <a:solidFill>
                  <a:schemeClr val="tx1"/>
                </a:solidFill>
                <a:latin typeface="+mn-lt"/>
                <a:ea typeface="+mn-ea"/>
                <a:cs typeface="+mn-cs"/>
              </a:rPr>
              <a:t>Identifying self clearly at the start of any transmission sequence – ‘Control, this is Lily, over’</a:t>
            </a:r>
          </a:p>
          <a:p>
            <a:pPr marL="171450" lvl="0" indent="-171450">
              <a:buFont typeface="Arial" pitchFamily="34" charset="0"/>
              <a:buChar char="•"/>
            </a:pPr>
            <a:r>
              <a:rPr lang="en-AU" sz="1200" kern="1200" dirty="0" smtClean="0">
                <a:solidFill>
                  <a:schemeClr val="tx1"/>
                </a:solidFill>
                <a:latin typeface="+mn-lt"/>
                <a:ea typeface="+mn-ea"/>
                <a:cs typeface="+mn-cs"/>
              </a:rPr>
              <a:t>Refraining from swearing or bad language when communicating</a:t>
            </a:r>
          </a:p>
          <a:p>
            <a:pPr marL="171450" lvl="0" indent="-171450">
              <a:buFont typeface="Arial" pitchFamily="34" charset="0"/>
              <a:buChar char="•"/>
            </a:pPr>
            <a:r>
              <a:rPr lang="en-AU" sz="1200" kern="1200" dirty="0" smtClean="0">
                <a:solidFill>
                  <a:schemeClr val="tx1"/>
                </a:solidFill>
                <a:latin typeface="+mn-lt"/>
                <a:ea typeface="+mn-ea"/>
                <a:cs typeface="+mn-cs"/>
              </a:rPr>
              <a:t>Not mentioning matters ‘over the air’ which are sensitive in nature or which could cause panic if heard by a third party.</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noProof="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noProof="0" dirty="0" smtClean="0"/>
              <a:t>Class Activity – Handout and Exercise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0" noProof="0" dirty="0" smtClean="0"/>
              <a:t>Trainer distributes copy of Phonetic alphabet (as contained in Trainee Manual) and asks students to practice by:</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noProof="0" dirty="0" smtClean="0"/>
              <a:t>Spelling out their name and date of birth using the Phonetic alphabet</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0" noProof="0" dirty="0" smtClean="0"/>
              <a:t>Spelling out the name of their home town and country. </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b="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88</a:t>
            </a:fld>
            <a:endParaRPr lang="en-US" dirty="0"/>
          </a:p>
        </p:txBody>
      </p:sp>
    </p:spTree>
    <p:extLst>
      <p:ext uri="{BB962C8B-B14F-4D97-AF65-F5344CB8AC3E}">
        <p14:creationId xmlns:p14="http://schemas.microsoft.com/office/powerpoint/2010/main" val="3975831026"/>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describing during-tour activities: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dirty="0" smtClean="0">
                <a:solidFill>
                  <a:schemeClr val="tx1"/>
                </a:solidFill>
                <a:latin typeface="+mn-lt"/>
                <a:ea typeface="+mn-ea"/>
                <a:cs typeface="+mn-cs"/>
              </a:rPr>
              <a:t>Using appropriate communication techniques</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In relation to delivering a commentary the following are useful communication techniques:</a:t>
            </a:r>
          </a:p>
          <a:p>
            <a:pPr marL="171450" lvl="0" indent="-171450">
              <a:buFont typeface="Arial" pitchFamily="34" charset="0"/>
              <a:buChar char="•"/>
            </a:pPr>
            <a:r>
              <a:rPr lang="en-AU" sz="1200" kern="1200" dirty="0" smtClean="0">
                <a:solidFill>
                  <a:schemeClr val="tx1"/>
                </a:solidFill>
                <a:latin typeface="+mn-lt"/>
                <a:ea typeface="+mn-ea"/>
                <a:cs typeface="+mn-cs"/>
              </a:rPr>
              <a:t>Repeating parts of the commentary – to give those who did not hear the opportunity to listen to what was said</a:t>
            </a:r>
          </a:p>
          <a:p>
            <a:pPr marL="171450" lvl="0" indent="-171450">
              <a:buFont typeface="Arial" pitchFamily="34" charset="0"/>
              <a:buChar char="•"/>
            </a:pPr>
            <a:r>
              <a:rPr lang="en-AU" sz="1200" kern="1200" dirty="0" smtClean="0">
                <a:solidFill>
                  <a:schemeClr val="tx1"/>
                </a:solidFill>
                <a:latin typeface="+mn-lt"/>
                <a:ea typeface="+mn-ea"/>
                <a:cs typeface="+mn-cs"/>
              </a:rPr>
              <a:t>Paraphrasing when there is a lack of understanding – this means repeating what was originally said but using different terms/words</a:t>
            </a:r>
          </a:p>
          <a:p>
            <a:pPr marL="171450" lvl="0" indent="-171450">
              <a:buFont typeface="Arial" pitchFamily="34" charset="0"/>
              <a:buChar char="•"/>
            </a:pPr>
            <a:r>
              <a:rPr lang="en-AU" sz="1200" kern="1200" dirty="0" smtClean="0">
                <a:solidFill>
                  <a:schemeClr val="tx1"/>
                </a:solidFill>
                <a:latin typeface="+mn-lt"/>
                <a:ea typeface="+mn-ea"/>
                <a:cs typeface="+mn-cs"/>
              </a:rPr>
              <a:t>Speaking at a different pace – to match the requirements of the participants and/or their stated needs</a:t>
            </a:r>
          </a:p>
          <a:p>
            <a:pPr marL="171450" lvl="0" indent="-171450">
              <a:buFont typeface="Arial" pitchFamily="34" charset="0"/>
              <a:buChar char="•"/>
            </a:pPr>
            <a:r>
              <a:rPr lang="en-AU" sz="1200" kern="1200" dirty="0" smtClean="0">
                <a:solidFill>
                  <a:schemeClr val="tx1"/>
                </a:solidFill>
                <a:latin typeface="+mn-lt"/>
                <a:ea typeface="+mn-ea"/>
                <a:cs typeface="+mn-cs"/>
              </a:rPr>
              <a:t>Using plenty of pointing and hand gestures – to indicate what is being commented on and to provide guidance and direction</a:t>
            </a:r>
          </a:p>
          <a:p>
            <a:pPr marL="171450" lvl="0" indent="-171450">
              <a:buFont typeface="Arial" pitchFamily="34" charset="0"/>
              <a:buChar char="•"/>
            </a:pPr>
            <a:r>
              <a:rPr lang="en-AU" sz="1200" kern="1200" dirty="0" smtClean="0">
                <a:solidFill>
                  <a:schemeClr val="tx1"/>
                </a:solidFill>
                <a:latin typeface="+mn-lt"/>
                <a:ea typeface="+mn-ea"/>
                <a:cs typeface="+mn-cs"/>
              </a:rPr>
              <a:t>Involving the group – ask them questions; seek their feedback; talk about their feelings and what they are experiencing.</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noProof="0" dirty="0" smtClean="0"/>
          </a:p>
          <a:p>
            <a:pPr>
              <a:buFont typeface="Arial" pitchFamily="34" charset="0"/>
              <a:buNone/>
            </a:pPr>
            <a:r>
              <a:rPr lang="en-US" b="1" noProof="0" dirty="0" smtClean="0"/>
              <a:t>Class Activity – Demonstration/s</a:t>
            </a:r>
          </a:p>
          <a:p>
            <a:pPr>
              <a:buFont typeface="Arial" pitchFamily="34" charset="0"/>
              <a:buNone/>
            </a:pPr>
            <a:r>
              <a:rPr lang="en-US" b="0" noProof="0" dirty="0" smtClean="0"/>
              <a:t>Trainer demonstrates application of relevant points as identified on the slide.</a:t>
            </a:r>
            <a:endParaRPr lang="en-AU" b="0" noProof="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89</a:t>
            </a:fld>
            <a:endParaRPr lang="en-US" dirty="0"/>
          </a:p>
        </p:txBody>
      </p:sp>
    </p:spTree>
    <p:extLst>
      <p:ext uri="{BB962C8B-B14F-4D97-AF65-F5344CB8AC3E}">
        <p14:creationId xmlns:p14="http://schemas.microsoft.com/office/powerpoint/2010/main" val="2236275813"/>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describing communication techniques for use as part of during-tour activities:</a:t>
            </a:r>
          </a:p>
          <a:p>
            <a:pPr marL="171450" lvl="0" indent="-171450">
              <a:buFont typeface="Arial" pitchFamily="34" charset="0"/>
              <a:buChar char="•"/>
            </a:pPr>
            <a:r>
              <a:rPr lang="en-AU" sz="1200" kern="1200" dirty="0" smtClean="0">
                <a:solidFill>
                  <a:schemeClr val="tx1"/>
                </a:solidFill>
                <a:latin typeface="+mn-lt"/>
                <a:ea typeface="+mn-ea"/>
                <a:cs typeface="+mn-cs"/>
              </a:rPr>
              <a:t>Being constantly alert to barriers to communications – and proactively seek to avoid or address them: common barriers are noise and line-of-sight obstacles</a:t>
            </a:r>
          </a:p>
          <a:p>
            <a:pPr marL="171450" lvl="0" indent="-171450">
              <a:buFont typeface="Arial" pitchFamily="34" charset="0"/>
              <a:buChar char="•"/>
            </a:pPr>
            <a:r>
              <a:rPr lang="en-AU" sz="1200" kern="1200" dirty="0" smtClean="0">
                <a:solidFill>
                  <a:schemeClr val="tx1"/>
                </a:solidFill>
                <a:latin typeface="+mn-lt"/>
                <a:ea typeface="+mn-ea"/>
                <a:cs typeface="+mn-cs"/>
              </a:rPr>
              <a:t>Checking for understanding of what was said – options include:</a:t>
            </a:r>
          </a:p>
          <a:p>
            <a:pPr marL="628650" lvl="1" indent="-171450">
              <a:buFont typeface="Arial" pitchFamily="34" charset="0"/>
              <a:buChar char="•"/>
            </a:pPr>
            <a:r>
              <a:rPr lang="en-AU" sz="1200" kern="1200" dirty="0" smtClean="0">
                <a:solidFill>
                  <a:schemeClr val="tx1"/>
                </a:solidFill>
                <a:latin typeface="+mn-lt"/>
                <a:ea typeface="+mn-ea"/>
                <a:cs typeface="+mn-cs"/>
              </a:rPr>
              <a:t>Asking “Did everyone/you understand?”</a:t>
            </a:r>
          </a:p>
          <a:p>
            <a:pPr marL="628650" lvl="1" indent="-171450">
              <a:buFont typeface="Arial" pitchFamily="34" charset="0"/>
              <a:buChar char="•"/>
            </a:pPr>
            <a:r>
              <a:rPr lang="en-AU" sz="1200" kern="1200" dirty="0" smtClean="0">
                <a:solidFill>
                  <a:schemeClr val="tx1"/>
                </a:solidFill>
                <a:latin typeface="+mn-lt"/>
                <a:ea typeface="+mn-ea"/>
                <a:cs typeface="+mn-cs"/>
              </a:rPr>
              <a:t>Being alert to quizzical expressions and looks of bewilderment</a:t>
            </a:r>
          </a:p>
          <a:p>
            <a:pPr marL="628650" lvl="1" indent="-171450">
              <a:buFont typeface="Arial" pitchFamily="34" charset="0"/>
              <a:buChar char="•"/>
            </a:pPr>
            <a:r>
              <a:rPr lang="en-AU" sz="1200" kern="1200" dirty="0" smtClean="0">
                <a:solidFill>
                  <a:schemeClr val="tx1"/>
                </a:solidFill>
                <a:latin typeface="+mn-lt"/>
                <a:ea typeface="+mn-ea"/>
                <a:cs typeface="+mn-cs"/>
              </a:rPr>
              <a:t>Listing for comments from participants “What did he say?”</a:t>
            </a:r>
          </a:p>
          <a:p>
            <a:pPr marL="171450" lvl="0" indent="-171450">
              <a:buFont typeface="Arial" pitchFamily="34" charset="0"/>
              <a:buChar char="•"/>
            </a:pPr>
            <a:r>
              <a:rPr lang="en-AU" sz="1200" kern="1200" dirty="0" smtClean="0">
                <a:solidFill>
                  <a:schemeClr val="tx1"/>
                </a:solidFill>
                <a:latin typeface="+mn-lt"/>
                <a:ea typeface="+mn-ea"/>
                <a:cs typeface="+mn-cs"/>
              </a:rPr>
              <a:t>Increasing the volume of public address and communication technologies – where there is extra noise, the group is larger than normal or they say they are having trouble hearing</a:t>
            </a:r>
          </a:p>
          <a:p>
            <a:pPr marL="171450" lvl="0" indent="-171450">
              <a:buFont typeface="Arial" pitchFamily="34" charset="0"/>
              <a:buChar char="•"/>
            </a:pPr>
            <a:r>
              <a:rPr lang="en-AU" sz="1200" kern="1200" dirty="0" smtClean="0">
                <a:solidFill>
                  <a:schemeClr val="tx1"/>
                </a:solidFill>
                <a:latin typeface="+mn-lt"/>
                <a:ea typeface="+mn-ea"/>
                <a:cs typeface="+mn-cs"/>
              </a:rPr>
              <a:t>Using extra staff – to assist with delivering the commentary to a bigger than normal group</a:t>
            </a:r>
          </a:p>
          <a:p>
            <a:pPr marL="171450" lvl="0" indent="-171450">
              <a:buFont typeface="Arial" pitchFamily="34" charset="0"/>
              <a:buChar char="•"/>
            </a:pPr>
            <a:r>
              <a:rPr lang="en-AU" sz="1200" kern="1200" dirty="0" smtClean="0">
                <a:solidFill>
                  <a:schemeClr val="tx1"/>
                </a:solidFill>
                <a:latin typeface="+mn-lt"/>
                <a:ea typeface="+mn-ea"/>
                <a:cs typeface="+mn-cs"/>
              </a:rPr>
              <a:t>Addressing emotional barriers (distress, pain, intra-group conflict, conflicting personalities) before continuing with commentary.</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noProof="0" dirty="0" smtClean="0"/>
          </a:p>
          <a:p>
            <a:pPr>
              <a:buFont typeface="Arial" pitchFamily="34" charset="0"/>
              <a:buNone/>
            </a:pPr>
            <a:r>
              <a:rPr lang="en-US" b="1" noProof="0" dirty="0" smtClean="0"/>
              <a:t>Class Activity – Demonstration/s</a:t>
            </a:r>
          </a:p>
          <a:p>
            <a:pPr>
              <a:buFont typeface="Arial" pitchFamily="34" charset="0"/>
              <a:buNone/>
            </a:pPr>
            <a:r>
              <a:rPr lang="en-US" b="0" noProof="0" dirty="0" smtClean="0"/>
              <a:t>Trainer demonstrates application of relevant points as identified on the slide.</a:t>
            </a:r>
            <a:endParaRPr lang="en-AU" b="0" noProof="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90</a:t>
            </a:fld>
            <a:endParaRPr lang="en-US" dirty="0"/>
          </a:p>
        </p:txBody>
      </p:sp>
    </p:spTree>
    <p:extLst>
      <p:ext uri="{BB962C8B-B14F-4D97-AF65-F5344CB8AC3E}">
        <p14:creationId xmlns:p14="http://schemas.microsoft.com/office/powerpoint/2010/main" val="2971356510"/>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describing during-tour activities:</a:t>
            </a:r>
          </a:p>
          <a:p>
            <a:r>
              <a:rPr lang="en-AU" sz="1200" b="1" i="0" kern="1200" dirty="0" smtClean="0">
                <a:solidFill>
                  <a:schemeClr val="tx1"/>
                </a:solidFill>
                <a:latin typeface="+mn-lt"/>
                <a:ea typeface="+mn-ea"/>
                <a:cs typeface="+mn-cs"/>
              </a:rPr>
              <a:t>Conducting hands-on activities</a:t>
            </a:r>
          </a:p>
          <a:p>
            <a:r>
              <a:rPr lang="en-AU" sz="1200" b="0" kern="1200" dirty="0" smtClean="0">
                <a:solidFill>
                  <a:schemeClr val="tx1"/>
                </a:solidFill>
                <a:latin typeface="+mn-lt"/>
                <a:ea typeface="+mn-ea"/>
                <a:cs typeface="+mn-cs"/>
              </a:rPr>
              <a:t>For a hands-on activity for the group, points to note are:</a:t>
            </a:r>
            <a:endParaRPr lang="en-AU" sz="1200" b="1" kern="1200" dirty="0" smtClean="0">
              <a:solidFill>
                <a:schemeClr val="tx1"/>
              </a:solidFill>
              <a:latin typeface="+mn-lt"/>
              <a:ea typeface="+mn-ea"/>
              <a:cs typeface="+mn-cs"/>
            </a:endParaRPr>
          </a:p>
          <a:p>
            <a:pPr marL="171450" lvl="0" indent="-171450">
              <a:buFont typeface="Arial" pitchFamily="34" charset="0"/>
              <a:buChar char="•"/>
            </a:pPr>
            <a:r>
              <a:rPr lang="en-AU" sz="1200" kern="1200" dirty="0" smtClean="0">
                <a:solidFill>
                  <a:schemeClr val="tx1"/>
                </a:solidFill>
                <a:latin typeface="+mn-lt"/>
                <a:ea typeface="+mn-ea"/>
                <a:cs typeface="+mn-cs"/>
              </a:rPr>
              <a:t>Understand </a:t>
            </a:r>
            <a:r>
              <a:rPr lang="en-AU" sz="1200" b="1" i="1" kern="1200" dirty="0" smtClean="0">
                <a:solidFill>
                  <a:schemeClr val="tx1"/>
                </a:solidFill>
                <a:latin typeface="+mn-lt"/>
                <a:ea typeface="+mn-ea"/>
                <a:cs typeface="+mn-cs"/>
              </a:rPr>
              <a:t>all</a:t>
            </a:r>
            <a:r>
              <a:rPr lang="en-AU" sz="1200" kern="1200" dirty="0" smtClean="0">
                <a:solidFill>
                  <a:schemeClr val="tx1"/>
                </a:solidFill>
                <a:latin typeface="+mn-lt"/>
                <a:ea typeface="+mn-ea"/>
                <a:cs typeface="+mn-cs"/>
              </a:rPr>
              <a:t> there is to know about the activity – and have some degree of mastery so a useful demonstration can be conducted. </a:t>
            </a:r>
          </a:p>
          <a:p>
            <a:pPr marL="628650" lvl="1" indent="-171450">
              <a:buFont typeface="Arial" pitchFamily="34" charset="0"/>
              <a:buChar char="•"/>
            </a:pPr>
            <a:r>
              <a:rPr lang="en-AU" sz="1200" kern="1200" dirty="0" smtClean="0">
                <a:solidFill>
                  <a:schemeClr val="tx1"/>
                </a:solidFill>
                <a:latin typeface="+mn-lt"/>
                <a:ea typeface="+mn-ea"/>
                <a:cs typeface="+mn-cs"/>
              </a:rPr>
              <a:t>All activities should have been trialled before tour group members are exposed to them</a:t>
            </a:r>
          </a:p>
          <a:p>
            <a:pPr marL="171450" lvl="0" indent="-171450">
              <a:buFont typeface="Arial" pitchFamily="34" charset="0"/>
              <a:buChar char="•"/>
            </a:pPr>
            <a:r>
              <a:rPr lang="en-AU" sz="1200" kern="1200" dirty="0" smtClean="0">
                <a:solidFill>
                  <a:schemeClr val="tx1"/>
                </a:solidFill>
                <a:latin typeface="+mn-lt"/>
                <a:ea typeface="+mn-ea"/>
                <a:cs typeface="+mn-cs"/>
              </a:rPr>
              <a:t>Double-check to ensure management have approved the activity for use – sight the signed approval documentation</a:t>
            </a:r>
          </a:p>
          <a:p>
            <a:pPr marL="171450" lvl="0" indent="-171450">
              <a:buFont typeface="Arial" pitchFamily="34" charset="0"/>
              <a:buChar char="•"/>
            </a:pPr>
            <a:r>
              <a:rPr lang="en-AU" sz="1200" kern="1200" dirty="0" smtClean="0">
                <a:solidFill>
                  <a:schemeClr val="tx1"/>
                </a:solidFill>
                <a:latin typeface="+mn-lt"/>
                <a:ea typeface="+mn-ea"/>
                <a:cs typeface="+mn-cs"/>
              </a:rPr>
              <a:t>Ensure a check is made before the group arrives that any staff involved in the activity are present and ready to help/participate</a:t>
            </a:r>
          </a:p>
          <a:p>
            <a:pPr marL="171450" lvl="0" indent="-171450">
              <a:buFont typeface="Arial" pitchFamily="34" charset="0"/>
              <a:buChar char="•"/>
            </a:pPr>
            <a:r>
              <a:rPr lang="en-AU" sz="1200" kern="1200" dirty="0" smtClean="0">
                <a:solidFill>
                  <a:schemeClr val="tx1"/>
                </a:solidFill>
                <a:latin typeface="+mn-lt"/>
                <a:ea typeface="+mn-ea"/>
                <a:cs typeface="+mn-cs"/>
              </a:rPr>
              <a:t>Deliver the preceding parts of the tour so group arrives at the activity site at the time agreed/arranged with support staff.</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91</a:t>
            </a:fld>
            <a:endParaRPr lang="en-US" dirty="0"/>
          </a:p>
        </p:txBody>
      </p:sp>
    </p:spTree>
    <p:extLst>
      <p:ext uri="{BB962C8B-B14F-4D97-AF65-F5344CB8AC3E}">
        <p14:creationId xmlns:p14="http://schemas.microsoft.com/office/powerpoint/2010/main" val="1682238238"/>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describing conducting hands-on activities as part of during-tour activities:</a:t>
            </a:r>
          </a:p>
          <a:p>
            <a:pPr marL="171450" lvl="0" indent="-171450">
              <a:buFont typeface="Arial" pitchFamily="34" charset="0"/>
              <a:buChar char="•"/>
            </a:pPr>
            <a:r>
              <a:rPr lang="en-AU" sz="1200" kern="1200" dirty="0" smtClean="0">
                <a:solidFill>
                  <a:schemeClr val="tx1"/>
                </a:solidFill>
                <a:latin typeface="+mn-lt"/>
                <a:ea typeface="+mn-ea"/>
                <a:cs typeface="+mn-cs"/>
              </a:rPr>
              <a:t>Conduct a briefing for the activity </a:t>
            </a:r>
          </a:p>
          <a:p>
            <a:pPr marL="171450" lvl="0" indent="-171450">
              <a:buFont typeface="Arial" pitchFamily="34" charset="0"/>
              <a:buChar char="•"/>
            </a:pPr>
            <a:r>
              <a:rPr lang="en-AU" sz="1200" kern="1200" dirty="0" smtClean="0">
                <a:solidFill>
                  <a:schemeClr val="tx1"/>
                </a:solidFill>
                <a:latin typeface="+mn-lt"/>
                <a:ea typeface="+mn-ea"/>
                <a:cs typeface="+mn-cs"/>
              </a:rPr>
              <a:t>Tell people how long the activity lasts for and when the group has to depart the activity location</a:t>
            </a:r>
          </a:p>
          <a:p>
            <a:pPr marL="171450" lvl="0" indent="-171450">
              <a:buFont typeface="Arial" pitchFamily="34" charset="0"/>
              <a:buChar char="•"/>
            </a:pPr>
            <a:r>
              <a:rPr lang="en-AU" sz="1200" kern="1200" dirty="0" smtClean="0">
                <a:solidFill>
                  <a:schemeClr val="tx1"/>
                </a:solidFill>
                <a:latin typeface="+mn-lt"/>
                <a:ea typeface="+mn-ea"/>
                <a:cs typeface="+mn-cs"/>
              </a:rPr>
              <a:t>Ensure all safety aspects are covered – explain any rules which may apply</a:t>
            </a:r>
          </a:p>
          <a:p>
            <a:pPr marL="171450" lvl="0" indent="-171450">
              <a:buFont typeface="Arial" pitchFamily="34" charset="0"/>
              <a:buChar char="•"/>
            </a:pPr>
            <a:r>
              <a:rPr lang="en-AU" sz="1200" kern="1200" dirty="0" smtClean="0">
                <a:solidFill>
                  <a:schemeClr val="tx1"/>
                </a:solidFill>
                <a:latin typeface="+mn-lt"/>
                <a:ea typeface="+mn-ea"/>
                <a:cs typeface="+mn-cs"/>
              </a:rPr>
              <a:t>Hand out safety gear, clothing and equipment – of required: demonstrate how to use it and assist participants to wear/become familiar with it</a:t>
            </a:r>
          </a:p>
          <a:p>
            <a:pPr marL="171450" lvl="0" indent="-171450">
              <a:buFont typeface="Arial" pitchFamily="34" charset="0"/>
              <a:buChar char="•"/>
            </a:pPr>
            <a:r>
              <a:rPr lang="en-AU" sz="1200" kern="1200" dirty="0" smtClean="0">
                <a:solidFill>
                  <a:schemeClr val="tx1"/>
                </a:solidFill>
                <a:latin typeface="+mn-lt"/>
                <a:ea typeface="+mn-ea"/>
                <a:cs typeface="+mn-cs"/>
              </a:rPr>
              <a:t>Distribute and explain the use of equipment, props, tools, equipment as appropriate.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92</a:t>
            </a:fld>
            <a:endParaRPr lang="en-US" dirty="0"/>
          </a:p>
        </p:txBody>
      </p:sp>
    </p:spTree>
    <p:extLst>
      <p:ext uri="{BB962C8B-B14F-4D97-AF65-F5344CB8AC3E}">
        <p14:creationId xmlns:p14="http://schemas.microsoft.com/office/powerpoint/2010/main" val="450587574"/>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describing conducting hands-on activities as part of during-tour activities:</a:t>
            </a:r>
          </a:p>
          <a:p>
            <a:pPr marL="171450" lvl="0" indent="-171450">
              <a:buFont typeface="Arial" pitchFamily="34" charset="0"/>
              <a:buChar char="•"/>
            </a:pPr>
            <a:r>
              <a:rPr lang="en-AU" sz="1200" kern="1200" dirty="0" smtClean="0">
                <a:solidFill>
                  <a:schemeClr val="tx1"/>
                </a:solidFill>
                <a:latin typeface="+mn-lt"/>
                <a:ea typeface="+mn-ea"/>
                <a:cs typeface="+mn-cs"/>
              </a:rPr>
              <a:t>Provide a demonstration – show people how to undertake the activity – give them tips and ‘inside knowledge’/hints about how to succeed, score, achieve the required outcome</a:t>
            </a:r>
          </a:p>
          <a:p>
            <a:pPr marL="628650" lvl="1" indent="-171450">
              <a:buFont typeface="Arial" pitchFamily="34" charset="0"/>
              <a:buChar char="•"/>
            </a:pPr>
            <a:r>
              <a:rPr lang="en-AU" sz="1200" kern="1200" dirty="0" smtClean="0">
                <a:solidFill>
                  <a:schemeClr val="tx1"/>
                </a:solidFill>
                <a:latin typeface="+mn-lt"/>
                <a:ea typeface="+mn-ea"/>
                <a:cs typeface="+mn-cs"/>
              </a:rPr>
              <a:t>People should leave all activities feeling good about themselves, not feeling they are a ‘loser’ or incompetent</a:t>
            </a:r>
          </a:p>
          <a:p>
            <a:pPr marL="171450" lvl="0" indent="-171450">
              <a:buFont typeface="Arial" pitchFamily="34" charset="0"/>
              <a:buChar char="•"/>
            </a:pPr>
            <a:r>
              <a:rPr lang="en-AU" sz="1200" kern="1200" dirty="0" smtClean="0">
                <a:solidFill>
                  <a:schemeClr val="tx1"/>
                </a:solidFill>
                <a:latin typeface="+mn-lt"/>
                <a:ea typeface="+mn-ea"/>
                <a:cs typeface="+mn-cs"/>
              </a:rPr>
              <a:t>Only allow the activity to occur in accordance with pre-prepared guidelines and within established parameters – this highlights the need to monitor and supervise all visitor action/attempts and provide assistance or corrective advice where needed</a:t>
            </a:r>
          </a:p>
          <a:p>
            <a:pPr marL="171450" lvl="0" indent="-171450">
              <a:buFont typeface="Arial" pitchFamily="34" charset="0"/>
              <a:buChar char="•"/>
            </a:pPr>
            <a:r>
              <a:rPr lang="en-AU" sz="1200" kern="1200" dirty="0" smtClean="0">
                <a:solidFill>
                  <a:schemeClr val="tx1"/>
                </a:solidFill>
                <a:latin typeface="+mn-lt"/>
                <a:ea typeface="+mn-ea"/>
                <a:cs typeface="+mn-cs"/>
              </a:rPr>
              <a:t>Always be ready to stop the activity – or intervene – if it is believed someone is in danger or a dangerous situation has arisen</a:t>
            </a:r>
          </a:p>
          <a:p>
            <a:pPr marL="171450" lvl="0" indent="-171450">
              <a:buFont typeface="Arial" pitchFamily="34" charset="0"/>
              <a:buChar char="•"/>
            </a:pPr>
            <a:r>
              <a:rPr lang="en-AU" sz="1200" kern="1200" dirty="0" smtClean="0">
                <a:solidFill>
                  <a:schemeClr val="tx1"/>
                </a:solidFill>
                <a:latin typeface="+mn-lt"/>
                <a:ea typeface="+mn-ea"/>
                <a:cs typeface="+mn-cs"/>
              </a:rPr>
              <a:t>Check the suitability of people to participate – it is a fact of life some tour group members will not be able to undertake some activities due to health or age reasons.</a:t>
            </a:r>
          </a:p>
          <a:p>
            <a:pPr marL="628650" lvl="1" indent="-171450">
              <a:buFont typeface="Arial" pitchFamily="34" charset="0"/>
              <a:buChar char="•"/>
            </a:pPr>
            <a:r>
              <a:rPr lang="en-AU" sz="1200" kern="1200" dirty="0" smtClean="0">
                <a:solidFill>
                  <a:schemeClr val="tx1"/>
                </a:solidFill>
                <a:latin typeface="+mn-lt"/>
                <a:ea typeface="+mn-ea"/>
                <a:cs typeface="+mn-cs"/>
              </a:rPr>
              <a:t>Be tactful when needing to exclude someone from an activity and try to have a substitute available.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93</a:t>
            </a:fld>
            <a:endParaRPr lang="en-US" dirty="0"/>
          </a:p>
        </p:txBody>
      </p:sp>
    </p:spTree>
    <p:extLst>
      <p:ext uri="{BB962C8B-B14F-4D97-AF65-F5344CB8AC3E}">
        <p14:creationId xmlns:p14="http://schemas.microsoft.com/office/powerpoint/2010/main" val="2925298867"/>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describing conducting hands-on activities as part of during-tour activities:</a:t>
            </a:r>
          </a:p>
          <a:p>
            <a:pPr marL="171450" lvl="0" indent="-171450">
              <a:buFont typeface="Arial" pitchFamily="34" charset="0"/>
              <a:buChar char="•"/>
            </a:pPr>
            <a:r>
              <a:rPr lang="en-AU" sz="1200" kern="1200" dirty="0" smtClean="0">
                <a:solidFill>
                  <a:schemeClr val="tx1"/>
                </a:solidFill>
                <a:latin typeface="+mn-lt"/>
                <a:ea typeface="+mn-ea"/>
                <a:cs typeface="+mn-cs"/>
              </a:rPr>
              <a:t>Limit participation to established ‘maximum numbers’ only – where necessary restrict/control the number of tour group members who can participate at any one time</a:t>
            </a:r>
          </a:p>
          <a:p>
            <a:pPr marL="171450" lvl="0" indent="-171450">
              <a:buFont typeface="Arial" pitchFamily="34" charset="0"/>
              <a:buChar char="•"/>
            </a:pPr>
            <a:r>
              <a:rPr lang="en-AU" sz="1200" kern="1200" dirty="0" smtClean="0">
                <a:solidFill>
                  <a:schemeClr val="tx1"/>
                </a:solidFill>
                <a:latin typeface="+mn-lt"/>
                <a:ea typeface="+mn-ea"/>
                <a:cs typeface="+mn-cs"/>
              </a:rPr>
              <a:t>Help people as necessary – be proactive but realise many people like to find their own way thorough new challenges and work things out for themselves: never </a:t>
            </a:r>
            <a:r>
              <a:rPr lang="en-AU" sz="1200" i="1" kern="1200" dirty="0" smtClean="0">
                <a:solidFill>
                  <a:schemeClr val="tx1"/>
                </a:solidFill>
                <a:latin typeface="+mn-lt"/>
                <a:ea typeface="+mn-ea"/>
                <a:cs typeface="+mn-cs"/>
              </a:rPr>
              <a:t>impose</a:t>
            </a:r>
            <a:r>
              <a:rPr lang="en-AU" sz="1200" kern="1200" dirty="0" smtClean="0">
                <a:solidFill>
                  <a:schemeClr val="tx1"/>
                </a:solidFill>
                <a:latin typeface="+mn-lt"/>
                <a:ea typeface="+mn-ea"/>
                <a:cs typeface="+mn-cs"/>
              </a:rPr>
              <a:t> help or force people to accept it</a:t>
            </a:r>
          </a:p>
          <a:p>
            <a:pPr marL="171450" lvl="0" indent="-171450">
              <a:buFont typeface="Arial" pitchFamily="34" charset="0"/>
              <a:buChar char="•"/>
            </a:pPr>
            <a:r>
              <a:rPr lang="en-AU" sz="1200" kern="1200" dirty="0" smtClean="0">
                <a:solidFill>
                  <a:schemeClr val="tx1"/>
                </a:solidFill>
                <a:latin typeface="+mn-lt"/>
                <a:ea typeface="+mn-ea"/>
                <a:cs typeface="+mn-cs"/>
              </a:rPr>
              <a:t>Encourage people as they participate – and recognise competency and effort</a:t>
            </a:r>
          </a:p>
          <a:p>
            <a:pPr marL="171450" lvl="0" indent="-171450">
              <a:buFont typeface="Arial" pitchFamily="34" charset="0"/>
              <a:buChar char="•"/>
            </a:pPr>
            <a:r>
              <a:rPr lang="en-AU" sz="1200" kern="1200" dirty="0" smtClean="0">
                <a:solidFill>
                  <a:schemeClr val="tx1"/>
                </a:solidFill>
                <a:latin typeface="+mn-lt"/>
                <a:ea typeface="+mn-ea"/>
                <a:cs typeface="+mn-cs"/>
              </a:rPr>
              <a:t>Keep track of time – notify people of the up-coming end of the activity so the conclusion of the activity does not come unannounced: finish the activity on time so the tour can resume on time according to the itinerary/schedule</a:t>
            </a:r>
          </a:p>
          <a:p>
            <a:pPr marL="171450" lvl="0" indent="-171450">
              <a:buFont typeface="Arial" pitchFamily="34" charset="0"/>
              <a:buChar char="•"/>
            </a:pPr>
            <a:r>
              <a:rPr lang="en-AU" sz="1200" kern="1200" dirty="0" smtClean="0">
                <a:solidFill>
                  <a:schemeClr val="tx1"/>
                </a:solidFill>
                <a:latin typeface="+mn-lt"/>
                <a:ea typeface="+mn-ea"/>
                <a:cs typeface="+mn-cs"/>
              </a:rPr>
              <a:t>Congratulate participants – and share their excitement and experiences.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noProof="0" dirty="0" smtClean="0"/>
          </a:p>
          <a:p>
            <a:pPr>
              <a:buFont typeface="Arial" pitchFamily="34" charset="0"/>
              <a:buNone/>
            </a:pPr>
            <a:r>
              <a:rPr lang="en-US" b="1" noProof="0" dirty="0" smtClean="0"/>
              <a:t>Class Activity – Demonstration/s</a:t>
            </a:r>
          </a:p>
          <a:p>
            <a:pPr>
              <a:buFont typeface="Arial" pitchFamily="34" charset="0"/>
              <a:buNone/>
            </a:pPr>
            <a:r>
              <a:rPr lang="en-US" b="0" noProof="0" dirty="0" smtClean="0"/>
              <a:t>Trainer demonstrates application of relevant points as identified on the slide.</a:t>
            </a:r>
            <a:endParaRPr lang="en-AU" b="0" noProof="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94</a:t>
            </a:fld>
            <a:endParaRPr lang="en-US" dirty="0"/>
          </a:p>
        </p:txBody>
      </p:sp>
    </p:spTree>
    <p:extLst>
      <p:ext uri="{BB962C8B-B14F-4D97-AF65-F5344CB8AC3E}">
        <p14:creationId xmlns:p14="http://schemas.microsoft.com/office/powerpoint/2010/main" val="1729097267"/>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describing during-tour activities: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noProof="0" dirty="0" smtClean="0"/>
              <a:t>Monitoring group and assessing their needs</a:t>
            </a:r>
          </a:p>
          <a:p>
            <a:r>
              <a:rPr lang="en-AU" sz="1200" kern="1200" dirty="0" smtClean="0">
                <a:solidFill>
                  <a:schemeClr val="tx1"/>
                </a:solidFill>
                <a:latin typeface="+mn-lt"/>
                <a:ea typeface="+mn-ea"/>
                <a:cs typeface="+mn-cs"/>
              </a:rPr>
              <a:t>Tour Guides should pay attention to the following:</a:t>
            </a:r>
          </a:p>
          <a:p>
            <a:pPr marL="171450" lvl="0" indent="-171450">
              <a:buFont typeface="Arial" pitchFamily="34" charset="0"/>
              <a:buChar char="•"/>
            </a:pPr>
            <a:r>
              <a:rPr lang="en-AU" sz="1200" kern="1200" dirty="0" smtClean="0">
                <a:solidFill>
                  <a:schemeClr val="tx1"/>
                </a:solidFill>
                <a:latin typeface="+mn-lt"/>
                <a:ea typeface="+mn-ea"/>
                <a:cs typeface="+mn-cs"/>
              </a:rPr>
              <a:t>Pointing out nearby washroom and rest room facilities – so people can use the toilet or freshen up</a:t>
            </a:r>
          </a:p>
          <a:p>
            <a:pPr marL="171450" lvl="0" indent="-171450">
              <a:buFont typeface="Arial" pitchFamily="34" charset="0"/>
              <a:buChar char="•"/>
            </a:pPr>
            <a:r>
              <a:rPr lang="en-AU" sz="1200" kern="1200" dirty="0" smtClean="0">
                <a:solidFill>
                  <a:schemeClr val="tx1"/>
                </a:solidFill>
                <a:latin typeface="+mn-lt"/>
                <a:ea typeface="+mn-ea"/>
                <a:cs typeface="+mn-cs"/>
              </a:rPr>
              <a:t>Selecting suitable sites for delivering information, commentary or responding to questions or requests – such as a shady or dry spot, or one protected from the wind</a:t>
            </a:r>
          </a:p>
          <a:p>
            <a:pPr marL="171450" lvl="0" indent="-171450">
              <a:buFont typeface="Arial" pitchFamily="34" charset="0"/>
              <a:buChar char="•"/>
            </a:pPr>
            <a:r>
              <a:rPr lang="en-AU" sz="1200" kern="1200" dirty="0" smtClean="0">
                <a:solidFill>
                  <a:schemeClr val="tx1"/>
                </a:solidFill>
                <a:latin typeface="+mn-lt"/>
                <a:ea typeface="+mn-ea"/>
                <a:cs typeface="+mn-cs"/>
              </a:rPr>
              <a:t>Verbally informing people how long (in terms of distance and/or time) until the next stop, site, refreshment stop</a:t>
            </a:r>
          </a:p>
          <a:p>
            <a:pPr marL="171450" lvl="0" indent="-171450">
              <a:buFont typeface="Arial" pitchFamily="34" charset="0"/>
              <a:buChar char="•"/>
            </a:pPr>
            <a:r>
              <a:rPr lang="en-AU" sz="1200" kern="1200" dirty="0" smtClean="0">
                <a:solidFill>
                  <a:schemeClr val="tx1"/>
                </a:solidFill>
                <a:latin typeface="+mn-lt"/>
                <a:ea typeface="+mn-ea"/>
                <a:cs typeface="+mn-cs"/>
              </a:rPr>
              <a:t>Keeping the group together, physically – and not allowing stragglers.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b="0" noProof="0" dirty="0" smtClean="0"/>
          </a:p>
          <a:p>
            <a:pPr>
              <a:buFont typeface="Arial" pitchFamily="34" charset="0"/>
              <a:buNone/>
            </a:pPr>
            <a:r>
              <a:rPr lang="en-US" b="1" noProof="0" dirty="0" smtClean="0"/>
              <a:t>Class Activity – Demonstration/s</a:t>
            </a:r>
          </a:p>
          <a:p>
            <a:pPr>
              <a:buFont typeface="Arial" pitchFamily="34" charset="0"/>
              <a:buNone/>
            </a:pPr>
            <a:r>
              <a:rPr lang="en-US" b="0" noProof="0" dirty="0" smtClean="0"/>
              <a:t>Trainer demonstrates application of relevant points as identified on the slide.</a:t>
            </a:r>
            <a:endParaRPr lang="en-AU" b="0" noProof="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b="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95</a:t>
            </a:fld>
            <a:endParaRPr lang="en-US" dirty="0"/>
          </a:p>
        </p:txBody>
      </p:sp>
    </p:spTree>
    <p:extLst>
      <p:ext uri="{BB962C8B-B14F-4D97-AF65-F5344CB8AC3E}">
        <p14:creationId xmlns:p14="http://schemas.microsoft.com/office/powerpoint/2010/main" val="370560083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describing monitoring group and assessing their needs as part of during-tour activities:</a:t>
            </a:r>
          </a:p>
          <a:p>
            <a:pPr marL="171450" lvl="0" indent="-171450">
              <a:buFont typeface="Arial" pitchFamily="34" charset="0"/>
              <a:buChar char="•"/>
            </a:pPr>
            <a:r>
              <a:rPr lang="en-AU" sz="1200" kern="1200" dirty="0" smtClean="0">
                <a:solidFill>
                  <a:schemeClr val="tx1"/>
                </a:solidFill>
                <a:latin typeface="+mn-lt"/>
                <a:ea typeface="+mn-ea"/>
                <a:cs typeface="+mn-cs"/>
              </a:rPr>
              <a:t>Addressing problems between members of the group – there can be situations where friction exists between members of a tour group and this manifests itself in ways which threaten the harmony and cohesiveness of the group</a:t>
            </a:r>
          </a:p>
          <a:p>
            <a:pPr marL="171450" lvl="0" indent="-171450">
              <a:buFont typeface="Arial" pitchFamily="34" charset="0"/>
              <a:buChar char="•"/>
            </a:pPr>
            <a:r>
              <a:rPr lang="en-AU" sz="1200" kern="1200" dirty="0" smtClean="0">
                <a:solidFill>
                  <a:schemeClr val="tx1"/>
                </a:solidFill>
                <a:latin typeface="+mn-lt"/>
                <a:ea typeface="+mn-ea"/>
                <a:cs typeface="+mn-cs"/>
              </a:rPr>
              <a:t>Asking people to modify their behaviour and/or language – where, for example, their actions are:</a:t>
            </a:r>
          </a:p>
          <a:p>
            <a:pPr marL="628650" lvl="1" indent="-171450">
              <a:buFont typeface="Arial" pitchFamily="34" charset="0"/>
              <a:buChar char="•"/>
            </a:pPr>
            <a:r>
              <a:rPr lang="en-AU" sz="1200" kern="1200" dirty="0" smtClean="0">
                <a:solidFill>
                  <a:schemeClr val="tx1"/>
                </a:solidFill>
                <a:latin typeface="+mn-lt"/>
                <a:ea typeface="+mn-ea"/>
                <a:cs typeface="+mn-cs"/>
              </a:rPr>
              <a:t>Culturally insensitive</a:t>
            </a:r>
          </a:p>
          <a:p>
            <a:pPr marL="628650" lvl="1" indent="-171450">
              <a:buFont typeface="Arial" pitchFamily="34" charset="0"/>
              <a:buChar char="•"/>
            </a:pPr>
            <a:r>
              <a:rPr lang="en-AU" sz="1200" kern="1200" dirty="0" smtClean="0">
                <a:solidFill>
                  <a:schemeClr val="tx1"/>
                </a:solidFill>
                <a:latin typeface="+mn-lt"/>
                <a:ea typeface="+mn-ea"/>
                <a:cs typeface="+mn-cs"/>
              </a:rPr>
              <a:t>Socially unacceptable</a:t>
            </a:r>
          </a:p>
          <a:p>
            <a:pPr marL="628650" lvl="1" indent="-171450">
              <a:buFont typeface="Arial" pitchFamily="34" charset="0"/>
              <a:buChar char="•"/>
            </a:pPr>
            <a:r>
              <a:rPr lang="en-AU" sz="1200" kern="1200" dirty="0" smtClean="0">
                <a:solidFill>
                  <a:schemeClr val="tx1"/>
                </a:solidFill>
                <a:latin typeface="+mn-lt"/>
                <a:ea typeface="+mn-ea"/>
                <a:cs typeface="+mn-cs"/>
              </a:rPr>
              <a:t>Illegal</a:t>
            </a:r>
          </a:p>
          <a:p>
            <a:pPr marL="628650" lvl="1" indent="-171450">
              <a:buFont typeface="Arial" pitchFamily="34" charset="0"/>
              <a:buChar char="•"/>
            </a:pPr>
            <a:r>
              <a:rPr lang="en-AU" sz="1200" kern="1200" dirty="0" smtClean="0">
                <a:solidFill>
                  <a:schemeClr val="tx1"/>
                </a:solidFill>
                <a:latin typeface="+mn-lt"/>
                <a:ea typeface="+mn-ea"/>
                <a:cs typeface="+mn-cs"/>
              </a:rPr>
              <a:t>Threatening or intimidating to others</a:t>
            </a:r>
          </a:p>
          <a:p>
            <a:pPr marL="628650" lvl="1" indent="-171450">
              <a:buFont typeface="Arial" pitchFamily="34" charset="0"/>
              <a:buChar char="•"/>
            </a:pPr>
            <a:r>
              <a:rPr lang="en-AU" sz="1200" kern="1200" dirty="0" smtClean="0">
                <a:solidFill>
                  <a:schemeClr val="tx1"/>
                </a:solidFill>
                <a:latin typeface="+mn-lt"/>
                <a:ea typeface="+mn-ea"/>
                <a:cs typeface="+mn-cs"/>
              </a:rPr>
              <a:t>Causing anxiety, distress or ill-feeling within the group.</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noProof="0" dirty="0" smtClean="0"/>
          </a:p>
          <a:p>
            <a:pPr>
              <a:buFont typeface="Arial" pitchFamily="34" charset="0"/>
              <a:buNone/>
            </a:pPr>
            <a:r>
              <a:rPr lang="en-US" b="1" noProof="0" dirty="0" smtClean="0"/>
              <a:t>Class Activity – Demonstration/s</a:t>
            </a:r>
          </a:p>
          <a:p>
            <a:pPr>
              <a:buFont typeface="Arial" pitchFamily="34" charset="0"/>
              <a:buNone/>
            </a:pPr>
            <a:r>
              <a:rPr lang="en-US" b="0" noProof="0" dirty="0" smtClean="0"/>
              <a:t>Trainer demonstrates application of relevant points as identified on the slide.</a:t>
            </a:r>
            <a:endParaRPr lang="en-AU" b="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96</a:t>
            </a:fld>
            <a:endParaRPr lang="en-US" dirty="0"/>
          </a:p>
        </p:txBody>
      </p:sp>
    </p:spTree>
    <p:extLst>
      <p:ext uri="{BB962C8B-B14F-4D97-AF65-F5344CB8AC3E}">
        <p14:creationId xmlns:p14="http://schemas.microsoft.com/office/powerpoint/2010/main" val="155686740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describing during-tour activities:</a:t>
            </a:r>
          </a:p>
          <a:p>
            <a:r>
              <a:rPr lang="en-AU" sz="1200" b="1" kern="1200" dirty="0" smtClean="0">
                <a:solidFill>
                  <a:schemeClr val="tx1"/>
                </a:solidFill>
                <a:latin typeface="+mn-lt"/>
                <a:ea typeface="+mn-ea"/>
                <a:cs typeface="+mn-cs"/>
              </a:rPr>
              <a:t>Maintaining tour group member interest</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Options for maintaining interest of people on a tour include:</a:t>
            </a:r>
          </a:p>
          <a:p>
            <a:pPr marL="171450" lvl="0" indent="-171450">
              <a:buFont typeface="Arial" pitchFamily="34" charset="0"/>
              <a:buChar char="•"/>
            </a:pPr>
            <a:r>
              <a:rPr lang="en-AU" sz="1200" kern="1200" dirty="0" smtClean="0">
                <a:solidFill>
                  <a:schemeClr val="tx1"/>
                </a:solidFill>
                <a:latin typeface="+mn-lt"/>
                <a:ea typeface="+mn-ea"/>
                <a:cs typeface="+mn-cs"/>
              </a:rPr>
              <a:t>Demonstrating personal passion – see following slides</a:t>
            </a:r>
          </a:p>
          <a:p>
            <a:pPr marL="171450" lvl="0" indent="-171450">
              <a:buFont typeface="Arial" pitchFamily="34" charset="0"/>
              <a:buChar char="•"/>
            </a:pPr>
            <a:r>
              <a:rPr lang="en-AU" sz="1200" kern="1200" dirty="0" smtClean="0">
                <a:solidFill>
                  <a:schemeClr val="tx1"/>
                </a:solidFill>
                <a:latin typeface="+mn-lt"/>
                <a:ea typeface="+mn-ea"/>
                <a:cs typeface="+mn-cs"/>
              </a:rPr>
              <a:t>Tailoring information to the identified needs of the group – while the prepared commentary will/should have done this, it is also essential to do this with ‘issues arising’ throughout the tour such as:</a:t>
            </a:r>
          </a:p>
          <a:p>
            <a:pPr marL="628650" lvl="1" indent="-171450">
              <a:buFont typeface="Arial" pitchFamily="34" charset="0"/>
              <a:buChar char="•"/>
            </a:pPr>
            <a:r>
              <a:rPr lang="en-AU" sz="1200" kern="1200" dirty="0" smtClean="0">
                <a:solidFill>
                  <a:schemeClr val="tx1"/>
                </a:solidFill>
                <a:latin typeface="+mn-lt"/>
                <a:ea typeface="+mn-ea"/>
                <a:cs typeface="+mn-cs"/>
              </a:rPr>
              <a:t>In response to questions; When unexpected events and sights arise</a:t>
            </a:r>
          </a:p>
          <a:p>
            <a:pPr marL="171450" lvl="0" indent="-171450">
              <a:buFont typeface="Arial" pitchFamily="34" charset="0"/>
              <a:buChar char="•"/>
            </a:pPr>
            <a:r>
              <a:rPr lang="en-AU" sz="1200" kern="1200" dirty="0" smtClean="0">
                <a:solidFill>
                  <a:schemeClr val="tx1"/>
                </a:solidFill>
                <a:latin typeface="+mn-lt"/>
                <a:ea typeface="+mn-ea"/>
                <a:cs typeface="+mn-cs"/>
              </a:rPr>
              <a:t>Using a prop kit – for activities and points of interest to add action, excitement, interest and flavour.</a:t>
            </a:r>
          </a:p>
          <a:p>
            <a:pPr marL="628650" lvl="1" indent="-171450">
              <a:buFont typeface="Arial" pitchFamily="34" charset="0"/>
              <a:buChar char="•"/>
            </a:pPr>
            <a:r>
              <a:rPr lang="en-AU" sz="1200" kern="1200" dirty="0" smtClean="0">
                <a:solidFill>
                  <a:schemeClr val="tx1"/>
                </a:solidFill>
                <a:latin typeface="+mn-lt"/>
                <a:ea typeface="+mn-ea"/>
                <a:cs typeface="+mn-cs"/>
              </a:rPr>
              <a:t>Always consider including props which can be given to, and used by, tour group participants as a way of involving and including them</a:t>
            </a:r>
          </a:p>
          <a:p>
            <a:pPr marL="171450" lvl="0" indent="-171450">
              <a:buFont typeface="Arial" pitchFamily="34" charset="0"/>
              <a:buChar char="•"/>
            </a:pPr>
            <a:r>
              <a:rPr lang="en-AU" sz="1200" kern="1200" dirty="0" smtClean="0">
                <a:solidFill>
                  <a:schemeClr val="tx1"/>
                </a:solidFill>
                <a:latin typeface="+mn-lt"/>
                <a:ea typeface="+mn-ea"/>
                <a:cs typeface="+mn-cs"/>
              </a:rPr>
              <a:t>Using variety of approaches – this means ‘mixing it up when providing the commentary through the use of:</a:t>
            </a:r>
          </a:p>
          <a:p>
            <a:pPr marL="628650" lvl="1" indent="-171450">
              <a:buFont typeface="Arial" pitchFamily="34" charset="0"/>
              <a:buChar char="•"/>
            </a:pPr>
            <a:r>
              <a:rPr lang="en-AU" sz="1200" kern="1200" dirty="0" smtClean="0">
                <a:solidFill>
                  <a:schemeClr val="tx1"/>
                </a:solidFill>
                <a:latin typeface="+mn-lt"/>
                <a:ea typeface="+mn-ea"/>
                <a:cs typeface="+mn-cs"/>
              </a:rPr>
              <a:t>Humour; Statistics; Questions; Personal anecdotes and experiences</a:t>
            </a:r>
          </a:p>
          <a:p>
            <a:pPr marL="171450" lvl="0" indent="-171450">
              <a:buFont typeface="Arial" pitchFamily="34" charset="0"/>
              <a:buChar char="•"/>
            </a:pPr>
            <a:r>
              <a:rPr lang="en-AU" sz="1200" kern="1200" dirty="0" smtClean="0">
                <a:solidFill>
                  <a:schemeClr val="tx1"/>
                </a:solidFill>
                <a:latin typeface="+mn-lt"/>
                <a:ea typeface="+mn-ea"/>
                <a:cs typeface="+mn-cs"/>
              </a:rPr>
              <a:t>Highlighting unexpected occurrences and including them in the commentary – and integrating them into the prepared commentary</a:t>
            </a:r>
          </a:p>
          <a:p>
            <a:pPr marL="171450" lvl="0" indent="-171450">
              <a:buFont typeface="Arial" pitchFamily="34" charset="0"/>
              <a:buChar char="•"/>
            </a:pPr>
            <a:r>
              <a:rPr lang="en-AU" sz="1200" kern="1200" dirty="0" smtClean="0">
                <a:solidFill>
                  <a:schemeClr val="tx1"/>
                </a:solidFill>
                <a:latin typeface="+mn-lt"/>
                <a:ea typeface="+mn-ea"/>
                <a:cs typeface="+mn-cs"/>
              </a:rPr>
              <a:t>Interacting with tour group members – through personal exchanges and questions, sharing experiences and feelings: many complaints about a tour guide relate to their failure to mix with people, talk to/with them, and/or to demonstrate engagement with them</a:t>
            </a:r>
          </a:p>
          <a:p>
            <a:pPr>
              <a:buFont typeface="Arial" pitchFamily="34" charset="0"/>
              <a:buNone/>
            </a:pPr>
            <a:endParaRPr lang="en-US" noProof="0" dirty="0" smtClean="0"/>
          </a:p>
          <a:p>
            <a:pPr>
              <a:buFont typeface="Arial" pitchFamily="34" charset="0"/>
              <a:buNone/>
            </a:pPr>
            <a:r>
              <a:rPr lang="en-US" b="1" noProof="0" dirty="0" smtClean="0"/>
              <a:t>Class Activity – Demonstration/s</a:t>
            </a:r>
          </a:p>
          <a:p>
            <a:pPr>
              <a:buFont typeface="Arial" pitchFamily="34" charset="0"/>
              <a:buNone/>
            </a:pPr>
            <a:r>
              <a:rPr lang="en-US" b="0" noProof="0" dirty="0" smtClean="0"/>
              <a:t>Trainer demonstrates application of relevant points as identified on the slide.</a:t>
            </a:r>
            <a:endParaRPr lang="en-AU" b="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97</a:t>
            </a:fld>
            <a:endParaRPr lang="en-US" dirty="0"/>
          </a:p>
        </p:txBody>
      </p:sp>
    </p:spTree>
    <p:extLst>
      <p:ext uri="{BB962C8B-B14F-4D97-AF65-F5344CB8AC3E}">
        <p14:creationId xmlns:p14="http://schemas.microsoft.com/office/powerpoint/2010/main" val="4984233"/>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describing maintaining interest as part of during-tour activities:</a:t>
            </a:r>
          </a:p>
          <a:p>
            <a:pPr marL="171450" lvl="0" indent="-171450">
              <a:buFont typeface="Arial" pitchFamily="34" charset="0"/>
              <a:buChar char="•"/>
            </a:pPr>
            <a:r>
              <a:rPr lang="en-AU" sz="1200" kern="1200" dirty="0" smtClean="0">
                <a:solidFill>
                  <a:schemeClr val="tx1"/>
                </a:solidFill>
                <a:latin typeface="+mn-lt"/>
                <a:ea typeface="+mn-ea"/>
                <a:cs typeface="+mn-cs"/>
              </a:rPr>
              <a:t>Improvising the commentary – by incorporating topics of current interest to the group as identified through interaction with them</a:t>
            </a:r>
          </a:p>
          <a:p>
            <a:pPr marL="628650" lvl="1" indent="-171450">
              <a:buFont typeface="Arial" pitchFamily="34" charset="0"/>
              <a:buChar char="•"/>
            </a:pPr>
            <a:r>
              <a:rPr lang="en-AU" sz="1200" kern="1200" dirty="0" smtClean="0">
                <a:solidFill>
                  <a:schemeClr val="tx1"/>
                </a:solidFill>
                <a:latin typeface="+mn-lt"/>
                <a:ea typeface="+mn-ea"/>
                <a:cs typeface="+mn-cs"/>
              </a:rPr>
              <a:t>This highlights the need to develop the ability to ‘think on your feet’ and adjust commentaries ‘on the fly’ to accommodate issues and preferences arising during the tour</a:t>
            </a:r>
          </a:p>
          <a:p>
            <a:pPr marL="171450" lvl="0" indent="-171450">
              <a:buFont typeface="Arial" pitchFamily="34" charset="0"/>
              <a:buChar char="•"/>
            </a:pPr>
            <a:r>
              <a:rPr lang="en-AU" sz="1200" kern="1200" dirty="0" smtClean="0">
                <a:solidFill>
                  <a:schemeClr val="tx1"/>
                </a:solidFill>
                <a:latin typeface="+mn-lt"/>
                <a:ea typeface="+mn-ea"/>
                <a:cs typeface="+mn-cs"/>
              </a:rPr>
              <a:t>Striving to deliver excellent service at all times regardless of the problems or situations which present themselves – this involves:</a:t>
            </a:r>
          </a:p>
          <a:p>
            <a:pPr marL="628650" lvl="1" indent="-171450">
              <a:buFont typeface="Arial" pitchFamily="34" charset="0"/>
              <a:buChar char="•"/>
            </a:pPr>
            <a:r>
              <a:rPr lang="en-AU" sz="1200" kern="1200" dirty="0" smtClean="0">
                <a:solidFill>
                  <a:schemeClr val="tx1"/>
                </a:solidFill>
                <a:latin typeface="+mn-lt"/>
                <a:ea typeface="+mn-ea"/>
                <a:cs typeface="+mn-cs"/>
              </a:rPr>
              <a:t>Turning negative circumstances into positive demonstrations of good service, wherever possible</a:t>
            </a:r>
          </a:p>
          <a:p>
            <a:pPr marL="628650" lvl="1" indent="-171450">
              <a:buFont typeface="Arial" pitchFamily="34" charset="0"/>
              <a:buChar char="•"/>
            </a:pPr>
            <a:r>
              <a:rPr lang="en-AU" sz="1200" kern="1200" dirty="0" smtClean="0">
                <a:solidFill>
                  <a:schemeClr val="tx1"/>
                </a:solidFill>
                <a:latin typeface="+mn-lt"/>
                <a:ea typeface="+mn-ea"/>
                <a:cs typeface="+mn-cs"/>
              </a:rPr>
              <a:t>Asking people to do things, rather than </a:t>
            </a:r>
            <a:r>
              <a:rPr lang="en-AU" sz="1200" i="1" kern="1200" dirty="0" smtClean="0">
                <a:solidFill>
                  <a:schemeClr val="tx1"/>
                </a:solidFill>
                <a:latin typeface="+mn-lt"/>
                <a:ea typeface="+mn-ea"/>
                <a:cs typeface="+mn-cs"/>
              </a:rPr>
              <a:t>telling</a:t>
            </a:r>
            <a:r>
              <a:rPr lang="en-AU" sz="1200" kern="1200" dirty="0" smtClean="0">
                <a:solidFill>
                  <a:schemeClr val="tx1"/>
                </a:solidFill>
                <a:latin typeface="+mn-lt"/>
                <a:ea typeface="+mn-ea"/>
                <a:cs typeface="+mn-cs"/>
              </a:rPr>
              <a:t> them</a:t>
            </a:r>
          </a:p>
          <a:p>
            <a:pPr marL="628650" lvl="1" indent="-171450">
              <a:buFont typeface="Arial" pitchFamily="34" charset="0"/>
              <a:buChar char="•"/>
            </a:pPr>
            <a:r>
              <a:rPr lang="en-AU" sz="1200" kern="1200" dirty="0" smtClean="0">
                <a:solidFill>
                  <a:schemeClr val="tx1"/>
                </a:solidFill>
                <a:latin typeface="+mn-lt"/>
                <a:ea typeface="+mn-ea"/>
                <a:cs typeface="+mn-cs"/>
              </a:rPr>
              <a:t>Smiling</a:t>
            </a:r>
          </a:p>
          <a:p>
            <a:pPr marL="628650" lvl="1" indent="-171450">
              <a:buFont typeface="Arial" pitchFamily="34" charset="0"/>
              <a:buChar char="•"/>
            </a:pPr>
            <a:r>
              <a:rPr lang="en-AU" sz="1200" kern="1200" dirty="0" smtClean="0">
                <a:solidFill>
                  <a:schemeClr val="tx1"/>
                </a:solidFill>
                <a:latin typeface="+mn-lt"/>
                <a:ea typeface="+mn-ea"/>
                <a:cs typeface="+mn-cs"/>
              </a:rPr>
              <a:t>Treating tour group members as individuals and not as a ‘herd’</a:t>
            </a:r>
          </a:p>
          <a:p>
            <a:pPr marL="628650" lvl="1" indent="-171450">
              <a:buFont typeface="Arial" pitchFamily="34" charset="0"/>
              <a:buChar char="•"/>
            </a:pPr>
            <a:r>
              <a:rPr lang="en-AU" sz="1200" kern="1200" dirty="0" smtClean="0">
                <a:solidFill>
                  <a:schemeClr val="tx1"/>
                </a:solidFill>
                <a:latin typeface="+mn-lt"/>
                <a:ea typeface="+mn-ea"/>
                <a:cs typeface="+mn-cs"/>
              </a:rPr>
              <a:t>Responding to requests where possible – and explaining why not when requests cannot be met</a:t>
            </a:r>
          </a:p>
          <a:p>
            <a:pPr marL="628650" lvl="1" indent="-171450">
              <a:buFont typeface="Arial" pitchFamily="34" charset="0"/>
              <a:buChar char="•"/>
            </a:pPr>
            <a:r>
              <a:rPr lang="en-AU" sz="1200" kern="1200" dirty="0" smtClean="0">
                <a:solidFill>
                  <a:schemeClr val="tx1"/>
                </a:solidFill>
                <a:latin typeface="+mn-lt"/>
                <a:ea typeface="+mn-ea"/>
                <a:cs typeface="+mn-cs"/>
              </a:rPr>
              <a:t>Being polite and courteous</a:t>
            </a:r>
          </a:p>
          <a:p>
            <a:pPr marL="628650" lvl="1" indent="-171450">
              <a:buFont typeface="Arial" pitchFamily="34" charset="0"/>
              <a:buChar char="•"/>
            </a:pPr>
            <a:r>
              <a:rPr lang="en-AU" sz="1200" kern="1200" dirty="0" smtClean="0">
                <a:solidFill>
                  <a:schemeClr val="tx1"/>
                </a:solidFill>
                <a:latin typeface="+mn-lt"/>
                <a:ea typeface="+mn-ea"/>
                <a:cs typeface="+mn-cs"/>
              </a:rPr>
              <a:t>Keeping promises made about the tour – such as the route, activities, inclusions and duration</a:t>
            </a:r>
          </a:p>
          <a:p>
            <a:pPr marL="628650" lvl="1" indent="-171450">
              <a:buFont typeface="Arial" pitchFamily="34" charset="0"/>
              <a:buChar char="•"/>
            </a:pPr>
            <a:r>
              <a:rPr lang="en-AU" sz="1200" kern="1200" dirty="0" smtClean="0">
                <a:solidFill>
                  <a:schemeClr val="tx1"/>
                </a:solidFill>
                <a:latin typeface="+mn-lt"/>
                <a:ea typeface="+mn-ea"/>
                <a:cs typeface="+mn-cs"/>
              </a:rPr>
              <a:t>Providing relevant, accurate, timely and informative commentary and comments</a:t>
            </a:r>
          </a:p>
          <a:p>
            <a:pPr marL="628650" lvl="1" indent="-171450">
              <a:buFont typeface="Arial" pitchFamily="34" charset="0"/>
              <a:buChar char="•"/>
            </a:pPr>
            <a:r>
              <a:rPr lang="en-AU" sz="1200" kern="1200" dirty="0" smtClean="0">
                <a:solidFill>
                  <a:schemeClr val="tx1"/>
                </a:solidFill>
                <a:latin typeface="+mn-lt"/>
                <a:ea typeface="+mn-ea"/>
                <a:cs typeface="+mn-cs"/>
              </a:rPr>
              <a:t>Keeping tour group members informed about the need to change planned/schedules activities – explaining the reasons why and (where possible) substituting a suitable alternative</a:t>
            </a:r>
          </a:p>
          <a:p>
            <a:pPr marL="171450" lvl="0" indent="-171450">
              <a:buFont typeface="Arial" pitchFamily="34" charset="0"/>
              <a:buChar char="•"/>
            </a:pPr>
            <a:r>
              <a:rPr lang="en-AU" sz="1200" kern="1200" dirty="0" smtClean="0">
                <a:solidFill>
                  <a:schemeClr val="tx1"/>
                </a:solidFill>
                <a:latin typeface="+mn-lt"/>
                <a:ea typeface="+mn-ea"/>
                <a:cs typeface="+mn-cs"/>
              </a:rPr>
              <a:t>Demonstrating interest in tour group members – and their past, current and future experiences: where they have been, what they are doing now and where they are going and what they will be doing tomorrow/next week.</a:t>
            </a:r>
          </a:p>
          <a:p>
            <a:pPr>
              <a:buFont typeface="Arial" pitchFamily="34" charset="0"/>
              <a:buNone/>
            </a:pPr>
            <a:endParaRPr lang="en-US" noProof="0" dirty="0" smtClean="0"/>
          </a:p>
          <a:p>
            <a:pPr>
              <a:buFont typeface="Arial" pitchFamily="34" charset="0"/>
              <a:buNone/>
            </a:pPr>
            <a:r>
              <a:rPr lang="en-US" b="1" noProof="0" dirty="0" smtClean="0"/>
              <a:t>Class Activity – Demonstration/s</a:t>
            </a:r>
          </a:p>
          <a:p>
            <a:pPr>
              <a:buFont typeface="Arial" pitchFamily="34" charset="0"/>
              <a:buNone/>
            </a:pPr>
            <a:r>
              <a:rPr lang="en-US" b="0" noProof="0" dirty="0" smtClean="0"/>
              <a:t>Trainer demonstrates application of relevant points as identified on the slide.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98</a:t>
            </a:fld>
            <a:endParaRPr lang="en-US" dirty="0"/>
          </a:p>
        </p:txBody>
      </p:sp>
    </p:spTree>
    <p:extLst>
      <p:ext uri="{BB962C8B-B14F-4D97-AF65-F5344CB8AC3E}">
        <p14:creationId xmlns:p14="http://schemas.microsoft.com/office/powerpoint/2010/main" val="1658693088"/>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describing during-tour activities:</a:t>
            </a:r>
          </a:p>
          <a:p>
            <a:r>
              <a:rPr lang="en-AU" sz="1200" b="1" kern="1200" dirty="0" smtClean="0">
                <a:solidFill>
                  <a:schemeClr val="tx1"/>
                </a:solidFill>
                <a:latin typeface="+mn-lt"/>
                <a:ea typeface="+mn-ea"/>
                <a:cs typeface="+mn-cs"/>
              </a:rPr>
              <a:t>Accommodating needs and wishes of the group</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Considering the needs and wishes of participants may include allowing for:</a:t>
            </a:r>
          </a:p>
          <a:p>
            <a:pPr marL="171450" lvl="0" indent="-171450">
              <a:buFont typeface="Arial" pitchFamily="34" charset="0"/>
              <a:buChar char="•"/>
            </a:pPr>
            <a:r>
              <a:rPr lang="en-AU" sz="1200" kern="1200" dirty="0" smtClean="0">
                <a:solidFill>
                  <a:schemeClr val="tx1"/>
                </a:solidFill>
                <a:latin typeface="+mn-lt"/>
                <a:ea typeface="+mn-ea"/>
                <a:cs typeface="+mn-cs"/>
              </a:rPr>
              <a:t>Quiet time – to allow people time to relax and savour a view or experience</a:t>
            </a:r>
          </a:p>
          <a:p>
            <a:pPr marL="171450" lvl="0" indent="-171450">
              <a:buFont typeface="Arial" pitchFamily="34" charset="0"/>
              <a:buChar char="•"/>
            </a:pPr>
            <a:r>
              <a:rPr lang="en-AU" sz="1200" kern="1200" dirty="0" smtClean="0">
                <a:solidFill>
                  <a:schemeClr val="tx1"/>
                </a:solidFill>
                <a:latin typeface="+mn-lt"/>
                <a:ea typeface="+mn-ea"/>
                <a:cs typeface="+mn-cs"/>
              </a:rPr>
              <a:t>Free time – for tour group members to do their own thing: most tour group members will want some time to do what they want as opposed to doing what has been organised for them</a:t>
            </a:r>
          </a:p>
          <a:p>
            <a:pPr marL="171450" lvl="0" indent="-171450">
              <a:buFont typeface="Arial" pitchFamily="34" charset="0"/>
              <a:buChar char="•"/>
            </a:pPr>
            <a:r>
              <a:rPr lang="en-AU" sz="1200" kern="1200" dirty="0" smtClean="0">
                <a:solidFill>
                  <a:schemeClr val="tx1"/>
                </a:solidFill>
                <a:latin typeface="+mn-lt"/>
                <a:ea typeface="+mn-ea"/>
                <a:cs typeface="+mn-cs"/>
              </a:rPr>
              <a:t>A time for people to chat – this may involve chatting amongst themselves, chatting with other people they meet on the tour (locals, shop keepers, other venue staff) or chatting with their Tour Guide</a:t>
            </a:r>
          </a:p>
          <a:p>
            <a:pPr marL="171450" lvl="0" indent="-171450">
              <a:buFont typeface="Arial" pitchFamily="34" charset="0"/>
              <a:buChar char="•"/>
            </a:pPr>
            <a:r>
              <a:rPr lang="en-AU" sz="1200" kern="1200" dirty="0" smtClean="0">
                <a:solidFill>
                  <a:schemeClr val="tx1"/>
                </a:solidFill>
                <a:latin typeface="+mn-lt"/>
                <a:ea typeface="+mn-ea"/>
                <a:cs typeface="+mn-cs"/>
              </a:rPr>
              <a:t>Personal enjoyment of site – this is time enabling tour group members to enjoy the tour as best suits them, rather than as imposed by the tour schedule/itinerary</a:t>
            </a:r>
          </a:p>
          <a:p>
            <a:pPr marL="628650" lvl="1" indent="-171450">
              <a:buFont typeface="Arial" pitchFamily="34" charset="0"/>
              <a:buChar char="•"/>
            </a:pPr>
            <a:r>
              <a:rPr lang="en-AU" sz="1200" kern="1200" dirty="0" smtClean="0">
                <a:solidFill>
                  <a:schemeClr val="tx1"/>
                </a:solidFill>
                <a:latin typeface="+mn-lt"/>
                <a:ea typeface="+mn-ea"/>
                <a:cs typeface="+mn-cs"/>
              </a:rPr>
              <a:t>Some people will prefer a passive orientation where they simply watch and listen while other will want a more active approach where they want to interact with people and activities</a:t>
            </a:r>
          </a:p>
          <a:p>
            <a:pPr marL="171450" lvl="0" indent="-171450">
              <a:buFont typeface="Arial" pitchFamily="34" charset="0"/>
              <a:buChar char="•"/>
            </a:pPr>
            <a:r>
              <a:rPr lang="en-AU" sz="1200" kern="1200" dirty="0" smtClean="0">
                <a:solidFill>
                  <a:schemeClr val="tx1"/>
                </a:solidFill>
                <a:latin typeface="+mn-lt"/>
                <a:ea typeface="+mn-ea"/>
                <a:cs typeface="+mn-cs"/>
              </a:rPr>
              <a:t>Tour group members to have a rest – it is important to monitor the group regarding rest breaks and vital to understand the Tour Guide’s level of fitness does not dictate the requirements </a:t>
            </a:r>
            <a:r>
              <a:rPr lang="en-AU" sz="1200" i="1" kern="1200" dirty="0" smtClean="0">
                <a:solidFill>
                  <a:schemeClr val="tx1"/>
                </a:solidFill>
                <a:latin typeface="+mn-lt"/>
                <a:ea typeface="+mn-ea"/>
                <a:cs typeface="+mn-cs"/>
              </a:rPr>
              <a:t>participants</a:t>
            </a:r>
            <a:r>
              <a:rPr lang="en-AU" sz="1200" kern="1200" dirty="0" smtClean="0">
                <a:solidFill>
                  <a:schemeClr val="tx1"/>
                </a:solidFill>
                <a:latin typeface="+mn-lt"/>
                <a:ea typeface="+mn-ea"/>
                <a:cs typeface="+mn-cs"/>
              </a:rPr>
              <a:t> have to rest and recuperate</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99</a:t>
            </a:fld>
            <a:endParaRPr lang="en-US" dirty="0"/>
          </a:p>
        </p:txBody>
      </p:sp>
    </p:spTree>
    <p:extLst>
      <p:ext uri="{BB962C8B-B14F-4D97-AF65-F5344CB8AC3E}">
        <p14:creationId xmlns:p14="http://schemas.microsoft.com/office/powerpoint/2010/main" val="284380365"/>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addressing accommodating needs and wishes of group as part of during-tour activities:</a:t>
            </a:r>
          </a:p>
          <a:p>
            <a:pPr marL="171450" lvl="0" indent="-171450">
              <a:buFont typeface="Arial" pitchFamily="34" charset="0"/>
              <a:buChar char="•"/>
            </a:pPr>
            <a:r>
              <a:rPr lang="en-AU" sz="1200" kern="1200" dirty="0" smtClean="0">
                <a:solidFill>
                  <a:schemeClr val="tx1"/>
                </a:solidFill>
                <a:latin typeface="+mn-lt"/>
                <a:ea typeface="+mn-ea"/>
                <a:cs typeface="+mn-cs"/>
              </a:rPr>
              <a:t>Photo opportunities – always be alert to the need for people to take photographs to record their experience. Many of these ‘photo opportunities’ are predictable and will remain the same for every tour but there are always unique moments which can arise where people wish to capture the moment. Not being able to take photographs to suit individual need is a major source of complaint/dissatisfaction so be aware of the need to facilitate this. Be prepared, for example to:</a:t>
            </a:r>
          </a:p>
          <a:p>
            <a:pPr marL="628650" lvl="1" indent="-171450">
              <a:buFont typeface="Arial" pitchFamily="34" charset="0"/>
              <a:buChar char="•"/>
            </a:pPr>
            <a:r>
              <a:rPr lang="en-AU" sz="1200" kern="1200" dirty="0" smtClean="0">
                <a:solidFill>
                  <a:schemeClr val="tx1"/>
                </a:solidFill>
                <a:latin typeface="+mn-lt"/>
                <a:ea typeface="+mn-ea"/>
                <a:cs typeface="+mn-cs"/>
              </a:rPr>
              <a:t>Allow extra time where everyone is taking photographs – if there is a need to save time to keep the tour on schedule try to save it somewhere else and not at the expense of restricting photos taken by the group</a:t>
            </a:r>
          </a:p>
          <a:p>
            <a:pPr marL="628650" lvl="1" indent="-171450">
              <a:buFont typeface="Arial" pitchFamily="34" charset="0"/>
              <a:buChar char="•"/>
            </a:pPr>
            <a:r>
              <a:rPr lang="en-AU" sz="1200" kern="1200" dirty="0" smtClean="0">
                <a:solidFill>
                  <a:schemeClr val="tx1"/>
                </a:solidFill>
                <a:latin typeface="+mn-lt"/>
                <a:ea typeface="+mn-ea"/>
                <a:cs typeface="+mn-cs"/>
              </a:rPr>
              <a:t>Offer to take photographs for individuals – so they can be ‘in the photo’</a:t>
            </a:r>
          </a:p>
          <a:p>
            <a:pPr marL="628650" lvl="1" indent="-171450">
              <a:buFont typeface="Arial" pitchFamily="34" charset="0"/>
              <a:buChar char="•"/>
            </a:pPr>
            <a:r>
              <a:rPr lang="en-AU" sz="1200" kern="1200" dirty="0" smtClean="0">
                <a:solidFill>
                  <a:schemeClr val="tx1"/>
                </a:solidFill>
                <a:latin typeface="+mn-lt"/>
                <a:ea typeface="+mn-ea"/>
                <a:cs typeface="+mn-cs"/>
              </a:rPr>
              <a:t>Be part of the photo – many people will want their Tour Guide  to be part of their photograph</a:t>
            </a:r>
          </a:p>
          <a:p>
            <a:pPr marL="628650" lvl="1" indent="-171450">
              <a:buFont typeface="Arial" pitchFamily="34" charset="0"/>
              <a:buChar char="•"/>
            </a:pPr>
            <a:r>
              <a:rPr lang="en-AU" sz="1200" kern="1200" dirty="0" smtClean="0">
                <a:solidFill>
                  <a:schemeClr val="tx1"/>
                </a:solidFill>
                <a:latin typeface="+mn-lt"/>
                <a:ea typeface="+mn-ea"/>
                <a:cs typeface="+mn-cs"/>
              </a:rPr>
              <a:t>Assist with the photo – be holding bags and other items</a:t>
            </a:r>
          </a:p>
          <a:p>
            <a:pPr marL="171450" lvl="0" indent="-171450">
              <a:buFont typeface="Arial" pitchFamily="34" charset="0"/>
              <a:buChar char="•"/>
            </a:pPr>
            <a:r>
              <a:rPr lang="en-AU" sz="1200" kern="1200" dirty="0" smtClean="0">
                <a:solidFill>
                  <a:schemeClr val="tx1"/>
                </a:solidFill>
                <a:latin typeface="+mn-lt"/>
                <a:ea typeface="+mn-ea"/>
                <a:cs typeface="+mn-cs"/>
              </a:rPr>
              <a:t>‘Up close and personal’ opportunities – tour group members expect many things of those who deliver tours and one of their main expectations is the presence of a Tour Guide will gain them access to things which are not available to people  who are not on a tour. This means they may request: </a:t>
            </a:r>
          </a:p>
          <a:p>
            <a:pPr marL="628650" lvl="1" indent="-171450">
              <a:buFont typeface="Arial" pitchFamily="34" charset="0"/>
              <a:buChar char="•"/>
            </a:pPr>
            <a:r>
              <a:rPr lang="en-AU" sz="1200" kern="1200" dirty="0" smtClean="0">
                <a:solidFill>
                  <a:schemeClr val="tx1"/>
                </a:solidFill>
                <a:latin typeface="+mn-lt"/>
                <a:ea typeface="+mn-ea"/>
                <a:cs typeface="+mn-cs"/>
              </a:rPr>
              <a:t>A meeting with other staff/people at the site or venue</a:t>
            </a:r>
          </a:p>
          <a:p>
            <a:pPr marL="628650" lvl="1" indent="-171450">
              <a:buFont typeface="Arial" pitchFamily="34" charset="0"/>
              <a:buChar char="•"/>
            </a:pPr>
            <a:r>
              <a:rPr lang="en-AU" sz="1200" kern="1200" dirty="0" smtClean="0">
                <a:solidFill>
                  <a:schemeClr val="tx1"/>
                </a:solidFill>
                <a:latin typeface="+mn-lt"/>
                <a:ea typeface="+mn-ea"/>
                <a:cs typeface="+mn-cs"/>
              </a:rPr>
              <a:t>Access to areas which are ‘off limits’ to other people/those who are not part of a tour</a:t>
            </a:r>
          </a:p>
          <a:p>
            <a:pPr marL="628650" lvl="1" indent="-171450">
              <a:buFont typeface="Arial" pitchFamily="34" charset="0"/>
              <a:buChar char="•"/>
            </a:pPr>
            <a:r>
              <a:rPr lang="en-AU" sz="1200" kern="1200" dirty="0" smtClean="0">
                <a:solidFill>
                  <a:schemeClr val="tx1"/>
                </a:solidFill>
                <a:latin typeface="+mn-lt"/>
                <a:ea typeface="+mn-ea"/>
                <a:cs typeface="+mn-cs"/>
              </a:rPr>
              <a:t>Introductions to and/or more contact (effectively, more time) with people/other staff who are available – so they can talk more with the, ask them questions and/or watch them at work</a:t>
            </a:r>
          </a:p>
          <a:p>
            <a:pPr marL="628650" lvl="1" indent="-171450">
              <a:buFont typeface="Arial" pitchFamily="34" charset="0"/>
              <a:buChar char="•"/>
            </a:pPr>
            <a:r>
              <a:rPr lang="en-AU" sz="1200" kern="1200" dirty="0" smtClean="0">
                <a:solidFill>
                  <a:schemeClr val="tx1"/>
                </a:solidFill>
                <a:latin typeface="+mn-lt"/>
                <a:ea typeface="+mn-ea"/>
                <a:cs typeface="+mn-cs"/>
              </a:rPr>
              <a:t> Special photo opportunities with (for example) animals, characters or unique sights</a:t>
            </a:r>
          </a:p>
          <a:p>
            <a:pPr marL="171450" lvl="0" indent="-171450">
              <a:buFont typeface="Arial" pitchFamily="34" charset="0"/>
              <a:buChar char="•"/>
            </a:pPr>
            <a:r>
              <a:rPr lang="en-AU" sz="1200" kern="1200" dirty="0" smtClean="0">
                <a:solidFill>
                  <a:schemeClr val="tx1"/>
                </a:solidFill>
                <a:latin typeface="+mn-lt"/>
                <a:ea typeface="+mn-ea"/>
                <a:cs typeface="+mn-cs"/>
              </a:rPr>
              <a:t>Preferential treatment – this often relates to ‘small things’ but things which are important to the tour group members, such as:</a:t>
            </a:r>
          </a:p>
          <a:p>
            <a:pPr marL="628650" lvl="1" indent="-171450">
              <a:buFont typeface="Arial" pitchFamily="34" charset="0"/>
              <a:buChar char="•"/>
            </a:pPr>
            <a:r>
              <a:rPr lang="en-AU" sz="1200" kern="1200" dirty="0" smtClean="0">
                <a:solidFill>
                  <a:schemeClr val="tx1"/>
                </a:solidFill>
                <a:latin typeface="+mn-lt"/>
                <a:ea typeface="+mn-ea"/>
                <a:cs typeface="+mn-cs"/>
              </a:rPr>
              <a:t>Being served first when meals are taken – as opposed to having to queue in line with the general public</a:t>
            </a:r>
          </a:p>
          <a:p>
            <a:pPr marL="628650" lvl="1" indent="-171450">
              <a:buFont typeface="Arial" pitchFamily="34" charset="0"/>
              <a:buChar char="•"/>
            </a:pPr>
            <a:r>
              <a:rPr lang="en-AU" sz="1200" kern="1200" dirty="0" smtClean="0">
                <a:solidFill>
                  <a:schemeClr val="tx1"/>
                </a:solidFill>
                <a:latin typeface="+mn-lt"/>
                <a:ea typeface="+mn-ea"/>
                <a:cs typeface="+mn-cs"/>
              </a:rPr>
              <a:t>Being able to sit together for meals/refreshments – as opposed to having to take whatever seats are available</a:t>
            </a:r>
          </a:p>
          <a:p>
            <a:pPr marL="628650" lvl="1" indent="-171450">
              <a:buFont typeface="Arial" pitchFamily="34" charset="0"/>
              <a:buChar char="•"/>
            </a:pPr>
            <a:r>
              <a:rPr lang="en-AU" sz="1200" kern="1200" dirty="0" smtClean="0">
                <a:solidFill>
                  <a:schemeClr val="tx1"/>
                </a:solidFill>
                <a:latin typeface="+mn-lt"/>
                <a:ea typeface="+mn-ea"/>
                <a:cs typeface="+mn-cs"/>
              </a:rPr>
              <a:t>Being given the ‘best’ seats’ when dining – seats with the best view, least disruption by pedestrian traffic</a:t>
            </a:r>
          </a:p>
          <a:p>
            <a:pPr marL="628650" lvl="1" indent="-171450">
              <a:buFont typeface="Arial" pitchFamily="34" charset="0"/>
              <a:buChar char="•"/>
            </a:pPr>
            <a:r>
              <a:rPr lang="en-AU" sz="1200" kern="1200" dirty="0" smtClean="0">
                <a:solidFill>
                  <a:schemeClr val="tx1"/>
                </a:solidFill>
                <a:latin typeface="+mn-lt"/>
                <a:ea typeface="+mn-ea"/>
                <a:cs typeface="+mn-cs"/>
              </a:rPr>
              <a:t>Going to the front of lines/queues for rides, activities, displays, events etc</a:t>
            </a:r>
          </a:p>
          <a:p>
            <a:pPr marL="628650" lvl="1" indent="-171450">
              <a:buFont typeface="Arial" pitchFamily="34" charset="0"/>
              <a:buChar char="•"/>
            </a:pPr>
            <a:r>
              <a:rPr lang="en-AU" sz="1200" kern="1200" dirty="0" smtClean="0">
                <a:solidFill>
                  <a:schemeClr val="tx1"/>
                </a:solidFill>
                <a:latin typeface="+mn-lt"/>
                <a:ea typeface="+mn-ea"/>
                <a:cs typeface="+mn-cs"/>
              </a:rPr>
              <a:t>Being loaded first onto transport so they can ‘sit with each other’ and get the ‘best seats’.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100</a:t>
            </a:fld>
            <a:endParaRPr lang="en-US" dirty="0"/>
          </a:p>
        </p:txBody>
      </p:sp>
    </p:spTree>
    <p:extLst>
      <p:ext uri="{BB962C8B-B14F-4D97-AF65-F5344CB8AC3E}">
        <p14:creationId xmlns:p14="http://schemas.microsoft.com/office/powerpoint/2010/main" val="121601007"/>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describing during-tour activities: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dirty="0" smtClean="0">
                <a:solidFill>
                  <a:schemeClr val="tx1"/>
                </a:solidFill>
                <a:latin typeface="+mn-lt"/>
                <a:ea typeface="+mn-ea"/>
                <a:cs typeface="+mn-cs"/>
              </a:rPr>
              <a:t>Counting participants</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Techniques to assist with counting tour group members include:</a:t>
            </a:r>
          </a:p>
          <a:p>
            <a:pPr marL="171450" lvl="0" indent="-171450">
              <a:buFont typeface="Arial" pitchFamily="34" charset="0"/>
              <a:buChar char="•"/>
            </a:pPr>
            <a:r>
              <a:rPr lang="en-AU" sz="1200" kern="1200" dirty="0" smtClean="0">
                <a:solidFill>
                  <a:schemeClr val="tx1"/>
                </a:solidFill>
                <a:latin typeface="+mn-lt"/>
                <a:ea typeface="+mn-ea"/>
                <a:cs typeface="+mn-cs"/>
              </a:rPr>
              <a:t>Being certain of the starting number when the tour departed – as this is the reference point for the checks</a:t>
            </a:r>
          </a:p>
          <a:p>
            <a:pPr marL="171450" lvl="0" indent="-171450">
              <a:buFont typeface="Arial" pitchFamily="34" charset="0"/>
              <a:buChar char="•"/>
            </a:pPr>
            <a:r>
              <a:rPr lang="en-AU" sz="1200" kern="1200" dirty="0" smtClean="0">
                <a:solidFill>
                  <a:schemeClr val="tx1"/>
                </a:solidFill>
                <a:latin typeface="+mn-lt"/>
                <a:ea typeface="+mn-ea"/>
                <a:cs typeface="+mn-cs"/>
              </a:rPr>
              <a:t>Updating records (manifests, passenger list) if a person notifies they are electing to quit the tour – tour group members usually have the right to leave a tour whenever they want to. The fact they have started the tour does not compel or obligate them to finish it.</a:t>
            </a:r>
          </a:p>
          <a:p>
            <a:pPr marL="171450" lvl="0" indent="-171450">
              <a:buFont typeface="Arial" pitchFamily="34" charset="0"/>
              <a:buChar char="•"/>
            </a:pPr>
            <a:r>
              <a:rPr lang="en-AU" sz="1200" kern="1200" dirty="0" smtClean="0">
                <a:solidFill>
                  <a:schemeClr val="tx1"/>
                </a:solidFill>
                <a:latin typeface="+mn-lt"/>
                <a:ea typeface="+mn-ea"/>
                <a:cs typeface="+mn-cs"/>
              </a:rPr>
              <a:t>Doing a physical head count of participants when the group arrives at a pre-determined head count point – this can involve:</a:t>
            </a:r>
          </a:p>
          <a:p>
            <a:pPr marL="171450" lvl="0" indent="-171450">
              <a:buFont typeface="Arial" pitchFamily="34" charset="0"/>
              <a:buChar char="•"/>
            </a:pPr>
            <a:r>
              <a:rPr lang="en-AU" sz="1200" kern="1200" dirty="0" smtClean="0">
                <a:solidFill>
                  <a:schemeClr val="tx1"/>
                </a:solidFill>
                <a:latin typeface="+mn-lt"/>
                <a:ea typeface="+mn-ea"/>
                <a:cs typeface="+mn-cs"/>
              </a:rPr>
              <a:t>Physically counting people as they stand or sit.</a:t>
            </a:r>
          </a:p>
          <a:p>
            <a:pPr>
              <a:buFont typeface="Arial" pitchFamily="34" charset="0"/>
              <a:buNone/>
            </a:pPr>
            <a:endParaRPr lang="en-US" noProof="0" dirty="0" smtClean="0"/>
          </a:p>
          <a:p>
            <a:pPr>
              <a:buFont typeface="Arial" pitchFamily="34" charset="0"/>
              <a:buNone/>
            </a:pPr>
            <a:r>
              <a:rPr lang="en-US" b="1" noProof="0" dirty="0" smtClean="0"/>
              <a:t>Class Activity – Demonstration/s</a:t>
            </a:r>
          </a:p>
          <a:p>
            <a:pPr>
              <a:buFont typeface="Arial" pitchFamily="34" charset="0"/>
              <a:buNone/>
            </a:pPr>
            <a:r>
              <a:rPr lang="en-US" b="0" noProof="0" dirty="0" smtClean="0"/>
              <a:t>Trainer demonstrates application of relevant points as identified on the slide.</a:t>
            </a:r>
            <a:endParaRPr lang="en-AU" b="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101</a:t>
            </a:fld>
            <a:endParaRPr lang="en-US" dirty="0"/>
          </a:p>
        </p:txBody>
      </p:sp>
    </p:spTree>
    <p:extLst>
      <p:ext uri="{BB962C8B-B14F-4D97-AF65-F5344CB8AC3E}">
        <p14:creationId xmlns:p14="http://schemas.microsoft.com/office/powerpoint/2010/main" val="747565652"/>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describing counting participants as part of during-tour activities:</a:t>
            </a:r>
          </a:p>
          <a:p>
            <a:pPr marL="171450" lvl="0" indent="-171450">
              <a:buFont typeface="Arial" pitchFamily="34" charset="0"/>
              <a:buChar char="•"/>
            </a:pPr>
            <a:r>
              <a:rPr lang="en-AU" sz="1200" kern="1200" dirty="0" smtClean="0">
                <a:solidFill>
                  <a:schemeClr val="tx1"/>
                </a:solidFill>
                <a:latin typeface="+mn-lt"/>
                <a:ea typeface="+mn-ea"/>
                <a:cs typeface="+mn-cs"/>
              </a:rPr>
              <a:t>Asking people to respond to a roll call using the manifest or passenger list as the basis</a:t>
            </a:r>
          </a:p>
          <a:p>
            <a:pPr marL="171450" lvl="0" indent="-171450">
              <a:buFont typeface="Arial" pitchFamily="34" charset="0"/>
              <a:buChar char="•"/>
            </a:pPr>
            <a:r>
              <a:rPr lang="en-AU" sz="1200" kern="1200" dirty="0" smtClean="0">
                <a:solidFill>
                  <a:schemeClr val="tx1"/>
                </a:solidFill>
                <a:latin typeface="+mn-lt"/>
                <a:ea typeface="+mn-ea"/>
                <a:cs typeface="+mn-cs"/>
              </a:rPr>
              <a:t>Standing by the entry door of a vehicle and checking people as they re-board after a visiting/viewing experience – and ticking them off against the manifest</a:t>
            </a:r>
          </a:p>
          <a:p>
            <a:pPr marL="171450" lvl="0" indent="-171450">
              <a:buFont typeface="Arial" pitchFamily="34" charset="0"/>
              <a:buChar char="•"/>
            </a:pPr>
            <a:r>
              <a:rPr lang="en-AU" sz="1200" kern="1200" dirty="0" smtClean="0">
                <a:solidFill>
                  <a:schemeClr val="tx1"/>
                </a:solidFill>
                <a:latin typeface="+mn-lt"/>
                <a:ea typeface="+mn-ea"/>
                <a:cs typeface="+mn-cs"/>
              </a:rPr>
              <a:t>Counting the number of seats filled on the bus when people have re-boarded – 45 participants should equate to 45 seats filled</a:t>
            </a:r>
          </a:p>
          <a:p>
            <a:pPr marL="171450" lvl="0" indent="-171450">
              <a:buFont typeface="Arial" pitchFamily="34" charset="0"/>
              <a:buChar char="•"/>
            </a:pPr>
            <a:r>
              <a:rPr lang="en-AU" sz="1200" kern="1200" dirty="0" smtClean="0">
                <a:solidFill>
                  <a:schemeClr val="tx1"/>
                </a:solidFill>
                <a:latin typeface="+mn-lt"/>
                <a:ea typeface="+mn-ea"/>
                <a:cs typeface="+mn-cs"/>
              </a:rPr>
              <a:t>Asking tour group members a question “Is everyone here? Can you please check to see we are all here.” – this:</a:t>
            </a:r>
          </a:p>
          <a:p>
            <a:pPr marL="628650" lvl="1" indent="-171450">
              <a:buFont typeface="Arial" pitchFamily="34" charset="0"/>
              <a:buChar char="•"/>
            </a:pPr>
            <a:r>
              <a:rPr lang="en-AU" sz="1200" kern="1200" dirty="0" smtClean="0">
                <a:solidFill>
                  <a:schemeClr val="tx1"/>
                </a:solidFill>
                <a:latin typeface="+mn-lt"/>
                <a:ea typeface="+mn-ea"/>
                <a:cs typeface="+mn-cs"/>
              </a:rPr>
              <a:t>Is an extremely effective approach</a:t>
            </a:r>
          </a:p>
          <a:p>
            <a:pPr marL="628650" lvl="1" indent="-171450">
              <a:buFont typeface="Arial" pitchFamily="34" charset="0"/>
              <a:buChar char="•"/>
            </a:pPr>
            <a:r>
              <a:rPr lang="en-AU" sz="1200" kern="1200" dirty="0" smtClean="0">
                <a:solidFill>
                  <a:schemeClr val="tx1"/>
                </a:solidFill>
                <a:latin typeface="+mn-lt"/>
                <a:ea typeface="+mn-ea"/>
                <a:cs typeface="+mn-cs"/>
              </a:rPr>
              <a:t>Should be accompanied by a supplementary check</a:t>
            </a:r>
          </a:p>
          <a:p>
            <a:pPr marL="171450" indent="-171450">
              <a:buFont typeface="Arial" pitchFamily="34" charset="0"/>
              <a:buChar char="•"/>
            </a:pPr>
            <a:r>
              <a:rPr lang="en-AU" sz="1200" kern="1200" dirty="0" smtClean="0">
                <a:solidFill>
                  <a:schemeClr val="tx1"/>
                </a:solidFill>
                <a:latin typeface="+mn-lt"/>
                <a:ea typeface="+mn-ea"/>
                <a:cs typeface="+mn-cs"/>
              </a:rPr>
              <a:t>Always recording the count to demonstrate ‘due diligence’ – recording:</a:t>
            </a:r>
          </a:p>
          <a:p>
            <a:pPr marL="628650" lvl="1" indent="-171450">
              <a:buFont typeface="Arial" pitchFamily="34" charset="0"/>
              <a:buChar char="•"/>
            </a:pPr>
            <a:r>
              <a:rPr lang="en-AU" sz="1200" kern="1200" dirty="0" smtClean="0">
                <a:solidFill>
                  <a:schemeClr val="tx1"/>
                </a:solidFill>
                <a:latin typeface="+mn-lt"/>
                <a:ea typeface="+mn-ea"/>
                <a:cs typeface="+mn-cs"/>
              </a:rPr>
              <a:t>Pax</a:t>
            </a:r>
          </a:p>
          <a:p>
            <a:pPr marL="628650" lvl="1" indent="-171450">
              <a:buFont typeface="Arial" pitchFamily="34" charset="0"/>
              <a:buChar char="•"/>
            </a:pPr>
            <a:r>
              <a:rPr lang="en-AU" sz="1200" kern="1200" dirty="0" smtClean="0">
                <a:solidFill>
                  <a:schemeClr val="tx1"/>
                </a:solidFill>
                <a:latin typeface="+mn-lt"/>
                <a:ea typeface="+mn-ea"/>
                <a:cs typeface="+mn-cs"/>
              </a:rPr>
              <a:t>Time</a:t>
            </a:r>
          </a:p>
          <a:p>
            <a:pPr marL="628650" lvl="1" indent="-171450">
              <a:buFont typeface="Arial" pitchFamily="34" charset="0"/>
              <a:buChar char="•"/>
            </a:pPr>
            <a:r>
              <a:rPr lang="en-AU" sz="1200" kern="1200" dirty="0" smtClean="0">
                <a:solidFill>
                  <a:schemeClr val="tx1"/>
                </a:solidFill>
                <a:latin typeface="+mn-lt"/>
                <a:ea typeface="+mn-ea"/>
                <a:cs typeface="+mn-cs"/>
              </a:rPr>
              <a:t>Location.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noProof="0" dirty="0" smtClean="0"/>
          </a:p>
          <a:p>
            <a:pPr>
              <a:buFont typeface="Arial" pitchFamily="34" charset="0"/>
              <a:buNone/>
            </a:pPr>
            <a:r>
              <a:rPr lang="en-US" b="1" noProof="0" dirty="0" smtClean="0"/>
              <a:t>Class Activity – Demonstration/s</a:t>
            </a:r>
          </a:p>
          <a:p>
            <a:pPr>
              <a:buFont typeface="Arial" pitchFamily="34" charset="0"/>
              <a:buNone/>
            </a:pPr>
            <a:r>
              <a:rPr lang="en-US" b="0" noProof="0" dirty="0" smtClean="0"/>
              <a:t>Trainer demonstrates application of relevant points as identified on the slide.</a:t>
            </a:r>
            <a:endParaRPr lang="en-AU" b="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102</a:t>
            </a:fld>
            <a:endParaRPr lang="en-US" dirty="0"/>
          </a:p>
        </p:txBody>
      </p:sp>
    </p:spTree>
    <p:extLst>
      <p:ext uri="{BB962C8B-B14F-4D97-AF65-F5344CB8AC3E}">
        <p14:creationId xmlns:p14="http://schemas.microsoft.com/office/powerpoint/2010/main" val="1716944472"/>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describing during-tour activities:</a:t>
            </a:r>
          </a:p>
          <a:p>
            <a:r>
              <a:rPr lang="en-AU" sz="1200" b="1" i="0" kern="1200" dirty="0" smtClean="0">
                <a:solidFill>
                  <a:schemeClr val="tx1"/>
                </a:solidFill>
                <a:latin typeface="+mn-lt"/>
                <a:ea typeface="+mn-ea"/>
                <a:cs typeface="+mn-cs"/>
              </a:rPr>
              <a:t>Implementing company policies when tour group members are unaccounted for</a:t>
            </a:r>
            <a:endParaRPr lang="en-AU" sz="1200" i="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Company policies will commonly require action covering several of the following points:</a:t>
            </a:r>
          </a:p>
          <a:p>
            <a:pPr marL="171450" lvl="0" indent="-171450">
              <a:buFont typeface="Arial" pitchFamily="34" charset="0"/>
              <a:buChar char="•"/>
            </a:pPr>
            <a:r>
              <a:rPr lang="en-AU" sz="1200" kern="1200" dirty="0" smtClean="0">
                <a:solidFill>
                  <a:schemeClr val="tx1"/>
                </a:solidFill>
                <a:latin typeface="+mn-lt"/>
                <a:ea typeface="+mn-ea"/>
                <a:cs typeface="+mn-cs"/>
              </a:rPr>
              <a:t>Halt the tour</a:t>
            </a:r>
          </a:p>
          <a:p>
            <a:pPr marL="171450" lvl="0" indent="-171450">
              <a:buFont typeface="Arial" pitchFamily="34" charset="0"/>
              <a:buChar char="•"/>
            </a:pPr>
            <a:r>
              <a:rPr lang="en-AU" sz="1200" kern="1200" dirty="0" smtClean="0">
                <a:solidFill>
                  <a:schemeClr val="tx1"/>
                </a:solidFill>
                <a:latin typeface="+mn-lt"/>
                <a:ea typeface="+mn-ea"/>
                <a:cs typeface="+mn-cs"/>
              </a:rPr>
              <a:t>Conduct a re-count</a:t>
            </a:r>
          </a:p>
          <a:p>
            <a:pPr marL="171450" lvl="0" indent="-171450">
              <a:buFont typeface="Arial" pitchFamily="34" charset="0"/>
              <a:buChar char="•"/>
            </a:pPr>
            <a:r>
              <a:rPr lang="en-AU" sz="1200" kern="1200" dirty="0" smtClean="0">
                <a:solidFill>
                  <a:schemeClr val="tx1"/>
                </a:solidFill>
                <a:latin typeface="+mn-lt"/>
                <a:ea typeface="+mn-ea"/>
                <a:cs typeface="+mn-cs"/>
              </a:rPr>
              <a:t>Identify number of people missing and names of same</a:t>
            </a:r>
          </a:p>
          <a:p>
            <a:pPr marL="171450" lvl="0" indent="-171450">
              <a:buFont typeface="Arial" pitchFamily="34" charset="0"/>
              <a:buChar char="•"/>
            </a:pPr>
            <a:r>
              <a:rPr lang="en-AU" sz="1200" kern="1200" dirty="0" smtClean="0">
                <a:solidFill>
                  <a:schemeClr val="tx1"/>
                </a:solidFill>
                <a:latin typeface="+mn-lt"/>
                <a:ea typeface="+mn-ea"/>
                <a:cs typeface="+mn-cs"/>
              </a:rPr>
              <a:t>Notify management, head office, site supervisor, the control room or security staff – and advise of the situation identifying:</a:t>
            </a:r>
          </a:p>
          <a:p>
            <a:pPr marL="628650" lvl="1" indent="-171450">
              <a:buFont typeface="Arial" pitchFamily="34" charset="0"/>
              <a:buChar char="•"/>
            </a:pPr>
            <a:r>
              <a:rPr lang="en-AU" sz="1200" kern="1200" dirty="0" smtClean="0">
                <a:solidFill>
                  <a:schemeClr val="tx1"/>
                </a:solidFill>
                <a:latin typeface="+mn-lt"/>
                <a:ea typeface="+mn-ea"/>
                <a:cs typeface="+mn-cs"/>
              </a:rPr>
              <a:t>Number/s missing</a:t>
            </a:r>
          </a:p>
          <a:p>
            <a:pPr marL="628650" lvl="1" indent="-171450">
              <a:buFont typeface="Arial" pitchFamily="34" charset="0"/>
              <a:buChar char="•"/>
            </a:pPr>
            <a:r>
              <a:rPr lang="en-AU" sz="1200" kern="1200" dirty="0" smtClean="0">
                <a:solidFill>
                  <a:schemeClr val="tx1"/>
                </a:solidFill>
                <a:latin typeface="+mn-lt"/>
                <a:ea typeface="+mn-ea"/>
                <a:cs typeface="+mn-cs"/>
              </a:rPr>
              <a:t>Names of those missing</a:t>
            </a:r>
          </a:p>
          <a:p>
            <a:pPr marL="628650" lvl="1" indent="-171450">
              <a:buFont typeface="Arial" pitchFamily="34" charset="0"/>
              <a:buChar char="•"/>
            </a:pPr>
            <a:r>
              <a:rPr lang="en-AU" sz="1200" kern="1200" dirty="0" smtClean="0">
                <a:solidFill>
                  <a:schemeClr val="tx1"/>
                </a:solidFill>
                <a:latin typeface="+mn-lt"/>
                <a:ea typeface="+mn-ea"/>
                <a:cs typeface="+mn-cs"/>
              </a:rPr>
              <a:t>Location</a:t>
            </a:r>
          </a:p>
          <a:p>
            <a:pPr marL="628650" lvl="1" indent="-171450">
              <a:buFont typeface="Arial" pitchFamily="34" charset="0"/>
              <a:buChar char="•"/>
            </a:pPr>
            <a:r>
              <a:rPr lang="en-AU" sz="1200" kern="1200" dirty="0" smtClean="0">
                <a:solidFill>
                  <a:schemeClr val="tx1"/>
                </a:solidFill>
                <a:latin typeface="+mn-lt"/>
                <a:ea typeface="+mn-ea"/>
                <a:cs typeface="+mn-cs"/>
              </a:rPr>
              <a:t>Time missing person was identified </a:t>
            </a:r>
          </a:p>
          <a:p>
            <a:pPr marL="628650" lvl="1" indent="-171450">
              <a:buFont typeface="Arial" pitchFamily="34" charset="0"/>
              <a:buChar char="•"/>
            </a:pPr>
            <a:r>
              <a:rPr lang="en-AU" sz="1200" kern="1200" dirty="0" smtClean="0">
                <a:solidFill>
                  <a:schemeClr val="tx1"/>
                </a:solidFill>
                <a:latin typeface="+mn-lt"/>
                <a:ea typeface="+mn-ea"/>
                <a:cs typeface="+mn-cs"/>
              </a:rPr>
              <a:t>Checks to-date to confirm absence of person/s.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103</a:t>
            </a:fld>
            <a:endParaRPr lang="en-US" dirty="0"/>
          </a:p>
        </p:txBody>
      </p:sp>
    </p:spTree>
    <p:extLst>
      <p:ext uri="{BB962C8B-B14F-4D97-AF65-F5344CB8AC3E}">
        <p14:creationId xmlns:p14="http://schemas.microsoft.com/office/powerpoint/2010/main" val="3276558527"/>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describing implementation protocols in response to missing person as part of during-tour activities:</a:t>
            </a:r>
          </a:p>
          <a:p>
            <a:pPr marL="171450" lvl="0" indent="-171450">
              <a:buFont typeface="Arial" pitchFamily="34" charset="0"/>
              <a:buChar char="•"/>
            </a:pPr>
            <a:r>
              <a:rPr lang="en-AU" sz="1200" kern="1200" dirty="0" smtClean="0">
                <a:solidFill>
                  <a:schemeClr val="tx1"/>
                </a:solidFill>
                <a:latin typeface="+mn-lt"/>
                <a:ea typeface="+mn-ea"/>
                <a:cs typeface="+mn-cs"/>
              </a:rPr>
              <a:t>Request other tour group members not to move/move away – this is to:</a:t>
            </a:r>
          </a:p>
          <a:p>
            <a:pPr marL="628650" lvl="1" indent="-171450">
              <a:buFont typeface="Arial" pitchFamily="34" charset="0"/>
              <a:buChar char="•"/>
            </a:pPr>
            <a:r>
              <a:rPr lang="en-AU" sz="1200" kern="1200" dirty="0" smtClean="0">
                <a:solidFill>
                  <a:schemeClr val="tx1"/>
                </a:solidFill>
                <a:latin typeface="+mn-lt"/>
                <a:ea typeface="+mn-ea"/>
                <a:cs typeface="+mn-cs"/>
              </a:rPr>
              <a:t>Ensure a bad situation does not get worse by having more people wander off/go missing</a:t>
            </a:r>
          </a:p>
          <a:p>
            <a:pPr marL="628650" lvl="1" indent="-171450">
              <a:buFont typeface="Arial" pitchFamily="34" charset="0"/>
              <a:buChar char="•"/>
            </a:pPr>
            <a:r>
              <a:rPr lang="en-AU" sz="1200" kern="1200" dirty="0" smtClean="0">
                <a:solidFill>
                  <a:schemeClr val="tx1"/>
                </a:solidFill>
                <a:latin typeface="+mn-lt"/>
                <a:ea typeface="+mn-ea"/>
                <a:cs typeface="+mn-cs"/>
              </a:rPr>
              <a:t>Allow access to them so they may be questioned</a:t>
            </a:r>
          </a:p>
          <a:p>
            <a:pPr marL="628650" lvl="1" indent="-171450">
              <a:buFont typeface="Arial" pitchFamily="34" charset="0"/>
              <a:buChar char="•"/>
            </a:pPr>
            <a:r>
              <a:rPr lang="en-AU" sz="1200" kern="1200" dirty="0" smtClean="0">
                <a:solidFill>
                  <a:schemeClr val="tx1"/>
                </a:solidFill>
                <a:latin typeface="+mn-lt"/>
                <a:ea typeface="+mn-ea"/>
                <a:cs typeface="+mn-cs"/>
              </a:rPr>
              <a:t>Where necessary distribute drinks/refreshments – always try to make the sure people as comfortable as possible</a:t>
            </a:r>
          </a:p>
          <a:p>
            <a:pPr marL="171450" lvl="0" indent="-171450">
              <a:buFont typeface="Arial" pitchFamily="34" charset="0"/>
              <a:buChar char="•"/>
            </a:pPr>
            <a:r>
              <a:rPr lang="en-AU" sz="1200" kern="1200" dirty="0" smtClean="0">
                <a:solidFill>
                  <a:schemeClr val="tx1"/>
                </a:solidFill>
                <a:latin typeface="+mn-lt"/>
                <a:ea typeface="+mn-ea"/>
                <a:cs typeface="+mn-cs"/>
              </a:rPr>
              <a:t>Conduct a brief search of the immediate area – call out to the missing person/use megaphone: do not involve other tour group members in the search</a:t>
            </a:r>
          </a:p>
          <a:p>
            <a:pPr marL="171450" lvl="0" indent="-171450">
              <a:buFont typeface="Arial" pitchFamily="34" charset="0"/>
              <a:buChar char="•"/>
            </a:pPr>
            <a:r>
              <a:rPr lang="en-AU" sz="1200" kern="1200" dirty="0" smtClean="0">
                <a:solidFill>
                  <a:schemeClr val="tx1"/>
                </a:solidFill>
                <a:latin typeface="+mn-lt"/>
                <a:ea typeface="+mn-ea"/>
                <a:cs typeface="+mn-cs"/>
              </a:rPr>
              <a:t>Take charge of the situation– show confidence and demonstrate action to retrieve/resolve the situation</a:t>
            </a:r>
          </a:p>
          <a:p>
            <a:pPr marL="171450" lvl="0" indent="-171450">
              <a:buFont typeface="Arial" pitchFamily="34" charset="0"/>
              <a:buChar char="•"/>
            </a:pPr>
            <a:r>
              <a:rPr lang="en-AU" sz="1200" kern="1200" dirty="0" smtClean="0">
                <a:solidFill>
                  <a:schemeClr val="tx1"/>
                </a:solidFill>
                <a:latin typeface="+mn-lt"/>
                <a:ea typeface="+mn-ea"/>
                <a:cs typeface="+mn-cs"/>
              </a:rPr>
              <a:t>Ask other participants if they know where missing person is – ask the group using PA and/or move among group asking people face-to-face</a:t>
            </a:r>
          </a:p>
          <a:p>
            <a:pPr marL="628650" lvl="1" indent="-171450">
              <a:buFont typeface="Arial" pitchFamily="34" charset="0"/>
              <a:buChar char="•"/>
            </a:pPr>
            <a:r>
              <a:rPr lang="en-AU" sz="1200" kern="1200" dirty="0" smtClean="0">
                <a:solidFill>
                  <a:schemeClr val="tx1"/>
                </a:solidFill>
                <a:latin typeface="+mn-lt"/>
                <a:ea typeface="+mn-ea"/>
                <a:cs typeface="+mn-cs"/>
              </a:rPr>
              <a:t>A general question to the group can be effective “Does anyone know where David is?”, or “When was the last time anyone saw Cindy?”</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104</a:t>
            </a:fld>
            <a:endParaRPr lang="en-US" dirty="0"/>
          </a:p>
        </p:txBody>
      </p:sp>
    </p:spTree>
    <p:extLst>
      <p:ext uri="{BB962C8B-B14F-4D97-AF65-F5344CB8AC3E}">
        <p14:creationId xmlns:p14="http://schemas.microsoft.com/office/powerpoint/2010/main" val="2975114110"/>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describing implementation protocols in response to missing person as part of during-tour activities:</a:t>
            </a:r>
          </a:p>
          <a:p>
            <a:pPr marL="171450" lvl="0" indent="-171450">
              <a:buFont typeface="Arial" pitchFamily="34" charset="0"/>
              <a:buChar char="•"/>
            </a:pPr>
            <a:r>
              <a:rPr lang="en-AU" sz="1200" kern="1200" dirty="0" smtClean="0">
                <a:solidFill>
                  <a:schemeClr val="tx1"/>
                </a:solidFill>
                <a:latin typeface="+mn-lt"/>
                <a:ea typeface="+mn-ea"/>
                <a:cs typeface="+mn-cs"/>
              </a:rPr>
              <a:t>Confirm tour group numbers with group leader – this is really a double-check to make sure the initial count of the group was not incorrect</a:t>
            </a:r>
          </a:p>
          <a:p>
            <a:pPr marL="628650" lvl="1" indent="-171450">
              <a:buFont typeface="Arial" pitchFamily="34" charset="0"/>
              <a:buChar char="•"/>
            </a:pPr>
            <a:r>
              <a:rPr lang="en-AU" sz="1200" kern="1200" dirty="0" smtClean="0">
                <a:solidFill>
                  <a:schemeClr val="tx1"/>
                </a:solidFill>
                <a:latin typeface="+mn-lt"/>
                <a:ea typeface="+mn-ea"/>
                <a:cs typeface="+mn-cs"/>
              </a:rPr>
              <a:t>It is always wise to verify a belief someone is missing is supported by others</a:t>
            </a:r>
          </a:p>
          <a:p>
            <a:pPr marL="171450" lvl="0" indent="-171450">
              <a:buFont typeface="Arial" pitchFamily="34" charset="0"/>
              <a:buChar char="•"/>
            </a:pPr>
            <a:r>
              <a:rPr lang="en-AU" sz="1200" kern="1200" dirty="0" smtClean="0">
                <a:solidFill>
                  <a:schemeClr val="tx1"/>
                </a:solidFill>
                <a:latin typeface="+mn-lt"/>
                <a:ea typeface="+mn-ea"/>
                <a:cs typeface="+mn-cs"/>
              </a:rPr>
              <a:t>Confirm tour receipts with participants – to clarify those who are still with the tour – this, too, is a double-check to identify who is missing</a:t>
            </a:r>
          </a:p>
          <a:p>
            <a:pPr marL="171450" lvl="0" indent="-171450">
              <a:buFont typeface="Arial" pitchFamily="34" charset="0"/>
              <a:buChar char="•"/>
            </a:pPr>
            <a:r>
              <a:rPr lang="en-AU" sz="1200" kern="1200" dirty="0" smtClean="0">
                <a:solidFill>
                  <a:schemeClr val="tx1"/>
                </a:solidFill>
                <a:latin typeface="+mn-lt"/>
                <a:ea typeface="+mn-ea"/>
                <a:cs typeface="+mn-cs"/>
              </a:rPr>
              <a:t>Do not allow other tour group members to go looking for the missing person/s</a:t>
            </a:r>
          </a:p>
          <a:p>
            <a:pPr marL="628650" lvl="1" indent="-171450">
              <a:buFont typeface="Arial" pitchFamily="34" charset="0"/>
              <a:buChar char="•"/>
            </a:pPr>
            <a:r>
              <a:rPr lang="en-AU" sz="1200" kern="1200" dirty="0" smtClean="0">
                <a:solidFill>
                  <a:schemeClr val="tx1"/>
                </a:solidFill>
                <a:latin typeface="+mn-lt"/>
                <a:ea typeface="+mn-ea"/>
                <a:cs typeface="+mn-cs"/>
              </a:rPr>
              <a:t>This risks losing more members and may place them at risk. It is the job of the Tour Operator or leader to conduct and/or arrange search and recovery activities</a:t>
            </a:r>
          </a:p>
          <a:p>
            <a:pPr marL="171450" lvl="0" indent="-171450">
              <a:buFont typeface="Arial" pitchFamily="34" charset="0"/>
              <a:buChar char="•"/>
            </a:pPr>
            <a:r>
              <a:rPr lang="en-AU" sz="1200" kern="1200" dirty="0" smtClean="0">
                <a:solidFill>
                  <a:schemeClr val="tx1"/>
                </a:solidFill>
                <a:latin typeface="+mn-lt"/>
                <a:ea typeface="+mn-ea"/>
                <a:cs typeface="+mn-cs"/>
              </a:rPr>
              <a:t>Prepare details of the missing person/s for hand-over to other staff and/or the authorities – this may include:</a:t>
            </a:r>
          </a:p>
          <a:p>
            <a:pPr marL="628650" lvl="1" indent="-171450">
              <a:buFont typeface="Arial" pitchFamily="34" charset="0"/>
              <a:buChar char="•"/>
            </a:pPr>
            <a:r>
              <a:rPr lang="en-AU" sz="1200" kern="1200" dirty="0" smtClean="0">
                <a:solidFill>
                  <a:schemeClr val="tx1"/>
                </a:solidFill>
                <a:latin typeface="+mn-lt"/>
                <a:ea typeface="+mn-ea"/>
                <a:cs typeface="+mn-cs"/>
              </a:rPr>
              <a:t>Details from the manifest</a:t>
            </a:r>
          </a:p>
          <a:p>
            <a:pPr marL="628650" lvl="1" indent="-171450">
              <a:buFont typeface="Arial" pitchFamily="34" charset="0"/>
              <a:buChar char="•"/>
            </a:pPr>
            <a:r>
              <a:rPr lang="en-AU" sz="1200" kern="1200" dirty="0" smtClean="0">
                <a:solidFill>
                  <a:schemeClr val="tx1"/>
                </a:solidFill>
                <a:latin typeface="+mn-lt"/>
                <a:ea typeface="+mn-ea"/>
                <a:cs typeface="+mn-cs"/>
              </a:rPr>
              <a:t>Photo ID</a:t>
            </a:r>
          </a:p>
          <a:p>
            <a:pPr marL="628650" lvl="1" indent="-171450">
              <a:buFont typeface="Arial" pitchFamily="34" charset="0"/>
              <a:buChar char="•"/>
            </a:pPr>
            <a:r>
              <a:rPr lang="en-AU" sz="1200" kern="1200" dirty="0" smtClean="0">
                <a:solidFill>
                  <a:schemeClr val="tx1"/>
                </a:solidFill>
                <a:latin typeface="+mn-lt"/>
                <a:ea typeface="+mn-ea"/>
                <a:cs typeface="+mn-cs"/>
              </a:rPr>
              <a:t>CCTV footage of group arriving at main departure point – where applicable</a:t>
            </a:r>
          </a:p>
          <a:p>
            <a:pPr marL="628650" lvl="1" indent="-171450">
              <a:buFont typeface="Arial" pitchFamily="34" charset="0"/>
              <a:buChar char="•"/>
            </a:pPr>
            <a:r>
              <a:rPr lang="en-AU" sz="1200" kern="1200" dirty="0" smtClean="0">
                <a:solidFill>
                  <a:schemeClr val="tx1"/>
                </a:solidFill>
                <a:latin typeface="+mn-lt"/>
                <a:ea typeface="+mn-ea"/>
                <a:cs typeface="+mn-cs"/>
              </a:rPr>
              <a:t>Details about the person obtained from the group leader and/or other tour group members (such as those who were sitting next to them; those who shared activities with them; people who were in the same boat/car when they went on a ride) – for example, medical needs/conditions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105</a:t>
            </a:fld>
            <a:endParaRPr lang="en-US" dirty="0"/>
          </a:p>
        </p:txBody>
      </p:sp>
    </p:spTree>
    <p:extLst>
      <p:ext uri="{BB962C8B-B14F-4D97-AF65-F5344CB8AC3E}">
        <p14:creationId xmlns:p14="http://schemas.microsoft.com/office/powerpoint/2010/main" val="3676382444"/>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describing during-tour activities:</a:t>
            </a:r>
          </a:p>
          <a:p>
            <a:r>
              <a:rPr lang="en-AU" sz="1200" b="1" kern="1200" dirty="0" smtClean="0">
                <a:solidFill>
                  <a:schemeClr val="tx1"/>
                </a:solidFill>
                <a:latin typeface="+mn-lt"/>
                <a:ea typeface="+mn-ea"/>
                <a:cs typeface="+mn-cs"/>
              </a:rPr>
              <a:t>Handling problems with tour group members</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Tips include:</a:t>
            </a:r>
          </a:p>
          <a:p>
            <a:pPr marL="171450" lvl="0" indent="-171450">
              <a:buFont typeface="Arial" pitchFamily="34" charset="0"/>
              <a:buChar char="•"/>
            </a:pPr>
            <a:r>
              <a:rPr lang="en-AU" sz="1200" kern="1200" dirty="0" smtClean="0">
                <a:solidFill>
                  <a:schemeClr val="tx1"/>
                </a:solidFill>
                <a:latin typeface="+mn-lt"/>
                <a:ea typeface="+mn-ea"/>
                <a:cs typeface="+mn-cs"/>
              </a:rPr>
              <a:t>Realise no problem will ever resolve itself – problems require action to fix/address them</a:t>
            </a:r>
          </a:p>
          <a:p>
            <a:pPr marL="628650" lvl="1" indent="-171450">
              <a:buFont typeface="Arial" pitchFamily="34" charset="0"/>
              <a:buChar char="•"/>
            </a:pPr>
            <a:r>
              <a:rPr lang="en-AU" sz="1200" kern="1200" dirty="0" smtClean="0">
                <a:solidFill>
                  <a:schemeClr val="tx1"/>
                </a:solidFill>
                <a:latin typeface="+mn-lt"/>
                <a:ea typeface="+mn-ea"/>
                <a:cs typeface="+mn-cs"/>
              </a:rPr>
              <a:t>Take responsibility for taking action – it is part of the job to do so</a:t>
            </a:r>
          </a:p>
          <a:p>
            <a:pPr marL="171450" lvl="0" indent="-171450">
              <a:buFont typeface="Arial" pitchFamily="34" charset="0"/>
              <a:buChar char="•"/>
            </a:pPr>
            <a:r>
              <a:rPr lang="en-AU" sz="1200" kern="1200" dirty="0" smtClean="0">
                <a:solidFill>
                  <a:schemeClr val="tx1"/>
                </a:solidFill>
                <a:latin typeface="+mn-lt"/>
                <a:ea typeface="+mn-ea"/>
                <a:cs typeface="+mn-cs"/>
              </a:rPr>
              <a:t>All identified issues must be addressed – never simply ignore a problem</a:t>
            </a:r>
          </a:p>
          <a:p>
            <a:pPr marL="628650" lvl="1" indent="-171450">
              <a:buFont typeface="Arial" pitchFamily="34" charset="0"/>
              <a:buChar char="•"/>
            </a:pPr>
            <a:r>
              <a:rPr lang="en-AU" sz="1200" kern="1200" dirty="0" smtClean="0">
                <a:solidFill>
                  <a:schemeClr val="tx1"/>
                </a:solidFill>
                <a:latin typeface="+mn-lt"/>
                <a:ea typeface="+mn-ea"/>
                <a:cs typeface="+mn-cs"/>
              </a:rPr>
              <a:t>If appropriate/possible, look for ‘safety angle’ on which to focus the conversation to be had with those creating/causing a problem or issue</a:t>
            </a:r>
          </a:p>
          <a:p>
            <a:pPr marL="628650" lvl="1" indent="-171450">
              <a:buFont typeface="Arial" pitchFamily="34" charset="0"/>
              <a:buChar char="•"/>
            </a:pPr>
            <a:r>
              <a:rPr lang="en-AU" sz="1200" kern="1200" dirty="0" smtClean="0">
                <a:solidFill>
                  <a:schemeClr val="tx1"/>
                </a:solidFill>
                <a:latin typeface="+mn-lt"/>
                <a:ea typeface="+mn-ea"/>
                <a:cs typeface="+mn-cs"/>
              </a:rPr>
              <a:t>People are more likely to listen and comply if it can be demonstrated they need to alter what they are doing because it is unsafe or poses a risk to others</a:t>
            </a:r>
          </a:p>
          <a:p>
            <a:pPr marL="171450" lvl="0" indent="-171450">
              <a:buFont typeface="Arial" pitchFamily="34" charset="0"/>
              <a:buChar char="•"/>
            </a:pPr>
            <a:r>
              <a:rPr lang="en-AU" sz="1200" kern="1200" dirty="0" smtClean="0">
                <a:solidFill>
                  <a:schemeClr val="tx1"/>
                </a:solidFill>
                <a:latin typeface="+mn-lt"/>
                <a:ea typeface="+mn-ea"/>
                <a:cs typeface="+mn-cs"/>
              </a:rPr>
              <a:t>Treat people with respect – talk politely with them allow them their dignity</a:t>
            </a:r>
          </a:p>
          <a:p>
            <a:pPr marL="628650" lvl="1" indent="-171450">
              <a:buFont typeface="Arial" pitchFamily="34" charset="0"/>
              <a:buChar char="•"/>
            </a:pPr>
            <a:r>
              <a:rPr lang="en-AU" sz="1200" kern="1200" dirty="0" smtClean="0">
                <a:solidFill>
                  <a:schemeClr val="tx1"/>
                </a:solidFill>
                <a:latin typeface="+mn-lt"/>
                <a:ea typeface="+mn-ea"/>
                <a:cs typeface="+mn-cs"/>
              </a:rPr>
              <a:t>Aim to make the other person feel special, not to feel victimised</a:t>
            </a:r>
          </a:p>
          <a:p>
            <a:pPr marL="628650" lvl="1" indent="-171450">
              <a:buFont typeface="Arial" pitchFamily="34" charset="0"/>
              <a:buChar char="•"/>
            </a:pPr>
            <a:r>
              <a:rPr lang="en-AU" sz="1200" kern="1200" dirty="0" smtClean="0">
                <a:solidFill>
                  <a:schemeClr val="tx1"/>
                </a:solidFill>
                <a:latin typeface="+mn-lt"/>
                <a:ea typeface="+mn-ea"/>
                <a:cs typeface="+mn-cs"/>
              </a:rPr>
              <a:t>Talk with people who need to be spoken to away from others in order to respect their right not to be embarrassed or challenged in front of others</a:t>
            </a:r>
          </a:p>
          <a:p>
            <a:pPr marL="171450" lvl="0" indent="-171450">
              <a:buFont typeface="Arial" pitchFamily="34" charset="0"/>
              <a:buChar char="•"/>
            </a:pPr>
            <a:r>
              <a:rPr lang="en-AU" sz="1200" kern="1200" dirty="0" smtClean="0">
                <a:solidFill>
                  <a:schemeClr val="tx1"/>
                </a:solidFill>
                <a:latin typeface="+mn-lt"/>
                <a:ea typeface="+mn-ea"/>
                <a:cs typeface="+mn-cs"/>
              </a:rPr>
              <a:t>Try to stay calm – when a need to intervene and say something to a participant arises.</a:t>
            </a:r>
          </a:p>
          <a:p>
            <a:pPr marL="628650" lvl="1" indent="-171450">
              <a:buFont typeface="Arial" pitchFamily="34" charset="0"/>
              <a:buChar char="•"/>
            </a:pPr>
            <a:r>
              <a:rPr lang="en-AU" sz="1200" kern="1200" dirty="0" smtClean="0">
                <a:solidFill>
                  <a:schemeClr val="tx1"/>
                </a:solidFill>
                <a:latin typeface="+mn-lt"/>
                <a:ea typeface="+mn-ea"/>
                <a:cs typeface="+mn-cs"/>
              </a:rPr>
              <a:t>‘Act’ but do not ‘over-react’</a:t>
            </a:r>
          </a:p>
          <a:p>
            <a:pPr marL="628650" lvl="1" indent="-171450">
              <a:buFont typeface="Arial" pitchFamily="34" charset="0"/>
              <a:buChar char="•"/>
            </a:pPr>
            <a:r>
              <a:rPr lang="en-AU" sz="1200" kern="1200" dirty="0" smtClean="0">
                <a:solidFill>
                  <a:schemeClr val="tx1"/>
                </a:solidFill>
                <a:latin typeface="+mn-lt"/>
                <a:ea typeface="+mn-ea"/>
                <a:cs typeface="+mn-cs"/>
              </a:rPr>
              <a:t>Avoid using a loud voice and try to speak so the conversation is private, and so the participant/s do not feel as if they are being reprimanded in front of the rest of the group and being made to look silly or ‘small’</a:t>
            </a:r>
          </a:p>
          <a:p>
            <a:pPr>
              <a:buFont typeface="Arial" pitchFamily="34" charset="0"/>
              <a:buNone/>
            </a:pPr>
            <a:endParaRPr lang="en-US" noProof="0" dirty="0" smtClean="0"/>
          </a:p>
          <a:p>
            <a:pPr>
              <a:buFont typeface="Arial" pitchFamily="34" charset="0"/>
              <a:buNone/>
            </a:pPr>
            <a:r>
              <a:rPr lang="en-US" b="1" noProof="0" dirty="0" smtClean="0"/>
              <a:t>Class Activity – Demonstration/s and Role Play</a:t>
            </a:r>
          </a:p>
          <a:p>
            <a:pPr>
              <a:buFont typeface="Arial" pitchFamily="34" charset="0"/>
              <a:buNone/>
            </a:pPr>
            <a:r>
              <a:rPr lang="en-US" b="0" noProof="0" dirty="0" smtClean="0"/>
              <a:t>Trainer demonstrates application of relevant points as identified on the slide and provides opportunity for students to do same.</a:t>
            </a:r>
          </a:p>
          <a:p>
            <a:pPr>
              <a:buFont typeface="Arial" pitchFamily="34" charset="0"/>
              <a:buNone/>
            </a:pPr>
            <a:r>
              <a:rPr lang="en-US" b="0" noProof="0" dirty="0" smtClean="0"/>
              <a:t>.</a:t>
            </a:r>
            <a:endParaRPr lang="en-AU" b="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106</a:t>
            </a:fld>
            <a:endParaRPr lang="en-US" dirty="0"/>
          </a:p>
        </p:txBody>
      </p:sp>
    </p:spTree>
    <p:extLst>
      <p:ext uri="{BB962C8B-B14F-4D97-AF65-F5344CB8AC3E}">
        <p14:creationId xmlns:p14="http://schemas.microsoft.com/office/powerpoint/2010/main" val="968231665"/>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describing ways to handle problems with tour group members as part of during-tour activities:</a:t>
            </a:r>
          </a:p>
          <a:p>
            <a:pPr marL="171450" lvl="0" indent="-171450">
              <a:buFont typeface="Arial" pitchFamily="34" charset="0"/>
              <a:buChar char="•"/>
            </a:pPr>
            <a:r>
              <a:rPr lang="en-AU" sz="1200" kern="1200" dirty="0" smtClean="0">
                <a:solidFill>
                  <a:schemeClr val="tx1"/>
                </a:solidFill>
                <a:latin typeface="+mn-lt"/>
                <a:ea typeface="+mn-ea"/>
                <a:cs typeface="+mn-cs"/>
              </a:rPr>
              <a:t>Phrase what is said so it is not a personal ‘attack’ on the other person – for example, instead of saying “You must not do that”, re-phrase the statement to “We prefer such action does not take place while here/on tour/in this location”</a:t>
            </a:r>
          </a:p>
          <a:p>
            <a:pPr marL="171450" lvl="0" indent="-171450">
              <a:buFont typeface="Arial" pitchFamily="34" charset="0"/>
              <a:buChar char="•"/>
            </a:pPr>
            <a:r>
              <a:rPr lang="en-AU" sz="1200" kern="1200" dirty="0" smtClean="0">
                <a:solidFill>
                  <a:schemeClr val="tx1"/>
                </a:solidFill>
                <a:latin typeface="+mn-lt"/>
                <a:ea typeface="+mn-ea"/>
                <a:cs typeface="+mn-cs"/>
              </a:rPr>
              <a:t>Try phrasing statements asking people to modify their behaviour as ‘requests’ rather than ‘commands’</a:t>
            </a:r>
          </a:p>
          <a:p>
            <a:pPr marL="628650" lvl="1" indent="-171450">
              <a:buFont typeface="Arial" pitchFamily="34" charset="0"/>
              <a:buChar char="•"/>
            </a:pPr>
            <a:r>
              <a:rPr lang="en-AU" sz="1200" kern="1200" dirty="0" smtClean="0">
                <a:solidFill>
                  <a:schemeClr val="tx1"/>
                </a:solidFill>
                <a:latin typeface="+mn-lt"/>
                <a:ea typeface="+mn-ea"/>
                <a:cs typeface="+mn-cs"/>
              </a:rPr>
              <a:t>Give reasons why the request is being made</a:t>
            </a:r>
          </a:p>
          <a:p>
            <a:pPr marL="628650" lvl="1" indent="-171450">
              <a:buFont typeface="Arial" pitchFamily="34" charset="0"/>
              <a:buChar char="•"/>
            </a:pPr>
            <a:r>
              <a:rPr lang="en-AU" sz="1200" kern="1200" dirty="0" smtClean="0">
                <a:solidFill>
                  <a:schemeClr val="tx1"/>
                </a:solidFill>
                <a:latin typeface="+mn-lt"/>
                <a:ea typeface="+mn-ea"/>
                <a:cs typeface="+mn-cs"/>
              </a:rPr>
              <a:t>There is big difference between ‘Stop doing that’ and “Could I please ask you not to do that because it scares the animals?”</a:t>
            </a:r>
          </a:p>
          <a:p>
            <a:pPr marL="171450" lvl="0" indent="-171450">
              <a:buFont typeface="Arial" pitchFamily="34" charset="0"/>
              <a:buChar char="•"/>
            </a:pPr>
            <a:r>
              <a:rPr lang="en-AU" sz="1200" kern="1200" dirty="0" smtClean="0">
                <a:solidFill>
                  <a:schemeClr val="tx1"/>
                </a:solidFill>
                <a:latin typeface="+mn-lt"/>
                <a:ea typeface="+mn-ea"/>
                <a:cs typeface="+mn-cs"/>
              </a:rPr>
              <a:t>Look through the eyes of the tour group member and try to see things from their perspective</a:t>
            </a:r>
          </a:p>
          <a:p>
            <a:pPr marL="628650" lvl="1" indent="-171450">
              <a:buFont typeface="Arial" pitchFamily="34" charset="0"/>
              <a:buChar char="•"/>
            </a:pPr>
            <a:r>
              <a:rPr lang="en-AU" sz="1200" kern="1200" dirty="0" smtClean="0">
                <a:solidFill>
                  <a:schemeClr val="tx1"/>
                </a:solidFill>
                <a:latin typeface="+mn-lt"/>
                <a:ea typeface="+mn-ea"/>
                <a:cs typeface="+mn-cs"/>
              </a:rPr>
              <a:t>For example, consider saying “I can see you are tired and I know we have walked quite a long way and it is hot, but I need you to know it is not acceptable for the safety of others for you to wander off on your own to have a rest”.</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noProof="0" dirty="0" smtClean="0"/>
          </a:p>
          <a:p>
            <a:pPr>
              <a:buFont typeface="Arial" pitchFamily="34" charset="0"/>
              <a:buNone/>
            </a:pPr>
            <a:r>
              <a:rPr lang="en-US" b="1" noProof="0" dirty="0" smtClean="0"/>
              <a:t>Class Activity – Demonstration/s and Role Play</a:t>
            </a:r>
          </a:p>
          <a:p>
            <a:pPr>
              <a:buFont typeface="Arial" pitchFamily="34" charset="0"/>
              <a:buNone/>
            </a:pPr>
            <a:r>
              <a:rPr lang="en-US" b="0" noProof="0" dirty="0" smtClean="0"/>
              <a:t>Trainer demonstrates application of relevant points as identified on the slide and provides opportunity for students to do same.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107</a:t>
            </a:fld>
            <a:endParaRPr lang="en-US" dirty="0"/>
          </a:p>
        </p:txBody>
      </p:sp>
    </p:spTree>
    <p:extLst>
      <p:ext uri="{BB962C8B-B14F-4D97-AF65-F5344CB8AC3E}">
        <p14:creationId xmlns:p14="http://schemas.microsoft.com/office/powerpoint/2010/main" val="754347732"/>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describing during-tour activities: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i="0" kern="1200" dirty="0" smtClean="0">
                <a:solidFill>
                  <a:schemeClr val="tx1"/>
                </a:solidFill>
                <a:latin typeface="+mn-lt"/>
                <a:ea typeface="+mn-ea"/>
                <a:cs typeface="+mn-cs"/>
              </a:rPr>
              <a:t>Dealing with problems between group members</a:t>
            </a:r>
            <a:endParaRPr lang="en-AU" sz="1200" i="0" kern="1200" dirty="0" smtClean="0">
              <a:solidFill>
                <a:schemeClr val="tx1"/>
              </a:solidFill>
              <a:latin typeface="+mn-lt"/>
              <a:ea typeface="+mn-ea"/>
              <a:cs typeface="+mn-cs"/>
            </a:endParaRPr>
          </a:p>
          <a:p>
            <a:pPr marL="171450" lvl="0" indent="-171450">
              <a:buFont typeface="Arial" pitchFamily="34" charset="0"/>
              <a:buChar char="•"/>
            </a:pPr>
            <a:r>
              <a:rPr lang="en-AU" sz="1200" kern="1200" dirty="0" smtClean="0">
                <a:solidFill>
                  <a:schemeClr val="tx1"/>
                </a:solidFill>
                <a:latin typeface="+mn-lt"/>
                <a:ea typeface="+mn-ea"/>
                <a:cs typeface="+mn-cs"/>
              </a:rPr>
              <a:t>Ask the two parties to come to one side and talk – it is important everything said when addressing issues involving two parties is spoken in front of both parties so there can be no suspicion/question over what is said</a:t>
            </a:r>
          </a:p>
          <a:p>
            <a:pPr marL="171450" lvl="0" indent="-171450">
              <a:buFont typeface="Arial" pitchFamily="34" charset="0"/>
              <a:buChar char="•"/>
            </a:pPr>
            <a:r>
              <a:rPr lang="en-AU" sz="1200" kern="1200" dirty="0" smtClean="0">
                <a:solidFill>
                  <a:schemeClr val="tx1"/>
                </a:solidFill>
                <a:latin typeface="+mn-lt"/>
                <a:ea typeface="+mn-ea"/>
                <a:cs typeface="+mn-cs"/>
              </a:rPr>
              <a:t>Where the tour is long one, attention should be paid to trying to resolve the root cause of the issue – where the tour is a short one, attention should focus on developing a solution to effectively address the problem until the tour has finished</a:t>
            </a:r>
          </a:p>
          <a:p>
            <a:pPr marL="171450" lvl="0" indent="-171450">
              <a:buFont typeface="Arial" pitchFamily="34" charset="0"/>
              <a:buChar char="•"/>
            </a:pPr>
            <a:r>
              <a:rPr lang="en-AU" sz="1200" kern="1200" dirty="0" smtClean="0">
                <a:solidFill>
                  <a:schemeClr val="tx1"/>
                </a:solidFill>
                <a:latin typeface="+mn-lt"/>
                <a:ea typeface="+mn-ea"/>
                <a:cs typeface="+mn-cs"/>
              </a:rPr>
              <a:t>Ask the parties what the problem is – this allows insight and also allows the parties to get things off their chest</a:t>
            </a:r>
          </a:p>
          <a:p>
            <a:pPr marL="171450" lvl="0" indent="-171450">
              <a:buFont typeface="Arial" pitchFamily="34" charset="0"/>
              <a:buChar char="•"/>
            </a:pPr>
            <a:r>
              <a:rPr lang="en-AU" sz="1200" kern="1200" dirty="0" smtClean="0">
                <a:solidFill>
                  <a:schemeClr val="tx1"/>
                </a:solidFill>
                <a:latin typeface="+mn-lt"/>
                <a:ea typeface="+mn-ea"/>
                <a:cs typeface="+mn-cs"/>
              </a:rPr>
              <a:t>Explain how their behaviour is adversely impacting the enjoyment of other tour group members.</a:t>
            </a:r>
          </a:p>
          <a:p>
            <a:pPr>
              <a:buFont typeface="Arial" pitchFamily="34" charset="0"/>
              <a:buNone/>
            </a:pPr>
            <a:endParaRPr lang="en-US" noProof="0" dirty="0" smtClean="0"/>
          </a:p>
          <a:p>
            <a:pPr>
              <a:buFont typeface="Arial" pitchFamily="34" charset="0"/>
              <a:buNone/>
            </a:pPr>
            <a:r>
              <a:rPr lang="en-US" b="1" noProof="0" dirty="0" smtClean="0"/>
              <a:t>Class Activity – Demonstration/s and Role Play</a:t>
            </a:r>
          </a:p>
          <a:p>
            <a:pPr>
              <a:buFont typeface="Arial" pitchFamily="34" charset="0"/>
              <a:buNone/>
            </a:pPr>
            <a:r>
              <a:rPr lang="en-US" b="0" noProof="0" dirty="0" smtClean="0"/>
              <a:t>Trainer demonstrates application of relevant points as identified on the slide and provides opportunity for students to do same.</a:t>
            </a:r>
          </a:p>
          <a:p>
            <a:pPr>
              <a:buFont typeface="Arial" pitchFamily="34" charset="0"/>
              <a:buNone/>
            </a:pPr>
            <a:endParaRPr lang="en-US" b="0" noProof="0" dirty="0" smtClean="0"/>
          </a:p>
          <a:p>
            <a:pPr>
              <a:buFont typeface="Arial" pitchFamily="34" charset="0"/>
              <a:buNone/>
            </a:pPr>
            <a:endParaRPr lang="en-AU" b="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108</a:t>
            </a:fld>
            <a:endParaRPr lang="en-US" dirty="0"/>
          </a:p>
        </p:txBody>
      </p:sp>
    </p:spTree>
    <p:extLst>
      <p:ext uri="{BB962C8B-B14F-4D97-AF65-F5344CB8AC3E}">
        <p14:creationId xmlns:p14="http://schemas.microsoft.com/office/powerpoint/2010/main" val="927379484"/>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describing ways to deal with problems between</a:t>
            </a:r>
            <a:r>
              <a:rPr lang="en-US" baseline="0" noProof="0" dirty="0" smtClean="0"/>
              <a:t> </a:t>
            </a:r>
            <a:r>
              <a:rPr lang="en-US" noProof="0" dirty="0" smtClean="0"/>
              <a:t>group members as part of during-tour activities:</a:t>
            </a:r>
          </a:p>
          <a:p>
            <a:pPr marL="171450" lvl="0" indent="-171450">
              <a:buFont typeface="Arial" pitchFamily="34" charset="0"/>
              <a:buChar char="•"/>
            </a:pPr>
            <a:r>
              <a:rPr lang="en-AU" sz="1200" kern="1200" dirty="0" smtClean="0">
                <a:solidFill>
                  <a:schemeClr val="tx1"/>
                </a:solidFill>
                <a:latin typeface="+mn-lt"/>
                <a:ea typeface="+mn-ea"/>
                <a:cs typeface="+mn-cs"/>
              </a:rPr>
              <a:t>Ask them to refrain from further action which disrupts the tour – and thank them for their cooperation</a:t>
            </a:r>
          </a:p>
          <a:p>
            <a:pPr marL="171450" lvl="0" indent="-171450">
              <a:buFont typeface="Arial" pitchFamily="34" charset="0"/>
              <a:buChar char="•"/>
            </a:pPr>
            <a:r>
              <a:rPr lang="en-AU" sz="1200" kern="1200" dirty="0" smtClean="0">
                <a:solidFill>
                  <a:schemeClr val="tx1"/>
                </a:solidFill>
                <a:latin typeface="+mn-lt"/>
                <a:ea typeface="+mn-ea"/>
                <a:cs typeface="+mn-cs"/>
              </a:rPr>
              <a:t>Be prepared to suggest solution as to assist resolve the issue in the immediate short-term, such as: </a:t>
            </a:r>
          </a:p>
          <a:p>
            <a:pPr marL="628650" lvl="1" indent="-171450">
              <a:buFont typeface="Arial" pitchFamily="34" charset="0"/>
              <a:buChar char="•"/>
            </a:pPr>
            <a:r>
              <a:rPr lang="en-AU" sz="1200" kern="1200" dirty="0" smtClean="0">
                <a:solidFill>
                  <a:schemeClr val="tx1"/>
                </a:solidFill>
                <a:latin typeface="+mn-lt"/>
                <a:ea typeface="+mn-ea"/>
                <a:cs typeface="+mn-cs"/>
              </a:rPr>
              <a:t>Re-seating people to different locations (for example, on the coach) so they are not near to each other, or are out of line-of-sight of the other person/party</a:t>
            </a:r>
          </a:p>
          <a:p>
            <a:pPr marL="628650" lvl="1" indent="-171450">
              <a:buFont typeface="Arial" pitchFamily="34" charset="0"/>
              <a:buChar char="•"/>
            </a:pPr>
            <a:r>
              <a:rPr lang="en-AU" sz="1200" kern="1200" dirty="0" smtClean="0">
                <a:solidFill>
                  <a:schemeClr val="tx1"/>
                </a:solidFill>
                <a:latin typeface="+mn-lt"/>
                <a:ea typeface="+mn-ea"/>
                <a:cs typeface="+mn-cs"/>
              </a:rPr>
              <a:t>Asking parents to more closely supervise their children</a:t>
            </a:r>
          </a:p>
          <a:p>
            <a:pPr marL="628650" lvl="1" indent="-171450">
              <a:buFont typeface="Arial" pitchFamily="34" charset="0"/>
              <a:buChar char="•"/>
            </a:pPr>
            <a:r>
              <a:rPr lang="en-AU" sz="1200" kern="1200" dirty="0" smtClean="0">
                <a:solidFill>
                  <a:schemeClr val="tx1"/>
                </a:solidFill>
                <a:latin typeface="+mn-lt"/>
                <a:ea typeface="+mn-ea"/>
                <a:cs typeface="+mn-cs"/>
              </a:rPr>
              <a:t>Re-grouping participants into different configurations so those having problems with another person/group in conflict are in different sub-groups when it comes to things such as viewing, activities, dining</a:t>
            </a:r>
          </a:p>
          <a:p>
            <a:pPr marL="171450" lvl="0" indent="-171450">
              <a:buFont typeface="Arial" pitchFamily="34" charset="0"/>
              <a:buChar char="•"/>
            </a:pPr>
            <a:r>
              <a:rPr lang="en-AU" sz="1200" kern="1200" dirty="0" smtClean="0">
                <a:solidFill>
                  <a:schemeClr val="tx1"/>
                </a:solidFill>
                <a:latin typeface="+mn-lt"/>
                <a:ea typeface="+mn-ea"/>
                <a:cs typeface="+mn-cs"/>
              </a:rPr>
              <a:t>Monitoring the situation – and being prepared to:</a:t>
            </a:r>
          </a:p>
          <a:p>
            <a:pPr marL="628650" lvl="1" indent="-171450">
              <a:buFont typeface="Arial" pitchFamily="34" charset="0"/>
              <a:buChar char="•"/>
            </a:pPr>
            <a:r>
              <a:rPr lang="en-AU" sz="1200" kern="1200" dirty="0" smtClean="0">
                <a:solidFill>
                  <a:schemeClr val="tx1"/>
                </a:solidFill>
                <a:latin typeface="+mn-lt"/>
                <a:ea typeface="+mn-ea"/>
                <a:cs typeface="+mn-cs"/>
              </a:rPr>
              <a:t>Repeat previous requests – it is naïve to believe people will modify their behaviour just because they have been asked once to do so</a:t>
            </a:r>
          </a:p>
          <a:p>
            <a:pPr marL="628650" lvl="1" indent="-171450">
              <a:buFont typeface="Arial" pitchFamily="34" charset="0"/>
              <a:buChar char="•"/>
            </a:pPr>
            <a:r>
              <a:rPr lang="en-AU" sz="1200" kern="1200" dirty="0" smtClean="0">
                <a:solidFill>
                  <a:schemeClr val="tx1"/>
                </a:solidFill>
                <a:latin typeface="+mn-lt"/>
                <a:ea typeface="+mn-ea"/>
                <a:cs typeface="+mn-cs"/>
              </a:rPr>
              <a:t>Suggest alternative solutions to issues – and allow them to choose their preferred option</a:t>
            </a:r>
          </a:p>
          <a:p>
            <a:pPr marL="628650" lvl="1" indent="-171450">
              <a:buFont typeface="Arial" pitchFamily="34" charset="0"/>
              <a:buChar char="•"/>
            </a:pPr>
            <a:r>
              <a:rPr lang="en-AU" sz="1200" kern="1200" dirty="0" smtClean="0">
                <a:solidFill>
                  <a:schemeClr val="tx1"/>
                </a:solidFill>
                <a:latin typeface="+mn-lt"/>
                <a:ea typeface="+mn-ea"/>
                <a:cs typeface="+mn-cs"/>
              </a:rPr>
              <a:t>Thank people for their cooperation.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noProof="0" dirty="0" smtClean="0"/>
          </a:p>
          <a:p>
            <a:pPr>
              <a:buFont typeface="Arial" pitchFamily="34" charset="0"/>
              <a:buNone/>
            </a:pPr>
            <a:r>
              <a:rPr lang="en-US" b="1" noProof="0" dirty="0" smtClean="0"/>
              <a:t>Class Activity – Demonstration/s</a:t>
            </a:r>
          </a:p>
          <a:p>
            <a:pPr>
              <a:buFont typeface="Arial" pitchFamily="34" charset="0"/>
              <a:buNone/>
            </a:pPr>
            <a:r>
              <a:rPr lang="en-US" b="0" noProof="0" dirty="0" smtClean="0"/>
              <a:t>Trainer demonstrates application of relevant points as identified on the slide.</a:t>
            </a:r>
            <a:endParaRPr lang="en-AU" b="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109</a:t>
            </a:fld>
            <a:endParaRPr lang="en-US" dirty="0"/>
          </a:p>
        </p:txBody>
      </p:sp>
    </p:spTree>
    <p:extLst>
      <p:ext uri="{BB962C8B-B14F-4D97-AF65-F5344CB8AC3E}">
        <p14:creationId xmlns:p14="http://schemas.microsoft.com/office/powerpoint/2010/main" val="2675043079"/>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describes on-departure/post-tour activities:</a:t>
            </a:r>
          </a:p>
          <a:p>
            <a:r>
              <a:rPr lang="en-AU" sz="1200" b="1" kern="1200" dirty="0" smtClean="0">
                <a:solidFill>
                  <a:schemeClr val="tx1"/>
                </a:solidFill>
                <a:latin typeface="+mn-lt"/>
                <a:ea typeface="+mn-ea"/>
                <a:cs typeface="+mn-cs"/>
              </a:rPr>
              <a:t>Farewelling tour group members</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At the end of the tour:</a:t>
            </a:r>
          </a:p>
          <a:p>
            <a:pPr marL="171450" lvl="0" indent="-171450">
              <a:buFont typeface="Arial" pitchFamily="34" charset="0"/>
              <a:buChar char="•"/>
            </a:pPr>
            <a:r>
              <a:rPr lang="en-AU" sz="1200" kern="1200" dirty="0" smtClean="0">
                <a:solidFill>
                  <a:schemeClr val="tx1"/>
                </a:solidFill>
                <a:latin typeface="+mn-lt"/>
                <a:ea typeface="+mn-ea"/>
                <a:cs typeface="+mn-cs"/>
              </a:rPr>
              <a:t>Thank them for taking the tour</a:t>
            </a:r>
          </a:p>
          <a:p>
            <a:pPr marL="171450" lvl="0" indent="-171450">
              <a:buFont typeface="Arial" pitchFamily="34" charset="0"/>
              <a:buChar char="•"/>
            </a:pPr>
            <a:r>
              <a:rPr lang="en-AU" sz="1200" kern="1200" dirty="0" smtClean="0">
                <a:solidFill>
                  <a:schemeClr val="tx1"/>
                </a:solidFill>
                <a:latin typeface="+mn-lt"/>
                <a:ea typeface="+mn-ea"/>
                <a:cs typeface="+mn-cs"/>
              </a:rPr>
              <a:t>Provide a farewell wish</a:t>
            </a:r>
          </a:p>
          <a:p>
            <a:pPr marL="171450" lvl="0" indent="-171450">
              <a:buFont typeface="Arial" pitchFamily="34" charset="0"/>
              <a:buChar char="•"/>
            </a:pPr>
            <a:r>
              <a:rPr lang="en-AU" sz="1200" kern="1200" dirty="0" smtClean="0">
                <a:solidFill>
                  <a:schemeClr val="tx1"/>
                </a:solidFill>
                <a:latin typeface="+mn-lt"/>
                <a:ea typeface="+mn-ea"/>
                <a:cs typeface="+mn-cs"/>
              </a:rPr>
              <a:t>Express hope they enjoyed the tour/experience</a:t>
            </a:r>
          </a:p>
          <a:p>
            <a:pPr marL="171450" lvl="0" indent="-171450">
              <a:buFont typeface="Arial" pitchFamily="34" charset="0"/>
              <a:buChar char="•"/>
            </a:pPr>
            <a:r>
              <a:rPr lang="en-AU" sz="1200" kern="1200" dirty="0" smtClean="0">
                <a:solidFill>
                  <a:schemeClr val="tx1"/>
                </a:solidFill>
                <a:latin typeface="+mn-lt"/>
                <a:ea typeface="+mn-ea"/>
                <a:cs typeface="+mn-cs"/>
              </a:rPr>
              <a:t>Encourage repeat tours</a:t>
            </a:r>
          </a:p>
          <a:p>
            <a:pPr marL="171450" lvl="0" indent="-171450">
              <a:buFont typeface="Arial" pitchFamily="34" charset="0"/>
              <a:buChar char="•"/>
            </a:pPr>
            <a:r>
              <a:rPr lang="en-AU" sz="1200" kern="1200" dirty="0" smtClean="0">
                <a:solidFill>
                  <a:schemeClr val="tx1"/>
                </a:solidFill>
                <a:latin typeface="+mn-lt"/>
                <a:ea typeface="+mn-ea"/>
                <a:cs typeface="+mn-cs"/>
              </a:rPr>
              <a:t>Notify them of upcoming events and specials</a:t>
            </a:r>
          </a:p>
          <a:p>
            <a:pPr marL="171450" lvl="0" indent="-171450">
              <a:buFont typeface="Arial" pitchFamily="34" charset="0"/>
              <a:buChar char="•"/>
            </a:pPr>
            <a:r>
              <a:rPr lang="en-AU" sz="1200" kern="1200" dirty="0" smtClean="0">
                <a:solidFill>
                  <a:schemeClr val="tx1"/>
                </a:solidFill>
                <a:latin typeface="+mn-lt"/>
                <a:ea typeface="+mn-ea"/>
                <a:cs typeface="+mn-cs"/>
              </a:rPr>
              <a:t>Handout promotional literature</a:t>
            </a:r>
          </a:p>
          <a:p>
            <a:pPr marL="171450" lvl="0" indent="-171450">
              <a:buFont typeface="Arial" pitchFamily="34" charset="0"/>
              <a:buChar char="•"/>
            </a:pPr>
            <a:r>
              <a:rPr lang="en-AU" sz="1200" kern="1200" dirty="0" smtClean="0">
                <a:solidFill>
                  <a:schemeClr val="tx1"/>
                </a:solidFill>
                <a:latin typeface="+mn-lt"/>
                <a:ea typeface="+mn-ea"/>
                <a:cs typeface="+mn-cs"/>
              </a:rPr>
              <a:t>Invite them to tell others about the tour</a:t>
            </a:r>
          </a:p>
          <a:p>
            <a:pPr marL="171450" lvl="0" indent="-171450">
              <a:buFont typeface="Arial" pitchFamily="34" charset="0"/>
              <a:buChar char="•"/>
            </a:pPr>
            <a:r>
              <a:rPr lang="en-AU" sz="1200" kern="1200" dirty="0" smtClean="0">
                <a:solidFill>
                  <a:schemeClr val="tx1"/>
                </a:solidFill>
                <a:latin typeface="+mn-lt"/>
                <a:ea typeface="+mn-ea"/>
                <a:cs typeface="+mn-cs"/>
              </a:rPr>
              <a:t>Distribute merchandise/product as required on departure of tour group members.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noProof="0" dirty="0" smtClean="0"/>
          </a:p>
          <a:p>
            <a:pPr>
              <a:buFont typeface="Arial" pitchFamily="34" charset="0"/>
              <a:buNone/>
            </a:pPr>
            <a:r>
              <a:rPr lang="en-US" b="1" noProof="0" dirty="0" smtClean="0"/>
              <a:t>Class Activity – Demonstration/s and Role Play</a:t>
            </a:r>
          </a:p>
          <a:p>
            <a:pPr>
              <a:buFont typeface="Arial" pitchFamily="34" charset="0"/>
              <a:buNone/>
            </a:pPr>
            <a:r>
              <a:rPr lang="en-US" b="0" noProof="0" dirty="0" smtClean="0"/>
              <a:t>Trainer demonstrates application of relevant points as identified on the slide and provides opportunity for students to do same.</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110</a:t>
            </a:fld>
            <a:endParaRPr lang="en-US" dirty="0"/>
          </a:p>
        </p:txBody>
      </p:sp>
    </p:spTree>
    <p:extLst>
      <p:ext uri="{BB962C8B-B14F-4D97-AF65-F5344CB8AC3E}">
        <p14:creationId xmlns:p14="http://schemas.microsoft.com/office/powerpoint/2010/main" val="527107183"/>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describing on-departure/post-tour activities:</a:t>
            </a:r>
          </a:p>
          <a:p>
            <a:r>
              <a:rPr lang="en-AU" sz="1200" b="1" kern="1200" dirty="0" smtClean="0">
                <a:solidFill>
                  <a:schemeClr val="tx1"/>
                </a:solidFill>
                <a:latin typeface="+mn-lt"/>
                <a:ea typeface="+mn-ea"/>
                <a:cs typeface="+mn-cs"/>
              </a:rPr>
              <a:t>Capturing feedback</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This may require:</a:t>
            </a:r>
          </a:p>
          <a:p>
            <a:pPr marL="171450" lvl="0" indent="-171450">
              <a:buFont typeface="Arial" pitchFamily="34" charset="0"/>
              <a:buChar char="•"/>
            </a:pPr>
            <a:r>
              <a:rPr lang="en-AU" sz="1200" kern="1200" dirty="0" smtClean="0">
                <a:solidFill>
                  <a:schemeClr val="tx1"/>
                </a:solidFill>
                <a:latin typeface="+mn-lt"/>
                <a:ea typeface="+mn-ea"/>
                <a:cs typeface="+mn-cs"/>
              </a:rPr>
              <a:t>Distributing feedback forms</a:t>
            </a:r>
          </a:p>
          <a:p>
            <a:pPr marL="171450" lvl="0" indent="-171450">
              <a:buFont typeface="Arial" pitchFamily="34" charset="0"/>
              <a:buChar char="•"/>
            </a:pPr>
            <a:r>
              <a:rPr lang="en-AU" sz="1200" kern="1200" dirty="0" smtClean="0">
                <a:solidFill>
                  <a:schemeClr val="tx1"/>
                </a:solidFill>
                <a:latin typeface="+mn-lt"/>
                <a:ea typeface="+mn-ea"/>
                <a:cs typeface="+mn-cs"/>
              </a:rPr>
              <a:t>Encouraging completion of Customer Comment Cards</a:t>
            </a:r>
          </a:p>
          <a:p>
            <a:pPr marL="171450" lvl="0" indent="-171450">
              <a:buFont typeface="Arial" pitchFamily="34" charset="0"/>
              <a:buChar char="•"/>
            </a:pPr>
            <a:r>
              <a:rPr lang="en-AU" sz="1200" kern="1200" dirty="0" smtClean="0">
                <a:solidFill>
                  <a:schemeClr val="tx1"/>
                </a:solidFill>
                <a:latin typeface="+mn-lt"/>
                <a:ea typeface="+mn-ea"/>
                <a:cs typeface="+mn-cs"/>
              </a:rPr>
              <a:t>Mentioning online feedback options</a:t>
            </a:r>
          </a:p>
          <a:p>
            <a:pPr marL="171450" lvl="0" indent="-171450">
              <a:buFont typeface="Arial" pitchFamily="34" charset="0"/>
              <a:buChar char="•"/>
            </a:pPr>
            <a:r>
              <a:rPr lang="en-AU" sz="1200" kern="1200" dirty="0" smtClean="0">
                <a:solidFill>
                  <a:schemeClr val="tx1"/>
                </a:solidFill>
                <a:latin typeface="+mn-lt"/>
                <a:ea typeface="+mn-ea"/>
                <a:cs typeface="+mn-cs"/>
              </a:rPr>
              <a:t>Talking to people about their tour and experience</a:t>
            </a:r>
          </a:p>
          <a:p>
            <a:pPr marL="171450" lvl="0" indent="-171450">
              <a:buFont typeface="Arial" pitchFamily="34" charset="0"/>
              <a:buChar char="•"/>
            </a:pPr>
            <a:r>
              <a:rPr lang="en-AU" sz="1200" kern="1200" dirty="0" smtClean="0">
                <a:solidFill>
                  <a:schemeClr val="tx1"/>
                </a:solidFill>
                <a:latin typeface="+mn-lt"/>
                <a:ea typeface="+mn-ea"/>
                <a:cs typeface="+mn-cs"/>
              </a:rPr>
              <a:t>Seeking contributions for improvements and changes to the tour</a:t>
            </a:r>
          </a:p>
          <a:p>
            <a:pPr marL="171450" lvl="0" indent="-171450">
              <a:buFont typeface="Arial" pitchFamily="34" charset="0"/>
              <a:buChar char="•"/>
            </a:pPr>
            <a:r>
              <a:rPr lang="en-AU" sz="1200" kern="1200" dirty="0" smtClean="0">
                <a:solidFill>
                  <a:schemeClr val="tx1"/>
                </a:solidFill>
                <a:latin typeface="+mn-lt"/>
                <a:ea typeface="+mn-ea"/>
                <a:cs typeface="+mn-cs"/>
              </a:rPr>
              <a:t>Asking if people have complaints</a:t>
            </a:r>
          </a:p>
          <a:p>
            <a:pPr marL="171450" lvl="0" indent="-171450">
              <a:buFont typeface="Arial" pitchFamily="34" charset="0"/>
              <a:buChar char="•"/>
            </a:pPr>
            <a:r>
              <a:rPr lang="en-AU" sz="1200" kern="1200" dirty="0" smtClean="0">
                <a:solidFill>
                  <a:schemeClr val="tx1"/>
                </a:solidFill>
                <a:latin typeface="+mn-lt"/>
                <a:ea typeface="+mn-ea"/>
                <a:cs typeface="+mn-cs"/>
              </a:rPr>
              <a:t>Actively soliciting feedback and listening to and recording responses</a:t>
            </a:r>
          </a:p>
          <a:p>
            <a:pPr marL="171450" lvl="0" indent="-171450">
              <a:buFont typeface="Arial" pitchFamily="34" charset="0"/>
              <a:buChar char="•"/>
            </a:pPr>
            <a:r>
              <a:rPr lang="en-AU" sz="1200" kern="1200" dirty="0" smtClean="0">
                <a:solidFill>
                  <a:schemeClr val="tx1"/>
                </a:solidFill>
                <a:latin typeface="+mn-lt"/>
                <a:ea typeface="+mn-ea"/>
                <a:cs typeface="+mn-cs"/>
              </a:rPr>
              <a:t>Thanking people for their input/feedback.</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111</a:t>
            </a:fld>
            <a:endParaRPr lang="en-US" dirty="0"/>
          </a:p>
        </p:txBody>
      </p:sp>
    </p:spTree>
    <p:extLst>
      <p:ext uri="{BB962C8B-B14F-4D97-AF65-F5344CB8AC3E}">
        <p14:creationId xmlns:p14="http://schemas.microsoft.com/office/powerpoint/2010/main" val="3842109135"/>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describing on-departure/post-tour activities:</a:t>
            </a:r>
          </a:p>
          <a:p>
            <a:r>
              <a:rPr lang="en-AU" sz="1200" b="1" kern="1200" dirty="0" smtClean="0">
                <a:solidFill>
                  <a:schemeClr val="tx1"/>
                </a:solidFill>
                <a:latin typeface="+mn-lt"/>
                <a:ea typeface="+mn-ea"/>
                <a:cs typeface="+mn-cs"/>
              </a:rPr>
              <a:t>Thanking all relevant people</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This may require thanking:</a:t>
            </a:r>
          </a:p>
          <a:p>
            <a:pPr marL="171450" lvl="0" indent="-171450">
              <a:buFont typeface="Arial" pitchFamily="34" charset="0"/>
              <a:buChar char="•"/>
            </a:pPr>
            <a:r>
              <a:rPr lang="en-AU" sz="1200" kern="1200" dirty="0" smtClean="0">
                <a:solidFill>
                  <a:schemeClr val="tx1"/>
                </a:solidFill>
                <a:latin typeface="+mn-lt"/>
                <a:ea typeface="+mn-ea"/>
                <a:cs typeface="+mn-cs"/>
              </a:rPr>
              <a:t>Group leaders</a:t>
            </a:r>
          </a:p>
          <a:p>
            <a:pPr marL="171450" lvl="0" indent="-171450">
              <a:buFont typeface="Arial" pitchFamily="34" charset="0"/>
              <a:buChar char="•"/>
            </a:pPr>
            <a:r>
              <a:rPr lang="en-AU" sz="1200" kern="1200" dirty="0" smtClean="0">
                <a:solidFill>
                  <a:schemeClr val="tx1"/>
                </a:solidFill>
                <a:latin typeface="+mn-lt"/>
                <a:ea typeface="+mn-ea"/>
                <a:cs typeface="+mn-cs"/>
              </a:rPr>
              <a:t>Transport drivers</a:t>
            </a:r>
          </a:p>
          <a:p>
            <a:pPr marL="171450" lvl="0" indent="-171450">
              <a:buFont typeface="Arial" pitchFamily="34" charset="0"/>
              <a:buChar char="•"/>
            </a:pPr>
            <a:r>
              <a:rPr lang="en-AU" sz="1200" kern="1200" dirty="0" smtClean="0">
                <a:solidFill>
                  <a:schemeClr val="tx1"/>
                </a:solidFill>
                <a:latin typeface="+mn-lt"/>
                <a:ea typeface="+mn-ea"/>
                <a:cs typeface="+mn-cs"/>
              </a:rPr>
              <a:t>Catering staff</a:t>
            </a:r>
          </a:p>
          <a:p>
            <a:pPr marL="171450" lvl="0" indent="-171450">
              <a:buFont typeface="Arial" pitchFamily="34" charset="0"/>
              <a:buChar char="•"/>
            </a:pPr>
            <a:r>
              <a:rPr lang="en-AU" sz="1200" kern="1200" dirty="0" smtClean="0">
                <a:solidFill>
                  <a:schemeClr val="tx1"/>
                </a:solidFill>
                <a:latin typeface="+mn-lt"/>
                <a:ea typeface="+mn-ea"/>
                <a:cs typeface="+mn-cs"/>
              </a:rPr>
              <a:t>Co-workers – who did the many things which combine to provide a memorable and effective tour, such as:</a:t>
            </a:r>
          </a:p>
          <a:p>
            <a:pPr marL="171450" lvl="0" indent="-171450">
              <a:buFont typeface="Arial" pitchFamily="34" charset="0"/>
              <a:buChar char="•"/>
            </a:pPr>
            <a:r>
              <a:rPr lang="en-AU" sz="1200" kern="1200" dirty="0" smtClean="0">
                <a:solidFill>
                  <a:schemeClr val="tx1"/>
                </a:solidFill>
                <a:latin typeface="+mn-lt"/>
                <a:ea typeface="+mn-ea"/>
                <a:cs typeface="+mn-cs"/>
              </a:rPr>
              <a:t>Co-hosts/tour guides</a:t>
            </a:r>
          </a:p>
          <a:p>
            <a:pPr marL="171450" lvl="0" indent="-171450">
              <a:buFont typeface="Arial" pitchFamily="34" charset="0"/>
              <a:buChar char="•"/>
            </a:pPr>
            <a:r>
              <a:rPr lang="en-AU" sz="1200" kern="1200" dirty="0" smtClean="0">
                <a:solidFill>
                  <a:schemeClr val="tx1"/>
                </a:solidFill>
                <a:latin typeface="+mn-lt"/>
                <a:ea typeface="+mn-ea"/>
                <a:cs typeface="+mn-cs"/>
              </a:rPr>
              <a:t>Safety officers and Security staff</a:t>
            </a:r>
          </a:p>
          <a:p>
            <a:pPr marL="171450" lvl="0" indent="-171450">
              <a:buFont typeface="Arial" pitchFamily="34" charset="0"/>
              <a:buChar char="•"/>
            </a:pPr>
            <a:r>
              <a:rPr lang="en-AU" sz="1200" kern="1200" dirty="0" smtClean="0">
                <a:solidFill>
                  <a:schemeClr val="tx1"/>
                </a:solidFill>
                <a:latin typeface="+mn-lt"/>
                <a:ea typeface="+mn-ea"/>
                <a:cs typeface="+mn-cs"/>
              </a:rPr>
              <a:t>Monitors and observers – for rides and activities</a:t>
            </a:r>
          </a:p>
          <a:p>
            <a:pPr marL="171450" lvl="0" indent="-171450">
              <a:buFont typeface="Arial" pitchFamily="34" charset="0"/>
              <a:buChar char="•"/>
            </a:pPr>
            <a:r>
              <a:rPr lang="en-AU" sz="1200" kern="1200" dirty="0" smtClean="0">
                <a:solidFill>
                  <a:schemeClr val="tx1"/>
                </a:solidFill>
                <a:latin typeface="+mn-lt"/>
                <a:ea typeface="+mn-ea"/>
                <a:cs typeface="+mn-cs"/>
              </a:rPr>
              <a:t>Park characters</a:t>
            </a:r>
          </a:p>
          <a:p>
            <a:pPr marL="171450" lvl="0" indent="-171450">
              <a:buFont typeface="Arial" pitchFamily="34" charset="0"/>
              <a:buChar char="•"/>
            </a:pPr>
            <a:r>
              <a:rPr lang="en-AU" sz="1200" kern="1200" dirty="0" smtClean="0">
                <a:solidFill>
                  <a:schemeClr val="tx1"/>
                </a:solidFill>
                <a:latin typeface="+mn-lt"/>
                <a:ea typeface="+mn-ea"/>
                <a:cs typeface="+mn-cs"/>
              </a:rPr>
              <a:t>Section guides – specialists in certain areas who deliver information, activities and  demonstrations in their particular area of expertise.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112</a:t>
            </a:fld>
            <a:endParaRPr lang="en-US" dirty="0"/>
          </a:p>
        </p:txBody>
      </p:sp>
    </p:spTree>
    <p:extLst>
      <p:ext uri="{BB962C8B-B14F-4D97-AF65-F5344CB8AC3E}">
        <p14:creationId xmlns:p14="http://schemas.microsoft.com/office/powerpoint/2010/main" val="3227786992"/>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describing on-departure/post-tour activities:</a:t>
            </a:r>
          </a:p>
          <a:p>
            <a:r>
              <a:rPr lang="en-AU" sz="1200" b="1" kern="1200" dirty="0" smtClean="0">
                <a:solidFill>
                  <a:schemeClr val="tx1"/>
                </a:solidFill>
                <a:latin typeface="+mn-lt"/>
                <a:ea typeface="+mn-ea"/>
                <a:cs typeface="+mn-cs"/>
              </a:rPr>
              <a:t>Completing end-of-tour activities</a:t>
            </a:r>
            <a:endParaRPr lang="en-AU" sz="1200" kern="1200" dirty="0" smtClean="0">
              <a:solidFill>
                <a:schemeClr val="tx1"/>
              </a:solidFill>
              <a:latin typeface="+mn-lt"/>
              <a:ea typeface="+mn-ea"/>
              <a:cs typeface="+mn-cs"/>
            </a:endParaRPr>
          </a:p>
          <a:p>
            <a:r>
              <a:rPr lang="en-AU" sz="1200" kern="1200" dirty="0" smtClean="0">
                <a:solidFill>
                  <a:schemeClr val="tx1"/>
                </a:solidFill>
                <a:latin typeface="+mn-lt"/>
                <a:ea typeface="+mn-ea"/>
                <a:cs typeface="+mn-cs"/>
              </a:rPr>
              <a:t>Which may include:</a:t>
            </a:r>
          </a:p>
          <a:p>
            <a:pPr marL="171450" lvl="0" indent="-171450">
              <a:buFont typeface="Arial" pitchFamily="34" charset="0"/>
              <a:buChar char="•"/>
            </a:pPr>
            <a:r>
              <a:rPr lang="en-AU" sz="1200" kern="1200" dirty="0" smtClean="0">
                <a:solidFill>
                  <a:schemeClr val="tx1"/>
                </a:solidFill>
                <a:latin typeface="+mn-lt"/>
                <a:ea typeface="+mn-ea"/>
                <a:cs typeface="+mn-cs"/>
              </a:rPr>
              <a:t>Signing off forms – these may relate to:</a:t>
            </a:r>
          </a:p>
          <a:p>
            <a:pPr marL="628650" lvl="1" indent="-171450">
              <a:buFont typeface="Arial" pitchFamily="34" charset="0"/>
              <a:buChar char="•"/>
            </a:pPr>
            <a:r>
              <a:rPr lang="en-AU" sz="1200" kern="1200" dirty="0" smtClean="0">
                <a:solidFill>
                  <a:schemeClr val="tx1"/>
                </a:solidFill>
                <a:latin typeface="+mn-lt"/>
                <a:ea typeface="+mn-ea"/>
                <a:cs typeface="+mn-cs"/>
              </a:rPr>
              <a:t>Return of equipment </a:t>
            </a:r>
          </a:p>
          <a:p>
            <a:pPr marL="628650" lvl="1" indent="-171450">
              <a:buFont typeface="Arial" pitchFamily="34" charset="0"/>
              <a:buChar char="•"/>
            </a:pPr>
            <a:r>
              <a:rPr lang="en-AU" sz="1200" kern="1200" dirty="0" smtClean="0">
                <a:solidFill>
                  <a:schemeClr val="tx1"/>
                </a:solidFill>
                <a:latin typeface="+mn-lt"/>
                <a:ea typeface="+mn-ea"/>
                <a:cs typeface="+mn-cs"/>
              </a:rPr>
              <a:t>Return of materials and props</a:t>
            </a:r>
          </a:p>
          <a:p>
            <a:pPr marL="628650" lvl="1" indent="-171450">
              <a:buFont typeface="Arial" pitchFamily="34" charset="0"/>
              <a:buChar char="•"/>
            </a:pPr>
            <a:r>
              <a:rPr lang="en-AU" sz="1200" kern="1200" dirty="0" smtClean="0">
                <a:solidFill>
                  <a:schemeClr val="tx1"/>
                </a:solidFill>
                <a:latin typeface="+mn-lt"/>
                <a:ea typeface="+mn-ea"/>
                <a:cs typeface="+mn-cs"/>
              </a:rPr>
              <a:t>Return of keys</a:t>
            </a:r>
          </a:p>
          <a:p>
            <a:pPr marL="628650" lvl="1" indent="-171450">
              <a:buFont typeface="Arial" pitchFamily="34" charset="0"/>
              <a:buChar char="•"/>
            </a:pPr>
            <a:r>
              <a:rPr lang="en-AU" sz="1200" kern="1200" dirty="0" smtClean="0">
                <a:solidFill>
                  <a:schemeClr val="tx1"/>
                </a:solidFill>
                <a:latin typeface="+mn-lt"/>
                <a:ea typeface="+mn-ea"/>
                <a:cs typeface="+mn-cs"/>
              </a:rPr>
              <a:t>Return of vehicles</a:t>
            </a:r>
          </a:p>
          <a:p>
            <a:pPr marL="628650" lvl="1" indent="-171450">
              <a:buFont typeface="Arial" pitchFamily="34" charset="0"/>
              <a:buChar char="•"/>
            </a:pPr>
            <a:r>
              <a:rPr lang="en-AU" sz="1200" kern="1200" dirty="0" smtClean="0">
                <a:solidFill>
                  <a:schemeClr val="tx1"/>
                </a:solidFill>
                <a:latin typeface="+mn-lt"/>
                <a:ea typeface="+mn-ea"/>
                <a:cs typeface="+mn-cs"/>
              </a:rPr>
              <a:t>Completing required forms – which can include:</a:t>
            </a:r>
          </a:p>
          <a:p>
            <a:pPr marL="628650" lvl="1" indent="-171450">
              <a:buFont typeface="Arial" pitchFamily="34" charset="0"/>
              <a:buChar char="•"/>
            </a:pPr>
            <a:r>
              <a:rPr lang="en-AU" sz="1200" kern="1200" dirty="0" smtClean="0">
                <a:solidFill>
                  <a:schemeClr val="tx1"/>
                </a:solidFill>
                <a:latin typeface="+mn-lt"/>
                <a:ea typeface="+mn-ea"/>
                <a:cs typeface="+mn-cs"/>
              </a:rPr>
              <a:t>Time sheets</a:t>
            </a:r>
          </a:p>
          <a:p>
            <a:pPr marL="628650" lvl="1" indent="-171450">
              <a:buFont typeface="Arial" pitchFamily="34" charset="0"/>
              <a:buChar char="•"/>
            </a:pPr>
            <a:r>
              <a:rPr lang="en-AU" sz="1200" kern="1200" dirty="0" smtClean="0">
                <a:solidFill>
                  <a:schemeClr val="tx1"/>
                </a:solidFill>
                <a:latin typeface="+mn-lt"/>
                <a:ea typeface="+mn-ea"/>
                <a:cs typeface="+mn-cs"/>
              </a:rPr>
              <a:t>Incident reports</a:t>
            </a:r>
          </a:p>
          <a:p>
            <a:pPr marL="628650" lvl="1" indent="-171450">
              <a:buFont typeface="Arial" pitchFamily="34" charset="0"/>
              <a:buChar char="•"/>
            </a:pPr>
            <a:r>
              <a:rPr lang="en-AU" sz="1200" kern="1200" dirty="0" smtClean="0">
                <a:solidFill>
                  <a:schemeClr val="tx1"/>
                </a:solidFill>
                <a:latin typeface="+mn-lt"/>
                <a:ea typeface="+mn-ea"/>
                <a:cs typeface="+mn-cs"/>
              </a:rPr>
              <a:t>Maintenance requests</a:t>
            </a:r>
          </a:p>
          <a:p>
            <a:pPr marL="628650" lvl="1" indent="-171450">
              <a:buFont typeface="Arial" pitchFamily="34" charset="0"/>
              <a:buChar char="•"/>
            </a:pPr>
            <a:r>
              <a:rPr lang="en-AU" sz="1200" kern="1200" dirty="0" smtClean="0">
                <a:solidFill>
                  <a:schemeClr val="tx1"/>
                </a:solidFill>
                <a:latin typeface="+mn-lt"/>
                <a:ea typeface="+mn-ea"/>
                <a:cs typeface="+mn-cs"/>
              </a:rPr>
              <a:t>Manifests</a:t>
            </a:r>
          </a:p>
          <a:p>
            <a:pPr marL="628650" lvl="1" indent="-171450">
              <a:buFont typeface="Arial" pitchFamily="34" charset="0"/>
              <a:buChar char="•"/>
            </a:pPr>
            <a:r>
              <a:rPr lang="en-AU" sz="1200" kern="1200" dirty="0" smtClean="0">
                <a:solidFill>
                  <a:schemeClr val="tx1"/>
                </a:solidFill>
                <a:latin typeface="+mn-lt"/>
                <a:ea typeface="+mn-ea"/>
                <a:cs typeface="+mn-cs"/>
              </a:rPr>
              <a:t>Tour report – detailing Name of tour, Dates, Times, Numbers and other information required by individual operators</a:t>
            </a:r>
          </a:p>
          <a:p>
            <a:pPr marL="171450" lvl="0" indent="-171450">
              <a:buFont typeface="Arial" pitchFamily="34" charset="0"/>
              <a:buChar char="•"/>
            </a:pPr>
            <a:r>
              <a:rPr lang="en-AU" sz="1200" kern="1200" dirty="0" smtClean="0">
                <a:solidFill>
                  <a:schemeClr val="tx1"/>
                </a:solidFill>
                <a:latin typeface="+mn-lt"/>
                <a:ea typeface="+mn-ea"/>
                <a:cs typeface="+mn-cs"/>
              </a:rPr>
              <a:t>Handing in required items – such as:</a:t>
            </a:r>
          </a:p>
          <a:p>
            <a:pPr marL="628650" lvl="1" indent="-171450">
              <a:buFont typeface="Arial" pitchFamily="34" charset="0"/>
              <a:buChar char="•"/>
            </a:pPr>
            <a:r>
              <a:rPr lang="en-AU" sz="1200" kern="1200" dirty="0" smtClean="0">
                <a:solidFill>
                  <a:schemeClr val="tx1"/>
                </a:solidFill>
                <a:latin typeface="+mn-lt"/>
                <a:ea typeface="+mn-ea"/>
                <a:cs typeface="+mn-cs"/>
              </a:rPr>
              <a:t>Forms identified immediately above</a:t>
            </a:r>
          </a:p>
          <a:p>
            <a:pPr marL="628650" lvl="1" indent="-171450">
              <a:buFont typeface="Arial" pitchFamily="34" charset="0"/>
              <a:buChar char="•"/>
            </a:pPr>
            <a:r>
              <a:rPr lang="en-AU" sz="1200" kern="1200" dirty="0" smtClean="0">
                <a:solidFill>
                  <a:schemeClr val="tx1"/>
                </a:solidFill>
                <a:latin typeface="+mn-lt"/>
                <a:ea typeface="+mn-ea"/>
                <a:cs typeface="+mn-cs"/>
              </a:rPr>
              <a:t>Lost and Found items</a:t>
            </a:r>
          </a:p>
          <a:p>
            <a:pPr marL="628650" lvl="1" indent="-171450">
              <a:buFont typeface="Arial" pitchFamily="34" charset="0"/>
              <a:buChar char="•"/>
            </a:pPr>
            <a:r>
              <a:rPr lang="en-AU" sz="1200" kern="1200" dirty="0" smtClean="0">
                <a:solidFill>
                  <a:schemeClr val="tx1"/>
                </a:solidFill>
                <a:latin typeface="+mn-lt"/>
                <a:ea typeface="+mn-ea"/>
                <a:cs typeface="+mn-cs"/>
              </a:rPr>
              <a:t>Customer comment cards</a:t>
            </a:r>
          </a:p>
          <a:p>
            <a:pPr marL="628650" lvl="1" indent="-171450">
              <a:buFont typeface="Arial" pitchFamily="34" charset="0"/>
              <a:buChar char="•"/>
            </a:pPr>
            <a:r>
              <a:rPr lang="en-AU" sz="1200" kern="1200" dirty="0" smtClean="0">
                <a:solidFill>
                  <a:schemeClr val="tx1"/>
                </a:solidFill>
                <a:latin typeface="+mn-lt"/>
                <a:ea typeface="+mn-ea"/>
                <a:cs typeface="+mn-cs"/>
              </a:rPr>
              <a:t>Head count checks</a:t>
            </a:r>
          </a:p>
          <a:p>
            <a:pPr marL="171450" lvl="0" indent="-171450">
              <a:buFont typeface="Arial" pitchFamily="34" charset="0"/>
              <a:buChar char="•"/>
            </a:pPr>
            <a:r>
              <a:rPr lang="en-AU" sz="1200" kern="1200" dirty="0" smtClean="0">
                <a:solidFill>
                  <a:schemeClr val="tx1"/>
                </a:solidFill>
                <a:latin typeface="+mn-lt"/>
                <a:ea typeface="+mn-ea"/>
                <a:cs typeface="+mn-cs"/>
              </a:rPr>
              <a:t>Cleaning up – this may relate to:</a:t>
            </a:r>
          </a:p>
          <a:p>
            <a:pPr marL="628650" lvl="1" indent="-171450">
              <a:buFont typeface="Arial" pitchFamily="34" charset="0"/>
              <a:buChar char="•"/>
            </a:pPr>
            <a:r>
              <a:rPr lang="en-AU" sz="1200" kern="1200" dirty="0" smtClean="0">
                <a:solidFill>
                  <a:schemeClr val="tx1"/>
                </a:solidFill>
                <a:latin typeface="+mn-lt"/>
                <a:ea typeface="+mn-ea"/>
                <a:cs typeface="+mn-cs"/>
              </a:rPr>
              <a:t>Cleaning vehicles</a:t>
            </a:r>
          </a:p>
          <a:p>
            <a:pPr marL="628650" lvl="1" indent="-171450">
              <a:buFont typeface="Arial" pitchFamily="34" charset="0"/>
              <a:buChar char="•"/>
            </a:pPr>
            <a:r>
              <a:rPr lang="en-AU" sz="1200" kern="1200" dirty="0" smtClean="0">
                <a:solidFill>
                  <a:schemeClr val="tx1"/>
                </a:solidFill>
                <a:latin typeface="+mn-lt"/>
                <a:ea typeface="+mn-ea"/>
                <a:cs typeface="+mn-cs"/>
              </a:rPr>
              <a:t>Tidying arrival and departure points</a:t>
            </a:r>
          </a:p>
          <a:p>
            <a:pPr marL="628650" lvl="1" indent="-171450">
              <a:buFont typeface="Arial" pitchFamily="34" charset="0"/>
              <a:buChar char="•"/>
            </a:pPr>
            <a:r>
              <a:rPr lang="en-AU" sz="1200" kern="1200" dirty="0" smtClean="0">
                <a:solidFill>
                  <a:schemeClr val="tx1"/>
                </a:solidFill>
                <a:latin typeface="+mn-lt"/>
                <a:ea typeface="+mn-ea"/>
                <a:cs typeface="+mn-cs"/>
              </a:rPr>
              <a:t>Replenishing materials, handouts, promotional materials and merchandise distributed to (or taken by) tour group members.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113</a:t>
            </a:fld>
            <a:endParaRPr lang="en-US" dirty="0"/>
          </a:p>
        </p:txBody>
      </p:sp>
    </p:spTree>
    <p:extLst>
      <p:ext uri="{BB962C8B-B14F-4D97-AF65-F5344CB8AC3E}">
        <p14:creationId xmlns:p14="http://schemas.microsoft.com/office/powerpoint/2010/main" val="3692928088"/>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describing completing end-of-tour activities as part of on-departure/post-tour activities:</a:t>
            </a:r>
          </a:p>
          <a:p>
            <a:pPr marL="171450" lvl="0" indent="-171450">
              <a:buFont typeface="Arial" pitchFamily="34" charset="0"/>
              <a:buChar char="•"/>
            </a:pPr>
            <a:r>
              <a:rPr lang="en-AU" sz="1200" kern="1200" dirty="0" smtClean="0">
                <a:solidFill>
                  <a:schemeClr val="tx1"/>
                </a:solidFill>
                <a:latin typeface="+mn-lt"/>
                <a:ea typeface="+mn-ea"/>
                <a:cs typeface="+mn-cs"/>
              </a:rPr>
              <a:t>Participating in de-briefing – with management, the marketing department and/or heads of sections to:</a:t>
            </a:r>
          </a:p>
          <a:p>
            <a:pPr marL="628650" lvl="1" indent="-171450">
              <a:buFont typeface="Arial" pitchFamily="34" charset="0"/>
              <a:buChar char="•"/>
            </a:pPr>
            <a:r>
              <a:rPr lang="en-AU" sz="1200" kern="1200" dirty="0" smtClean="0">
                <a:solidFill>
                  <a:schemeClr val="tx1"/>
                </a:solidFill>
                <a:latin typeface="+mn-lt"/>
                <a:ea typeface="+mn-ea"/>
                <a:cs typeface="+mn-cs"/>
              </a:rPr>
              <a:t>Discuss events and the tour in general</a:t>
            </a:r>
          </a:p>
          <a:p>
            <a:pPr marL="628650" lvl="1" indent="-171450">
              <a:buFont typeface="Arial" pitchFamily="34" charset="0"/>
              <a:buChar char="•"/>
            </a:pPr>
            <a:r>
              <a:rPr lang="en-AU" sz="1200" kern="1200" dirty="0" smtClean="0">
                <a:solidFill>
                  <a:schemeClr val="tx1"/>
                </a:solidFill>
                <a:latin typeface="+mn-lt"/>
                <a:ea typeface="+mn-ea"/>
                <a:cs typeface="+mn-cs"/>
              </a:rPr>
              <a:t>Identify lessons learned</a:t>
            </a:r>
          </a:p>
          <a:p>
            <a:pPr marL="628650" lvl="1" indent="-171450">
              <a:buFont typeface="Arial" pitchFamily="34" charset="0"/>
              <a:buChar char="•"/>
            </a:pPr>
            <a:r>
              <a:rPr lang="en-AU" sz="1200" kern="1200" dirty="0" smtClean="0">
                <a:solidFill>
                  <a:schemeClr val="tx1"/>
                </a:solidFill>
                <a:latin typeface="+mn-lt"/>
                <a:ea typeface="+mn-ea"/>
                <a:cs typeface="+mn-cs"/>
              </a:rPr>
              <a:t>Identify opportunities for improvements, other tour types  and/or potential tour group customers</a:t>
            </a:r>
          </a:p>
          <a:p>
            <a:pPr marL="171450" lvl="0" indent="-171450">
              <a:buFont typeface="Arial" pitchFamily="34" charset="0"/>
              <a:buChar char="•"/>
            </a:pPr>
            <a:r>
              <a:rPr lang="en-AU" sz="1200" kern="1200" dirty="0" smtClean="0">
                <a:solidFill>
                  <a:schemeClr val="tx1"/>
                </a:solidFill>
                <a:latin typeface="+mn-lt"/>
                <a:ea typeface="+mn-ea"/>
                <a:cs typeface="+mn-cs"/>
              </a:rPr>
              <a:t>Reconciling cash and vouchers – for accounting, bookkeeping and business performance reasons</a:t>
            </a:r>
          </a:p>
          <a:p>
            <a:pPr marL="171450" lvl="0" indent="-171450">
              <a:buFont typeface="Arial" pitchFamily="34" charset="0"/>
              <a:buChar char="•"/>
            </a:pPr>
            <a:r>
              <a:rPr lang="en-AU" sz="1200" kern="1200" dirty="0" smtClean="0">
                <a:solidFill>
                  <a:schemeClr val="tx1"/>
                </a:solidFill>
                <a:latin typeface="+mn-lt"/>
                <a:ea typeface="+mn-ea"/>
                <a:cs typeface="+mn-cs"/>
              </a:rPr>
              <a:t>Remitting payments received – for additional sales </a:t>
            </a:r>
          </a:p>
          <a:p>
            <a:pPr marL="171450" lvl="0" indent="-171450">
              <a:buFont typeface="Arial" pitchFamily="34" charset="0"/>
              <a:buChar char="•"/>
            </a:pPr>
            <a:r>
              <a:rPr lang="en-AU" sz="1200" kern="1200" dirty="0" smtClean="0">
                <a:solidFill>
                  <a:schemeClr val="tx1"/>
                </a:solidFill>
                <a:latin typeface="+mn-lt"/>
                <a:ea typeface="+mn-ea"/>
                <a:cs typeface="+mn-cs"/>
              </a:rPr>
              <a:t>Forwarding feedback received.</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114</a:t>
            </a:fld>
            <a:endParaRPr lang="en-US" dirty="0"/>
          </a:p>
        </p:txBody>
      </p:sp>
    </p:spTree>
    <p:extLst>
      <p:ext uri="{BB962C8B-B14F-4D97-AF65-F5344CB8AC3E}">
        <p14:creationId xmlns:p14="http://schemas.microsoft.com/office/powerpoint/2010/main" val="4092966154"/>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lists important points to note:</a:t>
            </a:r>
          </a:p>
          <a:p>
            <a:pPr marL="171450" lvl="0" indent="-171450">
              <a:buFont typeface="Arial" pitchFamily="34" charset="0"/>
              <a:buChar char="•"/>
            </a:pPr>
            <a:r>
              <a:rPr lang="en-AU" sz="1200" kern="1200" dirty="0" smtClean="0">
                <a:solidFill>
                  <a:schemeClr val="tx1"/>
                </a:solidFill>
                <a:latin typeface="+mn-lt"/>
                <a:ea typeface="+mn-ea"/>
                <a:cs typeface="+mn-cs"/>
              </a:rPr>
              <a:t>Consumers are becoming increasingly aware of their legal rights – so Tour Operators/tour leaders/guides need to be aware of their obligations to the client </a:t>
            </a:r>
          </a:p>
          <a:p>
            <a:pPr marL="171450" lvl="0" indent="-171450">
              <a:buFont typeface="Arial" pitchFamily="34" charset="0"/>
              <a:buChar char="•"/>
            </a:pPr>
            <a:r>
              <a:rPr lang="en-AU" sz="1200" kern="1200" dirty="0" smtClean="0">
                <a:solidFill>
                  <a:schemeClr val="tx1"/>
                </a:solidFill>
                <a:latin typeface="+mn-lt"/>
                <a:ea typeface="+mn-ea"/>
                <a:cs typeface="+mn-cs"/>
              </a:rPr>
              <a:t>Legal terms and definitions are not always easy to interpret/understand – but there is an obligation to learn and interpret what they mean: importance is never an excuse</a:t>
            </a:r>
          </a:p>
          <a:p>
            <a:pPr marL="171450" lvl="0" indent="-171450">
              <a:buFont typeface="Arial" pitchFamily="34" charset="0"/>
              <a:buChar char="•"/>
            </a:pPr>
            <a:r>
              <a:rPr lang="en-AU" sz="1200" kern="1200" dirty="0" smtClean="0">
                <a:solidFill>
                  <a:schemeClr val="tx1"/>
                </a:solidFill>
                <a:latin typeface="+mn-lt"/>
                <a:ea typeface="+mn-ea"/>
                <a:cs typeface="+mn-cs"/>
              </a:rPr>
              <a:t>Tour leaders/guides should know </a:t>
            </a:r>
            <a:r>
              <a:rPr lang="en-AU" sz="1200" i="1" kern="1200" dirty="0" smtClean="0">
                <a:solidFill>
                  <a:schemeClr val="tx1"/>
                </a:solidFill>
                <a:latin typeface="+mn-lt"/>
                <a:ea typeface="+mn-ea"/>
                <a:cs typeface="+mn-cs"/>
              </a:rPr>
              <a:t>their</a:t>
            </a:r>
            <a:r>
              <a:rPr lang="en-AU" sz="1200" kern="1200" dirty="0" smtClean="0">
                <a:solidFill>
                  <a:schemeClr val="tx1"/>
                </a:solidFill>
                <a:latin typeface="+mn-lt"/>
                <a:ea typeface="+mn-ea"/>
                <a:cs typeface="+mn-cs"/>
              </a:rPr>
              <a:t> legal rights/obligations.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115</a:t>
            </a:fld>
            <a:endParaRPr lang="en-US" dirty="0"/>
          </a:p>
        </p:txBody>
      </p:sp>
    </p:spTree>
    <p:extLst>
      <p:ext uri="{BB962C8B-B14F-4D97-AF65-F5344CB8AC3E}">
        <p14:creationId xmlns:p14="http://schemas.microsoft.com/office/powerpoint/2010/main" val="930826718"/>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listing important points to note:</a:t>
            </a:r>
          </a:p>
          <a:p>
            <a:pPr marL="171450" lvl="0" indent="-171450">
              <a:buFont typeface="Arial" pitchFamily="34" charset="0"/>
              <a:buChar char="•"/>
            </a:pPr>
            <a:r>
              <a:rPr lang="en-AU" sz="1200" kern="1200" dirty="0" smtClean="0">
                <a:solidFill>
                  <a:schemeClr val="tx1"/>
                </a:solidFill>
                <a:latin typeface="+mn-lt"/>
                <a:ea typeface="+mn-ea"/>
                <a:cs typeface="+mn-cs"/>
              </a:rPr>
              <a:t>There is a need to seek legal advice – from a legal professional, a recognised industry body/association or a relevant government agency </a:t>
            </a:r>
          </a:p>
          <a:p>
            <a:pPr marL="171450" lvl="0" indent="-171450">
              <a:buFont typeface="Arial" pitchFamily="34" charset="0"/>
              <a:buChar char="•"/>
            </a:pPr>
            <a:r>
              <a:rPr lang="en-AU" sz="1200" kern="1200" dirty="0" smtClean="0">
                <a:solidFill>
                  <a:schemeClr val="tx1"/>
                </a:solidFill>
                <a:latin typeface="+mn-lt"/>
                <a:ea typeface="+mn-ea"/>
                <a:cs typeface="+mn-cs"/>
              </a:rPr>
              <a:t>Every Tourist Guide should be covered by public indemnity/liability (or similar) insurance</a:t>
            </a:r>
          </a:p>
          <a:p>
            <a:pPr marL="171450" lvl="0" indent="-171450">
              <a:buFont typeface="Arial" pitchFamily="34" charset="0"/>
              <a:buChar char="•"/>
            </a:pPr>
            <a:r>
              <a:rPr lang="en-AU" sz="1200" kern="1200" dirty="0" smtClean="0">
                <a:solidFill>
                  <a:schemeClr val="tx1"/>
                </a:solidFill>
                <a:latin typeface="+mn-lt"/>
                <a:ea typeface="+mn-ea"/>
                <a:cs typeface="+mn-cs"/>
              </a:rPr>
              <a:t>All Tourist Guides should belong to a recognised Tour Guide Association – so they can obtain advice and assistance in this regard from industry specialists with relevant knowledge and experience</a:t>
            </a:r>
          </a:p>
          <a:p>
            <a:pPr marL="171450" lvl="0" indent="-171450">
              <a:buFont typeface="Arial" pitchFamily="34" charset="0"/>
              <a:buChar char="•"/>
            </a:pPr>
            <a:r>
              <a:rPr lang="en-AU" sz="1200" kern="1200" dirty="0" smtClean="0">
                <a:solidFill>
                  <a:schemeClr val="tx1"/>
                </a:solidFill>
                <a:latin typeface="+mn-lt"/>
                <a:ea typeface="+mn-ea"/>
                <a:cs typeface="+mn-cs"/>
              </a:rPr>
              <a:t>A standard requirement for Tourist Guides is they hold a current and recognised First Aid certificate/qualification.</a:t>
            </a:r>
          </a:p>
          <a:p>
            <a:pPr>
              <a:buFont typeface="Arial" pitchFamily="34" charset="0"/>
              <a:buNone/>
            </a:pPr>
            <a:endParaRPr lang="en-US"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116</a:t>
            </a:fld>
            <a:endParaRPr lang="en-US" dirty="0"/>
          </a:p>
        </p:txBody>
      </p:sp>
    </p:spTree>
    <p:extLst>
      <p:ext uri="{BB962C8B-B14F-4D97-AF65-F5344CB8AC3E}">
        <p14:creationId xmlns:p14="http://schemas.microsoft.com/office/powerpoint/2010/main" val="228384110"/>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notes </a:t>
            </a:r>
            <a:r>
              <a:rPr lang="en-AU" sz="1200" kern="1200" dirty="0" smtClean="0">
                <a:solidFill>
                  <a:schemeClr val="tx1"/>
                </a:solidFill>
                <a:latin typeface="+mn-lt"/>
                <a:ea typeface="+mn-ea"/>
                <a:cs typeface="+mn-cs"/>
              </a:rPr>
              <a:t>Tour Operators and Tour Guides can be seen as breaking the law if they:</a:t>
            </a:r>
          </a:p>
          <a:p>
            <a:pPr marL="171450" lvl="0" indent="-171450">
              <a:buFont typeface="Arial" pitchFamily="34" charset="0"/>
              <a:buChar char="•"/>
            </a:pPr>
            <a:r>
              <a:rPr lang="en-AU" sz="1200" kern="1200" dirty="0" smtClean="0">
                <a:solidFill>
                  <a:schemeClr val="tx1"/>
                </a:solidFill>
                <a:latin typeface="+mn-lt"/>
                <a:ea typeface="+mn-ea"/>
                <a:cs typeface="+mn-cs"/>
              </a:rPr>
              <a:t>Misrepresent tour activities, accommodation and other services and inclusions of a tour, </a:t>
            </a:r>
          </a:p>
          <a:p>
            <a:pPr marL="171450" lvl="0" indent="-171450">
              <a:buFont typeface="Arial" pitchFamily="34" charset="0"/>
              <a:buChar char="•"/>
            </a:pPr>
            <a:r>
              <a:rPr lang="en-AU" sz="1200" kern="1200" dirty="0" smtClean="0">
                <a:solidFill>
                  <a:schemeClr val="tx1"/>
                </a:solidFill>
                <a:latin typeface="+mn-lt"/>
                <a:ea typeface="+mn-ea"/>
                <a:cs typeface="+mn-cs"/>
              </a:rPr>
              <a:t>Give negligent or inappropriate advice</a:t>
            </a:r>
          </a:p>
          <a:p>
            <a:pPr marL="171450" lvl="0" indent="-171450">
              <a:buFont typeface="Arial" pitchFamily="34" charset="0"/>
              <a:buChar char="•"/>
            </a:pPr>
            <a:r>
              <a:rPr lang="en-AU" sz="1200" kern="1200" dirty="0" smtClean="0">
                <a:solidFill>
                  <a:schemeClr val="tx1"/>
                </a:solidFill>
                <a:latin typeface="+mn-lt"/>
                <a:ea typeface="+mn-ea"/>
                <a:cs typeface="+mn-cs"/>
              </a:rPr>
              <a:t>Provide unqualified or inappropriate staff or unsuitable suppliers to their tours</a:t>
            </a:r>
          </a:p>
          <a:p>
            <a:pPr marL="171450" lvl="0" indent="-171450">
              <a:buFont typeface="Arial" pitchFamily="34" charset="0"/>
              <a:buChar char="•"/>
            </a:pPr>
            <a:r>
              <a:rPr lang="en-AU" sz="1200" kern="1200" dirty="0" smtClean="0">
                <a:solidFill>
                  <a:schemeClr val="tx1"/>
                </a:solidFill>
                <a:latin typeface="+mn-lt"/>
                <a:ea typeface="+mn-ea"/>
                <a:cs typeface="+mn-cs"/>
              </a:rPr>
              <a:t>Are negligent in their selection of supplier</a:t>
            </a:r>
          </a:p>
          <a:p>
            <a:pPr marL="171450" lvl="0" indent="-171450">
              <a:buFont typeface="Arial" pitchFamily="34" charset="0"/>
              <a:buChar char="•"/>
            </a:pPr>
            <a:r>
              <a:rPr lang="en-AU" sz="1200" kern="1200" dirty="0" smtClean="0">
                <a:solidFill>
                  <a:schemeClr val="tx1"/>
                </a:solidFill>
                <a:latin typeface="+mn-lt"/>
                <a:ea typeface="+mn-ea"/>
                <a:cs typeface="+mn-cs"/>
              </a:rPr>
              <a:t>Do not provide for the care, wellbeing, comfort and safety of each individual on the tour.</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117</a:t>
            </a:fld>
            <a:endParaRPr lang="en-US" dirty="0"/>
          </a:p>
        </p:txBody>
      </p:sp>
    </p:spTree>
    <p:extLst>
      <p:ext uri="{BB962C8B-B14F-4D97-AF65-F5344CB8AC3E}">
        <p14:creationId xmlns:p14="http://schemas.microsoft.com/office/powerpoint/2010/main" val="2323386916"/>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states </a:t>
            </a:r>
            <a:r>
              <a:rPr lang="en-AU" sz="1200" kern="1200" dirty="0" smtClean="0">
                <a:solidFill>
                  <a:schemeClr val="tx1"/>
                </a:solidFill>
                <a:latin typeface="+mn-lt"/>
                <a:ea typeface="+mn-ea"/>
                <a:cs typeface="+mn-cs"/>
              </a:rPr>
              <a:t>Tour Operators and Tour Guides are obliged to:</a:t>
            </a:r>
          </a:p>
          <a:p>
            <a:pPr marL="171450" lvl="0" indent="-171450">
              <a:buFont typeface="Arial" pitchFamily="34" charset="0"/>
              <a:buChar char="•"/>
            </a:pPr>
            <a:r>
              <a:rPr lang="en-AU" sz="1200" kern="1200" dirty="0" smtClean="0">
                <a:solidFill>
                  <a:schemeClr val="tx1"/>
                </a:solidFill>
                <a:latin typeface="+mn-lt"/>
                <a:ea typeface="+mn-ea"/>
                <a:cs typeface="+mn-cs"/>
              </a:rPr>
              <a:t>Provide the services as contracted – and outlined in brochure, contract or tender for the tour</a:t>
            </a:r>
          </a:p>
          <a:p>
            <a:pPr marL="171450" lvl="0" indent="-171450">
              <a:buFont typeface="Arial" pitchFamily="34" charset="0"/>
              <a:buChar char="•"/>
            </a:pPr>
            <a:r>
              <a:rPr lang="en-AU" sz="1200" kern="1200" dirty="0" smtClean="0">
                <a:solidFill>
                  <a:schemeClr val="tx1"/>
                </a:solidFill>
                <a:latin typeface="+mn-lt"/>
                <a:ea typeface="+mn-ea"/>
                <a:cs typeface="+mn-cs"/>
              </a:rPr>
              <a:t>Ensure stated accommodation/services/sightseeing/attractions are included – as identified or promised</a:t>
            </a:r>
          </a:p>
          <a:p>
            <a:pPr marL="171450" lvl="0" indent="-171450">
              <a:buFont typeface="Arial" pitchFamily="34" charset="0"/>
              <a:buChar char="•"/>
            </a:pPr>
            <a:r>
              <a:rPr lang="en-AU" sz="1200" kern="1200" dirty="0" smtClean="0">
                <a:solidFill>
                  <a:schemeClr val="tx1"/>
                </a:solidFill>
                <a:latin typeface="+mn-lt"/>
                <a:ea typeface="+mn-ea"/>
                <a:cs typeface="+mn-cs"/>
              </a:rPr>
              <a:t>Use/provide ‘expert guides’ – who know what they are doing and have suitable experience and expertise appropriate to the tour type</a:t>
            </a:r>
          </a:p>
          <a:p>
            <a:pPr marL="171450" lvl="0" indent="-171450">
              <a:buFont typeface="Arial" pitchFamily="34" charset="0"/>
              <a:buChar char="•"/>
            </a:pPr>
            <a:r>
              <a:rPr lang="en-AU" sz="1200" kern="1200" dirty="0" smtClean="0">
                <a:solidFill>
                  <a:schemeClr val="tx1"/>
                </a:solidFill>
                <a:latin typeface="+mn-lt"/>
                <a:ea typeface="+mn-ea"/>
                <a:cs typeface="+mn-cs"/>
              </a:rPr>
              <a:t>Ensure all practices of guide and other staff are safe, ethical and professional</a:t>
            </a:r>
          </a:p>
          <a:p>
            <a:pPr marL="171450" lvl="0" indent="-171450">
              <a:buFont typeface="Arial" pitchFamily="34" charset="0"/>
              <a:buChar char="•"/>
            </a:pPr>
            <a:r>
              <a:rPr lang="en-AU" sz="1200" kern="1200" dirty="0" smtClean="0">
                <a:solidFill>
                  <a:schemeClr val="tx1"/>
                </a:solidFill>
                <a:latin typeface="+mn-lt"/>
                <a:ea typeface="+mn-ea"/>
                <a:cs typeface="+mn-cs"/>
              </a:rPr>
              <a:t>Provide safe and reliable services and facilities – at all times.</a:t>
            </a:r>
          </a:p>
          <a:p>
            <a:pPr>
              <a:buFont typeface="Arial" pitchFamily="34" charset="0"/>
              <a:buNone/>
            </a:pPr>
            <a:r>
              <a:rPr lang="en-US" noProof="0" dirty="0" smtClean="0"/>
              <a:t>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118</a:t>
            </a:fld>
            <a:endParaRPr lang="en-US" dirty="0"/>
          </a:p>
        </p:txBody>
      </p:sp>
    </p:spTree>
    <p:extLst>
      <p:ext uri="{BB962C8B-B14F-4D97-AF65-F5344CB8AC3E}">
        <p14:creationId xmlns:p14="http://schemas.microsoft.com/office/powerpoint/2010/main" val="3753509466"/>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states for </a:t>
            </a:r>
            <a:r>
              <a:rPr lang="en-AU" sz="1200" kern="1200" dirty="0" smtClean="0">
                <a:solidFill>
                  <a:schemeClr val="tx1"/>
                </a:solidFill>
                <a:latin typeface="+mn-lt"/>
                <a:ea typeface="+mn-ea"/>
                <a:cs typeface="+mn-cs"/>
              </a:rPr>
              <a:t>the employer/Tour Operator they are working for the Tour Guide must learn, understand and ensure they operate in compliance with all ‘Terms and Conditions’ that apply and have been provided to tour group members for their tour, in relation to:</a:t>
            </a:r>
          </a:p>
          <a:p>
            <a:pPr marL="171450" lvl="0" indent="-171450">
              <a:buFont typeface="Arial" pitchFamily="34" charset="0"/>
              <a:buChar char="•"/>
            </a:pPr>
            <a:r>
              <a:rPr lang="en-AU" sz="1200" kern="1200" dirty="0" smtClean="0">
                <a:solidFill>
                  <a:schemeClr val="tx1"/>
                </a:solidFill>
                <a:latin typeface="+mn-lt"/>
                <a:ea typeface="+mn-ea"/>
                <a:cs typeface="+mn-cs"/>
              </a:rPr>
              <a:t>Deposit and balance conditions</a:t>
            </a:r>
          </a:p>
          <a:p>
            <a:pPr marL="171450" lvl="0" indent="-171450">
              <a:buFont typeface="Arial" pitchFamily="34" charset="0"/>
              <a:buChar char="•"/>
            </a:pPr>
            <a:r>
              <a:rPr lang="en-AU" sz="1200" kern="1200" dirty="0" smtClean="0">
                <a:solidFill>
                  <a:schemeClr val="tx1"/>
                </a:solidFill>
                <a:latin typeface="+mn-lt"/>
                <a:ea typeface="+mn-ea"/>
                <a:cs typeface="+mn-cs"/>
              </a:rPr>
              <a:t>Cancellation and amendment condition charges</a:t>
            </a:r>
          </a:p>
          <a:p>
            <a:pPr marL="171450" lvl="0" indent="-171450">
              <a:buFont typeface="Arial" pitchFamily="34" charset="0"/>
              <a:buChar char="•"/>
            </a:pPr>
            <a:r>
              <a:rPr lang="en-AU" sz="1200" kern="1200" dirty="0" smtClean="0">
                <a:solidFill>
                  <a:schemeClr val="tx1"/>
                </a:solidFill>
                <a:latin typeface="+mn-lt"/>
                <a:ea typeface="+mn-ea"/>
                <a:cs typeface="+mn-cs"/>
              </a:rPr>
              <a:t>Pricing policies – as linked to transport costs and/or currency fluctuations</a:t>
            </a:r>
          </a:p>
          <a:p>
            <a:pPr marL="171450" lvl="0" indent="-171450">
              <a:buFont typeface="Arial" pitchFamily="34" charset="0"/>
              <a:buChar char="•"/>
            </a:pPr>
            <a:r>
              <a:rPr lang="en-AU" sz="1200" kern="1200" dirty="0" smtClean="0">
                <a:solidFill>
                  <a:schemeClr val="tx1"/>
                </a:solidFill>
                <a:latin typeface="+mn-lt"/>
                <a:ea typeface="+mn-ea"/>
                <a:cs typeface="+mn-cs"/>
              </a:rPr>
              <a:t>Exclusions and Inclusions</a:t>
            </a:r>
          </a:p>
          <a:p>
            <a:pPr marL="171450" lvl="0" indent="-171450">
              <a:buFont typeface="Arial" pitchFamily="34" charset="0"/>
              <a:buChar char="•"/>
            </a:pPr>
            <a:r>
              <a:rPr lang="en-AU" sz="1200" kern="1200" dirty="0" smtClean="0">
                <a:solidFill>
                  <a:schemeClr val="tx1"/>
                </a:solidFill>
                <a:latin typeface="+mn-lt"/>
                <a:ea typeface="+mn-ea"/>
                <a:cs typeface="+mn-cs"/>
              </a:rPr>
              <a:t>Itinerary changes </a:t>
            </a:r>
          </a:p>
          <a:p>
            <a:pPr marL="171450" lvl="0" indent="-171450">
              <a:buFont typeface="Arial" pitchFamily="34" charset="0"/>
              <a:buChar char="•"/>
            </a:pPr>
            <a:r>
              <a:rPr lang="en-AU" sz="1200" kern="1200" dirty="0" smtClean="0">
                <a:solidFill>
                  <a:schemeClr val="tx1"/>
                </a:solidFill>
                <a:latin typeface="+mn-lt"/>
                <a:ea typeface="+mn-ea"/>
                <a:cs typeface="+mn-cs"/>
              </a:rPr>
              <a:t>Personal and Property loss/injury/damage.</a:t>
            </a:r>
          </a:p>
          <a:p>
            <a:pPr lvl="0">
              <a:buFont typeface="Arial" pitchFamily="34" charset="0"/>
              <a:buChar char="•"/>
            </a:pPr>
            <a:endParaRPr lang="en-US" sz="1200" kern="1200" dirty="0" smtClean="0">
              <a:solidFill>
                <a:schemeClr val="tx1"/>
              </a:solidFill>
              <a:latin typeface="+mn-lt"/>
              <a:ea typeface="+mn-ea"/>
              <a:cs typeface="+mn-cs"/>
            </a:endParaRPr>
          </a:p>
          <a:p>
            <a:pPr lvl="0">
              <a:buFont typeface="Arial" pitchFamily="34" charset="0"/>
              <a:buNone/>
            </a:pPr>
            <a:r>
              <a:rPr lang="en-US" sz="1200" b="1" kern="1200" dirty="0" smtClean="0">
                <a:solidFill>
                  <a:schemeClr val="tx1"/>
                </a:solidFill>
                <a:latin typeface="+mn-lt"/>
                <a:ea typeface="+mn-ea"/>
                <a:cs typeface="+mn-cs"/>
              </a:rPr>
              <a:t>Class Activity – handouts</a:t>
            </a:r>
          </a:p>
          <a:p>
            <a:pPr marL="171450" lvl="0" indent="-171450">
              <a:buFont typeface="Arial" pitchFamily="34" charset="0"/>
              <a:buChar char="•"/>
            </a:pPr>
            <a:r>
              <a:rPr lang="en-US" sz="1200" b="0" kern="1200" dirty="0" smtClean="0">
                <a:solidFill>
                  <a:schemeClr val="tx1"/>
                </a:solidFill>
                <a:latin typeface="+mn-lt"/>
                <a:ea typeface="+mn-ea"/>
                <a:cs typeface="+mn-cs"/>
              </a:rPr>
              <a:t>Trainer distributes and discusses sample ‘terms and conditions’ for local tour operator</a:t>
            </a:r>
            <a:r>
              <a:rPr lang="en-US" sz="1200" b="0" kern="1200" baseline="0" dirty="0" smtClean="0">
                <a:solidFill>
                  <a:schemeClr val="tx1"/>
                </a:solidFill>
                <a:latin typeface="+mn-lt"/>
                <a:ea typeface="+mn-ea"/>
                <a:cs typeface="+mn-cs"/>
              </a:rPr>
              <a:t> highlighting areas students must know about as a Tour Guide.</a:t>
            </a:r>
            <a:endParaRPr lang="en-AU" sz="1200" b="0" kern="1200" dirty="0" smtClean="0">
              <a:solidFill>
                <a:schemeClr val="tx1"/>
              </a:solidFill>
              <a:latin typeface="+mn-lt"/>
              <a:ea typeface="+mn-ea"/>
              <a:cs typeface="+mn-cs"/>
            </a:endParaRPr>
          </a:p>
          <a:p>
            <a:pPr>
              <a:buFont typeface="Arial" pitchFamily="34" charset="0"/>
              <a:buNone/>
            </a:pPr>
            <a:r>
              <a:rPr lang="en-US" noProof="0" dirty="0" smtClean="0"/>
              <a:t>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119</a:t>
            </a:fld>
            <a:endParaRPr lang="en-US" dirty="0"/>
          </a:p>
        </p:txBody>
      </p:sp>
    </p:spTree>
    <p:extLst>
      <p:ext uri="{BB962C8B-B14F-4D97-AF65-F5344CB8AC3E}">
        <p14:creationId xmlns:p14="http://schemas.microsoft.com/office/powerpoint/2010/main" val="352717162"/>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highlights </a:t>
            </a:r>
            <a:r>
              <a:rPr lang="en-AU" sz="1200" kern="1200" dirty="0" smtClean="0">
                <a:solidFill>
                  <a:schemeClr val="tx1"/>
                </a:solidFill>
                <a:latin typeface="+mn-lt"/>
                <a:ea typeface="+mn-ea"/>
                <a:cs typeface="+mn-cs"/>
              </a:rPr>
              <a:t>it is possible tour group members/clients may also commence legal action if any of the following situations occur:</a:t>
            </a:r>
          </a:p>
          <a:p>
            <a:pPr marL="171450" lvl="0" indent="-171450">
              <a:buFont typeface="Arial" pitchFamily="34" charset="0"/>
              <a:buChar char="•"/>
            </a:pPr>
            <a:r>
              <a:rPr lang="en-AU" sz="1200" kern="1200" dirty="0" smtClean="0">
                <a:solidFill>
                  <a:schemeClr val="tx1"/>
                </a:solidFill>
                <a:latin typeface="+mn-lt"/>
                <a:ea typeface="+mn-ea"/>
                <a:cs typeface="+mn-cs"/>
              </a:rPr>
              <a:t>Non compliance with stated terms and conditions – as laid down by the Tour Operator in their promotional materials.</a:t>
            </a:r>
          </a:p>
          <a:p>
            <a:pPr marL="171450" lvl="0" indent="-171450">
              <a:buFont typeface="Arial" pitchFamily="34" charset="0"/>
              <a:buChar char="•"/>
            </a:pPr>
            <a:r>
              <a:rPr lang="en-AU" sz="1200" kern="1200" dirty="0" smtClean="0">
                <a:solidFill>
                  <a:schemeClr val="tx1"/>
                </a:solidFill>
                <a:latin typeface="+mn-lt"/>
                <a:ea typeface="+mn-ea"/>
                <a:cs typeface="+mn-cs"/>
              </a:rPr>
              <a:t>A tour leader/guide not adhering to the planned itinerary – as is their responsibility: that is, subject to unavoidable events (weather, closure of attractions, traffic accidents)</a:t>
            </a:r>
          </a:p>
          <a:p>
            <a:pPr marL="171450" lvl="0" indent="-171450">
              <a:buFont typeface="Arial" pitchFamily="34" charset="0"/>
              <a:buChar char="•"/>
            </a:pPr>
            <a:r>
              <a:rPr lang="en-AU" sz="1200" kern="1200" dirty="0" smtClean="0">
                <a:solidFill>
                  <a:schemeClr val="tx1"/>
                </a:solidFill>
                <a:latin typeface="+mn-lt"/>
                <a:ea typeface="+mn-ea"/>
                <a:cs typeface="+mn-cs"/>
              </a:rPr>
              <a:t>Late provision of service – or late arrivals at destinations</a:t>
            </a:r>
          </a:p>
          <a:p>
            <a:pPr marL="171450" lvl="0" indent="-171450">
              <a:buFont typeface="Arial" pitchFamily="34" charset="0"/>
              <a:buChar char="•"/>
            </a:pPr>
            <a:r>
              <a:rPr lang="en-AU" sz="1200" kern="1200" dirty="0" smtClean="0">
                <a:solidFill>
                  <a:schemeClr val="tx1"/>
                </a:solidFill>
                <a:latin typeface="+mn-lt"/>
                <a:ea typeface="+mn-ea"/>
                <a:cs typeface="+mn-cs"/>
              </a:rPr>
              <a:t>Inferior and/or cancelled service – when compared to itinerary/advertised tour/s.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120</a:t>
            </a:fld>
            <a:endParaRPr lang="en-US" dirty="0"/>
          </a:p>
        </p:txBody>
      </p:sp>
    </p:spTree>
    <p:extLst>
      <p:ext uri="{BB962C8B-B14F-4D97-AF65-F5344CB8AC3E}">
        <p14:creationId xmlns:p14="http://schemas.microsoft.com/office/powerpoint/2010/main" val="2975138683"/>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identifying/reinforcing reasons tour group members may sue:</a:t>
            </a:r>
          </a:p>
          <a:p>
            <a:pPr marL="171450" lvl="0" indent="-171450">
              <a:buFont typeface="Arial" pitchFamily="34" charset="0"/>
              <a:buChar char="•"/>
            </a:pPr>
            <a:r>
              <a:rPr lang="en-AU" sz="1200" kern="1200" dirty="0" smtClean="0">
                <a:solidFill>
                  <a:schemeClr val="tx1"/>
                </a:solidFill>
                <a:latin typeface="+mn-lt"/>
                <a:ea typeface="+mn-ea"/>
                <a:cs typeface="+mn-cs"/>
              </a:rPr>
              <a:t>Unfulfilled promises – of any sort</a:t>
            </a:r>
          </a:p>
          <a:p>
            <a:pPr marL="171450" lvl="0" indent="-171450">
              <a:buFont typeface="Arial" pitchFamily="34" charset="0"/>
              <a:buChar char="•"/>
            </a:pPr>
            <a:r>
              <a:rPr lang="en-AU" sz="1200" kern="1200" dirty="0" smtClean="0">
                <a:solidFill>
                  <a:schemeClr val="tx1"/>
                </a:solidFill>
                <a:latin typeface="+mn-lt"/>
                <a:ea typeface="+mn-ea"/>
                <a:cs typeface="+mn-cs"/>
              </a:rPr>
              <a:t>Itinerary/accommodation changes – where inferior routes or destinations or accommodation are provided</a:t>
            </a:r>
          </a:p>
          <a:p>
            <a:pPr marL="171450" lvl="0" indent="-171450">
              <a:buFont typeface="Arial" pitchFamily="34" charset="0"/>
              <a:buChar char="•"/>
            </a:pPr>
            <a:r>
              <a:rPr lang="en-AU" sz="1200" kern="1200" dirty="0" smtClean="0">
                <a:solidFill>
                  <a:schemeClr val="tx1"/>
                </a:solidFill>
                <a:latin typeface="+mn-lt"/>
                <a:ea typeface="+mn-ea"/>
                <a:cs typeface="+mn-cs"/>
              </a:rPr>
              <a:t>Loss/theft of property – whilst it is the responsibility of the tour company</a:t>
            </a:r>
          </a:p>
          <a:p>
            <a:pPr marL="171450" lvl="0" indent="-171450">
              <a:buFont typeface="Arial" pitchFamily="34" charset="0"/>
              <a:buChar char="•"/>
            </a:pPr>
            <a:r>
              <a:rPr lang="en-AU" sz="1200" kern="1200" dirty="0" smtClean="0">
                <a:solidFill>
                  <a:schemeClr val="tx1"/>
                </a:solidFill>
                <a:latin typeface="+mn-lt"/>
                <a:ea typeface="+mn-ea"/>
                <a:cs typeface="+mn-cs"/>
              </a:rPr>
              <a:t>Accidents, illness or death – which occur on tour.</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121</a:t>
            </a:fld>
            <a:endParaRPr lang="en-US" dirty="0"/>
          </a:p>
        </p:txBody>
      </p:sp>
    </p:spTree>
    <p:extLst>
      <p:ext uri="{BB962C8B-B14F-4D97-AF65-F5344CB8AC3E}">
        <p14:creationId xmlns:p14="http://schemas.microsoft.com/office/powerpoint/2010/main" val="2573142133"/>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stresses not </a:t>
            </a:r>
            <a:r>
              <a:rPr lang="en-AU" sz="1200" kern="1200" dirty="0" smtClean="0">
                <a:solidFill>
                  <a:schemeClr val="tx1"/>
                </a:solidFill>
                <a:latin typeface="+mn-lt"/>
                <a:ea typeface="+mn-ea"/>
                <a:cs typeface="+mn-cs"/>
              </a:rPr>
              <a:t>only must Tour Guides learn the SOPs for a Tour Operator but they must also:</a:t>
            </a:r>
          </a:p>
          <a:p>
            <a:pPr marL="171450" lvl="0" indent="-171450">
              <a:buFont typeface="Arial" pitchFamily="34" charset="0"/>
              <a:buChar char="•"/>
            </a:pPr>
            <a:r>
              <a:rPr lang="en-AU" sz="1200" kern="1200" dirty="0" smtClean="0">
                <a:solidFill>
                  <a:schemeClr val="tx1"/>
                </a:solidFill>
                <a:latin typeface="+mn-lt"/>
                <a:ea typeface="+mn-ea"/>
                <a:cs typeface="+mn-cs"/>
              </a:rPr>
              <a:t>Study and implement all checking procedures as required by the business</a:t>
            </a:r>
          </a:p>
          <a:p>
            <a:pPr marL="171450" lvl="0" indent="-171450">
              <a:buFont typeface="Arial" pitchFamily="34" charset="0"/>
              <a:buChar char="•"/>
            </a:pPr>
            <a:r>
              <a:rPr lang="en-AU" sz="1200" kern="1200" dirty="0" smtClean="0">
                <a:solidFill>
                  <a:schemeClr val="tx1"/>
                </a:solidFill>
                <a:latin typeface="+mn-lt"/>
                <a:ea typeface="+mn-ea"/>
                <a:cs typeface="+mn-cs"/>
              </a:rPr>
              <a:t>Learn, practice and be able to implement all contingency plans – to address situations where planned itinerary, routes, activities and similar cannot be followed</a:t>
            </a:r>
          </a:p>
          <a:p>
            <a:pPr marL="171450" lvl="0" indent="-171450">
              <a:buFont typeface="Arial" pitchFamily="34" charset="0"/>
              <a:buChar char="•"/>
            </a:pPr>
            <a:r>
              <a:rPr lang="en-AU" sz="1200" kern="1200" dirty="0" smtClean="0">
                <a:solidFill>
                  <a:schemeClr val="tx1"/>
                </a:solidFill>
                <a:latin typeface="+mn-lt"/>
                <a:ea typeface="+mn-ea"/>
                <a:cs typeface="+mn-cs"/>
              </a:rPr>
              <a:t>Learn, practice and be able to implement all emergency plans – to address identified emergency events which might occur on tour.</a:t>
            </a:r>
          </a:p>
          <a:p>
            <a:pPr lvl="0">
              <a:buFont typeface="Arial" pitchFamily="34" charset="0"/>
              <a:buChar char="•"/>
            </a:pPr>
            <a:endParaRPr lang="en-US" sz="1200" kern="1200" dirty="0" smtClean="0">
              <a:solidFill>
                <a:schemeClr val="tx1"/>
              </a:solidFill>
              <a:latin typeface="+mn-lt"/>
              <a:ea typeface="+mn-ea"/>
              <a:cs typeface="+mn-cs"/>
            </a:endParaRPr>
          </a:p>
          <a:p>
            <a:pPr lvl="0">
              <a:buFont typeface="Arial" pitchFamily="34" charset="0"/>
              <a:buNone/>
            </a:pPr>
            <a:r>
              <a:rPr lang="en-US" sz="1200" b="1" kern="1200" dirty="0" smtClean="0">
                <a:solidFill>
                  <a:schemeClr val="tx1"/>
                </a:solidFill>
                <a:latin typeface="+mn-lt"/>
                <a:ea typeface="+mn-ea"/>
                <a:cs typeface="+mn-cs"/>
              </a:rPr>
              <a:t>Class Activity – Handouts</a:t>
            </a:r>
          </a:p>
          <a:p>
            <a:pPr lvl="0">
              <a:buFont typeface="Arial" pitchFamily="34" charset="0"/>
              <a:buNone/>
            </a:pPr>
            <a:r>
              <a:rPr lang="en-US" sz="1200" b="0" kern="1200" dirty="0" smtClean="0">
                <a:solidFill>
                  <a:schemeClr val="tx1"/>
                </a:solidFill>
                <a:latin typeface="+mn-lt"/>
                <a:ea typeface="+mn-ea"/>
                <a:cs typeface="+mn-cs"/>
              </a:rPr>
              <a:t>Trainer distributes and discusses sample contingency plans and emergency plans which Tour Operators have prepared for</a:t>
            </a:r>
            <a:r>
              <a:rPr lang="en-US" sz="1200" b="0" kern="1200" baseline="0" dirty="0" smtClean="0">
                <a:solidFill>
                  <a:schemeClr val="tx1"/>
                </a:solidFill>
                <a:latin typeface="+mn-lt"/>
                <a:ea typeface="+mn-ea"/>
                <a:cs typeface="+mn-cs"/>
              </a:rPr>
              <a:t> implementation on tours.</a:t>
            </a:r>
            <a:endParaRPr lang="en-AU" sz="1200" b="0" kern="120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122</a:t>
            </a:fld>
            <a:endParaRPr lang="en-US" dirty="0"/>
          </a:p>
        </p:txBody>
      </p:sp>
    </p:spTree>
    <p:extLst>
      <p:ext uri="{BB962C8B-B14F-4D97-AF65-F5344CB8AC3E}">
        <p14:creationId xmlns:p14="http://schemas.microsoft.com/office/powerpoint/2010/main" val="1825120590"/>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mentions </a:t>
            </a:r>
            <a:r>
              <a:rPr lang="en-AU" sz="1200" b="0" kern="1200" dirty="0" smtClean="0">
                <a:solidFill>
                  <a:schemeClr val="tx1"/>
                </a:solidFill>
                <a:latin typeface="+mn-lt"/>
                <a:ea typeface="+mn-ea"/>
                <a:cs typeface="+mn-cs"/>
              </a:rPr>
              <a:t>practical implementation requirements regarding legal, ethical and safety requirements noting </a:t>
            </a:r>
            <a:r>
              <a:rPr lang="en-AU" sz="1200" kern="1200" dirty="0" smtClean="0">
                <a:solidFill>
                  <a:schemeClr val="tx1"/>
                </a:solidFill>
                <a:latin typeface="+mn-lt"/>
                <a:ea typeface="+mn-ea"/>
                <a:cs typeface="+mn-cs"/>
              </a:rPr>
              <a:t>Tour Guides must:</a:t>
            </a:r>
          </a:p>
          <a:p>
            <a:pPr marL="171450" lvl="0" indent="-171450">
              <a:buFont typeface="Arial" pitchFamily="34" charset="0"/>
              <a:buChar char="•"/>
            </a:pPr>
            <a:r>
              <a:rPr lang="en-AU" sz="1200" kern="1200" dirty="0" smtClean="0">
                <a:solidFill>
                  <a:schemeClr val="tx1"/>
                </a:solidFill>
                <a:latin typeface="+mn-lt"/>
                <a:ea typeface="+mn-ea"/>
                <a:cs typeface="+mn-cs"/>
              </a:rPr>
              <a:t>Fulfil the Tour Operators contractual obligations – as stated in terms and conditions and any applicable contracts</a:t>
            </a:r>
          </a:p>
          <a:p>
            <a:pPr marL="171450" lvl="0" indent="-171450">
              <a:buFont typeface="Arial" pitchFamily="34" charset="0"/>
              <a:buChar char="•"/>
            </a:pPr>
            <a:r>
              <a:rPr lang="en-AU" sz="1200" kern="1200" dirty="0" smtClean="0">
                <a:solidFill>
                  <a:schemeClr val="tx1"/>
                </a:solidFill>
                <a:latin typeface="+mn-lt"/>
                <a:ea typeface="+mn-ea"/>
                <a:cs typeface="+mn-cs"/>
              </a:rPr>
              <a:t>Ensure duty of care is discharged – to all consumers of the service/experience at all times</a:t>
            </a:r>
          </a:p>
          <a:p>
            <a:pPr marL="171450" lvl="0" indent="-171450">
              <a:buFont typeface="Arial" pitchFamily="34" charset="0"/>
              <a:buChar char="•"/>
            </a:pPr>
            <a:r>
              <a:rPr lang="en-AU" sz="1200" kern="1200" dirty="0" smtClean="0">
                <a:solidFill>
                  <a:schemeClr val="tx1"/>
                </a:solidFill>
                <a:latin typeface="+mn-lt"/>
                <a:ea typeface="+mn-ea"/>
                <a:cs typeface="+mn-cs"/>
              </a:rPr>
              <a:t>Be familiar with the terms and conditions and content of the tour/s – in order this knowledge forms the basis of action taken</a:t>
            </a:r>
          </a:p>
          <a:p>
            <a:pPr marL="171450" lvl="0" indent="-171450">
              <a:buFont typeface="Arial" pitchFamily="34" charset="0"/>
              <a:buChar char="•"/>
            </a:pPr>
            <a:r>
              <a:rPr lang="en-AU" sz="1200" kern="1200" dirty="0" smtClean="0">
                <a:solidFill>
                  <a:schemeClr val="tx1"/>
                </a:solidFill>
                <a:latin typeface="+mn-lt"/>
                <a:ea typeface="+mn-ea"/>
                <a:cs typeface="+mn-cs"/>
              </a:rPr>
              <a:t>Provide accurate, relevant, and current information – in relation to all aspects of the tour</a:t>
            </a:r>
          </a:p>
          <a:p>
            <a:pPr marL="171450" lvl="0" indent="-171450">
              <a:buFont typeface="Arial" pitchFamily="34" charset="0"/>
              <a:buChar char="•"/>
            </a:pPr>
            <a:r>
              <a:rPr lang="en-AU" sz="1200" kern="1200" dirty="0" smtClean="0">
                <a:solidFill>
                  <a:schemeClr val="tx1"/>
                </a:solidFill>
                <a:latin typeface="+mn-lt"/>
                <a:ea typeface="+mn-ea"/>
                <a:cs typeface="+mn-cs"/>
              </a:rPr>
              <a:t>Meet the day-to-day activities of the tour – as per the contractual agreement between the employer, employee and the consumer.</a:t>
            </a:r>
          </a:p>
          <a:p>
            <a:pPr marL="171450" indent="-171450">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123</a:t>
            </a:fld>
            <a:endParaRPr lang="en-US" dirty="0"/>
          </a:p>
        </p:txBody>
      </p:sp>
    </p:spTree>
    <p:extLst>
      <p:ext uri="{BB962C8B-B14F-4D97-AF65-F5344CB8AC3E}">
        <p14:creationId xmlns:p14="http://schemas.microsoft.com/office/powerpoint/2010/main" val="3912328595"/>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mentioning/reinforcing </a:t>
            </a:r>
            <a:r>
              <a:rPr lang="en-AU" sz="1200" b="0" kern="1200" dirty="0" smtClean="0">
                <a:solidFill>
                  <a:schemeClr val="tx1"/>
                </a:solidFill>
                <a:latin typeface="+mn-lt"/>
                <a:ea typeface="+mn-ea"/>
                <a:cs typeface="+mn-cs"/>
              </a:rPr>
              <a:t>practical implementation requirements:</a:t>
            </a:r>
          </a:p>
          <a:p>
            <a:pPr marL="171450" lvl="0" indent="-171450">
              <a:buFont typeface="Arial" pitchFamily="34" charset="0"/>
              <a:buChar char="•"/>
            </a:pPr>
            <a:r>
              <a:rPr lang="en-AU" sz="1200" kern="1200" dirty="0" smtClean="0">
                <a:solidFill>
                  <a:schemeClr val="tx1"/>
                </a:solidFill>
                <a:latin typeface="+mn-lt"/>
                <a:ea typeface="+mn-ea"/>
                <a:cs typeface="+mn-cs"/>
              </a:rPr>
              <a:t>Provide for the care and wellbeing, comfort and safety to each individual on the tour</a:t>
            </a:r>
          </a:p>
          <a:p>
            <a:pPr marL="171450" lvl="0" indent="-171450">
              <a:buFont typeface="Arial" pitchFamily="34" charset="0"/>
              <a:buChar char="•"/>
            </a:pPr>
            <a:r>
              <a:rPr lang="en-AU" sz="1200" kern="1200" dirty="0" smtClean="0">
                <a:solidFill>
                  <a:schemeClr val="tx1"/>
                </a:solidFill>
                <a:latin typeface="+mn-lt"/>
                <a:ea typeface="+mn-ea"/>
                <a:cs typeface="+mn-cs"/>
              </a:rPr>
              <a:t>Conduct the tour in a professional manner</a:t>
            </a:r>
          </a:p>
          <a:p>
            <a:pPr marL="171450" lvl="0" indent="-171450">
              <a:buFont typeface="Arial" pitchFamily="34" charset="0"/>
              <a:buChar char="•"/>
            </a:pPr>
            <a:r>
              <a:rPr lang="en-AU" sz="1200" kern="1200" dirty="0" smtClean="0">
                <a:solidFill>
                  <a:schemeClr val="tx1"/>
                </a:solidFill>
                <a:latin typeface="+mn-lt"/>
                <a:ea typeface="+mn-ea"/>
                <a:cs typeface="+mn-cs"/>
              </a:rPr>
              <a:t>Record all incidents and keep accurate records/documentation – of the tour</a:t>
            </a:r>
          </a:p>
          <a:p>
            <a:pPr marL="171450" lvl="0" indent="-171450">
              <a:buFont typeface="Arial" pitchFamily="34" charset="0"/>
              <a:buChar char="•"/>
            </a:pPr>
            <a:r>
              <a:rPr lang="en-AU" sz="1200" kern="1200" dirty="0" smtClean="0">
                <a:solidFill>
                  <a:schemeClr val="tx1"/>
                </a:solidFill>
                <a:latin typeface="+mn-lt"/>
                <a:ea typeface="+mn-ea"/>
                <a:cs typeface="+mn-cs"/>
              </a:rPr>
              <a:t>Report and document any unusual occurrences</a:t>
            </a:r>
          </a:p>
          <a:p>
            <a:pPr marL="171450" lvl="0" indent="-171450">
              <a:buFont typeface="Arial" pitchFamily="34" charset="0"/>
              <a:buChar char="•"/>
            </a:pPr>
            <a:r>
              <a:rPr lang="en-AU" sz="1200" kern="1200" dirty="0" smtClean="0">
                <a:solidFill>
                  <a:schemeClr val="tx1"/>
                </a:solidFill>
                <a:latin typeface="+mn-lt"/>
                <a:ea typeface="+mn-ea"/>
                <a:cs typeface="+mn-cs"/>
              </a:rPr>
              <a:t>Ensure all activities are performed under safe conditions and acknowledged practice.</a:t>
            </a:r>
          </a:p>
          <a:p>
            <a:pPr>
              <a:buFont typeface="Arial" pitchFamily="34" charset="0"/>
              <a:buNone/>
            </a:pPr>
            <a:r>
              <a:rPr lang="en-AU" sz="1200" b="0" kern="1200" dirty="0" smtClean="0">
                <a:solidFill>
                  <a:schemeClr val="tx1"/>
                </a:solidFill>
                <a:latin typeface="+mn-lt"/>
                <a:ea typeface="+mn-ea"/>
                <a:cs typeface="+mn-cs"/>
              </a:rPr>
              <a:t>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124</a:t>
            </a:fld>
            <a:endParaRPr lang="en-US" dirty="0"/>
          </a:p>
        </p:txBody>
      </p:sp>
    </p:spTree>
    <p:extLst>
      <p:ext uri="{BB962C8B-B14F-4D97-AF65-F5344CB8AC3E}">
        <p14:creationId xmlns:p14="http://schemas.microsoft.com/office/powerpoint/2010/main" val="2558948722"/>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a:t>
            </a:r>
            <a:r>
              <a:rPr kumimoji="0" lang="en-US" sz="2200" kern="1200" noProof="0" dirty="0" smtClean="0">
                <a:solidFill>
                  <a:schemeClr val="tx1"/>
                </a:solidFill>
                <a:latin typeface="Helvetica" pitchFamily="34" charset="0"/>
                <a:ea typeface="+mn-ea"/>
                <a:cs typeface="+mn-cs"/>
              </a:rPr>
              <a:t>reminds students:</a:t>
            </a:r>
          </a:p>
          <a:p>
            <a:pPr marL="171450" lvl="0" indent="-171450">
              <a:buFont typeface="Arial" pitchFamily="34" charset="0"/>
              <a:buChar char="•"/>
            </a:pPr>
            <a:r>
              <a:rPr lang="en-AU" sz="1200" kern="1200" dirty="0" smtClean="0">
                <a:solidFill>
                  <a:schemeClr val="tx1"/>
                </a:solidFill>
                <a:latin typeface="+mn-lt"/>
                <a:ea typeface="+mn-ea"/>
                <a:cs typeface="+mn-cs"/>
              </a:rPr>
              <a:t>A guide/tour leader is responsible for their group and any problems or incidents that arise while on tour – such as injury, loss of enjoyment, loss of property: all these may be seen as the responsibility of the guide </a:t>
            </a:r>
          </a:p>
          <a:p>
            <a:pPr marL="171450" lvl="0" indent="-171450">
              <a:buFont typeface="Arial" pitchFamily="34" charset="0"/>
              <a:buChar char="•"/>
            </a:pPr>
            <a:r>
              <a:rPr lang="en-AU" sz="1200" kern="1200" dirty="0" smtClean="0">
                <a:solidFill>
                  <a:schemeClr val="tx1"/>
                </a:solidFill>
                <a:latin typeface="+mn-lt"/>
                <a:ea typeface="+mn-ea"/>
                <a:cs typeface="+mn-cs"/>
              </a:rPr>
              <a:t>A guide must take responsibility and decision make on behalf of the group – and always consider the contract of the tour and the best interests of the tourists when doing so</a:t>
            </a:r>
          </a:p>
          <a:p>
            <a:pPr marL="171450" lvl="0" indent="-171450">
              <a:buFont typeface="Arial" pitchFamily="34" charset="0"/>
              <a:buChar char="•"/>
            </a:pPr>
            <a:r>
              <a:rPr lang="en-AU" sz="1200" kern="1200" dirty="0" smtClean="0">
                <a:solidFill>
                  <a:schemeClr val="tx1"/>
                </a:solidFill>
                <a:latin typeface="+mn-lt"/>
                <a:ea typeface="+mn-ea"/>
                <a:cs typeface="+mn-cs"/>
              </a:rPr>
              <a:t>Being a Tour Guide involves carrying and discharging many responsibilities – from the moment tour group members arrive until their final departure.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125</a:t>
            </a:fld>
            <a:endParaRPr lang="en-US" dirty="0"/>
          </a:p>
        </p:txBody>
      </p:sp>
    </p:spTree>
    <p:extLst>
      <p:ext uri="{BB962C8B-B14F-4D97-AF65-F5344CB8AC3E}">
        <p14:creationId xmlns:p14="http://schemas.microsoft.com/office/powerpoint/2010/main" val="2603198287"/>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to remind students:</a:t>
            </a:r>
          </a:p>
          <a:p>
            <a:pPr marL="171450" lvl="0" indent="-171450">
              <a:buFont typeface="Arial" pitchFamily="34" charset="0"/>
              <a:buChar char="•"/>
            </a:pPr>
            <a:r>
              <a:rPr lang="en-AU" sz="1200" kern="1200" dirty="0" smtClean="0">
                <a:solidFill>
                  <a:schemeClr val="tx1"/>
                </a:solidFill>
                <a:latin typeface="+mn-lt"/>
                <a:ea typeface="+mn-ea"/>
                <a:cs typeface="+mn-cs"/>
              </a:rPr>
              <a:t>Being a Tour Guide requires:</a:t>
            </a:r>
          </a:p>
          <a:p>
            <a:pPr marL="628650" lvl="1" indent="-171450">
              <a:buFont typeface="Arial" pitchFamily="34" charset="0"/>
              <a:buChar char="•"/>
            </a:pPr>
            <a:r>
              <a:rPr lang="en-AU" sz="1200" kern="1200" dirty="0" smtClean="0">
                <a:solidFill>
                  <a:schemeClr val="tx1"/>
                </a:solidFill>
                <a:latin typeface="+mn-lt"/>
                <a:ea typeface="+mn-ea"/>
                <a:cs typeface="+mn-cs"/>
              </a:rPr>
              <a:t>A ’cool head’ – in order to deal with the many problems, issues, challenges and issues which can arise in relation to tour and tour group members</a:t>
            </a:r>
          </a:p>
          <a:p>
            <a:pPr marL="628650" lvl="1" indent="-171450">
              <a:buFont typeface="Arial" pitchFamily="34" charset="0"/>
              <a:buChar char="•"/>
            </a:pPr>
            <a:r>
              <a:rPr lang="en-AU" sz="1200" kern="1200" dirty="0" smtClean="0">
                <a:solidFill>
                  <a:schemeClr val="tx1"/>
                </a:solidFill>
                <a:latin typeface="+mn-lt"/>
                <a:ea typeface="+mn-ea"/>
                <a:cs typeface="+mn-cs"/>
              </a:rPr>
              <a:t>Good communication and people management skills – to provide information required, facilitate interactions, resolve problems, negotiate solutions, solve problems and deal with issues</a:t>
            </a:r>
          </a:p>
          <a:p>
            <a:pPr marL="628650" lvl="1" indent="-171450">
              <a:buFont typeface="Arial" pitchFamily="34" charset="0"/>
              <a:buChar char="•"/>
            </a:pPr>
            <a:r>
              <a:rPr lang="en-AU" sz="1200" kern="1200" dirty="0" smtClean="0">
                <a:solidFill>
                  <a:schemeClr val="tx1"/>
                </a:solidFill>
                <a:latin typeface="+mn-lt"/>
                <a:ea typeface="+mn-ea"/>
                <a:cs typeface="+mn-cs"/>
              </a:rPr>
              <a:t>Loads of patience – because of the nature of </a:t>
            </a:r>
            <a:r>
              <a:rPr lang="en-AU" sz="1200" i="1" kern="1200" dirty="0" smtClean="0">
                <a:solidFill>
                  <a:schemeClr val="tx1"/>
                </a:solidFill>
                <a:latin typeface="+mn-lt"/>
                <a:ea typeface="+mn-ea"/>
                <a:cs typeface="+mn-cs"/>
              </a:rPr>
              <a:t>constantly</a:t>
            </a:r>
            <a:r>
              <a:rPr lang="en-AU" sz="1200" kern="1200" dirty="0" smtClean="0">
                <a:solidFill>
                  <a:schemeClr val="tx1"/>
                </a:solidFill>
                <a:latin typeface="+mn-lt"/>
                <a:ea typeface="+mn-ea"/>
                <a:cs typeface="+mn-cs"/>
              </a:rPr>
              <a:t> interacting and communicating with others.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126</a:t>
            </a:fld>
            <a:endParaRPr lang="en-US" dirty="0"/>
          </a:p>
        </p:txBody>
      </p:sp>
    </p:spTree>
    <p:extLst>
      <p:ext uri="{BB962C8B-B14F-4D97-AF65-F5344CB8AC3E}">
        <p14:creationId xmlns:p14="http://schemas.microsoft.com/office/powerpoint/2010/main" val="144428525"/>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explains being </a:t>
            </a:r>
            <a:r>
              <a:rPr lang="en-AU" sz="1200" kern="1200" dirty="0" smtClean="0">
                <a:solidFill>
                  <a:schemeClr val="tx1"/>
                </a:solidFill>
                <a:latin typeface="+mn-lt"/>
                <a:ea typeface="+mn-ea"/>
                <a:cs typeface="+mn-cs"/>
              </a:rPr>
              <a:t>a cultural host is a major role of Tour Guide and is important because it:</a:t>
            </a:r>
          </a:p>
          <a:p>
            <a:pPr marL="171450" lvl="0" indent="-171450">
              <a:buFont typeface="Arial" pitchFamily="34" charset="0"/>
              <a:buChar char="•"/>
            </a:pPr>
            <a:r>
              <a:rPr lang="en-AU" sz="1200" kern="1200" dirty="0" smtClean="0">
                <a:solidFill>
                  <a:schemeClr val="tx1"/>
                </a:solidFill>
                <a:latin typeface="+mn-lt"/>
                <a:ea typeface="+mn-ea"/>
                <a:cs typeface="+mn-cs"/>
              </a:rPr>
              <a:t>Helps visitors make a connection with the locals and the local culture and local people/communities </a:t>
            </a:r>
          </a:p>
          <a:p>
            <a:pPr marL="171450" lvl="0" indent="-171450">
              <a:buFont typeface="Arial" pitchFamily="34" charset="0"/>
              <a:buChar char="•"/>
            </a:pPr>
            <a:r>
              <a:rPr lang="en-AU" sz="1200" kern="1200" dirty="0" smtClean="0">
                <a:solidFill>
                  <a:schemeClr val="tx1"/>
                </a:solidFill>
                <a:latin typeface="+mn-lt"/>
                <a:ea typeface="+mn-ea"/>
                <a:cs typeface="+mn-cs"/>
              </a:rPr>
              <a:t>Guards against and explains things which may cause ‘culture shock’ to some tourists</a:t>
            </a:r>
          </a:p>
          <a:p>
            <a:pPr marL="171450" lvl="0" indent="-171450">
              <a:buFont typeface="Arial" pitchFamily="34" charset="0"/>
              <a:buChar char="•"/>
            </a:pPr>
            <a:r>
              <a:rPr lang="en-AU" sz="1200" kern="1200" dirty="0" smtClean="0">
                <a:solidFill>
                  <a:schemeClr val="tx1"/>
                </a:solidFill>
                <a:latin typeface="+mn-lt"/>
                <a:ea typeface="+mn-ea"/>
                <a:cs typeface="+mn-cs"/>
              </a:rPr>
              <a:t>Assists visitors assimilate into local surroundings and the local experience.</a:t>
            </a:r>
          </a:p>
          <a:p>
            <a:pPr>
              <a:buFont typeface="Arial" pitchFamily="34" charset="0"/>
              <a:buNone/>
            </a:pPr>
            <a:r>
              <a:rPr lang="en-AU" sz="1200" kern="1200" dirty="0" smtClean="0">
                <a:solidFill>
                  <a:schemeClr val="tx1"/>
                </a:solidFill>
                <a:latin typeface="+mn-lt"/>
                <a:ea typeface="+mn-ea"/>
                <a:cs typeface="+mn-cs"/>
              </a:rPr>
              <a:t>This is important so visitors are prevented from giving unintended offence to any place they visit, or person they meet.</a:t>
            </a:r>
          </a:p>
          <a:p>
            <a:pPr>
              <a:buFont typeface="Arial" pitchFamily="34" charset="0"/>
              <a:buNone/>
            </a:pPr>
            <a:r>
              <a:rPr lang="en-AU" sz="1200" kern="1200" dirty="0" smtClean="0">
                <a:solidFill>
                  <a:schemeClr val="tx1"/>
                </a:solidFill>
                <a:latin typeface="+mn-lt"/>
                <a:ea typeface="+mn-ea"/>
                <a:cs typeface="+mn-cs"/>
              </a:rPr>
              <a:t>This role is also emphasised in situations where the tour group members cannot speak the local language and the guide is needed to interpret or help with communication.</a:t>
            </a:r>
          </a:p>
          <a:p>
            <a:pPr>
              <a:buFont typeface="Arial" pitchFamily="34" charset="0"/>
              <a:buNone/>
            </a:pPr>
            <a:endParaRPr lang="en-US" noProof="0" dirty="0" smtClean="0"/>
          </a:p>
          <a:p>
            <a:pPr>
              <a:buFont typeface="Arial" pitchFamily="34" charset="0"/>
              <a:buNone/>
            </a:pPr>
            <a:r>
              <a:rPr lang="en-US" b="1" noProof="0" dirty="0" smtClean="0"/>
              <a:t>Class Activity – Guest Speaker</a:t>
            </a:r>
          </a:p>
          <a:p>
            <a:pPr>
              <a:buFont typeface="Arial" pitchFamily="34" charset="0"/>
              <a:buNone/>
            </a:pPr>
            <a:r>
              <a:rPr lang="en-US" b="0" noProof="0" dirty="0" smtClean="0"/>
              <a:t>Trainer arranges for local elder/representative</a:t>
            </a:r>
            <a:r>
              <a:rPr lang="en-US" b="0" baseline="0" noProof="0" dirty="0" smtClean="0"/>
              <a:t> of local community to attend and talk about the need for and importance of </a:t>
            </a:r>
            <a:r>
              <a:rPr lang="en-US" b="1" noProof="0" dirty="0" smtClean="0"/>
              <a:t> </a:t>
            </a:r>
            <a:r>
              <a:rPr lang="en-US" b="0" noProof="0" dirty="0" smtClean="0"/>
              <a:t>respect for local culture explaining how it may be achieved.</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127</a:t>
            </a:fld>
            <a:endParaRPr lang="en-US" dirty="0"/>
          </a:p>
        </p:txBody>
      </p:sp>
    </p:spTree>
    <p:extLst>
      <p:ext uri="{BB962C8B-B14F-4D97-AF65-F5344CB8AC3E}">
        <p14:creationId xmlns:p14="http://schemas.microsoft.com/office/powerpoint/2010/main" val="2913542539"/>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states it </a:t>
            </a:r>
            <a:r>
              <a:rPr lang="en-AU" sz="1200" kern="1200" dirty="0" smtClean="0">
                <a:solidFill>
                  <a:schemeClr val="tx1"/>
                </a:solidFill>
                <a:latin typeface="+mn-lt"/>
                <a:ea typeface="+mn-ea"/>
                <a:cs typeface="+mn-cs"/>
              </a:rPr>
              <a:t>is important for Tour Guides to demonstrate respect for local culture for the following reasons:</a:t>
            </a:r>
          </a:p>
          <a:p>
            <a:pPr marL="171450" lvl="0" indent="-171450">
              <a:buFont typeface="Arial" pitchFamily="34" charset="0"/>
              <a:buChar char="•"/>
            </a:pPr>
            <a:r>
              <a:rPr lang="en-AU" sz="1200" kern="1200" dirty="0" smtClean="0">
                <a:solidFill>
                  <a:schemeClr val="tx1"/>
                </a:solidFill>
                <a:latin typeface="+mn-lt"/>
                <a:ea typeface="+mn-ea"/>
                <a:cs typeface="+mn-cs"/>
              </a:rPr>
              <a:t>Meet expectations of tour group members</a:t>
            </a:r>
          </a:p>
          <a:p>
            <a:pPr marL="171450" lvl="0" indent="-171450">
              <a:buFont typeface="Arial" pitchFamily="34" charset="0"/>
              <a:buChar char="•"/>
            </a:pPr>
            <a:r>
              <a:rPr lang="en-AU" sz="1200" kern="1200" dirty="0" smtClean="0">
                <a:solidFill>
                  <a:schemeClr val="tx1"/>
                </a:solidFill>
                <a:latin typeface="+mn-lt"/>
                <a:ea typeface="+mn-ea"/>
                <a:cs typeface="+mn-cs"/>
              </a:rPr>
              <a:t>Comply with promotional promises made about the tour</a:t>
            </a:r>
          </a:p>
          <a:p>
            <a:pPr marL="171450" lvl="0" indent="-171450">
              <a:buFont typeface="Arial" pitchFamily="34" charset="0"/>
              <a:buChar char="•"/>
            </a:pPr>
            <a:r>
              <a:rPr lang="en-AU" sz="1200" kern="1200" dirty="0" smtClean="0">
                <a:solidFill>
                  <a:schemeClr val="tx1"/>
                </a:solidFill>
                <a:latin typeface="+mn-lt"/>
                <a:ea typeface="+mn-ea"/>
                <a:cs typeface="+mn-cs"/>
              </a:rPr>
              <a:t>Help minimise negative impacts of tour on local communities</a:t>
            </a:r>
          </a:p>
          <a:p>
            <a:pPr marL="171450" lvl="0" indent="-171450">
              <a:buFont typeface="Arial" pitchFamily="34" charset="0"/>
              <a:buChar char="•"/>
            </a:pPr>
            <a:r>
              <a:rPr lang="en-AU" sz="1200" kern="1200" dirty="0" smtClean="0">
                <a:solidFill>
                  <a:schemeClr val="tx1"/>
                </a:solidFill>
                <a:latin typeface="+mn-lt"/>
                <a:ea typeface="+mn-ea"/>
                <a:cs typeface="+mn-cs"/>
              </a:rPr>
              <a:t>Maximise education of tourists regarding the country, area and/or communities</a:t>
            </a:r>
          </a:p>
          <a:p>
            <a:pPr marL="171450" lvl="0" indent="-171450">
              <a:buFont typeface="Arial" pitchFamily="34" charset="0"/>
              <a:buChar char="•"/>
            </a:pPr>
            <a:r>
              <a:rPr lang="en-AU" sz="1200" kern="1200" dirty="0" smtClean="0">
                <a:solidFill>
                  <a:schemeClr val="tx1"/>
                </a:solidFill>
                <a:latin typeface="+mn-lt"/>
                <a:ea typeface="+mn-ea"/>
                <a:cs typeface="+mn-cs"/>
              </a:rPr>
              <a:t>Demonstrate the reverence in which aspects of the local area held by local people</a:t>
            </a:r>
          </a:p>
          <a:p>
            <a:pPr marL="171450" lvl="0" indent="-171450">
              <a:buFont typeface="Arial" pitchFamily="34" charset="0"/>
              <a:buChar char="•"/>
            </a:pPr>
            <a:r>
              <a:rPr lang="en-AU" sz="1200" kern="1200" dirty="0" smtClean="0">
                <a:solidFill>
                  <a:schemeClr val="tx1"/>
                </a:solidFill>
                <a:latin typeface="+mn-lt"/>
                <a:ea typeface="+mn-ea"/>
                <a:cs typeface="+mn-cs"/>
              </a:rPr>
              <a:t>Generate enhanced local acceptance of tours by demonstrating appropriate respect for beliefs, customs and other important aspects of the people/community.</a:t>
            </a:r>
          </a:p>
          <a:p>
            <a:pPr>
              <a:buFont typeface="Arial" pitchFamily="34" charset="0"/>
              <a:buNone/>
            </a:pPr>
            <a:endParaRPr lang="en-US" noProof="0" dirty="0" smtClean="0"/>
          </a:p>
          <a:p>
            <a:pPr>
              <a:buFont typeface="Arial" pitchFamily="34" charset="0"/>
              <a:buNone/>
            </a:pPr>
            <a:r>
              <a:rPr lang="en-US" b="1" noProof="0" dirty="0" smtClean="0"/>
              <a:t>Class Activity – Guest Speaker</a:t>
            </a:r>
          </a:p>
          <a:p>
            <a:pPr>
              <a:buFont typeface="Arial" pitchFamily="34" charset="0"/>
              <a:buNone/>
            </a:pPr>
            <a:r>
              <a:rPr lang="en-US" b="0" noProof="0" dirty="0" smtClean="0"/>
              <a:t>Trainer arranges for Tour Operator to attend and discuss importance of Tour Guides respecting local culture explaining policies, SOPs and Codes which apply.</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128</a:t>
            </a:fld>
            <a:endParaRPr lang="en-US" dirty="0"/>
          </a:p>
        </p:txBody>
      </p:sp>
    </p:spTree>
    <p:extLst>
      <p:ext uri="{BB962C8B-B14F-4D97-AF65-F5344CB8AC3E}">
        <p14:creationId xmlns:p14="http://schemas.microsoft.com/office/powerpoint/2010/main" val="3544154564"/>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a:t>
            </a:r>
            <a:r>
              <a:rPr lang="en-AU" sz="1200" kern="1200" dirty="0" smtClean="0">
                <a:solidFill>
                  <a:schemeClr val="tx1"/>
                </a:solidFill>
                <a:latin typeface="+mn-lt"/>
                <a:ea typeface="+mn-ea"/>
                <a:cs typeface="+mn-cs"/>
              </a:rPr>
              <a:t>presents the following practices have proved effective in demonstrating respect for local culture:</a:t>
            </a:r>
          </a:p>
          <a:p>
            <a:pPr marL="171450" lvl="0" indent="-171450">
              <a:buFont typeface="Arial" pitchFamily="34" charset="0"/>
              <a:buChar char="•"/>
            </a:pPr>
            <a:r>
              <a:rPr lang="en-AU" sz="1200" kern="1200" dirty="0" smtClean="0">
                <a:solidFill>
                  <a:schemeClr val="tx1"/>
                </a:solidFill>
                <a:latin typeface="+mn-lt"/>
                <a:ea typeface="+mn-ea"/>
                <a:cs typeface="+mn-cs"/>
              </a:rPr>
              <a:t>Abide by Tour Operator arrangements which have been made between them and local communities – in relation to the conduct of individual tours which may impact them</a:t>
            </a:r>
          </a:p>
          <a:p>
            <a:pPr marL="171450" lvl="0" indent="-171450">
              <a:buFont typeface="Arial" pitchFamily="34" charset="0"/>
              <a:buChar char="•"/>
            </a:pPr>
            <a:r>
              <a:rPr lang="en-AU" sz="1200" kern="1200" dirty="0" smtClean="0">
                <a:solidFill>
                  <a:schemeClr val="tx1"/>
                </a:solidFill>
                <a:latin typeface="+mn-lt"/>
                <a:ea typeface="+mn-ea"/>
                <a:cs typeface="+mn-cs"/>
              </a:rPr>
              <a:t>Ask permission from locals – before taking certain actions: </a:t>
            </a:r>
          </a:p>
          <a:p>
            <a:pPr marL="628650" lvl="1" indent="-171450">
              <a:buFont typeface="Arial" pitchFamily="34" charset="0"/>
              <a:buChar char="•"/>
            </a:pPr>
            <a:r>
              <a:rPr lang="en-AU" sz="1200" kern="1200" dirty="0" smtClean="0">
                <a:solidFill>
                  <a:schemeClr val="tx1"/>
                </a:solidFill>
                <a:latin typeface="+mn-lt"/>
                <a:ea typeface="+mn-ea"/>
                <a:cs typeface="+mn-cs"/>
              </a:rPr>
              <a:t>Never assume permission will be given</a:t>
            </a:r>
          </a:p>
          <a:p>
            <a:pPr marL="628650" lvl="1" indent="-171450">
              <a:buFont typeface="Arial" pitchFamily="34" charset="0"/>
              <a:buChar char="•"/>
            </a:pPr>
            <a:r>
              <a:rPr lang="en-AU" sz="1200" kern="1200" dirty="0" smtClean="0">
                <a:solidFill>
                  <a:schemeClr val="tx1"/>
                </a:solidFill>
                <a:latin typeface="+mn-lt"/>
                <a:ea typeface="+mn-ea"/>
                <a:cs typeface="+mn-cs"/>
              </a:rPr>
              <a:t>Always consult before taking action</a:t>
            </a:r>
          </a:p>
          <a:p>
            <a:pPr marL="171450" lvl="0" indent="-171450">
              <a:buFont typeface="Arial" pitchFamily="34" charset="0"/>
              <a:buChar char="•"/>
            </a:pPr>
            <a:r>
              <a:rPr lang="en-AU" sz="1200" kern="1200" dirty="0" smtClean="0">
                <a:solidFill>
                  <a:schemeClr val="tx1"/>
                </a:solidFill>
                <a:latin typeface="+mn-lt"/>
                <a:ea typeface="+mn-ea"/>
                <a:cs typeface="+mn-cs"/>
              </a:rPr>
              <a:t>Always use common sense – but err on the side of being deferential towards local communities</a:t>
            </a:r>
          </a:p>
          <a:p>
            <a:pPr marL="171450" marR="0" lvl="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noProof="0" dirty="0" smtClean="0"/>
              <a:t> </a:t>
            </a:r>
            <a:r>
              <a:rPr lang="en-AU" sz="1200" kern="1200" dirty="0" smtClean="0">
                <a:solidFill>
                  <a:schemeClr val="tx1"/>
                </a:solidFill>
                <a:latin typeface="+mn-lt"/>
                <a:ea typeface="+mn-ea"/>
                <a:cs typeface="+mn-cs"/>
              </a:rPr>
              <a:t>Avoid mentioning certain aspects of the local culture – if asked to do so.</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129</a:t>
            </a:fld>
            <a:endParaRPr lang="en-US" dirty="0"/>
          </a:p>
        </p:txBody>
      </p:sp>
    </p:spTree>
    <p:extLst>
      <p:ext uri="{BB962C8B-B14F-4D97-AF65-F5344CB8AC3E}">
        <p14:creationId xmlns:p14="http://schemas.microsoft.com/office/powerpoint/2010/main" val="2005643088"/>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smtClean="0"/>
              <a:t>Trainer continues identifying practices which </a:t>
            </a:r>
            <a:r>
              <a:rPr lang="en-AU" sz="1200" kern="1200" dirty="0" smtClean="0">
                <a:solidFill>
                  <a:schemeClr val="tx1"/>
                </a:solidFill>
                <a:latin typeface="+mn-lt"/>
                <a:ea typeface="+mn-ea"/>
                <a:cs typeface="+mn-cs"/>
              </a:rPr>
              <a:t>have proved effective in demonstrating respect for local culture:</a:t>
            </a:r>
          </a:p>
          <a:p>
            <a:pPr marL="171450" lvl="0" indent="-171450">
              <a:buFont typeface="Arial" pitchFamily="34" charset="0"/>
              <a:buChar char="•"/>
            </a:pPr>
            <a:r>
              <a:rPr lang="en-AU" sz="1200" kern="1200" dirty="0" smtClean="0">
                <a:solidFill>
                  <a:schemeClr val="tx1"/>
                </a:solidFill>
                <a:latin typeface="+mn-lt"/>
                <a:ea typeface="+mn-ea"/>
                <a:cs typeface="+mn-cs"/>
              </a:rPr>
              <a:t>Be prepared to explain aspects of the culture – which are known to be generally misunderstood by others/tourists</a:t>
            </a:r>
          </a:p>
          <a:p>
            <a:pPr marL="171450" lvl="0" indent="-171450">
              <a:buFont typeface="Arial" pitchFamily="34" charset="0"/>
              <a:buChar char="•"/>
            </a:pPr>
            <a:r>
              <a:rPr lang="en-AU" sz="1200" kern="1200" dirty="0" smtClean="0">
                <a:solidFill>
                  <a:schemeClr val="tx1"/>
                </a:solidFill>
                <a:latin typeface="+mn-lt"/>
                <a:ea typeface="+mn-ea"/>
                <a:cs typeface="+mn-cs"/>
              </a:rPr>
              <a:t>Provide anecdotes which explain and illustrate the local culture – as opposed to providing lectures about it</a:t>
            </a:r>
          </a:p>
          <a:p>
            <a:pPr marL="171450" lvl="0" indent="-171450">
              <a:buFont typeface="Arial" pitchFamily="34" charset="0"/>
              <a:buChar char="•"/>
            </a:pPr>
            <a:r>
              <a:rPr lang="en-AU" sz="1200" kern="1200" dirty="0" smtClean="0">
                <a:solidFill>
                  <a:schemeClr val="tx1"/>
                </a:solidFill>
                <a:latin typeface="+mn-lt"/>
                <a:ea typeface="+mn-ea"/>
                <a:cs typeface="+mn-cs"/>
              </a:rPr>
              <a:t>Ensuring integrity of all guiding and interpretation activities – so accuracy and honesty is provided about local culture</a:t>
            </a:r>
          </a:p>
          <a:p>
            <a:pPr marL="171450" lvl="0" indent="-171450">
              <a:buFont typeface="Arial" pitchFamily="34" charset="0"/>
              <a:buChar char="•"/>
            </a:pPr>
            <a:r>
              <a:rPr lang="en-AU" sz="1200" kern="1200" dirty="0" smtClean="0">
                <a:solidFill>
                  <a:schemeClr val="tx1"/>
                </a:solidFill>
                <a:latin typeface="+mn-lt"/>
                <a:ea typeface="+mn-ea"/>
                <a:cs typeface="+mn-cs"/>
              </a:rPr>
              <a:t>Leading by example – the actions of the Tour Guide are a critical model for those on the tour as they will follow/copy what the leader does.</a:t>
            </a: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130</a:t>
            </a:fld>
            <a:endParaRPr lang="en-US" dirty="0"/>
          </a:p>
        </p:txBody>
      </p:sp>
    </p:spTree>
    <p:extLst>
      <p:ext uri="{BB962C8B-B14F-4D97-AF65-F5344CB8AC3E}">
        <p14:creationId xmlns:p14="http://schemas.microsoft.com/office/powerpoint/2010/main" val="3028535834"/>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dirty="0" smtClean="0"/>
              <a:t>Trainer continues identifying practices which </a:t>
            </a:r>
            <a:r>
              <a:rPr lang="en-AU" sz="1200" kern="1200" dirty="0" smtClean="0">
                <a:solidFill>
                  <a:schemeClr val="tx1"/>
                </a:solidFill>
                <a:latin typeface="+mn-lt"/>
                <a:ea typeface="+mn-ea"/>
                <a:cs typeface="+mn-cs"/>
              </a:rPr>
              <a:t>have proved effective in demonstrating respect for local culture:</a:t>
            </a:r>
          </a:p>
          <a:p>
            <a:pPr marL="171450" lvl="0" indent="-171450">
              <a:buFont typeface="Arial" pitchFamily="34" charset="0"/>
              <a:buChar char="•"/>
            </a:pPr>
            <a:r>
              <a:rPr lang="en-AU" sz="1200" kern="1200" dirty="0" smtClean="0">
                <a:solidFill>
                  <a:schemeClr val="tx1"/>
                </a:solidFill>
                <a:latin typeface="+mn-lt"/>
                <a:ea typeface="+mn-ea"/>
                <a:cs typeface="+mn-cs"/>
              </a:rPr>
              <a:t>Being sensitive to issues which may have significance for certain cultures – such as matters which may relate to:</a:t>
            </a:r>
          </a:p>
          <a:p>
            <a:pPr marL="628650" lvl="1" indent="-171450">
              <a:buFont typeface="Arial" pitchFamily="34" charset="0"/>
              <a:buChar char="•"/>
            </a:pPr>
            <a:r>
              <a:rPr lang="en-AU" sz="1200" kern="1200" dirty="0" smtClean="0">
                <a:solidFill>
                  <a:schemeClr val="tx1"/>
                </a:solidFill>
                <a:latin typeface="+mn-lt"/>
                <a:ea typeface="+mn-ea"/>
                <a:cs typeface="+mn-cs"/>
              </a:rPr>
              <a:t>Gender; Age; Dress; Modes of address</a:t>
            </a:r>
          </a:p>
          <a:p>
            <a:pPr marL="171450" lvl="0" indent="-171450">
              <a:buFont typeface="Arial" pitchFamily="34" charset="0"/>
              <a:buChar char="•"/>
            </a:pPr>
            <a:r>
              <a:rPr lang="en-AU" sz="1200" kern="1200" dirty="0" smtClean="0">
                <a:solidFill>
                  <a:schemeClr val="tx1"/>
                </a:solidFill>
                <a:latin typeface="+mn-lt"/>
                <a:ea typeface="+mn-ea"/>
                <a:cs typeface="+mn-cs"/>
              </a:rPr>
              <a:t>Maintaining secrecy – about certain aspects which locals do not want disclosed or discussed with ‘outsiders’</a:t>
            </a:r>
          </a:p>
          <a:p>
            <a:pPr marL="171450" lvl="0" indent="-171450">
              <a:buFont typeface="Arial" pitchFamily="34" charset="0"/>
              <a:buChar char="•"/>
            </a:pPr>
            <a:r>
              <a:rPr lang="en-AU" sz="1200" kern="1200" dirty="0" smtClean="0">
                <a:solidFill>
                  <a:schemeClr val="tx1"/>
                </a:solidFill>
                <a:latin typeface="+mn-lt"/>
                <a:ea typeface="+mn-ea"/>
                <a:cs typeface="+mn-cs"/>
              </a:rPr>
              <a:t>Support the local community – which may involve:</a:t>
            </a:r>
          </a:p>
          <a:p>
            <a:pPr marL="628650" lvl="1" indent="-171450">
              <a:buFont typeface="Arial" pitchFamily="34" charset="0"/>
              <a:buChar char="•"/>
            </a:pPr>
            <a:r>
              <a:rPr lang="en-AU" sz="1200" kern="1200" dirty="0" smtClean="0">
                <a:solidFill>
                  <a:schemeClr val="tx1"/>
                </a:solidFill>
                <a:latin typeface="+mn-lt"/>
                <a:ea typeface="+mn-ea"/>
                <a:cs typeface="+mn-cs"/>
              </a:rPr>
              <a:t>Paying entry fees or other charges imposed by local communities</a:t>
            </a:r>
          </a:p>
          <a:p>
            <a:pPr marL="628650" lvl="1" indent="-171450">
              <a:buFont typeface="Arial" pitchFamily="34" charset="0"/>
              <a:buChar char="•"/>
            </a:pPr>
            <a:r>
              <a:rPr lang="en-AU" sz="1200" kern="1200" dirty="0" smtClean="0">
                <a:solidFill>
                  <a:schemeClr val="tx1"/>
                </a:solidFill>
                <a:latin typeface="+mn-lt"/>
                <a:ea typeface="+mn-ea"/>
                <a:cs typeface="+mn-cs"/>
              </a:rPr>
              <a:t>Buying goods and services from locals</a:t>
            </a:r>
          </a:p>
          <a:p>
            <a:pPr marL="628650" lvl="1" indent="-171450">
              <a:buFont typeface="Arial" pitchFamily="34" charset="0"/>
              <a:buChar char="•"/>
            </a:pPr>
            <a:r>
              <a:rPr lang="en-AU" sz="1200" kern="1200" dirty="0" smtClean="0">
                <a:solidFill>
                  <a:schemeClr val="tx1"/>
                </a:solidFill>
                <a:latin typeface="+mn-lt"/>
                <a:ea typeface="+mn-ea"/>
                <a:cs typeface="+mn-cs"/>
              </a:rPr>
              <a:t>Encouraging visitors to buy from the locals</a:t>
            </a:r>
          </a:p>
          <a:p>
            <a:pPr marL="628650" lvl="1" indent="-171450">
              <a:buFont typeface="Arial" pitchFamily="34" charset="0"/>
              <a:buChar char="•"/>
            </a:pPr>
            <a:r>
              <a:rPr lang="en-AU" sz="1200" kern="1200" dirty="0" smtClean="0">
                <a:solidFill>
                  <a:schemeClr val="tx1"/>
                </a:solidFill>
                <a:latin typeface="+mn-lt"/>
                <a:ea typeface="+mn-ea"/>
                <a:cs typeface="+mn-cs"/>
              </a:rPr>
              <a:t>Using a guide from the local community to help conduct local tours of certain areas.</a:t>
            </a:r>
          </a:p>
          <a:p>
            <a:pPr>
              <a:buFont typeface="Arial" pitchFamily="34" charset="0"/>
              <a:buNone/>
            </a:pPr>
            <a:endParaRPr lang="en-US" noProof="0" dirty="0" smtClean="0"/>
          </a:p>
          <a:p>
            <a:pPr>
              <a:buFont typeface="Arial" pitchFamily="34" charset="0"/>
              <a:buNone/>
            </a:pPr>
            <a:r>
              <a:rPr lang="en-US" b="1" noProof="0" dirty="0" smtClean="0"/>
              <a:t>Class Activity – Excursion </a:t>
            </a:r>
          </a:p>
          <a:p>
            <a:pPr>
              <a:buFont typeface="Arial" pitchFamily="34" charset="0"/>
              <a:buNone/>
            </a:pPr>
            <a:r>
              <a:rPr lang="en-US" b="0" noProof="0" dirty="0" smtClean="0"/>
              <a:t>Trainer arranges for students to participate in a local tour where a key aspect of the tour is demonstration of respect for local culture.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131</a:t>
            </a:fld>
            <a:endParaRPr lang="en-US" dirty="0"/>
          </a:p>
        </p:txBody>
      </p:sp>
    </p:spTree>
    <p:extLst>
      <p:ext uri="{BB962C8B-B14F-4D97-AF65-F5344CB8AC3E}">
        <p14:creationId xmlns:p14="http://schemas.microsoft.com/office/powerpoint/2010/main" val="2838754436"/>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indicates </a:t>
            </a:r>
            <a:r>
              <a:rPr lang="en-AU" sz="1200" kern="1200" dirty="0" smtClean="0">
                <a:solidFill>
                  <a:schemeClr val="tx1"/>
                </a:solidFill>
                <a:latin typeface="+mn-lt"/>
                <a:ea typeface="+mn-ea"/>
                <a:cs typeface="+mn-cs"/>
              </a:rPr>
              <a:t>key terms often used to describe and create awareness and action associated with relevant issues are:</a:t>
            </a:r>
          </a:p>
          <a:p>
            <a:pPr marL="171450" lvl="0" indent="-171450">
              <a:buFont typeface="Arial" pitchFamily="34" charset="0"/>
              <a:buChar char="•"/>
            </a:pPr>
            <a:r>
              <a:rPr lang="en-AU" sz="1200" kern="1200" dirty="0" smtClean="0">
                <a:solidFill>
                  <a:schemeClr val="tx1"/>
                </a:solidFill>
                <a:latin typeface="+mn-lt"/>
                <a:ea typeface="+mn-ea"/>
                <a:cs typeface="+mn-cs"/>
              </a:rPr>
              <a:t>Ethical Tourism</a:t>
            </a:r>
          </a:p>
          <a:p>
            <a:pPr marL="171450" lvl="0" indent="-171450">
              <a:buFont typeface="Arial" pitchFamily="34" charset="0"/>
              <a:buChar char="•"/>
            </a:pPr>
            <a:r>
              <a:rPr lang="en-AU" sz="1200" kern="1200" dirty="0" smtClean="0">
                <a:solidFill>
                  <a:schemeClr val="tx1"/>
                </a:solidFill>
                <a:latin typeface="+mn-lt"/>
                <a:ea typeface="+mn-ea"/>
                <a:cs typeface="+mn-cs"/>
              </a:rPr>
              <a:t>Sustainable Tourism</a:t>
            </a:r>
          </a:p>
          <a:p>
            <a:pPr marL="171450" lvl="0" indent="-171450">
              <a:buFont typeface="Arial" pitchFamily="34" charset="0"/>
              <a:buChar char="•"/>
            </a:pPr>
            <a:r>
              <a:rPr lang="en-AU" sz="1200" kern="1200" dirty="0" smtClean="0">
                <a:solidFill>
                  <a:schemeClr val="tx1"/>
                </a:solidFill>
                <a:latin typeface="+mn-lt"/>
                <a:ea typeface="+mn-ea"/>
                <a:cs typeface="+mn-cs"/>
              </a:rPr>
              <a:t>Green Tourism</a:t>
            </a:r>
          </a:p>
          <a:p>
            <a:pPr marL="171450" lvl="0" indent="-171450">
              <a:buFont typeface="Arial" pitchFamily="34" charset="0"/>
              <a:buChar char="•"/>
            </a:pPr>
            <a:r>
              <a:rPr lang="en-AU" sz="1200" kern="1200" dirty="0" smtClean="0">
                <a:solidFill>
                  <a:schemeClr val="tx1"/>
                </a:solidFill>
                <a:latin typeface="+mn-lt"/>
                <a:ea typeface="+mn-ea"/>
                <a:cs typeface="+mn-cs"/>
              </a:rPr>
              <a:t>Fair Trade in Tourism.</a:t>
            </a:r>
          </a:p>
          <a:p>
            <a:pPr>
              <a:buFont typeface="Arial" pitchFamily="34" charset="0"/>
              <a:buNone/>
            </a:pPr>
            <a:endParaRPr lang="en-US" noProof="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1" baseline="0" noProof="0" dirty="0" smtClean="0"/>
              <a:t>Class Activity – Internet Research</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b="0" baseline="0" noProof="0" dirty="0" smtClean="0"/>
              <a:t>Trainer facilitates student research of and discussion regarding content of following and other similar/relevant websites:</a:t>
            </a:r>
          </a:p>
          <a:p>
            <a:r>
              <a:rPr lang="en-AU" sz="1200" u="sng" kern="1200" dirty="0" smtClean="0">
                <a:solidFill>
                  <a:schemeClr val="tx1"/>
                </a:solidFill>
                <a:latin typeface="+mn-lt"/>
                <a:ea typeface="+mn-ea"/>
                <a:cs typeface="+mn-cs"/>
                <a:hlinkClick r:id="rId3"/>
              </a:rPr>
              <a:t>http://www2.unescobkk.org/elib/publications/IMPACT_LuangPrabang/impact.pdf</a:t>
            </a:r>
            <a:r>
              <a:rPr lang="en-AU" sz="1200" kern="1200" dirty="0" smtClean="0">
                <a:solidFill>
                  <a:schemeClr val="tx1"/>
                </a:solidFill>
                <a:latin typeface="+mn-lt"/>
                <a:ea typeface="+mn-ea"/>
                <a:cs typeface="+mn-cs"/>
              </a:rPr>
              <a:t> - The effects of tourism on culture and the environment in Asia and the Pacific</a:t>
            </a:r>
          </a:p>
          <a:p>
            <a:r>
              <a:rPr lang="en-AU" sz="1200" u="sng" kern="1200" dirty="0" smtClean="0">
                <a:solidFill>
                  <a:schemeClr val="tx1"/>
                </a:solidFill>
                <a:latin typeface="+mn-lt"/>
                <a:ea typeface="+mn-ea"/>
                <a:cs typeface="+mn-cs"/>
                <a:hlinkClick r:id="rId4"/>
              </a:rPr>
              <a:t>http://www.toinitiative.org/fileadmin/docs/publications/sustainable_tourism.pdf</a:t>
            </a:r>
            <a:r>
              <a:rPr lang="en-AU" sz="1200" kern="1200" dirty="0" smtClean="0">
                <a:solidFill>
                  <a:schemeClr val="tx1"/>
                </a:solidFill>
                <a:latin typeface="+mn-lt"/>
                <a:ea typeface="+mn-ea"/>
                <a:cs typeface="+mn-cs"/>
              </a:rPr>
              <a:t> - Sustainable Tourism: the Tour Operators’ Contribution</a:t>
            </a:r>
          </a:p>
          <a:p>
            <a:r>
              <a:rPr lang="en-AU" sz="1200" u="sng" kern="1200" dirty="0" smtClean="0">
                <a:solidFill>
                  <a:schemeClr val="tx1"/>
                </a:solidFill>
                <a:latin typeface="+mn-lt"/>
                <a:ea typeface="+mn-ea"/>
                <a:cs typeface="+mn-cs"/>
                <a:hlinkClick r:id="rId5"/>
              </a:rPr>
              <a:t>http://www.tourismconcern.org.uk/principles-and-definitions.html</a:t>
            </a:r>
            <a:r>
              <a:rPr lang="en-AU" sz="1200" kern="1200" dirty="0" smtClean="0">
                <a:solidFill>
                  <a:schemeClr val="tx1"/>
                </a:solidFill>
                <a:latin typeface="+mn-lt"/>
                <a:ea typeface="+mn-ea"/>
                <a:cs typeface="+mn-cs"/>
              </a:rPr>
              <a:t> - TourismConcern: Action for ethical tourism</a:t>
            </a:r>
          </a:p>
          <a:p>
            <a:r>
              <a:rPr lang="en-AU" sz="1200" u="sng" kern="1200" dirty="0" smtClean="0">
                <a:solidFill>
                  <a:schemeClr val="tx1"/>
                </a:solidFill>
                <a:latin typeface="+mn-lt"/>
                <a:ea typeface="+mn-ea"/>
                <a:cs typeface="+mn-cs"/>
                <a:hlinkClick r:id="rId6"/>
              </a:rPr>
              <a:t>http://www.unesco.org/education/tlsf/mods/theme_c/mod16.html</a:t>
            </a:r>
            <a:r>
              <a:rPr lang="en-AU" sz="1200" kern="1200" dirty="0" smtClean="0">
                <a:solidFill>
                  <a:schemeClr val="tx1"/>
                </a:solidFill>
                <a:latin typeface="+mn-lt"/>
                <a:ea typeface="+mn-ea"/>
                <a:cs typeface="+mn-cs"/>
              </a:rPr>
              <a:t> - Sustainable tourism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132</a:t>
            </a:fld>
            <a:endParaRPr lang="en-US" dirty="0"/>
          </a:p>
        </p:txBody>
      </p:sp>
    </p:spTree>
    <p:extLst>
      <p:ext uri="{BB962C8B-B14F-4D97-AF65-F5344CB8AC3E}">
        <p14:creationId xmlns:p14="http://schemas.microsoft.com/office/powerpoint/2010/main" val="3725576963"/>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noProof="0" dirty="0" smtClean="0"/>
              <a:t>Trainer identifies </a:t>
            </a:r>
            <a:r>
              <a:rPr lang="en-AU" sz="1200" kern="1200" dirty="0" smtClean="0">
                <a:solidFill>
                  <a:schemeClr val="tx1"/>
                </a:solidFill>
                <a:latin typeface="+mn-lt"/>
                <a:ea typeface="+mn-ea"/>
                <a:cs typeface="+mn-cs"/>
              </a:rPr>
              <a:t>the standard and effective ways to determine what is required to minimise the negative impact of tours on local culture, people and the environment are to:</a:t>
            </a:r>
          </a:p>
          <a:p>
            <a:r>
              <a:rPr lang="en-AU" sz="1200" b="1" kern="1200" dirty="0" smtClean="0">
                <a:solidFill>
                  <a:schemeClr val="tx1"/>
                </a:solidFill>
                <a:latin typeface="+mn-lt"/>
                <a:ea typeface="+mn-ea"/>
                <a:cs typeface="+mn-cs"/>
              </a:rPr>
              <a:t>Talk to relevant people</a:t>
            </a:r>
          </a:p>
          <a:p>
            <a:pPr marL="171450" lvl="0" indent="-171450">
              <a:buFont typeface="Arial" pitchFamily="34" charset="0"/>
              <a:buChar char="•"/>
            </a:pPr>
            <a:r>
              <a:rPr lang="en-AU" sz="1200" kern="1200" dirty="0" smtClean="0">
                <a:solidFill>
                  <a:schemeClr val="tx1"/>
                </a:solidFill>
                <a:latin typeface="+mn-lt"/>
                <a:ea typeface="+mn-ea"/>
                <a:cs typeface="+mn-cs"/>
              </a:rPr>
              <a:t>Local elders and communities</a:t>
            </a:r>
          </a:p>
          <a:p>
            <a:pPr marL="171450" lvl="0" indent="-171450">
              <a:buFont typeface="Arial" pitchFamily="34" charset="0"/>
              <a:buChar char="•"/>
            </a:pPr>
            <a:r>
              <a:rPr lang="en-AU" sz="1200" kern="1200" dirty="0" smtClean="0">
                <a:solidFill>
                  <a:schemeClr val="tx1"/>
                </a:solidFill>
                <a:latin typeface="+mn-lt"/>
                <a:ea typeface="+mn-ea"/>
                <a:cs typeface="+mn-cs"/>
              </a:rPr>
              <a:t>Other and more experienced Tour Guides</a:t>
            </a:r>
          </a:p>
          <a:p>
            <a:pPr marL="171450" lvl="0" indent="-171450">
              <a:buFont typeface="Arial" pitchFamily="34" charset="0"/>
              <a:buChar char="•"/>
            </a:pPr>
            <a:r>
              <a:rPr lang="en-AU" sz="1200" kern="1200" dirty="0" smtClean="0">
                <a:solidFill>
                  <a:schemeClr val="tx1"/>
                </a:solidFill>
                <a:latin typeface="+mn-lt"/>
                <a:ea typeface="+mn-ea"/>
                <a:cs typeface="+mn-cs"/>
              </a:rPr>
              <a:t>The employer/Tour Operator</a:t>
            </a:r>
          </a:p>
          <a:p>
            <a:pPr marL="171450" lvl="0" indent="-171450">
              <a:buFont typeface="Arial" pitchFamily="34" charset="0"/>
              <a:buChar char="•"/>
            </a:pPr>
            <a:r>
              <a:rPr lang="en-AU" sz="1200" kern="1200" dirty="0" smtClean="0">
                <a:solidFill>
                  <a:schemeClr val="tx1"/>
                </a:solidFill>
                <a:latin typeface="+mn-lt"/>
                <a:ea typeface="+mn-ea"/>
                <a:cs typeface="+mn-cs"/>
              </a:rPr>
              <a:t>Government officials who have involvement in and responsibility for local areas and tourism</a:t>
            </a:r>
          </a:p>
          <a:p>
            <a:pPr marL="171450" lvl="0" indent="-171450">
              <a:buFont typeface="Arial" pitchFamily="34" charset="0"/>
              <a:buChar char="•"/>
            </a:pPr>
            <a:r>
              <a:rPr lang="en-AU" sz="1200" kern="1200" dirty="0" smtClean="0">
                <a:solidFill>
                  <a:schemeClr val="tx1"/>
                </a:solidFill>
                <a:latin typeface="+mn-lt"/>
                <a:ea typeface="+mn-ea"/>
                <a:cs typeface="+mn-cs"/>
              </a:rPr>
              <a:t>Local industry tour groups and associations – who will have been engaged in liaising with local stakeholders and with developing protocols for minimising impact.</a:t>
            </a:r>
          </a:p>
          <a:p>
            <a:r>
              <a:rPr lang="en-AU" sz="1200" b="1" kern="1200" dirty="0" smtClean="0">
                <a:solidFill>
                  <a:schemeClr val="tx1"/>
                </a:solidFill>
                <a:latin typeface="+mn-lt"/>
                <a:ea typeface="+mn-ea"/>
                <a:cs typeface="+mn-cs"/>
              </a:rPr>
              <a:t>Read relevant documentation</a:t>
            </a:r>
          </a:p>
          <a:p>
            <a:r>
              <a:rPr lang="en-AU" sz="1200" b="0" kern="1200" dirty="0" smtClean="0">
                <a:solidFill>
                  <a:schemeClr val="tx1"/>
                </a:solidFill>
                <a:latin typeface="+mn-lt"/>
                <a:ea typeface="+mn-ea"/>
                <a:cs typeface="+mn-cs"/>
              </a:rPr>
              <a:t>In many instances documentation has been developed to provide advice, guidelines of mandatory requirements to assist Tour Guides and Tourist Operators to minimise the impact of tours.</a:t>
            </a:r>
            <a:endParaRPr lang="en-AU" sz="1200" b="1" kern="1200" dirty="0" smtClean="0">
              <a:solidFill>
                <a:schemeClr val="tx1"/>
              </a:solidFill>
              <a:latin typeface="+mn-lt"/>
              <a:ea typeface="+mn-ea"/>
              <a:cs typeface="+mn-cs"/>
            </a:endParaRPr>
          </a:p>
          <a:p>
            <a:r>
              <a:rPr lang="en-AU" sz="1200" b="0" kern="1200" dirty="0" smtClean="0">
                <a:solidFill>
                  <a:schemeClr val="tx1"/>
                </a:solidFill>
                <a:latin typeface="+mn-lt"/>
                <a:ea typeface="+mn-ea"/>
                <a:cs typeface="+mn-cs"/>
              </a:rPr>
              <a:t>Documents may include those which are internal to the Tour Operator and imposed externally.</a:t>
            </a:r>
            <a:endParaRPr lang="en-AU" sz="1200" b="1" kern="1200" dirty="0" smtClean="0">
              <a:solidFill>
                <a:schemeClr val="tx1"/>
              </a:solidFill>
              <a:latin typeface="+mn-lt"/>
              <a:ea typeface="+mn-ea"/>
              <a:cs typeface="+mn-cs"/>
            </a:endParaRPr>
          </a:p>
          <a:p>
            <a:r>
              <a:rPr lang="en-AU" sz="1200" b="1" i="1" kern="1200" dirty="0" smtClean="0">
                <a:solidFill>
                  <a:schemeClr val="tx1"/>
                </a:solidFill>
                <a:latin typeface="+mn-lt"/>
                <a:ea typeface="+mn-ea"/>
                <a:cs typeface="+mn-cs"/>
              </a:rPr>
              <a:t>External documents</a:t>
            </a:r>
            <a:endParaRPr lang="en-AU" sz="1200" kern="1200" dirty="0" smtClean="0">
              <a:solidFill>
                <a:schemeClr val="tx1"/>
              </a:solidFill>
              <a:latin typeface="+mn-lt"/>
              <a:ea typeface="+mn-ea"/>
              <a:cs typeface="+mn-cs"/>
            </a:endParaRPr>
          </a:p>
          <a:p>
            <a:pPr marL="171450" lvl="0" indent="-171450">
              <a:buFont typeface="Arial" pitchFamily="34" charset="0"/>
              <a:buChar char="•"/>
            </a:pPr>
            <a:r>
              <a:rPr lang="en-AU" sz="1200" kern="1200" dirty="0" smtClean="0">
                <a:solidFill>
                  <a:schemeClr val="tx1"/>
                </a:solidFill>
                <a:latin typeface="+mn-lt"/>
                <a:ea typeface="+mn-ea"/>
                <a:cs typeface="+mn-cs"/>
              </a:rPr>
              <a:t>Legislation – Acts and Regulations; Local by-laws; Codes of Practice; Charters; Agreements</a:t>
            </a:r>
          </a:p>
          <a:p>
            <a:r>
              <a:rPr lang="en-AU" sz="1200" b="1" i="1" kern="1200" dirty="0" smtClean="0">
                <a:solidFill>
                  <a:schemeClr val="tx1"/>
                </a:solidFill>
                <a:latin typeface="+mn-lt"/>
                <a:ea typeface="+mn-ea"/>
                <a:cs typeface="+mn-cs"/>
              </a:rPr>
              <a:t>Internal documents</a:t>
            </a:r>
            <a:endParaRPr lang="en-AU" sz="1200" kern="1200" dirty="0" smtClean="0">
              <a:solidFill>
                <a:schemeClr val="tx1"/>
              </a:solidFill>
              <a:latin typeface="+mn-lt"/>
              <a:ea typeface="+mn-ea"/>
              <a:cs typeface="+mn-cs"/>
            </a:endParaRPr>
          </a:p>
          <a:p>
            <a:pPr marL="171450" lvl="0" indent="-171450">
              <a:buFont typeface="Arial" pitchFamily="34" charset="0"/>
              <a:buChar char="•"/>
            </a:pPr>
            <a:r>
              <a:rPr lang="en-AU" sz="1200" kern="1200" dirty="0" smtClean="0">
                <a:solidFill>
                  <a:schemeClr val="tx1"/>
                </a:solidFill>
                <a:latin typeface="+mn-lt"/>
                <a:ea typeface="+mn-ea"/>
                <a:cs typeface="+mn-cs"/>
              </a:rPr>
              <a:t>Policies; SOPs; Contracts; Terms and conditions; Commitments – made to compliance with relevant matters.</a:t>
            </a:r>
          </a:p>
          <a:p>
            <a:pPr>
              <a:buFont typeface="Arial" pitchFamily="34" charset="0"/>
              <a:buNone/>
            </a:pPr>
            <a:endParaRPr lang="en-US" noProof="0" dirty="0" smtClean="0"/>
          </a:p>
          <a:p>
            <a:pPr>
              <a:buFont typeface="Arial" pitchFamily="34" charset="0"/>
              <a:buNone/>
            </a:pPr>
            <a:r>
              <a:rPr lang="en-US" b="1" noProof="0" dirty="0" smtClean="0"/>
              <a:t>Class Activity (1) – Handouts</a:t>
            </a:r>
          </a:p>
          <a:p>
            <a:pPr>
              <a:buFont typeface="Arial" pitchFamily="34" charset="0"/>
              <a:buNone/>
            </a:pPr>
            <a:r>
              <a:rPr lang="en-US" b="0" noProof="0" dirty="0" smtClean="0"/>
              <a:t>Trainer distributes documents identified on slide and discusses their role in relation to minimising the impact/s of tours.</a:t>
            </a:r>
          </a:p>
          <a:p>
            <a:pPr>
              <a:buFont typeface="Arial" pitchFamily="34" charset="0"/>
              <a:buNone/>
            </a:pPr>
            <a:endParaRPr lang="en-US" b="0" noProof="0" dirty="0" smtClean="0"/>
          </a:p>
          <a:p>
            <a:pPr>
              <a:buFont typeface="Arial" pitchFamily="34" charset="0"/>
              <a:buNone/>
            </a:pPr>
            <a:r>
              <a:rPr lang="en-US" b="1" noProof="0" dirty="0" smtClean="0"/>
              <a:t>Class Activity (2) – Guest Speaker</a:t>
            </a:r>
          </a:p>
          <a:p>
            <a:pPr>
              <a:buFont typeface="Arial" pitchFamily="34" charset="0"/>
              <a:buNone/>
            </a:pPr>
            <a:r>
              <a:rPr lang="en-US" b="0" noProof="0" dirty="0" smtClean="0"/>
              <a:t>Trainer</a:t>
            </a:r>
            <a:r>
              <a:rPr lang="en-US" b="0" baseline="0" noProof="0" dirty="0" smtClean="0"/>
              <a:t> arranges for Government official to attend and present requirements for Tour Operators and Tour Guides in relation to minimising impact of tours on local culture, people and/or environment</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133</a:t>
            </a:fld>
            <a:endParaRPr lang="en-US" dirty="0"/>
          </a:p>
        </p:txBody>
      </p:sp>
    </p:spTree>
    <p:extLst>
      <p:ext uri="{BB962C8B-B14F-4D97-AF65-F5344CB8AC3E}">
        <p14:creationId xmlns:p14="http://schemas.microsoft.com/office/powerpoint/2010/main" val="2772787239"/>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notes </a:t>
            </a:r>
            <a:r>
              <a:rPr lang="en-AU" sz="1200" b="0" kern="1200" dirty="0" smtClean="0">
                <a:solidFill>
                  <a:schemeClr val="tx1"/>
                </a:solidFill>
                <a:latin typeface="+mn-lt"/>
                <a:ea typeface="+mn-ea"/>
                <a:cs typeface="+mn-cs"/>
              </a:rPr>
              <a:t>practical procedures for minimising the negative impact of tours will usually also </a:t>
            </a:r>
            <a:r>
              <a:rPr lang="en-AU" sz="1200" b="1" kern="1200" dirty="0" smtClean="0">
                <a:solidFill>
                  <a:schemeClr val="tx1"/>
                </a:solidFill>
                <a:latin typeface="+mn-lt"/>
                <a:ea typeface="+mn-ea"/>
                <a:cs typeface="+mn-cs"/>
              </a:rPr>
              <a:t>seek to optimise the positive impact </a:t>
            </a:r>
            <a:r>
              <a:rPr lang="en-AU" sz="1200" b="0" kern="1200" dirty="0" smtClean="0">
                <a:solidFill>
                  <a:schemeClr val="tx1"/>
                </a:solidFill>
                <a:latin typeface="+mn-lt"/>
                <a:ea typeface="+mn-ea"/>
                <a:cs typeface="+mn-cs"/>
              </a:rPr>
              <a:t>of tours stating the following have emerged as effective actions:</a:t>
            </a:r>
            <a:endParaRPr lang="en-AU" sz="1200" b="1" kern="1200" dirty="0" smtClean="0">
              <a:solidFill>
                <a:schemeClr val="tx1"/>
              </a:solidFill>
              <a:latin typeface="+mn-lt"/>
              <a:ea typeface="+mn-ea"/>
              <a:cs typeface="+mn-cs"/>
            </a:endParaRPr>
          </a:p>
          <a:p>
            <a:pPr marL="171450" lvl="0" indent="-171450">
              <a:buFont typeface="Arial" pitchFamily="34" charset="0"/>
              <a:buChar char="•"/>
            </a:pPr>
            <a:r>
              <a:rPr lang="en-AU" sz="1200" kern="1200" dirty="0" smtClean="0">
                <a:solidFill>
                  <a:schemeClr val="tx1"/>
                </a:solidFill>
                <a:latin typeface="+mn-lt"/>
                <a:ea typeface="+mn-ea"/>
                <a:cs typeface="+mn-cs"/>
              </a:rPr>
              <a:t>Be careful and sensitive in relation to ecological issues – do nothing to negatively impact the local ecology/environment:</a:t>
            </a:r>
          </a:p>
          <a:p>
            <a:pPr marL="628650" lvl="1" indent="-171450">
              <a:buFont typeface="Arial" pitchFamily="34" charset="0"/>
              <a:buChar char="•"/>
            </a:pPr>
            <a:r>
              <a:rPr lang="en-AU" sz="1200" kern="1200" dirty="0" smtClean="0">
                <a:solidFill>
                  <a:schemeClr val="tx1"/>
                </a:solidFill>
                <a:latin typeface="+mn-lt"/>
                <a:ea typeface="+mn-ea"/>
                <a:cs typeface="+mn-cs"/>
              </a:rPr>
              <a:t>Limit local water use</a:t>
            </a:r>
          </a:p>
          <a:p>
            <a:pPr marL="628650" lvl="1" indent="-171450">
              <a:buFont typeface="Arial" pitchFamily="34" charset="0"/>
              <a:buChar char="•"/>
            </a:pPr>
            <a:r>
              <a:rPr lang="en-AU" sz="1200" kern="1200" dirty="0" smtClean="0">
                <a:solidFill>
                  <a:schemeClr val="tx1"/>
                </a:solidFill>
                <a:latin typeface="+mn-lt"/>
                <a:ea typeface="+mn-ea"/>
                <a:cs typeface="+mn-cs"/>
              </a:rPr>
              <a:t>Never leave rubbish behind</a:t>
            </a:r>
          </a:p>
          <a:p>
            <a:pPr marL="628650" lvl="1" indent="-171450">
              <a:buFont typeface="Arial" pitchFamily="34" charset="0"/>
              <a:buChar char="•"/>
            </a:pPr>
            <a:r>
              <a:rPr lang="en-AU" sz="1200" kern="1200" dirty="0" smtClean="0">
                <a:solidFill>
                  <a:schemeClr val="tx1"/>
                </a:solidFill>
                <a:latin typeface="+mn-lt"/>
                <a:ea typeface="+mn-ea"/>
                <a:cs typeface="+mn-cs"/>
              </a:rPr>
              <a:t>Take care to do nothing which erodes the land.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134</a:t>
            </a:fld>
            <a:endParaRPr lang="en-US" dirty="0"/>
          </a:p>
        </p:txBody>
      </p:sp>
    </p:spTree>
    <p:extLst>
      <p:ext uri="{BB962C8B-B14F-4D97-AF65-F5344CB8AC3E}">
        <p14:creationId xmlns:p14="http://schemas.microsoft.com/office/powerpoint/2010/main" val="429742708"/>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continues presenting </a:t>
            </a:r>
            <a:r>
              <a:rPr lang="en-AU" sz="1200" b="0" kern="1200" dirty="0" smtClean="0">
                <a:solidFill>
                  <a:schemeClr val="tx1"/>
                </a:solidFill>
                <a:latin typeface="+mn-lt"/>
                <a:ea typeface="+mn-ea"/>
                <a:cs typeface="+mn-cs"/>
              </a:rPr>
              <a:t>practical procedures for minimising the negative impact of tours:</a:t>
            </a:r>
          </a:p>
          <a:p>
            <a:pPr marL="171450" lvl="0" indent="-171450">
              <a:buFont typeface="Arial" pitchFamily="34" charset="0"/>
              <a:buChar char="•"/>
            </a:pPr>
            <a:r>
              <a:rPr lang="en-AU" sz="1200" kern="1200" dirty="0" smtClean="0">
                <a:solidFill>
                  <a:schemeClr val="tx1"/>
                </a:solidFill>
                <a:latin typeface="+mn-lt"/>
                <a:ea typeface="+mn-ea"/>
                <a:cs typeface="+mn-cs"/>
              </a:rPr>
              <a:t>Control visitations – by:</a:t>
            </a:r>
          </a:p>
          <a:p>
            <a:pPr marL="628650" lvl="1" indent="-171450">
              <a:buFont typeface="Arial" pitchFamily="34" charset="0"/>
              <a:buChar char="•"/>
            </a:pPr>
            <a:r>
              <a:rPr lang="en-AU" sz="1200" kern="1200" dirty="0" smtClean="0">
                <a:solidFill>
                  <a:schemeClr val="tx1"/>
                </a:solidFill>
                <a:latin typeface="+mn-lt"/>
                <a:ea typeface="+mn-ea"/>
                <a:cs typeface="+mn-cs"/>
              </a:rPr>
              <a:t>Setting limits for:</a:t>
            </a:r>
          </a:p>
          <a:p>
            <a:pPr marL="1085850" lvl="2" indent="-171450">
              <a:buFont typeface="Arial" pitchFamily="34" charset="0"/>
              <a:buChar char="•"/>
            </a:pPr>
            <a:r>
              <a:rPr lang="en-AU" sz="1200" kern="1200" dirty="0" smtClean="0">
                <a:solidFill>
                  <a:schemeClr val="tx1"/>
                </a:solidFill>
                <a:latin typeface="+mn-lt"/>
                <a:ea typeface="+mn-ea"/>
                <a:cs typeface="+mn-cs"/>
              </a:rPr>
              <a:t>Maximum numbers on a tour</a:t>
            </a:r>
          </a:p>
          <a:p>
            <a:pPr marL="1085850" lvl="2" indent="-171450">
              <a:buFont typeface="Arial" pitchFamily="34" charset="0"/>
              <a:buChar char="•"/>
            </a:pPr>
            <a:r>
              <a:rPr lang="en-AU" sz="1200" kern="1200" dirty="0" smtClean="0">
                <a:solidFill>
                  <a:schemeClr val="tx1"/>
                </a:solidFill>
                <a:latin typeface="+mn-lt"/>
                <a:ea typeface="+mn-ea"/>
                <a:cs typeface="+mn-cs"/>
              </a:rPr>
              <a:t>Number of visits/tours to an area/destination per day, week or other period</a:t>
            </a:r>
          </a:p>
          <a:p>
            <a:pPr marL="628650" lvl="1" indent="-171450">
              <a:buFont typeface="Arial" pitchFamily="34" charset="0"/>
              <a:buChar char="•"/>
            </a:pPr>
            <a:r>
              <a:rPr lang="en-AU" sz="1200" kern="1200" dirty="0" smtClean="0">
                <a:solidFill>
                  <a:schemeClr val="tx1"/>
                </a:solidFill>
                <a:latin typeface="+mn-lt"/>
                <a:ea typeface="+mn-ea"/>
                <a:cs typeface="+mn-cs"/>
              </a:rPr>
              <a:t>Developing and offering alternatives – to tours to sensitive areas</a:t>
            </a:r>
          </a:p>
          <a:p>
            <a:pPr marL="628650" lvl="1" indent="-171450">
              <a:buFont typeface="Arial" pitchFamily="34" charset="0"/>
              <a:buChar char="•"/>
            </a:pPr>
            <a:r>
              <a:rPr lang="en-AU" sz="1200" kern="1200" dirty="0" smtClean="0">
                <a:solidFill>
                  <a:schemeClr val="tx1"/>
                </a:solidFill>
                <a:latin typeface="+mn-lt"/>
                <a:ea typeface="+mn-ea"/>
                <a:cs typeface="+mn-cs"/>
              </a:rPr>
              <a:t>Providing effective management of tours and tour group members.</a:t>
            </a:r>
          </a:p>
          <a:p>
            <a:endParaRPr lang="en-AU" sz="1200" b="1"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135</a:t>
            </a:fld>
            <a:endParaRPr lang="en-US" dirty="0"/>
          </a:p>
        </p:txBody>
      </p:sp>
    </p:spTree>
    <p:extLst>
      <p:ext uri="{BB962C8B-B14F-4D97-AF65-F5344CB8AC3E}">
        <p14:creationId xmlns:p14="http://schemas.microsoft.com/office/powerpoint/2010/main" val="1196753609"/>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continues presenting </a:t>
            </a:r>
            <a:r>
              <a:rPr lang="en-AU" sz="1200" b="0" kern="1200" dirty="0" smtClean="0">
                <a:solidFill>
                  <a:schemeClr val="tx1"/>
                </a:solidFill>
                <a:latin typeface="+mn-lt"/>
                <a:ea typeface="+mn-ea"/>
                <a:cs typeface="+mn-cs"/>
              </a:rPr>
              <a:t>practical procedures for minimising the negative impact of tours:</a:t>
            </a:r>
          </a:p>
          <a:p>
            <a:pPr marL="171450" lvl="0" indent="-171450">
              <a:buFont typeface="Arial" pitchFamily="34" charset="0"/>
              <a:buChar char="•"/>
            </a:pPr>
            <a:r>
              <a:rPr lang="en-AU" sz="1200" kern="1200" dirty="0" smtClean="0">
                <a:solidFill>
                  <a:schemeClr val="tx1"/>
                </a:solidFill>
                <a:latin typeface="+mn-lt"/>
                <a:ea typeface="+mn-ea"/>
                <a:cs typeface="+mn-cs"/>
              </a:rPr>
              <a:t>Be mindful of local persons, activities and preferences if asked by a local community – for example:</a:t>
            </a:r>
          </a:p>
          <a:p>
            <a:pPr marL="628650" lvl="1" indent="-171450">
              <a:buFont typeface="Arial" pitchFamily="34" charset="0"/>
              <a:buChar char="•"/>
            </a:pPr>
            <a:r>
              <a:rPr lang="en-AU" sz="1200" kern="1200" dirty="0" smtClean="0">
                <a:solidFill>
                  <a:schemeClr val="tx1"/>
                </a:solidFill>
                <a:latin typeface="+mn-lt"/>
                <a:ea typeface="+mn-ea"/>
                <a:cs typeface="+mn-cs"/>
              </a:rPr>
              <a:t>Do not operate tours at times/on days identified by locals as being ‘restricted’ in some way (such as because of local religious or other beliefs, due to established local custom, as a result of the needs, wants and preferences of local people)</a:t>
            </a:r>
          </a:p>
          <a:p>
            <a:pPr marL="628650" lvl="1" indent="-171450">
              <a:buFont typeface="Arial" pitchFamily="34" charset="0"/>
              <a:buChar char="•"/>
            </a:pPr>
            <a:r>
              <a:rPr lang="en-AU" sz="1200" kern="1200" dirty="0" smtClean="0">
                <a:solidFill>
                  <a:schemeClr val="tx1"/>
                </a:solidFill>
                <a:latin typeface="+mn-lt"/>
                <a:ea typeface="+mn-ea"/>
                <a:cs typeface="+mn-cs"/>
              </a:rPr>
              <a:t>Do not enter nominated areas – in certain locales</a:t>
            </a:r>
          </a:p>
          <a:p>
            <a:pPr marL="628650" lvl="1" indent="-171450">
              <a:buFont typeface="Arial" pitchFamily="34" charset="0"/>
              <a:buChar char="•"/>
            </a:pPr>
            <a:r>
              <a:rPr lang="en-AU" sz="1200" kern="1200" dirty="0" smtClean="0">
                <a:solidFill>
                  <a:schemeClr val="tx1"/>
                </a:solidFill>
                <a:latin typeface="+mn-lt"/>
                <a:ea typeface="+mn-ea"/>
                <a:cs typeface="+mn-cs"/>
              </a:rPr>
              <a:t>Walk only on designated paths</a:t>
            </a:r>
          </a:p>
          <a:p>
            <a:pPr marL="628650" lvl="1" indent="-171450">
              <a:buFont typeface="Arial" pitchFamily="34" charset="0"/>
              <a:buChar char="•"/>
            </a:pPr>
            <a:r>
              <a:rPr lang="en-AU" sz="1200" kern="1200" dirty="0" smtClean="0">
                <a:solidFill>
                  <a:schemeClr val="tx1"/>
                </a:solidFill>
                <a:latin typeface="+mn-lt"/>
                <a:ea typeface="+mn-ea"/>
                <a:cs typeface="+mn-cs"/>
              </a:rPr>
              <a:t>Do not go within a given distance of wildlife, activities, persons, buildings or other nominated events.</a:t>
            </a:r>
          </a:p>
          <a:p>
            <a:endParaRPr lang="en-AU" sz="1200" b="1"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136</a:t>
            </a:fld>
            <a:endParaRPr lang="en-US" dirty="0"/>
          </a:p>
        </p:txBody>
      </p:sp>
    </p:spTree>
    <p:extLst>
      <p:ext uri="{BB962C8B-B14F-4D97-AF65-F5344CB8AC3E}">
        <p14:creationId xmlns:p14="http://schemas.microsoft.com/office/powerpoint/2010/main" val="1023971970"/>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continues presenting </a:t>
            </a:r>
            <a:r>
              <a:rPr lang="en-AU" sz="1200" b="0" kern="1200" dirty="0" smtClean="0">
                <a:solidFill>
                  <a:schemeClr val="tx1"/>
                </a:solidFill>
                <a:latin typeface="+mn-lt"/>
                <a:ea typeface="+mn-ea"/>
                <a:cs typeface="+mn-cs"/>
              </a:rPr>
              <a:t>practical procedures for minimising the negative impact of tours:</a:t>
            </a:r>
          </a:p>
          <a:p>
            <a:pPr marL="171450" lvl="0" indent="-171450">
              <a:buFont typeface="Arial" pitchFamily="34" charset="0"/>
              <a:buChar char="•"/>
            </a:pPr>
            <a:r>
              <a:rPr lang="en-AU" sz="1200" kern="1200" dirty="0" smtClean="0">
                <a:solidFill>
                  <a:schemeClr val="tx1"/>
                </a:solidFill>
                <a:latin typeface="+mn-lt"/>
                <a:ea typeface="+mn-ea"/>
                <a:cs typeface="+mn-cs"/>
              </a:rPr>
              <a:t>Ask tourists not to look at and/or intervene in nominated things – or initiate conversation with local people</a:t>
            </a:r>
          </a:p>
          <a:p>
            <a:pPr marL="171450" lvl="0" indent="-171450">
              <a:buFont typeface="Arial" pitchFamily="34" charset="0"/>
              <a:buChar char="•"/>
            </a:pPr>
            <a:r>
              <a:rPr lang="en-AU" sz="1200" kern="1200" dirty="0" smtClean="0">
                <a:solidFill>
                  <a:schemeClr val="tx1"/>
                </a:solidFill>
                <a:latin typeface="+mn-lt"/>
                <a:ea typeface="+mn-ea"/>
                <a:cs typeface="+mn-cs"/>
              </a:rPr>
              <a:t>Advise and demonstrate to tourists important aspects of local manners – and what is considered normal and acceptable, as well as what is deemed to be rude and disrespectful</a:t>
            </a:r>
          </a:p>
          <a:p>
            <a:pPr marL="171450" lvl="0" indent="-171450">
              <a:buFont typeface="Arial" pitchFamily="34" charset="0"/>
              <a:buChar char="•"/>
            </a:pPr>
            <a:r>
              <a:rPr lang="en-AU" sz="1200" kern="1200" dirty="0" smtClean="0">
                <a:solidFill>
                  <a:schemeClr val="tx1"/>
                </a:solidFill>
                <a:latin typeface="+mn-lt"/>
                <a:ea typeface="+mn-ea"/>
                <a:cs typeface="+mn-cs"/>
              </a:rPr>
              <a:t>Restrict numbers of tourists who enter an area – to reduce their immediate  impact and to limit unintentional disturbance/interference with normal activities</a:t>
            </a:r>
          </a:p>
          <a:p>
            <a:pPr marL="171450" lvl="0" indent="-171450">
              <a:buFont typeface="Arial" pitchFamily="34" charset="0"/>
              <a:buChar char="•"/>
            </a:pPr>
            <a:r>
              <a:rPr lang="en-AU" sz="1200" kern="1200" dirty="0" smtClean="0">
                <a:solidFill>
                  <a:schemeClr val="tx1"/>
                </a:solidFill>
                <a:latin typeface="+mn-lt"/>
                <a:ea typeface="+mn-ea"/>
                <a:cs typeface="+mn-cs"/>
              </a:rPr>
              <a:t>Ask tourists not to stare at locals</a:t>
            </a:r>
          </a:p>
          <a:p>
            <a:pPr marL="171450" lvl="0" indent="-171450">
              <a:buFont typeface="Arial" pitchFamily="34" charset="0"/>
              <a:buChar char="•"/>
            </a:pPr>
            <a:r>
              <a:rPr lang="en-AU" sz="1200" kern="1200" dirty="0" smtClean="0">
                <a:solidFill>
                  <a:schemeClr val="tx1"/>
                </a:solidFill>
                <a:latin typeface="+mn-lt"/>
                <a:ea typeface="+mn-ea"/>
                <a:cs typeface="+mn-cs"/>
              </a:rPr>
              <a:t>Where appropriate, tell visitors to ask for permission before taking photographs – or ban taking of cameras/cell phones into certain areas.</a:t>
            </a:r>
          </a:p>
          <a:p>
            <a:endParaRPr lang="en-US" sz="1200" b="1" kern="1200" dirty="0" smtClean="0">
              <a:solidFill>
                <a:schemeClr val="tx1"/>
              </a:solidFill>
              <a:latin typeface="+mn-lt"/>
              <a:ea typeface="+mn-ea"/>
              <a:cs typeface="+mn-cs"/>
            </a:endParaRPr>
          </a:p>
          <a:p>
            <a:endParaRPr lang="en-AU" sz="1200" b="1"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137</a:t>
            </a:fld>
            <a:endParaRPr lang="en-US" dirty="0"/>
          </a:p>
        </p:txBody>
      </p:sp>
    </p:spTree>
    <p:extLst>
      <p:ext uri="{BB962C8B-B14F-4D97-AF65-F5344CB8AC3E}">
        <p14:creationId xmlns:p14="http://schemas.microsoft.com/office/powerpoint/2010/main" val="59555906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continues presenting </a:t>
            </a:r>
            <a:r>
              <a:rPr lang="en-AU" sz="1200" b="0" kern="1200" dirty="0" smtClean="0">
                <a:solidFill>
                  <a:schemeClr val="tx1"/>
                </a:solidFill>
                <a:latin typeface="+mn-lt"/>
                <a:ea typeface="+mn-ea"/>
                <a:cs typeface="+mn-cs"/>
              </a:rPr>
              <a:t>practical procedures for minimising the negative impact of tours:</a:t>
            </a:r>
          </a:p>
          <a:p>
            <a:pPr marL="171450" lvl="0" indent="-171450">
              <a:buFont typeface="Arial" pitchFamily="34" charset="0"/>
              <a:buChar char="•"/>
            </a:pPr>
            <a:r>
              <a:rPr lang="en-AU" sz="1200" kern="1200" dirty="0" smtClean="0">
                <a:solidFill>
                  <a:schemeClr val="tx1"/>
                </a:solidFill>
                <a:latin typeface="+mn-lt"/>
                <a:ea typeface="+mn-ea"/>
                <a:cs typeface="+mn-cs"/>
              </a:rPr>
              <a:t>Commit to compliance – this means:</a:t>
            </a:r>
          </a:p>
          <a:p>
            <a:pPr marL="628650" lvl="1" indent="-171450">
              <a:buFont typeface="Arial" pitchFamily="34" charset="0"/>
              <a:buChar char="•"/>
            </a:pPr>
            <a:r>
              <a:rPr lang="en-AU" sz="1200" kern="1200" dirty="0" smtClean="0">
                <a:solidFill>
                  <a:schemeClr val="tx1"/>
                </a:solidFill>
                <a:latin typeface="+mn-lt"/>
                <a:ea typeface="+mn-ea"/>
                <a:cs typeface="+mn-cs"/>
              </a:rPr>
              <a:t>Making public statements the tour and the Tour Guide and Tour Operator:</a:t>
            </a:r>
          </a:p>
          <a:p>
            <a:pPr marL="1085850" lvl="2" indent="-171450">
              <a:buFont typeface="Arial" pitchFamily="34" charset="0"/>
              <a:buChar char="•"/>
            </a:pPr>
            <a:r>
              <a:rPr lang="en-AU" sz="1200" kern="1200" dirty="0" smtClean="0">
                <a:solidFill>
                  <a:schemeClr val="tx1"/>
                </a:solidFill>
                <a:latin typeface="+mn-lt"/>
                <a:ea typeface="+mn-ea"/>
                <a:cs typeface="+mn-cs"/>
              </a:rPr>
              <a:t>Is committed to nominated Codes and Agreements</a:t>
            </a:r>
          </a:p>
          <a:p>
            <a:pPr marL="1085850" lvl="2" indent="-171450">
              <a:buFont typeface="Arial" pitchFamily="34" charset="0"/>
              <a:buChar char="•"/>
            </a:pPr>
            <a:r>
              <a:rPr lang="en-AU" sz="1200" kern="1200" dirty="0" smtClean="0">
                <a:solidFill>
                  <a:schemeClr val="tx1"/>
                </a:solidFill>
                <a:latin typeface="+mn-lt"/>
                <a:ea typeface="+mn-ea"/>
                <a:cs typeface="+mn-cs"/>
              </a:rPr>
              <a:t>Is committed to observing and implementing all relevant legislation</a:t>
            </a:r>
          </a:p>
          <a:p>
            <a:pPr marL="628650" lvl="1" indent="-171450">
              <a:buFont typeface="Arial" pitchFamily="34" charset="0"/>
              <a:buChar char="•"/>
            </a:pPr>
            <a:r>
              <a:rPr lang="en-AU" sz="1200" kern="1200" dirty="0" smtClean="0">
                <a:solidFill>
                  <a:schemeClr val="tx1"/>
                </a:solidFill>
                <a:latin typeface="+mn-lt"/>
                <a:ea typeface="+mn-ea"/>
                <a:cs typeface="+mn-cs"/>
              </a:rPr>
              <a:t>Advising tour groups:</a:t>
            </a:r>
          </a:p>
          <a:p>
            <a:pPr marL="1085850" lvl="2" indent="-171450">
              <a:buFont typeface="Arial" pitchFamily="34" charset="0"/>
              <a:buChar char="•"/>
            </a:pPr>
            <a:r>
              <a:rPr lang="en-AU" sz="1200" kern="1200" dirty="0" smtClean="0">
                <a:solidFill>
                  <a:schemeClr val="tx1"/>
                </a:solidFill>
                <a:latin typeface="+mn-lt"/>
                <a:ea typeface="+mn-ea"/>
                <a:cs typeface="+mn-cs"/>
              </a:rPr>
              <a:t>Of the limitations/restrictions imposed on tours by Agreements, Codes and legislation</a:t>
            </a:r>
          </a:p>
          <a:p>
            <a:pPr marL="1085850" lvl="2" indent="-171450">
              <a:buFont typeface="Arial" pitchFamily="34" charset="0"/>
              <a:buChar char="•"/>
            </a:pPr>
            <a:r>
              <a:rPr lang="en-AU" sz="1200" kern="1200" dirty="0" smtClean="0">
                <a:solidFill>
                  <a:schemeClr val="tx1"/>
                </a:solidFill>
                <a:latin typeface="+mn-lt"/>
                <a:ea typeface="+mn-ea"/>
                <a:cs typeface="+mn-cs"/>
              </a:rPr>
              <a:t>Scheduled activities and the planned itinerary are subject to change where the Tour Guide believes they will negatively impact the local area</a:t>
            </a:r>
          </a:p>
          <a:p>
            <a:pPr marL="1085850" lvl="2" indent="-171450">
              <a:buFont typeface="Arial" pitchFamily="34" charset="0"/>
              <a:buChar char="•"/>
            </a:pPr>
            <a:r>
              <a:rPr lang="en-AU" sz="1200" kern="1200" dirty="0" smtClean="0">
                <a:solidFill>
                  <a:schemeClr val="tx1"/>
                </a:solidFill>
                <a:latin typeface="+mn-lt"/>
                <a:ea typeface="+mn-ea"/>
                <a:cs typeface="+mn-cs"/>
              </a:rPr>
              <a:t>Anyone identified as breaching requirements in this regard will be asked to modify their behaviour and/or leave the tour. </a:t>
            </a:r>
          </a:p>
          <a:p>
            <a:endParaRPr lang="en-AU" sz="1200" b="1"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138</a:t>
            </a:fld>
            <a:endParaRPr lang="en-US" dirty="0"/>
          </a:p>
        </p:txBody>
      </p:sp>
    </p:spTree>
    <p:extLst>
      <p:ext uri="{BB962C8B-B14F-4D97-AF65-F5344CB8AC3E}">
        <p14:creationId xmlns:p14="http://schemas.microsoft.com/office/powerpoint/2010/main" val="2323142580"/>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continues presenting </a:t>
            </a:r>
            <a:r>
              <a:rPr lang="en-AU" sz="1200" b="0" kern="1200" dirty="0" smtClean="0">
                <a:solidFill>
                  <a:schemeClr val="tx1"/>
                </a:solidFill>
                <a:latin typeface="+mn-lt"/>
                <a:ea typeface="+mn-ea"/>
                <a:cs typeface="+mn-cs"/>
              </a:rPr>
              <a:t>practical procedures for minimising the negative impact of tours:</a:t>
            </a:r>
          </a:p>
          <a:p>
            <a:pPr marL="171450" lvl="0" indent="-171450">
              <a:buFont typeface="Arial" pitchFamily="34" charset="0"/>
              <a:buChar char="•"/>
            </a:pPr>
            <a:r>
              <a:rPr lang="en-AU" sz="1200" kern="1200" dirty="0" smtClean="0">
                <a:solidFill>
                  <a:schemeClr val="tx1"/>
                </a:solidFill>
                <a:latin typeface="+mn-lt"/>
                <a:ea typeface="+mn-ea"/>
                <a:cs typeface="+mn-cs"/>
              </a:rPr>
              <a:t>Participate in planning – as Tour Guides it is important to:</a:t>
            </a:r>
          </a:p>
          <a:p>
            <a:pPr marL="628650" lvl="1" indent="-171450">
              <a:buFont typeface="Arial" pitchFamily="34" charset="0"/>
              <a:buChar char="•"/>
            </a:pPr>
            <a:r>
              <a:rPr lang="en-AU" sz="1200" kern="1200" dirty="0" smtClean="0">
                <a:solidFill>
                  <a:schemeClr val="tx1"/>
                </a:solidFill>
                <a:latin typeface="+mn-lt"/>
                <a:ea typeface="+mn-ea"/>
                <a:cs typeface="+mn-cs"/>
              </a:rPr>
              <a:t>Take part in discussions about principles and practices for responsible and sustainable tour actions</a:t>
            </a:r>
          </a:p>
          <a:p>
            <a:pPr marL="628650" lvl="1" indent="-171450">
              <a:buFont typeface="Arial" pitchFamily="34" charset="0"/>
              <a:buChar char="•"/>
            </a:pPr>
            <a:r>
              <a:rPr lang="en-AU" sz="1200" kern="1200" dirty="0" smtClean="0">
                <a:solidFill>
                  <a:schemeClr val="tx1"/>
                </a:solidFill>
                <a:latin typeface="+mn-lt"/>
                <a:ea typeface="+mn-ea"/>
                <a:cs typeface="+mn-cs"/>
              </a:rPr>
              <a:t>Provide feedback and input to the planning process based on personal experiences and observations</a:t>
            </a:r>
          </a:p>
          <a:p>
            <a:pPr marL="628650" lvl="1" indent="-171450">
              <a:buFont typeface="Arial" pitchFamily="34" charset="0"/>
              <a:buChar char="•"/>
            </a:pPr>
            <a:r>
              <a:rPr lang="en-AU" sz="1200" kern="1200" dirty="0" smtClean="0">
                <a:solidFill>
                  <a:schemeClr val="tx1"/>
                </a:solidFill>
                <a:latin typeface="+mn-lt"/>
                <a:ea typeface="+mn-ea"/>
                <a:cs typeface="+mn-cs"/>
              </a:rPr>
              <a:t>Be prepared to implement and trial draft policies and procedures.</a:t>
            </a:r>
          </a:p>
          <a:p>
            <a:endParaRPr lang="en-US" sz="1200" b="1" kern="1200" dirty="0" smtClean="0">
              <a:solidFill>
                <a:schemeClr val="tx1"/>
              </a:solidFill>
              <a:latin typeface="+mn-lt"/>
              <a:ea typeface="+mn-ea"/>
              <a:cs typeface="+mn-cs"/>
            </a:endParaRPr>
          </a:p>
          <a:p>
            <a:r>
              <a:rPr lang="en-US" sz="1200" b="1" kern="1200" dirty="0" smtClean="0">
                <a:solidFill>
                  <a:schemeClr val="tx1"/>
                </a:solidFill>
                <a:latin typeface="+mn-lt"/>
                <a:ea typeface="+mn-ea"/>
                <a:cs typeface="+mn-cs"/>
              </a:rPr>
              <a:t>Class</a:t>
            </a:r>
            <a:r>
              <a:rPr lang="en-US" sz="1200" b="1" kern="1200" baseline="0" dirty="0" smtClean="0">
                <a:solidFill>
                  <a:schemeClr val="tx1"/>
                </a:solidFill>
                <a:latin typeface="+mn-lt"/>
                <a:ea typeface="+mn-ea"/>
                <a:cs typeface="+mn-cs"/>
              </a:rPr>
              <a:t> Activity – Major Individual Assignment</a:t>
            </a:r>
          </a:p>
          <a:p>
            <a:r>
              <a:rPr lang="en-US" sz="1200" b="0" kern="1200" baseline="0" dirty="0" smtClean="0">
                <a:solidFill>
                  <a:schemeClr val="tx1"/>
                </a:solidFill>
                <a:latin typeface="+mn-lt"/>
                <a:ea typeface="+mn-ea"/>
                <a:cs typeface="+mn-cs"/>
              </a:rPr>
              <a:t>Trainer asks students to plan and conduct a local walking or vehicle-based tour.</a:t>
            </a:r>
          </a:p>
          <a:p>
            <a:r>
              <a:rPr lang="en-US" sz="1200" b="0" kern="1200" baseline="0" dirty="0" smtClean="0">
                <a:solidFill>
                  <a:schemeClr val="tx1"/>
                </a:solidFill>
                <a:latin typeface="+mn-lt"/>
                <a:ea typeface="+mn-ea"/>
                <a:cs typeface="+mn-cs"/>
              </a:rPr>
              <a:t>Tour must:</a:t>
            </a:r>
          </a:p>
          <a:p>
            <a:pPr marL="171450" indent="-171450">
              <a:buFont typeface="Arial" pitchFamily="34" charset="0"/>
              <a:buChar char="•"/>
            </a:pPr>
            <a:r>
              <a:rPr lang="en-US" sz="1200" b="0" kern="1200" baseline="0" dirty="0" smtClean="0">
                <a:solidFill>
                  <a:schemeClr val="tx1"/>
                </a:solidFill>
                <a:latin typeface="+mn-lt"/>
                <a:ea typeface="+mn-ea"/>
                <a:cs typeface="+mn-cs"/>
              </a:rPr>
              <a:t>Have duration of 60 – 90 minutes</a:t>
            </a:r>
          </a:p>
          <a:p>
            <a:pPr marL="171450" indent="-171450">
              <a:buFont typeface="Arial" pitchFamily="34" charset="0"/>
              <a:buChar char="•"/>
            </a:pPr>
            <a:r>
              <a:rPr lang="en-US" sz="1200" b="0" kern="1200" baseline="0" dirty="0" smtClean="0">
                <a:solidFill>
                  <a:schemeClr val="tx1"/>
                </a:solidFill>
                <a:latin typeface="+mn-lt"/>
                <a:ea typeface="+mn-ea"/>
                <a:cs typeface="+mn-cs"/>
              </a:rPr>
              <a:t>Be conducted as a professional tour for fee-paying members of the public</a:t>
            </a:r>
          </a:p>
          <a:p>
            <a:pPr marL="171450" indent="-171450">
              <a:buFont typeface="Arial" pitchFamily="34" charset="0"/>
              <a:buChar char="•"/>
            </a:pPr>
            <a:r>
              <a:rPr lang="en-US" sz="1200" b="0" kern="1200" baseline="0" dirty="0" smtClean="0">
                <a:solidFill>
                  <a:schemeClr val="tx1"/>
                </a:solidFill>
                <a:latin typeface="+mn-lt"/>
                <a:ea typeface="+mn-ea"/>
                <a:cs typeface="+mn-cs"/>
              </a:rPr>
              <a:t>Feature:</a:t>
            </a:r>
          </a:p>
          <a:p>
            <a:pPr marL="628650" lvl="1" indent="-171450">
              <a:buFont typeface="Arial" pitchFamily="34" charset="0"/>
              <a:buChar char="•"/>
            </a:pPr>
            <a:r>
              <a:rPr lang="en-US" sz="1200" b="0" kern="1200" baseline="0" dirty="0" smtClean="0">
                <a:solidFill>
                  <a:schemeClr val="tx1"/>
                </a:solidFill>
                <a:latin typeface="+mn-lt"/>
                <a:ea typeface="+mn-ea"/>
                <a:cs typeface="+mn-cs"/>
              </a:rPr>
              <a:t>An itinerary</a:t>
            </a:r>
          </a:p>
          <a:p>
            <a:pPr marL="628650" lvl="1" indent="-171450">
              <a:buFont typeface="Arial" pitchFamily="34" charset="0"/>
              <a:buChar char="•"/>
            </a:pPr>
            <a:r>
              <a:rPr lang="en-US" sz="1200" b="0" kern="1200" baseline="0" dirty="0" smtClean="0">
                <a:solidFill>
                  <a:schemeClr val="tx1"/>
                </a:solidFill>
                <a:latin typeface="+mn-lt"/>
                <a:ea typeface="+mn-ea"/>
                <a:cs typeface="+mn-cs"/>
              </a:rPr>
              <a:t>A scripted commentary</a:t>
            </a:r>
          </a:p>
          <a:p>
            <a:pPr marL="628650" lvl="1" indent="-171450">
              <a:buFont typeface="Arial" pitchFamily="34" charset="0"/>
              <a:buChar char="•"/>
            </a:pPr>
            <a:r>
              <a:rPr lang="en-US" sz="1200" b="0" kern="1200" baseline="0" dirty="0" smtClean="0">
                <a:solidFill>
                  <a:schemeClr val="tx1"/>
                </a:solidFill>
                <a:latin typeface="+mn-lt"/>
                <a:ea typeface="+mn-ea"/>
                <a:cs typeface="+mn-cs"/>
              </a:rPr>
              <a:t>At least one activity/event</a:t>
            </a:r>
          </a:p>
          <a:p>
            <a:pPr marL="628650" lvl="1" indent="-171450">
              <a:buFont typeface="Arial" pitchFamily="34" charset="0"/>
              <a:buChar char="•"/>
            </a:pPr>
            <a:r>
              <a:rPr lang="en-US" sz="1200" b="0" kern="1200" baseline="0" dirty="0" smtClean="0">
                <a:solidFill>
                  <a:schemeClr val="tx1"/>
                </a:solidFill>
                <a:latin typeface="+mn-lt"/>
                <a:ea typeface="+mn-ea"/>
                <a:cs typeface="+mn-cs"/>
              </a:rPr>
              <a:t>Required pre-departure checks</a:t>
            </a:r>
          </a:p>
          <a:p>
            <a:pPr marL="628650" lvl="1" indent="-171450">
              <a:buFont typeface="Arial" pitchFamily="34" charset="0"/>
              <a:buChar char="•"/>
            </a:pPr>
            <a:r>
              <a:rPr lang="en-US" sz="1200" b="0" kern="1200" baseline="0" dirty="0" smtClean="0">
                <a:solidFill>
                  <a:schemeClr val="tx1"/>
                </a:solidFill>
                <a:latin typeface="+mn-lt"/>
                <a:ea typeface="+mn-ea"/>
                <a:cs typeface="+mn-cs"/>
              </a:rPr>
              <a:t>On-arrival activities</a:t>
            </a:r>
          </a:p>
          <a:p>
            <a:pPr marL="628650" lvl="1" indent="-171450">
              <a:buFont typeface="Arial" pitchFamily="34" charset="0"/>
              <a:buChar char="•"/>
            </a:pPr>
            <a:r>
              <a:rPr lang="en-US" sz="1200" b="0" kern="1200" baseline="0" dirty="0" smtClean="0">
                <a:solidFill>
                  <a:schemeClr val="tx1"/>
                </a:solidFill>
                <a:latin typeface="+mn-lt"/>
                <a:ea typeface="+mn-ea"/>
                <a:cs typeface="+mn-cs"/>
              </a:rPr>
              <a:t>During-tour activities </a:t>
            </a:r>
          </a:p>
          <a:p>
            <a:pPr marL="628650" lvl="1" indent="-171450">
              <a:buFont typeface="Arial" pitchFamily="34" charset="0"/>
              <a:buChar char="•"/>
            </a:pPr>
            <a:r>
              <a:rPr lang="en-US" sz="1200" b="0" kern="1200" baseline="0" dirty="0" smtClean="0">
                <a:solidFill>
                  <a:schemeClr val="tx1"/>
                </a:solidFill>
                <a:latin typeface="+mn-lt"/>
                <a:ea typeface="+mn-ea"/>
                <a:cs typeface="+mn-cs"/>
              </a:rPr>
              <a:t>End-of-tour activities.</a:t>
            </a:r>
          </a:p>
          <a:p>
            <a:endParaRPr lang="en-AU" sz="1200" b="1" kern="1200" dirty="0" smtClean="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139</a:t>
            </a:fld>
            <a:endParaRPr lang="en-US" dirty="0"/>
          </a:p>
        </p:txBody>
      </p:sp>
    </p:spTree>
    <p:extLst>
      <p:ext uri="{BB962C8B-B14F-4D97-AF65-F5344CB8AC3E}">
        <p14:creationId xmlns:p14="http://schemas.microsoft.com/office/powerpoint/2010/main" val="1372464502"/>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140</a:t>
            </a:fld>
            <a:endParaRPr lang="en-US" dirty="0"/>
          </a:p>
        </p:txBody>
      </p:sp>
    </p:spTree>
    <p:extLst>
      <p:ext uri="{BB962C8B-B14F-4D97-AF65-F5344CB8AC3E}">
        <p14:creationId xmlns:p14="http://schemas.microsoft.com/office/powerpoint/2010/main" val="3303406905"/>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141</a:t>
            </a:fld>
            <a:endParaRPr lang="en-US" dirty="0"/>
          </a:p>
        </p:txBody>
      </p:sp>
    </p:spTree>
    <p:extLst>
      <p:ext uri="{BB962C8B-B14F-4D97-AF65-F5344CB8AC3E}">
        <p14:creationId xmlns:p14="http://schemas.microsoft.com/office/powerpoint/2010/main" val="2724447783"/>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142</a:t>
            </a:fld>
            <a:endParaRPr lang="en-US" dirty="0"/>
          </a:p>
        </p:txBody>
      </p:sp>
    </p:spTree>
    <p:extLst>
      <p:ext uri="{BB962C8B-B14F-4D97-AF65-F5344CB8AC3E}">
        <p14:creationId xmlns:p14="http://schemas.microsoft.com/office/powerpoint/2010/main" val="347496645"/>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143</a:t>
            </a:fld>
            <a:endParaRPr lang="en-US" dirty="0"/>
          </a:p>
        </p:txBody>
      </p:sp>
    </p:spTree>
    <p:extLst>
      <p:ext uri="{BB962C8B-B14F-4D97-AF65-F5344CB8AC3E}">
        <p14:creationId xmlns:p14="http://schemas.microsoft.com/office/powerpoint/2010/main" val="92018991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US" dirty="0" smtClean="0"/>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by asking questions such as:</a:t>
            </a:r>
          </a:p>
          <a:p>
            <a:pPr marL="171450" indent="-171450">
              <a:buFont typeface="Arial" pitchFamily="34" charset="0"/>
              <a:buChar char="•"/>
            </a:pPr>
            <a:r>
              <a:rPr lang="en-US" noProof="0" dirty="0" smtClean="0"/>
              <a:t>Which/what industry personnel might there be a need to communicate with?</a:t>
            </a:r>
          </a:p>
          <a:p>
            <a:pPr marL="171450" indent="-171450">
              <a:buFont typeface="Arial" pitchFamily="34" charset="0"/>
              <a:buChar char="•"/>
            </a:pPr>
            <a:r>
              <a:rPr lang="en-US" noProof="0" dirty="0" smtClean="0"/>
              <a:t>Why?</a:t>
            </a:r>
          </a:p>
          <a:p>
            <a:pPr marL="171450" indent="-171450">
              <a:buFont typeface="Arial" pitchFamily="34" charset="0"/>
              <a:buChar char="•"/>
            </a:pPr>
            <a:r>
              <a:rPr lang="en-US" noProof="0" dirty="0" smtClean="0"/>
              <a:t>When could/would this occur?</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144</a:t>
            </a:fld>
            <a:endParaRPr lang="en-US" dirty="0"/>
          </a:p>
        </p:txBody>
      </p:sp>
    </p:spTree>
    <p:extLst>
      <p:ext uri="{BB962C8B-B14F-4D97-AF65-F5344CB8AC3E}">
        <p14:creationId xmlns:p14="http://schemas.microsoft.com/office/powerpoint/2010/main" val="995550939"/>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observes </a:t>
            </a:r>
            <a:r>
              <a:rPr lang="en-AU" sz="1200" kern="1200" dirty="0" smtClean="0">
                <a:solidFill>
                  <a:schemeClr val="tx1"/>
                </a:solidFill>
                <a:latin typeface="+mn-lt"/>
                <a:ea typeface="+mn-ea"/>
                <a:cs typeface="+mn-cs"/>
              </a:rPr>
              <a:t>the exact nature of the cross-section of industry operators and personnel a Tour Guide might need to communicate with will depend on:</a:t>
            </a:r>
          </a:p>
          <a:p>
            <a:pPr marL="171450" lvl="0" indent="-171450">
              <a:buFont typeface="Arial" pitchFamily="34" charset="0"/>
              <a:buChar char="•"/>
            </a:pPr>
            <a:r>
              <a:rPr lang="en-AU" sz="1200" kern="1200" dirty="0" smtClean="0">
                <a:solidFill>
                  <a:schemeClr val="tx1"/>
                </a:solidFill>
                <a:latin typeface="+mn-lt"/>
                <a:ea typeface="+mn-ea"/>
                <a:cs typeface="+mn-cs"/>
              </a:rPr>
              <a:t>The type of tours being conducted – daily half-day city walking tours will involve different stakeholders to 10-day camping tours of six different countries</a:t>
            </a:r>
          </a:p>
          <a:p>
            <a:pPr marL="171450" lvl="0" indent="-171450">
              <a:buFont typeface="Arial" pitchFamily="34" charset="0"/>
              <a:buChar char="•"/>
            </a:pPr>
            <a:r>
              <a:rPr lang="en-AU" sz="1200" kern="1200" dirty="0" smtClean="0">
                <a:solidFill>
                  <a:schemeClr val="tx1"/>
                </a:solidFill>
                <a:latin typeface="+mn-lt"/>
                <a:ea typeface="+mn-ea"/>
                <a:cs typeface="+mn-cs"/>
              </a:rPr>
              <a:t>Associations and relations between the Tour Operator and others – under contracts, strategic partnerships, joint ventures, partnerships</a:t>
            </a:r>
          </a:p>
          <a:p>
            <a:pPr marL="171450" lvl="0" indent="-171450">
              <a:buFont typeface="Arial" pitchFamily="34" charset="0"/>
              <a:buChar char="•"/>
            </a:pPr>
            <a:r>
              <a:rPr lang="en-AU" sz="1200" kern="1200" dirty="0" smtClean="0">
                <a:solidFill>
                  <a:schemeClr val="tx1"/>
                </a:solidFill>
                <a:latin typeface="+mn-lt"/>
                <a:ea typeface="+mn-ea"/>
                <a:cs typeface="+mn-cs"/>
              </a:rPr>
              <a:t>Contracted obligations – imposed as a consequence of legally binding contracts requiring (for example) attendance at meetings and/or provisions of feedback or reports</a:t>
            </a:r>
          </a:p>
          <a:p>
            <a:pPr marL="171450" lvl="0" indent="-171450">
              <a:buFont typeface="Arial" pitchFamily="34" charset="0"/>
              <a:buChar char="•"/>
            </a:pPr>
            <a:r>
              <a:rPr lang="en-AU" sz="1200" kern="1200" dirty="0" smtClean="0">
                <a:solidFill>
                  <a:schemeClr val="tx1"/>
                </a:solidFill>
                <a:latin typeface="+mn-lt"/>
                <a:ea typeface="+mn-ea"/>
                <a:cs typeface="+mn-cs"/>
              </a:rPr>
              <a:t>Commitment by the business to Codes and similar other voluntary accords – which require participation in nominated events, seminars, meetings, conventions, conferences and similar.</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145</a:t>
            </a:fld>
            <a:endParaRPr lang="en-US" dirty="0"/>
          </a:p>
        </p:txBody>
      </p:sp>
    </p:spTree>
    <p:extLst>
      <p:ext uri="{BB962C8B-B14F-4D97-AF65-F5344CB8AC3E}">
        <p14:creationId xmlns:p14="http://schemas.microsoft.com/office/powerpoint/2010/main" val="4034817299"/>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identifies </a:t>
            </a:r>
            <a:r>
              <a:rPr lang="en-AU" sz="1200" kern="1200" dirty="0" smtClean="0">
                <a:solidFill>
                  <a:schemeClr val="tx1"/>
                </a:solidFill>
                <a:latin typeface="+mn-lt"/>
                <a:ea typeface="+mn-ea"/>
                <a:cs typeface="+mn-cs"/>
              </a:rPr>
              <a:t>there can be a need for Tour Guides to communicate with: </a:t>
            </a:r>
          </a:p>
          <a:p>
            <a:pPr marL="171450" lvl="0" indent="-171450">
              <a:buFont typeface="Arial" pitchFamily="34" charset="0"/>
              <a:buChar char="•"/>
            </a:pPr>
            <a:r>
              <a:rPr lang="en-AU" sz="1200" kern="1200" dirty="0" smtClean="0">
                <a:solidFill>
                  <a:schemeClr val="tx1"/>
                </a:solidFill>
                <a:latin typeface="+mn-lt"/>
                <a:ea typeface="+mn-ea"/>
                <a:cs typeface="+mn-cs"/>
              </a:rPr>
              <a:t>Carriers – who can include:</a:t>
            </a:r>
          </a:p>
          <a:p>
            <a:pPr marL="628650" lvl="1" indent="-171450">
              <a:buFont typeface="Arial" pitchFamily="34" charset="0"/>
              <a:buChar char="•"/>
            </a:pPr>
            <a:r>
              <a:rPr lang="en-AU" sz="1200" kern="1200" dirty="0" smtClean="0">
                <a:solidFill>
                  <a:schemeClr val="tx1"/>
                </a:solidFill>
                <a:latin typeface="+mn-lt"/>
                <a:ea typeface="+mn-ea"/>
                <a:cs typeface="+mn-cs"/>
              </a:rPr>
              <a:t>Coach companies</a:t>
            </a:r>
          </a:p>
          <a:p>
            <a:pPr marL="628650" lvl="1" indent="-171450">
              <a:buFont typeface="Arial" pitchFamily="34" charset="0"/>
              <a:buChar char="•"/>
            </a:pPr>
            <a:r>
              <a:rPr lang="en-AU" sz="1200" kern="1200" dirty="0" smtClean="0">
                <a:solidFill>
                  <a:schemeClr val="tx1"/>
                </a:solidFill>
                <a:latin typeface="+mn-lt"/>
                <a:ea typeface="+mn-ea"/>
                <a:cs typeface="+mn-cs"/>
              </a:rPr>
              <a:t>Cruise operators</a:t>
            </a:r>
          </a:p>
          <a:p>
            <a:pPr marL="628650" lvl="1" indent="-171450">
              <a:buFont typeface="Arial" pitchFamily="34" charset="0"/>
              <a:buChar char="•"/>
            </a:pPr>
            <a:r>
              <a:rPr lang="en-AU" sz="1200" kern="1200" dirty="0" smtClean="0">
                <a:solidFill>
                  <a:schemeClr val="tx1"/>
                </a:solidFill>
                <a:latin typeface="+mn-lt"/>
                <a:ea typeface="+mn-ea"/>
                <a:cs typeface="+mn-cs"/>
              </a:rPr>
              <a:t>Airlines </a:t>
            </a:r>
          </a:p>
          <a:p>
            <a:pPr marL="628650" lvl="1" indent="-171450">
              <a:buFont typeface="Arial" pitchFamily="34" charset="0"/>
              <a:buChar char="•"/>
            </a:pPr>
            <a:r>
              <a:rPr lang="en-AU" sz="1200" kern="1200" dirty="0" smtClean="0">
                <a:solidFill>
                  <a:schemeClr val="tx1"/>
                </a:solidFill>
                <a:latin typeface="+mn-lt"/>
                <a:ea typeface="+mn-ea"/>
                <a:cs typeface="+mn-cs"/>
              </a:rPr>
              <a:t>Other transport operators</a:t>
            </a:r>
          </a:p>
          <a:p>
            <a:pPr marL="171450" lvl="0" indent="-171450">
              <a:buFont typeface="Arial" pitchFamily="34" charset="0"/>
              <a:buChar char="•"/>
            </a:pPr>
            <a:r>
              <a:rPr lang="en-AU" sz="1200" kern="1200" dirty="0" smtClean="0">
                <a:solidFill>
                  <a:schemeClr val="tx1"/>
                </a:solidFill>
                <a:latin typeface="+mn-lt"/>
                <a:ea typeface="+mn-ea"/>
                <a:cs typeface="+mn-cs"/>
              </a:rPr>
              <a:t>Destinations:</a:t>
            </a:r>
          </a:p>
          <a:p>
            <a:pPr marL="628650" lvl="1" indent="-171450">
              <a:buFont typeface="Arial" pitchFamily="34" charset="0"/>
              <a:buChar char="•"/>
            </a:pPr>
            <a:r>
              <a:rPr lang="en-AU" sz="1200" kern="1200" dirty="0" smtClean="0">
                <a:solidFill>
                  <a:schemeClr val="tx1"/>
                </a:solidFill>
                <a:latin typeface="+mn-lt"/>
                <a:ea typeface="+mn-ea"/>
                <a:cs typeface="+mn-cs"/>
              </a:rPr>
              <a:t>Businesses</a:t>
            </a:r>
          </a:p>
          <a:p>
            <a:pPr marL="628650" lvl="1" indent="-171450">
              <a:buFont typeface="Arial" pitchFamily="34" charset="0"/>
              <a:buChar char="•"/>
            </a:pPr>
            <a:r>
              <a:rPr lang="en-AU" sz="1200" kern="1200" dirty="0" smtClean="0">
                <a:solidFill>
                  <a:schemeClr val="tx1"/>
                </a:solidFill>
                <a:latin typeface="+mn-lt"/>
                <a:ea typeface="+mn-ea"/>
                <a:cs typeface="+mn-cs"/>
              </a:rPr>
              <a:t>Built attractions</a:t>
            </a:r>
          </a:p>
          <a:p>
            <a:pPr marL="628650" lvl="1" indent="-171450">
              <a:buFont typeface="Arial" pitchFamily="34" charset="0"/>
              <a:buChar char="•"/>
            </a:pPr>
            <a:r>
              <a:rPr lang="en-AU" sz="1200" kern="1200" dirty="0" smtClean="0">
                <a:solidFill>
                  <a:schemeClr val="tx1"/>
                </a:solidFill>
                <a:latin typeface="+mn-lt"/>
                <a:ea typeface="+mn-ea"/>
                <a:cs typeface="+mn-cs"/>
              </a:rPr>
              <a:t>Natural attractions</a:t>
            </a:r>
          </a:p>
          <a:p>
            <a:pPr marL="628650" lvl="1" indent="-171450">
              <a:buFont typeface="Arial" pitchFamily="34" charset="0"/>
              <a:buChar char="•"/>
            </a:pPr>
            <a:r>
              <a:rPr lang="en-AU" sz="1200" kern="1200" dirty="0" smtClean="0">
                <a:solidFill>
                  <a:schemeClr val="tx1"/>
                </a:solidFill>
                <a:latin typeface="+mn-lt"/>
                <a:ea typeface="+mn-ea"/>
                <a:cs typeface="+mn-cs"/>
              </a:rPr>
              <a:t>Boards of Management and/or owners and/or staff</a:t>
            </a:r>
          </a:p>
          <a:p>
            <a:pPr marL="171450" lvl="0" indent="-171450">
              <a:buFont typeface="Arial" pitchFamily="34" charset="0"/>
              <a:buChar char="•"/>
            </a:pPr>
            <a:r>
              <a:rPr lang="en-AU" sz="1200" kern="1200" dirty="0" smtClean="0">
                <a:solidFill>
                  <a:schemeClr val="tx1"/>
                </a:solidFill>
                <a:latin typeface="+mn-lt"/>
                <a:ea typeface="+mn-ea"/>
                <a:cs typeface="+mn-cs"/>
              </a:rPr>
              <a:t>Third party providers:</a:t>
            </a:r>
          </a:p>
          <a:p>
            <a:pPr marL="628650" lvl="1" indent="-171450">
              <a:buFont typeface="Arial" pitchFamily="34" charset="0"/>
              <a:buChar char="•"/>
            </a:pPr>
            <a:r>
              <a:rPr lang="en-AU" sz="1200" kern="1200" dirty="0" smtClean="0">
                <a:solidFill>
                  <a:schemeClr val="tx1"/>
                </a:solidFill>
                <a:latin typeface="+mn-lt"/>
                <a:ea typeface="+mn-ea"/>
                <a:cs typeface="+mn-cs"/>
              </a:rPr>
              <a:t>Accommodation providers</a:t>
            </a:r>
          </a:p>
          <a:p>
            <a:pPr marL="628650" lvl="1" indent="-171450">
              <a:buFont typeface="Arial" pitchFamily="34" charset="0"/>
              <a:buChar char="•"/>
            </a:pPr>
            <a:r>
              <a:rPr lang="en-AU" sz="1200" kern="1200" dirty="0" smtClean="0">
                <a:solidFill>
                  <a:schemeClr val="tx1"/>
                </a:solidFill>
                <a:latin typeface="+mn-lt"/>
                <a:ea typeface="+mn-ea"/>
                <a:cs typeface="+mn-cs"/>
              </a:rPr>
              <a:t>Caterers and food and beverage outlets</a:t>
            </a:r>
          </a:p>
          <a:p>
            <a:pPr marL="171450" lvl="0" indent="-171450">
              <a:buFont typeface="Arial" pitchFamily="34" charset="0"/>
              <a:buChar char="•"/>
            </a:pPr>
            <a:r>
              <a:rPr lang="en-AU" sz="1200" kern="1200" dirty="0" smtClean="0">
                <a:solidFill>
                  <a:schemeClr val="tx1"/>
                </a:solidFill>
                <a:latin typeface="+mn-lt"/>
                <a:ea typeface="+mn-ea"/>
                <a:cs typeface="+mn-cs"/>
              </a:rPr>
              <a:t>Tour-based operators::</a:t>
            </a:r>
          </a:p>
          <a:p>
            <a:pPr marL="628650" lvl="1" indent="-171450">
              <a:buFont typeface="Arial" pitchFamily="34" charset="0"/>
              <a:buChar char="•"/>
            </a:pPr>
            <a:r>
              <a:rPr lang="en-AU" sz="1200" kern="1200" dirty="0" smtClean="0">
                <a:solidFill>
                  <a:schemeClr val="tx1"/>
                </a:solidFill>
                <a:latin typeface="+mn-lt"/>
                <a:ea typeface="+mn-ea"/>
                <a:cs typeface="+mn-cs"/>
              </a:rPr>
              <a:t>Other Tour Operators – local, national and international</a:t>
            </a:r>
          </a:p>
          <a:p>
            <a:pPr marL="628650" lvl="1" indent="-171450">
              <a:buFont typeface="Arial" pitchFamily="34" charset="0"/>
              <a:buChar char="•"/>
            </a:pPr>
            <a:r>
              <a:rPr lang="en-AU" sz="1200" kern="1200" dirty="0" smtClean="0">
                <a:solidFill>
                  <a:schemeClr val="tx1"/>
                </a:solidFill>
                <a:latin typeface="+mn-lt"/>
                <a:ea typeface="+mn-ea"/>
                <a:cs typeface="+mn-cs"/>
              </a:rPr>
              <a:t>Inbound Tour Operators</a:t>
            </a:r>
          </a:p>
          <a:p>
            <a:pPr marL="628650" lvl="1" indent="-171450">
              <a:buFont typeface="Arial" pitchFamily="34" charset="0"/>
              <a:buChar char="•"/>
            </a:pPr>
            <a:r>
              <a:rPr lang="en-AU" sz="1200" kern="1200" dirty="0" smtClean="0">
                <a:solidFill>
                  <a:schemeClr val="tx1"/>
                </a:solidFill>
                <a:latin typeface="+mn-lt"/>
                <a:ea typeface="+mn-ea"/>
                <a:cs typeface="+mn-cs"/>
              </a:rPr>
              <a:t>Wholesale Tour Operators.</a:t>
            </a:r>
          </a:p>
          <a:p>
            <a:pPr>
              <a:buFont typeface="Arial" pitchFamily="34" charset="0"/>
              <a:buNone/>
            </a:pPr>
            <a:endParaRPr lang="en-US" noProof="0" dirty="0" smtClean="0"/>
          </a:p>
          <a:p>
            <a:pPr>
              <a:buFont typeface="Arial" pitchFamily="34" charset="0"/>
              <a:buNone/>
            </a:pPr>
            <a:r>
              <a:rPr lang="en-US" b="1" noProof="0" dirty="0" smtClean="0"/>
              <a:t>Class Activity – Guest Speakers</a:t>
            </a:r>
          </a:p>
          <a:p>
            <a:pPr>
              <a:buFont typeface="Arial" pitchFamily="34" charset="0"/>
              <a:buNone/>
            </a:pPr>
            <a:r>
              <a:rPr lang="en-US" b="0" noProof="0" dirty="0" smtClean="0"/>
              <a:t>Trainer arranges for a range of Guest Speakers from those listed above to attend and talk about the communication they have/want with Tour Guides and Tour Operators.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146</a:t>
            </a:fld>
            <a:endParaRPr lang="en-US" dirty="0"/>
          </a:p>
        </p:txBody>
      </p:sp>
    </p:spTree>
    <p:extLst>
      <p:ext uri="{BB962C8B-B14F-4D97-AF65-F5344CB8AC3E}">
        <p14:creationId xmlns:p14="http://schemas.microsoft.com/office/powerpoint/2010/main" val="2241587198"/>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identifies possible topics for discussion:</a:t>
            </a:r>
          </a:p>
          <a:p>
            <a:pPr marL="171450" lvl="0" indent="-171450">
              <a:buFont typeface="Arial" pitchFamily="34" charset="0"/>
              <a:buChar char="•"/>
            </a:pPr>
            <a:r>
              <a:rPr lang="en-AU" sz="1200" kern="1200" dirty="0" smtClean="0">
                <a:solidFill>
                  <a:schemeClr val="tx1"/>
                </a:solidFill>
                <a:latin typeface="+mn-lt"/>
                <a:ea typeface="+mn-ea"/>
                <a:cs typeface="+mn-cs"/>
              </a:rPr>
              <a:t>Feedback from tourists about:</a:t>
            </a:r>
          </a:p>
          <a:p>
            <a:pPr marL="628650" lvl="1" indent="-171450">
              <a:buFont typeface="Arial" pitchFamily="34" charset="0"/>
              <a:buChar char="•"/>
            </a:pPr>
            <a:r>
              <a:rPr lang="en-AU" sz="1200" kern="1200" dirty="0" smtClean="0">
                <a:solidFill>
                  <a:schemeClr val="tx1"/>
                </a:solidFill>
                <a:latin typeface="+mn-lt"/>
                <a:ea typeface="+mn-ea"/>
                <a:cs typeface="+mn-cs"/>
              </a:rPr>
              <a:t>Satisfaction levels; Suggestions for change; Special requests; Best/worst aspects of their experience; Regular/common complaints and compliments</a:t>
            </a:r>
          </a:p>
          <a:p>
            <a:pPr marL="171450" lvl="0" indent="-171450">
              <a:buFont typeface="Arial" pitchFamily="34" charset="0"/>
              <a:buChar char="•"/>
            </a:pPr>
            <a:r>
              <a:rPr lang="en-AU" sz="1200" kern="1200" dirty="0" smtClean="0">
                <a:solidFill>
                  <a:schemeClr val="tx1"/>
                </a:solidFill>
                <a:latin typeface="+mn-lt"/>
                <a:ea typeface="+mn-ea"/>
                <a:cs typeface="+mn-cs"/>
              </a:rPr>
              <a:t>Results of customer/market research conducted by the business in relation to a range of issues such as:</a:t>
            </a:r>
          </a:p>
          <a:p>
            <a:pPr marL="628650" lvl="1" indent="-171450">
              <a:buFont typeface="Arial" pitchFamily="34" charset="0"/>
              <a:buChar char="•"/>
            </a:pPr>
            <a:r>
              <a:rPr lang="en-AU" sz="1200" kern="1200" dirty="0" smtClean="0">
                <a:solidFill>
                  <a:schemeClr val="tx1"/>
                </a:solidFill>
                <a:latin typeface="+mn-lt"/>
                <a:ea typeface="+mn-ea"/>
                <a:cs typeface="+mn-cs"/>
              </a:rPr>
              <a:t>What they liked /disliked; Reasons for using the services of the business; Needs, wants and preferences</a:t>
            </a:r>
          </a:p>
          <a:p>
            <a:pPr marL="171450" lvl="0" indent="-171450">
              <a:buFont typeface="Arial" pitchFamily="34" charset="0"/>
              <a:buChar char="•"/>
            </a:pPr>
            <a:r>
              <a:rPr lang="en-AU" sz="1200" kern="1200" dirty="0" smtClean="0">
                <a:solidFill>
                  <a:schemeClr val="tx1"/>
                </a:solidFill>
                <a:latin typeface="+mn-lt"/>
                <a:ea typeface="+mn-ea"/>
                <a:cs typeface="+mn-cs"/>
              </a:rPr>
              <a:t>Recommendations for improvements and  initiatives – in relation to:</a:t>
            </a:r>
          </a:p>
          <a:p>
            <a:pPr marL="628650" lvl="1" indent="-171450">
              <a:buFont typeface="Arial" pitchFamily="34" charset="0"/>
              <a:buChar char="•"/>
            </a:pPr>
            <a:r>
              <a:rPr lang="en-AU" sz="1200" kern="1200" dirty="0" smtClean="0">
                <a:solidFill>
                  <a:schemeClr val="tx1"/>
                </a:solidFill>
                <a:latin typeface="+mn-lt"/>
                <a:ea typeface="+mn-ea"/>
                <a:cs typeface="+mn-cs"/>
              </a:rPr>
              <a:t>Inclusions; Pricing; Destinations; Itineraries; Scheduling; Carriers</a:t>
            </a:r>
          </a:p>
          <a:p>
            <a:pPr marL="171450" lvl="0" indent="-171450">
              <a:buFont typeface="Arial" pitchFamily="34" charset="0"/>
              <a:buChar char="•"/>
            </a:pPr>
            <a:r>
              <a:rPr lang="en-AU" sz="1200" kern="1200" dirty="0" smtClean="0">
                <a:solidFill>
                  <a:schemeClr val="tx1"/>
                </a:solidFill>
                <a:latin typeface="+mn-lt"/>
                <a:ea typeface="+mn-ea"/>
                <a:cs typeface="+mn-cs"/>
              </a:rPr>
              <a:t>Social, cultural and business requirements and contexts - including practical implementation of tour delivery in relation to issues such as:</a:t>
            </a:r>
          </a:p>
          <a:p>
            <a:pPr marL="628650" lvl="1" indent="-171450">
              <a:buFont typeface="Arial" pitchFamily="34" charset="0"/>
              <a:buChar char="•"/>
            </a:pPr>
            <a:r>
              <a:rPr lang="en-AU" sz="1200" kern="1200" dirty="0" smtClean="0">
                <a:solidFill>
                  <a:schemeClr val="tx1"/>
                </a:solidFill>
                <a:latin typeface="+mn-lt"/>
                <a:ea typeface="+mn-ea"/>
                <a:cs typeface="+mn-cs"/>
              </a:rPr>
              <a:t>Verbal and body language; Cultural customs and mores; Ethical conduct; Sustainability</a:t>
            </a:r>
          </a:p>
          <a:p>
            <a:pPr marL="171450" lvl="0" indent="-171450">
              <a:buFont typeface="Arial" pitchFamily="34" charset="0"/>
              <a:buChar char="•"/>
            </a:pPr>
            <a:r>
              <a:rPr lang="en-AU" sz="1200" kern="1200" dirty="0" smtClean="0">
                <a:solidFill>
                  <a:schemeClr val="tx1"/>
                </a:solidFill>
                <a:latin typeface="+mn-lt"/>
                <a:ea typeface="+mn-ea"/>
                <a:cs typeface="+mn-cs"/>
              </a:rPr>
              <a:t>Identification of operational problems – and presentation of possible solutions to same based on personal experience and known operational parameters.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147</a:t>
            </a:fld>
            <a:endParaRPr lang="en-US" dirty="0"/>
          </a:p>
        </p:txBody>
      </p:sp>
    </p:spTree>
    <p:extLst>
      <p:ext uri="{BB962C8B-B14F-4D97-AF65-F5344CB8AC3E}">
        <p14:creationId xmlns:p14="http://schemas.microsoft.com/office/powerpoint/2010/main" val="1576482506"/>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describes</a:t>
            </a:r>
            <a:r>
              <a:rPr lang="en-US" baseline="0" noProof="0" dirty="0" smtClean="0"/>
              <a:t> communications which need to be observed in this context:</a:t>
            </a:r>
          </a:p>
          <a:p>
            <a:pPr marL="171450" lvl="0" indent="-171450">
              <a:buFont typeface="Arial" pitchFamily="34" charset="0"/>
              <a:buChar char="•"/>
            </a:pPr>
            <a:r>
              <a:rPr lang="en-AU" sz="1200" kern="1200" dirty="0" smtClean="0">
                <a:solidFill>
                  <a:schemeClr val="tx1"/>
                </a:solidFill>
                <a:latin typeface="+mn-lt"/>
                <a:ea typeface="+mn-ea"/>
                <a:cs typeface="+mn-cs"/>
              </a:rPr>
              <a:t>Honour commitments – make an effort to:</a:t>
            </a:r>
          </a:p>
          <a:p>
            <a:pPr marL="628650" lvl="1" indent="-171450">
              <a:buFont typeface="Arial" pitchFamily="34" charset="0"/>
              <a:buChar char="•"/>
            </a:pPr>
            <a:r>
              <a:rPr lang="en-AU" sz="1200" kern="1200" dirty="0" smtClean="0">
                <a:solidFill>
                  <a:schemeClr val="tx1"/>
                </a:solidFill>
                <a:latin typeface="+mn-lt"/>
                <a:ea typeface="+mn-ea"/>
                <a:cs typeface="+mn-cs"/>
              </a:rPr>
              <a:t>Attend required meetings</a:t>
            </a:r>
          </a:p>
          <a:p>
            <a:pPr marL="628650" lvl="1" indent="-171450">
              <a:buFont typeface="Arial" pitchFamily="34" charset="0"/>
              <a:buChar char="•"/>
            </a:pPr>
            <a:r>
              <a:rPr lang="en-AU" sz="1200" kern="1200" dirty="0" smtClean="0">
                <a:solidFill>
                  <a:schemeClr val="tx1"/>
                </a:solidFill>
                <a:latin typeface="+mn-lt"/>
                <a:ea typeface="+mn-ea"/>
                <a:cs typeface="+mn-cs"/>
              </a:rPr>
              <a:t>Contribute as required or as promised</a:t>
            </a:r>
          </a:p>
          <a:p>
            <a:pPr marL="628650" lvl="1" indent="-171450">
              <a:buFont typeface="Arial" pitchFamily="34" charset="0"/>
              <a:buChar char="•"/>
            </a:pPr>
            <a:r>
              <a:rPr lang="en-AU" sz="1200" kern="1200" dirty="0" smtClean="0">
                <a:solidFill>
                  <a:schemeClr val="tx1"/>
                </a:solidFill>
                <a:latin typeface="+mn-lt"/>
                <a:ea typeface="+mn-ea"/>
                <a:cs typeface="+mn-cs"/>
              </a:rPr>
              <a:t>Learn what is required and meet those obligations</a:t>
            </a:r>
          </a:p>
          <a:p>
            <a:pPr marL="171450" lvl="0" indent="-171450">
              <a:buFont typeface="Arial" pitchFamily="34" charset="0"/>
              <a:buChar char="•"/>
            </a:pPr>
            <a:r>
              <a:rPr lang="en-AU" sz="1200" kern="1200" dirty="0" smtClean="0">
                <a:solidFill>
                  <a:schemeClr val="tx1"/>
                </a:solidFill>
                <a:latin typeface="+mn-lt"/>
                <a:ea typeface="+mn-ea"/>
                <a:cs typeface="+mn-cs"/>
              </a:rPr>
              <a:t>Use industry terminology – but clarify any terms, phrases, acronyms or abbreviations with the potential to confuse</a:t>
            </a:r>
          </a:p>
          <a:p>
            <a:pPr marL="171450" lvl="0" indent="-171450">
              <a:buFont typeface="Arial" pitchFamily="34" charset="0"/>
              <a:buChar char="•"/>
            </a:pPr>
            <a:r>
              <a:rPr lang="en-AU" sz="1200" kern="1200" dirty="0" smtClean="0">
                <a:solidFill>
                  <a:schemeClr val="tx1"/>
                </a:solidFill>
                <a:latin typeface="+mn-lt"/>
                <a:ea typeface="+mn-ea"/>
                <a:cs typeface="+mn-cs"/>
              </a:rPr>
              <a:t>Seek to:</a:t>
            </a:r>
          </a:p>
          <a:p>
            <a:pPr marL="628650" lvl="1" indent="-171450">
              <a:buFont typeface="Arial" pitchFamily="34" charset="0"/>
              <a:buChar char="•"/>
            </a:pPr>
            <a:r>
              <a:rPr lang="en-AU" sz="1200" kern="1200" dirty="0" smtClean="0">
                <a:solidFill>
                  <a:schemeClr val="tx1"/>
                </a:solidFill>
                <a:latin typeface="+mn-lt"/>
                <a:ea typeface="+mn-ea"/>
                <a:cs typeface="+mn-cs"/>
              </a:rPr>
              <a:t>Provide information </a:t>
            </a:r>
          </a:p>
          <a:p>
            <a:pPr marL="628650" lvl="1" indent="-171450">
              <a:buFont typeface="Arial" pitchFamily="34" charset="0"/>
              <a:buChar char="•"/>
            </a:pPr>
            <a:r>
              <a:rPr lang="en-AU" sz="1200" kern="1200" dirty="0" smtClean="0">
                <a:solidFill>
                  <a:schemeClr val="tx1"/>
                </a:solidFill>
                <a:latin typeface="+mn-lt"/>
                <a:ea typeface="+mn-ea"/>
                <a:cs typeface="+mn-cs"/>
              </a:rPr>
              <a:t>Source information</a:t>
            </a:r>
          </a:p>
          <a:p>
            <a:pPr marL="628650" lvl="1" indent="-171450">
              <a:buFont typeface="Arial" pitchFamily="34" charset="0"/>
              <a:buChar char="•"/>
            </a:pPr>
            <a:r>
              <a:rPr lang="en-AU" sz="1200" kern="1200" dirty="0" smtClean="0">
                <a:solidFill>
                  <a:schemeClr val="tx1"/>
                </a:solidFill>
                <a:latin typeface="+mn-lt"/>
                <a:ea typeface="+mn-ea"/>
                <a:cs typeface="+mn-cs"/>
              </a:rPr>
              <a:t>Achieve mutual understanding</a:t>
            </a:r>
          </a:p>
          <a:p>
            <a:pPr marL="628650" lvl="1" indent="-171450">
              <a:buFont typeface="Arial" pitchFamily="34" charset="0"/>
              <a:buChar char="•"/>
            </a:pPr>
            <a:r>
              <a:rPr lang="en-AU" sz="1200" kern="1200" dirty="0" smtClean="0">
                <a:solidFill>
                  <a:schemeClr val="tx1"/>
                </a:solidFill>
                <a:latin typeface="+mn-lt"/>
                <a:ea typeface="+mn-ea"/>
                <a:cs typeface="+mn-cs"/>
              </a:rPr>
              <a:t>Reach agreement on issues and guiding activities and protocols</a:t>
            </a:r>
          </a:p>
          <a:p>
            <a:pPr marL="628650" lvl="1" indent="-171450">
              <a:buFont typeface="Arial" pitchFamily="34" charset="0"/>
              <a:buChar char="•"/>
            </a:pPr>
            <a:r>
              <a:rPr lang="en-AU" sz="1200" kern="1200" dirty="0" smtClean="0">
                <a:solidFill>
                  <a:schemeClr val="tx1"/>
                </a:solidFill>
                <a:latin typeface="+mn-lt"/>
                <a:ea typeface="+mn-ea"/>
                <a:cs typeface="+mn-cs"/>
              </a:rPr>
              <a:t>Consult in an open manner</a:t>
            </a:r>
          </a:p>
          <a:p>
            <a:pPr marL="171450" lvl="0" indent="-171450">
              <a:buFont typeface="Arial" pitchFamily="34" charset="0"/>
              <a:buChar char="•"/>
            </a:pPr>
            <a:r>
              <a:rPr lang="en-AU" sz="1200" kern="1200" dirty="0" smtClean="0">
                <a:solidFill>
                  <a:schemeClr val="tx1"/>
                </a:solidFill>
                <a:latin typeface="+mn-lt"/>
                <a:ea typeface="+mn-ea"/>
                <a:cs typeface="+mn-cs"/>
              </a:rPr>
              <a:t>Be careful – take care to:</a:t>
            </a:r>
          </a:p>
          <a:p>
            <a:pPr marL="628650" lvl="1" indent="-171450">
              <a:buFont typeface="Arial" pitchFamily="34" charset="0"/>
              <a:buChar char="•"/>
            </a:pPr>
            <a:r>
              <a:rPr lang="en-AU" sz="1200" kern="1200" dirty="0" smtClean="0">
                <a:solidFill>
                  <a:schemeClr val="tx1"/>
                </a:solidFill>
                <a:latin typeface="+mn-lt"/>
                <a:ea typeface="+mn-ea"/>
                <a:cs typeface="+mn-cs"/>
              </a:rPr>
              <a:t>Differentiate </a:t>
            </a:r>
            <a:r>
              <a:rPr lang="en-AU" sz="1200" i="1" kern="1200" dirty="0" smtClean="0">
                <a:solidFill>
                  <a:schemeClr val="tx1"/>
                </a:solidFill>
                <a:latin typeface="+mn-lt"/>
                <a:ea typeface="+mn-ea"/>
                <a:cs typeface="+mn-cs"/>
              </a:rPr>
              <a:t>personal</a:t>
            </a:r>
            <a:r>
              <a:rPr lang="en-AU" sz="1200" kern="1200" dirty="0" smtClean="0">
                <a:solidFill>
                  <a:schemeClr val="tx1"/>
                </a:solidFill>
                <a:latin typeface="+mn-lt"/>
                <a:ea typeface="+mn-ea"/>
                <a:cs typeface="+mn-cs"/>
              </a:rPr>
              <a:t> opinion from </a:t>
            </a:r>
            <a:r>
              <a:rPr lang="en-AU" sz="1200" i="1" kern="1200" dirty="0" smtClean="0">
                <a:solidFill>
                  <a:schemeClr val="tx1"/>
                </a:solidFill>
                <a:latin typeface="+mn-lt"/>
                <a:ea typeface="+mn-ea"/>
                <a:cs typeface="+mn-cs"/>
              </a:rPr>
              <a:t>employer</a:t>
            </a:r>
            <a:r>
              <a:rPr lang="en-AU" sz="1200" kern="1200" dirty="0" smtClean="0">
                <a:solidFill>
                  <a:schemeClr val="tx1"/>
                </a:solidFill>
                <a:latin typeface="+mn-lt"/>
                <a:ea typeface="+mn-ea"/>
                <a:cs typeface="+mn-cs"/>
              </a:rPr>
              <a:t> point of view</a:t>
            </a:r>
          </a:p>
          <a:p>
            <a:pPr marL="628650" lvl="1" indent="-171450">
              <a:buFont typeface="Arial" pitchFamily="34" charset="0"/>
              <a:buChar char="•"/>
            </a:pPr>
            <a:r>
              <a:rPr lang="en-AU" sz="1200" kern="1200" dirty="0" smtClean="0">
                <a:solidFill>
                  <a:schemeClr val="tx1"/>
                </a:solidFill>
                <a:latin typeface="+mn-lt"/>
                <a:ea typeface="+mn-ea"/>
                <a:cs typeface="+mn-cs"/>
              </a:rPr>
              <a:t>Separate fact from opinion</a:t>
            </a:r>
          </a:p>
          <a:p>
            <a:pPr marL="628650" lvl="1" indent="-171450">
              <a:buFont typeface="Arial" pitchFamily="34" charset="0"/>
              <a:buChar char="•"/>
            </a:pPr>
            <a:r>
              <a:rPr lang="en-AU" sz="1200" kern="1200" dirty="0" smtClean="0">
                <a:solidFill>
                  <a:schemeClr val="tx1"/>
                </a:solidFill>
                <a:latin typeface="+mn-lt"/>
                <a:ea typeface="+mn-ea"/>
                <a:cs typeface="+mn-cs"/>
              </a:rPr>
              <a:t>Never commit the employer to anything without their express permission</a:t>
            </a:r>
          </a:p>
          <a:p>
            <a:pPr marL="6286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latin typeface="+mn-lt"/>
                <a:ea typeface="+mn-ea"/>
                <a:cs typeface="+mn-cs"/>
              </a:rPr>
              <a:t>Ask employer to approve statements or comments to be made on behalf of the organisation.</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148</a:t>
            </a:fld>
            <a:endParaRPr lang="en-US" dirty="0"/>
          </a:p>
        </p:txBody>
      </p:sp>
    </p:spTree>
    <p:extLst>
      <p:ext uri="{BB962C8B-B14F-4D97-AF65-F5344CB8AC3E}">
        <p14:creationId xmlns:p14="http://schemas.microsoft.com/office/powerpoint/2010/main" val="815152338"/>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notes in </a:t>
            </a:r>
            <a:r>
              <a:rPr lang="en-AU" sz="1200" kern="1200" dirty="0" smtClean="0">
                <a:solidFill>
                  <a:schemeClr val="tx1"/>
                </a:solidFill>
                <a:latin typeface="+mn-lt"/>
                <a:ea typeface="+mn-ea"/>
                <a:cs typeface="+mn-cs"/>
              </a:rPr>
              <a:t>most cases Tour Guides will have some need to communicate with the following colleagues</a:t>
            </a:r>
          </a:p>
          <a:p>
            <a:pPr marL="171450" lvl="0" indent="-171450">
              <a:buFont typeface="Arial" pitchFamily="34" charset="0"/>
              <a:buChar char="•"/>
            </a:pPr>
            <a:r>
              <a:rPr lang="en-AU" sz="1200" kern="1200" dirty="0" smtClean="0">
                <a:solidFill>
                  <a:schemeClr val="tx1"/>
                </a:solidFill>
                <a:latin typeface="+mn-lt"/>
                <a:ea typeface="+mn-ea"/>
                <a:cs typeface="+mn-cs"/>
              </a:rPr>
              <a:t>Other guides – within the same Tour Operator organisation who may be:</a:t>
            </a:r>
          </a:p>
          <a:p>
            <a:pPr marL="628650" lvl="1" indent="-171450">
              <a:buFont typeface="Arial" pitchFamily="34" charset="0"/>
              <a:buChar char="•"/>
            </a:pPr>
            <a:r>
              <a:rPr lang="en-AU" sz="1200" kern="1200" dirty="0" smtClean="0">
                <a:solidFill>
                  <a:schemeClr val="tx1"/>
                </a:solidFill>
                <a:latin typeface="+mn-lt"/>
                <a:ea typeface="+mn-ea"/>
                <a:cs typeface="+mn-cs"/>
              </a:rPr>
              <a:t>Those who conduct similar/the same type of tours</a:t>
            </a:r>
          </a:p>
          <a:p>
            <a:pPr marL="628650" lvl="1" indent="-171450">
              <a:buFont typeface="Arial" pitchFamily="34" charset="0"/>
              <a:buChar char="•"/>
            </a:pPr>
            <a:r>
              <a:rPr lang="en-AU" sz="1200" kern="1200" dirty="0" smtClean="0">
                <a:solidFill>
                  <a:schemeClr val="tx1"/>
                </a:solidFill>
                <a:latin typeface="+mn-lt"/>
                <a:ea typeface="+mn-ea"/>
                <a:cs typeface="+mn-cs"/>
              </a:rPr>
              <a:t>Those who conduct other tour types with different durations, itineraries, destinations, inclusions and tour groups</a:t>
            </a:r>
          </a:p>
          <a:p>
            <a:pPr marL="171450" lvl="0" indent="-171450">
              <a:buFont typeface="Arial" pitchFamily="34" charset="0"/>
              <a:buChar char="•"/>
            </a:pPr>
            <a:r>
              <a:rPr lang="en-AU" sz="1200" kern="1200" dirty="0" smtClean="0">
                <a:solidFill>
                  <a:schemeClr val="tx1"/>
                </a:solidFill>
                <a:latin typeface="+mn-lt"/>
                <a:ea typeface="+mn-ea"/>
                <a:cs typeface="+mn-cs"/>
              </a:rPr>
              <a:t>Support staff – who can include any employees (but often predominantly office staff and counter service staff) within the host organisation with responsibility for things such as:</a:t>
            </a:r>
          </a:p>
          <a:p>
            <a:pPr marL="628650" lvl="1" indent="-171450">
              <a:buFont typeface="Arial" pitchFamily="34" charset="0"/>
              <a:buChar char="•"/>
            </a:pPr>
            <a:r>
              <a:rPr lang="en-AU" sz="1200" kern="1200" dirty="0" smtClean="0">
                <a:solidFill>
                  <a:schemeClr val="tx1"/>
                </a:solidFill>
                <a:latin typeface="+mn-lt"/>
                <a:ea typeface="+mn-ea"/>
                <a:cs typeface="+mn-cs"/>
              </a:rPr>
              <a:t>Market research</a:t>
            </a:r>
          </a:p>
          <a:p>
            <a:pPr marL="628650" lvl="1" indent="-171450">
              <a:buFont typeface="Arial" pitchFamily="34" charset="0"/>
              <a:buChar char="•"/>
            </a:pPr>
            <a:r>
              <a:rPr lang="en-AU" sz="1200" kern="1200" dirty="0" smtClean="0">
                <a:solidFill>
                  <a:schemeClr val="tx1"/>
                </a:solidFill>
                <a:latin typeface="+mn-lt"/>
                <a:ea typeface="+mn-ea"/>
                <a:cs typeface="+mn-cs"/>
              </a:rPr>
              <a:t>Customer contact</a:t>
            </a:r>
          </a:p>
          <a:p>
            <a:pPr marL="628650" lvl="1" indent="-171450">
              <a:buFont typeface="Arial" pitchFamily="34" charset="0"/>
              <a:buChar char="•"/>
            </a:pPr>
            <a:r>
              <a:rPr lang="en-AU" sz="1200" kern="1200" dirty="0" smtClean="0">
                <a:solidFill>
                  <a:schemeClr val="tx1"/>
                </a:solidFill>
                <a:latin typeface="+mn-lt"/>
                <a:ea typeface="+mn-ea"/>
                <a:cs typeface="+mn-cs"/>
              </a:rPr>
              <a:t>Bookings and sales</a:t>
            </a:r>
          </a:p>
          <a:p>
            <a:pPr marL="628650" lvl="1" indent="-171450">
              <a:buFont typeface="Arial" pitchFamily="34" charset="0"/>
              <a:buChar char="•"/>
            </a:pPr>
            <a:r>
              <a:rPr lang="en-AU" sz="1200" kern="1200" dirty="0" smtClean="0">
                <a:solidFill>
                  <a:schemeClr val="tx1"/>
                </a:solidFill>
                <a:latin typeface="+mn-lt"/>
                <a:ea typeface="+mn-ea"/>
                <a:cs typeface="+mn-cs"/>
              </a:rPr>
              <a:t>Administration which underpins the work of Tour Guides</a:t>
            </a:r>
          </a:p>
          <a:p>
            <a:pPr marL="628650" lvl="1" indent="-171450">
              <a:buFont typeface="Arial" pitchFamily="34" charset="0"/>
              <a:buChar char="•"/>
            </a:pPr>
            <a:r>
              <a:rPr lang="en-AU" sz="1200" kern="1200" dirty="0" smtClean="0">
                <a:solidFill>
                  <a:schemeClr val="tx1"/>
                </a:solidFill>
                <a:latin typeface="+mn-lt"/>
                <a:ea typeface="+mn-ea"/>
                <a:cs typeface="+mn-cs"/>
              </a:rPr>
              <a:t>Staff who arrange and organise activities, products, services and provisions/resources for Tour Guides</a:t>
            </a:r>
          </a:p>
          <a:p>
            <a:pPr marL="171450" lvl="0" indent="-171450">
              <a:buFont typeface="Arial" pitchFamily="34" charset="0"/>
              <a:buChar char="•"/>
            </a:pPr>
            <a:r>
              <a:rPr lang="en-AU" sz="1200" kern="1200" dirty="0" smtClean="0">
                <a:solidFill>
                  <a:schemeClr val="tx1"/>
                </a:solidFill>
                <a:latin typeface="+mn-lt"/>
                <a:ea typeface="+mn-ea"/>
                <a:cs typeface="+mn-cs"/>
              </a:rPr>
              <a:t>Drivers – of vehicles such as buses, vans, cars, utility vehicles, four-wheel drives and other specialist vehicles which may be:</a:t>
            </a:r>
          </a:p>
          <a:p>
            <a:pPr marL="628650" lvl="1" indent="-171450">
              <a:buFont typeface="Arial" pitchFamily="34" charset="0"/>
              <a:buChar char="•"/>
            </a:pPr>
            <a:r>
              <a:rPr lang="en-AU" sz="1200" kern="1200" dirty="0" smtClean="0">
                <a:solidFill>
                  <a:schemeClr val="tx1"/>
                </a:solidFill>
                <a:latin typeface="+mn-lt"/>
                <a:ea typeface="+mn-ea"/>
                <a:cs typeface="+mn-cs"/>
              </a:rPr>
              <a:t>Owned </a:t>
            </a:r>
          </a:p>
          <a:p>
            <a:pPr marL="628650" lvl="1" indent="-171450">
              <a:buFont typeface="Arial" pitchFamily="34" charset="0"/>
              <a:buChar char="•"/>
            </a:pPr>
            <a:r>
              <a:rPr lang="en-AU" sz="1200" kern="1200" dirty="0" smtClean="0">
                <a:solidFill>
                  <a:schemeClr val="tx1"/>
                </a:solidFill>
                <a:latin typeface="+mn-lt"/>
                <a:ea typeface="+mn-ea"/>
                <a:cs typeface="+mn-cs"/>
              </a:rPr>
              <a:t>Leased </a:t>
            </a:r>
          </a:p>
          <a:p>
            <a:pPr marL="628650" lvl="1" indent="-171450">
              <a:buFont typeface="Arial" pitchFamily="34" charset="0"/>
              <a:buChar char="•"/>
            </a:pPr>
            <a:r>
              <a:rPr lang="en-AU" sz="1200" kern="1200" dirty="0" smtClean="0">
                <a:solidFill>
                  <a:schemeClr val="tx1"/>
                </a:solidFill>
                <a:latin typeface="+mn-lt"/>
                <a:ea typeface="+mn-ea"/>
                <a:cs typeface="+mn-cs"/>
              </a:rPr>
              <a:t>Hired or rented by the employer</a:t>
            </a:r>
          </a:p>
          <a:p>
            <a:pPr marL="171450" lvl="0" indent="-171450">
              <a:buFont typeface="Arial" pitchFamily="34" charset="0"/>
              <a:buChar char="•"/>
            </a:pPr>
            <a:r>
              <a:rPr lang="en-AU" sz="1200" kern="1200" dirty="0" smtClean="0">
                <a:solidFill>
                  <a:schemeClr val="tx1"/>
                </a:solidFill>
                <a:latin typeface="+mn-lt"/>
                <a:ea typeface="+mn-ea"/>
                <a:cs typeface="+mn-cs"/>
              </a:rPr>
              <a:t>Management of the business – which may include:</a:t>
            </a:r>
          </a:p>
          <a:p>
            <a:pPr marL="628650" lvl="1" indent="-171450">
              <a:buFont typeface="Arial" pitchFamily="34" charset="0"/>
              <a:buChar char="•"/>
            </a:pPr>
            <a:r>
              <a:rPr lang="en-AU" sz="1200" kern="1200" dirty="0" smtClean="0">
                <a:solidFill>
                  <a:schemeClr val="tx1"/>
                </a:solidFill>
                <a:latin typeface="+mn-lt"/>
                <a:ea typeface="+mn-ea"/>
                <a:cs typeface="+mn-cs"/>
              </a:rPr>
              <a:t>Owners</a:t>
            </a:r>
          </a:p>
          <a:p>
            <a:pPr marL="628650" lvl="1" indent="-171450">
              <a:buFont typeface="Arial" pitchFamily="34" charset="0"/>
              <a:buChar char="•"/>
            </a:pPr>
            <a:r>
              <a:rPr lang="en-AU" sz="1200" kern="1200" dirty="0" smtClean="0">
                <a:solidFill>
                  <a:schemeClr val="tx1"/>
                </a:solidFill>
                <a:latin typeface="+mn-lt"/>
                <a:ea typeface="+mn-ea"/>
                <a:cs typeface="+mn-cs"/>
              </a:rPr>
              <a:t>Managers </a:t>
            </a:r>
          </a:p>
          <a:p>
            <a:pPr marL="628650" lvl="1" indent="-171450">
              <a:buFont typeface="Arial" pitchFamily="34" charset="0"/>
              <a:buChar char="•"/>
            </a:pPr>
            <a:r>
              <a:rPr lang="en-AU" sz="1200" kern="1200" dirty="0" smtClean="0">
                <a:solidFill>
                  <a:schemeClr val="tx1"/>
                </a:solidFill>
                <a:latin typeface="+mn-lt"/>
                <a:ea typeface="+mn-ea"/>
                <a:cs typeface="+mn-cs"/>
              </a:rPr>
              <a:t>Supervisors.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149</a:t>
            </a:fld>
            <a:endParaRPr lang="en-US" dirty="0"/>
          </a:p>
        </p:txBody>
      </p:sp>
    </p:spTree>
    <p:extLst>
      <p:ext uri="{BB962C8B-B14F-4D97-AF65-F5344CB8AC3E}">
        <p14:creationId xmlns:p14="http://schemas.microsoft.com/office/powerpoint/2010/main" val="4115791546"/>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dirty="0" smtClean="0">
                <a:solidFill>
                  <a:schemeClr val="tx1"/>
                </a:solidFill>
                <a:latin typeface="+mn-lt"/>
                <a:ea typeface="+mn-ea"/>
                <a:cs typeface="+mn-cs"/>
              </a:rPr>
              <a:t>Trainer</a:t>
            </a:r>
            <a:r>
              <a:rPr lang="en-AU" sz="1200" kern="1200" baseline="0" dirty="0" smtClean="0">
                <a:solidFill>
                  <a:schemeClr val="tx1"/>
                </a:solidFill>
                <a:latin typeface="+mn-lt"/>
                <a:ea typeface="+mn-ea"/>
                <a:cs typeface="+mn-cs"/>
              </a:rPr>
              <a:t> indicates </a:t>
            </a:r>
            <a:r>
              <a:rPr lang="en-AU" sz="1200" kern="1200" dirty="0" smtClean="0">
                <a:solidFill>
                  <a:schemeClr val="tx1"/>
                </a:solidFill>
                <a:latin typeface="+mn-lt"/>
                <a:ea typeface="+mn-ea"/>
                <a:cs typeface="+mn-cs"/>
              </a:rPr>
              <a:t>opportunities for communication with other colleagues include:</a:t>
            </a:r>
          </a:p>
          <a:p>
            <a:pPr marL="171450" lvl="0" indent="-171450">
              <a:buFont typeface="Arial" pitchFamily="34" charset="0"/>
              <a:buChar char="•"/>
            </a:pPr>
            <a:r>
              <a:rPr lang="en-AU" sz="1200" kern="1200" dirty="0" smtClean="0">
                <a:solidFill>
                  <a:schemeClr val="tx1"/>
                </a:solidFill>
                <a:latin typeface="+mn-lt"/>
                <a:ea typeface="+mn-ea"/>
                <a:cs typeface="+mn-cs"/>
              </a:rPr>
              <a:t>Daily briefing sessions</a:t>
            </a:r>
          </a:p>
          <a:p>
            <a:pPr marL="171450" lvl="0" indent="-171450">
              <a:buFont typeface="Arial" pitchFamily="34" charset="0"/>
              <a:buChar char="•"/>
            </a:pPr>
            <a:r>
              <a:rPr lang="en-AU" sz="1200" kern="1200" dirty="0" smtClean="0">
                <a:solidFill>
                  <a:schemeClr val="tx1"/>
                </a:solidFill>
                <a:latin typeface="+mn-lt"/>
                <a:ea typeface="+mn-ea"/>
                <a:cs typeface="+mn-cs"/>
              </a:rPr>
              <a:t>The ‘Communication Book’ or similar used by many employers</a:t>
            </a:r>
          </a:p>
          <a:p>
            <a:pPr marL="171450" lvl="0" indent="-171450">
              <a:buFont typeface="Arial" pitchFamily="34" charset="0"/>
              <a:buChar char="•"/>
            </a:pPr>
            <a:r>
              <a:rPr lang="en-AU" sz="1200" kern="1200" dirty="0" smtClean="0">
                <a:solidFill>
                  <a:schemeClr val="tx1"/>
                </a:solidFill>
                <a:latin typeface="+mn-lt"/>
                <a:ea typeface="+mn-ea"/>
                <a:cs typeface="+mn-cs"/>
              </a:rPr>
              <a:t>Regular staff meetings</a:t>
            </a:r>
          </a:p>
          <a:p>
            <a:pPr marL="171450" lvl="0" indent="-171450">
              <a:buFont typeface="Arial" pitchFamily="34" charset="0"/>
              <a:buChar char="•"/>
            </a:pPr>
            <a:r>
              <a:rPr lang="en-AU" sz="1200" kern="1200" dirty="0" smtClean="0">
                <a:solidFill>
                  <a:schemeClr val="tx1"/>
                </a:solidFill>
                <a:latin typeface="+mn-lt"/>
                <a:ea typeface="+mn-ea"/>
                <a:cs typeface="+mn-cs"/>
              </a:rPr>
              <a:t>Chance meetings with others</a:t>
            </a:r>
          </a:p>
          <a:p>
            <a:pPr marL="171450" lvl="0" indent="-171450">
              <a:buFont typeface="Arial" pitchFamily="34" charset="0"/>
              <a:buChar char="•"/>
            </a:pPr>
            <a:r>
              <a:rPr lang="en-AU" sz="1200" kern="1200" dirty="0" smtClean="0">
                <a:solidFill>
                  <a:schemeClr val="tx1"/>
                </a:solidFill>
                <a:latin typeface="+mn-lt"/>
                <a:ea typeface="+mn-ea"/>
                <a:cs typeface="+mn-cs"/>
              </a:rPr>
              <a:t>Use of internal communication forms and reports which need to be completed before, during and at the end of tours- and after designated activities such as various checks and inspections</a:t>
            </a:r>
          </a:p>
          <a:p>
            <a:pPr marL="171450" lvl="0" indent="-171450">
              <a:buFont typeface="Arial" pitchFamily="34" charset="0"/>
              <a:buChar char="•"/>
            </a:pPr>
            <a:r>
              <a:rPr lang="en-AU" sz="1200" kern="1200" dirty="0" smtClean="0">
                <a:solidFill>
                  <a:schemeClr val="tx1"/>
                </a:solidFill>
                <a:latin typeface="+mn-lt"/>
                <a:ea typeface="+mn-ea"/>
                <a:cs typeface="+mn-cs"/>
              </a:rPr>
              <a:t>Taking advantage of ‘open door’ policy implemented by management.  </a:t>
            </a:r>
          </a:p>
          <a:p>
            <a:pPr>
              <a:buFont typeface="Arial" pitchFamily="34" charset="0"/>
              <a:buNone/>
            </a:pPr>
            <a:r>
              <a:rPr lang="en-AU" sz="1200" kern="1200" dirty="0" smtClean="0">
                <a:solidFill>
                  <a:schemeClr val="tx1"/>
                </a:solidFill>
                <a:latin typeface="+mn-lt"/>
                <a:ea typeface="+mn-ea"/>
                <a:cs typeface="+mn-cs"/>
              </a:rPr>
              <a:t>It is vital Tour Guides </a:t>
            </a:r>
            <a:r>
              <a:rPr lang="en-AU" sz="1200" b="1" kern="1200" dirty="0" smtClean="0">
                <a:solidFill>
                  <a:schemeClr val="tx1"/>
                </a:solidFill>
                <a:latin typeface="+mn-lt"/>
                <a:ea typeface="+mn-ea"/>
                <a:cs typeface="+mn-cs"/>
              </a:rPr>
              <a:t>create/make</a:t>
            </a:r>
            <a:r>
              <a:rPr lang="en-AU" sz="1200" kern="1200" dirty="0" smtClean="0">
                <a:solidFill>
                  <a:schemeClr val="tx1"/>
                </a:solidFill>
                <a:latin typeface="+mn-lt"/>
                <a:ea typeface="+mn-ea"/>
                <a:cs typeface="+mn-cs"/>
              </a:rPr>
              <a:t> opportunities to communicate when they have something to say/something they want to share or communicate.</a:t>
            </a:r>
          </a:p>
          <a:p>
            <a:pPr>
              <a:buFont typeface="Arial" pitchFamily="34" charset="0"/>
              <a:buNone/>
            </a:pPr>
            <a:endParaRPr lang="en-US" noProof="0" dirty="0" smtClean="0"/>
          </a:p>
          <a:p>
            <a:pPr>
              <a:buFont typeface="Arial" pitchFamily="34" charset="0"/>
              <a:buNone/>
            </a:pPr>
            <a:r>
              <a:rPr lang="en-US" b="1" noProof="0" dirty="0" smtClean="0"/>
              <a:t>Class</a:t>
            </a:r>
            <a:r>
              <a:rPr lang="en-US" b="1" baseline="0" noProof="0" dirty="0" smtClean="0"/>
              <a:t> Activity – Guest Speaker</a:t>
            </a:r>
          </a:p>
          <a:p>
            <a:pPr>
              <a:buFont typeface="Arial" pitchFamily="34" charset="0"/>
              <a:buNone/>
            </a:pPr>
            <a:r>
              <a:rPr lang="en-US" b="0" baseline="0" noProof="0" dirty="0" smtClean="0"/>
              <a:t>Trainer arranges for Tour Guide to attend and discuss communication they have with industry personnel and colleagues identifying when this occurs, how it occurs and the topics/reason for communication.</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150</a:t>
            </a:fld>
            <a:endParaRPr lang="en-US" dirty="0"/>
          </a:p>
        </p:txBody>
      </p:sp>
    </p:spTree>
    <p:extLst>
      <p:ext uri="{BB962C8B-B14F-4D97-AF65-F5344CB8AC3E}">
        <p14:creationId xmlns:p14="http://schemas.microsoft.com/office/powerpoint/2010/main" val="3405873820"/>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states methods </a:t>
            </a:r>
            <a:r>
              <a:rPr lang="en-AU" sz="1200" kern="1200" dirty="0" smtClean="0">
                <a:solidFill>
                  <a:schemeClr val="tx1"/>
                </a:solidFill>
                <a:latin typeface="+mn-lt"/>
                <a:ea typeface="+mn-ea"/>
                <a:cs typeface="+mn-cs"/>
              </a:rPr>
              <a:t>to communicate with colleagues are likely to include:</a:t>
            </a:r>
          </a:p>
          <a:p>
            <a:pPr marL="171450" lvl="0" indent="-171450">
              <a:buFont typeface="Arial" pitchFamily="34" charset="0"/>
              <a:buChar char="•"/>
            </a:pPr>
            <a:r>
              <a:rPr lang="en-AU" sz="1200" kern="1200" dirty="0" smtClean="0">
                <a:solidFill>
                  <a:schemeClr val="tx1"/>
                </a:solidFill>
                <a:latin typeface="+mn-lt"/>
                <a:ea typeface="+mn-ea"/>
                <a:cs typeface="+mn-cs"/>
              </a:rPr>
              <a:t>Making presentations at meetings – involving a range/combination of:</a:t>
            </a:r>
          </a:p>
          <a:p>
            <a:pPr marL="628650" lvl="1" indent="-171450">
              <a:buFont typeface="Arial" pitchFamily="34" charset="0"/>
              <a:buChar char="•"/>
            </a:pPr>
            <a:r>
              <a:rPr lang="en-AU" sz="1200" kern="1200" dirty="0" smtClean="0">
                <a:solidFill>
                  <a:schemeClr val="tx1"/>
                </a:solidFill>
                <a:latin typeface="+mn-lt"/>
                <a:ea typeface="+mn-ea"/>
                <a:cs typeface="+mn-cs"/>
              </a:rPr>
              <a:t> Speech, discussion and talking</a:t>
            </a:r>
          </a:p>
          <a:p>
            <a:pPr marL="628650" lvl="1" indent="-171450">
              <a:buFont typeface="Arial" pitchFamily="34" charset="0"/>
              <a:buChar char="•"/>
            </a:pPr>
            <a:r>
              <a:rPr lang="en-AU" sz="1200" kern="1200" dirty="0" smtClean="0">
                <a:solidFill>
                  <a:schemeClr val="tx1"/>
                </a:solidFill>
                <a:latin typeface="+mn-lt"/>
                <a:ea typeface="+mn-ea"/>
                <a:cs typeface="+mn-cs"/>
              </a:rPr>
              <a:t>Handouts</a:t>
            </a:r>
          </a:p>
          <a:p>
            <a:pPr marL="628650" lvl="1" indent="-171450">
              <a:buFont typeface="Arial" pitchFamily="34" charset="0"/>
              <a:buChar char="•"/>
            </a:pPr>
            <a:r>
              <a:rPr lang="en-AU" sz="1200" kern="1200" dirty="0" smtClean="0">
                <a:solidFill>
                  <a:schemeClr val="tx1"/>
                </a:solidFill>
                <a:latin typeface="+mn-lt"/>
                <a:ea typeface="+mn-ea"/>
                <a:cs typeface="+mn-cs"/>
              </a:rPr>
              <a:t>Slide presentations</a:t>
            </a:r>
          </a:p>
          <a:p>
            <a:pPr marL="628650" lvl="1" indent="-171450">
              <a:buFont typeface="Arial" pitchFamily="34" charset="0"/>
              <a:buChar char="•"/>
            </a:pPr>
            <a:r>
              <a:rPr lang="en-AU" sz="1200" kern="1200" dirty="0" smtClean="0">
                <a:solidFill>
                  <a:schemeClr val="tx1"/>
                </a:solidFill>
                <a:latin typeface="+mn-lt"/>
                <a:ea typeface="+mn-ea"/>
                <a:cs typeface="+mn-cs"/>
              </a:rPr>
              <a:t>Guest Speakers</a:t>
            </a:r>
          </a:p>
          <a:p>
            <a:pPr marL="628650" lvl="1" indent="-171450">
              <a:buFont typeface="Arial" pitchFamily="34" charset="0"/>
              <a:buChar char="•"/>
            </a:pPr>
            <a:r>
              <a:rPr lang="en-AU" sz="1200" kern="1200" dirty="0" smtClean="0">
                <a:solidFill>
                  <a:schemeClr val="tx1"/>
                </a:solidFill>
                <a:latin typeface="+mn-lt"/>
                <a:ea typeface="+mn-ea"/>
                <a:cs typeface="+mn-cs"/>
              </a:rPr>
              <a:t>Demonstrations</a:t>
            </a:r>
          </a:p>
          <a:p>
            <a:pPr marL="171450" lvl="0" indent="-171450">
              <a:buFont typeface="Arial" pitchFamily="34" charset="0"/>
              <a:buChar char="•"/>
            </a:pPr>
            <a:r>
              <a:rPr lang="en-AU" sz="1200" kern="1200" dirty="0" smtClean="0">
                <a:solidFill>
                  <a:schemeClr val="tx1"/>
                </a:solidFill>
                <a:latin typeface="+mn-lt"/>
                <a:ea typeface="+mn-ea"/>
                <a:cs typeface="+mn-cs"/>
              </a:rPr>
              <a:t>Talking to people:</a:t>
            </a:r>
          </a:p>
          <a:p>
            <a:pPr marL="628650" lvl="1" indent="-171450">
              <a:buFont typeface="Arial" pitchFamily="34" charset="0"/>
              <a:buChar char="•"/>
            </a:pPr>
            <a:r>
              <a:rPr lang="en-AU" sz="1200" kern="1200" dirty="0" smtClean="0">
                <a:solidFill>
                  <a:schemeClr val="tx1"/>
                </a:solidFill>
                <a:latin typeface="+mn-lt"/>
                <a:ea typeface="+mn-ea"/>
                <a:cs typeface="+mn-cs"/>
              </a:rPr>
              <a:t>Face-to-face</a:t>
            </a:r>
          </a:p>
          <a:p>
            <a:pPr marL="628650" lvl="1" indent="-171450">
              <a:buFont typeface="Arial" pitchFamily="34" charset="0"/>
              <a:buChar char="•"/>
            </a:pPr>
            <a:r>
              <a:rPr lang="en-AU" sz="1200" kern="1200" dirty="0" smtClean="0">
                <a:solidFill>
                  <a:schemeClr val="tx1"/>
                </a:solidFill>
                <a:latin typeface="+mn-lt"/>
                <a:ea typeface="+mn-ea"/>
                <a:cs typeface="+mn-cs"/>
              </a:rPr>
              <a:t>On the telephone</a:t>
            </a:r>
          </a:p>
          <a:p>
            <a:pPr marL="628650" lvl="1" indent="-171450">
              <a:buFont typeface="Arial" pitchFamily="34" charset="0"/>
              <a:buChar char="•"/>
            </a:pPr>
            <a:r>
              <a:rPr lang="en-AU" sz="1200" kern="1200" dirty="0" smtClean="0">
                <a:solidFill>
                  <a:schemeClr val="tx1"/>
                </a:solidFill>
                <a:latin typeface="+mn-lt"/>
                <a:ea typeface="+mn-ea"/>
                <a:cs typeface="+mn-cs"/>
              </a:rPr>
              <a:t>One-on-one</a:t>
            </a:r>
          </a:p>
          <a:p>
            <a:pPr marL="628650" lvl="1" indent="-171450">
              <a:buFont typeface="Arial" pitchFamily="34" charset="0"/>
              <a:buChar char="•"/>
            </a:pPr>
            <a:r>
              <a:rPr lang="en-AU" sz="1200" kern="1200" dirty="0" smtClean="0">
                <a:solidFill>
                  <a:schemeClr val="tx1"/>
                </a:solidFill>
                <a:latin typeface="+mn-lt"/>
                <a:ea typeface="+mn-ea"/>
                <a:cs typeface="+mn-cs"/>
              </a:rPr>
              <a:t>In groups</a:t>
            </a:r>
          </a:p>
          <a:p>
            <a:pPr marL="171450" lvl="0" indent="-171450">
              <a:buFont typeface="Arial" pitchFamily="34" charset="0"/>
              <a:buChar char="•"/>
            </a:pPr>
            <a:r>
              <a:rPr lang="en-AU" sz="1200" kern="1200" dirty="0" smtClean="0">
                <a:solidFill>
                  <a:schemeClr val="tx1"/>
                </a:solidFill>
                <a:latin typeface="+mn-lt"/>
                <a:ea typeface="+mn-ea"/>
                <a:cs typeface="+mn-cs"/>
              </a:rPr>
              <a:t>Using written communication options:</a:t>
            </a:r>
          </a:p>
          <a:p>
            <a:pPr marL="628650" lvl="1" indent="-171450">
              <a:buFont typeface="Arial" pitchFamily="34" charset="0"/>
              <a:buChar char="•"/>
            </a:pPr>
            <a:r>
              <a:rPr lang="en-AU" sz="1200" kern="1200" dirty="0" smtClean="0">
                <a:solidFill>
                  <a:schemeClr val="tx1"/>
                </a:solidFill>
                <a:latin typeface="+mn-lt"/>
                <a:ea typeface="+mn-ea"/>
                <a:cs typeface="+mn-cs"/>
              </a:rPr>
              <a:t>Providing handouts of information to be conveyed</a:t>
            </a:r>
          </a:p>
          <a:p>
            <a:pPr marL="628650" lvl="1" indent="-171450">
              <a:buFont typeface="Arial" pitchFamily="34" charset="0"/>
              <a:buChar char="•"/>
            </a:pPr>
            <a:r>
              <a:rPr lang="en-AU" sz="1200" kern="1200" dirty="0" smtClean="0">
                <a:solidFill>
                  <a:schemeClr val="tx1"/>
                </a:solidFill>
                <a:latin typeface="+mn-lt"/>
                <a:ea typeface="+mn-ea"/>
                <a:cs typeface="+mn-cs"/>
              </a:rPr>
              <a:t>Supplying hard copy suggestions/recommendations</a:t>
            </a:r>
          </a:p>
          <a:p>
            <a:pPr marL="628650" lvl="1" indent="-171450">
              <a:buFont typeface="Arial" pitchFamily="34" charset="0"/>
              <a:buChar char="•"/>
            </a:pPr>
            <a:r>
              <a:rPr lang="en-AU" sz="1200" kern="1200" dirty="0" smtClean="0">
                <a:solidFill>
                  <a:schemeClr val="tx1"/>
                </a:solidFill>
                <a:latin typeface="+mn-lt"/>
                <a:ea typeface="+mn-ea"/>
                <a:cs typeface="+mn-cs"/>
              </a:rPr>
              <a:t>Putting complaints and issues in writing</a:t>
            </a:r>
          </a:p>
          <a:p>
            <a:pPr marL="628650" lvl="1" indent="-171450">
              <a:buFont typeface="Arial" pitchFamily="34" charset="0"/>
              <a:buChar char="•"/>
            </a:pPr>
            <a:r>
              <a:rPr lang="en-AU" sz="1200" kern="1200" dirty="0" smtClean="0">
                <a:solidFill>
                  <a:schemeClr val="tx1"/>
                </a:solidFill>
                <a:latin typeface="+mn-lt"/>
                <a:ea typeface="+mn-ea"/>
                <a:cs typeface="+mn-cs"/>
              </a:rPr>
              <a:t>Completing internal forms and reports</a:t>
            </a:r>
          </a:p>
          <a:p>
            <a:pPr marL="628650" lvl="1" indent="-171450">
              <a:buFont typeface="Arial" pitchFamily="34" charset="0"/>
              <a:buChar char="•"/>
            </a:pPr>
            <a:r>
              <a:rPr lang="en-AU" sz="1200" kern="1200" dirty="0" smtClean="0">
                <a:solidFill>
                  <a:schemeClr val="tx1"/>
                </a:solidFill>
                <a:latin typeface="+mn-lt"/>
                <a:ea typeface="+mn-ea"/>
                <a:cs typeface="+mn-cs"/>
              </a:rPr>
              <a:t>Sending memoranda</a:t>
            </a:r>
          </a:p>
          <a:p>
            <a:pPr marL="171450" lvl="0" indent="-171450">
              <a:buFont typeface="Arial" pitchFamily="34" charset="0"/>
              <a:buChar char="•"/>
            </a:pPr>
            <a:r>
              <a:rPr lang="en-AU" sz="1200" kern="1200" dirty="0" smtClean="0">
                <a:solidFill>
                  <a:schemeClr val="tx1"/>
                </a:solidFill>
                <a:latin typeface="+mn-lt"/>
                <a:ea typeface="+mn-ea"/>
                <a:cs typeface="+mn-cs"/>
              </a:rPr>
              <a:t>Using electronic communication options – such as:</a:t>
            </a:r>
          </a:p>
          <a:p>
            <a:pPr marL="628650" lvl="1" indent="-171450">
              <a:buFont typeface="Arial" pitchFamily="34" charset="0"/>
              <a:buChar char="•"/>
            </a:pPr>
            <a:r>
              <a:rPr lang="en-AU" sz="1200" kern="1200" dirty="0" smtClean="0">
                <a:solidFill>
                  <a:schemeClr val="tx1"/>
                </a:solidFill>
                <a:latin typeface="+mn-lt"/>
                <a:ea typeface="+mn-ea"/>
                <a:cs typeface="+mn-cs"/>
              </a:rPr>
              <a:t>Email</a:t>
            </a:r>
          </a:p>
          <a:p>
            <a:pPr marL="628650" lvl="1" indent="-171450">
              <a:buFont typeface="Arial" pitchFamily="34" charset="0"/>
              <a:buChar char="•"/>
            </a:pPr>
            <a:r>
              <a:rPr lang="en-AU" sz="1200" kern="1200" dirty="0" smtClean="0">
                <a:solidFill>
                  <a:schemeClr val="tx1"/>
                </a:solidFill>
                <a:latin typeface="+mn-lt"/>
                <a:ea typeface="+mn-ea"/>
                <a:cs typeface="+mn-cs"/>
              </a:rPr>
              <a:t>Text messaging.</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151</a:t>
            </a:fld>
            <a:endParaRPr lang="en-US" dirty="0"/>
          </a:p>
        </p:txBody>
      </p:sp>
    </p:spTree>
    <p:extLst>
      <p:ext uri="{BB962C8B-B14F-4D97-AF65-F5344CB8AC3E}">
        <p14:creationId xmlns:p14="http://schemas.microsoft.com/office/powerpoint/2010/main" val="175295221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152</a:t>
            </a:fld>
            <a:endParaRPr lang="en-US" dirty="0"/>
          </a:p>
        </p:txBody>
      </p:sp>
    </p:spTree>
    <p:extLst>
      <p:ext uri="{BB962C8B-B14F-4D97-AF65-F5344CB8AC3E}">
        <p14:creationId xmlns:p14="http://schemas.microsoft.com/office/powerpoint/2010/main" val="403803057"/>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153</a:t>
            </a:fld>
            <a:endParaRPr lang="en-US" dirty="0"/>
          </a:p>
        </p:txBody>
      </p:sp>
    </p:spTree>
    <p:extLst>
      <p:ext uri="{BB962C8B-B14F-4D97-AF65-F5344CB8AC3E}">
        <p14:creationId xmlns:p14="http://schemas.microsoft.com/office/powerpoint/2010/main" val="3933829828"/>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thanks trainees for their attention and encourages them to apply course content as required in their workplace activities.</a:t>
            </a:r>
            <a:endParaRPr lang="en-US" dirty="0" smtClean="0"/>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154</a:t>
            </a:fld>
            <a:endParaRPr lang="en-US" dirty="0"/>
          </a:p>
        </p:txBody>
      </p:sp>
    </p:spTree>
    <p:extLst>
      <p:ext uri="{BB962C8B-B14F-4D97-AF65-F5344CB8AC3E}">
        <p14:creationId xmlns:p14="http://schemas.microsoft.com/office/powerpoint/2010/main" val="26126842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3/11/2015</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0646F223-D3A2-44F5-8051-829B2F23C0D4}" type="datetime1">
              <a:rPr lang="en-US" smtClean="0"/>
              <a:pPr/>
              <a:t>3/11/2015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3/11/2015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3/11/2015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3/11/2015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3/11/2015</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3/11/2015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3/11/2015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3/11/2015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3/11/2015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3/11/2015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60B9F9CF-7D2C-460C-8F3E-F6213A54EF65}" type="datetime1">
              <a:rPr lang="en-US" smtClean="0"/>
              <a:pPr/>
              <a:t>3/11/2015</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image" Target="../media/image1.jpe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97.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127.xml"/><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115.jpeg"/><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notesSlide" Target="../notesSlides/notesSlide138.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39.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notesSlide" Target="../notesSlides/notesSlide140.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notesSlide" Target="../notesSlides/notesSlide141.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122.jpeg"/><Relationship Id="rId2" Type="http://schemas.openxmlformats.org/officeDocument/2006/relationships/notesSlide" Target="../notesSlides/notesSlide142.xml"/><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123.jpeg"/><Relationship Id="rId2" Type="http://schemas.openxmlformats.org/officeDocument/2006/relationships/notesSlide" Target="../notesSlides/notesSlide143.xml"/><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144.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145.xml"/><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146.xml"/><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147.xml"/><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148.xml"/><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3" Type="http://schemas.openxmlformats.org/officeDocument/2006/relationships/image" Target="../media/image124.jpeg"/><Relationship Id="rId2" Type="http://schemas.openxmlformats.org/officeDocument/2006/relationships/notesSlide" Target="../notesSlides/notesSlide149.xml"/><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125.jpeg"/><Relationship Id="rId2" Type="http://schemas.openxmlformats.org/officeDocument/2006/relationships/notesSlide" Target="../notesSlides/notesSlide150.xml"/><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notesSlide" Target="../notesSlides/notesSlide151.xml"/><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52.xml"/><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53.xml"/><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5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07704" y="548680"/>
            <a:ext cx="6480048" cy="936104"/>
          </a:xfrm>
        </p:spPr>
        <p:txBody>
          <a:bodyPr>
            <a:normAutofit/>
          </a:bodyPr>
          <a:lstStyle/>
          <a:p>
            <a:r>
              <a:rPr lang="en-AU" sz="4000" dirty="0">
                <a:ln w="5000" cmpd="sng">
                  <a:noFill/>
                  <a:prstDash val="solid"/>
                </a:ln>
                <a:solidFill>
                  <a:srgbClr val="FF6600"/>
                </a:solidFill>
                <a:latin typeface="Helvetica" pitchFamily="34" charset="0"/>
              </a:rPr>
              <a:t>WORK AS A TOUR </a:t>
            </a:r>
            <a:r>
              <a:rPr lang="en-AU" sz="4000" dirty="0" smtClean="0">
                <a:ln w="5000" cmpd="sng">
                  <a:noFill/>
                  <a:prstDash val="solid"/>
                </a:ln>
                <a:solidFill>
                  <a:srgbClr val="FF6600"/>
                </a:solidFill>
                <a:latin typeface="Helvetica" pitchFamily="34" charset="0"/>
              </a:rPr>
              <a:t>GUIDE</a:t>
            </a:r>
            <a:endParaRPr lang="en-AU" sz="4000" dirty="0">
              <a:ln w="5000" cmpd="sng">
                <a:noFill/>
                <a:prstDash val="solid"/>
              </a:ln>
              <a:solidFill>
                <a:srgbClr val="FF6600"/>
              </a:solidFill>
              <a:latin typeface="Helvetica" pitchFamily="34" charset="0"/>
            </a:endParaRPr>
          </a:p>
        </p:txBody>
      </p:sp>
      <p:sp>
        <p:nvSpPr>
          <p:cNvPr id="3" name="Subtitle 2"/>
          <p:cNvSpPr>
            <a:spLocks noGrp="1"/>
          </p:cNvSpPr>
          <p:nvPr>
            <p:ph type="subTitle" idx="1"/>
          </p:nvPr>
        </p:nvSpPr>
        <p:spPr>
          <a:xfrm>
            <a:off x="5868144" y="1267050"/>
            <a:ext cx="2541268" cy="433758"/>
          </a:xfrm>
        </p:spPr>
        <p:txBody>
          <a:bodyPr>
            <a:normAutofit/>
          </a:bodyPr>
          <a:lstStyle/>
          <a:p>
            <a:r>
              <a:rPr lang="en-AU" b="1" dirty="0" smtClean="0">
                <a:latin typeface="Helvetica" pitchFamily="34" charset="0"/>
              </a:rPr>
              <a:t>D2.TTG.CL3.01</a:t>
            </a:r>
            <a:endParaRPr lang="en-AU" b="1" dirty="0">
              <a:latin typeface="Helvetica" pitchFamily="34" charset="0"/>
            </a:endParaRPr>
          </a:p>
        </p:txBody>
      </p:sp>
      <p:sp>
        <p:nvSpPr>
          <p:cNvPr id="4" name="Slide Number Placeholder 3"/>
          <p:cNvSpPr>
            <a:spLocks noGrp="1"/>
          </p:cNvSpPr>
          <p:nvPr>
            <p:ph type="sldNum" sz="quarter" idx="12"/>
          </p:nvPr>
        </p:nvSpPr>
        <p:spPr/>
        <p:txBody>
          <a:bodyPr/>
          <a:lstStyle/>
          <a:p>
            <a:r>
              <a:rPr lang="en-AU" dirty="0" smtClean="0"/>
              <a:t> </a:t>
            </a:r>
            <a:r>
              <a:rPr lang="en-AU" dirty="0" smtClean="0">
                <a:latin typeface="Helvetica" pitchFamily="34" charset="0"/>
              </a:rPr>
              <a:t>Slide </a:t>
            </a:r>
            <a:fld id="{90BDF71C-F485-43AE-8825-5070AF1EA8C9}" type="slidenum">
              <a:rPr lang="en-AU" smtClean="0">
                <a:latin typeface="Helvetica" pitchFamily="34" charset="0"/>
              </a:rPr>
              <a:pPr/>
              <a:t>1</a:t>
            </a:fld>
            <a:endParaRPr lang="en-AU" dirty="0">
              <a:latin typeface="Helvetica" pitchFamily="34" charset="0"/>
            </a:endParaRPr>
          </a:p>
        </p:txBody>
      </p:sp>
      <p:grpSp>
        <p:nvGrpSpPr>
          <p:cNvPr id="6" name="Group 5"/>
          <p:cNvGrpSpPr/>
          <p:nvPr/>
        </p:nvGrpSpPr>
        <p:grpSpPr>
          <a:xfrm>
            <a:off x="733490" y="1850603"/>
            <a:ext cx="5566702" cy="4207470"/>
            <a:chOff x="0" y="0"/>
            <a:chExt cx="7533431" cy="6059171"/>
          </a:xfrm>
        </p:grpSpPr>
        <p:grpSp>
          <p:nvGrpSpPr>
            <p:cNvPr id="7" name="Group 6"/>
            <p:cNvGrpSpPr/>
            <p:nvPr/>
          </p:nvGrpSpPr>
          <p:grpSpPr>
            <a:xfrm>
              <a:off x="2156346" y="13648"/>
              <a:ext cx="3028870" cy="6045523"/>
              <a:chOff x="-13650" y="0"/>
              <a:chExt cx="3029805" cy="6045958"/>
            </a:xfrm>
          </p:grpSpPr>
          <p:pic>
            <p:nvPicPr>
              <p:cNvPr id="14" name="Picture 13"/>
              <p:cNvPicPr>
                <a:picLocks noChangeAspect="1"/>
              </p:cNvPicPr>
              <p:nvPr/>
            </p:nvPicPr>
            <p:blipFill rotWithShape="1">
              <a:blip r:embed="rId3" cstate="print">
                <a:extLst>
                  <a:ext uri="{28A0092B-C50C-407E-A947-70E740481C1C}">
                    <a14:useLocalDpi xmlns:a14="http://schemas.microsoft.com/office/drawing/2010/main" val="0"/>
                  </a:ext>
                </a:extLst>
              </a:blip>
              <a:srcRect l="7457" r="17632"/>
              <a:stretch/>
            </p:blipFill>
            <p:spPr bwMode="auto">
              <a:xfrm>
                <a:off x="0" y="0"/>
                <a:ext cx="3016155" cy="3029803"/>
              </a:xfrm>
              <a:prstGeom prst="rect">
                <a:avLst/>
              </a:prstGeom>
              <a:noFill/>
              <a:ln>
                <a:noFill/>
              </a:ln>
              <a:extLst>
                <a:ext uri="{53640926-AAD7-44D8-BBD7-CCE9431645EC}">
                  <a14:shadowObscured xmlns:a14="http://schemas.microsoft.com/office/drawing/2010/main"/>
                </a:ext>
              </a:extLst>
            </p:spPr>
          </p:pic>
          <p:pic>
            <p:nvPicPr>
              <p:cNvPr id="15" name="Picture 14"/>
              <p:cNvPicPr>
                <a:picLocks noChangeAspect="1"/>
              </p:cNvPicPr>
              <p:nvPr/>
            </p:nvPicPr>
            <p:blipFill rotWithShape="1">
              <a:blip r:embed="rId4" cstate="print">
                <a:extLst>
                  <a:ext uri="{28A0092B-C50C-407E-A947-70E740481C1C}">
                    <a14:useLocalDpi xmlns:a14="http://schemas.microsoft.com/office/drawing/2010/main" val="0"/>
                  </a:ext>
                </a:extLst>
              </a:blip>
              <a:srcRect l="2502" t="3750" r="36049" b="3750"/>
              <a:stretch/>
            </p:blipFill>
            <p:spPr bwMode="auto">
              <a:xfrm>
                <a:off x="-13650" y="3016155"/>
                <a:ext cx="3016155" cy="3029803"/>
              </a:xfrm>
              <a:prstGeom prst="rect">
                <a:avLst/>
              </a:prstGeom>
              <a:ln>
                <a:noFill/>
              </a:ln>
              <a:extLst>
                <a:ext uri="{53640926-AAD7-44D8-BBD7-CCE9431645EC}">
                  <a14:shadowObscured xmlns:a14="http://schemas.microsoft.com/office/drawing/2010/main"/>
                </a:ext>
              </a:extLst>
            </p:spPr>
          </p:pic>
        </p:grpSp>
        <p:grpSp>
          <p:nvGrpSpPr>
            <p:cNvPr id="8" name="Group 7"/>
            <p:cNvGrpSpPr/>
            <p:nvPr/>
          </p:nvGrpSpPr>
          <p:grpSpPr>
            <a:xfrm>
              <a:off x="0" y="0"/>
              <a:ext cx="2565332" cy="6045522"/>
              <a:chOff x="0" y="0"/>
              <a:chExt cx="2565779" cy="6045958"/>
            </a:xfrm>
          </p:grpSpPr>
          <p:pic>
            <p:nvPicPr>
              <p:cNvPr id="12" name="Picture 11"/>
              <p:cNvPicPr>
                <a:picLocks noChangeAspect="1"/>
              </p:cNvPicPr>
              <p:nvPr/>
            </p:nvPicPr>
            <p:blipFill rotWithShape="1">
              <a:blip r:embed="rId5" cstate="print">
                <a:extLst>
                  <a:ext uri="{28A0092B-C50C-407E-A947-70E740481C1C}">
                    <a14:useLocalDpi xmlns:a14="http://schemas.microsoft.com/office/drawing/2010/main" val="0"/>
                  </a:ext>
                </a:extLst>
              </a:blip>
              <a:srcRect t="3586" b="9122"/>
              <a:stretch/>
            </p:blipFill>
            <p:spPr bwMode="auto">
              <a:xfrm>
                <a:off x="0" y="0"/>
                <a:ext cx="2565779" cy="3302758"/>
              </a:xfrm>
              <a:prstGeom prst="rect">
                <a:avLst/>
              </a:prstGeom>
              <a:ln>
                <a:noFill/>
              </a:ln>
              <a:extLst>
                <a:ext uri="{53640926-AAD7-44D8-BBD7-CCE9431645EC}">
                  <a14:shadowObscured xmlns:a14="http://schemas.microsoft.com/office/drawing/2010/main"/>
                </a:ext>
              </a:extLst>
            </p:spPr>
          </p:pic>
          <p:pic>
            <p:nvPicPr>
              <p:cNvPr id="13" name="Picture 12"/>
              <p:cNvPicPr>
                <a:picLocks noChangeAspect="1"/>
              </p:cNvPicPr>
              <p:nvPr/>
            </p:nvPicPr>
            <p:blipFill rotWithShape="1">
              <a:blip r:embed="rId6" cstate="print">
                <a:extLst>
                  <a:ext uri="{28A0092B-C50C-407E-A947-70E740481C1C}">
                    <a14:useLocalDpi xmlns:a14="http://schemas.microsoft.com/office/drawing/2010/main" val="0"/>
                  </a:ext>
                </a:extLst>
              </a:blip>
              <a:srcRect l="23275" r="19761"/>
              <a:stretch/>
            </p:blipFill>
            <p:spPr bwMode="auto">
              <a:xfrm>
                <a:off x="0" y="3043451"/>
                <a:ext cx="2565779" cy="3002507"/>
              </a:xfrm>
              <a:prstGeom prst="rect">
                <a:avLst/>
              </a:prstGeom>
              <a:ln>
                <a:noFill/>
              </a:ln>
              <a:extLst>
                <a:ext uri="{53640926-AAD7-44D8-BBD7-CCE9431645EC}">
                  <a14:shadowObscured xmlns:a14="http://schemas.microsoft.com/office/drawing/2010/main"/>
                </a:ext>
              </a:extLst>
            </p:spPr>
          </p:pic>
        </p:grpSp>
        <p:grpSp>
          <p:nvGrpSpPr>
            <p:cNvPr id="9" name="Group 8"/>
            <p:cNvGrpSpPr/>
            <p:nvPr/>
          </p:nvGrpSpPr>
          <p:grpSpPr>
            <a:xfrm>
              <a:off x="5172501" y="0"/>
              <a:ext cx="2360930" cy="6045835"/>
              <a:chOff x="0" y="0"/>
              <a:chExt cx="2361063" cy="6045959"/>
            </a:xfrm>
          </p:grpSpPr>
          <p:pic>
            <p:nvPicPr>
              <p:cNvPr id="10" name="Picture 9"/>
              <p:cNvPicPr>
                <a:picLocks noChangeAspect="1"/>
              </p:cNvPicPr>
              <p:nvPr/>
            </p:nvPicPr>
            <p:blipFill rotWithShape="1">
              <a:blip r:embed="rId7" cstate="print">
                <a:extLst>
                  <a:ext uri="{28A0092B-C50C-407E-A947-70E740481C1C}">
                    <a14:useLocalDpi xmlns:a14="http://schemas.microsoft.com/office/drawing/2010/main" val="0"/>
                  </a:ext>
                </a:extLst>
              </a:blip>
              <a:srcRect l="1653" t="2048" r="15231" b="6503"/>
              <a:stretch/>
            </p:blipFill>
            <p:spPr bwMode="auto">
              <a:xfrm>
                <a:off x="0" y="2934269"/>
                <a:ext cx="2347415" cy="3111690"/>
              </a:xfrm>
              <a:prstGeom prst="rect">
                <a:avLst/>
              </a:prstGeom>
              <a:ln>
                <a:noFill/>
              </a:ln>
              <a:extLst>
                <a:ext uri="{53640926-AAD7-44D8-BBD7-CCE9431645EC}">
                  <a14:shadowObscured xmlns:a14="http://schemas.microsoft.com/office/drawing/2010/main"/>
                </a:ext>
              </a:extLst>
            </p:spPr>
          </p:pic>
          <p:pic>
            <p:nvPicPr>
              <p:cNvPr id="11" name="Picture 10"/>
              <p:cNvPicPr>
                <a:picLocks noChangeAspect="1"/>
              </p:cNvPicPr>
              <p:nvPr/>
            </p:nvPicPr>
            <p:blipFill rotWithShape="1">
              <a:blip r:embed="rId8" cstate="print">
                <a:extLst>
                  <a:ext uri="{28A0092B-C50C-407E-A947-70E740481C1C}">
                    <a14:useLocalDpi xmlns:a14="http://schemas.microsoft.com/office/drawing/2010/main" val="0"/>
                  </a:ext>
                </a:extLst>
              </a:blip>
              <a:srcRect t="9604" b="4786"/>
              <a:stretch/>
            </p:blipFill>
            <p:spPr bwMode="auto">
              <a:xfrm>
                <a:off x="0" y="0"/>
                <a:ext cx="2361063" cy="3043451"/>
              </a:xfrm>
              <a:prstGeom prst="rect">
                <a:avLst/>
              </a:prstGeom>
              <a:ln>
                <a:noFill/>
              </a:ln>
              <a:extLst>
                <a:ext uri="{53640926-AAD7-44D8-BBD7-CCE9431645EC}">
                  <a14:shadowObscured xmlns:a14="http://schemas.microsoft.com/office/drawing/2010/main"/>
                </a:ext>
              </a:extLst>
            </p:spPr>
          </p:pic>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Work as a tour guide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a:bodyPr>
          <a:lstStyle/>
          <a:p>
            <a:pPr marL="0" indent="0">
              <a:spcBef>
                <a:spcPts val="600"/>
              </a:spcBef>
              <a:spcAft>
                <a:spcPts val="1200"/>
              </a:spcAft>
              <a:buNone/>
            </a:pPr>
            <a:r>
              <a:rPr lang="en-US" sz="2200" dirty="0" smtClean="0">
                <a:latin typeface="Helvetica" pitchFamily="34" charset="0"/>
              </a:rPr>
              <a:t>This Unit comprises four Elements :</a:t>
            </a:r>
          </a:p>
          <a:p>
            <a:pPr marL="449263" indent="-449263">
              <a:spcBef>
                <a:spcPts val="600"/>
              </a:spcBef>
              <a:spcAft>
                <a:spcPts val="1200"/>
              </a:spcAft>
              <a:buNone/>
              <a:tabLst>
                <a:tab pos="449263" algn="l"/>
              </a:tabLst>
            </a:pPr>
            <a:r>
              <a:rPr lang="en-US" sz="2200" dirty="0" smtClean="0">
                <a:latin typeface="Helvetica" pitchFamily="34" charset="0"/>
              </a:rPr>
              <a:t>1. 	Describe the context for the delivery of guiding services</a:t>
            </a:r>
          </a:p>
          <a:p>
            <a:pPr marL="449263" indent="-449263">
              <a:spcBef>
                <a:spcPts val="600"/>
              </a:spcBef>
              <a:spcAft>
                <a:spcPts val="1200"/>
              </a:spcAft>
              <a:buNone/>
              <a:tabLst>
                <a:tab pos="449263" algn="l"/>
              </a:tabLst>
            </a:pPr>
            <a:r>
              <a:rPr lang="en-US" sz="2200" dirty="0" smtClean="0">
                <a:latin typeface="Helvetica" pitchFamily="34" charset="0"/>
              </a:rPr>
              <a:t>2. 	Develop guiding skills and knowledge</a:t>
            </a:r>
          </a:p>
          <a:p>
            <a:pPr marL="449263" indent="-449263">
              <a:spcBef>
                <a:spcPts val="600"/>
              </a:spcBef>
              <a:spcAft>
                <a:spcPts val="1200"/>
              </a:spcAft>
              <a:buNone/>
              <a:tabLst>
                <a:tab pos="449263" algn="l"/>
              </a:tabLst>
            </a:pPr>
            <a:r>
              <a:rPr lang="en-US" sz="2200" dirty="0" smtClean="0">
                <a:latin typeface="Helvetica" pitchFamily="34" charset="0"/>
              </a:rPr>
              <a:t>3. 	Provide guiding services</a:t>
            </a:r>
          </a:p>
          <a:p>
            <a:pPr marL="449263" indent="-449263">
              <a:spcBef>
                <a:spcPts val="600"/>
              </a:spcBef>
              <a:spcAft>
                <a:spcPts val="1200"/>
              </a:spcAft>
              <a:buNone/>
              <a:tabLst>
                <a:tab pos="449263" algn="l"/>
              </a:tabLst>
            </a:pPr>
            <a:r>
              <a:rPr lang="en-US" sz="2200" dirty="0" smtClean="0">
                <a:latin typeface="Helvetica" pitchFamily="34" charset="0"/>
              </a:rPr>
              <a:t>4. 	Communicate with industry personnel</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220072" y="1988840"/>
            <a:ext cx="1890000" cy="2520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fontScale="92500" lnSpcReduction="20000"/>
          </a:bodyPr>
          <a:lstStyle/>
          <a:p>
            <a:pPr marL="0" indent="0">
              <a:spcBef>
                <a:spcPts val="600"/>
              </a:spcBef>
              <a:spcAft>
                <a:spcPts val="1200"/>
              </a:spcAft>
              <a:buNone/>
            </a:pPr>
            <a:r>
              <a:rPr lang="en-US" sz="2200" dirty="0" smtClean="0"/>
              <a:t>Assessment for this unit may include:</a:t>
            </a:r>
          </a:p>
          <a:p>
            <a:pPr marL="360000" indent="-360000">
              <a:spcBef>
                <a:spcPts val="600"/>
              </a:spcBef>
              <a:spcAft>
                <a:spcPts val="1200"/>
              </a:spcAft>
              <a:buClr>
                <a:srgbClr val="92D050"/>
              </a:buClr>
            </a:pPr>
            <a:r>
              <a:rPr lang="en-US" sz="2200" dirty="0" smtClean="0"/>
              <a:t>Oral questions</a:t>
            </a:r>
          </a:p>
          <a:p>
            <a:pPr marL="360000" indent="-360000">
              <a:spcBef>
                <a:spcPts val="600"/>
              </a:spcBef>
              <a:spcAft>
                <a:spcPts val="1200"/>
              </a:spcAft>
              <a:buClr>
                <a:srgbClr val="92D050"/>
              </a:buClr>
            </a:pPr>
            <a:r>
              <a:rPr lang="en-US" sz="2200" dirty="0" smtClean="0"/>
              <a:t>Written questions</a:t>
            </a:r>
          </a:p>
          <a:p>
            <a:pPr marL="360000" indent="-360000">
              <a:spcBef>
                <a:spcPts val="600"/>
              </a:spcBef>
              <a:spcAft>
                <a:spcPts val="1200"/>
              </a:spcAft>
              <a:buClr>
                <a:srgbClr val="92D050"/>
              </a:buClr>
            </a:pPr>
            <a:r>
              <a:rPr lang="en-US" sz="2200" dirty="0" smtClean="0"/>
              <a:t>Work projects</a:t>
            </a:r>
          </a:p>
          <a:p>
            <a:pPr marL="360000" indent="-360000">
              <a:spcBef>
                <a:spcPts val="600"/>
              </a:spcBef>
              <a:spcAft>
                <a:spcPts val="1200"/>
              </a:spcAft>
              <a:buClr>
                <a:srgbClr val="92D050"/>
              </a:buClr>
            </a:pPr>
            <a:r>
              <a:rPr lang="en-US" sz="2200" dirty="0" smtClean="0"/>
              <a:t>Workplace observation of practical skills</a:t>
            </a:r>
          </a:p>
          <a:p>
            <a:pPr marL="360000" indent="-360000">
              <a:spcBef>
                <a:spcPts val="600"/>
              </a:spcBef>
              <a:spcAft>
                <a:spcPts val="1200"/>
              </a:spcAft>
              <a:buClr>
                <a:srgbClr val="92D050"/>
              </a:buClr>
            </a:pPr>
            <a:r>
              <a:rPr lang="en-US" sz="2200" dirty="0" smtClean="0"/>
              <a:t>Practical exercises</a:t>
            </a:r>
          </a:p>
          <a:p>
            <a:pPr marL="360000" indent="-360000">
              <a:spcBef>
                <a:spcPts val="600"/>
              </a:spcBef>
              <a:spcAft>
                <a:spcPts val="1200"/>
              </a:spcAft>
              <a:buClr>
                <a:srgbClr val="92D050"/>
              </a:buClr>
            </a:pPr>
            <a:r>
              <a:rPr lang="en-US" sz="2200" dirty="0" smtClean="0"/>
              <a:t>Formal report from employer/supervisor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a:t>
            </a:fld>
            <a:endParaRPr lang="en-US" dirty="0"/>
          </a:p>
        </p:txBody>
      </p:sp>
      <p:pic>
        <p:nvPicPr>
          <p:cNvPr id="5" name="Picture 2" descr="C:\Documents and Settings\danielc\Local Settings\Temporary Internet Files\Content.IE5\7NII6ZZT\MP900439533[1].jpg"/>
          <p:cNvPicPr>
            <a:picLocks noChangeAspect="1" noChangeArrowheads="1"/>
          </p:cNvPicPr>
          <p:nvPr/>
        </p:nvPicPr>
        <p:blipFill>
          <a:blip r:embed="rId3" cstate="print"/>
          <a:srcRect/>
          <a:stretch>
            <a:fillRect/>
          </a:stretch>
        </p:blipFill>
        <p:spPr bwMode="auto">
          <a:xfrm>
            <a:off x="5364088" y="1998666"/>
            <a:ext cx="2560320" cy="1704442"/>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Element 1 – Describe the context for the delivery of guiding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Performance Criteria for this Element are:</a:t>
            </a:r>
          </a:p>
          <a:p>
            <a:pPr marL="360000" indent="-360000">
              <a:spcBef>
                <a:spcPts val="600"/>
              </a:spcBef>
              <a:spcAft>
                <a:spcPts val="1200"/>
              </a:spcAft>
            </a:pPr>
            <a:r>
              <a:rPr lang="en-US" sz="2200" dirty="0" smtClean="0">
                <a:latin typeface="Helvetica" pitchFamily="34" charset="0"/>
              </a:rPr>
              <a:t>Identify the roles, functions and responsibilities of a tour guide</a:t>
            </a:r>
          </a:p>
          <a:p>
            <a:pPr marL="360000" indent="-360000">
              <a:spcBef>
                <a:spcPts val="600"/>
              </a:spcBef>
              <a:spcAft>
                <a:spcPts val="1200"/>
              </a:spcAft>
            </a:pPr>
            <a:r>
              <a:rPr lang="en-US" sz="2200" dirty="0" smtClean="0">
                <a:latin typeface="Helvetica" pitchFamily="34" charset="0"/>
              </a:rPr>
              <a:t>List and differentiate between types of tour guides</a:t>
            </a:r>
          </a:p>
          <a:p>
            <a:pPr marL="360000" indent="-360000">
              <a:spcBef>
                <a:spcPts val="600"/>
              </a:spcBef>
              <a:spcAft>
                <a:spcPts val="1200"/>
              </a:spcAft>
            </a:pPr>
            <a:r>
              <a:rPr lang="en-US" sz="2200" dirty="0" smtClean="0">
                <a:latin typeface="Helvetica" pitchFamily="34" charset="0"/>
              </a:rPr>
              <a:t>Identify and differentiate between the groups a tour guide may lead</a:t>
            </a:r>
          </a:p>
          <a:p>
            <a:pPr marL="360000" indent="-360000">
              <a:spcBef>
                <a:spcPts val="600"/>
              </a:spcBef>
              <a:spcAft>
                <a:spcPts val="1200"/>
              </a:spcAft>
              <a:buNone/>
            </a:pPr>
            <a:r>
              <a:rPr lang="en-US" sz="15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273400" y="1988840"/>
            <a:ext cx="2880000" cy="2160000"/>
          </a:xfrm>
          <a:prstGeom prst="rect">
            <a:avLst/>
          </a:prstGeom>
          <a:ln>
            <a:noFill/>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Element 1 – Describe the context for the delivery of guiding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sz="2000" dirty="0" smtClean="0">
                <a:latin typeface="Helvetica" pitchFamily="34" charset="0"/>
              </a:rPr>
              <a:t>Describe the interpretive approach to tour guiding</a:t>
            </a:r>
          </a:p>
          <a:p>
            <a:pPr marL="360000" indent="-360000">
              <a:spcBef>
                <a:spcPts val="600"/>
              </a:spcBef>
              <a:spcAft>
                <a:spcPts val="1200"/>
              </a:spcAft>
            </a:pPr>
            <a:r>
              <a:rPr lang="en-US" sz="2000" dirty="0" smtClean="0">
                <a:latin typeface="Helvetica" pitchFamily="34" charset="0"/>
              </a:rPr>
              <a:t>Identify tour types</a:t>
            </a:r>
          </a:p>
          <a:p>
            <a:pPr marL="360000" indent="-360000">
              <a:spcBef>
                <a:spcPts val="600"/>
              </a:spcBef>
              <a:spcAft>
                <a:spcPts val="1200"/>
              </a:spcAft>
            </a:pPr>
            <a:r>
              <a:rPr lang="en-US" sz="2000" dirty="0" smtClean="0">
                <a:latin typeface="Helvetica" pitchFamily="34" charset="0"/>
              </a:rPr>
              <a:t>List the characteristics of a tour guide</a:t>
            </a:r>
          </a:p>
          <a:p>
            <a:pPr marL="360000" indent="-360000">
              <a:spcBef>
                <a:spcPts val="600"/>
              </a:spcBef>
              <a:spcAft>
                <a:spcPts val="1200"/>
              </a:spcAft>
            </a:pPr>
            <a:r>
              <a:rPr lang="en-US" sz="2000" dirty="0" smtClean="0">
                <a:latin typeface="Helvetica" pitchFamily="34" charset="0"/>
              </a:rPr>
              <a:t>Describe tour guiding principles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13400" y="1997495"/>
            <a:ext cx="3240000" cy="2160000"/>
          </a:xfrm>
          <a:prstGeom prst="rect">
            <a:avLst/>
          </a:prstGeom>
          <a:ln>
            <a:noFill/>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the roles, functions and responsibilities of a Tour Guide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sz="2000" dirty="0" smtClean="0">
                <a:latin typeface="Helvetica" pitchFamily="34" charset="0"/>
              </a:rPr>
              <a:t>Tour Guides are required to discharge a wide range of roles, functions and responsibilities</a:t>
            </a:r>
          </a:p>
          <a:p>
            <a:pPr marL="360000" indent="-360000">
              <a:spcBef>
                <a:spcPts val="600"/>
              </a:spcBef>
              <a:spcAft>
                <a:spcPts val="1200"/>
              </a:spcAft>
            </a:pPr>
            <a:r>
              <a:rPr lang="en-US" sz="2000" dirty="0" smtClean="0">
                <a:latin typeface="Helvetica" pitchFamily="34" charset="0"/>
              </a:rPr>
              <a:t>Tour Guides are often seen as ‘the mortar which binds a tour together’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a:t>
            </a:fld>
            <a:endParaRPr lang="en-US" dirty="0">
              <a:latin typeface="Helvetica" pitchFamily="34" charset="0"/>
            </a:endParaRPr>
          </a:p>
        </p:txBody>
      </p:sp>
      <p:pic>
        <p:nvPicPr>
          <p:cNvPr id="5" name="Picture 4"/>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5004048" y="1988840"/>
            <a:ext cx="2014109" cy="2160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the roles, functions and responsibilities of a Tour Guide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0" indent="0">
              <a:spcBef>
                <a:spcPts val="600"/>
              </a:spcBef>
              <a:spcAft>
                <a:spcPts val="1200"/>
              </a:spcAft>
              <a:buNone/>
            </a:pPr>
            <a:r>
              <a:rPr lang="en-US" sz="2000" dirty="0" smtClean="0">
                <a:latin typeface="Helvetica" pitchFamily="34" charset="0"/>
              </a:rPr>
              <a:t>Roles, functions and responsibilities of a Tour Guide:</a:t>
            </a:r>
          </a:p>
          <a:p>
            <a:pPr marL="360000" indent="-360000">
              <a:spcBef>
                <a:spcPts val="600"/>
              </a:spcBef>
              <a:spcAft>
                <a:spcPts val="1200"/>
              </a:spcAft>
            </a:pPr>
            <a:r>
              <a:rPr lang="en-US" sz="2000" dirty="0" smtClean="0">
                <a:latin typeface="Helvetica" pitchFamily="34" charset="0"/>
              </a:rPr>
              <a:t>Manager and leader</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04683" y="1988840"/>
            <a:ext cx="3240000" cy="2160000"/>
          </a:xfrm>
          <a:prstGeom prst="rect">
            <a:avLst/>
          </a:prstGeom>
          <a:ln>
            <a:noFill/>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the roles, functions and responsibilities of a Tour Guide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360000" indent="-360000">
              <a:spcBef>
                <a:spcPts val="600"/>
              </a:spcBef>
              <a:spcAft>
                <a:spcPts val="1200"/>
              </a:spcAft>
            </a:pPr>
            <a:r>
              <a:rPr lang="en-US" sz="2000" dirty="0" smtClean="0">
                <a:latin typeface="Helvetica" pitchFamily="34" charset="0"/>
              </a:rPr>
              <a:t>Mediator</a:t>
            </a:r>
          </a:p>
          <a:p>
            <a:pPr marL="360000" indent="-360000">
              <a:spcBef>
                <a:spcPts val="600"/>
              </a:spcBef>
              <a:spcAft>
                <a:spcPts val="1200"/>
              </a:spcAft>
            </a:pPr>
            <a:r>
              <a:rPr lang="en-US" sz="2000" dirty="0" smtClean="0">
                <a:latin typeface="Helvetica" pitchFamily="34" charset="0"/>
              </a:rPr>
              <a:t>Communicator</a:t>
            </a:r>
          </a:p>
          <a:p>
            <a:pPr marL="360000" indent="-360000">
              <a:spcBef>
                <a:spcPts val="600"/>
              </a:spcBef>
              <a:spcAft>
                <a:spcPts val="1200"/>
              </a:spcAft>
            </a:pPr>
            <a:r>
              <a:rPr lang="en-US" sz="2000" dirty="0" smtClean="0">
                <a:latin typeface="Helvetica" pitchFamily="34" charset="0"/>
              </a:rPr>
              <a:t>Cultural host</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580161" y="1988840"/>
            <a:ext cx="2094876" cy="3060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the roles, functions and responsibilities of a Tour Guide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888432" cy="4093915"/>
          </a:xfrm>
        </p:spPr>
        <p:txBody>
          <a:bodyPr>
            <a:normAutofit/>
          </a:bodyPr>
          <a:lstStyle/>
          <a:p>
            <a:pPr marL="360000" indent="-360000">
              <a:spcBef>
                <a:spcPts val="600"/>
              </a:spcBef>
              <a:spcAft>
                <a:spcPts val="1200"/>
              </a:spcAft>
            </a:pPr>
            <a:r>
              <a:rPr lang="en-US" sz="2000" dirty="0" smtClean="0">
                <a:latin typeface="Helvetica" pitchFamily="34" charset="0"/>
              </a:rPr>
              <a:t>Teacher and mentor</a:t>
            </a:r>
          </a:p>
          <a:p>
            <a:pPr marL="360000" indent="-360000">
              <a:spcBef>
                <a:spcPts val="600"/>
              </a:spcBef>
              <a:spcAft>
                <a:spcPts val="1200"/>
              </a:spcAft>
            </a:pPr>
            <a:r>
              <a:rPr lang="en-US" sz="2000" dirty="0" smtClean="0">
                <a:latin typeface="Helvetica" pitchFamily="34" charset="0"/>
              </a:rPr>
              <a:t>Environmentalist</a:t>
            </a:r>
          </a:p>
          <a:p>
            <a:pPr marL="360000" indent="-360000">
              <a:spcBef>
                <a:spcPts val="600"/>
              </a:spcBef>
              <a:spcAft>
                <a:spcPts val="1200"/>
              </a:spcAft>
            </a:pPr>
            <a:r>
              <a:rPr lang="en-US" sz="2000" dirty="0" smtClean="0">
                <a:latin typeface="Helvetica" pitchFamily="34" charset="0"/>
              </a:rPr>
              <a:t>Entertainer</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427984" y="1844824"/>
            <a:ext cx="2383474" cy="3060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the roles, functions and responsibilities of a Tour Guide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16832"/>
            <a:ext cx="3960440" cy="4165923"/>
          </a:xfrm>
        </p:spPr>
        <p:txBody>
          <a:bodyPr>
            <a:normAutofit/>
          </a:bodyPr>
          <a:lstStyle/>
          <a:p>
            <a:pPr marL="360000" indent="-360000">
              <a:spcBef>
                <a:spcPts val="600"/>
              </a:spcBef>
              <a:spcAft>
                <a:spcPts val="1200"/>
              </a:spcAft>
            </a:pPr>
            <a:r>
              <a:rPr lang="en-US" sz="2000" dirty="0" smtClean="0">
                <a:latin typeface="Helvetica" pitchFamily="34" charset="0"/>
              </a:rPr>
              <a:t>Safety and security officer</a:t>
            </a:r>
          </a:p>
          <a:p>
            <a:pPr marL="360000" indent="-360000">
              <a:spcBef>
                <a:spcPts val="600"/>
              </a:spcBef>
              <a:spcAft>
                <a:spcPts val="1200"/>
              </a:spcAft>
            </a:pPr>
            <a:r>
              <a:rPr lang="en-US" sz="2000" dirty="0" smtClean="0">
                <a:latin typeface="Helvetica" pitchFamily="34" charset="0"/>
              </a:rPr>
              <a:t>Sales person</a:t>
            </a:r>
          </a:p>
          <a:p>
            <a:pPr marL="360000" indent="-360000">
              <a:spcBef>
                <a:spcPts val="600"/>
              </a:spcBef>
              <a:spcAft>
                <a:spcPts val="1200"/>
              </a:spcAft>
            </a:pPr>
            <a:r>
              <a:rPr lang="en-US" sz="2000" dirty="0" smtClean="0">
                <a:latin typeface="Helvetica" pitchFamily="34" charset="0"/>
              </a:rPr>
              <a:t>Administrator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13400" y="1988840"/>
            <a:ext cx="3240000" cy="2160000"/>
          </a:xfrm>
          <a:prstGeom prst="rect">
            <a:avLst/>
          </a:prstGeom>
          <a:ln>
            <a:noFill/>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List and differentiate between types of tour guides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There is a need to understand:</a:t>
            </a:r>
          </a:p>
          <a:p>
            <a:pPr marL="360000" indent="-360000">
              <a:spcBef>
                <a:spcPts val="600"/>
              </a:spcBef>
              <a:spcAft>
                <a:spcPts val="1200"/>
              </a:spcAft>
            </a:pPr>
            <a:r>
              <a:rPr lang="en-US" sz="2200" dirty="0" smtClean="0">
                <a:latin typeface="Helvetica" pitchFamily="34" charset="0"/>
              </a:rPr>
              <a:t>Tour Operators may employ a variety of different Tour Guide types – or just one type</a:t>
            </a:r>
          </a:p>
          <a:p>
            <a:pPr marL="360000" indent="-360000">
              <a:spcBef>
                <a:spcPts val="600"/>
              </a:spcBef>
              <a:spcAft>
                <a:spcPts val="1200"/>
              </a:spcAft>
            </a:pPr>
            <a:r>
              <a:rPr lang="en-US" sz="2200" dirty="0" smtClean="0">
                <a:latin typeface="Helvetica" pitchFamily="34" charset="0"/>
              </a:rPr>
              <a:t>Tour Guides can elect to be self-employed</a:t>
            </a:r>
          </a:p>
          <a:p>
            <a:pPr marL="360000" indent="-360000">
              <a:spcBef>
                <a:spcPts val="600"/>
              </a:spcBef>
              <a:spcAft>
                <a:spcPts val="1200"/>
              </a:spcAft>
            </a:pPr>
            <a:r>
              <a:rPr lang="en-US" sz="2200" dirty="0" smtClean="0">
                <a:latin typeface="Helvetica" pitchFamily="34" charset="0"/>
              </a:rPr>
              <a:t>Some countries prescribe certain classifications – requiring Tour Guides to undertake identified training and obtain nominated qualifications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13483" y="1990209"/>
            <a:ext cx="3240000" cy="2160000"/>
          </a:xfrm>
          <a:prstGeom prst="rect">
            <a:avLst/>
          </a:prstGeom>
          <a:ln>
            <a:noFill/>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List and differentiate between types of tour guides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Types of Tour Guides may include:</a:t>
            </a:r>
          </a:p>
          <a:p>
            <a:pPr marL="360000" indent="-360000">
              <a:spcBef>
                <a:spcPts val="600"/>
              </a:spcBef>
              <a:spcAft>
                <a:spcPts val="1200"/>
              </a:spcAft>
            </a:pPr>
            <a:r>
              <a:rPr lang="en-US" sz="2000" dirty="0" smtClean="0">
                <a:latin typeface="Helvetica" pitchFamily="34" charset="0"/>
              </a:rPr>
              <a:t>On-site attractions Tour Guide</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860032" y="1988840"/>
            <a:ext cx="2295000" cy="3060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List and differentiate between types of tour guides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sz="2000" dirty="0" smtClean="0">
                <a:latin typeface="Helvetica" pitchFamily="34" charset="0"/>
              </a:rPr>
              <a:t>City Guide</a:t>
            </a:r>
          </a:p>
          <a:p>
            <a:pPr marL="360000" indent="-360000">
              <a:spcBef>
                <a:spcPts val="600"/>
              </a:spcBef>
              <a:spcAft>
                <a:spcPts val="1200"/>
              </a:spcAft>
            </a:pPr>
            <a:r>
              <a:rPr lang="en-US" sz="2000" dirty="0" smtClean="0">
                <a:latin typeface="Helvetica" pitchFamily="34" charset="0"/>
              </a:rPr>
              <a:t>Government Guide</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43878" y="1988840"/>
            <a:ext cx="3238678" cy="2160000"/>
          </a:xfrm>
          <a:prstGeom prst="rect">
            <a:avLst/>
          </a:prstGeom>
          <a:ln>
            <a:noFill/>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List and differentiate between types of tour guides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sz="2000" dirty="0" smtClean="0">
                <a:latin typeface="Helvetica" pitchFamily="34" charset="0"/>
              </a:rPr>
              <a:t>Specialised Guide</a:t>
            </a:r>
          </a:p>
          <a:p>
            <a:pPr marL="360000" indent="-360000">
              <a:spcBef>
                <a:spcPts val="600"/>
              </a:spcBef>
              <a:spcAft>
                <a:spcPts val="1200"/>
              </a:spcAft>
            </a:pPr>
            <a:r>
              <a:rPr lang="en-US" sz="2000" dirty="0" smtClean="0">
                <a:latin typeface="Helvetica" pitchFamily="34" charset="0"/>
              </a:rPr>
              <a:t>Independent Guide</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572000" y="2505797"/>
            <a:ext cx="2040000" cy="3060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List and differentiate between types of tour guides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360000" indent="-360000">
              <a:spcBef>
                <a:spcPts val="600"/>
              </a:spcBef>
              <a:spcAft>
                <a:spcPts val="1200"/>
              </a:spcAft>
            </a:pPr>
            <a:r>
              <a:rPr lang="en-US" sz="2000" dirty="0" smtClean="0">
                <a:latin typeface="Helvetica" pitchFamily="34" charset="0"/>
              </a:rPr>
              <a:t>Business and industry Guides</a:t>
            </a:r>
          </a:p>
          <a:p>
            <a:pPr marL="360000" indent="-360000">
              <a:spcBef>
                <a:spcPts val="600"/>
              </a:spcBef>
              <a:spcAft>
                <a:spcPts val="1200"/>
              </a:spcAft>
            </a:pPr>
            <a:r>
              <a:rPr lang="en-US" sz="2000" dirty="0" smtClean="0">
                <a:latin typeface="Helvetica" pitchFamily="34" charset="0"/>
              </a:rPr>
              <a:t>Duration-based Guides</a:t>
            </a:r>
          </a:p>
          <a:p>
            <a:pPr marL="360000" indent="-360000">
              <a:spcBef>
                <a:spcPts val="600"/>
              </a:spcBef>
              <a:spcAft>
                <a:spcPts val="1200"/>
              </a:spcAft>
            </a:pPr>
            <a:r>
              <a:rPr lang="en-US" sz="2000" dirty="0" smtClean="0">
                <a:latin typeface="Helvetica" pitchFamily="34" charset="0"/>
              </a:rPr>
              <a:t>Driver Guides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13400" y="1988840"/>
            <a:ext cx="3240000" cy="2160000"/>
          </a:xfrm>
          <a:prstGeom prst="rect">
            <a:avLst/>
          </a:prstGeom>
          <a:ln>
            <a:noFill/>
          </a:ln>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and differentiate between groups a Tour Guide may lead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All inclusive tour:</a:t>
            </a:r>
          </a:p>
          <a:p>
            <a:pPr marL="360000" indent="-360000">
              <a:spcBef>
                <a:spcPts val="600"/>
              </a:spcBef>
              <a:spcAft>
                <a:spcPts val="1200"/>
              </a:spcAft>
            </a:pPr>
            <a:r>
              <a:rPr lang="en-US" sz="2200" dirty="0" smtClean="0">
                <a:latin typeface="Helvetica" pitchFamily="34" charset="0"/>
              </a:rPr>
              <a:t>Covers all ‘inclusions’</a:t>
            </a:r>
          </a:p>
          <a:p>
            <a:pPr marL="360000" indent="-360000">
              <a:spcBef>
                <a:spcPts val="600"/>
              </a:spcBef>
              <a:spcAft>
                <a:spcPts val="1200"/>
              </a:spcAft>
            </a:pPr>
            <a:r>
              <a:rPr lang="en-US" sz="2200" dirty="0" smtClean="0">
                <a:latin typeface="Helvetica" pitchFamily="34" charset="0"/>
              </a:rPr>
              <a:t>Types/form of inclusion will depend on Tour Operator and type of trip/destinations</a:t>
            </a:r>
          </a:p>
          <a:p>
            <a:pPr marL="360000" indent="-360000">
              <a:spcBef>
                <a:spcPts val="600"/>
              </a:spcBef>
              <a:spcAft>
                <a:spcPts val="1200"/>
              </a:spcAft>
            </a:pPr>
            <a:r>
              <a:rPr lang="en-US" sz="2200" dirty="0" smtClean="0">
                <a:latin typeface="Helvetica" pitchFamily="34" charset="0"/>
              </a:rPr>
              <a:t>Inclusions commonly include: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Tickets/fares/travel</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Meals and accommodation</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Transfers and tips</a:t>
            </a:r>
          </a:p>
          <a:p>
            <a:pPr marL="720000" indent="-360000">
              <a:spcBef>
                <a:spcPts val="600"/>
              </a:spcBef>
              <a:spcAft>
                <a:spcPts val="1200"/>
              </a:spcAft>
              <a:buClr>
                <a:schemeClr val="accent1">
                  <a:lumMod val="75000"/>
                </a:schemeClr>
              </a:buClr>
              <a:buSzPct val="100000"/>
              <a:buFont typeface="Arial" pitchFamily="34" charset="0"/>
              <a:buChar char="•"/>
            </a:pPr>
            <a:endParaRPr lang="en-US" sz="2200" dirty="0" smtClean="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16918" y="1988840"/>
            <a:ext cx="3236482" cy="2160000"/>
          </a:xfrm>
          <a:prstGeom prst="rect">
            <a:avLst/>
          </a:prstGeom>
          <a:ln>
            <a:noFill/>
          </a:ln>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and differentiate between groups a Tour Guide may lead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Escorted tour:</a:t>
            </a:r>
          </a:p>
          <a:p>
            <a:pPr marL="360000" indent="-360000">
              <a:spcBef>
                <a:spcPts val="600"/>
              </a:spcBef>
              <a:spcAft>
                <a:spcPts val="1200"/>
              </a:spcAft>
            </a:pPr>
            <a:r>
              <a:rPr lang="en-US" sz="2000" dirty="0" smtClean="0">
                <a:latin typeface="Helvetica" pitchFamily="34" charset="0"/>
              </a:rPr>
              <a:t>Led by a Tour Guide, Tour Director or Tour Leader</a:t>
            </a:r>
          </a:p>
          <a:p>
            <a:pPr marL="360000" indent="-360000">
              <a:spcBef>
                <a:spcPts val="600"/>
              </a:spcBef>
              <a:spcAft>
                <a:spcPts val="1200"/>
              </a:spcAft>
            </a:pPr>
            <a:r>
              <a:rPr lang="en-US" sz="2000" dirty="0" smtClean="0">
                <a:latin typeface="Helvetica" pitchFamily="34" charset="0"/>
              </a:rPr>
              <a:t>Favoured by many as they feel safer in a group</a:t>
            </a:r>
          </a:p>
          <a:p>
            <a:pPr marL="360000" indent="-360000">
              <a:spcBef>
                <a:spcPts val="600"/>
              </a:spcBef>
              <a:spcAft>
                <a:spcPts val="1200"/>
              </a:spcAft>
            </a:pPr>
            <a:r>
              <a:rPr lang="en-US" sz="2000" dirty="0" smtClean="0">
                <a:latin typeface="Helvetica" pitchFamily="34" charset="0"/>
              </a:rPr>
              <a:t>Tour Guide/Leader provides a wide variety of support services to all tour group members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15158" y="1988840"/>
            <a:ext cx="3261229" cy="2160000"/>
          </a:xfrm>
          <a:prstGeom prst="rect">
            <a:avLst/>
          </a:prstGeom>
          <a:ln>
            <a:noFill/>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and differentiate between groups a Tour Guide may lead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0" indent="0">
              <a:spcBef>
                <a:spcPts val="600"/>
              </a:spcBef>
              <a:spcAft>
                <a:spcPts val="1200"/>
              </a:spcAft>
              <a:buNone/>
            </a:pPr>
            <a:r>
              <a:rPr lang="en-US" sz="2000" dirty="0" smtClean="0">
                <a:latin typeface="Helvetica" pitchFamily="34" charset="0"/>
              </a:rPr>
              <a:t>Full independent tour:</a:t>
            </a:r>
          </a:p>
          <a:p>
            <a:pPr marL="360000" indent="-360000">
              <a:spcBef>
                <a:spcPts val="600"/>
              </a:spcBef>
              <a:spcAft>
                <a:spcPts val="1200"/>
              </a:spcAft>
            </a:pPr>
            <a:r>
              <a:rPr lang="en-US" sz="2000" dirty="0" smtClean="0">
                <a:latin typeface="Helvetica" pitchFamily="34" charset="0"/>
              </a:rPr>
              <a:t>Tourist purchases package/deal</a:t>
            </a:r>
          </a:p>
          <a:p>
            <a:pPr marL="360000" indent="-360000">
              <a:spcBef>
                <a:spcPts val="600"/>
              </a:spcBef>
              <a:spcAft>
                <a:spcPts val="1200"/>
              </a:spcAft>
            </a:pPr>
            <a:r>
              <a:rPr lang="en-US" sz="2000" dirty="0" smtClean="0">
                <a:latin typeface="Helvetica" pitchFamily="34" charset="0"/>
              </a:rPr>
              <a:t>Trip/tour is undertaken without a Tour Guide</a:t>
            </a:r>
          </a:p>
          <a:p>
            <a:pPr marL="360000" indent="-360000">
              <a:spcBef>
                <a:spcPts val="600"/>
              </a:spcBef>
              <a:spcAft>
                <a:spcPts val="1200"/>
              </a:spcAft>
            </a:pPr>
            <a:r>
              <a:rPr lang="en-US" sz="2000" dirty="0" smtClean="0">
                <a:latin typeface="Helvetica" pitchFamily="34" charset="0"/>
              </a:rPr>
              <a:t>Gives tourist more flexibility and freedom to ‘do their own thing’</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27345" y="1988840"/>
            <a:ext cx="3240000" cy="2160000"/>
          </a:xfrm>
          <a:prstGeom prst="rect">
            <a:avLst/>
          </a:prstGeom>
          <a:ln>
            <a:noFill/>
          </a:ln>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and differentiate between groups a Tour Guide may lead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Group inclusive tour:</a:t>
            </a:r>
          </a:p>
          <a:p>
            <a:pPr marL="360000" indent="-360000">
              <a:spcBef>
                <a:spcPts val="600"/>
              </a:spcBef>
              <a:spcAft>
                <a:spcPts val="1200"/>
              </a:spcAft>
            </a:pPr>
            <a:r>
              <a:rPr lang="en-US" sz="2000" dirty="0" smtClean="0">
                <a:latin typeface="Helvetica" pitchFamily="34" charset="0"/>
              </a:rPr>
              <a:t>Arranged for/bought by a group</a:t>
            </a:r>
          </a:p>
          <a:p>
            <a:pPr marL="360000" indent="-360000">
              <a:spcBef>
                <a:spcPts val="600"/>
              </a:spcBef>
              <a:spcAft>
                <a:spcPts val="1200"/>
              </a:spcAft>
            </a:pPr>
            <a:r>
              <a:rPr lang="en-US" sz="2000" dirty="0" smtClean="0">
                <a:latin typeface="Helvetica" pitchFamily="34" charset="0"/>
              </a:rPr>
              <a:t>Includes nominated inclusions</a:t>
            </a:r>
          </a:p>
          <a:p>
            <a:pPr marL="360000" indent="-360000">
              <a:spcBef>
                <a:spcPts val="600"/>
              </a:spcBef>
              <a:spcAft>
                <a:spcPts val="1200"/>
              </a:spcAft>
            </a:pPr>
            <a:r>
              <a:rPr lang="en-US" sz="2000" dirty="0" smtClean="0">
                <a:latin typeface="Helvetica" pitchFamily="34" charset="0"/>
              </a:rPr>
              <a:t>Attractive to groups because they are always ‘cost effective’ for them</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13400" y="1988840"/>
            <a:ext cx="3240000" cy="2160000"/>
          </a:xfrm>
          <a:prstGeom prst="rect">
            <a:avLst/>
          </a:prstGeom>
          <a:ln>
            <a:noFill/>
          </a:ln>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and differentiate between groups a Tour Guide may lead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Itinerary:</a:t>
            </a:r>
          </a:p>
          <a:p>
            <a:pPr marL="360000" indent="-360000">
              <a:spcBef>
                <a:spcPts val="600"/>
              </a:spcBef>
              <a:spcAft>
                <a:spcPts val="1200"/>
              </a:spcAft>
            </a:pPr>
            <a:r>
              <a:rPr lang="en-US" sz="2200" dirty="0" smtClean="0">
                <a:latin typeface="Helvetica" pitchFamily="34" charset="0"/>
              </a:rPr>
              <a:t>Plan/schedule for a tour or trip identifying times, dates, destinations, travel and other relevant information of importance and interest to tourists</a:t>
            </a:r>
          </a:p>
          <a:p>
            <a:pPr marL="360000" indent="-360000">
              <a:spcBef>
                <a:spcPts val="600"/>
              </a:spcBef>
              <a:spcAft>
                <a:spcPts val="1200"/>
              </a:spcAft>
            </a:pPr>
            <a:r>
              <a:rPr lang="en-US" sz="2200" dirty="0" smtClean="0">
                <a:latin typeface="Helvetica" pitchFamily="34" charset="0"/>
              </a:rPr>
              <a:t>Developed for every tour</a:t>
            </a:r>
          </a:p>
          <a:p>
            <a:pPr marL="360000" indent="-360000">
              <a:spcBef>
                <a:spcPts val="600"/>
              </a:spcBef>
              <a:spcAft>
                <a:spcPts val="1200"/>
              </a:spcAft>
            </a:pPr>
            <a:r>
              <a:rPr lang="en-US" sz="2200" dirty="0" smtClean="0">
                <a:latin typeface="Helvetica" pitchFamily="34" charset="0"/>
              </a:rPr>
              <a:t>Used to promote the tour and provided to customers when they buy a ticket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13723" y="1988840"/>
            <a:ext cx="3239677" cy="2160000"/>
          </a:xfrm>
          <a:prstGeom prst="rect">
            <a:avLst/>
          </a:prstGeom>
          <a:ln>
            <a:noFill/>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and differentiate between groups a Tour Guide may lead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Seat in Coach:</a:t>
            </a:r>
          </a:p>
          <a:p>
            <a:pPr marL="360000" indent="-360000">
              <a:spcBef>
                <a:spcPts val="600"/>
              </a:spcBef>
              <a:spcAft>
                <a:spcPts val="1200"/>
              </a:spcAft>
            </a:pPr>
            <a:r>
              <a:rPr lang="en-US" sz="2000" dirty="0" smtClean="0">
                <a:latin typeface="Helvetica" pitchFamily="34" charset="0"/>
              </a:rPr>
              <a:t>Also called ‘Seat in Vehicle’</a:t>
            </a:r>
          </a:p>
          <a:p>
            <a:pPr marL="360000" indent="-360000">
              <a:spcBef>
                <a:spcPts val="600"/>
              </a:spcBef>
              <a:spcAft>
                <a:spcPts val="1200"/>
              </a:spcAft>
            </a:pPr>
            <a:r>
              <a:rPr lang="en-US" sz="2000" dirty="0" smtClean="0">
                <a:latin typeface="Helvetica" pitchFamily="34" charset="0"/>
              </a:rPr>
              <a:t>Shows customer has purchased a ticket on the transportation and guarantees them a seat</a:t>
            </a:r>
          </a:p>
          <a:p>
            <a:pPr marL="360000" indent="-360000">
              <a:spcBef>
                <a:spcPts val="600"/>
              </a:spcBef>
              <a:spcAft>
                <a:spcPts val="1200"/>
              </a:spcAft>
            </a:pPr>
            <a:r>
              <a:rPr lang="en-US" sz="2000" dirty="0" smtClean="0">
                <a:latin typeface="Helvetica" pitchFamily="34" charset="0"/>
              </a:rPr>
              <a:t>Actual seats may or may not be allocated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15158" y="1988840"/>
            <a:ext cx="3261229" cy="2160000"/>
          </a:xfrm>
          <a:prstGeom prst="rect">
            <a:avLst/>
          </a:prstGeom>
          <a:ln>
            <a:noFill/>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and differentiate between groups a Tour Guide may lead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888432" cy="4093915"/>
          </a:xfrm>
        </p:spPr>
        <p:txBody>
          <a:bodyPr>
            <a:normAutofit/>
          </a:bodyPr>
          <a:lstStyle/>
          <a:p>
            <a:pPr marL="0" indent="0">
              <a:spcBef>
                <a:spcPts val="600"/>
              </a:spcBef>
              <a:spcAft>
                <a:spcPts val="1200"/>
              </a:spcAft>
              <a:buNone/>
            </a:pPr>
            <a:r>
              <a:rPr lang="en-US" sz="2200" dirty="0" smtClean="0">
                <a:latin typeface="Helvetica" pitchFamily="34" charset="0"/>
              </a:rPr>
              <a:t>Tour Guides may lead:</a:t>
            </a:r>
          </a:p>
          <a:p>
            <a:pPr marL="360000" indent="-360000">
              <a:spcBef>
                <a:spcPts val="600"/>
              </a:spcBef>
              <a:spcAft>
                <a:spcPts val="1200"/>
              </a:spcAft>
            </a:pPr>
            <a:r>
              <a:rPr lang="en-US" sz="2200" dirty="0" smtClean="0">
                <a:latin typeface="Helvetica" pitchFamily="34" charset="0"/>
              </a:rPr>
              <a:t>Domestic tour parties</a:t>
            </a:r>
          </a:p>
          <a:p>
            <a:pPr marL="360000" indent="-360000">
              <a:spcBef>
                <a:spcPts val="600"/>
              </a:spcBef>
              <a:spcAft>
                <a:spcPts val="1200"/>
              </a:spcAft>
            </a:pPr>
            <a:r>
              <a:rPr lang="en-US" sz="2200" dirty="0" smtClean="0">
                <a:latin typeface="Helvetica" pitchFamily="34" charset="0"/>
              </a:rPr>
              <a:t>International groups/tours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22</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345360" y="1844824"/>
            <a:ext cx="2858550" cy="3060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and differentiate between groups a Tour Guide may lead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Tour groups may include/comprise:</a:t>
            </a:r>
          </a:p>
          <a:p>
            <a:pPr marL="360000" indent="-360000">
              <a:spcBef>
                <a:spcPts val="600"/>
              </a:spcBef>
              <a:spcAft>
                <a:spcPts val="1200"/>
              </a:spcAft>
            </a:pPr>
            <a:r>
              <a:rPr lang="en-US" sz="2000" dirty="0" smtClean="0">
                <a:latin typeface="Helvetica" pitchFamily="34" charset="0"/>
              </a:rPr>
              <a:t>Package groups</a:t>
            </a:r>
          </a:p>
          <a:p>
            <a:pPr marL="360000" indent="-360000">
              <a:spcBef>
                <a:spcPts val="600"/>
              </a:spcBef>
              <a:spcAft>
                <a:spcPts val="1200"/>
              </a:spcAft>
            </a:pPr>
            <a:r>
              <a:rPr lang="en-US" sz="2000" dirty="0" smtClean="0">
                <a:latin typeface="Helvetica" pitchFamily="34" charset="0"/>
              </a:rPr>
              <a:t>Public tour groups</a:t>
            </a:r>
          </a:p>
          <a:p>
            <a:pPr marL="360000" indent="-360000">
              <a:spcBef>
                <a:spcPts val="600"/>
              </a:spcBef>
              <a:spcAft>
                <a:spcPts val="1200"/>
              </a:spcAft>
            </a:pPr>
            <a:r>
              <a:rPr lang="en-US" sz="2000" dirty="0" smtClean="0">
                <a:latin typeface="Helvetica" pitchFamily="34" charset="0"/>
              </a:rPr>
              <a:t>Students</a:t>
            </a:r>
          </a:p>
          <a:p>
            <a:pPr marL="360000" indent="-360000">
              <a:spcBef>
                <a:spcPts val="600"/>
              </a:spcBef>
              <a:spcAft>
                <a:spcPts val="1200"/>
              </a:spcAft>
            </a:pPr>
            <a:r>
              <a:rPr lang="en-US" sz="2000" dirty="0" smtClean="0">
                <a:latin typeface="Helvetica" pitchFamily="34" charset="0"/>
              </a:rPr>
              <a:t>Families and friends</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23</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716016" y="1844824"/>
            <a:ext cx="2612475" cy="3060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and differentiate between groups a Tour Guide may lead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sz="2000" dirty="0" smtClean="0">
                <a:latin typeface="Helvetica" pitchFamily="34" charset="0"/>
              </a:rPr>
              <a:t>Clubs and associations</a:t>
            </a:r>
          </a:p>
          <a:p>
            <a:pPr marL="360000" indent="-360000">
              <a:spcBef>
                <a:spcPts val="600"/>
              </a:spcBef>
              <a:spcAft>
                <a:spcPts val="1200"/>
              </a:spcAft>
            </a:pPr>
            <a:r>
              <a:rPr lang="en-US" sz="2000" dirty="0" smtClean="0">
                <a:latin typeface="Helvetica" pitchFamily="34" charset="0"/>
              </a:rPr>
              <a:t>Senior citizens</a:t>
            </a:r>
          </a:p>
          <a:p>
            <a:pPr marL="360000" indent="-360000">
              <a:spcBef>
                <a:spcPts val="600"/>
              </a:spcBef>
              <a:spcAft>
                <a:spcPts val="1200"/>
              </a:spcAft>
            </a:pPr>
            <a:r>
              <a:rPr lang="en-US" sz="2000" dirty="0" smtClean="0">
                <a:latin typeface="Helvetica" pitchFamily="34" charset="0"/>
              </a:rPr>
              <a:t>Special interest groups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24</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220072" y="1844824"/>
            <a:ext cx="1993371" cy="3060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Describe the interpretive approach to tour guiding </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The interpretive approach comes from Latin word ‘</a:t>
            </a:r>
            <a:r>
              <a:rPr lang="en-US" sz="2000" i="1" dirty="0" smtClean="0">
                <a:latin typeface="Helvetica" pitchFamily="34" charset="0"/>
              </a:rPr>
              <a:t>interpretari</a:t>
            </a:r>
            <a:r>
              <a:rPr lang="en-US" sz="2000" dirty="0" smtClean="0">
                <a:latin typeface="Helvetica" pitchFamily="34" charset="0"/>
              </a:rPr>
              <a:t>’ meaning:</a:t>
            </a:r>
          </a:p>
          <a:p>
            <a:pPr marL="360000" indent="-360000">
              <a:spcBef>
                <a:spcPts val="600"/>
              </a:spcBef>
              <a:spcAft>
                <a:spcPts val="1200"/>
              </a:spcAft>
            </a:pPr>
            <a:r>
              <a:rPr lang="en-US" sz="2000" dirty="0" smtClean="0">
                <a:latin typeface="Helvetica" pitchFamily="34" charset="0"/>
              </a:rPr>
              <a:t>To explain</a:t>
            </a:r>
          </a:p>
          <a:p>
            <a:pPr marL="360000" indent="-360000">
              <a:spcBef>
                <a:spcPts val="600"/>
              </a:spcBef>
              <a:spcAft>
                <a:spcPts val="1200"/>
              </a:spcAft>
            </a:pPr>
            <a:r>
              <a:rPr lang="en-US" sz="2000" dirty="0" smtClean="0">
                <a:latin typeface="Helvetica" pitchFamily="34" charset="0"/>
              </a:rPr>
              <a:t>To translate</a:t>
            </a:r>
          </a:p>
          <a:p>
            <a:pPr marL="360000" indent="-360000">
              <a:spcBef>
                <a:spcPts val="600"/>
              </a:spcBef>
              <a:spcAft>
                <a:spcPts val="1200"/>
              </a:spcAft>
            </a:pPr>
            <a:r>
              <a:rPr lang="en-US" sz="2000" dirty="0" smtClean="0">
                <a:latin typeface="Helvetica" pitchFamily="34" charset="0"/>
              </a:rPr>
              <a:t>To interpret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25</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148064" y="2019282"/>
            <a:ext cx="2200596" cy="3060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Describe the interpretive approach to tour guiding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a:bodyPr>
          <a:lstStyle/>
          <a:p>
            <a:pPr marL="0" indent="0">
              <a:spcBef>
                <a:spcPts val="600"/>
              </a:spcBef>
              <a:spcAft>
                <a:spcPts val="1200"/>
              </a:spcAft>
              <a:buNone/>
            </a:pPr>
            <a:r>
              <a:rPr lang="en-US" sz="2200" dirty="0" smtClean="0">
                <a:latin typeface="Helvetica" pitchFamily="34" charset="0"/>
              </a:rPr>
              <a:t>Primary aims of the interpretive approach:</a:t>
            </a:r>
          </a:p>
          <a:p>
            <a:pPr marL="360000" indent="-360000">
              <a:spcBef>
                <a:spcPts val="600"/>
              </a:spcBef>
              <a:spcAft>
                <a:spcPts val="1200"/>
              </a:spcAft>
            </a:pPr>
            <a:r>
              <a:rPr lang="en-US" sz="2200" dirty="0" smtClean="0">
                <a:latin typeface="Helvetica" pitchFamily="34" charset="0"/>
              </a:rPr>
              <a:t>Inform and educate</a:t>
            </a:r>
          </a:p>
          <a:p>
            <a:pPr marL="360000" indent="-360000">
              <a:spcBef>
                <a:spcPts val="600"/>
              </a:spcBef>
              <a:spcAft>
                <a:spcPts val="1200"/>
              </a:spcAft>
            </a:pPr>
            <a:r>
              <a:rPr lang="en-US" sz="2200" dirty="0" smtClean="0">
                <a:latin typeface="Helvetica" pitchFamily="34" charset="0"/>
              </a:rPr>
              <a:t>Enrich the experience</a:t>
            </a:r>
          </a:p>
          <a:p>
            <a:pPr marL="360000" indent="-360000">
              <a:spcBef>
                <a:spcPts val="600"/>
              </a:spcBef>
              <a:spcAft>
                <a:spcPts val="1200"/>
              </a:spcAft>
            </a:pPr>
            <a:r>
              <a:rPr lang="en-US" sz="2200" dirty="0" smtClean="0">
                <a:latin typeface="Helvetica" pitchFamily="34" charset="0"/>
              </a:rPr>
              <a:t>Engage tour group members</a:t>
            </a:r>
          </a:p>
          <a:p>
            <a:pPr marL="360000" indent="-360000">
              <a:spcBef>
                <a:spcPts val="600"/>
              </a:spcBef>
              <a:spcAft>
                <a:spcPts val="1200"/>
              </a:spcAft>
            </a:pPr>
            <a:r>
              <a:rPr lang="en-US" sz="2200" dirty="0" smtClean="0">
                <a:latin typeface="Helvetica" pitchFamily="34" charset="0"/>
              </a:rPr>
              <a:t>Communicate emotion and feelings as well as fact</a:t>
            </a:r>
          </a:p>
          <a:p>
            <a:pPr marL="360000" indent="-360000">
              <a:spcBef>
                <a:spcPts val="600"/>
              </a:spcBef>
              <a:spcAft>
                <a:spcPts val="1200"/>
              </a:spcAft>
            </a:pPr>
            <a:r>
              <a:rPr lang="en-US" sz="2200" dirty="0" smtClean="0">
                <a:latin typeface="Helvetica" pitchFamily="34" charset="0"/>
              </a:rPr>
              <a:t>Provide insight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26</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292080" y="2132856"/>
            <a:ext cx="2211182" cy="3060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Describe the interpretive approach to tour guiding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a:bodyPr>
          <a:lstStyle/>
          <a:p>
            <a:pPr marL="0" indent="0">
              <a:spcBef>
                <a:spcPts val="600"/>
              </a:spcBef>
              <a:spcAft>
                <a:spcPts val="1200"/>
              </a:spcAft>
              <a:buNone/>
            </a:pPr>
            <a:r>
              <a:rPr lang="en-US" sz="2200" dirty="0" smtClean="0">
                <a:latin typeface="Helvetica" pitchFamily="34" charset="0"/>
              </a:rPr>
              <a:t>Elements of the interpretive approach:</a:t>
            </a:r>
          </a:p>
          <a:p>
            <a:pPr marL="360000" indent="-360000">
              <a:spcBef>
                <a:spcPts val="600"/>
              </a:spcBef>
              <a:spcAft>
                <a:spcPts val="1200"/>
              </a:spcAft>
            </a:pPr>
            <a:r>
              <a:rPr lang="en-US" sz="2200" dirty="0" smtClean="0">
                <a:latin typeface="Helvetica" pitchFamily="34" charset="0"/>
              </a:rPr>
              <a:t>Engaging participants</a:t>
            </a:r>
          </a:p>
          <a:p>
            <a:pPr marL="360000" indent="-360000">
              <a:spcBef>
                <a:spcPts val="600"/>
              </a:spcBef>
              <a:spcAft>
                <a:spcPts val="1200"/>
              </a:spcAft>
            </a:pPr>
            <a:r>
              <a:rPr lang="en-US" sz="2200" dirty="0" smtClean="0">
                <a:latin typeface="Helvetica" pitchFamily="34" charset="0"/>
              </a:rPr>
              <a:t>Providing verbal commentary</a:t>
            </a:r>
          </a:p>
          <a:p>
            <a:pPr marL="360000" indent="-360000">
              <a:spcBef>
                <a:spcPts val="600"/>
              </a:spcBef>
              <a:spcAft>
                <a:spcPts val="1200"/>
              </a:spcAft>
            </a:pPr>
            <a:r>
              <a:rPr lang="en-AU" sz="2200" dirty="0" smtClean="0">
                <a:latin typeface="Helvetica" pitchFamily="34" charset="0"/>
              </a:rPr>
              <a:t>Identifying, explaining and attributing local, cultural and contextual meaning</a:t>
            </a:r>
          </a:p>
          <a:p>
            <a:pPr marL="360000" indent="-360000">
              <a:spcBef>
                <a:spcPts val="600"/>
              </a:spcBef>
              <a:spcAft>
                <a:spcPts val="1200"/>
              </a:spcAft>
            </a:pPr>
            <a:r>
              <a:rPr lang="en-AU" sz="2200" dirty="0" smtClean="0">
                <a:latin typeface="Helvetica" pitchFamily="34" charset="0"/>
              </a:rPr>
              <a:t>Facilitating learning</a:t>
            </a:r>
          </a:p>
          <a:p>
            <a:pPr marL="360000" indent="-360000">
              <a:spcBef>
                <a:spcPts val="600"/>
              </a:spcBef>
              <a:spcAft>
                <a:spcPts val="1200"/>
              </a:spcAft>
              <a:buNone/>
            </a:pPr>
            <a:r>
              <a:rPr lang="en-US" sz="15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13400" y="1988840"/>
            <a:ext cx="3240000" cy="2160000"/>
          </a:xfrm>
          <a:prstGeom prst="rect">
            <a:avLst/>
          </a:prstGeom>
          <a:ln>
            <a:noFill/>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Describe the interpretive approach to tour guiding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360000" indent="-360000">
              <a:spcBef>
                <a:spcPts val="600"/>
              </a:spcBef>
              <a:spcAft>
                <a:spcPts val="1200"/>
              </a:spcAft>
            </a:pPr>
            <a:r>
              <a:rPr lang="en-US" sz="2000" dirty="0" smtClean="0">
                <a:latin typeface="Helvetica" pitchFamily="34" charset="0"/>
              </a:rPr>
              <a:t>Contextualising the tour</a:t>
            </a:r>
          </a:p>
          <a:p>
            <a:pPr marL="360000" indent="-360000">
              <a:spcBef>
                <a:spcPts val="600"/>
              </a:spcBef>
              <a:spcAft>
                <a:spcPts val="1200"/>
              </a:spcAft>
            </a:pPr>
            <a:r>
              <a:rPr lang="en-AU" sz="2000" dirty="0" smtClean="0">
                <a:latin typeface="Helvetica" pitchFamily="34" charset="0"/>
              </a:rPr>
              <a:t>Generating and demonstrating respect and appreciation as appropriate to the tour</a:t>
            </a:r>
          </a:p>
          <a:p>
            <a:pPr marL="360000" indent="-360000">
              <a:spcBef>
                <a:spcPts val="600"/>
              </a:spcBef>
              <a:spcAft>
                <a:spcPts val="1200"/>
              </a:spcAft>
            </a:pPr>
            <a:r>
              <a:rPr lang="en-US" sz="2000" dirty="0" smtClean="0">
                <a:latin typeface="Helvetica" pitchFamily="34" charset="0"/>
              </a:rPr>
              <a:t>Being proactive</a:t>
            </a:r>
          </a:p>
          <a:p>
            <a:pPr marL="360000" indent="-360000">
              <a:spcBef>
                <a:spcPts val="600"/>
              </a:spcBef>
              <a:spcAft>
                <a:spcPts val="1200"/>
              </a:spcAft>
            </a:pPr>
            <a:r>
              <a:rPr lang="en-US" sz="2000" dirty="0" smtClean="0">
                <a:latin typeface="Helvetica" pitchFamily="34" charset="0"/>
              </a:rPr>
              <a:t>Bringing the tour ‘to life’</a:t>
            </a:r>
          </a:p>
          <a:p>
            <a:pPr marL="360000" indent="-360000">
              <a:spcBef>
                <a:spcPts val="600"/>
              </a:spcBef>
              <a:spcAft>
                <a:spcPts val="1200"/>
              </a:spcAft>
            </a:pPr>
            <a:r>
              <a:rPr lang="en-US" sz="2000" dirty="0" smtClean="0">
                <a:latin typeface="Helvetica" pitchFamily="34" charset="0"/>
              </a:rPr>
              <a:t>Building relationships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076056" y="1941490"/>
            <a:ext cx="2094876" cy="3060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tour types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0" indent="0">
              <a:spcBef>
                <a:spcPts val="600"/>
              </a:spcBef>
              <a:spcAft>
                <a:spcPts val="1200"/>
              </a:spcAft>
              <a:buNone/>
            </a:pPr>
            <a:r>
              <a:rPr lang="en-US" sz="2000" dirty="0" smtClean="0">
                <a:latin typeface="Helvetica" pitchFamily="34" charset="0"/>
              </a:rPr>
              <a:t>Tours may also be classified as:</a:t>
            </a:r>
          </a:p>
          <a:p>
            <a:pPr marL="360000" indent="-360000">
              <a:spcBef>
                <a:spcPts val="600"/>
              </a:spcBef>
              <a:spcAft>
                <a:spcPts val="1200"/>
              </a:spcAft>
            </a:pPr>
            <a:r>
              <a:rPr lang="en-US" sz="2000" dirty="0" smtClean="0">
                <a:latin typeface="Helvetica" pitchFamily="34" charset="0"/>
              </a:rPr>
              <a:t>Site-based tours</a:t>
            </a:r>
          </a:p>
          <a:p>
            <a:pPr marL="360000" indent="-360000">
              <a:spcBef>
                <a:spcPts val="600"/>
              </a:spcBef>
              <a:spcAft>
                <a:spcPts val="1200"/>
              </a:spcAft>
            </a:pPr>
            <a:r>
              <a:rPr lang="en-US" sz="2000" dirty="0" smtClean="0">
                <a:latin typeface="Helvetica" pitchFamily="34" charset="0"/>
              </a:rPr>
              <a:t>Special interest tours</a:t>
            </a:r>
          </a:p>
          <a:p>
            <a:pPr marL="360000" indent="-360000">
              <a:spcBef>
                <a:spcPts val="600"/>
              </a:spcBef>
              <a:spcAft>
                <a:spcPts val="1200"/>
              </a:spcAft>
            </a:pPr>
            <a:r>
              <a:rPr lang="en-US" sz="2000" dirty="0" smtClean="0">
                <a:latin typeface="Helvetica" pitchFamily="34" charset="0"/>
              </a:rPr>
              <a:t>Water-based tours</a:t>
            </a:r>
          </a:p>
          <a:p>
            <a:pPr marL="360000" indent="-360000">
              <a:spcBef>
                <a:spcPts val="600"/>
              </a:spcBef>
              <a:spcAft>
                <a:spcPts val="1200"/>
              </a:spcAft>
            </a:pPr>
            <a:r>
              <a:rPr lang="en-US" sz="2000" dirty="0" smtClean="0">
                <a:latin typeface="Helvetica" pitchFamily="34" charset="0"/>
              </a:rPr>
              <a:t>Land-based tours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29</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078288" y="2541801"/>
            <a:ext cx="2383474" cy="3060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tour types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Site-based tours may include:</a:t>
            </a:r>
          </a:p>
          <a:p>
            <a:pPr marL="360000" indent="-360000">
              <a:spcBef>
                <a:spcPts val="600"/>
              </a:spcBef>
              <a:spcAft>
                <a:spcPts val="1200"/>
              </a:spcAft>
            </a:pPr>
            <a:r>
              <a:rPr lang="en-AU" sz="2200" dirty="0" smtClean="0">
                <a:latin typeface="Helvetica" pitchFamily="34" charset="0"/>
              </a:rPr>
              <a:t>Museums, historic sites and galleries tours</a:t>
            </a:r>
            <a:endParaRPr lang="en-US"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Zoos, preserves and wildlife parks tours</a:t>
            </a:r>
          </a:p>
          <a:p>
            <a:pPr marL="360000" indent="-360000">
              <a:spcBef>
                <a:spcPts val="600"/>
              </a:spcBef>
              <a:spcAft>
                <a:spcPts val="1200"/>
              </a:spcAft>
            </a:pPr>
            <a:r>
              <a:rPr lang="en-AU" sz="2200" dirty="0" smtClean="0">
                <a:latin typeface="Helvetica" pitchFamily="34" charset="0"/>
              </a:rPr>
              <a:t>Tours of factories, businesses, production and processing plants</a:t>
            </a:r>
            <a:endParaRPr lang="en-US"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Tours of government and semi-government utilities</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30</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364088" y="1990919"/>
            <a:ext cx="2040000" cy="3060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tour types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Special interest tours may include:</a:t>
            </a:r>
          </a:p>
          <a:p>
            <a:pPr marL="360000" indent="-360000">
              <a:spcBef>
                <a:spcPts val="600"/>
              </a:spcBef>
              <a:spcAft>
                <a:spcPts val="1200"/>
              </a:spcAft>
            </a:pPr>
            <a:r>
              <a:rPr lang="en-US" sz="2200" dirty="0" smtClean="0">
                <a:latin typeface="Helvetica" pitchFamily="34" charset="0"/>
              </a:rPr>
              <a:t>Photography; wildlife; flora and fauna; aerial tours</a:t>
            </a:r>
          </a:p>
          <a:p>
            <a:pPr marL="360000" indent="-360000">
              <a:spcBef>
                <a:spcPts val="600"/>
              </a:spcBef>
              <a:spcAft>
                <a:spcPts val="1200"/>
              </a:spcAft>
            </a:pPr>
            <a:r>
              <a:rPr lang="en-US" sz="2200" dirty="0" smtClean="0">
                <a:latin typeface="Helvetica" pitchFamily="34" charset="0"/>
              </a:rPr>
              <a:t>Parks and gardens tours</a:t>
            </a:r>
          </a:p>
          <a:p>
            <a:pPr marL="360000" indent="-360000">
              <a:spcBef>
                <a:spcPts val="600"/>
              </a:spcBef>
              <a:spcAft>
                <a:spcPts val="1200"/>
              </a:spcAft>
            </a:pPr>
            <a:r>
              <a:rPr lang="en-US" sz="2200" dirty="0" smtClean="0">
                <a:latin typeface="Helvetica" pitchFamily="34" charset="0"/>
              </a:rPr>
              <a:t>Sport events</a:t>
            </a:r>
          </a:p>
          <a:p>
            <a:pPr marL="360000" indent="-360000">
              <a:spcBef>
                <a:spcPts val="600"/>
              </a:spcBef>
              <a:spcAft>
                <a:spcPts val="1200"/>
              </a:spcAft>
            </a:pPr>
            <a:r>
              <a:rPr lang="en-US" sz="2200" dirty="0" smtClean="0">
                <a:latin typeface="Helvetica" pitchFamily="34" charset="0"/>
              </a:rPr>
              <a:t>Wine and food tours</a:t>
            </a:r>
          </a:p>
          <a:p>
            <a:pPr marL="360000" indent="-360000">
              <a:spcBef>
                <a:spcPts val="600"/>
              </a:spcBef>
              <a:spcAft>
                <a:spcPts val="1200"/>
              </a:spcAft>
            </a:pPr>
            <a:r>
              <a:rPr lang="en-US" sz="2200" dirty="0" smtClean="0">
                <a:latin typeface="Helvetica" pitchFamily="34" charset="0"/>
              </a:rPr>
              <a:t>Specific region/area tours</a:t>
            </a:r>
          </a:p>
          <a:p>
            <a:pPr marL="360000" indent="-360000">
              <a:spcBef>
                <a:spcPts val="600"/>
              </a:spcBef>
              <a:spcAft>
                <a:spcPts val="1200"/>
              </a:spcAft>
            </a:pPr>
            <a:r>
              <a:rPr lang="en-US" sz="2200" dirty="0" smtClean="0">
                <a:latin typeface="Helvetica" pitchFamily="34" charset="0"/>
              </a:rPr>
              <a:t>Scientific and educational tours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31</a:t>
            </a:fld>
            <a:endParaRPr lang="en-US" dirty="0">
              <a:latin typeface="Helvetica" pitchFamily="34" charset="0"/>
            </a:endParaRPr>
          </a:p>
        </p:txBody>
      </p:sp>
      <p:pic>
        <p:nvPicPr>
          <p:cNvPr id="5" name="Picture 4"/>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5004048" y="1988840"/>
            <a:ext cx="2014109" cy="2160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tour types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Water-based tours can include:</a:t>
            </a:r>
          </a:p>
          <a:p>
            <a:pPr marL="360000" indent="-360000">
              <a:spcBef>
                <a:spcPts val="600"/>
              </a:spcBef>
              <a:spcAft>
                <a:spcPts val="1200"/>
              </a:spcAft>
            </a:pPr>
            <a:r>
              <a:rPr lang="en-US" sz="2000" dirty="0" smtClean="0">
                <a:latin typeface="Helvetica" pitchFamily="34" charset="0"/>
              </a:rPr>
              <a:t>Cruises</a:t>
            </a:r>
          </a:p>
          <a:p>
            <a:pPr marL="360000" indent="-360000">
              <a:spcBef>
                <a:spcPts val="600"/>
              </a:spcBef>
              <a:spcAft>
                <a:spcPts val="1200"/>
              </a:spcAft>
            </a:pPr>
            <a:r>
              <a:rPr lang="en-US" sz="2000" dirty="0" smtClean="0">
                <a:latin typeface="Helvetica" pitchFamily="34" charset="0"/>
              </a:rPr>
              <a:t>Boating and yachting trips</a:t>
            </a:r>
          </a:p>
          <a:p>
            <a:pPr marL="360000" indent="-360000">
              <a:spcBef>
                <a:spcPts val="600"/>
              </a:spcBef>
              <a:spcAft>
                <a:spcPts val="1200"/>
              </a:spcAft>
            </a:pPr>
            <a:r>
              <a:rPr lang="en-US" sz="2000" dirty="0" smtClean="0">
                <a:latin typeface="Helvetica" pitchFamily="34" charset="0"/>
              </a:rPr>
              <a:t>Snorkelling and scuba diving</a:t>
            </a:r>
          </a:p>
          <a:p>
            <a:pPr marL="360000" indent="-360000">
              <a:spcBef>
                <a:spcPts val="600"/>
              </a:spcBef>
              <a:spcAft>
                <a:spcPts val="1200"/>
              </a:spcAft>
            </a:pPr>
            <a:r>
              <a:rPr lang="en-US" sz="2000" dirty="0" smtClean="0">
                <a:latin typeface="Helvetica" pitchFamily="34" charset="0"/>
              </a:rPr>
              <a:t>Fishing trips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39160" y="1988840"/>
            <a:ext cx="3240000" cy="2160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tour types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a:bodyPr>
          <a:lstStyle/>
          <a:p>
            <a:pPr marL="0" indent="0">
              <a:spcBef>
                <a:spcPts val="600"/>
              </a:spcBef>
              <a:spcAft>
                <a:spcPts val="1200"/>
              </a:spcAft>
              <a:buNone/>
            </a:pPr>
            <a:r>
              <a:rPr lang="en-US" sz="2200" dirty="0" smtClean="0">
                <a:latin typeface="Helvetica" pitchFamily="34" charset="0"/>
              </a:rPr>
              <a:t>Land-based tours can include:</a:t>
            </a:r>
          </a:p>
          <a:p>
            <a:pPr marL="360000" indent="-360000">
              <a:spcBef>
                <a:spcPts val="600"/>
              </a:spcBef>
              <a:spcAft>
                <a:spcPts val="1200"/>
              </a:spcAft>
            </a:pPr>
            <a:r>
              <a:rPr lang="en-US" sz="2200" dirty="0" smtClean="0">
                <a:latin typeface="Helvetica" pitchFamily="34" charset="0"/>
              </a:rPr>
              <a:t>4WD tours and remote area tours</a:t>
            </a:r>
          </a:p>
          <a:p>
            <a:pPr marL="360000" indent="-360000">
              <a:spcBef>
                <a:spcPts val="600"/>
              </a:spcBef>
              <a:spcAft>
                <a:spcPts val="1200"/>
              </a:spcAft>
            </a:pPr>
            <a:r>
              <a:rPr lang="en-US" sz="2200" dirty="0" smtClean="0">
                <a:latin typeface="Helvetica" pitchFamily="34" charset="0"/>
              </a:rPr>
              <a:t>Rail tours, bus/coach tours and bike and motor bike tours</a:t>
            </a:r>
          </a:p>
          <a:p>
            <a:pPr marL="360000" indent="-360000">
              <a:spcBef>
                <a:spcPts val="600"/>
              </a:spcBef>
              <a:spcAft>
                <a:spcPts val="1200"/>
              </a:spcAft>
            </a:pPr>
            <a:r>
              <a:rPr lang="en-US" sz="2200" dirty="0" smtClean="0">
                <a:latin typeface="Helvetica" pitchFamily="34" charset="0"/>
              </a:rPr>
              <a:t>Walking tours</a:t>
            </a:r>
          </a:p>
          <a:p>
            <a:pPr marL="360000" indent="-360000">
              <a:spcBef>
                <a:spcPts val="600"/>
              </a:spcBef>
              <a:spcAft>
                <a:spcPts val="1200"/>
              </a:spcAft>
            </a:pPr>
            <a:r>
              <a:rPr lang="en-US" sz="2200" dirty="0" smtClean="0">
                <a:latin typeface="Helvetica" pitchFamily="34" charset="0"/>
              </a:rPr>
              <a:t>Horse and camel tours</a:t>
            </a:r>
          </a:p>
          <a:p>
            <a:pPr marL="360000" indent="-360000">
              <a:spcBef>
                <a:spcPts val="600"/>
              </a:spcBef>
              <a:spcAft>
                <a:spcPts val="1200"/>
              </a:spcAft>
            </a:pPr>
            <a:r>
              <a:rPr lang="en-US" sz="2200" dirty="0" smtClean="0">
                <a:latin typeface="Helvetica" pitchFamily="34" charset="0"/>
              </a:rPr>
              <a:t>Caravan and camper tours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33</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2080" y="1988840"/>
            <a:ext cx="1920000" cy="2880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List the characteristics of a tour guide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888432" cy="4093915"/>
          </a:xfrm>
        </p:spPr>
        <p:txBody>
          <a:bodyPr>
            <a:normAutofit/>
          </a:bodyPr>
          <a:lstStyle/>
          <a:p>
            <a:pPr marL="0" indent="0">
              <a:spcBef>
                <a:spcPts val="600"/>
              </a:spcBef>
              <a:spcAft>
                <a:spcPts val="1200"/>
              </a:spcAft>
              <a:buNone/>
            </a:pPr>
            <a:r>
              <a:rPr lang="en-US" sz="2000" dirty="0" smtClean="0">
                <a:latin typeface="Helvetica" pitchFamily="34" charset="0"/>
              </a:rPr>
              <a:t>Characteristics of an effective Tour Guide:</a:t>
            </a:r>
          </a:p>
          <a:p>
            <a:pPr marL="360000" indent="-360000">
              <a:spcBef>
                <a:spcPts val="600"/>
              </a:spcBef>
              <a:spcAft>
                <a:spcPts val="1200"/>
              </a:spcAft>
            </a:pPr>
            <a:r>
              <a:rPr lang="en-US" sz="2000" dirty="0" smtClean="0">
                <a:latin typeface="Helvetica" pitchFamily="34" charset="0"/>
              </a:rPr>
              <a:t>Honesty</a:t>
            </a:r>
          </a:p>
          <a:p>
            <a:pPr marL="360000" indent="-360000">
              <a:spcBef>
                <a:spcPts val="600"/>
              </a:spcBef>
              <a:spcAft>
                <a:spcPts val="1200"/>
              </a:spcAft>
            </a:pPr>
            <a:r>
              <a:rPr lang="en-US" sz="2000" dirty="0" smtClean="0">
                <a:latin typeface="Helvetica" pitchFamily="34" charset="0"/>
              </a:rPr>
              <a:t>Practicality</a:t>
            </a:r>
          </a:p>
          <a:p>
            <a:pPr marL="360000" indent="-360000">
              <a:spcBef>
                <a:spcPts val="600"/>
              </a:spcBef>
              <a:spcAft>
                <a:spcPts val="1200"/>
              </a:spcAft>
            </a:pPr>
            <a:r>
              <a:rPr lang="en-US" sz="2000" dirty="0" smtClean="0">
                <a:latin typeface="Helvetica" pitchFamily="34" charset="0"/>
              </a:rPr>
              <a:t>Friendliness</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34</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220072" y="1988840"/>
            <a:ext cx="2156635" cy="3060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List the characteristics of a tour guide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sz="2000" dirty="0" smtClean="0">
                <a:latin typeface="Helvetica" pitchFamily="34" charset="0"/>
              </a:rPr>
              <a:t>Willingness to serve</a:t>
            </a:r>
          </a:p>
          <a:p>
            <a:pPr marL="360000" indent="-360000">
              <a:spcBef>
                <a:spcPts val="600"/>
              </a:spcBef>
              <a:spcAft>
                <a:spcPts val="1200"/>
              </a:spcAft>
            </a:pPr>
            <a:r>
              <a:rPr lang="en-US" sz="2000" dirty="0" smtClean="0">
                <a:latin typeface="Helvetica" pitchFamily="34" charset="0"/>
              </a:rPr>
              <a:t>Local knowledge</a:t>
            </a:r>
          </a:p>
          <a:p>
            <a:pPr marL="360000" indent="-360000">
              <a:spcBef>
                <a:spcPts val="600"/>
              </a:spcBef>
              <a:spcAft>
                <a:spcPts val="1200"/>
              </a:spcAft>
            </a:pPr>
            <a:r>
              <a:rPr lang="en-US" sz="2000" dirty="0" smtClean="0">
                <a:latin typeface="Helvetica" pitchFamily="34" charset="0"/>
              </a:rPr>
              <a:t>Excellent appearance</a:t>
            </a:r>
          </a:p>
          <a:p>
            <a:pPr marL="360000" indent="-360000">
              <a:spcBef>
                <a:spcPts val="600"/>
              </a:spcBef>
              <a:spcAft>
                <a:spcPts val="1200"/>
              </a:spcAft>
            </a:pPr>
            <a:r>
              <a:rPr lang="en-US" sz="2000" dirty="0" smtClean="0">
                <a:latin typeface="Helvetica" pitchFamily="34" charset="0"/>
              </a:rPr>
              <a:t>Appropriate range of knowledge, skills and abilities for the tour types to be led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35</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148064" y="2505797"/>
            <a:ext cx="2417956" cy="3060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Describe tour guiding principles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Tour guiding principles may flow from:</a:t>
            </a:r>
          </a:p>
          <a:p>
            <a:pPr marL="360000" indent="-360000">
              <a:spcBef>
                <a:spcPts val="600"/>
              </a:spcBef>
              <a:spcAft>
                <a:spcPts val="1200"/>
              </a:spcAft>
            </a:pPr>
            <a:r>
              <a:rPr lang="en-US" sz="2200" dirty="0" smtClean="0">
                <a:latin typeface="Helvetica" pitchFamily="34" charset="0"/>
              </a:rPr>
              <a:t>Requirements imposed by employers</a:t>
            </a:r>
          </a:p>
          <a:p>
            <a:pPr marL="360000" indent="-360000">
              <a:spcBef>
                <a:spcPts val="600"/>
              </a:spcBef>
              <a:spcAft>
                <a:spcPts val="1200"/>
              </a:spcAft>
            </a:pPr>
            <a:r>
              <a:rPr lang="en-US" sz="2200" dirty="0" smtClean="0">
                <a:latin typeface="Helvetica" pitchFamily="34" charset="0"/>
              </a:rPr>
              <a:t>Requirements of various ‘Codes’</a:t>
            </a:r>
          </a:p>
          <a:p>
            <a:pPr marL="360000" indent="-360000">
              <a:spcBef>
                <a:spcPts val="600"/>
              </a:spcBef>
              <a:spcAft>
                <a:spcPts val="1200"/>
              </a:spcAft>
            </a:pPr>
            <a:r>
              <a:rPr lang="en-US" sz="2200" dirty="0" smtClean="0">
                <a:latin typeface="Helvetica" pitchFamily="34" charset="0"/>
              </a:rPr>
              <a:t>Standard ethical business practices</a:t>
            </a:r>
          </a:p>
          <a:p>
            <a:pPr marL="360000" indent="-360000">
              <a:spcBef>
                <a:spcPts val="600"/>
              </a:spcBef>
              <a:spcAft>
                <a:spcPts val="1200"/>
              </a:spcAft>
            </a:pPr>
            <a:r>
              <a:rPr lang="en-US" sz="2200" dirty="0" smtClean="0">
                <a:latin typeface="Helvetica" pitchFamily="34" charset="0"/>
              </a:rPr>
              <a:t>Experience and the passage of time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36</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158477" y="1988840"/>
            <a:ext cx="3920683" cy="3060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Describe tour guiding principles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Tour guiding principles:</a:t>
            </a:r>
          </a:p>
          <a:p>
            <a:pPr marL="360000" indent="-360000">
              <a:spcBef>
                <a:spcPts val="600"/>
              </a:spcBef>
              <a:spcAft>
                <a:spcPts val="1200"/>
              </a:spcAft>
            </a:pPr>
            <a:r>
              <a:rPr lang="en-US" sz="2000" dirty="0" smtClean="0">
                <a:latin typeface="Helvetica" pitchFamily="34" charset="0"/>
              </a:rPr>
              <a:t>Need to ensure safety and security of tour and tour group members</a:t>
            </a:r>
          </a:p>
          <a:p>
            <a:pPr marL="360000" indent="-360000">
              <a:spcBef>
                <a:spcPts val="600"/>
              </a:spcBef>
              <a:spcAft>
                <a:spcPts val="1200"/>
              </a:spcAft>
            </a:pPr>
            <a:r>
              <a:rPr lang="en-US" sz="2000" dirty="0" smtClean="0">
                <a:latin typeface="Helvetica" pitchFamily="34" charset="0"/>
              </a:rPr>
              <a:t>Need for care and respect</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37</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004048" y="1772816"/>
            <a:ext cx="2039796" cy="30600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Describe tour guiding principles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sz="2000" dirty="0" smtClean="0">
                <a:latin typeface="Helvetica" pitchFamily="34" charset="0"/>
              </a:rPr>
              <a:t>Need for appropriate skills and abilities</a:t>
            </a:r>
          </a:p>
          <a:p>
            <a:pPr marL="360000" indent="-360000">
              <a:spcBef>
                <a:spcPts val="600"/>
              </a:spcBef>
              <a:spcAft>
                <a:spcPts val="1200"/>
              </a:spcAft>
            </a:pPr>
            <a:r>
              <a:rPr lang="en-US" sz="2000" dirty="0" smtClean="0">
                <a:latin typeface="Helvetica" pitchFamily="34" charset="0"/>
              </a:rPr>
              <a:t>Need for knowledge </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38</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572000" y="2564904"/>
            <a:ext cx="2719409" cy="30600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Describe tour guiding principles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sz="2000" dirty="0" smtClean="0">
                <a:latin typeface="Helvetica" pitchFamily="34" charset="0"/>
              </a:rPr>
              <a:t>Need to provide a positive and memorable tour</a:t>
            </a:r>
          </a:p>
          <a:p>
            <a:pPr marL="360000" indent="-360000">
              <a:spcBef>
                <a:spcPts val="600"/>
              </a:spcBef>
              <a:spcAft>
                <a:spcPts val="1200"/>
              </a:spcAft>
            </a:pPr>
            <a:r>
              <a:rPr lang="en-US" sz="2000" dirty="0" smtClean="0">
                <a:latin typeface="Helvetica" pitchFamily="34" charset="0"/>
              </a:rPr>
              <a:t>Need for ethical conduct</a:t>
            </a:r>
          </a:p>
          <a:p>
            <a:pPr marL="360000" indent="-360000">
              <a:spcBef>
                <a:spcPts val="600"/>
              </a:spcBef>
              <a:spcAft>
                <a:spcPts val="1200"/>
              </a:spcAft>
            </a:pPr>
            <a:r>
              <a:rPr lang="en-US" sz="2000" dirty="0" smtClean="0">
                <a:latin typeface="Helvetica" pitchFamily="34" charset="0"/>
              </a:rPr>
              <a:t>Need to cater for special needs of individuals and groups</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39</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292080" y="2564904"/>
            <a:ext cx="2032388" cy="30600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Describe tour guiding principles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0" indent="0">
              <a:spcBef>
                <a:spcPts val="600"/>
              </a:spcBef>
              <a:spcAft>
                <a:spcPts val="1200"/>
              </a:spcAft>
              <a:buNone/>
            </a:pPr>
            <a:r>
              <a:rPr lang="en-US" sz="2000" dirty="0" smtClean="0">
                <a:latin typeface="Helvetica" pitchFamily="34" charset="0"/>
              </a:rPr>
              <a:t>Standard protocols for dealing with special needs:</a:t>
            </a:r>
          </a:p>
          <a:p>
            <a:pPr marL="360000" indent="-360000">
              <a:spcBef>
                <a:spcPts val="600"/>
              </a:spcBef>
              <a:spcAft>
                <a:spcPts val="1200"/>
              </a:spcAft>
            </a:pPr>
            <a:r>
              <a:rPr lang="en-US" sz="2000" dirty="0" smtClean="0">
                <a:latin typeface="Helvetica" pitchFamily="34" charset="0"/>
              </a:rPr>
              <a:t>Recognise and show awareness of special needs</a:t>
            </a:r>
          </a:p>
          <a:p>
            <a:pPr marL="360000" indent="-360000">
              <a:spcBef>
                <a:spcPts val="600"/>
              </a:spcBef>
              <a:spcAft>
                <a:spcPts val="1200"/>
              </a:spcAft>
            </a:pPr>
            <a:r>
              <a:rPr lang="en-US" sz="2000" dirty="0" smtClean="0">
                <a:latin typeface="Helvetica" pitchFamily="34" charset="0"/>
              </a:rPr>
              <a:t>Explain any arrangements made to cater for them</a:t>
            </a:r>
          </a:p>
          <a:p>
            <a:pPr marL="360000" indent="-360000">
              <a:spcBef>
                <a:spcPts val="600"/>
              </a:spcBef>
              <a:spcAft>
                <a:spcPts val="1200"/>
              </a:spcAft>
            </a:pPr>
            <a:r>
              <a:rPr lang="en-US" sz="2000" dirty="0" smtClean="0">
                <a:latin typeface="Helvetica" pitchFamily="34" charset="0"/>
              </a:rPr>
              <a:t>Identify relevant facilities available</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44008" y="2021069"/>
            <a:ext cx="3240000" cy="2160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Describe tour guiding principles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fontScale="92500" lnSpcReduction="10000"/>
          </a:bodyPr>
          <a:lstStyle/>
          <a:p>
            <a:pPr marL="360000" indent="-360000">
              <a:spcBef>
                <a:spcPts val="600"/>
              </a:spcBef>
              <a:spcAft>
                <a:spcPts val="1200"/>
              </a:spcAft>
            </a:pPr>
            <a:r>
              <a:rPr lang="en-US" sz="2200" dirty="0" smtClean="0">
                <a:latin typeface="Helvetica" pitchFamily="34" charset="0"/>
              </a:rPr>
              <a:t>Empathise with them</a:t>
            </a:r>
          </a:p>
          <a:p>
            <a:pPr marL="360000" indent="-360000">
              <a:spcBef>
                <a:spcPts val="600"/>
              </a:spcBef>
              <a:spcAft>
                <a:spcPts val="1200"/>
              </a:spcAft>
            </a:pPr>
            <a:r>
              <a:rPr lang="en-US" sz="2200" dirty="0" smtClean="0">
                <a:latin typeface="Helvetica" pitchFamily="34" charset="0"/>
              </a:rPr>
              <a:t>Be respectful</a:t>
            </a:r>
          </a:p>
          <a:p>
            <a:pPr marL="360000" indent="-360000">
              <a:spcBef>
                <a:spcPts val="600"/>
              </a:spcBef>
              <a:spcAft>
                <a:spcPts val="1200"/>
              </a:spcAft>
            </a:pPr>
            <a:r>
              <a:rPr lang="en-US" sz="2200" dirty="0" smtClean="0">
                <a:latin typeface="Helvetica" pitchFamily="34" charset="0"/>
              </a:rPr>
              <a:t>Never raise false expectations or make unrealistic promises – ‘under promise and over deliver’</a:t>
            </a:r>
          </a:p>
          <a:p>
            <a:pPr marL="360000" indent="-360000">
              <a:spcBef>
                <a:spcPts val="600"/>
              </a:spcBef>
              <a:spcAft>
                <a:spcPts val="1200"/>
              </a:spcAft>
            </a:pPr>
            <a:r>
              <a:rPr lang="en-US" sz="2200" dirty="0" smtClean="0">
                <a:latin typeface="Helvetica" pitchFamily="34" charset="0"/>
              </a:rPr>
              <a:t>Be prepared to ask for help/advice from others</a:t>
            </a:r>
          </a:p>
          <a:p>
            <a:pPr marL="360000" indent="-360000">
              <a:spcBef>
                <a:spcPts val="600"/>
              </a:spcBef>
              <a:spcAft>
                <a:spcPts val="1200"/>
              </a:spcAft>
            </a:pPr>
            <a:r>
              <a:rPr lang="en-US" sz="2200" dirty="0" smtClean="0">
                <a:latin typeface="Helvetica" pitchFamily="34" charset="0"/>
              </a:rPr>
              <a:t>Apologise where special needs cannot be meant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41</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39565" y="1994294"/>
            <a:ext cx="3239595" cy="21600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680520" cy="4608512"/>
          </a:xfrm>
        </p:spPr>
        <p:txBody>
          <a:bodyPr>
            <a:normAutofit fontScale="92500"/>
          </a:bodyPr>
          <a:lstStyle/>
          <a:p>
            <a:pPr marL="0" indent="0">
              <a:spcBef>
                <a:spcPts val="600"/>
              </a:spcBef>
              <a:spcAft>
                <a:spcPts val="1200"/>
              </a:spcAft>
              <a:buNone/>
            </a:pPr>
            <a:r>
              <a:rPr lang="en-US" sz="2200" dirty="0" smtClean="0">
                <a:latin typeface="Helvetica" pitchFamily="34" charset="0"/>
              </a:rPr>
              <a:t>When describing the context for the delivery of guiding services:</a:t>
            </a:r>
          </a:p>
          <a:p>
            <a:r>
              <a:rPr lang="en-AU" sz="2200" dirty="0" smtClean="0">
                <a:latin typeface="Helvetica" pitchFamily="34" charset="0"/>
              </a:rPr>
              <a:t>Identify the roles, functions and responsibilities of the Tour Guide as prescribed/required by the employer and tour group members</a:t>
            </a:r>
          </a:p>
          <a:p>
            <a:r>
              <a:rPr lang="en-AU" sz="2200" dirty="0" smtClean="0">
                <a:latin typeface="Helvetica" pitchFamily="34" charset="0"/>
              </a:rPr>
              <a:t>Differentiate between types of tours and tour guides</a:t>
            </a:r>
            <a:endParaRPr lang="en-AU" sz="2000" dirty="0" smtClean="0">
              <a:latin typeface="Helvetica" pitchFamily="34" charset="0"/>
            </a:endParaRPr>
          </a:p>
          <a:p>
            <a:r>
              <a:rPr lang="en-AU" sz="2200" dirty="0" smtClean="0">
                <a:latin typeface="Helvetica" pitchFamily="34" charset="0"/>
              </a:rPr>
              <a:t>Determine the characteristics of and differences between the profiles of regular/common tour group members</a:t>
            </a:r>
          </a:p>
          <a:p>
            <a:pPr marL="360000" indent="-360000">
              <a:spcBef>
                <a:spcPts val="600"/>
              </a:spcBef>
              <a:spcAft>
                <a:spcPts val="1200"/>
              </a:spcAft>
              <a:buNone/>
            </a:pPr>
            <a:r>
              <a:rPr lang="en-US" sz="16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42</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436096" y="2420888"/>
            <a:ext cx="2039796" cy="30600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r>
              <a:rPr lang="en-AU" sz="2000" dirty="0" smtClean="0">
                <a:latin typeface="Helvetica" pitchFamily="34" charset="0"/>
              </a:rPr>
              <a:t>Learn industry-related and tour-related terminology</a:t>
            </a:r>
          </a:p>
          <a:p>
            <a:r>
              <a:rPr lang="en-AU" sz="2000" dirty="0" smtClean="0">
                <a:latin typeface="Helvetica" pitchFamily="34" charset="0"/>
              </a:rPr>
              <a:t>Understand and be able to apply the interpretive approach to guiding</a:t>
            </a:r>
          </a:p>
          <a:p>
            <a:r>
              <a:rPr lang="en-AU" sz="2000" dirty="0" smtClean="0">
                <a:latin typeface="Helvetica" pitchFamily="34" charset="0"/>
              </a:rPr>
              <a:t>Demonstrate necessary characteristics of an effective Tour Guide</a:t>
            </a:r>
          </a:p>
          <a:p>
            <a:r>
              <a:rPr lang="en-AU" sz="2000" dirty="0" smtClean="0">
                <a:latin typeface="Helvetica" pitchFamily="34" charset="0"/>
              </a:rPr>
              <a:t>Identify and apply accepted/required tour guide principles</a:t>
            </a:r>
            <a:endParaRPr lang="en-US" sz="20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43</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835625" y="2019519"/>
            <a:ext cx="3698775" cy="3060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Element 2 – Develop guiding skills and knowledge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a:bodyPr>
          <a:lstStyle/>
          <a:p>
            <a:pPr marL="0" indent="0">
              <a:spcBef>
                <a:spcPts val="600"/>
              </a:spcBef>
              <a:spcAft>
                <a:spcPts val="1200"/>
              </a:spcAft>
              <a:buNone/>
            </a:pPr>
            <a:r>
              <a:rPr lang="en-US" sz="2200" dirty="0" smtClean="0">
                <a:latin typeface="Helvetica" pitchFamily="34" charset="0"/>
              </a:rPr>
              <a:t>Performance Criteria for this Element are:</a:t>
            </a:r>
          </a:p>
          <a:p>
            <a:pPr marL="360000" indent="-360000">
              <a:spcBef>
                <a:spcPts val="600"/>
              </a:spcBef>
              <a:spcAft>
                <a:spcPts val="1200"/>
              </a:spcAft>
            </a:pPr>
            <a:r>
              <a:rPr lang="en-US" sz="2200" dirty="0" smtClean="0">
                <a:latin typeface="Helvetica" pitchFamily="34" charset="0"/>
              </a:rPr>
              <a:t>Identify guide information sources and contacts</a:t>
            </a:r>
          </a:p>
          <a:p>
            <a:pPr marL="360000" indent="-360000">
              <a:spcBef>
                <a:spcPts val="600"/>
              </a:spcBef>
              <a:spcAft>
                <a:spcPts val="1200"/>
              </a:spcAft>
            </a:pPr>
            <a:r>
              <a:rPr lang="en-US" sz="2200" dirty="0" smtClean="0">
                <a:latin typeface="Helvetica" pitchFamily="34" charset="0"/>
              </a:rPr>
              <a:t>Acquire and up-date industry skills and knowledge</a:t>
            </a:r>
          </a:p>
          <a:p>
            <a:pPr marL="360000" indent="-360000">
              <a:spcBef>
                <a:spcPts val="600"/>
              </a:spcBef>
              <a:spcAft>
                <a:spcPts val="1200"/>
              </a:spcAft>
            </a:pPr>
            <a:r>
              <a:rPr lang="en-US" sz="2200" dirty="0" smtClean="0">
                <a:latin typeface="Helvetica" pitchFamily="34" charset="0"/>
              </a:rPr>
              <a:t>Identify legal, ethical and safety requirements that apply to provision of guiding services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44</a:t>
            </a:fld>
            <a:endParaRPr lang="en-US" dirty="0">
              <a:latin typeface="Helvetica" pitchFamily="34" charset="0"/>
            </a:endParaRPr>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220072" y="2505797"/>
            <a:ext cx="2385619" cy="30600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guide information sources and contacts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0" indent="0">
              <a:spcBef>
                <a:spcPts val="600"/>
              </a:spcBef>
              <a:spcAft>
                <a:spcPts val="1200"/>
              </a:spcAft>
              <a:buNone/>
            </a:pPr>
            <a:r>
              <a:rPr lang="en-US" sz="2000" dirty="0" smtClean="0">
                <a:latin typeface="Helvetica" pitchFamily="34" charset="0"/>
              </a:rPr>
              <a:t>Sources of guide information:</a:t>
            </a:r>
          </a:p>
          <a:p>
            <a:pPr marL="360000" indent="-360000">
              <a:spcBef>
                <a:spcPts val="600"/>
              </a:spcBef>
              <a:spcAft>
                <a:spcPts val="1200"/>
              </a:spcAft>
            </a:pPr>
            <a:r>
              <a:rPr lang="en-US" sz="2000" dirty="0" smtClean="0">
                <a:latin typeface="Helvetica" pitchFamily="34" charset="0"/>
              </a:rPr>
              <a:t>Tour operators and wholesalers</a:t>
            </a:r>
          </a:p>
          <a:p>
            <a:pPr marL="360000" indent="-360000">
              <a:spcBef>
                <a:spcPts val="600"/>
              </a:spcBef>
              <a:spcAft>
                <a:spcPts val="1200"/>
              </a:spcAft>
            </a:pPr>
            <a:r>
              <a:rPr lang="en-US" sz="2000" dirty="0" smtClean="0">
                <a:latin typeface="Helvetica" pitchFamily="34" charset="0"/>
              </a:rPr>
              <a:t>Venue/destination operators</a:t>
            </a:r>
          </a:p>
          <a:p>
            <a:pPr marL="360000" indent="-360000">
              <a:spcBef>
                <a:spcPts val="600"/>
              </a:spcBef>
              <a:spcAft>
                <a:spcPts val="1200"/>
              </a:spcAft>
            </a:pPr>
            <a:r>
              <a:rPr lang="en-US" sz="2000" dirty="0" smtClean="0">
                <a:latin typeface="Helvetica" pitchFamily="34" charset="0"/>
              </a:rPr>
              <a:t>Industry Codes</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45</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148064" y="2505797"/>
            <a:ext cx="2036165" cy="306000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guide information sources and contacts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sz="2000" dirty="0" smtClean="0">
                <a:latin typeface="Helvetica" pitchFamily="34" charset="0"/>
              </a:rPr>
              <a:t>The internet</a:t>
            </a:r>
          </a:p>
          <a:p>
            <a:pPr marL="360000" indent="-360000">
              <a:spcBef>
                <a:spcPts val="600"/>
              </a:spcBef>
              <a:spcAft>
                <a:spcPts val="1200"/>
              </a:spcAft>
            </a:pPr>
            <a:r>
              <a:rPr lang="en-US" sz="2000" dirty="0" smtClean="0">
                <a:latin typeface="Helvetica" pitchFamily="34" charset="0"/>
              </a:rPr>
              <a:t>Industry agencies, bodies and organisations</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46</a:t>
            </a:fld>
            <a:endParaRPr lang="en-US" dirty="0">
              <a:latin typeface="Helvetica" pitchFamily="34" charset="0"/>
            </a:endParaRPr>
          </a:p>
        </p:txBody>
      </p:sp>
      <p:pic>
        <p:nvPicPr>
          <p:cNvPr id="5" name="Picture 4"/>
          <p:cNvPicPr>
            <a:picLocks noChangeAspect="1"/>
          </p:cNvPicPr>
          <p:nvPr/>
        </p:nvPicPr>
        <p:blipFill rotWithShape="1">
          <a:blip r:embed="rId3" cstate="print">
            <a:clrChange>
              <a:clrFrom>
                <a:srgbClr val="FCFCFE"/>
              </a:clrFrom>
              <a:clrTo>
                <a:srgbClr val="FCFCFE">
                  <a:alpha val="0"/>
                </a:srgbClr>
              </a:clrTo>
            </a:clrChange>
            <a:extLst>
              <a:ext uri="{28A0092B-C50C-407E-A947-70E740481C1C}">
                <a14:useLocalDpi xmlns:a14="http://schemas.microsoft.com/office/drawing/2010/main"/>
              </a:ext>
            </a:extLst>
          </a:blip>
          <a:srcRect/>
          <a:stretch/>
        </p:blipFill>
        <p:spPr>
          <a:xfrm>
            <a:off x="6012160" y="1909800"/>
            <a:ext cx="1512000" cy="3780000"/>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guide information sources and contacts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sz="2000" dirty="0" smtClean="0">
                <a:latin typeface="Helvetica" pitchFamily="34" charset="0"/>
              </a:rPr>
              <a:t>Literature</a:t>
            </a:r>
          </a:p>
          <a:p>
            <a:pPr marL="360000" indent="-360000">
              <a:spcBef>
                <a:spcPts val="600"/>
              </a:spcBef>
              <a:spcAft>
                <a:spcPts val="1200"/>
              </a:spcAft>
            </a:pPr>
            <a:r>
              <a:rPr lang="en-US" sz="2000" dirty="0" smtClean="0">
                <a:latin typeface="Helvetica" pitchFamily="34" charset="0"/>
              </a:rPr>
              <a:t>Network of personal contacts</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47</a:t>
            </a:fld>
            <a:endParaRPr lang="en-US" dirty="0">
              <a:latin typeface="Helvetica" pitchFamily="34" charset="0"/>
            </a:endParaRPr>
          </a:p>
        </p:txBody>
      </p:sp>
      <p:pic>
        <p:nvPicPr>
          <p:cNvPr id="5" name="Picture 4"/>
          <p:cNvPicPr>
            <a:picLocks noChangeAspect="1"/>
          </p:cNvPicPr>
          <p:nvPr/>
        </p:nvPicPr>
        <p:blipFill rotWithShape="1">
          <a:blip r:embed="rId3" cstate="print">
            <a:clrChange>
              <a:clrFrom>
                <a:srgbClr val="FCFCFC"/>
              </a:clrFrom>
              <a:clrTo>
                <a:srgbClr val="FCFCFC">
                  <a:alpha val="0"/>
                </a:srgbClr>
              </a:clrTo>
            </a:clrChange>
            <a:extLst>
              <a:ext uri="{28A0092B-C50C-407E-A947-70E740481C1C}">
                <a14:useLocalDpi xmlns:a14="http://schemas.microsoft.com/office/drawing/2010/main"/>
              </a:ext>
            </a:extLst>
          </a:blip>
          <a:srcRect/>
          <a:stretch/>
        </p:blipFill>
        <p:spPr>
          <a:xfrm>
            <a:off x="6181050" y="1922816"/>
            <a:ext cx="1415286" cy="3774096"/>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Acquire and update industry skills and knowledge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0" indent="0">
              <a:spcBef>
                <a:spcPts val="600"/>
              </a:spcBef>
              <a:spcAft>
                <a:spcPts val="1200"/>
              </a:spcAft>
              <a:buNone/>
            </a:pPr>
            <a:r>
              <a:rPr lang="en-US" sz="2000" dirty="0" smtClean="0">
                <a:latin typeface="Helvetica" pitchFamily="34" charset="0"/>
              </a:rPr>
              <a:t>Activities/opportunities to acquire and update knowledge are:</a:t>
            </a:r>
          </a:p>
          <a:p>
            <a:pPr marL="360000" indent="-360000">
              <a:spcBef>
                <a:spcPts val="600"/>
              </a:spcBef>
              <a:spcAft>
                <a:spcPts val="1200"/>
              </a:spcAft>
            </a:pPr>
            <a:r>
              <a:rPr lang="en-US" sz="2000" dirty="0" smtClean="0">
                <a:latin typeface="Helvetica" pitchFamily="34" charset="0"/>
              </a:rPr>
              <a:t>Readily available to everyone</a:t>
            </a:r>
          </a:p>
          <a:p>
            <a:pPr marL="360000" indent="-360000">
              <a:spcBef>
                <a:spcPts val="600"/>
              </a:spcBef>
              <a:spcAft>
                <a:spcPts val="1200"/>
              </a:spcAft>
            </a:pPr>
            <a:r>
              <a:rPr lang="en-US" sz="2000" dirty="0" smtClean="0">
                <a:latin typeface="Helvetica" pitchFamily="34" charset="0"/>
              </a:rPr>
              <a:t>Relatively inexpensive to access/use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48</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CFCFC"/>
              </a:clrFrom>
              <a:clrTo>
                <a:srgbClr val="FCFCFC">
                  <a:alpha val="0"/>
                </a:srgbClr>
              </a:clrTo>
            </a:clrChange>
            <a:extLst>
              <a:ext uri="{28A0092B-C50C-407E-A947-70E740481C1C}">
                <a14:useLocalDpi xmlns:a14="http://schemas.microsoft.com/office/drawing/2010/main"/>
              </a:ext>
            </a:extLst>
          </a:blip>
          <a:stretch>
            <a:fillRect/>
          </a:stretch>
        </p:blipFill>
        <p:spPr>
          <a:xfrm>
            <a:off x="6000036" y="1772816"/>
            <a:ext cx="1800200" cy="270030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Acquire and update industry skills and knowledge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Activities to acquire and update skills and knowledge:</a:t>
            </a:r>
          </a:p>
          <a:p>
            <a:pPr marL="360000" indent="-360000">
              <a:spcBef>
                <a:spcPts val="600"/>
              </a:spcBef>
              <a:spcAft>
                <a:spcPts val="1200"/>
              </a:spcAft>
            </a:pPr>
            <a:r>
              <a:rPr lang="en-US" sz="2000" dirty="0" smtClean="0">
                <a:latin typeface="Helvetica" pitchFamily="34" charset="0"/>
              </a:rPr>
              <a:t>Attending industry events</a:t>
            </a:r>
          </a:p>
          <a:p>
            <a:pPr marL="360000" indent="-360000">
              <a:spcBef>
                <a:spcPts val="600"/>
              </a:spcBef>
              <a:spcAft>
                <a:spcPts val="1200"/>
              </a:spcAft>
            </a:pPr>
            <a:r>
              <a:rPr lang="en-US" sz="2000" dirty="0" smtClean="0">
                <a:latin typeface="Helvetica" pitchFamily="34" charset="0"/>
              </a:rPr>
              <a:t>Partaking in some form of industry-based training or other formal training</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49</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076056" y="1772816"/>
            <a:ext cx="2462400" cy="3780000"/>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Acquire and update industry skills and knowledge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360000" indent="-360000">
              <a:spcBef>
                <a:spcPts val="600"/>
              </a:spcBef>
              <a:spcAft>
                <a:spcPts val="1200"/>
              </a:spcAft>
            </a:pPr>
            <a:r>
              <a:rPr lang="en-US" sz="2000" dirty="0" smtClean="0">
                <a:latin typeface="Helvetica" pitchFamily="34" charset="0"/>
              </a:rPr>
              <a:t>Undertaking fam tours</a:t>
            </a:r>
          </a:p>
          <a:p>
            <a:pPr marL="360000" indent="-360000">
              <a:spcBef>
                <a:spcPts val="600"/>
              </a:spcBef>
              <a:spcAft>
                <a:spcPts val="1200"/>
              </a:spcAft>
            </a:pPr>
            <a:r>
              <a:rPr lang="en-US" sz="2000" dirty="0" smtClean="0">
                <a:latin typeface="Helvetica" pitchFamily="34" charset="0"/>
              </a:rPr>
              <a:t>Joining a professional guiding association</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44008" y="1997111"/>
            <a:ext cx="3240000" cy="2160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Acquire and update industry skills and knowledge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360000" indent="-360000">
              <a:spcBef>
                <a:spcPts val="600"/>
              </a:spcBef>
              <a:spcAft>
                <a:spcPts val="1200"/>
              </a:spcAft>
            </a:pPr>
            <a:r>
              <a:rPr lang="en-US" sz="2000" dirty="0" smtClean="0">
                <a:latin typeface="Helvetica" pitchFamily="34" charset="0"/>
              </a:rPr>
              <a:t>Undertaking formal and informal research</a:t>
            </a:r>
          </a:p>
          <a:p>
            <a:pPr marL="360000" indent="-360000">
              <a:spcBef>
                <a:spcPts val="600"/>
              </a:spcBef>
              <a:spcAft>
                <a:spcPts val="1200"/>
              </a:spcAft>
            </a:pPr>
            <a:r>
              <a:rPr lang="en-US" sz="2000" dirty="0" smtClean="0">
                <a:latin typeface="Helvetica" pitchFamily="34" charset="0"/>
              </a:rPr>
              <a:t>Practicing required skills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51</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44008" y="1988840"/>
            <a:ext cx="3240000" cy="2160000"/>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legal, ethical and safety requirements that apply to guiding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In regard to legal issues there is the potential for:</a:t>
            </a:r>
          </a:p>
          <a:p>
            <a:pPr marL="360000" indent="-360000">
              <a:spcBef>
                <a:spcPts val="600"/>
              </a:spcBef>
              <a:spcAft>
                <a:spcPts val="1200"/>
              </a:spcAft>
            </a:pPr>
            <a:r>
              <a:rPr lang="en-US" sz="2000" dirty="0" smtClean="0">
                <a:latin typeface="Helvetica" pitchFamily="34" charset="0"/>
              </a:rPr>
              <a:t>‘Criminal’ liability</a:t>
            </a:r>
          </a:p>
          <a:p>
            <a:pPr marL="360000" indent="-360000">
              <a:spcBef>
                <a:spcPts val="600"/>
              </a:spcBef>
              <a:spcAft>
                <a:spcPts val="1200"/>
              </a:spcAft>
            </a:pPr>
            <a:r>
              <a:rPr lang="en-US" sz="2000" dirty="0" smtClean="0">
                <a:latin typeface="Helvetica" pitchFamily="34" charset="0"/>
              </a:rPr>
              <a:t>‘Civil’ liability</a:t>
            </a:r>
          </a:p>
          <a:p>
            <a:pPr marL="360000" indent="-360000">
              <a:spcBef>
                <a:spcPts val="600"/>
              </a:spcBef>
              <a:spcAft>
                <a:spcPts val="1200"/>
              </a:spcAft>
            </a:pPr>
            <a:r>
              <a:rPr lang="en-US" sz="2000" dirty="0" smtClean="0">
                <a:latin typeface="Helvetica" pitchFamily="34" charset="0"/>
              </a:rPr>
              <a:t>Both</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2000" y="1990530"/>
            <a:ext cx="3120000" cy="2340000"/>
          </a:xfrm>
          <a:prstGeom prst="rect">
            <a:avLst/>
          </a:prstGeom>
          <a:ln>
            <a:noFill/>
          </a:ln>
          <a:effec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legal, ethical and safety requirements that apply to guiding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0" indent="0">
              <a:spcBef>
                <a:spcPts val="600"/>
              </a:spcBef>
              <a:spcAft>
                <a:spcPts val="1200"/>
              </a:spcAft>
              <a:buNone/>
            </a:pPr>
            <a:r>
              <a:rPr lang="en-US" sz="2000" dirty="0" smtClean="0">
                <a:latin typeface="Helvetica" pitchFamily="34" charset="0"/>
              </a:rPr>
              <a:t>Tour Guides also need to be aware of:</a:t>
            </a:r>
          </a:p>
          <a:p>
            <a:pPr marL="360000" indent="-360000">
              <a:spcBef>
                <a:spcPts val="600"/>
              </a:spcBef>
              <a:spcAft>
                <a:spcPts val="1200"/>
              </a:spcAft>
            </a:pPr>
            <a:r>
              <a:rPr lang="en-US" sz="2000" dirty="0" smtClean="0">
                <a:latin typeface="Helvetica" pitchFamily="34" charset="0"/>
              </a:rPr>
              <a:t>Duty of Care requirements under Common law</a:t>
            </a:r>
          </a:p>
          <a:p>
            <a:pPr marL="360000" indent="-360000">
              <a:spcBef>
                <a:spcPts val="600"/>
              </a:spcBef>
              <a:spcAft>
                <a:spcPts val="1200"/>
              </a:spcAft>
            </a:pPr>
            <a:r>
              <a:rPr lang="en-US" sz="2000" dirty="0" smtClean="0">
                <a:latin typeface="Helvetica" pitchFamily="34" charset="0"/>
              </a:rPr>
              <a:t>Obligations imposed by advertising</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53</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2080" y="1993032"/>
            <a:ext cx="2223122" cy="3240000"/>
          </a:xfrm>
          <a:prstGeom prst="rect">
            <a:avLst/>
          </a:prstGeom>
          <a:ln>
            <a:noFill/>
          </a:ln>
          <a:effec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legal, ethical and safety requirements that apply to guiding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360000" indent="-360000">
              <a:spcBef>
                <a:spcPts val="600"/>
              </a:spcBef>
              <a:spcAft>
                <a:spcPts val="1200"/>
              </a:spcAft>
            </a:pPr>
            <a:r>
              <a:rPr lang="en-US" sz="2000" dirty="0" smtClean="0">
                <a:latin typeface="Helvetica" pitchFamily="34" charset="0"/>
              </a:rPr>
              <a:t>Breach of contract and the causes and possible consequences</a:t>
            </a:r>
          </a:p>
          <a:p>
            <a:pPr marL="360000" indent="-360000">
              <a:spcBef>
                <a:spcPts val="600"/>
              </a:spcBef>
              <a:spcAft>
                <a:spcPts val="1200"/>
              </a:spcAft>
            </a:pPr>
            <a:r>
              <a:rPr lang="en-US" sz="2000" dirty="0" smtClean="0">
                <a:latin typeface="Helvetica" pitchFamily="34" charset="0"/>
              </a:rPr>
              <a:t>Need to comply with all applicable legislation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54</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148064" y="1988840"/>
            <a:ext cx="2160000" cy="324000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legal, ethical and safety requirements that apply to guiding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fontScale="92500"/>
          </a:bodyPr>
          <a:lstStyle/>
          <a:p>
            <a:pPr marL="0" indent="0">
              <a:spcBef>
                <a:spcPts val="600"/>
              </a:spcBef>
              <a:spcAft>
                <a:spcPts val="1200"/>
              </a:spcAft>
              <a:buNone/>
            </a:pPr>
            <a:r>
              <a:rPr lang="en-US" sz="2200" dirty="0" smtClean="0">
                <a:latin typeface="Helvetica" pitchFamily="34" charset="0"/>
              </a:rPr>
              <a:t>Standard ethical issues:</a:t>
            </a:r>
          </a:p>
          <a:p>
            <a:pPr marL="360000" indent="-360000">
              <a:spcBef>
                <a:spcPts val="600"/>
              </a:spcBef>
              <a:spcAft>
                <a:spcPts val="1200"/>
              </a:spcAft>
            </a:pPr>
            <a:r>
              <a:rPr lang="en-US" sz="2200" dirty="0" smtClean="0">
                <a:latin typeface="Helvetica" pitchFamily="34" charset="0"/>
              </a:rPr>
              <a:t>Need to be truthful and honest</a:t>
            </a:r>
          </a:p>
          <a:p>
            <a:pPr marL="360000" indent="-360000">
              <a:spcBef>
                <a:spcPts val="600"/>
              </a:spcBef>
              <a:spcAft>
                <a:spcPts val="1200"/>
              </a:spcAft>
            </a:pPr>
            <a:r>
              <a:rPr lang="en-US" sz="2200" dirty="0" smtClean="0">
                <a:latin typeface="Helvetica" pitchFamily="34" charset="0"/>
              </a:rPr>
              <a:t>Ensure products/services provided meet promises made</a:t>
            </a:r>
          </a:p>
          <a:p>
            <a:pPr marL="360000" indent="-360000">
              <a:spcBef>
                <a:spcPts val="600"/>
              </a:spcBef>
              <a:spcAft>
                <a:spcPts val="1200"/>
              </a:spcAft>
            </a:pPr>
            <a:r>
              <a:rPr lang="en-US" sz="2200" dirty="0" smtClean="0">
                <a:latin typeface="Helvetica" pitchFamily="34" charset="0"/>
              </a:rPr>
              <a:t>Demonstrate respect</a:t>
            </a:r>
          </a:p>
          <a:p>
            <a:pPr marL="360000" indent="-360000">
              <a:spcBef>
                <a:spcPts val="600"/>
              </a:spcBef>
              <a:spcAft>
                <a:spcPts val="1200"/>
              </a:spcAft>
            </a:pPr>
            <a:r>
              <a:rPr lang="en-US" sz="2200" dirty="0" smtClean="0">
                <a:latin typeface="Helvetica" pitchFamily="34" charset="0"/>
              </a:rPr>
              <a:t>Maintain principled relationships with stakeholders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55</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932040" y="1628800"/>
            <a:ext cx="2159793" cy="324000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legal, ethical and safety requirements that apply to guiding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433224"/>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Safety requirements will vary depending on:</a:t>
            </a:r>
          </a:p>
          <a:p>
            <a:pPr marL="360000" indent="-360000">
              <a:spcBef>
                <a:spcPts val="600"/>
              </a:spcBef>
              <a:spcAft>
                <a:spcPts val="1200"/>
              </a:spcAft>
            </a:pPr>
            <a:r>
              <a:rPr lang="en-US" sz="2200" dirty="0" smtClean="0">
                <a:latin typeface="Helvetica" pitchFamily="34" charset="0"/>
              </a:rPr>
              <a:t>Type of tour being conducted</a:t>
            </a:r>
          </a:p>
          <a:p>
            <a:pPr marL="360000" indent="-360000">
              <a:spcBef>
                <a:spcPts val="600"/>
              </a:spcBef>
              <a:spcAft>
                <a:spcPts val="1200"/>
              </a:spcAft>
            </a:pPr>
            <a:r>
              <a:rPr lang="en-US" sz="2200" dirty="0" smtClean="0">
                <a:latin typeface="Helvetica" pitchFamily="34" charset="0"/>
              </a:rPr>
              <a:t>Destinations, sites and venues visited</a:t>
            </a:r>
          </a:p>
          <a:p>
            <a:pPr marL="360000" indent="-360000">
              <a:spcBef>
                <a:spcPts val="600"/>
              </a:spcBef>
              <a:spcAft>
                <a:spcPts val="1200"/>
              </a:spcAft>
            </a:pPr>
            <a:r>
              <a:rPr lang="en-US" sz="2200" dirty="0" smtClean="0">
                <a:latin typeface="Helvetica" pitchFamily="34" charset="0"/>
              </a:rPr>
              <a:t>Activities, events and inclusions</a:t>
            </a:r>
          </a:p>
          <a:p>
            <a:pPr marL="360000" indent="-360000">
              <a:spcBef>
                <a:spcPts val="600"/>
              </a:spcBef>
              <a:spcAft>
                <a:spcPts val="1200"/>
              </a:spcAft>
            </a:pPr>
            <a:r>
              <a:rPr lang="en-US" sz="2200" dirty="0" smtClean="0">
                <a:latin typeface="Helvetica" pitchFamily="34" charset="0"/>
              </a:rPr>
              <a:t>Number in the tour group</a:t>
            </a:r>
          </a:p>
          <a:p>
            <a:pPr marL="360000" indent="-360000">
              <a:spcBef>
                <a:spcPts val="600"/>
              </a:spcBef>
              <a:spcAft>
                <a:spcPts val="1200"/>
              </a:spcAft>
            </a:pPr>
            <a:r>
              <a:rPr lang="en-US" sz="2200" dirty="0" smtClean="0">
                <a:latin typeface="Helvetica" pitchFamily="34" charset="0"/>
              </a:rPr>
              <a:t>Composition and characteristics of the group</a:t>
            </a:r>
          </a:p>
          <a:p>
            <a:pPr marL="360000" indent="-360000">
              <a:spcBef>
                <a:spcPts val="600"/>
              </a:spcBef>
              <a:spcAft>
                <a:spcPts val="1200"/>
              </a:spcAft>
            </a:pPr>
            <a:r>
              <a:rPr lang="en-US" sz="2200" dirty="0" smtClean="0">
                <a:latin typeface="Helvetica" pitchFamily="34" charset="0"/>
              </a:rPr>
              <a:t>Weather and local conditions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56</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004048" y="1844824"/>
            <a:ext cx="2560189" cy="324000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legal, ethical and safety requirements that apply to guiding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680520" cy="4608512"/>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Safety requirements may include:</a:t>
            </a:r>
          </a:p>
          <a:p>
            <a:pPr marL="360000" indent="-360000">
              <a:spcBef>
                <a:spcPts val="600"/>
              </a:spcBef>
              <a:spcAft>
                <a:spcPts val="1200"/>
              </a:spcAft>
            </a:pPr>
            <a:r>
              <a:rPr lang="en-US" sz="2200" dirty="0" smtClean="0">
                <a:latin typeface="Helvetica" pitchFamily="34" charset="0"/>
              </a:rPr>
              <a:t>Complying with legislated health, safety and welfare obligations</a:t>
            </a:r>
          </a:p>
          <a:p>
            <a:pPr marL="360000" indent="-360000">
              <a:spcBef>
                <a:spcPts val="600"/>
              </a:spcBef>
              <a:spcAft>
                <a:spcPts val="1200"/>
              </a:spcAft>
            </a:pPr>
            <a:r>
              <a:rPr lang="en-US" sz="2200" dirty="0" smtClean="0">
                <a:latin typeface="Helvetica" pitchFamily="34" charset="0"/>
              </a:rPr>
              <a:t>Ensuring responsible behaviour of tour group</a:t>
            </a:r>
          </a:p>
          <a:p>
            <a:pPr marL="360000" indent="-360000">
              <a:spcBef>
                <a:spcPts val="600"/>
              </a:spcBef>
              <a:spcAft>
                <a:spcPts val="1200"/>
              </a:spcAft>
            </a:pPr>
            <a:r>
              <a:rPr lang="en-US" sz="2200" dirty="0" smtClean="0">
                <a:latin typeface="Helvetica" pitchFamily="34" charset="0"/>
              </a:rPr>
              <a:t>Checking equipment, locations, facilities and environment</a:t>
            </a:r>
          </a:p>
          <a:p>
            <a:pPr marL="360000" indent="-360000">
              <a:spcBef>
                <a:spcPts val="600"/>
              </a:spcBef>
              <a:spcAft>
                <a:spcPts val="1200"/>
              </a:spcAft>
            </a:pPr>
            <a:r>
              <a:rPr lang="en-US" sz="2200" dirty="0" smtClean="0">
                <a:latin typeface="Helvetica" pitchFamily="34" charset="0"/>
              </a:rPr>
              <a:t>Being able to implement required emergency/risk management protocols</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57</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004048" y="1844824"/>
            <a:ext cx="2560189" cy="324000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Identify legal, ethical and safety requirements that apply to guiding</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lnSpcReduction="20000"/>
          </a:bodyPr>
          <a:lstStyle/>
          <a:p>
            <a:pPr marL="360000" indent="-360000">
              <a:spcBef>
                <a:spcPts val="600"/>
              </a:spcBef>
              <a:spcAft>
                <a:spcPts val="1200"/>
              </a:spcAft>
            </a:pPr>
            <a:r>
              <a:rPr lang="en-US" sz="2200" dirty="0" smtClean="0">
                <a:latin typeface="Helvetica" pitchFamily="34" charset="0"/>
              </a:rPr>
              <a:t>Managing risk</a:t>
            </a:r>
          </a:p>
          <a:p>
            <a:pPr marL="360000" indent="-360000">
              <a:spcBef>
                <a:spcPts val="600"/>
              </a:spcBef>
              <a:spcAft>
                <a:spcPts val="1200"/>
              </a:spcAft>
            </a:pPr>
            <a:r>
              <a:rPr lang="en-US" sz="2200" dirty="0" smtClean="0">
                <a:latin typeface="Helvetica" pitchFamily="34" charset="0"/>
              </a:rPr>
              <a:t>Removing dangerous items/activities from itinerary</a:t>
            </a:r>
          </a:p>
          <a:p>
            <a:pPr marL="360000" indent="-360000">
              <a:spcBef>
                <a:spcPts val="600"/>
              </a:spcBef>
              <a:spcAft>
                <a:spcPts val="1200"/>
              </a:spcAft>
            </a:pPr>
            <a:r>
              <a:rPr lang="en-US" sz="2200" dirty="0" smtClean="0">
                <a:latin typeface="Helvetica" pitchFamily="34" charset="0"/>
              </a:rPr>
              <a:t>Abandoning tour where/when necessary</a:t>
            </a:r>
          </a:p>
          <a:p>
            <a:pPr marL="360000" indent="-360000">
              <a:spcBef>
                <a:spcPts val="600"/>
              </a:spcBef>
              <a:spcAft>
                <a:spcPts val="1200"/>
              </a:spcAft>
            </a:pPr>
            <a:r>
              <a:rPr lang="en-US" sz="2200" dirty="0" smtClean="0">
                <a:latin typeface="Helvetica" pitchFamily="34" charset="0"/>
              </a:rPr>
              <a:t>Providing safety advice and instructions</a:t>
            </a:r>
          </a:p>
          <a:p>
            <a:pPr marL="360000" indent="-360000">
              <a:spcBef>
                <a:spcPts val="600"/>
              </a:spcBef>
              <a:spcAft>
                <a:spcPts val="1200"/>
              </a:spcAft>
            </a:pPr>
            <a:r>
              <a:rPr lang="en-US" sz="2200" dirty="0" smtClean="0">
                <a:latin typeface="Helvetica" pitchFamily="34" charset="0"/>
              </a:rPr>
              <a:t>Participating in the development of new tours contributing previous safety-related advice gained from previous experience on-tour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80673" y="1988840"/>
            <a:ext cx="3272727" cy="2160000"/>
          </a:xfrm>
          <a:prstGeom prst="rect">
            <a:avLst/>
          </a:prstGeom>
          <a:ln>
            <a:noFill/>
          </a:ln>
          <a:effectLst/>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0" indent="0">
              <a:spcBef>
                <a:spcPts val="600"/>
              </a:spcBef>
              <a:spcAft>
                <a:spcPts val="1200"/>
              </a:spcAft>
              <a:buNone/>
            </a:pPr>
            <a:r>
              <a:rPr lang="en-US" sz="2000" dirty="0" smtClean="0">
                <a:latin typeface="Helvetica" pitchFamily="34" charset="0"/>
              </a:rPr>
              <a:t>When developing guiding skills and knowledge:</a:t>
            </a:r>
          </a:p>
          <a:p>
            <a:r>
              <a:rPr lang="en-AU" sz="2000" dirty="0" smtClean="0">
                <a:latin typeface="Helvetica" pitchFamily="34" charset="0"/>
              </a:rPr>
              <a:t>Identify relevant sources and contacts to capture guiding information</a:t>
            </a:r>
          </a:p>
          <a:p>
            <a:r>
              <a:rPr lang="en-AU" sz="2000" dirty="0" smtClean="0">
                <a:latin typeface="Helvetica" pitchFamily="34" charset="0"/>
              </a:rPr>
              <a:t>Research/use identified information sources</a:t>
            </a:r>
          </a:p>
          <a:p>
            <a:r>
              <a:rPr lang="en-AU" sz="2000" dirty="0" smtClean="0">
                <a:latin typeface="Helvetica" pitchFamily="34" charset="0"/>
              </a:rPr>
              <a:t>Be willing and prepared to update industry skills and knowledge</a:t>
            </a:r>
            <a:endParaRPr lang="en-US" sz="2000" dirty="0" smtClean="0">
              <a:latin typeface="Helvetica" pitchFamily="34" charset="0"/>
            </a:endParaRP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59</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580161" y="1988840"/>
            <a:ext cx="2094876" cy="3060000"/>
          </a:xfrm>
          <a:prstGeom prst="rect">
            <a:avLst/>
          </a:prstGeom>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r>
              <a:rPr lang="en-AU" sz="2000" dirty="0" smtClean="0">
                <a:latin typeface="Helvetica" pitchFamily="34" charset="0"/>
              </a:rPr>
              <a:t>Attend industry events</a:t>
            </a:r>
          </a:p>
          <a:p>
            <a:r>
              <a:rPr lang="en-AU" sz="2000" dirty="0" smtClean="0">
                <a:latin typeface="Helvetica" pitchFamily="34" charset="0"/>
              </a:rPr>
              <a:t>Gain first-hand experiences of a variety of tours</a:t>
            </a:r>
          </a:p>
          <a:p>
            <a:r>
              <a:rPr lang="en-AU" sz="2000" dirty="0" smtClean="0">
                <a:latin typeface="Helvetica" pitchFamily="34" charset="0"/>
              </a:rPr>
              <a:t>Join industry associations</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427984" y="1844824"/>
            <a:ext cx="2383474" cy="3060000"/>
          </a:xfrm>
          <a:prstGeom prst="rect">
            <a:avLst/>
          </a:prstGeom>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r>
              <a:rPr lang="en-AU" sz="2000" dirty="0" smtClean="0">
                <a:latin typeface="Helvetica" pitchFamily="34" charset="0"/>
              </a:rPr>
              <a:t>Practice necessary skills</a:t>
            </a:r>
          </a:p>
          <a:p>
            <a:r>
              <a:rPr lang="en-AU" sz="2000" dirty="0" smtClean="0">
                <a:latin typeface="Helvetica" pitchFamily="34" charset="0"/>
              </a:rPr>
              <a:t>Identify and apply necessary legal, ethical and safety requirements</a:t>
            </a:r>
          </a:p>
          <a:p>
            <a:r>
              <a:rPr lang="en-AU" sz="2000" dirty="0" smtClean="0">
                <a:latin typeface="Helvetica" pitchFamily="34" charset="0"/>
              </a:rPr>
              <a:t>Realise the need to guard against possible legal action which may be taken by tour group members</a:t>
            </a:r>
            <a:endParaRPr lang="en-US" sz="20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61</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652120" y="1772816"/>
            <a:ext cx="2283525" cy="3240000"/>
          </a:xfrm>
          <a:prstGeom prst="rect">
            <a:avLst/>
          </a:prstGeom>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Element 3 – Provide guiding services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433224"/>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Performance Criteria for this Element are:</a:t>
            </a:r>
          </a:p>
          <a:p>
            <a:pPr marL="360000" indent="-360000">
              <a:spcBef>
                <a:spcPts val="600"/>
              </a:spcBef>
              <a:spcAft>
                <a:spcPts val="1200"/>
              </a:spcAft>
            </a:pPr>
            <a:r>
              <a:rPr lang="en-US" sz="2200" dirty="0" smtClean="0">
                <a:latin typeface="Helvetica" pitchFamily="34" charset="0"/>
              </a:rPr>
              <a:t>Demonstrate the skills and knowledge necessary to guide tours</a:t>
            </a:r>
          </a:p>
          <a:p>
            <a:pPr marL="360000" indent="-360000">
              <a:spcBef>
                <a:spcPts val="600"/>
              </a:spcBef>
              <a:spcAft>
                <a:spcPts val="1200"/>
              </a:spcAft>
            </a:pPr>
            <a:r>
              <a:rPr lang="en-US" sz="2200" dirty="0" smtClean="0">
                <a:latin typeface="Helvetica" pitchFamily="34" charset="0"/>
              </a:rPr>
              <a:t>Apply required legal, ethical and safety considerations to the conduct of tours</a:t>
            </a:r>
          </a:p>
          <a:p>
            <a:pPr marL="360000" indent="-360000">
              <a:spcBef>
                <a:spcPts val="600"/>
              </a:spcBef>
              <a:spcAft>
                <a:spcPts val="1200"/>
              </a:spcAft>
            </a:pPr>
            <a:r>
              <a:rPr lang="en-US" sz="2200" dirty="0" smtClean="0">
                <a:latin typeface="Helvetica" pitchFamily="34" charset="0"/>
              </a:rPr>
              <a:t>Optimise respect for local culture</a:t>
            </a:r>
          </a:p>
          <a:p>
            <a:pPr marL="360000" indent="-360000">
              <a:spcBef>
                <a:spcPts val="600"/>
              </a:spcBef>
              <a:spcAft>
                <a:spcPts val="1200"/>
              </a:spcAft>
            </a:pPr>
            <a:r>
              <a:rPr lang="en-US" sz="2200" dirty="0" smtClean="0">
                <a:latin typeface="Helvetica" pitchFamily="34" charset="0"/>
              </a:rPr>
              <a:t>Minimise  negative impact on the culture, people and environment</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62</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860032" y="2276872"/>
            <a:ext cx="2340900" cy="3240000"/>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the skills and knowledge necessary to guide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Skills and knowledge required can be classified into:</a:t>
            </a:r>
          </a:p>
          <a:p>
            <a:pPr marL="360000" indent="-360000">
              <a:spcBef>
                <a:spcPts val="600"/>
              </a:spcBef>
              <a:spcAft>
                <a:spcPts val="1200"/>
              </a:spcAft>
            </a:pPr>
            <a:r>
              <a:rPr lang="en-US" sz="2000" dirty="0" smtClean="0">
                <a:latin typeface="Helvetica" pitchFamily="34" charset="0"/>
              </a:rPr>
              <a:t>Pre-arrival activities</a:t>
            </a:r>
          </a:p>
          <a:p>
            <a:pPr marL="360000" indent="-360000">
              <a:spcBef>
                <a:spcPts val="600"/>
              </a:spcBef>
              <a:spcAft>
                <a:spcPts val="1200"/>
              </a:spcAft>
            </a:pPr>
            <a:r>
              <a:rPr lang="en-US" sz="2000" dirty="0" smtClean="0">
                <a:latin typeface="Helvetica" pitchFamily="34" charset="0"/>
              </a:rPr>
              <a:t>Pre-departure checks</a:t>
            </a:r>
          </a:p>
          <a:p>
            <a:pPr marL="360000" indent="-360000">
              <a:spcBef>
                <a:spcPts val="600"/>
              </a:spcBef>
              <a:spcAft>
                <a:spcPts val="1200"/>
              </a:spcAft>
            </a:pPr>
            <a:r>
              <a:rPr lang="en-US" sz="2000" dirty="0" smtClean="0">
                <a:latin typeface="Helvetica" pitchFamily="34" charset="0"/>
              </a:rPr>
              <a:t>During tour activities</a:t>
            </a:r>
          </a:p>
          <a:p>
            <a:pPr marL="360000" indent="-360000">
              <a:spcBef>
                <a:spcPts val="600"/>
              </a:spcBef>
              <a:spcAft>
                <a:spcPts val="1200"/>
              </a:spcAft>
            </a:pPr>
            <a:r>
              <a:rPr lang="en-US" sz="2000" dirty="0" smtClean="0">
                <a:latin typeface="Helvetica" pitchFamily="34" charset="0"/>
              </a:rPr>
              <a:t>Post-departure activities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63</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932040" y="1628800"/>
            <a:ext cx="2598893" cy="324000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the skills and knowledge necessary to guide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392488" cy="4093915"/>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Pre-arrival activity – Checking of arrival schedules to ensure:</a:t>
            </a:r>
          </a:p>
          <a:p>
            <a:pPr marL="360000" indent="-360000">
              <a:spcBef>
                <a:spcPts val="600"/>
              </a:spcBef>
              <a:spcAft>
                <a:spcPts val="1200"/>
              </a:spcAft>
            </a:pPr>
            <a:r>
              <a:rPr lang="en-US" sz="2200" dirty="0" smtClean="0">
                <a:latin typeface="Helvetica" pitchFamily="34" charset="0"/>
              </a:rPr>
              <a:t>Hard copy information is obtained about tours/groups</a:t>
            </a:r>
          </a:p>
          <a:p>
            <a:pPr marL="360000" indent="-360000">
              <a:spcBef>
                <a:spcPts val="600"/>
              </a:spcBef>
              <a:spcAft>
                <a:spcPts val="1200"/>
              </a:spcAft>
            </a:pPr>
            <a:r>
              <a:rPr lang="en-US" sz="2200" dirty="0" smtClean="0">
                <a:latin typeface="Helvetica" pitchFamily="34" charset="0"/>
              </a:rPr>
              <a:t>Knowledge about time and methods/ of arrival</a:t>
            </a:r>
          </a:p>
          <a:p>
            <a:pPr marL="360000" indent="-360000">
              <a:spcBef>
                <a:spcPts val="600"/>
              </a:spcBef>
              <a:spcAft>
                <a:spcPts val="1200"/>
              </a:spcAft>
            </a:pPr>
            <a:r>
              <a:rPr lang="en-US" sz="2200" dirty="0" smtClean="0">
                <a:latin typeface="Helvetica" pitchFamily="34" charset="0"/>
              </a:rPr>
              <a:t>Knowledge about the group</a:t>
            </a:r>
          </a:p>
          <a:p>
            <a:pPr marL="360000" indent="-360000">
              <a:spcBef>
                <a:spcPts val="600"/>
              </a:spcBef>
              <a:spcAft>
                <a:spcPts val="1200"/>
              </a:spcAft>
            </a:pPr>
            <a:r>
              <a:rPr lang="en-US" sz="2200" dirty="0" smtClean="0">
                <a:latin typeface="Helvetica" pitchFamily="34" charset="0"/>
              </a:rPr>
              <a:t>Understanding of issues to be clarified on their arrival</a:t>
            </a:r>
          </a:p>
          <a:p>
            <a:pPr marL="360000" indent="-360000">
              <a:spcBef>
                <a:spcPts val="600"/>
              </a:spcBef>
              <a:spcAft>
                <a:spcPts val="1200"/>
              </a:spcAft>
            </a:pPr>
            <a:r>
              <a:rPr lang="en-US" sz="2200" dirty="0" smtClean="0">
                <a:latin typeface="Helvetica" pitchFamily="34" charset="0"/>
              </a:rPr>
              <a:t>Knowledge about agreed muster point</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64</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004048" y="1844824"/>
            <a:ext cx="2415913" cy="3240000"/>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the skills and knowledge necessary to guide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392488" cy="4869160"/>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Pre-arrival activity – Checking reservations done to gain knowledge of:</a:t>
            </a:r>
          </a:p>
          <a:p>
            <a:pPr marL="360000" indent="-360000">
              <a:spcBef>
                <a:spcPts val="600"/>
              </a:spcBef>
              <a:spcAft>
                <a:spcPts val="1200"/>
              </a:spcAft>
            </a:pPr>
            <a:r>
              <a:rPr lang="en-US" sz="2200" dirty="0" smtClean="0">
                <a:latin typeface="Helvetica" pitchFamily="34" charset="0"/>
              </a:rPr>
              <a:t>Payments made and/or to be collected</a:t>
            </a:r>
          </a:p>
          <a:p>
            <a:pPr marL="360000" indent="-360000">
              <a:spcBef>
                <a:spcPts val="600"/>
              </a:spcBef>
              <a:spcAft>
                <a:spcPts val="1200"/>
              </a:spcAft>
            </a:pPr>
            <a:r>
              <a:rPr lang="en-US" sz="2200" dirty="0" smtClean="0">
                <a:latin typeface="Helvetica" pitchFamily="34" charset="0"/>
              </a:rPr>
              <a:t>Special needs/requests and arrangements for addressing same</a:t>
            </a:r>
          </a:p>
          <a:p>
            <a:pPr marL="360000" indent="-360000">
              <a:spcBef>
                <a:spcPts val="600"/>
              </a:spcBef>
              <a:spcAft>
                <a:spcPts val="1200"/>
              </a:spcAft>
            </a:pPr>
            <a:r>
              <a:rPr lang="en-US" sz="2200" dirty="0" smtClean="0">
                <a:latin typeface="Helvetica" pitchFamily="34" charset="0"/>
              </a:rPr>
              <a:t>Types of bookings made and what tour group members are entitled to</a:t>
            </a:r>
          </a:p>
          <a:p>
            <a:pPr marL="360000" indent="-360000">
              <a:spcBef>
                <a:spcPts val="600"/>
              </a:spcBef>
              <a:spcAft>
                <a:spcPts val="1200"/>
              </a:spcAft>
            </a:pPr>
            <a:r>
              <a:rPr lang="en-US" sz="2200" dirty="0" smtClean="0">
                <a:latin typeface="Helvetica" pitchFamily="34" charset="0"/>
              </a:rPr>
              <a:t>Seats/tickets remaining available for promotion or sale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65</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469529" y="1917192"/>
            <a:ext cx="4064871" cy="3240000"/>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the skills and knowledge necessary to guide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680520" cy="4093915"/>
          </a:xfrm>
        </p:spPr>
        <p:txBody>
          <a:bodyPr>
            <a:normAutofit fontScale="92500"/>
          </a:bodyPr>
          <a:lstStyle/>
          <a:p>
            <a:pPr marL="0" indent="0">
              <a:spcBef>
                <a:spcPts val="600"/>
              </a:spcBef>
              <a:spcAft>
                <a:spcPts val="1200"/>
              </a:spcAft>
              <a:buNone/>
            </a:pPr>
            <a:r>
              <a:rPr lang="en-US" sz="2200" dirty="0" smtClean="0">
                <a:latin typeface="Helvetica" pitchFamily="34" charset="0"/>
              </a:rPr>
              <a:t>Pre-arrival activity – Verifying itinerary may involve: </a:t>
            </a:r>
          </a:p>
          <a:p>
            <a:pPr marL="360000" indent="-360000">
              <a:spcBef>
                <a:spcPts val="600"/>
              </a:spcBef>
              <a:spcAft>
                <a:spcPts val="1200"/>
              </a:spcAft>
            </a:pPr>
            <a:r>
              <a:rPr lang="en-US" sz="2200" dirty="0" smtClean="0">
                <a:latin typeface="Helvetica" pitchFamily="34" charset="0"/>
              </a:rPr>
              <a:t>Contacting destinations and providing to confirm arrangements</a:t>
            </a:r>
          </a:p>
          <a:p>
            <a:pPr marL="360000" indent="-360000">
              <a:spcBef>
                <a:spcPts val="600"/>
              </a:spcBef>
              <a:spcAft>
                <a:spcPts val="1200"/>
              </a:spcAft>
            </a:pPr>
            <a:r>
              <a:rPr lang="en-US" sz="2200" dirty="0" smtClean="0">
                <a:latin typeface="Helvetica" pitchFamily="34" charset="0"/>
              </a:rPr>
              <a:t>Determining weather and local conditions</a:t>
            </a:r>
          </a:p>
          <a:p>
            <a:pPr marL="360000" indent="-360000">
              <a:spcBef>
                <a:spcPts val="600"/>
              </a:spcBef>
              <a:spcAft>
                <a:spcPts val="1200"/>
              </a:spcAft>
            </a:pPr>
            <a:r>
              <a:rPr lang="en-US" sz="2200" dirty="0" smtClean="0">
                <a:latin typeface="Helvetica" pitchFamily="34" charset="0"/>
              </a:rPr>
              <a:t>Arranging suitable alternatives, if necessary</a:t>
            </a:r>
          </a:p>
          <a:p>
            <a:pPr marL="360000" indent="-360000">
              <a:spcBef>
                <a:spcPts val="600"/>
              </a:spcBef>
              <a:spcAft>
                <a:spcPts val="1200"/>
              </a:spcAft>
            </a:pPr>
            <a:r>
              <a:rPr lang="en-US" sz="2200" dirty="0" smtClean="0">
                <a:latin typeface="Helvetica" pitchFamily="34" charset="0"/>
              </a:rPr>
              <a:t>Confirming tour basics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66</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292080" y="1988840"/>
            <a:ext cx="2067070" cy="3240000"/>
          </a:xfrm>
          <a:prstGeom prst="rect">
            <a:avLst/>
          </a:prstGeom>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the skills and knowledge necessary to guide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a:bodyPr>
          <a:lstStyle/>
          <a:p>
            <a:pPr marL="0" indent="0">
              <a:spcBef>
                <a:spcPts val="600"/>
              </a:spcBef>
              <a:spcAft>
                <a:spcPts val="1200"/>
              </a:spcAft>
              <a:buNone/>
            </a:pPr>
            <a:r>
              <a:rPr lang="en-US" sz="2200" dirty="0" smtClean="0">
                <a:latin typeface="Helvetica" pitchFamily="34" charset="0"/>
              </a:rPr>
              <a:t>Pre-arrival activity – Collecting resources for the tour may require:</a:t>
            </a:r>
          </a:p>
          <a:p>
            <a:pPr marL="360000" indent="-360000">
              <a:spcBef>
                <a:spcPts val="600"/>
              </a:spcBef>
              <a:spcAft>
                <a:spcPts val="1200"/>
              </a:spcAft>
            </a:pPr>
            <a:r>
              <a:rPr lang="en-US" sz="2200" dirty="0" smtClean="0">
                <a:latin typeface="Helvetica" pitchFamily="34" charset="0"/>
              </a:rPr>
              <a:t>Obtaining and checking ‘Guide kit’</a:t>
            </a:r>
          </a:p>
          <a:p>
            <a:pPr marL="360000" indent="-360000">
              <a:spcBef>
                <a:spcPts val="600"/>
              </a:spcBef>
              <a:spcAft>
                <a:spcPts val="1200"/>
              </a:spcAft>
            </a:pPr>
            <a:r>
              <a:rPr lang="en-US" sz="2200" dirty="0" smtClean="0">
                <a:latin typeface="Helvetica" pitchFamily="34" charset="0"/>
              </a:rPr>
              <a:t>Obtaining resources/materials for distribution to tour group members</a:t>
            </a:r>
          </a:p>
          <a:p>
            <a:pPr marL="360000" indent="-360000">
              <a:spcBef>
                <a:spcPts val="600"/>
              </a:spcBef>
              <a:spcAft>
                <a:spcPts val="1200"/>
              </a:spcAft>
            </a:pPr>
            <a:r>
              <a:rPr lang="en-US" sz="2200" dirty="0" smtClean="0">
                <a:latin typeface="Helvetica" pitchFamily="34" charset="0"/>
              </a:rPr>
              <a:t>Obtaining necessary vouchers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67</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572000" y="2505797"/>
            <a:ext cx="2040000" cy="3060000"/>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the skills and knowledge necessary to guide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Pre-arrival activity – Testing items for the tour may require:</a:t>
            </a:r>
          </a:p>
          <a:p>
            <a:pPr marL="360000" indent="-360000">
              <a:spcBef>
                <a:spcPts val="600"/>
              </a:spcBef>
              <a:spcAft>
                <a:spcPts val="1200"/>
              </a:spcAft>
            </a:pPr>
            <a:r>
              <a:rPr lang="en-US" sz="2000" dirty="0" smtClean="0">
                <a:latin typeface="Helvetica" pitchFamily="34" charset="0"/>
              </a:rPr>
              <a:t>Testing communication and presentation equipment</a:t>
            </a:r>
          </a:p>
          <a:p>
            <a:pPr marL="360000" indent="-360000">
              <a:spcBef>
                <a:spcPts val="600"/>
              </a:spcBef>
              <a:spcAft>
                <a:spcPts val="1200"/>
              </a:spcAft>
            </a:pPr>
            <a:r>
              <a:rPr lang="en-US" sz="2000" dirty="0" smtClean="0">
                <a:latin typeface="Helvetica" pitchFamily="34" charset="0"/>
              </a:rPr>
              <a:t>Testing and checking sporting equipment</a:t>
            </a:r>
          </a:p>
          <a:p>
            <a:pPr marL="360000" indent="-360000">
              <a:spcBef>
                <a:spcPts val="600"/>
              </a:spcBef>
              <a:spcAft>
                <a:spcPts val="1200"/>
              </a:spcAft>
            </a:pPr>
            <a:r>
              <a:rPr lang="en-US" sz="2000" dirty="0" smtClean="0">
                <a:latin typeface="Helvetica" pitchFamily="34" charset="0"/>
              </a:rPr>
              <a:t>Checking items to be used by tour group members to participate in scheduled activities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17604" y="2027582"/>
            <a:ext cx="3252135" cy="2160000"/>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the skills and knowledge necessary to guide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433224"/>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Pre-arrival activity – Preparing scripted commentary:</a:t>
            </a:r>
          </a:p>
          <a:p>
            <a:pPr marL="360000" indent="-360000">
              <a:spcBef>
                <a:spcPts val="600"/>
              </a:spcBef>
              <a:spcAft>
                <a:spcPts val="1200"/>
              </a:spcAft>
            </a:pPr>
            <a:r>
              <a:rPr lang="en-US" sz="2200" dirty="0" smtClean="0">
                <a:latin typeface="Helvetica" pitchFamily="34" charset="0"/>
              </a:rPr>
              <a:t>A prepared talk and guide about the tour</a:t>
            </a:r>
          </a:p>
          <a:p>
            <a:pPr marL="360000" indent="-360000">
              <a:spcBef>
                <a:spcPts val="600"/>
              </a:spcBef>
              <a:spcAft>
                <a:spcPts val="1200"/>
              </a:spcAft>
            </a:pPr>
            <a:r>
              <a:rPr lang="en-US" sz="2200" dirty="0" smtClean="0">
                <a:latin typeface="Helvetica" pitchFamily="34" charset="0"/>
              </a:rPr>
              <a:t>Does not need to cover everything which will/needs to be said</a:t>
            </a:r>
          </a:p>
          <a:p>
            <a:pPr marL="360000" indent="-360000">
              <a:spcBef>
                <a:spcPts val="600"/>
              </a:spcBef>
              <a:spcAft>
                <a:spcPts val="1200"/>
              </a:spcAft>
            </a:pPr>
            <a:r>
              <a:rPr lang="en-US" sz="2200" dirty="0" smtClean="0">
                <a:latin typeface="Helvetica" pitchFamily="34" charset="0"/>
              </a:rPr>
              <a:t>There will always be a need for unscripted commentary to supplement the scripted commentary</a:t>
            </a:r>
          </a:p>
          <a:p>
            <a:pPr marL="360000" indent="-360000">
              <a:spcBef>
                <a:spcPts val="600"/>
              </a:spcBef>
              <a:spcAft>
                <a:spcPts val="1200"/>
              </a:spcAft>
            </a:pPr>
            <a:r>
              <a:rPr lang="en-US" sz="2200" dirty="0" smtClean="0">
                <a:latin typeface="Helvetica" pitchFamily="34" charset="0"/>
              </a:rPr>
              <a:t>It takes a long time to write a good scripted commentary</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69</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13400" y="1988840"/>
            <a:ext cx="3240000" cy="2160000"/>
          </a:xfrm>
          <a:prstGeom prst="rect">
            <a:avLst/>
          </a:prstGeom>
          <a:ln>
            <a:noFill/>
          </a:ln>
          <a:effec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the skills and knowledge necessary to guide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0" indent="0">
              <a:spcBef>
                <a:spcPts val="600"/>
              </a:spcBef>
              <a:spcAft>
                <a:spcPts val="1200"/>
              </a:spcAft>
              <a:buNone/>
            </a:pPr>
            <a:r>
              <a:rPr lang="en-US" sz="2000" dirty="0" smtClean="0">
                <a:latin typeface="Helvetica" pitchFamily="34" charset="0"/>
              </a:rPr>
              <a:t>Activities involved in preparing a scripted commentary:</a:t>
            </a:r>
          </a:p>
          <a:p>
            <a:pPr marL="360000" indent="-360000">
              <a:spcBef>
                <a:spcPts val="600"/>
              </a:spcBef>
              <a:spcAft>
                <a:spcPts val="1200"/>
              </a:spcAft>
            </a:pPr>
            <a:r>
              <a:rPr lang="en-US" sz="2000" dirty="0" smtClean="0">
                <a:latin typeface="Helvetica" pitchFamily="34" charset="0"/>
              </a:rPr>
              <a:t>Research the tour</a:t>
            </a:r>
          </a:p>
          <a:p>
            <a:pPr marL="360000" indent="-360000">
              <a:spcBef>
                <a:spcPts val="600"/>
              </a:spcBef>
              <a:spcAft>
                <a:spcPts val="1200"/>
              </a:spcAft>
            </a:pPr>
            <a:r>
              <a:rPr lang="en-US" sz="2000" dirty="0" smtClean="0">
                <a:latin typeface="Helvetica" pitchFamily="34" charset="0"/>
              </a:rPr>
              <a:t>Check the advertising/promises made</a:t>
            </a:r>
          </a:p>
          <a:p>
            <a:pPr marL="360000" indent="-360000">
              <a:spcBef>
                <a:spcPts val="600"/>
              </a:spcBef>
              <a:spcAft>
                <a:spcPts val="1200"/>
              </a:spcAft>
            </a:pPr>
            <a:r>
              <a:rPr lang="en-US" sz="2000" dirty="0" smtClean="0">
                <a:latin typeface="Helvetica" pitchFamily="34" charset="0"/>
              </a:rPr>
              <a:t>Know/learn the route</a:t>
            </a:r>
          </a:p>
          <a:p>
            <a:pPr marL="360000" indent="-360000">
              <a:spcBef>
                <a:spcPts val="600"/>
              </a:spcBef>
              <a:spcAft>
                <a:spcPts val="1200"/>
              </a:spcAft>
            </a:pPr>
            <a:r>
              <a:rPr lang="en-US" sz="2000" dirty="0" smtClean="0">
                <a:latin typeface="Helvetica" pitchFamily="34" charset="0"/>
              </a:rPr>
              <a:t>Involve/get input from others</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70</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572000" y="1844824"/>
            <a:ext cx="3949316" cy="2880000"/>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the skills and knowledge necessary to guide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a:bodyPr>
          <a:lstStyle/>
          <a:p>
            <a:pPr marL="360000" indent="-360000">
              <a:spcBef>
                <a:spcPts val="600"/>
              </a:spcBef>
              <a:spcAft>
                <a:spcPts val="1200"/>
              </a:spcAft>
            </a:pPr>
            <a:r>
              <a:rPr lang="en-US" sz="2200" dirty="0" smtClean="0">
                <a:latin typeface="Helvetica" pitchFamily="34" charset="0"/>
              </a:rPr>
              <a:t>Experience some other Tour Guides delivering scripted commentaries</a:t>
            </a:r>
          </a:p>
          <a:p>
            <a:pPr marL="360000" indent="-360000">
              <a:spcBef>
                <a:spcPts val="600"/>
              </a:spcBef>
              <a:spcAft>
                <a:spcPts val="1200"/>
              </a:spcAft>
            </a:pPr>
            <a:r>
              <a:rPr lang="en-US" sz="2200" dirty="0" smtClean="0">
                <a:latin typeface="Helvetica" pitchFamily="34" charset="0"/>
              </a:rPr>
              <a:t>Avoid personal opinions</a:t>
            </a:r>
          </a:p>
          <a:p>
            <a:pPr marL="360000" indent="-360000">
              <a:spcBef>
                <a:spcPts val="600"/>
              </a:spcBef>
              <a:spcAft>
                <a:spcPts val="1200"/>
              </a:spcAft>
            </a:pPr>
            <a:r>
              <a:rPr lang="en-US" sz="2200" dirty="0" smtClean="0">
                <a:latin typeface="Helvetica" pitchFamily="34" charset="0"/>
              </a:rPr>
              <a:t>Avoid inappropriate language</a:t>
            </a:r>
          </a:p>
          <a:p>
            <a:pPr marL="360000" indent="-360000">
              <a:spcBef>
                <a:spcPts val="600"/>
              </a:spcBef>
              <a:spcAft>
                <a:spcPts val="1200"/>
              </a:spcAft>
            </a:pPr>
            <a:r>
              <a:rPr lang="en-US" sz="2200" dirty="0" smtClean="0">
                <a:latin typeface="Helvetica" pitchFamily="34" charset="0"/>
              </a:rPr>
              <a:t>Prepare a draft</a:t>
            </a:r>
          </a:p>
          <a:p>
            <a:pPr marL="360000" indent="-360000">
              <a:spcBef>
                <a:spcPts val="600"/>
              </a:spcBef>
              <a:spcAft>
                <a:spcPts val="1200"/>
              </a:spcAft>
            </a:pPr>
            <a:r>
              <a:rPr lang="en-US" sz="2200" dirty="0" smtClean="0">
                <a:latin typeface="Helvetica" pitchFamily="34" charset="0"/>
              </a:rPr>
              <a:t>Trial/practice the draft by reading it out aloud</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71</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572000" y="1772816"/>
            <a:ext cx="2241939" cy="3240000"/>
          </a:xfrm>
          <a:prstGeom prst="rect">
            <a:avLst/>
          </a:prstGeom>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the skills and knowledge necessary to guide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2060848"/>
            <a:ext cx="4032448" cy="4021907"/>
          </a:xfrm>
        </p:spPr>
        <p:txBody>
          <a:bodyPr>
            <a:normAutofit/>
          </a:bodyPr>
          <a:lstStyle/>
          <a:p>
            <a:pPr marL="360000" indent="-360000">
              <a:spcBef>
                <a:spcPts val="600"/>
              </a:spcBef>
              <a:spcAft>
                <a:spcPts val="1200"/>
              </a:spcAft>
            </a:pPr>
            <a:r>
              <a:rPr lang="en-US" sz="2000" dirty="0" smtClean="0">
                <a:latin typeface="Helvetica" pitchFamily="34" charset="0"/>
              </a:rPr>
              <a:t>Write from the visitor’s perspective</a:t>
            </a:r>
          </a:p>
          <a:p>
            <a:pPr marL="360000" indent="-360000">
              <a:spcBef>
                <a:spcPts val="600"/>
              </a:spcBef>
              <a:spcAft>
                <a:spcPts val="1200"/>
              </a:spcAft>
            </a:pPr>
            <a:r>
              <a:rPr lang="en-US" sz="2000" dirty="0" smtClean="0">
                <a:latin typeface="Helvetica" pitchFamily="34" charset="0"/>
              </a:rPr>
              <a:t>Use simple/plain language</a:t>
            </a:r>
          </a:p>
          <a:p>
            <a:pPr marL="360000" indent="-360000">
              <a:spcBef>
                <a:spcPts val="600"/>
              </a:spcBef>
              <a:spcAft>
                <a:spcPts val="1200"/>
              </a:spcAft>
            </a:pPr>
            <a:r>
              <a:rPr lang="en-US" sz="2000" dirty="0" smtClean="0">
                <a:latin typeface="Helvetica" pitchFamily="34" charset="0"/>
              </a:rPr>
              <a:t>Reflect the nature of the tour</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72</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375313" y="1988840"/>
            <a:ext cx="3920683" cy="3060000"/>
          </a:xfrm>
          <a:prstGeom prst="rect">
            <a:avLst/>
          </a:prstGeom>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the skills and knowledge necessary to guide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sz="2000" dirty="0" smtClean="0">
                <a:latin typeface="Helvetica" pitchFamily="34" charset="0"/>
              </a:rPr>
              <a:t>Revise draft on basis of feedback and trials – be prepared to revise the revised draft</a:t>
            </a:r>
          </a:p>
          <a:p>
            <a:pPr marL="360000" indent="-360000">
              <a:spcBef>
                <a:spcPts val="600"/>
              </a:spcBef>
              <a:spcAft>
                <a:spcPts val="1200"/>
              </a:spcAft>
            </a:pPr>
            <a:r>
              <a:rPr lang="en-US" sz="2000" dirty="0" smtClean="0">
                <a:latin typeface="Helvetica" pitchFamily="34" charset="0"/>
              </a:rPr>
              <a:t>Practice final commentary prior to actual delivery – to gain confidence and familiarity with it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73</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004048" y="1772816"/>
            <a:ext cx="2039796" cy="3060000"/>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the skills and knowledge necessary to guide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fontScale="92500"/>
          </a:bodyPr>
          <a:lstStyle/>
          <a:p>
            <a:pPr marL="0" indent="0">
              <a:spcBef>
                <a:spcPts val="600"/>
              </a:spcBef>
              <a:spcAft>
                <a:spcPts val="1200"/>
              </a:spcAft>
              <a:buNone/>
            </a:pPr>
            <a:r>
              <a:rPr lang="en-US" sz="2200" dirty="0" smtClean="0">
                <a:latin typeface="Helvetica" pitchFamily="34" charset="0"/>
              </a:rPr>
              <a:t>Pre-departure checks – Checking tour requirements may require talking with others to:</a:t>
            </a:r>
          </a:p>
          <a:p>
            <a:pPr marL="360000" indent="-360000">
              <a:spcBef>
                <a:spcPts val="600"/>
              </a:spcBef>
              <a:spcAft>
                <a:spcPts val="1200"/>
              </a:spcAft>
            </a:pPr>
            <a:r>
              <a:rPr lang="en-US" sz="2200" dirty="0" smtClean="0">
                <a:latin typeface="Helvetica" pitchFamily="34" charset="0"/>
              </a:rPr>
              <a:t>Confirm plans/arrangements</a:t>
            </a:r>
          </a:p>
          <a:p>
            <a:pPr marL="360000" indent="-360000">
              <a:spcBef>
                <a:spcPts val="600"/>
              </a:spcBef>
              <a:spcAft>
                <a:spcPts val="1200"/>
              </a:spcAft>
            </a:pPr>
            <a:r>
              <a:rPr lang="en-US" sz="2200" dirty="0" smtClean="0">
                <a:latin typeface="Helvetica" pitchFamily="34" charset="0"/>
              </a:rPr>
              <a:t>Discuss changes</a:t>
            </a:r>
          </a:p>
          <a:p>
            <a:pPr marL="360000" indent="-360000">
              <a:spcBef>
                <a:spcPts val="600"/>
              </a:spcBef>
              <a:spcAft>
                <a:spcPts val="1200"/>
              </a:spcAft>
            </a:pPr>
            <a:r>
              <a:rPr lang="en-US" sz="2200" dirty="0" smtClean="0">
                <a:latin typeface="Helvetica" pitchFamily="34" charset="0"/>
              </a:rPr>
              <a:t>Determine alternatives</a:t>
            </a:r>
          </a:p>
          <a:p>
            <a:pPr marL="360000" indent="-360000">
              <a:spcBef>
                <a:spcPts val="600"/>
              </a:spcBef>
              <a:spcAft>
                <a:spcPts val="1200"/>
              </a:spcAft>
            </a:pPr>
            <a:r>
              <a:rPr lang="en-US" sz="2200" dirty="0" smtClean="0">
                <a:latin typeface="Helvetica" pitchFamily="34" charset="0"/>
              </a:rPr>
              <a:t>Recap roles and responsibilities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74</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572000" y="2564904"/>
            <a:ext cx="2719409" cy="3060000"/>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the skills and knowledge necessary to guide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0" indent="0">
              <a:spcBef>
                <a:spcPts val="600"/>
              </a:spcBef>
              <a:spcAft>
                <a:spcPts val="1200"/>
              </a:spcAft>
              <a:buNone/>
            </a:pPr>
            <a:r>
              <a:rPr lang="en-US" sz="2000" dirty="0" smtClean="0">
                <a:latin typeface="Helvetica" pitchFamily="34" charset="0"/>
              </a:rPr>
              <a:t>Pre-departure checks – Preparing transportation may require:</a:t>
            </a:r>
          </a:p>
          <a:p>
            <a:pPr marL="360000" indent="-360000">
              <a:spcBef>
                <a:spcPts val="600"/>
              </a:spcBef>
              <a:spcAft>
                <a:spcPts val="1200"/>
              </a:spcAft>
            </a:pPr>
            <a:r>
              <a:rPr lang="en-US" sz="2000" dirty="0" smtClean="0">
                <a:latin typeface="Helvetica" pitchFamily="34" charset="0"/>
              </a:rPr>
              <a:t>Undertaking safety inspections/checks</a:t>
            </a:r>
          </a:p>
          <a:p>
            <a:pPr marL="360000" indent="-360000">
              <a:spcBef>
                <a:spcPts val="600"/>
              </a:spcBef>
              <a:spcAft>
                <a:spcPts val="1200"/>
              </a:spcAft>
            </a:pPr>
            <a:r>
              <a:rPr lang="en-US" sz="2000" dirty="0" smtClean="0">
                <a:latin typeface="Helvetica" pitchFamily="34" charset="0"/>
              </a:rPr>
              <a:t>Cleaning</a:t>
            </a:r>
          </a:p>
          <a:p>
            <a:pPr marL="360000" indent="-360000">
              <a:spcBef>
                <a:spcPts val="600"/>
              </a:spcBef>
              <a:spcAft>
                <a:spcPts val="1200"/>
              </a:spcAft>
            </a:pPr>
            <a:r>
              <a:rPr lang="en-US" sz="2000" dirty="0" smtClean="0">
                <a:latin typeface="Helvetica" pitchFamily="34" charset="0"/>
              </a:rPr>
              <a:t>Replenishment of on-board supplies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75</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13715" y="1988840"/>
            <a:ext cx="3239685" cy="2160000"/>
          </a:xfrm>
          <a:prstGeom prst="rect">
            <a:avLst/>
          </a:prstGeom>
          <a:ln>
            <a:noFill/>
          </a:ln>
          <a:effectLst/>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the skills and knowledge necessary to guide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Pre-departure checks – Processing tour resources may require:</a:t>
            </a:r>
          </a:p>
          <a:p>
            <a:pPr marL="360000" indent="-360000">
              <a:spcBef>
                <a:spcPts val="600"/>
              </a:spcBef>
              <a:spcAft>
                <a:spcPts val="1200"/>
              </a:spcAft>
            </a:pPr>
            <a:r>
              <a:rPr lang="en-US" sz="2000" dirty="0" smtClean="0">
                <a:latin typeface="Helvetica" pitchFamily="34" charset="0"/>
              </a:rPr>
              <a:t>Requisitioning/ordering resources</a:t>
            </a:r>
          </a:p>
          <a:p>
            <a:pPr marL="360000" indent="-360000">
              <a:spcBef>
                <a:spcPts val="600"/>
              </a:spcBef>
              <a:spcAft>
                <a:spcPts val="1200"/>
              </a:spcAft>
            </a:pPr>
            <a:r>
              <a:rPr lang="en-US" sz="2000" dirty="0" smtClean="0">
                <a:latin typeface="Helvetica" pitchFamily="34" charset="0"/>
              </a:rPr>
              <a:t>Obtaining and checking/inspecting resources provided</a:t>
            </a:r>
          </a:p>
          <a:p>
            <a:pPr marL="360000" indent="-360000">
              <a:spcBef>
                <a:spcPts val="600"/>
              </a:spcBef>
              <a:spcAft>
                <a:spcPts val="1200"/>
              </a:spcAft>
            </a:pPr>
            <a:r>
              <a:rPr lang="en-US" sz="2000" dirty="0" smtClean="0">
                <a:latin typeface="Helvetica" pitchFamily="34" charset="0"/>
              </a:rPr>
              <a:t>Loading/stowing items on board transport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76</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292080" y="2564904"/>
            <a:ext cx="2032388" cy="3060000"/>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the skills and knowledge necessary to guide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Pre-departure checks – Completing documentation may relate to:</a:t>
            </a:r>
          </a:p>
          <a:p>
            <a:pPr marL="360000" indent="-360000">
              <a:spcBef>
                <a:spcPts val="600"/>
              </a:spcBef>
              <a:spcAft>
                <a:spcPts val="1200"/>
              </a:spcAft>
            </a:pPr>
            <a:r>
              <a:rPr lang="en-US" sz="2200" dirty="0" smtClean="0">
                <a:latin typeface="Helvetica" pitchFamily="34" charset="0"/>
              </a:rPr>
              <a:t>Vehicle logs</a:t>
            </a:r>
          </a:p>
          <a:p>
            <a:pPr marL="360000" indent="-360000">
              <a:spcBef>
                <a:spcPts val="600"/>
              </a:spcBef>
              <a:spcAft>
                <a:spcPts val="1200"/>
              </a:spcAft>
            </a:pPr>
            <a:r>
              <a:rPr lang="en-US" sz="2200" dirty="0" smtClean="0">
                <a:latin typeface="Helvetica" pitchFamily="34" charset="0"/>
              </a:rPr>
              <a:t>Internal tour-related paperwork</a:t>
            </a:r>
          </a:p>
          <a:p>
            <a:pPr marL="360000" indent="-360000">
              <a:spcBef>
                <a:spcPts val="600"/>
              </a:spcBef>
              <a:spcAft>
                <a:spcPts val="1200"/>
              </a:spcAft>
            </a:pPr>
            <a:r>
              <a:rPr lang="en-US" sz="2200" dirty="0" smtClean="0">
                <a:latin typeface="Helvetica" pitchFamily="34" charset="0"/>
              </a:rPr>
              <a:t>Time sheets</a:t>
            </a:r>
          </a:p>
          <a:p>
            <a:pPr marL="360000" indent="-360000">
              <a:spcBef>
                <a:spcPts val="600"/>
              </a:spcBef>
              <a:spcAft>
                <a:spcPts val="1200"/>
              </a:spcAft>
            </a:pPr>
            <a:r>
              <a:rPr lang="en-US" sz="2200" dirty="0" smtClean="0">
                <a:latin typeface="Helvetica" pitchFamily="34" charset="0"/>
              </a:rPr>
              <a:t>Tour manifests</a:t>
            </a:r>
          </a:p>
          <a:p>
            <a:pPr marL="360000" indent="-360000">
              <a:spcBef>
                <a:spcPts val="600"/>
              </a:spcBef>
              <a:spcAft>
                <a:spcPts val="1200"/>
              </a:spcAft>
            </a:pPr>
            <a:r>
              <a:rPr lang="en-US" sz="2200" dirty="0" smtClean="0">
                <a:latin typeface="Helvetica" pitchFamily="34" charset="0"/>
              </a:rPr>
              <a:t>Signing for tour items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788024" y="1772816"/>
            <a:ext cx="2568240" cy="3240000"/>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the skills and knowledge necessary to guide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Pre-departure checks – Checking personal appearance will require attention to:</a:t>
            </a:r>
          </a:p>
          <a:p>
            <a:pPr marL="360000" indent="-360000">
              <a:spcBef>
                <a:spcPts val="600"/>
              </a:spcBef>
              <a:spcAft>
                <a:spcPts val="1200"/>
              </a:spcAft>
            </a:pPr>
            <a:r>
              <a:rPr lang="en-US" sz="2200" dirty="0" smtClean="0">
                <a:latin typeface="Helvetica" pitchFamily="34" charset="0"/>
              </a:rPr>
              <a:t>Dress and grooming standards required by employer</a:t>
            </a:r>
          </a:p>
          <a:p>
            <a:pPr marL="360000" indent="-360000">
              <a:spcBef>
                <a:spcPts val="600"/>
              </a:spcBef>
              <a:spcAft>
                <a:spcPts val="1200"/>
              </a:spcAft>
            </a:pPr>
            <a:r>
              <a:rPr lang="en-US" sz="2200" dirty="0" smtClean="0">
                <a:latin typeface="Helvetica" pitchFamily="34" charset="0"/>
              </a:rPr>
              <a:t>Standards of decency and common sense</a:t>
            </a:r>
          </a:p>
          <a:p>
            <a:pPr marL="360000" indent="-360000">
              <a:spcBef>
                <a:spcPts val="600"/>
              </a:spcBef>
              <a:spcAft>
                <a:spcPts val="1200"/>
              </a:spcAft>
            </a:pPr>
            <a:r>
              <a:rPr lang="en-US" sz="2200" dirty="0" smtClean="0">
                <a:latin typeface="Helvetica" pitchFamily="34" charset="0"/>
              </a:rPr>
              <a:t>Meeting requirements of the upcoming tour</a:t>
            </a:r>
          </a:p>
          <a:p>
            <a:pPr marL="360000" indent="-360000">
              <a:spcBef>
                <a:spcPts val="600"/>
              </a:spcBef>
              <a:spcAft>
                <a:spcPts val="1200"/>
              </a:spcAft>
            </a:pPr>
            <a:r>
              <a:rPr lang="en-US" sz="2200" dirty="0" smtClean="0">
                <a:latin typeface="Helvetica" pitchFamily="34" charset="0"/>
              </a:rPr>
              <a:t>Personal hygiene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48064" y="1844824"/>
            <a:ext cx="2460269" cy="3240000"/>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the skills and knowledge necessary to guide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During-tour activities – Greeting tour group may require:</a:t>
            </a:r>
          </a:p>
          <a:p>
            <a:pPr marL="360000" indent="-360000">
              <a:spcBef>
                <a:spcPts val="600"/>
              </a:spcBef>
              <a:spcAft>
                <a:spcPts val="1200"/>
              </a:spcAft>
            </a:pPr>
            <a:r>
              <a:rPr lang="en-US" sz="2200" dirty="0" smtClean="0">
                <a:latin typeface="Helvetica" pitchFamily="34" charset="0"/>
              </a:rPr>
              <a:t>Being there before tourists arrive</a:t>
            </a:r>
          </a:p>
          <a:p>
            <a:pPr marL="360000" indent="-360000">
              <a:spcBef>
                <a:spcPts val="600"/>
              </a:spcBef>
              <a:spcAft>
                <a:spcPts val="1200"/>
              </a:spcAft>
            </a:pPr>
            <a:r>
              <a:rPr lang="en-US" sz="2200" dirty="0" smtClean="0">
                <a:latin typeface="Helvetica" pitchFamily="34" charset="0"/>
              </a:rPr>
              <a:t>A verbal welcome and a smile</a:t>
            </a:r>
          </a:p>
          <a:p>
            <a:pPr marL="360000" indent="-360000">
              <a:spcBef>
                <a:spcPts val="600"/>
              </a:spcBef>
              <a:spcAft>
                <a:spcPts val="1200"/>
              </a:spcAft>
            </a:pPr>
            <a:r>
              <a:rPr lang="en-US" sz="2200" dirty="0" smtClean="0">
                <a:latin typeface="Helvetica" pitchFamily="34" charset="0"/>
              </a:rPr>
              <a:t>Self-introduction</a:t>
            </a:r>
          </a:p>
          <a:p>
            <a:pPr marL="360000" indent="-360000">
              <a:spcBef>
                <a:spcPts val="600"/>
              </a:spcBef>
              <a:spcAft>
                <a:spcPts val="1200"/>
              </a:spcAft>
            </a:pPr>
            <a:r>
              <a:rPr lang="en-US" sz="2200" dirty="0" smtClean="0">
                <a:latin typeface="Helvetica" pitchFamily="34" charset="0"/>
              </a:rPr>
              <a:t>Thanks for coming</a:t>
            </a:r>
          </a:p>
          <a:p>
            <a:pPr marL="360000" indent="-360000">
              <a:spcBef>
                <a:spcPts val="600"/>
              </a:spcBef>
              <a:spcAft>
                <a:spcPts val="1200"/>
              </a:spcAft>
            </a:pPr>
            <a:r>
              <a:rPr lang="en-US" sz="2200" dirty="0" smtClean="0">
                <a:latin typeface="Helvetica" pitchFamily="34" charset="0"/>
              </a:rPr>
              <a:t>Introducing relevant others</a:t>
            </a:r>
          </a:p>
          <a:p>
            <a:pPr marL="360000" indent="-360000">
              <a:spcBef>
                <a:spcPts val="600"/>
              </a:spcBef>
              <a:spcAft>
                <a:spcPts val="1200"/>
              </a:spcAft>
            </a:pPr>
            <a:r>
              <a:rPr lang="en-US" sz="2200" dirty="0" smtClean="0">
                <a:latin typeface="Helvetica" pitchFamily="34" charset="0"/>
              </a:rPr>
              <a:t>Establishing rapport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79</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860032" y="1844824"/>
            <a:ext cx="2451370" cy="3240000"/>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the skills and knowledge necessary to guide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During-tour activities – Confirming tour details can embrace:</a:t>
            </a:r>
          </a:p>
          <a:p>
            <a:pPr marL="360000" indent="-360000">
              <a:spcBef>
                <a:spcPts val="600"/>
              </a:spcBef>
              <a:spcAft>
                <a:spcPts val="1200"/>
              </a:spcAft>
            </a:pPr>
            <a:r>
              <a:rPr lang="en-US" sz="2200" dirty="0" smtClean="0">
                <a:latin typeface="Helvetica" pitchFamily="34" charset="0"/>
              </a:rPr>
              <a:t>Providing itinerary </a:t>
            </a:r>
          </a:p>
          <a:p>
            <a:pPr marL="360000" indent="-360000">
              <a:spcBef>
                <a:spcPts val="600"/>
              </a:spcBef>
              <a:spcAft>
                <a:spcPts val="1200"/>
              </a:spcAft>
            </a:pPr>
            <a:r>
              <a:rPr lang="en-US" sz="2200" dirty="0" smtClean="0">
                <a:latin typeface="Helvetica" pitchFamily="34" charset="0"/>
              </a:rPr>
              <a:t>Distributing materials/resources</a:t>
            </a:r>
          </a:p>
          <a:p>
            <a:pPr marL="360000" indent="-360000">
              <a:spcBef>
                <a:spcPts val="600"/>
              </a:spcBef>
              <a:spcAft>
                <a:spcPts val="1200"/>
              </a:spcAft>
            </a:pPr>
            <a:r>
              <a:rPr lang="en-US" sz="2200" dirty="0" smtClean="0">
                <a:latin typeface="Helvetica" pitchFamily="34" charset="0"/>
              </a:rPr>
              <a:t>Including a Q&amp;A session</a:t>
            </a:r>
          </a:p>
          <a:p>
            <a:pPr marL="360000" indent="-360000">
              <a:spcBef>
                <a:spcPts val="600"/>
              </a:spcBef>
              <a:spcAft>
                <a:spcPts val="1200"/>
              </a:spcAft>
            </a:pPr>
            <a:r>
              <a:rPr lang="en-US" sz="2200" dirty="0" smtClean="0">
                <a:latin typeface="Helvetica" pitchFamily="34" charset="0"/>
              </a:rPr>
              <a:t>Mentioning hazards and safety issues/requirements</a:t>
            </a:r>
          </a:p>
          <a:p>
            <a:pPr marL="360000" indent="-360000">
              <a:spcBef>
                <a:spcPts val="600"/>
              </a:spcBef>
              <a:spcAft>
                <a:spcPts val="1200"/>
              </a:spcAft>
            </a:pPr>
            <a:r>
              <a:rPr lang="en-US" sz="2200" dirty="0" smtClean="0">
                <a:latin typeface="Helvetica" pitchFamily="34" charset="0"/>
              </a:rPr>
              <a:t>Explaining tour group management protocols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80</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427984" y="1475656"/>
            <a:ext cx="2592288" cy="3656474"/>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the skills and knowledge necessary to guide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a:bodyPr>
          <a:lstStyle/>
          <a:p>
            <a:pPr marL="0" indent="0">
              <a:spcBef>
                <a:spcPts val="600"/>
              </a:spcBef>
              <a:spcAft>
                <a:spcPts val="1200"/>
              </a:spcAft>
              <a:buNone/>
            </a:pPr>
            <a:r>
              <a:rPr lang="en-US" sz="2200" dirty="0" smtClean="0">
                <a:latin typeface="Helvetica" pitchFamily="34" charset="0"/>
              </a:rPr>
              <a:t>During-tour activities – Commencing the tour can embrace:</a:t>
            </a:r>
          </a:p>
          <a:p>
            <a:pPr marL="360000" indent="-360000">
              <a:spcBef>
                <a:spcPts val="600"/>
              </a:spcBef>
              <a:spcAft>
                <a:spcPts val="1200"/>
              </a:spcAft>
            </a:pPr>
            <a:r>
              <a:rPr lang="en-US" sz="2200" dirty="0" smtClean="0">
                <a:latin typeface="Helvetica" pitchFamily="34" charset="0"/>
              </a:rPr>
              <a:t>Doing a head count</a:t>
            </a:r>
          </a:p>
          <a:p>
            <a:pPr marL="360000" indent="-360000">
              <a:spcBef>
                <a:spcPts val="600"/>
              </a:spcBef>
              <a:spcAft>
                <a:spcPts val="1200"/>
              </a:spcAft>
            </a:pPr>
            <a:r>
              <a:rPr lang="en-US" sz="2200" dirty="0" smtClean="0">
                <a:latin typeface="Helvetica" pitchFamily="34" charset="0"/>
              </a:rPr>
              <a:t>Leading tour group members to vehicle/transport</a:t>
            </a:r>
          </a:p>
          <a:p>
            <a:pPr marL="360000" indent="-360000">
              <a:spcBef>
                <a:spcPts val="600"/>
              </a:spcBef>
              <a:spcAft>
                <a:spcPts val="1200"/>
              </a:spcAft>
            </a:pPr>
            <a:r>
              <a:rPr lang="en-US" sz="2200" dirty="0" smtClean="0">
                <a:latin typeface="Helvetica" pitchFamily="34" charset="0"/>
              </a:rPr>
              <a:t>Explaining on-board facilities</a:t>
            </a:r>
          </a:p>
          <a:p>
            <a:pPr marL="360000" indent="-360000">
              <a:spcBef>
                <a:spcPts val="600"/>
              </a:spcBef>
              <a:spcAft>
                <a:spcPts val="1200"/>
              </a:spcAft>
            </a:pPr>
            <a:r>
              <a:rPr lang="en-US" sz="2200" dirty="0" smtClean="0">
                <a:latin typeface="Helvetica" pitchFamily="34" charset="0"/>
              </a:rPr>
              <a:t>Starting the tour ‘on time’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81</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076056" y="1772816"/>
            <a:ext cx="2462400" cy="3780000"/>
          </a:xfrm>
          <a:prstGeom prst="rect">
            <a:avLst/>
          </a:prstGeom>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the skills and knowledge necessary to guide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During-tour activities – Continuing relationship building and interactions with tour group members can embrace:</a:t>
            </a:r>
          </a:p>
          <a:p>
            <a:pPr marL="360000" indent="-360000">
              <a:spcBef>
                <a:spcPts val="600"/>
              </a:spcBef>
              <a:spcAft>
                <a:spcPts val="1200"/>
              </a:spcAft>
            </a:pPr>
            <a:r>
              <a:rPr lang="en-US" sz="2000" dirty="0" smtClean="0">
                <a:latin typeface="Helvetica" pitchFamily="34" charset="0"/>
              </a:rPr>
              <a:t>Extending/building on previous conversations</a:t>
            </a:r>
          </a:p>
          <a:p>
            <a:pPr marL="360000" indent="-360000">
              <a:spcBef>
                <a:spcPts val="600"/>
              </a:spcBef>
              <a:spcAft>
                <a:spcPts val="1200"/>
              </a:spcAft>
            </a:pPr>
            <a:r>
              <a:rPr lang="en-US" sz="2000" dirty="0" smtClean="0">
                <a:latin typeface="Helvetica" pitchFamily="34" charset="0"/>
              </a:rPr>
              <a:t>Asking questions</a:t>
            </a:r>
          </a:p>
          <a:p>
            <a:pPr marL="360000" indent="-360000">
              <a:spcBef>
                <a:spcPts val="600"/>
              </a:spcBef>
              <a:spcAft>
                <a:spcPts val="1200"/>
              </a:spcAft>
            </a:pPr>
            <a:r>
              <a:rPr lang="en-US" sz="2000" dirty="0" smtClean="0">
                <a:latin typeface="Helvetica" pitchFamily="34" charset="0"/>
              </a:rPr>
              <a:t>Using ‘ice breakers’</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82</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716016" y="1789313"/>
            <a:ext cx="2894448" cy="4024824"/>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the skills and knowledge necessary to guide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fontScale="92500"/>
          </a:bodyPr>
          <a:lstStyle/>
          <a:p>
            <a:pPr marL="360000" indent="-360000">
              <a:spcBef>
                <a:spcPts val="600"/>
              </a:spcBef>
              <a:spcAft>
                <a:spcPts val="1200"/>
              </a:spcAft>
            </a:pPr>
            <a:r>
              <a:rPr lang="en-US" sz="2200" dirty="0" smtClean="0">
                <a:latin typeface="Helvetica" pitchFamily="34" charset="0"/>
              </a:rPr>
              <a:t>Using anecdotes</a:t>
            </a:r>
          </a:p>
          <a:p>
            <a:pPr marL="360000" indent="-360000">
              <a:spcBef>
                <a:spcPts val="600"/>
              </a:spcBef>
              <a:spcAft>
                <a:spcPts val="1200"/>
              </a:spcAft>
            </a:pPr>
            <a:r>
              <a:rPr lang="en-US" sz="2200" dirty="0" smtClean="0">
                <a:latin typeface="Helvetica" pitchFamily="34" charset="0"/>
              </a:rPr>
              <a:t>Using humour</a:t>
            </a:r>
          </a:p>
          <a:p>
            <a:pPr marL="360000" indent="-360000">
              <a:spcBef>
                <a:spcPts val="600"/>
              </a:spcBef>
              <a:spcAft>
                <a:spcPts val="1200"/>
              </a:spcAft>
            </a:pPr>
            <a:r>
              <a:rPr lang="en-US" sz="2200" dirty="0" smtClean="0">
                <a:latin typeface="Helvetica" pitchFamily="34" charset="0"/>
              </a:rPr>
              <a:t>Checking on people’s welfare</a:t>
            </a:r>
          </a:p>
          <a:p>
            <a:pPr marL="360000" indent="-360000">
              <a:spcBef>
                <a:spcPts val="600"/>
              </a:spcBef>
              <a:spcAft>
                <a:spcPts val="1200"/>
              </a:spcAft>
            </a:pPr>
            <a:r>
              <a:rPr lang="en-US" sz="2200" dirty="0" smtClean="0">
                <a:latin typeface="Helvetica" pitchFamily="34" charset="0"/>
              </a:rPr>
              <a:t>Applying appropriate interpersonal and communication skills</a:t>
            </a:r>
          </a:p>
          <a:p>
            <a:pPr marL="360000" indent="-360000">
              <a:spcBef>
                <a:spcPts val="600"/>
              </a:spcBef>
              <a:spcAft>
                <a:spcPts val="1200"/>
              </a:spcAft>
            </a:pPr>
            <a:r>
              <a:rPr lang="en-US" sz="2200" dirty="0" smtClean="0">
                <a:latin typeface="Helvetica" pitchFamily="34" charset="0"/>
              </a:rPr>
              <a:t>Involving tour group members in what is happening</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83</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606857" y="1853611"/>
            <a:ext cx="2773455" cy="3838114"/>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the skills and knowledge necessary to guide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a:bodyPr>
          <a:lstStyle/>
          <a:p>
            <a:pPr marL="0" indent="0">
              <a:spcBef>
                <a:spcPts val="600"/>
              </a:spcBef>
              <a:spcAft>
                <a:spcPts val="1200"/>
              </a:spcAft>
              <a:buNone/>
            </a:pPr>
            <a:r>
              <a:rPr lang="en-US" sz="2200" dirty="0" smtClean="0">
                <a:latin typeface="Helvetica" pitchFamily="34" charset="0"/>
              </a:rPr>
              <a:t>During-tour activities – Providing commentary can include:</a:t>
            </a:r>
          </a:p>
          <a:p>
            <a:pPr marL="360000" indent="-360000">
              <a:spcBef>
                <a:spcPts val="600"/>
              </a:spcBef>
              <a:spcAft>
                <a:spcPts val="1200"/>
              </a:spcAft>
            </a:pPr>
            <a:r>
              <a:rPr lang="en-US" sz="2200" dirty="0" smtClean="0">
                <a:latin typeface="Helvetica" pitchFamily="34" charset="0"/>
              </a:rPr>
              <a:t>Ensuring visibility to best extent possible</a:t>
            </a:r>
          </a:p>
          <a:p>
            <a:pPr marL="360000" indent="-360000">
              <a:spcBef>
                <a:spcPts val="600"/>
              </a:spcBef>
              <a:spcAft>
                <a:spcPts val="1200"/>
              </a:spcAft>
            </a:pPr>
            <a:r>
              <a:rPr lang="en-US" sz="2200" dirty="0" smtClean="0">
                <a:latin typeface="Helvetica" pitchFamily="34" charset="0"/>
              </a:rPr>
              <a:t>Facing the group</a:t>
            </a:r>
          </a:p>
          <a:p>
            <a:pPr marL="360000" indent="-360000">
              <a:spcBef>
                <a:spcPts val="600"/>
              </a:spcBef>
              <a:spcAft>
                <a:spcPts val="1200"/>
              </a:spcAft>
            </a:pPr>
            <a:r>
              <a:rPr lang="en-US" sz="2200" dirty="0" smtClean="0">
                <a:latin typeface="Helvetica" pitchFamily="34" charset="0"/>
              </a:rPr>
              <a:t>Speaking loudly enough or using PA</a:t>
            </a:r>
          </a:p>
          <a:p>
            <a:pPr marL="360000" indent="-360000">
              <a:spcBef>
                <a:spcPts val="600"/>
              </a:spcBef>
              <a:spcAft>
                <a:spcPts val="1200"/>
              </a:spcAft>
            </a:pPr>
            <a:r>
              <a:rPr lang="en-US" sz="2200" dirty="0" smtClean="0">
                <a:latin typeface="Helvetica" pitchFamily="34" charset="0"/>
              </a:rPr>
              <a:t>Being enthusiastic</a:t>
            </a:r>
          </a:p>
          <a:p>
            <a:pPr marL="360000" indent="-360000">
              <a:spcBef>
                <a:spcPts val="600"/>
              </a:spcBef>
              <a:spcAft>
                <a:spcPts val="1200"/>
              </a:spcAft>
              <a:buNone/>
            </a:pPr>
            <a:r>
              <a:rPr lang="en-US" sz="15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84</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563888" y="2595797"/>
            <a:ext cx="4318976" cy="2880000"/>
          </a:xfrm>
          <a:prstGeom prst="rect">
            <a:avLst/>
          </a:prstGeom>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the skills and knowledge necessary to guide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sz="2000" dirty="0" smtClean="0">
                <a:latin typeface="Helvetica" pitchFamily="34" charset="0"/>
              </a:rPr>
              <a:t>Timing delivery properly according to travel and destinations/attractions</a:t>
            </a:r>
          </a:p>
          <a:p>
            <a:pPr marL="360000" indent="-360000">
              <a:spcBef>
                <a:spcPts val="600"/>
              </a:spcBef>
              <a:spcAft>
                <a:spcPts val="1200"/>
              </a:spcAft>
            </a:pPr>
            <a:r>
              <a:rPr lang="en-US" sz="2000" dirty="0" smtClean="0">
                <a:latin typeface="Helvetica" pitchFamily="34" charset="0"/>
              </a:rPr>
              <a:t>Focussing attention on everyone in the group</a:t>
            </a:r>
          </a:p>
          <a:p>
            <a:pPr marL="360000" indent="-360000">
              <a:spcBef>
                <a:spcPts val="600"/>
              </a:spcBef>
              <a:spcAft>
                <a:spcPts val="1200"/>
              </a:spcAft>
            </a:pPr>
            <a:r>
              <a:rPr lang="en-US" sz="2000" dirty="0" smtClean="0">
                <a:latin typeface="Helvetica" pitchFamily="34" charset="0"/>
              </a:rPr>
              <a:t>Communicating at a level/in a way so commentary will be understood by everyone</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85</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17350" y="1994857"/>
            <a:ext cx="3239677" cy="2160000"/>
          </a:xfrm>
          <a:prstGeom prst="rect">
            <a:avLst/>
          </a:prstGeom>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the skills and knowledge necessary to guide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sz="2000" dirty="0" smtClean="0">
                <a:latin typeface="Helvetica" pitchFamily="34" charset="0"/>
              </a:rPr>
              <a:t>Seeking feedback from the tour group</a:t>
            </a:r>
          </a:p>
          <a:p>
            <a:pPr marL="360000" indent="-360000">
              <a:spcBef>
                <a:spcPts val="600"/>
              </a:spcBef>
              <a:spcAft>
                <a:spcPts val="1200"/>
              </a:spcAft>
            </a:pPr>
            <a:r>
              <a:rPr lang="en-US" sz="2000" dirty="0" smtClean="0">
                <a:latin typeface="Helvetica" pitchFamily="34" charset="0"/>
              </a:rPr>
              <a:t>Encouraging questions</a:t>
            </a:r>
          </a:p>
          <a:p>
            <a:pPr marL="360000" indent="-360000">
              <a:spcBef>
                <a:spcPts val="600"/>
              </a:spcBef>
              <a:spcAft>
                <a:spcPts val="1200"/>
              </a:spcAft>
            </a:pPr>
            <a:r>
              <a:rPr lang="en-US" sz="2000" dirty="0" smtClean="0">
                <a:latin typeface="Helvetica" pitchFamily="34" charset="0"/>
              </a:rPr>
              <a:t>Making the commentary ‘unique’</a:t>
            </a:r>
          </a:p>
          <a:p>
            <a:pPr marL="360000" indent="-360000">
              <a:spcBef>
                <a:spcPts val="600"/>
              </a:spcBef>
              <a:spcAft>
                <a:spcPts val="1200"/>
              </a:spcAft>
            </a:pPr>
            <a:r>
              <a:rPr lang="en-US" sz="2000" dirty="0" smtClean="0">
                <a:latin typeface="Helvetica" pitchFamily="34" charset="0"/>
              </a:rPr>
              <a:t>Knowing when to be quiet</a:t>
            </a:r>
          </a:p>
          <a:p>
            <a:pPr marL="360000" indent="-360000">
              <a:spcBef>
                <a:spcPts val="600"/>
              </a:spcBef>
              <a:spcAft>
                <a:spcPts val="1200"/>
              </a:spcAft>
            </a:pPr>
            <a:r>
              <a:rPr lang="en-US" sz="2000" dirty="0" smtClean="0">
                <a:latin typeface="Helvetica" pitchFamily="34" charset="0"/>
              </a:rPr>
              <a:t>Adjusting commentary as required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86</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576373" y="2276872"/>
            <a:ext cx="2142171" cy="2880000"/>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the skills and knowledge necessary to guide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433224"/>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During-tour activities – Using correct protocols when using communication equipment:</a:t>
            </a:r>
          </a:p>
          <a:p>
            <a:pPr marL="360000" indent="-360000">
              <a:spcBef>
                <a:spcPts val="600"/>
              </a:spcBef>
              <a:spcAft>
                <a:spcPts val="1200"/>
              </a:spcAft>
            </a:pPr>
            <a:r>
              <a:rPr lang="en-US" sz="2200" dirty="0" smtClean="0">
                <a:latin typeface="Helvetica" pitchFamily="34" charset="0"/>
              </a:rPr>
              <a:t>Keeping communication lines open/free</a:t>
            </a:r>
          </a:p>
          <a:p>
            <a:pPr marL="360000" indent="-360000">
              <a:spcBef>
                <a:spcPts val="600"/>
              </a:spcBef>
              <a:spcAft>
                <a:spcPts val="1200"/>
              </a:spcAft>
            </a:pPr>
            <a:r>
              <a:rPr lang="en-US" sz="2200" dirty="0" smtClean="0">
                <a:latin typeface="Helvetica" pitchFamily="34" charset="0"/>
              </a:rPr>
              <a:t>Using designated channels</a:t>
            </a:r>
          </a:p>
          <a:p>
            <a:pPr marL="360000" indent="-360000">
              <a:spcBef>
                <a:spcPts val="600"/>
              </a:spcBef>
              <a:spcAft>
                <a:spcPts val="1200"/>
              </a:spcAft>
            </a:pPr>
            <a:r>
              <a:rPr lang="en-US" sz="2200" dirty="0" smtClean="0">
                <a:latin typeface="Helvetica" pitchFamily="34" charset="0"/>
              </a:rPr>
              <a:t>Using established protocols</a:t>
            </a:r>
          </a:p>
          <a:p>
            <a:pPr marL="360000" indent="-360000">
              <a:spcBef>
                <a:spcPts val="600"/>
              </a:spcBef>
              <a:spcAft>
                <a:spcPts val="1200"/>
              </a:spcAft>
            </a:pPr>
            <a:r>
              <a:rPr lang="en-US" sz="2200" dirty="0" smtClean="0">
                <a:latin typeface="Helvetica" pitchFamily="34" charset="0"/>
              </a:rPr>
              <a:t>Knowing emergency transmission words</a:t>
            </a:r>
          </a:p>
          <a:p>
            <a:pPr marL="360000" indent="-360000">
              <a:spcBef>
                <a:spcPts val="600"/>
              </a:spcBef>
              <a:spcAft>
                <a:spcPts val="1200"/>
              </a:spcAft>
            </a:pPr>
            <a:r>
              <a:rPr lang="en-US" sz="2200" dirty="0" smtClean="0">
                <a:latin typeface="Helvetica" pitchFamily="34" charset="0"/>
              </a:rPr>
              <a:t>Checking-in as required</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17604" y="2027582"/>
            <a:ext cx="3252135" cy="2160000"/>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the skills and knowledge necessary to guide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320480"/>
          </a:xfrm>
        </p:spPr>
        <p:txBody>
          <a:bodyPr>
            <a:normAutofit lnSpcReduction="10000"/>
          </a:bodyPr>
          <a:lstStyle/>
          <a:p>
            <a:pPr marL="360000" indent="-360000">
              <a:spcBef>
                <a:spcPts val="600"/>
              </a:spcBef>
              <a:spcAft>
                <a:spcPts val="1200"/>
              </a:spcAft>
            </a:pPr>
            <a:r>
              <a:rPr lang="en-US" sz="2000" dirty="0" smtClean="0">
                <a:latin typeface="Helvetica" pitchFamily="34" charset="0"/>
              </a:rPr>
              <a:t>Not talking over other transmissions</a:t>
            </a:r>
          </a:p>
          <a:p>
            <a:pPr marL="360000" indent="-360000">
              <a:spcBef>
                <a:spcPts val="600"/>
              </a:spcBef>
              <a:spcAft>
                <a:spcPts val="1200"/>
              </a:spcAft>
            </a:pPr>
            <a:r>
              <a:rPr lang="en-US" sz="2000" dirty="0" smtClean="0">
                <a:latin typeface="Helvetica" pitchFamily="34" charset="0"/>
              </a:rPr>
              <a:t>Using ‘over’ at end of communications</a:t>
            </a:r>
          </a:p>
          <a:p>
            <a:pPr marL="360000" indent="-360000">
              <a:spcBef>
                <a:spcPts val="600"/>
              </a:spcBef>
              <a:spcAft>
                <a:spcPts val="1200"/>
              </a:spcAft>
            </a:pPr>
            <a:r>
              <a:rPr lang="en-US" sz="2000" dirty="0" smtClean="0">
                <a:latin typeface="Helvetica" pitchFamily="34" charset="0"/>
              </a:rPr>
              <a:t>Using ‘go ahead’ to indicate readiness to receive</a:t>
            </a:r>
          </a:p>
          <a:p>
            <a:pPr marL="360000" indent="-360000">
              <a:spcBef>
                <a:spcPts val="600"/>
              </a:spcBef>
              <a:spcAft>
                <a:spcPts val="1200"/>
              </a:spcAft>
            </a:pPr>
            <a:r>
              <a:rPr lang="en-US" sz="2000" dirty="0" smtClean="0">
                <a:latin typeface="Helvetica" pitchFamily="34" charset="0"/>
              </a:rPr>
              <a:t>Identifying self when sending</a:t>
            </a:r>
          </a:p>
          <a:p>
            <a:pPr marL="360000" indent="-360000">
              <a:spcBef>
                <a:spcPts val="600"/>
              </a:spcBef>
              <a:spcAft>
                <a:spcPts val="1200"/>
              </a:spcAft>
            </a:pPr>
            <a:r>
              <a:rPr lang="en-US" sz="2000" dirty="0" smtClean="0">
                <a:latin typeface="Helvetica" pitchFamily="34" charset="0"/>
              </a:rPr>
              <a:t>Using appropriate language</a:t>
            </a:r>
          </a:p>
          <a:p>
            <a:pPr marL="360000" indent="-360000">
              <a:spcBef>
                <a:spcPts val="600"/>
              </a:spcBef>
              <a:spcAft>
                <a:spcPts val="1200"/>
              </a:spcAft>
            </a:pPr>
            <a:r>
              <a:rPr lang="en-US" sz="2000" dirty="0" smtClean="0">
                <a:latin typeface="Helvetica" pitchFamily="34" charset="0"/>
              </a:rPr>
              <a:t>Not mentioning ‘sensitive’ issues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60032" y="2024689"/>
            <a:ext cx="2880000" cy="2160000"/>
          </a:xfrm>
          <a:prstGeom prst="rect">
            <a:avLst/>
          </a:prstGeom>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the skills and knowledge necessary to guide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104456" cy="4433224"/>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During-tour activities – Using appropriate communication techniques:</a:t>
            </a:r>
          </a:p>
          <a:p>
            <a:pPr marL="360000" indent="-360000">
              <a:spcBef>
                <a:spcPts val="600"/>
              </a:spcBef>
              <a:spcAft>
                <a:spcPts val="1200"/>
              </a:spcAft>
            </a:pPr>
            <a:r>
              <a:rPr lang="en-US" sz="2200" dirty="0" smtClean="0">
                <a:latin typeface="Helvetica" pitchFamily="34" charset="0"/>
              </a:rPr>
              <a:t>Repeating aspects of commentary as/if/when required</a:t>
            </a:r>
          </a:p>
          <a:p>
            <a:pPr marL="360000" indent="-360000">
              <a:spcBef>
                <a:spcPts val="600"/>
              </a:spcBef>
              <a:spcAft>
                <a:spcPts val="1200"/>
              </a:spcAft>
            </a:pPr>
            <a:r>
              <a:rPr lang="en-US" sz="2200" dirty="0" smtClean="0">
                <a:latin typeface="Helvetica" pitchFamily="34" charset="0"/>
              </a:rPr>
              <a:t>Paraphrasing</a:t>
            </a:r>
          </a:p>
          <a:p>
            <a:pPr marL="360000" indent="-360000">
              <a:spcBef>
                <a:spcPts val="600"/>
              </a:spcBef>
              <a:spcAft>
                <a:spcPts val="1200"/>
              </a:spcAft>
            </a:pPr>
            <a:r>
              <a:rPr lang="en-US" sz="2200" dirty="0" smtClean="0">
                <a:latin typeface="Helvetica" pitchFamily="34" charset="0"/>
              </a:rPr>
              <a:t>Speaking at a variety of paces</a:t>
            </a:r>
          </a:p>
          <a:p>
            <a:pPr marL="360000" indent="-360000">
              <a:spcBef>
                <a:spcPts val="600"/>
              </a:spcBef>
              <a:spcAft>
                <a:spcPts val="1200"/>
              </a:spcAft>
            </a:pPr>
            <a:r>
              <a:rPr lang="en-US" sz="2200" dirty="0" smtClean="0">
                <a:latin typeface="Helvetica" pitchFamily="34" charset="0"/>
              </a:rPr>
              <a:t>Pointing and using hand gestures</a:t>
            </a:r>
          </a:p>
          <a:p>
            <a:pPr marL="360000" indent="-360000">
              <a:spcBef>
                <a:spcPts val="600"/>
              </a:spcBef>
              <a:spcAft>
                <a:spcPts val="1200"/>
              </a:spcAft>
            </a:pPr>
            <a:r>
              <a:rPr lang="en-US" sz="2200" dirty="0" smtClean="0">
                <a:latin typeface="Helvetica" pitchFamily="34" charset="0"/>
              </a:rPr>
              <a:t>Involving the group</a:t>
            </a:r>
          </a:p>
          <a:p>
            <a:pPr marL="360000" indent="-360000">
              <a:spcBef>
                <a:spcPts val="600"/>
              </a:spcBef>
              <a:spcAft>
                <a:spcPts val="1200"/>
              </a:spcAft>
              <a:buNone/>
            </a:pPr>
            <a:r>
              <a:rPr lang="en-US" sz="1400" dirty="0" smtClean="0">
                <a:latin typeface="Helvetica" pitchFamily="34" charset="0"/>
              </a:rPr>
              <a:t>(Continued)</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89</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39469" y="2039772"/>
            <a:ext cx="3239691" cy="2160000"/>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the skills and knowledge necessary to guide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sz="2000" dirty="0" smtClean="0">
                <a:latin typeface="Helvetica" pitchFamily="34" charset="0"/>
              </a:rPr>
              <a:t>Being constantly alert to communication barriers</a:t>
            </a:r>
          </a:p>
          <a:p>
            <a:pPr marL="360000" indent="-360000">
              <a:spcBef>
                <a:spcPts val="600"/>
              </a:spcBef>
              <a:spcAft>
                <a:spcPts val="1200"/>
              </a:spcAft>
            </a:pPr>
            <a:r>
              <a:rPr lang="en-US" sz="2000" dirty="0" smtClean="0">
                <a:latin typeface="Helvetica" pitchFamily="34" charset="0"/>
              </a:rPr>
              <a:t>Checking for understanding</a:t>
            </a:r>
          </a:p>
          <a:p>
            <a:pPr marL="360000" indent="-360000">
              <a:spcBef>
                <a:spcPts val="600"/>
              </a:spcBef>
              <a:spcAft>
                <a:spcPts val="1200"/>
              </a:spcAft>
            </a:pPr>
            <a:r>
              <a:rPr lang="en-US" sz="2000" dirty="0" smtClean="0">
                <a:latin typeface="Helvetica" pitchFamily="34" charset="0"/>
              </a:rPr>
              <a:t>Altering volume as required</a:t>
            </a:r>
          </a:p>
          <a:p>
            <a:pPr marL="360000" indent="-360000">
              <a:spcBef>
                <a:spcPts val="600"/>
              </a:spcBef>
              <a:spcAft>
                <a:spcPts val="1200"/>
              </a:spcAft>
            </a:pPr>
            <a:r>
              <a:rPr lang="en-US" sz="2000" dirty="0" smtClean="0">
                <a:latin typeface="Helvetica" pitchFamily="34" charset="0"/>
              </a:rPr>
              <a:t>Using extra staff</a:t>
            </a:r>
          </a:p>
          <a:p>
            <a:pPr marL="360000" indent="-360000">
              <a:spcBef>
                <a:spcPts val="600"/>
              </a:spcBef>
              <a:spcAft>
                <a:spcPts val="1200"/>
              </a:spcAft>
            </a:pPr>
            <a:r>
              <a:rPr lang="en-US" sz="2000" dirty="0" smtClean="0">
                <a:latin typeface="Helvetica" pitchFamily="34" charset="0"/>
              </a:rPr>
              <a:t>Addressing emotional barriers/issues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60032" y="1844824"/>
            <a:ext cx="2448272" cy="3672408"/>
          </a:xfrm>
          <a:prstGeom prst="rect">
            <a:avLst/>
          </a:prstGeom>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the skills and knowledge necessary to guide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During-tour activities – Conducting hands-on activities:</a:t>
            </a:r>
          </a:p>
          <a:p>
            <a:pPr marL="360000" indent="-360000">
              <a:spcBef>
                <a:spcPts val="600"/>
              </a:spcBef>
              <a:spcAft>
                <a:spcPts val="1200"/>
              </a:spcAft>
            </a:pPr>
            <a:r>
              <a:rPr lang="en-US" sz="2200" dirty="0" smtClean="0">
                <a:latin typeface="Helvetica" pitchFamily="34" charset="0"/>
              </a:rPr>
              <a:t>Understand all there is to know</a:t>
            </a:r>
          </a:p>
          <a:p>
            <a:pPr marL="360000" indent="-360000">
              <a:spcBef>
                <a:spcPts val="600"/>
              </a:spcBef>
              <a:spcAft>
                <a:spcPts val="1200"/>
              </a:spcAft>
            </a:pPr>
            <a:r>
              <a:rPr lang="en-US" sz="2200" dirty="0" smtClean="0">
                <a:latin typeface="Helvetica" pitchFamily="34" charset="0"/>
              </a:rPr>
              <a:t>Make sure management approval exists</a:t>
            </a:r>
          </a:p>
          <a:p>
            <a:pPr marL="360000" indent="-360000">
              <a:spcBef>
                <a:spcPts val="600"/>
              </a:spcBef>
              <a:spcAft>
                <a:spcPts val="1200"/>
              </a:spcAft>
            </a:pPr>
            <a:r>
              <a:rPr lang="en-US" sz="2200" dirty="0" smtClean="0">
                <a:latin typeface="Helvetica" pitchFamily="34" charset="0"/>
              </a:rPr>
              <a:t>Verify support staff are present and ready</a:t>
            </a:r>
          </a:p>
          <a:p>
            <a:pPr marL="360000" indent="-360000">
              <a:spcBef>
                <a:spcPts val="600"/>
              </a:spcBef>
              <a:spcAft>
                <a:spcPts val="1200"/>
              </a:spcAft>
            </a:pPr>
            <a:r>
              <a:rPr lang="en-US" sz="2200" dirty="0" smtClean="0">
                <a:latin typeface="Helvetica" pitchFamily="34" charset="0"/>
              </a:rPr>
              <a:t>Arrive ‘on time’ for the activity</a:t>
            </a:r>
          </a:p>
          <a:p>
            <a:pPr marL="360000" indent="-360000">
              <a:spcBef>
                <a:spcPts val="600"/>
              </a:spcBef>
              <a:spcAft>
                <a:spcPts val="1200"/>
              </a:spcAft>
              <a:buNone/>
            </a:pPr>
            <a:r>
              <a:rPr lang="en-US" sz="15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91</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220072" y="1628800"/>
            <a:ext cx="2587788" cy="3780000"/>
          </a:xfrm>
          <a:prstGeom prst="rect">
            <a:avLst/>
          </a:prstGeom>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the skills and knowledge necessary to guide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sz="2000" dirty="0" smtClean="0">
                <a:latin typeface="Helvetica" pitchFamily="34" charset="0"/>
              </a:rPr>
              <a:t>Do a briefing for the activity</a:t>
            </a:r>
          </a:p>
          <a:p>
            <a:pPr marL="360000" indent="-360000">
              <a:spcBef>
                <a:spcPts val="600"/>
              </a:spcBef>
              <a:spcAft>
                <a:spcPts val="1200"/>
              </a:spcAft>
            </a:pPr>
            <a:r>
              <a:rPr lang="en-US" sz="2000" dirty="0" smtClean="0">
                <a:latin typeface="Helvetica" pitchFamily="34" charset="0"/>
              </a:rPr>
              <a:t>Advise of duration</a:t>
            </a:r>
          </a:p>
          <a:p>
            <a:pPr marL="360000" indent="-360000">
              <a:spcBef>
                <a:spcPts val="600"/>
              </a:spcBef>
              <a:spcAft>
                <a:spcPts val="1200"/>
              </a:spcAft>
            </a:pPr>
            <a:r>
              <a:rPr lang="en-US" sz="2000" dirty="0" smtClean="0">
                <a:latin typeface="Helvetica" pitchFamily="34" charset="0"/>
              </a:rPr>
              <a:t>Ensure safety has been addressed</a:t>
            </a:r>
          </a:p>
          <a:p>
            <a:pPr marL="360000" indent="-360000">
              <a:spcBef>
                <a:spcPts val="600"/>
              </a:spcBef>
              <a:spcAft>
                <a:spcPts val="1200"/>
              </a:spcAft>
            </a:pPr>
            <a:r>
              <a:rPr lang="en-US" sz="2000" dirty="0" smtClean="0">
                <a:latin typeface="Helvetica" pitchFamily="34" charset="0"/>
              </a:rPr>
              <a:t>Distribute necessary gear, resources, equipment</a:t>
            </a:r>
          </a:p>
          <a:p>
            <a:pPr marL="360000" indent="-360000">
              <a:spcBef>
                <a:spcPts val="600"/>
              </a:spcBef>
              <a:spcAft>
                <a:spcPts val="1200"/>
              </a:spcAft>
            </a:pPr>
            <a:r>
              <a:rPr lang="en-US" sz="2000" dirty="0" smtClean="0">
                <a:latin typeface="Helvetica" pitchFamily="34" charset="0"/>
              </a:rPr>
              <a:t>Explain use of resources/materials</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1999" y="2132856"/>
            <a:ext cx="3340379" cy="2520280"/>
          </a:xfrm>
          <a:prstGeom prst="rect">
            <a:avLst/>
          </a:prstGeom>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the skills and knowledge necessary to guide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sz="2000" dirty="0" smtClean="0">
                <a:latin typeface="Helvetica" pitchFamily="34" charset="0"/>
              </a:rPr>
              <a:t>Provide a demonstration to show ‘how to do it’</a:t>
            </a:r>
          </a:p>
          <a:p>
            <a:pPr marL="360000" indent="-360000">
              <a:spcBef>
                <a:spcPts val="600"/>
              </a:spcBef>
              <a:spcAft>
                <a:spcPts val="1200"/>
              </a:spcAft>
            </a:pPr>
            <a:r>
              <a:rPr lang="en-US" sz="2000" dirty="0" smtClean="0">
                <a:latin typeface="Helvetica" pitchFamily="34" charset="0"/>
              </a:rPr>
              <a:t>Follow designated safety and other protocols</a:t>
            </a:r>
          </a:p>
          <a:p>
            <a:pPr marL="360000" indent="-360000">
              <a:spcBef>
                <a:spcPts val="600"/>
              </a:spcBef>
              <a:spcAft>
                <a:spcPts val="1200"/>
              </a:spcAft>
            </a:pPr>
            <a:r>
              <a:rPr lang="en-US" sz="2000" dirty="0" smtClean="0">
                <a:latin typeface="Helvetica" pitchFamily="34" charset="0"/>
              </a:rPr>
              <a:t>Be ready to ‘stop’ the activity if necessary</a:t>
            </a:r>
          </a:p>
          <a:p>
            <a:pPr marL="360000" indent="-360000">
              <a:spcBef>
                <a:spcPts val="600"/>
              </a:spcBef>
              <a:spcAft>
                <a:spcPts val="1200"/>
              </a:spcAft>
            </a:pPr>
            <a:r>
              <a:rPr lang="en-US" sz="2000" dirty="0" smtClean="0">
                <a:latin typeface="Helvetica" pitchFamily="34" charset="0"/>
              </a:rPr>
              <a:t>Check suitability of people to participate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93</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50426" y="1993032"/>
            <a:ext cx="3014085" cy="2520000"/>
          </a:xfrm>
          <a:prstGeom prst="rect">
            <a:avLst/>
          </a:prstGeom>
        </p:spPr>
      </p:pic>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the skills and knowledge necessary to guide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sz="2000" dirty="0" smtClean="0">
                <a:latin typeface="Helvetica" pitchFamily="34" charset="0"/>
              </a:rPr>
              <a:t>Limit participation as/if necessary</a:t>
            </a:r>
          </a:p>
          <a:p>
            <a:pPr marL="360000" indent="-360000">
              <a:spcBef>
                <a:spcPts val="600"/>
              </a:spcBef>
              <a:spcAft>
                <a:spcPts val="1200"/>
              </a:spcAft>
            </a:pPr>
            <a:r>
              <a:rPr lang="en-US" sz="2000" dirty="0" smtClean="0">
                <a:latin typeface="Helvetica" pitchFamily="34" charset="0"/>
              </a:rPr>
              <a:t>Help people engage/participate</a:t>
            </a:r>
          </a:p>
          <a:p>
            <a:pPr marL="360000" indent="-360000">
              <a:spcBef>
                <a:spcPts val="600"/>
              </a:spcBef>
              <a:spcAft>
                <a:spcPts val="1200"/>
              </a:spcAft>
            </a:pPr>
            <a:r>
              <a:rPr lang="en-US" sz="2000" dirty="0" smtClean="0">
                <a:latin typeface="Helvetica" pitchFamily="34" charset="0"/>
              </a:rPr>
              <a:t>Encourage people</a:t>
            </a:r>
          </a:p>
          <a:p>
            <a:pPr marL="360000" indent="-360000">
              <a:spcBef>
                <a:spcPts val="600"/>
              </a:spcBef>
              <a:spcAft>
                <a:spcPts val="1200"/>
              </a:spcAft>
            </a:pPr>
            <a:r>
              <a:rPr lang="en-US" sz="2000" dirty="0" smtClean="0">
                <a:latin typeface="Helvetica" pitchFamily="34" charset="0"/>
              </a:rPr>
              <a:t>Keep track of time</a:t>
            </a:r>
          </a:p>
          <a:p>
            <a:pPr marL="360000" indent="-360000">
              <a:spcBef>
                <a:spcPts val="600"/>
              </a:spcBef>
              <a:spcAft>
                <a:spcPts val="1200"/>
              </a:spcAft>
            </a:pPr>
            <a:r>
              <a:rPr lang="en-US" sz="2000" dirty="0" smtClean="0">
                <a:latin typeface="Helvetica" pitchFamily="34" charset="0"/>
              </a:rPr>
              <a:t>Congratulate participants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94</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58747" y="1988840"/>
            <a:ext cx="3240000" cy="2160000"/>
          </a:xfrm>
          <a:prstGeom prst="rect">
            <a:avLst/>
          </a:prstGeom>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the skills and knowledge necessary to guide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0" indent="0">
              <a:spcBef>
                <a:spcPts val="600"/>
              </a:spcBef>
              <a:spcAft>
                <a:spcPts val="1200"/>
              </a:spcAft>
              <a:buNone/>
            </a:pPr>
            <a:r>
              <a:rPr lang="en-US" sz="2000" dirty="0" smtClean="0">
                <a:latin typeface="Helvetica" pitchFamily="34" charset="0"/>
              </a:rPr>
              <a:t>During-tour activities – Monitoring group and assessing their needs:</a:t>
            </a:r>
          </a:p>
          <a:p>
            <a:pPr marL="360000" indent="-360000">
              <a:spcBef>
                <a:spcPts val="600"/>
              </a:spcBef>
              <a:spcAft>
                <a:spcPts val="1200"/>
              </a:spcAft>
            </a:pPr>
            <a:r>
              <a:rPr lang="en-US" sz="2000" dirty="0" smtClean="0">
                <a:latin typeface="Helvetica" pitchFamily="34" charset="0"/>
              </a:rPr>
              <a:t>Point out local facilities</a:t>
            </a:r>
          </a:p>
          <a:p>
            <a:pPr marL="360000" indent="-360000">
              <a:spcBef>
                <a:spcPts val="600"/>
              </a:spcBef>
              <a:spcAft>
                <a:spcPts val="1200"/>
              </a:spcAft>
            </a:pPr>
            <a:r>
              <a:rPr lang="en-US" sz="2000" dirty="0" smtClean="0">
                <a:latin typeface="Helvetica" pitchFamily="34" charset="0"/>
              </a:rPr>
              <a:t>Select suitable sites for activities/commentary</a:t>
            </a:r>
          </a:p>
          <a:p>
            <a:pPr marL="360000" indent="-360000">
              <a:spcBef>
                <a:spcPts val="600"/>
              </a:spcBef>
              <a:spcAft>
                <a:spcPts val="1200"/>
              </a:spcAft>
            </a:pPr>
            <a:r>
              <a:rPr lang="en-US" sz="2000" dirty="0" smtClean="0">
                <a:latin typeface="Helvetica" pitchFamily="34" charset="0"/>
              </a:rPr>
              <a:t>Keep group informed</a:t>
            </a:r>
          </a:p>
          <a:p>
            <a:pPr marL="360000" indent="-360000">
              <a:spcBef>
                <a:spcPts val="600"/>
              </a:spcBef>
              <a:spcAft>
                <a:spcPts val="1200"/>
              </a:spcAft>
            </a:pPr>
            <a:r>
              <a:rPr lang="en-US" sz="2000" dirty="0" smtClean="0">
                <a:latin typeface="Helvetica" pitchFamily="34" charset="0"/>
              </a:rPr>
              <a:t>Keep group together</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95</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04048" y="1988840"/>
            <a:ext cx="3149352" cy="2639122"/>
          </a:xfrm>
          <a:prstGeom prst="rect">
            <a:avLst/>
          </a:prstGeom>
        </p:spPr>
      </p:pic>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the skills and knowledge necessary to guide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sz="2000" dirty="0" smtClean="0">
                <a:latin typeface="Helvetica" pitchFamily="34" charset="0"/>
              </a:rPr>
              <a:t>Address problems between tour group members – never ignore these issues</a:t>
            </a:r>
          </a:p>
          <a:p>
            <a:pPr marL="360000" indent="-360000">
              <a:spcBef>
                <a:spcPts val="600"/>
              </a:spcBef>
              <a:spcAft>
                <a:spcPts val="1200"/>
              </a:spcAft>
            </a:pPr>
            <a:r>
              <a:rPr lang="en-US" sz="2000" dirty="0" smtClean="0">
                <a:latin typeface="Helvetica" pitchFamily="34" charset="0"/>
              </a:rPr>
              <a:t>Be prepared to ask people to modify their language or behaviour where/if necessary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96</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076056" y="1844824"/>
            <a:ext cx="2520000" cy="3780000"/>
          </a:xfrm>
          <a:prstGeom prst="rect">
            <a:avLst/>
          </a:prstGeom>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the skills and knowledge necessary to guide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680520" cy="4093915"/>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During-tour activities – Maintaining tour group interest:</a:t>
            </a:r>
          </a:p>
          <a:p>
            <a:pPr marL="360000" indent="-360000">
              <a:spcBef>
                <a:spcPts val="600"/>
              </a:spcBef>
              <a:spcAft>
                <a:spcPts val="1200"/>
              </a:spcAft>
            </a:pPr>
            <a:r>
              <a:rPr lang="en-US" sz="2200" dirty="0" smtClean="0">
                <a:latin typeface="Helvetica" pitchFamily="34" charset="0"/>
              </a:rPr>
              <a:t>Demonstrating personal passion</a:t>
            </a:r>
          </a:p>
          <a:p>
            <a:pPr marL="360000" indent="-360000">
              <a:spcBef>
                <a:spcPts val="600"/>
              </a:spcBef>
              <a:spcAft>
                <a:spcPts val="1200"/>
              </a:spcAft>
            </a:pPr>
            <a:r>
              <a:rPr lang="en-US" sz="2200" dirty="0" smtClean="0">
                <a:latin typeface="Helvetica" pitchFamily="34" charset="0"/>
              </a:rPr>
              <a:t>Tailoring information to the group</a:t>
            </a:r>
          </a:p>
          <a:p>
            <a:pPr marL="360000" indent="-360000">
              <a:spcBef>
                <a:spcPts val="600"/>
              </a:spcBef>
              <a:spcAft>
                <a:spcPts val="1200"/>
              </a:spcAft>
            </a:pPr>
            <a:r>
              <a:rPr lang="en-US" sz="2200" dirty="0" smtClean="0">
                <a:latin typeface="Helvetica" pitchFamily="34" charset="0"/>
              </a:rPr>
              <a:t>Using a prop kit</a:t>
            </a:r>
          </a:p>
          <a:p>
            <a:pPr marL="360000" indent="-360000">
              <a:spcBef>
                <a:spcPts val="600"/>
              </a:spcBef>
              <a:spcAft>
                <a:spcPts val="1200"/>
              </a:spcAft>
            </a:pPr>
            <a:r>
              <a:rPr lang="en-US" sz="2200" dirty="0" smtClean="0">
                <a:latin typeface="Helvetica" pitchFamily="34" charset="0"/>
              </a:rPr>
              <a:t>Varying approaches</a:t>
            </a:r>
          </a:p>
          <a:p>
            <a:pPr marL="360000" indent="-360000">
              <a:spcBef>
                <a:spcPts val="600"/>
              </a:spcBef>
              <a:spcAft>
                <a:spcPts val="1200"/>
              </a:spcAft>
            </a:pPr>
            <a:r>
              <a:rPr lang="en-US" sz="2200" dirty="0" smtClean="0">
                <a:latin typeface="Helvetica" pitchFamily="34" charset="0"/>
              </a:rPr>
              <a:t>Highlighting the unexpected</a:t>
            </a:r>
          </a:p>
          <a:p>
            <a:pPr marL="360000" indent="-360000">
              <a:spcBef>
                <a:spcPts val="600"/>
              </a:spcBef>
              <a:spcAft>
                <a:spcPts val="1200"/>
              </a:spcAft>
            </a:pPr>
            <a:r>
              <a:rPr lang="en-US" sz="2200" dirty="0" smtClean="0">
                <a:latin typeface="Helvetica" pitchFamily="34" charset="0"/>
              </a:rPr>
              <a:t>Interacting with tour group members</a:t>
            </a:r>
          </a:p>
          <a:p>
            <a:pPr marL="360000" indent="-360000">
              <a:spcBef>
                <a:spcPts val="600"/>
              </a:spcBef>
              <a:spcAft>
                <a:spcPts val="1200"/>
              </a:spcAft>
              <a:buNone/>
            </a:pPr>
            <a:r>
              <a:rPr lang="en-US" sz="15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97</a:t>
            </a:fld>
            <a:endParaRPr lang="en-US" dirty="0">
              <a:latin typeface="Helvetica" pitchFamily="34" charset="0"/>
            </a:endParaRPr>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724128" y="1988840"/>
            <a:ext cx="1888869" cy="3240000"/>
          </a:xfrm>
          <a:prstGeom prst="rect">
            <a:avLst/>
          </a:prstGeom>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the skills and knowledge necessary to guide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sz="2000" dirty="0" smtClean="0">
                <a:latin typeface="Helvetica" pitchFamily="34" charset="0"/>
              </a:rPr>
              <a:t>Improvising the commentary</a:t>
            </a:r>
          </a:p>
          <a:p>
            <a:pPr marL="360000" indent="-360000">
              <a:spcBef>
                <a:spcPts val="600"/>
              </a:spcBef>
              <a:spcAft>
                <a:spcPts val="1200"/>
              </a:spcAft>
            </a:pPr>
            <a:r>
              <a:rPr lang="en-US" sz="2000" dirty="0" smtClean="0">
                <a:latin typeface="Helvetica" pitchFamily="34" charset="0"/>
              </a:rPr>
              <a:t>Doing whatever it takes to deliver outstanding service</a:t>
            </a:r>
          </a:p>
          <a:p>
            <a:pPr marL="360000" indent="-360000">
              <a:spcBef>
                <a:spcPts val="600"/>
              </a:spcBef>
              <a:spcAft>
                <a:spcPts val="1200"/>
              </a:spcAft>
            </a:pPr>
            <a:r>
              <a:rPr lang="en-US" sz="2000" dirty="0" smtClean="0">
                <a:latin typeface="Helvetica" pitchFamily="34" charset="0"/>
              </a:rPr>
              <a:t>Demonstrating an interest in the tour group members and their history and experience/s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98</a:t>
            </a:fld>
            <a:endParaRPr lang="en-US" dirty="0">
              <a:latin typeface="Helvetica" pitchFamily="34" charset="0"/>
            </a:endParaRPr>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076056" y="2276872"/>
            <a:ext cx="2233563" cy="3240000"/>
          </a:xfrm>
          <a:prstGeom prst="rect">
            <a:avLst/>
          </a:prstGeom>
        </p:spPr>
      </p:pic>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the skills and knowledge necessary to guide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2060848"/>
            <a:ext cx="4320480" cy="4093915"/>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During-tour activities – Accommodating needs and wishes of the group acknowledging people may require:</a:t>
            </a:r>
          </a:p>
          <a:p>
            <a:pPr marL="360000" indent="-360000">
              <a:spcBef>
                <a:spcPts val="600"/>
              </a:spcBef>
              <a:spcAft>
                <a:spcPts val="1200"/>
              </a:spcAft>
            </a:pPr>
            <a:r>
              <a:rPr lang="en-US" sz="2200" dirty="0" smtClean="0">
                <a:latin typeface="Helvetica" pitchFamily="34" charset="0"/>
              </a:rPr>
              <a:t>Quiet time</a:t>
            </a:r>
          </a:p>
          <a:p>
            <a:pPr marL="360000" indent="-360000">
              <a:spcBef>
                <a:spcPts val="600"/>
              </a:spcBef>
              <a:spcAft>
                <a:spcPts val="1200"/>
              </a:spcAft>
            </a:pPr>
            <a:r>
              <a:rPr lang="en-US" sz="2200" dirty="0" smtClean="0">
                <a:latin typeface="Helvetica" pitchFamily="34" charset="0"/>
              </a:rPr>
              <a:t>Free time</a:t>
            </a:r>
          </a:p>
          <a:p>
            <a:pPr marL="360000" indent="-360000">
              <a:spcBef>
                <a:spcPts val="600"/>
              </a:spcBef>
              <a:spcAft>
                <a:spcPts val="1200"/>
              </a:spcAft>
            </a:pPr>
            <a:r>
              <a:rPr lang="en-US" sz="2200" dirty="0" smtClean="0">
                <a:latin typeface="Helvetica" pitchFamily="34" charset="0"/>
              </a:rPr>
              <a:t>Time to chat</a:t>
            </a:r>
          </a:p>
          <a:p>
            <a:pPr marL="360000" indent="-360000">
              <a:spcBef>
                <a:spcPts val="600"/>
              </a:spcBef>
              <a:spcAft>
                <a:spcPts val="1200"/>
              </a:spcAft>
            </a:pPr>
            <a:r>
              <a:rPr lang="en-US" sz="2200" dirty="0" smtClean="0">
                <a:latin typeface="Helvetica" pitchFamily="34" charset="0"/>
              </a:rPr>
              <a:t>Time to enjoy the site/experience</a:t>
            </a:r>
          </a:p>
          <a:p>
            <a:pPr marL="360000" indent="-360000">
              <a:spcBef>
                <a:spcPts val="600"/>
              </a:spcBef>
              <a:spcAft>
                <a:spcPts val="1200"/>
              </a:spcAft>
            </a:pPr>
            <a:r>
              <a:rPr lang="en-US" sz="2200" dirty="0" smtClean="0">
                <a:latin typeface="Helvetica" pitchFamily="34" charset="0"/>
              </a:rPr>
              <a:t>A rest</a:t>
            </a:r>
          </a:p>
          <a:p>
            <a:pPr marL="360000" indent="-360000">
              <a:spcBef>
                <a:spcPts val="600"/>
              </a:spcBef>
              <a:spcAft>
                <a:spcPts val="1200"/>
              </a:spcAft>
              <a:buNone/>
            </a:pPr>
            <a:r>
              <a:rPr lang="en-US" sz="1400" dirty="0" smtClean="0">
                <a:latin typeface="Helvetica" pitchFamily="34" charset="0"/>
              </a:rPr>
              <a:t>(Continued)</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99</a:t>
            </a:fld>
            <a:endParaRPr lang="en-US" dirty="0">
              <a:latin typeface="Helvetica" pitchFamily="34"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33302" y="2025013"/>
            <a:ext cx="3252135" cy="2160000"/>
          </a:xfrm>
          <a:prstGeom prst="rect">
            <a:avLst/>
          </a:prstGeom>
        </p:spPr>
      </p:pic>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the skills and knowledge necessary to guide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sz="2200" dirty="0" smtClean="0">
                <a:latin typeface="Helvetica" pitchFamily="34" charset="0"/>
              </a:rPr>
              <a:t>Photo opportunities</a:t>
            </a:r>
          </a:p>
          <a:p>
            <a:pPr marL="360000" indent="-360000">
              <a:spcBef>
                <a:spcPts val="600"/>
              </a:spcBef>
              <a:spcAft>
                <a:spcPts val="1200"/>
              </a:spcAft>
            </a:pPr>
            <a:r>
              <a:rPr lang="en-US" sz="2200" dirty="0" smtClean="0">
                <a:latin typeface="Helvetica" pitchFamily="34" charset="0"/>
              </a:rPr>
              <a:t>‘Up close and personal’ opportunities</a:t>
            </a:r>
          </a:p>
          <a:p>
            <a:pPr marL="360000" indent="-360000">
              <a:spcBef>
                <a:spcPts val="600"/>
              </a:spcBef>
              <a:spcAft>
                <a:spcPts val="1200"/>
              </a:spcAft>
            </a:pPr>
            <a:r>
              <a:rPr lang="en-US" sz="2200" dirty="0" smtClean="0">
                <a:latin typeface="Helvetica" pitchFamily="34" charset="0"/>
              </a:rPr>
              <a:t>Preferential treatment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73400" y="1988840"/>
            <a:ext cx="3780000" cy="2520000"/>
          </a:xfrm>
          <a:prstGeom prst="rect">
            <a:avLst/>
          </a:prstGeom>
        </p:spPr>
      </p:pic>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the skills and knowledge necessary to guide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2060848"/>
            <a:ext cx="4320480" cy="4021907"/>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During-tour activities – Counting participants techniques:</a:t>
            </a:r>
          </a:p>
          <a:p>
            <a:pPr marL="360000" indent="-360000">
              <a:spcBef>
                <a:spcPts val="600"/>
              </a:spcBef>
              <a:spcAft>
                <a:spcPts val="1200"/>
              </a:spcAft>
            </a:pPr>
            <a:r>
              <a:rPr lang="en-US" sz="2200" dirty="0" smtClean="0">
                <a:latin typeface="Helvetica" pitchFamily="34" charset="0"/>
              </a:rPr>
              <a:t>Confirm starting numbers</a:t>
            </a:r>
          </a:p>
          <a:p>
            <a:pPr marL="360000" indent="-360000">
              <a:spcBef>
                <a:spcPts val="600"/>
              </a:spcBef>
              <a:spcAft>
                <a:spcPts val="1200"/>
              </a:spcAft>
            </a:pPr>
            <a:r>
              <a:rPr lang="en-US" sz="2200" dirty="0" smtClean="0">
                <a:latin typeface="Helvetica" pitchFamily="34" charset="0"/>
              </a:rPr>
              <a:t>Update manifest if customers elect to leave the tour</a:t>
            </a:r>
          </a:p>
          <a:p>
            <a:pPr marL="360000" indent="-360000">
              <a:spcBef>
                <a:spcPts val="600"/>
              </a:spcBef>
              <a:spcAft>
                <a:spcPts val="1200"/>
              </a:spcAft>
            </a:pPr>
            <a:r>
              <a:rPr lang="en-US" sz="2200" dirty="0" smtClean="0">
                <a:latin typeface="Helvetica" pitchFamily="34" charset="0"/>
              </a:rPr>
              <a:t>Do regular head counts at designated times/points</a:t>
            </a:r>
          </a:p>
          <a:p>
            <a:pPr marL="360000" indent="-360000">
              <a:spcBef>
                <a:spcPts val="600"/>
              </a:spcBef>
              <a:spcAft>
                <a:spcPts val="1200"/>
              </a:spcAft>
            </a:pPr>
            <a:r>
              <a:rPr lang="en-US" sz="2200" dirty="0" smtClean="0">
                <a:latin typeface="Helvetica" pitchFamily="34" charset="0"/>
              </a:rPr>
              <a:t>Physically count people</a:t>
            </a:r>
          </a:p>
          <a:p>
            <a:pPr marL="360000" indent="-360000">
              <a:spcBef>
                <a:spcPts val="600"/>
              </a:spcBef>
              <a:spcAft>
                <a:spcPts val="1200"/>
              </a:spcAft>
              <a:buNone/>
            </a:pPr>
            <a:r>
              <a:rPr lang="en-US" sz="15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101</a:t>
            </a:fld>
            <a:endParaRPr lang="en-US" dirty="0">
              <a:latin typeface="Helvetica" pitchFamily="34" charset="0"/>
            </a:endParaRPr>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t="18500"/>
          <a:stretch/>
        </p:blipFill>
        <p:spPr>
          <a:xfrm>
            <a:off x="4322529" y="2708920"/>
            <a:ext cx="2355504" cy="2880000"/>
          </a:xfrm>
          <a:prstGeom prst="rect">
            <a:avLst/>
          </a:prstGeom>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the skills and knowledge necessary to guide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360000" indent="-360000">
              <a:spcBef>
                <a:spcPts val="600"/>
              </a:spcBef>
              <a:spcAft>
                <a:spcPts val="1200"/>
              </a:spcAft>
            </a:pPr>
            <a:r>
              <a:rPr lang="en-US" sz="2000" dirty="0" smtClean="0">
                <a:latin typeface="Helvetica" pitchFamily="34" charset="0"/>
              </a:rPr>
              <a:t>Using roll calls</a:t>
            </a:r>
          </a:p>
          <a:p>
            <a:pPr marL="360000" indent="-360000">
              <a:spcBef>
                <a:spcPts val="600"/>
              </a:spcBef>
              <a:spcAft>
                <a:spcPts val="1200"/>
              </a:spcAft>
            </a:pPr>
            <a:r>
              <a:rPr lang="en-US" sz="2000" dirty="0" smtClean="0">
                <a:latin typeface="Helvetica" pitchFamily="34" charset="0"/>
              </a:rPr>
              <a:t>Checking numbers as people board</a:t>
            </a:r>
          </a:p>
          <a:p>
            <a:pPr marL="360000" indent="-360000">
              <a:spcBef>
                <a:spcPts val="600"/>
              </a:spcBef>
              <a:spcAft>
                <a:spcPts val="1200"/>
              </a:spcAft>
            </a:pPr>
            <a:r>
              <a:rPr lang="en-US" sz="2000" dirty="0" smtClean="0">
                <a:latin typeface="Helvetica" pitchFamily="34" charset="0"/>
              </a:rPr>
              <a:t>Counting filled seats after re-boarding</a:t>
            </a:r>
          </a:p>
          <a:p>
            <a:pPr marL="360000" indent="-360000">
              <a:spcBef>
                <a:spcPts val="600"/>
              </a:spcBef>
              <a:spcAft>
                <a:spcPts val="1200"/>
              </a:spcAft>
            </a:pPr>
            <a:r>
              <a:rPr lang="en-US" sz="2000" dirty="0" smtClean="0">
                <a:latin typeface="Helvetica" pitchFamily="34" charset="0"/>
              </a:rPr>
              <a:t>Asking tour group members to help</a:t>
            </a:r>
          </a:p>
          <a:p>
            <a:pPr marL="360000" indent="-360000">
              <a:spcBef>
                <a:spcPts val="600"/>
              </a:spcBef>
              <a:spcAft>
                <a:spcPts val="1200"/>
              </a:spcAft>
            </a:pPr>
            <a:r>
              <a:rPr lang="en-US" sz="2000" dirty="0" smtClean="0">
                <a:latin typeface="Helvetica" pitchFamily="34" charset="0"/>
              </a:rPr>
              <a:t>Recording the counts/checks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102</a:t>
            </a:fld>
            <a:endParaRPr lang="en-US" dirty="0">
              <a:latin typeface="Helvetica" pitchFamily="34" charset="0"/>
            </a:endParaRPr>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t="14300"/>
          <a:stretch/>
        </p:blipFill>
        <p:spPr>
          <a:xfrm>
            <a:off x="4932040" y="2595797"/>
            <a:ext cx="2240386" cy="2880000"/>
          </a:xfrm>
          <a:prstGeom prst="rect">
            <a:avLst/>
          </a:prstGeom>
        </p:spPr>
      </p:pic>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the skills and knowledge necessary to guide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16832"/>
            <a:ext cx="3960440" cy="4165923"/>
          </a:xfrm>
        </p:spPr>
        <p:txBody>
          <a:bodyPr>
            <a:normAutofit/>
          </a:bodyPr>
          <a:lstStyle/>
          <a:p>
            <a:pPr marL="0" indent="0">
              <a:spcBef>
                <a:spcPts val="600"/>
              </a:spcBef>
              <a:spcAft>
                <a:spcPts val="1200"/>
              </a:spcAft>
              <a:buNone/>
            </a:pPr>
            <a:r>
              <a:rPr lang="en-US" sz="2000" dirty="0" smtClean="0">
                <a:latin typeface="Helvetica" pitchFamily="34" charset="0"/>
              </a:rPr>
              <a:t>During-tour activities –  Responding to missing persons:</a:t>
            </a:r>
          </a:p>
          <a:p>
            <a:pPr marL="360000" indent="-360000">
              <a:spcBef>
                <a:spcPts val="600"/>
              </a:spcBef>
              <a:spcAft>
                <a:spcPts val="1200"/>
              </a:spcAft>
            </a:pPr>
            <a:r>
              <a:rPr lang="en-US" sz="2000" dirty="0" smtClean="0">
                <a:latin typeface="Helvetica" pitchFamily="34" charset="0"/>
              </a:rPr>
              <a:t>Halt tour</a:t>
            </a:r>
          </a:p>
          <a:p>
            <a:pPr marL="360000" indent="-360000">
              <a:spcBef>
                <a:spcPts val="600"/>
              </a:spcBef>
              <a:spcAft>
                <a:spcPts val="1200"/>
              </a:spcAft>
            </a:pPr>
            <a:r>
              <a:rPr lang="en-US" sz="2000" dirty="0" smtClean="0">
                <a:latin typeface="Helvetica" pitchFamily="34" charset="0"/>
              </a:rPr>
              <a:t>Do a re-count</a:t>
            </a:r>
          </a:p>
          <a:p>
            <a:pPr marL="360000" indent="-360000">
              <a:spcBef>
                <a:spcPts val="600"/>
              </a:spcBef>
              <a:spcAft>
                <a:spcPts val="1200"/>
              </a:spcAft>
            </a:pPr>
            <a:r>
              <a:rPr lang="en-US" sz="2000" dirty="0" smtClean="0">
                <a:latin typeface="Helvetica" pitchFamily="34" charset="0"/>
              </a:rPr>
              <a:t>Identify numbers/persons missing</a:t>
            </a:r>
          </a:p>
          <a:p>
            <a:pPr marL="360000" indent="-360000">
              <a:spcBef>
                <a:spcPts val="600"/>
              </a:spcBef>
              <a:spcAft>
                <a:spcPts val="1200"/>
              </a:spcAft>
            </a:pPr>
            <a:r>
              <a:rPr lang="en-US" sz="2000" dirty="0" smtClean="0">
                <a:latin typeface="Helvetica" pitchFamily="34" charset="0"/>
              </a:rPr>
              <a:t>Notify head office</a:t>
            </a:r>
          </a:p>
          <a:p>
            <a:pPr marL="360000" indent="-360000">
              <a:spcBef>
                <a:spcPts val="600"/>
              </a:spcBef>
              <a:spcAft>
                <a:spcPts val="1200"/>
              </a:spcAft>
              <a:buNone/>
            </a:pPr>
            <a:r>
              <a:rPr lang="en-US" sz="1400"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103</a:t>
            </a:fld>
            <a:endParaRPr lang="en-US" dirty="0">
              <a:latin typeface="Helvetica" pitchFamily="34" charset="0"/>
            </a:endParaRPr>
          </a:p>
        </p:txBody>
      </p:sp>
      <p:pic>
        <p:nvPicPr>
          <p:cNvPr id="6" name="Picture 5"/>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l="19288" r="6688"/>
          <a:stretch/>
        </p:blipFill>
        <p:spPr>
          <a:xfrm>
            <a:off x="4067944" y="2204864"/>
            <a:ext cx="3197836" cy="2880000"/>
          </a:xfrm>
          <a:prstGeom prst="rect">
            <a:avLst/>
          </a:prstGeom>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the skills and knowledge necessary to guide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sz="2000" dirty="0" smtClean="0">
                <a:latin typeface="Helvetica" pitchFamily="34" charset="0"/>
              </a:rPr>
              <a:t>Ask others to stay put</a:t>
            </a:r>
          </a:p>
          <a:p>
            <a:pPr marL="360000" indent="-360000">
              <a:spcBef>
                <a:spcPts val="600"/>
              </a:spcBef>
              <a:spcAft>
                <a:spcPts val="1200"/>
              </a:spcAft>
            </a:pPr>
            <a:r>
              <a:rPr lang="en-US" sz="2000" dirty="0" smtClean="0">
                <a:latin typeface="Helvetica" pitchFamily="34" charset="0"/>
              </a:rPr>
              <a:t>Conduct a brief search of the area</a:t>
            </a:r>
          </a:p>
          <a:p>
            <a:pPr marL="360000" indent="-360000">
              <a:spcBef>
                <a:spcPts val="600"/>
              </a:spcBef>
              <a:spcAft>
                <a:spcPts val="1200"/>
              </a:spcAft>
            </a:pPr>
            <a:r>
              <a:rPr lang="en-US" sz="2000" dirty="0" smtClean="0">
                <a:latin typeface="Helvetica" pitchFamily="34" charset="0"/>
              </a:rPr>
              <a:t>Take charge</a:t>
            </a:r>
          </a:p>
          <a:p>
            <a:pPr marL="360000" indent="-360000">
              <a:spcBef>
                <a:spcPts val="600"/>
              </a:spcBef>
              <a:spcAft>
                <a:spcPts val="1200"/>
              </a:spcAft>
            </a:pPr>
            <a:r>
              <a:rPr lang="en-US" sz="2000" dirty="0" smtClean="0">
                <a:latin typeface="Helvetica" pitchFamily="34" charset="0"/>
              </a:rPr>
              <a:t>Question other tour group members</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104</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932040" y="2006554"/>
            <a:ext cx="2112000" cy="2880000"/>
          </a:xfrm>
          <a:prstGeom prst="rect">
            <a:avLst/>
          </a:prstGeom>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the skills and knowledge necessary to guide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sz="2000" dirty="0" smtClean="0">
                <a:latin typeface="Helvetica" pitchFamily="34" charset="0"/>
              </a:rPr>
              <a:t>Confirm group numbers</a:t>
            </a:r>
          </a:p>
          <a:p>
            <a:pPr marL="360000" indent="-360000">
              <a:spcBef>
                <a:spcPts val="600"/>
              </a:spcBef>
              <a:spcAft>
                <a:spcPts val="1200"/>
              </a:spcAft>
            </a:pPr>
            <a:r>
              <a:rPr lang="en-US" sz="2000" dirty="0" smtClean="0">
                <a:latin typeface="Helvetica" pitchFamily="34" charset="0"/>
              </a:rPr>
              <a:t>Confirm receipts</a:t>
            </a:r>
          </a:p>
          <a:p>
            <a:pPr marL="360000" indent="-360000">
              <a:spcBef>
                <a:spcPts val="600"/>
              </a:spcBef>
              <a:spcAft>
                <a:spcPts val="1200"/>
              </a:spcAft>
            </a:pPr>
            <a:r>
              <a:rPr lang="en-US" sz="2000" dirty="0" smtClean="0">
                <a:latin typeface="Helvetica" pitchFamily="34" charset="0"/>
              </a:rPr>
              <a:t>Do not allow other tour members to look for the missing person</a:t>
            </a:r>
          </a:p>
          <a:p>
            <a:pPr marL="360000" indent="-360000">
              <a:spcBef>
                <a:spcPts val="600"/>
              </a:spcBef>
              <a:spcAft>
                <a:spcPts val="1200"/>
              </a:spcAft>
            </a:pPr>
            <a:r>
              <a:rPr lang="en-US" sz="2000" dirty="0" smtClean="0">
                <a:latin typeface="Helvetica" pitchFamily="34" charset="0"/>
              </a:rPr>
              <a:t>Prepare known details of missing person to assist others/authorities in their efforts to search</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105</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572000" y="1979915"/>
            <a:ext cx="2232248" cy="3495882"/>
          </a:xfrm>
          <a:prstGeom prst="rect">
            <a:avLst/>
          </a:prstGeom>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the skills and knowledge necessary to guide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During-tour activities – Handling problems with tour group members:</a:t>
            </a:r>
          </a:p>
          <a:p>
            <a:pPr marL="360000" indent="-360000">
              <a:spcBef>
                <a:spcPts val="600"/>
              </a:spcBef>
              <a:spcAft>
                <a:spcPts val="1200"/>
              </a:spcAft>
            </a:pPr>
            <a:r>
              <a:rPr lang="en-US" sz="2200" dirty="0" smtClean="0">
                <a:latin typeface="Helvetica" pitchFamily="34" charset="0"/>
              </a:rPr>
              <a:t>Realise no problems ever resolve themselves</a:t>
            </a:r>
          </a:p>
          <a:p>
            <a:pPr marL="360000" indent="-360000">
              <a:spcBef>
                <a:spcPts val="600"/>
              </a:spcBef>
              <a:spcAft>
                <a:spcPts val="1200"/>
              </a:spcAft>
            </a:pPr>
            <a:r>
              <a:rPr lang="en-US" sz="2200" dirty="0" smtClean="0">
                <a:latin typeface="Helvetica" pitchFamily="34" charset="0"/>
              </a:rPr>
              <a:t>Ensure all identified issues are addressed</a:t>
            </a:r>
          </a:p>
          <a:p>
            <a:pPr marL="360000" indent="-360000">
              <a:spcBef>
                <a:spcPts val="600"/>
              </a:spcBef>
              <a:spcAft>
                <a:spcPts val="1200"/>
              </a:spcAft>
            </a:pPr>
            <a:r>
              <a:rPr lang="en-US" sz="2200" dirty="0" smtClean="0">
                <a:latin typeface="Helvetica" pitchFamily="34" charset="0"/>
              </a:rPr>
              <a:t>Treat people with respect</a:t>
            </a:r>
          </a:p>
          <a:p>
            <a:pPr marL="360000" indent="-360000">
              <a:spcBef>
                <a:spcPts val="600"/>
              </a:spcBef>
              <a:spcAft>
                <a:spcPts val="1200"/>
              </a:spcAft>
            </a:pPr>
            <a:r>
              <a:rPr lang="en-US" sz="2200" dirty="0" smtClean="0">
                <a:latin typeface="Helvetica" pitchFamily="34" charset="0"/>
              </a:rPr>
              <a:t>Stay calm</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106</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644008" y="2204544"/>
            <a:ext cx="2592288" cy="3456384"/>
          </a:xfrm>
          <a:prstGeom prst="rect">
            <a:avLst/>
          </a:prstGeom>
        </p:spPr>
      </p:pic>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the skills and knowledge necessary to guide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sz="2000" dirty="0" smtClean="0">
                <a:latin typeface="Helvetica" pitchFamily="34" charset="0"/>
              </a:rPr>
              <a:t>Avoid personal attacks</a:t>
            </a:r>
          </a:p>
          <a:p>
            <a:pPr marL="360000" indent="-360000">
              <a:spcBef>
                <a:spcPts val="600"/>
              </a:spcBef>
              <a:spcAft>
                <a:spcPts val="1200"/>
              </a:spcAft>
            </a:pPr>
            <a:r>
              <a:rPr lang="en-US" sz="2000" dirty="0" smtClean="0">
                <a:latin typeface="Helvetica" pitchFamily="34" charset="0"/>
              </a:rPr>
              <a:t>Make ‘requests’ rather than give ‘orders’</a:t>
            </a:r>
          </a:p>
          <a:p>
            <a:pPr marL="360000" indent="-360000">
              <a:spcBef>
                <a:spcPts val="600"/>
              </a:spcBef>
              <a:spcAft>
                <a:spcPts val="1200"/>
              </a:spcAft>
            </a:pPr>
            <a:r>
              <a:rPr lang="en-US" sz="2000" dirty="0" smtClean="0">
                <a:latin typeface="Helvetica" pitchFamily="34" charset="0"/>
              </a:rPr>
              <a:t>See things through the eyes of those on the tour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107</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582705" y="1844824"/>
            <a:ext cx="2160000" cy="2880000"/>
          </a:xfrm>
          <a:prstGeom prst="rect">
            <a:avLst/>
          </a:prstGeom>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the skills and knowledge necessary to guide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680520" cy="4093915"/>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During-tour activities –  Dealing with problems between group members:</a:t>
            </a:r>
          </a:p>
          <a:p>
            <a:pPr marL="360000" indent="-360000">
              <a:spcBef>
                <a:spcPts val="600"/>
              </a:spcBef>
              <a:spcAft>
                <a:spcPts val="1200"/>
              </a:spcAft>
            </a:pPr>
            <a:r>
              <a:rPr lang="en-US" sz="2200" dirty="0" smtClean="0">
                <a:latin typeface="Helvetica" pitchFamily="34" charset="0"/>
              </a:rPr>
              <a:t>Speak to those involved ‘in private’</a:t>
            </a:r>
          </a:p>
          <a:p>
            <a:pPr marL="360000" indent="-360000">
              <a:spcBef>
                <a:spcPts val="600"/>
              </a:spcBef>
              <a:spcAft>
                <a:spcPts val="1200"/>
              </a:spcAft>
            </a:pPr>
            <a:r>
              <a:rPr lang="en-US" sz="2200" dirty="0" smtClean="0">
                <a:latin typeface="Helvetica" pitchFamily="34" charset="0"/>
              </a:rPr>
              <a:t>Resolve the cause on a long trip</a:t>
            </a:r>
          </a:p>
          <a:p>
            <a:pPr marL="360000" indent="-360000">
              <a:spcBef>
                <a:spcPts val="600"/>
              </a:spcBef>
              <a:spcAft>
                <a:spcPts val="1200"/>
              </a:spcAft>
            </a:pPr>
            <a:r>
              <a:rPr lang="en-US" sz="2200" dirty="0" smtClean="0">
                <a:latin typeface="Helvetica" pitchFamily="34" charset="0"/>
              </a:rPr>
              <a:t>Address the symptom on a short tour</a:t>
            </a:r>
          </a:p>
          <a:p>
            <a:pPr marL="360000" indent="-360000">
              <a:spcBef>
                <a:spcPts val="600"/>
              </a:spcBef>
              <a:spcAft>
                <a:spcPts val="1200"/>
              </a:spcAft>
            </a:pPr>
            <a:r>
              <a:rPr lang="en-US" sz="2200" dirty="0" smtClean="0">
                <a:latin typeface="Helvetica" pitchFamily="34" charset="0"/>
              </a:rPr>
              <a:t>Seek input from the parties involved</a:t>
            </a:r>
          </a:p>
          <a:p>
            <a:pPr marL="360000" indent="-360000">
              <a:spcBef>
                <a:spcPts val="600"/>
              </a:spcBef>
              <a:spcAft>
                <a:spcPts val="1200"/>
              </a:spcAft>
            </a:pPr>
            <a:r>
              <a:rPr lang="en-US" sz="2200" dirty="0" smtClean="0">
                <a:latin typeface="Helvetica" pitchFamily="34" charset="0"/>
              </a:rPr>
              <a:t>Explain how they are impacting others</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108</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076056" y="2132856"/>
            <a:ext cx="2430000" cy="3240000"/>
          </a:xfrm>
          <a:prstGeom prst="rect">
            <a:avLst/>
          </a:prstGeom>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the skills and knowledge necessary to guide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sz="2000" dirty="0" smtClean="0">
                <a:latin typeface="Helvetica" pitchFamily="34" charset="0"/>
              </a:rPr>
              <a:t>Request no further disruption/unacceptable action</a:t>
            </a:r>
          </a:p>
          <a:p>
            <a:pPr marL="360000" indent="-360000">
              <a:spcBef>
                <a:spcPts val="600"/>
              </a:spcBef>
              <a:spcAft>
                <a:spcPts val="1200"/>
              </a:spcAft>
            </a:pPr>
            <a:r>
              <a:rPr lang="en-US" sz="2000" dirty="0" smtClean="0">
                <a:latin typeface="Helvetica" pitchFamily="34" charset="0"/>
              </a:rPr>
              <a:t>Suggest solutions – re-seat or re-group people</a:t>
            </a:r>
          </a:p>
          <a:p>
            <a:pPr marL="360000" indent="-360000">
              <a:spcBef>
                <a:spcPts val="600"/>
              </a:spcBef>
              <a:spcAft>
                <a:spcPts val="1200"/>
              </a:spcAft>
            </a:pPr>
            <a:r>
              <a:rPr lang="en-US" sz="2000" dirty="0" smtClean="0">
                <a:latin typeface="Helvetica" pitchFamily="34" charset="0"/>
              </a:rPr>
              <a:t>Monitor the situation and be ready to repeat/reinforce what has already been said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109</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60032" y="1628800"/>
            <a:ext cx="2151940" cy="3240000"/>
          </a:xfrm>
          <a:prstGeom prst="rect">
            <a:avLst/>
          </a:prstGeom>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the skills and knowledge necessary to guide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752528" cy="4433224"/>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On-departure/post-tou</a:t>
            </a:r>
            <a:r>
              <a:rPr lang="en-US" sz="2400" dirty="0" smtClean="0"/>
              <a:t>r</a:t>
            </a:r>
            <a:r>
              <a:rPr lang="en-US" sz="2200" dirty="0" smtClean="0">
                <a:latin typeface="Helvetica" pitchFamily="34" charset="0"/>
              </a:rPr>
              <a:t> activities – Farewelling people may involve:</a:t>
            </a:r>
          </a:p>
          <a:p>
            <a:pPr marL="360000" indent="-360000">
              <a:spcBef>
                <a:spcPts val="600"/>
              </a:spcBef>
              <a:spcAft>
                <a:spcPts val="1200"/>
              </a:spcAft>
            </a:pPr>
            <a:r>
              <a:rPr lang="en-US" sz="2200" dirty="0" smtClean="0">
                <a:latin typeface="Helvetica" pitchFamily="34" charset="0"/>
              </a:rPr>
              <a:t>Thanking them and saying goodbye</a:t>
            </a:r>
          </a:p>
          <a:p>
            <a:pPr marL="360000" indent="-360000">
              <a:spcBef>
                <a:spcPts val="600"/>
              </a:spcBef>
              <a:spcAft>
                <a:spcPts val="1200"/>
              </a:spcAft>
            </a:pPr>
            <a:r>
              <a:rPr lang="en-US" sz="2200" dirty="0" smtClean="0">
                <a:latin typeface="Helvetica" pitchFamily="34" charset="0"/>
              </a:rPr>
              <a:t>Expressing hope they enjoyed the tour</a:t>
            </a:r>
          </a:p>
          <a:p>
            <a:pPr marL="360000" indent="-360000">
              <a:spcBef>
                <a:spcPts val="600"/>
              </a:spcBef>
              <a:spcAft>
                <a:spcPts val="1200"/>
              </a:spcAft>
            </a:pPr>
            <a:r>
              <a:rPr lang="en-US" sz="2200" dirty="0" smtClean="0">
                <a:latin typeface="Helvetica" pitchFamily="34" charset="0"/>
              </a:rPr>
              <a:t>Encouraging repeat business and handing out promotional literature</a:t>
            </a:r>
          </a:p>
          <a:p>
            <a:pPr marL="360000" indent="-360000">
              <a:spcBef>
                <a:spcPts val="600"/>
              </a:spcBef>
              <a:spcAft>
                <a:spcPts val="1200"/>
              </a:spcAft>
            </a:pPr>
            <a:r>
              <a:rPr lang="en-US" sz="2200" dirty="0" smtClean="0">
                <a:latin typeface="Helvetica" pitchFamily="34" charset="0"/>
              </a:rPr>
              <a:t>Advising of upcoming events/specials</a:t>
            </a:r>
          </a:p>
          <a:p>
            <a:pPr marL="360000" indent="-360000">
              <a:spcBef>
                <a:spcPts val="600"/>
              </a:spcBef>
              <a:spcAft>
                <a:spcPts val="1200"/>
              </a:spcAft>
            </a:pPr>
            <a:r>
              <a:rPr lang="en-US" sz="2200" dirty="0" smtClean="0">
                <a:latin typeface="Helvetica" pitchFamily="34" charset="0"/>
              </a:rPr>
              <a:t>Inviting them to tell others about the tour</a:t>
            </a:r>
          </a:p>
          <a:p>
            <a:pPr marL="360000" indent="-360000">
              <a:spcBef>
                <a:spcPts val="600"/>
              </a:spcBef>
              <a:spcAft>
                <a:spcPts val="1200"/>
              </a:spcAft>
            </a:pPr>
            <a:r>
              <a:rPr lang="en-US" sz="2200" dirty="0" smtClean="0">
                <a:latin typeface="Helvetica" pitchFamily="34" charset="0"/>
              </a:rPr>
              <a:t>Distributing merchandise</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110</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788024" y="2276872"/>
            <a:ext cx="2720777" cy="3258000"/>
          </a:xfrm>
          <a:prstGeom prst="rect">
            <a:avLst/>
          </a:prstGeom>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the skills and knowledge necessary to guide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752528" cy="4093915"/>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On-departure/post-tou</a:t>
            </a:r>
            <a:r>
              <a:rPr lang="en-US" sz="2400" dirty="0" smtClean="0"/>
              <a:t>r</a:t>
            </a:r>
            <a:r>
              <a:rPr lang="en-US" sz="2200" dirty="0" smtClean="0">
                <a:latin typeface="Helvetica" pitchFamily="34" charset="0"/>
              </a:rPr>
              <a:t> – Capturing feedback may require:</a:t>
            </a:r>
          </a:p>
          <a:p>
            <a:pPr marL="360000" indent="-360000">
              <a:spcBef>
                <a:spcPts val="600"/>
              </a:spcBef>
              <a:spcAft>
                <a:spcPts val="1200"/>
              </a:spcAft>
            </a:pPr>
            <a:r>
              <a:rPr lang="en-US" sz="2200" dirty="0" smtClean="0">
                <a:latin typeface="Helvetica" pitchFamily="34" charset="0"/>
              </a:rPr>
              <a:t>Distributing and encouraging completion of forms</a:t>
            </a:r>
          </a:p>
          <a:p>
            <a:pPr marL="360000" indent="-360000">
              <a:spcBef>
                <a:spcPts val="600"/>
              </a:spcBef>
              <a:spcAft>
                <a:spcPts val="1200"/>
              </a:spcAft>
            </a:pPr>
            <a:r>
              <a:rPr lang="en-US" sz="2200" dirty="0" smtClean="0">
                <a:latin typeface="Helvetica" pitchFamily="34" charset="0"/>
              </a:rPr>
              <a:t>Mentioning online feedback options</a:t>
            </a:r>
          </a:p>
          <a:p>
            <a:pPr marL="360000" indent="-360000">
              <a:spcBef>
                <a:spcPts val="600"/>
              </a:spcBef>
              <a:spcAft>
                <a:spcPts val="1200"/>
              </a:spcAft>
            </a:pPr>
            <a:r>
              <a:rPr lang="en-US" sz="2200" dirty="0" smtClean="0">
                <a:latin typeface="Helvetica" pitchFamily="34" charset="0"/>
              </a:rPr>
              <a:t>Talking to people</a:t>
            </a:r>
          </a:p>
          <a:p>
            <a:pPr marL="360000" indent="-360000">
              <a:spcBef>
                <a:spcPts val="600"/>
              </a:spcBef>
              <a:spcAft>
                <a:spcPts val="1200"/>
              </a:spcAft>
            </a:pPr>
            <a:r>
              <a:rPr lang="en-US" sz="2200" dirty="0" smtClean="0">
                <a:latin typeface="Helvetica" pitchFamily="34" charset="0"/>
              </a:rPr>
              <a:t>Asking for ideas/insights and complaints</a:t>
            </a:r>
          </a:p>
          <a:p>
            <a:pPr marL="360000" indent="-360000">
              <a:spcBef>
                <a:spcPts val="600"/>
              </a:spcBef>
              <a:spcAft>
                <a:spcPts val="1200"/>
              </a:spcAft>
            </a:pPr>
            <a:r>
              <a:rPr lang="en-US" sz="2200" dirty="0" smtClean="0">
                <a:latin typeface="Helvetica" pitchFamily="34" charset="0"/>
              </a:rPr>
              <a:t>Thanking people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111</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875120" y="2132856"/>
            <a:ext cx="4218126" cy="3258000"/>
          </a:xfrm>
          <a:prstGeom prst="rect">
            <a:avLst/>
          </a:prstGeom>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the skills and knowledge necessary to guide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608512" cy="4093915"/>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On-departure/post-tou</a:t>
            </a:r>
            <a:r>
              <a:rPr lang="en-US" sz="2400" dirty="0" smtClean="0"/>
              <a:t>r</a:t>
            </a:r>
            <a:r>
              <a:rPr lang="en-US" sz="2200" dirty="0" smtClean="0">
                <a:latin typeface="Helvetica" pitchFamily="34" charset="0"/>
              </a:rPr>
              <a:t> activities – Thanking people:</a:t>
            </a:r>
          </a:p>
          <a:p>
            <a:pPr marL="360000" indent="-360000">
              <a:spcBef>
                <a:spcPts val="600"/>
              </a:spcBef>
              <a:spcAft>
                <a:spcPts val="1200"/>
              </a:spcAft>
            </a:pPr>
            <a:r>
              <a:rPr lang="en-US" sz="2200" dirty="0" smtClean="0">
                <a:latin typeface="Helvetica" pitchFamily="34" charset="0"/>
              </a:rPr>
              <a:t>Group leaders</a:t>
            </a:r>
          </a:p>
          <a:p>
            <a:pPr marL="360000" indent="-360000">
              <a:spcBef>
                <a:spcPts val="600"/>
              </a:spcBef>
              <a:spcAft>
                <a:spcPts val="1200"/>
              </a:spcAft>
            </a:pPr>
            <a:r>
              <a:rPr lang="en-US" sz="2200" dirty="0" smtClean="0">
                <a:latin typeface="Helvetica" pitchFamily="34" charset="0"/>
              </a:rPr>
              <a:t>Transport drivers and catering staff</a:t>
            </a:r>
          </a:p>
          <a:p>
            <a:pPr marL="360000" indent="-360000">
              <a:spcBef>
                <a:spcPts val="600"/>
              </a:spcBef>
              <a:spcAft>
                <a:spcPts val="1200"/>
              </a:spcAft>
            </a:pPr>
            <a:r>
              <a:rPr lang="en-US" sz="2200" dirty="0" smtClean="0">
                <a:latin typeface="Helvetica" pitchFamily="34" charset="0"/>
              </a:rPr>
              <a:t>Co-workers and co-hosts</a:t>
            </a:r>
          </a:p>
          <a:p>
            <a:pPr marL="360000" indent="-360000">
              <a:spcBef>
                <a:spcPts val="600"/>
              </a:spcBef>
              <a:spcAft>
                <a:spcPts val="1200"/>
              </a:spcAft>
            </a:pPr>
            <a:r>
              <a:rPr lang="en-US" sz="2200" dirty="0" smtClean="0">
                <a:latin typeface="Helvetica" pitchFamily="34" charset="0"/>
              </a:rPr>
              <a:t>Safety and security officers</a:t>
            </a:r>
          </a:p>
          <a:p>
            <a:pPr marL="360000" indent="-360000">
              <a:spcBef>
                <a:spcPts val="600"/>
              </a:spcBef>
              <a:spcAft>
                <a:spcPts val="1200"/>
              </a:spcAft>
            </a:pPr>
            <a:r>
              <a:rPr lang="en-US" sz="2200" dirty="0" smtClean="0">
                <a:latin typeface="Helvetica" pitchFamily="34" charset="0"/>
              </a:rPr>
              <a:t>Monitors and observers</a:t>
            </a:r>
          </a:p>
          <a:p>
            <a:pPr marL="360000" indent="-360000">
              <a:spcBef>
                <a:spcPts val="600"/>
              </a:spcBef>
              <a:spcAft>
                <a:spcPts val="1200"/>
              </a:spcAft>
            </a:pPr>
            <a:r>
              <a:rPr lang="en-US" sz="2200" dirty="0" smtClean="0">
                <a:latin typeface="Helvetica" pitchFamily="34" charset="0"/>
              </a:rPr>
              <a:t>Park characters</a:t>
            </a:r>
          </a:p>
          <a:p>
            <a:pPr marL="360000" indent="-360000">
              <a:spcBef>
                <a:spcPts val="600"/>
              </a:spcBef>
              <a:spcAft>
                <a:spcPts val="1200"/>
              </a:spcAft>
            </a:pPr>
            <a:r>
              <a:rPr lang="en-US" sz="2200" dirty="0" smtClean="0">
                <a:latin typeface="Helvetica" pitchFamily="34" charset="0"/>
              </a:rPr>
              <a:t>Section guides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112</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205693" y="2132856"/>
            <a:ext cx="2315581" cy="3258000"/>
          </a:xfrm>
          <a:prstGeom prst="rect">
            <a:avLst/>
          </a:prstGeom>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the skills and knowledge necessary to guide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On-departure/post-tou</a:t>
            </a:r>
            <a:r>
              <a:rPr lang="en-US" sz="2000" dirty="0" smtClean="0"/>
              <a:t>r</a:t>
            </a:r>
            <a:r>
              <a:rPr lang="en-US" sz="2000" dirty="0" smtClean="0">
                <a:latin typeface="Helvetica" pitchFamily="34" charset="0"/>
              </a:rPr>
              <a:t> activities – Completing end-of-tour activities:</a:t>
            </a:r>
          </a:p>
          <a:p>
            <a:pPr marL="360000" indent="-360000">
              <a:spcBef>
                <a:spcPts val="600"/>
              </a:spcBef>
              <a:spcAft>
                <a:spcPts val="1200"/>
              </a:spcAft>
            </a:pPr>
            <a:r>
              <a:rPr lang="en-US" sz="2000" dirty="0" smtClean="0">
                <a:latin typeface="Helvetica" pitchFamily="34" charset="0"/>
              </a:rPr>
              <a:t>Signing/signing off forms</a:t>
            </a:r>
          </a:p>
          <a:p>
            <a:pPr marL="360000" indent="-360000">
              <a:spcBef>
                <a:spcPts val="600"/>
              </a:spcBef>
              <a:spcAft>
                <a:spcPts val="1200"/>
              </a:spcAft>
            </a:pPr>
            <a:r>
              <a:rPr lang="en-US" sz="2000" dirty="0" smtClean="0">
                <a:latin typeface="Helvetica" pitchFamily="34" charset="0"/>
              </a:rPr>
              <a:t>Handing in required items and documents</a:t>
            </a:r>
          </a:p>
          <a:p>
            <a:pPr marL="360000" indent="-360000">
              <a:spcBef>
                <a:spcPts val="600"/>
              </a:spcBef>
              <a:spcAft>
                <a:spcPts val="1200"/>
              </a:spcAft>
            </a:pPr>
            <a:r>
              <a:rPr lang="en-US" sz="2000" dirty="0" smtClean="0">
                <a:latin typeface="Helvetica" pitchFamily="34" charset="0"/>
              </a:rPr>
              <a:t>Cleaning up </a:t>
            </a:r>
          </a:p>
          <a:p>
            <a:pPr marL="360000" indent="-360000">
              <a:spcBef>
                <a:spcPts val="600"/>
              </a:spcBef>
              <a:spcAft>
                <a:spcPts val="1200"/>
              </a:spcAft>
            </a:pPr>
            <a:r>
              <a:rPr lang="en-US" sz="2000" dirty="0" smtClean="0">
                <a:latin typeface="Helvetica" pitchFamily="34" charset="0"/>
              </a:rPr>
              <a:t>Replenishing items</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113</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572002" y="1988840"/>
            <a:ext cx="3563644" cy="2376000"/>
          </a:xfrm>
          <a:prstGeom prst="rect">
            <a:avLst/>
          </a:prstGeom>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Demonstrate the skills and knowledge necessary to guide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sz="2000" dirty="0" smtClean="0">
                <a:latin typeface="Helvetica" pitchFamily="34" charset="0"/>
              </a:rPr>
              <a:t>Participating in de-briefings</a:t>
            </a:r>
          </a:p>
          <a:p>
            <a:pPr marL="360000" indent="-360000">
              <a:spcBef>
                <a:spcPts val="600"/>
              </a:spcBef>
              <a:spcAft>
                <a:spcPts val="1200"/>
              </a:spcAft>
            </a:pPr>
            <a:r>
              <a:rPr lang="en-US" sz="2000" dirty="0" smtClean="0">
                <a:latin typeface="Helvetica" pitchFamily="34" charset="0"/>
              </a:rPr>
              <a:t>Reconciling cash and vouchers</a:t>
            </a:r>
          </a:p>
          <a:p>
            <a:pPr marL="360000" indent="-360000">
              <a:spcBef>
                <a:spcPts val="600"/>
              </a:spcBef>
              <a:spcAft>
                <a:spcPts val="1200"/>
              </a:spcAft>
            </a:pPr>
            <a:r>
              <a:rPr lang="en-US" sz="2000" dirty="0" smtClean="0">
                <a:latin typeface="Helvetica" pitchFamily="34" charset="0"/>
              </a:rPr>
              <a:t>Remitting payments received</a:t>
            </a:r>
          </a:p>
          <a:p>
            <a:pPr marL="360000" indent="-360000">
              <a:spcBef>
                <a:spcPts val="600"/>
              </a:spcBef>
              <a:spcAft>
                <a:spcPts val="1200"/>
              </a:spcAft>
            </a:pPr>
            <a:r>
              <a:rPr lang="en-US" sz="2000" dirty="0" smtClean="0">
                <a:latin typeface="Helvetica" pitchFamily="34" charset="0"/>
              </a:rPr>
              <a:t>Forwarding feedback received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114</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36187" y="1988840"/>
            <a:ext cx="3236482" cy="2160000"/>
          </a:xfrm>
          <a:prstGeom prst="rect">
            <a:avLst/>
          </a:prstGeom>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Apply legal, ethical and safety considerations to conduct of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Important points to note:</a:t>
            </a:r>
          </a:p>
          <a:p>
            <a:pPr marL="360000" indent="-360000">
              <a:spcBef>
                <a:spcPts val="600"/>
              </a:spcBef>
              <a:spcAft>
                <a:spcPts val="1200"/>
              </a:spcAft>
            </a:pPr>
            <a:r>
              <a:rPr lang="en-AU" sz="2200" dirty="0" smtClean="0">
                <a:latin typeface="Helvetica" pitchFamily="34" charset="0"/>
              </a:rPr>
              <a:t>Consumers are becoming increasingly aware of their legal rights</a:t>
            </a:r>
          </a:p>
          <a:p>
            <a:pPr marL="360000" indent="-360000">
              <a:spcBef>
                <a:spcPts val="600"/>
              </a:spcBef>
              <a:spcAft>
                <a:spcPts val="1200"/>
              </a:spcAft>
            </a:pPr>
            <a:r>
              <a:rPr lang="en-AU" sz="2200" dirty="0" smtClean="0">
                <a:latin typeface="Helvetica" pitchFamily="34" charset="0"/>
              </a:rPr>
              <a:t>Legal terms and definitions are not always easy to interpret/understand</a:t>
            </a:r>
          </a:p>
          <a:p>
            <a:pPr marL="360000" indent="-360000">
              <a:spcBef>
                <a:spcPts val="600"/>
              </a:spcBef>
              <a:spcAft>
                <a:spcPts val="1200"/>
              </a:spcAft>
            </a:pPr>
            <a:r>
              <a:rPr lang="en-AU" sz="2200" dirty="0" smtClean="0">
                <a:latin typeface="Helvetica" pitchFamily="34" charset="0"/>
              </a:rPr>
              <a:t>Tour leaders/guides should know their legal rights/obligations</a:t>
            </a:r>
            <a:endParaRPr lang="en-US" sz="2200" dirty="0" smtClean="0">
              <a:latin typeface="Helvetica" pitchFamily="34" charset="0"/>
            </a:endParaRP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115</a:t>
            </a:fld>
            <a:endParaRPr lang="en-US" dirty="0">
              <a:latin typeface="Helvetica" pitchFamily="34" charset="0"/>
            </a:endParaRPr>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t="12201" b="3801"/>
          <a:stretch/>
        </p:blipFill>
        <p:spPr>
          <a:xfrm>
            <a:off x="4860032" y="1988840"/>
            <a:ext cx="2460832" cy="3240000"/>
          </a:xfrm>
          <a:prstGeom prst="rect">
            <a:avLst/>
          </a:prstGeom>
        </p:spPr>
      </p:pic>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Apply legal, ethical and safety considerations to conduct of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608512" cy="4320480"/>
          </a:xfrm>
        </p:spPr>
        <p:txBody>
          <a:bodyPr>
            <a:noAutofit/>
          </a:bodyPr>
          <a:lstStyle/>
          <a:p>
            <a:pPr marL="360000" indent="-360000">
              <a:spcBef>
                <a:spcPts val="600"/>
              </a:spcBef>
              <a:spcAft>
                <a:spcPts val="1200"/>
              </a:spcAft>
            </a:pPr>
            <a:r>
              <a:rPr lang="en-AU" sz="2000" dirty="0" smtClean="0">
                <a:latin typeface="Helvetica" pitchFamily="34" charset="0"/>
              </a:rPr>
              <a:t>There is a need to seek legal advice</a:t>
            </a:r>
          </a:p>
          <a:p>
            <a:pPr marL="360000" indent="-360000">
              <a:spcBef>
                <a:spcPts val="600"/>
              </a:spcBef>
              <a:spcAft>
                <a:spcPts val="1200"/>
              </a:spcAft>
            </a:pPr>
            <a:r>
              <a:rPr lang="en-AU" sz="2000" dirty="0" smtClean="0">
                <a:latin typeface="Helvetica" pitchFamily="34" charset="0"/>
              </a:rPr>
              <a:t>Every Tourist Guide should be covered by public indemnity/liability (or similar) insurance</a:t>
            </a:r>
          </a:p>
          <a:p>
            <a:pPr marL="360000" indent="-360000">
              <a:spcBef>
                <a:spcPts val="600"/>
              </a:spcBef>
              <a:spcAft>
                <a:spcPts val="1200"/>
              </a:spcAft>
            </a:pPr>
            <a:r>
              <a:rPr lang="en-AU" sz="2000" dirty="0" smtClean="0">
                <a:latin typeface="Helvetica" pitchFamily="34" charset="0"/>
              </a:rPr>
              <a:t>All Tourist Guides should belong to a recognised Tour Guide Association</a:t>
            </a:r>
          </a:p>
          <a:p>
            <a:pPr marL="360000" indent="-360000">
              <a:spcBef>
                <a:spcPts val="600"/>
              </a:spcBef>
              <a:spcAft>
                <a:spcPts val="1200"/>
              </a:spcAft>
            </a:pPr>
            <a:r>
              <a:rPr lang="en-AU" sz="2000" dirty="0" smtClean="0">
                <a:latin typeface="Helvetica" pitchFamily="34" charset="0"/>
              </a:rPr>
              <a:t>A standard requirement for Tourist Guides is they hold a current and recognised First Aid certificate/qualification</a:t>
            </a:r>
            <a:endParaRPr lang="en-US" sz="20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116</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572000" y="2348880"/>
            <a:ext cx="2430000" cy="3240000"/>
          </a:xfrm>
          <a:prstGeom prst="rect">
            <a:avLst/>
          </a:prstGeom>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Apply legal, ethical and safety considerations to conduct of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5112568" cy="4608512"/>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Tour Operators and/or Tour Guides may break the law if they:</a:t>
            </a:r>
          </a:p>
          <a:p>
            <a:pPr marL="360000" indent="-360000">
              <a:spcBef>
                <a:spcPts val="600"/>
              </a:spcBef>
              <a:spcAft>
                <a:spcPts val="1200"/>
              </a:spcAft>
            </a:pPr>
            <a:r>
              <a:rPr lang="en-AU" sz="2200" dirty="0" smtClean="0">
                <a:latin typeface="Helvetica" pitchFamily="34" charset="0"/>
              </a:rPr>
              <a:t>Misrepresent tour activities, accommodation and other services and inclusions</a:t>
            </a:r>
          </a:p>
          <a:p>
            <a:pPr marL="360000" indent="-360000">
              <a:spcBef>
                <a:spcPts val="600"/>
              </a:spcBef>
              <a:spcAft>
                <a:spcPts val="1200"/>
              </a:spcAft>
            </a:pPr>
            <a:r>
              <a:rPr lang="en-AU" sz="2200" dirty="0" smtClean="0">
                <a:latin typeface="Helvetica" pitchFamily="34" charset="0"/>
              </a:rPr>
              <a:t>Give negligent or inappropriate advice</a:t>
            </a:r>
          </a:p>
          <a:p>
            <a:pPr marL="360000" indent="-360000">
              <a:spcBef>
                <a:spcPts val="600"/>
              </a:spcBef>
              <a:spcAft>
                <a:spcPts val="1200"/>
              </a:spcAft>
            </a:pPr>
            <a:r>
              <a:rPr lang="en-AU" sz="2200" dirty="0" smtClean="0">
                <a:latin typeface="Helvetica" pitchFamily="34" charset="0"/>
              </a:rPr>
              <a:t>Provide unqualified or inappropriate staff or unsuitable suppliers</a:t>
            </a:r>
          </a:p>
          <a:p>
            <a:pPr marL="360000" indent="-360000">
              <a:spcBef>
                <a:spcPts val="600"/>
              </a:spcBef>
              <a:spcAft>
                <a:spcPts val="1200"/>
              </a:spcAft>
            </a:pPr>
            <a:r>
              <a:rPr lang="en-AU" sz="2200" dirty="0" smtClean="0">
                <a:latin typeface="Helvetica" pitchFamily="34" charset="0"/>
              </a:rPr>
              <a:t>Are negligent in their selection of supplier</a:t>
            </a:r>
          </a:p>
          <a:p>
            <a:pPr marL="360000" indent="-360000">
              <a:spcBef>
                <a:spcPts val="600"/>
              </a:spcBef>
              <a:spcAft>
                <a:spcPts val="1200"/>
              </a:spcAft>
            </a:pPr>
            <a:r>
              <a:rPr lang="en-AU" sz="2200" dirty="0" smtClean="0">
                <a:latin typeface="Helvetica" pitchFamily="34" charset="0"/>
              </a:rPr>
              <a:t>Do not provide for the care, wellbeing, comfort and safety of each individual</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117</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347347" y="2009800"/>
            <a:ext cx="3120000" cy="2340000"/>
          </a:xfrm>
          <a:prstGeom prst="rect">
            <a:avLst/>
          </a:prstGeom>
          <a:ln>
            <a:noFill/>
          </a:ln>
          <a:effectLst/>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Apply legal, ethical and safety considerations to conduct of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5040560" cy="4093915"/>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Tour Operators and/or Tour Guides are obliged to:</a:t>
            </a:r>
          </a:p>
          <a:p>
            <a:pPr marL="360000" indent="-360000">
              <a:spcBef>
                <a:spcPts val="600"/>
              </a:spcBef>
              <a:spcAft>
                <a:spcPts val="1200"/>
              </a:spcAft>
            </a:pPr>
            <a:r>
              <a:rPr lang="en-AU" sz="2200" dirty="0" smtClean="0">
                <a:latin typeface="Helvetica" pitchFamily="34" charset="0"/>
              </a:rPr>
              <a:t>Provide services as contracted</a:t>
            </a:r>
          </a:p>
          <a:p>
            <a:pPr marL="360000" indent="-360000">
              <a:spcBef>
                <a:spcPts val="600"/>
              </a:spcBef>
              <a:spcAft>
                <a:spcPts val="1200"/>
              </a:spcAft>
            </a:pPr>
            <a:r>
              <a:rPr lang="en-AU" sz="2200" dirty="0" smtClean="0">
                <a:latin typeface="Helvetica" pitchFamily="34" charset="0"/>
              </a:rPr>
              <a:t>Ensure stated accommodation, services, sightseeing, attractions are included</a:t>
            </a:r>
          </a:p>
          <a:p>
            <a:pPr marL="360000" indent="-360000">
              <a:spcBef>
                <a:spcPts val="600"/>
              </a:spcBef>
              <a:spcAft>
                <a:spcPts val="1200"/>
              </a:spcAft>
            </a:pPr>
            <a:r>
              <a:rPr lang="en-AU" sz="2200" dirty="0" smtClean="0">
                <a:latin typeface="Helvetica" pitchFamily="34" charset="0"/>
              </a:rPr>
              <a:t>Use/provide ‘expert guides’</a:t>
            </a:r>
          </a:p>
          <a:p>
            <a:pPr marL="360000" indent="-360000">
              <a:spcBef>
                <a:spcPts val="600"/>
              </a:spcBef>
              <a:spcAft>
                <a:spcPts val="1200"/>
              </a:spcAft>
            </a:pPr>
            <a:r>
              <a:rPr lang="en-AU" sz="2200" dirty="0" smtClean="0">
                <a:latin typeface="Helvetica" pitchFamily="34" charset="0"/>
              </a:rPr>
              <a:t>Ensure all practices of guide and other staff are safe, ethical and professional</a:t>
            </a:r>
          </a:p>
          <a:p>
            <a:pPr marL="360000" indent="-360000">
              <a:spcBef>
                <a:spcPts val="600"/>
              </a:spcBef>
              <a:spcAft>
                <a:spcPts val="1200"/>
              </a:spcAft>
            </a:pPr>
            <a:r>
              <a:rPr lang="en-AU" sz="2200" dirty="0" smtClean="0">
                <a:latin typeface="Helvetica" pitchFamily="34" charset="0"/>
              </a:rPr>
              <a:t>Provide safe and reliable services and facilities</a:t>
            </a:r>
            <a:endParaRPr lang="en-AU" sz="2400" dirty="0" smtClean="0"/>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118</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652120" y="2276872"/>
            <a:ext cx="2159793" cy="3240000"/>
          </a:xfrm>
          <a:prstGeom prst="rect">
            <a:avLst/>
          </a:prstGeom>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Apply legal, ethical and safety considerations to conduct of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680520" cy="4093915"/>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It is important to know relevant ‘terms and conditions’ – as they apply to matters such as:</a:t>
            </a:r>
          </a:p>
          <a:p>
            <a:pPr marL="360000" indent="-360000">
              <a:spcBef>
                <a:spcPts val="600"/>
              </a:spcBef>
              <a:spcAft>
                <a:spcPts val="1200"/>
              </a:spcAft>
            </a:pPr>
            <a:r>
              <a:rPr lang="en-US" sz="2200" dirty="0" smtClean="0">
                <a:latin typeface="Helvetica" pitchFamily="34" charset="0"/>
              </a:rPr>
              <a:t>Deposits and balance conditions</a:t>
            </a:r>
          </a:p>
          <a:p>
            <a:pPr marL="360000" indent="-360000">
              <a:spcBef>
                <a:spcPts val="600"/>
              </a:spcBef>
              <a:spcAft>
                <a:spcPts val="1200"/>
              </a:spcAft>
            </a:pPr>
            <a:r>
              <a:rPr lang="en-US" sz="2200" dirty="0" smtClean="0">
                <a:latin typeface="Helvetica" pitchFamily="34" charset="0"/>
              </a:rPr>
              <a:t>Cancellations and amendments/refunds</a:t>
            </a:r>
          </a:p>
          <a:p>
            <a:pPr marL="360000" indent="-360000">
              <a:spcBef>
                <a:spcPts val="600"/>
              </a:spcBef>
              <a:spcAft>
                <a:spcPts val="1200"/>
              </a:spcAft>
            </a:pPr>
            <a:r>
              <a:rPr lang="en-US" sz="2200" dirty="0" smtClean="0">
                <a:latin typeface="Helvetica" pitchFamily="34" charset="0"/>
              </a:rPr>
              <a:t>Pricing policies</a:t>
            </a:r>
          </a:p>
          <a:p>
            <a:pPr marL="360000" indent="-360000">
              <a:spcBef>
                <a:spcPts val="600"/>
              </a:spcBef>
              <a:spcAft>
                <a:spcPts val="1200"/>
              </a:spcAft>
            </a:pPr>
            <a:r>
              <a:rPr lang="en-US" sz="2200" dirty="0" smtClean="0">
                <a:latin typeface="Helvetica" pitchFamily="34" charset="0"/>
              </a:rPr>
              <a:t>Exclusions and inclusions</a:t>
            </a:r>
          </a:p>
          <a:p>
            <a:pPr marL="360000" indent="-360000">
              <a:spcBef>
                <a:spcPts val="600"/>
              </a:spcBef>
              <a:spcAft>
                <a:spcPts val="1200"/>
              </a:spcAft>
            </a:pPr>
            <a:r>
              <a:rPr lang="en-US" sz="2200" dirty="0" smtClean="0">
                <a:latin typeface="Helvetica" pitchFamily="34" charset="0"/>
              </a:rPr>
              <a:t>Changes to planned/bought itinerary</a:t>
            </a:r>
          </a:p>
          <a:p>
            <a:pPr marL="360000" indent="-360000">
              <a:spcBef>
                <a:spcPts val="600"/>
              </a:spcBef>
              <a:spcAft>
                <a:spcPts val="1200"/>
              </a:spcAft>
            </a:pPr>
            <a:r>
              <a:rPr lang="en-US" sz="2200" dirty="0" smtClean="0">
                <a:latin typeface="Helvetica" pitchFamily="34" charset="0"/>
              </a:rPr>
              <a:t>Personal and property loss/damage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119</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92080" y="1988840"/>
            <a:ext cx="2952022" cy="1968261"/>
          </a:xfrm>
          <a:prstGeom prst="rect">
            <a:avLst/>
          </a:prstGeom>
        </p:spPr>
      </p:pic>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Apply legal, ethical and safety considerations to conduct of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320480" cy="4093915"/>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In addition to previous advice tour group members may also sue if:</a:t>
            </a:r>
          </a:p>
          <a:p>
            <a:pPr marL="360000" indent="-360000">
              <a:spcBef>
                <a:spcPts val="600"/>
              </a:spcBef>
              <a:spcAft>
                <a:spcPts val="1200"/>
              </a:spcAft>
            </a:pPr>
            <a:r>
              <a:rPr lang="en-US" sz="2200" dirty="0" smtClean="0">
                <a:latin typeface="Helvetica" pitchFamily="34" charset="0"/>
              </a:rPr>
              <a:t>There is non-compliance with any terms and conditions</a:t>
            </a:r>
          </a:p>
          <a:p>
            <a:pPr marL="360000" indent="-360000">
              <a:spcBef>
                <a:spcPts val="600"/>
              </a:spcBef>
              <a:spcAft>
                <a:spcPts val="1200"/>
              </a:spcAft>
            </a:pPr>
            <a:r>
              <a:rPr lang="en-US" sz="2200" dirty="0" smtClean="0">
                <a:latin typeface="Helvetica" pitchFamily="34" charset="0"/>
              </a:rPr>
              <a:t>Tour leader/guide does not adhere to itinerary</a:t>
            </a:r>
          </a:p>
          <a:p>
            <a:pPr marL="360000" indent="-360000">
              <a:spcBef>
                <a:spcPts val="600"/>
              </a:spcBef>
              <a:spcAft>
                <a:spcPts val="1200"/>
              </a:spcAft>
            </a:pPr>
            <a:r>
              <a:rPr lang="en-US" sz="2200" dirty="0" smtClean="0">
                <a:latin typeface="Helvetica" pitchFamily="34" charset="0"/>
              </a:rPr>
              <a:t>There is late provision of a service</a:t>
            </a:r>
          </a:p>
          <a:p>
            <a:pPr marL="360000" indent="-360000">
              <a:spcBef>
                <a:spcPts val="600"/>
              </a:spcBef>
              <a:spcAft>
                <a:spcPts val="1200"/>
              </a:spcAft>
            </a:pPr>
            <a:r>
              <a:rPr lang="en-US" sz="2200" dirty="0" smtClean="0">
                <a:latin typeface="Helvetica" pitchFamily="34" charset="0"/>
              </a:rPr>
              <a:t>They receive inferior service</a:t>
            </a:r>
          </a:p>
          <a:p>
            <a:pPr marL="360000" indent="-360000">
              <a:spcBef>
                <a:spcPts val="600"/>
              </a:spcBef>
              <a:spcAft>
                <a:spcPts val="1200"/>
              </a:spcAft>
            </a:pPr>
            <a:r>
              <a:rPr lang="en-US" sz="2200" dirty="0" smtClean="0">
                <a:latin typeface="Helvetica" pitchFamily="34" charset="0"/>
              </a:rPr>
              <a:t>A stated inclusion is cancelled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81360" y="1988840"/>
            <a:ext cx="2807672" cy="1871968"/>
          </a:xfrm>
          <a:prstGeom prst="rect">
            <a:avLst/>
          </a:prstGeom>
        </p:spPr>
      </p:pic>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Apply legal, ethical and safety considerations to conduct of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sz="2000" dirty="0" smtClean="0">
                <a:latin typeface="Helvetica" pitchFamily="34" charset="0"/>
              </a:rPr>
              <a:t>They experience any unfilled service/promise</a:t>
            </a:r>
          </a:p>
          <a:p>
            <a:pPr marL="360000" indent="-360000">
              <a:spcBef>
                <a:spcPts val="600"/>
              </a:spcBef>
              <a:spcAft>
                <a:spcPts val="1200"/>
              </a:spcAft>
            </a:pPr>
            <a:r>
              <a:rPr lang="en-US" sz="2000" dirty="0" smtClean="0">
                <a:latin typeface="Helvetica" pitchFamily="34" charset="0"/>
              </a:rPr>
              <a:t>Itinerary or inclusions vary from what was stated/promised</a:t>
            </a:r>
          </a:p>
          <a:p>
            <a:pPr marL="360000" indent="-360000">
              <a:spcBef>
                <a:spcPts val="600"/>
              </a:spcBef>
              <a:spcAft>
                <a:spcPts val="1200"/>
              </a:spcAft>
            </a:pPr>
            <a:r>
              <a:rPr lang="en-US" sz="2000" dirty="0" smtClean="0">
                <a:latin typeface="Helvetica" pitchFamily="34" charset="0"/>
              </a:rPr>
              <a:t>Items are lost or stolen on tour</a:t>
            </a:r>
          </a:p>
          <a:p>
            <a:pPr marL="360000" indent="-360000">
              <a:spcBef>
                <a:spcPts val="600"/>
              </a:spcBef>
              <a:spcAft>
                <a:spcPts val="1200"/>
              </a:spcAft>
            </a:pPr>
            <a:r>
              <a:rPr lang="en-US" sz="2000" dirty="0" smtClean="0">
                <a:latin typeface="Helvetica" pitchFamily="34" charset="0"/>
              </a:rPr>
              <a:t>They suffer accident, illness or death on tour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121</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860032" y="1988840"/>
            <a:ext cx="2880000" cy="2880000"/>
          </a:xfrm>
          <a:prstGeom prst="rect">
            <a:avLst/>
          </a:prstGeom>
        </p:spPr>
      </p:pic>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Apply legal, ethical and safety considerations to conduct of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Tour Guides must learn employer SOPs plus:</a:t>
            </a:r>
          </a:p>
          <a:p>
            <a:pPr marL="360000" indent="-360000">
              <a:spcBef>
                <a:spcPts val="600"/>
              </a:spcBef>
              <a:spcAft>
                <a:spcPts val="1200"/>
              </a:spcAft>
            </a:pPr>
            <a:r>
              <a:rPr lang="en-AU" sz="2000" dirty="0" smtClean="0">
                <a:latin typeface="Helvetica" pitchFamily="34" charset="0"/>
              </a:rPr>
              <a:t>Study and implement all checking procedures </a:t>
            </a:r>
            <a:endParaRPr lang="en-US" sz="2000" dirty="0" smtClean="0">
              <a:latin typeface="Helvetica" pitchFamily="34" charset="0"/>
            </a:endParaRPr>
          </a:p>
          <a:p>
            <a:pPr marL="360000" indent="-360000">
              <a:spcBef>
                <a:spcPts val="600"/>
              </a:spcBef>
              <a:spcAft>
                <a:spcPts val="1200"/>
              </a:spcAft>
            </a:pPr>
            <a:r>
              <a:rPr lang="en-AU" sz="2000" dirty="0" smtClean="0">
                <a:latin typeface="Helvetica" pitchFamily="34" charset="0"/>
              </a:rPr>
              <a:t>Learn, practice and be able to implement all contingency plans</a:t>
            </a:r>
          </a:p>
          <a:p>
            <a:pPr marL="360000" indent="-360000">
              <a:spcBef>
                <a:spcPts val="600"/>
              </a:spcBef>
              <a:spcAft>
                <a:spcPts val="1200"/>
              </a:spcAft>
            </a:pPr>
            <a:r>
              <a:rPr lang="en-AU" sz="2000" dirty="0" smtClean="0">
                <a:latin typeface="Helvetica" pitchFamily="34" charset="0"/>
              </a:rPr>
              <a:t>Learn, practice and be able to implement all emergency plans</a:t>
            </a:r>
            <a:endParaRPr lang="en-US" sz="2000" dirty="0" smtClean="0">
              <a:latin typeface="Helvetica" pitchFamily="34" charset="0"/>
            </a:endParaRP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122</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834424" y="2595797"/>
            <a:ext cx="4318976" cy="2880000"/>
          </a:xfrm>
          <a:prstGeom prst="rect">
            <a:avLst/>
          </a:prstGeom>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Apply legal, ethical and safety considerations to conduct of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39"/>
            <a:ext cx="5544616" cy="4798349"/>
          </a:xfrm>
        </p:spPr>
        <p:txBody>
          <a:bodyPr>
            <a:normAutofit fontScale="77500" lnSpcReduction="20000"/>
          </a:bodyPr>
          <a:lstStyle/>
          <a:p>
            <a:pPr marL="0" indent="0">
              <a:spcBef>
                <a:spcPts val="600"/>
              </a:spcBef>
              <a:spcAft>
                <a:spcPts val="1200"/>
              </a:spcAft>
              <a:buNone/>
            </a:pPr>
            <a:r>
              <a:rPr lang="en-US" sz="2600" dirty="0" smtClean="0">
                <a:latin typeface="Helvetica" pitchFamily="34" charset="0"/>
              </a:rPr>
              <a:t>Practical implementation requirements – Tour Guides must:</a:t>
            </a:r>
          </a:p>
          <a:p>
            <a:pPr marL="360000" indent="-360000">
              <a:lnSpc>
                <a:spcPct val="120000"/>
              </a:lnSpc>
              <a:spcBef>
                <a:spcPts val="600"/>
              </a:spcBef>
              <a:spcAft>
                <a:spcPts val="600"/>
              </a:spcAft>
            </a:pPr>
            <a:r>
              <a:rPr lang="en-AU" sz="2600" dirty="0" smtClean="0">
                <a:latin typeface="Helvetica" pitchFamily="34" charset="0"/>
              </a:rPr>
              <a:t>Fulfil the Tour Operators contractual obligations</a:t>
            </a:r>
          </a:p>
          <a:p>
            <a:pPr marL="360000" indent="-360000">
              <a:lnSpc>
                <a:spcPct val="120000"/>
              </a:lnSpc>
              <a:spcBef>
                <a:spcPts val="600"/>
              </a:spcBef>
              <a:spcAft>
                <a:spcPts val="600"/>
              </a:spcAft>
            </a:pPr>
            <a:r>
              <a:rPr lang="en-AU" sz="2600" dirty="0" smtClean="0">
                <a:latin typeface="Helvetica" pitchFamily="34" charset="0"/>
              </a:rPr>
              <a:t>Ensure duty of care is discharged </a:t>
            </a:r>
          </a:p>
          <a:p>
            <a:pPr marL="360000" indent="-360000">
              <a:lnSpc>
                <a:spcPct val="120000"/>
              </a:lnSpc>
              <a:spcBef>
                <a:spcPts val="600"/>
              </a:spcBef>
              <a:spcAft>
                <a:spcPts val="600"/>
              </a:spcAft>
            </a:pPr>
            <a:r>
              <a:rPr lang="en-AU" sz="2600" dirty="0" smtClean="0">
                <a:latin typeface="Helvetica" pitchFamily="34" charset="0"/>
              </a:rPr>
              <a:t>Be familiar with the terms and conditions and content of the tour/s</a:t>
            </a:r>
          </a:p>
          <a:p>
            <a:pPr marL="360000" indent="-360000">
              <a:lnSpc>
                <a:spcPct val="120000"/>
              </a:lnSpc>
              <a:spcBef>
                <a:spcPts val="600"/>
              </a:spcBef>
              <a:spcAft>
                <a:spcPts val="600"/>
              </a:spcAft>
            </a:pPr>
            <a:r>
              <a:rPr lang="en-AU" sz="2600" dirty="0" smtClean="0">
                <a:latin typeface="Helvetica" pitchFamily="34" charset="0"/>
              </a:rPr>
              <a:t>Provide accurate, relevant, and current information</a:t>
            </a:r>
          </a:p>
          <a:p>
            <a:pPr marL="360000" indent="-360000">
              <a:lnSpc>
                <a:spcPct val="120000"/>
              </a:lnSpc>
              <a:spcBef>
                <a:spcPts val="600"/>
              </a:spcBef>
              <a:spcAft>
                <a:spcPts val="600"/>
              </a:spcAft>
            </a:pPr>
            <a:r>
              <a:rPr lang="en-AU" sz="2600" dirty="0" smtClean="0">
                <a:latin typeface="Helvetica" pitchFamily="34" charset="0"/>
              </a:rPr>
              <a:t>Meet the day-to-day activities of the tour as per the contractual agreement  </a:t>
            </a:r>
            <a:endParaRPr lang="en-US" sz="2600" dirty="0" smtClean="0">
              <a:latin typeface="Helvetica" pitchFamily="34" charset="0"/>
            </a:endParaRPr>
          </a:p>
          <a:p>
            <a:pPr marL="360000" indent="-360000">
              <a:spcBef>
                <a:spcPts val="600"/>
              </a:spcBef>
              <a:spcAft>
                <a:spcPts val="1200"/>
              </a:spcAft>
              <a:buNone/>
            </a:pPr>
            <a:r>
              <a:rPr lang="en-US" sz="15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123</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796136" y="2420888"/>
            <a:ext cx="2081113" cy="2880000"/>
          </a:xfrm>
          <a:prstGeom prst="rect">
            <a:avLst/>
          </a:prstGeom>
        </p:spPr>
      </p:pic>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Apply legal, ethical and safety considerations to conduct of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5040560" cy="4093915"/>
          </a:xfrm>
        </p:spPr>
        <p:txBody>
          <a:bodyPr>
            <a:normAutofit fontScale="92500" lnSpcReduction="10000"/>
          </a:bodyPr>
          <a:lstStyle/>
          <a:p>
            <a:pPr marL="360000" indent="-360000">
              <a:spcBef>
                <a:spcPts val="600"/>
              </a:spcBef>
              <a:spcAft>
                <a:spcPts val="1200"/>
              </a:spcAft>
            </a:pPr>
            <a:r>
              <a:rPr lang="en-US" sz="2200" dirty="0" smtClean="0">
                <a:latin typeface="Helvetica" pitchFamily="34" charset="0"/>
              </a:rPr>
              <a:t>Provide for the care, comfort and safety of all</a:t>
            </a:r>
          </a:p>
          <a:p>
            <a:pPr marL="360000" indent="-360000">
              <a:spcBef>
                <a:spcPts val="600"/>
              </a:spcBef>
              <a:spcAft>
                <a:spcPts val="1200"/>
              </a:spcAft>
            </a:pPr>
            <a:r>
              <a:rPr lang="en-AU" sz="2200" dirty="0" smtClean="0">
                <a:latin typeface="Helvetica" pitchFamily="34" charset="0"/>
              </a:rPr>
              <a:t>Conduct the tour in a professional manner</a:t>
            </a:r>
          </a:p>
          <a:p>
            <a:pPr marL="360000" indent="-360000">
              <a:spcBef>
                <a:spcPts val="600"/>
              </a:spcBef>
              <a:spcAft>
                <a:spcPts val="1200"/>
              </a:spcAft>
            </a:pPr>
            <a:r>
              <a:rPr lang="en-AU" sz="2200" dirty="0" smtClean="0">
                <a:latin typeface="Helvetica" pitchFamily="34" charset="0"/>
              </a:rPr>
              <a:t>Record all incidents and keep accurate records/documentation</a:t>
            </a:r>
          </a:p>
          <a:p>
            <a:pPr marL="360000" indent="-360000">
              <a:spcBef>
                <a:spcPts val="600"/>
              </a:spcBef>
              <a:spcAft>
                <a:spcPts val="1200"/>
              </a:spcAft>
            </a:pPr>
            <a:r>
              <a:rPr lang="en-AU" sz="2200" dirty="0" smtClean="0">
                <a:latin typeface="Helvetica" pitchFamily="34" charset="0"/>
              </a:rPr>
              <a:t>Report and document any unusual occurrences</a:t>
            </a:r>
          </a:p>
          <a:p>
            <a:pPr marL="360000" indent="-360000">
              <a:spcBef>
                <a:spcPts val="600"/>
              </a:spcBef>
              <a:spcAft>
                <a:spcPts val="1200"/>
              </a:spcAft>
            </a:pPr>
            <a:r>
              <a:rPr lang="en-AU" sz="2200" dirty="0" smtClean="0">
                <a:latin typeface="Helvetica" pitchFamily="34" charset="0"/>
              </a:rPr>
              <a:t>Ensure all activities are performed under safe conditions and acknowledged practice</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124</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436096" y="2204864"/>
            <a:ext cx="2142171" cy="2880000"/>
          </a:xfrm>
          <a:prstGeom prst="rect">
            <a:avLst/>
          </a:prstGeom>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Apply legal, ethical and safety considerations to conduct of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433224"/>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Remember:</a:t>
            </a:r>
          </a:p>
          <a:p>
            <a:pPr marL="360000" indent="-360000">
              <a:spcBef>
                <a:spcPts val="600"/>
              </a:spcBef>
              <a:spcAft>
                <a:spcPts val="1200"/>
              </a:spcAft>
            </a:pPr>
            <a:r>
              <a:rPr lang="en-AU" sz="2200" dirty="0" smtClean="0">
                <a:latin typeface="Helvetica" pitchFamily="34" charset="0"/>
              </a:rPr>
              <a:t>A guide/tour leader is responsible for their group and any problems or incidents that arise while on tour</a:t>
            </a:r>
          </a:p>
          <a:p>
            <a:pPr marL="360000" indent="-360000">
              <a:spcBef>
                <a:spcPts val="600"/>
              </a:spcBef>
              <a:spcAft>
                <a:spcPts val="1200"/>
              </a:spcAft>
            </a:pPr>
            <a:r>
              <a:rPr lang="en-AU" sz="2200" dirty="0" smtClean="0">
                <a:latin typeface="Helvetica" pitchFamily="34" charset="0"/>
              </a:rPr>
              <a:t>A guide must take responsibility and decision make on behalf of the group </a:t>
            </a:r>
          </a:p>
          <a:p>
            <a:pPr marL="360000" indent="-360000">
              <a:spcBef>
                <a:spcPts val="600"/>
              </a:spcBef>
              <a:spcAft>
                <a:spcPts val="1200"/>
              </a:spcAft>
            </a:pPr>
            <a:r>
              <a:rPr lang="en-AU" sz="2200" dirty="0" smtClean="0">
                <a:latin typeface="Helvetica" pitchFamily="34" charset="0"/>
              </a:rPr>
              <a:t>Being a Tour Guide involves carrying and discharging many responsibilities </a:t>
            </a:r>
            <a:endParaRPr lang="en-US" sz="2200" dirty="0" smtClean="0">
              <a:latin typeface="Helvetica" pitchFamily="34" charset="0"/>
            </a:endParaRP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125</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048733" y="2012054"/>
            <a:ext cx="3097527" cy="2065018"/>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Apply legal, ethical and safety considerations to conduct of tours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360000" indent="-360000">
              <a:spcBef>
                <a:spcPts val="600"/>
              </a:spcBef>
              <a:spcAft>
                <a:spcPts val="1200"/>
              </a:spcAft>
            </a:pPr>
            <a:r>
              <a:rPr lang="en-US" sz="2000" dirty="0" smtClean="0">
                <a:latin typeface="Helvetica" pitchFamily="34" charset="0"/>
              </a:rPr>
              <a:t>Being a Tour Guide requires:</a:t>
            </a:r>
          </a:p>
          <a:p>
            <a:pPr marL="720000" indent="-360000">
              <a:spcBef>
                <a:spcPts val="600"/>
              </a:spcBef>
              <a:spcAft>
                <a:spcPts val="1200"/>
              </a:spcAft>
              <a:buClr>
                <a:schemeClr val="accent1">
                  <a:lumMod val="75000"/>
                </a:schemeClr>
              </a:buClr>
              <a:buSzPct val="100000"/>
              <a:buFont typeface="Arial" pitchFamily="34" charset="0"/>
              <a:buChar char="•"/>
            </a:pPr>
            <a:r>
              <a:rPr lang="en-US" sz="2000" dirty="0" smtClean="0">
                <a:latin typeface="Helvetica" pitchFamily="34" charset="0"/>
              </a:rPr>
              <a:t>A ‘cool head’</a:t>
            </a:r>
          </a:p>
          <a:p>
            <a:pPr marL="720000" indent="-360000">
              <a:spcBef>
                <a:spcPts val="600"/>
              </a:spcBef>
              <a:spcAft>
                <a:spcPts val="1200"/>
              </a:spcAft>
              <a:buClr>
                <a:schemeClr val="accent1">
                  <a:lumMod val="75000"/>
                </a:schemeClr>
              </a:buClr>
              <a:buSzPct val="100000"/>
              <a:buFont typeface="Arial" pitchFamily="34" charset="0"/>
              <a:buChar char="•"/>
            </a:pPr>
            <a:r>
              <a:rPr lang="en-US" sz="2000" dirty="0" smtClean="0">
                <a:latin typeface="Helvetica" pitchFamily="34" charset="0"/>
              </a:rPr>
              <a:t>Good communication and people management skills</a:t>
            </a:r>
          </a:p>
          <a:p>
            <a:pPr marL="720000" indent="-360000">
              <a:spcBef>
                <a:spcPts val="600"/>
              </a:spcBef>
              <a:spcAft>
                <a:spcPts val="1200"/>
              </a:spcAft>
              <a:buClr>
                <a:schemeClr val="accent1">
                  <a:lumMod val="75000"/>
                </a:schemeClr>
              </a:buClr>
              <a:buSzPct val="100000"/>
              <a:buFont typeface="Arial" pitchFamily="34" charset="0"/>
              <a:buChar char="•"/>
            </a:pPr>
            <a:r>
              <a:rPr lang="en-US" sz="2000" dirty="0" smtClean="0">
                <a:latin typeface="Helvetica" pitchFamily="34" charset="0"/>
              </a:rPr>
              <a:t>Lots of patience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23939" y="1988840"/>
            <a:ext cx="3240000" cy="2160000"/>
          </a:xfrm>
          <a:prstGeom prst="rect">
            <a:avLst/>
          </a:prstGeom>
          <a:ln>
            <a:noFill/>
          </a:ln>
          <a:effectLst/>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Optimise respect for local culture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Being a ‘cultural host’ is important because it:</a:t>
            </a:r>
          </a:p>
          <a:p>
            <a:pPr marL="360000" indent="-360000">
              <a:spcBef>
                <a:spcPts val="600"/>
              </a:spcBef>
              <a:spcAft>
                <a:spcPts val="1200"/>
              </a:spcAft>
            </a:pPr>
            <a:r>
              <a:rPr lang="en-US" sz="2000" dirty="0" smtClean="0">
                <a:latin typeface="Helvetica" pitchFamily="34" charset="0"/>
              </a:rPr>
              <a:t>Help visitors ‘connect’</a:t>
            </a:r>
          </a:p>
          <a:p>
            <a:pPr marL="360000" indent="-360000">
              <a:spcBef>
                <a:spcPts val="600"/>
              </a:spcBef>
              <a:spcAft>
                <a:spcPts val="1200"/>
              </a:spcAft>
            </a:pPr>
            <a:r>
              <a:rPr lang="en-US" sz="2000" dirty="0" smtClean="0">
                <a:latin typeface="Helvetica" pitchFamily="34" charset="0"/>
              </a:rPr>
              <a:t>Guards against ‘culture shock’</a:t>
            </a:r>
          </a:p>
          <a:p>
            <a:pPr marL="360000" indent="-360000">
              <a:spcBef>
                <a:spcPts val="600"/>
              </a:spcBef>
              <a:spcAft>
                <a:spcPts val="1200"/>
              </a:spcAft>
            </a:pPr>
            <a:r>
              <a:rPr lang="en-US" sz="2000" dirty="0" smtClean="0">
                <a:latin typeface="Helvetica" pitchFamily="34" charset="0"/>
              </a:rPr>
              <a:t>Assists visitors assimilate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01265" y="1988840"/>
            <a:ext cx="3252135" cy="2160000"/>
          </a:xfrm>
          <a:prstGeom prst="rect">
            <a:avLst/>
          </a:prstGeom>
          <a:ln>
            <a:noFill/>
          </a:ln>
          <a:effectLst/>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Optimise respect for local culture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680520" cy="4093915"/>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Need to demonstrate respect for local culture:</a:t>
            </a:r>
          </a:p>
          <a:p>
            <a:pPr marL="360000" indent="-360000">
              <a:spcBef>
                <a:spcPts val="600"/>
              </a:spcBef>
              <a:spcAft>
                <a:spcPts val="1200"/>
              </a:spcAft>
            </a:pPr>
            <a:r>
              <a:rPr lang="en-US" sz="2200" dirty="0" smtClean="0">
                <a:latin typeface="Helvetica" pitchFamily="34" charset="0"/>
              </a:rPr>
              <a:t>Meet visitor expectations</a:t>
            </a:r>
          </a:p>
          <a:p>
            <a:pPr marL="360000" indent="-360000">
              <a:spcBef>
                <a:spcPts val="600"/>
              </a:spcBef>
              <a:spcAft>
                <a:spcPts val="1200"/>
              </a:spcAft>
            </a:pPr>
            <a:r>
              <a:rPr lang="en-US" sz="2200" dirty="0" smtClean="0">
                <a:latin typeface="Helvetica" pitchFamily="34" charset="0"/>
              </a:rPr>
              <a:t>Comply with advertising about tour</a:t>
            </a:r>
          </a:p>
          <a:p>
            <a:pPr marL="360000" indent="-360000">
              <a:spcBef>
                <a:spcPts val="600"/>
              </a:spcBef>
              <a:spcAft>
                <a:spcPts val="1200"/>
              </a:spcAft>
            </a:pPr>
            <a:r>
              <a:rPr lang="en-US" sz="2200" dirty="0" smtClean="0">
                <a:latin typeface="Helvetica" pitchFamily="34" charset="0"/>
              </a:rPr>
              <a:t>Help minimise impact on locals</a:t>
            </a:r>
          </a:p>
          <a:p>
            <a:pPr marL="360000" indent="-360000">
              <a:spcBef>
                <a:spcPts val="600"/>
              </a:spcBef>
              <a:spcAft>
                <a:spcPts val="1200"/>
              </a:spcAft>
            </a:pPr>
            <a:r>
              <a:rPr lang="en-US" sz="2200" dirty="0" smtClean="0">
                <a:latin typeface="Helvetica" pitchFamily="34" charset="0"/>
              </a:rPr>
              <a:t>Maximise education</a:t>
            </a:r>
          </a:p>
          <a:p>
            <a:pPr marL="360000" indent="-360000">
              <a:spcBef>
                <a:spcPts val="600"/>
              </a:spcBef>
              <a:spcAft>
                <a:spcPts val="1200"/>
              </a:spcAft>
            </a:pPr>
            <a:r>
              <a:rPr lang="en-US" sz="2200" dirty="0" smtClean="0">
                <a:latin typeface="Helvetica" pitchFamily="34" charset="0"/>
              </a:rPr>
              <a:t>Demonstrate appropriate reverence</a:t>
            </a:r>
          </a:p>
          <a:p>
            <a:pPr marL="360000" indent="-360000">
              <a:spcBef>
                <a:spcPts val="600"/>
              </a:spcBef>
              <a:spcAft>
                <a:spcPts val="1200"/>
              </a:spcAft>
            </a:pPr>
            <a:r>
              <a:rPr lang="en-US" sz="2200" dirty="0" smtClean="0">
                <a:latin typeface="Helvetica" pitchFamily="34" charset="0"/>
              </a:rPr>
              <a:t>Generate better local acceptance of tours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128</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134869" y="1628800"/>
            <a:ext cx="2944291" cy="3780000"/>
          </a:xfrm>
          <a:prstGeom prst="rect">
            <a:avLst/>
          </a:prstGeom>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Optimise respect for local culture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392488" cy="4093915"/>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Practices to demonstrate respect for local culture:</a:t>
            </a:r>
          </a:p>
          <a:p>
            <a:pPr marL="360000" indent="-360000">
              <a:spcBef>
                <a:spcPts val="600"/>
              </a:spcBef>
              <a:spcAft>
                <a:spcPts val="1200"/>
              </a:spcAft>
            </a:pPr>
            <a:r>
              <a:rPr lang="en-US" sz="2200" dirty="0" smtClean="0">
                <a:latin typeface="Helvetica" pitchFamily="34" charset="0"/>
              </a:rPr>
              <a:t>Abide by arrangements made between Tour Operator and local communities</a:t>
            </a:r>
          </a:p>
          <a:p>
            <a:pPr marL="360000" indent="-360000">
              <a:spcBef>
                <a:spcPts val="600"/>
              </a:spcBef>
              <a:spcAft>
                <a:spcPts val="1200"/>
              </a:spcAft>
            </a:pPr>
            <a:r>
              <a:rPr lang="en-US" sz="2200" dirty="0" smtClean="0">
                <a:latin typeface="Helvetica" pitchFamily="34" charset="0"/>
              </a:rPr>
              <a:t>Ask permission from local</a:t>
            </a:r>
          </a:p>
          <a:p>
            <a:pPr marL="360000" indent="-360000">
              <a:spcBef>
                <a:spcPts val="600"/>
              </a:spcBef>
              <a:spcAft>
                <a:spcPts val="1200"/>
              </a:spcAft>
            </a:pPr>
            <a:r>
              <a:rPr lang="en-US" sz="2200" dirty="0" smtClean="0">
                <a:latin typeface="Helvetica" pitchFamily="34" charset="0"/>
              </a:rPr>
              <a:t>Use common sense</a:t>
            </a:r>
          </a:p>
          <a:p>
            <a:pPr marL="360000" indent="-360000">
              <a:spcBef>
                <a:spcPts val="600"/>
              </a:spcBef>
              <a:spcAft>
                <a:spcPts val="1200"/>
              </a:spcAft>
            </a:pPr>
            <a:r>
              <a:rPr lang="en-US" sz="2200" dirty="0" smtClean="0">
                <a:latin typeface="Helvetica" pitchFamily="34" charset="0"/>
              </a:rPr>
              <a:t>Avoid mentioning aspects locals do not want discussed</a:t>
            </a:r>
          </a:p>
          <a:p>
            <a:pPr marL="360000" indent="-360000">
              <a:spcBef>
                <a:spcPts val="600"/>
              </a:spcBef>
              <a:spcAft>
                <a:spcPts val="1200"/>
              </a:spcAft>
              <a:buNone/>
            </a:pPr>
            <a:r>
              <a:rPr lang="en-US" sz="15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129</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220072" y="1628800"/>
            <a:ext cx="2587788" cy="3780000"/>
          </a:xfrm>
          <a:prstGeom prst="rect">
            <a:avLst/>
          </a:prstGeom>
        </p:spPr>
      </p:pic>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Optimise respect for local culture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360000" indent="-360000">
              <a:spcBef>
                <a:spcPts val="600"/>
              </a:spcBef>
              <a:spcAft>
                <a:spcPts val="1200"/>
              </a:spcAft>
            </a:pPr>
            <a:r>
              <a:rPr lang="en-US" sz="2000" dirty="0" smtClean="0">
                <a:latin typeface="Helvetica" pitchFamily="34" charset="0"/>
              </a:rPr>
              <a:t>Be prepared to explain commonly misunderstood aspects of the culture</a:t>
            </a:r>
          </a:p>
          <a:p>
            <a:pPr marL="360000" indent="-360000">
              <a:spcBef>
                <a:spcPts val="600"/>
              </a:spcBef>
              <a:spcAft>
                <a:spcPts val="1200"/>
              </a:spcAft>
            </a:pPr>
            <a:r>
              <a:rPr lang="en-US" sz="2000" dirty="0" smtClean="0">
                <a:latin typeface="Helvetica" pitchFamily="34" charset="0"/>
              </a:rPr>
              <a:t>Provide anecdotes to illustrate the culture</a:t>
            </a:r>
          </a:p>
          <a:p>
            <a:pPr marL="360000" indent="-360000">
              <a:spcBef>
                <a:spcPts val="600"/>
              </a:spcBef>
              <a:spcAft>
                <a:spcPts val="1200"/>
              </a:spcAft>
            </a:pPr>
            <a:r>
              <a:rPr lang="en-US" sz="2000" dirty="0" smtClean="0">
                <a:latin typeface="Helvetica" pitchFamily="34" charset="0"/>
              </a:rPr>
              <a:t>Lead by example – role model acceptable and respectful behaviour</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130</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644008" y="1772816"/>
            <a:ext cx="2777512" cy="3780000"/>
          </a:xfrm>
          <a:prstGeom prst="rect">
            <a:avLst/>
          </a:prstGeom>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Optimise respect for local culture</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sz="2000" dirty="0" smtClean="0">
                <a:latin typeface="Helvetica" pitchFamily="34" charset="0"/>
              </a:rPr>
              <a:t>Be sensitive to issues (age, gender, dress) which may cause offence or have special significance to locals</a:t>
            </a:r>
          </a:p>
          <a:p>
            <a:pPr marL="360000" indent="-360000">
              <a:spcBef>
                <a:spcPts val="600"/>
              </a:spcBef>
              <a:spcAft>
                <a:spcPts val="1200"/>
              </a:spcAft>
            </a:pPr>
            <a:r>
              <a:rPr lang="en-US" sz="2000" dirty="0" smtClean="0">
                <a:latin typeface="Helvetica" pitchFamily="34" charset="0"/>
              </a:rPr>
              <a:t>Maintain secrecy about nominated topics</a:t>
            </a:r>
          </a:p>
          <a:p>
            <a:pPr marL="360000" indent="-360000">
              <a:spcBef>
                <a:spcPts val="600"/>
              </a:spcBef>
              <a:spcAft>
                <a:spcPts val="1200"/>
              </a:spcAft>
            </a:pPr>
            <a:r>
              <a:rPr lang="en-US" sz="2000" dirty="0" smtClean="0">
                <a:latin typeface="Helvetica" pitchFamily="34" charset="0"/>
              </a:rPr>
              <a:t>Support the local community in appropriate and respectful ways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131</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04048" y="1988840"/>
            <a:ext cx="2131454" cy="3240000"/>
          </a:xfrm>
          <a:prstGeom prst="rect">
            <a:avLst/>
          </a:prstGeom>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Minimise negative impact on the culture, people and environment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0" indent="0">
              <a:spcBef>
                <a:spcPts val="600"/>
              </a:spcBef>
              <a:spcAft>
                <a:spcPts val="1200"/>
              </a:spcAft>
              <a:buNone/>
            </a:pPr>
            <a:r>
              <a:rPr lang="en-US" sz="2000" dirty="0" smtClean="0">
                <a:latin typeface="Helvetica" pitchFamily="34" charset="0"/>
              </a:rPr>
              <a:t>Key terms and concepts on this topics include:</a:t>
            </a:r>
          </a:p>
          <a:p>
            <a:pPr marL="360000" indent="-360000">
              <a:spcBef>
                <a:spcPts val="600"/>
              </a:spcBef>
              <a:spcAft>
                <a:spcPts val="1200"/>
              </a:spcAft>
            </a:pPr>
            <a:r>
              <a:rPr lang="en-US" sz="2000" dirty="0" smtClean="0">
                <a:latin typeface="Helvetica" pitchFamily="34" charset="0"/>
              </a:rPr>
              <a:t>Ethical tourism</a:t>
            </a:r>
          </a:p>
          <a:p>
            <a:pPr marL="360000" indent="-360000">
              <a:spcBef>
                <a:spcPts val="600"/>
              </a:spcBef>
              <a:spcAft>
                <a:spcPts val="1200"/>
              </a:spcAft>
            </a:pPr>
            <a:r>
              <a:rPr lang="en-US" sz="2000" dirty="0" smtClean="0">
                <a:latin typeface="Helvetica" pitchFamily="34" charset="0"/>
              </a:rPr>
              <a:t>Sustainable tourism</a:t>
            </a:r>
          </a:p>
          <a:p>
            <a:pPr marL="360000" indent="-360000">
              <a:spcBef>
                <a:spcPts val="600"/>
              </a:spcBef>
              <a:spcAft>
                <a:spcPts val="1200"/>
              </a:spcAft>
            </a:pPr>
            <a:r>
              <a:rPr lang="en-US" sz="2000" dirty="0" smtClean="0">
                <a:latin typeface="Helvetica" pitchFamily="34" charset="0"/>
              </a:rPr>
              <a:t>Green tourism</a:t>
            </a:r>
          </a:p>
          <a:p>
            <a:pPr marL="360000" indent="-360000">
              <a:spcBef>
                <a:spcPts val="600"/>
              </a:spcBef>
              <a:spcAft>
                <a:spcPts val="1200"/>
              </a:spcAft>
            </a:pPr>
            <a:r>
              <a:rPr lang="en-US" sz="2000" dirty="0" smtClean="0">
                <a:latin typeface="Helvetica" pitchFamily="34" charset="0"/>
              </a:rPr>
              <a:t>Fair Trade in tourism</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66024" y="2132856"/>
            <a:ext cx="3687376" cy="2447952"/>
          </a:xfrm>
          <a:prstGeom prst="rect">
            <a:avLst/>
          </a:prstGeom>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Minimise negative impact on the culture, people and environment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467544" y="2060848"/>
            <a:ext cx="4392488" cy="4361216"/>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Ways to determine what is required:</a:t>
            </a:r>
          </a:p>
          <a:p>
            <a:pPr marL="360000" indent="-360000">
              <a:spcBef>
                <a:spcPts val="600"/>
              </a:spcBef>
              <a:spcAft>
                <a:spcPts val="1200"/>
              </a:spcAft>
            </a:pPr>
            <a:r>
              <a:rPr lang="en-US" sz="2200" dirty="0" smtClean="0">
                <a:latin typeface="Helvetica" pitchFamily="34" charset="0"/>
              </a:rPr>
              <a:t>Talk to relevant people: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Communities and elders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Tour Operator and other Tour Guides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Government officials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Local stakeholders</a:t>
            </a:r>
          </a:p>
          <a:p>
            <a:pPr marL="360000" indent="-360000">
              <a:spcBef>
                <a:spcPts val="600"/>
              </a:spcBef>
              <a:spcAft>
                <a:spcPts val="1200"/>
              </a:spcAft>
            </a:pPr>
            <a:r>
              <a:rPr lang="en-US" sz="2200" dirty="0" smtClean="0">
                <a:latin typeface="Helvetica" pitchFamily="34" charset="0"/>
              </a:rPr>
              <a:t>Read relevant documents: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Internal and internal</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133</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076056" y="1844824"/>
            <a:ext cx="2520000" cy="3780000"/>
          </a:xfrm>
          <a:prstGeom prst="rect">
            <a:avLst/>
          </a:prstGeom>
        </p:spPr>
      </p:pic>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Minimise negative impact on the culture, people and environment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Practical and effective ways to minimise negative impact of tours:</a:t>
            </a:r>
          </a:p>
          <a:p>
            <a:pPr marL="360000" indent="-360000">
              <a:spcBef>
                <a:spcPts val="600"/>
              </a:spcBef>
              <a:spcAft>
                <a:spcPts val="1200"/>
              </a:spcAft>
            </a:pPr>
            <a:r>
              <a:rPr lang="en-US" sz="2200" dirty="0" smtClean="0">
                <a:latin typeface="Helvetica" pitchFamily="34" charset="0"/>
              </a:rPr>
              <a:t>Be sensitive to ecological issues: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Limit use of local water</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Do not leave rubbish</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Do nothing to erode the land</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134</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913400" y="1988840"/>
            <a:ext cx="3240000" cy="2160000"/>
          </a:xfrm>
          <a:prstGeom prst="rect">
            <a:avLst/>
          </a:prstGeom>
          <a:ln>
            <a:noFill/>
          </a:ln>
          <a:effectLst/>
        </p:spPr>
      </p:pic>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Minimise negative impact on the culture, people and environment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sz="2000" dirty="0" smtClean="0">
                <a:latin typeface="Helvetica" pitchFamily="34" charset="0"/>
              </a:rPr>
              <a:t>Control visitations:</a:t>
            </a:r>
          </a:p>
          <a:p>
            <a:pPr marL="720000" indent="-360000">
              <a:spcBef>
                <a:spcPts val="600"/>
              </a:spcBef>
              <a:spcAft>
                <a:spcPts val="1200"/>
              </a:spcAft>
              <a:buClr>
                <a:schemeClr val="accent1">
                  <a:lumMod val="75000"/>
                </a:schemeClr>
              </a:buClr>
              <a:buSzPct val="100000"/>
              <a:buFont typeface="Arial" pitchFamily="34" charset="0"/>
              <a:buChar char="•"/>
            </a:pPr>
            <a:r>
              <a:rPr lang="en-US" sz="2000" dirty="0" smtClean="0">
                <a:latin typeface="Helvetica" pitchFamily="34" charset="0"/>
              </a:rPr>
              <a:t>Setting visitor and tour limits</a:t>
            </a:r>
          </a:p>
          <a:p>
            <a:pPr marL="720000" indent="-360000">
              <a:spcBef>
                <a:spcPts val="600"/>
              </a:spcBef>
              <a:spcAft>
                <a:spcPts val="1200"/>
              </a:spcAft>
              <a:buClr>
                <a:schemeClr val="accent1">
                  <a:lumMod val="75000"/>
                </a:schemeClr>
              </a:buClr>
              <a:buSzPct val="100000"/>
              <a:buFont typeface="Arial" pitchFamily="34" charset="0"/>
              <a:buChar char="•"/>
            </a:pPr>
            <a:r>
              <a:rPr lang="en-US" sz="2000" dirty="0" smtClean="0">
                <a:latin typeface="Helvetica" pitchFamily="34" charset="0"/>
              </a:rPr>
              <a:t>Offering alternatives where a negative impact is deemed possible/probable</a:t>
            </a:r>
          </a:p>
          <a:p>
            <a:pPr marL="720000" indent="-360000">
              <a:spcBef>
                <a:spcPts val="600"/>
              </a:spcBef>
              <a:spcAft>
                <a:spcPts val="1200"/>
              </a:spcAft>
              <a:buClr>
                <a:schemeClr val="accent1">
                  <a:lumMod val="75000"/>
                </a:schemeClr>
              </a:buClr>
              <a:buSzPct val="100000"/>
              <a:buFont typeface="Arial" pitchFamily="34" charset="0"/>
              <a:buChar char="•"/>
            </a:pPr>
            <a:r>
              <a:rPr lang="en-US" sz="2000" dirty="0" smtClean="0">
                <a:latin typeface="Helvetica" pitchFamily="34" charset="0"/>
              </a:rPr>
              <a:t>Managing tours and tour group members</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135</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13400" y="1988840"/>
            <a:ext cx="3240000" cy="2160000"/>
          </a:xfrm>
          <a:prstGeom prst="rect">
            <a:avLst/>
          </a:prstGeom>
          <a:ln>
            <a:noFill/>
          </a:ln>
          <a:effectLst/>
        </p:spPr>
      </p:pic>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Minimise negative impact on the culture, people and environment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360000" indent="-360000">
              <a:spcBef>
                <a:spcPts val="600"/>
              </a:spcBef>
              <a:spcAft>
                <a:spcPts val="1200"/>
              </a:spcAft>
            </a:pPr>
            <a:r>
              <a:rPr lang="en-US" sz="2000" dirty="0" smtClean="0">
                <a:latin typeface="Helvetica" pitchFamily="34" charset="0"/>
              </a:rPr>
              <a:t>Be mindful of local need:</a:t>
            </a:r>
          </a:p>
          <a:p>
            <a:pPr marL="720000" indent="-360000">
              <a:spcBef>
                <a:spcPts val="600"/>
              </a:spcBef>
              <a:spcAft>
                <a:spcPts val="1200"/>
              </a:spcAft>
              <a:buClr>
                <a:schemeClr val="accent1">
                  <a:lumMod val="75000"/>
                </a:schemeClr>
              </a:buClr>
              <a:buSzPct val="100000"/>
              <a:buFont typeface="Arial" pitchFamily="34" charset="0"/>
              <a:buChar char="•"/>
            </a:pPr>
            <a:r>
              <a:rPr lang="en-US" sz="2000" dirty="0" smtClean="0">
                <a:latin typeface="Helvetica" pitchFamily="34" charset="0"/>
              </a:rPr>
              <a:t>Do not tour at ‘restricted’ times</a:t>
            </a:r>
          </a:p>
          <a:p>
            <a:pPr marL="720000" indent="-360000">
              <a:spcBef>
                <a:spcPts val="600"/>
              </a:spcBef>
              <a:spcAft>
                <a:spcPts val="1200"/>
              </a:spcAft>
              <a:buClr>
                <a:schemeClr val="accent1">
                  <a:lumMod val="75000"/>
                </a:schemeClr>
              </a:buClr>
              <a:buSzPct val="100000"/>
              <a:buFont typeface="Arial" pitchFamily="34" charset="0"/>
              <a:buChar char="•"/>
            </a:pPr>
            <a:r>
              <a:rPr lang="en-US" sz="2000" dirty="0" smtClean="0">
                <a:latin typeface="Helvetica" pitchFamily="34" charset="0"/>
              </a:rPr>
              <a:t>Do not enter prohibited areas</a:t>
            </a:r>
          </a:p>
          <a:p>
            <a:pPr marL="720000" indent="-360000">
              <a:spcBef>
                <a:spcPts val="600"/>
              </a:spcBef>
              <a:spcAft>
                <a:spcPts val="1200"/>
              </a:spcAft>
              <a:buClr>
                <a:schemeClr val="accent1">
                  <a:lumMod val="75000"/>
                </a:schemeClr>
              </a:buClr>
              <a:buSzPct val="100000"/>
              <a:buFont typeface="Arial" pitchFamily="34" charset="0"/>
              <a:buChar char="•"/>
            </a:pPr>
            <a:r>
              <a:rPr lang="en-US" sz="2000" dirty="0" smtClean="0">
                <a:latin typeface="Helvetica" pitchFamily="34" charset="0"/>
              </a:rPr>
              <a:t>Walk only on paths</a:t>
            </a:r>
          </a:p>
          <a:p>
            <a:pPr marL="720000" indent="-360000">
              <a:spcBef>
                <a:spcPts val="600"/>
              </a:spcBef>
              <a:spcAft>
                <a:spcPts val="1200"/>
              </a:spcAft>
              <a:buClr>
                <a:schemeClr val="accent1">
                  <a:lumMod val="75000"/>
                </a:schemeClr>
              </a:buClr>
              <a:buSzPct val="100000"/>
              <a:buFont typeface="Arial" pitchFamily="34" charset="0"/>
              <a:buChar char="•"/>
            </a:pPr>
            <a:r>
              <a:rPr lang="en-US" sz="2000" dirty="0" smtClean="0">
                <a:latin typeface="Helvetica" pitchFamily="34" charset="0"/>
              </a:rPr>
              <a:t>Maintain distance</a:t>
            </a:r>
          </a:p>
          <a:p>
            <a:pPr marL="720000" indent="-360000">
              <a:spcBef>
                <a:spcPts val="600"/>
              </a:spcBef>
              <a:spcAft>
                <a:spcPts val="1200"/>
              </a:spcAft>
              <a:buClr>
                <a:schemeClr val="accent1">
                  <a:lumMod val="75000"/>
                </a:schemeClr>
              </a:buClr>
              <a:buSzPct val="100000"/>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76056" y="1988840"/>
            <a:ext cx="2307150" cy="3240000"/>
          </a:xfrm>
          <a:prstGeom prst="rect">
            <a:avLst/>
          </a:prstGeom>
        </p:spPr>
      </p:pic>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Minimise negative impact on the culture, people and environment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363538" indent="-363538">
              <a:spcBef>
                <a:spcPts val="600"/>
              </a:spcBef>
              <a:spcAft>
                <a:spcPts val="1200"/>
              </a:spcAft>
              <a:buClr>
                <a:schemeClr val="accent1">
                  <a:lumMod val="75000"/>
                </a:schemeClr>
              </a:buClr>
              <a:buSzPct val="100000"/>
            </a:pPr>
            <a:r>
              <a:rPr lang="en-US" sz="2000" dirty="0" smtClean="0">
                <a:latin typeface="Helvetica" pitchFamily="34" charset="0"/>
              </a:rPr>
              <a:t>Ask tour group members to avoid certain actions as appropriate to the community/environment</a:t>
            </a:r>
          </a:p>
          <a:p>
            <a:pPr marL="363538" indent="-363538">
              <a:spcBef>
                <a:spcPts val="600"/>
              </a:spcBef>
              <a:spcAft>
                <a:spcPts val="1200"/>
              </a:spcAft>
              <a:buClr>
                <a:schemeClr val="accent1">
                  <a:lumMod val="75000"/>
                </a:schemeClr>
              </a:buClr>
              <a:buSzPct val="100000"/>
            </a:pPr>
            <a:r>
              <a:rPr lang="en-US" sz="2000" dirty="0" smtClean="0">
                <a:latin typeface="Helvetica" pitchFamily="34" charset="0"/>
              </a:rPr>
              <a:t>Restrict numbers entering an area</a:t>
            </a:r>
          </a:p>
          <a:p>
            <a:pPr marL="363538" indent="-363538">
              <a:spcBef>
                <a:spcPts val="600"/>
              </a:spcBef>
              <a:spcAft>
                <a:spcPts val="1200"/>
              </a:spcAft>
              <a:buClr>
                <a:schemeClr val="accent1">
                  <a:lumMod val="75000"/>
                </a:schemeClr>
              </a:buClr>
              <a:buSzPct val="100000"/>
            </a:pPr>
            <a:r>
              <a:rPr lang="en-US" sz="2000" dirty="0" smtClean="0">
                <a:latin typeface="Helvetica" pitchFamily="34" charset="0"/>
              </a:rPr>
              <a:t>Advise tour members to ask for permission to take photographs</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44007" y="2021068"/>
            <a:ext cx="3516053" cy="2344035"/>
          </a:xfrm>
          <a:prstGeom prst="rect">
            <a:avLst/>
          </a:prstGeom>
        </p:spPr>
      </p:pic>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Minimise negative impact on the culture, people and environment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lnSpcReduction="20000"/>
          </a:bodyPr>
          <a:lstStyle/>
          <a:p>
            <a:pPr marL="360000" indent="-360000">
              <a:spcBef>
                <a:spcPts val="600"/>
              </a:spcBef>
              <a:spcAft>
                <a:spcPts val="1200"/>
              </a:spcAft>
            </a:pPr>
            <a:r>
              <a:rPr lang="en-US" sz="2200" dirty="0" smtClean="0">
                <a:latin typeface="Helvetica" pitchFamily="34" charset="0"/>
              </a:rPr>
              <a:t>Commit to compliance in a genuine and public way:</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Make suitable public statements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Advise tour groups of the standards which must be complied with, the obligations the tour operates under and consequences for non-compliance</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199154" y="1988840"/>
            <a:ext cx="2970000" cy="1980000"/>
          </a:xfrm>
          <a:prstGeom prst="rect">
            <a:avLst/>
          </a:prstGeom>
          <a:ln>
            <a:noFill/>
          </a:ln>
          <a:effectLst/>
        </p:spPr>
      </p:pic>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Minimise negative impact on the culture, people and environment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Autofit/>
          </a:bodyPr>
          <a:lstStyle/>
          <a:p>
            <a:pPr marL="0" indent="0">
              <a:spcBef>
                <a:spcPts val="600"/>
              </a:spcBef>
              <a:spcAft>
                <a:spcPts val="600"/>
              </a:spcAft>
              <a:buNone/>
            </a:pPr>
            <a:r>
              <a:rPr lang="en-US" sz="2000" dirty="0" smtClean="0">
                <a:latin typeface="Helvetica" pitchFamily="34" charset="0"/>
              </a:rPr>
              <a:t>Participate in planning:</a:t>
            </a:r>
          </a:p>
          <a:p>
            <a:pPr marL="363538" indent="-363538">
              <a:spcBef>
                <a:spcPts val="600"/>
              </a:spcBef>
              <a:spcAft>
                <a:spcPts val="600"/>
              </a:spcAft>
              <a:buClr>
                <a:schemeClr val="accent1">
                  <a:lumMod val="75000"/>
                </a:schemeClr>
              </a:buClr>
              <a:buSzPct val="100000"/>
            </a:pPr>
            <a:r>
              <a:rPr lang="en-US" sz="2000" dirty="0" smtClean="0">
                <a:latin typeface="Helvetica" pitchFamily="34" charset="0"/>
              </a:rPr>
              <a:t>Provide input to development of principles and practices for responsible and sustainable tourism</a:t>
            </a:r>
          </a:p>
          <a:p>
            <a:pPr marL="363538" indent="-363538">
              <a:spcBef>
                <a:spcPts val="600"/>
              </a:spcBef>
              <a:spcAft>
                <a:spcPts val="600"/>
              </a:spcAft>
              <a:buClr>
                <a:schemeClr val="accent1">
                  <a:lumMod val="75000"/>
                </a:schemeClr>
              </a:buClr>
              <a:buSzPct val="100000"/>
            </a:pPr>
            <a:r>
              <a:rPr lang="en-US" sz="2000" dirty="0" smtClean="0">
                <a:latin typeface="Helvetica" pitchFamily="34" charset="0"/>
              </a:rPr>
              <a:t>Contribute to establishment of suitable tours</a:t>
            </a:r>
          </a:p>
          <a:p>
            <a:pPr marL="363538" indent="-363538">
              <a:spcBef>
                <a:spcPts val="600"/>
              </a:spcBef>
              <a:spcAft>
                <a:spcPts val="600"/>
              </a:spcAft>
              <a:buClr>
                <a:schemeClr val="accent1">
                  <a:lumMod val="75000"/>
                </a:schemeClr>
              </a:buClr>
              <a:buSzPct val="100000"/>
            </a:pPr>
            <a:r>
              <a:rPr lang="en-US" sz="2000" dirty="0" smtClean="0">
                <a:latin typeface="Helvetica" pitchFamily="34" charset="0"/>
              </a:rPr>
              <a:t>Provide feedback from personal experience</a:t>
            </a:r>
          </a:p>
          <a:p>
            <a:pPr marL="363538" indent="-363538">
              <a:spcBef>
                <a:spcPts val="600"/>
              </a:spcBef>
              <a:spcAft>
                <a:spcPts val="600"/>
              </a:spcAft>
              <a:buClr>
                <a:schemeClr val="accent1">
                  <a:lumMod val="75000"/>
                </a:schemeClr>
              </a:buClr>
              <a:buSzPct val="100000"/>
            </a:pPr>
            <a:r>
              <a:rPr lang="en-US" sz="2000" dirty="0" smtClean="0">
                <a:latin typeface="Helvetica" pitchFamily="34" charset="0"/>
              </a:rPr>
              <a:t>Be prepared to assist with trialling and reporting on initiatives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139</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6113400" y="1959496"/>
            <a:ext cx="2040000" cy="3060000"/>
          </a:xfrm>
          <a:prstGeom prst="rect">
            <a:avLst/>
          </a:prstGeom>
          <a:ln>
            <a:noFill/>
          </a:ln>
          <a:effectLst/>
        </p:spPr>
      </p:pic>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3</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a:bodyPr>
          <a:lstStyle/>
          <a:p>
            <a:pPr marL="0" indent="0">
              <a:spcBef>
                <a:spcPts val="600"/>
              </a:spcBef>
              <a:spcAft>
                <a:spcPts val="1200"/>
              </a:spcAft>
              <a:buNone/>
            </a:pPr>
            <a:r>
              <a:rPr lang="en-US" sz="2200" dirty="0" smtClean="0">
                <a:latin typeface="Helvetica" pitchFamily="34" charset="0"/>
              </a:rPr>
              <a:t>When providing guiding services:</a:t>
            </a:r>
          </a:p>
          <a:p>
            <a:r>
              <a:rPr lang="en-AU" sz="2200" dirty="0" smtClean="0">
                <a:latin typeface="Helvetica" pitchFamily="34" charset="0"/>
              </a:rPr>
              <a:t>Identify and undertake required pre-departure checks and activities</a:t>
            </a:r>
          </a:p>
          <a:p>
            <a:r>
              <a:rPr lang="en-AU" sz="2200" dirty="0" smtClean="0">
                <a:latin typeface="Helvetica" pitchFamily="34" charset="0"/>
              </a:rPr>
              <a:t>Determine and discharge all required on-tour activities and obligations</a:t>
            </a:r>
          </a:p>
          <a:p>
            <a:r>
              <a:rPr lang="en-AU" sz="2200" dirty="0" smtClean="0">
                <a:latin typeface="Helvetica" pitchFamily="34" charset="0"/>
              </a:rPr>
              <a:t>Establish and complete all identified/required end-of-tour activities</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48064" y="2204864"/>
            <a:ext cx="1673731" cy="2520000"/>
          </a:xfrm>
          <a:prstGeom prst="rect">
            <a:avLst/>
          </a:prstGeom>
        </p:spPr>
      </p:pic>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3</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r>
              <a:rPr lang="en-AU" sz="2000" dirty="0" smtClean="0">
                <a:latin typeface="Helvetica" pitchFamily="34" charset="0"/>
              </a:rPr>
              <a:t>Prepare and deliver commentaries as required</a:t>
            </a:r>
          </a:p>
          <a:p>
            <a:r>
              <a:rPr lang="en-AU" sz="2000" dirty="0" smtClean="0">
                <a:latin typeface="Helvetica" pitchFamily="34" charset="0"/>
              </a:rPr>
              <a:t>Manage the tour group and resolve issues arising</a:t>
            </a:r>
          </a:p>
          <a:p>
            <a:r>
              <a:rPr lang="en-AU" sz="2000" dirty="0" smtClean="0">
                <a:latin typeface="Helvetica" pitchFamily="34" charset="0"/>
              </a:rPr>
              <a:t>Implement contingency and emergency plans as/when necessary</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141</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59243" y="1988840"/>
            <a:ext cx="3794157" cy="2520000"/>
          </a:xfrm>
          <a:prstGeom prst="rect">
            <a:avLst/>
          </a:prstGeom>
        </p:spPr>
      </p:pic>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3</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4032448" cy="4525963"/>
          </a:xfrm>
        </p:spPr>
        <p:txBody>
          <a:bodyPr>
            <a:normAutofit fontScale="92500"/>
          </a:bodyPr>
          <a:lstStyle/>
          <a:p>
            <a:r>
              <a:rPr lang="en-AU" sz="2200" dirty="0" smtClean="0">
                <a:latin typeface="Helvetica" pitchFamily="34" charset="0"/>
              </a:rPr>
              <a:t>Ensure compliance with tour promises, safety requirements, ethical obligations and ethical standards</a:t>
            </a:r>
          </a:p>
          <a:p>
            <a:r>
              <a:rPr lang="en-AU" sz="2200" dirty="0" smtClean="0">
                <a:latin typeface="Helvetica" pitchFamily="34" charset="0"/>
              </a:rPr>
              <a:t>Observe respect for local communities and culture/s</a:t>
            </a:r>
          </a:p>
          <a:p>
            <a:r>
              <a:rPr lang="en-AU" sz="2200" dirty="0" smtClean="0">
                <a:latin typeface="Helvetica" pitchFamily="34" charset="0"/>
              </a:rPr>
              <a:t>Demonstrate action designed to optimise visitor engagement and experiences while minimising negative impacts of the tour</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45360" y="1589584"/>
            <a:ext cx="3794157" cy="2520000"/>
          </a:xfrm>
          <a:prstGeom prst="rect">
            <a:avLst/>
          </a:prstGeom>
        </p:spPr>
      </p:pic>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3</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r>
              <a:rPr lang="en-AU" sz="2000" dirty="0" smtClean="0">
                <a:latin typeface="Helvetica" pitchFamily="34" charset="0"/>
              </a:rPr>
              <a:t>Optimise positive impacts of the tour</a:t>
            </a:r>
          </a:p>
          <a:p>
            <a:r>
              <a:rPr lang="en-AU" sz="2000" dirty="0" smtClean="0">
                <a:latin typeface="Helvetica" pitchFamily="34" charset="0"/>
              </a:rPr>
              <a:t>Respect everyone associated with the tour</a:t>
            </a:r>
          </a:p>
          <a:p>
            <a:r>
              <a:rPr lang="en-AU" sz="2000" dirty="0" smtClean="0">
                <a:latin typeface="Helvetica" pitchFamily="34" charset="0"/>
              </a:rPr>
              <a:t>Apply effective interpersonal, communication and group leadership skills</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143</a:t>
            </a:fld>
            <a:endParaRPr lang="en-US" dirty="0">
              <a:latin typeface="Helvetica" pitchFamily="34" charset="0"/>
            </a:endParaRPr>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t="14300"/>
          <a:stretch/>
        </p:blipFill>
        <p:spPr>
          <a:xfrm>
            <a:off x="4572000" y="1957377"/>
            <a:ext cx="2520435" cy="3240000"/>
          </a:xfrm>
          <a:prstGeom prst="rect">
            <a:avLst/>
          </a:prstGeom>
        </p:spPr>
      </p:pic>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Element 4 – Communicate with industry personnel</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Performance Criteria for this Element are:</a:t>
            </a:r>
          </a:p>
          <a:p>
            <a:pPr marL="360000" indent="-360000">
              <a:spcBef>
                <a:spcPts val="600"/>
              </a:spcBef>
              <a:spcAft>
                <a:spcPts val="1200"/>
              </a:spcAft>
            </a:pPr>
            <a:r>
              <a:rPr lang="en-US" sz="2000" dirty="0" smtClean="0">
                <a:latin typeface="Helvetica" pitchFamily="34" charset="0"/>
              </a:rPr>
              <a:t>Communicate with tourism industry operators</a:t>
            </a:r>
          </a:p>
          <a:p>
            <a:pPr marL="360000" indent="-360000">
              <a:spcBef>
                <a:spcPts val="600"/>
              </a:spcBef>
              <a:spcAft>
                <a:spcPts val="1200"/>
              </a:spcAft>
            </a:pPr>
            <a:r>
              <a:rPr lang="en-US" sz="2000" dirty="0" smtClean="0">
                <a:latin typeface="Helvetica" pitchFamily="34" charset="0"/>
              </a:rPr>
              <a:t>Communicate with colleagues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144</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652120" y="1772816"/>
            <a:ext cx="2283525" cy="3240000"/>
          </a:xfrm>
          <a:prstGeom prst="rect">
            <a:avLst/>
          </a:prstGeom>
        </p:spPr>
      </p:pic>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Communicate with tourism industry operators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Need for communication with industry operators will depend on:</a:t>
            </a:r>
          </a:p>
          <a:p>
            <a:pPr marL="360000" indent="-360000">
              <a:spcBef>
                <a:spcPts val="600"/>
              </a:spcBef>
              <a:spcAft>
                <a:spcPts val="1200"/>
              </a:spcAft>
            </a:pPr>
            <a:r>
              <a:rPr lang="en-US" sz="2200" dirty="0" smtClean="0">
                <a:latin typeface="Helvetica" pitchFamily="34" charset="0"/>
              </a:rPr>
              <a:t>Type of tours conducted</a:t>
            </a:r>
          </a:p>
          <a:p>
            <a:pPr marL="360000" indent="-360000">
              <a:spcBef>
                <a:spcPts val="600"/>
              </a:spcBef>
              <a:spcAft>
                <a:spcPts val="1200"/>
              </a:spcAft>
            </a:pPr>
            <a:r>
              <a:rPr lang="en-US" sz="2200" dirty="0" smtClean="0">
                <a:latin typeface="Helvetica" pitchFamily="34" charset="0"/>
              </a:rPr>
              <a:t>Associations and relations between tour company and other operators</a:t>
            </a:r>
          </a:p>
          <a:p>
            <a:pPr marL="360000" indent="-360000">
              <a:spcBef>
                <a:spcPts val="600"/>
              </a:spcBef>
              <a:spcAft>
                <a:spcPts val="1200"/>
              </a:spcAft>
            </a:pPr>
            <a:r>
              <a:rPr lang="en-US" sz="2200" dirty="0" smtClean="0">
                <a:latin typeface="Helvetica" pitchFamily="34" charset="0"/>
              </a:rPr>
              <a:t>Contracted obligations</a:t>
            </a:r>
          </a:p>
          <a:p>
            <a:pPr marL="360000" indent="-360000">
              <a:spcBef>
                <a:spcPts val="600"/>
              </a:spcBef>
              <a:spcAft>
                <a:spcPts val="1200"/>
              </a:spcAft>
            </a:pPr>
            <a:r>
              <a:rPr lang="en-US" sz="2200" dirty="0" smtClean="0">
                <a:latin typeface="Helvetica" pitchFamily="34" charset="0"/>
              </a:rPr>
              <a:t>Commitment by business to Codes and accords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145</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860032" y="2276872"/>
            <a:ext cx="2340900" cy="3240000"/>
          </a:xfrm>
          <a:prstGeom prst="rect">
            <a:avLst/>
          </a:prstGeom>
        </p:spPr>
      </p:pic>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Communicate with tourism industry operators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0" indent="0">
              <a:spcBef>
                <a:spcPts val="600"/>
              </a:spcBef>
              <a:spcAft>
                <a:spcPts val="1200"/>
              </a:spcAft>
              <a:buNone/>
            </a:pPr>
            <a:r>
              <a:rPr lang="en-US" sz="2000" dirty="0" smtClean="0">
                <a:latin typeface="Helvetica" pitchFamily="34" charset="0"/>
              </a:rPr>
              <a:t>Industry operators to communicate with:</a:t>
            </a:r>
          </a:p>
          <a:p>
            <a:pPr marL="360000" indent="-360000">
              <a:spcBef>
                <a:spcPts val="600"/>
              </a:spcBef>
              <a:spcAft>
                <a:spcPts val="1200"/>
              </a:spcAft>
            </a:pPr>
            <a:r>
              <a:rPr lang="en-US" sz="2000" dirty="0" smtClean="0">
                <a:latin typeface="Helvetica" pitchFamily="34" charset="0"/>
              </a:rPr>
              <a:t>Carriers</a:t>
            </a:r>
          </a:p>
          <a:p>
            <a:pPr marL="360000" indent="-360000">
              <a:spcBef>
                <a:spcPts val="600"/>
              </a:spcBef>
              <a:spcAft>
                <a:spcPts val="1200"/>
              </a:spcAft>
            </a:pPr>
            <a:r>
              <a:rPr lang="en-US" sz="2000" dirty="0" smtClean="0">
                <a:latin typeface="Helvetica" pitchFamily="34" charset="0"/>
              </a:rPr>
              <a:t>Destinations and attractions</a:t>
            </a:r>
          </a:p>
          <a:p>
            <a:pPr marL="360000" indent="-360000">
              <a:spcBef>
                <a:spcPts val="600"/>
              </a:spcBef>
              <a:spcAft>
                <a:spcPts val="1200"/>
              </a:spcAft>
            </a:pPr>
            <a:r>
              <a:rPr lang="en-US" sz="2000" dirty="0" smtClean="0">
                <a:latin typeface="Helvetica" pitchFamily="34" charset="0"/>
              </a:rPr>
              <a:t>Third party providers</a:t>
            </a:r>
          </a:p>
          <a:p>
            <a:pPr marL="360000" indent="-360000">
              <a:spcBef>
                <a:spcPts val="600"/>
              </a:spcBef>
              <a:spcAft>
                <a:spcPts val="1200"/>
              </a:spcAft>
            </a:pPr>
            <a:r>
              <a:rPr lang="en-US" sz="2000" dirty="0" smtClean="0">
                <a:latin typeface="Helvetica" pitchFamily="34" charset="0"/>
              </a:rPr>
              <a:t>Tour-based operators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146</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932040" y="1628800"/>
            <a:ext cx="2598893" cy="3240000"/>
          </a:xfrm>
          <a:prstGeom prst="rect">
            <a:avLst/>
          </a:prstGeom>
        </p:spPr>
      </p:pic>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Communicate with tourism industry operators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Possible topics for discussion:</a:t>
            </a:r>
          </a:p>
          <a:p>
            <a:pPr marL="360000" indent="-360000">
              <a:spcBef>
                <a:spcPts val="600"/>
              </a:spcBef>
              <a:spcAft>
                <a:spcPts val="1200"/>
              </a:spcAft>
            </a:pPr>
            <a:r>
              <a:rPr lang="en-US" sz="2200" dirty="0" smtClean="0">
                <a:latin typeface="Helvetica" pitchFamily="34" charset="0"/>
              </a:rPr>
              <a:t>Feedback from tour group members</a:t>
            </a:r>
          </a:p>
          <a:p>
            <a:pPr marL="360000" indent="-360000">
              <a:spcBef>
                <a:spcPts val="600"/>
              </a:spcBef>
              <a:spcAft>
                <a:spcPts val="1200"/>
              </a:spcAft>
            </a:pPr>
            <a:r>
              <a:rPr lang="en-US" sz="2200" dirty="0" smtClean="0">
                <a:latin typeface="Helvetica" pitchFamily="34" charset="0"/>
              </a:rPr>
              <a:t>Results of market research conducted</a:t>
            </a:r>
          </a:p>
          <a:p>
            <a:pPr marL="360000" indent="-360000">
              <a:spcBef>
                <a:spcPts val="600"/>
              </a:spcBef>
              <a:spcAft>
                <a:spcPts val="1200"/>
              </a:spcAft>
            </a:pPr>
            <a:r>
              <a:rPr lang="en-US" sz="2200" dirty="0" smtClean="0">
                <a:latin typeface="Helvetica" pitchFamily="34" charset="0"/>
              </a:rPr>
              <a:t>Recommendations</a:t>
            </a:r>
          </a:p>
          <a:p>
            <a:pPr marL="360000" indent="-360000">
              <a:spcBef>
                <a:spcPts val="600"/>
              </a:spcBef>
              <a:spcAft>
                <a:spcPts val="1200"/>
              </a:spcAft>
            </a:pPr>
            <a:r>
              <a:rPr lang="en-AU" sz="2200" dirty="0" smtClean="0">
                <a:latin typeface="Helvetica" pitchFamily="34" charset="0"/>
              </a:rPr>
              <a:t>Social, cultural and business requirements and contexts</a:t>
            </a:r>
          </a:p>
          <a:p>
            <a:pPr marL="360000" indent="-360000">
              <a:spcBef>
                <a:spcPts val="600"/>
              </a:spcBef>
              <a:spcAft>
                <a:spcPts val="1200"/>
              </a:spcAft>
            </a:pPr>
            <a:r>
              <a:rPr lang="en-AU" sz="2200" dirty="0" smtClean="0">
                <a:latin typeface="Helvetica" pitchFamily="34" charset="0"/>
              </a:rPr>
              <a:t>Problems</a:t>
            </a: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147</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004048" y="1844824"/>
            <a:ext cx="2415913" cy="3240000"/>
          </a:xfrm>
          <a:prstGeom prst="rect">
            <a:avLst/>
          </a:prstGeom>
        </p:spPr>
      </p:pic>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Communicate with tourism industry operators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Communication basics to observe:</a:t>
            </a:r>
          </a:p>
          <a:p>
            <a:pPr marL="360000" indent="-360000">
              <a:spcBef>
                <a:spcPts val="600"/>
              </a:spcBef>
              <a:spcAft>
                <a:spcPts val="1200"/>
              </a:spcAft>
            </a:pPr>
            <a:r>
              <a:rPr lang="en-US" sz="2000" dirty="0" smtClean="0">
                <a:latin typeface="Helvetica" pitchFamily="34" charset="0"/>
              </a:rPr>
              <a:t>Honour commitments made to attend/contribute</a:t>
            </a:r>
          </a:p>
          <a:p>
            <a:pPr marL="360000" indent="-360000">
              <a:spcBef>
                <a:spcPts val="600"/>
              </a:spcBef>
              <a:spcAft>
                <a:spcPts val="1200"/>
              </a:spcAft>
            </a:pPr>
            <a:r>
              <a:rPr lang="en-US" sz="2000" dirty="0" smtClean="0">
                <a:latin typeface="Helvetica" pitchFamily="34" charset="0"/>
              </a:rPr>
              <a:t>Use industry terms</a:t>
            </a:r>
          </a:p>
          <a:p>
            <a:pPr marL="360000" indent="-360000">
              <a:spcBef>
                <a:spcPts val="600"/>
              </a:spcBef>
              <a:spcAft>
                <a:spcPts val="1200"/>
              </a:spcAft>
            </a:pPr>
            <a:r>
              <a:rPr lang="en-US" sz="2000" dirty="0" smtClean="0">
                <a:latin typeface="Helvetica" pitchFamily="34" charset="0"/>
              </a:rPr>
              <a:t>Be collaborative and consultative</a:t>
            </a:r>
          </a:p>
          <a:p>
            <a:pPr marL="360000" indent="-360000">
              <a:spcBef>
                <a:spcPts val="600"/>
              </a:spcBef>
              <a:spcAft>
                <a:spcPts val="1200"/>
              </a:spcAft>
            </a:pPr>
            <a:r>
              <a:rPr lang="en-US" sz="2000" dirty="0" smtClean="0">
                <a:latin typeface="Helvetica" pitchFamily="34" charset="0"/>
              </a:rPr>
              <a:t>Be careful about what is said/shared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148</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469529" y="1772816"/>
            <a:ext cx="4064871" cy="3240000"/>
          </a:xfrm>
          <a:prstGeom prst="rect">
            <a:avLst/>
          </a:prstGeom>
        </p:spPr>
      </p:pic>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Communicate with colleagues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Tour Guides may need to communicate with:</a:t>
            </a:r>
          </a:p>
          <a:p>
            <a:pPr marL="360000" indent="-360000">
              <a:spcBef>
                <a:spcPts val="600"/>
              </a:spcBef>
              <a:spcAft>
                <a:spcPts val="1200"/>
              </a:spcAft>
            </a:pPr>
            <a:r>
              <a:rPr lang="en-US" sz="2000" dirty="0" smtClean="0">
                <a:latin typeface="Helvetica" pitchFamily="34" charset="0"/>
              </a:rPr>
              <a:t>Other Tour Guides</a:t>
            </a:r>
          </a:p>
          <a:p>
            <a:pPr marL="360000" indent="-360000">
              <a:spcBef>
                <a:spcPts val="600"/>
              </a:spcBef>
              <a:spcAft>
                <a:spcPts val="1200"/>
              </a:spcAft>
            </a:pPr>
            <a:r>
              <a:rPr lang="en-US" sz="2000" dirty="0" smtClean="0">
                <a:latin typeface="Helvetica" pitchFamily="34" charset="0"/>
              </a:rPr>
              <a:t>Support staff</a:t>
            </a:r>
          </a:p>
          <a:p>
            <a:pPr marL="360000" indent="-360000">
              <a:spcBef>
                <a:spcPts val="600"/>
              </a:spcBef>
              <a:spcAft>
                <a:spcPts val="1200"/>
              </a:spcAft>
            </a:pPr>
            <a:r>
              <a:rPr lang="en-US" sz="2000" dirty="0" smtClean="0">
                <a:latin typeface="Helvetica" pitchFamily="34" charset="0"/>
              </a:rPr>
              <a:t>Drivers</a:t>
            </a:r>
          </a:p>
          <a:p>
            <a:pPr marL="360000" indent="-360000">
              <a:spcBef>
                <a:spcPts val="600"/>
              </a:spcBef>
              <a:spcAft>
                <a:spcPts val="1200"/>
              </a:spcAft>
            </a:pPr>
            <a:r>
              <a:rPr lang="en-US" sz="2000" dirty="0" smtClean="0">
                <a:latin typeface="Helvetica" pitchFamily="34" charset="0"/>
              </a:rPr>
              <a:t>Management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149</a:t>
            </a:fld>
            <a:endParaRPr lang="en-US" dirty="0">
              <a:latin typeface="Helvetica" pitchFamily="34" charset="0"/>
            </a:endParaRPr>
          </a:p>
        </p:txBody>
      </p:sp>
      <p:pic>
        <p:nvPicPr>
          <p:cNvPr id="5" name="Picture 4"/>
          <p:cNvPicPr>
            <a:picLocks noChangeAspect="1"/>
          </p:cNvPicPr>
          <p:nvPr/>
        </p:nvPicPr>
        <p:blipFill rotWithShape="1">
          <a:blip r:embed="rId3" cstate="print">
            <a:extLst>
              <a:ext uri="{28A0092B-C50C-407E-A947-70E740481C1C}">
                <a14:useLocalDpi xmlns:a14="http://schemas.microsoft.com/office/drawing/2010/main" val="0"/>
              </a:ext>
            </a:extLst>
          </a:blip>
          <a:srcRect l="33463" t="14563"/>
          <a:stretch/>
        </p:blipFill>
        <p:spPr>
          <a:xfrm>
            <a:off x="4211960" y="1988840"/>
            <a:ext cx="3364362" cy="2880000"/>
          </a:xfrm>
          <a:prstGeom prst="rect">
            <a:avLst/>
          </a:prstGeom>
        </p:spPr>
      </p:pic>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Communicate with colleagues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fontScale="92500"/>
          </a:bodyPr>
          <a:lstStyle/>
          <a:p>
            <a:pPr marL="0" indent="0">
              <a:spcBef>
                <a:spcPts val="600"/>
              </a:spcBef>
              <a:spcAft>
                <a:spcPts val="1200"/>
              </a:spcAft>
              <a:buNone/>
            </a:pPr>
            <a:r>
              <a:rPr lang="en-US" sz="2200" dirty="0" smtClean="0">
                <a:latin typeface="Helvetica" pitchFamily="34" charset="0"/>
              </a:rPr>
              <a:t>Opportunities for communication:</a:t>
            </a:r>
          </a:p>
          <a:p>
            <a:pPr marL="360000" indent="-360000">
              <a:spcBef>
                <a:spcPts val="600"/>
              </a:spcBef>
              <a:spcAft>
                <a:spcPts val="1200"/>
              </a:spcAft>
            </a:pPr>
            <a:r>
              <a:rPr lang="en-US" sz="2200" dirty="0" smtClean="0">
                <a:latin typeface="Helvetica" pitchFamily="34" charset="0"/>
              </a:rPr>
              <a:t>Daily briefing sessions</a:t>
            </a:r>
          </a:p>
          <a:p>
            <a:pPr marL="360000" indent="-360000">
              <a:spcBef>
                <a:spcPts val="600"/>
              </a:spcBef>
              <a:spcAft>
                <a:spcPts val="1200"/>
              </a:spcAft>
            </a:pPr>
            <a:r>
              <a:rPr lang="en-US" sz="2200" dirty="0" smtClean="0">
                <a:latin typeface="Helvetica" pitchFamily="34" charset="0"/>
              </a:rPr>
              <a:t>Internal staff ‘Communications’ book</a:t>
            </a:r>
          </a:p>
          <a:p>
            <a:pPr marL="360000" indent="-360000">
              <a:spcBef>
                <a:spcPts val="600"/>
              </a:spcBef>
              <a:spcAft>
                <a:spcPts val="1200"/>
              </a:spcAft>
            </a:pPr>
            <a:r>
              <a:rPr lang="en-US" sz="2200" dirty="0" smtClean="0">
                <a:latin typeface="Helvetica" pitchFamily="34" charset="0"/>
              </a:rPr>
              <a:t>Staff meetings</a:t>
            </a:r>
          </a:p>
          <a:p>
            <a:pPr marL="360000" indent="-360000">
              <a:spcBef>
                <a:spcPts val="600"/>
              </a:spcBef>
              <a:spcAft>
                <a:spcPts val="1200"/>
              </a:spcAft>
            </a:pPr>
            <a:r>
              <a:rPr lang="en-US" sz="2200" dirty="0" smtClean="0">
                <a:latin typeface="Helvetica" pitchFamily="34" charset="0"/>
              </a:rPr>
              <a:t>Internal forms and reports</a:t>
            </a:r>
          </a:p>
          <a:p>
            <a:pPr marL="360000" indent="-360000">
              <a:spcBef>
                <a:spcPts val="600"/>
              </a:spcBef>
              <a:spcAft>
                <a:spcPts val="1200"/>
              </a:spcAft>
            </a:pPr>
            <a:r>
              <a:rPr lang="en-US" sz="2200" dirty="0" smtClean="0">
                <a:latin typeface="Helvetica" pitchFamily="34" charset="0"/>
              </a:rPr>
              <a:t>‘Open door’ policy of management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97840" y="2564904"/>
            <a:ext cx="3455560" cy="2303936"/>
          </a:xfrm>
          <a:prstGeom prst="rect">
            <a:avLst/>
          </a:prstGeom>
        </p:spPr>
      </p:pic>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Communicate with colleagues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Communication methods:</a:t>
            </a:r>
          </a:p>
          <a:p>
            <a:pPr marL="360000" indent="-360000">
              <a:spcBef>
                <a:spcPts val="600"/>
              </a:spcBef>
              <a:spcAft>
                <a:spcPts val="1200"/>
              </a:spcAft>
            </a:pPr>
            <a:r>
              <a:rPr lang="en-US" sz="2000" dirty="0" smtClean="0">
                <a:latin typeface="Helvetica" pitchFamily="34" charset="0"/>
              </a:rPr>
              <a:t>Making presentations at meetings</a:t>
            </a:r>
          </a:p>
          <a:p>
            <a:pPr marL="360000" indent="-360000">
              <a:spcBef>
                <a:spcPts val="600"/>
              </a:spcBef>
              <a:spcAft>
                <a:spcPts val="1200"/>
              </a:spcAft>
            </a:pPr>
            <a:r>
              <a:rPr lang="en-US" sz="2000" dirty="0" smtClean="0">
                <a:latin typeface="Helvetica" pitchFamily="34" charset="0"/>
              </a:rPr>
              <a:t>Talking to people</a:t>
            </a:r>
          </a:p>
          <a:p>
            <a:pPr marL="360000" indent="-360000">
              <a:spcBef>
                <a:spcPts val="600"/>
              </a:spcBef>
              <a:spcAft>
                <a:spcPts val="1200"/>
              </a:spcAft>
            </a:pPr>
            <a:r>
              <a:rPr lang="en-US" sz="2000" dirty="0" smtClean="0">
                <a:latin typeface="Helvetica" pitchFamily="34" charset="0"/>
              </a:rPr>
              <a:t>Using written communication</a:t>
            </a:r>
          </a:p>
          <a:p>
            <a:pPr marL="360000" indent="-360000">
              <a:spcBef>
                <a:spcPts val="600"/>
              </a:spcBef>
              <a:spcAft>
                <a:spcPts val="1200"/>
              </a:spcAft>
            </a:pPr>
            <a:r>
              <a:rPr lang="en-US" sz="2000" dirty="0" smtClean="0">
                <a:latin typeface="Helvetica" pitchFamily="34" charset="0"/>
              </a:rPr>
              <a:t>Using electronic communication options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151</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004048" y="1988840"/>
            <a:ext cx="2172000" cy="3258000"/>
          </a:xfrm>
          <a:prstGeom prst="rect">
            <a:avLst/>
          </a:prstGeom>
        </p:spPr>
      </p:pic>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4</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sz="2000" dirty="0" smtClean="0">
                <a:latin typeface="Helvetica" pitchFamily="34" charset="0"/>
              </a:rPr>
              <a:t>When communicating with industry personnel:</a:t>
            </a:r>
          </a:p>
          <a:p>
            <a:r>
              <a:rPr lang="en-AU" sz="2000" dirty="0" smtClean="0">
                <a:latin typeface="Helvetica" pitchFamily="34" charset="0"/>
              </a:rPr>
              <a:t>Identify those with whom communication is required</a:t>
            </a:r>
          </a:p>
          <a:p>
            <a:r>
              <a:rPr lang="en-AU" sz="2000" dirty="0" smtClean="0">
                <a:latin typeface="Helvetica" pitchFamily="34" charset="0"/>
              </a:rPr>
              <a:t>Communicate on a regular basis and ‘as required’</a:t>
            </a:r>
          </a:p>
          <a:p>
            <a:r>
              <a:rPr lang="en-AU" sz="2000" dirty="0" smtClean="0">
                <a:latin typeface="Helvetica" pitchFamily="34" charset="0"/>
              </a:rPr>
              <a:t>Communicate using a variety of techniques and opportunities/options</a:t>
            </a:r>
            <a:endParaRPr lang="en-US" sz="2000" dirty="0" smtClean="0">
              <a:latin typeface="Helvetica" pitchFamily="34" charset="0"/>
            </a:endParaRPr>
          </a:p>
          <a:p>
            <a:pPr marL="360000" indent="-360000">
              <a:spcBef>
                <a:spcPts val="600"/>
              </a:spcBef>
              <a:spcAft>
                <a:spcPts val="1200"/>
              </a:spcAft>
              <a:buNone/>
            </a:pPr>
            <a:r>
              <a:rPr lang="en-US" sz="1400"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152</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572000" y="2505797"/>
            <a:ext cx="2040000" cy="3060000"/>
          </a:xfrm>
          <a:prstGeom prst="rect">
            <a:avLst/>
          </a:prstGeom>
        </p:spPr>
      </p:pic>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4</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r>
              <a:rPr lang="en-AU" sz="2000" dirty="0" smtClean="0">
                <a:latin typeface="Helvetica" pitchFamily="34" charset="0"/>
              </a:rPr>
              <a:t>Be clear in what is communicated</a:t>
            </a:r>
          </a:p>
          <a:p>
            <a:r>
              <a:rPr lang="en-AU" sz="2000" dirty="0" smtClean="0">
                <a:latin typeface="Helvetica" pitchFamily="34" charset="0"/>
              </a:rPr>
              <a:t>Differentiate fact from opinion</a:t>
            </a:r>
          </a:p>
          <a:p>
            <a:r>
              <a:rPr lang="en-AU" sz="2000" dirty="0" smtClean="0">
                <a:latin typeface="Helvetica" pitchFamily="34" charset="0"/>
              </a:rPr>
              <a:t>Never speak on behalf of employer without their express permission</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153</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716016" y="1844824"/>
            <a:ext cx="2612475" cy="3060000"/>
          </a:xfrm>
          <a:prstGeom prst="rect">
            <a:avLst/>
          </a:prstGeom>
        </p:spPr>
      </p:pic>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4</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r>
              <a:rPr lang="en-AU" sz="2000" dirty="0" smtClean="0">
                <a:latin typeface="Helvetica" pitchFamily="34" charset="0"/>
              </a:rPr>
              <a:t>Be prepared to share insight, experience and feedback received from tour group members</a:t>
            </a:r>
          </a:p>
          <a:p>
            <a:r>
              <a:rPr lang="en-AU" sz="2000" dirty="0" smtClean="0">
                <a:latin typeface="Helvetica" pitchFamily="34" charset="0"/>
              </a:rPr>
              <a:t>Contribute to the greater good and for the benefit of everyone</a:t>
            </a:r>
          </a:p>
          <a:p>
            <a:r>
              <a:rPr lang="en-AU" sz="2000" dirty="0" smtClean="0">
                <a:latin typeface="Helvetica" pitchFamily="34" charset="0"/>
              </a:rPr>
              <a:t>Make an effort to communicate – be proactive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154</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220072" y="1844824"/>
            <a:ext cx="1993371" cy="3060000"/>
          </a:xfrm>
          <a:prstGeom prst="rect">
            <a:avLst/>
          </a:prstGeom>
        </p:spPr>
      </p:pic>
    </p:spTree>
  </p:cSld>
  <p:clrMapOvr>
    <a:masterClrMapping/>
  </p:clrMapOvr>
</p:sld>
</file>

<file path=ppt/theme/theme1.xml><?xml version="1.0" encoding="utf-8"?>
<a:theme xmlns:a="http://schemas.openxmlformats.org/drawingml/2006/main" name="PPT_Tour_operation_templates_130214">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PPT_Tour_operation_templates_130214</Template>
  <TotalTime>1331</TotalTime>
  <Words>26518</Words>
  <Application>Microsoft Office PowerPoint</Application>
  <PresentationFormat>On-screen Show (4:3)</PresentationFormat>
  <Paragraphs>2929</Paragraphs>
  <Slides>154</Slides>
  <Notes>154</Notes>
  <HiddenSlides>0</HiddenSlides>
  <MMClips>0</MMClips>
  <ScaleCrop>false</ScaleCrop>
  <HeadingPairs>
    <vt:vector size="4" baseType="variant">
      <vt:variant>
        <vt:lpstr>Theme</vt:lpstr>
      </vt:variant>
      <vt:variant>
        <vt:i4>1</vt:i4>
      </vt:variant>
      <vt:variant>
        <vt:lpstr>Slide Titles</vt:lpstr>
      </vt:variant>
      <vt:variant>
        <vt:i4>154</vt:i4>
      </vt:variant>
    </vt:vector>
  </HeadingPairs>
  <TitlesOfParts>
    <vt:vector size="155" baseType="lpstr">
      <vt:lpstr>PPT_Tour_operation_templates_130214</vt:lpstr>
      <vt:lpstr>WORK AS A TOUR GUIDE</vt:lpstr>
      <vt:lpstr>Work as a tour guide</vt:lpstr>
      <vt:lpstr>Assessment</vt:lpstr>
      <vt:lpstr>Element 1 – Describe the context for the delivery of guiding</vt:lpstr>
      <vt:lpstr>Element 1 – Describe the context for the delivery of guiding</vt:lpstr>
      <vt:lpstr>Identify the roles, functions and responsibilities of a Tour Guide</vt:lpstr>
      <vt:lpstr>Identify the roles, functions and responsibilities of a Tour Guide</vt:lpstr>
      <vt:lpstr>Identify the roles, functions and responsibilities of a Tour Guide</vt:lpstr>
      <vt:lpstr>Identify the roles, functions and responsibilities of a Tour Guide</vt:lpstr>
      <vt:lpstr>Identify the roles, functions and responsibilities of a Tour Guide</vt:lpstr>
      <vt:lpstr>List and differentiate between types of tour guides</vt:lpstr>
      <vt:lpstr>List and differentiate between types of tour guides</vt:lpstr>
      <vt:lpstr>List and differentiate between types of tour guides</vt:lpstr>
      <vt:lpstr>List and differentiate between types of tour guides</vt:lpstr>
      <vt:lpstr>List and differentiate between types of tour guides</vt:lpstr>
      <vt:lpstr>Identify and differentiate between groups a Tour Guide may lead</vt:lpstr>
      <vt:lpstr>Identify and differentiate between groups a Tour Guide may lead</vt:lpstr>
      <vt:lpstr>Identify and differentiate between groups a Tour Guide may lead</vt:lpstr>
      <vt:lpstr>Identify and differentiate between groups a Tour Guide may lead</vt:lpstr>
      <vt:lpstr>Identify and differentiate between groups a Tour Guide may lead</vt:lpstr>
      <vt:lpstr>Identify and differentiate between groups a Tour Guide may lead</vt:lpstr>
      <vt:lpstr>Identify and differentiate between groups a Tour Guide may lead</vt:lpstr>
      <vt:lpstr>Identify and differentiate between groups a Tour Guide may lead</vt:lpstr>
      <vt:lpstr>Identify and differentiate between groups a Tour Guide may lead</vt:lpstr>
      <vt:lpstr>Describe the interpretive approach to tour guiding </vt:lpstr>
      <vt:lpstr>Describe the interpretive approach to tour guiding</vt:lpstr>
      <vt:lpstr>Describe the interpretive approach to tour guiding</vt:lpstr>
      <vt:lpstr>Describe the interpretive approach to tour guiding</vt:lpstr>
      <vt:lpstr>Identify tour types</vt:lpstr>
      <vt:lpstr>Identify tour types</vt:lpstr>
      <vt:lpstr>Identify tour types</vt:lpstr>
      <vt:lpstr>Identify tour types</vt:lpstr>
      <vt:lpstr>Identify tour types</vt:lpstr>
      <vt:lpstr>List the characteristics of a tour guide</vt:lpstr>
      <vt:lpstr>List the characteristics of a tour guide</vt:lpstr>
      <vt:lpstr>Describe tour guiding principles</vt:lpstr>
      <vt:lpstr>Describe tour guiding principles</vt:lpstr>
      <vt:lpstr>Describe tour guiding principles</vt:lpstr>
      <vt:lpstr>Describe tour guiding principles</vt:lpstr>
      <vt:lpstr>Describe tour guiding principles</vt:lpstr>
      <vt:lpstr>Describe tour guiding principles</vt:lpstr>
      <vt:lpstr>Summary – Element 1</vt:lpstr>
      <vt:lpstr>Summary – Element 1</vt:lpstr>
      <vt:lpstr>Element 2 – Develop guiding skills and knowledge</vt:lpstr>
      <vt:lpstr>Identify guide information sources and contacts</vt:lpstr>
      <vt:lpstr>Identify guide information sources and contacts</vt:lpstr>
      <vt:lpstr>Identify guide information sources and contacts</vt:lpstr>
      <vt:lpstr>Acquire and update industry skills and knowledge</vt:lpstr>
      <vt:lpstr>Acquire and update industry skills and knowledge</vt:lpstr>
      <vt:lpstr>Acquire and update industry skills and knowledge</vt:lpstr>
      <vt:lpstr>Acquire and update industry skills and knowledge</vt:lpstr>
      <vt:lpstr>Identify legal, ethical and safety requirements that apply to guiding</vt:lpstr>
      <vt:lpstr>Identify legal, ethical and safety requirements that apply to guiding</vt:lpstr>
      <vt:lpstr>Identify legal, ethical and safety requirements that apply to guiding</vt:lpstr>
      <vt:lpstr>Identify legal, ethical and safety requirements that apply to guiding</vt:lpstr>
      <vt:lpstr>Identify legal, ethical and safety requirements that apply to guiding</vt:lpstr>
      <vt:lpstr>Identify legal, ethical and safety requirements that apply to guiding</vt:lpstr>
      <vt:lpstr>Identify legal, ethical and safety requirements that apply to guiding</vt:lpstr>
      <vt:lpstr>Summary – Element 2</vt:lpstr>
      <vt:lpstr>Summary – Element 2</vt:lpstr>
      <vt:lpstr>Summary – Element 2</vt:lpstr>
      <vt:lpstr>Element 3 – Provide guiding services</vt:lpstr>
      <vt:lpstr>Demonstrate the skills and knowledge necessary to guide tours</vt:lpstr>
      <vt:lpstr>Demonstrate the skills and knowledge necessary to guide tours</vt:lpstr>
      <vt:lpstr>Demonstrate the skills and knowledge necessary to guide tours</vt:lpstr>
      <vt:lpstr>Demonstrate the skills and knowledge necessary to guide tours</vt:lpstr>
      <vt:lpstr>Demonstrate the skills and knowledge necessary to guide tours</vt:lpstr>
      <vt:lpstr>Demonstrate the skills and knowledge necessary to guide tours</vt:lpstr>
      <vt:lpstr>Demonstrate the skills and knowledge necessary to guide tours</vt:lpstr>
      <vt:lpstr>Demonstrate the skills and knowledge necessary to guide tours</vt:lpstr>
      <vt:lpstr>Demonstrate the skills and knowledge necessary to guide tours</vt:lpstr>
      <vt:lpstr>Demonstrate the skills and knowledge necessary to guide tours</vt:lpstr>
      <vt:lpstr>Demonstrate the skills and knowledge necessary to guide tours</vt:lpstr>
      <vt:lpstr>Demonstrate the skills and knowledge necessary to guide tours</vt:lpstr>
      <vt:lpstr>Demonstrate the skills and knowledge necessary to guide tours</vt:lpstr>
      <vt:lpstr>Demonstrate the skills and knowledge necessary to guide tours</vt:lpstr>
      <vt:lpstr>Demonstrate the skills and knowledge necessary to guide tours</vt:lpstr>
      <vt:lpstr>Demonstrate the skills and knowledge necessary to guide tours</vt:lpstr>
      <vt:lpstr>Demonstrate the skills and knowledge necessary to guide tours</vt:lpstr>
      <vt:lpstr>Demonstrate the skills and knowledge necessary to guide tours</vt:lpstr>
      <vt:lpstr>Demonstrate the skills and knowledge necessary to guide tours</vt:lpstr>
      <vt:lpstr>Demonstrate the skills and knowledge necessary to guide tours</vt:lpstr>
      <vt:lpstr>Demonstrate the skills and knowledge necessary to guide tours</vt:lpstr>
      <vt:lpstr>Demonstrate the skills and knowledge necessary to guide tours</vt:lpstr>
      <vt:lpstr>Demonstrate the skills and knowledge necessary to guide tours</vt:lpstr>
      <vt:lpstr>Demonstrate the skills and knowledge necessary to guide tours</vt:lpstr>
      <vt:lpstr>Demonstrate the skills and knowledge necessary to guide tours</vt:lpstr>
      <vt:lpstr>Demonstrate the skills and knowledge necessary to guide tours</vt:lpstr>
      <vt:lpstr>Demonstrate the skills and knowledge necessary to guide tours</vt:lpstr>
      <vt:lpstr>Demonstrate the skills and knowledge necessary to guide tours</vt:lpstr>
      <vt:lpstr>Demonstrate the skills and knowledge necessary to guide tours</vt:lpstr>
      <vt:lpstr>Demonstrate the skills and knowledge necessary to guide tours</vt:lpstr>
      <vt:lpstr>Demonstrate the skills and knowledge necessary to guide tours</vt:lpstr>
      <vt:lpstr>Demonstrate the skills and knowledge necessary to guide tours</vt:lpstr>
      <vt:lpstr>Demonstrate the skills and knowledge necessary to guide tours</vt:lpstr>
      <vt:lpstr>Demonstrate the skills and knowledge necessary to guide tours</vt:lpstr>
      <vt:lpstr>Demonstrate the skills and knowledge necessary to guide tours</vt:lpstr>
      <vt:lpstr>Demonstrate the skills and knowledge necessary to guide tours</vt:lpstr>
      <vt:lpstr>Demonstrate the skills and knowledge necessary to guide tours</vt:lpstr>
      <vt:lpstr>Demonstrate the skills and knowledge necessary to guide tours</vt:lpstr>
      <vt:lpstr>Demonstrate the skills and knowledge necessary to guide tours</vt:lpstr>
      <vt:lpstr>Demonstrate the skills and knowledge necessary to guide tours</vt:lpstr>
      <vt:lpstr>Demonstrate the skills and knowledge necessary to guide tours</vt:lpstr>
      <vt:lpstr>Demonstrate the skills and knowledge necessary to guide tours</vt:lpstr>
      <vt:lpstr>Demonstrate the skills and knowledge necessary to guide tours</vt:lpstr>
      <vt:lpstr>Demonstrate the skills and knowledge necessary to guide tours</vt:lpstr>
      <vt:lpstr>Demonstrate the skills and knowledge necessary to guide tours</vt:lpstr>
      <vt:lpstr>Demonstrate the skills and knowledge necessary to guide tours</vt:lpstr>
      <vt:lpstr>Demonstrate the skills and knowledge necessary to guide tours</vt:lpstr>
      <vt:lpstr>Demonstrate the skills and knowledge necessary to guide tours</vt:lpstr>
      <vt:lpstr>Demonstrate the skills and knowledge necessary to guide tours</vt:lpstr>
      <vt:lpstr>Demonstrate the skills and knowledge necessary to guide tours</vt:lpstr>
      <vt:lpstr>Demonstrate the skills and knowledge necessary to guide tours</vt:lpstr>
      <vt:lpstr>Demonstrate the skills and knowledge necessary to guide tours</vt:lpstr>
      <vt:lpstr>Apply legal, ethical and safety considerations to conduct of tours</vt:lpstr>
      <vt:lpstr>Apply legal, ethical and safety considerations to conduct of tours</vt:lpstr>
      <vt:lpstr>Apply legal, ethical and safety considerations to conduct of tours</vt:lpstr>
      <vt:lpstr>Apply legal, ethical and safety considerations to conduct of tours</vt:lpstr>
      <vt:lpstr>Apply legal, ethical and safety considerations to conduct of tours</vt:lpstr>
      <vt:lpstr>Apply legal, ethical and safety considerations to conduct of tours</vt:lpstr>
      <vt:lpstr>Apply legal, ethical and safety considerations to conduct of tours</vt:lpstr>
      <vt:lpstr>Apply legal, ethical and safety considerations to conduct of tours</vt:lpstr>
      <vt:lpstr>Apply legal, ethical and safety considerations to conduct of tours</vt:lpstr>
      <vt:lpstr>Apply legal, ethical and safety considerations to conduct of tours</vt:lpstr>
      <vt:lpstr>Apply legal, ethical and safety considerations to conduct of tours</vt:lpstr>
      <vt:lpstr>Apply legal, ethical and safety considerations to conduct of tours</vt:lpstr>
      <vt:lpstr>Optimise respect for local culture</vt:lpstr>
      <vt:lpstr>Optimise respect for local culture</vt:lpstr>
      <vt:lpstr>Optimise respect for local culture</vt:lpstr>
      <vt:lpstr>Optimise respect for local culture</vt:lpstr>
      <vt:lpstr>Optimise respect for local culture</vt:lpstr>
      <vt:lpstr>Minimise negative impact on the culture, people and environment</vt:lpstr>
      <vt:lpstr>Minimise negative impact on the culture, people and environment</vt:lpstr>
      <vt:lpstr>Minimise negative impact on the culture, people and environment</vt:lpstr>
      <vt:lpstr>Minimise negative impact on the culture, people and environment</vt:lpstr>
      <vt:lpstr>Minimise negative impact on the culture, people and environment</vt:lpstr>
      <vt:lpstr>Minimise negative impact on the culture, people and environment</vt:lpstr>
      <vt:lpstr>Minimise negative impact on the culture, people and environment</vt:lpstr>
      <vt:lpstr>Minimise negative impact on the culture, people and environment</vt:lpstr>
      <vt:lpstr>Summary – Element 3</vt:lpstr>
      <vt:lpstr>Summary – Element 3</vt:lpstr>
      <vt:lpstr>Summary – Element 3</vt:lpstr>
      <vt:lpstr>Summary – Element 3</vt:lpstr>
      <vt:lpstr>Element 4 – Communicate with industry personnel</vt:lpstr>
      <vt:lpstr>Communicate with tourism industry operators</vt:lpstr>
      <vt:lpstr>Communicate with tourism industry operators</vt:lpstr>
      <vt:lpstr>Communicate with tourism industry operators</vt:lpstr>
      <vt:lpstr>Communicate with tourism industry operators</vt:lpstr>
      <vt:lpstr>Communicate with colleagues</vt:lpstr>
      <vt:lpstr>Communicate with colleagues</vt:lpstr>
      <vt:lpstr>Communicate with colleagues</vt:lpstr>
      <vt:lpstr>Summary – Element 4</vt:lpstr>
      <vt:lpstr>Summary – Element 4</vt:lpstr>
      <vt:lpstr>Summary – Element 4</vt:lpstr>
    </vt:vector>
  </TitlesOfParts>
  <Company>William Angliss TAFE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 AS A TOUR GUIDE</dc:title>
  <dc:creator>Mai Vu</dc:creator>
  <cp:lastModifiedBy>Daniel James Chee</cp:lastModifiedBy>
  <cp:revision>110</cp:revision>
  <dcterms:created xsi:type="dcterms:W3CDTF">2014-03-14T00:23:16Z</dcterms:created>
  <dcterms:modified xsi:type="dcterms:W3CDTF">2015-03-11T00:10:44Z</dcterms:modified>
</cp:coreProperties>
</file>