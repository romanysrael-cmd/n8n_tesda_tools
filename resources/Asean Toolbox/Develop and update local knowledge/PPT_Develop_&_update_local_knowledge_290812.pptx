
<file path=[Content_Types].xml><?xml version="1.0" encoding="utf-8"?>
<Types xmlns="http://schemas.openxmlformats.org/package/2006/content-types">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1.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theme/themeOverride2.xml" ContentType="application/vnd.openxmlformats-officedocument.themeOverr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90"/>
  </p:notesMasterIdLst>
  <p:handoutMasterIdLst>
    <p:handoutMasterId r:id="rId91"/>
  </p:handoutMasterIdLst>
  <p:sldIdLst>
    <p:sldId id="256" r:id="rId2"/>
    <p:sldId id="257" r:id="rId3"/>
    <p:sldId id="344" r:id="rId4"/>
    <p:sldId id="258" r:id="rId5"/>
    <p:sldId id="364" r:id="rId6"/>
    <p:sldId id="345" r:id="rId7"/>
    <p:sldId id="346" r:id="rId8"/>
    <p:sldId id="347" r:id="rId9"/>
    <p:sldId id="348" r:id="rId10"/>
    <p:sldId id="349" r:id="rId11"/>
    <p:sldId id="350" r:id="rId12"/>
    <p:sldId id="351" r:id="rId13"/>
    <p:sldId id="352" r:id="rId14"/>
    <p:sldId id="353" r:id="rId15"/>
    <p:sldId id="354" r:id="rId16"/>
    <p:sldId id="355" r:id="rId17"/>
    <p:sldId id="356" r:id="rId18"/>
    <p:sldId id="260" r:id="rId19"/>
    <p:sldId id="365" r:id="rId20"/>
    <p:sldId id="366" r:id="rId21"/>
    <p:sldId id="367" r:id="rId22"/>
    <p:sldId id="368" r:id="rId23"/>
    <p:sldId id="369" r:id="rId24"/>
    <p:sldId id="370" r:id="rId25"/>
    <p:sldId id="261" r:id="rId26"/>
    <p:sldId id="371" r:id="rId27"/>
    <p:sldId id="372" r:id="rId28"/>
    <p:sldId id="373" r:id="rId29"/>
    <p:sldId id="374" r:id="rId30"/>
    <p:sldId id="262" r:id="rId31"/>
    <p:sldId id="378" r:id="rId32"/>
    <p:sldId id="377" r:id="rId33"/>
    <p:sldId id="263" r:id="rId34"/>
    <p:sldId id="383" r:id="rId35"/>
    <p:sldId id="382" r:id="rId36"/>
    <p:sldId id="381" r:id="rId37"/>
    <p:sldId id="380" r:id="rId38"/>
    <p:sldId id="264" r:id="rId39"/>
    <p:sldId id="265" r:id="rId40"/>
    <p:sldId id="390" r:id="rId41"/>
    <p:sldId id="389" r:id="rId42"/>
    <p:sldId id="388" r:id="rId43"/>
    <p:sldId id="387" r:id="rId44"/>
    <p:sldId id="266" r:id="rId45"/>
    <p:sldId id="399" r:id="rId46"/>
    <p:sldId id="398" r:id="rId47"/>
    <p:sldId id="267" r:id="rId48"/>
    <p:sldId id="406" r:id="rId49"/>
    <p:sldId id="405" r:id="rId50"/>
    <p:sldId id="404" r:id="rId51"/>
    <p:sldId id="268" r:id="rId52"/>
    <p:sldId id="410" r:id="rId53"/>
    <p:sldId id="409" r:id="rId54"/>
    <p:sldId id="408" r:id="rId55"/>
    <p:sldId id="269" r:id="rId56"/>
    <p:sldId id="270" r:id="rId57"/>
    <p:sldId id="416" r:id="rId58"/>
    <p:sldId id="415" r:id="rId59"/>
    <p:sldId id="271" r:id="rId60"/>
    <p:sldId id="422" r:id="rId61"/>
    <p:sldId id="421" r:id="rId62"/>
    <p:sldId id="420" r:id="rId63"/>
    <p:sldId id="272" r:id="rId64"/>
    <p:sldId id="428" r:id="rId65"/>
    <p:sldId id="427" r:id="rId66"/>
    <p:sldId id="426" r:id="rId67"/>
    <p:sldId id="425" r:id="rId68"/>
    <p:sldId id="424" r:id="rId69"/>
    <p:sldId id="423" r:id="rId70"/>
    <p:sldId id="273" r:id="rId71"/>
    <p:sldId id="274" r:id="rId72"/>
    <p:sldId id="439" r:id="rId73"/>
    <p:sldId id="436" r:id="rId74"/>
    <p:sldId id="445" r:id="rId75"/>
    <p:sldId id="444" r:id="rId76"/>
    <p:sldId id="443" r:id="rId77"/>
    <p:sldId id="442" r:id="rId78"/>
    <p:sldId id="441" r:id="rId79"/>
    <p:sldId id="440" r:id="rId80"/>
    <p:sldId id="451" r:id="rId81"/>
    <p:sldId id="450" r:id="rId82"/>
    <p:sldId id="452" r:id="rId83"/>
    <p:sldId id="453" r:id="rId84"/>
    <p:sldId id="275" r:id="rId85"/>
    <p:sldId id="411" r:id="rId86"/>
    <p:sldId id="412" r:id="rId87"/>
    <p:sldId id="413" r:id="rId88"/>
    <p:sldId id="279" r:id="rId89"/>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85" autoAdjust="0"/>
    <p:restoredTop sz="33935" autoAdjust="0"/>
  </p:normalViewPr>
  <p:slideViewPr>
    <p:cSldViewPr>
      <p:cViewPr varScale="1">
        <p:scale>
          <a:sx n="31" d="100"/>
          <a:sy n="31" d="100"/>
        </p:scale>
        <p:origin x="264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notesMaster" Target="notesMasters/notesMaster1.xml"/><Relationship Id="rId95"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3/25/2015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3064115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3/25/2015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466448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www.media-directory.asia/magazine/business-magazines/hotel-hospitality-business/singapore/c-1874" TargetMode="External"/><Relationship Id="rId7" Type="http://schemas.openxmlformats.org/officeDocument/2006/relationships/hyperlink" Target="http://ehotelier.com/directory/?magazines-books" TargetMode="External"/><Relationship Id="rId2" Type="http://schemas.openxmlformats.org/officeDocument/2006/relationships/slide" Target="../slides/slide10.xml"/><Relationship Id="rId1" Type="http://schemas.openxmlformats.org/officeDocument/2006/relationships/notesMaster" Target="../notesMasters/notesMaster1.xml"/><Relationship Id="rId6" Type="http://schemas.openxmlformats.org/officeDocument/2006/relationships/hyperlink" Target="http://www.travelandleisure.com/" TargetMode="External"/><Relationship Id="rId5" Type="http://schemas.openxmlformats.org/officeDocument/2006/relationships/hyperlink" Target="http://hotelresource.tradepub.com/" TargetMode="External"/><Relationship Id="rId4" Type="http://schemas.openxmlformats.org/officeDocument/2006/relationships/hyperlink" Target="http://www.traveldailyasia.com/LocalNews/Singapore.aspx"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www.thetravelmagazine.net/cy-4-86--east-southeast-asia--singapore.html" TargetMode="External"/><Relationship Id="rId7" Type="http://schemas.openxmlformats.org/officeDocument/2006/relationships/hyperlink" Target="http://www.indochinatravelservice.com/newsletter/"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www.traveldojo.com/brunei/" TargetMode="External"/><Relationship Id="rId5" Type="http://schemas.openxmlformats.org/officeDocument/2006/relationships/hyperlink" Target="http://www.filipinotravel.com.ph/corporate/newsletter.php" TargetMode="External"/><Relationship Id="rId4" Type="http://schemas.openxmlformats.org/officeDocument/2006/relationships/hyperlink" Target="https://app.stb.gov.sg/asp/index.asp"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trainees to class.</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125997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trainees this Unit comprises three Elements, as listed on the slide explaining:</a:t>
            </a:r>
          </a:p>
          <a:p>
            <a:r>
              <a:rPr lang="en-AU" sz="1200" kern="1200" baseline="0" dirty="0" smtClean="0">
                <a:solidFill>
                  <a:schemeClr val="tx1"/>
                </a:solidFill>
                <a:latin typeface="+mn-lt"/>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latin typeface="+mn-lt"/>
                <a:ea typeface="+mn-ea"/>
                <a:cs typeface="+mn-cs"/>
              </a:rPr>
              <a:t>• Trainees can obtain more detail from their Trainee Manual</a:t>
            </a:r>
          </a:p>
          <a:p>
            <a:r>
              <a:rPr lang="en-AU" sz="1200" kern="1200" baseline="0" dirty="0" smtClean="0">
                <a:solidFill>
                  <a:schemeClr val="tx1"/>
                </a:solidFill>
                <a:latin typeface="+mn-lt"/>
                <a:ea typeface="+mn-ea"/>
                <a:cs typeface="+mn-cs"/>
              </a:rPr>
              <a:t>• At times the course presents advice and information about reporting procedures but where their workplace requirements differ to what is presented, the workplace practices and standards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37898719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2512601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latin typeface="+mn-lt"/>
                <a:ea typeface="+mn-ea"/>
                <a:cs typeface="+mn-cs"/>
              </a:rPr>
              <a:t>Class Activity – General discussion</a:t>
            </a:r>
          </a:p>
          <a:p>
            <a:r>
              <a:rPr lang="en-AU" sz="1200" kern="1200" baseline="0" dirty="0" smtClean="0">
                <a:solidFill>
                  <a:schemeClr val="tx1"/>
                </a:solidFill>
                <a:latin typeface="+mn-lt"/>
                <a:ea typeface="+mn-ea"/>
                <a:cs typeface="+mn-cs"/>
              </a:rPr>
              <a:t>Trainer leads a general class discussion on the development of local knowledge for workers in the hospitality and tourism industries asking questions such as:</a:t>
            </a:r>
          </a:p>
          <a:p>
            <a:pPr>
              <a:buFont typeface="Arial" pitchFamily="34" charset="0"/>
              <a:buChar char="•"/>
            </a:pPr>
            <a:r>
              <a:rPr lang="en-AU" sz="1200" kern="1200" baseline="0" dirty="0" smtClean="0">
                <a:solidFill>
                  <a:schemeClr val="tx1"/>
                </a:solidFill>
                <a:latin typeface="+mn-lt"/>
                <a:ea typeface="+mn-ea"/>
                <a:cs typeface="+mn-cs"/>
              </a:rPr>
              <a:t> Why is there a need for workers to have local knowledge?</a:t>
            </a:r>
          </a:p>
          <a:p>
            <a:pPr>
              <a:buFont typeface="Arial" pitchFamily="34" charset="0"/>
              <a:buChar char="•"/>
            </a:pPr>
            <a:r>
              <a:rPr lang="en-AU" sz="1200" kern="1200" baseline="0" dirty="0" smtClean="0">
                <a:solidFill>
                  <a:schemeClr val="tx1"/>
                </a:solidFill>
                <a:latin typeface="+mn-lt"/>
                <a:ea typeface="+mn-ea"/>
                <a:cs typeface="+mn-cs"/>
              </a:rPr>
              <a:t> How might staff use local knowledge in their day to day work?</a:t>
            </a:r>
          </a:p>
          <a:p>
            <a:pPr>
              <a:buFont typeface="Arial" pitchFamily="34" charset="0"/>
              <a:buChar char="•"/>
            </a:pPr>
            <a:r>
              <a:rPr lang="en-AU" sz="1200" kern="1200" baseline="0" dirty="0" smtClean="0">
                <a:solidFill>
                  <a:schemeClr val="tx1"/>
                </a:solidFill>
                <a:latin typeface="+mn-lt"/>
                <a:ea typeface="+mn-ea"/>
                <a:cs typeface="+mn-cs"/>
              </a:rPr>
              <a:t> What aspects of the local area might workers need to develop local knowledge about?</a:t>
            </a:r>
          </a:p>
          <a:p>
            <a:pPr>
              <a:buFont typeface="Arial" pitchFamily="34" charset="0"/>
              <a:buChar char="•"/>
            </a:pPr>
            <a:r>
              <a:rPr lang="en-AU" sz="1200" kern="1200" baseline="0" dirty="0" smtClean="0">
                <a:solidFill>
                  <a:schemeClr val="tx1"/>
                </a:solidFill>
                <a:latin typeface="+mn-lt"/>
                <a:ea typeface="+mn-ea"/>
                <a:cs typeface="+mn-cs"/>
              </a:rPr>
              <a:t> What sources of local knowledge can you identify?</a:t>
            </a:r>
          </a:p>
          <a:p>
            <a:pPr>
              <a:buFont typeface="Arial" pitchFamily="34" charset="0"/>
              <a:buChar char="•"/>
            </a:pPr>
            <a:r>
              <a:rPr lang="en-AU" sz="1200" kern="1200" baseline="0" dirty="0" smtClean="0">
                <a:solidFill>
                  <a:schemeClr val="tx1"/>
                </a:solidFill>
                <a:latin typeface="+mn-lt"/>
                <a:ea typeface="+mn-ea"/>
                <a:cs typeface="+mn-cs"/>
              </a:rPr>
              <a:t> What personal experiences do you have of providing local knowledge to visitors/tourists?</a:t>
            </a:r>
          </a:p>
          <a:p>
            <a:pPr>
              <a:buFont typeface="Arial" pitchFamily="34" charset="0"/>
              <a:buChar char="•"/>
            </a:pPr>
            <a:r>
              <a:rPr lang="en-AU" sz="1200" kern="1200" baseline="0" dirty="0" smtClean="0">
                <a:solidFill>
                  <a:schemeClr val="tx1"/>
                </a:solidFill>
                <a:latin typeface="+mn-lt"/>
                <a:ea typeface="+mn-ea"/>
                <a:cs typeface="+mn-cs"/>
              </a:rPr>
              <a:t> Have you ever been in a foreign country or different region and wanted some local information but were unable to get it? How did that make you feel? What is your opinion of that place now?</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15137016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instructs trainees that i</a:t>
            </a:r>
            <a:r>
              <a:rPr lang="en-US" sz="1200" kern="1200" dirty="0" smtClean="0">
                <a:solidFill>
                  <a:schemeClr val="tx1"/>
                </a:solidFill>
                <a:latin typeface="+mn-lt"/>
                <a:ea typeface="+mn-ea"/>
                <a:cs typeface="+mn-cs"/>
              </a:rPr>
              <a:t>ndustry and product knowledge are vital pre-requisites for effective performance within the industry.</a:t>
            </a:r>
          </a:p>
          <a:p>
            <a:pPr>
              <a:buFont typeface="Arial" pitchFamily="34" charset="0"/>
              <a:buNone/>
            </a:pPr>
            <a:endParaRPr lang="en-US" sz="1200" kern="1200" dirty="0" smtClean="0">
              <a:solidFill>
                <a:schemeClr val="tx1"/>
              </a:solidFill>
              <a:latin typeface="+mn-lt"/>
              <a:ea typeface="+mn-ea"/>
              <a:cs typeface="+mn-cs"/>
            </a:endParaRPr>
          </a:p>
          <a:p>
            <a:pPr>
              <a:buFont typeface="Arial" pitchFamily="34" charset="0"/>
              <a:buNone/>
            </a:pPr>
            <a:r>
              <a:rPr lang="en-US" sz="1200" kern="1200" dirty="0" smtClean="0">
                <a:solidFill>
                  <a:schemeClr val="tx1"/>
                </a:solidFill>
                <a:latin typeface="+mn-lt"/>
                <a:ea typeface="+mn-ea"/>
                <a:cs typeface="+mn-cs"/>
              </a:rPr>
              <a:t>Trainer identifies ‘local’ knowledge may include information about:</a:t>
            </a:r>
          </a:p>
          <a:p>
            <a:pPr>
              <a:buFont typeface="Arial" pitchFamily="34" charset="0"/>
              <a:buChar char="•"/>
            </a:pPr>
            <a:r>
              <a:rPr lang="en-US" sz="1200" kern="1200" dirty="0" smtClean="0">
                <a:solidFill>
                  <a:schemeClr val="tx1"/>
                </a:solidFill>
                <a:latin typeface="+mn-lt"/>
                <a:ea typeface="+mn-ea"/>
                <a:cs typeface="+mn-cs"/>
              </a:rPr>
              <a:t> The venue</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trainee workplace) also known as ‘product’ knowledge </a:t>
            </a:r>
          </a:p>
          <a:p>
            <a:pPr>
              <a:buFont typeface="Arial" pitchFamily="34" charset="0"/>
              <a:buChar char="•"/>
            </a:pPr>
            <a:r>
              <a:rPr lang="en-US" sz="1200" kern="1200" dirty="0" smtClean="0">
                <a:solidFill>
                  <a:schemeClr val="tx1"/>
                </a:solidFill>
                <a:latin typeface="+mn-lt"/>
                <a:ea typeface="+mn-ea"/>
                <a:cs typeface="+mn-cs"/>
              </a:rPr>
              <a:t> The town or city in which they work and where their workplace is located</a:t>
            </a:r>
          </a:p>
          <a:p>
            <a:pPr>
              <a:buFont typeface="Arial" pitchFamily="34" charset="0"/>
              <a:buChar char="•"/>
            </a:pPr>
            <a:r>
              <a:rPr lang="en-US" sz="1200" kern="1200" dirty="0" smtClean="0">
                <a:solidFill>
                  <a:schemeClr val="tx1"/>
                </a:solidFill>
                <a:latin typeface="+mn-lt"/>
                <a:ea typeface="+mn-ea"/>
                <a:cs typeface="+mn-cs"/>
              </a:rPr>
              <a:t> The region – covering the surrounding area, provinces, municipalities </a:t>
            </a:r>
          </a:p>
          <a:p>
            <a:pPr>
              <a:buFont typeface="Arial" pitchFamily="34" charset="0"/>
              <a:buChar char="•"/>
            </a:pPr>
            <a:r>
              <a:rPr lang="en-US" sz="1200" kern="1200" dirty="0" smtClean="0">
                <a:solidFill>
                  <a:schemeClr val="tx1"/>
                </a:solidFill>
                <a:latin typeface="+mn-lt"/>
                <a:ea typeface="+mn-ea"/>
                <a:cs typeface="+mn-cs"/>
              </a:rPr>
              <a:t> The country – highlighting the need for ‘all of country’ knowledge when dealing with international visitors. </a:t>
            </a:r>
          </a:p>
          <a:p>
            <a:pPr>
              <a:buFont typeface="Arial" pitchFamily="34" charset="0"/>
              <a:buNone/>
            </a:pPr>
            <a:endParaRPr lang="en-US" sz="1200" kern="1200" dirty="0" smtClean="0">
              <a:solidFill>
                <a:schemeClr val="tx1"/>
              </a:solidFill>
              <a:latin typeface="+mn-lt"/>
              <a:ea typeface="+mn-ea"/>
              <a:cs typeface="+mn-cs"/>
            </a:endParaRPr>
          </a:p>
          <a:p>
            <a:pPr>
              <a:buFont typeface="Arial" pitchFamily="34" charset="0"/>
              <a:buNone/>
            </a:pPr>
            <a:endParaRPr lang="en-US"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65262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to trainees it is important to have appropriate and sufficient local knowledge so they can:</a:t>
            </a:r>
          </a:p>
          <a:p>
            <a:pPr>
              <a:buFont typeface="Arial" pitchFamily="34" charset="0"/>
              <a:buChar char="•"/>
            </a:pPr>
            <a:r>
              <a:rPr lang="en-US" sz="1200" kern="1200" dirty="0" smtClean="0">
                <a:solidFill>
                  <a:schemeClr val="tx1"/>
                </a:solidFill>
                <a:latin typeface="+mn-lt"/>
                <a:ea typeface="+mn-ea"/>
                <a:cs typeface="+mn-cs"/>
              </a:rPr>
              <a:t> Pass this on to tourists/visitors and enhance visitor/tourist experience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Inform tourists/visitors about what is happening locally and convince them to spend more time (and money) in the area</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town which will help create more jobs and generate even more tourism, more businesses, more opportunities, and more benefit to the region and the country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Meet tourist</a:t>
            </a:r>
            <a:r>
              <a:rPr lang="en-US" sz="1200" kern="1200" baseline="0" dirty="0" smtClean="0">
                <a:solidFill>
                  <a:schemeClr val="tx1"/>
                </a:solidFill>
                <a:latin typeface="+mn-lt"/>
                <a:ea typeface="+mn-ea"/>
                <a:cs typeface="+mn-cs"/>
              </a:rPr>
              <a:t> and </a:t>
            </a:r>
            <a:r>
              <a:rPr lang="en-US" sz="1200" kern="1200" dirty="0" smtClean="0">
                <a:solidFill>
                  <a:schemeClr val="tx1"/>
                </a:solidFill>
                <a:latin typeface="+mn-lt"/>
                <a:ea typeface="+mn-ea"/>
                <a:cs typeface="+mn-cs"/>
              </a:rPr>
              <a:t>visitor expectation.</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ourists/visitors expect staff at a hotel to be able to advise them about local events, attractions .</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2355617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200" kern="1200" dirty="0" smtClean="0">
                <a:solidFill>
                  <a:schemeClr val="tx1"/>
                </a:solidFill>
                <a:latin typeface="+mn-lt"/>
                <a:ea typeface="+mn-ea"/>
                <a:cs typeface="+mn-cs"/>
              </a:rPr>
              <a:t>Trainer explains</a:t>
            </a:r>
            <a:r>
              <a:rPr lang="en-US" sz="1200" kern="1200" baseline="0" dirty="0" smtClean="0">
                <a:solidFill>
                  <a:schemeClr val="tx1"/>
                </a:solidFill>
                <a:latin typeface="+mn-lt"/>
                <a:ea typeface="+mn-ea"/>
                <a:cs typeface="+mn-cs"/>
              </a:rPr>
              <a:t> to</a:t>
            </a:r>
            <a:r>
              <a:rPr lang="en-US" sz="1200" kern="1200" dirty="0" smtClean="0">
                <a:solidFill>
                  <a:schemeClr val="tx1"/>
                </a:solidFill>
                <a:latin typeface="+mn-lt"/>
                <a:ea typeface="+mn-ea"/>
                <a:cs typeface="+mn-cs"/>
              </a:rPr>
              <a:t> trainees when developing local knowledge they should aim to capture information on:</a:t>
            </a:r>
          </a:p>
          <a:p>
            <a:pPr>
              <a:buFont typeface="Arial" pitchFamily="34" charset="0"/>
              <a:buChar char="•"/>
            </a:pPr>
            <a:r>
              <a:rPr lang="en-US" sz="1200" kern="1200" dirty="0" smtClean="0">
                <a:solidFill>
                  <a:schemeClr val="tx1"/>
                </a:solidFill>
                <a:latin typeface="+mn-lt"/>
                <a:ea typeface="+mn-ea"/>
                <a:cs typeface="+mn-cs"/>
              </a:rPr>
              <a:t> General information on the tourism industry – trends in visitations,</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country of origin of tourists</a:t>
            </a:r>
            <a:r>
              <a:rPr lang="en-US" sz="1200" kern="1200" baseline="0" dirty="0" smtClean="0">
                <a:solidFill>
                  <a:schemeClr val="tx1"/>
                </a:solidFill>
                <a:latin typeface="+mn-lt"/>
                <a:ea typeface="+mn-ea"/>
                <a:cs typeface="+mn-cs"/>
              </a:rPr>
              <a:t> and</a:t>
            </a:r>
            <a:r>
              <a:rPr lang="en-US" sz="1200" kern="1200" dirty="0" smtClean="0">
                <a:solidFill>
                  <a:schemeClr val="tx1"/>
                </a:solidFill>
                <a:latin typeface="+mn-lt"/>
                <a:ea typeface="+mn-ea"/>
                <a:cs typeface="+mn-cs"/>
              </a:rPr>
              <a:t> in-bound tourist numbers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Local tourism destinations including facilities and infrastructure such as toilets, public transport, emergency services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Tourism products including tourism services, facilities and rates/costs, ticket prices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Environmental issues including eco-tourism, weather, ‘at risk’ species of flora and fauna</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Local attractions including local tours, events and places of interest</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Local customs – what visitors should do or not do,</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things they should avoid saying or doing</a:t>
            </a:r>
            <a:r>
              <a:rPr lang="en-US" sz="1200" kern="1200" baseline="0" dirty="0" smtClean="0">
                <a:solidFill>
                  <a:schemeClr val="tx1"/>
                </a:solidFill>
                <a:latin typeface="+mn-lt"/>
                <a:ea typeface="+mn-ea"/>
                <a:cs typeface="+mn-cs"/>
              </a:rPr>
              <a:t> and</a:t>
            </a:r>
            <a:r>
              <a:rPr lang="en-US" sz="1200" kern="1200" dirty="0" smtClean="0">
                <a:solidFill>
                  <a:schemeClr val="tx1"/>
                </a:solidFill>
                <a:latin typeface="+mn-lt"/>
                <a:ea typeface="+mn-ea"/>
                <a:cs typeface="+mn-cs"/>
              </a:rPr>
              <a:t> local food and drinks.</a:t>
            </a:r>
            <a:endParaRPr lang="en-AU" sz="1200" kern="1200" dirty="0" smtClean="0">
              <a:solidFill>
                <a:schemeClr val="tx1"/>
              </a:solidFill>
              <a:latin typeface="+mn-lt"/>
              <a:ea typeface="+mn-ea"/>
              <a:cs typeface="+mn-cs"/>
            </a:endParaRPr>
          </a:p>
          <a:p>
            <a:pPr>
              <a:buFont typeface="Arial" pitchFamily="34" charset="0"/>
              <a:buNone/>
            </a:pPr>
            <a:endParaRPr kumimoji="0" lang="en-US" sz="2400" kern="1200" dirty="0" smtClean="0">
              <a:solidFill>
                <a:schemeClr val="tx1"/>
              </a:solidFill>
              <a:latin typeface="+mn-lt"/>
              <a:ea typeface="+mn-ea"/>
              <a:cs typeface="+mn-cs"/>
            </a:endParaRPr>
          </a:p>
          <a:p>
            <a:pPr>
              <a:buFont typeface="Arial" pitchFamily="34" charset="0"/>
              <a:buNone/>
            </a:pPr>
            <a:r>
              <a:rPr lang="en-US" sz="2400" b="1" baseline="0" dirty="0" smtClean="0"/>
              <a:t>Class Activity – Small Group Exercise</a:t>
            </a:r>
          </a:p>
          <a:p>
            <a:pPr>
              <a:buFont typeface="Arial" pitchFamily="34" charset="0"/>
              <a:buNone/>
            </a:pPr>
            <a:r>
              <a:rPr lang="en-US" sz="2400" b="0" baseline="0" dirty="0" smtClean="0"/>
              <a:t>Trainer </a:t>
            </a:r>
            <a:r>
              <a:rPr lang="en-AU" sz="2400" b="0" baseline="0" dirty="0" smtClean="0"/>
              <a:t>divides trainees into six groups and asks them to prepare </a:t>
            </a:r>
            <a:r>
              <a:rPr lang="en-AU" sz="2400" b="0" i="1" baseline="0" dirty="0" smtClean="0"/>
              <a:t>without reference to any outside sources</a:t>
            </a:r>
            <a:r>
              <a:rPr lang="en-AU" sz="2400" b="0" baseline="0" dirty="0" smtClean="0"/>
              <a:t> the most comprehensive list of local information they can in relation to  each of the six categories listed on the slide (above).</a:t>
            </a:r>
          </a:p>
          <a:p>
            <a:pPr>
              <a:buFont typeface="Arial" pitchFamily="34" charset="0"/>
              <a:buNone/>
            </a:pPr>
            <a:endParaRPr lang="en-AU" sz="2400" b="0" baseline="0" dirty="0" smtClean="0"/>
          </a:p>
          <a:p>
            <a:pPr>
              <a:buFont typeface="Arial" pitchFamily="34" charset="0"/>
              <a:buNone/>
            </a:pPr>
            <a:r>
              <a:rPr lang="en-AU" sz="2400" b="0" baseline="0" dirty="0" smtClean="0"/>
              <a:t>Each group should have a different category, and should be given 30 minutes to generate their list of information.</a:t>
            </a:r>
          </a:p>
          <a:p>
            <a:pPr>
              <a:buFont typeface="Arial" pitchFamily="34" charset="0"/>
              <a:buNone/>
            </a:pPr>
            <a:endParaRPr lang="en-AU" sz="2400" b="0" baseline="0" dirty="0" smtClean="0"/>
          </a:p>
          <a:p>
            <a:pPr>
              <a:buFont typeface="Arial" pitchFamily="34" charset="0"/>
              <a:buNone/>
            </a:pPr>
            <a:r>
              <a:rPr lang="en-AU" sz="2400" b="0" baseline="0" dirty="0" smtClean="0"/>
              <a:t>After 30 minutes the group presents their list to the class who respond by:</a:t>
            </a:r>
          </a:p>
          <a:p>
            <a:pPr>
              <a:buFont typeface="Arial" pitchFamily="34" charset="0"/>
              <a:buChar char="•"/>
            </a:pPr>
            <a:r>
              <a:rPr lang="en-US" sz="2400" b="0" baseline="0" dirty="0" smtClean="0"/>
              <a:t> Confirming the information provided</a:t>
            </a:r>
          </a:p>
          <a:p>
            <a:pPr>
              <a:buFont typeface="Arial" pitchFamily="34" charset="0"/>
              <a:buChar char="•"/>
            </a:pPr>
            <a:r>
              <a:rPr lang="en-US" sz="2400" b="0" baseline="0" dirty="0" smtClean="0"/>
              <a:t> Amending or updating the information presented</a:t>
            </a:r>
          </a:p>
          <a:p>
            <a:pPr>
              <a:buFont typeface="Arial" pitchFamily="34" charset="0"/>
              <a:buChar char="•"/>
            </a:pPr>
            <a:r>
              <a:rPr lang="en-US" sz="2400" b="0" baseline="0" dirty="0" smtClean="0"/>
              <a:t> Adding new information to the list.</a:t>
            </a:r>
          </a:p>
          <a:p>
            <a:pPr>
              <a:buFont typeface="Arial" pitchFamily="34" charset="0"/>
              <a:buChar char="•"/>
            </a:pPr>
            <a:endParaRPr lang="en-US" sz="2400" b="0" baseline="0" dirty="0" smtClean="0"/>
          </a:p>
          <a:p>
            <a:pPr>
              <a:buFont typeface="Arial" pitchFamily="34" charset="0"/>
              <a:buNone/>
            </a:pPr>
            <a:endParaRPr kumimoji="0" lang="en-US" sz="24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19553666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there are several standard sources</a:t>
            </a:r>
            <a:r>
              <a:rPr lang="en-US" baseline="0" dirty="0" smtClean="0"/>
              <a:t> that can be used to identify and capture local information, identifying:</a:t>
            </a:r>
          </a:p>
          <a:p>
            <a:pPr>
              <a:buFont typeface="Arial" pitchFamily="34" charset="0"/>
              <a:buChar char="•"/>
            </a:pPr>
            <a:r>
              <a:rPr lang="en-US" baseline="0" dirty="0" smtClean="0"/>
              <a:t> Visitor Information Centres</a:t>
            </a:r>
          </a:p>
          <a:p>
            <a:pPr>
              <a:buFont typeface="Arial" pitchFamily="34" charset="0"/>
              <a:buChar char="•"/>
            </a:pPr>
            <a:r>
              <a:rPr lang="en-US" baseline="0" dirty="0" smtClean="0"/>
              <a:t> Written materials</a:t>
            </a:r>
          </a:p>
          <a:p>
            <a:pPr>
              <a:buFont typeface="Arial" pitchFamily="34" charset="0"/>
              <a:buChar char="•"/>
            </a:pPr>
            <a:r>
              <a:rPr lang="en-US" baseline="0" dirty="0" smtClean="0"/>
              <a:t> The internet</a:t>
            </a:r>
          </a:p>
          <a:p>
            <a:pPr>
              <a:buFont typeface="Arial" pitchFamily="34" charset="0"/>
              <a:buChar char="•"/>
            </a:pPr>
            <a:r>
              <a:rPr lang="en-US" baseline="0" dirty="0" smtClean="0"/>
              <a:t> Local associations</a:t>
            </a:r>
          </a:p>
          <a:p>
            <a:pPr>
              <a:buFont typeface="Arial" pitchFamily="34" charset="0"/>
              <a:buChar char="•"/>
            </a:pPr>
            <a:r>
              <a:rPr lang="en-US" baseline="0" dirty="0" smtClean="0"/>
              <a:t> Personal network of contacts.</a:t>
            </a:r>
          </a:p>
          <a:p>
            <a:pPr>
              <a:buFont typeface="Arial" pitchFamily="34" charset="0"/>
              <a:buChar char="•"/>
            </a:pPr>
            <a:endParaRPr lang="en-US" baseline="0" dirty="0" smtClean="0"/>
          </a:p>
          <a:p>
            <a:pPr>
              <a:buFont typeface="Arial" pitchFamily="34" charset="0"/>
              <a:buNone/>
            </a:pPr>
            <a:r>
              <a:rPr lang="en-US" baseline="0" dirty="0" smtClean="0"/>
              <a:t>Trainer advises each of the above will be detailed on subsequent slides.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1369795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dirty="0" smtClean="0"/>
              <a:t>Trainer tells trainees in respect</a:t>
            </a:r>
            <a:r>
              <a:rPr lang="en-US" baseline="0" dirty="0" smtClean="0"/>
              <a:t> of </a:t>
            </a:r>
            <a:r>
              <a:rPr lang="en-US" dirty="0" smtClean="0"/>
              <a:t>Visitor Information Centres:</a:t>
            </a:r>
          </a:p>
          <a:p>
            <a:pPr>
              <a:buFont typeface="Arial" pitchFamily="34" charset="0"/>
              <a:buChar char="•"/>
            </a:pPr>
            <a:r>
              <a:rPr lang="en-US" dirty="0" smtClean="0"/>
              <a:t> They are an excellent source of information and should be one of the first places visited to obtain local information.</a:t>
            </a:r>
            <a:r>
              <a:rPr lang="en-US" baseline="0" dirty="0" smtClean="0"/>
              <a:t> T</a:t>
            </a:r>
            <a:r>
              <a:rPr lang="en-US" dirty="0" smtClean="0"/>
              <a:t>hey have already done most of the work in compiling and assembling local information</a:t>
            </a:r>
          </a:p>
          <a:p>
            <a:pPr>
              <a:buFont typeface="Arial" pitchFamily="34" charset="0"/>
              <a:buChar char="•"/>
            </a:pPr>
            <a:r>
              <a:rPr lang="en-US" dirty="0" smtClean="0"/>
              <a:t> They must visit the local Centre to see to view the facilities available, the displays on show and obtain a first-hand experience of the ambience and what the Centre has to offer</a:t>
            </a:r>
          </a:p>
          <a:p>
            <a:pPr>
              <a:buFont typeface="Arial" pitchFamily="34" charset="0"/>
              <a:buChar char="•"/>
            </a:pPr>
            <a:r>
              <a:rPr lang="en-US" dirty="0" smtClean="0"/>
              <a:t> They need to introduce themselves to management at the Centre or to the staff working in the Centre –in</a:t>
            </a:r>
            <a:r>
              <a:rPr lang="en-US" baseline="0" dirty="0" smtClean="0"/>
              <a:t> order </a:t>
            </a:r>
            <a:r>
              <a:rPr lang="en-US" dirty="0" smtClean="0"/>
              <a:t>to create a personal relationship with the Centre, and to facilitate the use of the Centre for obtaining materials and local knowledge</a:t>
            </a:r>
          </a:p>
          <a:p>
            <a:pPr>
              <a:buFont typeface="Arial" pitchFamily="34" charset="0"/>
              <a:buChar char="•"/>
            </a:pPr>
            <a:r>
              <a:rPr lang="en-US" dirty="0" smtClean="0"/>
              <a:t> Take multiple copies of the materials (brochures, flyers, maps ) for distribution to other staff, and to give to tourists/visitors.</a:t>
            </a:r>
          </a:p>
          <a:p>
            <a:pPr>
              <a:buFont typeface="Arial" pitchFamily="34" charset="0"/>
              <a:buNone/>
            </a:pPr>
            <a:endParaRPr lang="en-US" dirty="0" smtClean="0"/>
          </a:p>
          <a:p>
            <a:pPr>
              <a:buFont typeface="Arial" pitchFamily="34" charset="0"/>
              <a:buNone/>
            </a:pPr>
            <a:r>
              <a:rPr lang="en-US" b="1" baseline="0" dirty="0" smtClean="0"/>
              <a:t>Class Activity – Excursion</a:t>
            </a:r>
          </a:p>
          <a:p>
            <a:pPr>
              <a:buFont typeface="Arial" pitchFamily="34" charset="0"/>
              <a:buNone/>
            </a:pPr>
            <a:r>
              <a:rPr lang="en-US" b="0" baseline="0" dirty="0" smtClean="0"/>
              <a:t>Trainer arranges a visit to the local Visitor Information Centre to:</a:t>
            </a:r>
          </a:p>
          <a:p>
            <a:pPr>
              <a:buFont typeface="Arial" pitchFamily="34" charset="0"/>
              <a:buChar char="•"/>
            </a:pPr>
            <a:r>
              <a:rPr lang="en-US" b="0" baseline="0" dirty="0" smtClean="0"/>
              <a:t> View facilities</a:t>
            </a:r>
          </a:p>
          <a:p>
            <a:pPr>
              <a:buFont typeface="Arial" pitchFamily="34" charset="0"/>
              <a:buChar char="•"/>
            </a:pPr>
            <a:r>
              <a:rPr lang="en-US" b="0" baseline="0" dirty="0" smtClean="0"/>
              <a:t> Obtain sample materials</a:t>
            </a:r>
          </a:p>
          <a:p>
            <a:pPr>
              <a:buFont typeface="Arial" pitchFamily="34" charset="0"/>
              <a:buChar char="•"/>
            </a:pPr>
            <a:r>
              <a:rPr lang="en-US" b="0" baseline="0" dirty="0" smtClean="0"/>
              <a:t> Establish a contact person/point</a:t>
            </a:r>
          </a:p>
          <a:p>
            <a:pPr>
              <a:buFont typeface="Arial" pitchFamily="34" charset="0"/>
              <a:buChar char="•"/>
            </a:pPr>
            <a:r>
              <a:rPr lang="en-US" b="0" baseline="0" dirty="0" smtClean="0"/>
              <a:t> Meet and talk to staff about:</a:t>
            </a:r>
          </a:p>
          <a:p>
            <a:pPr lvl="1">
              <a:buFont typeface="Arial" pitchFamily="34" charset="0"/>
              <a:buChar char="•"/>
            </a:pPr>
            <a:r>
              <a:rPr lang="en-US" b="0" baseline="0" dirty="0" smtClean="0"/>
              <a:t> Important local dates, celebrations, festivals, events</a:t>
            </a:r>
          </a:p>
          <a:p>
            <a:pPr lvl="1">
              <a:buFont typeface="Arial" pitchFamily="34" charset="0"/>
              <a:buChar char="•"/>
            </a:pPr>
            <a:r>
              <a:rPr lang="en-US" b="0" baseline="0" dirty="0" smtClean="0"/>
              <a:t> How to promote the local area</a:t>
            </a:r>
          </a:p>
          <a:p>
            <a:pPr lvl="1">
              <a:buFont typeface="Arial" pitchFamily="34" charset="0"/>
              <a:buChar char="•"/>
            </a:pPr>
            <a:r>
              <a:rPr lang="en-US" b="0" baseline="0" dirty="0" smtClean="0"/>
              <a:t> How to source local information</a:t>
            </a:r>
          </a:p>
          <a:p>
            <a:pPr lvl="1">
              <a:buFont typeface="Arial" pitchFamily="34" charset="0"/>
              <a:buChar char="•"/>
            </a:pPr>
            <a:r>
              <a:rPr lang="en-US" b="0" baseline="0" dirty="0" smtClean="0"/>
              <a:t> Benefits of providing visitors/tourists with local information</a:t>
            </a:r>
          </a:p>
          <a:p>
            <a:pPr lvl="1">
              <a:buFont typeface="Arial" pitchFamily="34" charset="0"/>
              <a:buChar char="•"/>
            </a:pPr>
            <a:r>
              <a:rPr lang="en-US" b="0" baseline="0" dirty="0" smtClean="0"/>
              <a:t> How venues can obtain copies of materials promoting local information and how they can identify when existing materials are updated and need to be replaced.</a:t>
            </a:r>
          </a:p>
          <a:p>
            <a:pPr>
              <a:buFont typeface="Arial" pitchFamily="34" charset="0"/>
              <a:buNone/>
            </a:pPr>
            <a:endParaRPr lang="en-US" dirty="0" smtClean="0"/>
          </a:p>
          <a:p>
            <a:pPr marL="360000" indent="-360000">
              <a:spcBef>
                <a:spcPts val="600"/>
              </a:spcBef>
              <a:spcAft>
                <a:spcPts val="1200"/>
              </a:spcAft>
              <a:buFont typeface="Arial" pitchFamily="34" charset="0"/>
              <a:buChar char="•"/>
            </a:pPr>
            <a:endParaRPr lang="en-US" sz="120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39079709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a:buFont typeface="Arial" pitchFamily="34" charset="0"/>
              <a:buNone/>
            </a:pPr>
            <a:r>
              <a:rPr lang="en-US" dirty="0" smtClean="0"/>
              <a:t>Trainer explains</a:t>
            </a:r>
            <a:r>
              <a:rPr lang="en-US" baseline="0" dirty="0" smtClean="0"/>
              <a:t> to</a:t>
            </a:r>
            <a:r>
              <a:rPr lang="en-US" dirty="0" smtClean="0"/>
              <a:t> trainees that written materials useful in capturing local knowledge/information can include:</a:t>
            </a:r>
          </a:p>
          <a:p>
            <a:pPr>
              <a:buFont typeface="Arial" pitchFamily="34" charset="0"/>
              <a:buChar char="•"/>
            </a:pPr>
            <a:r>
              <a:rPr lang="en-US" sz="1200" kern="1200" dirty="0" smtClean="0">
                <a:solidFill>
                  <a:schemeClr val="tx1"/>
                </a:solidFill>
                <a:latin typeface="+mn-lt"/>
                <a:ea typeface="+mn-ea"/>
                <a:cs typeface="+mn-cs"/>
              </a:rPr>
              <a:t> Reference books on the country, region or specific aspects of the country (such as its flora and fauna, its history and customs, famous people, trade details, plans for the area/country)</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Trade magazines which may be purchased from newsagents or obtained via subscription. These detail events within the industry and are an excellent source of local, national and global information.  Trade magazines can focus on sectors of the industry (such as food and beverage, housekeeping, bars, MICE, spas) and/or provide generic information on, for example, travel, tourism or hospitality</a:t>
            </a:r>
          </a:p>
          <a:p>
            <a:pPr>
              <a:buFont typeface="Arial" pitchFamily="34" charset="0"/>
              <a:buChar char="•"/>
            </a:pPr>
            <a:r>
              <a:rPr lang="en-US" sz="1200" kern="1200" dirty="0" smtClean="0">
                <a:solidFill>
                  <a:schemeClr val="tx1"/>
                </a:solidFill>
                <a:latin typeface="+mn-lt"/>
                <a:ea typeface="+mn-ea"/>
                <a:cs typeface="+mn-cs"/>
              </a:rPr>
              <a:t> Guidebooks.</a:t>
            </a:r>
            <a:r>
              <a:rPr lang="en-US" sz="1200" kern="1200" baseline="0" dirty="0" smtClean="0">
                <a:solidFill>
                  <a:schemeClr val="tx1"/>
                </a:solidFill>
                <a:latin typeface="+mn-lt"/>
                <a:ea typeface="+mn-ea"/>
                <a:cs typeface="+mn-cs"/>
              </a:rPr>
              <a:t> N</a:t>
            </a:r>
            <a:r>
              <a:rPr lang="en-US" sz="1200" kern="1200" dirty="0" smtClean="0">
                <a:solidFill>
                  <a:schemeClr val="tx1"/>
                </a:solidFill>
                <a:latin typeface="+mn-lt"/>
                <a:ea typeface="+mn-ea"/>
                <a:cs typeface="+mn-cs"/>
              </a:rPr>
              <a:t>umerous guidebooks exist on every major tourist destination/country. While these are often read by tourists to help them obtain a ‘feel’ for the country they are visiting, they can also be useful to staff working in those countries as a reference and resource</a:t>
            </a:r>
          </a:p>
          <a:p>
            <a:pPr>
              <a:buFont typeface="Arial" pitchFamily="34" charset="0"/>
              <a:buChar char="•"/>
            </a:pPr>
            <a:r>
              <a:rPr lang="en-US" sz="1200" kern="1200" dirty="0" smtClean="0">
                <a:solidFill>
                  <a:schemeClr val="tx1"/>
                </a:solidFill>
                <a:latin typeface="+mn-lt"/>
                <a:ea typeface="+mn-ea"/>
                <a:cs typeface="+mn-cs"/>
              </a:rPr>
              <a:t> Newspapers.</a:t>
            </a:r>
            <a:r>
              <a:rPr lang="en-US" sz="1200" kern="1200" baseline="0" dirty="0" smtClean="0">
                <a:solidFill>
                  <a:schemeClr val="tx1"/>
                </a:solidFill>
                <a:latin typeface="+mn-lt"/>
                <a:ea typeface="+mn-ea"/>
                <a:cs typeface="+mn-cs"/>
              </a:rPr>
              <a:t> M</a:t>
            </a:r>
            <a:r>
              <a:rPr lang="en-US" sz="1200" kern="1200" dirty="0" smtClean="0">
                <a:solidFill>
                  <a:schemeClr val="tx1"/>
                </a:solidFill>
                <a:latin typeface="+mn-lt"/>
                <a:ea typeface="+mn-ea"/>
                <a:cs typeface="+mn-cs"/>
              </a:rPr>
              <a:t>any large circulation newspapers feature some aspect of the travel, tourism and hospitality industries on a regular/weekly basis.</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hese features can include: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Food and drink reviews of restaurants, dining rooms, certain dishes, nominated cuisines, bars, drink types, wines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Industry movements identifying staff who are moving between properties, ownership of venues and the companies buying and selling properties, new properties coming into the marketplace, venues undergoing renovations and refurbishment</a:t>
            </a:r>
            <a:r>
              <a:rPr lang="en-US" sz="1200" kern="1200" baseline="0" dirty="0" smtClean="0">
                <a:solidFill>
                  <a:schemeClr val="tx1"/>
                </a:solidFill>
                <a:latin typeface="+mn-lt"/>
                <a:ea typeface="+mn-ea"/>
                <a:cs typeface="+mn-cs"/>
              </a:rPr>
              <a:t> and</a:t>
            </a:r>
            <a:r>
              <a:rPr lang="en-US" sz="1200" kern="1200" dirty="0" smtClean="0">
                <a:solidFill>
                  <a:schemeClr val="tx1"/>
                </a:solidFill>
                <a:latin typeface="+mn-lt"/>
                <a:ea typeface="+mn-ea"/>
                <a:cs typeface="+mn-cs"/>
              </a:rPr>
              <a:t> venues closing their doors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Travel articles describing travel experiences of correspondents, travel destinations and tourist attractions,</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explaining how to travel between destinations</a:t>
            </a:r>
            <a:r>
              <a:rPr lang="en-US" sz="1200" kern="1200" baseline="0" dirty="0" smtClean="0">
                <a:solidFill>
                  <a:schemeClr val="tx1"/>
                </a:solidFill>
                <a:latin typeface="+mn-lt"/>
                <a:ea typeface="+mn-ea"/>
                <a:cs typeface="+mn-cs"/>
              </a:rPr>
              <a:t> and </a:t>
            </a:r>
            <a:r>
              <a:rPr lang="en-US" sz="1200" kern="1200" dirty="0" smtClean="0">
                <a:solidFill>
                  <a:schemeClr val="tx1"/>
                </a:solidFill>
                <a:latin typeface="+mn-lt"/>
                <a:ea typeface="+mn-ea"/>
                <a:cs typeface="+mn-cs"/>
              </a:rPr>
              <a:t>differentiating between travel and transportation options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Issues of interest.</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hese may include coverage of a wide range of topics impacting on the industry such as taxation, impact of events  locally and internationally, effect  of currency fluctuations on inbound and outbound tourists/visitors, industry trends and new products and services.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latin typeface="+mn-lt"/>
                <a:ea typeface="+mn-ea"/>
                <a:cs typeface="+mn-cs"/>
              </a:rPr>
              <a:t> The local telephone book.</a:t>
            </a:r>
            <a:r>
              <a:rPr lang="en-US" sz="1200" kern="1200" baseline="0" dirty="0" smtClean="0">
                <a:solidFill>
                  <a:schemeClr val="tx1"/>
                </a:solidFill>
                <a:latin typeface="+mn-lt"/>
                <a:ea typeface="+mn-ea"/>
                <a:cs typeface="+mn-cs"/>
              </a:rPr>
              <a:t> W</a:t>
            </a:r>
            <a:r>
              <a:rPr lang="en-US" sz="1200" kern="1200" dirty="0" smtClean="0">
                <a:solidFill>
                  <a:schemeClr val="tx1"/>
                </a:solidFill>
                <a:latin typeface="+mn-lt"/>
                <a:ea typeface="+mn-ea"/>
                <a:cs typeface="+mn-cs"/>
              </a:rPr>
              <a:t>here ‘display adverts’ are used the local telephone book can provide much valuable information about local businesses and local competitors (such as products, facilities and services available, star rating,</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location relative to other attractions,</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 credit cards accepted, affiliations with clubs, groups or other organisations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kern="1200" dirty="0" smtClean="0">
                <a:solidFill>
                  <a:schemeClr val="tx1"/>
                </a:solidFill>
                <a:latin typeface="+mn-lt"/>
                <a:ea typeface="+mn-ea"/>
                <a:cs typeface="+mn-cs"/>
              </a:rPr>
              <a:t>Class Activity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kern="1200" dirty="0" smtClean="0">
                <a:solidFill>
                  <a:schemeClr val="tx1"/>
                </a:solidFill>
                <a:latin typeface="+mn-lt"/>
                <a:ea typeface="+mn-ea"/>
                <a:cs typeface="+mn-cs"/>
              </a:rPr>
              <a:t>Trainer</a:t>
            </a:r>
            <a:r>
              <a:rPr lang="en-US" sz="1200" b="0" kern="1200" baseline="0" dirty="0" smtClean="0">
                <a:solidFill>
                  <a:schemeClr val="tx1"/>
                </a:solidFill>
                <a:latin typeface="+mn-lt"/>
                <a:ea typeface="+mn-ea"/>
                <a:cs typeface="+mn-cs"/>
              </a:rPr>
              <a:t> arranges for trainees to have internet access and asks them to visit websites of trade magazines and note any magazines, articles, links  of interest.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kern="1200" baseline="0" dirty="0" smtClean="0">
                <a:solidFill>
                  <a:schemeClr val="tx1"/>
                </a:solidFill>
                <a:latin typeface="+mn-lt"/>
                <a:ea typeface="+mn-ea"/>
                <a:cs typeface="+mn-cs"/>
              </a:rPr>
              <a:t>Trainer suggests trainees visit the following:</a:t>
            </a:r>
          </a:p>
          <a:p>
            <a:r>
              <a:rPr lang="en-US" sz="1200" u="sng" kern="1200" dirty="0" smtClean="0">
                <a:solidFill>
                  <a:schemeClr val="tx1"/>
                </a:solidFill>
                <a:latin typeface="+mn-lt"/>
                <a:ea typeface="+mn-ea"/>
                <a:cs typeface="+mn-cs"/>
                <a:hlinkClick r:id="rId3"/>
              </a:rPr>
              <a:t>http://www.media-directory.asia/magazine/business-magazines/hotel-hospitality-business/singapore/c-1874</a:t>
            </a:r>
            <a:r>
              <a:rPr lang="en-US" sz="1200" kern="1200" dirty="0" smtClean="0">
                <a:solidFill>
                  <a:schemeClr val="tx1"/>
                </a:solidFill>
                <a:latin typeface="+mn-lt"/>
                <a:ea typeface="+mn-ea"/>
                <a:cs typeface="+mn-cs"/>
              </a:rPr>
              <a:t> </a:t>
            </a:r>
            <a:endParaRPr lang="en-AU" sz="1200" kern="1200" dirty="0" smtClean="0">
              <a:solidFill>
                <a:schemeClr val="tx1"/>
              </a:solidFill>
              <a:latin typeface="+mn-lt"/>
              <a:ea typeface="+mn-ea"/>
              <a:cs typeface="+mn-cs"/>
            </a:endParaRPr>
          </a:p>
          <a:p>
            <a:r>
              <a:rPr lang="en-US" sz="1200" u="sng" kern="1200" dirty="0" smtClean="0">
                <a:solidFill>
                  <a:schemeClr val="tx1"/>
                </a:solidFill>
                <a:latin typeface="+mn-lt"/>
                <a:ea typeface="+mn-ea"/>
                <a:cs typeface="+mn-cs"/>
                <a:hlinkClick r:id="rId4"/>
              </a:rPr>
              <a:t>http://www.traveldailyasia.com/LocalNews/Singapore.aspx</a:t>
            </a:r>
            <a:r>
              <a:rPr lang="en-US" sz="1200" kern="1200" dirty="0" smtClean="0">
                <a:solidFill>
                  <a:schemeClr val="tx1"/>
                </a:solidFill>
                <a:latin typeface="+mn-lt"/>
                <a:ea typeface="+mn-ea"/>
                <a:cs typeface="+mn-cs"/>
              </a:rPr>
              <a:t> </a:t>
            </a:r>
            <a:endParaRPr lang="en-AU" sz="1200" kern="1200" dirty="0" smtClean="0">
              <a:solidFill>
                <a:schemeClr val="tx1"/>
              </a:solidFill>
              <a:latin typeface="+mn-lt"/>
              <a:ea typeface="+mn-ea"/>
              <a:cs typeface="+mn-cs"/>
            </a:endParaRPr>
          </a:p>
          <a:p>
            <a:r>
              <a:rPr lang="en-US" sz="1200" u="sng" kern="1200" dirty="0" smtClean="0">
                <a:solidFill>
                  <a:schemeClr val="tx1"/>
                </a:solidFill>
                <a:latin typeface="+mn-lt"/>
                <a:ea typeface="+mn-ea"/>
                <a:cs typeface="+mn-cs"/>
                <a:hlinkClick r:id="rId5"/>
              </a:rPr>
              <a:t>http://hotelresource.tradepub.com/</a:t>
            </a:r>
            <a:endParaRPr lang="en-AU" sz="1200" kern="1200" dirty="0" smtClean="0">
              <a:solidFill>
                <a:schemeClr val="tx1"/>
              </a:solidFill>
              <a:latin typeface="+mn-lt"/>
              <a:ea typeface="+mn-ea"/>
              <a:cs typeface="+mn-cs"/>
            </a:endParaRPr>
          </a:p>
          <a:p>
            <a:r>
              <a:rPr lang="en-US" sz="1200" u="sng" kern="1200" dirty="0" smtClean="0">
                <a:solidFill>
                  <a:schemeClr val="tx1"/>
                </a:solidFill>
                <a:latin typeface="+mn-lt"/>
                <a:ea typeface="+mn-ea"/>
                <a:cs typeface="+mn-cs"/>
                <a:hlinkClick r:id="rId6"/>
              </a:rPr>
              <a:t>http://www.travelandleisure.com/</a:t>
            </a:r>
            <a:endParaRPr lang="en-AU" sz="1200" kern="1200" dirty="0" smtClean="0">
              <a:solidFill>
                <a:schemeClr val="tx1"/>
              </a:solidFill>
              <a:latin typeface="+mn-lt"/>
              <a:ea typeface="+mn-ea"/>
              <a:cs typeface="+mn-cs"/>
            </a:endParaRPr>
          </a:p>
          <a:p>
            <a:r>
              <a:rPr lang="en-US" sz="1200" u="sng" kern="1200" dirty="0" smtClean="0">
                <a:solidFill>
                  <a:schemeClr val="tx1"/>
                </a:solidFill>
                <a:latin typeface="+mn-lt"/>
                <a:ea typeface="+mn-ea"/>
                <a:cs typeface="+mn-cs"/>
                <a:hlinkClick r:id="rId7"/>
              </a:rPr>
              <a:t>http://ehotelier.com/directory/?magazines-books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dirty="0" smtClean="0">
                <a:solidFill>
                  <a:schemeClr val="tx1"/>
                </a:solidFill>
                <a:latin typeface="+mn-lt"/>
                <a:ea typeface="+mn-ea"/>
                <a:cs typeface="+mn-cs"/>
              </a:rPr>
              <a:t>Trainer also adds any sites for magazines relevant to their country and/or industry or industry sector.</a:t>
            </a: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r>
              <a:rPr lang="en-AU" sz="1200" b="1" kern="1200" dirty="0" smtClean="0">
                <a:solidFill>
                  <a:schemeClr val="tx1"/>
                </a:solidFill>
                <a:latin typeface="+mn-lt"/>
                <a:ea typeface="+mn-ea"/>
                <a:cs typeface="+mn-cs"/>
              </a:rPr>
              <a:t>Class Activity – Text-based materials</a:t>
            </a:r>
          </a:p>
          <a:p>
            <a:pPr>
              <a:buFont typeface="Arial" pitchFamily="34" charset="0"/>
              <a:buNone/>
            </a:pPr>
            <a:r>
              <a:rPr lang="en-AU" sz="1200" b="0" kern="1200" dirty="0" smtClean="0">
                <a:solidFill>
                  <a:schemeClr val="tx1"/>
                </a:solidFill>
                <a:latin typeface="+mn-lt"/>
                <a:ea typeface="+mn-ea"/>
                <a:cs typeface="+mn-cs"/>
              </a:rPr>
              <a:t>Trainer assembles a range of relevant text-based materials for trainees to view and gain an appreciation of</a:t>
            </a:r>
            <a:r>
              <a:rPr lang="en-AU" sz="1200" b="0" kern="1200" baseline="0" dirty="0" smtClean="0">
                <a:solidFill>
                  <a:schemeClr val="tx1"/>
                </a:solidFill>
                <a:latin typeface="+mn-lt"/>
                <a:ea typeface="+mn-ea"/>
                <a:cs typeface="+mn-cs"/>
              </a:rPr>
              <a:t> in relation to the development of ‘local knowledge’.</a:t>
            </a:r>
          </a:p>
          <a:p>
            <a:pPr>
              <a:buFont typeface="Arial" pitchFamily="34" charset="0"/>
              <a:buNone/>
            </a:pPr>
            <a:r>
              <a:rPr lang="en-AU" sz="1200" b="0" kern="1200" baseline="0" dirty="0" smtClean="0">
                <a:solidFill>
                  <a:schemeClr val="tx1"/>
                </a:solidFill>
                <a:latin typeface="+mn-lt"/>
                <a:ea typeface="+mn-ea"/>
                <a:cs typeface="+mn-cs"/>
              </a:rPr>
              <a:t>The text-based materials must include:</a:t>
            </a:r>
            <a:endParaRPr lang="en-AU" sz="1200" b="0"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Reference books relevant to the country/area</a:t>
            </a:r>
          </a:p>
          <a:p>
            <a:pPr>
              <a:buFont typeface="Arial" pitchFamily="34" charset="0"/>
              <a:buChar char="•"/>
            </a:pPr>
            <a:r>
              <a:rPr lang="en-AU" sz="1200" b="0" kern="1200" dirty="0" smtClean="0">
                <a:solidFill>
                  <a:schemeClr val="tx1"/>
                </a:solidFill>
                <a:latin typeface="+mn-lt"/>
                <a:ea typeface="+mn-ea"/>
                <a:cs typeface="+mn-cs"/>
              </a:rPr>
              <a:t> Guidebooks </a:t>
            </a:r>
            <a:r>
              <a:rPr lang="en-AU" sz="1200" b="0" kern="1200" baseline="0" dirty="0" smtClean="0">
                <a:solidFill>
                  <a:schemeClr val="tx1"/>
                </a:solidFill>
                <a:latin typeface="+mn-lt"/>
                <a:ea typeface="+mn-ea"/>
                <a:cs typeface="+mn-cs"/>
              </a:rPr>
              <a:t>such as Lonely Planet or similar</a:t>
            </a:r>
          </a:p>
          <a:p>
            <a:pPr>
              <a:buFont typeface="Arial" pitchFamily="34" charset="0"/>
              <a:buChar char="•"/>
            </a:pPr>
            <a:r>
              <a:rPr lang="en-AU" sz="1200" b="0" kern="1200" baseline="0" dirty="0" smtClean="0">
                <a:solidFill>
                  <a:schemeClr val="tx1"/>
                </a:solidFill>
                <a:latin typeface="+mn-lt"/>
                <a:ea typeface="+mn-ea"/>
                <a:cs typeface="+mn-cs"/>
              </a:rPr>
              <a:t> A range of local newspapers with an emphasis on sections and/or articles focusing on local events  </a:t>
            </a:r>
          </a:p>
          <a:p>
            <a:pPr>
              <a:buFont typeface="Arial" pitchFamily="34" charset="0"/>
              <a:buChar char="•"/>
            </a:pPr>
            <a:r>
              <a:rPr lang="en-AU" sz="1200" b="0" kern="1200" baseline="0" dirty="0" smtClean="0">
                <a:solidFill>
                  <a:schemeClr val="tx1"/>
                </a:solidFill>
                <a:latin typeface="+mn-lt"/>
                <a:ea typeface="+mn-ea"/>
                <a:cs typeface="+mn-cs"/>
              </a:rPr>
              <a:t> Local telephone book.</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1242435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buFont typeface="Arial" pitchFamily="34" charset="0"/>
              <a:buNone/>
            </a:pPr>
            <a:r>
              <a:rPr lang="en-US" dirty="0" smtClean="0"/>
              <a:t>Trainer continues to provide trainees with information about written materials that can be used to develop local knowledge:</a:t>
            </a:r>
          </a:p>
          <a:p>
            <a:pPr>
              <a:buFont typeface="Arial" pitchFamily="34" charset="0"/>
              <a:buChar char="•"/>
            </a:pPr>
            <a:r>
              <a:rPr lang="en-US" sz="1200" kern="1200" dirty="0" smtClean="0">
                <a:solidFill>
                  <a:schemeClr val="tx1"/>
                </a:solidFill>
                <a:latin typeface="+mn-lt"/>
                <a:ea typeface="+mn-ea"/>
                <a:cs typeface="+mn-cs"/>
              </a:rPr>
              <a:t> Libraries.</a:t>
            </a:r>
            <a:r>
              <a:rPr lang="en-US" sz="1200" kern="1200" baseline="0" dirty="0" smtClean="0">
                <a:solidFill>
                  <a:schemeClr val="tx1"/>
                </a:solidFill>
                <a:latin typeface="+mn-lt"/>
                <a:ea typeface="+mn-ea"/>
                <a:cs typeface="+mn-cs"/>
              </a:rPr>
              <a:t> W</a:t>
            </a:r>
            <a:r>
              <a:rPr lang="en-US" sz="1200" kern="1200" dirty="0" smtClean="0">
                <a:solidFill>
                  <a:schemeClr val="tx1"/>
                </a:solidFill>
                <a:latin typeface="+mn-lt"/>
                <a:ea typeface="+mn-ea"/>
                <a:cs typeface="+mn-cs"/>
              </a:rPr>
              <a:t>here there is access to public libraries they are a great source of material as it is free. It is important to visit the local library to see what is available. They can often arrange inter-library loans too.</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Brochures and flyers.</a:t>
            </a:r>
            <a:r>
              <a:rPr lang="en-US" sz="1200" kern="1200" baseline="0" dirty="0" smtClean="0">
                <a:solidFill>
                  <a:schemeClr val="tx1"/>
                </a:solidFill>
                <a:latin typeface="+mn-lt"/>
                <a:ea typeface="+mn-ea"/>
                <a:cs typeface="+mn-cs"/>
              </a:rPr>
              <a:t> M</a:t>
            </a:r>
            <a:r>
              <a:rPr lang="en-US" sz="1200" kern="1200" dirty="0" smtClean="0">
                <a:solidFill>
                  <a:schemeClr val="tx1"/>
                </a:solidFill>
                <a:latin typeface="+mn-lt"/>
                <a:ea typeface="+mn-ea"/>
                <a:cs typeface="+mn-cs"/>
              </a:rPr>
              <a:t>ost suppliers and service support industries (local council, authorities, competitors) provide various forms of printed information that can assist with information in relation to:</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Product information detailing, for example, the products available at a shop, venue, attraction, destination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Services provided at the location to which the brochure applies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Contact details for their business to which the brochure applies.</a:t>
            </a:r>
            <a:r>
              <a:rPr lang="en-US" sz="1200" kern="1200" baseline="0" dirty="0" smtClean="0">
                <a:solidFill>
                  <a:schemeClr val="tx1"/>
                </a:solidFill>
                <a:latin typeface="+mn-lt"/>
                <a:ea typeface="+mn-ea"/>
                <a:cs typeface="+mn-cs"/>
              </a:rPr>
              <a:t> This includes </a:t>
            </a:r>
            <a:r>
              <a:rPr lang="en-US" sz="1200" kern="1200" dirty="0" smtClean="0">
                <a:solidFill>
                  <a:schemeClr val="tx1"/>
                </a:solidFill>
                <a:latin typeface="+mn-lt"/>
                <a:ea typeface="+mn-ea"/>
                <a:cs typeface="+mn-cs"/>
              </a:rPr>
              <a:t>the telephone number, street address, web details and other information including hours of operation, credit cards accepted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Maps</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of the local district.</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Advertisements whether in the newspaper or in other formats (brochures, flyers, guide books).</a:t>
            </a:r>
            <a:r>
              <a:rPr lang="en-US" sz="1200" kern="1200" baseline="0" dirty="0" smtClean="0">
                <a:solidFill>
                  <a:schemeClr val="tx1"/>
                </a:solidFill>
                <a:latin typeface="+mn-lt"/>
                <a:ea typeface="+mn-ea"/>
                <a:cs typeface="+mn-cs"/>
              </a:rPr>
              <a:t> Th</a:t>
            </a:r>
            <a:r>
              <a:rPr lang="en-US" sz="1200" kern="1200" dirty="0" smtClean="0">
                <a:solidFill>
                  <a:schemeClr val="tx1"/>
                </a:solidFill>
                <a:latin typeface="+mn-lt"/>
                <a:ea typeface="+mn-ea"/>
                <a:cs typeface="+mn-cs"/>
              </a:rPr>
              <a:t>ese are an excellent source of information about other venues in the industry, new products and services, prices, special deals and offers.</a:t>
            </a:r>
          </a:p>
          <a:p>
            <a:pPr>
              <a:buFont typeface="Arial" pitchFamily="34" charset="0"/>
              <a:buChar char="•"/>
            </a:pPr>
            <a:endParaRPr lang="en-US" sz="1200" kern="1200" dirty="0" smtClean="0">
              <a:solidFill>
                <a:schemeClr val="tx1"/>
              </a:solidFill>
              <a:latin typeface="+mn-lt"/>
              <a:ea typeface="+mn-ea"/>
              <a:cs typeface="+mn-cs"/>
            </a:endParaRPr>
          </a:p>
          <a:p>
            <a:pPr>
              <a:buFont typeface="Arial" pitchFamily="34" charset="0"/>
              <a:buNone/>
            </a:pPr>
            <a:r>
              <a:rPr lang="en-US" sz="1200" b="1" kern="1200" dirty="0" smtClean="0">
                <a:solidFill>
                  <a:schemeClr val="tx1"/>
                </a:solidFill>
                <a:latin typeface="+mn-lt"/>
                <a:ea typeface="+mn-ea"/>
                <a:cs typeface="+mn-cs"/>
              </a:rPr>
              <a:t>Class Activity – Guest Speaker</a:t>
            </a:r>
          </a:p>
          <a:p>
            <a:pPr>
              <a:buFont typeface="Arial" pitchFamily="34" charset="0"/>
              <a:buNone/>
            </a:pPr>
            <a:r>
              <a:rPr lang="en-US" sz="1200" b="0" kern="1200" dirty="0" smtClean="0">
                <a:solidFill>
                  <a:schemeClr val="tx1"/>
                </a:solidFill>
                <a:latin typeface="+mn-lt"/>
                <a:ea typeface="+mn-ea"/>
                <a:cs typeface="+mn-cs"/>
              </a:rPr>
              <a:t>Trainer arranges for representative from the local library to attend and inform trainees regarding:</a:t>
            </a:r>
          </a:p>
          <a:p>
            <a:pPr>
              <a:buFont typeface="Arial" pitchFamily="34" charset="0"/>
              <a:buChar char="•"/>
            </a:pPr>
            <a:r>
              <a:rPr lang="en-US" sz="1200" b="0" kern="1200" dirty="0" smtClean="0">
                <a:solidFill>
                  <a:schemeClr val="tx1"/>
                </a:solidFill>
                <a:latin typeface="+mn-lt"/>
                <a:ea typeface="+mn-ea"/>
                <a:cs typeface="+mn-cs"/>
              </a:rPr>
              <a:t> Books  (videos, DVDs) available at the library that will assist with developing local knowledge</a:t>
            </a:r>
          </a:p>
          <a:p>
            <a:pPr>
              <a:buFont typeface="Arial" pitchFamily="34" charset="0"/>
              <a:buChar char="•"/>
            </a:pPr>
            <a:r>
              <a:rPr lang="en-US" sz="1200" b="0" kern="1200" dirty="0" smtClean="0">
                <a:solidFill>
                  <a:schemeClr val="tx1"/>
                </a:solidFill>
                <a:latin typeface="+mn-lt"/>
                <a:ea typeface="+mn-ea"/>
                <a:cs typeface="+mn-cs"/>
              </a:rPr>
              <a:t> How to register to obtain loans of books and other materials</a:t>
            </a:r>
          </a:p>
          <a:p>
            <a:pPr>
              <a:buFont typeface="Arial" pitchFamily="34" charset="0"/>
              <a:buChar char="•"/>
            </a:pPr>
            <a:r>
              <a:rPr lang="en-US" sz="1200" b="0" kern="1200" dirty="0" smtClean="0">
                <a:solidFill>
                  <a:schemeClr val="tx1"/>
                </a:solidFill>
                <a:latin typeface="+mn-lt"/>
                <a:ea typeface="+mn-ea"/>
                <a:cs typeface="+mn-cs"/>
              </a:rPr>
              <a:t> Terms of use of library materials</a:t>
            </a:r>
          </a:p>
          <a:p>
            <a:pPr>
              <a:buFont typeface="Arial" pitchFamily="34" charset="0"/>
              <a:buChar char="•"/>
            </a:pPr>
            <a:r>
              <a:rPr lang="en-US" sz="1200" b="0" kern="1200" dirty="0" smtClean="0">
                <a:solidFill>
                  <a:schemeClr val="tx1"/>
                </a:solidFill>
                <a:latin typeface="+mn-lt"/>
                <a:ea typeface="+mn-ea"/>
                <a:cs typeface="+mn-cs"/>
              </a:rPr>
              <a:t> Using inter-library loans.</a:t>
            </a:r>
          </a:p>
          <a:p>
            <a:pPr>
              <a:buFont typeface="Arial" pitchFamily="34" charset="0"/>
              <a:buChar char="•"/>
            </a:pPr>
            <a:endParaRPr lang="en-US" sz="1200" b="0" kern="1200" dirty="0" smtClean="0">
              <a:solidFill>
                <a:schemeClr val="tx1"/>
              </a:solidFill>
              <a:latin typeface="+mn-lt"/>
              <a:ea typeface="+mn-ea"/>
              <a:cs typeface="+mn-cs"/>
            </a:endParaRPr>
          </a:p>
          <a:p>
            <a:pPr>
              <a:buFont typeface="Arial" pitchFamily="34" charset="0"/>
              <a:buNone/>
            </a:pPr>
            <a:r>
              <a:rPr lang="en-US" sz="1200" b="1" kern="1200" dirty="0" smtClean="0">
                <a:solidFill>
                  <a:schemeClr val="tx1"/>
                </a:solidFill>
                <a:latin typeface="+mn-lt"/>
                <a:ea typeface="+mn-ea"/>
                <a:cs typeface="+mn-cs"/>
              </a:rPr>
              <a:t>Class Activity – Discussion on Brochures and Flyers</a:t>
            </a:r>
          </a:p>
          <a:p>
            <a:pPr>
              <a:buFont typeface="Arial" pitchFamily="34" charset="0"/>
              <a:buNone/>
            </a:pPr>
            <a:r>
              <a:rPr lang="en-US" sz="1200" b="0" kern="1200" dirty="0" smtClean="0">
                <a:solidFill>
                  <a:schemeClr val="tx1"/>
                </a:solidFill>
                <a:latin typeface="+mn-lt"/>
                <a:ea typeface="+mn-ea"/>
                <a:cs typeface="+mn-cs"/>
              </a:rPr>
              <a:t>Trainer obtains</a:t>
            </a:r>
            <a:r>
              <a:rPr lang="en-US" sz="1200" b="0" kern="1200" baseline="0" dirty="0" smtClean="0">
                <a:solidFill>
                  <a:schemeClr val="tx1"/>
                </a:solidFill>
                <a:latin typeface="+mn-lt"/>
                <a:ea typeface="+mn-ea"/>
                <a:cs typeface="+mn-cs"/>
              </a:rPr>
              <a:t> a wide range of brochures and flyers advertising local events, venues and:</a:t>
            </a:r>
          </a:p>
          <a:p>
            <a:pPr>
              <a:buFont typeface="Arial" pitchFamily="34" charset="0"/>
              <a:buChar char="•"/>
            </a:pPr>
            <a:r>
              <a:rPr lang="en-US" sz="1200" b="0" kern="1200" baseline="0" dirty="0" smtClean="0">
                <a:solidFill>
                  <a:schemeClr val="tx1"/>
                </a:solidFill>
                <a:latin typeface="+mn-lt"/>
                <a:ea typeface="+mn-ea"/>
                <a:cs typeface="+mn-cs"/>
              </a:rPr>
              <a:t> Distributes them for trainees to read</a:t>
            </a:r>
          </a:p>
          <a:p>
            <a:pPr>
              <a:buFont typeface="Arial" pitchFamily="34" charset="0"/>
              <a:buChar char="•"/>
            </a:pPr>
            <a:r>
              <a:rPr lang="en-US" sz="1200" b="1" kern="1200" baseline="0" dirty="0" smtClean="0">
                <a:solidFill>
                  <a:schemeClr val="tx1"/>
                </a:solidFill>
                <a:latin typeface="+mn-lt"/>
                <a:ea typeface="+mn-ea"/>
                <a:cs typeface="+mn-cs"/>
              </a:rPr>
              <a:t> </a:t>
            </a:r>
            <a:r>
              <a:rPr lang="en-US" sz="1200" b="0" kern="1200" dirty="0" smtClean="0">
                <a:solidFill>
                  <a:schemeClr val="tx1"/>
                </a:solidFill>
                <a:latin typeface="+mn-lt"/>
                <a:ea typeface="+mn-ea"/>
                <a:cs typeface="+mn-cs"/>
              </a:rPr>
              <a:t>Leads a discussion focusing on:</a:t>
            </a:r>
          </a:p>
          <a:p>
            <a:pPr lvl="1">
              <a:buFont typeface="Arial" pitchFamily="34" charset="0"/>
              <a:buChar char="•"/>
            </a:pPr>
            <a:r>
              <a:rPr lang="en-US" sz="1200" b="0" kern="1200" dirty="0" smtClean="0">
                <a:solidFill>
                  <a:schemeClr val="tx1"/>
                </a:solidFill>
                <a:latin typeface="+mn-lt"/>
                <a:ea typeface="+mn-ea"/>
                <a:cs typeface="+mn-cs"/>
              </a:rPr>
              <a:t> Identifying a comprehensive list of local events, attractions, festivals </a:t>
            </a:r>
          </a:p>
          <a:p>
            <a:pPr lvl="1">
              <a:buFont typeface="Arial" pitchFamily="34" charset="0"/>
              <a:buChar char="•"/>
            </a:pPr>
            <a:r>
              <a:rPr lang="en-US" sz="1200" b="0" kern="1200" dirty="0" smtClean="0">
                <a:solidFill>
                  <a:schemeClr val="tx1"/>
                </a:solidFill>
                <a:latin typeface="+mn-lt"/>
                <a:ea typeface="+mn-ea"/>
                <a:cs typeface="+mn-cs"/>
              </a:rPr>
              <a:t> Identifying relevant dates, times, seasons for events </a:t>
            </a:r>
          </a:p>
          <a:p>
            <a:pPr lvl="1">
              <a:buFont typeface="Arial" pitchFamily="34" charset="0"/>
              <a:buChar char="•"/>
            </a:pPr>
            <a:r>
              <a:rPr lang="en-US" sz="1200" b="0" kern="1200" dirty="0" smtClean="0">
                <a:solidFill>
                  <a:schemeClr val="tx1"/>
                </a:solidFill>
                <a:latin typeface="+mn-lt"/>
                <a:ea typeface="+mn-ea"/>
                <a:cs typeface="+mn-cs"/>
              </a:rPr>
              <a:t> Identifying costs/prices for entry, tickets, accommodation </a:t>
            </a:r>
          </a:p>
          <a:p>
            <a:pPr lvl="1">
              <a:buFont typeface="Arial" pitchFamily="34" charset="0"/>
              <a:buChar char="•"/>
            </a:pPr>
            <a:r>
              <a:rPr lang="en-US" sz="1200" b="0" kern="1200" dirty="0" smtClean="0">
                <a:solidFill>
                  <a:schemeClr val="tx1"/>
                </a:solidFill>
                <a:latin typeface="+mn-lt"/>
                <a:ea typeface="+mn-ea"/>
                <a:cs typeface="+mn-cs"/>
              </a:rPr>
              <a:t> Discussing how accurate the advertisements/brochures are in relation to trainee personal experience with the venue</a:t>
            </a:r>
            <a:r>
              <a:rPr lang="en-US" sz="1200" b="0" kern="1200" baseline="0" dirty="0" smtClean="0">
                <a:solidFill>
                  <a:schemeClr val="tx1"/>
                </a:solidFill>
                <a:latin typeface="+mn-lt"/>
                <a:ea typeface="+mn-ea"/>
                <a:cs typeface="+mn-cs"/>
              </a:rPr>
              <a:t> or</a:t>
            </a:r>
            <a:r>
              <a:rPr lang="en-US" sz="1200" b="0" kern="1200" dirty="0" smtClean="0">
                <a:solidFill>
                  <a:schemeClr val="tx1"/>
                </a:solidFill>
                <a:latin typeface="+mn-lt"/>
                <a:ea typeface="+mn-ea"/>
                <a:cs typeface="+mn-cs"/>
              </a:rPr>
              <a:t> attraction </a:t>
            </a:r>
          </a:p>
          <a:p>
            <a:pPr lvl="1">
              <a:buFont typeface="Arial" pitchFamily="34" charset="0"/>
              <a:buChar char="•"/>
            </a:pPr>
            <a:r>
              <a:rPr lang="en-US" sz="1200" b="0" kern="1200" dirty="0" smtClean="0">
                <a:solidFill>
                  <a:schemeClr val="tx1"/>
                </a:solidFill>
                <a:latin typeface="+mn-lt"/>
                <a:ea typeface="+mn-ea"/>
                <a:cs typeface="+mn-cs"/>
              </a:rPr>
              <a:t> Discussing when it may be appropriate to distribute each brochure of flyer to tourists/visitors.</a:t>
            </a:r>
          </a:p>
          <a:p>
            <a:pPr lvl="1">
              <a:buFont typeface="Arial" pitchFamily="34" charset="0"/>
              <a:buChar char="•"/>
            </a:pPr>
            <a:endParaRPr lang="en-US" sz="1200" b="0" kern="1200" dirty="0" smtClean="0">
              <a:solidFill>
                <a:schemeClr val="tx1"/>
              </a:solidFill>
              <a:latin typeface="+mn-lt"/>
              <a:ea typeface="+mn-ea"/>
              <a:cs typeface="+mn-cs"/>
            </a:endParaRPr>
          </a:p>
          <a:p>
            <a:pPr>
              <a:buFont typeface="Arial" pitchFamily="34" charset="0"/>
              <a:buChar char="•"/>
            </a:pP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720139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buFont typeface="Arial" pitchFamily="34" charset="0"/>
              <a:buNone/>
            </a:pPr>
            <a:r>
              <a:rPr lang="en-US" dirty="0" smtClean="0"/>
              <a:t>Trainer introduces to trainees the online options for gathering local</a:t>
            </a:r>
            <a:r>
              <a:rPr lang="en-US" baseline="0" dirty="0" smtClean="0"/>
              <a:t> information explaining the extent to which such information is available can vary widely depending on the region, the business and attractions in the area and the degree to which infrastructure exists to support the technology.</a:t>
            </a:r>
          </a:p>
          <a:p>
            <a:pPr>
              <a:buFont typeface="Arial" pitchFamily="34" charset="0"/>
              <a:buNone/>
            </a:pPr>
            <a:endParaRPr lang="en-US" baseline="0" dirty="0" smtClean="0"/>
          </a:p>
          <a:p>
            <a:pPr>
              <a:buFont typeface="Arial" pitchFamily="34" charset="0"/>
              <a:buNone/>
            </a:pPr>
            <a:r>
              <a:rPr lang="en-US" baseline="0" dirty="0" smtClean="0"/>
              <a:t>Trainer suggests trainees undertake internet research and ‘Bookmark’ relevant sites to facilitate future visits/research on that site, suggesting research should be done regarding:</a:t>
            </a:r>
          </a:p>
          <a:p>
            <a:pPr>
              <a:buFont typeface="Arial" pitchFamily="34" charset="0"/>
              <a:buChar char="•"/>
            </a:pPr>
            <a:r>
              <a:rPr lang="en-US" sz="1200" kern="1200" dirty="0" smtClean="0">
                <a:solidFill>
                  <a:schemeClr val="tx1"/>
                </a:solidFill>
                <a:latin typeface="+mn-lt"/>
                <a:ea typeface="+mn-ea"/>
                <a:cs typeface="+mn-cs"/>
              </a:rPr>
              <a:t> Tour and travel operators </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especially those who provide local one-day</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half-day</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tours such as bus trips, self-drive, small groups</a:t>
            </a:r>
            <a:endParaRPr lang="en-AU" sz="1200" kern="1200" dirty="0" smtClean="0">
              <a:solidFill>
                <a:schemeClr val="tx1"/>
              </a:solidFill>
              <a:latin typeface="+mn-lt"/>
              <a:ea typeface="+mn-ea"/>
              <a:cs typeface="+mn-cs"/>
            </a:endParaRPr>
          </a:p>
          <a:p>
            <a:pPr>
              <a:buFont typeface="Arial" pitchFamily="34" charset="0"/>
              <a:buChar char="•"/>
            </a:pPr>
            <a:r>
              <a:rPr lang="en-US" sz="1200" kern="1200" baseline="0" dirty="0" smtClean="0">
                <a:solidFill>
                  <a:schemeClr val="tx1"/>
                </a:solidFill>
                <a:latin typeface="+mn-lt"/>
                <a:ea typeface="+mn-ea"/>
                <a:cs typeface="+mn-cs"/>
              </a:rPr>
              <a:t> Shops </a:t>
            </a:r>
            <a:r>
              <a:rPr lang="en-US" sz="1200" kern="1200" dirty="0" smtClean="0">
                <a:solidFill>
                  <a:schemeClr val="tx1"/>
                </a:solidFill>
                <a:latin typeface="+mn-lt"/>
                <a:ea typeface="+mn-ea"/>
                <a:cs typeface="+mn-cs"/>
              </a:rPr>
              <a:t>for which the local area is famous. For example, some destinations are famous for jewellery, some for electronic goods and others for clothing</a:t>
            </a:r>
            <a:r>
              <a:rPr lang="en-US" sz="1200" kern="1200" baseline="0" dirty="0" smtClean="0">
                <a:solidFill>
                  <a:schemeClr val="tx1"/>
                </a:solidFill>
                <a:latin typeface="+mn-lt"/>
                <a:ea typeface="+mn-ea"/>
                <a:cs typeface="+mn-cs"/>
              </a:rPr>
              <a:t> and </a:t>
            </a:r>
            <a:r>
              <a:rPr lang="en-US" sz="1200" kern="1200" dirty="0" smtClean="0">
                <a:solidFill>
                  <a:schemeClr val="tx1"/>
                </a:solidFill>
                <a:latin typeface="+mn-lt"/>
                <a:ea typeface="+mn-ea"/>
                <a:cs typeface="+mn-cs"/>
              </a:rPr>
              <a:t>fashion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Suppliers – food, beverages, other supplies, equipment</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Industry associations such as industry representative bodies and groups, and peak industry bodies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Government bodies such as liquor, gaming, food safety, occupational health and safety, and tobacco agencies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Venues.</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hese should be properties similar to the workplace to enable comparisons with what similar venues</a:t>
            </a:r>
            <a:r>
              <a:rPr lang="en-US" sz="1200" kern="1200" baseline="0" dirty="0" smtClean="0">
                <a:solidFill>
                  <a:schemeClr val="tx1"/>
                </a:solidFill>
                <a:latin typeface="+mn-lt"/>
                <a:ea typeface="+mn-ea"/>
                <a:cs typeface="+mn-cs"/>
              </a:rPr>
              <a:t> do</a:t>
            </a:r>
            <a:r>
              <a:rPr lang="en-US" sz="1200" kern="1200" dirty="0" smtClean="0">
                <a:solidFill>
                  <a:schemeClr val="tx1"/>
                </a:solidFill>
                <a:latin typeface="+mn-lt"/>
                <a:ea typeface="+mn-ea"/>
                <a:cs typeface="+mn-cs"/>
              </a:rPr>
              <a:t>.</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latin typeface="+mn-lt"/>
                <a:ea typeface="+mn-ea"/>
                <a:cs typeface="+mn-cs"/>
              </a:rPr>
              <a:t> Attractions – the natural and man-made attractions in the local area.</a:t>
            </a:r>
            <a:endParaRPr lang="en-AU"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None/>
            </a:pPr>
            <a:r>
              <a:rPr lang="en-US" b="1" dirty="0" smtClean="0"/>
              <a:t>Classroom Activity – Internet</a:t>
            </a:r>
            <a:r>
              <a:rPr lang="en-US" b="1" baseline="0" dirty="0" smtClean="0"/>
              <a:t> research</a:t>
            </a:r>
          </a:p>
          <a:p>
            <a:pPr>
              <a:buFont typeface="Arial" pitchFamily="34" charset="0"/>
              <a:buNone/>
            </a:pPr>
            <a:r>
              <a:rPr lang="en-US" b="0" baseline="0" dirty="0" smtClean="0"/>
              <a:t>Trainer arranges for trainees to have internet access and asks them to:</a:t>
            </a:r>
          </a:p>
          <a:p>
            <a:pPr>
              <a:buFont typeface="Arial" pitchFamily="34" charset="0"/>
              <a:buChar char="•"/>
            </a:pPr>
            <a:r>
              <a:rPr lang="en-US" b="0" baseline="0" dirty="0" smtClean="0"/>
              <a:t> Research their local area in relation to the categories presented on the slide</a:t>
            </a:r>
          </a:p>
          <a:p>
            <a:pPr>
              <a:buFont typeface="Arial" pitchFamily="34" charset="0"/>
              <a:buChar char="•"/>
            </a:pPr>
            <a:r>
              <a:rPr lang="en-US" b="0" baseline="0" dirty="0" smtClean="0"/>
              <a:t> Obtain downloads and hard copies of relevant information</a:t>
            </a:r>
          </a:p>
          <a:p>
            <a:pPr>
              <a:buFont typeface="Arial" pitchFamily="34" charset="0"/>
              <a:buChar char="•"/>
            </a:pPr>
            <a:r>
              <a:rPr lang="en-US" b="0" baseline="0" dirty="0" smtClean="0"/>
              <a:t> Create a list of useful and important websites for sharing and future reference</a:t>
            </a:r>
          </a:p>
          <a:p>
            <a:pPr>
              <a:buFont typeface="Arial" pitchFamily="34" charset="0"/>
              <a:buChar char="•"/>
            </a:pPr>
            <a:r>
              <a:rPr lang="en-US" b="0" baseline="0" dirty="0" smtClean="0"/>
              <a:t> Register to receive relevant newsletters and E-mags.</a:t>
            </a:r>
          </a:p>
          <a:p>
            <a:pPr>
              <a:buFont typeface="Arial" pitchFamily="34" charset="0"/>
              <a:buChar char="•"/>
            </a:pPr>
            <a:endParaRPr lang="en-US" b="0" baseline="0" dirty="0" smtClean="0"/>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34931458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that when using the Internet to develop their local knowledge they should be alert to the potential to:</a:t>
            </a:r>
          </a:p>
          <a:p>
            <a:pPr>
              <a:buFont typeface="Arial" pitchFamily="34" charset="0"/>
              <a:buChar char="•"/>
            </a:pPr>
            <a:r>
              <a:rPr lang="en-US" dirty="0" smtClean="0"/>
              <a:t> Register to receive regular</a:t>
            </a:r>
            <a:r>
              <a:rPr lang="en-US" baseline="0" dirty="0" smtClean="0"/>
              <a:t> or </a:t>
            </a:r>
            <a:r>
              <a:rPr lang="en-US" dirty="0" smtClean="0"/>
              <a:t>free newsletters, updates and alerts from relevant websites to assist in the development and updating of local knowledge and information</a:t>
            </a:r>
          </a:p>
          <a:p>
            <a:pPr>
              <a:buFont typeface="Arial" pitchFamily="34" charset="0"/>
              <a:buChar char="•"/>
            </a:pPr>
            <a:r>
              <a:rPr lang="en-US" dirty="0" smtClean="0"/>
              <a:t> Identify other web pages that may be useful depending on the type of venue</a:t>
            </a:r>
            <a:r>
              <a:rPr lang="en-US" baseline="0" dirty="0" smtClean="0"/>
              <a:t> and</a:t>
            </a:r>
            <a:r>
              <a:rPr lang="en-US" dirty="0" smtClean="0"/>
              <a:t> region  the trainees are working in.</a:t>
            </a:r>
          </a:p>
          <a:p>
            <a:pPr>
              <a:buFont typeface="Arial" pitchFamily="34" charset="0"/>
              <a:buNone/>
            </a:pPr>
            <a:endParaRPr lang="en-US" dirty="0" smtClean="0"/>
          </a:p>
          <a:p>
            <a:pPr>
              <a:buFont typeface="Arial" pitchFamily="34" charset="0"/>
              <a:buNone/>
            </a:pPr>
            <a:r>
              <a:rPr lang="en-US" b="1" dirty="0" smtClean="0"/>
              <a:t>Classroom Activity – Internet Exercise</a:t>
            </a:r>
          </a:p>
          <a:p>
            <a:pPr>
              <a:buFont typeface="Arial" pitchFamily="34" charset="0"/>
              <a:buNone/>
            </a:pPr>
            <a:r>
              <a:rPr lang="en-US" b="0" dirty="0" smtClean="0"/>
              <a:t>Trainer</a:t>
            </a:r>
            <a:r>
              <a:rPr lang="en-US" b="0" baseline="0" dirty="0" smtClean="0"/>
              <a:t> arranges for trainees to have internet access and asks trainees to: </a:t>
            </a:r>
          </a:p>
          <a:p>
            <a:pPr>
              <a:buFont typeface="Arial" pitchFamily="34" charset="0"/>
              <a:buChar char="•"/>
            </a:pPr>
            <a:r>
              <a:rPr lang="en-US" b="0" baseline="0" dirty="0" smtClean="0"/>
              <a:t> Visit and report back on relevant online newsletters as identified by the trainer for the country in which they are teaching</a:t>
            </a:r>
          </a:p>
          <a:p>
            <a:pPr>
              <a:buFont typeface="Arial" pitchFamily="34" charset="0"/>
              <a:buChar char="•"/>
            </a:pPr>
            <a:r>
              <a:rPr lang="en-US" b="0" baseline="0" dirty="0" smtClean="0"/>
              <a:t> Visit and register for newsletters at:</a:t>
            </a:r>
          </a:p>
          <a:p>
            <a:pPr lvl="1">
              <a:buFont typeface="Arial" pitchFamily="34" charset="0"/>
              <a:buChar char="•"/>
            </a:pPr>
            <a:r>
              <a:rPr lang="en-US" sz="1200" u="sng" kern="1200" dirty="0" smtClean="0">
                <a:solidFill>
                  <a:schemeClr val="tx1"/>
                </a:solidFill>
                <a:latin typeface="+mn-lt"/>
                <a:ea typeface="+mn-ea"/>
                <a:cs typeface="+mn-cs"/>
                <a:hlinkClick r:id="rId3"/>
              </a:rPr>
              <a:t> http://www.thetravelmagazine.net/cy-4-86--east-southeast-asia--singapore.html</a:t>
            </a:r>
            <a:endParaRPr lang="en-AU" sz="1200" kern="1200" dirty="0" smtClean="0">
              <a:solidFill>
                <a:schemeClr val="tx1"/>
              </a:solidFill>
              <a:latin typeface="+mn-lt"/>
              <a:ea typeface="+mn-ea"/>
              <a:cs typeface="+mn-cs"/>
            </a:endParaRPr>
          </a:p>
          <a:p>
            <a:pPr lvl="1">
              <a:buFont typeface="Arial" pitchFamily="34" charset="0"/>
              <a:buChar char="•"/>
            </a:pPr>
            <a:r>
              <a:rPr lang="en-US" sz="1200" u="sng" kern="1200" dirty="0" smtClean="0">
                <a:solidFill>
                  <a:schemeClr val="tx1"/>
                </a:solidFill>
                <a:latin typeface="+mn-lt"/>
                <a:ea typeface="+mn-ea"/>
                <a:cs typeface="+mn-cs"/>
                <a:hlinkClick r:id="rId4"/>
              </a:rPr>
              <a:t> https://app.stb.gov.sg/asp/index.asp</a:t>
            </a:r>
            <a:endParaRPr lang="en-AU" sz="1200" kern="1200" dirty="0" smtClean="0">
              <a:solidFill>
                <a:schemeClr val="tx1"/>
              </a:solidFill>
              <a:latin typeface="+mn-lt"/>
              <a:ea typeface="+mn-ea"/>
              <a:cs typeface="+mn-cs"/>
            </a:endParaRPr>
          </a:p>
          <a:p>
            <a:pPr lvl="1">
              <a:buFont typeface="Arial" pitchFamily="34" charset="0"/>
              <a:buChar char="•"/>
            </a:pPr>
            <a:r>
              <a:rPr lang="en-US" sz="1200" u="sng" kern="1200" dirty="0" smtClean="0">
                <a:solidFill>
                  <a:schemeClr val="tx1"/>
                </a:solidFill>
                <a:latin typeface="+mn-lt"/>
                <a:ea typeface="+mn-ea"/>
                <a:cs typeface="+mn-cs"/>
                <a:hlinkClick r:id="rId5"/>
              </a:rPr>
              <a:t> http://www.filipinotravel.com.ph/corporate/newsletter.php</a:t>
            </a:r>
            <a:endParaRPr lang="en-AU" sz="1200" kern="1200" dirty="0" smtClean="0">
              <a:solidFill>
                <a:schemeClr val="tx1"/>
              </a:solidFill>
              <a:latin typeface="+mn-lt"/>
              <a:ea typeface="+mn-ea"/>
              <a:cs typeface="+mn-cs"/>
            </a:endParaRPr>
          </a:p>
          <a:p>
            <a:pPr lvl="1">
              <a:buFont typeface="Arial" pitchFamily="34" charset="0"/>
              <a:buChar char="•"/>
            </a:pPr>
            <a:r>
              <a:rPr lang="en-US" sz="1200" u="sng" kern="1200" dirty="0" smtClean="0">
                <a:solidFill>
                  <a:schemeClr val="tx1"/>
                </a:solidFill>
                <a:latin typeface="+mn-lt"/>
                <a:ea typeface="+mn-ea"/>
                <a:cs typeface="+mn-cs"/>
                <a:hlinkClick r:id="rId6"/>
              </a:rPr>
              <a:t> http://www.traveldojo.com/brunei/</a:t>
            </a:r>
            <a:endParaRPr lang="en-AU" sz="1200" kern="1200" dirty="0" smtClean="0">
              <a:solidFill>
                <a:schemeClr val="tx1"/>
              </a:solidFill>
              <a:latin typeface="+mn-lt"/>
              <a:ea typeface="+mn-ea"/>
              <a:cs typeface="+mn-cs"/>
            </a:endParaRPr>
          </a:p>
          <a:p>
            <a:pPr lvl="1">
              <a:buFont typeface="Arial" pitchFamily="34" charset="0"/>
              <a:buChar char="•"/>
            </a:pPr>
            <a:r>
              <a:rPr lang="en-US" sz="1200" u="sng" kern="1200" dirty="0" smtClean="0">
                <a:solidFill>
                  <a:schemeClr val="tx1"/>
                </a:solidFill>
                <a:latin typeface="+mn-lt"/>
                <a:ea typeface="+mn-ea"/>
                <a:cs typeface="+mn-cs"/>
                <a:hlinkClick r:id="rId7"/>
              </a:rPr>
              <a:t> http://www.indochinatravelservice.com/newsletter/</a:t>
            </a:r>
            <a:r>
              <a:rPr lang="en-US" sz="1200" u="sng" kern="1200" dirty="0" smtClean="0">
                <a:solidFill>
                  <a:schemeClr val="tx1"/>
                </a:solidFill>
                <a:latin typeface="+mn-lt"/>
                <a:ea typeface="+mn-ea"/>
                <a:cs typeface="+mn-cs"/>
              </a:rPr>
              <a:t>.</a:t>
            </a:r>
            <a:endParaRPr lang="en-AU" sz="1200" kern="1200" dirty="0" smtClean="0">
              <a:solidFill>
                <a:schemeClr val="tx1"/>
              </a:solidFill>
              <a:latin typeface="+mn-lt"/>
              <a:ea typeface="+mn-ea"/>
              <a:cs typeface="+mn-cs"/>
            </a:endParaRPr>
          </a:p>
          <a:p>
            <a:pPr>
              <a:buFont typeface="Arial" pitchFamily="34" charset="0"/>
              <a:buChar char="•"/>
            </a:pPr>
            <a:endParaRPr lang="en-US" b="0" dirty="0" smtClean="0"/>
          </a:p>
          <a:p>
            <a:pPr>
              <a:buFont typeface="Arial" pitchFamily="34" charset="0"/>
              <a:buNone/>
            </a:pPr>
            <a:endParaRPr lang="en-US" dirty="0" smtClean="0"/>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15379373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latin typeface="+mn-lt"/>
                <a:ea typeface="+mn-ea"/>
                <a:cs typeface="+mn-cs"/>
              </a:rPr>
              <a:t>Trainer states that many regions</a:t>
            </a:r>
            <a:r>
              <a:rPr lang="en-US" sz="1200" kern="1200" baseline="0" dirty="0" smtClean="0">
                <a:solidFill>
                  <a:schemeClr val="tx1"/>
                </a:solidFill>
                <a:latin typeface="+mn-lt"/>
                <a:ea typeface="+mn-ea"/>
                <a:cs typeface="+mn-cs"/>
              </a:rPr>
              <a:t> and</a:t>
            </a:r>
            <a:r>
              <a:rPr lang="en-US" sz="1200" kern="1200" dirty="0" smtClean="0">
                <a:solidFill>
                  <a:schemeClr val="tx1"/>
                </a:solidFill>
                <a:latin typeface="+mn-lt"/>
                <a:ea typeface="+mn-ea"/>
                <a:cs typeface="+mn-cs"/>
              </a:rPr>
              <a:t> towns  have established a ‘tourism’ association and/or local Chamber of Commerce</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or similar, identifying that these can be invaluable in terms of:</a:t>
            </a:r>
          </a:p>
          <a:p>
            <a:pPr>
              <a:buFont typeface="Arial" pitchFamily="34" charset="0"/>
              <a:buChar char="•"/>
            </a:pPr>
            <a:r>
              <a:rPr lang="en-US" sz="1200" kern="1200" dirty="0" smtClean="0">
                <a:solidFill>
                  <a:schemeClr val="tx1"/>
                </a:solidFill>
                <a:latin typeface="+mn-lt"/>
                <a:ea typeface="+mn-ea"/>
                <a:cs typeface="+mn-cs"/>
              </a:rPr>
              <a:t> Providing contacts to use when developing individual industry network – more on next slide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Supplying information about local businesses and the products and services they provide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Bringing local businesses together in a supportive and mutually beneficial environment.</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Class Activity – Guest Speaker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dirty="0" smtClean="0">
                <a:solidFill>
                  <a:schemeClr val="tx1"/>
                </a:solidFill>
                <a:latin typeface="+mn-lt"/>
                <a:ea typeface="+mn-ea"/>
                <a:cs typeface="+mn-cs"/>
              </a:rPr>
              <a:t>Trainer arranges for a representative from a local association/group to visit and talk to trainees about: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The role of the association in the local community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Members of the association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Costs involved in joining</a:t>
            </a:r>
            <a:r>
              <a:rPr lang="en-AU" sz="1200" b="0" kern="1200" baseline="0" dirty="0" smtClean="0">
                <a:solidFill>
                  <a:schemeClr val="tx1"/>
                </a:solidFill>
                <a:latin typeface="+mn-lt"/>
                <a:ea typeface="+mn-ea"/>
                <a:cs typeface="+mn-cs"/>
              </a:rPr>
              <a:t> and </a:t>
            </a:r>
            <a:r>
              <a:rPr lang="en-AU" sz="1200" b="0" kern="1200" dirty="0" smtClean="0">
                <a:solidFill>
                  <a:schemeClr val="tx1"/>
                </a:solidFill>
                <a:latin typeface="+mn-lt"/>
                <a:ea typeface="+mn-ea"/>
                <a:cs typeface="+mn-cs"/>
              </a:rPr>
              <a:t>being a member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Benefits they have brought to the local community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Examples of work they have done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When and where they meet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Why tourism businesses should join and be part of the group</a:t>
            </a:r>
            <a:r>
              <a:rPr lang="en-AU" sz="1200" b="0" kern="1200" baseline="0" dirty="0" smtClean="0">
                <a:solidFill>
                  <a:schemeClr val="tx1"/>
                </a:solidFill>
                <a:latin typeface="+mn-lt"/>
                <a:ea typeface="+mn-ea"/>
                <a:cs typeface="+mn-cs"/>
              </a:rPr>
              <a:t> or </a:t>
            </a:r>
            <a:r>
              <a:rPr lang="en-AU" sz="1200" b="0" kern="1200" dirty="0" smtClean="0">
                <a:solidFill>
                  <a:schemeClr val="tx1"/>
                </a:solidFill>
                <a:latin typeface="+mn-lt"/>
                <a:ea typeface="+mn-ea"/>
                <a:cs typeface="+mn-cs"/>
              </a:rPr>
              <a:t>association.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16138778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latin typeface="+mn-lt"/>
                <a:ea typeface="+mn-ea"/>
                <a:cs typeface="+mn-cs"/>
              </a:rPr>
              <a:t>Trainer tells trainees these associations will meet</a:t>
            </a:r>
            <a:r>
              <a:rPr lang="en-US" sz="1200" kern="1200" baseline="0" dirty="0" smtClean="0">
                <a:solidFill>
                  <a:schemeClr val="tx1"/>
                </a:solidFill>
                <a:latin typeface="+mn-lt"/>
                <a:ea typeface="+mn-ea"/>
                <a:cs typeface="+mn-cs"/>
              </a:rPr>
              <a:t> regularly </a:t>
            </a:r>
            <a:r>
              <a:rPr lang="en-US" sz="1200" kern="1200" dirty="0" smtClean="0">
                <a:solidFill>
                  <a:schemeClr val="tx1"/>
                </a:solidFill>
                <a:latin typeface="+mn-lt"/>
                <a:ea typeface="+mn-ea"/>
                <a:cs typeface="+mn-cs"/>
              </a:rPr>
              <a:t>and it is important for them</a:t>
            </a:r>
            <a:r>
              <a:rPr lang="en-US" sz="1200" kern="1200" baseline="0" dirty="0" smtClean="0">
                <a:solidFill>
                  <a:schemeClr val="tx1"/>
                </a:solidFill>
                <a:latin typeface="+mn-lt"/>
                <a:ea typeface="+mn-ea"/>
                <a:cs typeface="+mn-cs"/>
              </a:rPr>
              <a:t> as representatives of </a:t>
            </a:r>
            <a:r>
              <a:rPr lang="en-US" sz="1200" kern="1200" dirty="0" smtClean="0">
                <a:solidFill>
                  <a:schemeClr val="tx1"/>
                </a:solidFill>
                <a:latin typeface="+mn-lt"/>
                <a:ea typeface="+mn-ea"/>
                <a:cs typeface="+mn-cs"/>
              </a:rPr>
              <a:t>their venue to attend these meetings to:</a:t>
            </a:r>
          </a:p>
          <a:p>
            <a:pPr>
              <a:buFont typeface="Arial" pitchFamily="34" charset="0"/>
              <a:buChar char="•"/>
            </a:pPr>
            <a:r>
              <a:rPr lang="en-US" sz="1200" kern="1200" dirty="0" smtClean="0">
                <a:solidFill>
                  <a:schemeClr val="tx1"/>
                </a:solidFill>
                <a:latin typeface="+mn-lt"/>
                <a:ea typeface="+mn-ea"/>
                <a:cs typeface="+mn-cs"/>
              </a:rPr>
              <a:t> Meet like-minded people and demonstrate interest in the industry and the local area.</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hese people will also be the start of a network of professional industry contacts (as outlined in following slides)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Participate in discussions which will ultimately have some impact on their workplace, their job</a:t>
            </a:r>
            <a:r>
              <a:rPr lang="en-US" sz="1200" kern="1200" baseline="0" dirty="0" smtClean="0">
                <a:solidFill>
                  <a:schemeClr val="tx1"/>
                </a:solidFill>
                <a:latin typeface="+mn-lt"/>
                <a:ea typeface="+mn-ea"/>
                <a:cs typeface="+mn-cs"/>
              </a:rPr>
              <a:t> and</a:t>
            </a:r>
            <a:r>
              <a:rPr lang="en-US" sz="1200" kern="1200" dirty="0" smtClean="0">
                <a:solidFill>
                  <a:schemeClr val="tx1"/>
                </a:solidFill>
                <a:latin typeface="+mn-lt"/>
                <a:ea typeface="+mn-ea"/>
                <a:cs typeface="+mn-cs"/>
              </a:rPr>
              <a:t> visitors to the area</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Contribute ideas which will benefit their venue and the local area</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economy.</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Classroom Activity – Excursion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dirty="0" smtClean="0">
                <a:solidFill>
                  <a:schemeClr val="tx1"/>
                </a:solidFill>
                <a:latin typeface="+mn-lt"/>
                <a:ea typeface="+mn-ea"/>
                <a:cs typeface="+mn-cs"/>
              </a:rPr>
              <a:t>Trainer arranges for trainee group to attend as observers at a local association meeting to:</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Meet members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Listen to the discussions at meeting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Observe meeting protocols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Gain an insight into the operation of associations of this type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Meet people to include in their network of professional industry contacts.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1279920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dirty="0" smtClean="0">
                <a:solidFill>
                  <a:schemeClr val="tx1"/>
                </a:solidFill>
                <a:latin typeface="+mn-lt"/>
                <a:ea typeface="+mn-ea"/>
                <a:cs typeface="+mn-cs"/>
              </a:rPr>
              <a:t>Trainer explains to trainees that ‘Networking’ is a great way of learning about many industry-related topics.</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o develop a useful network of contacts they will need to make deliberate attempts to target and talk to people they respect within targeted aspects of the industry they work in.</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Trainer suggests they start creating a network of contacts as soon  as possible, including relationships (networks) with:</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Someone from one or more local tour business to enable identification of what is available regarding</a:t>
            </a:r>
            <a:r>
              <a:rPr lang="en-US" sz="1200" kern="1200" baseline="0" dirty="0" smtClean="0">
                <a:solidFill>
                  <a:schemeClr val="tx1"/>
                </a:solidFill>
                <a:latin typeface="+mn-lt"/>
                <a:ea typeface="+mn-ea"/>
                <a:cs typeface="+mn-cs"/>
              </a:rPr>
              <a:t> local tours e.g. new tours, changes to existing tours, new or different inclusions and prices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 person in an opposition venue in town to allow sharing concerns and information, and to learn from each other.</a:t>
            </a:r>
            <a:r>
              <a:rPr lang="en-US" sz="1200" kern="1200" baseline="0" dirty="0" smtClean="0">
                <a:solidFill>
                  <a:schemeClr val="tx1"/>
                </a:solidFill>
                <a:latin typeface="+mn-lt"/>
                <a:ea typeface="+mn-ea"/>
                <a:cs typeface="+mn-cs"/>
              </a:rPr>
              <a:t>  E</a:t>
            </a:r>
            <a:r>
              <a:rPr lang="en-US" sz="1200" kern="1200" dirty="0" smtClean="0">
                <a:solidFill>
                  <a:schemeClr val="tx1"/>
                </a:solidFill>
                <a:latin typeface="+mn-lt"/>
                <a:ea typeface="+mn-ea"/>
                <a:cs typeface="+mn-cs"/>
              </a:rPr>
              <a:t>ven though the business may be in direct competition with another venue, it is nonetheless advantageous to develop a good working relationship with the opposition.</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The manager of the Visitor Information Centre  in order to take advantage of the many tourism materials they have to offer</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Staff at local attractions to maintain</a:t>
            </a:r>
            <a:r>
              <a:rPr lang="en-US" sz="1200" kern="1200" baseline="0" dirty="0" smtClean="0">
                <a:solidFill>
                  <a:schemeClr val="tx1"/>
                </a:solidFill>
                <a:latin typeface="+mn-lt"/>
                <a:ea typeface="+mn-ea"/>
                <a:cs typeface="+mn-cs"/>
              </a:rPr>
              <a:t> currency of knowledge about what they have available, new items and inclusions, operating times, prices for entry, rides and package deals</a:t>
            </a:r>
            <a:endParaRPr lang="en-US"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Local associations – as identified on</a:t>
            </a:r>
            <a:r>
              <a:rPr lang="en-US" sz="1200" kern="1200" baseline="0" dirty="0" smtClean="0">
                <a:solidFill>
                  <a:schemeClr val="tx1"/>
                </a:solidFill>
                <a:latin typeface="+mn-lt"/>
                <a:ea typeface="+mn-ea"/>
                <a:cs typeface="+mn-cs"/>
              </a:rPr>
              <a:t> previous slide</a:t>
            </a:r>
            <a:r>
              <a:rPr lang="en-US" sz="1200" kern="1200" dirty="0" smtClean="0">
                <a:solidFill>
                  <a:schemeClr val="tx1"/>
                </a:solidFill>
                <a:latin typeface="+mn-lt"/>
                <a:ea typeface="+mn-ea"/>
                <a:cs typeface="+mn-cs"/>
              </a:rPr>
              <a:t>.</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pPr>
              <a:buFont typeface="Arial" pitchFamily="34" charset="0"/>
              <a:buNone/>
            </a:pPr>
            <a:r>
              <a:rPr lang="en-US" b="1" dirty="0" smtClean="0"/>
              <a:t>Class Activity – Group Discussion</a:t>
            </a:r>
          </a:p>
          <a:p>
            <a:pPr>
              <a:buFont typeface="Arial" pitchFamily="34" charset="0"/>
              <a:buNone/>
            </a:pPr>
            <a:r>
              <a:rPr lang="en-US" b="0" dirty="0" smtClean="0"/>
              <a:t>Trainer leads discussion asking trainees questions such as:</a:t>
            </a:r>
          </a:p>
          <a:p>
            <a:pPr>
              <a:buFont typeface="Arial" pitchFamily="34" charset="0"/>
              <a:buChar char="•"/>
            </a:pPr>
            <a:r>
              <a:rPr lang="en-US" b="0" dirty="0" smtClean="0"/>
              <a:t> Who might you include in your industry network of contacts?</a:t>
            </a:r>
          </a:p>
          <a:p>
            <a:pPr>
              <a:buFont typeface="Arial" pitchFamily="34" charset="0"/>
              <a:buChar char="•"/>
            </a:pPr>
            <a:r>
              <a:rPr lang="en-US" b="0" dirty="0" smtClean="0"/>
              <a:t> Why would you include these people?</a:t>
            </a:r>
          </a:p>
          <a:p>
            <a:pPr>
              <a:buFont typeface="Arial" pitchFamily="34" charset="0"/>
              <a:buChar char="•"/>
            </a:pPr>
            <a:r>
              <a:rPr lang="en-US" b="0" dirty="0" smtClean="0"/>
              <a:t> How would you go about establishing the contact?</a:t>
            </a:r>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8550488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Trainer emphasises to trainees they have to make the effort to create</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and maintain</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their network. </a:t>
            </a:r>
            <a:r>
              <a:rPr lang="en-US" sz="1200" kern="1200" baseline="0" dirty="0" smtClean="0">
                <a:solidFill>
                  <a:schemeClr val="tx1"/>
                </a:solidFill>
                <a:latin typeface="+mn-lt"/>
                <a:ea typeface="+mn-ea"/>
                <a:cs typeface="+mn-cs"/>
              </a:rPr>
              <a:t>T</a:t>
            </a:r>
            <a:r>
              <a:rPr lang="en-US" sz="1200" kern="1200" dirty="0" smtClean="0">
                <a:solidFill>
                  <a:schemeClr val="tx1"/>
                </a:solidFill>
                <a:latin typeface="+mn-lt"/>
                <a:ea typeface="+mn-ea"/>
                <a:cs typeface="+mn-cs"/>
              </a:rPr>
              <a:t>hey cannot rely on others contacting them and initiating the contact. </a:t>
            </a:r>
            <a:endParaRPr lang="en-AU"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Trainer also highlights that,</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after they have made initial contact with these people, they must keep in contact with them: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They need to contact their network when </a:t>
            </a:r>
            <a:r>
              <a:rPr lang="en-US" sz="1200" i="1" kern="1200" dirty="0" smtClean="0">
                <a:solidFill>
                  <a:schemeClr val="tx1"/>
                </a:solidFill>
                <a:latin typeface="+mn-lt"/>
                <a:ea typeface="+mn-ea"/>
                <a:cs typeface="+mn-cs"/>
              </a:rPr>
              <a:t>they </a:t>
            </a:r>
            <a:r>
              <a:rPr lang="en-US" sz="1200" kern="1200" dirty="0" smtClean="0">
                <a:solidFill>
                  <a:schemeClr val="tx1"/>
                </a:solidFill>
                <a:latin typeface="+mn-lt"/>
                <a:ea typeface="+mn-ea"/>
                <a:cs typeface="+mn-cs"/>
              </a:rPr>
              <a:t>find out something they think their network  might like to know.</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his highlights the two-way nature of the concept of networking</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They need to occasionally contact them just to ‘stay in touch’ even when there is nothing specific to pass on to them.</a:t>
            </a:r>
            <a:r>
              <a:rPr lang="en-US" sz="1200" kern="1200" baseline="0" dirty="0" smtClean="0">
                <a:solidFill>
                  <a:schemeClr val="tx1"/>
                </a:solidFill>
                <a:latin typeface="+mn-lt"/>
                <a:ea typeface="+mn-ea"/>
                <a:cs typeface="+mn-cs"/>
              </a:rPr>
              <a:t> O</a:t>
            </a:r>
            <a:r>
              <a:rPr lang="en-US" sz="1200" kern="1200" dirty="0" smtClean="0">
                <a:solidFill>
                  <a:schemeClr val="tx1"/>
                </a:solidFill>
                <a:latin typeface="+mn-lt"/>
                <a:ea typeface="+mn-ea"/>
                <a:cs typeface="+mn-cs"/>
              </a:rPr>
              <a:t>ften they remember something they need to say when contact is made with them and a call to them demonstrates the value placed on them as a network member.</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37196404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buFont typeface="Arial" pitchFamily="34" charset="0"/>
              <a:buNone/>
            </a:pPr>
            <a:r>
              <a:rPr lang="en-US" dirty="0" smtClean="0"/>
              <a:t>Trainer reinforces to trainees the need for them to be proactive in capturing necessary local or national information to assist visitors.</a:t>
            </a:r>
          </a:p>
          <a:p>
            <a:pPr>
              <a:buFont typeface="Arial" pitchFamily="34" charset="0"/>
              <a:buNone/>
            </a:pPr>
            <a:endParaRPr lang="en-US" dirty="0" smtClean="0"/>
          </a:p>
          <a:p>
            <a:r>
              <a:rPr lang="en-US" dirty="0" smtClean="0"/>
              <a:t>Trainer informs trainees </a:t>
            </a:r>
            <a:r>
              <a:rPr lang="en-US" b="1" dirty="0" smtClean="0"/>
              <a:t>o</a:t>
            </a:r>
            <a:r>
              <a:rPr lang="en-US" sz="1200" b="1" kern="1200" dirty="0" smtClean="0">
                <a:solidFill>
                  <a:schemeClr val="tx1"/>
                </a:solidFill>
                <a:latin typeface="+mn-lt"/>
                <a:ea typeface="+mn-ea"/>
                <a:cs typeface="+mn-cs"/>
              </a:rPr>
              <a:t>btaining </a:t>
            </a:r>
            <a:r>
              <a:rPr lang="en-US" sz="1200" kern="1200" dirty="0" smtClean="0">
                <a:solidFill>
                  <a:schemeClr val="tx1"/>
                </a:solidFill>
                <a:latin typeface="+mn-lt"/>
                <a:ea typeface="+mn-ea"/>
                <a:cs typeface="+mn-cs"/>
              </a:rPr>
              <a:t>the information they need is a matter of applying themselves to the sources identified previously, which in practice can mean:</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Subscribing to, and reading, industry magazines, newsletters, updates, fact sheets, reports, research findings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Reading through local and city newspapers especially those sections carrying articles</a:t>
            </a:r>
            <a:r>
              <a:rPr lang="en-US" sz="1200" kern="1200" baseline="0" dirty="0" smtClean="0">
                <a:solidFill>
                  <a:schemeClr val="tx1"/>
                </a:solidFill>
                <a:latin typeface="+mn-lt"/>
                <a:ea typeface="+mn-ea"/>
                <a:cs typeface="+mn-cs"/>
              </a:rPr>
              <a:t> and f</a:t>
            </a:r>
            <a:r>
              <a:rPr lang="en-US" sz="1200" kern="1200" dirty="0" smtClean="0">
                <a:solidFill>
                  <a:schemeClr val="tx1"/>
                </a:solidFill>
                <a:latin typeface="+mn-lt"/>
                <a:ea typeface="+mn-ea"/>
                <a:cs typeface="+mn-cs"/>
              </a:rPr>
              <a:t>eatures on hospitality, travel and tourism, events, festivals, attractions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Visiting the Visitor Information Centre and meeting the manager/staff and collecting brochures and advertising material. Obtain multiple copies of brochures to place them in display area (at reception, concierge, the foyer area) so they can be given to visitors and guests.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Surfing the internet: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Viewing websites/pages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Downloading, saving, bookmaking or printing relevant information</a:t>
            </a:r>
            <a:r>
              <a:rPr lang="en-US" sz="1200" kern="1200" baseline="0" dirty="0" smtClean="0">
                <a:solidFill>
                  <a:schemeClr val="tx1"/>
                </a:solidFill>
                <a:latin typeface="+mn-lt"/>
                <a:ea typeface="+mn-ea"/>
                <a:cs typeface="+mn-cs"/>
              </a:rPr>
              <a:t> and </a:t>
            </a:r>
            <a:r>
              <a:rPr lang="en-US" sz="1200" kern="1200" dirty="0" smtClean="0">
                <a:solidFill>
                  <a:schemeClr val="tx1"/>
                </a:solidFill>
                <a:latin typeface="+mn-lt"/>
                <a:ea typeface="+mn-ea"/>
                <a:cs typeface="+mn-cs"/>
              </a:rPr>
              <a:t>sites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Registering on e-mail lists to receive newsletters and updates from relevant industry government agencies, suppliers and/or support services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Downloading E-Mags relevant to industry sector.</a:t>
            </a:r>
            <a:r>
              <a:rPr lang="en-US" sz="1200" kern="1200" baseline="0" dirty="0" smtClean="0">
                <a:solidFill>
                  <a:schemeClr val="tx1"/>
                </a:solidFill>
                <a:latin typeface="+mn-lt"/>
                <a:ea typeface="+mn-ea"/>
                <a:cs typeface="+mn-cs"/>
              </a:rPr>
              <a:t> M</a:t>
            </a:r>
            <a:r>
              <a:rPr lang="en-US" sz="1200" kern="1200" dirty="0" smtClean="0">
                <a:solidFill>
                  <a:schemeClr val="tx1"/>
                </a:solidFill>
                <a:latin typeface="+mn-lt"/>
                <a:ea typeface="+mn-ea"/>
                <a:cs typeface="+mn-cs"/>
              </a:rPr>
              <a:t>any of these are free-of-charge but some require payment</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Joining your local industry association and taking an active interest in the issues foremost in their minds by participating in discussions, meetings, research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Reading books.</a:t>
            </a:r>
            <a:r>
              <a:rPr lang="en-US" sz="1200" kern="1200" baseline="0" dirty="0" smtClean="0">
                <a:solidFill>
                  <a:schemeClr val="tx1"/>
                </a:solidFill>
                <a:latin typeface="+mn-lt"/>
                <a:ea typeface="+mn-ea"/>
                <a:cs typeface="+mn-cs"/>
              </a:rPr>
              <a:t> A</a:t>
            </a:r>
            <a:r>
              <a:rPr lang="en-US" sz="1200" kern="1200" dirty="0" smtClean="0">
                <a:solidFill>
                  <a:schemeClr val="tx1"/>
                </a:solidFill>
                <a:latin typeface="+mn-lt"/>
                <a:ea typeface="+mn-ea"/>
                <a:cs typeface="+mn-cs"/>
              </a:rPr>
              <a:t>im to read widely and include local, regional and national books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Being a tourist in the local area.</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his involves getting out and having a look around to see what is happening, what people are doing, what the competition is doing, and what people are saying.</a:t>
            </a:r>
          </a:p>
          <a:p>
            <a:pPr>
              <a:buFont typeface="Arial" pitchFamily="34" charset="0"/>
              <a:buChar char="•"/>
            </a:pPr>
            <a:endParaRPr lang="en-US" sz="1200" kern="1200" dirty="0" smtClean="0">
              <a:solidFill>
                <a:schemeClr val="tx1"/>
              </a:solidFill>
              <a:latin typeface="+mn-lt"/>
              <a:ea typeface="+mn-ea"/>
              <a:cs typeface="+mn-cs"/>
            </a:endParaRPr>
          </a:p>
          <a:p>
            <a:pPr>
              <a:buFont typeface="Arial" pitchFamily="34" charset="0"/>
              <a:buNone/>
            </a:pPr>
            <a:r>
              <a:rPr lang="en-US" sz="1200" b="1" kern="1200" dirty="0" smtClean="0">
                <a:solidFill>
                  <a:schemeClr val="tx1"/>
                </a:solidFill>
                <a:latin typeface="+mn-lt"/>
                <a:ea typeface="+mn-ea"/>
                <a:cs typeface="+mn-cs"/>
              </a:rPr>
              <a:t>Class Activity – Major Excursion</a:t>
            </a:r>
          </a:p>
          <a:p>
            <a:pPr>
              <a:buFont typeface="Arial" pitchFamily="34" charset="0"/>
              <a:buNone/>
            </a:pPr>
            <a:r>
              <a:rPr lang="en-US" sz="1200" b="0" kern="1200" dirty="0" smtClean="0">
                <a:solidFill>
                  <a:schemeClr val="tx1"/>
                </a:solidFill>
                <a:latin typeface="+mn-lt"/>
                <a:ea typeface="+mn-ea"/>
                <a:cs typeface="+mn-cs"/>
              </a:rPr>
              <a:t>Trainer arranges for trainees to be a tourist in their own area and:</a:t>
            </a:r>
          </a:p>
          <a:p>
            <a:pPr>
              <a:buFont typeface="Arial" pitchFamily="34" charset="0"/>
              <a:buChar char="•"/>
            </a:pPr>
            <a:r>
              <a:rPr lang="en-US" sz="1200" b="0" kern="1200" dirty="0" smtClean="0">
                <a:solidFill>
                  <a:schemeClr val="tx1"/>
                </a:solidFill>
                <a:latin typeface="+mn-lt"/>
                <a:ea typeface="+mn-ea"/>
                <a:cs typeface="+mn-cs"/>
              </a:rPr>
              <a:t> Visit local tourist attractions, landmarks and places of interest  as if they were a tourist/visitor to the area</a:t>
            </a:r>
          </a:p>
          <a:p>
            <a:pPr>
              <a:buFont typeface="Arial" pitchFamily="34" charset="0"/>
              <a:buChar char="•"/>
            </a:pPr>
            <a:r>
              <a:rPr lang="en-US" sz="1200" b="0" kern="1200" dirty="0" smtClean="0">
                <a:solidFill>
                  <a:schemeClr val="tx1"/>
                </a:solidFill>
                <a:latin typeface="+mn-lt"/>
                <a:ea typeface="+mn-ea"/>
                <a:cs typeface="+mn-cs"/>
              </a:rPr>
              <a:t> Take notes of local information they obtain</a:t>
            </a:r>
          </a:p>
          <a:p>
            <a:pPr>
              <a:buFont typeface="Arial" pitchFamily="34" charset="0"/>
              <a:buChar char="•"/>
            </a:pPr>
            <a:r>
              <a:rPr lang="en-US" sz="1200" b="0" kern="1200" dirty="0" smtClean="0">
                <a:solidFill>
                  <a:schemeClr val="tx1"/>
                </a:solidFill>
                <a:latin typeface="+mn-lt"/>
                <a:ea typeface="+mn-ea"/>
                <a:cs typeface="+mn-cs"/>
              </a:rPr>
              <a:t> Capture brochures,</a:t>
            </a:r>
            <a:r>
              <a:rPr lang="en-US" sz="1200" b="0" kern="1200" baseline="0" dirty="0" smtClean="0">
                <a:solidFill>
                  <a:schemeClr val="tx1"/>
                </a:solidFill>
                <a:latin typeface="+mn-lt"/>
                <a:ea typeface="+mn-ea"/>
                <a:cs typeface="+mn-cs"/>
              </a:rPr>
              <a:t> </a:t>
            </a:r>
            <a:r>
              <a:rPr lang="en-US" sz="1200" b="0" kern="1200" dirty="0" smtClean="0">
                <a:solidFill>
                  <a:schemeClr val="tx1"/>
                </a:solidFill>
                <a:latin typeface="+mn-lt"/>
                <a:ea typeface="+mn-ea"/>
                <a:cs typeface="+mn-cs"/>
              </a:rPr>
              <a:t>printed advertising and other relevant materials (price lists, schedules)</a:t>
            </a:r>
          </a:p>
          <a:p>
            <a:pPr>
              <a:buFont typeface="Arial" pitchFamily="34" charset="0"/>
              <a:buChar char="•"/>
            </a:pPr>
            <a:r>
              <a:rPr lang="en-US" sz="1200" b="0" kern="1200" dirty="0" smtClean="0">
                <a:solidFill>
                  <a:schemeClr val="tx1"/>
                </a:solidFill>
                <a:latin typeface="+mn-lt"/>
                <a:ea typeface="+mn-ea"/>
                <a:cs typeface="+mn-cs"/>
              </a:rPr>
              <a:t> Talk to operators to grow their network of contacts</a:t>
            </a:r>
          </a:p>
          <a:p>
            <a:pPr>
              <a:buFont typeface="Arial" pitchFamily="34" charset="0"/>
              <a:buChar char="•"/>
            </a:pPr>
            <a:r>
              <a:rPr lang="en-US" sz="1200" b="0" kern="1200" dirty="0" smtClean="0">
                <a:solidFill>
                  <a:schemeClr val="tx1"/>
                </a:solidFill>
                <a:latin typeface="+mn-lt"/>
                <a:ea typeface="+mn-ea"/>
                <a:cs typeface="+mn-cs"/>
              </a:rPr>
              <a:t> Experience as many local tourist attractions  as possible to gain first-hand knowledge and experience to serve as the basis for providing local information to visitors.</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14429433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latin typeface="+mn-lt"/>
                <a:ea typeface="+mn-ea"/>
                <a:cs typeface="+mn-cs"/>
              </a:rPr>
              <a:t>Trainer advises trainees when identifying and obtaining information, effort must be taken to capture knowledge about the following ‘general industry information’ topics: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Numbers of inbound tourists and any trends (such as, for example, whether numbers are increasing or decreasing and to what extent)</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Reasons for their visits – business, visiting relatives, tourism</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Amount spent on a per head and per night basis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Countries of origin determining the 10 most popular countries from which overseas visitors/tourists come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Most popular times of the year for travel highlighting festivals, religious events, holiday periods, seasonal influences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Method of travel identifying the percentages who travel by air, road, train, sea  to come to the country.</a:t>
            </a:r>
            <a:endParaRPr lang="en-AU" sz="1200" kern="1200" dirty="0" smtClean="0">
              <a:solidFill>
                <a:schemeClr val="tx1"/>
              </a:solidFill>
              <a:latin typeface="+mn-lt"/>
              <a:ea typeface="+mn-ea"/>
              <a:cs typeface="+mn-cs"/>
            </a:endParaRPr>
          </a:p>
          <a:p>
            <a:pPr>
              <a:buFont typeface="Arial" pitchFamily="34" charset="0"/>
              <a:buNone/>
            </a:pPr>
            <a:endParaRPr kumimoji="0" lang="en-US" sz="24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23621482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buFont typeface="Arial" pitchFamily="34" charset="0"/>
              <a:buNone/>
            </a:pPr>
            <a:r>
              <a:rPr lang="en-US" dirty="0" smtClean="0"/>
              <a:t>Trainer recommends to trainees that in relation to local destinations, facilities and infrastructure they</a:t>
            </a:r>
            <a:r>
              <a:rPr lang="en-US" baseline="0" dirty="0" smtClean="0"/>
              <a:t> </a:t>
            </a:r>
            <a:r>
              <a:rPr lang="en-US" dirty="0" smtClean="0"/>
              <a:t>obtain information including:</a:t>
            </a:r>
          </a:p>
          <a:p>
            <a:pPr>
              <a:buFont typeface="Arial" pitchFamily="34" charset="0"/>
              <a:buChar char="•"/>
            </a:pPr>
            <a:r>
              <a:rPr lang="en-US" sz="1200" kern="1200" dirty="0" smtClean="0">
                <a:solidFill>
                  <a:schemeClr val="tx1"/>
                </a:solidFill>
                <a:latin typeface="+mn-lt"/>
                <a:ea typeface="+mn-ea"/>
                <a:cs typeface="+mn-cs"/>
              </a:rPr>
              <a:t> Identification of local tourism destinations such as towns, villages, lakes, rivers tourists could be expected to visit. Within these destinations there may be ‘attractions’ (discussed on later slides). For local destinations they need to determine: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Route to the destination including options, where applicable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Distance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Opening hours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Cost,</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if any, to visit</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Identification of local facilities for tourists such as toilets, medical facilities,</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hospitals, baby changing facilities, disabled facilities, Visitor Information Centres, money exchanges, police stations, embassies. For local facilities they need to determine: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Locations and routes from the workplace to them</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Time to travel</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Opening times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Fees charged, where applicable, for services rendered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Contact details including telephone number, website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Identification of local infrastructure supporting tourism such as local rail services, transportation terminals, ferry services, buses, taxis, domestic airlines and/or charter services. In some cases transport infrastructure can extend into an ‘attraction’ or ‘service’ in its own right. For example, tourists may visit an area purposely to experience: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Hot air balloon travel,</a:t>
            </a:r>
            <a:r>
              <a:rPr lang="en-US" sz="1200" kern="1200" baseline="0" dirty="0" smtClean="0">
                <a:solidFill>
                  <a:schemeClr val="tx1"/>
                </a:solidFill>
                <a:latin typeface="+mn-lt"/>
                <a:ea typeface="+mn-ea"/>
                <a:cs typeface="+mn-cs"/>
              </a:rPr>
              <a:t> e</a:t>
            </a:r>
            <a:r>
              <a:rPr lang="en-US" sz="1200" kern="1200" dirty="0" smtClean="0">
                <a:solidFill>
                  <a:schemeClr val="tx1"/>
                </a:solidFill>
                <a:latin typeface="+mn-lt"/>
                <a:ea typeface="+mn-ea"/>
                <a:cs typeface="+mn-cs"/>
              </a:rPr>
              <a:t>lephant or camel rides, houseboats,</a:t>
            </a:r>
            <a:r>
              <a:rPr lang="en-US" sz="1200" kern="1200" baseline="0" dirty="0" smtClean="0">
                <a:solidFill>
                  <a:schemeClr val="tx1"/>
                </a:solidFill>
                <a:latin typeface="+mn-lt"/>
                <a:ea typeface="+mn-ea"/>
                <a:cs typeface="+mn-cs"/>
              </a:rPr>
              <a:t> a</a:t>
            </a:r>
            <a:r>
              <a:rPr lang="en-US" sz="1200" kern="1200" dirty="0" smtClean="0">
                <a:solidFill>
                  <a:schemeClr val="tx1"/>
                </a:solidFill>
                <a:latin typeface="+mn-lt"/>
                <a:ea typeface="+mn-ea"/>
                <a:cs typeface="+mn-cs"/>
              </a:rPr>
              <a:t>ll-terrain vehicles,</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rishaws,</a:t>
            </a:r>
            <a:r>
              <a:rPr lang="en-US" sz="1200" kern="1200" baseline="0" dirty="0" smtClean="0">
                <a:solidFill>
                  <a:schemeClr val="tx1"/>
                </a:solidFill>
                <a:latin typeface="+mn-lt"/>
                <a:ea typeface="+mn-ea"/>
                <a:cs typeface="+mn-cs"/>
              </a:rPr>
              <a:t> c</a:t>
            </a:r>
            <a:r>
              <a:rPr lang="en-US" sz="1200" kern="1200" dirty="0" smtClean="0">
                <a:solidFill>
                  <a:schemeClr val="tx1"/>
                </a:solidFill>
                <a:latin typeface="+mn-lt"/>
                <a:ea typeface="+mn-ea"/>
                <a:cs typeface="+mn-cs"/>
              </a:rPr>
              <a:t>able cars.</a:t>
            </a:r>
            <a:endParaRPr lang="en-AU" sz="1200" kern="1200" dirty="0" smtClean="0">
              <a:solidFill>
                <a:schemeClr val="tx1"/>
              </a:solidFill>
              <a:latin typeface="+mn-lt"/>
              <a:ea typeface="+mn-ea"/>
              <a:cs typeface="+mn-cs"/>
            </a:endParaRPr>
          </a:p>
          <a:p>
            <a:pPr>
              <a:buFont typeface="Arial" pitchFamily="34" charset="0"/>
              <a:buNone/>
            </a:pPr>
            <a:r>
              <a:rPr lang="en-US" sz="1200" kern="1200" dirty="0" smtClean="0">
                <a:solidFill>
                  <a:schemeClr val="tx1"/>
                </a:solidFill>
                <a:latin typeface="+mn-lt"/>
                <a:ea typeface="+mn-ea"/>
                <a:cs typeface="+mn-cs"/>
              </a:rPr>
              <a:t>For transport services they need to determine: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Locations of airports, train stations, bus depots</a:t>
            </a:r>
            <a:r>
              <a:rPr lang="en-US" sz="1200" kern="1200" baseline="0" dirty="0" smtClean="0">
                <a:solidFill>
                  <a:schemeClr val="tx1"/>
                </a:solidFill>
                <a:latin typeface="+mn-lt"/>
                <a:ea typeface="+mn-ea"/>
                <a:cs typeface="+mn-cs"/>
              </a:rPr>
              <a:t> and bus </a:t>
            </a:r>
            <a:r>
              <a:rPr lang="en-US" sz="1200" kern="1200" dirty="0" smtClean="0">
                <a:solidFill>
                  <a:schemeClr val="tx1"/>
                </a:solidFill>
                <a:latin typeface="+mn-lt"/>
                <a:ea typeface="+mn-ea"/>
                <a:cs typeface="+mn-cs"/>
              </a:rPr>
              <a:t>stops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Routes to each service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Timetables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Cost for travel/tickets including taxi rates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Where and how to buy tickets.</a:t>
            </a:r>
            <a:endParaRPr lang="en-AU"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None/>
            </a:pPr>
            <a:r>
              <a:rPr lang="en-US" b="1" dirty="0" smtClean="0"/>
              <a:t>Class Activity – Small Group Exercise</a:t>
            </a:r>
          </a:p>
          <a:p>
            <a:pPr>
              <a:buFont typeface="Arial" pitchFamily="34" charset="0"/>
              <a:buNone/>
            </a:pPr>
            <a:r>
              <a:rPr lang="en-US" b="0" dirty="0" smtClean="0"/>
              <a:t>Trainer divides class into small groups and allocates one local destination/attraction to each group and asks them to:</a:t>
            </a:r>
          </a:p>
          <a:p>
            <a:pPr>
              <a:buFont typeface="Arial" pitchFamily="34" charset="0"/>
              <a:buChar char="•"/>
            </a:pPr>
            <a:r>
              <a:rPr lang="en-US" b="0" dirty="0" smtClean="0"/>
              <a:t> Develop a list of all the local information they should know about this to pass on to visitors.</a:t>
            </a:r>
            <a:r>
              <a:rPr lang="en-US" b="0" baseline="0" dirty="0" smtClean="0"/>
              <a:t> This should be </a:t>
            </a:r>
            <a:r>
              <a:rPr lang="en-US" b="0" dirty="0" smtClean="0"/>
              <a:t>based on possible questions visitors might ask and/or information they would want to know if they were visitors about to go to the destination/attraction</a:t>
            </a:r>
          </a:p>
          <a:p>
            <a:pPr>
              <a:buFont typeface="Arial" pitchFamily="34" charset="0"/>
              <a:buChar char="•"/>
            </a:pPr>
            <a:r>
              <a:rPr lang="en-US" b="0" dirty="0" smtClean="0"/>
              <a:t> Develop a list of all the local information they actually know about to pass on to visitors</a:t>
            </a:r>
          </a:p>
          <a:p>
            <a:pPr>
              <a:buFont typeface="Arial" pitchFamily="34" charset="0"/>
              <a:buChar char="•"/>
            </a:pPr>
            <a:r>
              <a:rPr lang="en-US" b="0" dirty="0" smtClean="0"/>
              <a:t> Identify how they will</a:t>
            </a:r>
            <a:r>
              <a:rPr lang="en-US" b="0" baseline="0" dirty="0" smtClean="0"/>
              <a:t> find the necessary information fill the gaps in their local knowledge regarding this destination/attraction.</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11746700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buFont typeface="Arial" pitchFamily="34" charset="0"/>
              <a:buNone/>
            </a:pPr>
            <a:r>
              <a:rPr lang="en-US" dirty="0" smtClean="0"/>
              <a:t>Trainer</a:t>
            </a:r>
            <a:r>
              <a:rPr lang="en-US" baseline="0" dirty="0" smtClean="0"/>
              <a:t> advises trainees they also need to obtain information on local travel products and services, such as:</a:t>
            </a:r>
          </a:p>
          <a:p>
            <a:pPr>
              <a:buFont typeface="Arial" pitchFamily="34" charset="0"/>
              <a:buChar char="•"/>
            </a:pPr>
            <a:r>
              <a:rPr lang="en-US" sz="1200" kern="1200" dirty="0" smtClean="0">
                <a:solidFill>
                  <a:schemeClr val="tx1"/>
                </a:solidFill>
                <a:latin typeface="+mn-lt"/>
                <a:ea typeface="+mn-ea"/>
                <a:cs typeface="+mn-cs"/>
              </a:rPr>
              <a:t> Places to:</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Stay – accommodation options available locally including hotels (of different ratings) and back-packer accommodation.</a:t>
            </a:r>
            <a:r>
              <a:rPr lang="en-US" sz="1200" kern="1200" baseline="0" dirty="0" smtClean="0">
                <a:solidFill>
                  <a:schemeClr val="tx1"/>
                </a:solidFill>
                <a:latin typeface="+mn-lt"/>
                <a:ea typeface="+mn-ea"/>
                <a:cs typeface="+mn-cs"/>
              </a:rPr>
              <a:t> A</a:t>
            </a:r>
            <a:r>
              <a:rPr lang="en-US" sz="1200" kern="1200" dirty="0" smtClean="0">
                <a:solidFill>
                  <a:schemeClr val="tx1"/>
                </a:solidFill>
                <a:latin typeface="+mn-lt"/>
                <a:ea typeface="+mn-ea"/>
                <a:cs typeface="+mn-cs"/>
              </a:rPr>
              <a:t>ttention should also be paid to identifying any eco-friendly accommodation venues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Eat – covering the differing dining options from eat-in (fine dining to more modest establishments), different cuisine types, street stalls/vendors and fast-food outlets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Bars – and locations for buying take-out liquor</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Services, such as: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Hire cars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Money exchanges and banks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Secretarial services for business visitors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Dry cleaning and laundry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Security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Immigration advice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Emergency services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In-house services available to guests at a venue/hotel</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Facilities, taking into account: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In-house facilities for guests – spa, swimming pool, gymnasium, business centre, internet connection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Local facilities – as identified above: toilets, disabled access/wheelchair ramps,  parking, transportation, arts centres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Rates. This is a very big area and one subject to on-going change. ‘Rates’ refers to the prices charged by providers for the products, services  they provide. Rates include: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Room rates for accommodation; for single, double, family,</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taking into account any allowable discount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Fees to enter an amusement</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theme park and/or the cost of tickets</a:t>
            </a:r>
            <a:r>
              <a:rPr lang="en-US" sz="1200" kern="1200" baseline="0" dirty="0" smtClean="0">
                <a:solidFill>
                  <a:schemeClr val="tx1"/>
                </a:solidFill>
                <a:latin typeface="+mn-lt"/>
                <a:ea typeface="+mn-ea"/>
                <a:cs typeface="+mn-cs"/>
              </a:rPr>
              <a:t> and </a:t>
            </a:r>
            <a:r>
              <a:rPr lang="en-US" sz="1200" kern="1200" dirty="0" smtClean="0">
                <a:solidFill>
                  <a:schemeClr val="tx1"/>
                </a:solidFill>
                <a:latin typeface="+mn-lt"/>
                <a:ea typeface="+mn-ea"/>
                <a:cs typeface="+mn-cs"/>
              </a:rPr>
              <a:t>rides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Fees for traveling on cable cars, trains, buses, taxis, ferries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Exchange rates for changing money between currencies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Charges made by businesses for products sold and services rendered such as exchanging money, meals, shopping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Taxations rates and identification of goods and/or services they apply to, and any refunds</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rebates international visitors may be entitlement when they leave the country.</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16949635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Trainer recommends to trainees they also capture local information on ‘environmental’ issues which will vary greatly depending on the geographical location of their workplace but should include: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Weather</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and the seasons: when it is likely to be hot, cold, wet, windy or other as appropriate to the individual location</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Tides especially where tourism focuses on boating and fishing</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Times of sunrise and sunsets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Regional variations in weather such as identification of micro-climatic conditions for certain areas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Items deemed to be ‘at risk’ – flora and fauna</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Sustainable features of the local area/region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Options available for visitors seeking an eco-tourism experience.</a:t>
            </a:r>
            <a:endParaRPr lang="en-AU" sz="1200" kern="120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11612221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a:buFont typeface="Arial" pitchFamily="34" charset="0"/>
              <a:buNone/>
            </a:pPr>
            <a:r>
              <a:rPr kumimoji="0" lang="en-US" sz="2400" kern="1200" dirty="0" smtClean="0">
                <a:solidFill>
                  <a:schemeClr val="tx1"/>
                </a:solidFill>
                <a:latin typeface="+mn-lt"/>
                <a:ea typeface="+mn-ea"/>
                <a:cs typeface="+mn-cs"/>
              </a:rPr>
              <a:t>Trainer suggests to trainees that in regard to obtaining information about local attractions, tours, events and places of interest they should focus their research on:</a:t>
            </a:r>
          </a:p>
          <a:p>
            <a:pPr>
              <a:buFont typeface="Arial" pitchFamily="34" charset="0"/>
              <a:buChar char="•"/>
            </a:pPr>
            <a:r>
              <a:rPr lang="en-US" sz="1200" kern="1200" dirty="0" smtClean="0">
                <a:solidFill>
                  <a:schemeClr val="tx1"/>
                </a:solidFill>
                <a:latin typeface="+mn-lt"/>
                <a:ea typeface="+mn-ea"/>
                <a:cs typeface="+mn-cs"/>
              </a:rPr>
              <a:t> Natural attractions such as caves, mountains, the ocean/sea, gorges, sanctuaries, gardens, waterways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Man-made attractions (also known as ‘built attractions’) – entertainment centres, amusement parks, theme parks, lookouts, science centres, museums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Buildings – ancient buildings and ruins, government buildings, buildings with historic significance, former prisons and dwellings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Tours.</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hese may be: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Time-based – 2-hour, half-day,</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full-day, multiple days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Subject-based and may focus on Sports tourism, Landmarks, Food tourism, Cultural tourism, Eco-tourism, Religious tourism, Arts or Area-based.</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These may focus on, for example:</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A town, city or region – a general tour visiting landmarks and other ‘places of interest’ (see below)</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The CBD of a city</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Shopping precincts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Events.</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hese relate to special occasions conducted in an area and can include: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Sporting events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Religious observances/festivals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Meetings, Incentives, Conventions, Exhibitions occurring in the area</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Local and national celebrations.</a:t>
            </a:r>
            <a:endParaRPr lang="en-AU"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Trainer notes some local areas prepare a ‘Calendar of Festivals and Events’ detailing the upcoming events for the next 12 months.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Places of interest – this phrase can include almost anything including the already mentioned built attractions, landmarks and ruins, plus natural attractions. It can also cover: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Sites of historic battles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Unique architecture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Groups of ethnic people and their houses, shops, religious shrines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Squares, </a:t>
            </a:r>
            <a:r>
              <a:rPr lang="en-US" sz="1200" kern="1200" dirty="0" err="1" smtClean="0">
                <a:solidFill>
                  <a:schemeClr val="tx1"/>
                </a:solidFill>
                <a:latin typeface="+mn-lt"/>
                <a:ea typeface="+mn-ea"/>
                <a:cs typeface="+mn-cs"/>
              </a:rPr>
              <a:t>showgrounds</a:t>
            </a:r>
            <a:r>
              <a:rPr lang="en-US" sz="1200" kern="1200" dirty="0" smtClean="0">
                <a:solidFill>
                  <a:schemeClr val="tx1"/>
                </a:solidFill>
                <a:latin typeface="+mn-lt"/>
                <a:ea typeface="+mn-ea"/>
                <a:cs typeface="+mn-cs"/>
              </a:rPr>
              <a:t> and theatres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Geographical features, fossils and forests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Local dangers.</a:t>
            </a:r>
            <a:r>
              <a:rPr lang="en-US" sz="1200" kern="1200" baseline="0" dirty="0" smtClean="0">
                <a:solidFill>
                  <a:schemeClr val="tx1"/>
                </a:solidFill>
                <a:latin typeface="+mn-lt"/>
                <a:ea typeface="+mn-ea"/>
                <a:cs typeface="+mn-cs"/>
              </a:rPr>
              <a:t> At</a:t>
            </a:r>
            <a:r>
              <a:rPr lang="en-US" sz="1200" kern="1200" dirty="0" smtClean="0">
                <a:solidFill>
                  <a:schemeClr val="tx1"/>
                </a:solidFill>
                <a:latin typeface="+mn-lt"/>
                <a:ea typeface="+mn-ea"/>
                <a:cs typeface="+mn-cs"/>
              </a:rPr>
              <a:t>tention must always be paid to ensuring visitors are provided with appropriate advice regarding any local dangers they may be subjected to,</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for example: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Wild animals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Currents and tides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Areas they should avoid because of the potential for attack</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‘no go’ areas)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Geographical features with the potential to cause death</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injury</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Activities that may be inappropriate given the profile of the visitor.</a:t>
            </a:r>
            <a:r>
              <a:rPr lang="en-US" sz="1200" kern="1200" baseline="0" dirty="0" smtClean="0">
                <a:solidFill>
                  <a:schemeClr val="tx1"/>
                </a:solidFill>
                <a:latin typeface="+mn-lt"/>
                <a:ea typeface="+mn-ea"/>
                <a:cs typeface="+mn-cs"/>
              </a:rPr>
              <a:t> F</a:t>
            </a:r>
            <a:r>
              <a:rPr lang="en-US" sz="1200" kern="1200" dirty="0" smtClean="0">
                <a:solidFill>
                  <a:schemeClr val="tx1"/>
                </a:solidFill>
                <a:latin typeface="+mn-lt"/>
                <a:ea typeface="+mn-ea"/>
                <a:cs typeface="+mn-cs"/>
              </a:rPr>
              <a:t>or example, a walking trail may be suitable for a young and fit tourist but totally inappropriate for a frail and elderly person</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Weather conditions – rain, sun, wind.</a:t>
            </a:r>
            <a:endParaRPr lang="en-AU" sz="1200" kern="1200" dirty="0" smtClean="0">
              <a:solidFill>
                <a:schemeClr val="tx1"/>
              </a:solidFill>
              <a:latin typeface="+mn-lt"/>
              <a:ea typeface="+mn-ea"/>
              <a:cs typeface="+mn-cs"/>
            </a:endParaRPr>
          </a:p>
          <a:p>
            <a:pPr>
              <a:buFont typeface="Arial" pitchFamily="34" charset="0"/>
              <a:buNone/>
            </a:pPr>
            <a:endParaRPr kumimoji="0" lang="en-US" sz="2400" kern="1200" dirty="0" smtClean="0">
              <a:solidFill>
                <a:schemeClr val="tx1"/>
              </a:solidFill>
              <a:latin typeface="+mn-lt"/>
              <a:ea typeface="+mn-ea"/>
              <a:cs typeface="+mn-cs"/>
            </a:endParaRPr>
          </a:p>
          <a:p>
            <a:pPr>
              <a:buFont typeface="Arial" pitchFamily="34" charset="0"/>
              <a:buNone/>
            </a:pPr>
            <a:r>
              <a:rPr kumimoji="0" lang="en-US" sz="2400" b="1" kern="1200" dirty="0" smtClean="0">
                <a:solidFill>
                  <a:schemeClr val="tx1"/>
                </a:solidFill>
                <a:latin typeface="+mn-lt"/>
                <a:ea typeface="+mn-ea"/>
                <a:cs typeface="+mn-cs"/>
              </a:rPr>
              <a:t>Class Activity – Group Discussion</a:t>
            </a:r>
          </a:p>
          <a:p>
            <a:pPr>
              <a:buFont typeface="Arial" pitchFamily="34" charset="0"/>
              <a:buNone/>
            </a:pPr>
            <a:r>
              <a:rPr kumimoji="0" lang="en-US" sz="2400" b="0" kern="1200" dirty="0" smtClean="0">
                <a:solidFill>
                  <a:schemeClr val="tx1"/>
                </a:solidFill>
                <a:latin typeface="+mn-lt"/>
                <a:ea typeface="+mn-ea"/>
                <a:cs typeface="+mn-cs"/>
              </a:rPr>
              <a:t>Trainer leads trainees</a:t>
            </a:r>
            <a:r>
              <a:rPr kumimoji="0" lang="en-US" sz="2400" b="0" kern="1200" baseline="0" dirty="0" smtClean="0">
                <a:solidFill>
                  <a:schemeClr val="tx1"/>
                </a:solidFill>
                <a:latin typeface="+mn-lt"/>
                <a:ea typeface="+mn-ea"/>
                <a:cs typeface="+mn-cs"/>
              </a:rPr>
              <a:t> in a discussion on information they would provide to visitors to their area regarding ‘local dangers’. Questions may include:</a:t>
            </a:r>
          </a:p>
          <a:p>
            <a:pPr>
              <a:buFont typeface="Arial" pitchFamily="34" charset="0"/>
              <a:buChar char="•"/>
            </a:pPr>
            <a:r>
              <a:rPr kumimoji="0" lang="en-US" sz="2400" b="0" kern="1200" baseline="0" dirty="0" smtClean="0">
                <a:solidFill>
                  <a:schemeClr val="tx1"/>
                </a:solidFill>
                <a:latin typeface="+mn-lt"/>
                <a:ea typeface="+mn-ea"/>
                <a:cs typeface="+mn-cs"/>
              </a:rPr>
              <a:t> What local dangers do you think visitors need to be made aware of?</a:t>
            </a:r>
          </a:p>
          <a:p>
            <a:pPr>
              <a:buFont typeface="Arial" pitchFamily="34" charset="0"/>
              <a:buChar char="•"/>
            </a:pPr>
            <a:r>
              <a:rPr kumimoji="0" lang="en-US" sz="2400" b="0" kern="1200" dirty="0" smtClean="0">
                <a:solidFill>
                  <a:schemeClr val="tx1"/>
                </a:solidFill>
                <a:latin typeface="+mn-lt"/>
                <a:ea typeface="+mn-ea"/>
                <a:cs typeface="+mn-cs"/>
              </a:rPr>
              <a:t> Why do think they should be given this information?</a:t>
            </a:r>
          </a:p>
          <a:p>
            <a:pPr>
              <a:buFont typeface="Arial" pitchFamily="34" charset="0"/>
              <a:buChar char="•"/>
            </a:pPr>
            <a:r>
              <a:rPr kumimoji="0" lang="en-US" sz="2400" b="0" kern="1200" dirty="0" smtClean="0">
                <a:solidFill>
                  <a:schemeClr val="tx1"/>
                </a:solidFill>
                <a:latin typeface="+mn-lt"/>
                <a:ea typeface="+mn-ea"/>
                <a:cs typeface="+mn-cs"/>
              </a:rPr>
              <a:t> How would you provide this detail?</a:t>
            </a:r>
          </a:p>
          <a:p>
            <a:pPr>
              <a:buFont typeface="Arial" pitchFamily="34" charset="0"/>
              <a:buChar char="•"/>
            </a:pPr>
            <a:r>
              <a:rPr kumimoji="0" lang="en-US" sz="2400" b="0" kern="1200" dirty="0" smtClean="0">
                <a:solidFill>
                  <a:schemeClr val="tx1"/>
                </a:solidFill>
                <a:latin typeface="+mn-lt"/>
                <a:ea typeface="+mn-ea"/>
                <a:cs typeface="+mn-cs"/>
              </a:rPr>
              <a:t> When and where would you provide it?</a:t>
            </a:r>
          </a:p>
          <a:p>
            <a:pPr>
              <a:buFont typeface="Arial" pitchFamily="34" charset="0"/>
              <a:buChar char="•"/>
            </a:pPr>
            <a:r>
              <a:rPr kumimoji="0" lang="en-US" sz="2400" b="0" kern="1200" dirty="0" smtClean="0">
                <a:solidFill>
                  <a:schemeClr val="tx1"/>
                </a:solidFill>
                <a:latin typeface="+mn-lt"/>
                <a:ea typeface="+mn-ea"/>
                <a:cs typeface="+mn-cs"/>
              </a:rPr>
              <a:t> Who might you contact to make sure you are providing accurate, comprehensive and current safety information to visitors?</a:t>
            </a:r>
            <a:endParaRPr kumimoji="0" lang="en-US" sz="2400" b="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881074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urges trainees to also develop knowledge to pass on to visitors about local customs,</a:t>
            </a:r>
            <a:r>
              <a:rPr lang="en-US" baseline="0" dirty="0" smtClean="0"/>
              <a:t> suggesting this could include:</a:t>
            </a:r>
          </a:p>
          <a:p>
            <a:pPr>
              <a:buFont typeface="Arial" pitchFamily="34" charset="0"/>
              <a:buChar char="•"/>
            </a:pPr>
            <a:r>
              <a:rPr lang="en-US" sz="1200" kern="1200" dirty="0" smtClean="0">
                <a:solidFill>
                  <a:schemeClr val="tx1"/>
                </a:solidFill>
                <a:latin typeface="+mn-lt"/>
                <a:ea typeface="+mn-ea"/>
                <a:cs typeface="+mn-cs"/>
              </a:rPr>
              <a:t> Dress – what to wear; what not to wear, requirements regarding footwear</a:t>
            </a:r>
            <a:r>
              <a:rPr lang="en-US" sz="1200" kern="1200" baseline="0" dirty="0" smtClean="0">
                <a:solidFill>
                  <a:schemeClr val="tx1"/>
                </a:solidFill>
                <a:latin typeface="+mn-lt"/>
                <a:ea typeface="+mn-ea"/>
                <a:cs typeface="+mn-cs"/>
              </a:rPr>
              <a:t> and</a:t>
            </a:r>
            <a:r>
              <a:rPr lang="en-US" sz="1200" kern="1200" dirty="0" smtClean="0">
                <a:solidFill>
                  <a:schemeClr val="tx1"/>
                </a:solidFill>
                <a:latin typeface="+mn-lt"/>
                <a:ea typeface="+mn-ea"/>
                <a:cs typeface="+mn-cs"/>
              </a:rPr>
              <a:t> covering parts of the body</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Language – providing basic phrases/words such as ‘Yes’, ‘No’, ‘Hello’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Personal behavior which may address: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Eye contact and other non-verbal communication issues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Shaking of hands when meeting/greeting a person</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Local activities related to certain events, circumstances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Legal issues identifying what offences are provided for under relevant legislation</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Accepted protocols identifying acceptable and unacceptable</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actions related to nominated occurrences, events, meetings, circumstances  and normal</a:t>
            </a:r>
            <a:r>
              <a:rPr lang="en-US" sz="1200" kern="1200" baseline="0" dirty="0" smtClean="0">
                <a:solidFill>
                  <a:schemeClr val="tx1"/>
                </a:solidFill>
                <a:latin typeface="+mn-lt"/>
                <a:ea typeface="+mn-ea"/>
                <a:cs typeface="+mn-cs"/>
              </a:rPr>
              <a:t> daily life</a:t>
            </a:r>
            <a:r>
              <a:rPr lang="en-US" sz="1200" kern="1200" dirty="0" smtClean="0">
                <a:solidFill>
                  <a:schemeClr val="tx1"/>
                </a:solidFill>
                <a:latin typeface="+mn-lt"/>
                <a:ea typeface="+mn-ea"/>
                <a:cs typeface="+mn-cs"/>
              </a:rPr>
              <a:t>.</a:t>
            </a:r>
            <a:endParaRPr lang="en-AU"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None/>
            </a:pPr>
            <a:r>
              <a:rPr lang="en-US" b="1" dirty="0" smtClean="0"/>
              <a:t>Class Activity – Individual Exercise</a:t>
            </a:r>
          </a:p>
          <a:p>
            <a:pPr>
              <a:buFont typeface="Arial" pitchFamily="34" charset="0"/>
              <a:buNone/>
            </a:pPr>
            <a:r>
              <a:rPr lang="en-US" b="0" dirty="0" smtClean="0"/>
              <a:t>Trainer asks individual trainees to select </a:t>
            </a:r>
            <a:r>
              <a:rPr lang="en-US" b="1" dirty="0" smtClean="0"/>
              <a:t>one aspect </a:t>
            </a:r>
            <a:r>
              <a:rPr lang="en-US" b="0" dirty="0" smtClean="0"/>
              <a:t>of ‘local customs’ identified on the slide and p</a:t>
            </a:r>
            <a:r>
              <a:rPr lang="en-US" b="0" baseline="0" dirty="0" smtClean="0"/>
              <a:t>repare a comprehensive and accurate list of topics they would cover and information they would provide when advising visitors about local customs.</a:t>
            </a:r>
            <a:endParaRPr lang="en-US" b="0" dirty="0" smtClean="0"/>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17821865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latin typeface="+mn-lt"/>
                <a:ea typeface="+mn-ea"/>
                <a:cs typeface="+mn-cs"/>
              </a:rPr>
              <a:t>Trainer presents to trainees that once relevant local information has been sourced, it must be stored for future use as deemed most appropriate by the enterprise, in</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keeping with any relevant policies and procedures the organisation has in place.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Trainer identifies organisational requirements will vary between establishments but may include policies and procedures relating to:</a:t>
            </a:r>
          </a:p>
          <a:p>
            <a:pPr>
              <a:buFont typeface="Arial" pitchFamily="34" charset="0"/>
              <a:buChar char="•"/>
            </a:pPr>
            <a:r>
              <a:rPr lang="en-US" sz="1200" kern="1200" dirty="0" smtClean="0">
                <a:solidFill>
                  <a:schemeClr val="tx1"/>
                </a:solidFill>
                <a:latin typeface="+mn-lt"/>
                <a:ea typeface="+mn-ea"/>
                <a:cs typeface="+mn-cs"/>
              </a:rPr>
              <a:t> The type, style and nature of the storage and retrieval system to be used – see following slides (for example, the use of filing cabinets, public display options and the storage of information on electronic (or other) databases)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The type, style, nature, size and location of the information display and/or file which will usually embrace: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Where brochures will be displayed to the public so they can ‘help themselves’ to brochures such as in the foyer area</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The materials to be placed in guest rooms – in the compendiums, on side-tables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Information supplied to guests when they check-in</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Identification of personnel with responsibility for: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Capturing initial information, brochures, price lists, maps, flyers and promotional material from local and other</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attractions</a:t>
            </a:r>
            <a:r>
              <a:rPr lang="en-US" sz="1200" kern="1200" baseline="0" dirty="0" smtClean="0">
                <a:solidFill>
                  <a:schemeClr val="tx1"/>
                </a:solidFill>
                <a:latin typeface="+mn-lt"/>
                <a:ea typeface="+mn-ea"/>
                <a:cs typeface="+mn-cs"/>
              </a:rPr>
              <a:t> and </a:t>
            </a:r>
            <a:r>
              <a:rPr lang="en-US" sz="1200" kern="1200" dirty="0" smtClean="0">
                <a:solidFill>
                  <a:schemeClr val="tx1"/>
                </a:solidFill>
                <a:latin typeface="+mn-lt"/>
                <a:ea typeface="+mn-ea"/>
                <a:cs typeface="+mn-cs"/>
              </a:rPr>
              <a:t>venues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Updating the information brochures to ensure it remains current providing up</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to</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date materials, prices, opening times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Entering information into an electronic system to enter new or</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updated data into the system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Maintaining the display to keep it looking neat and tidy</a:t>
            </a:r>
            <a:r>
              <a:rPr lang="en-US" sz="1200" kern="1200" baseline="0" dirty="0" smtClean="0">
                <a:solidFill>
                  <a:schemeClr val="tx1"/>
                </a:solidFill>
                <a:latin typeface="+mn-lt"/>
                <a:ea typeface="+mn-ea"/>
                <a:cs typeface="+mn-cs"/>
              </a:rPr>
              <a:t> and </a:t>
            </a:r>
            <a:r>
              <a:rPr lang="en-US" sz="1200" kern="1200" dirty="0" smtClean="0">
                <a:solidFill>
                  <a:schemeClr val="tx1"/>
                </a:solidFill>
                <a:latin typeface="+mn-lt"/>
                <a:ea typeface="+mn-ea"/>
                <a:cs typeface="+mn-cs"/>
              </a:rPr>
              <a:t>to remove soiled, torn materials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Maintaining the store of materials to obtain materials to ensure the display never runs out of brochures </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Identification of who is authorised to attend meetings to capture local information about upcoming events and to participate with others (venues, authorities, attractions) to attract visitors to the local area.</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11926450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indicates to trainees storage options for local information may include:</a:t>
            </a:r>
          </a:p>
          <a:p>
            <a:pPr>
              <a:buFont typeface="Arial" pitchFamily="34" charset="0"/>
              <a:buChar char="•"/>
            </a:pPr>
            <a:r>
              <a:rPr lang="en-US" dirty="0" smtClean="0"/>
              <a:t> An electronic system such as entering information into a dedicated information database, or one that is integrated with a CRS</a:t>
            </a:r>
          </a:p>
          <a:p>
            <a:pPr>
              <a:buFont typeface="Arial" pitchFamily="34" charset="0"/>
              <a:buChar char="•"/>
            </a:pPr>
            <a:r>
              <a:rPr lang="en-US" dirty="0" smtClean="0"/>
              <a:t> A filing cabinet system – filing paper-based material by category or in alphabetical order</a:t>
            </a:r>
          </a:p>
          <a:p>
            <a:pPr>
              <a:buFont typeface="Arial" pitchFamily="34" charset="0"/>
              <a:buChar char="•"/>
            </a:pPr>
            <a:r>
              <a:rPr lang="en-US" dirty="0" smtClean="0"/>
              <a:t> A public display area where the public/visitors are encouraged to browse and help themselves</a:t>
            </a:r>
            <a:r>
              <a:rPr lang="en-US" baseline="0" dirty="0" smtClean="0"/>
              <a:t> to items of interest</a:t>
            </a:r>
            <a:endParaRPr lang="en-US" dirty="0" smtClean="0"/>
          </a:p>
          <a:p>
            <a:pPr>
              <a:buFont typeface="Arial" pitchFamily="34" charset="0"/>
              <a:buChar char="•"/>
            </a:pPr>
            <a:r>
              <a:rPr lang="en-US" dirty="0" smtClean="0"/>
              <a:t> Copies of information in nominated areas such as behind reception, at the concierge desk</a:t>
            </a:r>
            <a:r>
              <a:rPr lang="en-US" baseline="0" dirty="0" smtClean="0"/>
              <a:t> or</a:t>
            </a:r>
            <a:r>
              <a:rPr lang="en-US" dirty="0" smtClean="0"/>
              <a:t> contained within in-room compendiums</a:t>
            </a:r>
          </a:p>
          <a:p>
            <a:pPr>
              <a:buFont typeface="Arial" pitchFamily="34" charset="0"/>
              <a:buChar char="•"/>
            </a:pPr>
            <a:r>
              <a:rPr lang="en-US" dirty="0" smtClean="0"/>
              <a:t> A mix of the above.</a:t>
            </a:r>
            <a:r>
              <a:rPr lang="en-US" baseline="0" dirty="0" smtClean="0"/>
              <a:t> T</a:t>
            </a:r>
            <a:r>
              <a:rPr lang="en-US" dirty="0" smtClean="0"/>
              <a:t>his is the most common option: very few venues store local information only in one place.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39138007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to trainees that updating information requires (1) obtaining the u-dates, and (2) processing the new</a:t>
            </a:r>
            <a:r>
              <a:rPr lang="en-US" baseline="0" dirty="0" smtClean="0"/>
              <a:t> or </a:t>
            </a:r>
            <a:r>
              <a:rPr lang="en-US" dirty="0" smtClean="0"/>
              <a:t>revised information.</a:t>
            </a:r>
          </a:p>
          <a:p>
            <a:pPr>
              <a:buFont typeface="Arial" pitchFamily="34" charset="0"/>
              <a:buNone/>
            </a:pPr>
            <a:endParaRPr lang="en-US" dirty="0" smtClean="0"/>
          </a:p>
          <a:p>
            <a:pPr>
              <a:buFont typeface="Arial" pitchFamily="34" charset="0"/>
              <a:buNone/>
            </a:pPr>
            <a:r>
              <a:rPr lang="en-US" dirty="0" smtClean="0"/>
              <a:t>Trainer states to trainees that activities involved in obtaining the updates include:</a:t>
            </a:r>
          </a:p>
          <a:p>
            <a:pPr>
              <a:buFont typeface="Arial" pitchFamily="34" charset="0"/>
              <a:buChar char="•"/>
            </a:pPr>
            <a:r>
              <a:rPr lang="en-US" sz="1200" kern="1200" dirty="0" smtClean="0">
                <a:solidFill>
                  <a:schemeClr val="tx1"/>
                </a:solidFill>
                <a:latin typeface="+mn-lt"/>
                <a:ea typeface="+mn-ea"/>
                <a:cs typeface="+mn-cs"/>
              </a:rPr>
              <a:t> Continue to do the activities initially undertaken to capture local information in the first instance,</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for example: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Visit the Visitors Information Centre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Attend local meetings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Visit other venues and local attractions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Read local newspapers, magazines, books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Obtain materials/information for new venues, attractions.</a:t>
            </a:r>
            <a:r>
              <a:rPr lang="en-US" sz="1200" kern="1200" baseline="0" dirty="0" smtClean="0">
                <a:solidFill>
                  <a:schemeClr val="tx1"/>
                </a:solidFill>
                <a:latin typeface="+mn-lt"/>
                <a:ea typeface="+mn-ea"/>
                <a:cs typeface="+mn-cs"/>
              </a:rPr>
              <a:t> F</a:t>
            </a:r>
            <a:r>
              <a:rPr lang="en-US" sz="1200" kern="1200" dirty="0" smtClean="0">
                <a:solidFill>
                  <a:schemeClr val="tx1"/>
                </a:solidFill>
                <a:latin typeface="+mn-lt"/>
                <a:ea typeface="+mn-ea"/>
                <a:cs typeface="+mn-cs"/>
              </a:rPr>
              <a:t>rom time</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to</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time new businesses and attractions will open and there is a need to be proactive in sourcing information from these to pass on to visitors/guests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Reading alerts, up-dates, emails, newsletters  received as these are often sources of new/revised information</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Picking up any copies of new tourist/visitor information and arranging to obtain multiple copies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Use network of contacts – can they advise of any new materials/information? Any changes/updates?</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32458394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Char char="•"/>
            </a:pPr>
            <a:r>
              <a:rPr lang="en-US" dirty="0" smtClean="0"/>
              <a:t>Trainer</a:t>
            </a:r>
            <a:r>
              <a:rPr lang="en-US" baseline="0" dirty="0" smtClean="0"/>
              <a:t> informs trainees the processing of new or updated local information will depend on the system used in the workplace to store this information, but may include:</a:t>
            </a:r>
          </a:p>
          <a:p>
            <a:pPr>
              <a:buFont typeface="Arial" pitchFamily="34" charset="0"/>
              <a:buChar char="•"/>
            </a:pPr>
            <a:r>
              <a:rPr lang="en-US" sz="1200" kern="1200" dirty="0" smtClean="0">
                <a:solidFill>
                  <a:schemeClr val="tx1"/>
                </a:solidFill>
                <a:latin typeface="+mn-lt"/>
                <a:ea typeface="+mn-ea"/>
                <a:cs typeface="+mn-cs"/>
              </a:rPr>
              <a:t> Accessing the CRS or other dedicated electronic database and adding, deleting or amending files and fields as necessary</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Accessing the filing system for hard copy materials and: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Removing and discarding previous versions of materials which will now be out</a:t>
            </a:r>
            <a:r>
              <a:rPr lang="en-US" sz="1200" kern="1200" baseline="0" dirty="0" smtClean="0">
                <a:solidFill>
                  <a:schemeClr val="tx1"/>
                </a:solidFill>
                <a:latin typeface="+mn-lt"/>
                <a:ea typeface="+mn-ea"/>
                <a:cs typeface="+mn-cs"/>
              </a:rPr>
              <a:t> o</a:t>
            </a:r>
            <a:r>
              <a:rPr lang="en-US" sz="1200" kern="1200" dirty="0" smtClean="0">
                <a:solidFill>
                  <a:schemeClr val="tx1"/>
                </a:solidFill>
                <a:latin typeface="+mn-lt"/>
                <a:ea typeface="+mn-ea"/>
                <a:cs typeface="+mn-cs"/>
              </a:rPr>
              <a:t>f</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date due to the new/revised materials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Replacing with the new materials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Removing out</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of</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date materials from the display stands and racks and replacing with new/revised materials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Going to each guest room in the venue: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Removing out</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of</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date materials from the in-room compendium</a:t>
            </a:r>
            <a:r>
              <a:rPr lang="en-US" sz="1200" kern="1200" baseline="0" dirty="0" smtClean="0">
                <a:solidFill>
                  <a:schemeClr val="tx1"/>
                </a:solidFill>
                <a:latin typeface="+mn-lt"/>
                <a:ea typeface="+mn-ea"/>
                <a:cs typeface="+mn-cs"/>
              </a:rPr>
              <a:t> and</a:t>
            </a:r>
            <a:r>
              <a:rPr lang="en-US" sz="1200" kern="1200" dirty="0" smtClean="0">
                <a:solidFill>
                  <a:schemeClr val="tx1"/>
                </a:solidFill>
                <a:latin typeface="+mn-lt"/>
                <a:ea typeface="+mn-ea"/>
                <a:cs typeface="+mn-cs"/>
              </a:rPr>
              <a:t> side-tables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Replacing with new/revised materials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Meeting with Concierge and: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Advising of new/revised materials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Providing several hard copies to the Concierge who will then update their own files</a:t>
            </a:r>
            <a:r>
              <a:rPr lang="en-US" sz="1200" kern="1200" baseline="0" dirty="0" smtClean="0">
                <a:solidFill>
                  <a:schemeClr val="tx1"/>
                </a:solidFill>
                <a:latin typeface="+mn-lt"/>
                <a:ea typeface="+mn-ea"/>
                <a:cs typeface="+mn-cs"/>
              </a:rPr>
              <a:t> and </a:t>
            </a:r>
            <a:r>
              <a:rPr lang="en-US" sz="1200" kern="1200" dirty="0" smtClean="0">
                <a:solidFill>
                  <a:schemeClr val="tx1"/>
                </a:solidFill>
                <a:latin typeface="+mn-lt"/>
                <a:ea typeface="+mn-ea"/>
                <a:cs typeface="+mn-cs"/>
              </a:rPr>
              <a:t>database at their desk.</a:t>
            </a:r>
            <a:endParaRPr lang="en-AU"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None/>
            </a:pPr>
            <a:r>
              <a:rPr lang="en-US" b="1" dirty="0" smtClean="0"/>
              <a:t>Class Activity – Excursion</a:t>
            </a:r>
          </a:p>
          <a:p>
            <a:pPr>
              <a:buFont typeface="Arial" pitchFamily="34" charset="0"/>
              <a:buNone/>
            </a:pPr>
            <a:r>
              <a:rPr lang="en-US" b="0" dirty="0" smtClean="0"/>
              <a:t>Trainer arranges to for</a:t>
            </a:r>
            <a:r>
              <a:rPr lang="en-US" b="0" baseline="0" dirty="0" smtClean="0"/>
              <a:t> trainees to visit an accommodation venue with significant displays of local information to:</a:t>
            </a:r>
          </a:p>
          <a:p>
            <a:pPr>
              <a:buFont typeface="Arial" pitchFamily="34" charset="0"/>
              <a:buChar char="•"/>
            </a:pPr>
            <a:r>
              <a:rPr lang="en-US" b="0" baseline="0" dirty="0" smtClean="0"/>
              <a:t> View the public display areas and identify the items available for the public</a:t>
            </a:r>
          </a:p>
          <a:p>
            <a:pPr>
              <a:buFont typeface="Arial" pitchFamily="34" charset="0"/>
              <a:buChar char="•"/>
            </a:pPr>
            <a:r>
              <a:rPr lang="en-US" b="0" baseline="0" dirty="0" smtClean="0"/>
              <a:t> View the behind-the-counter or office-based filing systems used for storing local (and other relevant) tourist information</a:t>
            </a:r>
          </a:p>
          <a:p>
            <a:pPr>
              <a:buFont typeface="Arial" pitchFamily="34" charset="0"/>
              <a:buChar char="•"/>
            </a:pPr>
            <a:r>
              <a:rPr lang="en-US" b="0" baseline="0" dirty="0" smtClean="0"/>
              <a:t> View any electronic database used to store tourism information</a:t>
            </a:r>
          </a:p>
          <a:p>
            <a:pPr>
              <a:buFont typeface="Arial" pitchFamily="34" charset="0"/>
              <a:buChar char="•"/>
            </a:pPr>
            <a:r>
              <a:rPr lang="en-US" b="0" baseline="0" dirty="0" smtClean="0"/>
              <a:t> Visit guest room to view local information contained in guest room compendium</a:t>
            </a:r>
          </a:p>
          <a:p>
            <a:pPr>
              <a:buFont typeface="Arial" pitchFamily="34" charset="0"/>
              <a:buChar char="•"/>
            </a:pPr>
            <a:r>
              <a:rPr lang="en-US" b="0" baseline="0" dirty="0" smtClean="0"/>
              <a:t> Talk with management and/or staff regarding:</a:t>
            </a:r>
          </a:p>
          <a:p>
            <a:pPr lvl="1">
              <a:buFont typeface="Arial" pitchFamily="34" charset="0"/>
              <a:buChar char="•"/>
            </a:pPr>
            <a:r>
              <a:rPr lang="en-US" b="0" baseline="0" dirty="0" smtClean="0"/>
              <a:t> Benefits and disadvantages of the systems used by the venue for storing and/or displaying tourism information</a:t>
            </a:r>
          </a:p>
          <a:p>
            <a:pPr lvl="1">
              <a:buFont typeface="Arial" pitchFamily="34" charset="0"/>
              <a:buChar char="•"/>
            </a:pPr>
            <a:r>
              <a:rPr lang="en-US" b="0" baseline="0" dirty="0" smtClean="0"/>
              <a:t> Processes involved in obtaining new and/or updated local or other relevant tourism information</a:t>
            </a:r>
          </a:p>
          <a:p>
            <a:pPr lvl="1">
              <a:buFont typeface="Arial" pitchFamily="34" charset="0"/>
              <a:buChar char="•"/>
            </a:pPr>
            <a:r>
              <a:rPr lang="en-US" b="0" baseline="0" dirty="0" smtClean="0"/>
              <a:t> Activities involved in processing new/updated information so every display and/or storage option is effectively changed to reflect the new or revised information.</a:t>
            </a:r>
          </a:p>
          <a:p>
            <a:pPr lvl="1">
              <a:buFont typeface="Arial" pitchFamily="34" charset="0"/>
              <a:buChar char="•"/>
            </a:pPr>
            <a:endParaRPr lang="en-US" b="0" baseline="0" dirty="0" smtClean="0"/>
          </a:p>
          <a:p>
            <a:pPr>
              <a:buFont typeface="Arial" pitchFamily="34" charset="0"/>
              <a:buChar char="•"/>
            </a:pPr>
            <a:endParaRPr lang="en-US" b="0" baseline="0" dirty="0" smtClean="0"/>
          </a:p>
          <a:p>
            <a:pPr>
              <a:buFont typeface="Arial" pitchFamily="34" charset="0"/>
              <a:buChar char="•"/>
            </a:pPr>
            <a:endParaRPr lang="en-US" b="0" baseline="0" dirty="0" smtClean="0"/>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37554385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stresses to trainees it is important for them to ensure the following elements are addressed as appropriate when updating information:</a:t>
            </a:r>
          </a:p>
          <a:p>
            <a:pPr>
              <a:buFont typeface="Arial" pitchFamily="34" charset="0"/>
              <a:buChar char="•"/>
            </a:pPr>
            <a:r>
              <a:rPr lang="en-US" sz="1200" kern="1200" dirty="0" smtClean="0">
                <a:solidFill>
                  <a:schemeClr val="tx1"/>
                </a:solidFill>
                <a:latin typeface="+mn-lt"/>
                <a:ea typeface="+mn-ea"/>
                <a:cs typeface="+mn-cs"/>
              </a:rPr>
              <a:t> Thank the person, business, authority or body who provided the up-dated material.</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his acknowledges their effort and encourages them to keep sending new/updated materials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Act on new/revised information immediately.</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 day the material is received should be the day the old material is replaced with the new material/information</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Discard all old</a:t>
            </a:r>
            <a:r>
              <a:rPr lang="en-US" sz="1200" kern="1200" baseline="0" dirty="0" smtClean="0">
                <a:solidFill>
                  <a:schemeClr val="tx1"/>
                </a:solidFill>
                <a:latin typeface="+mn-lt"/>
                <a:ea typeface="+mn-ea"/>
                <a:cs typeface="+mn-cs"/>
              </a:rPr>
              <a:t> and </a:t>
            </a:r>
            <a:r>
              <a:rPr lang="en-US" sz="1200" kern="1200" dirty="0" smtClean="0">
                <a:solidFill>
                  <a:schemeClr val="tx1"/>
                </a:solidFill>
                <a:latin typeface="+mn-lt"/>
                <a:ea typeface="+mn-ea"/>
                <a:cs typeface="+mn-cs"/>
              </a:rPr>
              <a:t>out</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of</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date materials.</a:t>
            </a:r>
            <a:r>
              <a:rPr lang="en-US" sz="1200" kern="1200" baseline="0" dirty="0" smtClean="0">
                <a:solidFill>
                  <a:schemeClr val="tx1"/>
                </a:solidFill>
                <a:latin typeface="+mn-lt"/>
                <a:ea typeface="+mn-ea"/>
                <a:cs typeface="+mn-cs"/>
              </a:rPr>
              <a:t> N</a:t>
            </a:r>
            <a:r>
              <a:rPr lang="en-US" sz="1200" kern="1200" dirty="0" smtClean="0">
                <a:solidFill>
                  <a:schemeClr val="tx1"/>
                </a:solidFill>
                <a:latin typeface="+mn-lt"/>
                <a:ea typeface="+mn-ea"/>
                <a:cs typeface="+mn-cs"/>
              </a:rPr>
              <a:t>ever leave it lying around the place.</a:t>
            </a:r>
            <a:r>
              <a:rPr lang="en-US" sz="1200" kern="1200" baseline="0" dirty="0" smtClean="0">
                <a:solidFill>
                  <a:schemeClr val="tx1"/>
                </a:solidFill>
                <a:latin typeface="+mn-lt"/>
                <a:ea typeface="+mn-ea"/>
                <a:cs typeface="+mn-cs"/>
              </a:rPr>
              <a:t> I</a:t>
            </a:r>
            <a:r>
              <a:rPr lang="en-US" sz="1200" kern="1200" dirty="0" smtClean="0">
                <a:solidFill>
                  <a:schemeClr val="tx1"/>
                </a:solidFill>
                <a:latin typeface="+mn-lt"/>
                <a:ea typeface="+mn-ea"/>
                <a:cs typeface="+mn-cs"/>
              </a:rPr>
              <a:t>t may inadvertently be used to provide incorrect advice/information to guests. Shred the old materials or dispose of them in the trash or recycling bin.</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14119980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latin typeface="+mn-lt"/>
                <a:ea typeface="+mn-ea"/>
                <a:cs typeface="+mn-cs"/>
              </a:rPr>
              <a:t>Trainer advises trainees when they have managed to gather and update local information they must be prepared to share such information with work colleagues and incorporate it into their day</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to</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day work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Trainer indicates to trainees the basic ways to share new and/or revised (updated) information with fellow employees are to:</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Verbally tell your colleagues about what you have learned: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On a one</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to</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one basis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At staff briefings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At staff meetings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E-mail co-workers with the information you have discovered attaching relevant information as applicable</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Prepare a short handout.</a:t>
            </a:r>
            <a:r>
              <a:rPr lang="en-US" sz="1200" kern="1200" baseline="0" dirty="0" smtClean="0">
                <a:solidFill>
                  <a:schemeClr val="tx1"/>
                </a:solidFill>
                <a:latin typeface="+mn-lt"/>
                <a:ea typeface="+mn-ea"/>
                <a:cs typeface="+mn-cs"/>
              </a:rPr>
              <a:t> P</a:t>
            </a:r>
            <a:r>
              <a:rPr lang="en-US" sz="1200" kern="1200" dirty="0" smtClean="0">
                <a:solidFill>
                  <a:schemeClr val="tx1"/>
                </a:solidFill>
                <a:latin typeface="+mn-lt"/>
                <a:ea typeface="+mn-ea"/>
                <a:cs typeface="+mn-cs"/>
              </a:rPr>
              <a:t>ut this: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On the staff notice board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Hand-deliver it explaining it at the time it is handed out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In wages envelopes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In the internal newsletter</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Update the internal systems such as CRS, described in the previous Section</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Replace and replenish internal displays and/or information points with new/revised materials – also described in the previous Section.</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8447384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advise trainees about ways to share local information with fellow workers:</a:t>
            </a:r>
          </a:p>
          <a:p>
            <a:pPr>
              <a:buFont typeface="Arial" pitchFamily="34" charset="0"/>
              <a:buChar char="•"/>
            </a:pPr>
            <a:r>
              <a:rPr lang="en-US" sz="1200" kern="1200" dirty="0" smtClean="0">
                <a:solidFill>
                  <a:schemeClr val="tx1"/>
                </a:solidFill>
                <a:latin typeface="+mn-lt"/>
                <a:ea typeface="+mn-ea"/>
                <a:cs typeface="+mn-cs"/>
              </a:rPr>
              <a:t> Arrange for a guest speaker from the venue/attraction to come and talk to staff explaining the venue/attractions, providing sample items</a:t>
            </a:r>
            <a:r>
              <a:rPr lang="en-US" sz="1200" kern="1200" baseline="0" dirty="0" smtClean="0">
                <a:solidFill>
                  <a:schemeClr val="tx1"/>
                </a:solidFill>
                <a:latin typeface="+mn-lt"/>
                <a:ea typeface="+mn-ea"/>
                <a:cs typeface="+mn-cs"/>
              </a:rPr>
              <a:t> or</a:t>
            </a:r>
            <a:r>
              <a:rPr lang="en-US" sz="1200" kern="1200" dirty="0" smtClean="0">
                <a:solidFill>
                  <a:schemeClr val="tx1"/>
                </a:solidFill>
                <a:latin typeface="+mn-lt"/>
                <a:ea typeface="+mn-ea"/>
                <a:cs typeface="+mn-cs"/>
              </a:rPr>
              <a:t> bringing promotional materials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Arrange for a speaker</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representative from the Visitor Information Centre to attend and make a formal presentation to venue staff</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Arrange for staff to visit the venue/attraction personally so they can gain first-hand experience of the venue/attraction. Management at attractions usually provide free entry to their site/venue for staff in the hospitality business knowing there is the potential for ‘referrals’ from these people. Ask Manager to arrange the visit, and free entry is almost guaranteed.</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6867657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suggests to trainees that when </a:t>
            </a:r>
            <a:r>
              <a:rPr lang="en-US" sz="1200" kern="1200" dirty="0" smtClean="0">
                <a:solidFill>
                  <a:schemeClr val="tx1"/>
                </a:solidFill>
                <a:latin typeface="+mn-lt"/>
                <a:ea typeface="+mn-ea"/>
                <a:cs typeface="+mn-cs"/>
              </a:rPr>
              <a:t>informing other colleagues about new</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updated local information they should at the same time</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ensure:</a:t>
            </a:r>
          </a:p>
          <a:p>
            <a:pPr>
              <a:buFont typeface="Arial" pitchFamily="34" charset="0"/>
              <a:buChar char="•"/>
            </a:pPr>
            <a:r>
              <a:rPr lang="en-US" sz="1200" kern="1200" dirty="0" smtClean="0">
                <a:solidFill>
                  <a:schemeClr val="tx1"/>
                </a:solidFill>
                <a:latin typeface="+mn-lt"/>
                <a:ea typeface="+mn-ea"/>
                <a:cs typeface="+mn-cs"/>
              </a:rPr>
              <a:t> They are enthusiastic when providing local information to other staff at the venue.</a:t>
            </a:r>
            <a:r>
              <a:rPr lang="en-US" sz="1200" kern="1200" baseline="0" dirty="0" smtClean="0">
                <a:solidFill>
                  <a:schemeClr val="tx1"/>
                </a:solidFill>
                <a:latin typeface="+mn-lt"/>
                <a:ea typeface="+mn-ea"/>
                <a:cs typeface="+mn-cs"/>
              </a:rPr>
              <a:t> E</a:t>
            </a:r>
            <a:r>
              <a:rPr lang="en-US" sz="1200" kern="1200" dirty="0" smtClean="0">
                <a:solidFill>
                  <a:schemeClr val="tx1"/>
                </a:solidFill>
                <a:latin typeface="+mn-lt"/>
                <a:ea typeface="+mn-ea"/>
                <a:cs typeface="+mn-cs"/>
              </a:rPr>
              <a:t>nthusiasm can be contagious and unfortunately if they are </a:t>
            </a:r>
            <a:r>
              <a:rPr lang="en-US" sz="1200" i="1" kern="1200" dirty="0" smtClean="0">
                <a:solidFill>
                  <a:schemeClr val="tx1"/>
                </a:solidFill>
                <a:latin typeface="+mn-lt"/>
                <a:ea typeface="+mn-ea"/>
                <a:cs typeface="+mn-cs"/>
              </a:rPr>
              <a:t>not</a:t>
            </a:r>
            <a:r>
              <a:rPr lang="en-US" sz="1200" kern="1200" dirty="0" smtClean="0">
                <a:solidFill>
                  <a:schemeClr val="tx1"/>
                </a:solidFill>
                <a:latin typeface="+mn-lt"/>
                <a:ea typeface="+mn-ea"/>
                <a:cs typeface="+mn-cs"/>
              </a:rPr>
              <a:t> enthusiastic, this too is contagious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They sell the benefits of providing up</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to</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date, accurate local information to visitors and guests.</a:t>
            </a:r>
            <a:r>
              <a:rPr lang="en-US" sz="1200" kern="1200" baseline="0" dirty="0" smtClean="0">
                <a:solidFill>
                  <a:schemeClr val="tx1"/>
                </a:solidFill>
                <a:latin typeface="+mn-lt"/>
                <a:ea typeface="+mn-ea"/>
                <a:cs typeface="+mn-cs"/>
              </a:rPr>
              <a:t> </a:t>
            </a:r>
          </a:p>
          <a:p>
            <a:pPr>
              <a:buFont typeface="Arial" pitchFamily="34" charset="0"/>
              <a:buNone/>
            </a:pPr>
            <a:r>
              <a:rPr lang="en-US" sz="1200" kern="1200" baseline="0" dirty="0" smtClean="0">
                <a:solidFill>
                  <a:schemeClr val="tx1"/>
                </a:solidFill>
                <a:latin typeface="+mn-lt"/>
                <a:ea typeface="+mn-ea"/>
                <a:cs typeface="+mn-cs"/>
              </a:rPr>
              <a:t>T</a:t>
            </a:r>
            <a:r>
              <a:rPr lang="en-US" sz="1200" kern="1200" dirty="0" smtClean="0">
                <a:solidFill>
                  <a:schemeClr val="tx1"/>
                </a:solidFill>
                <a:latin typeface="+mn-lt"/>
                <a:ea typeface="+mn-ea"/>
                <a:cs typeface="+mn-cs"/>
              </a:rPr>
              <a:t>hese include: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Increased guest satisfaction with their stay leading to:</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Repeat business from them. They are more likely to return at a later date and spend more time</a:t>
            </a:r>
            <a:r>
              <a:rPr lang="en-US" sz="1200" kern="1200" baseline="0" dirty="0" smtClean="0">
                <a:solidFill>
                  <a:schemeClr val="tx1"/>
                </a:solidFill>
                <a:latin typeface="+mn-lt"/>
                <a:ea typeface="+mn-ea"/>
                <a:cs typeface="+mn-cs"/>
              </a:rPr>
              <a:t> and </a:t>
            </a:r>
            <a:r>
              <a:rPr lang="en-US" sz="1200" kern="1200" dirty="0" smtClean="0">
                <a:solidFill>
                  <a:schemeClr val="tx1"/>
                </a:solidFill>
                <a:latin typeface="+mn-lt"/>
                <a:ea typeface="+mn-ea"/>
                <a:cs typeface="+mn-cs"/>
              </a:rPr>
              <a:t>money in the venue and in the local area</a:t>
            </a:r>
            <a:endParaRPr lang="en-AU" sz="1200" kern="1200" dirty="0" smtClean="0">
              <a:solidFill>
                <a:schemeClr val="tx1"/>
              </a:solidFill>
              <a:latin typeface="+mn-lt"/>
              <a:ea typeface="+mn-ea"/>
              <a:cs typeface="+mn-cs"/>
            </a:endParaRPr>
          </a:p>
          <a:p>
            <a:pPr>
              <a:buFont typeface="Arial" pitchFamily="34" charset="0"/>
              <a:buChar char="•"/>
            </a:pP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Referral’ business as they tell their friends and family and encourage them to visit</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refer them to the venue for accommodation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Very real chance of guests/visitors spending extra nights</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in the area</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at the venue leading to greater financial prosperity for the venue and area</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More secure employment at the venue and the potential for venue growth</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Increased chance of more work</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extra hours for existing staff</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Enhanced image of the area, district, town/city and country in the eyes of international tourists/visitors.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21135060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21810758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5877959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835283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7846631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29933326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latin typeface="+mn-lt"/>
                <a:ea typeface="+mn-ea"/>
                <a:cs typeface="+mn-cs"/>
              </a:rPr>
              <a:t>trainee</a:t>
            </a:r>
            <a:r>
              <a:rPr lang="en-US" dirty="0" smtClean="0"/>
              <a:t>s the Performance Criteria for this Element, as listed on the slide.</a:t>
            </a:r>
          </a:p>
          <a:p>
            <a:pPr>
              <a:buFont typeface="Arial" pitchFamily="34" charset="0"/>
              <a:buNone/>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latin typeface="+mn-lt"/>
                <a:ea typeface="+mn-ea"/>
                <a:cs typeface="+mn-cs"/>
              </a:rPr>
              <a:t>trainee</a:t>
            </a:r>
            <a:r>
              <a:rPr lang="en-US" b="0" dirty="0" smtClean="0"/>
              <a:t>s questions regarding their experiences and knowledge about updating local knowledge:</a:t>
            </a:r>
          </a:p>
          <a:p>
            <a:pPr>
              <a:buFont typeface="Arial" pitchFamily="34" charset="0"/>
              <a:buChar char="•"/>
            </a:pPr>
            <a:r>
              <a:rPr lang="en-US" b="0" dirty="0" smtClean="0"/>
              <a:t> Why do you think it is important for local knowledge/information to be kept up</a:t>
            </a:r>
            <a:r>
              <a:rPr lang="en-US" b="0" baseline="0" dirty="0" smtClean="0"/>
              <a:t> </a:t>
            </a:r>
            <a:r>
              <a:rPr lang="en-US" b="0" dirty="0" smtClean="0"/>
              <a:t>to</a:t>
            </a:r>
            <a:r>
              <a:rPr lang="en-US" b="0" baseline="0" dirty="0" smtClean="0"/>
              <a:t> </a:t>
            </a:r>
            <a:r>
              <a:rPr lang="en-US" b="0" dirty="0" smtClean="0"/>
              <a:t>date?</a:t>
            </a:r>
          </a:p>
          <a:p>
            <a:pPr>
              <a:buFont typeface="Arial" pitchFamily="34" charset="0"/>
              <a:buChar char="•"/>
            </a:pPr>
            <a:r>
              <a:rPr lang="en-US" b="0" dirty="0" smtClean="0"/>
              <a:t> How might a venue ensure it keeps all its local tourism information up</a:t>
            </a:r>
            <a:r>
              <a:rPr lang="en-US" b="0" baseline="0" dirty="0" smtClean="0"/>
              <a:t> </a:t>
            </a:r>
            <a:r>
              <a:rPr lang="en-US" b="0" dirty="0" smtClean="0"/>
              <a:t>to</a:t>
            </a:r>
            <a:r>
              <a:rPr lang="en-US" b="0" baseline="0" dirty="0" smtClean="0"/>
              <a:t> </a:t>
            </a:r>
            <a:r>
              <a:rPr lang="en-US" b="0" dirty="0" smtClean="0"/>
              <a:t>date?</a:t>
            </a:r>
          </a:p>
          <a:p>
            <a:pPr>
              <a:buFont typeface="Arial" pitchFamily="34" charset="0"/>
              <a:buChar char="•"/>
            </a:pPr>
            <a:r>
              <a:rPr lang="en-US" b="0" dirty="0" smtClean="0"/>
              <a:t> Which staff in the venue might be involved in keeping local information current?</a:t>
            </a:r>
          </a:p>
          <a:p>
            <a:pPr>
              <a:buFont typeface="Arial" pitchFamily="34" charset="0"/>
              <a:buChar char="•"/>
            </a:pPr>
            <a:r>
              <a:rPr lang="en-US" b="0" dirty="0" smtClean="0"/>
              <a:t> What might be the consequences of not keeping local tourism information up</a:t>
            </a:r>
            <a:r>
              <a:rPr lang="en-US" b="0" baseline="0" dirty="0" smtClean="0"/>
              <a:t> </a:t>
            </a:r>
            <a:r>
              <a:rPr lang="en-US" b="0" dirty="0" smtClean="0"/>
              <a:t>to</a:t>
            </a:r>
            <a:r>
              <a:rPr lang="en-US" b="0" baseline="0" dirty="0" smtClean="0"/>
              <a:t> </a:t>
            </a:r>
            <a:r>
              <a:rPr lang="en-US" b="0" dirty="0" smtClean="0"/>
              <a:t>date?</a:t>
            </a:r>
          </a:p>
          <a:p>
            <a:pPr>
              <a:buFont typeface="Arial" pitchFamily="34" charset="0"/>
              <a:buChar char="•"/>
            </a:pPr>
            <a:r>
              <a:rPr lang="en-US" b="0" dirty="0" smtClean="0"/>
              <a:t> How could a venue ensure all its staff are kept</a:t>
            </a:r>
            <a:r>
              <a:rPr lang="en-US" b="0" baseline="0" dirty="0" smtClean="0"/>
              <a:t> updated about new local visitor information, or changes to existing local visitor information?</a:t>
            </a:r>
          </a:p>
          <a:p>
            <a:pPr>
              <a:buFont typeface="Arial" pitchFamily="34" charset="0"/>
              <a:buChar char="•"/>
            </a:pPr>
            <a:r>
              <a:rPr lang="en-US" b="0" baseline="0" dirty="0" smtClean="0"/>
              <a:t> In what ways might staff at a venue incorporate new/updated local information into their day to day activities in dealing with visitors/tourists?</a:t>
            </a:r>
            <a:endParaRPr lang="en-US" b="0" dirty="0" smtClean="0"/>
          </a:p>
          <a:p>
            <a:pPr>
              <a:buFont typeface="Arial" pitchFamily="34" charset="0"/>
              <a:buChar char="•"/>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39237497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latin typeface="+mn-lt"/>
                <a:ea typeface="+mn-ea"/>
                <a:cs typeface="+mn-cs"/>
              </a:rPr>
              <a:t>Trainer tells trainees updating local knowledge can be conducted by undertaking research on an informal or formal basis describing:</a:t>
            </a:r>
          </a:p>
          <a:p>
            <a:pPr>
              <a:buFont typeface="Arial" pitchFamily="34" charset="0"/>
              <a:buChar char="•"/>
            </a:pPr>
            <a:r>
              <a:rPr lang="en-US" sz="1200" kern="1200" dirty="0" smtClean="0">
                <a:solidFill>
                  <a:schemeClr val="tx1"/>
                </a:solidFill>
                <a:latin typeface="+mn-lt"/>
                <a:ea typeface="+mn-ea"/>
                <a:cs typeface="+mn-cs"/>
              </a:rPr>
              <a:t> Informal research is generally research happening more by accident than design or planning.</a:t>
            </a:r>
            <a:r>
              <a:rPr lang="en-US" sz="1200" kern="1200" baseline="0" dirty="0" smtClean="0">
                <a:solidFill>
                  <a:schemeClr val="tx1"/>
                </a:solidFill>
                <a:latin typeface="+mn-lt"/>
                <a:ea typeface="+mn-ea"/>
                <a:cs typeface="+mn-cs"/>
              </a:rPr>
              <a:t> I</a:t>
            </a:r>
            <a:r>
              <a:rPr lang="en-US" sz="1200" kern="1200" dirty="0" smtClean="0">
                <a:solidFill>
                  <a:schemeClr val="tx1"/>
                </a:solidFill>
                <a:latin typeface="+mn-lt"/>
                <a:ea typeface="+mn-ea"/>
                <a:cs typeface="+mn-cs"/>
              </a:rPr>
              <a:t>t is information people just ‘come across’ in day</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to</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day life as opposed to deliberately searching it out. People often engage in informal research without realising it.</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Formal research, by contrast, is more structured, and has deliberate intent although it is possible to see some crossover between formal and informal research. With formal research, activities are undertaken with a specific purpose in mind.</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18205060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Trainer presents various research options to trainees: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Discussing information with colleagues;</a:t>
            </a:r>
            <a:r>
              <a:rPr lang="en-US" sz="1200" kern="1200" baseline="0" dirty="0" smtClean="0">
                <a:solidFill>
                  <a:schemeClr val="tx1"/>
                </a:solidFill>
                <a:latin typeface="+mn-lt"/>
                <a:ea typeface="+mn-ea"/>
                <a:cs typeface="+mn-cs"/>
              </a:rPr>
              <a:t> f</a:t>
            </a:r>
            <a:r>
              <a:rPr lang="en-US" sz="1200" kern="1200" dirty="0" smtClean="0">
                <a:solidFill>
                  <a:schemeClr val="tx1"/>
                </a:solidFill>
                <a:latin typeface="+mn-lt"/>
                <a:ea typeface="+mn-ea"/>
                <a:cs typeface="+mn-cs"/>
              </a:rPr>
              <a:t>inding out about their local experience, the information they have gained, and what they think</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Obtaining customer feedback.</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his is easily done when talking with them at reception after they have returned from a tour or a visit to an attraction, or at the table when they are having a meal. Keys are to ask plenty of questions, and show genuine interest in what people say.</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Personal observation .</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his takes place when, for example, noticing something, just by chance, regarding an attraction, local event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Informal discussions with friends and family where the topic of conversation happens to include local attractions, festivals </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23693718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research options for identifying updated local knowledge:</a:t>
            </a:r>
          </a:p>
          <a:p>
            <a:pPr>
              <a:buFont typeface="Arial" pitchFamily="34" charset="0"/>
              <a:buChar char="•"/>
            </a:pPr>
            <a:r>
              <a:rPr lang="en-US" sz="1200" kern="1200" dirty="0" smtClean="0">
                <a:solidFill>
                  <a:schemeClr val="tx1"/>
                </a:solidFill>
                <a:latin typeface="+mn-lt"/>
                <a:ea typeface="+mn-ea"/>
                <a:cs typeface="+mn-cs"/>
              </a:rPr>
              <a:t> Reading a magazine (especially travel and tourism literature) or any form of printed material and discovering an article about the local area</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Reading, listening to or watching the local media to identify what is happening locally, dates, features of the event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Undertaking general internet research.</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his is an excellent source of information and readily </a:t>
            </a:r>
            <a:r>
              <a:rPr lang="en-US" sz="1200" i="1" kern="1200" dirty="0" smtClean="0">
                <a:solidFill>
                  <a:schemeClr val="tx1"/>
                </a:solidFill>
                <a:latin typeface="+mn-lt"/>
                <a:ea typeface="+mn-ea"/>
                <a:cs typeface="+mn-cs"/>
              </a:rPr>
              <a:t>shows</a:t>
            </a:r>
            <a:r>
              <a:rPr lang="en-US" sz="1200" kern="1200" dirty="0" smtClean="0">
                <a:solidFill>
                  <a:schemeClr val="tx1"/>
                </a:solidFill>
                <a:latin typeface="+mn-lt"/>
                <a:ea typeface="+mn-ea"/>
                <a:cs typeface="+mn-cs"/>
              </a:rPr>
              <a:t> things as well as providing simple text.</a:t>
            </a:r>
            <a:r>
              <a:rPr lang="en-US" sz="1200" kern="1200" baseline="0" dirty="0" smtClean="0">
                <a:solidFill>
                  <a:schemeClr val="tx1"/>
                </a:solidFill>
                <a:latin typeface="+mn-lt"/>
                <a:ea typeface="+mn-ea"/>
                <a:cs typeface="+mn-cs"/>
              </a:rPr>
              <a:t> L</a:t>
            </a:r>
            <a:r>
              <a:rPr lang="en-US" sz="1200" kern="1200" dirty="0" smtClean="0">
                <a:solidFill>
                  <a:schemeClr val="tx1"/>
                </a:solidFill>
                <a:latin typeface="+mn-lt"/>
                <a:ea typeface="+mn-ea"/>
                <a:cs typeface="+mn-cs"/>
              </a:rPr>
              <a:t>ook for new websites, and ‘bookmarked’ sites that have changed since previous visits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Developing, distributing and </a:t>
            </a:r>
            <a:r>
              <a:rPr lang="en-US" sz="1200" kern="1200" dirty="0" err="1" smtClean="0">
                <a:solidFill>
                  <a:schemeClr val="tx1"/>
                </a:solidFill>
                <a:latin typeface="+mn-lt"/>
                <a:ea typeface="+mn-ea"/>
                <a:cs typeface="+mn-cs"/>
              </a:rPr>
              <a:t>analysing</a:t>
            </a:r>
            <a:r>
              <a:rPr lang="en-US" sz="1200" kern="1200" dirty="0" smtClean="0">
                <a:solidFill>
                  <a:schemeClr val="tx1"/>
                </a:solidFill>
                <a:latin typeface="+mn-lt"/>
                <a:ea typeface="+mn-ea"/>
                <a:cs typeface="+mn-cs"/>
              </a:rPr>
              <a:t> questionnaires.</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his is a paper-based variation (or it may be electronic/online) on verbally asking questions. The production of a questionnaire will enable </a:t>
            </a:r>
            <a:r>
              <a:rPr lang="en-US" sz="1200" kern="1200" dirty="0" err="1" smtClean="0">
                <a:solidFill>
                  <a:schemeClr val="tx1"/>
                </a:solidFill>
                <a:latin typeface="+mn-lt"/>
                <a:ea typeface="+mn-ea"/>
                <a:cs typeface="+mn-cs"/>
              </a:rPr>
              <a:t>formalised</a:t>
            </a:r>
            <a:r>
              <a:rPr lang="en-US" sz="1200" kern="1200" dirty="0" smtClean="0">
                <a:solidFill>
                  <a:schemeClr val="tx1"/>
                </a:solidFill>
                <a:latin typeface="+mn-lt"/>
                <a:ea typeface="+mn-ea"/>
                <a:cs typeface="+mn-cs"/>
              </a:rPr>
              <a:t> responses</a:t>
            </a:r>
            <a:r>
              <a:rPr lang="en-US" sz="1200" kern="1200" baseline="0" dirty="0" smtClean="0">
                <a:solidFill>
                  <a:schemeClr val="tx1"/>
                </a:solidFill>
                <a:latin typeface="+mn-lt"/>
                <a:ea typeface="+mn-ea"/>
                <a:cs typeface="+mn-cs"/>
              </a:rPr>
              <a:t> and </a:t>
            </a:r>
            <a:r>
              <a:rPr lang="en-US" sz="1200" kern="1200" dirty="0" smtClean="0">
                <a:solidFill>
                  <a:schemeClr val="tx1"/>
                </a:solidFill>
                <a:latin typeface="+mn-lt"/>
                <a:ea typeface="+mn-ea"/>
                <a:cs typeface="+mn-cs"/>
              </a:rPr>
              <a:t>feedback to given questions</a:t>
            </a:r>
            <a:r>
              <a:rPr lang="en-US" sz="1200" kern="1200" baseline="0" dirty="0" smtClean="0">
                <a:solidFill>
                  <a:schemeClr val="tx1"/>
                </a:solidFill>
                <a:latin typeface="+mn-lt"/>
                <a:ea typeface="+mn-ea"/>
                <a:cs typeface="+mn-cs"/>
              </a:rPr>
              <a:t> and </a:t>
            </a:r>
            <a:r>
              <a:rPr lang="en-US" sz="1200" kern="1200" dirty="0" smtClean="0">
                <a:solidFill>
                  <a:schemeClr val="tx1"/>
                </a:solidFill>
                <a:latin typeface="+mn-lt"/>
                <a:ea typeface="+mn-ea"/>
                <a:cs typeface="+mn-cs"/>
              </a:rPr>
              <a:t>topics.</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8227900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present research options for identifying updated local knowledge:</a:t>
            </a:r>
          </a:p>
          <a:p>
            <a:pPr>
              <a:buFont typeface="Arial" pitchFamily="34" charset="0"/>
              <a:buChar char="•"/>
            </a:pPr>
            <a:r>
              <a:rPr lang="en-US" sz="1200" kern="1200" dirty="0" smtClean="0">
                <a:solidFill>
                  <a:schemeClr val="tx1"/>
                </a:solidFill>
                <a:latin typeface="+mn-lt"/>
                <a:ea typeface="+mn-ea"/>
                <a:cs typeface="+mn-cs"/>
              </a:rPr>
              <a:t> Attending conferences and seminars.</a:t>
            </a:r>
            <a:r>
              <a:rPr lang="en-US" sz="1200" kern="1200" baseline="0" dirty="0" smtClean="0">
                <a:solidFill>
                  <a:schemeClr val="tx1"/>
                </a:solidFill>
                <a:latin typeface="+mn-lt"/>
                <a:ea typeface="+mn-ea"/>
                <a:cs typeface="+mn-cs"/>
              </a:rPr>
              <a:t> A</a:t>
            </a:r>
            <a:r>
              <a:rPr lang="en-US" sz="1200" kern="1200" dirty="0" smtClean="0">
                <a:solidFill>
                  <a:schemeClr val="tx1"/>
                </a:solidFill>
                <a:latin typeface="+mn-lt"/>
                <a:ea typeface="+mn-ea"/>
                <a:cs typeface="+mn-cs"/>
              </a:rPr>
              <a:t>ny time there is a conference or seminar on tourism and/or hospitality, make an effort to attend.</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 key is once again to become involved and be an active participant</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Attending launches of</a:t>
            </a:r>
            <a:r>
              <a:rPr lang="en-US" sz="1200" kern="1200" baseline="0" dirty="0" smtClean="0">
                <a:solidFill>
                  <a:schemeClr val="tx1"/>
                </a:solidFill>
                <a:latin typeface="+mn-lt"/>
                <a:ea typeface="+mn-ea"/>
                <a:cs typeface="+mn-cs"/>
              </a:rPr>
              <a:t> new products/services and openings of new venues/attractions. M</a:t>
            </a:r>
            <a:r>
              <a:rPr lang="en-US" sz="1200" kern="1200" dirty="0" smtClean="0">
                <a:solidFill>
                  <a:schemeClr val="tx1"/>
                </a:solidFill>
                <a:latin typeface="+mn-lt"/>
                <a:ea typeface="+mn-ea"/>
                <a:cs typeface="+mn-cs"/>
              </a:rPr>
              <a:t>any local areas will launch a new tourism initiative and it can be very informative to be there when these initiatives are revealed to the public. There is usually significant media involvement in these launches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Attending Industry Association functions.</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hese functions are a good networking opportunity and usually feature many representatives from support and associated businesses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Participating in </a:t>
            </a:r>
            <a:r>
              <a:rPr lang="en-US" sz="1200" kern="1200" dirty="0" err="1" smtClean="0">
                <a:solidFill>
                  <a:schemeClr val="tx1"/>
                </a:solidFill>
                <a:latin typeface="+mn-lt"/>
                <a:ea typeface="+mn-ea"/>
                <a:cs typeface="+mn-cs"/>
              </a:rPr>
              <a:t>familiarisation</a:t>
            </a:r>
            <a:r>
              <a:rPr lang="en-US" sz="1200" kern="1200" dirty="0" smtClean="0">
                <a:solidFill>
                  <a:schemeClr val="tx1"/>
                </a:solidFill>
                <a:latin typeface="+mn-lt"/>
                <a:ea typeface="+mn-ea"/>
                <a:cs typeface="+mn-cs"/>
              </a:rPr>
              <a:t> activities.</a:t>
            </a:r>
            <a:r>
              <a:rPr lang="en-US" sz="1200" kern="1200" baseline="0" dirty="0" smtClean="0">
                <a:solidFill>
                  <a:schemeClr val="tx1"/>
                </a:solidFill>
                <a:latin typeface="+mn-lt"/>
                <a:ea typeface="+mn-ea"/>
                <a:cs typeface="+mn-cs"/>
              </a:rPr>
              <a:t> </a:t>
            </a:r>
            <a:r>
              <a:rPr lang="en-US" sz="1200" kern="1200" baseline="0" dirty="0" err="1" smtClean="0">
                <a:solidFill>
                  <a:schemeClr val="tx1"/>
                </a:solidFill>
                <a:latin typeface="+mn-lt"/>
                <a:ea typeface="+mn-ea"/>
                <a:cs typeface="+mn-cs"/>
              </a:rPr>
              <a:t>F</a:t>
            </a:r>
            <a:r>
              <a:rPr lang="en-US" sz="1200" kern="1200" dirty="0" err="1" smtClean="0">
                <a:solidFill>
                  <a:schemeClr val="tx1"/>
                </a:solidFill>
                <a:latin typeface="+mn-lt"/>
                <a:ea typeface="+mn-ea"/>
                <a:cs typeface="+mn-cs"/>
              </a:rPr>
              <a:t>amiliarisations</a:t>
            </a:r>
            <a:r>
              <a:rPr lang="en-US" sz="1200" kern="1200" dirty="0" smtClean="0">
                <a:solidFill>
                  <a:schemeClr val="tx1"/>
                </a:solidFill>
                <a:latin typeface="+mn-lt"/>
                <a:ea typeface="+mn-ea"/>
                <a:cs typeface="+mn-cs"/>
              </a:rPr>
              <a:t> (or ‘famils’) are tours of venues</a:t>
            </a:r>
            <a:r>
              <a:rPr lang="en-US" sz="1200" kern="1200" baseline="0" dirty="0" smtClean="0">
                <a:solidFill>
                  <a:schemeClr val="tx1"/>
                </a:solidFill>
                <a:latin typeface="+mn-lt"/>
                <a:ea typeface="+mn-ea"/>
                <a:cs typeface="+mn-cs"/>
              </a:rPr>
              <a:t> and</a:t>
            </a:r>
            <a:r>
              <a:rPr lang="en-US" sz="1200" kern="1200" dirty="0" smtClean="0">
                <a:solidFill>
                  <a:schemeClr val="tx1"/>
                </a:solidFill>
                <a:latin typeface="+mn-lt"/>
                <a:ea typeface="+mn-ea"/>
                <a:cs typeface="+mn-cs"/>
              </a:rPr>
              <a:t> attractions  conducted by the operator to familiarise people (usually industry workers, but it can also apply to the media, potential customers/groups). A famil tour at a venue will include a tour of the venue, viewing of rooms and facilities, a talk by the manager and probably a free meal.</a:t>
            </a:r>
            <a:r>
              <a:rPr lang="en-US" sz="1200" kern="1200" baseline="0" dirty="0" smtClean="0">
                <a:solidFill>
                  <a:schemeClr val="tx1"/>
                </a:solidFill>
                <a:latin typeface="+mn-lt"/>
                <a:ea typeface="+mn-ea"/>
                <a:cs typeface="+mn-cs"/>
              </a:rPr>
              <a:t> A</a:t>
            </a:r>
            <a:r>
              <a:rPr lang="en-US" sz="1200" kern="1200" dirty="0" smtClean="0">
                <a:solidFill>
                  <a:schemeClr val="tx1"/>
                </a:solidFill>
                <a:latin typeface="+mn-lt"/>
                <a:ea typeface="+mn-ea"/>
                <a:cs typeface="+mn-cs"/>
              </a:rPr>
              <a:t>t a theme park the famil tour would include free rides, entry to shows, a talk by the manager, participation in shows/tours and also a free meal. The idea of ‘fam tours’ (as they are also known) is to enable staff to return to their</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workplace and then tell their customers/guests</a:t>
            </a:r>
            <a:r>
              <a:rPr lang="en-US" sz="1200" kern="1200" baseline="0" dirty="0" smtClean="0">
                <a:solidFill>
                  <a:schemeClr val="tx1"/>
                </a:solidFill>
                <a:latin typeface="+mn-lt"/>
                <a:ea typeface="+mn-ea"/>
                <a:cs typeface="+mn-cs"/>
              </a:rPr>
              <a:t> f</a:t>
            </a:r>
            <a:r>
              <a:rPr lang="en-US" sz="1200" kern="1200" dirty="0" smtClean="0">
                <a:solidFill>
                  <a:schemeClr val="tx1"/>
                </a:solidFill>
                <a:latin typeface="+mn-lt"/>
                <a:ea typeface="+mn-ea"/>
                <a:cs typeface="+mn-cs"/>
              </a:rPr>
              <a:t>rom first-hand experience exactly what the venue/attraction is like and what it is like to go there.</a:t>
            </a:r>
            <a:endParaRPr lang="en-AU"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None/>
            </a:pPr>
            <a:r>
              <a:rPr lang="en-US" b="1" dirty="0" smtClean="0"/>
              <a:t>Class Activity – Excursion</a:t>
            </a:r>
          </a:p>
          <a:p>
            <a:pPr>
              <a:buFont typeface="Arial" pitchFamily="34" charset="0"/>
              <a:buNone/>
            </a:pPr>
            <a:r>
              <a:rPr lang="en-US" b="0" dirty="0" smtClean="0"/>
              <a:t>Trainer arranges for trainees to be granted a familiarisation tour of a local venue or </a:t>
            </a:r>
            <a:r>
              <a:rPr kumimoji="0" lang="en-US" sz="2400" kern="1200" dirty="0" smtClean="0">
                <a:solidFill>
                  <a:schemeClr val="tx1"/>
                </a:solidFill>
                <a:latin typeface="+mn-lt"/>
                <a:ea typeface="+mn-ea"/>
                <a:cs typeface="+mn-cs"/>
              </a:rPr>
              <a:t>attraction</a:t>
            </a:r>
            <a:r>
              <a:rPr lang="en-US" b="0" dirty="0" smtClean="0"/>
              <a:t>.</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3516342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the keys to getting the most out of research are to:</a:t>
            </a:r>
          </a:p>
          <a:p>
            <a:pPr>
              <a:buFont typeface="Arial" pitchFamily="34" charset="0"/>
              <a:buChar char="•"/>
            </a:pPr>
            <a:r>
              <a:rPr lang="en-US" sz="1200" kern="1200" dirty="0" smtClean="0">
                <a:solidFill>
                  <a:schemeClr val="tx1"/>
                </a:solidFill>
                <a:latin typeface="+mn-lt"/>
                <a:ea typeface="+mn-ea"/>
                <a:cs typeface="+mn-cs"/>
              </a:rPr>
              <a:t> Do it regularly – it should be on-going</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Take notes – never rely just on memory</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Obtain hard-copy material – pick up brochures, download and print internet sites, file magazine articles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Involve others – the benefit of involving other people seemingly multiplies learning</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Share findings – pass on new information to both colleagues and customers.</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321433147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explains to trainees a</a:t>
            </a:r>
            <a:r>
              <a:rPr lang="en-US" sz="1200" kern="1200" dirty="0" smtClean="0">
                <a:solidFill>
                  <a:schemeClr val="tx1"/>
                </a:solidFill>
                <a:latin typeface="+mn-lt"/>
                <a:ea typeface="+mn-ea"/>
                <a:cs typeface="+mn-cs"/>
              </a:rPr>
              <a:t>ny new or updated local information must be shared with colleagues and customers in order to enhance service delivery and optimise customer experiences.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latin typeface="+mn-lt"/>
                <a:ea typeface="+mn-ea"/>
                <a:cs typeface="+mn-cs"/>
              </a:rPr>
              <a:t>Trainer defines, for the purposes of this Unit, ‘customers’ include guests, friends of guests and visitors generally.</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hey can be individuals, families or groups of business people or tour groups.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latin typeface="+mn-lt"/>
                <a:ea typeface="+mn-ea"/>
                <a:cs typeface="+mn-cs"/>
              </a:rPr>
              <a:t>Trainer presents to trainees options for sharing updated local information with staff:</a:t>
            </a:r>
          </a:p>
          <a:p>
            <a:pPr>
              <a:buFont typeface="Arial" pitchFamily="34" charset="0"/>
              <a:buChar char="•"/>
            </a:pPr>
            <a:r>
              <a:rPr lang="en-US" sz="1200" kern="1200" dirty="0" smtClean="0">
                <a:solidFill>
                  <a:schemeClr val="tx1"/>
                </a:solidFill>
                <a:latin typeface="+mn-lt"/>
                <a:ea typeface="+mn-ea"/>
                <a:cs typeface="+mn-cs"/>
              </a:rPr>
              <a:t> Advising of altered conditions when talking to customers, guests and visitors.</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hese ‘altered conditions’ may relate to:</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Opening hours for a venue,</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attraction</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park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Prices to enter, cost of tickets and tours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Schedules and timetables of shows, buses, trains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Mentioning new options to customers/guests such as: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Telling them about a new park, gardens, attraction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Giving them a brochure about the new/revised attraction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Providing a map and directions about how to get there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Asking people where they have already been and what they have already seen</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to enable: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Recommendation of attractions  they have not yet seen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Provision of information</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brochures about those places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Giving first-hand impressions about the attraction , where applicable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Prepare local ‘information packs.</a:t>
            </a:r>
            <a:r>
              <a:rPr lang="en-US" sz="1200" kern="1200" baseline="0" dirty="0" smtClean="0">
                <a:solidFill>
                  <a:schemeClr val="tx1"/>
                </a:solidFill>
                <a:latin typeface="+mn-lt"/>
                <a:ea typeface="+mn-ea"/>
                <a:cs typeface="+mn-cs"/>
              </a:rPr>
              <a:t> Th</a:t>
            </a:r>
            <a:r>
              <a:rPr lang="en-US" sz="1200" kern="1200" dirty="0" smtClean="0">
                <a:solidFill>
                  <a:schemeClr val="tx1"/>
                </a:solidFill>
                <a:latin typeface="+mn-lt"/>
                <a:ea typeface="+mn-ea"/>
                <a:cs typeface="+mn-cs"/>
              </a:rPr>
              <a:t>ese can simply be an assortment of information brochures relating to different types of places of interest, types of tourism, guest interests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Develop a series of tours suitable for guests or visitors.</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hese should be supported by relevant information brochures, schedules</a:t>
            </a:r>
            <a:r>
              <a:rPr lang="en-US" sz="1200" kern="1200" baseline="0" dirty="0" smtClean="0">
                <a:solidFill>
                  <a:schemeClr val="tx1"/>
                </a:solidFill>
                <a:latin typeface="+mn-lt"/>
                <a:ea typeface="+mn-ea"/>
                <a:cs typeface="+mn-cs"/>
              </a:rPr>
              <a:t> and</a:t>
            </a:r>
            <a:r>
              <a:rPr lang="en-US" sz="1200" kern="1200" dirty="0" smtClean="0">
                <a:solidFill>
                  <a:schemeClr val="tx1"/>
                </a:solidFill>
                <a:latin typeface="+mn-lt"/>
                <a:ea typeface="+mn-ea"/>
                <a:cs typeface="+mn-cs"/>
              </a:rPr>
              <a:t> maps and encompass: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Walking tours, self-drive tours, public transport-based tours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Two-hour tours, half-day tours and full-day tours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Night walks.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13053347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talks again about ways in which local knowledge may be shared with colleagues in the workplace:</a:t>
            </a:r>
          </a:p>
          <a:p>
            <a:pPr>
              <a:buFont typeface="Arial" pitchFamily="34" charset="0"/>
              <a:buChar char="•"/>
            </a:pPr>
            <a:r>
              <a:rPr lang="en-US" sz="1200" kern="1200" dirty="0" smtClean="0">
                <a:solidFill>
                  <a:schemeClr val="tx1"/>
                </a:solidFill>
                <a:latin typeface="+mn-lt"/>
                <a:ea typeface="+mn-ea"/>
                <a:cs typeface="+mn-cs"/>
              </a:rPr>
              <a:t> Verbally tell colleagues about has been learned</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E-mail co-workers with information discovered</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Prepare a handout and distribute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Update internal information systems such</a:t>
            </a:r>
            <a:r>
              <a:rPr lang="en-US" sz="1200" kern="1200" baseline="0" dirty="0" smtClean="0">
                <a:solidFill>
                  <a:schemeClr val="tx1"/>
                </a:solidFill>
                <a:latin typeface="+mn-lt"/>
                <a:ea typeface="+mn-ea"/>
                <a:cs typeface="+mn-cs"/>
              </a:rPr>
              <a:t> as </a:t>
            </a:r>
            <a:r>
              <a:rPr lang="en-US" sz="1200" kern="1200" dirty="0" smtClean="0">
                <a:solidFill>
                  <a:schemeClr val="tx1"/>
                </a:solidFill>
                <a:latin typeface="+mn-lt"/>
                <a:ea typeface="+mn-ea"/>
                <a:cs typeface="+mn-cs"/>
              </a:rPr>
              <a:t>databases and CRS.</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29182918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talk about ways in which local knowledge may be shared with colleagues in the workplace:</a:t>
            </a:r>
          </a:p>
          <a:p>
            <a:pPr>
              <a:buFont typeface="Arial" pitchFamily="34" charset="0"/>
              <a:buChar char="•"/>
            </a:pPr>
            <a:r>
              <a:rPr lang="en-US" sz="1200" kern="1200" dirty="0" smtClean="0">
                <a:solidFill>
                  <a:schemeClr val="tx1"/>
                </a:solidFill>
                <a:latin typeface="+mn-lt"/>
                <a:ea typeface="+mn-ea"/>
                <a:cs typeface="+mn-cs"/>
              </a:rPr>
              <a:t> Replace and replenish internal displays.</a:t>
            </a:r>
            <a:r>
              <a:rPr lang="en-US" sz="1200" kern="1200" baseline="0" dirty="0" smtClean="0">
                <a:solidFill>
                  <a:schemeClr val="tx1"/>
                </a:solidFill>
                <a:latin typeface="+mn-lt"/>
                <a:ea typeface="+mn-ea"/>
                <a:cs typeface="+mn-cs"/>
              </a:rPr>
              <a:t> E</a:t>
            </a:r>
            <a:r>
              <a:rPr lang="en-US" sz="1200" kern="1200" dirty="0" smtClean="0">
                <a:solidFill>
                  <a:schemeClr val="tx1"/>
                </a:solidFill>
                <a:latin typeface="+mn-lt"/>
                <a:ea typeface="+mn-ea"/>
                <a:cs typeface="+mn-cs"/>
              </a:rPr>
              <a:t>nsure dated materials are discarded</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Arrange for a guest </a:t>
            </a:r>
            <a:r>
              <a:rPr lang="en-US" sz="1200" kern="1200" dirty="0" err="1" smtClean="0">
                <a:solidFill>
                  <a:schemeClr val="tx1"/>
                </a:solidFill>
                <a:latin typeface="+mn-lt"/>
                <a:ea typeface="+mn-ea"/>
                <a:cs typeface="+mn-cs"/>
              </a:rPr>
              <a:t>speakerto</a:t>
            </a:r>
            <a:r>
              <a:rPr lang="en-US" sz="1200" kern="1200" dirty="0" smtClean="0">
                <a:solidFill>
                  <a:schemeClr val="tx1"/>
                </a:solidFill>
                <a:latin typeface="+mn-lt"/>
                <a:ea typeface="+mn-ea"/>
                <a:cs typeface="+mn-cs"/>
              </a:rPr>
              <a:t> come and talk to staff</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Organise a visit to the venue/attraction for staff to gain first-hand experience</a:t>
            </a:r>
            <a:r>
              <a:rPr lang="en-US" sz="1200" kern="1200" baseline="0" dirty="0" smtClean="0">
                <a:solidFill>
                  <a:schemeClr val="tx1"/>
                </a:solidFill>
                <a:latin typeface="+mn-lt"/>
                <a:ea typeface="+mn-ea"/>
                <a:cs typeface="+mn-cs"/>
              </a:rPr>
              <a:t> and </a:t>
            </a:r>
            <a:r>
              <a:rPr lang="en-US" sz="1200" kern="1200" dirty="0" smtClean="0">
                <a:solidFill>
                  <a:schemeClr val="tx1"/>
                </a:solidFill>
                <a:latin typeface="+mn-lt"/>
                <a:ea typeface="+mn-ea"/>
                <a:cs typeface="+mn-cs"/>
              </a:rPr>
              <a:t>knowledge.</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22445984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latin typeface="+mn-lt"/>
                <a:ea typeface="+mn-ea"/>
                <a:cs typeface="+mn-cs"/>
              </a:rPr>
              <a:t>Trainer highlights to trainees that  it is critical for all venue staff to incorporate the sharing of local knowledge and information into day to</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day working activities with customers/visitors.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latin typeface="+mn-lt"/>
                <a:ea typeface="+mn-ea"/>
                <a:cs typeface="+mn-cs"/>
              </a:rPr>
              <a:t>Trainer</a:t>
            </a:r>
            <a:r>
              <a:rPr lang="en-US" sz="1200" kern="1200" baseline="0" dirty="0" smtClean="0">
                <a:solidFill>
                  <a:schemeClr val="tx1"/>
                </a:solidFill>
                <a:latin typeface="+mn-lt"/>
                <a:ea typeface="+mn-ea"/>
                <a:cs typeface="+mn-cs"/>
              </a:rPr>
              <a:t> presents options to achieve this as:</a:t>
            </a:r>
          </a:p>
          <a:p>
            <a:pPr>
              <a:buFont typeface="Arial" pitchFamily="34" charset="0"/>
              <a:buChar char="•"/>
            </a:pPr>
            <a:r>
              <a:rPr lang="en-US" sz="1200" kern="1200" baseline="0" dirty="0" smtClean="0">
                <a:solidFill>
                  <a:schemeClr val="tx1"/>
                </a:solidFill>
                <a:latin typeface="+mn-lt"/>
                <a:ea typeface="+mn-ea"/>
                <a:cs typeface="+mn-cs"/>
              </a:rPr>
              <a:t> Prepare some local trips/tours. The </a:t>
            </a:r>
            <a:r>
              <a:rPr lang="en-US" sz="1200" kern="1200" dirty="0" smtClean="0">
                <a:solidFill>
                  <a:schemeClr val="tx1"/>
                </a:solidFill>
                <a:latin typeface="+mn-lt"/>
                <a:ea typeface="+mn-ea"/>
                <a:cs typeface="+mn-cs"/>
              </a:rPr>
              <a:t>key aims of doing this are: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To try to get the guest to stay another day or more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To maximise their enjoyment during their stay to bring repeat and referral business.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The full-day trip should spell out: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The route to take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The distances involved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The times allowed for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Details of all the destinations.</a:t>
            </a:r>
            <a:r>
              <a:rPr lang="en-US" sz="1200" kern="1200" baseline="0" dirty="0" smtClean="0">
                <a:solidFill>
                  <a:schemeClr val="tx1"/>
                </a:solidFill>
                <a:latin typeface="+mn-lt"/>
                <a:ea typeface="+mn-ea"/>
                <a:cs typeface="+mn-cs"/>
              </a:rPr>
              <a:t> A</a:t>
            </a:r>
            <a:r>
              <a:rPr lang="en-US" sz="1200" kern="1200" dirty="0" smtClean="0">
                <a:solidFill>
                  <a:schemeClr val="tx1"/>
                </a:solidFill>
                <a:latin typeface="+mn-lt"/>
                <a:ea typeface="+mn-ea"/>
                <a:cs typeface="+mn-cs"/>
              </a:rPr>
              <a:t>im to put together as many of these types of trips as possible. There may be subtle changes between similar trips based on different opening days/hours for some attractions.</a:t>
            </a:r>
            <a:r>
              <a:rPr lang="en-US" sz="1200" kern="1200" baseline="0" dirty="0" smtClean="0">
                <a:solidFill>
                  <a:schemeClr val="tx1"/>
                </a:solidFill>
                <a:latin typeface="+mn-lt"/>
                <a:ea typeface="+mn-ea"/>
                <a:cs typeface="+mn-cs"/>
              </a:rPr>
              <a:t> F</a:t>
            </a:r>
            <a:r>
              <a:rPr lang="en-US" sz="1200" kern="1200" dirty="0" smtClean="0">
                <a:solidFill>
                  <a:schemeClr val="tx1"/>
                </a:solidFill>
                <a:latin typeface="+mn-lt"/>
                <a:ea typeface="+mn-ea"/>
                <a:cs typeface="+mn-cs"/>
              </a:rPr>
              <a:t>or example, the area may have certain attractions not open on Tuesdays and Wednesdays.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Half-day trips:</a:t>
            </a:r>
          </a:p>
          <a:p>
            <a:pPr lvl="1">
              <a:buFont typeface="Arial" pitchFamily="34" charset="0"/>
              <a:buChar char="•"/>
            </a:pPr>
            <a:r>
              <a:rPr lang="en-US" sz="1200" kern="1200" dirty="0" smtClean="0">
                <a:solidFill>
                  <a:schemeClr val="tx1"/>
                </a:solidFill>
                <a:latin typeface="+mn-lt"/>
                <a:ea typeface="+mn-ea"/>
                <a:cs typeface="+mn-cs"/>
              </a:rPr>
              <a:t> Should aim at a four-hour trip.</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here may be different ones for different days (again, because some places may not be open at certain times, or the animals are only fed at 4:00PM, or the tide comes in at a certain time), and different ones for the morning and afternoon. Different ones may be prepared to cater for different weather conditions. There may be different ones for different seasons especially where natural attractions are involved. Night walks are a fairly common extension of this concept </a:t>
            </a:r>
          </a:p>
          <a:p>
            <a:pPr>
              <a:buFont typeface="Arial" pitchFamily="34" charset="0"/>
              <a:buChar char="•"/>
            </a:pPr>
            <a:r>
              <a:rPr lang="en-US" sz="1200" kern="1200" dirty="0" smtClean="0">
                <a:solidFill>
                  <a:schemeClr val="tx1"/>
                </a:solidFill>
                <a:latin typeface="+mn-lt"/>
                <a:ea typeface="+mn-ea"/>
                <a:cs typeface="+mn-cs"/>
              </a:rPr>
              <a:t> Two-hour tours:</a:t>
            </a:r>
          </a:p>
          <a:p>
            <a:pPr lvl="1">
              <a:buFont typeface="Arial" pitchFamily="34" charset="0"/>
              <a:buChar char="•"/>
            </a:pPr>
            <a:r>
              <a:rPr lang="en-US" sz="1200" kern="1200" dirty="0" smtClean="0">
                <a:solidFill>
                  <a:schemeClr val="tx1"/>
                </a:solidFill>
                <a:latin typeface="+mn-lt"/>
                <a:ea typeface="+mn-ea"/>
                <a:cs typeface="+mn-cs"/>
              </a:rPr>
              <a:t> Are for people who want to squeeze a little bit extra in today, or before they depart the area tomorrow.  The same advice as for the other types of trips applies.</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 trip is just shorter.</a:t>
            </a:r>
            <a:r>
              <a:rPr lang="en-US" sz="1200" kern="1200" baseline="0" dirty="0" smtClean="0">
                <a:solidFill>
                  <a:schemeClr val="tx1"/>
                </a:solidFill>
                <a:latin typeface="+mn-lt"/>
                <a:ea typeface="+mn-ea"/>
                <a:cs typeface="+mn-cs"/>
              </a:rPr>
              <a:t> P</a:t>
            </a:r>
            <a:r>
              <a:rPr lang="en-US" sz="1200" kern="1200" dirty="0" smtClean="0">
                <a:solidFill>
                  <a:schemeClr val="tx1"/>
                </a:solidFill>
                <a:latin typeface="+mn-lt"/>
                <a:ea typeface="+mn-ea"/>
                <a:cs typeface="+mn-cs"/>
              </a:rPr>
              <a:t>erhaps divide a half-day trip into two, or it may be a totally new idea.</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It is a good idea to create one of these trips between the venue and the airport, for example, so the guest/visitor can a little bit extra on their way ‘home’.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These ‘trips’ can be ‘mud maps’ with hand-written features or produced on the workplace computer and printer.</a:t>
            </a:r>
            <a:r>
              <a:rPr lang="en-US" sz="1200" kern="1200" baseline="0" dirty="0" smtClean="0">
                <a:solidFill>
                  <a:schemeClr val="tx1"/>
                </a:solidFill>
                <a:latin typeface="+mn-lt"/>
                <a:ea typeface="+mn-ea"/>
                <a:cs typeface="+mn-cs"/>
              </a:rPr>
              <a:t> They can </a:t>
            </a:r>
            <a:r>
              <a:rPr lang="en-US" sz="1200" kern="1200" dirty="0" smtClean="0">
                <a:solidFill>
                  <a:schemeClr val="tx1"/>
                </a:solidFill>
                <a:latin typeface="+mn-lt"/>
                <a:ea typeface="+mn-ea"/>
                <a:cs typeface="+mn-cs"/>
              </a:rPr>
              <a:t>be professionally produced and printed for distribution.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Naturally the trip</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preparation or itinerary should be certain to describe any potential pitfalls, dangers, obstacles, hazards, or warnings. It should also list any items people should take with them.</a:t>
            </a:r>
            <a:r>
              <a:rPr lang="en-US" sz="1200" kern="1200" baseline="0" dirty="0" smtClean="0">
                <a:solidFill>
                  <a:schemeClr val="tx1"/>
                </a:solidFill>
                <a:latin typeface="+mn-lt"/>
                <a:ea typeface="+mn-ea"/>
                <a:cs typeface="+mn-cs"/>
              </a:rPr>
              <a:t> This </a:t>
            </a:r>
            <a:r>
              <a:rPr lang="en-US" sz="1200" kern="1200" dirty="0" smtClean="0">
                <a:solidFill>
                  <a:schemeClr val="tx1"/>
                </a:solidFill>
                <a:latin typeface="+mn-lt"/>
                <a:ea typeface="+mn-ea"/>
                <a:cs typeface="+mn-cs"/>
              </a:rPr>
              <a:t> may include petrol, sun screen, drinking water, coins for machines, a hat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Depending on clientele, prepare trip handouts in different languages to cater for the cross-section of international visitors the venue attracts.</a:t>
            </a:r>
            <a:endParaRPr lang="en-AU" sz="1200" kern="1200" dirty="0" smtClean="0">
              <a:solidFill>
                <a:schemeClr val="tx1"/>
              </a:solidFill>
              <a:latin typeface="+mn-lt"/>
              <a:ea typeface="+mn-ea"/>
              <a:cs typeface="+mn-cs"/>
            </a:endParaRPr>
          </a:p>
          <a:p>
            <a:pPr>
              <a:buFont typeface="Arial" pitchFamily="34" charset="0"/>
              <a:buChar char="•"/>
            </a:pPr>
            <a:endParaRPr lang="en-US" sz="1200" kern="1200" dirty="0" smtClean="0">
              <a:solidFill>
                <a:schemeClr val="tx1"/>
              </a:solidFill>
              <a:latin typeface="+mn-lt"/>
              <a:ea typeface="+mn-ea"/>
              <a:cs typeface="+mn-cs"/>
            </a:endParaRPr>
          </a:p>
          <a:p>
            <a:pPr>
              <a:buFont typeface="Arial" pitchFamily="34" charset="0"/>
              <a:buNone/>
            </a:pPr>
            <a:r>
              <a:rPr lang="en-US" sz="1200" b="1" kern="1200" dirty="0" smtClean="0">
                <a:solidFill>
                  <a:schemeClr val="tx1"/>
                </a:solidFill>
                <a:latin typeface="+mn-lt"/>
                <a:ea typeface="+mn-ea"/>
                <a:cs typeface="+mn-cs"/>
              </a:rPr>
              <a:t>Class</a:t>
            </a:r>
            <a:r>
              <a:rPr lang="en-US" sz="1200" b="1" kern="1200" baseline="0" dirty="0" smtClean="0">
                <a:solidFill>
                  <a:schemeClr val="tx1"/>
                </a:solidFill>
                <a:latin typeface="+mn-lt"/>
                <a:ea typeface="+mn-ea"/>
                <a:cs typeface="+mn-cs"/>
              </a:rPr>
              <a:t> Activity – Small Group Exercise</a:t>
            </a:r>
          </a:p>
          <a:p>
            <a:pPr>
              <a:buFont typeface="Arial" pitchFamily="34" charset="0"/>
              <a:buNone/>
            </a:pPr>
            <a:r>
              <a:rPr lang="en-US" b="0" dirty="0" smtClean="0"/>
              <a:t>Trainer divides</a:t>
            </a:r>
            <a:r>
              <a:rPr lang="en-US" b="0" baseline="0" dirty="0" smtClean="0"/>
              <a:t> trainees into three groups and asks:</a:t>
            </a:r>
          </a:p>
          <a:p>
            <a:pPr>
              <a:buFont typeface="Arial" pitchFamily="34" charset="0"/>
              <a:buChar char="•"/>
            </a:pPr>
            <a:r>
              <a:rPr lang="en-US" b="0" baseline="0" dirty="0" smtClean="0"/>
              <a:t> Group 1 to prepare a full-day tour for the region</a:t>
            </a:r>
          </a:p>
          <a:p>
            <a:pPr>
              <a:buFont typeface="Arial" pitchFamily="34" charset="0"/>
              <a:buChar char="•"/>
            </a:pPr>
            <a:r>
              <a:rPr lang="en-US" b="0" baseline="0" dirty="0" smtClean="0"/>
              <a:t> Group 2 to prepare two half-day tours for an area</a:t>
            </a:r>
          </a:p>
          <a:p>
            <a:pPr>
              <a:buFont typeface="Arial" pitchFamily="34" charset="0"/>
              <a:buChar char="•"/>
            </a:pPr>
            <a:r>
              <a:rPr lang="en-US" b="0" baseline="0" dirty="0" smtClean="0"/>
              <a:t> Group 3 to prepare four two-hour tours for the area.</a:t>
            </a:r>
          </a:p>
          <a:p>
            <a:pPr>
              <a:buFont typeface="Arial" pitchFamily="34" charset="0"/>
              <a:buNone/>
            </a:pPr>
            <a:r>
              <a:rPr lang="en-US" b="0" baseline="0" dirty="0" smtClean="0"/>
              <a:t>Tours should be shared with the rest of the group, for comment and feedback.</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1614068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buFont typeface="Arial" pitchFamily="34" charset="0"/>
              <a:buNone/>
            </a:pPr>
            <a:r>
              <a:rPr lang="en-US" dirty="0" smtClean="0"/>
              <a:t>Trainer continues to present ways in which trainees can share local knowledge by incorporating</a:t>
            </a:r>
            <a:r>
              <a:rPr lang="en-US" baseline="0" dirty="0" smtClean="0"/>
              <a:t> to into day to day activities:</a:t>
            </a:r>
          </a:p>
          <a:p>
            <a:pPr>
              <a:buFont typeface="Arial" pitchFamily="34" charset="0"/>
              <a:buChar char="•"/>
            </a:pPr>
            <a:r>
              <a:rPr lang="en-US" baseline="0" dirty="0" smtClean="0"/>
              <a:t> Develop a local information list . If </a:t>
            </a:r>
            <a:r>
              <a:rPr lang="en-US" sz="1200" kern="1200" dirty="0" smtClean="0">
                <a:solidFill>
                  <a:schemeClr val="tx1"/>
                </a:solidFill>
                <a:latin typeface="+mn-lt"/>
                <a:ea typeface="+mn-ea"/>
                <a:cs typeface="+mn-cs"/>
              </a:rPr>
              <a:t>the local Visitor Information Centre does not already have any suitable lists accommodating this need, then it is up to venues to meet this need by creating their own list to help visitors. Consider making a big production out of this.</a:t>
            </a:r>
            <a:r>
              <a:rPr lang="en-US" sz="1200" kern="1200" baseline="0" dirty="0" smtClean="0">
                <a:solidFill>
                  <a:schemeClr val="tx1"/>
                </a:solidFill>
                <a:latin typeface="+mn-lt"/>
                <a:ea typeface="+mn-ea"/>
                <a:cs typeface="+mn-cs"/>
              </a:rPr>
              <a:t> M</a:t>
            </a:r>
            <a:r>
              <a:rPr lang="en-US" sz="1200" kern="1200" dirty="0" smtClean="0">
                <a:solidFill>
                  <a:schemeClr val="tx1"/>
                </a:solidFill>
                <a:latin typeface="+mn-lt"/>
                <a:ea typeface="+mn-ea"/>
                <a:cs typeface="+mn-cs"/>
              </a:rPr>
              <a:t>ake the workplace venue a central feature, but be prepared to sell space to other operators who are likely to benefit (to help defray the costs of production). The list should cover:</a:t>
            </a:r>
          </a:p>
          <a:p>
            <a:pPr lvl="1">
              <a:buFont typeface="Arial" pitchFamily="34" charset="0"/>
              <a:buChar char="•"/>
            </a:pPr>
            <a:r>
              <a:rPr lang="en-US" sz="1200" kern="1200" dirty="0" smtClean="0">
                <a:solidFill>
                  <a:schemeClr val="tx1"/>
                </a:solidFill>
                <a:latin typeface="+mn-lt"/>
                <a:ea typeface="+mn-ea"/>
                <a:cs typeface="+mn-cs"/>
              </a:rPr>
              <a:t> Local attractions </a:t>
            </a:r>
          </a:p>
          <a:p>
            <a:pPr lvl="1">
              <a:buFont typeface="Arial" pitchFamily="34" charset="0"/>
              <a:buChar char="•"/>
            </a:pPr>
            <a:r>
              <a:rPr lang="en-US" sz="1200" kern="1200" dirty="0" smtClean="0">
                <a:solidFill>
                  <a:schemeClr val="tx1"/>
                </a:solidFill>
                <a:latin typeface="+mn-lt"/>
                <a:ea typeface="+mn-ea"/>
                <a:cs typeface="+mn-cs"/>
              </a:rPr>
              <a:t> Tours </a:t>
            </a:r>
          </a:p>
          <a:p>
            <a:pPr lvl="1">
              <a:buFont typeface="Arial" pitchFamily="34" charset="0"/>
              <a:buChar char="•"/>
            </a:pPr>
            <a:r>
              <a:rPr lang="en-US" sz="1200" kern="1200" dirty="0" smtClean="0">
                <a:solidFill>
                  <a:schemeClr val="tx1"/>
                </a:solidFill>
                <a:latin typeface="+mn-lt"/>
                <a:ea typeface="+mn-ea"/>
                <a:cs typeface="+mn-cs"/>
              </a:rPr>
              <a:t> Opening hours of attractions</a:t>
            </a:r>
          </a:p>
          <a:p>
            <a:pPr lvl="1">
              <a:buFont typeface="Arial" pitchFamily="34" charset="0"/>
              <a:buChar char="•"/>
            </a:pPr>
            <a:r>
              <a:rPr lang="en-US" sz="1200" kern="1200" dirty="0" smtClean="0">
                <a:solidFill>
                  <a:schemeClr val="tx1"/>
                </a:solidFill>
                <a:latin typeface="+mn-lt"/>
                <a:ea typeface="+mn-ea"/>
                <a:cs typeface="+mn-cs"/>
              </a:rPr>
              <a:t> Costs of tickets  </a:t>
            </a:r>
          </a:p>
          <a:p>
            <a:pPr lvl="1">
              <a:buFont typeface="Arial" pitchFamily="34" charset="0"/>
              <a:buChar char="•"/>
            </a:pPr>
            <a:r>
              <a:rPr lang="en-US" sz="1200" kern="1200" dirty="0" smtClean="0">
                <a:solidFill>
                  <a:schemeClr val="tx1"/>
                </a:solidFill>
                <a:latin typeface="+mn-lt"/>
                <a:ea typeface="+mn-ea"/>
                <a:cs typeface="+mn-cs"/>
              </a:rPr>
              <a:t> Distances of the attractions</a:t>
            </a:r>
            <a:r>
              <a:rPr lang="en-US" sz="1200" kern="1200" baseline="0" dirty="0" smtClean="0">
                <a:solidFill>
                  <a:schemeClr val="tx1"/>
                </a:solidFill>
                <a:latin typeface="+mn-lt"/>
                <a:ea typeface="+mn-ea"/>
                <a:cs typeface="+mn-cs"/>
              </a:rPr>
              <a:t>  from the venue and time to travel there</a:t>
            </a:r>
            <a:r>
              <a:rPr lang="en-US" sz="1200" kern="1200" dirty="0" smtClean="0">
                <a:solidFill>
                  <a:schemeClr val="tx1"/>
                </a:solidFill>
                <a:latin typeface="+mn-lt"/>
                <a:ea typeface="+mn-ea"/>
                <a:cs typeface="+mn-cs"/>
              </a:rPr>
              <a:t>.</a:t>
            </a:r>
            <a:endParaRPr lang="en-AU" sz="1200" kern="1200" dirty="0" smtClean="0">
              <a:solidFill>
                <a:schemeClr val="tx1"/>
              </a:solidFill>
              <a:latin typeface="+mn-lt"/>
              <a:ea typeface="+mn-ea"/>
              <a:cs typeface="+mn-cs"/>
            </a:endParaRPr>
          </a:p>
          <a:p>
            <a:pPr>
              <a:buFont typeface="Arial" pitchFamily="34" charset="0"/>
              <a:buChar char="•"/>
            </a:pPr>
            <a:r>
              <a:rPr lang="en-US" baseline="0" dirty="0" smtClean="0"/>
              <a:t> Tell people. This should include:</a:t>
            </a:r>
          </a:p>
          <a:p>
            <a:pPr lvl="1">
              <a:buFont typeface="Arial" pitchFamily="34" charset="0"/>
              <a:buChar char="•"/>
            </a:pPr>
            <a:r>
              <a:rPr lang="en-US" sz="1200" kern="1200" dirty="0" smtClean="0">
                <a:solidFill>
                  <a:schemeClr val="tx1"/>
                </a:solidFill>
                <a:latin typeface="+mn-lt"/>
                <a:ea typeface="+mn-ea"/>
                <a:cs typeface="+mn-cs"/>
              </a:rPr>
              <a:t> Involving all front-of-house staff in telling customers what is available.</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his can include:</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Reception staff on guest arrival</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Waiting staff in dining areas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Bar staff in bars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Making it standard procedure for staff to ask customers/guests what they have seen or done.</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hey can then recommend something they have not seen, and something they have not yet done.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Providing relevant support materials to optimise the chance of customers/guests taking up suggestions made by staff.</a:t>
            </a:r>
            <a:r>
              <a:rPr lang="en-US" sz="1200" kern="1200" baseline="0" dirty="0" smtClean="0">
                <a:solidFill>
                  <a:schemeClr val="tx1"/>
                </a:solidFill>
                <a:latin typeface="+mn-lt"/>
                <a:ea typeface="+mn-ea"/>
                <a:cs typeface="+mn-cs"/>
              </a:rPr>
              <a:t> These can include </a:t>
            </a:r>
            <a:r>
              <a:rPr lang="en-US" sz="1200" kern="1200" dirty="0" smtClean="0">
                <a:solidFill>
                  <a:schemeClr val="tx1"/>
                </a:solidFill>
                <a:latin typeface="+mn-lt"/>
                <a:ea typeface="+mn-ea"/>
                <a:cs typeface="+mn-cs"/>
              </a:rPr>
              <a:t>maps, brochures, promotional materials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Using </a:t>
            </a:r>
            <a:r>
              <a:rPr lang="en-US" sz="1200" i="1" kern="1200" dirty="0" smtClean="0">
                <a:solidFill>
                  <a:schemeClr val="tx1"/>
                </a:solidFill>
                <a:latin typeface="+mn-lt"/>
                <a:ea typeface="+mn-ea"/>
                <a:cs typeface="+mn-cs"/>
              </a:rPr>
              <a:t>personal experience</a:t>
            </a:r>
            <a:r>
              <a:rPr lang="en-US" sz="1200" kern="1200" dirty="0" smtClean="0">
                <a:solidFill>
                  <a:schemeClr val="tx1"/>
                </a:solidFill>
                <a:latin typeface="+mn-lt"/>
                <a:ea typeface="+mn-ea"/>
                <a:cs typeface="+mn-cs"/>
              </a:rPr>
              <a:t> as the basis for making suggestions by telling customers of their </a:t>
            </a:r>
            <a:r>
              <a:rPr lang="en-US" sz="1200" i="1" kern="1200" dirty="0" smtClean="0">
                <a:solidFill>
                  <a:schemeClr val="tx1"/>
                </a:solidFill>
                <a:latin typeface="+mn-lt"/>
                <a:ea typeface="+mn-ea"/>
                <a:cs typeface="+mn-cs"/>
              </a:rPr>
              <a:t>own</a:t>
            </a:r>
            <a:r>
              <a:rPr lang="en-US" sz="1200" kern="1200" dirty="0" smtClean="0">
                <a:solidFill>
                  <a:schemeClr val="tx1"/>
                </a:solidFill>
                <a:latin typeface="+mn-lt"/>
                <a:ea typeface="+mn-ea"/>
                <a:cs typeface="+mn-cs"/>
              </a:rPr>
              <a:t> experience at the attraction</a:t>
            </a:r>
            <a:r>
              <a:rPr lang="en-US" sz="1200" kern="1200" baseline="0" dirty="0" smtClean="0">
                <a:solidFill>
                  <a:schemeClr val="tx1"/>
                </a:solidFill>
                <a:latin typeface="+mn-lt"/>
                <a:ea typeface="+mn-ea"/>
                <a:cs typeface="+mn-cs"/>
              </a:rPr>
              <a:t> or</a:t>
            </a:r>
            <a:r>
              <a:rPr lang="en-US" sz="1200" kern="1200" dirty="0" smtClean="0">
                <a:solidFill>
                  <a:schemeClr val="tx1"/>
                </a:solidFill>
                <a:latin typeface="+mn-lt"/>
                <a:ea typeface="+mn-ea"/>
                <a:cs typeface="+mn-cs"/>
              </a:rPr>
              <a:t> on the tour.</a:t>
            </a:r>
            <a:r>
              <a:rPr lang="en-US" sz="1200" kern="1200" baseline="0" dirty="0" smtClean="0">
                <a:solidFill>
                  <a:schemeClr val="tx1"/>
                </a:solidFill>
                <a:latin typeface="+mn-lt"/>
                <a:ea typeface="+mn-ea"/>
                <a:cs typeface="+mn-cs"/>
              </a:rPr>
              <a:t> i</a:t>
            </a:r>
            <a:r>
              <a:rPr lang="en-US" sz="1200" kern="1200" dirty="0" smtClean="0">
                <a:solidFill>
                  <a:schemeClr val="tx1"/>
                </a:solidFill>
                <a:latin typeface="+mn-lt"/>
                <a:ea typeface="+mn-ea"/>
                <a:cs typeface="+mn-cs"/>
              </a:rPr>
              <a:t>t is this ‘personal’ and first-hand experience which commonly makes the difference between whether a guest takes up the suggestion or not.</a:t>
            </a:r>
            <a:endParaRPr lang="en-AU" sz="1200" kern="1200" dirty="0" smtClean="0">
              <a:solidFill>
                <a:schemeClr val="tx1"/>
              </a:solidFill>
              <a:latin typeface="+mn-lt"/>
              <a:ea typeface="+mn-ea"/>
              <a:cs typeface="+mn-cs"/>
            </a:endParaRPr>
          </a:p>
          <a:p>
            <a:pPr>
              <a:buFont typeface="Arial" pitchFamily="34" charset="0"/>
              <a:buChar char="•"/>
            </a:pPr>
            <a:r>
              <a:rPr lang="en-US" baseline="0" dirty="0" smtClean="0"/>
              <a:t> Advise regular visitors on arrival:</a:t>
            </a:r>
          </a:p>
          <a:p>
            <a:pPr lvl="1">
              <a:buFont typeface="Arial" pitchFamily="34" charset="0"/>
              <a:buChar char="•"/>
            </a:pPr>
            <a:r>
              <a:rPr lang="en-US" sz="1200" kern="1200" dirty="0" smtClean="0">
                <a:solidFill>
                  <a:schemeClr val="tx1"/>
                </a:solidFill>
                <a:latin typeface="+mn-lt"/>
                <a:ea typeface="+mn-ea"/>
                <a:cs typeface="+mn-cs"/>
              </a:rPr>
              <a:t> If aware a regular visitor/guest is arriving tomorrow and they love to go fishing in the local tidal river, then make sure they are provided, on arrival with,</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for example:</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A current copy of the tides and times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A current price list of the boat hire charges from the local hire shop.</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The same idea applies for any regular visitor if their tastes, preferences and hobbies are </a:t>
            </a:r>
            <a:r>
              <a:rPr lang="en-US" sz="1200" kern="1200" dirty="0" err="1" smtClean="0">
                <a:solidFill>
                  <a:schemeClr val="tx1"/>
                </a:solidFill>
                <a:latin typeface="+mn-lt"/>
                <a:ea typeface="+mn-ea"/>
                <a:cs typeface="+mn-cs"/>
              </a:rPr>
              <a:t>known.</a:t>
            </a:r>
            <a:r>
              <a:rPr lang="en-US" sz="1200" kern="1200" baseline="0" dirty="0" err="1" smtClean="0">
                <a:solidFill>
                  <a:schemeClr val="tx1"/>
                </a:solidFill>
                <a:latin typeface="+mn-lt"/>
                <a:ea typeface="+mn-ea"/>
                <a:cs typeface="+mn-cs"/>
              </a:rPr>
              <a:t>G</a:t>
            </a:r>
            <a:r>
              <a:rPr lang="en-US" sz="1200" kern="1200" dirty="0" err="1" smtClean="0">
                <a:solidFill>
                  <a:schemeClr val="tx1"/>
                </a:solidFill>
                <a:latin typeface="+mn-lt"/>
                <a:ea typeface="+mn-ea"/>
                <a:cs typeface="+mn-cs"/>
              </a:rPr>
              <a:t>o</a:t>
            </a:r>
            <a:r>
              <a:rPr lang="en-US" sz="1200" kern="1200" dirty="0" smtClean="0">
                <a:solidFill>
                  <a:schemeClr val="tx1"/>
                </a:solidFill>
                <a:latin typeface="+mn-lt"/>
                <a:ea typeface="+mn-ea"/>
                <a:cs typeface="+mn-cs"/>
              </a:rPr>
              <a:t> ahead and make the extra effort. It often will not take much to stand out from competitors because all too often they do nothing so it does not take much to beat them in this regard. Just follow through and take the necessary action.</a:t>
            </a:r>
            <a:endParaRPr lang="en-AU" sz="1200" kern="1200" dirty="0" smtClean="0">
              <a:solidFill>
                <a:schemeClr val="tx1"/>
              </a:solidFill>
              <a:latin typeface="+mn-lt"/>
              <a:ea typeface="+mn-ea"/>
              <a:cs typeface="+mn-cs"/>
            </a:endParaRPr>
          </a:p>
          <a:p>
            <a:pPr>
              <a:buFont typeface="Arial" pitchFamily="34" charset="0"/>
              <a:buChar char="•"/>
            </a:pPr>
            <a:r>
              <a:rPr lang="en-US" baseline="0" dirty="0" smtClean="0"/>
              <a:t>  Maintain internal visitor information files. Update as required and discard dated brochures. Capture brochures/information for new venues, facilities and attractions. Nominate a person to be responsible for this</a:t>
            </a:r>
          </a:p>
          <a:p>
            <a:pPr>
              <a:buFont typeface="Arial" pitchFamily="34" charset="0"/>
              <a:buChar char="•"/>
            </a:pPr>
            <a:r>
              <a:rPr lang="en-US" baseline="0" dirty="0" smtClean="0"/>
              <a:t> Make sure brochures  provided in the public displays and other areas (in-room compendiums, concierge) are updated, kept filled and current</a:t>
            </a:r>
          </a:p>
          <a:p>
            <a:pPr>
              <a:buFont typeface="Arial" pitchFamily="34" charset="0"/>
              <a:buChar char="•"/>
            </a:pPr>
            <a:endParaRPr lang="en-US"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130845804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Trainer explains to trainees that </a:t>
            </a:r>
            <a:r>
              <a:rPr lang="en-US" sz="1200" kern="1200" dirty="0" err="1" smtClean="0">
                <a:solidFill>
                  <a:schemeClr val="tx1"/>
                </a:solidFill>
                <a:latin typeface="+mn-lt"/>
                <a:ea typeface="+mn-ea"/>
                <a:cs typeface="+mn-cs"/>
              </a:rPr>
              <a:t>noone</a:t>
            </a:r>
            <a:r>
              <a:rPr lang="en-US" sz="1200" kern="1200" dirty="0" smtClean="0">
                <a:solidFill>
                  <a:schemeClr val="tx1"/>
                </a:solidFill>
                <a:latin typeface="+mn-lt"/>
                <a:ea typeface="+mn-ea"/>
                <a:cs typeface="+mn-cs"/>
              </a:rPr>
              <a:t> can possibly ever know the answer to every question visitors might ask BUT they are also never expected to just answer an enquiry they do not know about with a silly grin and the words ‘Sorry, I don’t know’.</a:t>
            </a:r>
            <a:endParaRPr lang="en-AU"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Trainer urges trainees if they do not know the answer to a guest/visitor question it is acceptable to say they do not know the answer </a:t>
            </a:r>
            <a:r>
              <a:rPr lang="en-US" sz="1200" b="1" kern="1200" dirty="0" smtClean="0">
                <a:solidFill>
                  <a:schemeClr val="tx1"/>
                </a:solidFill>
                <a:latin typeface="+mn-lt"/>
                <a:ea typeface="+mn-ea"/>
                <a:cs typeface="+mn-cs"/>
              </a:rPr>
              <a:t>but they must then take appropriate action to follow-up</a:t>
            </a:r>
            <a:r>
              <a:rPr lang="en-US" sz="1200" kern="1200" dirty="0" smtClean="0">
                <a:solidFill>
                  <a:schemeClr val="tx1"/>
                </a:solidFill>
                <a:latin typeface="+mn-lt"/>
                <a:ea typeface="+mn-ea"/>
                <a:cs typeface="+mn-cs"/>
              </a:rPr>
              <a:t>, find out and get back to the visitor with the required information.</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his may involve:</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Making a phone call for the tourist/visitor to the actual attraction</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hotel they are making enquiries about, or phoning the Visitors Information Centre</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Asking someone else if they know.</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here may well be another staff member who does know and who may be able to help.</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Referring to local library of tourist information.</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his could assist with finding out, for instance, prices, and the finer details (such as opening times, credit cards accepted).</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102592927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stresses trainees must always remember most visitors are, obviously, not locals and hence do not have the same ‘local knowledge’</a:t>
            </a:r>
          </a:p>
          <a:p>
            <a:pPr>
              <a:buFont typeface="Arial" pitchFamily="34" charset="0"/>
              <a:buNone/>
            </a:pPr>
            <a:r>
              <a:rPr lang="en-US" dirty="0" smtClean="0"/>
              <a:t> many people take for granted.</a:t>
            </a:r>
          </a:p>
          <a:p>
            <a:pPr>
              <a:buFont typeface="Arial" pitchFamily="34" charset="0"/>
              <a:buNone/>
            </a:pPr>
            <a:endParaRPr lang="en-US" dirty="0" smtClean="0"/>
          </a:p>
          <a:p>
            <a:pPr>
              <a:buFont typeface="Arial" pitchFamily="34" charset="0"/>
              <a:buNone/>
            </a:pPr>
            <a:r>
              <a:rPr lang="en-US" dirty="0" smtClean="0"/>
              <a:t>Visitors need not only to be given</a:t>
            </a:r>
            <a:r>
              <a:rPr lang="en-US" baseline="0" dirty="0" smtClean="0"/>
              <a:t> local knowledge but also treated appropriately and helped which can involve:</a:t>
            </a:r>
          </a:p>
          <a:p>
            <a:pPr lvl="0">
              <a:buFont typeface="Arial" pitchFamily="34" charset="0"/>
              <a:buChar char="•"/>
            </a:pPr>
            <a:r>
              <a:rPr lang="en-US" sz="1200" kern="1200" dirty="0" smtClean="0">
                <a:solidFill>
                  <a:schemeClr val="tx1"/>
                </a:solidFill>
                <a:latin typeface="+mn-lt"/>
                <a:ea typeface="+mn-ea"/>
                <a:cs typeface="+mn-cs"/>
              </a:rPr>
              <a:t> Talking to people as opposed to ignoring them (which makes them feel unwanted, unappreciated and like an intruder)</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Smiling.</a:t>
            </a:r>
            <a:r>
              <a:rPr lang="en-US" sz="1200" kern="1200" baseline="0" dirty="0" smtClean="0">
                <a:solidFill>
                  <a:schemeClr val="tx1"/>
                </a:solidFill>
                <a:latin typeface="+mn-lt"/>
                <a:ea typeface="+mn-ea"/>
                <a:cs typeface="+mn-cs"/>
              </a:rPr>
              <a:t> I</a:t>
            </a:r>
            <a:r>
              <a:rPr lang="en-US" sz="1200" kern="1200" dirty="0" smtClean="0">
                <a:solidFill>
                  <a:schemeClr val="tx1"/>
                </a:solidFill>
                <a:latin typeface="+mn-lt"/>
                <a:ea typeface="+mn-ea"/>
                <a:cs typeface="+mn-cs"/>
              </a:rPr>
              <a:t>t is a universal language … and smiling is free.</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Offering to help without waiting to be asked.</a:t>
            </a:r>
            <a:r>
              <a:rPr lang="en-US" sz="1200" kern="1200" baseline="0" dirty="0" smtClean="0">
                <a:solidFill>
                  <a:schemeClr val="tx1"/>
                </a:solidFill>
                <a:latin typeface="+mn-lt"/>
                <a:ea typeface="+mn-ea"/>
                <a:cs typeface="+mn-cs"/>
              </a:rPr>
              <a:t> R</a:t>
            </a:r>
            <a:r>
              <a:rPr lang="en-US" sz="1200" kern="1200" dirty="0" smtClean="0">
                <a:solidFill>
                  <a:schemeClr val="tx1"/>
                </a:solidFill>
                <a:latin typeface="+mn-lt"/>
                <a:ea typeface="+mn-ea"/>
                <a:cs typeface="+mn-cs"/>
              </a:rPr>
              <a:t>ead people’s body language and be proactive in making an offer of help</a:t>
            </a:r>
            <a:r>
              <a:rPr lang="en-US" sz="1200" kern="1200" baseline="0" dirty="0" smtClean="0">
                <a:solidFill>
                  <a:schemeClr val="tx1"/>
                </a:solidFill>
                <a:latin typeface="+mn-lt"/>
                <a:ea typeface="+mn-ea"/>
                <a:cs typeface="+mn-cs"/>
              </a:rPr>
              <a:t> or assistance</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Providing information willingly</a:t>
            </a:r>
            <a:r>
              <a:rPr lang="en-US" sz="1200" kern="1200" baseline="0" dirty="0" smtClean="0">
                <a:solidFill>
                  <a:schemeClr val="tx1"/>
                </a:solidFill>
                <a:latin typeface="+mn-lt"/>
                <a:ea typeface="+mn-ea"/>
                <a:cs typeface="+mn-cs"/>
              </a:rPr>
              <a:t> in response to questions</a:t>
            </a:r>
            <a:endParaRPr lang="en-US" sz="1200" kern="1200" dirty="0" smtClean="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latin typeface="+mn-lt"/>
                <a:ea typeface="+mn-ea"/>
                <a:cs typeface="+mn-cs"/>
              </a:rPr>
              <a:t> Providing advice to supplement the information and to individualise the information given. Refer to personal experience</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Showing an interest in them as individuals.</a:t>
            </a:r>
            <a:endParaRPr lang="en-AU" sz="1200" kern="1200" dirty="0" smtClean="0">
              <a:solidFill>
                <a:schemeClr val="tx1"/>
              </a:solidFill>
              <a:latin typeface="+mn-lt"/>
              <a:ea typeface="+mn-ea"/>
              <a:cs typeface="+mn-cs"/>
            </a:endParaRPr>
          </a:p>
          <a:p>
            <a:pPr>
              <a:buFont typeface="Arial" pitchFamily="34" charset="0"/>
              <a:buNone/>
            </a:pPr>
            <a:endParaRPr lang="en-US" baseline="0" dirty="0" smtClean="0"/>
          </a:p>
          <a:p>
            <a:pPr>
              <a:buFont typeface="Arial" pitchFamily="34" charset="0"/>
              <a:buNone/>
            </a:pPr>
            <a:endParaRPr lang="en-US"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5658404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382226564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137025768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129747469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369731326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for </a:t>
            </a:r>
            <a:r>
              <a:rPr lang="en-AU" sz="1200" kern="1200" baseline="0" dirty="0" smtClean="0">
                <a:solidFill>
                  <a:schemeClr val="tx1"/>
                </a:solidFill>
                <a:latin typeface="+mn-lt"/>
                <a:ea typeface="+mn-ea"/>
                <a:cs typeface="+mn-cs"/>
              </a:rPr>
              <a:t>trainee</a:t>
            </a:r>
            <a:r>
              <a:rPr lang="en-US" dirty="0" smtClean="0"/>
              <a:t>s the Performance Criteria for this Element, as listed on the slide.</a:t>
            </a:r>
          </a:p>
          <a:p>
            <a:pPr>
              <a:buFont typeface="Arial" pitchFamily="34" charset="0"/>
              <a:buNone/>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latin typeface="+mn-lt"/>
                <a:ea typeface="+mn-ea"/>
                <a:cs typeface="+mn-cs"/>
              </a:rPr>
              <a:t>trainee</a:t>
            </a:r>
            <a:r>
              <a:rPr lang="en-US" b="0" dirty="0" smtClean="0"/>
              <a:t>s questions regarding their experience in relation to maintaining contact with local communities and what may be done to optimise spending and visitor enjoyment of their stay in the region/area:</a:t>
            </a:r>
          </a:p>
          <a:p>
            <a:pPr>
              <a:buFont typeface="Arial" pitchFamily="34" charset="0"/>
              <a:buChar char="•"/>
            </a:pPr>
            <a:r>
              <a:rPr lang="en-US" b="0" dirty="0" smtClean="0"/>
              <a:t> Why is it important to maintain contact with local communities?</a:t>
            </a:r>
          </a:p>
          <a:p>
            <a:pPr>
              <a:buFont typeface="Arial" pitchFamily="34" charset="0"/>
              <a:buChar char="•"/>
            </a:pPr>
            <a:r>
              <a:rPr lang="en-US" b="0" dirty="0" smtClean="0"/>
              <a:t> How might this occur?</a:t>
            </a:r>
          </a:p>
          <a:p>
            <a:pPr>
              <a:buFont typeface="Arial" pitchFamily="34" charset="0"/>
              <a:buChar char="•"/>
            </a:pPr>
            <a:r>
              <a:rPr lang="en-US" b="0" dirty="0" smtClean="0"/>
              <a:t> What can a venue/attraction do to demonstrate it is trying to support the local community?</a:t>
            </a:r>
          </a:p>
          <a:p>
            <a:pPr>
              <a:buFont typeface="Arial" pitchFamily="34" charset="0"/>
              <a:buChar char="•"/>
            </a:pPr>
            <a:r>
              <a:rPr lang="en-US" b="0" dirty="0" smtClean="0"/>
              <a:t> What is meant by ‘tourism products and services’?</a:t>
            </a:r>
          </a:p>
          <a:p>
            <a:pPr>
              <a:buFont typeface="Arial" pitchFamily="34" charset="0"/>
              <a:buChar char="•"/>
            </a:pPr>
            <a:r>
              <a:rPr lang="en-US" b="0" dirty="0" smtClean="0"/>
              <a:t> How might local knowledge be used to encourage visitors to purchase and/or use local tourism</a:t>
            </a:r>
            <a:r>
              <a:rPr lang="en-US" b="0" baseline="0" dirty="0" smtClean="0"/>
              <a:t> products and/or services?</a:t>
            </a:r>
          </a:p>
          <a:p>
            <a:pPr>
              <a:buFont typeface="Arial" pitchFamily="34" charset="0"/>
              <a:buChar char="•"/>
            </a:pPr>
            <a:r>
              <a:rPr lang="en-US" b="0" baseline="0" dirty="0" smtClean="0"/>
              <a:t> What are examples of add-ons and extras that staff may sell/suggest to visitors when promoting local tourism products and services?</a:t>
            </a:r>
          </a:p>
          <a:p>
            <a:pPr>
              <a:buFont typeface="Arial" pitchFamily="34" charset="0"/>
              <a:buChar char="•"/>
            </a:pPr>
            <a:r>
              <a:rPr lang="en-US" b="0" baseline="0" dirty="0" smtClean="0"/>
              <a:t> Why might management at a venue or attraction want to know about the type of questions asked by visitors, and the effectiveness of the way staff respond to those questions?</a:t>
            </a:r>
          </a:p>
          <a:p>
            <a:pPr>
              <a:buFont typeface="Arial" pitchFamily="34" charset="0"/>
              <a:buChar char="•"/>
            </a:pPr>
            <a:endParaRPr lang="en-US" b="0" dirty="0" smtClean="0"/>
          </a:p>
          <a:p>
            <a:pPr>
              <a:buFont typeface="Arial" pitchFamily="34" charset="0"/>
              <a:buChar char="•"/>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362687740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Trainer reminds trainees in order to develop and update local knowledge effectively it is necessary to be proactive.</a:t>
            </a:r>
            <a:r>
              <a:rPr lang="en-US" sz="1200" kern="1200" baseline="0" dirty="0" smtClean="0">
                <a:solidFill>
                  <a:schemeClr val="tx1"/>
                </a:solidFill>
                <a:latin typeface="+mn-lt"/>
                <a:ea typeface="+mn-ea"/>
                <a:cs typeface="+mn-cs"/>
              </a:rPr>
              <a:t> P</a:t>
            </a:r>
            <a:r>
              <a:rPr lang="en-US" sz="1200" kern="1200" dirty="0" smtClean="0">
                <a:solidFill>
                  <a:schemeClr val="tx1"/>
                </a:solidFill>
                <a:latin typeface="+mn-lt"/>
                <a:ea typeface="+mn-ea"/>
                <a:cs typeface="+mn-cs"/>
              </a:rPr>
              <a:t>art of taking the initiative in this regard is the need to maintain contact with local communities.</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Trainer states ‘local communities’ can include:</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Other businesses in the area</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of any type. There is always a possibility a visitor may need to contact </a:t>
            </a:r>
            <a:r>
              <a:rPr lang="en-US" sz="1200" i="1" kern="1200" dirty="0" smtClean="0">
                <a:solidFill>
                  <a:schemeClr val="tx1"/>
                </a:solidFill>
                <a:latin typeface="+mn-lt"/>
                <a:ea typeface="+mn-ea"/>
                <a:cs typeface="+mn-cs"/>
              </a:rPr>
              <a:t>any </a:t>
            </a:r>
            <a:r>
              <a:rPr lang="en-US" sz="1200" kern="1200" dirty="0" smtClean="0">
                <a:solidFill>
                  <a:schemeClr val="tx1"/>
                </a:solidFill>
                <a:latin typeface="+mn-lt"/>
                <a:ea typeface="+mn-ea"/>
                <a:cs typeface="+mn-cs"/>
              </a:rPr>
              <a:t>type of business. Also it is important to form good working relationships with other businesses and to cooperate with them for mutual benefit</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Local groups, clubs and interest groups who conduct events and/or support local tourism initiatives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Individuals who are active in promoting the local area.</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hese are often the people who initiate events, work with other tourist destinations for mutual benefit and who work to bring visitors into the area.</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In brief, anyone or any organisation involved in organising local events or operating local businesses or attractions can be seen for the purposes of this unit as a ‘local community’.</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172379140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Trainer informs trainees the keys in staying in touch with local communities require application of a mix of the following activities: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Joining local groups and attending their meetings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Participating in what local groups  are doing including contributing assistance, information and resources to help them achieve outcomes that are mutually beneficial.</a:t>
            </a:r>
            <a:r>
              <a:rPr lang="en-US" sz="1200" kern="1200" baseline="0" dirty="0" smtClean="0">
                <a:solidFill>
                  <a:schemeClr val="tx1"/>
                </a:solidFill>
                <a:latin typeface="+mn-lt"/>
                <a:ea typeface="+mn-ea"/>
                <a:cs typeface="+mn-cs"/>
              </a:rPr>
              <a:t> P</a:t>
            </a:r>
            <a:r>
              <a:rPr lang="en-US" sz="1200" kern="1200" dirty="0" smtClean="0">
                <a:solidFill>
                  <a:schemeClr val="tx1"/>
                </a:solidFill>
                <a:latin typeface="+mn-lt"/>
                <a:ea typeface="+mn-ea"/>
                <a:cs typeface="+mn-cs"/>
              </a:rPr>
              <a:t>articipation must be active and it must be substantial (that is, not just verbal support)</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Contacting them on a regular basis.</a:t>
            </a:r>
            <a:r>
              <a:rPr lang="en-US" sz="1200" kern="1200" baseline="0" dirty="0" smtClean="0">
                <a:solidFill>
                  <a:schemeClr val="tx1"/>
                </a:solidFill>
                <a:latin typeface="+mn-lt"/>
                <a:ea typeface="+mn-ea"/>
                <a:cs typeface="+mn-cs"/>
              </a:rPr>
              <a:t> V</a:t>
            </a:r>
            <a:r>
              <a:rPr lang="en-US" sz="1200" kern="1200" dirty="0" smtClean="0">
                <a:solidFill>
                  <a:schemeClr val="tx1"/>
                </a:solidFill>
                <a:latin typeface="+mn-lt"/>
                <a:ea typeface="+mn-ea"/>
                <a:cs typeface="+mn-cs"/>
              </a:rPr>
              <a:t>isit them face</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to</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face or telephone them regularly</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27302940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tell trainees of the keys in relation to maintaining contact with local communities:</a:t>
            </a:r>
          </a:p>
          <a:p>
            <a:pPr lvl="0">
              <a:buFont typeface="Arial" pitchFamily="34" charset="0"/>
              <a:buChar char="•"/>
            </a:pPr>
            <a:r>
              <a:rPr lang="en-US" sz="1200" kern="1200" dirty="0" smtClean="0">
                <a:solidFill>
                  <a:schemeClr val="tx1"/>
                </a:solidFill>
                <a:latin typeface="+mn-lt"/>
                <a:ea typeface="+mn-ea"/>
                <a:cs typeface="+mn-cs"/>
              </a:rPr>
              <a:t> Ask them to make contact.</a:t>
            </a:r>
            <a:r>
              <a:rPr lang="en-US" sz="1200" kern="1200" baseline="0" dirty="0" smtClean="0">
                <a:solidFill>
                  <a:schemeClr val="tx1"/>
                </a:solidFill>
                <a:latin typeface="+mn-lt"/>
                <a:ea typeface="+mn-ea"/>
                <a:cs typeface="+mn-cs"/>
              </a:rPr>
              <a:t> E</a:t>
            </a:r>
            <a:r>
              <a:rPr lang="en-US" sz="1200" kern="1200" dirty="0" smtClean="0">
                <a:solidFill>
                  <a:schemeClr val="tx1"/>
                </a:solidFill>
                <a:latin typeface="+mn-lt"/>
                <a:ea typeface="+mn-ea"/>
                <a:cs typeface="+mn-cs"/>
              </a:rPr>
              <a:t>ncourage them to call/contact the venue and make it easy for them to do so.</a:t>
            </a:r>
            <a:r>
              <a:rPr lang="en-US" sz="1200" kern="1200" baseline="0" dirty="0" smtClean="0">
                <a:solidFill>
                  <a:schemeClr val="tx1"/>
                </a:solidFill>
                <a:latin typeface="+mn-lt"/>
                <a:ea typeface="+mn-ea"/>
                <a:cs typeface="+mn-cs"/>
              </a:rPr>
              <a:t> L</a:t>
            </a:r>
            <a:r>
              <a:rPr lang="en-US" sz="1200" kern="1200" dirty="0" smtClean="0">
                <a:solidFill>
                  <a:schemeClr val="tx1"/>
                </a:solidFill>
                <a:latin typeface="+mn-lt"/>
                <a:ea typeface="+mn-ea"/>
                <a:cs typeface="+mn-cs"/>
              </a:rPr>
              <a:t>et them the venue wants to maintain contact with them</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Thank them whenever they make contact to encourage them to keep in contact</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Offer the venue as a meeting place to keep the venue and its commitment</a:t>
            </a:r>
            <a:r>
              <a:rPr lang="en-US" sz="1200" kern="1200" baseline="0" dirty="0" smtClean="0">
                <a:solidFill>
                  <a:schemeClr val="tx1"/>
                </a:solidFill>
                <a:latin typeface="+mn-lt"/>
                <a:ea typeface="+mn-ea"/>
                <a:cs typeface="+mn-cs"/>
              </a:rPr>
              <a:t> to mutual promotion of the area </a:t>
            </a:r>
            <a:r>
              <a:rPr lang="en-US" sz="1200" kern="1200" dirty="0" smtClean="0">
                <a:solidFill>
                  <a:schemeClr val="tx1"/>
                </a:solidFill>
                <a:latin typeface="+mn-lt"/>
                <a:ea typeface="+mn-ea"/>
                <a:cs typeface="+mn-cs"/>
              </a:rPr>
              <a:t>firmly centred in their minds.</a:t>
            </a:r>
            <a:endParaRPr lang="en-AU"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a speaker from a local ‘community to talk to trainees about:</a:t>
            </a:r>
          </a:p>
          <a:p>
            <a:pPr>
              <a:buFont typeface="Arial" pitchFamily="34" charset="0"/>
              <a:buChar char="•"/>
            </a:pPr>
            <a:r>
              <a:rPr lang="en-US" b="0" dirty="0" smtClean="0"/>
              <a:t> The role of the organisation to which they belong regarding local tourism and promotion of the local area</a:t>
            </a:r>
          </a:p>
          <a:p>
            <a:pPr>
              <a:buFont typeface="Arial" pitchFamily="34" charset="0"/>
              <a:buChar char="•"/>
            </a:pPr>
            <a:r>
              <a:rPr lang="en-US" b="0" dirty="0" smtClean="0"/>
              <a:t> How trainees might join the organisation</a:t>
            </a:r>
          </a:p>
          <a:p>
            <a:pPr>
              <a:buFont typeface="Arial" pitchFamily="34" charset="0"/>
              <a:buChar char="•"/>
            </a:pPr>
            <a:r>
              <a:rPr lang="en-US" b="0" dirty="0" smtClean="0"/>
              <a:t> Cost to belong, if applicable</a:t>
            </a:r>
          </a:p>
          <a:p>
            <a:pPr>
              <a:buFont typeface="Arial" pitchFamily="34" charset="0"/>
              <a:buChar char="•"/>
            </a:pPr>
            <a:r>
              <a:rPr lang="en-US" b="0" dirty="0" smtClean="0"/>
              <a:t> Examples of events  they have </a:t>
            </a:r>
            <a:r>
              <a:rPr lang="en-US" b="0" dirty="0" err="1" smtClean="0"/>
              <a:t>organised</a:t>
            </a:r>
            <a:endParaRPr lang="en-US" b="0" dirty="0" smtClean="0"/>
          </a:p>
          <a:p>
            <a:pPr>
              <a:buFont typeface="Arial" pitchFamily="34" charset="0"/>
              <a:buChar char="•"/>
            </a:pPr>
            <a:r>
              <a:rPr lang="en-US" b="0" dirty="0" smtClean="0"/>
              <a:t> Details of where and when they meet and the duration of meetings</a:t>
            </a:r>
          </a:p>
          <a:p>
            <a:pPr>
              <a:buFont typeface="Arial" pitchFamily="34" charset="0"/>
              <a:buChar char="•"/>
            </a:pPr>
            <a:r>
              <a:rPr lang="en-US" b="0" dirty="0" smtClean="0"/>
              <a:t> Advice they can give regarding promotion of the local area to visitors.</a:t>
            </a:r>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5749317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latin typeface="+mn-lt"/>
                <a:ea typeface="+mn-ea"/>
                <a:cs typeface="+mn-cs"/>
              </a:rPr>
              <a:t>Trainer stresses to trainees that it is important for them to provide accurate responses to all tourist queries, explaining effective responses to a visitor query about the local area must be:</a:t>
            </a:r>
          </a:p>
          <a:p>
            <a:pPr lvl="0">
              <a:buFont typeface="Arial" pitchFamily="34" charset="0"/>
              <a:buChar char="•"/>
            </a:pPr>
            <a:r>
              <a:rPr lang="en-US" sz="1200" kern="1200" dirty="0" smtClean="0">
                <a:solidFill>
                  <a:schemeClr val="tx1"/>
                </a:solidFill>
                <a:latin typeface="+mn-lt"/>
                <a:ea typeface="+mn-ea"/>
                <a:cs typeface="+mn-cs"/>
              </a:rPr>
              <a:t> Honest.</a:t>
            </a:r>
            <a:r>
              <a:rPr lang="en-US" sz="1200" kern="1200" baseline="0" dirty="0" smtClean="0">
                <a:solidFill>
                  <a:schemeClr val="tx1"/>
                </a:solidFill>
                <a:latin typeface="+mn-lt"/>
                <a:ea typeface="+mn-ea"/>
                <a:cs typeface="+mn-cs"/>
              </a:rPr>
              <a:t> N</a:t>
            </a:r>
            <a:r>
              <a:rPr lang="en-US" sz="1200" kern="1200" dirty="0" smtClean="0">
                <a:solidFill>
                  <a:schemeClr val="tx1"/>
                </a:solidFill>
                <a:latin typeface="+mn-lt"/>
                <a:ea typeface="+mn-ea"/>
                <a:cs typeface="+mn-cs"/>
              </a:rPr>
              <a:t>ever tell an untruth or a half-truth about anything. Never say something is ‘good’ or ‘worth seeing’ unless it genuinely is.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Comprehensive.</a:t>
            </a:r>
            <a:r>
              <a:rPr lang="en-US" sz="1200" kern="1200" baseline="0" dirty="0" smtClean="0">
                <a:solidFill>
                  <a:schemeClr val="tx1"/>
                </a:solidFill>
                <a:latin typeface="+mn-lt"/>
                <a:ea typeface="+mn-ea"/>
                <a:cs typeface="+mn-cs"/>
              </a:rPr>
              <a:t> N</a:t>
            </a:r>
            <a:r>
              <a:rPr lang="en-US" sz="1200" kern="1200" dirty="0" smtClean="0">
                <a:solidFill>
                  <a:schemeClr val="tx1"/>
                </a:solidFill>
                <a:latin typeface="+mn-lt"/>
                <a:ea typeface="+mn-ea"/>
                <a:cs typeface="+mn-cs"/>
              </a:rPr>
              <a:t>ever tell a person ‘only the good bits’.</a:t>
            </a:r>
            <a:r>
              <a:rPr lang="en-US" sz="1200" kern="1200" baseline="0" dirty="0" smtClean="0">
                <a:solidFill>
                  <a:schemeClr val="tx1"/>
                </a:solidFill>
                <a:latin typeface="+mn-lt"/>
                <a:ea typeface="+mn-ea"/>
                <a:cs typeface="+mn-cs"/>
              </a:rPr>
              <a:t> I</a:t>
            </a:r>
            <a:r>
              <a:rPr lang="en-US" sz="1200" kern="1200" dirty="0" smtClean="0">
                <a:solidFill>
                  <a:schemeClr val="tx1"/>
                </a:solidFill>
                <a:latin typeface="+mn-lt"/>
                <a:ea typeface="+mn-ea"/>
                <a:cs typeface="+mn-cs"/>
              </a:rPr>
              <a:t>f there are bad aspects to something, these must be presented and explained. For example, if the tour is excellent but is hot and dusty, tell people it is/can be hot and dusty </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Up</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to</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date – all details about all aspects of the response (costs, times, opening hours, displays on show, animals ) must be current </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Relevant.</a:t>
            </a:r>
            <a:r>
              <a:rPr lang="en-US" sz="1200" kern="1200" baseline="0" dirty="0" smtClean="0">
                <a:solidFill>
                  <a:schemeClr val="tx1"/>
                </a:solidFill>
                <a:latin typeface="+mn-lt"/>
                <a:ea typeface="+mn-ea"/>
                <a:cs typeface="+mn-cs"/>
              </a:rPr>
              <a:t> I</a:t>
            </a:r>
            <a:r>
              <a:rPr lang="en-US" sz="1200" kern="1200" dirty="0" smtClean="0">
                <a:solidFill>
                  <a:schemeClr val="tx1"/>
                </a:solidFill>
                <a:latin typeface="+mn-lt"/>
                <a:ea typeface="+mn-ea"/>
                <a:cs typeface="+mn-cs"/>
              </a:rPr>
              <a:t>t is important to add any information that relates to the query but which has not been specifically asked about. For example, if the attraction does not have credit card facilities, EFTPOS or ATMs then tell people they will need to take cash with them when they visit</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Timely.</a:t>
            </a:r>
            <a:r>
              <a:rPr lang="en-US" sz="1200" kern="1200" baseline="0" dirty="0" smtClean="0">
                <a:solidFill>
                  <a:schemeClr val="tx1"/>
                </a:solidFill>
                <a:latin typeface="+mn-lt"/>
                <a:ea typeface="+mn-ea"/>
                <a:cs typeface="+mn-cs"/>
              </a:rPr>
              <a:t> A</a:t>
            </a:r>
            <a:r>
              <a:rPr lang="en-US" sz="1200" kern="1200" dirty="0" smtClean="0">
                <a:solidFill>
                  <a:schemeClr val="tx1"/>
                </a:solidFill>
                <a:latin typeface="+mn-lt"/>
                <a:ea typeface="+mn-ea"/>
                <a:cs typeface="+mn-cs"/>
              </a:rPr>
              <a:t>ll responses must be given in a timely manner. In practice this means ‘straight away’ subject to the need to make enquiries (such as making a telephone call, or looking at an information database) on behalf of the tourist to determine specific information they are seeking.</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77412318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a:buFont typeface="Arial" pitchFamily="34" charset="0"/>
              <a:buNone/>
            </a:pPr>
            <a:r>
              <a:rPr lang="en-US" dirty="0" smtClean="0"/>
              <a:t>Trainer emphasises to</a:t>
            </a:r>
            <a:r>
              <a:rPr lang="en-US" baseline="0" dirty="0" smtClean="0"/>
              <a:t> trainees the need for their venue to obtain sufficient local information to meet expected and identified visitor needs. This will vary between properties and is often dependent on the geographic location where the venue is situated.</a:t>
            </a:r>
          </a:p>
          <a:p>
            <a:pPr>
              <a:buFont typeface="Arial" pitchFamily="34" charset="0"/>
              <a:buNone/>
            </a:pPr>
            <a:endParaRPr lang="en-US" baseline="0" dirty="0" smtClean="0"/>
          </a:p>
          <a:p>
            <a:pPr>
              <a:buFont typeface="Arial" pitchFamily="34" charset="0"/>
              <a:buNone/>
            </a:pPr>
            <a:r>
              <a:rPr lang="en-US" baseline="0" dirty="0" smtClean="0"/>
              <a:t>Trainer identifies information about the following must be available to respond to visitor enquiries:</a:t>
            </a:r>
          </a:p>
          <a:p>
            <a:pPr>
              <a:buFont typeface="Arial" pitchFamily="34" charset="0"/>
              <a:buChar char="•"/>
            </a:pPr>
            <a:r>
              <a:rPr lang="en-US" dirty="0" smtClean="0"/>
              <a:t> Venue knowledge.</a:t>
            </a:r>
            <a:r>
              <a:rPr lang="en-US" baseline="0" dirty="0" smtClean="0"/>
              <a:t> A</a:t>
            </a:r>
            <a:r>
              <a:rPr lang="en-US" dirty="0" smtClean="0"/>
              <a:t>lso </a:t>
            </a:r>
            <a:r>
              <a:rPr lang="en-US" sz="1200" kern="1200" dirty="0" smtClean="0">
                <a:solidFill>
                  <a:schemeClr val="tx1"/>
                </a:solidFill>
                <a:latin typeface="+mn-lt"/>
                <a:ea typeface="+mn-ea"/>
                <a:cs typeface="+mn-cs"/>
              </a:rPr>
              <a:t>known as 'product knowledge' this covers details about the venue such as: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When certain facilities (swimming pool, gymnasium, spa, bars) are open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Prices –for everything the venue has to offer: drinks, meals, rooms, services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How to make a booking –for a room, dining reservation, the tennis courts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Check-out times</a:t>
            </a:r>
          </a:p>
          <a:p>
            <a:pPr lvl="1">
              <a:buFont typeface="Arial" pitchFamily="34" charset="0"/>
              <a:buChar char="•"/>
            </a:pPr>
            <a:r>
              <a:rPr lang="en-US" sz="1200" kern="1200" dirty="0" smtClean="0">
                <a:solidFill>
                  <a:schemeClr val="tx1"/>
                </a:solidFill>
                <a:latin typeface="+mn-lt"/>
                <a:ea typeface="+mn-ea"/>
                <a:cs typeface="+mn-cs"/>
              </a:rPr>
              <a:t> The rooms and/or tables with the best views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Arrangements for parking</a:t>
            </a:r>
          </a:p>
          <a:p>
            <a:pPr lvl="1">
              <a:buFont typeface="Arial" pitchFamily="34" charset="0"/>
              <a:buChar char="•"/>
            </a:pPr>
            <a:r>
              <a:rPr lang="en-US" sz="1200" kern="1200" dirty="0" smtClean="0">
                <a:solidFill>
                  <a:schemeClr val="tx1"/>
                </a:solidFill>
                <a:latin typeface="+mn-lt"/>
                <a:ea typeface="+mn-ea"/>
                <a:cs typeface="+mn-cs"/>
              </a:rPr>
              <a:t> Type of credit cards taken</a:t>
            </a:r>
          </a:p>
          <a:p>
            <a:pPr lvl="1">
              <a:buFont typeface="Arial" pitchFamily="34" charset="0"/>
              <a:buChar char="•"/>
            </a:pPr>
            <a:r>
              <a:rPr lang="en-US" sz="1200" kern="1200" dirty="0" smtClean="0">
                <a:solidFill>
                  <a:schemeClr val="tx1"/>
                </a:solidFill>
                <a:latin typeface="+mn-lt"/>
                <a:ea typeface="+mn-ea"/>
                <a:cs typeface="+mn-cs"/>
              </a:rPr>
              <a:t> Procedures and policies for a range of things such as lost and found items; deposits, discounts and refunds; security and safety of guests; dealing with complaints</a:t>
            </a:r>
            <a:r>
              <a:rPr lang="en-US" sz="1200" kern="1200" baseline="0" dirty="0" smtClean="0">
                <a:solidFill>
                  <a:schemeClr val="tx1"/>
                </a:solidFill>
                <a:latin typeface="+mn-lt"/>
                <a:ea typeface="+mn-ea"/>
                <a:cs typeface="+mn-cs"/>
              </a:rPr>
              <a:t>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Local transport.</a:t>
            </a:r>
            <a:r>
              <a:rPr lang="en-US" sz="1200" kern="1200" baseline="0" dirty="0" smtClean="0">
                <a:solidFill>
                  <a:schemeClr val="tx1"/>
                </a:solidFill>
                <a:latin typeface="+mn-lt"/>
                <a:ea typeface="+mn-ea"/>
                <a:cs typeface="+mn-cs"/>
              </a:rPr>
              <a:t> St</a:t>
            </a:r>
            <a:r>
              <a:rPr lang="en-US" sz="1200" kern="1200" dirty="0" smtClean="0">
                <a:solidFill>
                  <a:schemeClr val="tx1"/>
                </a:solidFill>
                <a:latin typeface="+mn-lt"/>
                <a:ea typeface="+mn-ea"/>
                <a:cs typeface="+mn-cs"/>
              </a:rPr>
              <a:t>aff must have a basic working knowledge of what is available including: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Transport options – especially trains, trams, buses but also taxis, hire cars and other more local alternatives such as tuk tuks, rickshaws, trishaws, pedal bikes</a:t>
            </a:r>
          </a:p>
          <a:p>
            <a:pPr lvl="1">
              <a:buFont typeface="Arial" pitchFamily="34" charset="0"/>
              <a:buChar char="•"/>
            </a:pPr>
            <a:r>
              <a:rPr lang="en-US" sz="1200" kern="1200" dirty="0" smtClean="0">
                <a:solidFill>
                  <a:schemeClr val="tx1"/>
                </a:solidFill>
                <a:latin typeface="+mn-lt"/>
                <a:ea typeface="+mn-ea"/>
                <a:cs typeface="+mn-cs"/>
              </a:rPr>
              <a:t> Cost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Where the station and bus stops are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Frequency of public transport (buses, trams and trains) supplemented by current timetables. More detailed information should be in the in-house file together with contact details enabling even more detailed information to be accessed when required. In some locations, transport options can include all manner of modes of transports from canoes, to camels and four-wheel drives.</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hey can include buggies, horses, motor bikes, scooters and push bikes. They may cover motor boats, ferries, and airplanes and helicopters.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Local attractions.</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his must address: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What is available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How far away it is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How long it will take to get there and return using a variety of commonly used transport/travel options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What there is to see when they get there – displays, animals, activities, rides, tours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How much it costs to enter the attraction, to go on a tour, to buy tickets for the rides</a:t>
            </a:r>
            <a:r>
              <a:rPr lang="en-US" sz="1200" kern="1200" baseline="0" dirty="0" smtClean="0">
                <a:solidFill>
                  <a:schemeClr val="tx1"/>
                </a:solidFill>
                <a:latin typeface="+mn-lt"/>
                <a:ea typeface="+mn-ea"/>
                <a:cs typeface="+mn-cs"/>
              </a:rPr>
              <a:t> or</a:t>
            </a:r>
            <a:r>
              <a:rPr lang="en-US" sz="1200" kern="1200" dirty="0" smtClean="0">
                <a:solidFill>
                  <a:schemeClr val="tx1"/>
                </a:solidFill>
                <a:latin typeface="+mn-lt"/>
                <a:ea typeface="+mn-ea"/>
                <a:cs typeface="+mn-cs"/>
              </a:rPr>
              <a:t> shows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When it is open,</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including when it closes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Man-made and natural attractions.</a:t>
            </a:r>
            <a:r>
              <a:rPr lang="en-US" sz="1200" kern="1200" baseline="0" dirty="0" smtClean="0">
                <a:solidFill>
                  <a:schemeClr val="tx1"/>
                </a:solidFill>
                <a:latin typeface="+mn-lt"/>
                <a:ea typeface="+mn-ea"/>
                <a:cs typeface="+mn-cs"/>
              </a:rPr>
              <a:t> W</a:t>
            </a:r>
            <a:r>
              <a:rPr lang="en-US" sz="1200" kern="1200" dirty="0" smtClean="0">
                <a:solidFill>
                  <a:schemeClr val="tx1"/>
                </a:solidFill>
                <a:latin typeface="+mn-lt"/>
                <a:ea typeface="+mn-ea"/>
                <a:cs typeface="+mn-cs"/>
              </a:rPr>
              <a:t>here the natural attraction conceals or contains some sort of danger this must be highlighted.</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 danger may be information about wandering stock, dangerous/wild animals, the possibility of dehydration, and the length (in terms of meters/kilometres and in terms of time) of walks.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Local customs must also be addressed so visitors do not give unintended offence to the locals.</a:t>
            </a:r>
            <a:endParaRPr lang="en-AU" sz="1200" kern="1200" dirty="0" smtClean="0">
              <a:solidFill>
                <a:schemeClr val="tx1"/>
              </a:solidFill>
              <a:latin typeface="+mn-lt"/>
              <a:ea typeface="+mn-ea"/>
              <a:cs typeface="+mn-cs"/>
            </a:endParaRPr>
          </a:p>
          <a:p>
            <a:pPr>
              <a:buFont typeface="Arial" pitchFamily="34" charset="0"/>
              <a:buChar char="•"/>
            </a:pPr>
            <a:r>
              <a:rPr lang="en-US" dirty="0" smtClean="0"/>
              <a:t> Local events.</a:t>
            </a:r>
            <a:r>
              <a:rPr lang="en-US" baseline="0" dirty="0" smtClean="0"/>
              <a:t> T</a:t>
            </a:r>
            <a:r>
              <a:rPr lang="en-US" dirty="0" smtClean="0"/>
              <a:t>here should be:</a:t>
            </a:r>
          </a:p>
          <a:p>
            <a:pPr lvl="1">
              <a:buFont typeface="Arial" pitchFamily="34" charset="0"/>
              <a:buChar char="•"/>
            </a:pPr>
            <a:r>
              <a:rPr lang="en-US" dirty="0" smtClean="0"/>
              <a:t> A list of all local events – dates and (where applicable) times</a:t>
            </a:r>
          </a:p>
          <a:p>
            <a:pPr lvl="1">
              <a:buFont typeface="Arial" pitchFamily="34" charset="0"/>
              <a:buChar char="•"/>
            </a:pPr>
            <a:r>
              <a:rPr lang="en-US" dirty="0" smtClean="0"/>
              <a:t> Venues</a:t>
            </a:r>
            <a:r>
              <a:rPr lang="en-US" baseline="0" dirty="0" smtClean="0"/>
              <a:t> participating in the event/hosting parts of the event</a:t>
            </a:r>
          </a:p>
          <a:p>
            <a:pPr lvl="1">
              <a:buFont typeface="Arial" pitchFamily="34" charset="0"/>
              <a:buChar char="•"/>
            </a:pPr>
            <a:r>
              <a:rPr lang="en-US" baseline="0" dirty="0" smtClean="0"/>
              <a:t> Cost to attend/participate</a:t>
            </a:r>
          </a:p>
          <a:p>
            <a:pPr lvl="1">
              <a:buFont typeface="Arial" pitchFamily="34" charset="0"/>
              <a:buChar char="•"/>
            </a:pPr>
            <a:r>
              <a:rPr lang="en-US" baseline="0" dirty="0" smtClean="0"/>
              <a:t> Background to the event – why it is being held; local/national history of the event</a:t>
            </a:r>
          </a:p>
          <a:p>
            <a:pPr lvl="1">
              <a:buFont typeface="Arial" pitchFamily="34" charset="0"/>
              <a:buChar char="•"/>
            </a:pPr>
            <a:r>
              <a:rPr lang="en-US" baseline="0" dirty="0" smtClean="0"/>
              <a:t> Protocols (if any) associated with the event. For example, things visitors should not say or do while attending the event.</a:t>
            </a:r>
          </a:p>
          <a:p>
            <a:pPr lvl="0">
              <a:buFont typeface="Arial" pitchFamily="34" charset="0"/>
              <a:buNone/>
            </a:pPr>
            <a:endParaRPr lang="en-US" b="1" baseline="0" dirty="0" smtClean="0"/>
          </a:p>
          <a:p>
            <a:pPr lvl="0">
              <a:buFont typeface="Arial" pitchFamily="34" charset="0"/>
              <a:buNone/>
            </a:pPr>
            <a:r>
              <a:rPr lang="en-US" b="1" baseline="0" dirty="0" smtClean="0"/>
              <a:t>Class Activity – Class Discussion</a:t>
            </a:r>
          </a:p>
          <a:p>
            <a:pPr lvl="0">
              <a:buFont typeface="Arial" pitchFamily="34" charset="0"/>
              <a:buNone/>
            </a:pPr>
            <a:r>
              <a:rPr lang="en-US" b="0" baseline="0" dirty="0" smtClean="0"/>
              <a:t>Trainer identifies one local event and asks trainees to contribute items of information about this event that should be communicated about it to visitors from another country.</a:t>
            </a:r>
          </a:p>
          <a:p>
            <a:pPr lvl="0">
              <a:buFont typeface="Arial" pitchFamily="34" charset="0"/>
              <a:buNone/>
            </a:pPr>
            <a:endParaRPr lang="en-US" b="0" baseline="0" dirty="0" smtClean="0"/>
          </a:p>
          <a:p>
            <a:pPr lvl="0">
              <a:buFont typeface="Arial" pitchFamily="34" charset="0"/>
              <a:buNone/>
            </a:pPr>
            <a:r>
              <a:rPr lang="en-US" b="0" baseline="0" dirty="0" smtClean="0"/>
              <a:t>Trainer records all contributions on the board for trainees to copy down.</a:t>
            </a:r>
          </a:p>
          <a:p>
            <a:pPr lvl="0">
              <a:buFont typeface="Arial" pitchFamily="34" charset="0"/>
              <a:buNone/>
            </a:pPr>
            <a:endParaRPr lang="en-US" b="0" baseline="0" dirty="0" smtClean="0"/>
          </a:p>
          <a:p>
            <a:pPr lvl="0">
              <a:buFont typeface="Arial" pitchFamily="34" charset="0"/>
              <a:buNone/>
            </a:pPr>
            <a:r>
              <a:rPr lang="en-US" b="0" baseline="0" dirty="0" smtClean="0"/>
              <a:t>Attention must be paid to following up any information by trainees considered ambiguous, incorrect or controversial.</a:t>
            </a:r>
          </a:p>
          <a:p>
            <a:pPr lvl="0">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272058116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smtClean="0"/>
              <a:t>Trainer continues to explain that </a:t>
            </a:r>
            <a:r>
              <a:rPr lang="en-US" baseline="0" dirty="0" err="1" smtClean="0"/>
              <a:t>nformation</a:t>
            </a:r>
            <a:r>
              <a:rPr lang="en-US" baseline="0" dirty="0" smtClean="0"/>
              <a:t> about the following must be available to respond to visitor enquiries:</a:t>
            </a:r>
          </a:p>
          <a:p>
            <a:pPr>
              <a:buFont typeface="Arial" pitchFamily="34" charset="0"/>
              <a:buChar char="•"/>
            </a:pPr>
            <a:r>
              <a:rPr lang="en-US" baseline="0" dirty="0" smtClean="0"/>
              <a:t> General visitor facilities. I</a:t>
            </a:r>
            <a:r>
              <a:rPr lang="en-US" sz="1200" kern="1200" dirty="0" smtClean="0">
                <a:solidFill>
                  <a:schemeClr val="tx1"/>
                </a:solidFill>
                <a:latin typeface="+mn-lt"/>
                <a:ea typeface="+mn-ea"/>
                <a:cs typeface="+mn-cs"/>
              </a:rPr>
              <a:t>n-house local information file should contain information about: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Shopping locations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Markets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Currency exchange sites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Post offices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Banks and ATMs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Emergency services  </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Dining options  including all types/styles (fast-food, take-away food, local cuisine, western cuisine, fine dining) and bars/drinking venues. Before recommending a dining or drinking venue it is best to ask some questions of the guests so an appropriate recommendation can be made. Questions could include:</a:t>
            </a:r>
          </a:p>
          <a:p>
            <a:pPr lvl="1">
              <a:buFont typeface="Arial" pitchFamily="34" charset="0"/>
              <a:buChar char="•"/>
            </a:pPr>
            <a:r>
              <a:rPr lang="en-US" sz="1200" kern="1200" dirty="0" smtClean="0">
                <a:solidFill>
                  <a:schemeClr val="tx1"/>
                </a:solidFill>
                <a:latin typeface="+mn-lt"/>
                <a:ea typeface="+mn-ea"/>
                <a:cs typeface="+mn-cs"/>
              </a:rPr>
              <a:t> Do they want a quick meal, or a full night out?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How much do they want to spend?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Do they have transport?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Do they want a ‘local’ experience?</a:t>
            </a:r>
          </a:p>
          <a:p>
            <a:pPr lvl="1">
              <a:buFont typeface="Arial" pitchFamily="34" charset="0"/>
              <a:buNone/>
            </a:pPr>
            <a:r>
              <a:rPr lang="en-US" sz="1200" kern="1200" dirty="0" smtClean="0">
                <a:solidFill>
                  <a:schemeClr val="tx1"/>
                </a:solidFill>
                <a:latin typeface="+mn-lt"/>
                <a:ea typeface="+mn-ea"/>
                <a:cs typeface="+mn-cs"/>
              </a:rPr>
              <a:t>A</a:t>
            </a:r>
            <a:r>
              <a:rPr lang="en-US" sz="1200" kern="1200" baseline="0" dirty="0" smtClean="0">
                <a:solidFill>
                  <a:schemeClr val="tx1"/>
                </a:solidFill>
                <a:latin typeface="+mn-lt"/>
                <a:ea typeface="+mn-ea"/>
                <a:cs typeface="+mn-cs"/>
              </a:rPr>
              <a:t> menu of the dining venue should be provided where possible so visitors can gain a better idea of the venue before they attend.</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Personal business services. This </a:t>
            </a:r>
            <a:r>
              <a:rPr lang="en-US" sz="1200" kern="1200" dirty="0" smtClean="0">
                <a:solidFill>
                  <a:schemeClr val="tx1"/>
                </a:solidFill>
                <a:latin typeface="+mn-lt"/>
                <a:ea typeface="+mn-ea"/>
                <a:cs typeface="+mn-cs"/>
              </a:rPr>
              <a:t>may include a detailed list (name, address, contact details, prices, plus other relevant information as indicated by the precise nature of each business) of local:</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latin typeface="+mn-lt"/>
                <a:ea typeface="+mn-ea"/>
                <a:cs typeface="+mn-cs"/>
              </a:rPr>
              <a:t> Dentists </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latin typeface="+mn-lt"/>
                <a:ea typeface="+mn-ea"/>
                <a:cs typeface="+mn-cs"/>
              </a:rPr>
              <a:t> Doctors </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latin typeface="+mn-lt"/>
                <a:ea typeface="+mn-ea"/>
                <a:cs typeface="+mn-cs"/>
              </a:rPr>
              <a:t> Chiropractors </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latin typeface="+mn-lt"/>
                <a:ea typeface="+mn-ea"/>
                <a:cs typeface="+mn-cs"/>
              </a:rPr>
              <a:t> Beauticians </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latin typeface="+mn-lt"/>
                <a:ea typeface="+mn-ea"/>
                <a:cs typeface="+mn-cs"/>
              </a:rPr>
              <a:t> Remedial masseurs </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latin typeface="+mn-lt"/>
                <a:ea typeface="+mn-ea"/>
                <a:cs typeface="+mn-cs"/>
              </a:rPr>
              <a:t> Podiatrists </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latin typeface="+mn-lt"/>
                <a:ea typeface="+mn-ea"/>
                <a:cs typeface="+mn-cs"/>
              </a:rPr>
              <a:t> Travel agents </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latin typeface="+mn-lt"/>
                <a:ea typeface="+mn-ea"/>
                <a:cs typeface="+mn-cs"/>
              </a:rPr>
              <a:t> Computer technicians – many people travel with a lap-top and need occasional but absolutely crucial IT support.</a:t>
            </a:r>
            <a:endParaRPr lang="en-US"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Entertainment. This should embrace:</a:t>
            </a:r>
          </a:p>
          <a:p>
            <a:pPr lvl="1">
              <a:buFont typeface="Arial" pitchFamily="34" charset="0"/>
              <a:buChar char="•"/>
            </a:pPr>
            <a:r>
              <a:rPr lang="en-US" sz="1200" kern="1200" dirty="0" smtClean="0">
                <a:solidFill>
                  <a:schemeClr val="tx1"/>
                </a:solidFill>
                <a:latin typeface="+mn-lt"/>
                <a:ea typeface="+mn-ea"/>
                <a:cs typeface="+mn-cs"/>
              </a:rPr>
              <a:t> Theatres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Cinemas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Entertainment venues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Natural swimming spots (beaches, rivers, lakes), beaches and swimming pools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Local sporting clubs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Sporting facilities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Health clubs and gymnasiums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Golf courses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Shooting ranges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Fishing spots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Tours and tour organisers.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1"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dirty="0" smtClean="0"/>
              <a:t>Class Activity – Small Group Exercise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dirty="0" smtClean="0"/>
              <a:t>Trainer divides trainees into four groups, and: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Allocates each group one category from the above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Asks each group to compile in (for example, 30 or 60 minutes) as much local information as possible about the category they have been allocated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A representative from each group shares their list of information with other groups at the end of the allocated time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Feedback and comment from all trainees is encouraged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Attention must be paid to following up any information by trainees considered ambiguous, incorrect or controversial.</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254539232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smtClean="0"/>
              <a:t>Trainer continues to identify information about the following must be available to respond to visitor enquiries:</a:t>
            </a:r>
          </a:p>
          <a:p>
            <a:pPr>
              <a:buFont typeface="Arial" pitchFamily="34" charset="0"/>
              <a:buChar char="•"/>
            </a:pPr>
            <a:r>
              <a:rPr kumimoji="0" lang="en-US" sz="2400" kern="1200" dirty="0" smtClean="0">
                <a:solidFill>
                  <a:schemeClr val="tx1"/>
                </a:solidFill>
                <a:latin typeface="+mn-lt"/>
                <a:ea typeface="+mn-ea"/>
                <a:cs typeface="+mn-cs"/>
              </a:rPr>
              <a:t> Travel.</a:t>
            </a:r>
            <a:r>
              <a:rPr kumimoji="0" lang="en-US" sz="2400" kern="1200" baseline="0" dirty="0" smtClean="0">
                <a:solidFill>
                  <a:schemeClr val="tx1"/>
                </a:solidFill>
                <a:latin typeface="+mn-lt"/>
                <a:ea typeface="+mn-ea"/>
                <a:cs typeface="+mn-cs"/>
              </a:rPr>
              <a:t> I</a:t>
            </a:r>
            <a:r>
              <a:rPr kumimoji="0" lang="en-US" sz="2400" kern="1200" dirty="0" smtClean="0">
                <a:solidFill>
                  <a:schemeClr val="tx1"/>
                </a:solidFill>
                <a:latin typeface="+mn-lt"/>
                <a:ea typeface="+mn-ea"/>
                <a:cs typeface="+mn-cs"/>
              </a:rPr>
              <a:t>mportant requirements are to have:</a:t>
            </a:r>
          </a:p>
          <a:p>
            <a:pPr lvl="1">
              <a:buFont typeface="Arial" pitchFamily="34" charset="0"/>
              <a:buChar char="•"/>
            </a:pPr>
            <a:r>
              <a:rPr kumimoji="0" lang="en-US" sz="2400" kern="1200" dirty="0" smtClean="0">
                <a:solidFill>
                  <a:schemeClr val="tx1"/>
                </a:solidFill>
                <a:latin typeface="+mn-lt"/>
                <a:ea typeface="+mn-ea"/>
                <a:cs typeface="+mn-cs"/>
              </a:rPr>
              <a:t> Local maps </a:t>
            </a:r>
          </a:p>
          <a:p>
            <a:pPr lvl="1">
              <a:buFont typeface="Arial" pitchFamily="34" charset="0"/>
              <a:buChar char="•"/>
            </a:pPr>
            <a:r>
              <a:rPr kumimoji="0" lang="en-US" sz="2400" kern="1200" dirty="0" smtClean="0">
                <a:solidFill>
                  <a:schemeClr val="tx1"/>
                </a:solidFill>
                <a:latin typeface="+mn-lt"/>
                <a:ea typeface="+mn-ea"/>
                <a:cs typeface="+mn-cs"/>
              </a:rPr>
              <a:t> A street directory</a:t>
            </a:r>
          </a:p>
          <a:p>
            <a:pPr lvl="1">
              <a:buFont typeface="Arial" pitchFamily="34" charset="0"/>
              <a:buChar char="•"/>
            </a:pPr>
            <a:r>
              <a:rPr kumimoji="0" lang="en-US" sz="2400" kern="1200" dirty="0" smtClean="0">
                <a:solidFill>
                  <a:schemeClr val="tx1"/>
                </a:solidFill>
                <a:latin typeface="+mn-lt"/>
                <a:ea typeface="+mn-ea"/>
                <a:cs typeface="+mn-cs"/>
              </a:rPr>
              <a:t>Updates, alerts, advice and information from local police and motoring/car clubs</a:t>
            </a:r>
          </a:p>
          <a:p>
            <a:pPr lvl="0">
              <a:buFont typeface="Arial" pitchFamily="34" charset="0"/>
              <a:buChar char="•"/>
            </a:pPr>
            <a:r>
              <a:rPr kumimoji="0" lang="en-US" sz="2400" kern="1200" dirty="0" smtClean="0">
                <a:solidFill>
                  <a:schemeClr val="tx1"/>
                </a:solidFill>
                <a:latin typeface="+mn-lt"/>
                <a:ea typeface="+mn-ea"/>
                <a:cs typeface="+mn-cs"/>
              </a:rPr>
              <a:t> Weather.</a:t>
            </a:r>
            <a:r>
              <a:rPr kumimoji="0" lang="en-US" sz="2400" kern="1200" baseline="0" dirty="0" smtClean="0">
                <a:solidFill>
                  <a:schemeClr val="tx1"/>
                </a:solidFill>
                <a:latin typeface="+mn-lt"/>
                <a:ea typeface="+mn-ea"/>
                <a:cs typeface="+mn-cs"/>
              </a:rPr>
              <a:t> This</a:t>
            </a:r>
            <a:r>
              <a:rPr kumimoji="0" lang="en-US" sz="2400" kern="1200" dirty="0" smtClean="0">
                <a:solidFill>
                  <a:schemeClr val="tx1"/>
                </a:solidFill>
                <a:latin typeface="+mn-lt"/>
                <a:ea typeface="+mn-ea"/>
                <a:cs typeface="+mn-cs"/>
              </a:rPr>
              <a:t> should include short-term and long-term forecasts for the local area, as well as other locations in the country.</a:t>
            </a:r>
            <a:r>
              <a:rPr kumimoji="0" lang="en-US" sz="2400" kern="1200" baseline="0" dirty="0" smtClean="0">
                <a:solidFill>
                  <a:schemeClr val="tx1"/>
                </a:solidFill>
                <a:latin typeface="+mn-lt"/>
                <a:ea typeface="+mn-ea"/>
                <a:cs typeface="+mn-cs"/>
              </a:rPr>
              <a:t> T</a:t>
            </a:r>
            <a:r>
              <a:rPr kumimoji="0" lang="en-US" sz="2400" kern="1200" dirty="0" smtClean="0">
                <a:solidFill>
                  <a:schemeClr val="tx1"/>
                </a:solidFill>
                <a:latin typeface="+mn-lt"/>
                <a:ea typeface="+mn-ea"/>
                <a:cs typeface="+mn-cs"/>
              </a:rPr>
              <a:t>he local newspaper may be sufficient to enable these to be provided or there may need to be a relationship with the Bureau of Meteorology (or similar)</a:t>
            </a:r>
          </a:p>
          <a:p>
            <a:pPr>
              <a:buFont typeface="Arial" pitchFamily="34" charset="0"/>
              <a:buChar char="•"/>
            </a:pPr>
            <a:r>
              <a:rPr kumimoji="0" lang="en-US" sz="2400" kern="1200" dirty="0" smtClean="0">
                <a:solidFill>
                  <a:schemeClr val="tx1"/>
                </a:solidFill>
                <a:latin typeface="+mn-lt"/>
                <a:ea typeface="+mn-ea"/>
                <a:cs typeface="+mn-cs"/>
              </a:rPr>
              <a:t> Local visitor guides.</a:t>
            </a:r>
            <a:r>
              <a:rPr kumimoji="0" lang="en-US" sz="2400" kern="1200" baseline="0" dirty="0" smtClean="0">
                <a:solidFill>
                  <a:schemeClr val="tx1"/>
                </a:solidFill>
                <a:latin typeface="+mn-lt"/>
                <a:ea typeface="+mn-ea"/>
                <a:cs typeface="+mn-cs"/>
              </a:rPr>
              <a:t> T</a:t>
            </a:r>
            <a:r>
              <a:rPr kumimoji="0" lang="en-US" sz="2400" kern="1200" dirty="0" smtClean="0">
                <a:solidFill>
                  <a:schemeClr val="tx1"/>
                </a:solidFill>
                <a:latin typeface="+mn-lt"/>
                <a:ea typeface="+mn-ea"/>
                <a:cs typeface="+mn-cs"/>
              </a:rPr>
              <a:t>hese </a:t>
            </a:r>
            <a:r>
              <a:rPr lang="en-US" sz="1200" kern="1200" dirty="0" smtClean="0">
                <a:solidFill>
                  <a:schemeClr val="tx1"/>
                </a:solidFill>
                <a:latin typeface="+mn-lt"/>
                <a:ea typeface="+mn-ea"/>
                <a:cs typeface="+mn-cs"/>
              </a:rPr>
              <a:t>are one of the most asked for items of visitor information. Contact local Visitor Information Centre to ensure sufficient quantities to:</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Put in guest rooms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Display in public areas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Distribute from the reception desk.</a:t>
            </a:r>
            <a:endParaRPr lang="en-AU" sz="1200" kern="1200" dirty="0" smtClean="0">
              <a:solidFill>
                <a:schemeClr val="tx1"/>
              </a:solidFill>
              <a:latin typeface="+mn-lt"/>
              <a:ea typeface="+mn-ea"/>
              <a:cs typeface="+mn-cs"/>
            </a:endParaRPr>
          </a:p>
          <a:p>
            <a:pPr lvl="0">
              <a:buFont typeface="Arial" pitchFamily="34" charset="0"/>
              <a:buChar char="•"/>
            </a:pPr>
            <a:r>
              <a:rPr kumimoji="0" lang="en-US" sz="2400" kern="1200" dirty="0" smtClean="0">
                <a:solidFill>
                  <a:schemeClr val="tx1"/>
                </a:solidFill>
                <a:latin typeface="+mn-lt"/>
                <a:ea typeface="+mn-ea"/>
                <a:cs typeface="+mn-cs"/>
              </a:rPr>
              <a:t> Local people.</a:t>
            </a:r>
            <a:r>
              <a:rPr kumimoji="0" lang="en-US" sz="2400" kern="1200" baseline="0" dirty="0" smtClean="0">
                <a:solidFill>
                  <a:schemeClr val="tx1"/>
                </a:solidFill>
                <a:latin typeface="+mn-lt"/>
                <a:ea typeface="+mn-ea"/>
                <a:cs typeface="+mn-cs"/>
              </a:rPr>
              <a:t> T</a:t>
            </a:r>
            <a:r>
              <a:rPr kumimoji="0" lang="en-US" sz="2400" kern="1200" dirty="0" smtClean="0">
                <a:solidFill>
                  <a:schemeClr val="tx1"/>
                </a:solidFill>
                <a:latin typeface="+mn-lt"/>
                <a:ea typeface="+mn-ea"/>
                <a:cs typeface="+mn-cs"/>
              </a:rPr>
              <a:t>his is a list of people from the local area who have agreed to be on the list and who may be helpful</a:t>
            </a:r>
            <a:r>
              <a:rPr kumimoji="0" lang="en-US" sz="2400" kern="1200" baseline="0" dirty="0" smtClean="0">
                <a:solidFill>
                  <a:schemeClr val="tx1"/>
                </a:solidFill>
                <a:latin typeface="+mn-lt"/>
                <a:ea typeface="+mn-ea"/>
                <a:cs typeface="+mn-cs"/>
              </a:rPr>
              <a:t> </a:t>
            </a:r>
            <a:r>
              <a:rPr kumimoji="0" lang="en-US" sz="2400" kern="1200" dirty="0" smtClean="0">
                <a:solidFill>
                  <a:schemeClr val="tx1"/>
                </a:solidFill>
                <a:latin typeface="+mn-lt"/>
                <a:ea typeface="+mn-ea"/>
                <a:cs typeface="+mn-cs"/>
              </a:rPr>
              <a:t>and prepared to help.</a:t>
            </a:r>
            <a:r>
              <a:rPr kumimoji="0" lang="en-US" sz="2400" kern="1200" baseline="0" dirty="0" smtClean="0">
                <a:solidFill>
                  <a:schemeClr val="tx1"/>
                </a:solidFill>
                <a:latin typeface="+mn-lt"/>
                <a:ea typeface="+mn-ea"/>
                <a:cs typeface="+mn-cs"/>
              </a:rPr>
              <a:t> These can include </a:t>
            </a:r>
            <a:r>
              <a:rPr kumimoji="0" lang="en-US" sz="2400" kern="1200" dirty="0" smtClean="0">
                <a:solidFill>
                  <a:schemeClr val="tx1"/>
                </a:solidFill>
                <a:latin typeface="+mn-lt"/>
                <a:ea typeface="+mn-ea"/>
                <a:cs typeface="+mn-cs"/>
              </a:rPr>
              <a:t>visitors in various capacities such as:</a:t>
            </a:r>
          </a:p>
          <a:p>
            <a:pPr lvl="1">
              <a:buFont typeface="Arial" pitchFamily="34" charset="0"/>
              <a:buChar char="•"/>
            </a:pPr>
            <a:r>
              <a:rPr kumimoji="0" lang="en-US" sz="2400" kern="1200" dirty="0" smtClean="0">
                <a:solidFill>
                  <a:schemeClr val="tx1"/>
                </a:solidFill>
                <a:latin typeface="+mn-lt"/>
                <a:ea typeface="+mn-ea"/>
                <a:cs typeface="+mn-cs"/>
              </a:rPr>
              <a:t> Providing local knowledge </a:t>
            </a:r>
          </a:p>
          <a:p>
            <a:pPr lvl="1">
              <a:buFont typeface="Arial" pitchFamily="34" charset="0"/>
              <a:buChar char="•"/>
            </a:pPr>
            <a:r>
              <a:rPr kumimoji="0" lang="en-US" sz="2400" kern="1200" dirty="0" smtClean="0">
                <a:solidFill>
                  <a:schemeClr val="tx1"/>
                </a:solidFill>
                <a:latin typeface="+mn-lt"/>
                <a:ea typeface="+mn-ea"/>
                <a:cs typeface="+mn-cs"/>
              </a:rPr>
              <a:t> Being a local tour guide</a:t>
            </a:r>
          </a:p>
          <a:p>
            <a:pPr lvl="1">
              <a:buFont typeface="Arial" pitchFamily="34" charset="0"/>
              <a:buChar char="•"/>
            </a:pPr>
            <a:r>
              <a:rPr kumimoji="0" lang="en-US" sz="2400" kern="1200" dirty="0" smtClean="0">
                <a:solidFill>
                  <a:schemeClr val="tx1"/>
                </a:solidFill>
                <a:latin typeface="+mn-lt"/>
                <a:ea typeface="+mn-ea"/>
                <a:cs typeface="+mn-cs"/>
              </a:rPr>
              <a:t> Assisting with research</a:t>
            </a:r>
          </a:p>
          <a:p>
            <a:pPr lvl="1">
              <a:buFont typeface="Arial" pitchFamily="34" charset="0"/>
              <a:buChar char="•"/>
            </a:pPr>
            <a:r>
              <a:rPr kumimoji="0" lang="en-US" sz="2400" kern="1200" baseline="0" dirty="0" smtClean="0">
                <a:solidFill>
                  <a:schemeClr val="tx1"/>
                </a:solidFill>
                <a:latin typeface="+mn-lt"/>
                <a:ea typeface="+mn-ea"/>
                <a:cs typeface="+mn-cs"/>
              </a:rPr>
              <a:t> Introducing people to local businesses, groups </a:t>
            </a:r>
          </a:p>
          <a:p>
            <a:pPr lvl="0">
              <a:buFont typeface="Arial" pitchFamily="34" charset="0"/>
              <a:buChar char="•"/>
            </a:pPr>
            <a:r>
              <a:rPr kumimoji="0" lang="en-US" sz="2400" kern="1200" dirty="0" smtClean="0">
                <a:solidFill>
                  <a:schemeClr val="tx1"/>
                </a:solidFill>
                <a:latin typeface="+mn-lt"/>
                <a:ea typeface="+mn-ea"/>
                <a:cs typeface="+mn-cs"/>
              </a:rPr>
              <a:t> Government requirements.</a:t>
            </a:r>
            <a:r>
              <a:rPr kumimoji="0" lang="en-US" sz="2400" kern="1200" baseline="0" dirty="0" smtClean="0">
                <a:solidFill>
                  <a:schemeClr val="tx1"/>
                </a:solidFill>
                <a:latin typeface="+mn-lt"/>
                <a:ea typeface="+mn-ea"/>
                <a:cs typeface="+mn-cs"/>
              </a:rPr>
              <a:t> T</a:t>
            </a:r>
            <a:r>
              <a:rPr kumimoji="0" lang="en-US" sz="2400" kern="1200" dirty="0" smtClean="0">
                <a:solidFill>
                  <a:schemeClr val="tx1"/>
                </a:solidFill>
                <a:latin typeface="+mn-lt"/>
                <a:ea typeface="+mn-ea"/>
                <a:cs typeface="+mn-cs"/>
              </a:rPr>
              <a:t>his is a list outlining</a:t>
            </a:r>
            <a:r>
              <a:rPr kumimoji="0" lang="en-US" sz="2400" kern="1200" baseline="0" dirty="0" smtClean="0">
                <a:solidFill>
                  <a:schemeClr val="tx1"/>
                </a:solidFill>
                <a:latin typeface="+mn-lt"/>
                <a:ea typeface="+mn-ea"/>
                <a:cs typeface="+mn-cs"/>
              </a:rPr>
              <a:t> or </a:t>
            </a:r>
            <a:r>
              <a:rPr kumimoji="0" lang="en-US" sz="2400" kern="1200" dirty="0" smtClean="0">
                <a:solidFill>
                  <a:schemeClr val="tx1"/>
                </a:solidFill>
                <a:latin typeface="+mn-lt"/>
                <a:ea typeface="+mn-ea"/>
                <a:cs typeface="+mn-cs"/>
              </a:rPr>
              <a:t>detailing:</a:t>
            </a:r>
          </a:p>
          <a:p>
            <a:pPr lvl="1">
              <a:buFont typeface="Arial" pitchFamily="34" charset="0"/>
              <a:buChar char="•"/>
            </a:pPr>
            <a:r>
              <a:rPr kumimoji="0" lang="en-US" sz="2400" kern="1200" dirty="0" smtClean="0">
                <a:solidFill>
                  <a:schemeClr val="tx1"/>
                </a:solidFill>
                <a:latin typeface="+mn-lt"/>
                <a:ea typeface="+mn-ea"/>
                <a:cs typeface="+mn-cs"/>
              </a:rPr>
              <a:t> Local,</a:t>
            </a:r>
            <a:r>
              <a:rPr kumimoji="0" lang="en-US" sz="2400" kern="1200" baseline="0" dirty="0" smtClean="0">
                <a:solidFill>
                  <a:schemeClr val="tx1"/>
                </a:solidFill>
                <a:latin typeface="+mn-lt"/>
                <a:ea typeface="+mn-ea"/>
                <a:cs typeface="+mn-cs"/>
              </a:rPr>
              <a:t> regional and national laws that visitors must abide by such as issues relating to:</a:t>
            </a:r>
          </a:p>
          <a:p>
            <a:pPr lvl="2">
              <a:buFont typeface="Arial" pitchFamily="34" charset="0"/>
              <a:buChar char="•"/>
            </a:pPr>
            <a:r>
              <a:rPr lang="en-US" sz="1200" kern="1200" dirty="0" smtClean="0">
                <a:solidFill>
                  <a:schemeClr val="tx1"/>
                </a:solidFill>
                <a:latin typeface="+mn-lt"/>
                <a:ea typeface="+mn-ea"/>
                <a:cs typeface="+mn-cs"/>
              </a:rPr>
              <a:t> Taxes payable by tourists and rebates (where applicable)</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Prohibitions on goods that can be taken out of the country</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Documentation required to take nominated items out of the country</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Immigration and visa requirements.</a:t>
            </a:r>
            <a:endParaRPr lang="en-AU" sz="1200" kern="1200" dirty="0" smtClean="0">
              <a:solidFill>
                <a:schemeClr val="tx1"/>
              </a:solidFill>
              <a:latin typeface="+mn-lt"/>
              <a:ea typeface="+mn-ea"/>
              <a:cs typeface="+mn-cs"/>
            </a:endParaRPr>
          </a:p>
          <a:p>
            <a:pPr lvl="0">
              <a:buFont typeface="Arial" pitchFamily="34" charset="0"/>
              <a:buChar char="•"/>
            </a:pPr>
            <a:endParaRPr kumimoji="0" lang="en-US" sz="2400" kern="1200" dirty="0" smtClean="0">
              <a:solidFill>
                <a:schemeClr val="tx1"/>
              </a:solidFill>
              <a:latin typeface="+mn-lt"/>
              <a:ea typeface="+mn-ea"/>
              <a:cs typeface="+mn-cs"/>
            </a:endParaRPr>
          </a:p>
          <a:p>
            <a:pPr lvl="0">
              <a:buFont typeface="Arial" pitchFamily="34" charset="0"/>
              <a:buNone/>
            </a:pPr>
            <a:r>
              <a:rPr kumimoji="0" lang="en-US" sz="2400" b="1" kern="1200" dirty="0" smtClean="0">
                <a:solidFill>
                  <a:schemeClr val="tx1"/>
                </a:solidFill>
                <a:latin typeface="+mn-lt"/>
                <a:ea typeface="+mn-ea"/>
                <a:cs typeface="+mn-cs"/>
              </a:rPr>
              <a:t>Class Activity – Guest Speaker</a:t>
            </a:r>
          </a:p>
          <a:p>
            <a:pPr lvl="0">
              <a:buFont typeface="Arial" pitchFamily="34" charset="0"/>
              <a:buNone/>
            </a:pPr>
            <a:r>
              <a:rPr kumimoji="0" lang="en-US" sz="2400" b="0" kern="1200" dirty="0" smtClean="0">
                <a:solidFill>
                  <a:schemeClr val="tx1"/>
                </a:solidFill>
                <a:latin typeface="+mn-lt"/>
                <a:ea typeface="+mn-ea"/>
                <a:cs typeface="+mn-cs"/>
              </a:rPr>
              <a:t>Trainer arranges for one or more</a:t>
            </a:r>
            <a:r>
              <a:rPr kumimoji="0" lang="en-US" sz="2400" b="0" kern="1200" baseline="0" dirty="0" smtClean="0">
                <a:solidFill>
                  <a:schemeClr val="tx1"/>
                </a:solidFill>
                <a:latin typeface="+mn-lt"/>
                <a:ea typeface="+mn-ea"/>
                <a:cs typeface="+mn-cs"/>
              </a:rPr>
              <a:t> </a:t>
            </a:r>
            <a:r>
              <a:rPr kumimoji="0" lang="en-US" sz="2400" b="0" kern="1200" dirty="0" smtClean="0">
                <a:solidFill>
                  <a:schemeClr val="tx1"/>
                </a:solidFill>
                <a:latin typeface="+mn-lt"/>
                <a:ea typeface="+mn-ea"/>
                <a:cs typeface="+mn-cs"/>
              </a:rPr>
              <a:t>representatives from Government agencies to attend and talk to trainees about:</a:t>
            </a:r>
          </a:p>
          <a:p>
            <a:pPr lvl="0">
              <a:buFont typeface="Arial" pitchFamily="34" charset="0"/>
              <a:buChar char="•"/>
            </a:pPr>
            <a:r>
              <a:rPr kumimoji="0" lang="en-US" sz="2400" b="0" kern="1200" dirty="0" smtClean="0">
                <a:solidFill>
                  <a:schemeClr val="tx1"/>
                </a:solidFill>
                <a:latin typeface="+mn-lt"/>
                <a:ea typeface="+mn-ea"/>
                <a:cs typeface="+mn-cs"/>
              </a:rPr>
              <a:t> Issues that tourists/visitors need to comply with when in the area</a:t>
            </a:r>
          </a:p>
          <a:p>
            <a:pPr lvl="0">
              <a:buFont typeface="Arial" pitchFamily="34" charset="0"/>
              <a:buChar char="•"/>
            </a:pPr>
            <a:r>
              <a:rPr kumimoji="0" lang="en-US" sz="2400" b="0" kern="1200" dirty="0" smtClean="0">
                <a:solidFill>
                  <a:schemeClr val="tx1"/>
                </a:solidFill>
                <a:latin typeface="+mn-lt"/>
                <a:ea typeface="+mn-ea"/>
                <a:cs typeface="+mn-cs"/>
              </a:rPr>
              <a:t> Materials available to support communication of these matters</a:t>
            </a:r>
          </a:p>
          <a:p>
            <a:pPr lvl="0">
              <a:buFont typeface="Arial" pitchFamily="34" charset="0"/>
              <a:buChar char="•"/>
            </a:pPr>
            <a:r>
              <a:rPr kumimoji="0" lang="en-US" sz="2400" b="0" kern="1200" dirty="0" smtClean="0">
                <a:solidFill>
                  <a:schemeClr val="tx1"/>
                </a:solidFill>
                <a:latin typeface="+mn-lt"/>
                <a:ea typeface="+mn-ea"/>
                <a:cs typeface="+mn-cs"/>
              </a:rPr>
              <a:t> Penalties that may apply</a:t>
            </a:r>
          </a:p>
          <a:p>
            <a:pPr lvl="0">
              <a:buFont typeface="Arial" pitchFamily="34" charset="0"/>
              <a:buChar char="•"/>
            </a:pPr>
            <a:r>
              <a:rPr kumimoji="0" lang="en-US" sz="2400" b="0" kern="1200" dirty="0" smtClean="0">
                <a:solidFill>
                  <a:schemeClr val="tx1"/>
                </a:solidFill>
                <a:latin typeface="+mn-lt"/>
                <a:ea typeface="+mn-ea"/>
                <a:cs typeface="+mn-cs"/>
              </a:rPr>
              <a:t> Level of tolerance, if any, with out</a:t>
            </a:r>
            <a:r>
              <a:rPr kumimoji="0" lang="en-US" sz="2400" b="0" kern="1200" baseline="0" dirty="0" smtClean="0">
                <a:solidFill>
                  <a:schemeClr val="tx1"/>
                </a:solidFill>
                <a:latin typeface="+mn-lt"/>
                <a:ea typeface="+mn-ea"/>
                <a:cs typeface="+mn-cs"/>
              </a:rPr>
              <a:t> </a:t>
            </a:r>
            <a:r>
              <a:rPr kumimoji="0" lang="en-US" sz="2400" b="0" kern="1200" dirty="0" smtClean="0">
                <a:solidFill>
                  <a:schemeClr val="tx1"/>
                </a:solidFill>
                <a:latin typeface="+mn-lt"/>
                <a:ea typeface="+mn-ea"/>
                <a:cs typeface="+mn-cs"/>
              </a:rPr>
              <a:t>of</a:t>
            </a:r>
            <a:r>
              <a:rPr kumimoji="0" lang="en-US" sz="2400" b="0" kern="1200" baseline="0" dirty="0" smtClean="0">
                <a:solidFill>
                  <a:schemeClr val="tx1"/>
                </a:solidFill>
                <a:latin typeface="+mn-lt"/>
                <a:ea typeface="+mn-ea"/>
                <a:cs typeface="+mn-cs"/>
              </a:rPr>
              <a:t> </a:t>
            </a:r>
            <a:r>
              <a:rPr kumimoji="0" lang="en-US" sz="2400" b="0" kern="1200" dirty="0" smtClean="0">
                <a:solidFill>
                  <a:schemeClr val="tx1"/>
                </a:solidFill>
                <a:latin typeface="+mn-lt"/>
                <a:ea typeface="+mn-ea"/>
                <a:cs typeface="+mn-cs"/>
              </a:rPr>
              <a:t>country visitors who breach legislated requirements</a:t>
            </a:r>
          </a:p>
          <a:p>
            <a:pPr lvl="0">
              <a:buFont typeface="Arial" pitchFamily="34" charset="0"/>
              <a:buChar char="•"/>
            </a:pPr>
            <a:r>
              <a:rPr kumimoji="0" lang="en-US" sz="2400" b="0" kern="1200" dirty="0" smtClean="0">
                <a:solidFill>
                  <a:schemeClr val="tx1"/>
                </a:solidFill>
                <a:latin typeface="+mn-lt"/>
                <a:ea typeface="+mn-ea"/>
                <a:cs typeface="+mn-cs"/>
              </a:rPr>
              <a:t> Help available from authorities and agencies to assist venues inform visitors</a:t>
            </a:r>
            <a:r>
              <a:rPr kumimoji="0" lang="en-US" sz="2400" b="0" kern="1200" baseline="0" dirty="0" smtClean="0">
                <a:solidFill>
                  <a:schemeClr val="tx1"/>
                </a:solidFill>
                <a:latin typeface="+mn-lt"/>
                <a:ea typeface="+mn-ea"/>
                <a:cs typeface="+mn-cs"/>
              </a:rPr>
              <a:t> of local, regional and/or national legal requirements.</a:t>
            </a:r>
            <a:endParaRPr kumimoji="0" lang="en-US" sz="2400" b="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290466037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Trainer reminds trainees when using local knowledge to promote tourism products and services they must remember:</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To be proactive.</a:t>
            </a:r>
            <a:r>
              <a:rPr lang="en-US" sz="1200" kern="1200" baseline="0" dirty="0" smtClean="0">
                <a:solidFill>
                  <a:schemeClr val="tx1"/>
                </a:solidFill>
                <a:latin typeface="+mn-lt"/>
                <a:ea typeface="+mn-ea"/>
                <a:cs typeface="+mn-cs"/>
              </a:rPr>
              <a:t> I</a:t>
            </a:r>
            <a:r>
              <a:rPr lang="en-US" sz="1200" kern="1200" dirty="0" smtClean="0">
                <a:solidFill>
                  <a:schemeClr val="tx1"/>
                </a:solidFill>
                <a:latin typeface="+mn-lt"/>
                <a:ea typeface="+mn-ea"/>
                <a:cs typeface="+mn-cs"/>
              </a:rPr>
              <a:t>t is vital an effort is made to sell these things: they will not ‘sell themselves’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The aims of promoting tourism products and services are to:</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Enhance/optimise the tourist experience.</a:t>
            </a:r>
            <a:r>
              <a:rPr lang="en-US" sz="1200" kern="1200" baseline="0" dirty="0" smtClean="0">
                <a:solidFill>
                  <a:schemeClr val="tx1"/>
                </a:solidFill>
                <a:latin typeface="+mn-lt"/>
                <a:ea typeface="+mn-ea"/>
                <a:cs typeface="+mn-cs"/>
              </a:rPr>
              <a:t> L</a:t>
            </a:r>
            <a:r>
              <a:rPr lang="en-US" sz="1200" kern="1200" dirty="0" smtClean="0">
                <a:solidFill>
                  <a:schemeClr val="tx1"/>
                </a:solidFill>
                <a:latin typeface="+mn-lt"/>
                <a:ea typeface="+mn-ea"/>
                <a:cs typeface="+mn-cs"/>
              </a:rPr>
              <a:t>ocal knowledge and local tourism products and services should enhance the visitor experience of the country/local area</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Encourage tourists to stay another night or two in the area.</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 longer people stay, the more they are likely to spend to help the local economy</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community.</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391036861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dirty="0" smtClean="0">
                <a:solidFill>
                  <a:schemeClr val="tx1"/>
                </a:solidFill>
                <a:latin typeface="+mn-lt"/>
                <a:ea typeface="+mn-ea"/>
                <a:cs typeface="+mn-cs"/>
              </a:rPr>
              <a:t>Trainer tells trainees they must always use local knowledge when promoting local tourism products and services because:</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The local knowledge passed on to tourists, customers, guests or visitors often decides whether or not the person has an enjoyable experience or not.</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his is a prime consideration in determining if those people generate return or referral business from the venue and/or the area or country.</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Local knowledge ‘enriches’ the tourism experience.</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Local knowledge enables the tourist/visitor to differentiate themselves from other tourists/visitors who do not have ‘local knowledge’ and hence cannot avail themselves of the benefits this local knowledge brings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Sharing local knowledge is an excellent way of demonstrating acceptance of the visitor/tourist.</a:t>
            </a:r>
            <a:r>
              <a:rPr lang="en-US" sz="1200" kern="1200" baseline="0" dirty="0" smtClean="0">
                <a:solidFill>
                  <a:schemeClr val="tx1"/>
                </a:solidFill>
                <a:latin typeface="+mn-lt"/>
                <a:ea typeface="+mn-ea"/>
                <a:cs typeface="+mn-cs"/>
              </a:rPr>
              <a:t> I</a:t>
            </a:r>
            <a:r>
              <a:rPr lang="en-US" sz="1200" kern="1200" dirty="0" smtClean="0">
                <a:solidFill>
                  <a:schemeClr val="tx1"/>
                </a:solidFill>
                <a:latin typeface="+mn-lt"/>
                <a:ea typeface="+mn-ea"/>
                <a:cs typeface="+mn-cs"/>
              </a:rPr>
              <a:t>n many ways sharing local knowledge is like sharing a secret and there are many positive attitudes and orientations implicit in the simple act of passing on such information. Sharing local information is a way of:</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Demonstrating respect for the other person and regarding them as ‘an equal’</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Proving the desire to provide a memorable experience for the person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Deeming the other person as worthy of local secrets</a:t>
            </a:r>
            <a:r>
              <a:rPr lang="en-US" sz="1200" kern="1200" baseline="0" dirty="0" smtClean="0">
                <a:solidFill>
                  <a:schemeClr val="tx1"/>
                </a:solidFill>
                <a:latin typeface="+mn-lt"/>
                <a:ea typeface="+mn-ea"/>
                <a:cs typeface="+mn-cs"/>
              </a:rPr>
              <a:t> and </a:t>
            </a:r>
            <a:r>
              <a:rPr lang="en-US" sz="1200" kern="1200" dirty="0" smtClean="0">
                <a:solidFill>
                  <a:schemeClr val="tx1"/>
                </a:solidFill>
                <a:latin typeface="+mn-lt"/>
                <a:ea typeface="+mn-ea"/>
                <a:cs typeface="+mn-cs"/>
              </a:rPr>
              <a:t>information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Allowing the other person an insight into the country, culture they would not otherwise have</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Sharing local knowledge is often the local experience.</a:t>
            </a:r>
            <a:r>
              <a:rPr lang="en-US" sz="1200" kern="1200" baseline="0" dirty="0" smtClean="0">
                <a:solidFill>
                  <a:schemeClr val="tx1"/>
                </a:solidFill>
                <a:latin typeface="+mn-lt"/>
                <a:ea typeface="+mn-ea"/>
                <a:cs typeface="+mn-cs"/>
              </a:rPr>
              <a:t> W</a:t>
            </a:r>
            <a:r>
              <a:rPr lang="en-US" sz="1200" kern="1200" dirty="0" smtClean="0">
                <a:solidFill>
                  <a:schemeClr val="tx1"/>
                </a:solidFill>
                <a:latin typeface="+mn-lt"/>
                <a:ea typeface="+mn-ea"/>
                <a:cs typeface="+mn-cs"/>
              </a:rPr>
              <a:t>ithout this local knowledge there would be little or no ‘local experience’ for the person to remember and talk about after they have departed.</a:t>
            </a:r>
            <a:endParaRPr lang="en-AU"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guest speaker from a local attraction or tourist body to attend and talk to trainees about:</a:t>
            </a:r>
          </a:p>
          <a:p>
            <a:pPr>
              <a:buFont typeface="Arial" pitchFamily="34" charset="0"/>
              <a:buChar char="•"/>
            </a:pPr>
            <a:r>
              <a:rPr lang="en-US" b="0" dirty="0" smtClean="0"/>
              <a:t> The importance of promoting local tourism products and services</a:t>
            </a:r>
          </a:p>
          <a:p>
            <a:pPr>
              <a:buFont typeface="Arial" pitchFamily="34" charset="0"/>
              <a:buChar char="•"/>
            </a:pPr>
            <a:r>
              <a:rPr lang="en-US" b="0" dirty="0" smtClean="0"/>
              <a:t> What the local tourism products and services are</a:t>
            </a:r>
          </a:p>
          <a:p>
            <a:pPr>
              <a:buFont typeface="Arial" pitchFamily="34" charset="0"/>
              <a:buChar char="•"/>
            </a:pPr>
            <a:r>
              <a:rPr lang="en-US" b="0" dirty="0" smtClean="0"/>
              <a:t> Techniques for promoting local tourism products and services</a:t>
            </a:r>
          </a:p>
          <a:p>
            <a:pPr>
              <a:buFont typeface="Arial" pitchFamily="34" charset="0"/>
              <a:buChar char="•"/>
            </a:pPr>
            <a:r>
              <a:rPr lang="en-US" b="0" dirty="0" smtClean="0"/>
              <a:t> Examples of how they have promoted local tourism products and services</a:t>
            </a:r>
          </a:p>
          <a:p>
            <a:pPr>
              <a:buFont typeface="Arial" pitchFamily="34" charset="0"/>
              <a:buChar char="•"/>
            </a:pPr>
            <a:r>
              <a:rPr lang="en-US" b="0" dirty="0" smtClean="0"/>
              <a:t> Support for the promotion/sales</a:t>
            </a:r>
            <a:r>
              <a:rPr lang="en-US" b="0" baseline="0" dirty="0" smtClean="0"/>
              <a:t> of </a:t>
            </a:r>
            <a:r>
              <a:rPr lang="en-US" b="0" dirty="0" smtClean="0"/>
              <a:t>local tourism products and services.</a:t>
            </a:r>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201395091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Trainer informs trainees they should use their local knowledge to:</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Tell visitors the latest information about the area or an attraction</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Advise how to get to a destination/attraction – the best or quickest way,</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the most interesting way</a:t>
            </a:r>
            <a:r>
              <a:rPr lang="en-US" sz="1200" kern="1200" baseline="0" dirty="0" smtClean="0">
                <a:solidFill>
                  <a:schemeClr val="tx1"/>
                </a:solidFill>
                <a:latin typeface="+mn-lt"/>
                <a:ea typeface="+mn-ea"/>
                <a:cs typeface="+mn-cs"/>
              </a:rPr>
              <a:t> or</a:t>
            </a:r>
            <a:r>
              <a:rPr lang="en-US" sz="1200" kern="1200" dirty="0" smtClean="0">
                <a:solidFill>
                  <a:schemeClr val="tx1"/>
                </a:solidFill>
                <a:latin typeface="+mn-lt"/>
                <a:ea typeface="+mn-ea"/>
                <a:cs typeface="+mn-cs"/>
              </a:rPr>
              <a:t> a different way</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Inform them about local conditions such as telling visitors of local traps</a:t>
            </a:r>
            <a:r>
              <a:rPr lang="en-US" sz="1200" kern="1200" baseline="0" dirty="0" smtClean="0">
                <a:solidFill>
                  <a:schemeClr val="tx1"/>
                </a:solidFill>
                <a:latin typeface="+mn-lt"/>
                <a:ea typeface="+mn-ea"/>
                <a:cs typeface="+mn-cs"/>
              </a:rPr>
              <a:t> and</a:t>
            </a:r>
            <a:r>
              <a:rPr lang="en-US" sz="1200" kern="1200" dirty="0" smtClean="0">
                <a:solidFill>
                  <a:schemeClr val="tx1"/>
                </a:solidFill>
                <a:latin typeface="+mn-lt"/>
                <a:ea typeface="+mn-ea"/>
                <a:cs typeface="+mn-cs"/>
              </a:rPr>
              <a:t> pitfalls to avoid</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232565115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latin typeface="+mn-lt"/>
                <a:ea typeface="+mn-ea"/>
                <a:cs typeface="+mn-cs"/>
              </a:rPr>
              <a:t>Trainer continues to inform trainees they should use their local knowledge to:</a:t>
            </a:r>
          </a:p>
          <a:p>
            <a:pPr>
              <a:buFont typeface="Arial" pitchFamily="34" charset="0"/>
              <a:buChar char="•"/>
            </a:pPr>
            <a:r>
              <a:rPr lang="en-US" sz="1200" kern="1200" dirty="0" smtClean="0">
                <a:solidFill>
                  <a:schemeClr val="tx1"/>
                </a:solidFill>
                <a:latin typeface="+mn-lt"/>
                <a:ea typeface="+mn-ea"/>
                <a:cs typeface="+mn-cs"/>
              </a:rPr>
              <a:t> Compare one option against another so visitors can make informed decisions about what to do, where to go, what to buy</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Let visitors know where the locals eat, swim, fish, relax so they can get a true ‘local experience’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Indicate the best time of day to visit an area, landmark or feature in order to get the most from the experience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Explain what constitutes best value for money locally by offering alternatives</a:t>
            </a:r>
            <a:r>
              <a:rPr lang="en-US" sz="1200" kern="1200" baseline="0" dirty="0" smtClean="0">
                <a:solidFill>
                  <a:schemeClr val="tx1"/>
                </a:solidFill>
                <a:latin typeface="+mn-lt"/>
                <a:ea typeface="+mn-ea"/>
                <a:cs typeface="+mn-cs"/>
              </a:rPr>
              <a:t> and </a:t>
            </a:r>
            <a:r>
              <a:rPr lang="en-US" sz="1200" kern="1200" dirty="0" smtClean="0">
                <a:solidFill>
                  <a:schemeClr val="tx1"/>
                </a:solidFill>
                <a:latin typeface="+mn-lt"/>
                <a:ea typeface="+mn-ea"/>
                <a:cs typeface="+mn-cs"/>
              </a:rPr>
              <a:t>through basing options on local prices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Identify the best restaurants, bars</a:t>
            </a:r>
            <a:r>
              <a:rPr lang="en-US" sz="1200" kern="1200" baseline="0" dirty="0" smtClean="0">
                <a:solidFill>
                  <a:schemeClr val="tx1"/>
                </a:solidFill>
                <a:latin typeface="+mn-lt"/>
                <a:ea typeface="+mn-ea"/>
                <a:cs typeface="+mn-cs"/>
              </a:rPr>
              <a:t> and</a:t>
            </a:r>
            <a:r>
              <a:rPr lang="en-US" sz="1200" kern="1200" dirty="0" smtClean="0">
                <a:solidFill>
                  <a:schemeClr val="tx1"/>
                </a:solidFill>
                <a:latin typeface="+mn-lt"/>
                <a:ea typeface="+mn-ea"/>
                <a:cs typeface="+mn-cs"/>
              </a:rPr>
              <a:t> shops  based on identified visitor needs and preferences.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6981505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latin typeface="+mn-lt"/>
                <a:ea typeface="+mn-ea"/>
                <a:cs typeface="+mn-cs"/>
              </a:rPr>
              <a:t>Trainer emphasises trainees must be proactive when promoting local tourism products and services meaning they must:</a:t>
            </a:r>
          </a:p>
          <a:p>
            <a:pPr>
              <a:buFont typeface="Arial" pitchFamily="34" charset="0"/>
              <a:buChar char="•"/>
            </a:pPr>
            <a:r>
              <a:rPr lang="en-US" sz="1200" kern="1200" dirty="0" smtClean="0">
                <a:solidFill>
                  <a:schemeClr val="tx1"/>
                </a:solidFill>
                <a:latin typeface="+mn-lt"/>
                <a:ea typeface="+mn-ea"/>
                <a:cs typeface="+mn-cs"/>
              </a:rPr>
              <a:t> Offer the local knowledge/information without having to be asked.</a:t>
            </a:r>
            <a:r>
              <a:rPr lang="en-US" sz="1200" kern="1200" baseline="0" dirty="0" smtClean="0">
                <a:solidFill>
                  <a:schemeClr val="tx1"/>
                </a:solidFill>
                <a:latin typeface="+mn-lt"/>
                <a:ea typeface="+mn-ea"/>
                <a:cs typeface="+mn-cs"/>
              </a:rPr>
              <a:t> I</a:t>
            </a:r>
            <a:r>
              <a:rPr lang="en-US" sz="1200" kern="1200" dirty="0" smtClean="0">
                <a:solidFill>
                  <a:schemeClr val="tx1"/>
                </a:solidFill>
                <a:latin typeface="+mn-lt"/>
                <a:ea typeface="+mn-ea"/>
                <a:cs typeface="+mn-cs"/>
              </a:rPr>
              <a:t>f, for example, a tourist has asked about a local tourist attraction and there is an additional and interesting destination on the way to that attraction, they should be told about it, how to get there, and what the additional destination is all about.</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Making suggestions about what tourists/visitors can do with their time by: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Asking what they have planned for the day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Asking what they have already done which identifies local things they have </a:t>
            </a:r>
            <a:r>
              <a:rPr lang="en-US" sz="1200" i="1" kern="1200" dirty="0" smtClean="0">
                <a:solidFill>
                  <a:schemeClr val="tx1"/>
                </a:solidFill>
                <a:latin typeface="+mn-lt"/>
                <a:ea typeface="+mn-ea"/>
                <a:cs typeface="+mn-cs"/>
              </a:rPr>
              <a:t>not</a:t>
            </a:r>
            <a:r>
              <a:rPr lang="en-US" sz="1200" kern="1200" dirty="0" smtClean="0">
                <a:solidFill>
                  <a:schemeClr val="tx1"/>
                </a:solidFill>
                <a:latin typeface="+mn-lt"/>
                <a:ea typeface="+mn-ea"/>
                <a:cs typeface="+mn-cs"/>
              </a:rPr>
              <a:t> done, or local sites they have </a:t>
            </a:r>
            <a:r>
              <a:rPr lang="en-US" sz="1200" i="1" kern="1200" dirty="0" smtClean="0">
                <a:solidFill>
                  <a:schemeClr val="tx1"/>
                </a:solidFill>
                <a:latin typeface="+mn-lt"/>
                <a:ea typeface="+mn-ea"/>
                <a:cs typeface="+mn-cs"/>
              </a:rPr>
              <a:t>not</a:t>
            </a:r>
            <a:r>
              <a:rPr lang="en-US" sz="1200" kern="1200" dirty="0" smtClean="0">
                <a:solidFill>
                  <a:schemeClr val="tx1"/>
                </a:solidFill>
                <a:latin typeface="+mn-lt"/>
                <a:ea typeface="+mn-ea"/>
                <a:cs typeface="+mn-cs"/>
              </a:rPr>
              <a:t> visited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Developing 2-hour, half-day and full-day tours – see earlier notes/slides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Showing enthusiasm for the suggestions made.</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here is a need to be 100% committed to how much fun an experience or attraction is, what a unique experience it is or how sad it would be for the person to be close to the attraction and not get to see</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experience it. Implicit in this is the need to have pride in country, local area. In very many ways frontline staff are ambassadors for their region, country and venue.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Talking to people after they return from a trip</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experience suggested to them.</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his means asking them how they enjoyed it</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what they learned. This conversation is also important because it provides feedback about whether or not the recommendation should be repeated to other visitors or not. It also provides feedback about what may have changed at the plac</a:t>
            </a:r>
            <a:r>
              <a:rPr lang="en-US" sz="1200" kern="1200" baseline="0" dirty="0" smtClean="0">
                <a:solidFill>
                  <a:schemeClr val="tx1"/>
                </a:solidFill>
                <a:latin typeface="+mn-lt"/>
                <a:ea typeface="+mn-ea"/>
                <a:cs typeface="+mn-cs"/>
              </a:rPr>
              <a:t>e or </a:t>
            </a:r>
            <a:r>
              <a:rPr lang="en-US" sz="1200" kern="1200" dirty="0" smtClean="0">
                <a:solidFill>
                  <a:schemeClr val="tx1"/>
                </a:solidFill>
                <a:latin typeface="+mn-lt"/>
                <a:ea typeface="+mn-ea"/>
                <a:cs typeface="+mn-cs"/>
              </a:rPr>
              <a:t>destination recommended.</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kumimoji="0" lang="en-US" sz="24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375421798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Trainer explains to trainees there is no strict definition of exactly what constitutes ‘tourism products and services’</a:t>
            </a:r>
            <a:r>
              <a:rPr lang="en-US" sz="1200" kern="1200" baseline="0" dirty="0" smtClean="0">
                <a:solidFill>
                  <a:schemeClr val="tx1"/>
                </a:solidFill>
                <a:latin typeface="+mn-lt"/>
                <a:ea typeface="+mn-ea"/>
                <a:cs typeface="+mn-cs"/>
              </a:rPr>
              <a:t> stating f</a:t>
            </a:r>
            <a:r>
              <a:rPr lang="en-US" sz="1200" kern="1200" dirty="0" smtClean="0">
                <a:solidFill>
                  <a:schemeClr val="tx1"/>
                </a:solidFill>
                <a:latin typeface="+mn-lt"/>
                <a:ea typeface="+mn-ea"/>
                <a:cs typeface="+mn-cs"/>
              </a:rPr>
              <a:t>rom a practical viewpoint.</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 term should be interpreted in the widest possible context to embrace </a:t>
            </a:r>
            <a:r>
              <a:rPr lang="en-US" sz="1200" b="1" kern="1200" dirty="0" smtClean="0">
                <a:solidFill>
                  <a:schemeClr val="tx1"/>
                </a:solidFill>
                <a:latin typeface="+mn-lt"/>
                <a:ea typeface="+mn-ea"/>
                <a:cs typeface="+mn-cs"/>
              </a:rPr>
              <a:t>anything the venue and the local area has for sale</a:t>
            </a:r>
            <a:r>
              <a:rPr lang="en-US" sz="1200" kern="1200" dirty="0" smtClean="0">
                <a:solidFill>
                  <a:schemeClr val="tx1"/>
                </a:solidFill>
                <a:latin typeface="+mn-lt"/>
                <a:ea typeface="+mn-ea"/>
                <a:cs typeface="+mn-cs"/>
              </a:rPr>
              <a:t>.</a:t>
            </a:r>
            <a:endParaRPr lang="en-AU"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Trainer mentions to trainees some will insist ‘</a:t>
            </a:r>
            <a:r>
              <a:rPr lang="en-US" sz="1200" i="1" kern="1200" dirty="0" smtClean="0">
                <a:solidFill>
                  <a:schemeClr val="tx1"/>
                </a:solidFill>
                <a:latin typeface="+mn-lt"/>
                <a:ea typeface="+mn-ea"/>
                <a:cs typeface="+mn-cs"/>
              </a:rPr>
              <a:t>tourism</a:t>
            </a:r>
            <a:r>
              <a:rPr lang="en-US" sz="1200" kern="1200" dirty="0" smtClean="0">
                <a:solidFill>
                  <a:schemeClr val="tx1"/>
                </a:solidFill>
                <a:latin typeface="+mn-lt"/>
                <a:ea typeface="+mn-ea"/>
                <a:cs typeface="+mn-cs"/>
              </a:rPr>
              <a:t> products and services’ refers more particularly to items (products/goods and services) specifically aimed at tourists, such as: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Attractions – generally natural attractions or commercial attractions where people pay to enter</a:t>
            </a:r>
          </a:p>
          <a:p>
            <a:pPr lvl="0">
              <a:buFont typeface="Arial" pitchFamily="34" charset="0"/>
              <a:buChar char="•"/>
            </a:pPr>
            <a:r>
              <a:rPr lang="en-US" sz="1200" kern="1200" dirty="0" smtClean="0">
                <a:solidFill>
                  <a:schemeClr val="tx1"/>
                </a:solidFill>
                <a:latin typeface="+mn-lt"/>
                <a:ea typeface="+mn-ea"/>
                <a:cs typeface="+mn-cs"/>
              </a:rPr>
              <a:t> Destinations – a general location, area, village or location</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Accommodation – venues of all types/star-ratings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Tours and trips – using any method of transport</a:t>
            </a:r>
            <a:endParaRPr lang="en-AU" sz="1200" kern="1200" dirty="0" smtClean="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latin typeface="+mn-lt"/>
                <a:ea typeface="+mn-ea"/>
                <a:cs typeface="+mn-cs"/>
              </a:rPr>
              <a:t> Landmarks and places of interest – any place a visitor may wish to visit, see, enjoy (often historically significant)</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Transportation – public or private</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Specialist areas of interest for groups/tourists such as nominated shopping precincts, sporting events, religious festivals or local celebrations.</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337288830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informs trainees ‘local tourism products and services’ may also be seen as including a vast range of small</a:t>
            </a:r>
            <a:r>
              <a:rPr lang="en-US" baseline="0" dirty="0" smtClean="0"/>
              <a:t> and </a:t>
            </a:r>
            <a:r>
              <a:rPr lang="en-US" dirty="0" smtClean="0"/>
              <a:t>ancillary items all visitors may purchase as part of their day</a:t>
            </a:r>
            <a:r>
              <a:rPr lang="en-US" baseline="0" dirty="0" smtClean="0"/>
              <a:t> </a:t>
            </a:r>
            <a:r>
              <a:rPr lang="en-US" dirty="0" smtClean="0"/>
              <a:t>to</a:t>
            </a:r>
            <a:r>
              <a:rPr lang="en-US" baseline="0" dirty="0" smtClean="0"/>
              <a:t> </a:t>
            </a:r>
            <a:r>
              <a:rPr lang="en-US" dirty="0" smtClean="0"/>
              <a:t>day living requirements while on holiday</a:t>
            </a:r>
            <a:r>
              <a:rPr lang="en-US" baseline="0" dirty="0" smtClean="0"/>
              <a:t> or </a:t>
            </a:r>
            <a:r>
              <a:rPr lang="en-US" dirty="0" smtClean="0"/>
              <a:t>abroad, such as:</a:t>
            </a:r>
          </a:p>
          <a:p>
            <a:pPr>
              <a:buFont typeface="Arial" pitchFamily="34" charset="0"/>
              <a:buChar char="•"/>
            </a:pPr>
            <a:r>
              <a:rPr lang="en-US" sz="1200" kern="1200" dirty="0" smtClean="0">
                <a:solidFill>
                  <a:schemeClr val="tx1"/>
                </a:solidFill>
                <a:latin typeface="+mn-lt"/>
                <a:ea typeface="+mn-ea"/>
                <a:cs typeface="+mn-cs"/>
              </a:rPr>
              <a:t> Cell phone cards to recharge their phone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Petrol for their own cars</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hire cars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Meals and drinks including ‘proper’ meals, snacks, ice cream, take-away food</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Pharmaceutical products – cosmetics</a:t>
            </a:r>
            <a:r>
              <a:rPr lang="en-US" sz="1200" kern="1200" baseline="0" dirty="0" smtClean="0">
                <a:solidFill>
                  <a:schemeClr val="tx1"/>
                </a:solidFill>
                <a:latin typeface="+mn-lt"/>
                <a:ea typeface="+mn-ea"/>
                <a:cs typeface="+mn-cs"/>
              </a:rPr>
              <a:t> and health products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Cigarettes and other items from stationers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Items of clothing</a:t>
            </a:r>
            <a:endParaRPr lang="en-AU" sz="1200" kern="1200" dirty="0" smtClean="0">
              <a:solidFill>
                <a:schemeClr val="tx1"/>
              </a:solidFill>
              <a:latin typeface="+mn-lt"/>
              <a:ea typeface="+mn-ea"/>
              <a:cs typeface="+mn-cs"/>
            </a:endParaRPr>
          </a:p>
          <a:p>
            <a:pPr>
              <a:buFont typeface="Arial" pitchFamily="34" charset="0"/>
              <a:buChar char="•"/>
            </a:pPr>
            <a:r>
              <a:rPr lang="en-US" dirty="0" smtClean="0"/>
              <a:t> Anything visitors pay for.</a:t>
            </a:r>
          </a:p>
          <a:p>
            <a:pPr>
              <a:buFont typeface="Arial" pitchFamily="34" charset="0"/>
              <a:buNone/>
            </a:pPr>
            <a:endParaRPr lang="en-US" dirty="0" smtClean="0"/>
          </a:p>
          <a:p>
            <a:pPr>
              <a:buFont typeface="Arial" pitchFamily="34" charset="0"/>
              <a:buNone/>
            </a:pPr>
            <a:r>
              <a:rPr lang="en-US" b="1" dirty="0" smtClean="0"/>
              <a:t>Class Activity – Group Discussion</a:t>
            </a:r>
          </a:p>
          <a:p>
            <a:pPr>
              <a:buFont typeface="Arial" pitchFamily="34" charset="0"/>
              <a:buNone/>
            </a:pPr>
            <a:r>
              <a:rPr lang="en-US" b="0" dirty="0" smtClean="0"/>
              <a:t>Trainer leads class in a discussion to identify the products and services a visitor to the area may purchase, and to identify the value of those purchases to the local community, by asking questions such as:</a:t>
            </a:r>
          </a:p>
          <a:p>
            <a:pPr>
              <a:buFont typeface="Arial" pitchFamily="34" charset="0"/>
              <a:buChar char="•"/>
            </a:pPr>
            <a:r>
              <a:rPr lang="en-US" b="0" dirty="0" smtClean="0"/>
              <a:t> What physical products might</a:t>
            </a:r>
            <a:r>
              <a:rPr lang="en-US" b="0" baseline="0" dirty="0" smtClean="0"/>
              <a:t> a visitor from elsewhere within the country to this area need to buy?</a:t>
            </a:r>
          </a:p>
          <a:p>
            <a:pPr>
              <a:buFont typeface="Arial" pitchFamily="34" charset="0"/>
              <a:buChar char="•"/>
            </a:pPr>
            <a:r>
              <a:rPr lang="en-US" b="0" baseline="0" dirty="0" smtClean="0"/>
              <a:t> How might these purchases differ to what an international visitor might need to buy?</a:t>
            </a:r>
          </a:p>
          <a:p>
            <a:pPr>
              <a:buFont typeface="Arial" pitchFamily="34" charset="0"/>
              <a:buChar char="•"/>
            </a:pPr>
            <a:r>
              <a:rPr lang="en-US" b="0" baseline="0" dirty="0" smtClean="0"/>
              <a:t> What is the value of these purchases?</a:t>
            </a:r>
          </a:p>
          <a:p>
            <a:pPr>
              <a:buFont typeface="Arial" pitchFamily="34" charset="0"/>
              <a:buChar char="•"/>
            </a:pPr>
            <a:r>
              <a:rPr lang="en-US" b="0" baseline="0" dirty="0" smtClean="0"/>
              <a:t> What is the local benefit of these purchases?</a:t>
            </a:r>
            <a:endParaRPr lang="en-US" b="0" dirty="0" smtClean="0"/>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171778377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the reasons to promote local tourism products and services include:</a:t>
            </a:r>
          </a:p>
          <a:p>
            <a:pPr>
              <a:buFont typeface="Arial" pitchFamily="34" charset="0"/>
              <a:buChar char="•"/>
            </a:pPr>
            <a:r>
              <a:rPr lang="en-US" sz="1200" kern="1200" dirty="0" smtClean="0">
                <a:solidFill>
                  <a:schemeClr val="tx1"/>
                </a:solidFill>
                <a:latin typeface="+mn-lt"/>
                <a:ea typeface="+mn-ea"/>
                <a:cs typeface="+mn-cs"/>
              </a:rPr>
              <a:t> Meets visitor/tourist expectations.</a:t>
            </a:r>
            <a:r>
              <a:rPr lang="en-US" sz="1200" kern="1200" baseline="0" dirty="0" smtClean="0">
                <a:solidFill>
                  <a:schemeClr val="tx1"/>
                </a:solidFill>
                <a:latin typeface="+mn-lt"/>
                <a:ea typeface="+mn-ea"/>
                <a:cs typeface="+mn-cs"/>
              </a:rPr>
              <a:t> I</a:t>
            </a:r>
            <a:r>
              <a:rPr lang="en-US" sz="1200" kern="1200" dirty="0" smtClean="0">
                <a:solidFill>
                  <a:schemeClr val="tx1"/>
                </a:solidFill>
                <a:latin typeface="+mn-lt"/>
                <a:ea typeface="+mn-ea"/>
                <a:cs typeface="+mn-cs"/>
              </a:rPr>
              <a:t>t could be said failure to promote local products and services is a disservice to customers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Provides better job satisfaction.</a:t>
            </a:r>
            <a:r>
              <a:rPr lang="en-US" sz="1200" kern="1200" baseline="0" dirty="0" smtClean="0">
                <a:solidFill>
                  <a:schemeClr val="tx1"/>
                </a:solidFill>
                <a:latin typeface="+mn-lt"/>
                <a:ea typeface="+mn-ea"/>
                <a:cs typeface="+mn-cs"/>
              </a:rPr>
              <a:t> W</a:t>
            </a:r>
            <a:r>
              <a:rPr lang="en-US" sz="1200" kern="1200" dirty="0" smtClean="0">
                <a:solidFill>
                  <a:schemeClr val="tx1"/>
                </a:solidFill>
                <a:latin typeface="+mn-lt"/>
                <a:ea typeface="+mn-ea"/>
                <a:cs typeface="+mn-cs"/>
              </a:rPr>
              <a:t>ork is more interesting when talking with others, learning from them, meeting new people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Enhances job security and enables extra hours to be worked</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Identifies the individual worker as someone trying to help visitors and may identify them to management as someone with the potential for promotion</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career advancement</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188847033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advise trainees about reasons to promote local tourism products and services: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latin typeface="+mn-lt"/>
                <a:ea typeface="+mn-ea"/>
                <a:cs typeface="+mn-cs"/>
              </a:rPr>
              <a:t> Allows learning from other people to occur and creates the potential for a greater network of contacts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Increases the possibility of tips/gratuities.</a:t>
            </a:r>
            <a:r>
              <a:rPr lang="en-US" sz="1200" kern="1200" baseline="0" dirty="0" smtClean="0">
                <a:solidFill>
                  <a:schemeClr val="tx1"/>
                </a:solidFill>
                <a:latin typeface="+mn-lt"/>
                <a:ea typeface="+mn-ea"/>
                <a:cs typeface="+mn-cs"/>
              </a:rPr>
              <a:t> H</a:t>
            </a:r>
            <a:r>
              <a:rPr lang="en-US" sz="1200" kern="1200" dirty="0" smtClean="0">
                <a:solidFill>
                  <a:schemeClr val="tx1"/>
                </a:solidFill>
                <a:latin typeface="+mn-lt"/>
                <a:ea typeface="+mn-ea"/>
                <a:cs typeface="+mn-cs"/>
              </a:rPr>
              <a:t>owever it is important never to give the impression a tip is being sought</a:t>
            </a:r>
            <a:r>
              <a:rPr lang="en-US" sz="1200" kern="1200" baseline="0" dirty="0" smtClean="0">
                <a:solidFill>
                  <a:schemeClr val="tx1"/>
                </a:solidFill>
                <a:latin typeface="+mn-lt"/>
                <a:ea typeface="+mn-ea"/>
                <a:cs typeface="+mn-cs"/>
              </a:rPr>
              <a:t> or is expected</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Demonstrates the venue is a good corporate citizen by sharing wealth and opportunity  with others</a:t>
            </a:r>
            <a:r>
              <a:rPr lang="en-US" sz="1200" kern="1200" baseline="0" dirty="0" smtClean="0">
                <a:solidFill>
                  <a:schemeClr val="tx1"/>
                </a:solidFill>
                <a:latin typeface="+mn-lt"/>
                <a:ea typeface="+mn-ea"/>
                <a:cs typeface="+mn-cs"/>
              </a:rPr>
              <a:t> and </a:t>
            </a:r>
            <a:r>
              <a:rPr lang="en-US" sz="1200" kern="1200" dirty="0" smtClean="0">
                <a:solidFill>
                  <a:schemeClr val="tx1"/>
                </a:solidFill>
                <a:latin typeface="+mn-lt"/>
                <a:ea typeface="+mn-ea"/>
                <a:cs typeface="+mn-cs"/>
              </a:rPr>
              <a:t>the local community</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Assists workplace maintain its ongoing viability by generating extra revenue and repeat and/or referral business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427805230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advise trainees about reasons to promote local tourism products and services:</a:t>
            </a:r>
          </a:p>
          <a:p>
            <a:pPr>
              <a:buFont typeface="Arial" pitchFamily="34" charset="0"/>
              <a:buChar char="•"/>
            </a:pPr>
            <a:r>
              <a:rPr lang="en-US" sz="1200" kern="1200" dirty="0" smtClean="0">
                <a:solidFill>
                  <a:schemeClr val="tx1"/>
                </a:solidFill>
                <a:latin typeface="+mn-lt"/>
                <a:ea typeface="+mn-ea"/>
                <a:cs typeface="+mn-cs"/>
              </a:rPr>
              <a:t> Supports local businesses and the local community by generating income for them which creates</a:t>
            </a:r>
            <a:r>
              <a:rPr lang="en-US" sz="1200" kern="1200" baseline="0" dirty="0" smtClean="0">
                <a:solidFill>
                  <a:schemeClr val="tx1"/>
                </a:solidFill>
                <a:latin typeface="+mn-lt"/>
                <a:ea typeface="+mn-ea"/>
                <a:cs typeface="+mn-cs"/>
              </a:rPr>
              <a:t> and </a:t>
            </a:r>
            <a:r>
              <a:rPr lang="en-US" sz="1200" kern="1200" dirty="0" smtClean="0">
                <a:solidFill>
                  <a:schemeClr val="tx1"/>
                </a:solidFill>
                <a:latin typeface="+mn-lt"/>
                <a:ea typeface="+mn-ea"/>
                <a:cs typeface="+mn-cs"/>
              </a:rPr>
              <a:t>maintains local industry, employment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Enhances visitor/tourist enjoyment of the local area/region</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Shares the local culture with visitors enabling better appreciation and understanding of the country/region amongst visitors/tourists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Gives greater insight into, and understanding of, the people and the country to overseas visitors.</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81135742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Trainer highlights to trainees that when sharing local knowledge with visitors/tourists an opportunity regularly exists to make these people aware of possible extras, add-on and other benefits.</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hese opportunities should be taken whenever possible to </a:t>
            </a:r>
            <a:r>
              <a:rPr lang="en-US" sz="1200" kern="1200" dirty="0" err="1" smtClean="0">
                <a:solidFill>
                  <a:schemeClr val="tx1"/>
                </a:solidFill>
                <a:latin typeface="+mn-lt"/>
                <a:ea typeface="+mn-ea"/>
                <a:cs typeface="+mn-cs"/>
              </a:rPr>
              <a:t>optimise</a:t>
            </a:r>
            <a:r>
              <a:rPr lang="en-US" sz="1200" kern="1200" dirty="0" smtClean="0">
                <a:solidFill>
                  <a:schemeClr val="tx1"/>
                </a:solidFill>
                <a:latin typeface="+mn-lt"/>
                <a:ea typeface="+mn-ea"/>
                <a:cs typeface="+mn-cs"/>
              </a:rPr>
              <a:t> guest/customer satisfaction and enjoyment, and maximise sales.</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Trainer identifies to trainees the keys to effectively suggesting extras, add-ons and features to visitors and tourists include:</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Establish a rapport with the visitors/tourists.</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his facilitates the exchange of ideas, questions and information. It increases the trust between the parties and encourages people to ask questions and to ask for advice</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Make use of local, venue and product knowledge.</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 advice or information provided must be </a:t>
            </a:r>
            <a:r>
              <a:rPr lang="en-US" sz="1200" b="1" kern="1200" dirty="0" smtClean="0">
                <a:solidFill>
                  <a:schemeClr val="tx1"/>
                </a:solidFill>
                <a:latin typeface="+mn-lt"/>
                <a:ea typeface="+mn-ea"/>
                <a:cs typeface="+mn-cs"/>
              </a:rPr>
              <a:t>based in fact</a:t>
            </a:r>
            <a:r>
              <a:rPr lang="en-US" sz="1200" kern="1200" dirty="0" smtClean="0">
                <a:solidFill>
                  <a:schemeClr val="tx1"/>
                </a:solidFill>
                <a:latin typeface="+mn-lt"/>
                <a:ea typeface="+mn-ea"/>
                <a:cs typeface="+mn-cs"/>
              </a:rPr>
              <a:t> </a:t>
            </a:r>
            <a:r>
              <a:rPr lang="en-US" sz="1200" i="1" kern="1200" dirty="0" smtClean="0">
                <a:solidFill>
                  <a:schemeClr val="tx1"/>
                </a:solidFill>
                <a:latin typeface="+mn-lt"/>
                <a:ea typeface="+mn-ea"/>
                <a:cs typeface="+mn-cs"/>
              </a:rPr>
              <a:t>but overlaid with personal opinion and recommendation</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Be positive and approachable.</a:t>
            </a:r>
            <a:r>
              <a:rPr lang="en-US" sz="1200" kern="1200" baseline="0" dirty="0" smtClean="0">
                <a:solidFill>
                  <a:schemeClr val="tx1"/>
                </a:solidFill>
                <a:latin typeface="+mn-lt"/>
                <a:ea typeface="+mn-ea"/>
                <a:cs typeface="+mn-cs"/>
              </a:rPr>
              <a:t> B</a:t>
            </a:r>
            <a:r>
              <a:rPr lang="en-US" sz="1200" kern="1200" dirty="0" smtClean="0">
                <a:solidFill>
                  <a:schemeClr val="tx1"/>
                </a:solidFill>
                <a:latin typeface="+mn-lt"/>
                <a:ea typeface="+mn-ea"/>
                <a:cs typeface="+mn-cs"/>
              </a:rPr>
              <a:t>e seen by tourists  as someone who will help them, who is prepared to spend some time with them and who wants to share what they know. Open body language and smiling are important assets in this regard.</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6416903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latin typeface="+mn-lt"/>
                <a:ea typeface="+mn-ea"/>
                <a:cs typeface="+mn-cs"/>
              </a:rPr>
              <a:t>Trainer continues to identify to trainees the keys to effectively suggesting extras, add-ons and features to visitors and tourists include:</a:t>
            </a:r>
          </a:p>
          <a:p>
            <a:pPr lvl="0">
              <a:buFont typeface="Arial" pitchFamily="34" charset="0"/>
              <a:buChar char="•"/>
            </a:pPr>
            <a:r>
              <a:rPr lang="en-US" sz="1200" kern="1200" dirty="0" smtClean="0">
                <a:solidFill>
                  <a:schemeClr val="tx1"/>
                </a:solidFill>
                <a:latin typeface="+mn-lt"/>
                <a:ea typeface="+mn-ea"/>
                <a:cs typeface="+mn-cs"/>
              </a:rPr>
              <a:t> Use polite and respectful language when communicating.</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 idea is to include the visitor in the conversation without making them feel they are silly for asking the questions they have, or are being ‘spoken down’ to</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Apply questioning and listening skills.</a:t>
            </a:r>
            <a:r>
              <a:rPr lang="en-US" sz="1200" kern="1200" baseline="0" dirty="0" smtClean="0">
                <a:solidFill>
                  <a:schemeClr val="tx1"/>
                </a:solidFill>
                <a:latin typeface="+mn-lt"/>
                <a:ea typeface="+mn-ea"/>
                <a:cs typeface="+mn-cs"/>
              </a:rPr>
              <a:t> I</a:t>
            </a:r>
            <a:r>
              <a:rPr lang="en-US" sz="1200" kern="1200" dirty="0" smtClean="0">
                <a:solidFill>
                  <a:schemeClr val="tx1"/>
                </a:solidFill>
                <a:latin typeface="+mn-lt"/>
                <a:ea typeface="+mn-ea"/>
                <a:cs typeface="+mn-cs"/>
              </a:rPr>
              <a:t>t is always useful and important to find out about the interests, needs, wants, preferences and constraints of people before providing local knowledge and/or advice on add-ons and extras. For example, are they interested in theme parks or natural attractions? How long do they have? What have they already done</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seen? How much do they have to spend? How would they prefer to travel?</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Match suggestions to </a:t>
            </a:r>
            <a:r>
              <a:rPr lang="en-US" sz="1200" b="1" kern="1200" dirty="0" smtClean="0">
                <a:solidFill>
                  <a:schemeClr val="tx1"/>
                </a:solidFill>
                <a:latin typeface="+mn-lt"/>
                <a:ea typeface="+mn-ea"/>
                <a:cs typeface="+mn-cs"/>
              </a:rPr>
              <a:t>identified</a:t>
            </a:r>
            <a:r>
              <a:rPr lang="en-US" sz="1200" kern="1200" dirty="0" smtClean="0">
                <a:solidFill>
                  <a:schemeClr val="tx1"/>
                </a:solidFill>
                <a:latin typeface="+mn-lt"/>
                <a:ea typeface="+mn-ea"/>
                <a:cs typeface="+mn-cs"/>
              </a:rPr>
              <a:t> need, parameters.</a:t>
            </a:r>
            <a:r>
              <a:rPr lang="en-US" sz="1200" kern="1200" baseline="0" dirty="0" smtClean="0">
                <a:solidFill>
                  <a:schemeClr val="tx1"/>
                </a:solidFill>
                <a:latin typeface="+mn-lt"/>
                <a:ea typeface="+mn-ea"/>
                <a:cs typeface="+mn-cs"/>
              </a:rPr>
              <a:t> I</a:t>
            </a:r>
            <a:r>
              <a:rPr lang="en-US" sz="1200" kern="1200" dirty="0" smtClean="0">
                <a:solidFill>
                  <a:schemeClr val="tx1"/>
                </a:solidFill>
                <a:latin typeface="+mn-lt"/>
                <a:ea typeface="+mn-ea"/>
                <a:cs typeface="+mn-cs"/>
              </a:rPr>
              <a:t>f the visitor demonstrates an interest in theme parks it is inappropriate to start promoting the add-ons associated with visiting the local zoo. Talk about the extras, add-ons and benefits allied to what is known about the local theme parks</a:t>
            </a:r>
            <a:r>
              <a:rPr lang="en-US" sz="1200" kern="1200" baseline="0" dirty="0" smtClean="0">
                <a:solidFill>
                  <a:schemeClr val="tx1"/>
                </a:solidFill>
                <a:latin typeface="+mn-lt"/>
                <a:ea typeface="+mn-ea"/>
                <a:cs typeface="+mn-cs"/>
              </a:rPr>
              <a:t> - f</a:t>
            </a:r>
            <a:r>
              <a:rPr lang="en-US" sz="1200" kern="1200" dirty="0" smtClean="0">
                <a:solidFill>
                  <a:schemeClr val="tx1"/>
                </a:solidFill>
                <a:latin typeface="+mn-lt"/>
                <a:ea typeface="+mn-ea"/>
                <a:cs typeface="+mn-cs"/>
              </a:rPr>
              <a:t>or example, the benefits associated with pre-purchasing ride tickets, entry tickets and tickets to shows/displays. If the tourist only has half-a-day, there is little point suggesting the benefits associated with a full-day tour.</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228586430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latin typeface="+mn-lt"/>
                <a:ea typeface="+mn-ea"/>
                <a:cs typeface="+mn-cs"/>
              </a:rPr>
              <a:t>Trainer continues to identify to trainees the keys to effectively suggesting extras, add-ons and features to visitors and tourists include:</a:t>
            </a:r>
          </a:p>
          <a:p>
            <a:pPr lvl="0">
              <a:buFont typeface="Arial" pitchFamily="34" charset="0"/>
              <a:buChar char="•"/>
            </a:pPr>
            <a:r>
              <a:rPr lang="en-US" sz="1200" kern="1200" dirty="0" smtClean="0">
                <a:solidFill>
                  <a:schemeClr val="tx1"/>
                </a:solidFill>
                <a:latin typeface="+mn-lt"/>
                <a:ea typeface="+mn-ea"/>
                <a:cs typeface="+mn-cs"/>
              </a:rPr>
              <a:t> Know when to stop.</a:t>
            </a:r>
            <a:r>
              <a:rPr lang="en-US" sz="1200" kern="1200" baseline="0" dirty="0" smtClean="0">
                <a:solidFill>
                  <a:schemeClr val="tx1"/>
                </a:solidFill>
                <a:latin typeface="+mn-lt"/>
                <a:ea typeface="+mn-ea"/>
                <a:cs typeface="+mn-cs"/>
              </a:rPr>
              <a:t> B</a:t>
            </a:r>
            <a:r>
              <a:rPr lang="en-US" sz="1200" kern="1200" dirty="0" smtClean="0">
                <a:solidFill>
                  <a:schemeClr val="tx1"/>
                </a:solidFill>
                <a:latin typeface="+mn-lt"/>
                <a:ea typeface="+mn-ea"/>
                <a:cs typeface="+mn-cs"/>
              </a:rPr>
              <a:t>e alert to the potential for visitors </a:t>
            </a:r>
            <a:r>
              <a:rPr lang="en-US" sz="1200" i="1" kern="1200" dirty="0" smtClean="0">
                <a:solidFill>
                  <a:schemeClr val="tx1"/>
                </a:solidFill>
                <a:latin typeface="+mn-lt"/>
                <a:ea typeface="+mn-ea"/>
                <a:cs typeface="+mn-cs"/>
              </a:rPr>
              <a:t>not</a:t>
            </a:r>
            <a:r>
              <a:rPr lang="en-US" sz="1200" kern="1200" dirty="0" smtClean="0">
                <a:solidFill>
                  <a:schemeClr val="tx1"/>
                </a:solidFill>
                <a:latin typeface="+mn-lt"/>
                <a:ea typeface="+mn-ea"/>
                <a:cs typeface="+mn-cs"/>
              </a:rPr>
              <a:t> to want to be given information about add-ons. Recognise these verbal and non-verbal cues quickly and stop ‘promoting’: insisting on trying to sell extras can only be counter-productive in these cases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Explain the characteristics of the add-ons and extras.</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hese are the tangible factors related to the product or service: see ‘Examples of possible extras and add-ons’ on following slides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Describe the benefits of the add-ons and/or extras.</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hese commonly relate to cost and time saving: see </a:t>
            </a:r>
            <a:r>
              <a:rPr lang="en-AU" sz="1200" kern="1200" dirty="0" smtClean="0">
                <a:solidFill>
                  <a:schemeClr val="tx1"/>
                </a:solidFill>
                <a:latin typeface="+mn-lt"/>
                <a:ea typeface="+mn-ea"/>
                <a:cs typeface="+mn-cs"/>
              </a:rPr>
              <a:t>following slides</a:t>
            </a:r>
          </a:p>
          <a:p>
            <a:pPr lvl="0">
              <a:buFont typeface="Arial" pitchFamily="34" charset="0"/>
              <a:buChar char="•"/>
            </a:pPr>
            <a:r>
              <a:rPr lang="en-US" sz="1200" kern="1200" dirty="0" smtClean="0">
                <a:solidFill>
                  <a:schemeClr val="tx1"/>
                </a:solidFill>
                <a:latin typeface="+mn-lt"/>
                <a:ea typeface="+mn-ea"/>
                <a:cs typeface="+mn-cs"/>
              </a:rPr>
              <a:t> Tell the truth.</a:t>
            </a:r>
            <a:r>
              <a:rPr lang="en-US" sz="1200" kern="1200" baseline="0" dirty="0" smtClean="0">
                <a:solidFill>
                  <a:schemeClr val="tx1"/>
                </a:solidFill>
                <a:latin typeface="+mn-lt"/>
                <a:ea typeface="+mn-ea"/>
                <a:cs typeface="+mn-cs"/>
              </a:rPr>
              <a:t> N</a:t>
            </a:r>
            <a:r>
              <a:rPr lang="en-US" sz="1200" kern="1200" dirty="0" smtClean="0">
                <a:solidFill>
                  <a:schemeClr val="tx1"/>
                </a:solidFill>
                <a:latin typeface="+mn-lt"/>
                <a:ea typeface="+mn-ea"/>
                <a:cs typeface="+mn-cs"/>
              </a:rPr>
              <a:t>ever adopt the belief there is a need to make a sale ‘at any cost’. Always be honest in everything, including telling people about any potential down-sides of suggestions</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offers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Never put pressure on people to buy add-ons or extras.</a:t>
            </a:r>
            <a:r>
              <a:rPr lang="en-US" sz="1200" kern="1200" baseline="0" dirty="0" smtClean="0">
                <a:solidFill>
                  <a:schemeClr val="tx1"/>
                </a:solidFill>
                <a:latin typeface="+mn-lt"/>
                <a:ea typeface="+mn-ea"/>
                <a:cs typeface="+mn-cs"/>
              </a:rPr>
              <a:t> M</a:t>
            </a:r>
            <a:r>
              <a:rPr lang="en-US" sz="1200" kern="1200" dirty="0" smtClean="0">
                <a:solidFill>
                  <a:schemeClr val="tx1"/>
                </a:solidFill>
                <a:latin typeface="+mn-lt"/>
                <a:ea typeface="+mn-ea"/>
                <a:cs typeface="+mn-cs"/>
              </a:rPr>
              <a:t>ake people aware of options and give them advice but </a:t>
            </a:r>
            <a:r>
              <a:rPr lang="en-US" sz="1200" b="1" kern="1200" dirty="0" smtClean="0">
                <a:solidFill>
                  <a:schemeClr val="tx1"/>
                </a:solidFill>
                <a:latin typeface="+mn-lt"/>
                <a:ea typeface="+mn-ea"/>
                <a:cs typeface="+mn-cs"/>
              </a:rPr>
              <a:t>never</a:t>
            </a:r>
            <a:r>
              <a:rPr lang="en-US" sz="1200" kern="1200" dirty="0" smtClean="0">
                <a:solidFill>
                  <a:schemeClr val="tx1"/>
                </a:solidFill>
                <a:latin typeface="+mn-lt"/>
                <a:ea typeface="+mn-ea"/>
                <a:cs typeface="+mn-cs"/>
              </a:rPr>
              <a:t> try to force people to purchase add-ons or extras.</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121464466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highlights to trainees that selling extras and add-ons is all about promoting ‘complementary’ products or services.</a:t>
            </a:r>
          </a:p>
          <a:p>
            <a:pPr>
              <a:buFont typeface="Arial" pitchFamily="34" charset="0"/>
              <a:buNone/>
            </a:pPr>
            <a:endParaRPr lang="en-US" dirty="0" smtClean="0"/>
          </a:p>
          <a:p>
            <a:r>
              <a:rPr lang="en-US" sz="1200" kern="1200" dirty="0" smtClean="0">
                <a:solidFill>
                  <a:schemeClr val="tx1"/>
                </a:solidFill>
                <a:latin typeface="+mn-lt"/>
                <a:ea typeface="+mn-ea"/>
                <a:cs typeface="+mn-cs"/>
              </a:rPr>
              <a:t>Trainer provides the following examples of keys to effective promotion:</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If the visitor has indicated they want to participate in a local tour, try to sell them a different tour (a more expensive one) to what they originally indicated they were going to undertake because it enables them to benefit from tangible elements such as: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It is a much longer tour – an extra two hours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It covers more things – for example, they might:</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See more animals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Experience more shows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Participate in extra activities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Have access to restricted areas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It gives them more products such as (perhaps):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Merchandise – cap, T-shirt, pen</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A photograph of them with animals, standing in front of a monument, on a chair lift </a:t>
            </a:r>
            <a:endParaRPr lang="en-AU"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159913729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kumimoji="0" lang="en-US" sz="2400" kern="1200" dirty="0" smtClean="0">
                <a:solidFill>
                  <a:schemeClr val="tx1"/>
                </a:solidFill>
                <a:latin typeface="+mn-lt"/>
                <a:ea typeface="+mn-ea"/>
                <a:cs typeface="+mn-cs"/>
              </a:rPr>
              <a:t>Trainer provides trainees with examples of ‘selling the benefits’ </a:t>
            </a:r>
            <a:r>
              <a:rPr lang="en-US" sz="1200" kern="1200" dirty="0" smtClean="0">
                <a:solidFill>
                  <a:schemeClr val="tx1"/>
                </a:solidFill>
                <a:latin typeface="+mn-lt"/>
                <a:ea typeface="+mn-ea"/>
                <a:cs typeface="+mn-cs"/>
              </a:rPr>
              <a:t>(as opposed to the physical characteristics) of the add-ons and/or extras :</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Pre-purchasing a certain ‘package’ may mean they do not have to queue on arrival at the theme park, zoo,  to gain entry (time saving)</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Buying a book of tickets means the cost of each ride is cheaper (cost saving)</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Purchasing a tour means elements of the tour/packages are bundled and they receive better value for money (cost saving)</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This particular tour is only available at this location and nowhere else in the world (making it ‘unique’ and giving it prestige)</a:t>
            </a:r>
            <a:endParaRPr lang="en-AU" sz="1200" kern="1200" dirty="0" smtClean="0">
              <a:solidFill>
                <a:schemeClr val="tx1"/>
              </a:solidFill>
              <a:latin typeface="+mn-lt"/>
              <a:ea typeface="+mn-ea"/>
              <a:cs typeface="+mn-cs"/>
            </a:endParaRPr>
          </a:p>
          <a:p>
            <a:pPr>
              <a:buFont typeface="Arial" pitchFamily="34" charset="0"/>
              <a:buNone/>
            </a:pPr>
            <a:endParaRPr kumimoji="0" lang="en-US" sz="2400" kern="1200" dirty="0" smtClean="0">
              <a:solidFill>
                <a:schemeClr val="tx1"/>
              </a:solidFill>
              <a:latin typeface="+mn-lt"/>
              <a:ea typeface="+mn-ea"/>
              <a:cs typeface="+mn-cs"/>
            </a:endParaRPr>
          </a:p>
          <a:p>
            <a:pPr>
              <a:buFont typeface="Arial" pitchFamily="34" charset="0"/>
              <a:buChar char="•"/>
            </a:pPr>
            <a:endParaRPr kumimoji="0" lang="en-US" sz="2400" b="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369906222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US" sz="1200" kern="1200" dirty="0" smtClean="0">
                <a:solidFill>
                  <a:schemeClr val="tx1"/>
                </a:solidFill>
                <a:latin typeface="+mn-lt"/>
                <a:ea typeface="+mn-ea"/>
                <a:cs typeface="+mn-cs"/>
              </a:rPr>
              <a:t>Trainer further identifies trainees should use their local knowledge to advise people regarding their purchases by recommending a certain ‘add-on’ or ‘extra’ because:</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It will give them a better view.</a:t>
            </a:r>
            <a:r>
              <a:rPr lang="en-US" sz="1200" kern="1200" baseline="0" dirty="0" smtClean="0">
                <a:solidFill>
                  <a:schemeClr val="tx1"/>
                </a:solidFill>
                <a:latin typeface="+mn-lt"/>
                <a:ea typeface="+mn-ea"/>
                <a:cs typeface="+mn-cs"/>
              </a:rPr>
              <a:t> F</a:t>
            </a:r>
            <a:r>
              <a:rPr lang="en-US" sz="1200" kern="1200" dirty="0" smtClean="0">
                <a:solidFill>
                  <a:schemeClr val="tx1"/>
                </a:solidFill>
                <a:latin typeface="+mn-lt"/>
                <a:ea typeface="+mn-ea"/>
                <a:cs typeface="+mn-cs"/>
              </a:rPr>
              <a:t>or example, buying a higher-priced seat may mean the tourists are not looking into the sun, or they are sitting in a shaded area </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It will enable them to have greater engagement with more/different people or animals or experiences or sites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The offering is only available today, this week, this month, this season, this year</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The more expensive 4:30PM tour is better than the 10:00AM one because the later tour includes the feeding of the animals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Taking the cable car to the gardens will provide a spectacular view over the bay, the mountains and the city and it avoids heavy local traffic congestion.</a:t>
            </a:r>
            <a:endParaRPr lang="en-AU"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None/>
            </a:pPr>
            <a:endParaRPr lang="en-US" dirty="0" smtClean="0"/>
          </a:p>
          <a:p>
            <a:pPr>
              <a:buFont typeface="Arial" pitchFamily="34" charset="0"/>
              <a:buNone/>
            </a:pPr>
            <a:r>
              <a:rPr kumimoji="0" lang="en-US" sz="2400" b="1" kern="1200" dirty="0" smtClean="0">
                <a:solidFill>
                  <a:schemeClr val="tx1"/>
                </a:solidFill>
                <a:latin typeface="+mn-lt"/>
                <a:ea typeface="+mn-ea"/>
                <a:cs typeface="+mn-cs"/>
              </a:rPr>
              <a:t>Class Activity – Small Group Exercise</a:t>
            </a:r>
          </a:p>
          <a:p>
            <a:pPr>
              <a:buFont typeface="Arial" pitchFamily="34" charset="0"/>
              <a:buNone/>
            </a:pPr>
            <a:r>
              <a:rPr kumimoji="0" lang="en-US" sz="2400" b="0" kern="1200" dirty="0" smtClean="0">
                <a:solidFill>
                  <a:schemeClr val="tx1"/>
                </a:solidFill>
                <a:latin typeface="+mn-lt"/>
                <a:ea typeface="+mn-ea"/>
                <a:cs typeface="+mn-cs"/>
              </a:rPr>
              <a:t>Trainer divides trainees</a:t>
            </a:r>
            <a:r>
              <a:rPr kumimoji="0" lang="en-US" sz="2400" b="0" kern="1200" baseline="0" dirty="0" smtClean="0">
                <a:solidFill>
                  <a:schemeClr val="tx1"/>
                </a:solidFill>
                <a:latin typeface="+mn-lt"/>
                <a:ea typeface="+mn-ea"/>
                <a:cs typeface="+mn-cs"/>
              </a:rPr>
              <a:t> into small groups and asks each group to:</a:t>
            </a:r>
          </a:p>
          <a:p>
            <a:pPr>
              <a:buFont typeface="Arial" pitchFamily="34" charset="0"/>
              <a:buChar char="•"/>
            </a:pPr>
            <a:r>
              <a:rPr kumimoji="0" lang="en-US" sz="2400" b="0" kern="1200" dirty="0" smtClean="0">
                <a:solidFill>
                  <a:schemeClr val="tx1"/>
                </a:solidFill>
                <a:latin typeface="+mn-lt"/>
                <a:ea typeface="+mn-ea"/>
                <a:cs typeface="+mn-cs"/>
              </a:rPr>
              <a:t> Identify a tourism product or service</a:t>
            </a:r>
          </a:p>
          <a:p>
            <a:pPr>
              <a:buFont typeface="Arial" pitchFamily="34" charset="0"/>
              <a:buChar char="•"/>
            </a:pPr>
            <a:r>
              <a:rPr kumimoji="0" lang="en-US" sz="2400" b="0" kern="1200" dirty="0" smtClean="0">
                <a:solidFill>
                  <a:schemeClr val="tx1"/>
                </a:solidFill>
                <a:latin typeface="+mn-lt"/>
                <a:ea typeface="+mn-ea"/>
                <a:cs typeface="+mn-cs"/>
              </a:rPr>
              <a:t> Identify the extras and add-ons that could complement the product or service</a:t>
            </a:r>
          </a:p>
          <a:p>
            <a:pPr>
              <a:buFont typeface="Arial" pitchFamily="34" charset="0"/>
              <a:buChar char="•"/>
            </a:pPr>
            <a:r>
              <a:rPr kumimoji="0" lang="en-US" sz="2400" b="0" kern="1200" dirty="0" smtClean="0">
                <a:solidFill>
                  <a:schemeClr val="tx1"/>
                </a:solidFill>
                <a:latin typeface="+mn-lt"/>
                <a:ea typeface="+mn-ea"/>
                <a:cs typeface="+mn-cs"/>
              </a:rPr>
              <a:t> Explain how the identified add-ons/extras could be sold by describing the:</a:t>
            </a:r>
          </a:p>
          <a:p>
            <a:pPr lvl="1">
              <a:buFont typeface="Arial" pitchFamily="34" charset="0"/>
              <a:buChar char="•"/>
            </a:pPr>
            <a:r>
              <a:rPr kumimoji="0" lang="en-US" sz="2400" b="0" kern="1200" dirty="0" smtClean="0">
                <a:solidFill>
                  <a:schemeClr val="tx1"/>
                </a:solidFill>
                <a:latin typeface="+mn-lt"/>
                <a:ea typeface="+mn-ea"/>
                <a:cs typeface="+mn-cs"/>
              </a:rPr>
              <a:t> Physical characteristics of the product/service</a:t>
            </a:r>
          </a:p>
          <a:p>
            <a:pPr lvl="1">
              <a:buFont typeface="Arial" pitchFamily="34" charset="0"/>
              <a:buChar char="•"/>
            </a:pPr>
            <a:r>
              <a:rPr kumimoji="0" lang="en-US" sz="2400" b="0" kern="1200" dirty="0" smtClean="0">
                <a:solidFill>
                  <a:schemeClr val="tx1"/>
                </a:solidFill>
                <a:latin typeface="+mn-lt"/>
                <a:ea typeface="+mn-ea"/>
                <a:cs typeface="+mn-cs"/>
              </a:rPr>
              <a:t> Benefits of the product/service</a:t>
            </a:r>
          </a:p>
          <a:p>
            <a:pPr lvl="0">
              <a:buFont typeface="Arial" pitchFamily="34" charset="0"/>
              <a:buChar char="•"/>
            </a:pPr>
            <a:r>
              <a:rPr kumimoji="0" lang="en-US" sz="2400" b="0" kern="1200" dirty="0" smtClean="0">
                <a:solidFill>
                  <a:schemeClr val="tx1"/>
                </a:solidFill>
                <a:latin typeface="+mn-lt"/>
                <a:ea typeface="+mn-ea"/>
                <a:cs typeface="+mn-cs"/>
              </a:rPr>
              <a:t> Demonstrate how they would promote what they have identified to visitors.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141917569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latin typeface="+mn-lt"/>
                <a:ea typeface="+mn-ea"/>
                <a:cs typeface="+mn-cs"/>
              </a:rPr>
              <a:t>Trainer explains to trainees it is standard operating procedure in most venues for staff who have face to</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face contact with customers/guests to provide feedback to management about their experiences involving visitors/tourists especially as they relate to the questions they ask and the result of advice or information provided to them.</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Trainer identifies in </a:t>
            </a:r>
            <a:r>
              <a:rPr lang="en-US" sz="1200" kern="1200" dirty="0" smtClean="0">
                <a:solidFill>
                  <a:schemeClr val="tx1"/>
                </a:solidFill>
                <a:latin typeface="+mn-lt"/>
                <a:ea typeface="+mn-ea"/>
                <a:cs typeface="+mn-cs"/>
              </a:rPr>
              <a:t>this context ‘queries’ relates to any questions asked by customers, guests, visitors and tourists about:</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Local events, attractions  </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What they can do and where they can go while staying at the venue or in the area</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Local options for tourism activities, tours, displays, meetings, shows, displays </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Local transport and local facilities </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Local products and services.</a:t>
            </a:r>
            <a:endParaRPr lang="en-AU"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In essence, any question asked by a visitor can be regarded as a ‘query’ for the purposes of this Section – even a basic type of question (such as when the dining area is open) – is a relevant query as it indicates a need for the venue to be able to supply this type of information. </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r>
              <a:rPr lang="en-US" dirty="0" smtClean="0"/>
              <a:t>Trainer further identifies </a:t>
            </a:r>
            <a:r>
              <a:rPr lang="en-US" sz="1200" kern="1200" dirty="0" smtClean="0">
                <a:solidFill>
                  <a:schemeClr val="tx1"/>
                </a:solidFill>
                <a:latin typeface="+mn-lt"/>
                <a:ea typeface="+mn-ea"/>
                <a:cs typeface="+mn-cs"/>
              </a:rPr>
              <a:t>‘Results’ refer to the effectiveness of the response given by staff to visitors who asked questions explaining effectiveness should address issues such as: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Was there a communication problem?.</a:t>
            </a:r>
            <a:r>
              <a:rPr lang="en-US" sz="1200" kern="1200" baseline="0" dirty="0" smtClean="0">
                <a:solidFill>
                  <a:schemeClr val="tx1"/>
                </a:solidFill>
                <a:latin typeface="+mn-lt"/>
                <a:ea typeface="+mn-ea"/>
                <a:cs typeface="+mn-cs"/>
              </a:rPr>
              <a:t> F</a:t>
            </a:r>
            <a:r>
              <a:rPr lang="en-US" sz="1200" kern="1200" dirty="0" smtClean="0">
                <a:solidFill>
                  <a:schemeClr val="tx1"/>
                </a:solidFill>
                <a:latin typeface="+mn-lt"/>
                <a:ea typeface="+mn-ea"/>
                <a:cs typeface="+mn-cs"/>
              </a:rPr>
              <a:t>or example, was a difference in language a problem preventing effective communication?</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Could there have been a better option for providing the information? For example, would it have been more effective (with the benefit of hindsight) to have given the guest a map rather than verbal direction?</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Was there a lack of knowledge about the question? This may indicate a need for the venue to capture more information on the topic in question.</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How well did the information provided by the staff meet visitor needs, wants, preferences, parameters? For example, when a guest returned to the hotel, did they indicate they enjoyed the tour/attraction suggested by staff, or not? If not, why not? Was it too expensive, too far to travel, too expensive, not interesting/exciting enough, unsafe?</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134440243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Trainer stresses to trainees it is important for </a:t>
            </a:r>
            <a:r>
              <a:rPr lang="en-US" sz="1200" b="1" kern="1200" dirty="0" smtClean="0">
                <a:solidFill>
                  <a:schemeClr val="tx1"/>
                </a:solidFill>
                <a:latin typeface="+mn-lt"/>
                <a:ea typeface="+mn-ea"/>
                <a:cs typeface="+mn-cs"/>
              </a:rPr>
              <a:t>every </a:t>
            </a:r>
            <a:r>
              <a:rPr lang="en-US" sz="1200" kern="1200" dirty="0" smtClean="0">
                <a:solidFill>
                  <a:schemeClr val="tx1"/>
                </a:solidFill>
                <a:latin typeface="+mn-lt"/>
                <a:ea typeface="+mn-ea"/>
                <a:cs typeface="+mn-cs"/>
              </a:rPr>
              <a:t>tourist venue/destination to be actively involved in monitoring the queries of visitors, and the information provided to visitors by venue staff, because:</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This is an effective and inexpensive way of identifying what is important and of interest to our visitors.</a:t>
            </a:r>
            <a:r>
              <a:rPr lang="en-US" sz="1200" kern="1200" baseline="0" dirty="0" smtClean="0">
                <a:solidFill>
                  <a:schemeClr val="tx1"/>
                </a:solidFill>
                <a:latin typeface="+mn-lt"/>
                <a:ea typeface="+mn-ea"/>
                <a:cs typeface="+mn-cs"/>
              </a:rPr>
              <a:t> It</a:t>
            </a:r>
            <a:r>
              <a:rPr lang="en-US" sz="1200" kern="1200" dirty="0" smtClean="0">
                <a:solidFill>
                  <a:schemeClr val="tx1"/>
                </a:solidFill>
                <a:latin typeface="+mn-lt"/>
                <a:ea typeface="+mn-ea"/>
                <a:cs typeface="+mn-cs"/>
              </a:rPr>
              <a:t> is cheap market research</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It demonstrates customer focus – meaning the venue can use the research to better create experiences more appropriately suited to identified customer needs, wants and preferences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This is an excellent way of sharing information between staff at the </a:t>
            </a:r>
            <a:r>
              <a:rPr lang="en-US" sz="1200" kern="1200" dirty="0" err="1" smtClean="0">
                <a:solidFill>
                  <a:schemeClr val="tx1"/>
                </a:solidFill>
                <a:latin typeface="+mn-lt"/>
                <a:ea typeface="+mn-ea"/>
                <a:cs typeface="+mn-cs"/>
              </a:rPr>
              <a:t>venueabout</a:t>
            </a:r>
            <a:r>
              <a:rPr lang="en-US" sz="1200" kern="1200" dirty="0" smtClean="0">
                <a:solidFill>
                  <a:schemeClr val="tx1"/>
                </a:solidFill>
                <a:latin typeface="+mn-lt"/>
                <a:ea typeface="+mn-ea"/>
                <a:cs typeface="+mn-cs"/>
              </a:rPr>
              <a:t> what to do, and about what not to do, say, suggest and about what is effective and what is not</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It  makes staff accountable.</a:t>
            </a:r>
            <a:r>
              <a:rPr lang="en-US" sz="1200" kern="1200" baseline="0" dirty="0" smtClean="0">
                <a:solidFill>
                  <a:schemeClr val="tx1"/>
                </a:solidFill>
                <a:latin typeface="+mn-lt"/>
                <a:ea typeface="+mn-ea"/>
                <a:cs typeface="+mn-cs"/>
              </a:rPr>
              <a:t> I</a:t>
            </a:r>
            <a:r>
              <a:rPr lang="en-US" sz="1200" kern="1200" dirty="0" smtClean="0">
                <a:solidFill>
                  <a:schemeClr val="tx1"/>
                </a:solidFill>
                <a:latin typeface="+mn-lt"/>
                <a:ea typeface="+mn-ea"/>
                <a:cs typeface="+mn-cs"/>
              </a:rPr>
              <a:t>f employees know their actions and recommendations are gong to be fed back to management they will tend to be more responsible, sensible and focused in what they suggest</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Regular meetings of this nature amongst staff and with management help staff maintain a focus on customers and their needs,</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as opposed to creating a focus on themselves and the venue.</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 focus must always be on the customers/tourists and what is best for them.</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If ‘it’ is good for the visitor, it will ultimately be good for the venue.</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262433712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personnel involved in reports are:</a:t>
            </a:r>
          </a:p>
          <a:p>
            <a:pPr>
              <a:buFont typeface="Arial" pitchFamily="34" charset="0"/>
              <a:buChar char="•"/>
            </a:pPr>
            <a:r>
              <a:rPr lang="en-US" dirty="0" smtClean="0"/>
              <a:t> Report makers.</a:t>
            </a:r>
            <a:r>
              <a:rPr lang="en-US" baseline="0" dirty="0" smtClean="0"/>
              <a:t> This includes a</a:t>
            </a:r>
            <a:r>
              <a:rPr lang="en-US" dirty="0" smtClean="0"/>
              <a:t>ll customer contact</a:t>
            </a:r>
            <a:r>
              <a:rPr lang="en-US" baseline="0" dirty="0" smtClean="0"/>
              <a:t> or </a:t>
            </a:r>
            <a:r>
              <a:rPr lang="en-US" dirty="0" smtClean="0"/>
              <a:t>frontline staff:</a:t>
            </a:r>
          </a:p>
          <a:p>
            <a:pPr lvl="1">
              <a:buFont typeface="Arial" pitchFamily="34" charset="0"/>
              <a:buChar char="•"/>
            </a:pPr>
            <a:r>
              <a:rPr lang="en-US" sz="1200" kern="1200" dirty="0" smtClean="0">
                <a:solidFill>
                  <a:schemeClr val="tx1"/>
                </a:solidFill>
                <a:latin typeface="+mn-lt"/>
                <a:ea typeface="+mn-ea"/>
                <a:cs typeface="+mn-cs"/>
              </a:rPr>
              <a:t> Reception/front office staff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Porters and concierge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Waiting staff – food and beverage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Bar staff</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Attendants in retail outlets within the property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Tour guides and tour vehicle drivers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Ride attendants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Ushers and Information officers.</a:t>
            </a:r>
            <a:endParaRPr lang="en-AU" sz="1200" kern="1200" dirty="0" smtClean="0">
              <a:solidFill>
                <a:schemeClr val="tx1"/>
              </a:solidFill>
              <a:latin typeface="+mn-lt"/>
              <a:ea typeface="+mn-ea"/>
              <a:cs typeface="+mn-cs"/>
            </a:endParaRPr>
          </a:p>
          <a:p>
            <a:pPr>
              <a:buFont typeface="Arial" pitchFamily="34" charset="0"/>
              <a:buChar char="•"/>
            </a:pPr>
            <a:r>
              <a:rPr lang="en-US" dirty="0" smtClean="0"/>
              <a:t> Report takers may include:</a:t>
            </a:r>
          </a:p>
          <a:p>
            <a:pPr lvl="1">
              <a:buFont typeface="Arial" pitchFamily="34" charset="0"/>
              <a:buChar char="•"/>
            </a:pPr>
            <a:r>
              <a:rPr lang="en-US" sz="1200" kern="1200" dirty="0" smtClean="0">
                <a:solidFill>
                  <a:schemeClr val="tx1"/>
                </a:solidFill>
                <a:latin typeface="+mn-lt"/>
                <a:ea typeface="+mn-ea"/>
                <a:cs typeface="+mn-cs"/>
              </a:rPr>
              <a:t> Owner of the business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Managers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Marketing department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In-house trainers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Safety and security officers.</a:t>
            </a:r>
            <a:endParaRPr lang="en-AU" sz="1200" kern="120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368744626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Trainer identifies to trainees the basic options for providing these reports is: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Written report –which often involves completion of a </a:t>
            </a:r>
            <a:r>
              <a:rPr lang="en-US" sz="1200" i="1" kern="1200" dirty="0" smtClean="0">
                <a:solidFill>
                  <a:schemeClr val="tx1"/>
                </a:solidFill>
                <a:latin typeface="+mn-lt"/>
                <a:ea typeface="+mn-ea"/>
                <a:cs typeface="+mn-cs"/>
              </a:rPr>
              <a:t>pro forma</a:t>
            </a:r>
            <a:r>
              <a:rPr lang="en-US" sz="1200" kern="1200" dirty="0" smtClean="0">
                <a:solidFill>
                  <a:schemeClr val="tx1"/>
                </a:solidFill>
                <a:latin typeface="+mn-lt"/>
                <a:ea typeface="+mn-ea"/>
                <a:cs typeface="+mn-cs"/>
              </a:rPr>
              <a:t> document to ensure relevant items are covered, and to speed up the process. The written report may be delivered in hard copy form, or electronically forwarded via the intranet</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Verbal report on a face to</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face basis either one</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on</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one or in a group setting such as a staff meeting, briefing or training session</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A combination of the verbal and written feedback.</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his is arguably the most effective and informative but is also the most expensive and time consuming.</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397794262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dirty="0" smtClean="0">
                <a:solidFill>
                  <a:schemeClr val="tx1"/>
                </a:solidFill>
                <a:latin typeface="+mn-lt"/>
                <a:ea typeface="+mn-ea"/>
                <a:cs typeface="+mn-cs"/>
              </a:rPr>
              <a:t>Trainer explains the nature of the follow-up required to queries and results will depend on the nature of the issues identified, but possible action may include:</a:t>
            </a:r>
          </a:p>
          <a:p>
            <a:pPr lvl="0">
              <a:buFont typeface="Arial" pitchFamily="34" charset="0"/>
              <a:buChar char="•"/>
            </a:pPr>
            <a:r>
              <a:rPr lang="en-US" sz="1200" kern="1200" dirty="0" smtClean="0">
                <a:solidFill>
                  <a:schemeClr val="tx1"/>
                </a:solidFill>
                <a:latin typeface="+mn-lt"/>
                <a:ea typeface="+mn-ea"/>
                <a:cs typeface="+mn-cs"/>
              </a:rPr>
              <a:t> Staff training which could involve: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Learning more venue, product and local knowledge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Learning another language or some simple/useful phrases or words from the language of another country from which lots of visitors come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Learning how to more effectively question and/or listen to people to better identify their needs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Revisions to standard internal training materials and content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Revising the suggestions, recommendations and information to be given to visitors.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Revision to standard materials available at the venue,</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for example: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Obtaining more or different brochures, flyers, maps, schedules, price lists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Updating materials identified as being out</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of</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date.</a:t>
            </a:r>
            <a:r>
              <a:rPr lang="en-US" sz="1200" kern="1200" baseline="0" dirty="0" smtClean="0">
                <a:solidFill>
                  <a:schemeClr val="tx1"/>
                </a:solidFill>
                <a:latin typeface="+mn-lt"/>
                <a:ea typeface="+mn-ea"/>
                <a:cs typeface="+mn-cs"/>
              </a:rPr>
              <a:t> These can be found </a:t>
            </a:r>
            <a:r>
              <a:rPr lang="en-US" sz="1200" kern="1200" dirty="0" smtClean="0">
                <a:solidFill>
                  <a:schemeClr val="tx1"/>
                </a:solidFill>
                <a:latin typeface="+mn-lt"/>
                <a:ea typeface="+mn-ea"/>
                <a:cs typeface="+mn-cs"/>
              </a:rPr>
              <a:t>in displays, behind reception, at the concierge desk and in the room compendiums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Creating materials to meet an identified need where no other materials exist</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Introducing, changing or removing products and services: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To better meet identified needs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Notifying sales representatives and commission agents about changes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Promoting the new/revised products, services or packages and inclusions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Changing venue advertisements: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In order to better accommodate/target identified needs, wants and preferences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In terms of online advertisements, brochures for the venue, media advertisements and entries in travel books and with Visitor Information Centres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Apologies to customers which may involve: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Verbal or written apology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 refund or substitute product or service or a discount or special offer for another product or service.</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Guest Speaker</a:t>
            </a:r>
          </a:p>
          <a:p>
            <a:r>
              <a:rPr lang="en-AU" sz="1200" b="0" kern="1200" dirty="0" smtClean="0">
                <a:solidFill>
                  <a:schemeClr val="tx1"/>
                </a:solidFill>
                <a:latin typeface="+mn-lt"/>
                <a:ea typeface="+mn-ea"/>
                <a:cs typeface="+mn-cs"/>
              </a:rPr>
              <a:t>Trainer arranges for a suitable management-level person from a venue/attraction to attend and talk to trainees about:</a:t>
            </a:r>
          </a:p>
          <a:p>
            <a:pPr>
              <a:buFont typeface="Arial" pitchFamily="34" charset="0"/>
              <a:buChar char="•"/>
            </a:pPr>
            <a:r>
              <a:rPr lang="en-AU" sz="1200" b="0" kern="1200" dirty="0" smtClean="0">
                <a:solidFill>
                  <a:schemeClr val="tx1"/>
                </a:solidFill>
                <a:latin typeface="+mn-lt"/>
                <a:ea typeface="+mn-ea"/>
                <a:cs typeface="+mn-cs"/>
              </a:rPr>
              <a:t> The importance of knowing about visitor needs, wants</a:t>
            </a:r>
            <a:r>
              <a:rPr lang="en-AU" sz="1200" b="0" kern="1200" baseline="0" dirty="0" smtClean="0">
                <a:solidFill>
                  <a:schemeClr val="tx1"/>
                </a:solidFill>
                <a:latin typeface="+mn-lt"/>
                <a:ea typeface="+mn-ea"/>
                <a:cs typeface="+mn-cs"/>
              </a:rPr>
              <a:t> and preferences</a:t>
            </a:r>
          </a:p>
          <a:p>
            <a:pPr>
              <a:buFont typeface="Arial" pitchFamily="34" charset="0"/>
              <a:buChar char="•"/>
            </a:pPr>
            <a:r>
              <a:rPr lang="en-AU" sz="1200" b="0" kern="1200" baseline="0" dirty="0" smtClean="0">
                <a:solidFill>
                  <a:schemeClr val="tx1"/>
                </a:solidFill>
                <a:latin typeface="+mn-lt"/>
                <a:ea typeface="+mn-ea"/>
                <a:cs typeface="+mn-cs"/>
              </a:rPr>
              <a:t> How they identify what their guest/visitor needs, wants and preferences are</a:t>
            </a:r>
          </a:p>
          <a:p>
            <a:pPr>
              <a:buFont typeface="Arial" pitchFamily="34" charset="0"/>
              <a:buChar char="•"/>
            </a:pPr>
            <a:r>
              <a:rPr lang="en-AU" sz="1200" b="0" kern="1200" baseline="0" dirty="0" smtClean="0">
                <a:solidFill>
                  <a:schemeClr val="tx1"/>
                </a:solidFill>
                <a:latin typeface="+mn-lt"/>
                <a:ea typeface="+mn-ea"/>
                <a:cs typeface="+mn-cs"/>
              </a:rPr>
              <a:t> How they encourage their frontline staff to report on visitor queries</a:t>
            </a:r>
          </a:p>
          <a:p>
            <a:pPr>
              <a:buFont typeface="Arial" pitchFamily="34" charset="0"/>
              <a:buChar char="•"/>
            </a:pPr>
            <a:r>
              <a:rPr lang="en-AU" sz="1200" b="0" kern="1200" baseline="0" dirty="0" smtClean="0">
                <a:solidFill>
                  <a:schemeClr val="tx1"/>
                </a:solidFill>
                <a:latin typeface="+mn-lt"/>
                <a:ea typeface="+mn-ea"/>
                <a:cs typeface="+mn-cs"/>
              </a:rPr>
              <a:t> How they obtain ‘results’ regarding their provision of advice and information to visitors</a:t>
            </a:r>
          </a:p>
          <a:p>
            <a:pPr>
              <a:buFont typeface="Arial" pitchFamily="34" charset="0"/>
              <a:buChar char="•"/>
            </a:pPr>
            <a:r>
              <a:rPr lang="en-AU" sz="1200" b="0" kern="1200" baseline="0" dirty="0" smtClean="0">
                <a:solidFill>
                  <a:schemeClr val="tx1"/>
                </a:solidFill>
                <a:latin typeface="+mn-lt"/>
                <a:ea typeface="+mn-ea"/>
                <a:cs typeface="+mn-cs"/>
              </a:rPr>
              <a:t> Action they might take in response to:</a:t>
            </a:r>
          </a:p>
          <a:p>
            <a:pPr lvl="1">
              <a:buFont typeface="Arial" pitchFamily="34" charset="0"/>
              <a:buChar char="•"/>
            </a:pPr>
            <a:r>
              <a:rPr lang="en-AU" sz="1200" b="0" kern="1200" baseline="0" dirty="0" smtClean="0">
                <a:solidFill>
                  <a:schemeClr val="tx1"/>
                </a:solidFill>
                <a:latin typeface="+mn-lt"/>
                <a:ea typeface="+mn-ea"/>
                <a:cs typeface="+mn-cs"/>
              </a:rPr>
              <a:t> Positive outcomes</a:t>
            </a:r>
          </a:p>
          <a:p>
            <a:pPr lvl="1">
              <a:buFont typeface="Arial" pitchFamily="34" charset="0"/>
              <a:buChar char="•"/>
            </a:pPr>
            <a:r>
              <a:rPr lang="en-AU" sz="1200" b="0" kern="1200" baseline="0" dirty="0" smtClean="0">
                <a:solidFill>
                  <a:schemeClr val="tx1"/>
                </a:solidFill>
                <a:latin typeface="+mn-lt"/>
                <a:ea typeface="+mn-ea"/>
                <a:cs typeface="+mn-cs"/>
              </a:rPr>
              <a:t> Negative outcomes.</a:t>
            </a: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Char char="•"/>
            </a:pPr>
            <a:endParaRPr lang="en-AU" sz="1200" b="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270448876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105784094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24049064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272191397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34293429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thanks trainees for their attention and encourages them to apply course content as required in their workplace activities.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1806437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3/25/2015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3/25/2015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3/25/2015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3/25/2015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3/25/2015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3/25/2015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3/25/2015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3/25/2015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3/25/2015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3/25/2015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3/25/2015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3/25/2015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5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39.jpeg"/></Relationships>
</file>

<file path=ppt/slides/_rels/slide6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6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42.jpe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43.jpeg"/></Relationships>
</file>

<file path=ppt/slides/_rels/slide6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6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46.jpeg"/></Relationships>
</file>

<file path=ppt/slides/_rels/slide6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6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42.jpeg"/></Relationships>
</file>

<file path=ppt/slides/_rels/slide7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764704"/>
            <a:ext cx="7488160" cy="1285884"/>
          </a:xfrm>
        </p:spPr>
        <p:txBody>
          <a:bodyPr>
            <a:normAutofit fontScale="90000"/>
          </a:bodyPr>
          <a:lstStyle/>
          <a:p>
            <a:r>
              <a:rPr lang="en-US" sz="4000" dirty="0" smtClean="0">
                <a:ln w="5000" cmpd="sng">
                  <a:noFill/>
                  <a:prstDash val="solid"/>
                </a:ln>
                <a:solidFill>
                  <a:srgbClr val="FF6600"/>
                </a:solidFill>
                <a:latin typeface="Helvetica" pitchFamily="34" charset="0"/>
              </a:rPr>
              <a:t>DEVELOP AND UP-DATE LOCAL KNOWLEDGE</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4211960" y="1988840"/>
            <a:ext cx="3981428" cy="1368152"/>
          </a:xfrm>
        </p:spPr>
        <p:txBody>
          <a:bodyPr>
            <a:noAutofit/>
          </a:bodyPr>
          <a:lstStyle/>
          <a:p>
            <a:r>
              <a:rPr lang="en-US" sz="2200" b="1" dirty="0" smtClean="0">
                <a:latin typeface="Helvetica" pitchFamily="34" charset="0"/>
              </a:rPr>
              <a:t>Unit </a:t>
            </a:r>
            <a:r>
              <a:rPr lang="en-US" sz="2400" b="1" dirty="0" smtClean="0">
                <a:latin typeface="Helvetica" pitchFamily="34" charset="0"/>
              </a:rPr>
              <a:t>Code: D1.HRS.CL1.06</a:t>
            </a:r>
            <a:br>
              <a:rPr lang="en-US" sz="2400" b="1" dirty="0" smtClean="0">
                <a:latin typeface="Helvetica" pitchFamily="34" charset="0"/>
              </a:rPr>
            </a:br>
            <a:r>
              <a:rPr lang="en-US" sz="2400" b="1" dirty="0" smtClean="0">
                <a:latin typeface="Helvetica" pitchFamily="34" charset="0"/>
              </a:rPr>
              <a:t>D1.HOT.CL1.09</a:t>
            </a:r>
            <a:br>
              <a:rPr lang="en-US" sz="2400" b="1" dirty="0" smtClean="0">
                <a:latin typeface="Helvetica" pitchFamily="34" charset="0"/>
              </a:rPr>
            </a:br>
            <a:r>
              <a:rPr lang="en-US" sz="2400" b="1" dirty="0" smtClean="0">
                <a:latin typeface="Helvetica" pitchFamily="34" charset="0"/>
              </a:rPr>
              <a:t>D2.TTA.CL2.11</a:t>
            </a:r>
            <a:endParaRPr lang="en-US" sz="24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6" name="Picture 5" descr="tour05_16947_65%.jpg"/>
          <p:cNvPicPr/>
          <p:nvPr/>
        </p:nvPicPr>
        <p:blipFill>
          <a:blip r:embed="rId3" cstate="print"/>
          <a:stretch>
            <a:fillRect/>
          </a:stretch>
        </p:blipFill>
        <p:spPr>
          <a:xfrm>
            <a:off x="1547664" y="2924944"/>
            <a:ext cx="4032448" cy="2664296"/>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and update local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This unit comprises three Elements:</a:t>
            </a:r>
          </a:p>
          <a:p>
            <a:pPr marL="360000" indent="-360000">
              <a:spcBef>
                <a:spcPts val="1200"/>
              </a:spcBef>
              <a:spcAft>
                <a:spcPts val="1200"/>
              </a:spcAft>
            </a:pPr>
            <a:r>
              <a:rPr lang="en-US" sz="2200" b="1" dirty="0" smtClean="0">
                <a:latin typeface="Helvetica" pitchFamily="34" charset="0"/>
              </a:rPr>
              <a:t>Develop local knowledge</a:t>
            </a:r>
          </a:p>
          <a:p>
            <a:pPr marL="360000" indent="-360000">
              <a:spcBef>
                <a:spcPts val="1200"/>
              </a:spcBef>
              <a:spcAft>
                <a:spcPts val="1200"/>
              </a:spcAft>
            </a:pPr>
            <a:r>
              <a:rPr lang="en-US" sz="2200" b="1" dirty="0" smtClean="0">
                <a:latin typeface="Helvetica" pitchFamily="34" charset="0"/>
              </a:rPr>
              <a:t>Update local knowledge</a:t>
            </a:r>
          </a:p>
          <a:p>
            <a:pPr marL="360000" indent="-360000">
              <a:spcBef>
                <a:spcPts val="1200"/>
              </a:spcBef>
              <a:spcAft>
                <a:spcPts val="1200"/>
              </a:spcAft>
            </a:pPr>
            <a:r>
              <a:rPr lang="en-US" sz="2200" b="1" dirty="0" smtClean="0">
                <a:latin typeface="Helvetica" pitchFamily="34" charset="0"/>
              </a:rPr>
              <a:t>Maintain contact with local communities.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5" name="Picture 4" descr="tour05_16947_65%.jpg"/>
          <p:cNvPicPr/>
          <p:nvPr/>
        </p:nvPicPr>
        <p:blipFill>
          <a:blip r:embed="rId3" cstate="print"/>
          <a:stretch>
            <a:fillRect/>
          </a:stretch>
        </p:blipFill>
        <p:spPr>
          <a:xfrm>
            <a:off x="6084168" y="4293096"/>
            <a:ext cx="2247071" cy="1391479"/>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Assessment for this unit may include:</a:t>
            </a:r>
          </a:p>
          <a:p>
            <a:pPr marL="360000" indent="-360000">
              <a:spcBef>
                <a:spcPts val="1200"/>
              </a:spcBef>
              <a:spcAft>
                <a:spcPts val="1200"/>
              </a:spcAft>
            </a:pPr>
            <a:r>
              <a:rPr lang="en-US" sz="2200" b="1" dirty="0" smtClean="0">
                <a:latin typeface="Helvetica" pitchFamily="34" charset="0"/>
              </a:rPr>
              <a:t>Oral questions</a:t>
            </a:r>
          </a:p>
          <a:p>
            <a:pPr marL="360000" indent="-360000">
              <a:spcBef>
                <a:spcPts val="1200"/>
              </a:spcBef>
              <a:spcAft>
                <a:spcPts val="1200"/>
              </a:spcAft>
            </a:pPr>
            <a:r>
              <a:rPr lang="en-US" sz="2200" b="1" dirty="0" smtClean="0">
                <a:latin typeface="Helvetica" pitchFamily="34" charset="0"/>
              </a:rPr>
              <a:t>Written questions</a:t>
            </a:r>
          </a:p>
          <a:p>
            <a:pPr marL="360000" indent="-360000">
              <a:spcBef>
                <a:spcPts val="1200"/>
              </a:spcBef>
              <a:spcAft>
                <a:spcPts val="1200"/>
              </a:spcAft>
            </a:pPr>
            <a:r>
              <a:rPr lang="en-US" sz="2200" b="1" dirty="0" smtClean="0">
                <a:latin typeface="Helvetica" pitchFamily="34" charset="0"/>
              </a:rPr>
              <a:t>Work projects</a:t>
            </a:r>
          </a:p>
          <a:p>
            <a:pPr marL="360000" indent="-360000">
              <a:spcBef>
                <a:spcPts val="1200"/>
              </a:spcBef>
              <a:spcAft>
                <a:spcPts val="1200"/>
              </a:spcAft>
            </a:pPr>
            <a:r>
              <a:rPr lang="en-US" sz="2200" b="1" dirty="0" smtClean="0">
                <a:latin typeface="Helvetica" pitchFamily="34" charset="0"/>
              </a:rPr>
              <a:t>Workplace observation of practical skills</a:t>
            </a:r>
          </a:p>
          <a:p>
            <a:pPr marL="360000" indent="-360000">
              <a:spcBef>
                <a:spcPts val="1200"/>
              </a:spcBef>
              <a:spcAft>
                <a:spcPts val="1200"/>
              </a:spcAft>
            </a:pPr>
            <a:r>
              <a:rPr lang="en-US" sz="2200" b="1" dirty="0" smtClean="0">
                <a:latin typeface="Helvetica" pitchFamily="34" charset="0"/>
              </a:rPr>
              <a:t>Practical exercises</a:t>
            </a:r>
          </a:p>
          <a:p>
            <a:pPr marL="360000" indent="-360000">
              <a:spcBef>
                <a:spcPts val="1200"/>
              </a:spcBef>
              <a:spcAft>
                <a:spcPts val="1200"/>
              </a:spcAft>
            </a:pPr>
            <a:r>
              <a:rPr lang="en-US" sz="2200" b="1" dirty="0" smtClean="0">
                <a:latin typeface="Helvetica" pitchFamily="34" charset="0"/>
              </a:rPr>
              <a:t>Formal report from employer/supervisor.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6" name="Picture 5" descr="review.jpg"/>
          <p:cNvPicPr>
            <a:picLocks noChangeAspect="1"/>
          </p:cNvPicPr>
          <p:nvPr/>
        </p:nvPicPr>
        <p:blipFill>
          <a:blip r:embed="rId3" cstate="print"/>
          <a:stretch>
            <a:fillRect/>
          </a:stretch>
        </p:blipFill>
        <p:spPr>
          <a:xfrm>
            <a:off x="6588224" y="3645024"/>
            <a:ext cx="1881001" cy="187558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local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04856" cy="4752528"/>
          </a:xfrm>
        </p:spPr>
        <p:txBody>
          <a:bodyPr>
            <a:normAutofit/>
          </a:bodyPr>
          <a:lstStyle/>
          <a:p>
            <a:pPr marL="0" indent="0">
              <a:spcBef>
                <a:spcPts val="1200"/>
              </a:spcBef>
              <a:spcAft>
                <a:spcPts val="1200"/>
              </a:spcAft>
              <a:buNone/>
            </a:pPr>
            <a:r>
              <a:rPr lang="en-US" sz="2200" b="1" dirty="0" smtClean="0">
                <a:latin typeface="Helvetica" pitchFamily="34" charset="0"/>
              </a:rPr>
              <a:t>Performance Criteria for this Element are: </a:t>
            </a:r>
          </a:p>
          <a:p>
            <a:pPr marL="360000" indent="-360000">
              <a:spcBef>
                <a:spcPts val="1200"/>
              </a:spcBef>
              <a:spcAft>
                <a:spcPts val="1200"/>
              </a:spcAft>
            </a:pPr>
            <a:r>
              <a:rPr lang="en-US" sz="2200" b="1" dirty="0" smtClean="0">
                <a:latin typeface="Helvetica" pitchFamily="34" charset="0"/>
              </a:rPr>
              <a:t>Identify and access sources for information on the local area, correctly</a:t>
            </a:r>
          </a:p>
          <a:p>
            <a:pPr marL="360000" indent="-360000">
              <a:spcBef>
                <a:spcPts val="1200"/>
              </a:spcBef>
              <a:spcAft>
                <a:spcPts val="1200"/>
              </a:spcAft>
            </a:pPr>
            <a:r>
              <a:rPr lang="en-US" sz="2200" b="1" dirty="0" smtClean="0">
                <a:latin typeface="Helvetica" pitchFamily="34" charset="0"/>
              </a:rPr>
              <a:t>Identify and obtain information to correctly </a:t>
            </a:r>
            <a:br>
              <a:rPr lang="en-US" sz="2200" b="1" dirty="0" smtClean="0">
                <a:latin typeface="Helvetica" pitchFamily="34" charset="0"/>
              </a:rPr>
            </a:br>
            <a:r>
              <a:rPr lang="en-US" sz="2200" b="1" dirty="0" smtClean="0">
                <a:latin typeface="Helvetica" pitchFamily="34" charset="0"/>
              </a:rPr>
              <a:t>answer queries on local/national tourism industry</a:t>
            </a:r>
          </a:p>
          <a:p>
            <a:pPr marL="360000" indent="-360000">
              <a:spcBef>
                <a:spcPts val="1200"/>
              </a:spcBef>
              <a:spcAft>
                <a:spcPts val="1200"/>
              </a:spcAft>
            </a:pPr>
            <a:r>
              <a:rPr lang="en-US" sz="2200" b="1" dirty="0" smtClean="0">
                <a:latin typeface="Helvetica" pitchFamily="34" charset="0"/>
              </a:rPr>
              <a:t>Store and update information according to </a:t>
            </a:r>
            <a:br>
              <a:rPr lang="en-US" sz="2200" b="1" dirty="0" smtClean="0">
                <a:latin typeface="Helvetica" pitchFamily="34" charset="0"/>
              </a:rPr>
            </a:br>
            <a:r>
              <a:rPr lang="en-US" sz="2200" b="1" dirty="0" smtClean="0">
                <a:latin typeface="Helvetica" pitchFamily="34" charset="0"/>
              </a:rPr>
              <a:t>enterprise procedures</a:t>
            </a:r>
          </a:p>
          <a:p>
            <a:pPr marL="360000" indent="-360000">
              <a:spcBef>
                <a:spcPts val="1200"/>
              </a:spcBef>
              <a:spcAft>
                <a:spcPts val="1200"/>
              </a:spcAft>
            </a:pPr>
            <a:r>
              <a:rPr lang="en-US" sz="2200" b="1" dirty="0" smtClean="0">
                <a:latin typeface="Helvetica" pitchFamily="34" charset="0"/>
              </a:rPr>
              <a:t>Share information with colleagues.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5" name="Picture 4" descr="00409338.jpg"/>
          <p:cNvPicPr/>
          <p:nvPr/>
        </p:nvPicPr>
        <p:blipFill>
          <a:blip r:embed="rId3" cstate="print"/>
          <a:stretch>
            <a:fillRect/>
          </a:stretch>
        </p:blipFill>
        <p:spPr>
          <a:xfrm>
            <a:off x="7731815" y="2708920"/>
            <a:ext cx="1412185" cy="2075290"/>
          </a:xfrm>
          <a:prstGeom prst="rect">
            <a:avLst/>
          </a:prstGeom>
        </p:spPr>
      </p:pic>
      <p:pic>
        <p:nvPicPr>
          <p:cNvPr id="6" name="Picture 5" descr="Travel brochures.jpg"/>
          <p:cNvPicPr/>
          <p:nvPr/>
        </p:nvPicPr>
        <p:blipFill>
          <a:blip r:embed="rId4" cstate="print"/>
          <a:stretch>
            <a:fillRect/>
          </a:stretch>
        </p:blipFill>
        <p:spPr>
          <a:xfrm>
            <a:off x="6793230" y="4797152"/>
            <a:ext cx="2350770" cy="1558456"/>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access sources for information on local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Local knowledge can include knowledge/information relating to:</a:t>
            </a:r>
          </a:p>
          <a:p>
            <a:pPr marL="360000" indent="-360000">
              <a:spcBef>
                <a:spcPts val="1200"/>
              </a:spcBef>
              <a:spcAft>
                <a:spcPts val="1200"/>
              </a:spcAft>
            </a:pPr>
            <a:r>
              <a:rPr lang="en-US" sz="2200" b="1" dirty="0" smtClean="0">
                <a:latin typeface="Helvetica" pitchFamily="34" charset="0"/>
              </a:rPr>
              <a:t>Your workplace</a:t>
            </a:r>
          </a:p>
          <a:p>
            <a:pPr marL="360000" indent="-360000">
              <a:spcBef>
                <a:spcPts val="1200"/>
              </a:spcBef>
              <a:spcAft>
                <a:spcPts val="1200"/>
              </a:spcAft>
            </a:pPr>
            <a:r>
              <a:rPr lang="en-US" sz="2200" b="1" dirty="0" smtClean="0">
                <a:latin typeface="Helvetica" pitchFamily="34" charset="0"/>
              </a:rPr>
              <a:t>Your town or city</a:t>
            </a:r>
          </a:p>
          <a:p>
            <a:pPr marL="360000" indent="-360000">
              <a:spcBef>
                <a:spcPts val="1200"/>
              </a:spcBef>
              <a:spcAft>
                <a:spcPts val="1200"/>
              </a:spcAft>
            </a:pPr>
            <a:r>
              <a:rPr lang="en-US" sz="2200" b="1" dirty="0" smtClean="0">
                <a:latin typeface="Helvetica" pitchFamily="34" charset="0"/>
              </a:rPr>
              <a:t>Your region</a:t>
            </a:r>
          </a:p>
          <a:p>
            <a:pPr marL="360000" indent="-360000">
              <a:spcBef>
                <a:spcPts val="1200"/>
              </a:spcBef>
              <a:spcAft>
                <a:spcPts val="1200"/>
              </a:spcAft>
            </a:pPr>
            <a:r>
              <a:rPr lang="en-US" sz="2200" b="1" dirty="0" smtClean="0">
                <a:latin typeface="Helvetica" pitchFamily="34" charset="0"/>
              </a:rPr>
              <a:t>Your country.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5" name="Picture 4" descr="C:\Documents and Settings\maiv\Local Settings\Temporary Internet Files\Content.IE5\ZXOPI4XJ\MP900185222[1].jpg"/>
          <p:cNvPicPr/>
          <p:nvPr/>
        </p:nvPicPr>
        <p:blipFill>
          <a:blip r:embed="rId3" cstate="print"/>
          <a:srcRect/>
          <a:stretch>
            <a:fillRect/>
          </a:stretch>
        </p:blipFill>
        <p:spPr bwMode="auto">
          <a:xfrm>
            <a:off x="7020272" y="3501008"/>
            <a:ext cx="1355890" cy="201963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access sources for information on local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You must have local knowledge so you can:</a:t>
            </a:r>
          </a:p>
          <a:p>
            <a:pPr marL="360000" indent="-360000">
              <a:spcBef>
                <a:spcPts val="1200"/>
              </a:spcBef>
              <a:spcAft>
                <a:spcPts val="1200"/>
              </a:spcAft>
            </a:pPr>
            <a:r>
              <a:rPr lang="en-US" sz="2200" b="1" dirty="0" smtClean="0">
                <a:latin typeface="Helvetica" pitchFamily="34" charset="0"/>
              </a:rPr>
              <a:t>Pass this on to tourists/visitors</a:t>
            </a:r>
          </a:p>
          <a:p>
            <a:pPr marL="360000" indent="-360000">
              <a:spcBef>
                <a:spcPts val="1200"/>
              </a:spcBef>
              <a:spcAft>
                <a:spcPts val="1200"/>
              </a:spcAft>
            </a:pPr>
            <a:r>
              <a:rPr lang="en-US" sz="2200" b="1" dirty="0" smtClean="0">
                <a:latin typeface="Helvetica" pitchFamily="34" charset="0"/>
              </a:rPr>
              <a:t>Inform tourists/visitors about what is </a:t>
            </a:r>
            <a:br>
              <a:rPr lang="en-US" sz="2200" b="1" dirty="0" smtClean="0">
                <a:latin typeface="Helvetica" pitchFamily="34" charset="0"/>
              </a:rPr>
            </a:br>
            <a:r>
              <a:rPr lang="en-US" sz="2200" b="1" dirty="0" smtClean="0">
                <a:latin typeface="Helvetica" pitchFamily="34" charset="0"/>
              </a:rPr>
              <a:t>happening locally</a:t>
            </a:r>
          </a:p>
          <a:p>
            <a:pPr marL="360000" indent="-360000">
              <a:spcBef>
                <a:spcPts val="1200"/>
              </a:spcBef>
              <a:spcAft>
                <a:spcPts val="1200"/>
              </a:spcAft>
            </a:pPr>
            <a:r>
              <a:rPr lang="en-US" sz="2200" b="1" dirty="0" smtClean="0">
                <a:latin typeface="Helvetica" pitchFamily="34" charset="0"/>
              </a:rPr>
              <a:t>Meet/exceed visitor/tourist expectations.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5" name="Picture 4" descr="222.jpg"/>
          <p:cNvPicPr/>
          <p:nvPr/>
        </p:nvPicPr>
        <p:blipFill>
          <a:blip r:embed="rId3" cstate="print"/>
          <a:stretch>
            <a:fillRect/>
          </a:stretch>
        </p:blipFill>
        <p:spPr>
          <a:xfrm>
            <a:off x="7303384" y="1484784"/>
            <a:ext cx="1840616" cy="3578087"/>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access sources for information on local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4824536"/>
          </a:xfrm>
        </p:spPr>
        <p:txBody>
          <a:bodyPr>
            <a:normAutofit/>
          </a:bodyPr>
          <a:lstStyle/>
          <a:p>
            <a:pPr marL="0" indent="0">
              <a:spcBef>
                <a:spcPts val="1200"/>
              </a:spcBef>
              <a:spcAft>
                <a:spcPts val="1200"/>
              </a:spcAft>
              <a:buNone/>
            </a:pPr>
            <a:r>
              <a:rPr lang="en-US" sz="2200" b="1" dirty="0" smtClean="0">
                <a:latin typeface="Helvetica" pitchFamily="34" charset="0"/>
              </a:rPr>
              <a:t>Local information should be captured on:</a:t>
            </a:r>
          </a:p>
          <a:p>
            <a:pPr marL="360000" indent="-360000">
              <a:spcBef>
                <a:spcPts val="1200"/>
              </a:spcBef>
              <a:spcAft>
                <a:spcPts val="1200"/>
              </a:spcAft>
            </a:pPr>
            <a:r>
              <a:rPr lang="en-US" sz="2200" b="1" dirty="0" smtClean="0">
                <a:latin typeface="Helvetica" pitchFamily="34" charset="0"/>
              </a:rPr>
              <a:t>General tourism information</a:t>
            </a:r>
          </a:p>
          <a:p>
            <a:pPr marL="360000" indent="-360000">
              <a:spcBef>
                <a:spcPts val="1200"/>
              </a:spcBef>
              <a:spcAft>
                <a:spcPts val="1200"/>
              </a:spcAft>
            </a:pPr>
            <a:r>
              <a:rPr lang="en-US" sz="2200" b="1" dirty="0" smtClean="0">
                <a:latin typeface="Helvetica" pitchFamily="34" charset="0"/>
              </a:rPr>
              <a:t>Local tourist destinations, facilities and </a:t>
            </a:r>
            <a:br>
              <a:rPr lang="en-US" sz="2200" b="1" dirty="0" smtClean="0">
                <a:latin typeface="Helvetica" pitchFamily="34" charset="0"/>
              </a:rPr>
            </a:br>
            <a:r>
              <a:rPr lang="en-US" sz="2200" b="1" dirty="0" smtClean="0">
                <a:latin typeface="Helvetica" pitchFamily="34" charset="0"/>
              </a:rPr>
              <a:t>infrastructure</a:t>
            </a:r>
          </a:p>
          <a:p>
            <a:pPr marL="360000" indent="-360000">
              <a:spcBef>
                <a:spcPts val="1200"/>
              </a:spcBef>
              <a:spcAft>
                <a:spcPts val="1200"/>
              </a:spcAft>
            </a:pPr>
            <a:r>
              <a:rPr lang="en-US" sz="2200" b="1" dirty="0" smtClean="0">
                <a:latin typeface="Helvetica" pitchFamily="34" charset="0"/>
              </a:rPr>
              <a:t>Tourism products</a:t>
            </a:r>
          </a:p>
          <a:p>
            <a:pPr marL="360000" indent="-360000">
              <a:spcBef>
                <a:spcPts val="1200"/>
              </a:spcBef>
              <a:spcAft>
                <a:spcPts val="1200"/>
              </a:spcAft>
            </a:pPr>
            <a:r>
              <a:rPr lang="en-US" sz="2200" b="1" dirty="0" smtClean="0">
                <a:latin typeface="Helvetica" pitchFamily="34" charset="0"/>
              </a:rPr>
              <a:t>Environmental issues</a:t>
            </a:r>
          </a:p>
          <a:p>
            <a:pPr marL="360000" indent="-360000">
              <a:spcBef>
                <a:spcPts val="1200"/>
              </a:spcBef>
              <a:spcAft>
                <a:spcPts val="1200"/>
              </a:spcAft>
            </a:pPr>
            <a:r>
              <a:rPr lang="en-US" sz="2200" b="1" dirty="0" smtClean="0">
                <a:latin typeface="Helvetica" pitchFamily="34" charset="0"/>
              </a:rPr>
              <a:t>Local attractions</a:t>
            </a:r>
          </a:p>
          <a:p>
            <a:pPr marL="360000" indent="-360000">
              <a:spcBef>
                <a:spcPts val="1200"/>
              </a:spcBef>
              <a:spcAft>
                <a:spcPts val="1200"/>
              </a:spcAft>
            </a:pPr>
            <a:r>
              <a:rPr lang="en-US" sz="2200" b="1" dirty="0" smtClean="0">
                <a:latin typeface="Helvetica" pitchFamily="34" charset="0"/>
              </a:rPr>
              <a:t>Local customs.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6" name="Picture 5" descr="Flora 1.jpg"/>
          <p:cNvPicPr/>
          <p:nvPr/>
        </p:nvPicPr>
        <p:blipFill>
          <a:blip r:embed="rId3" cstate="print"/>
          <a:stretch>
            <a:fillRect/>
          </a:stretch>
        </p:blipFill>
        <p:spPr>
          <a:xfrm>
            <a:off x="7369658" y="3501008"/>
            <a:ext cx="1325686" cy="1256307"/>
          </a:xfrm>
          <a:prstGeom prst="rect">
            <a:avLst/>
          </a:prstGeom>
        </p:spPr>
      </p:pic>
      <p:pic>
        <p:nvPicPr>
          <p:cNvPr id="7" name="Picture 6" descr="Flora 3.jpg"/>
          <p:cNvPicPr/>
          <p:nvPr/>
        </p:nvPicPr>
        <p:blipFill>
          <a:blip r:embed="rId4" cstate="print"/>
          <a:stretch>
            <a:fillRect/>
          </a:stretch>
        </p:blipFill>
        <p:spPr>
          <a:xfrm>
            <a:off x="7801706" y="2276872"/>
            <a:ext cx="1378806" cy="1256306"/>
          </a:xfrm>
          <a:prstGeom prst="rect">
            <a:avLst/>
          </a:prstGeom>
        </p:spPr>
      </p:pic>
      <p:pic>
        <p:nvPicPr>
          <p:cNvPr id="5" name="Picture 4" descr="Flora.jpg"/>
          <p:cNvPicPr/>
          <p:nvPr/>
        </p:nvPicPr>
        <p:blipFill>
          <a:blip r:embed="rId5" cstate="print"/>
          <a:stretch>
            <a:fillRect/>
          </a:stretch>
        </p:blipFill>
        <p:spPr>
          <a:xfrm>
            <a:off x="6721586" y="4725144"/>
            <a:ext cx="2030812" cy="1351721"/>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access sources for information on local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indent="0">
              <a:spcBef>
                <a:spcPts val="1200"/>
              </a:spcBef>
              <a:spcAft>
                <a:spcPts val="1200"/>
              </a:spcAft>
              <a:buNone/>
            </a:pPr>
            <a:r>
              <a:rPr lang="en-US" sz="2200" b="1" dirty="0" smtClean="0">
                <a:latin typeface="Helvetica" pitchFamily="34" charset="0"/>
              </a:rPr>
              <a:t>Useful sources of local information include:</a:t>
            </a:r>
          </a:p>
          <a:p>
            <a:pPr marL="360000" indent="-360000">
              <a:spcBef>
                <a:spcPts val="1200"/>
              </a:spcBef>
              <a:spcAft>
                <a:spcPts val="1200"/>
              </a:spcAft>
            </a:pPr>
            <a:r>
              <a:rPr lang="en-US" sz="2200" b="1" dirty="0" smtClean="0">
                <a:latin typeface="Helvetica" pitchFamily="34" charset="0"/>
              </a:rPr>
              <a:t>Visitor Information Centres – see next slide</a:t>
            </a:r>
          </a:p>
          <a:p>
            <a:pPr marL="360000" indent="-360000">
              <a:spcBef>
                <a:spcPts val="1200"/>
              </a:spcBef>
              <a:spcAft>
                <a:spcPts val="1200"/>
              </a:spcAft>
            </a:pPr>
            <a:r>
              <a:rPr lang="en-US" sz="2200" b="1" dirty="0" smtClean="0">
                <a:latin typeface="Helvetica" pitchFamily="34" charset="0"/>
              </a:rPr>
              <a:t>A range of written materials – see later slides</a:t>
            </a:r>
          </a:p>
          <a:p>
            <a:pPr marL="360000" indent="-360000">
              <a:spcBef>
                <a:spcPts val="1200"/>
              </a:spcBef>
              <a:spcAft>
                <a:spcPts val="1200"/>
              </a:spcAft>
            </a:pPr>
            <a:r>
              <a:rPr lang="en-US" sz="2200" b="1" dirty="0" smtClean="0">
                <a:latin typeface="Helvetica" pitchFamily="34" charset="0"/>
              </a:rPr>
              <a:t>The internet – see later slides</a:t>
            </a:r>
          </a:p>
          <a:p>
            <a:pPr marL="360000" indent="-360000">
              <a:spcBef>
                <a:spcPts val="1200"/>
              </a:spcBef>
              <a:spcAft>
                <a:spcPts val="1200"/>
              </a:spcAft>
            </a:pPr>
            <a:r>
              <a:rPr lang="en-US" sz="2200" b="1" dirty="0" smtClean="0">
                <a:latin typeface="Helvetica" pitchFamily="34" charset="0"/>
              </a:rPr>
              <a:t>Local associations – see later slides</a:t>
            </a:r>
          </a:p>
          <a:p>
            <a:pPr marL="360000" indent="-360000">
              <a:spcBef>
                <a:spcPts val="1200"/>
              </a:spcBef>
              <a:spcAft>
                <a:spcPts val="1200"/>
              </a:spcAft>
            </a:pPr>
            <a:r>
              <a:rPr lang="en-US" sz="2200" b="1" dirty="0" smtClean="0">
                <a:latin typeface="Helvetica" pitchFamily="34" charset="0"/>
              </a:rPr>
              <a:t>Networks of personal contacts – </a:t>
            </a:r>
            <a:br>
              <a:rPr lang="en-US" sz="2200" b="1" dirty="0" smtClean="0">
                <a:latin typeface="Helvetica" pitchFamily="34" charset="0"/>
              </a:rPr>
            </a:br>
            <a:r>
              <a:rPr lang="en-US" sz="2200" b="1" dirty="0" smtClean="0">
                <a:latin typeface="Helvetica" pitchFamily="34" charset="0"/>
              </a:rPr>
              <a:t>see later slides.</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5" name="Picture 4" descr="1111.jpg"/>
          <p:cNvPicPr/>
          <p:nvPr/>
        </p:nvPicPr>
        <p:blipFill>
          <a:blip r:embed="rId3" cstate="print"/>
          <a:stretch>
            <a:fillRect/>
          </a:stretch>
        </p:blipFill>
        <p:spPr>
          <a:xfrm>
            <a:off x="6300192" y="4221088"/>
            <a:ext cx="2270926" cy="1653872"/>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access sources for information on local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04856" cy="4896544"/>
          </a:xfrm>
        </p:spPr>
        <p:txBody>
          <a:bodyPr>
            <a:normAutofit/>
          </a:bodyPr>
          <a:lstStyle/>
          <a:p>
            <a:pPr marL="0" indent="0">
              <a:spcBef>
                <a:spcPts val="1200"/>
              </a:spcBef>
              <a:spcAft>
                <a:spcPts val="1200"/>
              </a:spcAft>
              <a:buNone/>
            </a:pPr>
            <a:r>
              <a:rPr lang="en-US" sz="2200" b="1" dirty="0" smtClean="0">
                <a:latin typeface="Helvetica" pitchFamily="34" charset="0"/>
              </a:rPr>
              <a:t>Visitor Information Centres:</a:t>
            </a:r>
          </a:p>
          <a:p>
            <a:pPr marL="360000" indent="-360000">
              <a:spcBef>
                <a:spcPts val="1200"/>
              </a:spcBef>
              <a:spcAft>
                <a:spcPts val="1200"/>
              </a:spcAft>
            </a:pPr>
            <a:r>
              <a:rPr lang="en-US" sz="2200" b="1" dirty="0" smtClean="0">
                <a:latin typeface="Helvetica" pitchFamily="34" charset="0"/>
              </a:rPr>
              <a:t>An excellent primary source of information</a:t>
            </a:r>
          </a:p>
          <a:p>
            <a:pPr marL="360000" indent="-360000">
              <a:spcBef>
                <a:spcPts val="1200"/>
              </a:spcBef>
              <a:spcAft>
                <a:spcPts val="1200"/>
              </a:spcAft>
            </a:pPr>
            <a:r>
              <a:rPr lang="en-US" sz="2200" b="1" dirty="0" smtClean="0">
                <a:latin typeface="Helvetica" pitchFamily="34" charset="0"/>
              </a:rPr>
              <a:t>Materials are already assembled</a:t>
            </a:r>
          </a:p>
          <a:p>
            <a:pPr marL="360000" indent="-360000">
              <a:spcBef>
                <a:spcPts val="1200"/>
              </a:spcBef>
              <a:spcAft>
                <a:spcPts val="1200"/>
              </a:spcAft>
            </a:pPr>
            <a:r>
              <a:rPr lang="en-US" sz="2200" b="1" dirty="0" smtClean="0">
                <a:latin typeface="Helvetica" pitchFamily="34" charset="0"/>
              </a:rPr>
              <a:t>Visit the Centre to see what is available</a:t>
            </a:r>
          </a:p>
          <a:p>
            <a:pPr marL="360000" indent="-360000">
              <a:spcBef>
                <a:spcPts val="1200"/>
              </a:spcBef>
              <a:spcAft>
                <a:spcPts val="1200"/>
              </a:spcAft>
            </a:pPr>
            <a:r>
              <a:rPr lang="en-US" sz="2200" b="1" dirty="0" smtClean="0">
                <a:latin typeface="Helvetica" pitchFamily="34" charset="0"/>
              </a:rPr>
              <a:t>Make yourself know to management/operators </a:t>
            </a:r>
          </a:p>
          <a:p>
            <a:pPr marL="360000" indent="-360000">
              <a:spcBef>
                <a:spcPts val="1200"/>
              </a:spcBef>
              <a:spcAft>
                <a:spcPts val="1200"/>
              </a:spcAft>
            </a:pPr>
            <a:r>
              <a:rPr lang="en-US" sz="2200" b="1" dirty="0" smtClean="0">
                <a:latin typeface="Helvetica" pitchFamily="34" charset="0"/>
              </a:rPr>
              <a:t>Obtain materials (multiple copies) for use/distribution.</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5" name="Picture 4" descr="Tourist Information sign.jpg"/>
          <p:cNvPicPr/>
          <p:nvPr/>
        </p:nvPicPr>
        <p:blipFill>
          <a:blip r:embed="rId3" cstate="print"/>
          <a:stretch>
            <a:fillRect/>
          </a:stretch>
        </p:blipFill>
        <p:spPr>
          <a:xfrm>
            <a:off x="6300192" y="4653136"/>
            <a:ext cx="2302731" cy="1526651"/>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access sources for information on local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Written material may include:</a:t>
            </a:r>
          </a:p>
          <a:p>
            <a:pPr marL="360000" indent="-360000">
              <a:spcBef>
                <a:spcPts val="1200"/>
              </a:spcBef>
              <a:spcAft>
                <a:spcPts val="1200"/>
              </a:spcAft>
            </a:pPr>
            <a:r>
              <a:rPr lang="en-US" sz="2200" b="1" dirty="0" smtClean="0">
                <a:latin typeface="Helvetica" pitchFamily="34" charset="0"/>
              </a:rPr>
              <a:t>Reference books</a:t>
            </a:r>
          </a:p>
          <a:p>
            <a:pPr marL="360000" indent="-360000">
              <a:spcBef>
                <a:spcPts val="1200"/>
              </a:spcBef>
              <a:spcAft>
                <a:spcPts val="1200"/>
              </a:spcAft>
            </a:pPr>
            <a:r>
              <a:rPr lang="en-US" sz="2200" b="1" dirty="0" smtClean="0">
                <a:latin typeface="Helvetica" pitchFamily="34" charset="0"/>
              </a:rPr>
              <a:t>Trade magazines</a:t>
            </a:r>
          </a:p>
          <a:p>
            <a:pPr marL="360000" indent="-360000">
              <a:spcBef>
                <a:spcPts val="1200"/>
              </a:spcBef>
              <a:spcAft>
                <a:spcPts val="1200"/>
              </a:spcAft>
            </a:pPr>
            <a:r>
              <a:rPr lang="en-US" sz="2200" b="1" dirty="0" smtClean="0">
                <a:latin typeface="Helvetica" pitchFamily="34" charset="0"/>
              </a:rPr>
              <a:t>Guidebooks</a:t>
            </a:r>
          </a:p>
          <a:p>
            <a:pPr marL="360000" indent="-360000">
              <a:spcBef>
                <a:spcPts val="1200"/>
              </a:spcBef>
              <a:spcAft>
                <a:spcPts val="1200"/>
              </a:spcAft>
            </a:pPr>
            <a:r>
              <a:rPr lang="en-US" sz="2200" b="1" dirty="0" smtClean="0">
                <a:latin typeface="Helvetica" pitchFamily="34" charset="0"/>
              </a:rPr>
              <a:t>Newspapers</a:t>
            </a:r>
          </a:p>
          <a:p>
            <a:pPr marL="360000" indent="-360000">
              <a:spcBef>
                <a:spcPts val="1200"/>
              </a:spcBef>
              <a:spcAft>
                <a:spcPts val="1200"/>
              </a:spcAft>
            </a:pPr>
            <a:r>
              <a:rPr lang="en-US" sz="2200" b="1" dirty="0" smtClean="0">
                <a:latin typeface="Helvetica" pitchFamily="34" charset="0"/>
              </a:rPr>
              <a:t>Telephone book</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5" name="Picture 4" descr="tour05_16947_65%.jpg"/>
          <p:cNvPicPr/>
          <p:nvPr/>
        </p:nvPicPr>
        <p:blipFill>
          <a:blip r:embed="rId4" cstate="print"/>
          <a:stretch>
            <a:fillRect/>
          </a:stretch>
        </p:blipFill>
        <p:spPr>
          <a:xfrm>
            <a:off x="6012160" y="4149080"/>
            <a:ext cx="2348865" cy="1463040"/>
          </a:xfrm>
          <a:prstGeom prst="rect">
            <a:avLst/>
          </a:prstGeom>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access sources for information on local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Libraries</a:t>
            </a:r>
          </a:p>
          <a:p>
            <a:pPr marL="360000" indent="-360000">
              <a:spcBef>
                <a:spcPts val="1200"/>
              </a:spcBef>
              <a:spcAft>
                <a:spcPts val="1200"/>
              </a:spcAft>
            </a:pPr>
            <a:r>
              <a:rPr lang="en-US" sz="2200" b="1" dirty="0" smtClean="0">
                <a:latin typeface="Helvetica" pitchFamily="34" charset="0"/>
              </a:rPr>
              <a:t>Brochures and flyers</a:t>
            </a:r>
          </a:p>
          <a:p>
            <a:pPr marL="360000" indent="-360000">
              <a:spcBef>
                <a:spcPts val="1200"/>
              </a:spcBef>
              <a:spcAft>
                <a:spcPts val="1200"/>
              </a:spcAft>
            </a:pPr>
            <a:r>
              <a:rPr lang="en-US" sz="2200" b="1" dirty="0" smtClean="0">
                <a:latin typeface="Helvetica" pitchFamily="34" charset="0"/>
              </a:rPr>
              <a:t>General advertisements.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5" name="Picture 4" descr="C:\Documents and Settings\maiv\Local Settings\Temporary Internet Files\Content.IE5\A8BAWIUD\MC900149565[1].wmf"/>
          <p:cNvPicPr/>
          <p:nvPr/>
        </p:nvPicPr>
        <p:blipFill>
          <a:blip r:embed="rId3" cstate="print"/>
          <a:srcRect/>
          <a:stretch>
            <a:fillRect/>
          </a:stretch>
        </p:blipFill>
        <p:spPr bwMode="auto">
          <a:xfrm>
            <a:off x="6588224" y="3861048"/>
            <a:ext cx="1784323" cy="143918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access sources for information on local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04856" cy="4968552"/>
          </a:xfrm>
        </p:spPr>
        <p:txBody>
          <a:bodyPr>
            <a:normAutofit lnSpcReduction="10000"/>
          </a:bodyPr>
          <a:lstStyle/>
          <a:p>
            <a:pPr marL="0" indent="0">
              <a:spcBef>
                <a:spcPts val="1200"/>
              </a:spcBef>
              <a:spcAft>
                <a:spcPts val="1200"/>
              </a:spcAft>
              <a:buNone/>
            </a:pPr>
            <a:r>
              <a:rPr lang="en-US" sz="2200" b="1" dirty="0" smtClean="0">
                <a:latin typeface="Helvetica" pitchFamily="34" charset="0"/>
              </a:rPr>
              <a:t>‘Bookmark’ relevant sites for your area in relation to:</a:t>
            </a:r>
          </a:p>
          <a:p>
            <a:pPr marL="360000" indent="-360000">
              <a:spcBef>
                <a:spcPts val="1200"/>
              </a:spcBef>
              <a:spcAft>
                <a:spcPts val="1200"/>
              </a:spcAft>
            </a:pPr>
            <a:r>
              <a:rPr lang="en-US" sz="2200" b="1" dirty="0" smtClean="0">
                <a:latin typeface="Helvetica" pitchFamily="34" charset="0"/>
              </a:rPr>
              <a:t>Tour and travel operators</a:t>
            </a:r>
          </a:p>
          <a:p>
            <a:pPr marL="360000" indent="-360000">
              <a:spcBef>
                <a:spcPts val="1200"/>
              </a:spcBef>
              <a:spcAft>
                <a:spcPts val="1200"/>
              </a:spcAft>
            </a:pPr>
            <a:r>
              <a:rPr lang="en-US" sz="2200" b="1" dirty="0" smtClean="0">
                <a:latin typeface="Helvetica" pitchFamily="34" charset="0"/>
              </a:rPr>
              <a:t>Shops and shopping precincts</a:t>
            </a:r>
          </a:p>
          <a:p>
            <a:pPr marL="360000" indent="-360000">
              <a:spcBef>
                <a:spcPts val="1200"/>
              </a:spcBef>
              <a:spcAft>
                <a:spcPts val="1200"/>
              </a:spcAft>
            </a:pPr>
            <a:r>
              <a:rPr lang="en-US" sz="2200" b="1" dirty="0" smtClean="0">
                <a:latin typeface="Helvetica" pitchFamily="34" charset="0"/>
              </a:rPr>
              <a:t>Suppliers</a:t>
            </a:r>
          </a:p>
          <a:p>
            <a:pPr marL="360000" indent="-360000">
              <a:spcBef>
                <a:spcPts val="1200"/>
              </a:spcBef>
              <a:spcAft>
                <a:spcPts val="1200"/>
              </a:spcAft>
            </a:pPr>
            <a:r>
              <a:rPr lang="en-US" sz="2200" b="1" dirty="0" smtClean="0">
                <a:latin typeface="Helvetica" pitchFamily="34" charset="0"/>
              </a:rPr>
              <a:t>Industry associations</a:t>
            </a:r>
          </a:p>
          <a:p>
            <a:pPr marL="360000" indent="-360000">
              <a:spcBef>
                <a:spcPts val="1200"/>
              </a:spcBef>
              <a:spcAft>
                <a:spcPts val="1200"/>
              </a:spcAft>
            </a:pPr>
            <a:r>
              <a:rPr lang="en-US" sz="2200" b="1" dirty="0" smtClean="0">
                <a:latin typeface="Helvetica" pitchFamily="34" charset="0"/>
              </a:rPr>
              <a:t>Government bodies</a:t>
            </a:r>
          </a:p>
          <a:p>
            <a:pPr marL="360000" indent="-360000">
              <a:spcBef>
                <a:spcPts val="1200"/>
              </a:spcBef>
              <a:spcAft>
                <a:spcPts val="1200"/>
              </a:spcAft>
            </a:pPr>
            <a:r>
              <a:rPr lang="en-US" sz="2200" b="1" dirty="0" smtClean="0">
                <a:latin typeface="Helvetica" pitchFamily="34" charset="0"/>
              </a:rPr>
              <a:t>Venues</a:t>
            </a:r>
          </a:p>
          <a:p>
            <a:pPr marL="360000" indent="-360000">
              <a:spcBef>
                <a:spcPts val="1200"/>
              </a:spcBef>
              <a:spcAft>
                <a:spcPts val="1200"/>
              </a:spcAft>
            </a:pPr>
            <a:r>
              <a:rPr lang="en-US" sz="2200" b="1" dirty="0" smtClean="0">
                <a:latin typeface="Helvetica" pitchFamily="34" charset="0"/>
              </a:rPr>
              <a:t>Attractions.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5" name="Picture 4" descr="C:\Documents and Settings\maiv\Local Settings\Temporary Internet Files\Content.IE5\XIGBUS4Y\MP900444129[1].jpg"/>
          <p:cNvPicPr/>
          <p:nvPr/>
        </p:nvPicPr>
        <p:blipFill>
          <a:blip r:embed="rId3" cstate="print"/>
          <a:srcRect/>
          <a:stretch>
            <a:fillRect/>
          </a:stretch>
        </p:blipFill>
        <p:spPr bwMode="auto">
          <a:xfrm>
            <a:off x="6228184" y="3933056"/>
            <a:ext cx="2231169" cy="14868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access sources for information on local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When using the ‘Net’ to capture local knowledge, be alert to opportunities to:</a:t>
            </a:r>
          </a:p>
          <a:p>
            <a:pPr marL="360000" indent="-360000">
              <a:spcBef>
                <a:spcPts val="1200"/>
              </a:spcBef>
              <a:spcAft>
                <a:spcPts val="1200"/>
              </a:spcAft>
            </a:pPr>
            <a:r>
              <a:rPr lang="en-US" sz="2200" b="1" dirty="0" smtClean="0">
                <a:latin typeface="Helvetica" pitchFamily="34" charset="0"/>
              </a:rPr>
              <a:t>Register to receive ‘Newsletters’</a:t>
            </a:r>
          </a:p>
          <a:p>
            <a:pPr marL="360000" indent="-360000">
              <a:spcBef>
                <a:spcPts val="1200"/>
              </a:spcBef>
              <a:spcAft>
                <a:spcPts val="1200"/>
              </a:spcAft>
            </a:pPr>
            <a:r>
              <a:rPr lang="en-US" sz="2200" b="1" dirty="0" smtClean="0">
                <a:latin typeface="Helvetica" pitchFamily="34" charset="0"/>
              </a:rPr>
              <a:t>Register to receive ‘alerts’ and ‘updates’</a:t>
            </a:r>
          </a:p>
          <a:p>
            <a:pPr marL="360000" indent="-360000">
              <a:spcBef>
                <a:spcPts val="1200"/>
              </a:spcBef>
              <a:spcAft>
                <a:spcPts val="1200"/>
              </a:spcAft>
            </a:pPr>
            <a:r>
              <a:rPr lang="en-US" sz="2200" b="1" dirty="0" smtClean="0">
                <a:latin typeface="Helvetica" pitchFamily="34" charset="0"/>
              </a:rPr>
              <a:t>Identify useful links to other relevant websites.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5" name="Picture 4" descr="Online-News.jpg"/>
          <p:cNvPicPr/>
          <p:nvPr/>
        </p:nvPicPr>
        <p:blipFill>
          <a:blip r:embed="rId3" cstate="print"/>
          <a:stretch>
            <a:fillRect/>
          </a:stretch>
        </p:blipFill>
        <p:spPr>
          <a:xfrm>
            <a:off x="6444208" y="4221088"/>
            <a:ext cx="2221644" cy="1653871"/>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access sources for information on local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Local associations are useful as they:</a:t>
            </a:r>
          </a:p>
          <a:p>
            <a:pPr marL="360000" indent="-360000">
              <a:spcBef>
                <a:spcPts val="1200"/>
              </a:spcBef>
              <a:spcAft>
                <a:spcPts val="1200"/>
              </a:spcAft>
            </a:pPr>
            <a:r>
              <a:rPr lang="en-US" sz="2200" b="1" dirty="0" smtClean="0">
                <a:latin typeface="Helvetica" pitchFamily="34" charset="0"/>
              </a:rPr>
              <a:t>Provide local contacts</a:t>
            </a:r>
          </a:p>
          <a:p>
            <a:pPr marL="360000" indent="-360000">
              <a:spcBef>
                <a:spcPts val="1200"/>
              </a:spcBef>
              <a:spcAft>
                <a:spcPts val="1200"/>
              </a:spcAft>
            </a:pPr>
            <a:r>
              <a:rPr lang="en-US" sz="2200" b="1" dirty="0" smtClean="0">
                <a:latin typeface="Helvetica" pitchFamily="34" charset="0"/>
              </a:rPr>
              <a:t>Supply information about local businesses</a:t>
            </a:r>
          </a:p>
          <a:p>
            <a:pPr marL="360000" indent="-360000">
              <a:spcBef>
                <a:spcPts val="1200"/>
              </a:spcBef>
              <a:spcAft>
                <a:spcPts val="1200"/>
              </a:spcAft>
            </a:pPr>
            <a:r>
              <a:rPr lang="en-US" sz="2200" b="1" dirty="0" smtClean="0">
                <a:latin typeface="Helvetica" pitchFamily="34" charset="0"/>
              </a:rPr>
              <a:t>Bring local businesses together.</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5" name="Picture 4" descr="Picture1.wmf"/>
          <p:cNvPicPr/>
          <p:nvPr/>
        </p:nvPicPr>
        <p:blipFill>
          <a:blip r:embed="rId3" cstate="print"/>
          <a:stretch>
            <a:fillRect/>
          </a:stretch>
        </p:blipFill>
        <p:spPr>
          <a:xfrm>
            <a:off x="6804248" y="4149080"/>
            <a:ext cx="1754091" cy="176519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access sources for information on local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You should participate in local associations to:</a:t>
            </a:r>
          </a:p>
          <a:p>
            <a:pPr marL="360000" indent="-360000">
              <a:spcBef>
                <a:spcPts val="1200"/>
              </a:spcBef>
              <a:spcAft>
                <a:spcPts val="1200"/>
              </a:spcAft>
            </a:pPr>
            <a:r>
              <a:rPr lang="en-US" sz="2200" b="1" dirty="0" smtClean="0">
                <a:latin typeface="Helvetica" pitchFamily="34" charset="0"/>
              </a:rPr>
              <a:t>Meet like-minded people</a:t>
            </a:r>
          </a:p>
          <a:p>
            <a:pPr marL="360000" indent="-360000">
              <a:spcBef>
                <a:spcPts val="1200"/>
              </a:spcBef>
              <a:spcAft>
                <a:spcPts val="1200"/>
              </a:spcAft>
            </a:pPr>
            <a:r>
              <a:rPr lang="en-US" sz="2200" b="1" dirty="0" smtClean="0">
                <a:latin typeface="Helvetica" pitchFamily="34" charset="0"/>
              </a:rPr>
              <a:t>Participate in discussions and planning</a:t>
            </a:r>
          </a:p>
          <a:p>
            <a:pPr marL="360000" indent="-360000">
              <a:spcBef>
                <a:spcPts val="1200"/>
              </a:spcBef>
              <a:spcAft>
                <a:spcPts val="1200"/>
              </a:spcAft>
            </a:pPr>
            <a:r>
              <a:rPr lang="en-US" sz="2200" b="1" dirty="0" smtClean="0">
                <a:latin typeface="Helvetica" pitchFamily="34" charset="0"/>
              </a:rPr>
              <a:t>Contribute ideas.</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5" name="Picture 4" descr="wai_a_kym_254.jpg"/>
          <p:cNvPicPr/>
          <p:nvPr/>
        </p:nvPicPr>
        <p:blipFill>
          <a:blip r:embed="rId3" cstate="print"/>
          <a:stretch>
            <a:fillRect/>
          </a:stretch>
        </p:blipFill>
        <p:spPr>
          <a:xfrm>
            <a:off x="6156176" y="4005064"/>
            <a:ext cx="2237547" cy="1494845"/>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access sources for information on local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A network of professional industry contacts is critical. You should develop a network with:</a:t>
            </a:r>
          </a:p>
          <a:p>
            <a:pPr marL="360000" indent="-360000">
              <a:spcBef>
                <a:spcPts val="1200"/>
              </a:spcBef>
              <a:spcAft>
                <a:spcPts val="1200"/>
              </a:spcAft>
            </a:pPr>
            <a:r>
              <a:rPr lang="en-US" sz="2200" b="1" dirty="0" smtClean="0">
                <a:latin typeface="Helvetica" pitchFamily="34" charset="0"/>
              </a:rPr>
              <a:t>A local tour business or more</a:t>
            </a:r>
          </a:p>
          <a:p>
            <a:pPr marL="360000" indent="-360000">
              <a:spcBef>
                <a:spcPts val="1200"/>
              </a:spcBef>
              <a:spcAft>
                <a:spcPts val="1200"/>
              </a:spcAft>
            </a:pPr>
            <a:r>
              <a:rPr lang="en-US" sz="2200" b="1" dirty="0" smtClean="0">
                <a:latin typeface="Helvetica" pitchFamily="34" charset="0"/>
              </a:rPr>
              <a:t>One or more opposition businesses or competitors</a:t>
            </a:r>
          </a:p>
          <a:p>
            <a:pPr marL="360000" indent="-360000">
              <a:spcBef>
                <a:spcPts val="1200"/>
              </a:spcBef>
              <a:spcAft>
                <a:spcPts val="1200"/>
              </a:spcAft>
            </a:pPr>
            <a:r>
              <a:rPr lang="en-US" sz="2200" b="1" dirty="0" smtClean="0">
                <a:latin typeface="Helvetica" pitchFamily="34" charset="0"/>
              </a:rPr>
              <a:t>Manager and staff at the Visitor Information </a:t>
            </a:r>
            <a:br>
              <a:rPr lang="en-US" sz="2200" b="1" dirty="0" smtClean="0">
                <a:latin typeface="Helvetica" pitchFamily="34" charset="0"/>
              </a:rPr>
            </a:br>
            <a:r>
              <a:rPr lang="en-US" sz="2200" b="1" dirty="0" smtClean="0">
                <a:latin typeface="Helvetica" pitchFamily="34" charset="0"/>
              </a:rPr>
              <a:t>Centre</a:t>
            </a:r>
          </a:p>
          <a:p>
            <a:pPr marL="360000" indent="-360000">
              <a:spcBef>
                <a:spcPts val="1200"/>
              </a:spcBef>
              <a:spcAft>
                <a:spcPts val="1200"/>
              </a:spcAft>
            </a:pPr>
            <a:r>
              <a:rPr lang="en-US" sz="2200" b="1" dirty="0" smtClean="0">
                <a:latin typeface="Helvetica" pitchFamily="34" charset="0"/>
              </a:rPr>
              <a:t>The local attractions.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5" name="Picture 4" descr="Flora 3.jpg"/>
          <p:cNvPicPr/>
          <p:nvPr/>
        </p:nvPicPr>
        <p:blipFill>
          <a:blip r:embed="rId3" cstate="print"/>
          <a:stretch>
            <a:fillRect/>
          </a:stretch>
        </p:blipFill>
        <p:spPr>
          <a:xfrm>
            <a:off x="7709535" y="3717032"/>
            <a:ext cx="1434465" cy="1327868"/>
          </a:xfrm>
          <a:prstGeom prst="rect">
            <a:avLst/>
          </a:prstGeom>
        </p:spPr>
      </p:pic>
      <p:pic>
        <p:nvPicPr>
          <p:cNvPr id="6" name="Picture 5" descr="wed_5756.jpg"/>
          <p:cNvPicPr/>
          <p:nvPr/>
        </p:nvPicPr>
        <p:blipFill>
          <a:blip r:embed="rId4" cstate="print"/>
          <a:stretch>
            <a:fillRect/>
          </a:stretch>
        </p:blipFill>
        <p:spPr>
          <a:xfrm>
            <a:off x="7124271" y="5013176"/>
            <a:ext cx="2056241" cy="1375576"/>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access sources for information on local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Once a network contact has been established, it needs to be maintained:</a:t>
            </a:r>
          </a:p>
          <a:p>
            <a:pPr marL="360000" indent="-360000">
              <a:spcBef>
                <a:spcPts val="1200"/>
              </a:spcBef>
              <a:spcAft>
                <a:spcPts val="1200"/>
              </a:spcAft>
            </a:pPr>
            <a:r>
              <a:rPr lang="en-US" sz="2200" b="1" dirty="0" smtClean="0">
                <a:latin typeface="Helvetica" pitchFamily="34" charset="0"/>
              </a:rPr>
              <a:t>Inform them whenever you have something of interest to them to pass on</a:t>
            </a:r>
          </a:p>
          <a:p>
            <a:pPr marL="360000" indent="-360000">
              <a:spcBef>
                <a:spcPts val="1200"/>
              </a:spcBef>
              <a:spcAft>
                <a:spcPts val="1200"/>
              </a:spcAft>
            </a:pPr>
            <a:r>
              <a:rPr lang="en-US" sz="2200" b="1" dirty="0" smtClean="0">
                <a:latin typeface="Helvetica" pitchFamily="34" charset="0"/>
              </a:rPr>
              <a:t>Make regular contact with them even when </a:t>
            </a:r>
            <a:br>
              <a:rPr lang="en-US" sz="2200" b="1" dirty="0" smtClean="0">
                <a:latin typeface="Helvetica" pitchFamily="34" charset="0"/>
              </a:rPr>
            </a:br>
            <a:r>
              <a:rPr lang="en-US" sz="2200" b="1" dirty="0" smtClean="0">
                <a:latin typeface="Helvetica" pitchFamily="34" charset="0"/>
              </a:rPr>
              <a:t>you have nothing specific to say</a:t>
            </a:r>
          </a:p>
          <a:p>
            <a:pPr marL="360000" indent="-360000">
              <a:spcBef>
                <a:spcPts val="1200"/>
              </a:spcBef>
              <a:spcAft>
                <a:spcPts val="1200"/>
              </a:spcAft>
            </a:pPr>
            <a:r>
              <a:rPr lang="en-US" sz="2200" b="1" dirty="0" smtClean="0">
                <a:latin typeface="Helvetica" pitchFamily="34" charset="0"/>
              </a:rPr>
              <a:t>Meet face to face whenever possible</a:t>
            </a:r>
          </a:p>
          <a:p>
            <a:pPr marL="360000" indent="-360000">
              <a:spcBef>
                <a:spcPts val="1200"/>
              </a:spcBef>
              <a:spcAft>
                <a:spcPts val="1200"/>
              </a:spcAft>
            </a:pPr>
            <a:r>
              <a:rPr lang="en-US" sz="2200" b="1" dirty="0" smtClean="0">
                <a:latin typeface="Helvetica" pitchFamily="34" charset="0"/>
              </a:rPr>
              <a:t>Thank them for anything they give you.</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5" name="Picture 4" descr="11111.jpg"/>
          <p:cNvPicPr>
            <a:picLocks noChangeAspect="1"/>
          </p:cNvPicPr>
          <p:nvPr/>
        </p:nvPicPr>
        <p:blipFill>
          <a:blip r:embed="rId3" cstate="print"/>
          <a:stretch>
            <a:fillRect/>
          </a:stretch>
        </p:blipFill>
        <p:spPr>
          <a:xfrm>
            <a:off x="7020272" y="3068960"/>
            <a:ext cx="1838925" cy="2753223"/>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Identify and obtain information to assist with local and national queries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4968552"/>
          </a:xfrm>
        </p:spPr>
        <p:txBody>
          <a:bodyPr>
            <a:normAutofit/>
          </a:bodyPr>
          <a:lstStyle/>
          <a:p>
            <a:pPr marL="0" indent="0">
              <a:spcBef>
                <a:spcPts val="1200"/>
              </a:spcBef>
              <a:spcAft>
                <a:spcPts val="1200"/>
              </a:spcAft>
              <a:buNone/>
            </a:pPr>
            <a:r>
              <a:rPr lang="en-US" sz="2200" b="1" dirty="0" smtClean="0">
                <a:latin typeface="Helvetica" pitchFamily="34" charset="0"/>
              </a:rPr>
              <a:t>Obtaining local information means applying yourself to the sources already identified, for example:</a:t>
            </a:r>
          </a:p>
          <a:p>
            <a:pPr marL="360000" indent="-360000">
              <a:spcBef>
                <a:spcPts val="1200"/>
              </a:spcBef>
              <a:spcAft>
                <a:spcPts val="1200"/>
              </a:spcAft>
            </a:pPr>
            <a:r>
              <a:rPr lang="en-US" sz="2200" b="1" dirty="0" smtClean="0">
                <a:latin typeface="Helvetica" pitchFamily="34" charset="0"/>
              </a:rPr>
              <a:t>Subscribing to and reading material</a:t>
            </a:r>
          </a:p>
          <a:p>
            <a:pPr marL="360000" indent="-360000">
              <a:spcBef>
                <a:spcPts val="1200"/>
              </a:spcBef>
              <a:spcAft>
                <a:spcPts val="1200"/>
              </a:spcAft>
            </a:pPr>
            <a:r>
              <a:rPr lang="en-US" sz="2200" b="1" dirty="0" smtClean="0">
                <a:latin typeface="Helvetica" pitchFamily="34" charset="0"/>
              </a:rPr>
              <a:t>Reading local newspapers and reading books</a:t>
            </a:r>
          </a:p>
          <a:p>
            <a:pPr marL="360000" indent="-360000">
              <a:spcBef>
                <a:spcPts val="1200"/>
              </a:spcBef>
              <a:spcAft>
                <a:spcPts val="1200"/>
              </a:spcAft>
            </a:pPr>
            <a:r>
              <a:rPr lang="en-US" sz="2200" b="1" dirty="0" smtClean="0">
                <a:latin typeface="Helvetica" pitchFamily="34" charset="0"/>
              </a:rPr>
              <a:t>Calling in to the Visitor Information Centre</a:t>
            </a:r>
          </a:p>
          <a:p>
            <a:pPr marL="360000" indent="-360000">
              <a:spcBef>
                <a:spcPts val="1200"/>
              </a:spcBef>
              <a:spcAft>
                <a:spcPts val="1200"/>
              </a:spcAft>
            </a:pPr>
            <a:r>
              <a:rPr lang="en-US" sz="2200" b="1" dirty="0" smtClean="0">
                <a:latin typeface="Helvetica" pitchFamily="34" charset="0"/>
              </a:rPr>
              <a:t>Surfing the internet</a:t>
            </a:r>
          </a:p>
          <a:p>
            <a:pPr marL="360000" indent="-360000">
              <a:spcBef>
                <a:spcPts val="1200"/>
              </a:spcBef>
              <a:spcAft>
                <a:spcPts val="1200"/>
              </a:spcAft>
            </a:pPr>
            <a:r>
              <a:rPr lang="en-US" sz="2200" b="1" dirty="0" smtClean="0">
                <a:latin typeface="Helvetica" pitchFamily="34" charset="0"/>
              </a:rPr>
              <a:t>Joining local groups and associations</a:t>
            </a:r>
          </a:p>
          <a:p>
            <a:pPr marL="360000" indent="-360000">
              <a:spcBef>
                <a:spcPts val="1200"/>
              </a:spcBef>
              <a:spcAft>
                <a:spcPts val="1200"/>
              </a:spcAft>
            </a:pPr>
            <a:r>
              <a:rPr lang="en-US" sz="2200" b="1" dirty="0" smtClean="0">
                <a:latin typeface="Helvetica" pitchFamily="34" charset="0"/>
              </a:rPr>
              <a:t>Being a tourist in your own area.</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5" name="Picture 4" descr="man on the phone.jpg"/>
          <p:cNvPicPr/>
          <p:nvPr/>
        </p:nvPicPr>
        <p:blipFill>
          <a:blip r:embed="rId3" cstate="print"/>
          <a:stretch>
            <a:fillRect/>
          </a:stretch>
        </p:blipFill>
        <p:spPr>
          <a:xfrm>
            <a:off x="7164288" y="3645024"/>
            <a:ext cx="1443990" cy="2170706"/>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obtain information to assist with local/national queries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Obtain information on general tourism industry topics:</a:t>
            </a:r>
          </a:p>
          <a:p>
            <a:pPr marL="360000" indent="-360000">
              <a:spcBef>
                <a:spcPts val="1200"/>
              </a:spcBef>
              <a:spcAft>
                <a:spcPts val="1200"/>
              </a:spcAft>
            </a:pPr>
            <a:r>
              <a:rPr lang="en-US" sz="2200" b="1" dirty="0" smtClean="0">
                <a:latin typeface="Helvetica" pitchFamily="34" charset="0"/>
              </a:rPr>
              <a:t>Numbers of in-bound tourists</a:t>
            </a:r>
          </a:p>
          <a:p>
            <a:pPr marL="360000" indent="-360000">
              <a:spcBef>
                <a:spcPts val="1200"/>
              </a:spcBef>
              <a:spcAft>
                <a:spcPts val="1200"/>
              </a:spcAft>
            </a:pPr>
            <a:r>
              <a:rPr lang="en-US" sz="2200" b="1" dirty="0" smtClean="0">
                <a:latin typeface="Helvetica" pitchFamily="34" charset="0"/>
              </a:rPr>
              <a:t>Reasons for travel to the country/area</a:t>
            </a:r>
          </a:p>
          <a:p>
            <a:pPr marL="360000" indent="-360000">
              <a:spcBef>
                <a:spcPts val="1200"/>
              </a:spcBef>
              <a:spcAft>
                <a:spcPts val="1200"/>
              </a:spcAft>
            </a:pPr>
            <a:r>
              <a:rPr lang="en-US" sz="2200" b="1" dirty="0" smtClean="0">
                <a:latin typeface="Helvetica" pitchFamily="34" charset="0"/>
              </a:rPr>
              <a:t>Amount they spend</a:t>
            </a:r>
          </a:p>
          <a:p>
            <a:pPr marL="360000" indent="-360000">
              <a:spcBef>
                <a:spcPts val="1200"/>
              </a:spcBef>
              <a:spcAft>
                <a:spcPts val="1200"/>
              </a:spcAft>
            </a:pPr>
            <a:r>
              <a:rPr lang="en-US" sz="2200" b="1" dirty="0" smtClean="0">
                <a:latin typeface="Helvetica" pitchFamily="34" charset="0"/>
              </a:rPr>
              <a:t>Countries of origin</a:t>
            </a:r>
          </a:p>
          <a:p>
            <a:pPr marL="360000" indent="-360000">
              <a:spcBef>
                <a:spcPts val="1200"/>
              </a:spcBef>
              <a:spcAft>
                <a:spcPts val="1200"/>
              </a:spcAft>
            </a:pPr>
            <a:r>
              <a:rPr lang="en-US" sz="2200" b="1" dirty="0" smtClean="0">
                <a:latin typeface="Helvetica" pitchFamily="34" charset="0"/>
              </a:rPr>
              <a:t>Popular travel times</a:t>
            </a:r>
          </a:p>
          <a:p>
            <a:pPr marL="360000" indent="-360000">
              <a:spcBef>
                <a:spcPts val="1200"/>
              </a:spcBef>
              <a:spcAft>
                <a:spcPts val="1200"/>
              </a:spcAft>
            </a:pPr>
            <a:r>
              <a:rPr lang="en-US" sz="2200" b="1" dirty="0" smtClean="0">
                <a:latin typeface="Helvetica" pitchFamily="34" charset="0"/>
              </a:rPr>
              <a:t>Methods of travel.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5" name="Picture 4" descr="00443202.jpg"/>
          <p:cNvPicPr>
            <a:picLocks noChangeAspect="1"/>
          </p:cNvPicPr>
          <p:nvPr/>
        </p:nvPicPr>
        <p:blipFill>
          <a:blip r:embed="rId3" cstate="print"/>
          <a:stretch>
            <a:fillRect/>
          </a:stretch>
        </p:blipFill>
        <p:spPr>
          <a:xfrm>
            <a:off x="5580112" y="4149080"/>
            <a:ext cx="2961330" cy="1970732"/>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obtain information to assist with local/national queries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In relation to local destinations, facilities and infrastructure obtain information including:</a:t>
            </a:r>
          </a:p>
          <a:p>
            <a:pPr marL="360000" indent="-360000">
              <a:spcBef>
                <a:spcPts val="1200"/>
              </a:spcBef>
              <a:spcAft>
                <a:spcPts val="1200"/>
              </a:spcAft>
            </a:pPr>
            <a:r>
              <a:rPr lang="en-US" sz="2200" b="1" dirty="0" smtClean="0">
                <a:latin typeface="Helvetica" pitchFamily="34" charset="0"/>
              </a:rPr>
              <a:t>Identification of local tourist destinations – </a:t>
            </a:r>
            <a:br>
              <a:rPr lang="en-US" sz="2200" b="1" dirty="0" smtClean="0">
                <a:latin typeface="Helvetica" pitchFamily="34" charset="0"/>
              </a:rPr>
            </a:br>
            <a:r>
              <a:rPr lang="en-US" sz="2200" b="1" dirty="0" smtClean="0">
                <a:latin typeface="Helvetica" pitchFamily="34" charset="0"/>
              </a:rPr>
              <a:t>man-made and natural</a:t>
            </a:r>
          </a:p>
          <a:p>
            <a:pPr marL="360000" indent="-360000">
              <a:spcBef>
                <a:spcPts val="1200"/>
              </a:spcBef>
              <a:spcAft>
                <a:spcPts val="1200"/>
              </a:spcAft>
            </a:pPr>
            <a:r>
              <a:rPr lang="en-US" sz="2200" b="1" dirty="0" smtClean="0">
                <a:latin typeface="Helvetica" pitchFamily="34" charset="0"/>
              </a:rPr>
              <a:t>Identification of local facilities for tourists/visitors</a:t>
            </a:r>
          </a:p>
          <a:p>
            <a:pPr marL="360000" indent="-360000">
              <a:spcBef>
                <a:spcPts val="1200"/>
              </a:spcBef>
              <a:spcAft>
                <a:spcPts val="1200"/>
              </a:spcAft>
            </a:pPr>
            <a:r>
              <a:rPr lang="en-US" sz="2200" b="1" dirty="0" smtClean="0">
                <a:latin typeface="Helvetica" pitchFamily="34" charset="0"/>
              </a:rPr>
              <a:t>Identification of local infrastructure visitors may want to use.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5" name="Picture 4" descr="8.jpg"/>
          <p:cNvPicPr/>
          <p:nvPr/>
        </p:nvPicPr>
        <p:blipFill>
          <a:blip r:embed="rId3" cstate="print"/>
          <a:stretch>
            <a:fillRect/>
          </a:stretch>
        </p:blipFill>
        <p:spPr>
          <a:xfrm>
            <a:off x="5868144" y="4581128"/>
            <a:ext cx="2571806" cy="1637968"/>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Identify and obtain information to assist with local and national queries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Information on local travel products should cover:</a:t>
            </a:r>
          </a:p>
          <a:p>
            <a:pPr marL="360000" indent="-360000">
              <a:spcBef>
                <a:spcPts val="1200"/>
              </a:spcBef>
              <a:spcAft>
                <a:spcPts val="1200"/>
              </a:spcAft>
            </a:pPr>
            <a:r>
              <a:rPr lang="en-US" sz="2200" b="1" dirty="0" smtClean="0">
                <a:latin typeface="Helvetica" pitchFamily="34" charset="0"/>
              </a:rPr>
              <a:t>Places to stay, eat and drink</a:t>
            </a:r>
          </a:p>
          <a:p>
            <a:pPr marL="360000" indent="-360000">
              <a:spcBef>
                <a:spcPts val="1200"/>
              </a:spcBef>
              <a:spcAft>
                <a:spcPts val="1200"/>
              </a:spcAft>
            </a:pPr>
            <a:r>
              <a:rPr lang="en-US" sz="2200" b="1" dirty="0" smtClean="0">
                <a:latin typeface="Helvetica" pitchFamily="34" charset="0"/>
              </a:rPr>
              <a:t>Services in the local area</a:t>
            </a:r>
          </a:p>
          <a:p>
            <a:pPr marL="360000" indent="-360000">
              <a:spcBef>
                <a:spcPts val="1200"/>
              </a:spcBef>
              <a:spcAft>
                <a:spcPts val="1200"/>
              </a:spcAft>
            </a:pPr>
            <a:r>
              <a:rPr lang="en-US" sz="2200" b="1" dirty="0" smtClean="0">
                <a:latin typeface="Helvetica" pitchFamily="34" charset="0"/>
              </a:rPr>
              <a:t>Facilities</a:t>
            </a:r>
          </a:p>
          <a:p>
            <a:pPr marL="360000" indent="-360000">
              <a:spcBef>
                <a:spcPts val="1200"/>
              </a:spcBef>
              <a:spcAft>
                <a:spcPts val="1200"/>
              </a:spcAft>
            </a:pPr>
            <a:r>
              <a:rPr lang="en-US" sz="2200" b="1" dirty="0" smtClean="0">
                <a:latin typeface="Helvetica" pitchFamily="34" charset="0"/>
              </a:rPr>
              <a:t>Rates.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5" name="Picture 4" descr="MP900399909[1].JPG"/>
          <p:cNvPicPr/>
          <p:nvPr/>
        </p:nvPicPr>
        <p:blipFill>
          <a:blip r:embed="rId3" cstate="print"/>
          <a:stretch>
            <a:fillRect/>
          </a:stretch>
        </p:blipFill>
        <p:spPr>
          <a:xfrm>
            <a:off x="6228184" y="4149080"/>
            <a:ext cx="2126229" cy="1478943"/>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Identify and obtain information to assist with local and national queries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4824536"/>
          </a:xfrm>
        </p:spPr>
        <p:txBody>
          <a:bodyPr>
            <a:normAutofit fontScale="92500" lnSpcReduction="20000"/>
          </a:bodyPr>
          <a:lstStyle/>
          <a:p>
            <a:pPr marL="0" indent="0">
              <a:spcBef>
                <a:spcPts val="1200"/>
              </a:spcBef>
              <a:spcAft>
                <a:spcPts val="1200"/>
              </a:spcAft>
              <a:buNone/>
            </a:pPr>
            <a:r>
              <a:rPr lang="en-US" sz="2400" b="1" dirty="0" smtClean="0">
                <a:latin typeface="Helvetica" pitchFamily="34" charset="0"/>
              </a:rPr>
              <a:t>Knowledge of local ‘environmental’ issues should address:</a:t>
            </a:r>
          </a:p>
          <a:p>
            <a:pPr marL="360000" indent="-360000">
              <a:spcBef>
                <a:spcPts val="1200"/>
              </a:spcBef>
              <a:spcAft>
                <a:spcPts val="1200"/>
              </a:spcAft>
            </a:pPr>
            <a:r>
              <a:rPr lang="en-US" sz="2400" b="1" dirty="0" smtClean="0">
                <a:latin typeface="Helvetica" pitchFamily="34" charset="0"/>
              </a:rPr>
              <a:t>Weather</a:t>
            </a:r>
          </a:p>
          <a:p>
            <a:pPr marL="360000" indent="-360000">
              <a:spcBef>
                <a:spcPts val="1200"/>
              </a:spcBef>
              <a:spcAft>
                <a:spcPts val="1200"/>
              </a:spcAft>
            </a:pPr>
            <a:r>
              <a:rPr lang="en-US" sz="2400" b="1" dirty="0" smtClean="0">
                <a:latin typeface="Helvetica" pitchFamily="34" charset="0"/>
              </a:rPr>
              <a:t>Tides</a:t>
            </a:r>
          </a:p>
          <a:p>
            <a:pPr marL="360000" indent="-360000">
              <a:spcBef>
                <a:spcPts val="1200"/>
              </a:spcBef>
              <a:spcAft>
                <a:spcPts val="1200"/>
              </a:spcAft>
            </a:pPr>
            <a:r>
              <a:rPr lang="en-US" sz="2400" b="1" dirty="0" smtClean="0">
                <a:latin typeface="Helvetica" pitchFamily="34" charset="0"/>
              </a:rPr>
              <a:t>Sunrise and sunset</a:t>
            </a:r>
          </a:p>
          <a:p>
            <a:pPr marL="360000" indent="-360000">
              <a:spcBef>
                <a:spcPts val="1200"/>
              </a:spcBef>
              <a:spcAft>
                <a:spcPts val="1200"/>
              </a:spcAft>
            </a:pPr>
            <a:r>
              <a:rPr lang="en-US" sz="2400" b="1" dirty="0" smtClean="0">
                <a:latin typeface="Helvetica" pitchFamily="34" charset="0"/>
              </a:rPr>
              <a:t>Regional conditions</a:t>
            </a:r>
          </a:p>
          <a:p>
            <a:pPr marL="360000" indent="-360000">
              <a:spcBef>
                <a:spcPts val="1200"/>
              </a:spcBef>
              <a:spcAft>
                <a:spcPts val="1200"/>
              </a:spcAft>
            </a:pPr>
            <a:r>
              <a:rPr lang="en-US" sz="2400" b="1" dirty="0" smtClean="0">
                <a:latin typeface="Helvetica" pitchFamily="34" charset="0"/>
              </a:rPr>
              <a:t>‘At risk’ flora and fauna (if applicable)</a:t>
            </a:r>
          </a:p>
          <a:p>
            <a:pPr marL="360000" indent="-360000">
              <a:spcBef>
                <a:spcPts val="1200"/>
              </a:spcBef>
              <a:spcAft>
                <a:spcPts val="1200"/>
              </a:spcAft>
            </a:pPr>
            <a:r>
              <a:rPr lang="en-US" sz="2400" b="1" dirty="0" smtClean="0">
                <a:latin typeface="Helvetica" pitchFamily="34" charset="0"/>
              </a:rPr>
              <a:t>Sustainable/environmentally-friendly local features</a:t>
            </a:r>
          </a:p>
          <a:p>
            <a:pPr marL="360000" indent="-360000">
              <a:spcBef>
                <a:spcPts val="1200"/>
              </a:spcBef>
              <a:spcAft>
                <a:spcPts val="1200"/>
              </a:spcAft>
            </a:pPr>
            <a:r>
              <a:rPr lang="en-US" sz="2400" b="1" dirty="0" smtClean="0">
                <a:latin typeface="Helvetica" pitchFamily="34" charset="0"/>
              </a:rPr>
              <a:t>Eco-tourism options.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5" name="Picture 4" descr="Flora.jpg"/>
          <p:cNvPicPr/>
          <p:nvPr/>
        </p:nvPicPr>
        <p:blipFill>
          <a:blip r:embed="rId3" cstate="print"/>
          <a:stretch>
            <a:fillRect/>
          </a:stretch>
        </p:blipFill>
        <p:spPr>
          <a:xfrm>
            <a:off x="6300192" y="3933056"/>
            <a:ext cx="2030812" cy="1351721"/>
          </a:xfrm>
          <a:prstGeom prst="rect">
            <a:avLst/>
          </a:prstGeom>
        </p:spPr>
      </p:pic>
      <p:pic>
        <p:nvPicPr>
          <p:cNvPr id="6" name="Picture 5" descr="Flora 1.jpg"/>
          <p:cNvPicPr/>
          <p:nvPr/>
        </p:nvPicPr>
        <p:blipFill>
          <a:blip r:embed="rId4" cstate="print"/>
          <a:stretch>
            <a:fillRect/>
          </a:stretch>
        </p:blipFill>
        <p:spPr>
          <a:xfrm>
            <a:off x="7020272" y="2708920"/>
            <a:ext cx="1325686" cy="1256307"/>
          </a:xfrm>
          <a:prstGeom prst="rect">
            <a:avLst/>
          </a:prstGeom>
        </p:spPr>
      </p:pic>
      <p:pic>
        <p:nvPicPr>
          <p:cNvPr id="7" name="Picture 6" descr="Flora 3.jpg"/>
          <p:cNvPicPr/>
          <p:nvPr/>
        </p:nvPicPr>
        <p:blipFill>
          <a:blip r:embed="rId5" cstate="print"/>
          <a:stretch>
            <a:fillRect/>
          </a:stretch>
        </p:blipFill>
        <p:spPr>
          <a:xfrm>
            <a:off x="7380312" y="1484784"/>
            <a:ext cx="1378806" cy="1256306"/>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Identify and obtain information to assist with local and national queries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968552"/>
          </a:xfrm>
        </p:spPr>
        <p:txBody>
          <a:bodyPr>
            <a:normAutofit/>
          </a:bodyPr>
          <a:lstStyle/>
          <a:p>
            <a:pPr marL="0" indent="0">
              <a:spcBef>
                <a:spcPts val="1200"/>
              </a:spcBef>
              <a:spcAft>
                <a:spcPts val="1200"/>
              </a:spcAft>
              <a:buNone/>
            </a:pPr>
            <a:r>
              <a:rPr lang="en-US" sz="2200" b="1" dirty="0" smtClean="0">
                <a:latin typeface="Helvetica" pitchFamily="34" charset="0"/>
              </a:rPr>
              <a:t>Research on information regarding local attractions  should focus on:</a:t>
            </a:r>
          </a:p>
          <a:p>
            <a:pPr marL="360000" indent="-360000">
              <a:spcBef>
                <a:spcPts val="1200"/>
              </a:spcBef>
              <a:spcAft>
                <a:spcPts val="1200"/>
              </a:spcAft>
            </a:pPr>
            <a:r>
              <a:rPr lang="en-US" sz="2200" b="1" dirty="0" smtClean="0">
                <a:latin typeface="Helvetica" pitchFamily="34" charset="0"/>
              </a:rPr>
              <a:t>Natural and man-made attractions</a:t>
            </a:r>
          </a:p>
          <a:p>
            <a:pPr marL="360000" indent="-360000">
              <a:spcBef>
                <a:spcPts val="1200"/>
              </a:spcBef>
              <a:spcAft>
                <a:spcPts val="1200"/>
              </a:spcAft>
            </a:pPr>
            <a:r>
              <a:rPr lang="en-US" sz="2200" b="1" dirty="0" smtClean="0">
                <a:latin typeface="Helvetica" pitchFamily="34" charset="0"/>
              </a:rPr>
              <a:t>Important and historic buildings</a:t>
            </a:r>
          </a:p>
          <a:p>
            <a:pPr marL="360000" indent="-360000">
              <a:spcBef>
                <a:spcPts val="1200"/>
              </a:spcBef>
              <a:spcAft>
                <a:spcPts val="1200"/>
              </a:spcAft>
            </a:pPr>
            <a:r>
              <a:rPr lang="en-US" sz="2200" b="1" dirty="0" smtClean="0">
                <a:latin typeface="Helvetica" pitchFamily="34" charset="0"/>
              </a:rPr>
              <a:t>Tours</a:t>
            </a:r>
          </a:p>
          <a:p>
            <a:pPr marL="360000" indent="-360000">
              <a:spcBef>
                <a:spcPts val="1200"/>
              </a:spcBef>
              <a:spcAft>
                <a:spcPts val="1200"/>
              </a:spcAft>
            </a:pPr>
            <a:r>
              <a:rPr lang="en-US" sz="2200" b="1" dirty="0" smtClean="0">
                <a:latin typeface="Helvetica" pitchFamily="34" charset="0"/>
              </a:rPr>
              <a:t>Events</a:t>
            </a:r>
          </a:p>
          <a:p>
            <a:pPr marL="360000" indent="-360000">
              <a:spcBef>
                <a:spcPts val="1200"/>
              </a:spcBef>
              <a:spcAft>
                <a:spcPts val="1200"/>
              </a:spcAft>
            </a:pPr>
            <a:r>
              <a:rPr lang="en-US" sz="2200" b="1" dirty="0" smtClean="0">
                <a:latin typeface="Helvetica" pitchFamily="34" charset="0"/>
              </a:rPr>
              <a:t>Places of interest</a:t>
            </a:r>
          </a:p>
          <a:p>
            <a:pPr marL="360000" indent="-360000">
              <a:spcBef>
                <a:spcPts val="1200"/>
              </a:spcBef>
              <a:spcAft>
                <a:spcPts val="1200"/>
              </a:spcAft>
            </a:pPr>
            <a:r>
              <a:rPr lang="en-US" sz="2200" b="1" dirty="0" smtClean="0">
                <a:latin typeface="Helvetica" pitchFamily="34" charset="0"/>
              </a:rPr>
              <a:t>Local dangers.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5" name="Picture 4" descr="C:\Documents and Settings\maiv\Local Settings\Temporary Internet Files\Content.IE5\XIGBUS4Y\MP900444129[1].jpg"/>
          <p:cNvPicPr/>
          <p:nvPr/>
        </p:nvPicPr>
        <p:blipFill>
          <a:blip r:embed="rId3" cstate="print"/>
          <a:srcRect/>
          <a:stretch>
            <a:fillRect/>
          </a:stretch>
        </p:blipFill>
        <p:spPr bwMode="auto">
          <a:xfrm>
            <a:off x="6228184" y="4005064"/>
            <a:ext cx="2231169" cy="14868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Identify and obtain information to assist with local and national queries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64896" cy="4525963"/>
          </a:xfrm>
        </p:spPr>
        <p:txBody>
          <a:bodyPr>
            <a:noAutofit/>
          </a:bodyPr>
          <a:lstStyle/>
          <a:p>
            <a:pPr marL="0" indent="0">
              <a:spcBef>
                <a:spcPts val="1200"/>
              </a:spcBef>
              <a:spcAft>
                <a:spcPts val="1200"/>
              </a:spcAft>
              <a:buNone/>
            </a:pPr>
            <a:r>
              <a:rPr lang="en-US" sz="2200" b="1" dirty="0" smtClean="0">
                <a:latin typeface="Helvetica" pitchFamily="34" charset="0"/>
              </a:rPr>
              <a:t>Information should also be developed on local customs:</a:t>
            </a:r>
          </a:p>
          <a:p>
            <a:pPr marL="360000" indent="-360000">
              <a:spcBef>
                <a:spcPts val="1200"/>
              </a:spcBef>
              <a:spcAft>
                <a:spcPts val="1200"/>
              </a:spcAft>
            </a:pPr>
            <a:r>
              <a:rPr lang="en-US" sz="2200" b="1" dirty="0" smtClean="0">
                <a:latin typeface="Helvetica" pitchFamily="34" charset="0"/>
              </a:rPr>
              <a:t>Dress</a:t>
            </a:r>
          </a:p>
          <a:p>
            <a:pPr marL="360000" indent="-360000">
              <a:spcBef>
                <a:spcPts val="1200"/>
              </a:spcBef>
              <a:spcAft>
                <a:spcPts val="1200"/>
              </a:spcAft>
            </a:pPr>
            <a:r>
              <a:rPr lang="en-US" sz="2200" b="1" dirty="0" smtClean="0">
                <a:latin typeface="Helvetica" pitchFamily="34" charset="0"/>
              </a:rPr>
              <a:t>Language</a:t>
            </a:r>
          </a:p>
          <a:p>
            <a:pPr marL="360000" indent="-360000">
              <a:spcBef>
                <a:spcPts val="1200"/>
              </a:spcBef>
              <a:spcAft>
                <a:spcPts val="1200"/>
              </a:spcAft>
            </a:pPr>
            <a:r>
              <a:rPr lang="en-US" sz="2200" b="1" dirty="0" smtClean="0">
                <a:latin typeface="Helvetica" pitchFamily="34" charset="0"/>
              </a:rPr>
              <a:t>Personal behavior</a:t>
            </a:r>
          </a:p>
          <a:p>
            <a:pPr marL="360000" indent="-360000">
              <a:spcBef>
                <a:spcPts val="1200"/>
              </a:spcBef>
              <a:spcAft>
                <a:spcPts val="1200"/>
              </a:spcAft>
            </a:pPr>
            <a:r>
              <a:rPr lang="en-US" sz="2200" b="1" dirty="0" smtClean="0">
                <a:latin typeface="Helvetica" pitchFamily="34" charset="0"/>
              </a:rPr>
              <a:t>Relationship between local events and </a:t>
            </a:r>
            <a:br>
              <a:rPr lang="en-US" sz="2200" b="1" dirty="0" smtClean="0">
                <a:latin typeface="Helvetica" pitchFamily="34" charset="0"/>
              </a:rPr>
            </a:br>
            <a:r>
              <a:rPr lang="en-US" sz="2200" b="1" dirty="0" smtClean="0">
                <a:latin typeface="Helvetica" pitchFamily="34" charset="0"/>
              </a:rPr>
              <a:t>certain accepted activities and protocols</a:t>
            </a:r>
          </a:p>
          <a:p>
            <a:pPr marL="360000" indent="-360000">
              <a:spcBef>
                <a:spcPts val="1200"/>
              </a:spcBef>
              <a:spcAft>
                <a:spcPts val="1200"/>
              </a:spcAft>
            </a:pPr>
            <a:r>
              <a:rPr lang="en-US" sz="2200" b="1" dirty="0" smtClean="0">
                <a:latin typeface="Helvetica" pitchFamily="34" charset="0"/>
              </a:rPr>
              <a:t>Legal issues</a:t>
            </a:r>
          </a:p>
          <a:p>
            <a:pPr marL="360000" indent="-360000">
              <a:spcBef>
                <a:spcPts val="1200"/>
              </a:spcBef>
              <a:spcAft>
                <a:spcPts val="1200"/>
              </a:spcAft>
            </a:pPr>
            <a:r>
              <a:rPr lang="en-US" sz="2200" b="1" dirty="0" smtClean="0">
                <a:latin typeface="Helvetica" pitchFamily="34" charset="0"/>
              </a:rPr>
              <a:t>Generally accepted standard protocols within society.</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6" name="Picture 5" descr="00409338.jpg"/>
          <p:cNvPicPr/>
          <p:nvPr/>
        </p:nvPicPr>
        <p:blipFill>
          <a:blip r:embed="rId3" cstate="print"/>
          <a:stretch>
            <a:fillRect/>
          </a:stretch>
        </p:blipFill>
        <p:spPr>
          <a:xfrm>
            <a:off x="7236296" y="3356992"/>
            <a:ext cx="1412185" cy="2075290"/>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and update information according to enterprise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Organisational requirements can:</a:t>
            </a:r>
          </a:p>
          <a:p>
            <a:pPr marL="360000" indent="-360000">
              <a:spcBef>
                <a:spcPts val="1200"/>
              </a:spcBef>
              <a:spcAft>
                <a:spcPts val="1200"/>
              </a:spcAft>
            </a:pPr>
            <a:r>
              <a:rPr lang="en-US" sz="2200" b="1" dirty="0" smtClean="0">
                <a:latin typeface="Helvetica" pitchFamily="34" charset="0"/>
              </a:rPr>
              <a:t>Describe type, style, nature, size and location of files and displays</a:t>
            </a:r>
          </a:p>
          <a:p>
            <a:pPr marL="360000" indent="-360000">
              <a:spcBef>
                <a:spcPts val="1200"/>
              </a:spcBef>
              <a:spcAft>
                <a:spcPts val="1200"/>
              </a:spcAft>
            </a:pPr>
            <a:r>
              <a:rPr lang="en-US" sz="2200" b="1" dirty="0" smtClean="0">
                <a:latin typeface="Helvetica" pitchFamily="34" charset="0"/>
              </a:rPr>
              <a:t>Identify personnel with responsibilities relating to establishment and maintenance of files and information</a:t>
            </a:r>
          </a:p>
          <a:p>
            <a:pPr marL="360000" indent="-360000">
              <a:spcBef>
                <a:spcPts val="1200"/>
              </a:spcBef>
              <a:spcAft>
                <a:spcPts val="1200"/>
              </a:spcAft>
            </a:pPr>
            <a:r>
              <a:rPr lang="en-US" sz="2200" b="1" dirty="0" smtClean="0">
                <a:latin typeface="Helvetica" pitchFamily="34" charset="0"/>
              </a:rPr>
              <a:t>Identify who is authorised to attend </a:t>
            </a:r>
            <a:br>
              <a:rPr lang="en-US" sz="2200" b="1" dirty="0" smtClean="0">
                <a:latin typeface="Helvetica" pitchFamily="34" charset="0"/>
              </a:rPr>
            </a:br>
            <a:r>
              <a:rPr lang="en-US" sz="2200" b="1" dirty="0" smtClean="0">
                <a:latin typeface="Helvetica" pitchFamily="34" charset="0"/>
              </a:rPr>
              <a:t>external meetings likely to provide </a:t>
            </a:r>
            <a:br>
              <a:rPr lang="en-US" sz="2200" b="1" dirty="0" smtClean="0">
                <a:latin typeface="Helvetica" pitchFamily="34" charset="0"/>
              </a:rPr>
            </a:br>
            <a:r>
              <a:rPr lang="en-US" sz="2200" b="1" dirty="0" smtClean="0">
                <a:latin typeface="Helvetica" pitchFamily="34" charset="0"/>
              </a:rPr>
              <a:t>new or revised local knowledge.</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5" name="Picture 4" descr="1111.jpg"/>
          <p:cNvPicPr/>
          <p:nvPr/>
        </p:nvPicPr>
        <p:blipFill>
          <a:blip r:embed="rId3" cstate="print"/>
          <a:stretch>
            <a:fillRect/>
          </a:stretch>
        </p:blipFill>
        <p:spPr>
          <a:xfrm>
            <a:off x="6228184" y="4149080"/>
            <a:ext cx="2270926" cy="1653872"/>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and update information according to enterprise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Local information may be stored:</a:t>
            </a:r>
          </a:p>
          <a:p>
            <a:pPr marL="360000" indent="-360000">
              <a:spcBef>
                <a:spcPts val="1200"/>
              </a:spcBef>
              <a:spcAft>
                <a:spcPts val="1200"/>
              </a:spcAft>
            </a:pPr>
            <a:r>
              <a:rPr lang="en-US" sz="2200" b="1" dirty="0" smtClean="0">
                <a:latin typeface="Helvetica" pitchFamily="34" charset="0"/>
              </a:rPr>
              <a:t>Using electronic systems </a:t>
            </a:r>
          </a:p>
          <a:p>
            <a:pPr marL="360000" indent="-360000">
              <a:spcBef>
                <a:spcPts val="1200"/>
              </a:spcBef>
              <a:spcAft>
                <a:spcPts val="1200"/>
              </a:spcAft>
            </a:pPr>
            <a:r>
              <a:rPr lang="en-US" sz="2200" b="1" dirty="0" smtClean="0">
                <a:latin typeface="Helvetica" pitchFamily="34" charset="0"/>
              </a:rPr>
              <a:t>Filing cabinets</a:t>
            </a:r>
          </a:p>
          <a:p>
            <a:pPr marL="360000" indent="-360000">
              <a:spcBef>
                <a:spcPts val="1200"/>
              </a:spcBef>
              <a:spcAft>
                <a:spcPts val="1200"/>
              </a:spcAft>
            </a:pPr>
            <a:r>
              <a:rPr lang="en-US" sz="2200" b="1" dirty="0" smtClean="0">
                <a:latin typeface="Helvetica" pitchFamily="34" charset="0"/>
              </a:rPr>
              <a:t>Public display area</a:t>
            </a:r>
          </a:p>
          <a:p>
            <a:pPr marL="360000" indent="-360000">
              <a:spcBef>
                <a:spcPts val="1200"/>
              </a:spcBef>
              <a:spcAft>
                <a:spcPts val="1200"/>
              </a:spcAft>
            </a:pPr>
            <a:r>
              <a:rPr lang="en-US" sz="2200" b="1" dirty="0" smtClean="0">
                <a:latin typeface="Helvetica" pitchFamily="34" charset="0"/>
              </a:rPr>
              <a:t>In nominated areas behind </a:t>
            </a:r>
            <a:br>
              <a:rPr lang="en-US" sz="2200" b="1" dirty="0" smtClean="0">
                <a:latin typeface="Helvetica" pitchFamily="34" charset="0"/>
              </a:rPr>
            </a:br>
            <a:r>
              <a:rPr lang="en-US" sz="2200" b="1" dirty="0" smtClean="0">
                <a:latin typeface="Helvetica" pitchFamily="34" charset="0"/>
              </a:rPr>
              <a:t>reception or concierge desk</a:t>
            </a:r>
          </a:p>
          <a:p>
            <a:pPr marL="360000" indent="-360000">
              <a:spcBef>
                <a:spcPts val="1200"/>
              </a:spcBef>
              <a:spcAft>
                <a:spcPts val="1200"/>
              </a:spcAft>
            </a:pPr>
            <a:r>
              <a:rPr lang="en-US" sz="2200" b="1" dirty="0" smtClean="0">
                <a:latin typeface="Helvetica" pitchFamily="34" charset="0"/>
              </a:rPr>
              <a:t>A mix of these options.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7" name="Picture 6" descr="Filing Cabinet.jpg"/>
          <p:cNvPicPr>
            <a:picLocks noChangeAspect="1"/>
          </p:cNvPicPr>
          <p:nvPr/>
        </p:nvPicPr>
        <p:blipFill>
          <a:blip r:embed="rId3" cstate="print"/>
          <a:stretch>
            <a:fillRect/>
          </a:stretch>
        </p:blipFill>
        <p:spPr>
          <a:xfrm>
            <a:off x="5076056" y="1844824"/>
            <a:ext cx="3107010" cy="3098056"/>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and update information according to enterprise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Keys in obtaining local information updates include:</a:t>
            </a:r>
          </a:p>
          <a:p>
            <a:pPr marL="360000" indent="-360000">
              <a:spcBef>
                <a:spcPts val="1200"/>
              </a:spcBef>
              <a:spcAft>
                <a:spcPts val="1200"/>
              </a:spcAft>
            </a:pPr>
            <a:r>
              <a:rPr lang="en-US" sz="2200" b="1" dirty="0" smtClean="0">
                <a:latin typeface="Helvetica" pitchFamily="34" charset="0"/>
              </a:rPr>
              <a:t>Continue with established activities</a:t>
            </a:r>
          </a:p>
          <a:p>
            <a:pPr marL="360000" indent="-360000">
              <a:spcBef>
                <a:spcPts val="1200"/>
              </a:spcBef>
              <a:spcAft>
                <a:spcPts val="1200"/>
              </a:spcAft>
            </a:pPr>
            <a:r>
              <a:rPr lang="en-US" sz="2200" b="1" dirty="0" smtClean="0">
                <a:latin typeface="Helvetica" pitchFamily="34" charset="0"/>
              </a:rPr>
              <a:t>Obtain materials from new venues and attractions</a:t>
            </a:r>
          </a:p>
          <a:p>
            <a:pPr marL="360000" indent="-360000">
              <a:spcBef>
                <a:spcPts val="1200"/>
              </a:spcBef>
              <a:spcAft>
                <a:spcPts val="1200"/>
              </a:spcAft>
            </a:pPr>
            <a:r>
              <a:rPr lang="en-US" sz="2200" b="1" dirty="0" smtClean="0">
                <a:latin typeface="Helvetica" pitchFamily="34" charset="0"/>
              </a:rPr>
              <a:t>Read alerts and newsletters</a:t>
            </a:r>
          </a:p>
          <a:p>
            <a:pPr marL="360000" indent="-360000">
              <a:spcBef>
                <a:spcPts val="1200"/>
              </a:spcBef>
              <a:spcAft>
                <a:spcPts val="1200"/>
              </a:spcAft>
            </a:pPr>
            <a:r>
              <a:rPr lang="en-US" sz="2200" b="1" dirty="0" smtClean="0">
                <a:latin typeface="Helvetica" pitchFamily="34" charset="0"/>
              </a:rPr>
              <a:t>Pick up new/revised promotional materials</a:t>
            </a:r>
          </a:p>
          <a:p>
            <a:pPr marL="360000" indent="-360000">
              <a:spcBef>
                <a:spcPts val="1200"/>
              </a:spcBef>
              <a:spcAft>
                <a:spcPts val="1200"/>
              </a:spcAft>
            </a:pPr>
            <a:r>
              <a:rPr lang="en-US" sz="2200" b="1" dirty="0" smtClean="0">
                <a:latin typeface="Helvetica" pitchFamily="34" charset="0"/>
              </a:rPr>
              <a:t>Use your network of contacts.</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5" name="Picture 4" descr="display.jpg"/>
          <p:cNvPicPr/>
          <p:nvPr/>
        </p:nvPicPr>
        <p:blipFill>
          <a:blip r:embed="rId3" cstate="print"/>
          <a:stretch>
            <a:fillRect/>
          </a:stretch>
        </p:blipFill>
        <p:spPr>
          <a:xfrm>
            <a:off x="7159321" y="3284984"/>
            <a:ext cx="1984679" cy="2639833"/>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and update information according to enterprise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Processing new or updated local information can include:</a:t>
            </a:r>
          </a:p>
          <a:p>
            <a:pPr marL="360000" indent="-360000">
              <a:spcBef>
                <a:spcPts val="1200"/>
              </a:spcBef>
              <a:spcAft>
                <a:spcPts val="1200"/>
              </a:spcAft>
            </a:pPr>
            <a:r>
              <a:rPr lang="en-US" sz="2200" b="1" dirty="0" smtClean="0">
                <a:latin typeface="Helvetica" pitchFamily="34" charset="0"/>
              </a:rPr>
              <a:t>Accessing the electronic database and amending files</a:t>
            </a:r>
          </a:p>
          <a:p>
            <a:pPr marL="360000" indent="-360000">
              <a:spcBef>
                <a:spcPts val="1200"/>
              </a:spcBef>
              <a:spcAft>
                <a:spcPts val="1200"/>
              </a:spcAft>
            </a:pPr>
            <a:r>
              <a:rPr lang="en-US" sz="2200" b="1" dirty="0" smtClean="0">
                <a:latin typeface="Helvetica" pitchFamily="34" charset="0"/>
              </a:rPr>
              <a:t>Removing and replacing items in public areas </a:t>
            </a:r>
            <a:br>
              <a:rPr lang="en-US" sz="2200" b="1" dirty="0" smtClean="0">
                <a:latin typeface="Helvetica" pitchFamily="34" charset="0"/>
              </a:rPr>
            </a:br>
            <a:r>
              <a:rPr lang="en-US" sz="2200" b="1" dirty="0" smtClean="0">
                <a:latin typeface="Helvetica" pitchFamily="34" charset="0"/>
              </a:rPr>
              <a:t>and office-based filing cabinets</a:t>
            </a:r>
          </a:p>
          <a:p>
            <a:pPr marL="360000" indent="-360000">
              <a:spcBef>
                <a:spcPts val="1200"/>
              </a:spcBef>
              <a:spcAft>
                <a:spcPts val="1200"/>
              </a:spcAft>
            </a:pPr>
            <a:r>
              <a:rPr lang="en-US" sz="2200" b="1" dirty="0" smtClean="0">
                <a:latin typeface="Helvetica" pitchFamily="34" charset="0"/>
              </a:rPr>
              <a:t>Changing items in guest rooms</a:t>
            </a:r>
          </a:p>
          <a:p>
            <a:pPr marL="360000" indent="-360000">
              <a:spcBef>
                <a:spcPts val="600"/>
              </a:spcBef>
              <a:spcAft>
                <a:spcPts val="1200"/>
              </a:spcAft>
            </a:pPr>
            <a:r>
              <a:rPr lang="en-US" sz="2200" b="1" dirty="0" smtClean="0">
                <a:latin typeface="Helvetica" pitchFamily="34" charset="0"/>
              </a:rPr>
              <a:t>Meeting with the Concierge.</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5" name="Picture 4" descr="Filing 1.jpg"/>
          <p:cNvPicPr/>
          <p:nvPr/>
        </p:nvPicPr>
        <p:blipFill>
          <a:blip r:embed="rId3" cstate="print"/>
          <a:stretch>
            <a:fillRect/>
          </a:stretch>
        </p:blipFill>
        <p:spPr>
          <a:xfrm>
            <a:off x="7374007" y="2996952"/>
            <a:ext cx="1769993" cy="2361538"/>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and update information according to enterprise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When up-dating local and other information files:</a:t>
            </a:r>
          </a:p>
          <a:p>
            <a:pPr marL="360000" indent="-360000">
              <a:spcBef>
                <a:spcPts val="1200"/>
              </a:spcBef>
              <a:spcAft>
                <a:spcPts val="1200"/>
              </a:spcAft>
            </a:pPr>
            <a:r>
              <a:rPr lang="en-US" sz="2200" b="1" dirty="0" smtClean="0">
                <a:latin typeface="Helvetica" pitchFamily="34" charset="0"/>
              </a:rPr>
              <a:t>Always thank whoever provided the material</a:t>
            </a:r>
          </a:p>
          <a:p>
            <a:pPr marL="360000" indent="-360000">
              <a:spcBef>
                <a:spcPts val="1200"/>
              </a:spcBef>
              <a:spcAft>
                <a:spcPts val="1200"/>
              </a:spcAft>
            </a:pPr>
            <a:r>
              <a:rPr lang="en-US" sz="2200" b="1" dirty="0" smtClean="0">
                <a:latin typeface="Helvetica" pitchFamily="34" charset="0"/>
              </a:rPr>
              <a:t>Update immediately</a:t>
            </a:r>
          </a:p>
          <a:p>
            <a:pPr marL="360000" indent="-360000">
              <a:spcBef>
                <a:spcPts val="1200"/>
              </a:spcBef>
              <a:spcAft>
                <a:spcPts val="1200"/>
              </a:spcAft>
            </a:pPr>
            <a:r>
              <a:rPr lang="en-US" sz="2200" b="1" dirty="0" smtClean="0">
                <a:latin typeface="Helvetica" pitchFamily="34" charset="0"/>
              </a:rPr>
              <a:t>Discard all out of date materials.</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5" name="Picture 4" descr="man on the phone.jpg"/>
          <p:cNvPicPr/>
          <p:nvPr/>
        </p:nvPicPr>
        <p:blipFill>
          <a:blip r:embed="rId3" cstate="print"/>
          <a:stretch>
            <a:fillRect/>
          </a:stretch>
        </p:blipFill>
        <p:spPr>
          <a:xfrm>
            <a:off x="6948264" y="3212976"/>
            <a:ext cx="1443990" cy="2170706"/>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Share information with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24536"/>
          </a:xfrm>
        </p:spPr>
        <p:txBody>
          <a:bodyPr>
            <a:normAutofit/>
          </a:bodyPr>
          <a:lstStyle/>
          <a:p>
            <a:pPr marL="0" indent="0">
              <a:spcBef>
                <a:spcPts val="1200"/>
              </a:spcBef>
              <a:spcAft>
                <a:spcPts val="1200"/>
              </a:spcAft>
              <a:buNone/>
            </a:pPr>
            <a:r>
              <a:rPr lang="en-US" sz="2200" b="1" dirty="0" smtClean="0">
                <a:latin typeface="Helvetica" pitchFamily="34" charset="0"/>
              </a:rPr>
              <a:t>Ways to share information with colleagues:</a:t>
            </a:r>
          </a:p>
          <a:p>
            <a:pPr marL="360000" indent="-360000">
              <a:spcBef>
                <a:spcPts val="1200"/>
              </a:spcBef>
              <a:spcAft>
                <a:spcPts val="1200"/>
              </a:spcAft>
            </a:pPr>
            <a:r>
              <a:rPr lang="en-US" sz="2200" b="1" dirty="0" smtClean="0">
                <a:latin typeface="Helvetica" pitchFamily="34" charset="0"/>
              </a:rPr>
              <a:t>Tell them</a:t>
            </a:r>
          </a:p>
          <a:p>
            <a:pPr marL="360000" indent="-360000">
              <a:spcBef>
                <a:spcPts val="1200"/>
              </a:spcBef>
              <a:spcAft>
                <a:spcPts val="1200"/>
              </a:spcAft>
            </a:pPr>
            <a:r>
              <a:rPr lang="en-US" sz="2200" b="1" dirty="0" smtClean="0">
                <a:latin typeface="Helvetica" pitchFamily="34" charset="0"/>
              </a:rPr>
              <a:t>E-mail them</a:t>
            </a:r>
          </a:p>
          <a:p>
            <a:pPr marL="360000" indent="-360000">
              <a:spcBef>
                <a:spcPts val="1200"/>
              </a:spcBef>
              <a:spcAft>
                <a:spcPts val="1200"/>
              </a:spcAft>
            </a:pPr>
            <a:r>
              <a:rPr lang="en-US" sz="2200" b="1" dirty="0" smtClean="0">
                <a:latin typeface="Helvetica" pitchFamily="34" charset="0"/>
              </a:rPr>
              <a:t>Prepare a handout</a:t>
            </a:r>
          </a:p>
          <a:p>
            <a:pPr marL="360000" indent="-360000">
              <a:spcBef>
                <a:spcPts val="1200"/>
              </a:spcBef>
              <a:spcAft>
                <a:spcPts val="1200"/>
              </a:spcAft>
            </a:pPr>
            <a:r>
              <a:rPr lang="en-US" sz="2200" b="1" dirty="0" smtClean="0">
                <a:latin typeface="Helvetica" pitchFamily="34" charset="0"/>
              </a:rPr>
              <a:t>Update internal systems</a:t>
            </a:r>
          </a:p>
          <a:p>
            <a:pPr marL="360000" indent="-360000">
              <a:spcBef>
                <a:spcPts val="1200"/>
              </a:spcBef>
              <a:spcAft>
                <a:spcPts val="1200"/>
              </a:spcAft>
            </a:pPr>
            <a:r>
              <a:rPr lang="en-US" sz="2200" b="1" dirty="0" smtClean="0">
                <a:latin typeface="Helvetica" pitchFamily="34" charset="0"/>
              </a:rPr>
              <a:t>Exchange items in public displays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5" name="Picture 4" descr="wai_a_kym_214.jpg"/>
          <p:cNvPicPr/>
          <p:nvPr/>
        </p:nvPicPr>
        <p:blipFill>
          <a:blip r:embed="rId3" cstate="print"/>
          <a:stretch>
            <a:fillRect/>
          </a:stretch>
        </p:blipFill>
        <p:spPr>
          <a:xfrm>
            <a:off x="6012160" y="3789040"/>
            <a:ext cx="2491022" cy="1669774"/>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Share information with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Arrange for a guest speaker from the attraction or venue to talk to staff </a:t>
            </a:r>
          </a:p>
          <a:p>
            <a:pPr marL="360000" indent="-360000">
              <a:spcBef>
                <a:spcPts val="1200"/>
              </a:spcBef>
              <a:spcAft>
                <a:spcPts val="1200"/>
              </a:spcAft>
            </a:pPr>
            <a:r>
              <a:rPr lang="en-US" sz="2200" b="1" dirty="0" smtClean="0">
                <a:latin typeface="Helvetica" pitchFamily="34" charset="0"/>
              </a:rPr>
              <a:t>Organise for a speaker from the Visitor </a:t>
            </a:r>
            <a:br>
              <a:rPr lang="en-US" sz="2200" b="1" dirty="0" smtClean="0">
                <a:latin typeface="Helvetica" pitchFamily="34" charset="0"/>
              </a:rPr>
            </a:br>
            <a:r>
              <a:rPr lang="en-US" sz="2200" b="1" dirty="0" smtClean="0">
                <a:latin typeface="Helvetica" pitchFamily="34" charset="0"/>
              </a:rPr>
              <a:t>Information Centre to come and talk to staff</a:t>
            </a:r>
          </a:p>
          <a:p>
            <a:pPr marL="360000" indent="-360000">
              <a:spcBef>
                <a:spcPts val="1200"/>
              </a:spcBef>
              <a:spcAft>
                <a:spcPts val="1200"/>
              </a:spcAft>
            </a:pPr>
            <a:r>
              <a:rPr lang="en-US" sz="2200" b="1" dirty="0" smtClean="0">
                <a:latin typeface="Helvetica" pitchFamily="34" charset="0"/>
              </a:rPr>
              <a:t>Arrange for venue staff to go and visit </a:t>
            </a:r>
            <a:br>
              <a:rPr lang="en-US" sz="2200" b="1" dirty="0" smtClean="0">
                <a:latin typeface="Helvetica" pitchFamily="34" charset="0"/>
              </a:rPr>
            </a:br>
            <a:r>
              <a:rPr lang="en-US" sz="2200" b="1" dirty="0" smtClean="0">
                <a:latin typeface="Helvetica" pitchFamily="34" charset="0"/>
              </a:rPr>
              <a:t>venues and/or attractions.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5" name="Picture 4" descr="222.jpg"/>
          <p:cNvPicPr/>
          <p:nvPr/>
        </p:nvPicPr>
        <p:blipFill>
          <a:blip r:embed="rId3" cstate="print"/>
          <a:stretch>
            <a:fillRect/>
          </a:stretch>
        </p:blipFill>
        <p:spPr>
          <a:xfrm>
            <a:off x="7303384" y="1988840"/>
            <a:ext cx="1840616" cy="3578087"/>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Share information with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When sharing new or updated local information with colleagues:</a:t>
            </a:r>
          </a:p>
          <a:p>
            <a:pPr marL="360000" indent="-360000">
              <a:spcBef>
                <a:spcPts val="1200"/>
              </a:spcBef>
              <a:spcAft>
                <a:spcPts val="1200"/>
              </a:spcAft>
            </a:pPr>
            <a:r>
              <a:rPr lang="en-US" sz="2200" b="1" dirty="0" smtClean="0">
                <a:latin typeface="Helvetica" pitchFamily="34" charset="0"/>
              </a:rPr>
              <a:t>Be enthusiastic</a:t>
            </a:r>
          </a:p>
          <a:p>
            <a:pPr marL="360000" indent="-360000">
              <a:spcBef>
                <a:spcPts val="1200"/>
              </a:spcBef>
              <a:spcAft>
                <a:spcPts val="1200"/>
              </a:spcAft>
            </a:pPr>
            <a:r>
              <a:rPr lang="en-US" sz="2200" b="1" dirty="0" smtClean="0">
                <a:latin typeface="Helvetica" pitchFamily="34" charset="0"/>
              </a:rPr>
              <a:t>Sell the benefits of passing this information </a:t>
            </a:r>
            <a:br>
              <a:rPr lang="en-US" sz="2200" b="1" dirty="0" smtClean="0">
                <a:latin typeface="Helvetica" pitchFamily="34" charset="0"/>
              </a:rPr>
            </a:br>
            <a:r>
              <a:rPr lang="en-US" sz="2200" b="1" dirty="0" smtClean="0">
                <a:latin typeface="Helvetica" pitchFamily="34" charset="0"/>
              </a:rPr>
              <a:t>on to visitors.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5" name="Picture 4" descr="accounts.jpg"/>
          <p:cNvPicPr/>
          <p:nvPr/>
        </p:nvPicPr>
        <p:blipFill>
          <a:blip r:embed="rId3" cstate="print"/>
          <a:stretch>
            <a:fillRect/>
          </a:stretch>
        </p:blipFill>
        <p:spPr>
          <a:xfrm>
            <a:off x="5868144" y="4149080"/>
            <a:ext cx="2579453" cy="1717481"/>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When developing local knowledge:</a:t>
            </a:r>
          </a:p>
          <a:p>
            <a:pPr>
              <a:spcBef>
                <a:spcPts val="1200"/>
              </a:spcBef>
              <a:spcAft>
                <a:spcPts val="1200"/>
              </a:spcAft>
            </a:pPr>
            <a:r>
              <a:rPr lang="en-US" sz="2200" b="1" dirty="0" err="1" smtClean="0">
                <a:latin typeface="Helvetica" pitchFamily="34" charset="0"/>
              </a:rPr>
              <a:t>Recognise</a:t>
            </a:r>
            <a:r>
              <a:rPr lang="en-US" sz="2200" b="1" dirty="0" smtClean="0">
                <a:latin typeface="Helvetica" pitchFamily="34" charset="0"/>
              </a:rPr>
              <a:t> and appreciate the need to provide local knowledge and information to tourists and visitors</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Capture local knowledge from a variety of sources – local Visitor Information Centre, written references, internet, local associations and industry contacts</a:t>
            </a:r>
            <a:endParaRPr lang="en-AU" sz="2200" b="1" dirty="0" smtClean="0">
              <a:latin typeface="Helvetica" pitchFamily="34" charset="0"/>
            </a:endParaRP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5" name="Picture 2" descr="C:\Documents and Settings\maiv\Local Settings\Temporary Internet Files\Content.IE5\A8BAWIUD\MC900440428[1].wmf"/>
          <p:cNvPicPr>
            <a:picLocks noChangeAspect="1" noChangeArrowheads="1"/>
          </p:cNvPicPr>
          <p:nvPr/>
        </p:nvPicPr>
        <p:blipFill>
          <a:blip r:embed="rId3" cstate="print"/>
          <a:srcRect/>
          <a:stretch>
            <a:fillRect/>
          </a:stretch>
        </p:blipFill>
        <p:spPr bwMode="auto">
          <a:xfrm>
            <a:off x="6732240" y="3645024"/>
            <a:ext cx="1736725" cy="1828800"/>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US" sz="2200" b="1" dirty="0" smtClean="0">
                <a:latin typeface="Helvetica" pitchFamily="34" charset="0"/>
              </a:rPr>
              <a:t>Be proactive – you have to be interested, you have to make an effort</a:t>
            </a:r>
          </a:p>
          <a:p>
            <a:pPr>
              <a:spcBef>
                <a:spcPts val="1200"/>
              </a:spcBef>
              <a:spcAft>
                <a:spcPts val="1200"/>
              </a:spcAft>
            </a:pPr>
            <a:r>
              <a:rPr lang="en-US" sz="2200" b="1" dirty="0" smtClean="0">
                <a:latin typeface="Helvetica" pitchFamily="34" charset="0"/>
              </a:rPr>
              <a:t>Subscribe to information sources, visit relevant web sites, read local publications and relevant books and magazines</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Visit local Visitor Information Centre and </a:t>
            </a:r>
            <a:br>
              <a:rPr lang="en-US" sz="2200" b="1" dirty="0" smtClean="0">
                <a:latin typeface="Helvetica" pitchFamily="34" charset="0"/>
              </a:rPr>
            </a:br>
            <a:r>
              <a:rPr lang="en-US" sz="2200" b="1" dirty="0" smtClean="0">
                <a:latin typeface="Helvetica" pitchFamily="34" charset="0"/>
              </a:rPr>
              <a:t>get to know the staff</a:t>
            </a:r>
            <a:endParaRPr lang="en-AU" sz="2200" b="1" dirty="0" smtClean="0">
              <a:latin typeface="Helvetica" pitchFamily="34" charset="0"/>
            </a:endParaRP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5" name="Picture 2" descr="C:\Documents and Settings\maiv\Local Settings\Temporary Internet Files\Content.IE5\A8BAWIUD\MC900440428[1].wmf"/>
          <p:cNvPicPr>
            <a:picLocks noChangeAspect="1" noChangeArrowheads="1"/>
          </p:cNvPicPr>
          <p:nvPr/>
        </p:nvPicPr>
        <p:blipFill>
          <a:blip r:embed="rId3" cstate="print"/>
          <a:srcRect/>
          <a:stretch>
            <a:fillRect/>
          </a:stretch>
        </p:blipFill>
        <p:spPr bwMode="auto">
          <a:xfrm>
            <a:off x="6732240" y="3645024"/>
            <a:ext cx="1736725" cy="1828800"/>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US" sz="2200" b="1" dirty="0" smtClean="0">
                <a:latin typeface="Helvetica" pitchFamily="34" charset="0"/>
              </a:rPr>
              <a:t>Join industry associations and attend meetings</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Obtain copies of local promotional materials for reference and to distribute</a:t>
            </a:r>
          </a:p>
          <a:p>
            <a:pPr>
              <a:spcBef>
                <a:spcPts val="1200"/>
              </a:spcBef>
              <a:spcAft>
                <a:spcPts val="1200"/>
              </a:spcAft>
            </a:pPr>
            <a:r>
              <a:rPr lang="en-US" sz="2200" b="1" dirty="0" smtClean="0">
                <a:latin typeface="Helvetica" pitchFamily="34" charset="0"/>
              </a:rPr>
              <a:t>Obtain general information on tourism as well as knowledge about local destinations, </a:t>
            </a:r>
            <a:br>
              <a:rPr lang="en-US" sz="2200" b="1" dirty="0" smtClean="0">
                <a:latin typeface="Helvetica" pitchFamily="34" charset="0"/>
              </a:rPr>
            </a:br>
            <a:r>
              <a:rPr lang="en-US" sz="2200" b="1" dirty="0" smtClean="0">
                <a:latin typeface="Helvetica" pitchFamily="34" charset="0"/>
              </a:rPr>
              <a:t>facilities, infrastructure, tourism products </a:t>
            </a:r>
            <a:br>
              <a:rPr lang="en-US" sz="2200" b="1" dirty="0" smtClean="0">
                <a:latin typeface="Helvetica" pitchFamily="34" charset="0"/>
              </a:rPr>
            </a:br>
            <a:r>
              <a:rPr lang="en-US" sz="2200" b="1" dirty="0" smtClean="0">
                <a:latin typeface="Helvetica" pitchFamily="34" charset="0"/>
              </a:rPr>
              <a:t>and services</a:t>
            </a:r>
            <a:endParaRPr lang="en-AU" sz="2200" b="1" dirty="0" smtClean="0">
              <a:latin typeface="Helvetica" pitchFamily="34" charset="0"/>
            </a:endParaRPr>
          </a:p>
          <a:p>
            <a:pPr marL="360000" indent="-360000">
              <a:spcBef>
                <a:spcPts val="1200"/>
              </a:spcBef>
              <a:spcAft>
                <a:spcPts val="1200"/>
              </a:spcAft>
              <a:buNone/>
            </a:pPr>
            <a:r>
              <a:rPr lang="en-US" sz="2200" b="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5" name="Picture 2" descr="C:\Documents and Settings\maiv\Local Settings\Temporary Internet Files\Content.IE5\A8BAWIUD\MC900440428[1].wmf"/>
          <p:cNvPicPr>
            <a:picLocks noChangeAspect="1" noChangeArrowheads="1"/>
          </p:cNvPicPr>
          <p:nvPr/>
        </p:nvPicPr>
        <p:blipFill>
          <a:blip r:embed="rId3" cstate="print"/>
          <a:srcRect/>
          <a:stretch>
            <a:fillRect/>
          </a:stretch>
        </p:blipFill>
        <p:spPr bwMode="auto">
          <a:xfrm>
            <a:off x="6732240" y="3645024"/>
            <a:ext cx="1736725" cy="1828800"/>
          </a:xfrm>
          <a:prstGeom prst="rect">
            <a:avLst/>
          </a:prstGeom>
          <a:noFill/>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US" sz="2200" b="1" dirty="0" smtClean="0">
                <a:latin typeface="Helvetica" pitchFamily="34" charset="0"/>
              </a:rPr>
              <a:t>Become aware of local environmental issues and opportunities</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Learn about local attractions, tours, events and places of interest</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Make sure you understand and can </a:t>
            </a:r>
            <a:br>
              <a:rPr lang="en-US" sz="2200" b="1" dirty="0" smtClean="0">
                <a:latin typeface="Helvetica" pitchFamily="34" charset="0"/>
              </a:rPr>
            </a:br>
            <a:r>
              <a:rPr lang="en-US" sz="2200" b="1" dirty="0" smtClean="0">
                <a:latin typeface="Helvetica" pitchFamily="34" charset="0"/>
              </a:rPr>
              <a:t>communicate local customs</a:t>
            </a:r>
            <a:endParaRPr lang="en-AU" sz="2200" b="1" dirty="0" smtClean="0">
              <a:latin typeface="Helvetica" pitchFamily="34" charset="0"/>
            </a:endParaRP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5" name="Picture 2" descr="C:\Documents and Settings\maiv\Local Settings\Temporary Internet Files\Content.IE5\A8BAWIUD\MC900440428[1].wmf"/>
          <p:cNvPicPr>
            <a:picLocks noChangeAspect="1" noChangeArrowheads="1"/>
          </p:cNvPicPr>
          <p:nvPr/>
        </p:nvPicPr>
        <p:blipFill>
          <a:blip r:embed="rId3" cstate="print"/>
          <a:srcRect/>
          <a:stretch>
            <a:fillRect/>
          </a:stretch>
        </p:blipFill>
        <p:spPr bwMode="auto">
          <a:xfrm>
            <a:off x="6732240" y="3645024"/>
            <a:ext cx="1736725" cy="1828800"/>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4896544"/>
          </a:xfrm>
        </p:spPr>
        <p:txBody>
          <a:bodyPr>
            <a:normAutofit/>
          </a:bodyPr>
          <a:lstStyle/>
          <a:p>
            <a:pPr>
              <a:spcBef>
                <a:spcPts val="1200"/>
              </a:spcBef>
              <a:spcAft>
                <a:spcPts val="1200"/>
              </a:spcAft>
            </a:pPr>
            <a:r>
              <a:rPr lang="en-US" sz="2200" b="1" dirty="0" smtClean="0">
                <a:latin typeface="Helvetica" pitchFamily="34" charset="0"/>
              </a:rPr>
              <a:t>Create a public display of local information as well as a private stock and have information in guest rooms and compendiums</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Be a tourist in your own area. Visit the attractions  a tourist would want to see or go to</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Ensure local information is updated as the </a:t>
            </a:r>
            <a:br>
              <a:rPr lang="en-US" sz="2200" b="1" dirty="0" smtClean="0">
                <a:latin typeface="Helvetica" pitchFamily="34" charset="0"/>
              </a:rPr>
            </a:br>
            <a:r>
              <a:rPr lang="en-US" sz="2200" b="1" dirty="0" smtClean="0">
                <a:latin typeface="Helvetica" pitchFamily="34" charset="0"/>
              </a:rPr>
              <a:t>need to so arises to keep it current</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Share what you learn with work </a:t>
            </a:r>
            <a:br>
              <a:rPr lang="en-US" sz="2200" b="1" dirty="0" smtClean="0">
                <a:latin typeface="Helvetica" pitchFamily="34" charset="0"/>
              </a:rPr>
            </a:br>
            <a:r>
              <a:rPr lang="en-US" sz="2200" b="1" dirty="0" smtClean="0">
                <a:latin typeface="Helvetica" pitchFamily="34" charset="0"/>
              </a:rPr>
              <a:t>colleagues on a regular basis.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5" name="Picture 2" descr="C:\Documents and Settings\maiv\Local Settings\Temporary Internet Files\Content.IE5\A8BAWIUD\MC900440428[1].wmf"/>
          <p:cNvPicPr>
            <a:picLocks noChangeAspect="1" noChangeArrowheads="1"/>
          </p:cNvPicPr>
          <p:nvPr/>
        </p:nvPicPr>
        <p:blipFill>
          <a:blip r:embed="rId3" cstate="print"/>
          <a:srcRect/>
          <a:stretch>
            <a:fillRect/>
          </a:stretch>
        </p:blipFill>
        <p:spPr bwMode="auto">
          <a:xfrm>
            <a:off x="6732240" y="3645024"/>
            <a:ext cx="1736725" cy="1828800"/>
          </a:xfrm>
          <a:prstGeom prst="rect">
            <a:avLst/>
          </a:prstGeom>
          <a:noFill/>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Up-date local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Performance Criteria for this Element are:</a:t>
            </a:r>
          </a:p>
          <a:p>
            <a:pPr marL="360000" indent="-360000">
              <a:spcBef>
                <a:spcPts val="1200"/>
              </a:spcBef>
              <a:spcAft>
                <a:spcPts val="1200"/>
              </a:spcAft>
            </a:pPr>
            <a:r>
              <a:rPr lang="en-US" sz="2200" b="1" dirty="0" smtClean="0">
                <a:latin typeface="Helvetica" pitchFamily="34" charset="0"/>
              </a:rPr>
              <a:t>Use informal and/or formal research to update local knowledge</a:t>
            </a:r>
          </a:p>
          <a:p>
            <a:pPr marL="360000" indent="-360000">
              <a:spcBef>
                <a:spcPts val="1200"/>
              </a:spcBef>
              <a:spcAft>
                <a:spcPts val="1200"/>
              </a:spcAft>
            </a:pPr>
            <a:r>
              <a:rPr lang="en-US" sz="2200" b="1" dirty="0" smtClean="0">
                <a:latin typeface="Helvetica" pitchFamily="34" charset="0"/>
              </a:rPr>
              <a:t>Share updated knowledge with customers and colleagues, as appropriate</a:t>
            </a:r>
          </a:p>
          <a:p>
            <a:pPr marL="360000" indent="-360000">
              <a:spcBef>
                <a:spcPts val="1200"/>
              </a:spcBef>
              <a:spcAft>
                <a:spcPts val="1200"/>
              </a:spcAft>
            </a:pPr>
            <a:r>
              <a:rPr lang="en-US" sz="2200" b="1" dirty="0" smtClean="0">
                <a:latin typeface="Helvetica" pitchFamily="34" charset="0"/>
              </a:rPr>
              <a:t>Incorporate the sharing of local knowledge </a:t>
            </a:r>
            <a:br>
              <a:rPr lang="en-US" sz="2200" b="1" dirty="0" smtClean="0">
                <a:latin typeface="Helvetica" pitchFamily="34" charset="0"/>
              </a:rPr>
            </a:br>
            <a:r>
              <a:rPr lang="en-US" sz="2200" b="1" dirty="0" smtClean="0">
                <a:latin typeface="Helvetica" pitchFamily="34" charset="0"/>
              </a:rPr>
              <a:t>into day to day working activities.</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6" name="Picture 5" descr="wai_a_kym_214.jpg"/>
          <p:cNvPicPr/>
          <p:nvPr/>
        </p:nvPicPr>
        <p:blipFill>
          <a:blip r:embed="rId3" cstate="print"/>
          <a:stretch>
            <a:fillRect/>
          </a:stretch>
        </p:blipFill>
        <p:spPr>
          <a:xfrm>
            <a:off x="6300192" y="4653136"/>
            <a:ext cx="2491022" cy="1669774"/>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formal and/or informal research to update local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Research to update local knowledge can be done on:</a:t>
            </a:r>
          </a:p>
          <a:p>
            <a:pPr marL="360000" indent="-360000">
              <a:spcBef>
                <a:spcPts val="1200"/>
              </a:spcBef>
              <a:spcAft>
                <a:spcPts val="1200"/>
              </a:spcAft>
            </a:pPr>
            <a:r>
              <a:rPr lang="en-US" sz="2200" b="1" dirty="0" smtClean="0">
                <a:latin typeface="Helvetica" pitchFamily="34" charset="0"/>
              </a:rPr>
              <a:t>A formal basis</a:t>
            </a:r>
          </a:p>
          <a:p>
            <a:pPr marL="360000" indent="-360000">
              <a:spcBef>
                <a:spcPts val="1200"/>
              </a:spcBef>
              <a:spcAft>
                <a:spcPts val="1200"/>
              </a:spcAft>
            </a:pPr>
            <a:r>
              <a:rPr lang="en-US" sz="2200" b="1" dirty="0" smtClean="0">
                <a:latin typeface="Helvetica" pitchFamily="34" charset="0"/>
              </a:rPr>
              <a:t>An informal basis.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5" name="Picture 4" descr="Signs.jpg"/>
          <p:cNvPicPr/>
          <p:nvPr/>
        </p:nvPicPr>
        <p:blipFill>
          <a:blip r:embed="rId3" cstate="print"/>
          <a:stretch>
            <a:fillRect/>
          </a:stretch>
        </p:blipFill>
        <p:spPr>
          <a:xfrm>
            <a:off x="6444208" y="3501008"/>
            <a:ext cx="1900721" cy="1582310"/>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formal and/or informal research to update local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Research can include:</a:t>
            </a:r>
          </a:p>
          <a:p>
            <a:pPr marL="360000" indent="-360000">
              <a:spcBef>
                <a:spcPts val="1200"/>
              </a:spcBef>
              <a:spcAft>
                <a:spcPts val="1200"/>
              </a:spcAft>
            </a:pPr>
            <a:r>
              <a:rPr lang="en-US" sz="2200" b="1" dirty="0" smtClean="0">
                <a:latin typeface="Helvetica" pitchFamily="34" charset="0"/>
              </a:rPr>
              <a:t>Discussing information with colleagues</a:t>
            </a:r>
          </a:p>
          <a:p>
            <a:pPr marL="360000" indent="-360000">
              <a:spcBef>
                <a:spcPts val="1200"/>
              </a:spcBef>
              <a:spcAft>
                <a:spcPts val="1200"/>
              </a:spcAft>
            </a:pPr>
            <a:r>
              <a:rPr lang="en-US" sz="2200" b="1" dirty="0" smtClean="0">
                <a:latin typeface="Helvetica" pitchFamily="34" charset="0"/>
              </a:rPr>
              <a:t>Obtaining customer feedback</a:t>
            </a:r>
          </a:p>
          <a:p>
            <a:pPr marL="360000" indent="-360000">
              <a:spcBef>
                <a:spcPts val="1200"/>
              </a:spcBef>
              <a:spcAft>
                <a:spcPts val="1200"/>
              </a:spcAft>
            </a:pPr>
            <a:r>
              <a:rPr lang="en-US" sz="2200" b="1" dirty="0" smtClean="0">
                <a:latin typeface="Helvetica" pitchFamily="34" charset="0"/>
              </a:rPr>
              <a:t>Personal observation</a:t>
            </a:r>
          </a:p>
          <a:p>
            <a:pPr marL="360000" indent="-360000">
              <a:spcBef>
                <a:spcPts val="1200"/>
              </a:spcBef>
              <a:spcAft>
                <a:spcPts val="1200"/>
              </a:spcAft>
            </a:pPr>
            <a:r>
              <a:rPr lang="en-US" sz="2200" b="1" dirty="0" smtClean="0">
                <a:latin typeface="Helvetica" pitchFamily="34" charset="0"/>
              </a:rPr>
              <a:t>Informal discussions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5" name="Picture 4" descr="accounts.jpg"/>
          <p:cNvPicPr/>
          <p:nvPr/>
        </p:nvPicPr>
        <p:blipFill>
          <a:blip r:embed="rId3" cstate="print"/>
          <a:stretch>
            <a:fillRect/>
          </a:stretch>
        </p:blipFill>
        <p:spPr>
          <a:xfrm>
            <a:off x="5796136" y="3789040"/>
            <a:ext cx="2579453" cy="1717481"/>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formal and/or informal research to update local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Reading magazines </a:t>
            </a:r>
          </a:p>
          <a:p>
            <a:pPr marL="360000" indent="-360000">
              <a:spcBef>
                <a:spcPts val="1200"/>
              </a:spcBef>
              <a:spcAft>
                <a:spcPts val="1200"/>
              </a:spcAft>
            </a:pPr>
            <a:r>
              <a:rPr lang="en-US" sz="2200" b="1" dirty="0" smtClean="0">
                <a:latin typeface="Helvetica" pitchFamily="34" charset="0"/>
              </a:rPr>
              <a:t>Reading, watching or listening to local media</a:t>
            </a:r>
          </a:p>
          <a:p>
            <a:pPr marL="360000" indent="-360000">
              <a:spcBef>
                <a:spcPts val="1200"/>
              </a:spcBef>
              <a:spcAft>
                <a:spcPts val="1200"/>
              </a:spcAft>
            </a:pPr>
            <a:r>
              <a:rPr lang="en-US" sz="2200" b="1" dirty="0" smtClean="0">
                <a:latin typeface="Helvetica" pitchFamily="34" charset="0"/>
              </a:rPr>
              <a:t>Undertaking general internet research</a:t>
            </a:r>
          </a:p>
          <a:p>
            <a:pPr marL="360000" indent="-360000">
              <a:spcBef>
                <a:spcPts val="1200"/>
              </a:spcBef>
              <a:spcAft>
                <a:spcPts val="1200"/>
              </a:spcAft>
            </a:pPr>
            <a:r>
              <a:rPr lang="en-US" sz="2200" b="1" dirty="0" smtClean="0">
                <a:latin typeface="Helvetica" pitchFamily="34" charset="0"/>
              </a:rPr>
              <a:t>Developing, distributing and analysing questionnaires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5" name="Picture 4" descr="MP900289858[1].JPG"/>
          <p:cNvPicPr/>
          <p:nvPr/>
        </p:nvPicPr>
        <p:blipFill>
          <a:blip r:embed="rId3" cstate="print"/>
          <a:stretch>
            <a:fillRect/>
          </a:stretch>
        </p:blipFill>
        <p:spPr>
          <a:xfrm>
            <a:off x="6156176" y="4221088"/>
            <a:ext cx="2263306" cy="1343771"/>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formal and/or informal research to update local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Attending conferences and seminars</a:t>
            </a:r>
          </a:p>
          <a:p>
            <a:pPr marL="360000" indent="-360000">
              <a:spcBef>
                <a:spcPts val="1200"/>
              </a:spcBef>
              <a:spcAft>
                <a:spcPts val="1200"/>
              </a:spcAft>
            </a:pPr>
            <a:r>
              <a:rPr lang="en-US" sz="2200" b="1" dirty="0" smtClean="0">
                <a:latin typeface="Helvetica" pitchFamily="34" charset="0"/>
              </a:rPr>
              <a:t>Attending launches and openings</a:t>
            </a:r>
          </a:p>
          <a:p>
            <a:pPr marL="360000" indent="-360000">
              <a:spcBef>
                <a:spcPts val="1200"/>
              </a:spcBef>
              <a:spcAft>
                <a:spcPts val="1200"/>
              </a:spcAft>
            </a:pPr>
            <a:r>
              <a:rPr lang="en-US" sz="2200" b="1" dirty="0" smtClean="0">
                <a:latin typeface="Helvetica" pitchFamily="34" charset="0"/>
              </a:rPr>
              <a:t>Attending industry functions</a:t>
            </a:r>
          </a:p>
          <a:p>
            <a:pPr marL="360000" indent="-360000">
              <a:spcBef>
                <a:spcPts val="1200"/>
              </a:spcBef>
              <a:spcAft>
                <a:spcPts val="1200"/>
              </a:spcAft>
            </a:pPr>
            <a:r>
              <a:rPr lang="en-US" sz="2200" b="1" dirty="0" smtClean="0">
                <a:latin typeface="Helvetica" pitchFamily="34" charset="0"/>
              </a:rPr>
              <a:t>Participating in ‘familiarisation’ tours.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5" name="Picture 4" descr="Picture1.wmf"/>
          <p:cNvPicPr/>
          <p:nvPr/>
        </p:nvPicPr>
        <p:blipFill>
          <a:blip r:embed="rId3" cstate="print"/>
          <a:stretch>
            <a:fillRect/>
          </a:stretch>
        </p:blipFill>
        <p:spPr>
          <a:xfrm>
            <a:off x="6804248" y="3573016"/>
            <a:ext cx="1754091" cy="1765190"/>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formal and/or informal research to update local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Keys to effective research:</a:t>
            </a:r>
          </a:p>
          <a:p>
            <a:pPr marL="360000" indent="-360000">
              <a:spcBef>
                <a:spcPts val="1200"/>
              </a:spcBef>
              <a:spcAft>
                <a:spcPts val="1200"/>
              </a:spcAft>
            </a:pPr>
            <a:r>
              <a:rPr lang="en-US" sz="2200" b="1" dirty="0" smtClean="0">
                <a:latin typeface="Helvetica" pitchFamily="34" charset="0"/>
              </a:rPr>
              <a:t>Do it regularly</a:t>
            </a:r>
          </a:p>
          <a:p>
            <a:pPr marL="360000" indent="-360000">
              <a:spcBef>
                <a:spcPts val="1200"/>
              </a:spcBef>
              <a:spcAft>
                <a:spcPts val="1200"/>
              </a:spcAft>
            </a:pPr>
            <a:r>
              <a:rPr lang="en-US" sz="2200" b="1" dirty="0" smtClean="0">
                <a:latin typeface="Helvetica" pitchFamily="34" charset="0"/>
              </a:rPr>
              <a:t>Take notes</a:t>
            </a:r>
          </a:p>
          <a:p>
            <a:pPr marL="360000" indent="-360000">
              <a:spcBef>
                <a:spcPts val="1200"/>
              </a:spcBef>
              <a:spcAft>
                <a:spcPts val="1200"/>
              </a:spcAft>
            </a:pPr>
            <a:r>
              <a:rPr lang="en-US" sz="2200" b="1" dirty="0" smtClean="0">
                <a:latin typeface="Helvetica" pitchFamily="34" charset="0"/>
              </a:rPr>
              <a:t>Obtain hard-copy material</a:t>
            </a:r>
          </a:p>
          <a:p>
            <a:pPr marL="360000" indent="-360000">
              <a:spcBef>
                <a:spcPts val="1200"/>
              </a:spcBef>
              <a:spcAft>
                <a:spcPts val="1200"/>
              </a:spcAft>
            </a:pPr>
            <a:r>
              <a:rPr lang="en-US" sz="2200" b="1" dirty="0" smtClean="0">
                <a:latin typeface="Helvetica" pitchFamily="34" charset="0"/>
              </a:rPr>
              <a:t>Involve others</a:t>
            </a:r>
          </a:p>
          <a:p>
            <a:pPr marL="360000" indent="-360000">
              <a:spcBef>
                <a:spcPts val="1200"/>
              </a:spcBef>
              <a:spcAft>
                <a:spcPts val="1200"/>
              </a:spcAft>
            </a:pPr>
            <a:r>
              <a:rPr lang="en-US" sz="2200" b="1" dirty="0" smtClean="0">
                <a:latin typeface="Helvetica" pitchFamily="34" charset="0"/>
              </a:rPr>
              <a:t>Share your findings.</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1029" name="Picture 5" descr="C:\Documents and Settings\maiv\Local Settings\Temporary Internet Files\Content.IE5\54081KBU\MP900442559[1].jpg"/>
          <p:cNvPicPr>
            <a:picLocks noChangeAspect="1" noChangeArrowheads="1"/>
          </p:cNvPicPr>
          <p:nvPr/>
        </p:nvPicPr>
        <p:blipFill>
          <a:blip r:embed="rId3" cstate="print"/>
          <a:srcRect/>
          <a:stretch>
            <a:fillRect/>
          </a:stretch>
        </p:blipFill>
        <p:spPr bwMode="auto">
          <a:xfrm>
            <a:off x="5868144" y="3933056"/>
            <a:ext cx="2587752" cy="1722120"/>
          </a:xfrm>
          <a:prstGeom prst="rect">
            <a:avLst/>
          </a:prstGeom>
          <a:noFill/>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Share updated knowledge with customers and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To share updated knowledge with customers:</a:t>
            </a:r>
          </a:p>
          <a:p>
            <a:pPr marL="360000" indent="-360000">
              <a:spcBef>
                <a:spcPts val="1200"/>
              </a:spcBef>
              <a:spcAft>
                <a:spcPts val="1200"/>
              </a:spcAft>
            </a:pPr>
            <a:r>
              <a:rPr lang="en-US" sz="2200" b="1" dirty="0" smtClean="0">
                <a:latin typeface="Helvetica" pitchFamily="34" charset="0"/>
              </a:rPr>
              <a:t>Advise of altered situations when talking to them</a:t>
            </a:r>
          </a:p>
          <a:p>
            <a:pPr marL="360000" indent="-360000">
              <a:spcBef>
                <a:spcPts val="1200"/>
              </a:spcBef>
              <a:spcAft>
                <a:spcPts val="1200"/>
              </a:spcAft>
            </a:pPr>
            <a:r>
              <a:rPr lang="en-US" sz="2200" b="1" dirty="0" smtClean="0">
                <a:latin typeface="Helvetica" pitchFamily="34" charset="0"/>
              </a:rPr>
              <a:t>Mention new options at appropriate opportunities</a:t>
            </a:r>
          </a:p>
          <a:p>
            <a:pPr marL="360000" indent="-360000">
              <a:spcBef>
                <a:spcPts val="1200"/>
              </a:spcBef>
              <a:spcAft>
                <a:spcPts val="1200"/>
              </a:spcAft>
            </a:pPr>
            <a:r>
              <a:rPr lang="en-US" sz="2200" b="1" dirty="0" smtClean="0">
                <a:latin typeface="Helvetica" pitchFamily="34" charset="0"/>
              </a:rPr>
              <a:t>Asking people what they have already done or seen</a:t>
            </a:r>
          </a:p>
          <a:p>
            <a:pPr marL="360000" indent="-360000">
              <a:spcBef>
                <a:spcPts val="1200"/>
              </a:spcBef>
              <a:spcAft>
                <a:spcPts val="1200"/>
              </a:spcAft>
            </a:pPr>
            <a:r>
              <a:rPr lang="en-US" sz="2200" b="1" dirty="0" smtClean="0">
                <a:latin typeface="Helvetica" pitchFamily="34" charset="0"/>
              </a:rPr>
              <a:t>Prepare local information packs</a:t>
            </a:r>
          </a:p>
          <a:p>
            <a:pPr marL="360000" indent="-360000">
              <a:spcBef>
                <a:spcPts val="1200"/>
              </a:spcBef>
              <a:spcAft>
                <a:spcPts val="1200"/>
              </a:spcAft>
            </a:pPr>
            <a:r>
              <a:rPr lang="en-US" sz="2200" b="1" dirty="0" smtClean="0">
                <a:latin typeface="Helvetica" pitchFamily="34" charset="0"/>
              </a:rPr>
              <a:t>Develop a series of local tours.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2050" name="Picture 2" descr="C:\Documents and Settings\maiv\Local Settings\Temporary Internet Files\Content.IE5\54081KBU\MP900422115[1].jpg"/>
          <p:cNvPicPr>
            <a:picLocks noChangeAspect="1" noChangeArrowheads="1"/>
          </p:cNvPicPr>
          <p:nvPr/>
        </p:nvPicPr>
        <p:blipFill>
          <a:blip r:embed="rId3" cstate="print"/>
          <a:srcRect/>
          <a:stretch>
            <a:fillRect/>
          </a:stretch>
        </p:blipFill>
        <p:spPr bwMode="auto">
          <a:xfrm>
            <a:off x="5940152" y="4149080"/>
            <a:ext cx="2518969" cy="1678657"/>
          </a:xfrm>
          <a:prstGeom prst="rect">
            <a:avLst/>
          </a:prstGeom>
          <a:noFill/>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Share updated knowledge with customers and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Share updated knowledge with colleagues by:</a:t>
            </a:r>
          </a:p>
          <a:p>
            <a:pPr marL="360000" indent="-360000">
              <a:spcBef>
                <a:spcPts val="1200"/>
              </a:spcBef>
              <a:spcAft>
                <a:spcPts val="1200"/>
              </a:spcAft>
            </a:pPr>
            <a:r>
              <a:rPr lang="en-US" sz="2200" b="1" dirty="0" smtClean="0">
                <a:latin typeface="Helvetica" pitchFamily="34" charset="0"/>
              </a:rPr>
              <a:t>Verbally telling colleagues</a:t>
            </a:r>
          </a:p>
          <a:p>
            <a:pPr marL="360000" indent="-360000">
              <a:spcBef>
                <a:spcPts val="1200"/>
              </a:spcBef>
              <a:spcAft>
                <a:spcPts val="1200"/>
              </a:spcAft>
            </a:pPr>
            <a:r>
              <a:rPr lang="en-US" sz="2200" b="1" dirty="0" smtClean="0">
                <a:latin typeface="Helvetica" pitchFamily="34" charset="0"/>
              </a:rPr>
              <a:t>E-mailing co-workers</a:t>
            </a:r>
          </a:p>
          <a:p>
            <a:pPr marL="360000" indent="-360000">
              <a:spcBef>
                <a:spcPts val="1200"/>
              </a:spcBef>
              <a:spcAft>
                <a:spcPts val="1200"/>
              </a:spcAft>
            </a:pPr>
            <a:r>
              <a:rPr lang="en-US" sz="2200" b="1" dirty="0" smtClean="0">
                <a:latin typeface="Helvetica" pitchFamily="34" charset="0"/>
              </a:rPr>
              <a:t>Preparing a handout</a:t>
            </a:r>
          </a:p>
          <a:p>
            <a:pPr marL="360000" indent="-360000">
              <a:spcBef>
                <a:spcPts val="1200"/>
              </a:spcBef>
              <a:spcAft>
                <a:spcPts val="1200"/>
              </a:spcAft>
            </a:pPr>
            <a:r>
              <a:rPr lang="en-US" sz="2200" b="1" dirty="0" smtClean="0">
                <a:latin typeface="Helvetica" pitchFamily="34" charset="0"/>
              </a:rPr>
              <a:t>Up-dating internal systems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5" name="Picture 4" descr="man on the phone.jpg"/>
          <p:cNvPicPr>
            <a:picLocks noChangeAspect="1"/>
          </p:cNvPicPr>
          <p:nvPr/>
        </p:nvPicPr>
        <p:blipFill>
          <a:blip r:embed="rId3" cstate="print"/>
          <a:stretch>
            <a:fillRect/>
          </a:stretch>
        </p:blipFill>
        <p:spPr>
          <a:xfrm>
            <a:off x="6804248" y="3212976"/>
            <a:ext cx="1656184" cy="2481350"/>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Share updated knowledge with customers and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Replace and replenish internal displays</a:t>
            </a:r>
          </a:p>
          <a:p>
            <a:pPr marL="360000" indent="-360000">
              <a:spcBef>
                <a:spcPts val="1200"/>
              </a:spcBef>
              <a:spcAft>
                <a:spcPts val="1200"/>
              </a:spcAft>
            </a:pPr>
            <a:r>
              <a:rPr lang="en-US" sz="2200" b="1" dirty="0" smtClean="0">
                <a:latin typeface="Helvetica" pitchFamily="34" charset="0"/>
              </a:rPr>
              <a:t>Arrange for a guest speaker</a:t>
            </a:r>
          </a:p>
          <a:p>
            <a:pPr marL="360000" indent="-360000">
              <a:spcBef>
                <a:spcPts val="1200"/>
              </a:spcBef>
              <a:spcAft>
                <a:spcPts val="1200"/>
              </a:spcAft>
            </a:pPr>
            <a:r>
              <a:rPr lang="en-US" sz="2200" b="1" dirty="0" smtClean="0">
                <a:latin typeface="Helvetica" pitchFamily="34" charset="0"/>
              </a:rPr>
              <a:t>Organise a visit to the venue/attraction.</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5" name="Picture 4" descr="1111.jpg"/>
          <p:cNvPicPr/>
          <p:nvPr/>
        </p:nvPicPr>
        <p:blipFill>
          <a:blip r:embed="rId3" cstate="print"/>
          <a:stretch>
            <a:fillRect/>
          </a:stretch>
        </p:blipFill>
        <p:spPr>
          <a:xfrm>
            <a:off x="6156176" y="3861048"/>
            <a:ext cx="2270926" cy="1653872"/>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Incorporate sharing of local knowledge into day to day working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To incorporate sharing of local information into everyday activities:</a:t>
            </a:r>
          </a:p>
          <a:p>
            <a:pPr marL="360000" indent="-360000">
              <a:spcBef>
                <a:spcPts val="1200"/>
              </a:spcBef>
              <a:spcAft>
                <a:spcPts val="1200"/>
              </a:spcAft>
            </a:pPr>
            <a:r>
              <a:rPr lang="en-US" sz="2200" b="1" dirty="0" smtClean="0">
                <a:latin typeface="Helvetica" pitchFamily="34" charset="0"/>
              </a:rPr>
              <a:t>Prepare local trips/tours</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Full-day trips </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Half-day trips </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Two-hours trips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5" name="Picture 4" descr="Museum.jpg"/>
          <p:cNvPicPr/>
          <p:nvPr/>
        </p:nvPicPr>
        <p:blipFill>
          <a:blip r:embed="rId3" cstate="print"/>
          <a:stretch>
            <a:fillRect/>
          </a:stretch>
        </p:blipFill>
        <p:spPr>
          <a:xfrm>
            <a:off x="6516216" y="3789040"/>
            <a:ext cx="1976424" cy="1574358"/>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Incorporate sharing of local knowledge into day to day working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Develop a local information list</a:t>
            </a:r>
          </a:p>
          <a:p>
            <a:pPr marL="360000" indent="-360000">
              <a:spcBef>
                <a:spcPts val="1200"/>
              </a:spcBef>
              <a:spcAft>
                <a:spcPts val="1200"/>
              </a:spcAft>
            </a:pPr>
            <a:r>
              <a:rPr lang="en-US" sz="2200" b="1" dirty="0" smtClean="0">
                <a:latin typeface="Helvetica" pitchFamily="34" charset="0"/>
              </a:rPr>
              <a:t>Tell people what you know</a:t>
            </a:r>
          </a:p>
          <a:p>
            <a:pPr marL="360000" indent="-360000">
              <a:spcBef>
                <a:spcPts val="1200"/>
              </a:spcBef>
              <a:spcAft>
                <a:spcPts val="1200"/>
              </a:spcAft>
            </a:pPr>
            <a:r>
              <a:rPr lang="en-US" sz="2200" b="1" dirty="0" smtClean="0">
                <a:latin typeface="Helvetica" pitchFamily="34" charset="0"/>
              </a:rPr>
              <a:t>Inform regular visitors on arrival</a:t>
            </a:r>
          </a:p>
          <a:p>
            <a:pPr marL="360000" indent="-360000">
              <a:spcBef>
                <a:spcPts val="1200"/>
              </a:spcBef>
              <a:spcAft>
                <a:spcPts val="1200"/>
              </a:spcAft>
            </a:pPr>
            <a:r>
              <a:rPr lang="en-US" sz="2200" b="1" dirty="0" smtClean="0">
                <a:latin typeface="Helvetica" pitchFamily="34" charset="0"/>
              </a:rPr>
              <a:t>Maintain internal files</a:t>
            </a:r>
          </a:p>
          <a:p>
            <a:pPr marL="360000" indent="-360000">
              <a:spcBef>
                <a:spcPts val="1200"/>
              </a:spcBef>
              <a:spcAft>
                <a:spcPts val="1200"/>
              </a:spcAft>
            </a:pPr>
            <a:r>
              <a:rPr lang="en-US" sz="2200" b="1" dirty="0" smtClean="0">
                <a:latin typeface="Helvetica" pitchFamily="34" charset="0"/>
              </a:rPr>
              <a:t>Up-date public displays.</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5" name="Picture 4" descr="IMG_1657.jpg"/>
          <p:cNvPicPr/>
          <p:nvPr/>
        </p:nvPicPr>
        <p:blipFill>
          <a:blip r:embed="rId3" cstate="print"/>
          <a:stretch>
            <a:fillRect/>
          </a:stretch>
        </p:blipFill>
        <p:spPr>
          <a:xfrm>
            <a:off x="6804248" y="3789040"/>
            <a:ext cx="1625296" cy="1622066"/>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Incorporate sharing of local knowledge into day to day working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64896" cy="5040560"/>
          </a:xfrm>
        </p:spPr>
        <p:txBody>
          <a:bodyPr>
            <a:normAutofit/>
          </a:bodyPr>
          <a:lstStyle/>
          <a:p>
            <a:pPr marL="0" indent="0">
              <a:spcBef>
                <a:spcPts val="1200"/>
              </a:spcBef>
              <a:spcAft>
                <a:spcPts val="1200"/>
              </a:spcAft>
              <a:buNone/>
            </a:pPr>
            <a:r>
              <a:rPr lang="en-US" sz="2200" b="1" dirty="0" smtClean="0">
                <a:latin typeface="Helvetica" pitchFamily="34" charset="0"/>
              </a:rPr>
              <a:t>Never just say ‘Sorry, I don’t know’ when a visitor asks a question:</a:t>
            </a:r>
          </a:p>
          <a:p>
            <a:pPr marL="360000" indent="-360000">
              <a:spcBef>
                <a:spcPts val="1200"/>
              </a:spcBef>
              <a:spcAft>
                <a:spcPts val="1200"/>
              </a:spcAft>
            </a:pPr>
            <a:r>
              <a:rPr lang="en-US" sz="2200" b="1" dirty="0" smtClean="0">
                <a:latin typeface="Helvetica" pitchFamily="34" charset="0"/>
              </a:rPr>
              <a:t>Take action to find out the answer:</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Make a phone call</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Ask another staff member</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Refer to your library/files</a:t>
            </a:r>
          </a:p>
          <a:p>
            <a:pPr marL="360000" indent="-360000">
              <a:spcBef>
                <a:spcPts val="1200"/>
              </a:spcBef>
              <a:spcAft>
                <a:spcPts val="1200"/>
              </a:spcAft>
            </a:pPr>
            <a:r>
              <a:rPr lang="en-US" sz="2200" b="1" dirty="0" smtClean="0">
                <a:latin typeface="Helvetica" pitchFamily="34" charset="0"/>
              </a:rPr>
              <a:t>Find the answer</a:t>
            </a:r>
          </a:p>
          <a:p>
            <a:pPr marL="360000" indent="-360000">
              <a:spcBef>
                <a:spcPts val="1200"/>
              </a:spcBef>
              <a:spcAft>
                <a:spcPts val="1200"/>
              </a:spcAft>
            </a:pPr>
            <a:r>
              <a:rPr lang="en-US" sz="2200" b="1" dirty="0" smtClean="0">
                <a:latin typeface="Helvetica" pitchFamily="34" charset="0"/>
              </a:rPr>
              <a:t>Get back to the visitor and tell them what you found.</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1029" name="Picture 5" descr="C:\Documents and Settings\maiv\Local Settings\Temporary Internet Files\Content.IE5\XBB4NDLH\MP900442356[1].jpg"/>
          <p:cNvPicPr>
            <a:picLocks noChangeAspect="1" noChangeArrowheads="1"/>
          </p:cNvPicPr>
          <p:nvPr/>
        </p:nvPicPr>
        <p:blipFill>
          <a:blip r:embed="rId3" cstate="print"/>
          <a:srcRect/>
          <a:stretch>
            <a:fillRect/>
          </a:stretch>
        </p:blipFill>
        <p:spPr bwMode="auto">
          <a:xfrm>
            <a:off x="5940152" y="3356992"/>
            <a:ext cx="2651786" cy="1988840"/>
          </a:xfrm>
          <a:prstGeom prst="rect">
            <a:avLst/>
          </a:prstGeom>
          <a:noFill/>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Incorporate sharing of local knowledge into day to day working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Treat all visitors as needing help and friendship:</a:t>
            </a:r>
          </a:p>
          <a:p>
            <a:pPr marL="360000" indent="-360000">
              <a:spcBef>
                <a:spcPts val="1200"/>
              </a:spcBef>
              <a:spcAft>
                <a:spcPts val="1200"/>
              </a:spcAft>
            </a:pPr>
            <a:r>
              <a:rPr lang="en-US" sz="2200" b="1" dirty="0" smtClean="0">
                <a:latin typeface="Helvetica" pitchFamily="34" charset="0"/>
              </a:rPr>
              <a:t>Talk to them</a:t>
            </a:r>
          </a:p>
          <a:p>
            <a:pPr marL="360000" indent="-360000">
              <a:spcBef>
                <a:spcPts val="1200"/>
              </a:spcBef>
              <a:spcAft>
                <a:spcPts val="1200"/>
              </a:spcAft>
            </a:pPr>
            <a:r>
              <a:rPr lang="en-US" sz="2200" b="1" dirty="0" smtClean="0">
                <a:latin typeface="Helvetica" pitchFamily="34" charset="0"/>
              </a:rPr>
              <a:t>Smile</a:t>
            </a:r>
          </a:p>
          <a:p>
            <a:pPr marL="360000" indent="-360000">
              <a:spcBef>
                <a:spcPts val="1200"/>
              </a:spcBef>
              <a:spcAft>
                <a:spcPts val="1200"/>
              </a:spcAft>
            </a:pPr>
            <a:r>
              <a:rPr lang="en-US" sz="2200" b="1" dirty="0" smtClean="0">
                <a:latin typeface="Helvetica" pitchFamily="34" charset="0"/>
              </a:rPr>
              <a:t>Offer to help</a:t>
            </a:r>
          </a:p>
          <a:p>
            <a:pPr marL="360000" indent="-360000">
              <a:spcBef>
                <a:spcPts val="1200"/>
              </a:spcBef>
              <a:spcAft>
                <a:spcPts val="1200"/>
              </a:spcAft>
            </a:pPr>
            <a:r>
              <a:rPr lang="en-US" sz="2200" b="1" dirty="0" smtClean="0">
                <a:latin typeface="Helvetica" pitchFamily="34" charset="0"/>
              </a:rPr>
              <a:t>Provide information</a:t>
            </a:r>
          </a:p>
          <a:p>
            <a:pPr marL="360000" indent="-360000">
              <a:spcBef>
                <a:spcPts val="1200"/>
              </a:spcBef>
              <a:spcAft>
                <a:spcPts val="1200"/>
              </a:spcAft>
            </a:pPr>
            <a:r>
              <a:rPr lang="en-US" sz="2200" b="1" dirty="0" smtClean="0">
                <a:latin typeface="Helvetica" pitchFamily="34" charset="0"/>
              </a:rPr>
              <a:t>Offer advice</a:t>
            </a:r>
          </a:p>
          <a:p>
            <a:pPr marL="360000" indent="-360000">
              <a:spcBef>
                <a:spcPts val="1200"/>
              </a:spcBef>
              <a:spcAft>
                <a:spcPts val="1200"/>
              </a:spcAft>
            </a:pPr>
            <a:r>
              <a:rPr lang="en-US" sz="2200" b="1" dirty="0" smtClean="0">
                <a:latin typeface="Helvetica" pitchFamily="34" charset="0"/>
              </a:rPr>
              <a:t>Show an interest.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5" name="Picture 4" descr="iStock_Front Office Hotel.jpg"/>
          <p:cNvPicPr>
            <a:picLocks noChangeAspect="1"/>
          </p:cNvPicPr>
          <p:nvPr/>
        </p:nvPicPr>
        <p:blipFill>
          <a:blip r:embed="rId3" cstate="print"/>
          <a:stretch>
            <a:fillRect/>
          </a:stretch>
        </p:blipFill>
        <p:spPr>
          <a:xfrm>
            <a:off x="6876256" y="3429000"/>
            <a:ext cx="1553661" cy="2327747"/>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fontScale="55000" lnSpcReduction="20000"/>
          </a:bodyPr>
          <a:lstStyle/>
          <a:p>
            <a:pPr marL="0" indent="0">
              <a:spcBef>
                <a:spcPts val="1200"/>
              </a:spcBef>
              <a:spcAft>
                <a:spcPts val="1200"/>
              </a:spcAft>
              <a:buNone/>
            </a:pPr>
            <a:r>
              <a:rPr lang="en-US" sz="3500" b="1" dirty="0" smtClean="0">
                <a:latin typeface="Helvetica" pitchFamily="34" charset="0"/>
              </a:rPr>
              <a:t>When updating local knowledge:</a:t>
            </a:r>
          </a:p>
          <a:p>
            <a:pPr>
              <a:spcBef>
                <a:spcPts val="1200"/>
              </a:spcBef>
              <a:spcAft>
                <a:spcPts val="1200"/>
              </a:spcAft>
            </a:pPr>
            <a:r>
              <a:rPr lang="en-US" sz="3500" b="1" dirty="0" smtClean="0">
                <a:latin typeface="Helvetica" pitchFamily="34" charset="0"/>
              </a:rPr>
              <a:t>Be active – never expect information to come to you. You have to go and get it</a:t>
            </a:r>
            <a:endParaRPr lang="en-AU" sz="3500" b="1" dirty="0" smtClean="0">
              <a:latin typeface="Helvetica" pitchFamily="34" charset="0"/>
            </a:endParaRPr>
          </a:p>
          <a:p>
            <a:pPr>
              <a:spcBef>
                <a:spcPts val="1200"/>
              </a:spcBef>
              <a:spcAft>
                <a:spcPts val="1200"/>
              </a:spcAft>
            </a:pPr>
            <a:r>
              <a:rPr lang="en-US" sz="3500" b="1" dirty="0" smtClean="0">
                <a:latin typeface="Helvetica" pitchFamily="34" charset="0"/>
              </a:rPr>
              <a:t>Use formal and informal research techniques to source local information</a:t>
            </a:r>
            <a:endParaRPr lang="en-AU" sz="3500" b="1" dirty="0" smtClean="0">
              <a:latin typeface="Helvetica" pitchFamily="34" charset="0"/>
            </a:endParaRPr>
          </a:p>
          <a:p>
            <a:pPr>
              <a:spcBef>
                <a:spcPts val="1200"/>
              </a:spcBef>
              <a:spcAft>
                <a:spcPts val="1200"/>
              </a:spcAft>
            </a:pPr>
            <a:r>
              <a:rPr lang="en-US" sz="3500" b="1" dirty="0" err="1" smtClean="0">
                <a:latin typeface="Helvetica" pitchFamily="34" charset="0"/>
              </a:rPr>
              <a:t>Organise</a:t>
            </a:r>
            <a:r>
              <a:rPr lang="en-US" sz="3500" b="1" dirty="0" smtClean="0">
                <a:latin typeface="Helvetica" pitchFamily="34" charset="0"/>
              </a:rPr>
              <a:t> familiarisation tours of local venues and attractions</a:t>
            </a:r>
            <a:endParaRPr lang="en-AU" sz="3500" b="1" dirty="0" smtClean="0">
              <a:latin typeface="Helvetica" pitchFamily="34" charset="0"/>
            </a:endParaRPr>
          </a:p>
          <a:p>
            <a:pPr>
              <a:spcBef>
                <a:spcPts val="1200"/>
              </a:spcBef>
              <a:spcAft>
                <a:spcPts val="1200"/>
              </a:spcAft>
            </a:pPr>
            <a:r>
              <a:rPr lang="en-US" sz="3500" b="1" dirty="0" smtClean="0">
                <a:latin typeface="Helvetica" pitchFamily="34" charset="0"/>
              </a:rPr>
              <a:t>Research on an ongoing basis. You cannot </a:t>
            </a:r>
            <a:br>
              <a:rPr lang="en-US" sz="3500" b="1" dirty="0" smtClean="0">
                <a:latin typeface="Helvetica" pitchFamily="34" charset="0"/>
              </a:rPr>
            </a:br>
            <a:r>
              <a:rPr lang="en-US" sz="3500" b="1" dirty="0" smtClean="0">
                <a:latin typeface="Helvetica" pitchFamily="34" charset="0"/>
              </a:rPr>
              <a:t>research local information once and believe </a:t>
            </a:r>
            <a:br>
              <a:rPr lang="en-US" sz="3500" b="1" dirty="0" smtClean="0">
                <a:latin typeface="Helvetica" pitchFamily="34" charset="0"/>
              </a:rPr>
            </a:br>
            <a:r>
              <a:rPr lang="en-US" sz="3500" b="1" dirty="0" smtClean="0">
                <a:latin typeface="Helvetica" pitchFamily="34" charset="0"/>
              </a:rPr>
              <a:t>that is all there is to it</a:t>
            </a:r>
            <a:endParaRPr lang="en-AU" sz="3500" b="1" dirty="0" smtClean="0">
              <a:latin typeface="Helvetica" pitchFamily="34" charset="0"/>
            </a:endParaRPr>
          </a:p>
          <a:p>
            <a:pPr marL="360000" indent="-360000">
              <a:spcBef>
                <a:spcPts val="1200"/>
              </a:spcBef>
              <a:spcAft>
                <a:spcPts val="1200"/>
              </a:spcAft>
              <a:buNone/>
            </a:pPr>
            <a:r>
              <a:rPr lang="en-US" sz="35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5" name="Picture 2" descr="C:\Documents and Settings\maiv\Local Settings\Temporary Internet Files\Content.IE5\A8BAWIUD\MC900440428[1].wmf"/>
          <p:cNvPicPr>
            <a:picLocks noChangeAspect="1" noChangeArrowheads="1"/>
          </p:cNvPicPr>
          <p:nvPr/>
        </p:nvPicPr>
        <p:blipFill>
          <a:blip r:embed="rId3" cstate="print"/>
          <a:srcRect/>
          <a:stretch>
            <a:fillRect/>
          </a:stretch>
        </p:blipFill>
        <p:spPr bwMode="auto">
          <a:xfrm>
            <a:off x="6732240" y="3645024"/>
            <a:ext cx="1736725" cy="1828800"/>
          </a:xfrm>
          <a:prstGeom prst="rect">
            <a:avLst/>
          </a:prstGeom>
          <a:noFill/>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US" sz="2200" b="1" dirty="0" smtClean="0">
                <a:latin typeface="Helvetica" pitchFamily="34" charset="0"/>
              </a:rPr>
              <a:t>Take notes about information you discover</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Share new and/or revised local information with work colleagues so they too keep up to date</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Integrate new/revised local knowledge into activities designed to enhance visitor </a:t>
            </a:r>
            <a:br>
              <a:rPr lang="en-US" sz="2200" b="1" dirty="0" smtClean="0">
                <a:latin typeface="Helvetica" pitchFamily="34" charset="0"/>
              </a:rPr>
            </a:br>
            <a:r>
              <a:rPr lang="en-US" sz="2200" b="1" dirty="0" smtClean="0">
                <a:latin typeface="Helvetica" pitchFamily="34" charset="0"/>
              </a:rPr>
              <a:t>experience, and encourage repeat and/or </a:t>
            </a:r>
            <a:br>
              <a:rPr lang="en-US" sz="2200" b="1" dirty="0" smtClean="0">
                <a:latin typeface="Helvetica" pitchFamily="34" charset="0"/>
              </a:rPr>
            </a:br>
            <a:r>
              <a:rPr lang="en-US" sz="2200" b="1" dirty="0" smtClean="0">
                <a:latin typeface="Helvetica" pitchFamily="34" charset="0"/>
              </a:rPr>
              <a:t>referral business</a:t>
            </a:r>
            <a:endParaRPr lang="en-AU" sz="2200" b="1" dirty="0" smtClean="0">
              <a:latin typeface="Helvetica" pitchFamily="34" charset="0"/>
            </a:endParaRP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5" name="Picture 2" descr="C:\Documents and Settings\maiv\Local Settings\Temporary Internet Files\Content.IE5\A8BAWIUD\MC900440428[1].wmf"/>
          <p:cNvPicPr>
            <a:picLocks noChangeAspect="1" noChangeArrowheads="1"/>
          </p:cNvPicPr>
          <p:nvPr/>
        </p:nvPicPr>
        <p:blipFill>
          <a:blip r:embed="rId3" cstate="print"/>
          <a:srcRect/>
          <a:stretch>
            <a:fillRect/>
          </a:stretch>
        </p:blipFill>
        <p:spPr bwMode="auto">
          <a:xfrm>
            <a:off x="6732240" y="3645024"/>
            <a:ext cx="1736725" cy="1828800"/>
          </a:xfrm>
          <a:prstGeom prst="rect">
            <a:avLst/>
          </a:prstGeom>
          <a:noFill/>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US" sz="2200" b="1" dirty="0" smtClean="0">
                <a:latin typeface="Helvetica" pitchFamily="34" charset="0"/>
              </a:rPr>
              <a:t>Tell visitors about new/revised local information. Never wait to be asked: be proactive in sharing local knowledge with everyone</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Develop local tours for visitors to enjoy – 2-hour, half-day and full-day trips</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Develop a list of local contacts you can use </a:t>
            </a:r>
            <a:br>
              <a:rPr lang="en-US" sz="2200" b="1" dirty="0" smtClean="0">
                <a:latin typeface="Helvetica" pitchFamily="34" charset="0"/>
              </a:rPr>
            </a:br>
            <a:r>
              <a:rPr lang="en-US" sz="2200" b="1" dirty="0" smtClean="0">
                <a:latin typeface="Helvetica" pitchFamily="34" charset="0"/>
              </a:rPr>
              <a:t>in order to help visitors with a specific </a:t>
            </a:r>
            <a:br>
              <a:rPr lang="en-US" sz="2200" b="1" dirty="0" smtClean="0">
                <a:latin typeface="Helvetica" pitchFamily="34" charset="0"/>
              </a:rPr>
            </a:br>
            <a:r>
              <a:rPr lang="en-US" sz="2200" b="1" dirty="0" smtClean="0">
                <a:latin typeface="Helvetica" pitchFamily="34" charset="0"/>
              </a:rPr>
              <a:t>need for local information</a:t>
            </a:r>
            <a:endParaRPr lang="en-AU" sz="2200" b="1" dirty="0" smtClean="0">
              <a:latin typeface="Helvetica" pitchFamily="34" charset="0"/>
            </a:endParaRP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5" name="Picture 2" descr="C:\Documents and Settings\maiv\Local Settings\Temporary Internet Files\Content.IE5\A8BAWIUD\MC900440428[1].wmf"/>
          <p:cNvPicPr>
            <a:picLocks noChangeAspect="1" noChangeArrowheads="1"/>
          </p:cNvPicPr>
          <p:nvPr/>
        </p:nvPicPr>
        <p:blipFill>
          <a:blip r:embed="rId3" cstate="print"/>
          <a:srcRect/>
          <a:stretch>
            <a:fillRect/>
          </a:stretch>
        </p:blipFill>
        <p:spPr bwMode="auto">
          <a:xfrm>
            <a:off x="6732240" y="3645024"/>
            <a:ext cx="1736725" cy="1828800"/>
          </a:xfrm>
          <a:prstGeom prst="rect">
            <a:avLst/>
          </a:prstGeom>
          <a:noFill/>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US" sz="2200" b="1" dirty="0" smtClean="0">
                <a:latin typeface="Helvetica" pitchFamily="34" charset="0"/>
              </a:rPr>
              <a:t>Involve all customer contact staff in providing local information and knowledge to visitors</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Never reply to a visitor request for information with a simple ‘I don’t know’ – find out, and pass the information on</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Always remember the need to be friendly </a:t>
            </a:r>
            <a:br>
              <a:rPr lang="en-US" sz="2200" b="1" dirty="0" smtClean="0">
                <a:latin typeface="Helvetica" pitchFamily="34" charset="0"/>
              </a:rPr>
            </a:br>
            <a:r>
              <a:rPr lang="en-US" sz="2200" b="1" dirty="0" smtClean="0">
                <a:latin typeface="Helvetica" pitchFamily="34" charset="0"/>
              </a:rPr>
              <a:t>and helpful to all tourists and visitors.</a:t>
            </a:r>
            <a:br>
              <a:rPr lang="en-US" sz="2200" b="1" dirty="0" smtClean="0">
                <a:latin typeface="Helvetica" pitchFamily="34" charset="0"/>
              </a:rPr>
            </a:b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5" name="Picture 2" descr="C:\Documents and Settings\maiv\Local Settings\Temporary Internet Files\Content.IE5\A8BAWIUD\MC900440428[1].wmf"/>
          <p:cNvPicPr>
            <a:picLocks noChangeAspect="1" noChangeArrowheads="1"/>
          </p:cNvPicPr>
          <p:nvPr/>
        </p:nvPicPr>
        <p:blipFill>
          <a:blip r:embed="rId3" cstate="print"/>
          <a:srcRect/>
          <a:stretch>
            <a:fillRect/>
          </a:stretch>
        </p:blipFill>
        <p:spPr bwMode="auto">
          <a:xfrm>
            <a:off x="6732240" y="3645024"/>
            <a:ext cx="1736725" cy="1828800"/>
          </a:xfrm>
          <a:prstGeom prst="rect">
            <a:avLst/>
          </a:prstGeom>
          <a:noFill/>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contact with local communities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1200"/>
              </a:spcBef>
              <a:spcAft>
                <a:spcPts val="1200"/>
              </a:spcAft>
              <a:buNone/>
            </a:pPr>
            <a:r>
              <a:rPr lang="en-US" sz="2200" b="1" dirty="0" smtClean="0">
                <a:latin typeface="Helvetica" pitchFamily="34" charset="0"/>
              </a:rPr>
              <a:t>Performance Criteria for this Element are:</a:t>
            </a:r>
          </a:p>
          <a:p>
            <a:pPr marL="360000" indent="-360000">
              <a:spcBef>
                <a:spcPts val="1200"/>
              </a:spcBef>
              <a:spcAft>
                <a:spcPts val="1200"/>
              </a:spcAft>
            </a:pPr>
            <a:r>
              <a:rPr lang="en-US" sz="2200" b="1" dirty="0" smtClean="0">
                <a:latin typeface="Helvetica" pitchFamily="34" charset="0"/>
              </a:rPr>
              <a:t>Provide accurate local tourism information in response to queries</a:t>
            </a:r>
          </a:p>
          <a:p>
            <a:pPr marL="360000" indent="-360000">
              <a:spcBef>
                <a:spcPts val="1200"/>
              </a:spcBef>
              <a:spcAft>
                <a:spcPts val="1200"/>
              </a:spcAft>
            </a:pPr>
            <a:r>
              <a:rPr lang="en-US" sz="2200" b="1" dirty="0" smtClean="0">
                <a:latin typeface="Helvetica" pitchFamily="34" charset="0"/>
              </a:rPr>
              <a:t>Use local knowledge to promote tourism products and services to encourage usage and purchase</a:t>
            </a:r>
          </a:p>
          <a:p>
            <a:pPr marL="360000" indent="-360000">
              <a:spcBef>
                <a:spcPts val="1200"/>
              </a:spcBef>
              <a:spcAft>
                <a:spcPts val="1200"/>
              </a:spcAft>
            </a:pPr>
            <a:r>
              <a:rPr lang="en-US" sz="2200" b="1" dirty="0" smtClean="0">
                <a:latin typeface="Helvetica" pitchFamily="34" charset="0"/>
              </a:rPr>
              <a:t>Make customers aware of possible extras, </a:t>
            </a:r>
            <a:br>
              <a:rPr lang="en-US" sz="2200" b="1" dirty="0" smtClean="0">
                <a:latin typeface="Helvetica" pitchFamily="34" charset="0"/>
              </a:rPr>
            </a:br>
            <a:r>
              <a:rPr lang="en-US" sz="2200" b="1" dirty="0" smtClean="0">
                <a:latin typeface="Helvetica" pitchFamily="34" charset="0"/>
              </a:rPr>
              <a:t>add-ons and further benefits</a:t>
            </a:r>
          </a:p>
          <a:p>
            <a:pPr marL="360000" indent="-360000">
              <a:spcBef>
                <a:spcPts val="1200"/>
              </a:spcBef>
              <a:spcAft>
                <a:spcPts val="1200"/>
              </a:spcAft>
            </a:pPr>
            <a:r>
              <a:rPr lang="en-US" sz="2200" b="1" dirty="0" smtClean="0">
                <a:latin typeface="Helvetica" pitchFamily="34" charset="0"/>
              </a:rPr>
              <a:t>Report queries and results to designated </a:t>
            </a:r>
            <a:br>
              <a:rPr lang="en-US" sz="2200" b="1" dirty="0" smtClean="0">
                <a:latin typeface="Helvetica" pitchFamily="34" charset="0"/>
              </a:rPr>
            </a:br>
            <a:r>
              <a:rPr lang="en-US" sz="2200" b="1" dirty="0" smtClean="0">
                <a:latin typeface="Helvetica" pitchFamily="34" charset="0"/>
              </a:rPr>
              <a:t>person within enterprise for follow-up </a:t>
            </a:r>
            <a:br>
              <a:rPr lang="en-US" sz="2200" b="1" dirty="0" smtClean="0">
                <a:latin typeface="Helvetica" pitchFamily="34" charset="0"/>
              </a:rPr>
            </a:br>
            <a:r>
              <a:rPr lang="en-US" sz="2200" b="1" dirty="0" smtClean="0">
                <a:latin typeface="Helvetica" pitchFamily="34" charset="0"/>
              </a:rPr>
              <a:t>purposes.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5" name="Picture 4" descr="8.jpg"/>
          <p:cNvPicPr/>
          <p:nvPr/>
        </p:nvPicPr>
        <p:blipFill>
          <a:blip r:embed="rId3" cstate="print"/>
          <a:stretch>
            <a:fillRect/>
          </a:stretch>
        </p:blipFill>
        <p:spPr>
          <a:xfrm>
            <a:off x="6804248" y="4365104"/>
            <a:ext cx="2339752" cy="1494284"/>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contact with local communities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To develop and update local knowledge it is important to stay in contact with local communities. These include:</a:t>
            </a:r>
          </a:p>
          <a:p>
            <a:pPr marL="360000" indent="-360000">
              <a:spcBef>
                <a:spcPts val="1200"/>
              </a:spcBef>
              <a:spcAft>
                <a:spcPts val="1200"/>
              </a:spcAft>
            </a:pPr>
            <a:r>
              <a:rPr lang="en-US" sz="2200" b="1" dirty="0" smtClean="0">
                <a:latin typeface="Helvetica" pitchFamily="34" charset="0"/>
              </a:rPr>
              <a:t>Other businesses</a:t>
            </a:r>
          </a:p>
          <a:p>
            <a:pPr marL="360000" indent="-360000">
              <a:spcBef>
                <a:spcPts val="1200"/>
              </a:spcBef>
              <a:spcAft>
                <a:spcPts val="1200"/>
              </a:spcAft>
            </a:pPr>
            <a:r>
              <a:rPr lang="en-US" sz="2200" b="1" dirty="0" smtClean="0">
                <a:latin typeface="Helvetica" pitchFamily="34" charset="0"/>
              </a:rPr>
              <a:t>Local groups, clubs and interest groups</a:t>
            </a:r>
          </a:p>
          <a:p>
            <a:pPr marL="360000" indent="-360000">
              <a:spcBef>
                <a:spcPts val="1200"/>
              </a:spcBef>
              <a:spcAft>
                <a:spcPts val="1200"/>
              </a:spcAft>
            </a:pPr>
            <a:r>
              <a:rPr lang="en-US" sz="2200" b="1" dirty="0" smtClean="0">
                <a:latin typeface="Helvetica" pitchFamily="34" charset="0"/>
              </a:rPr>
              <a:t>Local individuals who are active in promoting </a:t>
            </a:r>
            <a:br>
              <a:rPr lang="en-US" sz="2200" b="1" dirty="0" smtClean="0">
                <a:latin typeface="Helvetica" pitchFamily="34" charset="0"/>
              </a:rPr>
            </a:br>
            <a:r>
              <a:rPr lang="en-US" sz="2200" b="1" dirty="0" smtClean="0">
                <a:latin typeface="Helvetica" pitchFamily="34" charset="0"/>
              </a:rPr>
              <a:t>the area</a:t>
            </a:r>
          </a:p>
          <a:p>
            <a:pPr marL="360000" indent="-360000">
              <a:spcBef>
                <a:spcPts val="1200"/>
              </a:spcBef>
              <a:spcAft>
                <a:spcPts val="1200"/>
              </a:spcAft>
            </a:pPr>
            <a:r>
              <a:rPr lang="en-US" sz="2200" b="1" dirty="0" smtClean="0">
                <a:latin typeface="Helvetica" pitchFamily="34" charset="0"/>
              </a:rPr>
              <a:t>Anyone or any organisation involved in </a:t>
            </a:r>
            <a:br>
              <a:rPr lang="en-US" sz="2200" b="1" dirty="0" smtClean="0">
                <a:latin typeface="Helvetica" pitchFamily="34" charset="0"/>
              </a:rPr>
            </a:br>
            <a:r>
              <a:rPr lang="en-US" sz="2200" b="1" dirty="0" err="1" smtClean="0">
                <a:latin typeface="Helvetica" pitchFamily="34" charset="0"/>
              </a:rPr>
              <a:t>organising</a:t>
            </a:r>
            <a:r>
              <a:rPr lang="en-US" sz="2200" b="1" dirty="0" smtClean="0">
                <a:latin typeface="Helvetica" pitchFamily="34" charset="0"/>
              </a:rPr>
              <a:t> local events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7" name="Picture 6" descr="6.jpg"/>
          <p:cNvPicPr/>
          <p:nvPr/>
        </p:nvPicPr>
        <p:blipFill>
          <a:blip r:embed="rId3" cstate="print"/>
          <a:stretch>
            <a:fillRect/>
          </a:stretch>
        </p:blipFill>
        <p:spPr>
          <a:xfrm>
            <a:off x="6867525" y="4653136"/>
            <a:ext cx="2276475" cy="1409700"/>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contact with local communities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Keys in staying in touch with local communities require a mix of:</a:t>
            </a:r>
          </a:p>
          <a:p>
            <a:pPr marL="360000" indent="-360000">
              <a:spcBef>
                <a:spcPts val="1200"/>
              </a:spcBef>
              <a:spcAft>
                <a:spcPts val="1200"/>
              </a:spcAft>
            </a:pPr>
            <a:r>
              <a:rPr lang="en-US" sz="2200" b="1" dirty="0" smtClean="0">
                <a:latin typeface="Helvetica" pitchFamily="34" charset="0"/>
              </a:rPr>
              <a:t>Joining local groups, </a:t>
            </a:r>
            <a:r>
              <a:rPr lang="en-US" sz="2200" b="1" dirty="0" err="1" smtClean="0">
                <a:latin typeface="Helvetica" pitchFamily="34" charset="0"/>
              </a:rPr>
              <a:t>organisations</a:t>
            </a:r>
            <a:r>
              <a:rPr lang="en-US" sz="2200" b="1" dirty="0" smtClean="0">
                <a:latin typeface="Helvetica" pitchFamily="34" charset="0"/>
              </a:rPr>
              <a:t> and associations</a:t>
            </a:r>
          </a:p>
          <a:p>
            <a:pPr marL="360000" indent="-360000">
              <a:spcBef>
                <a:spcPts val="1200"/>
              </a:spcBef>
              <a:spcAft>
                <a:spcPts val="1200"/>
              </a:spcAft>
            </a:pPr>
            <a:r>
              <a:rPr lang="en-US" sz="2200" b="1" dirty="0" smtClean="0">
                <a:latin typeface="Helvetica" pitchFamily="34" charset="0"/>
              </a:rPr>
              <a:t>Participating in what local groups  are doing</a:t>
            </a:r>
          </a:p>
          <a:p>
            <a:pPr marL="360000" indent="-360000">
              <a:spcBef>
                <a:spcPts val="1200"/>
              </a:spcBef>
              <a:spcAft>
                <a:spcPts val="1200"/>
              </a:spcAft>
            </a:pPr>
            <a:r>
              <a:rPr lang="en-US" sz="2200" b="1" dirty="0" smtClean="0">
                <a:latin typeface="Helvetica" pitchFamily="34" charset="0"/>
              </a:rPr>
              <a:t>Keeping in contact with local groups and network of contacts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5" name="Picture 4" descr="Flora 3.jpg"/>
          <p:cNvPicPr/>
          <p:nvPr/>
        </p:nvPicPr>
        <p:blipFill>
          <a:blip r:embed="rId3" cstate="print"/>
          <a:stretch>
            <a:fillRect/>
          </a:stretch>
        </p:blipFill>
        <p:spPr>
          <a:xfrm>
            <a:off x="7705725" y="3501008"/>
            <a:ext cx="1438275" cy="1323975"/>
          </a:xfrm>
          <a:prstGeom prst="rect">
            <a:avLst/>
          </a:prstGeom>
        </p:spPr>
      </p:pic>
      <p:pic>
        <p:nvPicPr>
          <p:cNvPr id="6" name="Picture 5" descr="wed_5756.jpg"/>
          <p:cNvPicPr/>
          <p:nvPr/>
        </p:nvPicPr>
        <p:blipFill>
          <a:blip r:embed="rId4" cstate="print"/>
          <a:stretch>
            <a:fillRect/>
          </a:stretch>
        </p:blipFill>
        <p:spPr>
          <a:xfrm>
            <a:off x="7086600" y="4869160"/>
            <a:ext cx="2057400" cy="1371600"/>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contact with local communities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Asking and encouraging them to make contact with you</a:t>
            </a:r>
          </a:p>
          <a:p>
            <a:pPr marL="360000" indent="-360000">
              <a:spcBef>
                <a:spcPts val="1200"/>
              </a:spcBef>
              <a:spcAft>
                <a:spcPts val="1200"/>
              </a:spcAft>
            </a:pPr>
            <a:r>
              <a:rPr lang="en-US" sz="2200" b="1" dirty="0" smtClean="0">
                <a:latin typeface="Helvetica" pitchFamily="34" charset="0"/>
              </a:rPr>
              <a:t>Thanking them when they make contact</a:t>
            </a:r>
          </a:p>
          <a:p>
            <a:pPr marL="360000" indent="-360000">
              <a:spcBef>
                <a:spcPts val="1200"/>
              </a:spcBef>
              <a:spcAft>
                <a:spcPts val="1200"/>
              </a:spcAft>
            </a:pPr>
            <a:r>
              <a:rPr lang="en-US" sz="2200" b="1" dirty="0" smtClean="0">
                <a:latin typeface="Helvetica" pitchFamily="34" charset="0"/>
              </a:rPr>
              <a:t>Offering your venue as a place for meetings.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5" name="Picture 4" descr="00409338.jpg"/>
          <p:cNvPicPr/>
          <p:nvPr/>
        </p:nvPicPr>
        <p:blipFill>
          <a:blip r:embed="rId3" cstate="print"/>
          <a:stretch>
            <a:fillRect/>
          </a:stretch>
        </p:blipFill>
        <p:spPr>
          <a:xfrm>
            <a:off x="7092280" y="3501008"/>
            <a:ext cx="1584176" cy="2304256"/>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accurate local tourism information in response to queries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1200"/>
              </a:spcBef>
              <a:spcAft>
                <a:spcPts val="1200"/>
              </a:spcAft>
              <a:buNone/>
            </a:pPr>
            <a:r>
              <a:rPr lang="en-US" sz="2200" b="1" dirty="0" smtClean="0">
                <a:latin typeface="Helvetica" pitchFamily="34" charset="0"/>
              </a:rPr>
              <a:t>Effective responses to visitor enquiries must be:</a:t>
            </a:r>
          </a:p>
          <a:p>
            <a:pPr marL="360000" indent="-360000">
              <a:spcBef>
                <a:spcPts val="1200"/>
              </a:spcBef>
              <a:spcAft>
                <a:spcPts val="1200"/>
              </a:spcAft>
            </a:pPr>
            <a:r>
              <a:rPr lang="en-US" sz="2200" b="1" dirty="0" smtClean="0">
                <a:latin typeface="Helvetica" pitchFamily="34" charset="0"/>
              </a:rPr>
              <a:t>Honest</a:t>
            </a:r>
          </a:p>
          <a:p>
            <a:pPr marL="360000" indent="-360000">
              <a:spcBef>
                <a:spcPts val="1200"/>
              </a:spcBef>
              <a:spcAft>
                <a:spcPts val="1200"/>
              </a:spcAft>
            </a:pPr>
            <a:r>
              <a:rPr lang="en-US" sz="2200" b="1" dirty="0" smtClean="0">
                <a:latin typeface="Helvetica" pitchFamily="34" charset="0"/>
              </a:rPr>
              <a:t>Comprehensive</a:t>
            </a:r>
          </a:p>
          <a:p>
            <a:pPr marL="360000" indent="-360000">
              <a:spcBef>
                <a:spcPts val="1200"/>
              </a:spcBef>
              <a:spcAft>
                <a:spcPts val="1200"/>
              </a:spcAft>
            </a:pPr>
            <a:r>
              <a:rPr lang="en-US" sz="2200" b="1" dirty="0" smtClean="0">
                <a:latin typeface="Helvetica" pitchFamily="34" charset="0"/>
              </a:rPr>
              <a:t>Up to date</a:t>
            </a:r>
          </a:p>
          <a:p>
            <a:pPr marL="360000" indent="-360000">
              <a:spcBef>
                <a:spcPts val="1200"/>
              </a:spcBef>
              <a:spcAft>
                <a:spcPts val="1200"/>
              </a:spcAft>
            </a:pPr>
            <a:r>
              <a:rPr lang="en-US" sz="2200" b="1" dirty="0" smtClean="0">
                <a:latin typeface="Helvetica" pitchFamily="34" charset="0"/>
              </a:rPr>
              <a:t>Relevant</a:t>
            </a:r>
          </a:p>
          <a:p>
            <a:pPr marL="360000" indent="-360000">
              <a:spcBef>
                <a:spcPts val="1200"/>
              </a:spcBef>
              <a:spcAft>
                <a:spcPts val="1200"/>
              </a:spcAft>
            </a:pPr>
            <a:r>
              <a:rPr lang="en-US" sz="2200" b="1" dirty="0" smtClean="0">
                <a:latin typeface="Helvetica" pitchFamily="34" charset="0"/>
              </a:rPr>
              <a:t>Timely.</a:t>
            </a:r>
          </a:p>
          <a:p>
            <a:pPr marL="360000" indent="-360000" algn="ctr">
              <a:spcBef>
                <a:spcPts val="1200"/>
              </a:spcBef>
              <a:spcAft>
                <a:spcPts val="1200"/>
              </a:spcAft>
              <a:buNone/>
            </a:pPr>
            <a:r>
              <a:rPr lang="en-US" sz="2200" b="1" i="1" dirty="0" smtClean="0">
                <a:latin typeface="Helvetica" pitchFamily="34" charset="0"/>
              </a:rPr>
              <a:t>Everyone has responsibility for answering </a:t>
            </a:r>
            <a:br>
              <a:rPr lang="en-US" sz="2200" b="1" i="1" dirty="0" smtClean="0">
                <a:latin typeface="Helvetica" pitchFamily="34" charset="0"/>
              </a:rPr>
            </a:br>
            <a:r>
              <a:rPr lang="en-US" sz="2200" b="1" i="1" dirty="0" smtClean="0">
                <a:latin typeface="Helvetica" pitchFamily="34" charset="0"/>
              </a:rPr>
              <a:t>visitor queries.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5" name="Picture 4" descr="Flora 4.jpg"/>
          <p:cNvPicPr>
            <a:picLocks noChangeAspect="1"/>
          </p:cNvPicPr>
          <p:nvPr/>
        </p:nvPicPr>
        <p:blipFill>
          <a:blip r:embed="rId3" cstate="print"/>
          <a:stretch>
            <a:fillRect/>
          </a:stretch>
        </p:blipFill>
        <p:spPr>
          <a:xfrm>
            <a:off x="7596336" y="1700808"/>
            <a:ext cx="1547664" cy="1547664"/>
          </a:xfrm>
          <a:prstGeom prst="rect">
            <a:avLst/>
          </a:prstGeom>
        </p:spPr>
      </p:pic>
      <p:pic>
        <p:nvPicPr>
          <p:cNvPr id="6" name="Picture 5" descr="wai_a_students_293_cmyk.jpg"/>
          <p:cNvPicPr>
            <a:picLocks noChangeAspect="1"/>
          </p:cNvPicPr>
          <p:nvPr/>
        </p:nvPicPr>
        <p:blipFill>
          <a:blip r:embed="rId4" cstate="print"/>
          <a:stretch>
            <a:fillRect/>
          </a:stretch>
        </p:blipFill>
        <p:spPr>
          <a:xfrm>
            <a:off x="7596336" y="3212976"/>
            <a:ext cx="1547663" cy="2314263"/>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accurate local tourism information in response to queries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You must have information about the following to meet visitor needs and expectations:</a:t>
            </a:r>
          </a:p>
          <a:p>
            <a:pPr marL="360000" indent="-360000">
              <a:spcBef>
                <a:spcPts val="1200"/>
              </a:spcBef>
              <a:spcAft>
                <a:spcPts val="1200"/>
              </a:spcAft>
            </a:pPr>
            <a:r>
              <a:rPr lang="en-US" sz="2200" b="1" dirty="0" smtClean="0">
                <a:latin typeface="Helvetica" pitchFamily="34" charset="0"/>
              </a:rPr>
              <a:t>The enterprise where you work</a:t>
            </a:r>
          </a:p>
          <a:p>
            <a:pPr marL="360000" indent="-360000">
              <a:spcBef>
                <a:spcPts val="1200"/>
              </a:spcBef>
              <a:spcAft>
                <a:spcPts val="1200"/>
              </a:spcAft>
            </a:pPr>
            <a:r>
              <a:rPr lang="en-US" sz="2200" b="1" dirty="0" smtClean="0">
                <a:latin typeface="Helvetica" pitchFamily="34" charset="0"/>
              </a:rPr>
              <a:t>Local transport</a:t>
            </a:r>
          </a:p>
          <a:p>
            <a:pPr marL="360000" indent="-360000">
              <a:spcBef>
                <a:spcPts val="1200"/>
              </a:spcBef>
              <a:spcAft>
                <a:spcPts val="1200"/>
              </a:spcAft>
            </a:pPr>
            <a:r>
              <a:rPr lang="en-US" sz="2200" b="1" dirty="0" smtClean="0">
                <a:latin typeface="Helvetica" pitchFamily="34" charset="0"/>
              </a:rPr>
              <a:t>Local attractions</a:t>
            </a:r>
          </a:p>
          <a:p>
            <a:pPr marL="360000" indent="-360000">
              <a:spcBef>
                <a:spcPts val="1200"/>
              </a:spcBef>
              <a:spcAft>
                <a:spcPts val="1200"/>
              </a:spcAft>
            </a:pPr>
            <a:r>
              <a:rPr lang="en-US" sz="2200" b="1" dirty="0" smtClean="0">
                <a:latin typeface="Helvetica" pitchFamily="34" charset="0"/>
              </a:rPr>
              <a:t>Local events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5" name="Picture 4" descr="Melbourne city.jpg"/>
          <p:cNvPicPr>
            <a:picLocks noChangeAspect="1"/>
          </p:cNvPicPr>
          <p:nvPr/>
        </p:nvPicPr>
        <p:blipFill>
          <a:blip r:embed="rId3" cstate="print"/>
          <a:stretch>
            <a:fillRect/>
          </a:stretch>
        </p:blipFill>
        <p:spPr>
          <a:xfrm>
            <a:off x="7190591" y="4221088"/>
            <a:ext cx="1953409" cy="1296144"/>
          </a:xfrm>
          <a:prstGeom prst="rect">
            <a:avLst/>
          </a:prstGeom>
        </p:spPr>
      </p:pic>
      <p:pic>
        <p:nvPicPr>
          <p:cNvPr id="6" name="Picture 5" descr="Flora 3.jpg"/>
          <p:cNvPicPr>
            <a:picLocks noChangeAspect="1"/>
          </p:cNvPicPr>
          <p:nvPr/>
        </p:nvPicPr>
        <p:blipFill>
          <a:blip r:embed="rId4" cstate="print"/>
          <a:stretch>
            <a:fillRect/>
          </a:stretch>
        </p:blipFill>
        <p:spPr>
          <a:xfrm>
            <a:off x="7953896" y="3140968"/>
            <a:ext cx="1190104" cy="1094896"/>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accurate local tourism information in response to queries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General visitor facilities</a:t>
            </a:r>
          </a:p>
          <a:p>
            <a:pPr marL="360000" indent="-360000">
              <a:spcBef>
                <a:spcPts val="1200"/>
              </a:spcBef>
              <a:spcAft>
                <a:spcPts val="1200"/>
              </a:spcAft>
            </a:pPr>
            <a:r>
              <a:rPr lang="en-US" sz="2200" b="1" dirty="0" smtClean="0">
                <a:latin typeface="Helvetica" pitchFamily="34" charset="0"/>
              </a:rPr>
              <a:t>Dining options</a:t>
            </a:r>
          </a:p>
          <a:p>
            <a:pPr marL="360000" indent="-360000">
              <a:spcBef>
                <a:spcPts val="1200"/>
              </a:spcBef>
              <a:spcAft>
                <a:spcPts val="1200"/>
              </a:spcAft>
            </a:pPr>
            <a:r>
              <a:rPr lang="en-US" sz="2200" b="1" dirty="0" smtClean="0">
                <a:latin typeface="Helvetica" pitchFamily="34" charset="0"/>
              </a:rPr>
              <a:t>Personal business services</a:t>
            </a:r>
          </a:p>
          <a:p>
            <a:pPr marL="360000" indent="-360000">
              <a:spcBef>
                <a:spcPts val="1200"/>
              </a:spcBef>
              <a:spcAft>
                <a:spcPts val="1200"/>
              </a:spcAft>
            </a:pPr>
            <a:r>
              <a:rPr lang="en-US" sz="2200" b="1" dirty="0" smtClean="0">
                <a:latin typeface="Helvetica" pitchFamily="34" charset="0"/>
              </a:rPr>
              <a:t>Entertainment</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5" name="Picture 4" descr="Food.jpg"/>
          <p:cNvPicPr/>
          <p:nvPr/>
        </p:nvPicPr>
        <p:blipFill>
          <a:blip r:embed="rId3" cstate="print"/>
          <a:stretch>
            <a:fillRect/>
          </a:stretch>
        </p:blipFill>
        <p:spPr>
          <a:xfrm>
            <a:off x="7381875" y="1628800"/>
            <a:ext cx="1762125" cy="2200275"/>
          </a:xfrm>
          <a:prstGeom prst="rect">
            <a:avLst/>
          </a:prstGeom>
        </p:spPr>
      </p:pic>
      <p:pic>
        <p:nvPicPr>
          <p:cNvPr id="6" name="Picture 5" descr="MP900432952[1].JPG"/>
          <p:cNvPicPr/>
          <p:nvPr/>
        </p:nvPicPr>
        <p:blipFill>
          <a:blip r:embed="rId4" cstate="print"/>
          <a:stretch>
            <a:fillRect/>
          </a:stretch>
        </p:blipFill>
        <p:spPr>
          <a:xfrm>
            <a:off x="7380312" y="3789040"/>
            <a:ext cx="1763688" cy="2448272"/>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accurate local tourism information in response to queries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Travel</a:t>
            </a:r>
          </a:p>
          <a:p>
            <a:pPr marL="360000" indent="-360000">
              <a:spcBef>
                <a:spcPts val="1200"/>
              </a:spcBef>
              <a:spcAft>
                <a:spcPts val="1200"/>
              </a:spcAft>
            </a:pPr>
            <a:r>
              <a:rPr lang="en-US" sz="2200" b="1" dirty="0" smtClean="0">
                <a:latin typeface="Helvetica" pitchFamily="34" charset="0"/>
              </a:rPr>
              <a:t>Weather</a:t>
            </a:r>
          </a:p>
          <a:p>
            <a:pPr marL="360000" indent="-360000">
              <a:spcBef>
                <a:spcPts val="1200"/>
              </a:spcBef>
              <a:spcAft>
                <a:spcPts val="1200"/>
              </a:spcAft>
            </a:pPr>
            <a:r>
              <a:rPr lang="en-US" sz="2200" b="1" dirty="0" smtClean="0">
                <a:latin typeface="Helvetica" pitchFamily="34" charset="0"/>
              </a:rPr>
              <a:t>Local visitor guides</a:t>
            </a:r>
          </a:p>
          <a:p>
            <a:pPr marL="360000" indent="-360000">
              <a:spcBef>
                <a:spcPts val="1200"/>
              </a:spcBef>
              <a:spcAft>
                <a:spcPts val="1200"/>
              </a:spcAft>
            </a:pPr>
            <a:r>
              <a:rPr lang="en-US" sz="2200" b="1" dirty="0" smtClean="0">
                <a:latin typeface="Helvetica" pitchFamily="34" charset="0"/>
              </a:rPr>
              <a:t>Local people</a:t>
            </a:r>
          </a:p>
          <a:p>
            <a:pPr marL="360000" indent="-360000">
              <a:spcBef>
                <a:spcPts val="1200"/>
              </a:spcBef>
              <a:spcAft>
                <a:spcPts val="1200"/>
              </a:spcAft>
            </a:pPr>
            <a:r>
              <a:rPr lang="en-US" sz="2200" b="1" dirty="0" smtClean="0">
                <a:latin typeface="Helvetica" pitchFamily="34" charset="0"/>
              </a:rPr>
              <a:t>Government requirements – laws </a:t>
            </a:r>
            <a:br>
              <a:rPr lang="en-US" sz="2200" b="1" dirty="0" smtClean="0">
                <a:latin typeface="Helvetica" pitchFamily="34" charset="0"/>
              </a:rPr>
            </a:br>
            <a:r>
              <a:rPr lang="en-US" sz="2200" b="1" dirty="0" smtClean="0">
                <a:latin typeface="Helvetica" pitchFamily="34" charset="0"/>
              </a:rPr>
              <a:t>and regulations.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5" name="Picture 4" descr="wed_5604.jpg"/>
          <p:cNvPicPr>
            <a:picLocks noChangeAspect="1"/>
          </p:cNvPicPr>
          <p:nvPr/>
        </p:nvPicPr>
        <p:blipFill>
          <a:blip r:embed="rId4" cstate="print"/>
          <a:stretch>
            <a:fillRect/>
          </a:stretch>
        </p:blipFill>
        <p:spPr>
          <a:xfrm>
            <a:off x="5868144" y="4005064"/>
            <a:ext cx="2647920" cy="1762522"/>
          </a:xfrm>
          <a:prstGeom prst="rect">
            <a:avLst/>
          </a:prstGeom>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local knowledge to promote tourism products and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When promoting tourism products and services:</a:t>
            </a:r>
          </a:p>
          <a:p>
            <a:pPr marL="360000" indent="-360000">
              <a:spcBef>
                <a:spcPts val="1200"/>
              </a:spcBef>
              <a:spcAft>
                <a:spcPts val="1200"/>
              </a:spcAft>
            </a:pPr>
            <a:r>
              <a:rPr lang="en-US" sz="2200" b="1" dirty="0" smtClean="0">
                <a:latin typeface="Helvetica" pitchFamily="34" charset="0"/>
              </a:rPr>
              <a:t>Be proactive</a:t>
            </a:r>
          </a:p>
          <a:p>
            <a:pPr marL="360000" indent="-360000">
              <a:spcBef>
                <a:spcPts val="1200"/>
              </a:spcBef>
              <a:spcAft>
                <a:spcPts val="1200"/>
              </a:spcAft>
            </a:pPr>
            <a:r>
              <a:rPr lang="en-US" sz="2200" b="1" dirty="0" smtClean="0">
                <a:latin typeface="Helvetica" pitchFamily="34" charset="0"/>
              </a:rPr>
              <a:t>Aims are:</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Enhance visitor experience</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Encourage longer stay.</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5" name="Picture 4" descr="spa1.jpg"/>
          <p:cNvPicPr>
            <a:picLocks noChangeAspect="1"/>
          </p:cNvPicPr>
          <p:nvPr/>
        </p:nvPicPr>
        <p:blipFill>
          <a:blip r:embed="rId3" cstate="print"/>
          <a:stretch>
            <a:fillRect/>
          </a:stretch>
        </p:blipFill>
        <p:spPr>
          <a:xfrm>
            <a:off x="7451304" y="2348880"/>
            <a:ext cx="1692696" cy="1269522"/>
          </a:xfrm>
          <a:prstGeom prst="rect">
            <a:avLst/>
          </a:prstGeom>
        </p:spPr>
      </p:pic>
      <p:pic>
        <p:nvPicPr>
          <p:cNvPr id="6" name="Picture 5" descr="MP900399909[1].JPG"/>
          <p:cNvPicPr/>
          <p:nvPr/>
        </p:nvPicPr>
        <p:blipFill>
          <a:blip r:embed="rId4" cstate="print"/>
          <a:stretch>
            <a:fillRect/>
          </a:stretch>
        </p:blipFill>
        <p:spPr>
          <a:xfrm>
            <a:off x="6660232" y="3573016"/>
            <a:ext cx="2483768" cy="1800200"/>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local knowledge to promote tourism products and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Always use local knowledge when selling tourism products and services because:</a:t>
            </a:r>
          </a:p>
          <a:p>
            <a:pPr marL="360000" indent="-360000">
              <a:spcBef>
                <a:spcPts val="1200"/>
              </a:spcBef>
              <a:spcAft>
                <a:spcPts val="1200"/>
              </a:spcAft>
            </a:pPr>
            <a:r>
              <a:rPr lang="en-US" sz="2200" b="1" dirty="0" smtClean="0">
                <a:latin typeface="Helvetica" pitchFamily="34" charset="0"/>
              </a:rPr>
              <a:t>It is a main determinant of the visitor </a:t>
            </a:r>
            <a:br>
              <a:rPr lang="en-US" sz="2200" b="1" dirty="0" smtClean="0">
                <a:latin typeface="Helvetica" pitchFamily="34" charset="0"/>
              </a:rPr>
            </a:br>
            <a:r>
              <a:rPr lang="en-US" sz="2200" b="1" dirty="0" smtClean="0">
                <a:latin typeface="Helvetica" pitchFamily="34" charset="0"/>
              </a:rPr>
              <a:t>experience</a:t>
            </a:r>
          </a:p>
          <a:p>
            <a:pPr marL="360000" indent="-360000">
              <a:spcBef>
                <a:spcPts val="1200"/>
              </a:spcBef>
              <a:spcAft>
                <a:spcPts val="1200"/>
              </a:spcAft>
            </a:pPr>
            <a:r>
              <a:rPr lang="en-US" sz="2200" b="1" dirty="0" smtClean="0">
                <a:latin typeface="Helvetica" pitchFamily="34" charset="0"/>
              </a:rPr>
              <a:t>It enriches the visitor experience</a:t>
            </a:r>
          </a:p>
          <a:p>
            <a:pPr marL="360000" indent="-360000">
              <a:spcBef>
                <a:spcPts val="1200"/>
              </a:spcBef>
              <a:spcAft>
                <a:spcPts val="1200"/>
              </a:spcAft>
            </a:pPr>
            <a:r>
              <a:rPr lang="en-US" sz="2200" b="1" dirty="0" smtClean="0">
                <a:latin typeface="Helvetica" pitchFamily="34" charset="0"/>
              </a:rPr>
              <a:t>It helps visitors feel like locals</a:t>
            </a:r>
          </a:p>
          <a:p>
            <a:pPr marL="360000" indent="-360000">
              <a:spcBef>
                <a:spcPts val="1200"/>
              </a:spcBef>
              <a:spcAft>
                <a:spcPts val="1200"/>
              </a:spcAft>
            </a:pPr>
            <a:r>
              <a:rPr lang="en-US" sz="2200" b="1" dirty="0" smtClean="0">
                <a:latin typeface="Helvetica" pitchFamily="34" charset="0"/>
              </a:rPr>
              <a:t>It demonstrates acceptance of visitors</a:t>
            </a:r>
          </a:p>
          <a:p>
            <a:pPr marL="360000" indent="-360000">
              <a:spcBef>
                <a:spcPts val="1200"/>
              </a:spcBef>
              <a:spcAft>
                <a:spcPts val="1200"/>
              </a:spcAft>
            </a:pPr>
            <a:r>
              <a:rPr lang="en-US" sz="2200" b="1" dirty="0" smtClean="0">
                <a:latin typeface="Helvetica" pitchFamily="34" charset="0"/>
              </a:rPr>
              <a:t>Local knowledge can be the local experience.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6" name="Picture 5" descr="222.jpg"/>
          <p:cNvPicPr/>
          <p:nvPr/>
        </p:nvPicPr>
        <p:blipFill>
          <a:blip r:embed="rId3" cstate="print"/>
          <a:stretch>
            <a:fillRect/>
          </a:stretch>
        </p:blipFill>
        <p:spPr>
          <a:xfrm>
            <a:off x="7452320" y="1988840"/>
            <a:ext cx="1691680" cy="3581400"/>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local knowledge to promote tourism products and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Use local knowledge to:</a:t>
            </a:r>
          </a:p>
          <a:p>
            <a:pPr marL="360000" indent="-360000">
              <a:spcBef>
                <a:spcPts val="1200"/>
              </a:spcBef>
              <a:spcAft>
                <a:spcPts val="1200"/>
              </a:spcAft>
            </a:pPr>
            <a:r>
              <a:rPr lang="en-US" sz="2200" b="1" dirty="0" smtClean="0">
                <a:latin typeface="Helvetica" pitchFamily="34" charset="0"/>
              </a:rPr>
              <a:t>Tell visitors latest information</a:t>
            </a:r>
          </a:p>
          <a:p>
            <a:pPr marL="360000" indent="-360000">
              <a:spcBef>
                <a:spcPts val="1200"/>
              </a:spcBef>
              <a:spcAft>
                <a:spcPts val="1200"/>
              </a:spcAft>
            </a:pPr>
            <a:r>
              <a:rPr lang="en-US" sz="2200" b="1" dirty="0" smtClean="0">
                <a:latin typeface="Helvetica" pitchFamily="34" charset="0"/>
              </a:rPr>
              <a:t>Advise how to get to a destination</a:t>
            </a:r>
          </a:p>
          <a:p>
            <a:pPr marL="360000" indent="-360000">
              <a:spcBef>
                <a:spcPts val="1200"/>
              </a:spcBef>
              <a:spcAft>
                <a:spcPts val="1200"/>
              </a:spcAft>
            </a:pPr>
            <a:r>
              <a:rPr lang="en-US" sz="2200" b="1" dirty="0" smtClean="0">
                <a:latin typeface="Helvetica" pitchFamily="34" charset="0"/>
              </a:rPr>
              <a:t>Inform visitors about local ‘conditions’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5" name="Picture 4" descr="222.jpg"/>
          <p:cNvPicPr/>
          <p:nvPr/>
        </p:nvPicPr>
        <p:blipFill>
          <a:blip r:embed="rId3" cstate="print"/>
          <a:stretch>
            <a:fillRect/>
          </a:stretch>
        </p:blipFill>
        <p:spPr>
          <a:xfrm>
            <a:off x="7452320" y="1988840"/>
            <a:ext cx="1691680" cy="3581400"/>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local knowledge to promote tourism products and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Compare one option against others</a:t>
            </a:r>
          </a:p>
          <a:p>
            <a:pPr marL="360000" indent="-360000">
              <a:spcBef>
                <a:spcPts val="1200"/>
              </a:spcBef>
              <a:spcAft>
                <a:spcPts val="1200"/>
              </a:spcAft>
            </a:pPr>
            <a:r>
              <a:rPr lang="en-US" sz="2200" b="1" dirty="0" smtClean="0">
                <a:latin typeface="Helvetica" pitchFamily="34" charset="0"/>
              </a:rPr>
              <a:t>Advise where the locals go and what they do</a:t>
            </a:r>
          </a:p>
          <a:p>
            <a:pPr marL="360000" indent="-360000">
              <a:spcBef>
                <a:spcPts val="1200"/>
              </a:spcBef>
              <a:spcAft>
                <a:spcPts val="1200"/>
              </a:spcAft>
            </a:pPr>
            <a:r>
              <a:rPr lang="en-US" sz="2200" b="1" dirty="0" smtClean="0">
                <a:latin typeface="Helvetica" pitchFamily="34" charset="0"/>
              </a:rPr>
              <a:t>Advise best time to visit places</a:t>
            </a:r>
          </a:p>
          <a:p>
            <a:pPr marL="360000" indent="-360000">
              <a:spcBef>
                <a:spcPts val="1200"/>
              </a:spcBef>
              <a:spcAft>
                <a:spcPts val="1200"/>
              </a:spcAft>
            </a:pPr>
            <a:r>
              <a:rPr lang="en-US" sz="2200" b="1" dirty="0" smtClean="0">
                <a:latin typeface="Helvetica" pitchFamily="34" charset="0"/>
              </a:rPr>
              <a:t>Explain good, local value for money</a:t>
            </a:r>
          </a:p>
          <a:p>
            <a:pPr marL="360000" indent="-360000">
              <a:spcBef>
                <a:spcPts val="1200"/>
              </a:spcBef>
              <a:spcAft>
                <a:spcPts val="1200"/>
              </a:spcAft>
            </a:pPr>
            <a:r>
              <a:rPr lang="en-US" sz="2200" b="1" dirty="0" smtClean="0">
                <a:latin typeface="Helvetica" pitchFamily="34" charset="0"/>
              </a:rPr>
              <a:t>Identify good places to eat, drink and shop.</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5" name="Picture 4" descr="10.jpg"/>
          <p:cNvPicPr/>
          <p:nvPr/>
        </p:nvPicPr>
        <p:blipFill>
          <a:blip r:embed="rId3" cstate="print"/>
          <a:stretch>
            <a:fillRect/>
          </a:stretch>
        </p:blipFill>
        <p:spPr>
          <a:xfrm>
            <a:off x="7639050" y="1268760"/>
            <a:ext cx="1504950" cy="2247900"/>
          </a:xfrm>
          <a:prstGeom prst="rect">
            <a:avLst/>
          </a:prstGeom>
        </p:spPr>
      </p:pic>
      <p:pic>
        <p:nvPicPr>
          <p:cNvPr id="6" name="Picture 5" descr="Train Lake - Jeddah.jpg"/>
          <p:cNvPicPr/>
          <p:nvPr/>
        </p:nvPicPr>
        <p:blipFill>
          <a:blip r:embed="rId4" cstate="print"/>
          <a:stretch>
            <a:fillRect/>
          </a:stretch>
        </p:blipFill>
        <p:spPr>
          <a:xfrm>
            <a:off x="7153275" y="3501008"/>
            <a:ext cx="1990725" cy="1990725"/>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local knowledge to promote tourism products and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When using local knowledge to promote local tourism products and services:</a:t>
            </a:r>
          </a:p>
          <a:p>
            <a:pPr marL="360000" indent="-360000">
              <a:spcBef>
                <a:spcPts val="1200"/>
              </a:spcBef>
              <a:spcAft>
                <a:spcPts val="1200"/>
              </a:spcAft>
            </a:pPr>
            <a:r>
              <a:rPr lang="en-US" sz="2200" b="1" dirty="0" smtClean="0">
                <a:latin typeface="Helvetica" pitchFamily="34" charset="0"/>
              </a:rPr>
              <a:t>Do not wait to be asked</a:t>
            </a:r>
          </a:p>
          <a:p>
            <a:pPr marL="360000" indent="-360000">
              <a:spcBef>
                <a:spcPts val="1200"/>
              </a:spcBef>
              <a:spcAft>
                <a:spcPts val="1200"/>
              </a:spcAft>
            </a:pPr>
            <a:r>
              <a:rPr lang="en-US" sz="2200" b="1" dirty="0" smtClean="0">
                <a:latin typeface="Helvetica" pitchFamily="34" charset="0"/>
              </a:rPr>
              <a:t>Make suitable time-based suggestions</a:t>
            </a:r>
          </a:p>
          <a:p>
            <a:pPr marL="360000" indent="-360000">
              <a:spcBef>
                <a:spcPts val="1200"/>
              </a:spcBef>
              <a:spcAft>
                <a:spcPts val="1200"/>
              </a:spcAft>
            </a:pPr>
            <a:r>
              <a:rPr lang="en-US" sz="2200" b="1" dirty="0" smtClean="0">
                <a:latin typeface="Helvetica" pitchFamily="34" charset="0"/>
              </a:rPr>
              <a:t>Be enthusiastic</a:t>
            </a:r>
          </a:p>
          <a:p>
            <a:pPr marL="360000" indent="-360000">
              <a:spcBef>
                <a:spcPts val="1200"/>
              </a:spcBef>
              <a:spcAft>
                <a:spcPts val="1200"/>
              </a:spcAft>
            </a:pPr>
            <a:r>
              <a:rPr lang="en-US" sz="2200" b="1" dirty="0" smtClean="0">
                <a:latin typeface="Helvetica" pitchFamily="34" charset="0"/>
              </a:rPr>
              <a:t>Follow-up with visitors on their return.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pic>
        <p:nvPicPr>
          <p:cNvPr id="5" name="Picture 4" descr="Typing.jpg"/>
          <p:cNvPicPr>
            <a:picLocks noChangeAspect="1"/>
          </p:cNvPicPr>
          <p:nvPr/>
        </p:nvPicPr>
        <p:blipFill>
          <a:blip r:embed="rId3" cstate="print"/>
          <a:stretch>
            <a:fillRect/>
          </a:stretch>
        </p:blipFill>
        <p:spPr>
          <a:xfrm>
            <a:off x="6516216" y="4149080"/>
            <a:ext cx="2123728" cy="1409156"/>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local knowledge to promote tourism products and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fontScale="92500" lnSpcReduction="10000"/>
          </a:bodyPr>
          <a:lstStyle/>
          <a:p>
            <a:pPr marL="0" indent="0">
              <a:spcBef>
                <a:spcPts val="1200"/>
              </a:spcBef>
              <a:spcAft>
                <a:spcPts val="1200"/>
              </a:spcAft>
              <a:buNone/>
            </a:pPr>
            <a:r>
              <a:rPr lang="en-US" sz="2200" b="1" dirty="0" smtClean="0">
                <a:latin typeface="Helvetica" pitchFamily="34" charset="0"/>
              </a:rPr>
              <a:t>Tourism products and services include:</a:t>
            </a:r>
          </a:p>
          <a:p>
            <a:pPr marL="360000" indent="-360000">
              <a:spcBef>
                <a:spcPts val="1200"/>
              </a:spcBef>
              <a:spcAft>
                <a:spcPts val="1200"/>
              </a:spcAft>
            </a:pPr>
            <a:r>
              <a:rPr lang="en-US" sz="2200" b="1" dirty="0" smtClean="0">
                <a:latin typeface="Helvetica" pitchFamily="34" charset="0"/>
              </a:rPr>
              <a:t>Attractions</a:t>
            </a:r>
          </a:p>
          <a:p>
            <a:pPr marL="360000" indent="-360000">
              <a:spcBef>
                <a:spcPts val="1200"/>
              </a:spcBef>
              <a:spcAft>
                <a:spcPts val="1200"/>
              </a:spcAft>
            </a:pPr>
            <a:r>
              <a:rPr lang="en-US" sz="2200" b="1" dirty="0" smtClean="0">
                <a:latin typeface="Helvetica" pitchFamily="34" charset="0"/>
              </a:rPr>
              <a:t>Destinations</a:t>
            </a:r>
          </a:p>
          <a:p>
            <a:pPr marL="360000" indent="-360000">
              <a:spcBef>
                <a:spcPts val="1200"/>
              </a:spcBef>
              <a:spcAft>
                <a:spcPts val="1200"/>
              </a:spcAft>
            </a:pPr>
            <a:r>
              <a:rPr lang="en-US" sz="2200" b="1" dirty="0" smtClean="0">
                <a:latin typeface="Helvetica" pitchFamily="34" charset="0"/>
              </a:rPr>
              <a:t>Accommodation</a:t>
            </a:r>
          </a:p>
          <a:p>
            <a:pPr marL="360000" indent="-360000">
              <a:spcBef>
                <a:spcPts val="1200"/>
              </a:spcBef>
              <a:spcAft>
                <a:spcPts val="1200"/>
              </a:spcAft>
            </a:pPr>
            <a:r>
              <a:rPr lang="en-US" sz="2200" b="1" dirty="0" smtClean="0">
                <a:latin typeface="Helvetica" pitchFamily="34" charset="0"/>
              </a:rPr>
              <a:t>Tours and trips</a:t>
            </a:r>
          </a:p>
          <a:p>
            <a:pPr marL="360000" indent="-360000">
              <a:spcBef>
                <a:spcPts val="1200"/>
              </a:spcBef>
              <a:spcAft>
                <a:spcPts val="1200"/>
              </a:spcAft>
            </a:pPr>
            <a:r>
              <a:rPr lang="en-US" sz="2200" b="1" dirty="0" smtClean="0">
                <a:latin typeface="Helvetica" pitchFamily="34" charset="0"/>
              </a:rPr>
              <a:t>Landmarks and places of interest</a:t>
            </a:r>
          </a:p>
          <a:p>
            <a:pPr marL="360000" indent="-360000">
              <a:spcBef>
                <a:spcPts val="1200"/>
              </a:spcBef>
              <a:spcAft>
                <a:spcPts val="1200"/>
              </a:spcAft>
            </a:pPr>
            <a:r>
              <a:rPr lang="en-US" sz="2200" b="1" dirty="0" smtClean="0">
                <a:latin typeface="Helvetica" pitchFamily="34" charset="0"/>
              </a:rPr>
              <a:t>Transportation</a:t>
            </a:r>
          </a:p>
          <a:p>
            <a:pPr marL="360000" indent="-360000">
              <a:spcBef>
                <a:spcPts val="1200"/>
              </a:spcBef>
              <a:spcAft>
                <a:spcPts val="1200"/>
              </a:spcAft>
            </a:pPr>
            <a:r>
              <a:rPr lang="en-US" sz="2200" b="1" dirty="0" smtClean="0">
                <a:latin typeface="Helvetica" pitchFamily="34" charset="0"/>
              </a:rPr>
              <a:t>Specialist areas of interest.</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5" name="Picture 4" descr="Tourist Guide reverse.jpg"/>
          <p:cNvPicPr/>
          <p:nvPr/>
        </p:nvPicPr>
        <p:blipFill>
          <a:blip r:embed="rId3" cstate="print"/>
          <a:stretch>
            <a:fillRect/>
          </a:stretch>
        </p:blipFill>
        <p:spPr>
          <a:xfrm>
            <a:off x="6905625" y="1772816"/>
            <a:ext cx="2238375" cy="1485900"/>
          </a:xfrm>
          <a:prstGeom prst="rect">
            <a:avLst/>
          </a:prstGeom>
        </p:spPr>
      </p:pic>
      <p:pic>
        <p:nvPicPr>
          <p:cNvPr id="6" name="Picture 5" descr="Melbourne city.jpg"/>
          <p:cNvPicPr/>
          <p:nvPr/>
        </p:nvPicPr>
        <p:blipFill>
          <a:blip r:embed="rId4" cstate="print"/>
          <a:stretch>
            <a:fillRect/>
          </a:stretch>
        </p:blipFill>
        <p:spPr>
          <a:xfrm>
            <a:off x="6012160" y="3212976"/>
            <a:ext cx="2232248" cy="1584176"/>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local knowledge to promote tourism products and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Tourism products and services can also include:</a:t>
            </a:r>
          </a:p>
          <a:p>
            <a:pPr marL="360000" indent="-360000">
              <a:spcBef>
                <a:spcPts val="1200"/>
              </a:spcBef>
              <a:spcAft>
                <a:spcPts val="1200"/>
              </a:spcAft>
            </a:pPr>
            <a:r>
              <a:rPr lang="en-US" sz="2200" b="1" dirty="0" smtClean="0">
                <a:latin typeface="Helvetica" pitchFamily="34" charset="0"/>
              </a:rPr>
              <a:t>Cell phone cards</a:t>
            </a:r>
          </a:p>
          <a:p>
            <a:pPr marL="360000" indent="-360000">
              <a:spcBef>
                <a:spcPts val="1200"/>
              </a:spcBef>
              <a:spcAft>
                <a:spcPts val="1200"/>
              </a:spcAft>
            </a:pPr>
            <a:r>
              <a:rPr lang="en-US" sz="2200" b="1" dirty="0" smtClean="0">
                <a:latin typeface="Helvetica" pitchFamily="34" charset="0"/>
              </a:rPr>
              <a:t>Petrol</a:t>
            </a:r>
          </a:p>
          <a:p>
            <a:pPr marL="360000" indent="-360000">
              <a:spcBef>
                <a:spcPts val="1200"/>
              </a:spcBef>
              <a:spcAft>
                <a:spcPts val="1200"/>
              </a:spcAft>
            </a:pPr>
            <a:r>
              <a:rPr lang="en-US" sz="2200" b="1" dirty="0" smtClean="0">
                <a:latin typeface="Helvetica" pitchFamily="34" charset="0"/>
              </a:rPr>
              <a:t>Meals and drinks</a:t>
            </a:r>
          </a:p>
          <a:p>
            <a:pPr marL="360000" indent="-360000">
              <a:spcBef>
                <a:spcPts val="1200"/>
              </a:spcBef>
              <a:spcAft>
                <a:spcPts val="1200"/>
              </a:spcAft>
            </a:pPr>
            <a:r>
              <a:rPr lang="en-US" sz="2200" b="1" dirty="0" smtClean="0">
                <a:latin typeface="Helvetica" pitchFamily="34" charset="0"/>
              </a:rPr>
              <a:t>Pharmaceutical products</a:t>
            </a:r>
          </a:p>
          <a:p>
            <a:pPr marL="360000" indent="-360000">
              <a:spcBef>
                <a:spcPts val="1200"/>
              </a:spcBef>
              <a:spcAft>
                <a:spcPts val="1200"/>
              </a:spcAft>
            </a:pPr>
            <a:r>
              <a:rPr lang="en-US" sz="2200" b="1" dirty="0" smtClean="0">
                <a:latin typeface="Helvetica" pitchFamily="34" charset="0"/>
              </a:rPr>
              <a:t>Cigarettes.</a:t>
            </a:r>
          </a:p>
          <a:p>
            <a:pPr marL="360000" indent="-360000" algn="ctr">
              <a:spcBef>
                <a:spcPts val="1200"/>
              </a:spcBef>
              <a:spcAft>
                <a:spcPts val="1200"/>
              </a:spcAft>
              <a:buNone/>
            </a:pPr>
            <a:r>
              <a:rPr lang="en-US" sz="2200" b="1" i="1" dirty="0" smtClean="0">
                <a:latin typeface="Helvetica" pitchFamily="34" charset="0"/>
              </a:rPr>
              <a:t>Anything bought locally!</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6" name="Picture 5" descr="Food.jpg"/>
          <p:cNvPicPr/>
          <p:nvPr/>
        </p:nvPicPr>
        <p:blipFill>
          <a:blip r:embed="rId3" cstate="print"/>
          <a:stretch>
            <a:fillRect/>
          </a:stretch>
        </p:blipFill>
        <p:spPr>
          <a:xfrm>
            <a:off x="7381875" y="3933056"/>
            <a:ext cx="1762125" cy="2200275"/>
          </a:xfrm>
          <a:prstGeom prst="rect">
            <a:avLst/>
          </a:prstGeom>
        </p:spPr>
      </p:pic>
      <p:pic>
        <p:nvPicPr>
          <p:cNvPr id="7" name="Picture 6" descr="MP900432952[1].JPG"/>
          <p:cNvPicPr/>
          <p:nvPr/>
        </p:nvPicPr>
        <p:blipFill>
          <a:blip r:embed="rId4" cstate="print"/>
          <a:stretch>
            <a:fillRect/>
          </a:stretch>
        </p:blipFill>
        <p:spPr>
          <a:xfrm>
            <a:off x="7380312" y="1484784"/>
            <a:ext cx="1763688" cy="2520280"/>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local knowledge to promote tourism products and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Reasons to promote local tourism products and services:</a:t>
            </a:r>
          </a:p>
          <a:p>
            <a:pPr marL="360000" indent="-360000">
              <a:spcBef>
                <a:spcPts val="1200"/>
              </a:spcBef>
              <a:spcAft>
                <a:spcPts val="1200"/>
              </a:spcAft>
            </a:pPr>
            <a:r>
              <a:rPr lang="en-US" sz="2200" b="1" dirty="0" smtClean="0">
                <a:latin typeface="Helvetica" pitchFamily="34" charset="0"/>
              </a:rPr>
              <a:t>Meets expectations</a:t>
            </a:r>
          </a:p>
          <a:p>
            <a:pPr marL="360000" indent="-360000">
              <a:spcBef>
                <a:spcPts val="1200"/>
              </a:spcBef>
              <a:spcAft>
                <a:spcPts val="1200"/>
              </a:spcAft>
            </a:pPr>
            <a:r>
              <a:rPr lang="en-US" sz="2200" b="1" dirty="0" smtClean="0">
                <a:latin typeface="Helvetica" pitchFamily="34" charset="0"/>
              </a:rPr>
              <a:t>Better job satisfaction</a:t>
            </a:r>
          </a:p>
          <a:p>
            <a:pPr marL="360000" indent="-360000">
              <a:spcBef>
                <a:spcPts val="1200"/>
              </a:spcBef>
              <a:spcAft>
                <a:spcPts val="1200"/>
              </a:spcAft>
            </a:pPr>
            <a:r>
              <a:rPr lang="en-US" sz="2200" b="1" dirty="0" smtClean="0">
                <a:latin typeface="Helvetica" pitchFamily="34" charset="0"/>
              </a:rPr>
              <a:t>Enhances job security</a:t>
            </a:r>
          </a:p>
          <a:p>
            <a:pPr marL="360000" indent="-360000">
              <a:spcBef>
                <a:spcPts val="1200"/>
              </a:spcBef>
              <a:spcAft>
                <a:spcPts val="1200"/>
              </a:spcAft>
            </a:pPr>
            <a:r>
              <a:rPr lang="en-US" sz="2200" b="1" dirty="0" smtClean="0">
                <a:latin typeface="Helvetica" pitchFamily="34" charset="0"/>
              </a:rPr>
              <a:t>Demonstrates a willingness to serve</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5" name="Picture 4" descr="process reservations.jpg"/>
          <p:cNvPicPr>
            <a:picLocks noChangeAspect="1"/>
          </p:cNvPicPr>
          <p:nvPr/>
        </p:nvPicPr>
        <p:blipFill>
          <a:blip r:embed="rId3" cstate="print"/>
          <a:stretch>
            <a:fillRect/>
          </a:stretch>
        </p:blipFill>
        <p:spPr>
          <a:xfrm>
            <a:off x="6732240" y="2780928"/>
            <a:ext cx="1725168" cy="2584704"/>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local knowledge to promote tourism products and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Allows learning to occur from others</a:t>
            </a:r>
          </a:p>
          <a:p>
            <a:pPr marL="360000" indent="-360000">
              <a:spcBef>
                <a:spcPts val="1200"/>
              </a:spcBef>
              <a:spcAft>
                <a:spcPts val="1200"/>
              </a:spcAft>
            </a:pPr>
            <a:r>
              <a:rPr lang="en-US" sz="2200" b="1" dirty="0" smtClean="0">
                <a:latin typeface="Helvetica" pitchFamily="34" charset="0"/>
              </a:rPr>
              <a:t>Increases chances of tips</a:t>
            </a:r>
          </a:p>
          <a:p>
            <a:pPr marL="360000" indent="-360000">
              <a:spcBef>
                <a:spcPts val="1200"/>
              </a:spcBef>
              <a:spcAft>
                <a:spcPts val="1200"/>
              </a:spcAft>
            </a:pPr>
            <a:r>
              <a:rPr lang="en-US" sz="2200" b="1" dirty="0" smtClean="0">
                <a:latin typeface="Helvetica" pitchFamily="34" charset="0"/>
              </a:rPr>
              <a:t>Proves venue is a good corporate citizen</a:t>
            </a:r>
          </a:p>
          <a:p>
            <a:pPr marL="360000" indent="-360000">
              <a:spcBef>
                <a:spcPts val="1200"/>
              </a:spcBef>
              <a:spcAft>
                <a:spcPts val="1200"/>
              </a:spcAft>
            </a:pPr>
            <a:r>
              <a:rPr lang="en-US" sz="2200" b="1" dirty="0" smtClean="0">
                <a:latin typeface="Helvetica" pitchFamily="34" charset="0"/>
              </a:rPr>
              <a:t>Supports ongoing viability of the </a:t>
            </a:r>
            <a:br>
              <a:rPr lang="en-US" sz="2200" b="1" dirty="0" smtClean="0">
                <a:latin typeface="Helvetica" pitchFamily="34" charset="0"/>
              </a:rPr>
            </a:br>
            <a:r>
              <a:rPr lang="en-US" sz="2200" b="1" dirty="0" smtClean="0">
                <a:latin typeface="Helvetica" pitchFamily="34" charset="0"/>
              </a:rPr>
              <a:t>workplace</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12" name="Picture 11" descr="iStock_000004786684Medium classroom.jpg"/>
          <p:cNvPicPr>
            <a:picLocks noChangeAspect="1"/>
          </p:cNvPicPr>
          <p:nvPr/>
        </p:nvPicPr>
        <p:blipFill>
          <a:blip r:embed="rId3" cstate="print"/>
          <a:stretch>
            <a:fillRect/>
          </a:stretch>
        </p:blipFill>
        <p:spPr>
          <a:xfrm>
            <a:off x="6955560" y="2348880"/>
            <a:ext cx="2188440" cy="3278793"/>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local knowledge to promote tourism products and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Supports local businesses and communities</a:t>
            </a:r>
          </a:p>
          <a:p>
            <a:pPr marL="360000" indent="-360000">
              <a:spcBef>
                <a:spcPts val="1200"/>
              </a:spcBef>
              <a:spcAft>
                <a:spcPts val="1200"/>
              </a:spcAft>
            </a:pPr>
            <a:r>
              <a:rPr lang="en-US" sz="2200" b="1" dirty="0" smtClean="0">
                <a:latin typeface="Helvetica" pitchFamily="34" charset="0"/>
              </a:rPr>
              <a:t>Enhances visitor enjoyment</a:t>
            </a:r>
          </a:p>
          <a:p>
            <a:pPr marL="360000" indent="-360000">
              <a:spcBef>
                <a:spcPts val="1200"/>
              </a:spcBef>
              <a:spcAft>
                <a:spcPts val="1200"/>
              </a:spcAft>
            </a:pPr>
            <a:r>
              <a:rPr lang="en-US" sz="2200" b="1" dirty="0" smtClean="0">
                <a:latin typeface="Helvetica" pitchFamily="34" charset="0"/>
              </a:rPr>
              <a:t>Shares local culture</a:t>
            </a:r>
          </a:p>
          <a:p>
            <a:pPr marL="360000" indent="-360000">
              <a:spcBef>
                <a:spcPts val="1200"/>
              </a:spcBef>
              <a:spcAft>
                <a:spcPts val="1200"/>
              </a:spcAft>
            </a:pPr>
            <a:r>
              <a:rPr lang="en-US" sz="2200" b="1" dirty="0" smtClean="0">
                <a:latin typeface="Helvetica" pitchFamily="34" charset="0"/>
              </a:rPr>
              <a:t>Increases understanding and appreciation of the country, its people, issues, culture, customs. </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6" name="Picture 5" descr="10.jpg"/>
          <p:cNvPicPr/>
          <p:nvPr/>
        </p:nvPicPr>
        <p:blipFill>
          <a:blip r:embed="rId3" cstate="print"/>
          <a:stretch>
            <a:fillRect/>
          </a:stretch>
        </p:blipFill>
        <p:spPr>
          <a:xfrm>
            <a:off x="7639050" y="2780928"/>
            <a:ext cx="1504950" cy="2247900"/>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Make customers aware of possible extras, add-ons and further benefits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Keys to effective selling of extras and add-ons:</a:t>
            </a:r>
          </a:p>
          <a:p>
            <a:pPr marL="360000" indent="-360000">
              <a:spcBef>
                <a:spcPts val="1200"/>
              </a:spcBef>
              <a:spcAft>
                <a:spcPts val="1200"/>
              </a:spcAft>
            </a:pPr>
            <a:r>
              <a:rPr lang="en-US" sz="2200" b="1" dirty="0" smtClean="0">
                <a:latin typeface="Helvetica" pitchFamily="34" charset="0"/>
              </a:rPr>
              <a:t>Establish rapport with visitors</a:t>
            </a:r>
          </a:p>
          <a:p>
            <a:pPr marL="360000" indent="-360000">
              <a:spcBef>
                <a:spcPts val="1200"/>
              </a:spcBef>
              <a:spcAft>
                <a:spcPts val="1200"/>
              </a:spcAft>
            </a:pPr>
            <a:r>
              <a:rPr lang="en-US" sz="2200" b="1" dirty="0" smtClean="0">
                <a:latin typeface="Helvetica" pitchFamily="34" charset="0"/>
              </a:rPr>
              <a:t>Use local knowledge</a:t>
            </a:r>
          </a:p>
          <a:p>
            <a:pPr marL="360000" indent="-360000">
              <a:spcBef>
                <a:spcPts val="1200"/>
              </a:spcBef>
              <a:spcAft>
                <a:spcPts val="1200"/>
              </a:spcAft>
            </a:pPr>
            <a:r>
              <a:rPr lang="en-US" sz="2200" b="1" dirty="0" smtClean="0">
                <a:latin typeface="Helvetica" pitchFamily="34" charset="0"/>
              </a:rPr>
              <a:t>Be positive and approachable</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5" name="Picture 4" descr="wai_a_kym_256.jpg"/>
          <p:cNvPicPr>
            <a:picLocks noChangeAspect="1"/>
          </p:cNvPicPr>
          <p:nvPr/>
        </p:nvPicPr>
        <p:blipFill>
          <a:blip r:embed="rId3" cstate="print"/>
          <a:stretch>
            <a:fillRect/>
          </a:stretch>
        </p:blipFill>
        <p:spPr>
          <a:xfrm>
            <a:off x="6096000" y="3356992"/>
            <a:ext cx="3048000" cy="2038350"/>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Make customers aware of possible extras, add-ons and further benefits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Be polite and respectful</a:t>
            </a:r>
          </a:p>
          <a:p>
            <a:pPr marL="360000" indent="-360000">
              <a:spcBef>
                <a:spcPts val="1200"/>
              </a:spcBef>
              <a:spcAft>
                <a:spcPts val="1200"/>
              </a:spcAft>
            </a:pPr>
            <a:r>
              <a:rPr lang="en-US" sz="2200" b="1" dirty="0" smtClean="0">
                <a:latin typeface="Helvetica" pitchFamily="34" charset="0"/>
              </a:rPr>
              <a:t>Apply appropriate questioning and listening skills</a:t>
            </a:r>
          </a:p>
          <a:p>
            <a:pPr marL="360000" indent="-360000">
              <a:spcBef>
                <a:spcPts val="1200"/>
              </a:spcBef>
              <a:spcAft>
                <a:spcPts val="1200"/>
              </a:spcAft>
            </a:pPr>
            <a:r>
              <a:rPr lang="en-US" sz="2200" b="1" dirty="0" smtClean="0">
                <a:latin typeface="Helvetica" pitchFamily="34" charset="0"/>
              </a:rPr>
              <a:t>Match suggestions to identified needs, wants and/or preferences and interests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5" name="Picture 4" descr="wai_a_students_293_cmyk.jpg"/>
          <p:cNvPicPr>
            <a:picLocks noChangeAspect="1"/>
          </p:cNvPicPr>
          <p:nvPr/>
        </p:nvPicPr>
        <p:blipFill>
          <a:blip r:embed="rId3" cstate="print"/>
          <a:stretch>
            <a:fillRect/>
          </a:stretch>
        </p:blipFill>
        <p:spPr>
          <a:xfrm>
            <a:off x="7346427" y="3140968"/>
            <a:ext cx="1797573" cy="2687960"/>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Make customers aware of possible extras, add-ons and further benefits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Know when to stop trying/promoting</a:t>
            </a:r>
          </a:p>
          <a:p>
            <a:pPr marL="360000" indent="-360000">
              <a:spcBef>
                <a:spcPts val="1200"/>
              </a:spcBef>
              <a:spcAft>
                <a:spcPts val="1200"/>
              </a:spcAft>
            </a:pPr>
            <a:r>
              <a:rPr lang="en-US" sz="2200" b="1" dirty="0" smtClean="0">
                <a:latin typeface="Helvetica" pitchFamily="34" charset="0"/>
              </a:rPr>
              <a:t>Explain the characteristics of the offer</a:t>
            </a:r>
          </a:p>
          <a:p>
            <a:pPr marL="360000" indent="-360000">
              <a:spcBef>
                <a:spcPts val="1200"/>
              </a:spcBef>
              <a:spcAft>
                <a:spcPts val="1200"/>
              </a:spcAft>
            </a:pPr>
            <a:r>
              <a:rPr lang="en-US" sz="2200" b="1" dirty="0" smtClean="0">
                <a:latin typeface="Helvetica" pitchFamily="34" charset="0"/>
              </a:rPr>
              <a:t>Sell the benefits</a:t>
            </a:r>
          </a:p>
          <a:p>
            <a:pPr marL="360000" indent="-360000">
              <a:spcBef>
                <a:spcPts val="1200"/>
              </a:spcBef>
              <a:spcAft>
                <a:spcPts val="1200"/>
              </a:spcAft>
            </a:pPr>
            <a:r>
              <a:rPr lang="en-US" sz="2200" b="1" dirty="0" smtClean="0">
                <a:latin typeface="Helvetica" pitchFamily="34" charset="0"/>
              </a:rPr>
              <a:t>Tell the truth</a:t>
            </a:r>
          </a:p>
          <a:p>
            <a:pPr marL="360000" indent="-360000">
              <a:spcBef>
                <a:spcPts val="1200"/>
              </a:spcBef>
              <a:spcAft>
                <a:spcPts val="1200"/>
              </a:spcAft>
            </a:pPr>
            <a:r>
              <a:rPr lang="en-US" sz="2200" b="1" dirty="0" smtClean="0">
                <a:latin typeface="Helvetica" pitchFamily="34" charset="0"/>
              </a:rPr>
              <a:t>Never pressure people into buying.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5" name="Picture 4" descr="wai_a_jess_doing_121_rgb.jpg"/>
          <p:cNvPicPr>
            <a:picLocks noChangeAspect="1"/>
          </p:cNvPicPr>
          <p:nvPr/>
        </p:nvPicPr>
        <p:blipFill>
          <a:blip r:embed="rId3" cstate="print"/>
          <a:stretch>
            <a:fillRect/>
          </a:stretch>
        </p:blipFill>
        <p:spPr>
          <a:xfrm>
            <a:off x="7105650" y="2492896"/>
            <a:ext cx="2038350" cy="3048000"/>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Make customers aware of possible extras, add-ons and further benefits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If visitor says they want a local tour, you could:</a:t>
            </a:r>
          </a:p>
          <a:p>
            <a:pPr marL="360000" indent="-360000">
              <a:spcBef>
                <a:spcPts val="1200"/>
              </a:spcBef>
              <a:spcAft>
                <a:spcPts val="1200"/>
              </a:spcAft>
            </a:pPr>
            <a:r>
              <a:rPr lang="en-US" sz="2200" b="1" dirty="0" smtClean="0">
                <a:latin typeface="Helvetica" pitchFamily="34" charset="0"/>
              </a:rPr>
              <a:t>Promote a different, more expensive one, highlighting:</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It is longer</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They see and experience more</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They receive more ‘products’.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5" name="Picture 2" descr="C:\Documents and Settings\maiv\Local Settings\Temporary Internet Files\Content.IE5\XBB4NDLH\MP900448620[1].jpg"/>
          <p:cNvPicPr>
            <a:picLocks noChangeAspect="1" noChangeArrowheads="1"/>
          </p:cNvPicPr>
          <p:nvPr/>
        </p:nvPicPr>
        <p:blipFill>
          <a:blip r:embed="rId3" cstate="print"/>
          <a:srcRect/>
          <a:stretch>
            <a:fillRect/>
          </a:stretch>
        </p:blipFill>
        <p:spPr bwMode="auto">
          <a:xfrm>
            <a:off x="6809995" y="2132856"/>
            <a:ext cx="2334005" cy="3501008"/>
          </a:xfrm>
          <a:prstGeom prst="rect">
            <a:avLst/>
          </a:prstGeom>
          <a:noFill/>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Make customers aware of possible extras, add-ons and further benefits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Examples of selling the benefits of an extra/add-on should focus on things such as:</a:t>
            </a:r>
          </a:p>
          <a:p>
            <a:pPr marL="360000" indent="-360000">
              <a:spcBef>
                <a:spcPts val="1200"/>
              </a:spcBef>
              <a:spcAft>
                <a:spcPts val="1200"/>
              </a:spcAft>
            </a:pPr>
            <a:r>
              <a:rPr lang="en-US" sz="2200" b="1" dirty="0" smtClean="0">
                <a:latin typeface="Helvetica" pitchFamily="34" charset="0"/>
              </a:rPr>
              <a:t>Time saving</a:t>
            </a:r>
          </a:p>
          <a:p>
            <a:pPr marL="360000" indent="-360000">
              <a:spcBef>
                <a:spcPts val="1200"/>
              </a:spcBef>
              <a:spcAft>
                <a:spcPts val="1200"/>
              </a:spcAft>
            </a:pPr>
            <a:r>
              <a:rPr lang="en-US" sz="2200" b="1" dirty="0" smtClean="0">
                <a:latin typeface="Helvetica" pitchFamily="34" charset="0"/>
              </a:rPr>
              <a:t>Cost saving</a:t>
            </a:r>
          </a:p>
          <a:p>
            <a:pPr marL="360000" indent="-360000">
              <a:spcBef>
                <a:spcPts val="1200"/>
              </a:spcBef>
              <a:spcAft>
                <a:spcPts val="1200"/>
              </a:spcAft>
            </a:pPr>
            <a:r>
              <a:rPr lang="en-US" sz="2200" b="1" dirty="0" smtClean="0">
                <a:latin typeface="Helvetica" pitchFamily="34" charset="0"/>
              </a:rPr>
              <a:t>Prestige</a:t>
            </a:r>
          </a:p>
          <a:p>
            <a:pPr marL="360000" indent="-360000">
              <a:spcBef>
                <a:spcPts val="1200"/>
              </a:spcBef>
              <a:spcAft>
                <a:spcPts val="1200"/>
              </a:spcAft>
            </a:pPr>
            <a:r>
              <a:rPr lang="en-US" sz="2200" b="1" dirty="0" smtClean="0">
                <a:latin typeface="Helvetica" pitchFamily="34" charset="0"/>
              </a:rPr>
              <a:t>A unique opportunity.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7" name="Picture 6" descr="seating arrangement.jpg"/>
          <p:cNvPicPr>
            <a:picLocks noChangeAspect="1"/>
          </p:cNvPicPr>
          <p:nvPr/>
        </p:nvPicPr>
        <p:blipFill>
          <a:blip r:embed="rId3" cstate="print"/>
          <a:stretch>
            <a:fillRect/>
          </a:stretch>
        </p:blipFill>
        <p:spPr>
          <a:xfrm>
            <a:off x="7280130" y="3212976"/>
            <a:ext cx="1863870" cy="2792512"/>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Make customers aware of possible extras, add-ons and further benefits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Focus efforts on benefits for the visitors. For example:</a:t>
            </a:r>
          </a:p>
          <a:p>
            <a:pPr marL="360000" indent="-360000">
              <a:spcBef>
                <a:spcPts val="1200"/>
              </a:spcBef>
              <a:spcAft>
                <a:spcPts val="1200"/>
              </a:spcAft>
            </a:pPr>
            <a:r>
              <a:rPr lang="en-US" sz="2200" b="1" dirty="0" smtClean="0">
                <a:latin typeface="Helvetica" pitchFamily="34" charset="0"/>
              </a:rPr>
              <a:t>They will get a better view if they take your advice</a:t>
            </a:r>
          </a:p>
          <a:p>
            <a:pPr marL="360000" indent="-360000">
              <a:spcBef>
                <a:spcPts val="1200"/>
              </a:spcBef>
              <a:spcAft>
                <a:spcPts val="1200"/>
              </a:spcAft>
            </a:pPr>
            <a:r>
              <a:rPr lang="en-US" sz="2200" b="1" dirty="0" smtClean="0">
                <a:latin typeface="Helvetica" pitchFamily="34" charset="0"/>
              </a:rPr>
              <a:t>They will enjoy more engagement with locals </a:t>
            </a:r>
            <a:br>
              <a:rPr lang="en-US" sz="2200" b="1" dirty="0" smtClean="0">
                <a:latin typeface="Helvetica" pitchFamily="34" charset="0"/>
              </a:rPr>
            </a:br>
            <a:r>
              <a:rPr lang="en-US" sz="2200" b="1" dirty="0" smtClean="0">
                <a:latin typeface="Helvetica" pitchFamily="34" charset="0"/>
              </a:rPr>
              <a:t>if they follow your suggestion</a:t>
            </a:r>
          </a:p>
          <a:p>
            <a:pPr marL="360000" indent="-360000">
              <a:spcBef>
                <a:spcPts val="1200"/>
              </a:spcBef>
              <a:spcAft>
                <a:spcPts val="1200"/>
              </a:spcAft>
            </a:pPr>
            <a:r>
              <a:rPr lang="en-US" sz="2200" b="1" dirty="0" smtClean="0">
                <a:latin typeface="Helvetica" pitchFamily="34" charset="0"/>
              </a:rPr>
              <a:t>They will miss out if they do not ‘do it’ now</a:t>
            </a:r>
          </a:p>
          <a:p>
            <a:pPr marL="360000" indent="-360000">
              <a:spcBef>
                <a:spcPts val="1200"/>
              </a:spcBef>
              <a:spcAft>
                <a:spcPts val="1200"/>
              </a:spcAft>
            </a:pPr>
            <a:r>
              <a:rPr lang="en-US" sz="2200" b="1" dirty="0" smtClean="0">
                <a:latin typeface="Helvetica" pitchFamily="34" charset="0"/>
              </a:rPr>
              <a:t>Your recommendation is best value for </a:t>
            </a:r>
            <a:br>
              <a:rPr lang="en-US" sz="2200" b="1" dirty="0" smtClean="0">
                <a:latin typeface="Helvetica" pitchFamily="34" charset="0"/>
              </a:rPr>
            </a:br>
            <a:r>
              <a:rPr lang="en-US" sz="2200" b="1" dirty="0" smtClean="0">
                <a:latin typeface="Helvetica" pitchFamily="34" charset="0"/>
              </a:rPr>
              <a:t>money.</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6" name="Picture 5" descr="8.jpg"/>
          <p:cNvPicPr/>
          <p:nvPr/>
        </p:nvPicPr>
        <p:blipFill>
          <a:blip r:embed="rId3" cstate="print"/>
          <a:stretch>
            <a:fillRect/>
          </a:stretch>
        </p:blipFill>
        <p:spPr>
          <a:xfrm>
            <a:off x="6573520" y="4365104"/>
            <a:ext cx="2570480" cy="1638300"/>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Report queries and results to designated person within enterprise for follow-up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All venues will want staff to report on:</a:t>
            </a:r>
          </a:p>
          <a:p>
            <a:pPr marL="360000" indent="-360000">
              <a:spcBef>
                <a:spcPts val="1200"/>
              </a:spcBef>
              <a:spcAft>
                <a:spcPts val="1200"/>
              </a:spcAft>
            </a:pPr>
            <a:r>
              <a:rPr lang="en-US" sz="2200" b="1" dirty="0" smtClean="0">
                <a:latin typeface="Helvetica" pitchFamily="34" charset="0"/>
              </a:rPr>
              <a:t>Queries made by visitors</a:t>
            </a:r>
          </a:p>
          <a:p>
            <a:pPr marL="360000" indent="-360000">
              <a:spcBef>
                <a:spcPts val="1200"/>
              </a:spcBef>
              <a:spcAft>
                <a:spcPts val="1200"/>
              </a:spcAft>
            </a:pPr>
            <a:r>
              <a:rPr lang="en-US" sz="2200" b="1" dirty="0" smtClean="0">
                <a:latin typeface="Helvetica" pitchFamily="34" charset="0"/>
              </a:rPr>
              <a:t>Responses provided to those queries by staff or the venue.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pic>
        <p:nvPicPr>
          <p:cNvPr id="5" name="Picture 4" descr="wai_a_kym_214.jpg"/>
          <p:cNvPicPr/>
          <p:nvPr/>
        </p:nvPicPr>
        <p:blipFill>
          <a:blip r:embed="rId3" cstate="print"/>
          <a:stretch>
            <a:fillRect/>
          </a:stretch>
        </p:blipFill>
        <p:spPr>
          <a:xfrm>
            <a:off x="6012160" y="3933056"/>
            <a:ext cx="2493010" cy="1666875"/>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Report queries and results to designated person within enterprise for follow-up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Reporting queries and results is important because:</a:t>
            </a:r>
          </a:p>
          <a:p>
            <a:pPr marL="360000" indent="-360000">
              <a:spcBef>
                <a:spcPts val="1200"/>
              </a:spcBef>
              <a:spcAft>
                <a:spcPts val="1200"/>
              </a:spcAft>
            </a:pPr>
            <a:r>
              <a:rPr lang="en-US" sz="2200" b="1" dirty="0" smtClean="0">
                <a:latin typeface="Helvetica" pitchFamily="34" charset="0"/>
              </a:rPr>
              <a:t>It is effective market research</a:t>
            </a:r>
          </a:p>
          <a:p>
            <a:pPr marL="360000" indent="-360000">
              <a:spcBef>
                <a:spcPts val="1200"/>
              </a:spcBef>
              <a:spcAft>
                <a:spcPts val="1200"/>
              </a:spcAft>
            </a:pPr>
            <a:r>
              <a:rPr lang="en-US" sz="2200" b="1" dirty="0" smtClean="0">
                <a:latin typeface="Helvetica" pitchFamily="34" charset="0"/>
              </a:rPr>
              <a:t>It is customer-focused</a:t>
            </a:r>
          </a:p>
          <a:p>
            <a:pPr marL="360000" indent="-360000">
              <a:spcBef>
                <a:spcPts val="1200"/>
              </a:spcBef>
              <a:spcAft>
                <a:spcPts val="1200"/>
              </a:spcAft>
            </a:pPr>
            <a:r>
              <a:rPr lang="en-US" sz="2200" b="1" dirty="0" smtClean="0">
                <a:latin typeface="Helvetica" pitchFamily="34" charset="0"/>
              </a:rPr>
              <a:t>It always sharing of information</a:t>
            </a:r>
          </a:p>
          <a:p>
            <a:pPr marL="360000" indent="-360000">
              <a:spcBef>
                <a:spcPts val="1200"/>
              </a:spcBef>
              <a:spcAft>
                <a:spcPts val="1200"/>
              </a:spcAft>
            </a:pPr>
            <a:r>
              <a:rPr lang="en-US" sz="2200" b="1" dirty="0" smtClean="0">
                <a:latin typeface="Helvetica" pitchFamily="34" charset="0"/>
              </a:rPr>
              <a:t>It makes staff accountable for their actions.</a:t>
            </a:r>
          </a:p>
          <a:p>
            <a:pPr marL="360000" indent="-360000" algn="ctr">
              <a:spcBef>
                <a:spcPts val="1200"/>
              </a:spcBef>
              <a:spcAft>
                <a:spcPts val="1200"/>
              </a:spcAft>
              <a:buNone/>
            </a:pPr>
            <a:r>
              <a:rPr lang="en-US" sz="2200" b="1" dirty="0" smtClean="0">
                <a:latin typeface="Helvetica" pitchFamily="34" charset="0"/>
              </a:rPr>
              <a:t>If ‘it’ is good for the visitor, it is good for the venue.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pic>
        <p:nvPicPr>
          <p:cNvPr id="5" name="Picture 4" descr="19.jpg"/>
          <p:cNvPicPr/>
          <p:nvPr/>
        </p:nvPicPr>
        <p:blipFill>
          <a:blip r:embed="rId3" cstate="print"/>
          <a:stretch>
            <a:fillRect/>
          </a:stretch>
        </p:blipFill>
        <p:spPr>
          <a:xfrm>
            <a:off x="6300192" y="2708920"/>
            <a:ext cx="2152650" cy="1447800"/>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Report queries and results to designated person within enterprise for follow-up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People involved in reports are:</a:t>
            </a:r>
          </a:p>
          <a:p>
            <a:pPr marL="360000" indent="-360000">
              <a:spcBef>
                <a:spcPts val="1200"/>
              </a:spcBef>
              <a:spcAft>
                <a:spcPts val="1200"/>
              </a:spcAft>
            </a:pPr>
            <a:r>
              <a:rPr lang="en-US" sz="2200" b="1" dirty="0" smtClean="0">
                <a:latin typeface="Helvetica" pitchFamily="34" charset="0"/>
              </a:rPr>
              <a:t>Report makers</a:t>
            </a:r>
          </a:p>
          <a:p>
            <a:pPr marL="360000" indent="-360000">
              <a:spcBef>
                <a:spcPts val="1200"/>
              </a:spcBef>
              <a:spcAft>
                <a:spcPts val="1200"/>
              </a:spcAft>
            </a:pPr>
            <a:r>
              <a:rPr lang="en-US" sz="2200" b="1" dirty="0" smtClean="0">
                <a:latin typeface="Helvetica" pitchFamily="34" charset="0"/>
              </a:rPr>
              <a:t>Report takers.</a:t>
            </a:r>
          </a:p>
          <a:p>
            <a:pPr marL="360000" indent="-360000" algn="ctr">
              <a:spcBef>
                <a:spcPts val="1200"/>
              </a:spcBef>
              <a:spcAft>
                <a:spcPts val="1200"/>
              </a:spcAft>
              <a:buNone/>
            </a:pPr>
            <a:r>
              <a:rPr lang="en-US" sz="2200" b="1" i="1" dirty="0" smtClean="0">
                <a:latin typeface="Helvetica" pitchFamily="34" charset="0"/>
              </a:rPr>
              <a:t>Regular reporting is essential.</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pic>
        <p:nvPicPr>
          <p:cNvPr id="7" name="Picture 2" descr="C:\Documents and Settings\maiv\Local Settings\Temporary Internet Files\Content.IE5\ZXOPI4XJ\MP900438528[1].jpg"/>
          <p:cNvPicPr>
            <a:picLocks noChangeAspect="1" noChangeArrowheads="1"/>
          </p:cNvPicPr>
          <p:nvPr/>
        </p:nvPicPr>
        <p:blipFill>
          <a:blip r:embed="rId3" cstate="print"/>
          <a:srcRect/>
          <a:stretch>
            <a:fillRect/>
          </a:stretch>
        </p:blipFill>
        <p:spPr bwMode="auto">
          <a:xfrm>
            <a:off x="7007352" y="2204864"/>
            <a:ext cx="2136648" cy="3200400"/>
          </a:xfrm>
          <a:prstGeom prst="rect">
            <a:avLst/>
          </a:prstGeom>
          <a:noFill/>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Report queries and results to designated person within enterprise for follow-up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Reporting options:</a:t>
            </a:r>
          </a:p>
          <a:p>
            <a:pPr marL="360000" indent="-360000">
              <a:spcBef>
                <a:spcPts val="1200"/>
              </a:spcBef>
              <a:spcAft>
                <a:spcPts val="1200"/>
              </a:spcAft>
            </a:pPr>
            <a:r>
              <a:rPr lang="en-US" sz="2200" b="1" dirty="0" smtClean="0">
                <a:latin typeface="Helvetica" pitchFamily="34" charset="0"/>
              </a:rPr>
              <a:t>Written</a:t>
            </a:r>
          </a:p>
          <a:p>
            <a:pPr marL="360000" indent="-360000">
              <a:spcBef>
                <a:spcPts val="1200"/>
              </a:spcBef>
              <a:spcAft>
                <a:spcPts val="1200"/>
              </a:spcAft>
            </a:pPr>
            <a:r>
              <a:rPr lang="en-US" sz="2200" b="1" dirty="0" smtClean="0">
                <a:latin typeface="Helvetica" pitchFamily="34" charset="0"/>
              </a:rPr>
              <a:t>Verbal</a:t>
            </a:r>
          </a:p>
          <a:p>
            <a:pPr marL="360000" indent="-360000">
              <a:spcBef>
                <a:spcPts val="1200"/>
              </a:spcBef>
              <a:spcAft>
                <a:spcPts val="1200"/>
              </a:spcAft>
            </a:pPr>
            <a:r>
              <a:rPr lang="en-US" sz="2200" b="1" dirty="0" smtClean="0">
                <a:latin typeface="Helvetica" pitchFamily="34" charset="0"/>
              </a:rPr>
              <a:t>Combination of both.</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pic>
        <p:nvPicPr>
          <p:cNvPr id="5" name="Picture 4" descr="wai_a_kym_214.jpg"/>
          <p:cNvPicPr/>
          <p:nvPr/>
        </p:nvPicPr>
        <p:blipFill>
          <a:blip r:embed="rId3" cstate="print"/>
          <a:stretch>
            <a:fillRect/>
          </a:stretch>
        </p:blipFill>
        <p:spPr>
          <a:xfrm>
            <a:off x="6012160" y="3933056"/>
            <a:ext cx="2493010" cy="1666875"/>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Report queries and results to designated person within enterprise for follow-up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Follow-up action may include:</a:t>
            </a:r>
          </a:p>
          <a:p>
            <a:pPr marL="360000" indent="-360000">
              <a:spcBef>
                <a:spcPts val="1200"/>
              </a:spcBef>
              <a:spcAft>
                <a:spcPts val="1200"/>
              </a:spcAft>
            </a:pPr>
            <a:r>
              <a:rPr lang="en-US" sz="2200" b="1" dirty="0" smtClean="0">
                <a:latin typeface="Helvetica" pitchFamily="34" charset="0"/>
              </a:rPr>
              <a:t>Staff training</a:t>
            </a:r>
          </a:p>
          <a:p>
            <a:pPr marL="360000" indent="-360000">
              <a:spcBef>
                <a:spcPts val="1200"/>
              </a:spcBef>
              <a:spcAft>
                <a:spcPts val="1200"/>
              </a:spcAft>
            </a:pPr>
            <a:r>
              <a:rPr lang="en-US" sz="2200" b="1" dirty="0" smtClean="0">
                <a:latin typeface="Helvetica" pitchFamily="34" charset="0"/>
              </a:rPr>
              <a:t>Revision to standard materials available</a:t>
            </a:r>
          </a:p>
          <a:p>
            <a:pPr marL="360000" indent="-360000">
              <a:spcBef>
                <a:spcPts val="1200"/>
              </a:spcBef>
              <a:spcAft>
                <a:spcPts val="1200"/>
              </a:spcAft>
            </a:pPr>
            <a:r>
              <a:rPr lang="en-US" sz="2200" b="1" dirty="0" smtClean="0">
                <a:latin typeface="Helvetica" pitchFamily="34" charset="0"/>
              </a:rPr>
              <a:t>Introducing, changing or removing products </a:t>
            </a:r>
            <a:br>
              <a:rPr lang="en-US" sz="2200" b="1" dirty="0" smtClean="0">
                <a:latin typeface="Helvetica" pitchFamily="34" charset="0"/>
              </a:rPr>
            </a:br>
            <a:r>
              <a:rPr lang="en-US" sz="2200" b="1" dirty="0" smtClean="0">
                <a:latin typeface="Helvetica" pitchFamily="34" charset="0"/>
              </a:rPr>
              <a:t>and services</a:t>
            </a:r>
          </a:p>
          <a:p>
            <a:pPr marL="360000" indent="-360000">
              <a:spcBef>
                <a:spcPts val="1200"/>
              </a:spcBef>
              <a:spcAft>
                <a:spcPts val="1200"/>
              </a:spcAft>
            </a:pPr>
            <a:r>
              <a:rPr lang="en-US" sz="2200" b="1" dirty="0" smtClean="0">
                <a:latin typeface="Helvetica" pitchFamily="34" charset="0"/>
              </a:rPr>
              <a:t>Changing venue advertisement</a:t>
            </a:r>
          </a:p>
          <a:p>
            <a:pPr marL="360000" indent="-360000">
              <a:spcBef>
                <a:spcPts val="1200"/>
              </a:spcBef>
              <a:spcAft>
                <a:spcPts val="1200"/>
              </a:spcAft>
            </a:pPr>
            <a:r>
              <a:rPr lang="en-US" sz="2200" b="1" dirty="0" smtClean="0">
                <a:latin typeface="Helvetica" pitchFamily="34" charset="0"/>
              </a:rPr>
              <a:t>Apologies to customers.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pic>
        <p:nvPicPr>
          <p:cNvPr id="6146" name="Picture 2" descr="C:\Documents and Settings\maiv\Local Settings\Temporary Internet Files\Content.IE5\XBB4NDLH\MP900407228[1].jpg"/>
          <p:cNvPicPr>
            <a:picLocks noChangeAspect="1" noChangeArrowheads="1"/>
          </p:cNvPicPr>
          <p:nvPr/>
        </p:nvPicPr>
        <p:blipFill>
          <a:blip r:embed="rId3" cstate="print"/>
          <a:srcRect/>
          <a:stretch>
            <a:fillRect/>
          </a:stretch>
        </p:blipFill>
        <p:spPr bwMode="auto">
          <a:xfrm>
            <a:off x="7337171" y="2564904"/>
            <a:ext cx="1806829" cy="2708920"/>
          </a:xfrm>
          <a:prstGeom prst="rect">
            <a:avLst/>
          </a:prstGeom>
          <a:noFill/>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When maintaining contact with local communities :</a:t>
            </a:r>
          </a:p>
          <a:p>
            <a:pPr>
              <a:spcBef>
                <a:spcPts val="1200"/>
              </a:spcBef>
              <a:spcAft>
                <a:spcPts val="1200"/>
              </a:spcAft>
            </a:pPr>
            <a:r>
              <a:rPr lang="en-US" sz="2200" b="1" dirty="0" smtClean="0">
                <a:latin typeface="Helvetica" pitchFamily="34" charset="0"/>
              </a:rPr>
              <a:t>Provide information and responses to tourist/visitor queries that are honest, comprehensive, current, relevant and timely</a:t>
            </a:r>
            <a:endParaRPr lang="en-AU" sz="2200" b="1" dirty="0" smtClean="0">
              <a:latin typeface="Helvetica" pitchFamily="34" charset="0"/>
            </a:endParaRPr>
          </a:p>
          <a:p>
            <a:pPr>
              <a:spcBef>
                <a:spcPts val="1200"/>
              </a:spcBef>
              <a:spcAft>
                <a:spcPts val="1200"/>
              </a:spcAft>
            </a:pPr>
            <a:r>
              <a:rPr lang="en-US" sz="2200" b="1" dirty="0" err="1" smtClean="0">
                <a:latin typeface="Helvetica" pitchFamily="34" charset="0"/>
              </a:rPr>
              <a:t>Realise</a:t>
            </a:r>
            <a:r>
              <a:rPr lang="en-US" sz="2200" b="1" dirty="0" smtClean="0">
                <a:latin typeface="Helvetica" pitchFamily="34" charset="0"/>
              </a:rPr>
              <a:t> it is everyone’s job to provide local information to visitors/tourists</a:t>
            </a:r>
            <a:endParaRPr lang="en-AU" sz="2200" b="1" dirty="0" smtClean="0">
              <a:latin typeface="Helvetica" pitchFamily="34" charset="0"/>
            </a:endParaRPr>
          </a:p>
          <a:p>
            <a:pPr marL="360000" indent="-360000">
              <a:spcBef>
                <a:spcPts val="1200"/>
              </a:spcBef>
              <a:spcAft>
                <a:spcPts val="1200"/>
              </a:spcAft>
              <a:buNone/>
            </a:pPr>
            <a:r>
              <a:rPr lang="en-US" sz="2200" b="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pic>
        <p:nvPicPr>
          <p:cNvPr id="5" name="Picture 2" descr="C:\Documents and Settings\maiv\Local Settings\Temporary Internet Files\Content.IE5\A8BAWIUD\MC900440428[1].wmf"/>
          <p:cNvPicPr>
            <a:picLocks noChangeAspect="1" noChangeArrowheads="1"/>
          </p:cNvPicPr>
          <p:nvPr/>
        </p:nvPicPr>
        <p:blipFill>
          <a:blip r:embed="rId3" cstate="print"/>
          <a:srcRect/>
          <a:stretch>
            <a:fillRect/>
          </a:stretch>
        </p:blipFill>
        <p:spPr bwMode="auto">
          <a:xfrm>
            <a:off x="6732240" y="3645024"/>
            <a:ext cx="1736725" cy="1828800"/>
          </a:xfrm>
          <a:prstGeom prst="rect">
            <a:avLst/>
          </a:prstGeom>
          <a:noFill/>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US" sz="2200" b="1" dirty="0" smtClean="0">
                <a:latin typeface="Helvetica" pitchFamily="34" charset="0"/>
              </a:rPr>
              <a:t>Create a file for commonly required local information such as information about the venue, local transport, attractions, events, general visitor facilities, dining, shopping, entertainment, weather, local legislation and regulations</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Be alert to the possibilities and potential for </a:t>
            </a:r>
            <a:br>
              <a:rPr lang="en-US" sz="2200" b="1" dirty="0" smtClean="0">
                <a:latin typeface="Helvetica" pitchFamily="34" charset="0"/>
              </a:rPr>
            </a:br>
            <a:r>
              <a:rPr lang="en-US" sz="2200" b="1" dirty="0" smtClean="0">
                <a:latin typeface="Helvetica" pitchFamily="34" charset="0"/>
              </a:rPr>
              <a:t>using local knowledge to promote local </a:t>
            </a:r>
            <a:br>
              <a:rPr lang="en-US" sz="2200" b="1" dirty="0" smtClean="0">
                <a:latin typeface="Helvetica" pitchFamily="34" charset="0"/>
              </a:rPr>
            </a:br>
            <a:r>
              <a:rPr lang="en-US" sz="2200" b="1" dirty="0" smtClean="0">
                <a:latin typeface="Helvetica" pitchFamily="34" charset="0"/>
              </a:rPr>
              <a:t>tourism products and services</a:t>
            </a:r>
            <a:endParaRPr lang="en-AU" sz="2200" b="1" dirty="0" smtClean="0">
              <a:latin typeface="Helvetica" pitchFamily="34" charset="0"/>
            </a:endParaRP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pic>
        <p:nvPicPr>
          <p:cNvPr id="5" name="Picture 2" descr="C:\Documents and Settings\maiv\Local Settings\Temporary Internet Files\Content.IE5\A8BAWIUD\MC900440428[1].wmf"/>
          <p:cNvPicPr>
            <a:picLocks noChangeAspect="1" noChangeArrowheads="1"/>
          </p:cNvPicPr>
          <p:nvPr/>
        </p:nvPicPr>
        <p:blipFill>
          <a:blip r:embed="rId3" cstate="print"/>
          <a:srcRect/>
          <a:stretch>
            <a:fillRect/>
          </a:stretch>
        </p:blipFill>
        <p:spPr bwMode="auto">
          <a:xfrm>
            <a:off x="6732240" y="3645024"/>
            <a:ext cx="1736725" cy="1828800"/>
          </a:xfrm>
          <a:prstGeom prst="rect">
            <a:avLst/>
          </a:prstGeom>
          <a:noFill/>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US" sz="2200" b="1" dirty="0" smtClean="0">
                <a:latin typeface="Helvetica" pitchFamily="34" charset="0"/>
              </a:rPr>
              <a:t>Be proactive in promoting local tourism products and services. Never be shy about promoting what the area/venues have to offer</a:t>
            </a:r>
            <a:endParaRPr lang="en-AU" sz="2200" b="1" dirty="0" smtClean="0">
              <a:latin typeface="Helvetica" pitchFamily="34" charset="0"/>
            </a:endParaRPr>
          </a:p>
          <a:p>
            <a:pPr>
              <a:spcBef>
                <a:spcPts val="1200"/>
              </a:spcBef>
              <a:spcAft>
                <a:spcPts val="1200"/>
              </a:spcAft>
            </a:pPr>
            <a:r>
              <a:rPr lang="en-US" sz="2200" b="1" dirty="0" err="1" smtClean="0">
                <a:latin typeface="Helvetica" pitchFamily="34" charset="0"/>
              </a:rPr>
              <a:t>Recognise</a:t>
            </a:r>
            <a:r>
              <a:rPr lang="en-US" sz="2200" b="1" dirty="0" smtClean="0">
                <a:latin typeface="Helvetica" pitchFamily="34" charset="0"/>
              </a:rPr>
              <a:t> the benefits flowing the effective promotion of tourism products and services</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Suggest/recommend add-ons and extras at </a:t>
            </a:r>
            <a:br>
              <a:rPr lang="en-US" sz="2200" b="1" dirty="0" smtClean="0">
                <a:latin typeface="Helvetica" pitchFamily="34" charset="0"/>
              </a:rPr>
            </a:br>
            <a:r>
              <a:rPr lang="en-US" sz="2200" b="1" dirty="0" smtClean="0">
                <a:latin typeface="Helvetica" pitchFamily="34" charset="0"/>
              </a:rPr>
              <a:t>every appropriate opportunity</a:t>
            </a:r>
            <a:endParaRPr lang="en-AU" sz="2200" b="1" dirty="0" smtClean="0">
              <a:latin typeface="Helvetica" pitchFamily="34" charset="0"/>
            </a:endParaRP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pic>
        <p:nvPicPr>
          <p:cNvPr id="5" name="Picture 2" descr="C:\Documents and Settings\maiv\Local Settings\Temporary Internet Files\Content.IE5\A8BAWIUD\MC900440428[1].wmf"/>
          <p:cNvPicPr>
            <a:picLocks noChangeAspect="1" noChangeArrowheads="1"/>
          </p:cNvPicPr>
          <p:nvPr/>
        </p:nvPicPr>
        <p:blipFill>
          <a:blip r:embed="rId3" cstate="print"/>
          <a:srcRect/>
          <a:stretch>
            <a:fillRect/>
          </a:stretch>
        </p:blipFill>
        <p:spPr bwMode="auto">
          <a:xfrm>
            <a:off x="6732240" y="3645024"/>
            <a:ext cx="1736725" cy="1828800"/>
          </a:xfrm>
          <a:prstGeom prst="rect">
            <a:avLst/>
          </a:prstGeom>
          <a:noFill/>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US" sz="2200" b="1" dirty="0" smtClean="0">
                <a:latin typeface="Helvetica" pitchFamily="34" charset="0"/>
              </a:rPr>
              <a:t>Sell the benefits of any add-on or extra as well as any physical characteristics that apply</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Match what you try to sell as add-ons and extras to identified visitor needs. Talk to them to identify what they want, need or prefer and what, if any, restrictions apply</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Never pressure anyone into buying </a:t>
            </a:r>
            <a:endParaRPr lang="en-AU" sz="2200" b="1" dirty="0" smtClean="0">
              <a:latin typeface="Helvetica" pitchFamily="34" charset="0"/>
            </a:endParaRP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pic>
        <p:nvPicPr>
          <p:cNvPr id="5" name="Picture 2" descr="C:\Documents and Settings\maiv\Local Settings\Temporary Internet Files\Content.IE5\A8BAWIUD\MC900440428[1].wmf"/>
          <p:cNvPicPr>
            <a:picLocks noChangeAspect="1" noChangeArrowheads="1"/>
          </p:cNvPicPr>
          <p:nvPr/>
        </p:nvPicPr>
        <p:blipFill>
          <a:blip r:embed="rId3" cstate="print"/>
          <a:srcRect/>
          <a:stretch>
            <a:fillRect/>
          </a:stretch>
        </p:blipFill>
        <p:spPr bwMode="auto">
          <a:xfrm>
            <a:off x="6732240" y="3645024"/>
            <a:ext cx="1736725" cy="1828800"/>
          </a:xfrm>
          <a:prstGeom prst="rect">
            <a:avLst/>
          </a:prstGeom>
          <a:noFill/>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US" sz="2200" b="1" dirty="0" smtClean="0">
                <a:latin typeface="Helvetica" pitchFamily="34" charset="0"/>
              </a:rPr>
              <a:t>Provide regular and comprehensive feedback to management and others in the workplace regarding visitor queries and the way in which they have been handled </a:t>
            </a:r>
          </a:p>
          <a:p>
            <a:pPr>
              <a:spcBef>
                <a:spcPts val="1200"/>
              </a:spcBef>
              <a:spcAft>
                <a:spcPts val="1200"/>
              </a:spcAft>
            </a:pPr>
            <a:r>
              <a:rPr lang="en-US" sz="2200" b="1" dirty="0" smtClean="0">
                <a:latin typeface="Helvetica" pitchFamily="34" charset="0"/>
              </a:rPr>
              <a:t>Strive to continually provide excellent service to customers regarding the way in which their </a:t>
            </a:r>
            <a:br>
              <a:rPr lang="en-US" sz="2200" b="1" dirty="0" smtClean="0">
                <a:latin typeface="Helvetica" pitchFamily="34" charset="0"/>
              </a:rPr>
            </a:br>
            <a:r>
              <a:rPr lang="en-US" sz="2200" b="1" dirty="0" smtClean="0">
                <a:latin typeface="Helvetica" pitchFamily="34" charset="0"/>
              </a:rPr>
              <a:t>queries are dealt with. Be prepared to </a:t>
            </a:r>
            <a:br>
              <a:rPr lang="en-US" sz="2200" b="1" dirty="0" smtClean="0">
                <a:latin typeface="Helvetica" pitchFamily="34" charset="0"/>
              </a:rPr>
            </a:br>
            <a:r>
              <a:rPr lang="en-US" sz="2200" b="1" dirty="0" smtClean="0">
                <a:latin typeface="Helvetica" pitchFamily="34" charset="0"/>
              </a:rPr>
              <a:t>take necessary action to address </a:t>
            </a:r>
            <a:br>
              <a:rPr lang="en-US" sz="2200" b="1" dirty="0" smtClean="0">
                <a:latin typeface="Helvetica" pitchFamily="34" charset="0"/>
              </a:rPr>
            </a:br>
            <a:r>
              <a:rPr lang="en-US" sz="2200" b="1" dirty="0" smtClean="0">
                <a:latin typeface="Helvetica" pitchFamily="34" charset="0"/>
              </a:rPr>
              <a:t>negative situations.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pic>
        <p:nvPicPr>
          <p:cNvPr id="5" name="Picture 2" descr="C:\Documents and Settings\maiv\Local Settings\Temporary Internet Files\Content.IE5\A8BAWIUD\MC900440428[1].wmf"/>
          <p:cNvPicPr>
            <a:picLocks noChangeAspect="1" noChangeArrowheads="1"/>
          </p:cNvPicPr>
          <p:nvPr/>
        </p:nvPicPr>
        <p:blipFill>
          <a:blip r:embed="rId3" cstate="print"/>
          <a:srcRect/>
          <a:stretch>
            <a:fillRect/>
          </a:stretch>
        </p:blipFill>
        <p:spPr bwMode="auto">
          <a:xfrm>
            <a:off x="6732240" y="3645024"/>
            <a:ext cx="1736725" cy="1828800"/>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Dev &amp; UD local knowledge ASEAN PPT">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themeOverride>
</file>

<file path=ppt/theme/themeOverride2.xml><?xml version="1.0" encoding="utf-8"?>
<a:themeOverride xmlns:a="http://schemas.openxmlformats.org/drawingml/2006/main">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themeOverride>
</file>

<file path=docProps/app.xml><?xml version="1.0" encoding="utf-8"?>
<Properties xmlns="http://schemas.openxmlformats.org/officeDocument/2006/extended-properties" xmlns:vt="http://schemas.openxmlformats.org/officeDocument/2006/docPropsVTypes">
  <Template/>
  <TotalTime>1733</TotalTime>
  <Words>19270</Words>
  <Application>Microsoft Office PowerPoint</Application>
  <PresentationFormat>On-screen Show (4:3)</PresentationFormat>
  <Paragraphs>1649</Paragraphs>
  <Slides>88</Slides>
  <Notes>88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88</vt:i4>
      </vt:variant>
    </vt:vector>
  </HeadingPairs>
  <TitlesOfParts>
    <vt:vector size="94" baseType="lpstr">
      <vt:lpstr>Arial</vt:lpstr>
      <vt:lpstr>Calibri</vt:lpstr>
      <vt:lpstr>Franklin Gothic Book</vt:lpstr>
      <vt:lpstr>Helvetica</vt:lpstr>
      <vt:lpstr>Wingdings 2</vt:lpstr>
      <vt:lpstr>Dev &amp; UD local knowledge ASEAN PPT</vt:lpstr>
      <vt:lpstr>DEVELOP AND UP-DATE LOCAL KNOWLEDGE</vt:lpstr>
      <vt:lpstr>Develop and update local knowledge</vt:lpstr>
      <vt:lpstr>Assessment</vt:lpstr>
      <vt:lpstr>Develop local knowledge</vt:lpstr>
      <vt:lpstr>Identify and access sources for information on local area</vt:lpstr>
      <vt:lpstr>Identify and access sources for information on local area</vt:lpstr>
      <vt:lpstr>Identify and access sources for information on local area</vt:lpstr>
      <vt:lpstr>Identify and access sources for information on local area</vt:lpstr>
      <vt:lpstr>Identify and access sources for information on local area</vt:lpstr>
      <vt:lpstr>Identify and access sources for information on local area</vt:lpstr>
      <vt:lpstr>Identify and access sources for information on local area</vt:lpstr>
      <vt:lpstr>Identify and access sources for information on local area</vt:lpstr>
      <vt:lpstr>Identify and access sources for information on local area</vt:lpstr>
      <vt:lpstr>Identify and access sources for information on local area</vt:lpstr>
      <vt:lpstr>Identify and access sources for information on local area</vt:lpstr>
      <vt:lpstr>Identify and access sources for information on local area</vt:lpstr>
      <vt:lpstr>Identify and access sources for information on local area</vt:lpstr>
      <vt:lpstr>Identify and obtain information to assist with local and national queries</vt:lpstr>
      <vt:lpstr>Identify and obtain information to assist with local/national queries</vt:lpstr>
      <vt:lpstr>Identify and obtain information to assist with local/national queries</vt:lpstr>
      <vt:lpstr>Identify and obtain information to assist with local and national queries</vt:lpstr>
      <vt:lpstr>Identify and obtain information to assist with local and national queries</vt:lpstr>
      <vt:lpstr>Identify and obtain information to assist with local and national queries</vt:lpstr>
      <vt:lpstr>Identify and obtain information to assist with local and national queries</vt:lpstr>
      <vt:lpstr>Store and update information according to enterprise procedures</vt:lpstr>
      <vt:lpstr>Store and update information according to enterprise procedures</vt:lpstr>
      <vt:lpstr>Store and update information according to enterprise procedures</vt:lpstr>
      <vt:lpstr>Store and update information according to enterprise procedures</vt:lpstr>
      <vt:lpstr>Store and update information according to enterprise procedures</vt:lpstr>
      <vt:lpstr>Share information with colleagues</vt:lpstr>
      <vt:lpstr>Share information with colleagues</vt:lpstr>
      <vt:lpstr>Share information with colleagues</vt:lpstr>
      <vt:lpstr>Summary – Element 1</vt:lpstr>
      <vt:lpstr>Summary – Element 1</vt:lpstr>
      <vt:lpstr>Summary – Element 1</vt:lpstr>
      <vt:lpstr>Summary – Element 1</vt:lpstr>
      <vt:lpstr>Summary – Element 1</vt:lpstr>
      <vt:lpstr>Up-date local knowledge</vt:lpstr>
      <vt:lpstr>Use formal and/or informal research to update local knowledge</vt:lpstr>
      <vt:lpstr>Use formal and/or informal research to update local knowledge</vt:lpstr>
      <vt:lpstr>Use formal and/or informal research to update local knowledge</vt:lpstr>
      <vt:lpstr>Use formal and/or informal research to update local knowledge</vt:lpstr>
      <vt:lpstr>Use formal and/or informal research to update local knowledge</vt:lpstr>
      <vt:lpstr>Share updated knowledge with customers and colleagues</vt:lpstr>
      <vt:lpstr>Share updated knowledge with customers and colleagues</vt:lpstr>
      <vt:lpstr>Share updated knowledge with customers and colleagues</vt:lpstr>
      <vt:lpstr>Incorporate sharing of local knowledge into day to day working activities</vt:lpstr>
      <vt:lpstr>Incorporate sharing of local knowledge into day to day working activities</vt:lpstr>
      <vt:lpstr>Incorporate sharing of local knowledge into day to day working activities</vt:lpstr>
      <vt:lpstr>Incorporate sharing of local knowledge into day to day working activities</vt:lpstr>
      <vt:lpstr>Summary – Element 2</vt:lpstr>
      <vt:lpstr>Summary – Element 2</vt:lpstr>
      <vt:lpstr>Summary – Element 2</vt:lpstr>
      <vt:lpstr>Summary – Element 2</vt:lpstr>
      <vt:lpstr>Maintain contact with local communities</vt:lpstr>
      <vt:lpstr>Maintain contact with local communities</vt:lpstr>
      <vt:lpstr>Maintain contact with local communities</vt:lpstr>
      <vt:lpstr>Maintain contact with local communities</vt:lpstr>
      <vt:lpstr>Provide accurate local tourism information in response to queries</vt:lpstr>
      <vt:lpstr>Provide accurate local tourism information in response to queries</vt:lpstr>
      <vt:lpstr>Provide accurate local tourism information in response to queries</vt:lpstr>
      <vt:lpstr>Provide accurate local tourism information in response to queries</vt:lpstr>
      <vt:lpstr>Use local knowledge to promote tourism products and services</vt:lpstr>
      <vt:lpstr>Use local knowledge to promote tourism products and services</vt:lpstr>
      <vt:lpstr>Use local knowledge to promote tourism products and services</vt:lpstr>
      <vt:lpstr>Use local knowledge to promote tourism products and services</vt:lpstr>
      <vt:lpstr>Use local knowledge to promote tourism products and services</vt:lpstr>
      <vt:lpstr>Use local knowledge to promote tourism products and services</vt:lpstr>
      <vt:lpstr>Use local knowledge to promote tourism products and services</vt:lpstr>
      <vt:lpstr>Use local knowledge to promote tourism products and services</vt:lpstr>
      <vt:lpstr>Use local knowledge to promote tourism products and services</vt:lpstr>
      <vt:lpstr>Use local knowledge to promote tourism products and services</vt:lpstr>
      <vt:lpstr>Make customers aware of possible extras, add-ons and further benefits</vt:lpstr>
      <vt:lpstr>Make customers aware of possible extras, add-ons and further benefits</vt:lpstr>
      <vt:lpstr>Make customers aware of possible extras, add-ons and further benefits</vt:lpstr>
      <vt:lpstr>Make customers aware of possible extras, add-ons and further benefits</vt:lpstr>
      <vt:lpstr>Make customers aware of possible extras, add-ons and further benefits</vt:lpstr>
      <vt:lpstr>Make customers aware of possible extras, add-ons and further benefits</vt:lpstr>
      <vt:lpstr>Report queries and results to designated person within enterprise for follow-up</vt:lpstr>
      <vt:lpstr>Report queries and results to designated person within enterprise for follow-up</vt:lpstr>
      <vt:lpstr>Report queries and results to designated person within enterprise for follow-up</vt:lpstr>
      <vt:lpstr>Report queries and results to designated person within enterprise for follow-up</vt:lpstr>
      <vt:lpstr>Report queries and results to designated person within enterprise for follow-up</vt:lpstr>
      <vt:lpstr>Summary – Element 3</vt:lpstr>
      <vt:lpstr>Summary – Element 3</vt:lpstr>
      <vt:lpstr>Summary – Element 3</vt:lpstr>
      <vt:lpstr>Summary – Element 3</vt:lpstr>
      <vt:lpstr>Summary – Element 3</vt:lpstr>
    </vt:vector>
  </TitlesOfParts>
  <Company>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 AND UP-DATE LOCAL KNOWLEDGE</dc:title>
  <dc:creator>MsCarla</dc:creator>
  <cp:lastModifiedBy>Carla Angelica Co</cp:lastModifiedBy>
  <cp:revision>199</cp:revision>
  <dcterms:created xsi:type="dcterms:W3CDTF">2011-06-06T02:15:11Z</dcterms:created>
  <dcterms:modified xsi:type="dcterms:W3CDTF">2015-03-25T04:06:58Z</dcterms:modified>
</cp:coreProperties>
</file>