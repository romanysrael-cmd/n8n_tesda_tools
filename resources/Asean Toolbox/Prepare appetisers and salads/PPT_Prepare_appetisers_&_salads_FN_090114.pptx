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8"/>
  </p:notesMasterIdLst>
  <p:handoutMasterIdLst>
    <p:handoutMasterId r:id="rId29"/>
  </p:handoutMasterIdLst>
  <p:sldIdLst>
    <p:sldId id="256" r:id="rId2"/>
    <p:sldId id="258" r:id="rId3"/>
    <p:sldId id="257" r:id="rId4"/>
    <p:sldId id="259" r:id="rId5"/>
    <p:sldId id="262" r:id="rId6"/>
    <p:sldId id="260" r:id="rId7"/>
    <p:sldId id="261" r:id="rId8"/>
    <p:sldId id="263" r:id="rId9"/>
    <p:sldId id="264" r:id="rId10"/>
    <p:sldId id="265" r:id="rId11"/>
    <p:sldId id="266" r:id="rId12"/>
    <p:sldId id="267" r:id="rId13"/>
    <p:sldId id="268" r:id="rId14"/>
    <p:sldId id="269" r:id="rId15"/>
    <p:sldId id="271" r:id="rId16"/>
    <p:sldId id="270" r:id="rId17"/>
    <p:sldId id="282" r:id="rId18"/>
    <p:sldId id="272" r:id="rId19"/>
    <p:sldId id="273" r:id="rId20"/>
    <p:sldId id="274" r:id="rId21"/>
    <p:sldId id="275" r:id="rId22"/>
    <p:sldId id="283" r:id="rId23"/>
    <p:sldId id="276" r:id="rId24"/>
    <p:sldId id="277" r:id="rId25"/>
    <p:sldId id="278" r:id="rId26"/>
    <p:sldId id="284" r:id="rId2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35" autoAdjust="0"/>
    <p:restoredTop sz="67664" autoAdjust="0"/>
  </p:normalViewPr>
  <p:slideViewPr>
    <p:cSldViewPr>
      <p:cViewPr varScale="1">
        <p:scale>
          <a:sx n="62" d="100"/>
          <a:sy n="62" d="100"/>
        </p:scale>
        <p:origin x="216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3/31/2015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20011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422266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trainees</a:t>
            </a:r>
            <a:r>
              <a:rPr lang="en-US" baseline="0" dirty="0" smtClean="0"/>
              <a:t> to the class and informs them that they will be learning how to prepare </a:t>
            </a:r>
            <a:r>
              <a:rPr lang="en-US" baseline="0" dirty="0" err="1" smtClean="0"/>
              <a:t>appetisers</a:t>
            </a:r>
            <a:r>
              <a:rPr lang="en-US" baseline="0" dirty="0" smtClean="0"/>
              <a:t> and salads.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947574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this Unit comprises three Elements, as listed on the slide explaining:</a:t>
            </a:r>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459597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08950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a:t>
            </a:r>
            <a:r>
              <a:rPr lang="en-US" baseline="0" dirty="0" smtClean="0"/>
              <a:t> for students the Performance Criteria for this Element, as listed on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26353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take Students through</a:t>
            </a:r>
            <a:r>
              <a:rPr lang="en-US" baseline="0" dirty="0" smtClean="0"/>
              <a:t> Glossary of terms in Trainee Manual.</a:t>
            </a:r>
          </a:p>
          <a:p>
            <a:pPr>
              <a:buFontTx/>
              <a:buNone/>
            </a:pPr>
            <a:r>
              <a:rPr lang="en-US" b="1" baseline="0" dirty="0" smtClean="0"/>
              <a:t>Activity:</a:t>
            </a:r>
          </a:p>
          <a:p>
            <a:pPr>
              <a:buFont typeface="Arial" pitchFamily="34" charset="0"/>
              <a:buChar char="•"/>
            </a:pPr>
            <a:r>
              <a:rPr lang="en-US" baseline="0" dirty="0" smtClean="0"/>
              <a:t>What words do they already know?</a:t>
            </a:r>
          </a:p>
          <a:p>
            <a:pPr>
              <a:buFont typeface="Arial" pitchFamily="34" charset="0"/>
              <a:buChar char="•"/>
            </a:pPr>
            <a:r>
              <a:rPr lang="en-US" baseline="0" dirty="0" smtClean="0"/>
              <a:t>Direct Student to website: www.marketfresh.com.au.</a:t>
            </a:r>
          </a:p>
          <a:p>
            <a:pPr>
              <a:buFontTx/>
              <a:buNone/>
            </a:pPr>
            <a:endParaRPr lang="en-US" baseline="0" dirty="0" smtClean="0"/>
          </a:p>
          <a:p>
            <a:pPr>
              <a:buFontTx/>
              <a:buNone/>
            </a:pPr>
            <a:r>
              <a:rPr lang="en-US" baseline="0" dirty="0" smtClean="0"/>
              <a:t>This is an excellent website that will take them through many of the Fruit and vegetables found in Australia.</a:t>
            </a:r>
          </a:p>
          <a:p>
            <a:pPr>
              <a:buFont typeface="Arial" pitchFamily="34" charset="0"/>
              <a:buChar char="•"/>
            </a:pPr>
            <a:r>
              <a:rPr lang="en-US" baseline="0" dirty="0" smtClean="0"/>
              <a:t>Direct them to ‘</a:t>
            </a:r>
            <a:r>
              <a:rPr lang="en-US" baseline="0" dirty="0" err="1" smtClean="0"/>
              <a:t>marketfresh</a:t>
            </a:r>
            <a:r>
              <a:rPr lang="en-US" baseline="0" dirty="0" smtClean="0"/>
              <a:t>’ downloads</a:t>
            </a:r>
          </a:p>
          <a:p>
            <a:pPr>
              <a:buFont typeface="Arial" pitchFamily="34" charset="0"/>
              <a:buChar char="•"/>
            </a:pPr>
            <a:r>
              <a:rPr lang="en-US" baseline="0" dirty="0" smtClean="0"/>
              <a:t>Download the top Four (4) Flyers: Fruit Guide; Vegetable Guide; Tropical and Exotic Fruit Guide; Asian Vegetable and Herb Guide0</a:t>
            </a:r>
          </a:p>
          <a:p>
            <a:pPr>
              <a:buFontTx/>
              <a:buNone/>
            </a:pPr>
            <a:endParaRPr lang="en-US" baseline="0" dirty="0" smtClean="0"/>
          </a:p>
          <a:p>
            <a:pPr>
              <a:buFontTx/>
              <a:buNone/>
            </a:pPr>
            <a:r>
              <a:rPr lang="en-US" baseline="0" dirty="0" smtClean="0"/>
              <a:t>Start to build Electronic Library - </a:t>
            </a:r>
            <a:r>
              <a:rPr lang="en-US" b="1" baseline="0" dirty="0" smtClean="0"/>
              <a:t>Save resources to Memory Stick or</a:t>
            </a:r>
            <a:r>
              <a:rPr lang="en-US" baseline="0" dirty="0" smtClean="0"/>
              <a:t> </a:t>
            </a:r>
            <a:r>
              <a:rPr lang="en-US" b="1" baseline="0" dirty="0" smtClean="0"/>
              <a:t>Flash Drive.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00949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smtClean="0"/>
              <a:t>Trainer to Introduce the Unit and discuss the ‘concept’ of ’What is a Salad?’.</a:t>
            </a:r>
          </a:p>
          <a:p>
            <a:pPr>
              <a:buFont typeface="Arial" pitchFamily="34" charset="0"/>
              <a:buChar char="•"/>
            </a:pPr>
            <a:r>
              <a:rPr lang="en-US" dirty="0" smtClean="0"/>
              <a:t>Traditionally it is considered lettuce leaf base with dressing</a:t>
            </a:r>
          </a:p>
          <a:p>
            <a:pPr>
              <a:buFont typeface="Arial" pitchFamily="34" charset="0"/>
              <a:buChar char="•"/>
            </a:pPr>
            <a:r>
              <a:rPr lang="en-US" dirty="0" smtClean="0"/>
              <a:t>Modern interpretations go much further</a:t>
            </a:r>
          </a:p>
          <a:p>
            <a:pPr>
              <a:buFont typeface="Arial" pitchFamily="34" charset="0"/>
              <a:buChar char="•"/>
            </a:pPr>
            <a:r>
              <a:rPr lang="en-US" dirty="0" smtClean="0"/>
              <a:t>Cold</a:t>
            </a:r>
          </a:p>
          <a:p>
            <a:pPr>
              <a:buFont typeface="Arial" pitchFamily="34" charset="0"/>
              <a:buChar char="•"/>
            </a:pPr>
            <a:r>
              <a:rPr lang="en-US" dirty="0" smtClean="0"/>
              <a:t>Modern twist, ’Hot Salads’’ Warm dressing splashed over leaf salad, actually just warm.</a:t>
            </a:r>
          </a:p>
          <a:p>
            <a:pPr>
              <a:buFont typeface="Arial" pitchFamily="34" charset="0"/>
              <a:buChar char="•"/>
            </a:pPr>
            <a:endParaRPr lang="en-US" dirty="0" smtClean="0"/>
          </a:p>
          <a:p>
            <a:pPr>
              <a:buFontTx/>
              <a:buNone/>
            </a:pPr>
            <a:r>
              <a:rPr lang="en-US" dirty="0" smtClean="0"/>
              <a:t>Give Examples: refer to Classics found in any book:</a:t>
            </a:r>
            <a:r>
              <a:rPr lang="en-US" baseline="0" dirty="0" smtClean="0"/>
              <a:t> Caesar, Waldorf, or to dressings,’ Blue Cheese’, ‘Thousand Island’</a:t>
            </a:r>
          </a:p>
          <a:p>
            <a:pPr>
              <a:buFontTx/>
              <a:buNone/>
            </a:pPr>
            <a:r>
              <a:rPr lang="en-US" baseline="0" dirty="0" smtClean="0"/>
              <a:t>What is Classical? Asian; European; American; African; South American.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414657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smtClean="0"/>
              <a:t>Trainer to talk about </a:t>
            </a:r>
            <a:r>
              <a:rPr lang="en-US" b="1" dirty="0" smtClean="0"/>
              <a:t>fresh</a:t>
            </a:r>
            <a:r>
              <a:rPr lang="en-US" dirty="0" smtClean="0"/>
              <a:t> Ingredients</a:t>
            </a:r>
          </a:p>
          <a:p>
            <a:pPr>
              <a:buFontTx/>
              <a:buNone/>
            </a:pPr>
            <a:endParaRPr lang="en-US" dirty="0" smtClean="0"/>
          </a:p>
          <a:p>
            <a:pPr>
              <a:buFontTx/>
              <a:buNone/>
            </a:pPr>
            <a:r>
              <a:rPr lang="en-US" dirty="0" smtClean="0"/>
              <a:t>Leafy type vegetables</a:t>
            </a:r>
          </a:p>
          <a:p>
            <a:pPr>
              <a:buFont typeface="Arial" pitchFamily="34" charset="0"/>
              <a:buChar char="•"/>
            </a:pPr>
            <a:r>
              <a:rPr lang="en-US" dirty="0" smtClean="0"/>
              <a:t>Life of fresh leafy ingredients is short</a:t>
            </a:r>
          </a:p>
          <a:p>
            <a:pPr>
              <a:buFont typeface="Arial" pitchFamily="34" charset="0"/>
              <a:buChar char="•"/>
            </a:pPr>
            <a:r>
              <a:rPr lang="en-US" dirty="0" smtClean="0"/>
              <a:t>Purchase everyday, if possible</a:t>
            </a:r>
          </a:p>
          <a:p>
            <a:pPr>
              <a:buFont typeface="Arial" pitchFamily="34" charset="0"/>
              <a:buChar char="•"/>
            </a:pPr>
            <a:r>
              <a:rPr lang="en-US" dirty="0" smtClean="0"/>
              <a:t>Storage in controlled environment, Chilled, covered.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536527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discuss the use of cooked ingredients</a:t>
            </a:r>
            <a:r>
              <a:rPr lang="en-US" baseline="0" dirty="0" smtClean="0"/>
              <a:t> in salad use</a:t>
            </a:r>
          </a:p>
          <a:p>
            <a:pPr>
              <a:buFont typeface="Arial" pitchFamily="34" charset="0"/>
              <a:buChar char="•"/>
            </a:pPr>
            <a:r>
              <a:rPr lang="en-US" baseline="0" dirty="0" smtClean="0"/>
              <a:t>Most will be cooked then chilled</a:t>
            </a:r>
          </a:p>
          <a:p>
            <a:pPr>
              <a:buFont typeface="Arial" pitchFamily="34" charset="0"/>
              <a:buChar char="•"/>
            </a:pPr>
            <a:r>
              <a:rPr lang="en-US" baseline="0" dirty="0" smtClean="0"/>
              <a:t>When using in salads time must be allowed for dressing </a:t>
            </a:r>
            <a:r>
              <a:rPr lang="en-US" baseline="0" dirty="0" err="1" smtClean="0"/>
              <a:t>flavour</a:t>
            </a:r>
            <a:r>
              <a:rPr lang="en-US" baseline="0" dirty="0" smtClean="0"/>
              <a:t> to permeate the cooked food.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822644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best way to purchase, store,</a:t>
            </a:r>
            <a:r>
              <a:rPr lang="en-US" baseline="0" dirty="0" smtClean="0"/>
              <a:t> prepare fruits to be used in salads</a:t>
            </a:r>
          </a:p>
          <a:p>
            <a:pPr>
              <a:buFont typeface="Arial" pitchFamily="34" charset="0"/>
              <a:buChar char="•"/>
            </a:pPr>
            <a:endParaRPr lang="en-US" baseline="0" dirty="0" smtClean="0"/>
          </a:p>
          <a:p>
            <a:pPr>
              <a:buFont typeface="Arial" pitchFamily="34" charset="0"/>
              <a:buChar char="•"/>
            </a:pPr>
            <a:r>
              <a:rPr lang="en-US" baseline="0" dirty="0" smtClean="0"/>
              <a:t>How long will this prepared product keep?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496416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0" dirty="0" smtClean="0"/>
              <a:t>Trainer discusses:</a:t>
            </a:r>
          </a:p>
          <a:p>
            <a:pPr>
              <a:buFont typeface="Arial" pitchFamily="34" charset="0"/>
              <a:buChar char="•"/>
            </a:pPr>
            <a:r>
              <a:rPr lang="en-US" dirty="0" smtClean="0"/>
              <a:t>Dressings and their impact on the eating quality of the salad</a:t>
            </a:r>
          </a:p>
          <a:p>
            <a:pPr>
              <a:buFont typeface="Arial" pitchFamily="34" charset="0"/>
              <a:buChar char="•"/>
            </a:pPr>
            <a:r>
              <a:rPr lang="en-US" dirty="0" smtClean="0"/>
              <a:t>Importance of producing dressing in small batches to keep them fresh and alive.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679082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discusses: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Preparation of Salads;</a:t>
            </a:r>
            <a:r>
              <a:rPr lang="en-US" b="0" baseline="0" dirty="0" smtClean="0"/>
              <a:t> both cold and hot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Importance of correct preparation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Importance of presentation.</a:t>
            </a:r>
            <a:endParaRPr lang="en-US" b="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371003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Discusses:</a:t>
            </a:r>
          </a:p>
          <a:p>
            <a:pPr>
              <a:buFont typeface="Arial" pitchFamily="34" charset="0"/>
              <a:buChar char="•"/>
            </a:pPr>
            <a:r>
              <a:rPr lang="en-US" dirty="0" smtClean="0"/>
              <a:t>Garnishes</a:t>
            </a:r>
            <a:r>
              <a:rPr lang="en-US" baseline="0" dirty="0" smtClean="0"/>
              <a:t> integral to dish</a:t>
            </a:r>
          </a:p>
          <a:p>
            <a:pPr>
              <a:buFont typeface="Arial" pitchFamily="34" charset="0"/>
              <a:buChar char="•"/>
            </a:pPr>
            <a:r>
              <a:rPr lang="en-US" baseline="0" dirty="0" smtClean="0"/>
              <a:t>Should compliment, not dominate.</a:t>
            </a:r>
          </a:p>
          <a:p>
            <a:pPr>
              <a:buFont typeface="Arial" pitchFamily="34" charset="0"/>
              <a:buChar char="•"/>
            </a:pPr>
            <a:endParaRPr lang="en-US" baseline="0" dirty="0" smtClean="0"/>
          </a:p>
          <a:p>
            <a:pPr>
              <a:buFont typeface="Arial" pitchFamily="34" charset="0"/>
              <a:buNone/>
            </a:pPr>
            <a:r>
              <a:rPr lang="en-US" b="1" baseline="0" dirty="0" err="1" smtClean="0"/>
              <a:t>Mise</a:t>
            </a:r>
            <a:r>
              <a:rPr lang="en-US" b="1" baseline="0" dirty="0" smtClean="0"/>
              <a:t> en place requirement</a:t>
            </a:r>
          </a:p>
          <a:p>
            <a:pPr>
              <a:buFont typeface="Arial" pitchFamily="34" charset="0"/>
              <a:buChar char="•"/>
            </a:pPr>
            <a:r>
              <a:rPr lang="en-US" baseline="0" dirty="0" smtClean="0"/>
              <a:t>Most difficult production should be completed before the difficult production.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657222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discusses:</a:t>
            </a:r>
          </a:p>
          <a:p>
            <a:pPr>
              <a:buFont typeface="Arial" pitchFamily="34" charset="0"/>
              <a:buChar char="•"/>
            </a:pPr>
            <a:endParaRPr lang="en-US" dirty="0" smtClean="0"/>
          </a:p>
          <a:p>
            <a:pPr>
              <a:buFont typeface="Arial" pitchFamily="34" charset="0"/>
              <a:buChar char="•"/>
            </a:pPr>
            <a:r>
              <a:rPr lang="en-US" dirty="0" smtClean="0"/>
              <a:t>These can be prepared ahead of time but the same principle applies</a:t>
            </a:r>
          </a:p>
          <a:p>
            <a:pPr>
              <a:buFont typeface="Arial" pitchFamily="34" charset="0"/>
              <a:buChar char="•"/>
            </a:pPr>
            <a:r>
              <a:rPr lang="en-US" dirty="0" smtClean="0"/>
              <a:t>Fresh is best.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819608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dirty="0" smtClean="0">
                <a:latin typeface="Helvetica" pitchFamily="34" charset="0"/>
              </a:rPr>
              <a:t>Trainer to discuss: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Advantages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Disadvantages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Preparation requirements for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Work project requirement.</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12238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0" dirty="0" smtClean="0">
              <a:latin typeface="Helvetica" pitchFamily="34" charset="0"/>
            </a:endParaRPr>
          </a:p>
          <a:p>
            <a:r>
              <a:rPr lang="en-AU" sz="1200" b="0" kern="1200" dirty="0" smtClean="0">
                <a:solidFill>
                  <a:schemeClr val="tx1"/>
                </a:solidFill>
                <a:ea typeface="+mn-ea"/>
                <a:cs typeface="+mn-cs"/>
              </a:rPr>
              <a:t>Element: Prepare and present a selection of hot and cold appetisers</a:t>
            </a:r>
          </a:p>
          <a:p>
            <a:endParaRPr lang="en-AU" sz="1200" b="0" kern="1200" dirty="0" smtClean="0">
              <a:solidFill>
                <a:schemeClr val="tx1"/>
              </a:solidFill>
              <a:ea typeface="+mn-ea"/>
              <a:cs typeface="+mn-cs"/>
            </a:endParaRPr>
          </a:p>
          <a:p>
            <a:r>
              <a:rPr lang="en-AU" sz="1200" b="0" kern="1200" dirty="0" smtClean="0">
                <a:solidFill>
                  <a:schemeClr val="tx1"/>
                </a:solidFill>
                <a:ea typeface="+mn-ea"/>
                <a:cs typeface="+mn-cs"/>
              </a:rPr>
              <a:t>Performance</a:t>
            </a:r>
            <a:r>
              <a:rPr lang="en-AU" sz="1200" b="0" kern="1200" baseline="0" dirty="0" smtClean="0">
                <a:solidFill>
                  <a:schemeClr val="tx1"/>
                </a:solidFill>
                <a:ea typeface="+mn-ea"/>
                <a:cs typeface="+mn-cs"/>
              </a:rPr>
              <a:t> criteria: Explain them.</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170992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err="1" smtClean="0">
                <a:latin typeface="Helvetica" pitchFamily="34" charset="0"/>
              </a:rPr>
              <a:t>Appetisers</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Canapés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Finger Food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Service styles in Restaurant, Cocktail parties.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dirty="0" smtClean="0">
                <a:latin typeface="Helvetica" pitchFamily="34" charset="0"/>
              </a:rPr>
              <a:t>Students to discuss relevance to styles where they live and work.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Research on internet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Search terms out</a:t>
            </a:r>
            <a:r>
              <a:rPr lang="en-US" sz="1200" b="0" baseline="0" dirty="0" smtClean="0">
                <a:latin typeface="Helvetica" pitchFamily="34" charset="0"/>
              </a:rPr>
              <a:t> using </a:t>
            </a:r>
            <a:r>
              <a:rPr lang="en-US" sz="1200" b="0" dirty="0" smtClean="0">
                <a:latin typeface="Helvetica" pitchFamily="34" charset="0"/>
              </a:rPr>
              <a:t>Google - </a:t>
            </a:r>
            <a:r>
              <a:rPr lang="en-US" sz="1200" b="0" baseline="0" dirty="0" smtClean="0">
                <a:latin typeface="Helvetica" pitchFamily="34" charset="0"/>
              </a:rPr>
              <a:t>Amuse-</a:t>
            </a:r>
            <a:r>
              <a:rPr lang="en-US" sz="1200" b="0" baseline="0" dirty="0" err="1" smtClean="0">
                <a:latin typeface="Helvetica" pitchFamily="34" charset="0"/>
              </a:rPr>
              <a:t>bouche</a:t>
            </a:r>
            <a:r>
              <a:rPr lang="en-US" sz="1200" b="0" baseline="0" dirty="0" smtClean="0">
                <a:latin typeface="Helvetica" pitchFamily="34" charset="0"/>
              </a:rPr>
              <a:t> and Amuse-</a:t>
            </a:r>
            <a:r>
              <a:rPr lang="en-US" sz="1200" b="0" baseline="0" dirty="0" err="1" smtClean="0">
                <a:latin typeface="Helvetica" pitchFamily="34" charset="0"/>
              </a:rPr>
              <a:t>gueule</a:t>
            </a:r>
            <a:endParaRPr lang="en-US" sz="1200" b="0"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Add to culinary terms to Glossary.</a:t>
            </a: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866058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dirty="0" smtClean="0">
              <a:latin typeface="Helvetica" pitchFamily="34" charset="0"/>
            </a:endParaRPr>
          </a:p>
          <a:p>
            <a:pPr>
              <a:buFont typeface="Arial" pitchFamily="34" charset="0"/>
              <a:buChar char="•"/>
            </a:pPr>
            <a:r>
              <a:rPr lang="en-US" dirty="0" smtClean="0"/>
              <a:t>Types of service style.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199457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Benefits of different styles of cooking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If all food is fried then the customers become bored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Different textures give different pleasure when eating.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5216551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What is the role of the Garnish?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Parsley- to refresh the mouth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Coriander- refreshing as well as </a:t>
            </a:r>
            <a:r>
              <a:rPr lang="en-US" sz="1200" b="0" dirty="0" err="1" smtClean="0">
                <a:latin typeface="Helvetica" pitchFamily="34" charset="0"/>
              </a:rPr>
              <a:t>flavour</a:t>
            </a:r>
            <a:r>
              <a:rPr lang="en-US" sz="1200" b="0" baseline="0" dirty="0" smtClean="0">
                <a:latin typeface="Helvetica" pitchFamily="34" charset="0"/>
              </a:rPr>
              <a:t> enhancing.</a:t>
            </a: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Helvetica" pitchFamily="34" charset="0"/>
              </a:rPr>
              <a:t>What is the role of the Accompaniment?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Adding textural</a:t>
            </a:r>
            <a:r>
              <a:rPr lang="en-US" sz="1200" b="0" baseline="0" dirty="0" smtClean="0">
                <a:latin typeface="Helvetica" pitchFamily="34" charset="0"/>
              </a:rPr>
              <a:t> diversity to a dish bring the eating sensation to a new level.</a:t>
            </a:r>
            <a:endParaRPr lang="en-US"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549907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Benefit</a:t>
            </a:r>
            <a:r>
              <a:rPr lang="en-US" sz="1200" b="0" baseline="0" dirty="0" smtClean="0">
                <a:latin typeface="Helvetica" pitchFamily="34" charset="0"/>
              </a:rPr>
              <a:t> of food looking inviting to eat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Encouraging the customers to enjoy the food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The conversation is about how good the food was and telling all their friends that they must all go to dine at this terrific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Modern methods of ‘food blogging’ and people ‘tweeting’ friends when they are out dining are now becoming very common.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baseline="0" dirty="0" smtClean="0">
                <a:latin typeface="Helvetica" pitchFamily="34" charset="0"/>
              </a:rPr>
              <a:t>Discuss work project with Students</a:t>
            </a:r>
            <a:endParaRPr lang="en-US"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7482483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Helvetica" pitchFamily="34" charset="0"/>
              </a:rPr>
              <a:t>Element:</a:t>
            </a:r>
            <a:r>
              <a:rPr lang="en-US" sz="1200" b="0" baseline="0" dirty="0" smtClean="0">
                <a:latin typeface="Helvetica" pitchFamily="34" charset="0"/>
              </a:rPr>
              <a:t> Store appetisers and salads including garnishes and accompaniments</a:t>
            </a: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Helvetica" pitchFamily="34" charset="0"/>
              </a:rPr>
              <a:t>Performance Criteria: Expectations.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549654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dirty="0" smtClean="0">
                <a:latin typeface="Helvetica" pitchFamily="34" charset="0"/>
              </a:rPr>
              <a:t>What</a:t>
            </a:r>
            <a:r>
              <a:rPr lang="en-US" sz="1200" b="0" baseline="0" dirty="0" smtClean="0">
                <a:latin typeface="Helvetica" pitchFamily="34" charset="0"/>
              </a:rPr>
              <a:t> stage of production is the </a:t>
            </a:r>
            <a:r>
              <a:rPr lang="en-US" sz="1200" b="0" baseline="0" dirty="0" err="1" smtClean="0">
                <a:latin typeface="Helvetica" pitchFamily="34" charset="0"/>
              </a:rPr>
              <a:t>appetiser</a:t>
            </a:r>
            <a:r>
              <a:rPr lang="en-US" sz="1200" b="0" baseline="0" dirty="0" smtClean="0">
                <a:latin typeface="Helvetica" pitchFamily="34" charset="0"/>
              </a:rPr>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Why does it need to be stored?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What is the best way for the </a:t>
            </a:r>
            <a:r>
              <a:rPr lang="en-US" sz="1200" b="0" baseline="0" dirty="0" err="1" smtClean="0">
                <a:latin typeface="Helvetica" pitchFamily="34" charset="0"/>
              </a:rPr>
              <a:t>appetiser</a:t>
            </a:r>
            <a:r>
              <a:rPr lang="en-US" sz="1200" b="0" baseline="0" dirty="0" smtClean="0">
                <a:latin typeface="Helvetica" pitchFamily="34" charset="0"/>
              </a:rPr>
              <a:t> to be stored to prevent contamination and degradation of quality?</a:t>
            </a:r>
            <a:endParaRPr lang="en-US"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756383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Containers must be fit to hold food as per the food safety plan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Must be in good condition with no scratches. If the scratches show as dark lines then there is bacteria in them and this could possible be dangerous to the consumer. Such container should not be used.</a:t>
            </a:r>
            <a:endParaRPr lang="en-US"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760890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Helvetica" pitchFamily="34" charset="0"/>
              </a:rPr>
              <a:t>Trainer to discuss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Helvetica" pitchFamily="34" charset="0"/>
              </a:rPr>
              <a:t>Proper</a:t>
            </a:r>
            <a:r>
              <a:rPr lang="en-US" sz="1200" b="0" baseline="0" dirty="0" smtClean="0">
                <a:latin typeface="Helvetica" pitchFamily="34" charset="0"/>
              </a:rPr>
              <a:t> storage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It does not matter what is the production stage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Care must be taken to keep the product in optimum condition.</a:t>
            </a:r>
            <a:endParaRPr lang="en-US"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233441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US" baseline="0" dirty="0" smtClean="0"/>
          </a:p>
          <a:p>
            <a:pPr>
              <a:buFont typeface="Arial" pitchFamily="34" charset="0"/>
              <a:buChar char="•"/>
            </a:pPr>
            <a:r>
              <a:rPr lang="en-US" b="0" dirty="0" smtClean="0"/>
              <a:t>Main points on the PowerPoint slides</a:t>
            </a:r>
          </a:p>
          <a:p>
            <a:pPr>
              <a:buFont typeface="Arial" pitchFamily="34" charset="0"/>
              <a:buChar char="•"/>
            </a:pPr>
            <a:r>
              <a:rPr lang="en-US" b="0" dirty="0" smtClean="0"/>
              <a:t>Work projects with Students.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492315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concludes this</a:t>
            </a:r>
            <a:r>
              <a:rPr lang="en-AU" baseline="0" dirty="0" smtClean="0"/>
              <a:t> unit and thanks trainees for their attention and participation.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856409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764704"/>
            <a:ext cx="7776192" cy="1285884"/>
          </a:xfrm>
        </p:spPr>
        <p:txBody>
          <a:bodyPr>
            <a:normAutofit fontScale="90000"/>
          </a:bodyPr>
          <a:lstStyle/>
          <a:p>
            <a:r>
              <a:rPr lang="en-AU" sz="4000" dirty="0" smtClean="0">
                <a:ln w="5000" cmpd="sng">
                  <a:noFill/>
                  <a:prstDash val="solid"/>
                </a:ln>
                <a:solidFill>
                  <a:srgbClr val="FF6600"/>
                </a:solidFill>
                <a:latin typeface="Helvetica" pitchFamily="34" charset="0"/>
              </a:rPr>
              <a:t>PREPARE APPETISERS AND SALADS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652120" y="2276872"/>
            <a:ext cx="2685284" cy="357190"/>
          </a:xfrm>
        </p:spPr>
        <p:txBody>
          <a:bodyPr>
            <a:noAutofit/>
          </a:bodyPr>
          <a:lstStyle/>
          <a:p>
            <a:r>
              <a:rPr lang="en-AU" sz="2200" b="1" dirty="0" smtClean="0">
                <a:latin typeface="Helvetica" pitchFamily="34" charset="0"/>
              </a:rPr>
              <a:t>D1.HCC.CL2.12</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8" name="Picture 4" descr="I:\Overseas Projects\PHOTOS\2012\Salads\1244541_dimsum.jpg"/>
          <p:cNvPicPr>
            <a:picLocks noChangeAspect="1" noChangeArrowheads="1"/>
          </p:cNvPicPr>
          <p:nvPr/>
        </p:nvPicPr>
        <p:blipFill>
          <a:blip r:embed="rId3" cstate="print"/>
          <a:srcRect/>
          <a:stretch>
            <a:fillRect/>
          </a:stretch>
        </p:blipFill>
        <p:spPr bwMode="auto">
          <a:xfrm>
            <a:off x="3357554" y="1928802"/>
            <a:ext cx="1931670" cy="27860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I:\Overseas Projects\PHOTOS\2012\Salads\810833_nibbles_and_canapes.jpg"/>
          <p:cNvPicPr>
            <a:picLocks noChangeAspect="1" noChangeArrowheads="1"/>
          </p:cNvPicPr>
          <p:nvPr/>
        </p:nvPicPr>
        <p:blipFill>
          <a:blip r:embed="rId4" cstate="print">
            <a:lum contrast="30000"/>
          </a:blip>
          <a:srcRect/>
          <a:stretch>
            <a:fillRect/>
          </a:stretch>
        </p:blipFill>
        <p:spPr bwMode="auto">
          <a:xfrm>
            <a:off x="5072066" y="3500438"/>
            <a:ext cx="2445533" cy="16303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descr="I:\Overseas Projects\PHOTOS\2012\Salads\127305_salad.jpg"/>
          <p:cNvPicPr>
            <a:picLocks noChangeAspect="1" noChangeArrowheads="1"/>
          </p:cNvPicPr>
          <p:nvPr/>
        </p:nvPicPr>
        <p:blipFill>
          <a:blip r:embed="rId5" cstate="print"/>
          <a:srcRect/>
          <a:stretch>
            <a:fillRect/>
          </a:stretch>
        </p:blipFill>
        <p:spPr bwMode="auto">
          <a:xfrm>
            <a:off x="2714612" y="4643446"/>
            <a:ext cx="2381247" cy="17859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2" descr="I:\Overseas Projects\PHOTOS\2012\Salads\462484_tomato_salad_with_basil_an_mozzarella.jpg"/>
          <p:cNvPicPr>
            <a:picLocks noChangeAspect="1" noChangeArrowheads="1"/>
          </p:cNvPicPr>
          <p:nvPr/>
        </p:nvPicPr>
        <p:blipFill>
          <a:blip r:embed="rId6" cstate="print"/>
          <a:srcRect/>
          <a:stretch>
            <a:fillRect/>
          </a:stretch>
        </p:blipFill>
        <p:spPr bwMode="auto">
          <a:xfrm>
            <a:off x="714348" y="3000372"/>
            <a:ext cx="2643186" cy="1762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Prepare </a:t>
            </a:r>
            <a:r>
              <a:rPr lang="en-US" sz="3400" b="1" dirty="0" err="1" smtClean="0">
                <a:solidFill>
                  <a:srgbClr val="FF6600"/>
                </a:solidFill>
                <a:latin typeface="Helvetica" pitchFamily="34" charset="0"/>
              </a:rPr>
              <a:t>Appetisers</a:t>
            </a:r>
            <a:r>
              <a:rPr lang="en-US" sz="3400" b="1" dirty="0" smtClean="0">
                <a:solidFill>
                  <a:srgbClr val="FF6600"/>
                </a:solidFill>
                <a:latin typeface="Helvetica" pitchFamily="34" charset="0"/>
              </a:rPr>
              <a:t> </a:t>
            </a:r>
            <a:r>
              <a:rPr lang="en-US" sz="3400" b="1" dirty="0">
                <a:solidFill>
                  <a:srgbClr val="FF6600"/>
                </a:solidFill>
                <a:latin typeface="Helvetica" pitchFamily="34" charset="0"/>
              </a:rPr>
              <a:t>and </a:t>
            </a:r>
            <a:r>
              <a:rPr lang="en-US" sz="3400" b="1" dirty="0" smtClean="0">
                <a:solidFill>
                  <a:srgbClr val="FF6600"/>
                </a:solidFill>
                <a:latin typeface="Helvetica" pitchFamily="34" charset="0"/>
              </a:rPr>
              <a:t>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marL="360000" indent="-360000">
              <a:spcBef>
                <a:spcPts val="600"/>
              </a:spcBef>
              <a:spcAft>
                <a:spcPts val="1200"/>
              </a:spcAft>
            </a:pPr>
            <a:r>
              <a:rPr lang="en-US" sz="2200" b="1" dirty="0" smtClean="0">
                <a:latin typeface="Helvetica" pitchFamily="34" charset="0"/>
              </a:rPr>
              <a:t>Element 1:</a:t>
            </a:r>
            <a:r>
              <a:rPr lang="en-US" sz="2200" dirty="0" smtClean="0">
                <a:latin typeface="Helvetica" pitchFamily="34" charset="0"/>
              </a:rPr>
              <a:t> Prepare and present a selection of hot and cold salads</a:t>
            </a:r>
          </a:p>
          <a:p>
            <a:pPr marL="360000" indent="-360000">
              <a:spcBef>
                <a:spcPts val="600"/>
              </a:spcBef>
              <a:spcAft>
                <a:spcPts val="1200"/>
              </a:spcAft>
            </a:pPr>
            <a:r>
              <a:rPr lang="en-US" sz="2200" b="1" dirty="0" smtClean="0">
                <a:latin typeface="Helvetica" pitchFamily="34" charset="0"/>
              </a:rPr>
              <a:t>Element 2:</a:t>
            </a:r>
            <a:r>
              <a:rPr lang="en-US" sz="2200" dirty="0" smtClean="0">
                <a:latin typeface="Helvetica" pitchFamily="34" charset="0"/>
              </a:rPr>
              <a:t> Prepare and present a selection of hot and cold appetisers</a:t>
            </a:r>
          </a:p>
          <a:p>
            <a:pPr marL="360000" indent="-360000">
              <a:spcBef>
                <a:spcPts val="600"/>
              </a:spcBef>
              <a:spcAft>
                <a:spcPts val="1200"/>
              </a:spcAft>
            </a:pPr>
            <a:r>
              <a:rPr lang="en-US" sz="2200" b="1" dirty="0" smtClean="0">
                <a:latin typeface="Helvetica" pitchFamily="34" charset="0"/>
              </a:rPr>
              <a:t>Element 3:</a:t>
            </a:r>
            <a:r>
              <a:rPr lang="en-US" sz="2200" dirty="0" smtClean="0">
                <a:latin typeface="Helvetica" pitchFamily="34" charset="0"/>
              </a:rPr>
              <a:t> Store appetisers and salads including garnishes and accompaniments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00174"/>
            <a:ext cx="7467600" cy="4525963"/>
          </a:xfrm>
        </p:spPr>
        <p:txBody>
          <a:bodyPr>
            <a:normAutofit/>
          </a:bodyPr>
          <a:lstStyle/>
          <a:p>
            <a:pPr>
              <a:spcBef>
                <a:spcPts val="600"/>
              </a:spcBef>
              <a:spcAft>
                <a:spcPts val="1200"/>
              </a:spcAft>
              <a:buNone/>
            </a:pPr>
            <a:r>
              <a:rPr lang="en-US" sz="2200" dirty="0">
                <a:latin typeface="Helvetica" pitchFamily="34" charset="0"/>
              </a:rPr>
              <a:t>Assessment for this Unit may include:</a:t>
            </a:r>
          </a:p>
          <a:p>
            <a:pPr>
              <a:spcBef>
                <a:spcPts val="600"/>
              </a:spcBef>
              <a:spcAft>
                <a:spcPts val="1200"/>
              </a:spcAft>
            </a:pPr>
            <a:r>
              <a:rPr lang="en-US" sz="2200" dirty="0">
                <a:latin typeface="Helvetica" pitchFamily="34" charset="0"/>
              </a:rPr>
              <a:t>Oral questions</a:t>
            </a:r>
          </a:p>
          <a:p>
            <a:pPr>
              <a:spcBef>
                <a:spcPts val="600"/>
              </a:spcBef>
              <a:spcAft>
                <a:spcPts val="1200"/>
              </a:spcAft>
            </a:pPr>
            <a:r>
              <a:rPr lang="en-US" sz="2200" dirty="0">
                <a:latin typeface="Helvetica" pitchFamily="34" charset="0"/>
              </a:rPr>
              <a:t>Written questions</a:t>
            </a:r>
          </a:p>
          <a:p>
            <a:pPr>
              <a:spcBef>
                <a:spcPts val="600"/>
              </a:spcBef>
              <a:spcAft>
                <a:spcPts val="1200"/>
              </a:spcAft>
            </a:pPr>
            <a:r>
              <a:rPr lang="en-US" sz="2200" dirty="0">
                <a:latin typeface="Helvetica" pitchFamily="34" charset="0"/>
              </a:rPr>
              <a:t>Work projects</a:t>
            </a:r>
          </a:p>
          <a:p>
            <a:pPr>
              <a:spcBef>
                <a:spcPts val="600"/>
              </a:spcBef>
              <a:spcAft>
                <a:spcPts val="1200"/>
              </a:spcAft>
            </a:pPr>
            <a:r>
              <a:rPr lang="en-US" sz="2200" dirty="0">
                <a:latin typeface="Helvetica" pitchFamily="34" charset="0"/>
              </a:rPr>
              <a:t>Workplace observation of practical skills</a:t>
            </a:r>
          </a:p>
          <a:p>
            <a:pPr>
              <a:spcBef>
                <a:spcPts val="600"/>
              </a:spcBef>
              <a:spcAft>
                <a:spcPts val="1200"/>
              </a:spcAft>
            </a:pPr>
            <a:r>
              <a:rPr lang="en-US" sz="2200" dirty="0">
                <a:latin typeface="Helvetica" pitchFamily="34" charset="0"/>
              </a:rPr>
              <a:t>Practical exercises</a:t>
            </a:r>
          </a:p>
          <a:p>
            <a:pPr>
              <a:spcBef>
                <a:spcPts val="600"/>
              </a:spcBef>
              <a:spcAft>
                <a:spcPts val="1200"/>
              </a:spcAft>
            </a:pPr>
            <a:r>
              <a:rPr lang="en-US" sz="2200" dirty="0">
                <a:latin typeface="Helvetica" pitchFamily="34" charset="0"/>
              </a:rPr>
              <a:t>Formal report from </a:t>
            </a:r>
            <a:r>
              <a:rPr lang="en-US" sz="2200" dirty="0" smtClean="0">
                <a:latin typeface="Helvetica" pitchFamily="34" charset="0"/>
              </a:rPr>
              <a:t>employer or supervisor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143636" y="2000240"/>
            <a:ext cx="1757835" cy="264320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present a selection of hot and cold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18092" cy="4525963"/>
          </a:xfrm>
        </p:spPr>
        <p:txBody>
          <a:bodyPr>
            <a:normAutofit/>
          </a:bodyPr>
          <a:lstStyle/>
          <a:p>
            <a:pPr marL="360000" indent="-360000">
              <a:spcBef>
                <a:spcPts val="600"/>
              </a:spcBef>
              <a:spcAft>
                <a:spcPts val="1200"/>
              </a:spcAft>
            </a:pPr>
            <a:r>
              <a:rPr lang="en-US" sz="2200" b="1" dirty="0" smtClean="0">
                <a:latin typeface="Helvetica" pitchFamily="34" charset="0"/>
              </a:rPr>
              <a:t>1.1</a:t>
            </a:r>
            <a:r>
              <a:rPr lang="en-US" sz="2200" dirty="0" smtClean="0">
                <a:latin typeface="Helvetica" pitchFamily="34" charset="0"/>
              </a:rPr>
              <a:t>	</a:t>
            </a:r>
            <a:r>
              <a:rPr lang="en-US" sz="2200" dirty="0" smtClean="0"/>
              <a:t>Select ingredients to meet requirements of the hot 	and cold salad menu items</a:t>
            </a:r>
          </a:p>
          <a:p>
            <a:pPr marL="360000" indent="-360000">
              <a:spcBef>
                <a:spcPts val="600"/>
              </a:spcBef>
              <a:spcAft>
                <a:spcPts val="1200"/>
              </a:spcAft>
            </a:pPr>
            <a:r>
              <a:rPr lang="en-US" sz="2200" b="1" dirty="0" smtClean="0">
                <a:latin typeface="Helvetica" pitchFamily="34" charset="0"/>
              </a:rPr>
              <a:t>1.2</a:t>
            </a:r>
            <a:r>
              <a:rPr lang="en-US" sz="2200" dirty="0" smtClean="0">
                <a:latin typeface="Helvetica" pitchFamily="34" charset="0"/>
              </a:rPr>
              <a:t>	Prepare salads to enterprise standards including 	nutritional  and eating qualities</a:t>
            </a:r>
          </a:p>
          <a:p>
            <a:pPr marL="360000" indent="-360000">
              <a:spcBef>
                <a:spcPts val="600"/>
              </a:spcBef>
              <a:spcAft>
                <a:spcPts val="1200"/>
              </a:spcAft>
            </a:pPr>
            <a:r>
              <a:rPr lang="en-US" sz="2200" b="1" dirty="0" smtClean="0">
                <a:latin typeface="Helvetica" pitchFamily="34" charset="0"/>
              </a:rPr>
              <a:t>1.3</a:t>
            </a:r>
            <a:r>
              <a:rPr lang="en-US" sz="2200" dirty="0" smtClean="0">
                <a:latin typeface="Helvetica" pitchFamily="34" charset="0"/>
              </a:rPr>
              <a:t>	Prepare garnishes and accompaniments</a:t>
            </a:r>
          </a:p>
          <a:p>
            <a:pPr marL="360000" indent="-360000">
              <a:spcBef>
                <a:spcPts val="600"/>
              </a:spcBef>
              <a:spcAft>
                <a:spcPts val="1200"/>
              </a:spcAft>
            </a:pPr>
            <a:r>
              <a:rPr lang="en-US" sz="2200" b="1" dirty="0" smtClean="0">
                <a:latin typeface="Helvetica" pitchFamily="34" charset="0"/>
              </a:rPr>
              <a:t>1.4</a:t>
            </a:r>
            <a:r>
              <a:rPr lang="en-US" sz="2200" dirty="0" smtClean="0">
                <a:latin typeface="Helvetica" pitchFamily="34" charset="0"/>
              </a:rPr>
              <a:t>	Present salads including garnishes and 	accompaniments according to enterprise standards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2" descr="C:\Documents and Settings\danielc\Local Settings\Temporary Internet Files\Content.IE5\2LMD6966\MC900434929[1].png"/>
          <p:cNvPicPr>
            <a:picLocks noChangeAspect="1" noChangeArrowheads="1"/>
          </p:cNvPicPr>
          <p:nvPr/>
        </p:nvPicPr>
        <p:blipFill>
          <a:blip r:embed="rId3" cstate="print"/>
          <a:srcRect/>
          <a:stretch>
            <a:fillRect/>
          </a:stretch>
        </p:blipFill>
        <p:spPr bwMode="auto">
          <a:xfrm>
            <a:off x="7215206" y="2928934"/>
            <a:ext cx="1257068" cy="125706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Terminology</a:t>
            </a:r>
          </a:p>
          <a:p>
            <a:pPr marL="360000" indent="-360000">
              <a:spcBef>
                <a:spcPts val="600"/>
              </a:spcBef>
              <a:spcAft>
                <a:spcPts val="1200"/>
              </a:spcAft>
            </a:pPr>
            <a:r>
              <a:rPr lang="en-US" sz="2200" dirty="0" smtClean="0">
                <a:latin typeface="Helvetica" pitchFamily="34" charset="0"/>
              </a:rPr>
              <a:t>Read through Glossary of Terms</a:t>
            </a:r>
          </a:p>
          <a:p>
            <a:pPr marL="360000" indent="-360000">
              <a:spcBef>
                <a:spcPts val="600"/>
              </a:spcBef>
              <a:spcAft>
                <a:spcPts val="1200"/>
              </a:spcAft>
            </a:pPr>
            <a:r>
              <a:rPr lang="en-US" sz="2200" dirty="0" smtClean="0">
                <a:latin typeface="Helvetica" pitchFamily="34" charset="0"/>
              </a:rPr>
              <a:t>What do you know?</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1026"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5429256" y="2071678"/>
            <a:ext cx="2593848" cy="1719072"/>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Hot and Cold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Concept of Salads</a:t>
            </a:r>
          </a:p>
          <a:p>
            <a:pPr marL="360000" indent="-360000">
              <a:spcBef>
                <a:spcPts val="600"/>
              </a:spcBef>
              <a:spcAft>
                <a:spcPts val="1200"/>
              </a:spcAft>
            </a:pPr>
            <a:r>
              <a:rPr lang="en-US" sz="2200" dirty="0" smtClean="0">
                <a:latin typeface="Helvetica" pitchFamily="34" charset="0"/>
              </a:rPr>
              <a:t>Cold</a:t>
            </a:r>
          </a:p>
          <a:p>
            <a:pPr marL="360000" indent="-360000">
              <a:spcBef>
                <a:spcPts val="600"/>
              </a:spcBef>
              <a:spcAft>
                <a:spcPts val="1200"/>
              </a:spcAft>
            </a:pPr>
            <a:r>
              <a:rPr lang="en-US" sz="2200" dirty="0" smtClean="0">
                <a:latin typeface="Helvetica" pitchFamily="34" charset="0"/>
              </a:rPr>
              <a:t>Hot</a:t>
            </a:r>
          </a:p>
          <a:p>
            <a:pPr marL="360000" indent="-360000">
              <a:spcBef>
                <a:spcPts val="600"/>
              </a:spcBef>
              <a:spcAft>
                <a:spcPts val="1200"/>
              </a:spcAft>
            </a:pPr>
            <a:r>
              <a:rPr lang="en-US" sz="2200" dirty="0" smtClean="0">
                <a:latin typeface="Helvetica" pitchFamily="34" charset="0"/>
              </a:rPr>
              <a:t>Cultural</a:t>
            </a:r>
          </a:p>
          <a:p>
            <a:pPr marL="360000" indent="-360000">
              <a:spcBef>
                <a:spcPts val="600"/>
              </a:spcBef>
              <a:spcAft>
                <a:spcPts val="1200"/>
              </a:spcAft>
            </a:pPr>
            <a:r>
              <a:rPr lang="en-US" sz="2200" dirty="0" smtClean="0">
                <a:latin typeface="Helvetica" pitchFamily="34" charset="0"/>
              </a:rPr>
              <a:t>Theme</a:t>
            </a:r>
          </a:p>
          <a:p>
            <a:pPr marL="360000" indent="-360000">
              <a:spcBef>
                <a:spcPts val="600"/>
              </a:spcBef>
              <a:spcAft>
                <a:spcPts val="1200"/>
              </a:spcAft>
              <a:buNone/>
            </a:pPr>
            <a:r>
              <a:rPr lang="en-US" sz="2200" dirty="0" smtClean="0">
                <a:latin typeface="Helvetica" pitchFamily="34" charset="0"/>
              </a:rPr>
              <a:t>Modern Salads come </a:t>
            </a:r>
            <a:r>
              <a:rPr lang="en-US" sz="2200" dirty="0">
                <a:latin typeface="Helvetica" pitchFamily="34" charset="0"/>
              </a:rPr>
              <a:t>from cuisines </a:t>
            </a:r>
            <a:r>
              <a:rPr lang="en-US" sz="2200" dirty="0" smtClean="0">
                <a:latin typeface="Helvetica" pitchFamily="34" charset="0"/>
              </a:rPr>
              <a:t>all over the world.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2050" name="Picture 2" descr="I:\Overseas Projects\PHOTOS\2012\Salads\897738_caesar_salade.jpg"/>
          <p:cNvPicPr>
            <a:picLocks noChangeAspect="1" noChangeArrowheads="1"/>
          </p:cNvPicPr>
          <p:nvPr/>
        </p:nvPicPr>
        <p:blipFill>
          <a:blip r:embed="rId3" cstate="print"/>
          <a:srcRect/>
          <a:stretch>
            <a:fillRect/>
          </a:stretch>
        </p:blipFill>
        <p:spPr bwMode="auto">
          <a:xfrm>
            <a:off x="4214810" y="2000240"/>
            <a:ext cx="2857500" cy="189547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Ingredients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What makes a Good Salad?</a:t>
            </a:r>
          </a:p>
          <a:p>
            <a:pPr marL="360000" indent="-360000">
              <a:spcBef>
                <a:spcPts val="600"/>
              </a:spcBef>
              <a:spcAft>
                <a:spcPts val="1200"/>
              </a:spcAft>
            </a:pPr>
            <a:r>
              <a:rPr lang="en-US" sz="2200" dirty="0" smtClean="0">
                <a:latin typeface="Helvetica" pitchFamily="34" charset="0"/>
              </a:rPr>
              <a:t>Fresh Ingredients</a:t>
            </a:r>
          </a:p>
          <a:p>
            <a:pPr marL="360000" indent="-360000">
              <a:spcBef>
                <a:spcPts val="600"/>
              </a:spcBef>
              <a:spcAft>
                <a:spcPts val="1200"/>
              </a:spcAft>
              <a:buNone/>
            </a:pPr>
            <a:r>
              <a:rPr lang="en-US" sz="2200" b="1" dirty="0" smtClean="0">
                <a:latin typeface="Helvetica" pitchFamily="34" charset="0"/>
              </a:rPr>
              <a:t>Simplicity</a:t>
            </a:r>
          </a:p>
          <a:p>
            <a:pPr marL="360000" indent="-360000">
              <a:spcBef>
                <a:spcPts val="600"/>
              </a:spcBef>
              <a:spcAft>
                <a:spcPts val="1200"/>
              </a:spcAft>
            </a:pPr>
            <a:r>
              <a:rPr lang="en-US" sz="2200" dirty="0" smtClean="0">
                <a:latin typeface="Helvetica" pitchFamily="34" charset="0"/>
              </a:rPr>
              <a:t>Do not over complicate the eating </a:t>
            </a:r>
            <a:br>
              <a:rPr lang="en-US" sz="2200" dirty="0" smtClean="0">
                <a:latin typeface="Helvetica" pitchFamily="34" charset="0"/>
              </a:rPr>
            </a:br>
            <a:r>
              <a:rPr lang="en-US" sz="2200" dirty="0" smtClean="0">
                <a:latin typeface="Helvetica" pitchFamily="34" charset="0"/>
              </a:rPr>
              <a:t>or preparation</a:t>
            </a:r>
          </a:p>
          <a:p>
            <a:pPr marL="360000" indent="-360000">
              <a:spcBef>
                <a:spcPts val="600"/>
              </a:spcBef>
              <a:spcAft>
                <a:spcPts val="1200"/>
              </a:spcAft>
              <a:buNone/>
            </a:pPr>
            <a:r>
              <a:rPr lang="en-US" sz="2200" b="1" dirty="0" err="1" smtClean="0">
                <a:latin typeface="Helvetica" pitchFamily="34" charset="0"/>
              </a:rPr>
              <a:t>Colour</a:t>
            </a:r>
            <a:endParaRPr lang="en-US" sz="2200" b="1" dirty="0" smtClean="0">
              <a:latin typeface="Helvetica" pitchFamily="34" charset="0"/>
            </a:endParaRPr>
          </a:p>
          <a:p>
            <a:pPr marL="360000" indent="-360000">
              <a:spcBef>
                <a:spcPts val="600"/>
              </a:spcBef>
              <a:spcAft>
                <a:spcPts val="1200"/>
              </a:spcAft>
            </a:pPr>
            <a:r>
              <a:rPr lang="en-US" sz="2200" dirty="0" smtClean="0">
                <a:latin typeface="Helvetica" pitchFamily="34" charset="0"/>
              </a:rPr>
              <a:t>Bright Vivid, Stimulate the senses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3075" name="Picture 3" descr="I:\Overseas Projects\PHOTOS\2012\Salads\462484_tomato_salad_with_basil_an_mozzarella.jpg"/>
          <p:cNvPicPr>
            <a:picLocks noChangeAspect="1" noChangeArrowheads="1"/>
          </p:cNvPicPr>
          <p:nvPr/>
        </p:nvPicPr>
        <p:blipFill>
          <a:blip r:embed="rId3" cstate="print"/>
          <a:srcRect/>
          <a:stretch>
            <a:fillRect/>
          </a:stretch>
        </p:blipFill>
        <p:spPr bwMode="auto">
          <a:xfrm>
            <a:off x="5429256" y="2357430"/>
            <a:ext cx="2857500" cy="19050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Ingredients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Cooked Ingredients</a:t>
            </a:r>
          </a:p>
          <a:p>
            <a:pPr marL="360000" indent="-360000">
              <a:spcBef>
                <a:spcPts val="600"/>
              </a:spcBef>
              <a:spcAft>
                <a:spcPts val="1200"/>
              </a:spcAft>
            </a:pPr>
            <a:r>
              <a:rPr lang="en-US" sz="2200" dirty="0" smtClean="0">
                <a:latin typeface="Helvetica" pitchFamily="34" charset="0"/>
              </a:rPr>
              <a:t>Root vegetables:</a:t>
            </a:r>
          </a:p>
          <a:p>
            <a:pPr marL="661752" lvl="1" indent="-360000">
              <a:spcBef>
                <a:spcPts val="600"/>
              </a:spcBef>
              <a:spcAft>
                <a:spcPts val="1200"/>
              </a:spcAft>
            </a:pPr>
            <a:r>
              <a:rPr lang="en-US" sz="2200" dirty="0" smtClean="0"/>
              <a:t>Potatoes</a:t>
            </a:r>
          </a:p>
          <a:p>
            <a:pPr marL="360000" indent="-360000">
              <a:spcBef>
                <a:spcPts val="600"/>
              </a:spcBef>
              <a:spcAft>
                <a:spcPts val="1200"/>
              </a:spcAft>
            </a:pPr>
            <a:r>
              <a:rPr lang="en-US" sz="2200" dirty="0" smtClean="0">
                <a:latin typeface="Helvetica" pitchFamily="34" charset="0"/>
              </a:rPr>
              <a:t>Meats:</a:t>
            </a:r>
          </a:p>
          <a:p>
            <a:pPr marL="661752" lvl="1" indent="-360000">
              <a:spcBef>
                <a:spcPts val="600"/>
              </a:spcBef>
              <a:spcAft>
                <a:spcPts val="1200"/>
              </a:spcAft>
            </a:pPr>
            <a:r>
              <a:rPr lang="en-US" sz="2200" dirty="0" smtClean="0">
                <a:latin typeface="Helvetica" pitchFamily="34" charset="0"/>
              </a:rPr>
              <a:t>Need to be cooked chilled</a:t>
            </a:r>
          </a:p>
          <a:p>
            <a:pPr marL="360000" indent="-360000">
              <a:spcBef>
                <a:spcPts val="600"/>
              </a:spcBef>
              <a:spcAft>
                <a:spcPts val="1200"/>
              </a:spcAft>
            </a:pPr>
            <a:r>
              <a:rPr lang="en-US" sz="2200" dirty="0" smtClean="0">
                <a:latin typeface="Helvetica" pitchFamily="34" charset="0"/>
              </a:rPr>
              <a:t>Pastas:</a:t>
            </a:r>
          </a:p>
          <a:p>
            <a:pPr marL="661752" lvl="1" indent="-360000">
              <a:spcBef>
                <a:spcPts val="600"/>
              </a:spcBef>
              <a:spcAft>
                <a:spcPts val="1200"/>
              </a:spcAft>
            </a:pPr>
            <a:r>
              <a:rPr lang="en-US" sz="2200" dirty="0" smtClean="0">
                <a:latin typeface="Helvetica" pitchFamily="34" charset="0"/>
              </a:rPr>
              <a:t>Need to be cooked, chilled</a:t>
            </a:r>
          </a:p>
          <a:p>
            <a:pPr marL="360000" indent="-360000">
              <a:spcBef>
                <a:spcPts val="600"/>
              </a:spcBef>
              <a:spcAft>
                <a:spcPts val="1200"/>
              </a:spcAft>
            </a:pPr>
            <a:r>
              <a:rPr lang="en-US" sz="2200" dirty="0" smtClean="0">
                <a:latin typeface="Helvetica" pitchFamily="34" charset="0"/>
              </a:rPr>
              <a:t>Lentils and other legumes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4099" name="Picture 3" descr="I:\Overseas Projects\PHOTOS\2012\Salads\1209255_pasta_mix_.jpg"/>
          <p:cNvPicPr>
            <a:picLocks noChangeAspect="1" noChangeArrowheads="1"/>
          </p:cNvPicPr>
          <p:nvPr/>
        </p:nvPicPr>
        <p:blipFill>
          <a:blip r:embed="rId3" cstate="print"/>
          <a:srcRect/>
          <a:stretch>
            <a:fillRect/>
          </a:stretch>
        </p:blipFill>
        <p:spPr bwMode="auto">
          <a:xfrm>
            <a:off x="5214942" y="1571612"/>
            <a:ext cx="2857500" cy="28575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Ingredients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Fruits</a:t>
            </a:r>
          </a:p>
          <a:p>
            <a:pPr marL="360000" indent="-360000">
              <a:spcBef>
                <a:spcPts val="600"/>
              </a:spcBef>
              <a:spcAft>
                <a:spcPts val="1200"/>
              </a:spcAft>
            </a:pPr>
            <a:r>
              <a:rPr lang="en-US" sz="2200" dirty="0" smtClean="0">
                <a:latin typeface="Helvetica" pitchFamily="34" charset="0"/>
              </a:rPr>
              <a:t>Purchasing requirements</a:t>
            </a:r>
          </a:p>
          <a:p>
            <a:pPr marL="360000" indent="-360000">
              <a:spcBef>
                <a:spcPts val="600"/>
              </a:spcBef>
              <a:spcAft>
                <a:spcPts val="1200"/>
              </a:spcAft>
            </a:pPr>
            <a:r>
              <a:rPr lang="en-US" sz="2200" dirty="0" smtClean="0">
                <a:latin typeface="Helvetica" pitchFamily="34" charset="0"/>
              </a:rPr>
              <a:t>Storage Requirements</a:t>
            </a:r>
          </a:p>
          <a:p>
            <a:pPr marL="360000" indent="-360000">
              <a:spcBef>
                <a:spcPts val="600"/>
              </a:spcBef>
              <a:spcAft>
                <a:spcPts val="1200"/>
              </a:spcAft>
            </a:pPr>
            <a:r>
              <a:rPr lang="en-US" sz="2200" dirty="0" smtClean="0">
                <a:latin typeface="Helvetica" pitchFamily="34" charset="0"/>
              </a:rPr>
              <a:t>Preparation Requirements</a:t>
            </a:r>
          </a:p>
          <a:p>
            <a:pPr marL="360000" indent="-360000">
              <a:spcBef>
                <a:spcPts val="600"/>
              </a:spcBef>
              <a:spcAft>
                <a:spcPts val="1200"/>
              </a:spcAft>
            </a:pPr>
            <a:r>
              <a:rPr lang="en-US" sz="2200" dirty="0" smtClean="0">
                <a:latin typeface="Helvetica" pitchFamily="34" charset="0"/>
              </a:rPr>
              <a:t>Life of prepared products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122" name="Picture 2" descr="I:\Overseas Projects\PHOTOS\2012\Salads\307260_orange_slaughterhouse.jpg"/>
          <p:cNvPicPr>
            <a:picLocks noChangeAspect="1" noChangeArrowheads="1"/>
          </p:cNvPicPr>
          <p:nvPr/>
        </p:nvPicPr>
        <p:blipFill>
          <a:blip r:embed="rId3" cstate="print"/>
          <a:srcRect/>
          <a:stretch>
            <a:fillRect/>
          </a:stretch>
        </p:blipFill>
        <p:spPr bwMode="auto">
          <a:xfrm>
            <a:off x="5572132" y="2000240"/>
            <a:ext cx="2143120" cy="214312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Ingredients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Dressing</a:t>
            </a:r>
          </a:p>
          <a:p>
            <a:pPr marL="360000" indent="-360000">
              <a:spcBef>
                <a:spcPts val="600"/>
              </a:spcBef>
              <a:spcAft>
                <a:spcPts val="1200"/>
              </a:spcAft>
            </a:pPr>
            <a:r>
              <a:rPr lang="en-US" sz="2200" dirty="0" smtClean="0">
                <a:latin typeface="Helvetica" pitchFamily="34" charset="0"/>
              </a:rPr>
              <a:t>Dressings an integral part of all salads:</a:t>
            </a:r>
          </a:p>
          <a:p>
            <a:pPr marL="661752" lvl="1" indent="-360000">
              <a:spcBef>
                <a:spcPts val="600"/>
              </a:spcBef>
              <a:spcAft>
                <a:spcPts val="1200"/>
              </a:spcAft>
            </a:pPr>
            <a:r>
              <a:rPr lang="en-US" sz="2200" dirty="0" smtClean="0">
                <a:latin typeface="Helvetica" pitchFamily="34" charset="0"/>
              </a:rPr>
              <a:t>Adds </a:t>
            </a:r>
            <a:r>
              <a:rPr lang="en-US" sz="2200" dirty="0" err="1" smtClean="0">
                <a:latin typeface="Helvetica" pitchFamily="34" charset="0"/>
              </a:rPr>
              <a:t>flavour</a:t>
            </a:r>
            <a:endParaRPr lang="en-US" sz="2200" dirty="0" smtClean="0">
              <a:latin typeface="Helvetica" pitchFamily="34" charset="0"/>
            </a:endParaRPr>
          </a:p>
          <a:p>
            <a:pPr marL="661752" lvl="1" indent="-360000">
              <a:spcBef>
                <a:spcPts val="600"/>
              </a:spcBef>
              <a:spcAft>
                <a:spcPts val="1200"/>
              </a:spcAft>
            </a:pPr>
            <a:r>
              <a:rPr lang="en-US" sz="2200" dirty="0" smtClean="0">
                <a:latin typeface="Helvetica" pitchFamily="34" charset="0"/>
              </a:rPr>
              <a:t>Moisture</a:t>
            </a:r>
          </a:p>
          <a:p>
            <a:pPr marL="661752" lvl="1" indent="-360000">
              <a:spcBef>
                <a:spcPts val="600"/>
              </a:spcBef>
              <a:spcAft>
                <a:spcPts val="1200"/>
              </a:spcAft>
            </a:pPr>
            <a:r>
              <a:rPr lang="en-US" sz="2200" dirty="0" smtClean="0">
                <a:latin typeface="Helvetica" pitchFamily="34" charset="0"/>
              </a:rPr>
              <a:t>Food value</a:t>
            </a:r>
          </a:p>
          <a:p>
            <a:pPr marL="360000" indent="-360000">
              <a:spcBef>
                <a:spcPts val="600"/>
              </a:spcBef>
              <a:spcAft>
                <a:spcPts val="1200"/>
              </a:spcAft>
            </a:pPr>
            <a:r>
              <a:rPr lang="en-US" sz="2200" dirty="0" smtClean="0">
                <a:latin typeface="Helvetica" pitchFamily="34" charset="0"/>
              </a:rPr>
              <a:t>Will give salads that WOW factor:</a:t>
            </a:r>
          </a:p>
          <a:p>
            <a:pPr marL="661752" lvl="1" indent="-360000">
              <a:spcBef>
                <a:spcPts val="600"/>
              </a:spcBef>
              <a:spcAft>
                <a:spcPts val="1200"/>
              </a:spcAft>
            </a:pPr>
            <a:r>
              <a:rPr lang="en-US" sz="2200" dirty="0" smtClean="0">
                <a:latin typeface="Helvetica" pitchFamily="34" charset="0"/>
              </a:rPr>
              <a:t>Fresh Ingredients</a:t>
            </a:r>
          </a:p>
          <a:p>
            <a:pPr marL="661752" lvl="1" indent="-360000">
              <a:spcBef>
                <a:spcPts val="600"/>
              </a:spcBef>
              <a:spcAft>
                <a:spcPts val="1200"/>
              </a:spcAft>
            </a:pPr>
            <a:r>
              <a:rPr lang="en-US" sz="2200" dirty="0" smtClean="0">
                <a:latin typeface="Helvetica" pitchFamily="34" charset="0"/>
              </a:rPr>
              <a:t>Crisp </a:t>
            </a:r>
            <a:r>
              <a:rPr lang="en-US" sz="2200" dirty="0" err="1" smtClean="0">
                <a:latin typeface="Helvetica" pitchFamily="34" charset="0"/>
              </a:rPr>
              <a:t>Flavours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146" name="Picture 2" descr="I:\Overseas Projects\PHOTOS\2012\Salads\1162638_oil.jpg"/>
          <p:cNvPicPr>
            <a:picLocks noChangeAspect="1" noChangeArrowheads="1"/>
          </p:cNvPicPr>
          <p:nvPr/>
        </p:nvPicPr>
        <p:blipFill>
          <a:blip r:embed="rId3" cstate="print"/>
          <a:srcRect/>
          <a:stretch>
            <a:fillRect/>
          </a:stretch>
        </p:blipFill>
        <p:spPr bwMode="auto">
          <a:xfrm>
            <a:off x="6000760" y="2786058"/>
            <a:ext cx="2136763" cy="2136763"/>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539608" cy="1143000"/>
          </a:xfrm>
        </p:spPr>
        <p:txBody>
          <a:bodyPr>
            <a:normAutofit/>
          </a:bodyPr>
          <a:lstStyle/>
          <a:p>
            <a:r>
              <a:rPr lang="en-US" sz="3400" b="1" dirty="0" smtClean="0">
                <a:solidFill>
                  <a:srgbClr val="FF6600"/>
                </a:solidFill>
                <a:latin typeface="Helvetica" pitchFamily="34" charset="0"/>
              </a:rPr>
              <a:t>Prepare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err="1" smtClean="0">
                <a:latin typeface="Helvetica" pitchFamily="34" charset="0"/>
              </a:rPr>
              <a:t>Mise</a:t>
            </a:r>
            <a:r>
              <a:rPr lang="en-US" sz="2200" b="1" dirty="0" smtClean="0">
                <a:latin typeface="Helvetica" pitchFamily="34" charset="0"/>
              </a:rPr>
              <a:t> en place</a:t>
            </a:r>
          </a:p>
          <a:p>
            <a:pPr marL="360000" indent="-360000">
              <a:spcBef>
                <a:spcPts val="600"/>
              </a:spcBef>
              <a:spcAft>
                <a:spcPts val="1200"/>
              </a:spcAft>
            </a:pPr>
            <a:r>
              <a:rPr lang="en-US" sz="2200" dirty="0" smtClean="0">
                <a:latin typeface="Helvetica" pitchFamily="34" charset="0"/>
              </a:rPr>
              <a:t>Everything is place:</a:t>
            </a:r>
          </a:p>
          <a:p>
            <a:pPr marL="720000" indent="-360000">
              <a:spcBef>
                <a:spcPts val="600"/>
              </a:spcBef>
              <a:spcAft>
                <a:spcPts val="1200"/>
              </a:spcAft>
              <a:buClr>
                <a:srgbClr val="7FD13B"/>
              </a:buClr>
              <a:buSzPct val="120000"/>
              <a:buFont typeface="Arial" pitchFamily="34" charset="0"/>
              <a:buChar char="•"/>
            </a:pPr>
            <a:r>
              <a:rPr lang="en-US" sz="2200" dirty="0" smtClean="0">
                <a:latin typeface="Helvetica" pitchFamily="34" charset="0"/>
              </a:rPr>
              <a:t>Have all ingredients prepared before </a:t>
            </a:r>
            <a:br>
              <a:rPr lang="en-US" sz="2200" dirty="0" smtClean="0">
                <a:latin typeface="Helvetica" pitchFamily="34" charset="0"/>
              </a:rPr>
            </a:br>
            <a:r>
              <a:rPr lang="en-US" sz="2200" dirty="0" smtClean="0">
                <a:latin typeface="Helvetica" pitchFamily="34" charset="0"/>
              </a:rPr>
              <a:t>you start</a:t>
            </a:r>
          </a:p>
          <a:p>
            <a:pPr marL="360000" indent="-360000">
              <a:spcBef>
                <a:spcPts val="600"/>
              </a:spcBef>
              <a:spcAft>
                <a:spcPts val="1200"/>
              </a:spcAft>
              <a:buNone/>
            </a:pPr>
            <a:r>
              <a:rPr lang="en-US" sz="2200" b="1" dirty="0" smtClean="0">
                <a:latin typeface="Helvetica" pitchFamily="34" charset="0"/>
              </a:rPr>
              <a:t>Follow Standard recipes</a:t>
            </a:r>
          </a:p>
          <a:p>
            <a:pPr marL="360000" indent="-360000">
              <a:spcBef>
                <a:spcPts val="600"/>
              </a:spcBef>
              <a:spcAft>
                <a:spcPts val="1200"/>
              </a:spcAft>
            </a:pPr>
            <a:r>
              <a:rPr lang="en-US" sz="2200" dirty="0" smtClean="0">
                <a:latin typeface="Helvetica" pitchFamily="34" charset="0"/>
              </a:rPr>
              <a:t>Every salad looks the same as the last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170" name="Picture 2" descr="I:\Overseas Projects\PHOTOS\2012\Salads\1387569_pair_of_salad_servers_2.jpg"/>
          <p:cNvPicPr>
            <a:picLocks noChangeAspect="1" noChangeArrowheads="1"/>
          </p:cNvPicPr>
          <p:nvPr/>
        </p:nvPicPr>
        <p:blipFill>
          <a:blip r:embed="rId3" cstate="print"/>
          <a:srcRect/>
          <a:stretch>
            <a:fillRect/>
          </a:stretch>
        </p:blipFill>
        <p:spPr bwMode="auto">
          <a:xfrm>
            <a:off x="6500826" y="2285992"/>
            <a:ext cx="1669255" cy="2225673"/>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Garnishes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Type of garnish</a:t>
            </a:r>
          </a:p>
          <a:p>
            <a:pPr marL="360000" indent="-360000">
              <a:spcBef>
                <a:spcPts val="600"/>
              </a:spcBef>
              <a:spcAft>
                <a:spcPts val="1200"/>
              </a:spcAft>
            </a:pPr>
            <a:r>
              <a:rPr lang="en-US" sz="2200" dirty="0" smtClean="0">
                <a:latin typeface="Helvetica" pitchFamily="34" charset="0"/>
              </a:rPr>
              <a:t>Fresh</a:t>
            </a:r>
          </a:p>
          <a:p>
            <a:pPr marL="360000" indent="-360000">
              <a:spcBef>
                <a:spcPts val="600"/>
              </a:spcBef>
              <a:spcAft>
                <a:spcPts val="1200"/>
              </a:spcAft>
            </a:pPr>
            <a:r>
              <a:rPr lang="en-US" sz="2200" dirty="0" smtClean="0">
                <a:latin typeface="Helvetica" pitchFamily="34" charset="0"/>
              </a:rPr>
              <a:t>Cooked:</a:t>
            </a:r>
          </a:p>
          <a:p>
            <a:pPr marL="661752" lvl="1" indent="-360000">
              <a:spcBef>
                <a:spcPts val="600"/>
              </a:spcBef>
              <a:spcAft>
                <a:spcPts val="1200"/>
              </a:spcAft>
            </a:pPr>
            <a:r>
              <a:rPr lang="en-US" sz="2200" dirty="0" smtClean="0">
                <a:latin typeface="Helvetica" pitchFamily="34" charset="0"/>
              </a:rPr>
              <a:t>Cooked is produce first</a:t>
            </a:r>
          </a:p>
          <a:p>
            <a:pPr marL="360000" indent="-360000">
              <a:spcBef>
                <a:spcPts val="600"/>
              </a:spcBef>
              <a:spcAft>
                <a:spcPts val="1200"/>
              </a:spcAft>
            </a:pPr>
            <a:r>
              <a:rPr lang="en-US" sz="2200" dirty="0" smtClean="0">
                <a:latin typeface="Helvetica" pitchFamily="34" charset="0"/>
              </a:rPr>
              <a:t>Fresh Garnish should be left to as close to service as possible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8194" name="Picture 2" descr="C:\Documents and Settings\danielc\Local Settings\Temporary Internet Files\Content.IE5\DMNK07QZ\MP900438758[1].jpg"/>
          <p:cNvPicPr>
            <a:picLocks noChangeAspect="1" noChangeArrowheads="1"/>
          </p:cNvPicPr>
          <p:nvPr/>
        </p:nvPicPr>
        <p:blipFill>
          <a:blip r:embed="rId3" cstate="print"/>
          <a:srcRect/>
          <a:stretch>
            <a:fillRect/>
          </a:stretch>
        </p:blipFill>
        <p:spPr bwMode="auto">
          <a:xfrm>
            <a:off x="5143504" y="1643050"/>
            <a:ext cx="2699380" cy="1807621"/>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Accompaniment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Accompaniments</a:t>
            </a:r>
          </a:p>
          <a:p>
            <a:pPr marL="360000" indent="-360000">
              <a:spcBef>
                <a:spcPts val="600"/>
              </a:spcBef>
              <a:spcAft>
                <a:spcPts val="1200"/>
              </a:spcAft>
            </a:pPr>
            <a:r>
              <a:rPr lang="en-US" sz="2200" dirty="0" smtClean="0">
                <a:latin typeface="Helvetica" pitchFamily="34" charset="0"/>
              </a:rPr>
              <a:t>Side dish:</a:t>
            </a:r>
          </a:p>
          <a:p>
            <a:pPr marL="661752" lvl="1" indent="-360000">
              <a:spcBef>
                <a:spcPts val="600"/>
              </a:spcBef>
              <a:spcAft>
                <a:spcPts val="1200"/>
              </a:spcAft>
            </a:pPr>
            <a:r>
              <a:rPr lang="en-US" sz="2200" dirty="0" smtClean="0">
                <a:latin typeface="Helvetica" pitchFamily="34" charset="0"/>
              </a:rPr>
              <a:t>Dressing on the side</a:t>
            </a:r>
          </a:p>
          <a:p>
            <a:pPr marL="661752" lvl="1" indent="-360000">
              <a:spcBef>
                <a:spcPts val="600"/>
              </a:spcBef>
              <a:spcAft>
                <a:spcPts val="1200"/>
              </a:spcAft>
            </a:pPr>
            <a:r>
              <a:rPr lang="en-US" sz="2200" dirty="0" smtClean="0">
                <a:latin typeface="Helvetica" pitchFamily="34" charset="0"/>
              </a:rPr>
              <a:t>Fried herbs</a:t>
            </a:r>
          </a:p>
          <a:p>
            <a:pPr marL="661752" lvl="1" indent="-360000">
              <a:spcBef>
                <a:spcPts val="600"/>
              </a:spcBef>
              <a:spcAft>
                <a:spcPts val="1200"/>
              </a:spcAft>
            </a:pPr>
            <a:r>
              <a:rPr lang="en-US" sz="2200" dirty="0" smtClean="0">
                <a:latin typeface="Helvetica" pitchFamily="34" charset="0"/>
              </a:rPr>
              <a:t>Croutons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9219" name="Picture 3" descr="I:\Overseas Projects\PHOTOS\2012\Salads\how-to-make-croutons-b.jpg"/>
          <p:cNvPicPr>
            <a:picLocks noChangeAspect="1" noChangeArrowheads="1"/>
          </p:cNvPicPr>
          <p:nvPr/>
        </p:nvPicPr>
        <p:blipFill>
          <a:blip r:embed="rId3" cstate="print"/>
          <a:srcRect/>
          <a:stretch>
            <a:fillRect/>
          </a:stretch>
        </p:blipFill>
        <p:spPr bwMode="auto">
          <a:xfrm>
            <a:off x="4500562" y="2143116"/>
            <a:ext cx="3420942" cy="2282821"/>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Salad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Presentation Style</a:t>
            </a:r>
          </a:p>
          <a:p>
            <a:pPr marL="0" indent="0">
              <a:spcBef>
                <a:spcPts val="600"/>
              </a:spcBef>
              <a:spcAft>
                <a:spcPts val="1200"/>
              </a:spcAft>
              <a:buNone/>
            </a:pPr>
            <a:r>
              <a:rPr lang="en-US" sz="2200" dirty="0" smtClean="0">
                <a:latin typeface="Helvetica" pitchFamily="34" charset="0"/>
              </a:rPr>
              <a:t>Buffet Service:</a:t>
            </a:r>
          </a:p>
          <a:p>
            <a:pPr marL="0" indent="-457200">
              <a:spcBef>
                <a:spcPts val="600"/>
              </a:spcBef>
              <a:spcAft>
                <a:spcPts val="1200"/>
              </a:spcAft>
            </a:pPr>
            <a:r>
              <a:rPr lang="en-US" sz="2200" dirty="0" smtClean="0">
                <a:latin typeface="Helvetica" pitchFamily="34" charset="0"/>
              </a:rPr>
              <a:t>On large Platters</a:t>
            </a:r>
          </a:p>
          <a:p>
            <a:pPr marL="0" indent="-457200">
              <a:spcBef>
                <a:spcPts val="600"/>
              </a:spcBef>
              <a:spcAft>
                <a:spcPts val="1200"/>
              </a:spcAft>
            </a:pPr>
            <a:r>
              <a:rPr lang="en-US" sz="2200" dirty="0" smtClean="0">
                <a:latin typeface="Helvetica" pitchFamily="34" charset="0"/>
              </a:rPr>
              <a:t>Bowls</a:t>
            </a:r>
          </a:p>
          <a:p>
            <a:pPr marL="0" indent="0">
              <a:spcBef>
                <a:spcPts val="600"/>
              </a:spcBef>
              <a:spcAft>
                <a:spcPts val="1200"/>
              </a:spcAft>
              <a:buNone/>
            </a:pPr>
            <a:r>
              <a:rPr lang="en-US" sz="2200" dirty="0" smtClean="0">
                <a:latin typeface="Helvetica" pitchFamily="34" charset="0"/>
              </a:rPr>
              <a:t>Single Service:</a:t>
            </a:r>
          </a:p>
          <a:p>
            <a:pPr marL="0" indent="-457200">
              <a:spcBef>
                <a:spcPts val="600"/>
              </a:spcBef>
              <a:spcAft>
                <a:spcPts val="1200"/>
              </a:spcAft>
            </a:pPr>
            <a:r>
              <a:rPr lang="en-US" sz="2200" dirty="0" smtClean="0">
                <a:latin typeface="Helvetica" pitchFamily="34" charset="0"/>
              </a:rPr>
              <a:t>Individual bowls</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10242" name="Picture 2" descr="C:\Documents and Settings\danielc\Local Settings\Temporary Internet Files\Content.IE5\8E72DZVI\MP900408855[1].jpg"/>
          <p:cNvPicPr>
            <a:picLocks noChangeAspect="1" noChangeArrowheads="1"/>
          </p:cNvPicPr>
          <p:nvPr/>
        </p:nvPicPr>
        <p:blipFill>
          <a:blip r:embed="rId3" cstate="print"/>
          <a:srcRect/>
          <a:stretch>
            <a:fillRect/>
          </a:stretch>
        </p:blipFill>
        <p:spPr bwMode="auto">
          <a:xfrm>
            <a:off x="5286380" y="2357430"/>
            <a:ext cx="2214554" cy="2214554"/>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present a selection of hot and cold appetisers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57158" y="1700808"/>
            <a:ext cx="8072494" cy="4896544"/>
          </a:xfrm>
        </p:spPr>
        <p:txBody>
          <a:bodyPr>
            <a:normAutofit/>
          </a:bodyPr>
          <a:lstStyle/>
          <a:p>
            <a:pPr marL="660654" indent="-514350">
              <a:spcBef>
                <a:spcPts val="600"/>
              </a:spcBef>
              <a:spcAft>
                <a:spcPts val="1200"/>
              </a:spcAft>
            </a:pPr>
            <a:r>
              <a:rPr lang="en-AU" sz="2200" b="1" dirty="0" smtClean="0"/>
              <a:t>2.1 </a:t>
            </a:r>
            <a:r>
              <a:rPr lang="en-AU" sz="2200" dirty="0" smtClean="0"/>
              <a:t>Select ingredients to meet requirements of hot 	   	   and cold appetisers menu items</a:t>
            </a:r>
          </a:p>
          <a:p>
            <a:pPr marL="660654" indent="-514350">
              <a:spcBef>
                <a:spcPts val="600"/>
              </a:spcBef>
              <a:spcAft>
                <a:spcPts val="1200"/>
              </a:spcAft>
            </a:pPr>
            <a:r>
              <a:rPr lang="en-AU" sz="2200" b="1" dirty="0" smtClean="0"/>
              <a:t>2.2</a:t>
            </a:r>
            <a:r>
              <a:rPr lang="en-AU" sz="2200" dirty="0" smtClean="0"/>
              <a:t>  Prepare</a:t>
            </a:r>
            <a:r>
              <a:rPr lang="en-AU" sz="2200" i="1" dirty="0" smtClean="0"/>
              <a:t> </a:t>
            </a:r>
            <a:r>
              <a:rPr lang="en-AU" sz="2200" dirty="0" smtClean="0"/>
              <a:t>appetisers to enterprise standards 	     	    including nutritional and eating qualities</a:t>
            </a:r>
          </a:p>
          <a:p>
            <a:pPr marL="660654" indent="-514350">
              <a:spcBef>
                <a:spcPts val="600"/>
              </a:spcBef>
              <a:spcAft>
                <a:spcPts val="1200"/>
              </a:spcAft>
            </a:pPr>
            <a:r>
              <a:rPr lang="en-AU" sz="2200" b="1" dirty="0" smtClean="0"/>
              <a:t>2.3</a:t>
            </a:r>
            <a:r>
              <a:rPr lang="en-AU" sz="2200" dirty="0" smtClean="0"/>
              <a:t>  Prepare garnishes, and accompaniments</a:t>
            </a:r>
          </a:p>
          <a:p>
            <a:pPr marL="660654" indent="-514350">
              <a:spcBef>
                <a:spcPts val="600"/>
              </a:spcBef>
              <a:spcAft>
                <a:spcPts val="1200"/>
              </a:spcAft>
            </a:pPr>
            <a:r>
              <a:rPr lang="en-AU" sz="2200" b="1" dirty="0" smtClean="0"/>
              <a:t>2.4</a:t>
            </a:r>
            <a:r>
              <a:rPr lang="en-AU" sz="2200" dirty="0" smtClean="0"/>
              <a:t>  Present hot and cold appetisers including 	    	     	    garnishes and accompaniments according to                           	    enterprise standards</a:t>
            </a:r>
          </a:p>
          <a:p>
            <a:pPr marL="661752" lvl="1" indent="-360000">
              <a:spcBef>
                <a:spcPts val="600"/>
              </a:spcBef>
              <a:spcAft>
                <a:spcPts val="1200"/>
              </a:spcAft>
              <a:buNone/>
            </a:pPr>
            <a:endParaRPr lang="en-US" sz="1800" dirty="0" smtClean="0">
              <a:latin typeface="Helvetica" pitchFamily="34" charset="0"/>
            </a:endParaRPr>
          </a:p>
          <a:p>
            <a:pPr marL="661752" lvl="1" indent="-360000">
              <a:spcBef>
                <a:spcPts val="600"/>
              </a:spcBef>
              <a:spcAft>
                <a:spcPts val="12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2" descr="C:\Documents and Settings\danielc\Local Settings\Temporary Internet Files\Content.IE5\2LMD6966\MC900434929[1].png"/>
          <p:cNvPicPr>
            <a:picLocks noChangeAspect="1" noChangeArrowheads="1"/>
          </p:cNvPicPr>
          <p:nvPr/>
        </p:nvPicPr>
        <p:blipFill>
          <a:blip r:embed="rId3" cstate="print"/>
          <a:srcRect/>
          <a:stretch>
            <a:fillRect/>
          </a:stretch>
        </p:blipFill>
        <p:spPr bwMode="auto">
          <a:xfrm>
            <a:off x="7143768" y="2564904"/>
            <a:ext cx="1500198" cy="1500198"/>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Interpretation</a:t>
            </a:r>
          </a:p>
          <a:p>
            <a:pPr marL="360000" indent="-360000">
              <a:spcBef>
                <a:spcPts val="600"/>
              </a:spcBef>
              <a:spcAft>
                <a:spcPts val="1200"/>
              </a:spcAft>
            </a:pPr>
            <a:r>
              <a:rPr lang="en-US" sz="2200" dirty="0" smtClean="0">
                <a:latin typeface="Helvetica" pitchFamily="34" charset="0"/>
              </a:rPr>
              <a:t>Modern </a:t>
            </a:r>
          </a:p>
          <a:p>
            <a:pPr marL="360000" indent="-360000">
              <a:spcBef>
                <a:spcPts val="600"/>
              </a:spcBef>
              <a:spcAft>
                <a:spcPts val="1200"/>
              </a:spcAft>
            </a:pPr>
            <a:r>
              <a:rPr lang="en-US" sz="2200" dirty="0" smtClean="0">
                <a:latin typeface="Helvetica" pitchFamily="34" charset="0"/>
              </a:rPr>
              <a:t>Classical</a:t>
            </a:r>
          </a:p>
          <a:p>
            <a:pPr marL="360000" indent="-360000">
              <a:spcBef>
                <a:spcPts val="600"/>
              </a:spcBef>
              <a:spcAft>
                <a:spcPts val="1200"/>
              </a:spcAft>
            </a:pPr>
            <a:r>
              <a:rPr lang="en-US" sz="2200" dirty="0" smtClean="0">
                <a:latin typeface="Helvetica" pitchFamily="34" charset="0"/>
              </a:rPr>
              <a:t>Amuse </a:t>
            </a:r>
            <a:r>
              <a:rPr lang="en-US" sz="2200" dirty="0" smtClean="0"/>
              <a:t>G</a:t>
            </a:r>
            <a:r>
              <a:rPr lang="en-US" sz="2200" dirty="0" smtClean="0">
                <a:latin typeface="Helvetica" pitchFamily="34" charset="0"/>
              </a:rPr>
              <a:t>ueule</a:t>
            </a:r>
          </a:p>
          <a:p>
            <a:pPr marL="360000" indent="-360000">
              <a:spcBef>
                <a:spcPts val="600"/>
              </a:spcBef>
              <a:spcAft>
                <a:spcPts val="1200"/>
              </a:spcAft>
            </a:pPr>
            <a:r>
              <a:rPr lang="en-US" sz="2200" dirty="0" smtClean="0">
                <a:latin typeface="Helvetica" pitchFamily="34" charset="0"/>
              </a:rPr>
              <a:t>Amuse Bouche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11266" name="Picture 2" descr="I:\Overseas Projects\PHOTOS\2012\Salads\810833_nibbles_and_canapes.jpg"/>
          <p:cNvPicPr>
            <a:picLocks noChangeAspect="1" noChangeArrowheads="1"/>
          </p:cNvPicPr>
          <p:nvPr/>
        </p:nvPicPr>
        <p:blipFill>
          <a:blip r:embed="rId3" cstate="print"/>
          <a:srcRect/>
          <a:stretch>
            <a:fillRect/>
          </a:stretch>
        </p:blipFill>
        <p:spPr bwMode="auto">
          <a:xfrm>
            <a:off x="4857752" y="2143116"/>
            <a:ext cx="2857500" cy="19050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Hot and Cold</a:t>
            </a:r>
          </a:p>
          <a:p>
            <a:pPr marL="0" indent="0">
              <a:spcBef>
                <a:spcPts val="600"/>
              </a:spcBef>
              <a:spcAft>
                <a:spcPts val="1200"/>
              </a:spcAft>
            </a:pPr>
            <a:r>
              <a:rPr lang="en-US" sz="2200" dirty="0" smtClean="0">
                <a:latin typeface="Helvetica" pitchFamily="34" charset="0"/>
              </a:rPr>
              <a:t>  Cocktail Food:</a:t>
            </a:r>
          </a:p>
          <a:p>
            <a:pPr marL="661752" lvl="1" indent="-360000">
              <a:spcBef>
                <a:spcPts val="600"/>
              </a:spcBef>
              <a:spcAft>
                <a:spcPts val="1200"/>
              </a:spcAft>
            </a:pPr>
            <a:r>
              <a:rPr lang="en-US" sz="2200" dirty="0" smtClean="0"/>
              <a:t>Stand up pre-dinner drinks</a:t>
            </a:r>
          </a:p>
          <a:p>
            <a:pPr marL="360000" indent="-360000">
              <a:spcBef>
                <a:spcPts val="600"/>
              </a:spcBef>
              <a:spcAft>
                <a:spcPts val="1200"/>
              </a:spcAft>
            </a:pPr>
            <a:r>
              <a:rPr lang="en-US" sz="2200" dirty="0" smtClean="0">
                <a:latin typeface="Helvetica" pitchFamily="34" charset="0"/>
              </a:rPr>
              <a:t>Served without customers seating:</a:t>
            </a:r>
          </a:p>
          <a:p>
            <a:pPr marL="661752" lvl="1" indent="-360000">
              <a:spcBef>
                <a:spcPts val="600"/>
              </a:spcBef>
              <a:spcAft>
                <a:spcPts val="1200"/>
              </a:spcAft>
            </a:pPr>
            <a:r>
              <a:rPr lang="en-US" sz="2200" dirty="0" smtClean="0">
                <a:latin typeface="Helvetica" pitchFamily="34" charset="0"/>
              </a:rPr>
              <a:t>Served from platters by wait staff</a:t>
            </a:r>
          </a:p>
          <a:p>
            <a:pPr marL="661752" lvl="1" indent="-360000">
              <a:spcBef>
                <a:spcPts val="600"/>
              </a:spcBef>
              <a:spcAft>
                <a:spcPts val="1200"/>
              </a:spcAft>
              <a:buNone/>
            </a:pPr>
            <a:endParaRPr lang="en-US" sz="2200" dirty="0" smtClean="0">
              <a:latin typeface="Helvetica" pitchFamily="34" charset="0"/>
            </a:endParaRPr>
          </a:p>
          <a:p>
            <a:pPr marL="661752" lvl="1"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12290" name="Picture 2" descr="C:\Documents and Settings\danielc\Local Settings\Temporary Internet Files\Content.IE5\XF6U4J0T\MC900057369[1].wmf"/>
          <p:cNvPicPr>
            <a:picLocks noChangeAspect="1" noChangeArrowheads="1"/>
          </p:cNvPicPr>
          <p:nvPr/>
        </p:nvPicPr>
        <p:blipFill>
          <a:blip r:embed="rId3" cstate="print"/>
          <a:srcRect/>
          <a:stretch>
            <a:fillRect/>
          </a:stretch>
        </p:blipFill>
        <p:spPr bwMode="auto">
          <a:xfrm>
            <a:off x="5715008" y="1857364"/>
            <a:ext cx="1783994" cy="184343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Eating Quality and Nutritional Value</a:t>
            </a:r>
          </a:p>
          <a:p>
            <a:pPr marL="360000" indent="-360000">
              <a:spcBef>
                <a:spcPts val="600"/>
              </a:spcBef>
              <a:spcAft>
                <a:spcPts val="1200"/>
              </a:spcAft>
            </a:pPr>
            <a:r>
              <a:rPr lang="en-US" sz="2200" dirty="0" smtClean="0">
                <a:latin typeface="Helvetica" pitchFamily="34" charset="0"/>
              </a:rPr>
              <a:t>Fresh is best</a:t>
            </a:r>
          </a:p>
          <a:p>
            <a:pPr marL="360000" indent="-360000">
              <a:spcBef>
                <a:spcPts val="600"/>
              </a:spcBef>
              <a:spcAft>
                <a:spcPts val="1200"/>
              </a:spcAft>
            </a:pPr>
            <a:r>
              <a:rPr lang="en-US" sz="2200" dirty="0" smtClean="0">
                <a:latin typeface="Helvetica" pitchFamily="34" charset="0"/>
              </a:rPr>
              <a:t>Not too much processed food</a:t>
            </a:r>
          </a:p>
          <a:p>
            <a:pPr marL="360000" indent="-360000">
              <a:spcBef>
                <a:spcPts val="600"/>
              </a:spcBef>
              <a:spcAft>
                <a:spcPts val="1200"/>
              </a:spcAft>
            </a:pPr>
            <a:r>
              <a:rPr lang="en-US" sz="2200" dirty="0" smtClean="0">
                <a:latin typeface="Helvetica" pitchFamily="34" charset="0"/>
              </a:rPr>
              <a:t>Different cooking style:</a:t>
            </a:r>
          </a:p>
          <a:p>
            <a:pPr marL="661752" lvl="1" indent="-360000">
              <a:spcBef>
                <a:spcPts val="600"/>
              </a:spcBef>
              <a:spcAft>
                <a:spcPts val="1200"/>
              </a:spcAft>
            </a:pPr>
            <a:r>
              <a:rPr lang="en-US" sz="2200" dirty="0" smtClean="0">
                <a:latin typeface="Helvetica" pitchFamily="34" charset="0"/>
              </a:rPr>
              <a:t>Grill </a:t>
            </a:r>
          </a:p>
          <a:p>
            <a:pPr marL="661752" lvl="1" indent="-360000">
              <a:spcBef>
                <a:spcPts val="600"/>
              </a:spcBef>
              <a:spcAft>
                <a:spcPts val="1200"/>
              </a:spcAft>
            </a:pPr>
            <a:r>
              <a:rPr lang="en-US" sz="2200" dirty="0" smtClean="0">
                <a:latin typeface="Helvetica" pitchFamily="34" charset="0"/>
              </a:rPr>
              <a:t>Poach</a:t>
            </a:r>
          </a:p>
          <a:p>
            <a:pPr marL="661752" lvl="1" indent="-360000">
              <a:spcBef>
                <a:spcPts val="600"/>
              </a:spcBef>
              <a:spcAft>
                <a:spcPts val="1200"/>
              </a:spcAft>
            </a:pPr>
            <a:r>
              <a:rPr lang="en-US" sz="2200" dirty="0" smtClean="0">
                <a:latin typeface="Helvetica" pitchFamily="34" charset="0"/>
              </a:rPr>
              <a:t>Steam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13314" name="Picture 2" descr="C:\Documents and Settings\danielc\Local Settings\Temporary Internet Files\Content.IE5\XF6U4J0T\MP900438587[1].jpg"/>
          <p:cNvPicPr>
            <a:picLocks noChangeAspect="1" noChangeArrowheads="1"/>
          </p:cNvPicPr>
          <p:nvPr/>
        </p:nvPicPr>
        <p:blipFill>
          <a:blip r:embed="rId3" cstate="print"/>
          <a:srcRect/>
          <a:stretch>
            <a:fillRect/>
          </a:stretch>
        </p:blipFill>
        <p:spPr bwMode="auto">
          <a:xfrm>
            <a:off x="5214942" y="2928934"/>
            <a:ext cx="2996116" cy="2000264"/>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Autofit/>
          </a:bodyPr>
          <a:lstStyle/>
          <a:p>
            <a:pPr marL="0" indent="0">
              <a:spcBef>
                <a:spcPts val="600"/>
              </a:spcBef>
              <a:spcAft>
                <a:spcPts val="1200"/>
              </a:spcAft>
              <a:buNone/>
            </a:pPr>
            <a:r>
              <a:rPr lang="en-US" sz="2200" b="1" dirty="0" smtClean="0">
                <a:latin typeface="Helvetica" pitchFamily="34" charset="0"/>
              </a:rPr>
              <a:t>Garnishes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Complementary to the dish</a:t>
            </a:r>
          </a:p>
          <a:p>
            <a:pPr marL="360000" indent="-360000">
              <a:spcBef>
                <a:spcPts val="600"/>
              </a:spcBef>
              <a:spcAft>
                <a:spcPts val="1200"/>
              </a:spcAft>
            </a:pPr>
            <a:r>
              <a:rPr lang="en-US" sz="2200" dirty="0" smtClean="0">
                <a:latin typeface="Helvetica" pitchFamily="34" charset="0"/>
              </a:rPr>
              <a:t>Should not dominate</a:t>
            </a:r>
          </a:p>
          <a:p>
            <a:pPr marL="360000" indent="-360000">
              <a:spcBef>
                <a:spcPts val="600"/>
              </a:spcBef>
              <a:spcAft>
                <a:spcPts val="1200"/>
              </a:spcAft>
            </a:pPr>
            <a:r>
              <a:rPr lang="en-US" sz="2200" dirty="0" smtClean="0">
                <a:latin typeface="Helvetica" pitchFamily="34" charset="0"/>
              </a:rPr>
              <a:t>Refreshing to the mouth</a:t>
            </a:r>
          </a:p>
          <a:p>
            <a:pPr marL="360000" indent="-360000">
              <a:spcBef>
                <a:spcPts val="600"/>
              </a:spcBef>
              <a:spcAft>
                <a:spcPts val="1200"/>
              </a:spcAft>
              <a:buNone/>
            </a:pPr>
            <a:r>
              <a:rPr lang="en-US" sz="2200" b="1" dirty="0" smtClean="0">
                <a:latin typeface="Helvetica" pitchFamily="34" charset="0"/>
              </a:rPr>
              <a:t>Accompaniments</a:t>
            </a:r>
          </a:p>
          <a:p>
            <a:pPr marL="360000" indent="-360000">
              <a:spcBef>
                <a:spcPts val="600"/>
              </a:spcBef>
              <a:spcAft>
                <a:spcPts val="1200"/>
              </a:spcAft>
            </a:pPr>
            <a:r>
              <a:rPr lang="en-US" sz="2200" dirty="0" smtClean="0">
                <a:latin typeface="Helvetica" pitchFamily="34" charset="0"/>
              </a:rPr>
              <a:t>Texturally diverse to the main component of the dish</a:t>
            </a:r>
          </a:p>
          <a:p>
            <a:pPr marL="661752" lvl="1" indent="-360000">
              <a:spcBef>
                <a:spcPts val="600"/>
              </a:spcBef>
              <a:spcAft>
                <a:spcPts val="1200"/>
              </a:spcAft>
            </a:pPr>
            <a:r>
              <a:rPr lang="en-US" sz="2200" dirty="0" smtClean="0">
                <a:latin typeface="Helvetica" pitchFamily="34" charset="0"/>
              </a:rPr>
              <a:t>Crouton	</a:t>
            </a:r>
          </a:p>
          <a:p>
            <a:pPr marL="661752" lvl="1" indent="-360000">
              <a:spcBef>
                <a:spcPts val="600"/>
              </a:spcBef>
              <a:spcAft>
                <a:spcPts val="1200"/>
              </a:spcAft>
            </a:pPr>
            <a:r>
              <a:rPr lang="en-US" sz="2200" dirty="0" smtClean="0">
                <a:latin typeface="Helvetica" pitchFamily="34" charset="0"/>
              </a:rPr>
              <a:t>Sauce</a:t>
            </a:r>
          </a:p>
          <a:p>
            <a:pPr marL="661752" lvl="1"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14338" name="Picture 2" descr="C:\Documents and Settings\danielc\Local Settings\Temporary Internet Files\Content.IE5\XF6U4J0T\MP900438891[1].jpg"/>
          <p:cNvPicPr>
            <a:picLocks noChangeAspect="1" noChangeArrowheads="1"/>
          </p:cNvPicPr>
          <p:nvPr/>
        </p:nvPicPr>
        <p:blipFill>
          <a:blip r:embed="rId3" cstate="print"/>
          <a:srcRect/>
          <a:stretch>
            <a:fillRect/>
          </a:stretch>
        </p:blipFill>
        <p:spPr bwMode="auto">
          <a:xfrm>
            <a:off x="4786314" y="1857364"/>
            <a:ext cx="3057524" cy="2061645"/>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Appetisers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Presentation</a:t>
            </a:r>
          </a:p>
          <a:p>
            <a:pPr marL="360000" indent="-360000">
              <a:spcBef>
                <a:spcPts val="600"/>
              </a:spcBef>
              <a:spcAft>
                <a:spcPts val="1200"/>
              </a:spcAft>
            </a:pPr>
            <a:r>
              <a:rPr lang="en-US" sz="2200" dirty="0" smtClean="0">
                <a:latin typeface="Helvetica" pitchFamily="34" charset="0"/>
              </a:rPr>
              <a:t>Stimulate interest</a:t>
            </a:r>
          </a:p>
          <a:p>
            <a:pPr marL="360000" indent="-360000">
              <a:spcBef>
                <a:spcPts val="600"/>
              </a:spcBef>
              <a:spcAft>
                <a:spcPts val="1200"/>
              </a:spcAft>
            </a:pPr>
            <a:r>
              <a:rPr lang="en-US" sz="2200" dirty="0" smtClean="0">
                <a:latin typeface="Helvetica" pitchFamily="34" charset="0"/>
              </a:rPr>
              <a:t>Encourage customers to indulge</a:t>
            </a:r>
          </a:p>
          <a:p>
            <a:pPr marL="360000" indent="-360000">
              <a:spcBef>
                <a:spcPts val="600"/>
              </a:spcBef>
              <a:spcAft>
                <a:spcPts val="1200"/>
              </a:spcAft>
            </a:pPr>
            <a:r>
              <a:rPr lang="en-US" sz="2200" dirty="0" smtClean="0">
                <a:latin typeface="Helvetica" pitchFamily="34" charset="0"/>
              </a:rPr>
              <a:t>Anticipation level before consuming</a:t>
            </a:r>
          </a:p>
          <a:p>
            <a:pPr marL="360000" indent="-360000">
              <a:spcBef>
                <a:spcPts val="600"/>
              </a:spcBef>
              <a:spcAft>
                <a:spcPts val="1200"/>
              </a:spcAft>
            </a:pPr>
            <a:r>
              <a:rPr lang="en-US" sz="2200" dirty="0" smtClean="0">
                <a:latin typeface="Helvetica" pitchFamily="34" charset="0"/>
              </a:rPr>
              <a:t>Stimulate conversation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15362" name="Picture 2" descr="I:\Overseas Projects\PHOTOS\2012\Salads\1369011_healthy_greens.jpg"/>
          <p:cNvPicPr>
            <a:picLocks noChangeAspect="1" noChangeArrowheads="1"/>
          </p:cNvPicPr>
          <p:nvPr/>
        </p:nvPicPr>
        <p:blipFill>
          <a:blip r:embed="rId3" cstate="print"/>
          <a:srcRect/>
          <a:stretch>
            <a:fillRect/>
          </a:stretch>
        </p:blipFill>
        <p:spPr bwMode="auto">
          <a:xfrm>
            <a:off x="5857884" y="1857364"/>
            <a:ext cx="1905000" cy="285750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467600" cy="5040560"/>
          </a:xfrm>
        </p:spPr>
        <p:txBody>
          <a:bodyPr>
            <a:normAutofit/>
          </a:bodyPr>
          <a:lstStyle/>
          <a:p>
            <a:pPr marL="0" indent="-457200">
              <a:spcBef>
                <a:spcPts val="600"/>
              </a:spcBef>
              <a:spcAft>
                <a:spcPts val="1200"/>
              </a:spcAft>
            </a:pPr>
            <a:r>
              <a:rPr lang="en-US" sz="2200" b="1" dirty="0" smtClean="0">
                <a:latin typeface="Helvetica" pitchFamily="34" charset="0"/>
              </a:rPr>
              <a:t>3.1</a:t>
            </a:r>
            <a:r>
              <a:rPr lang="en-US" sz="2200" dirty="0" smtClean="0">
                <a:latin typeface="Helvetica" pitchFamily="34" charset="0"/>
              </a:rPr>
              <a:t> Store under appropriate conditions and locations to 	ensure freshness and quality</a:t>
            </a:r>
          </a:p>
          <a:p>
            <a:pPr marL="0" indent="-457200">
              <a:spcBef>
                <a:spcPts val="600"/>
              </a:spcBef>
              <a:spcAft>
                <a:spcPts val="1200"/>
              </a:spcAft>
            </a:pPr>
            <a:r>
              <a:rPr lang="en-US" sz="2200" b="1" dirty="0" smtClean="0">
                <a:latin typeface="Helvetica" pitchFamily="34" charset="0"/>
              </a:rPr>
              <a:t>3.2</a:t>
            </a:r>
            <a:r>
              <a:rPr lang="en-US" sz="2200" dirty="0" smtClean="0">
                <a:latin typeface="Helvetica" pitchFamily="34" charset="0"/>
              </a:rPr>
              <a:t> Store in appropriate containers</a:t>
            </a:r>
          </a:p>
          <a:p>
            <a:pPr marL="0" indent="-457200">
              <a:spcBef>
                <a:spcPts val="600"/>
              </a:spcBef>
              <a:spcAft>
                <a:spcPts val="1200"/>
              </a:spcAft>
            </a:pPr>
            <a:r>
              <a:rPr lang="en-US" sz="2200" b="1" dirty="0" smtClean="0">
                <a:latin typeface="Helvetica" pitchFamily="34" charset="0"/>
              </a:rPr>
              <a:t>3.3</a:t>
            </a:r>
            <a:r>
              <a:rPr lang="en-US" sz="2200" dirty="0" smtClean="0">
                <a:latin typeface="Helvetica" pitchFamily="34" charset="0"/>
              </a:rPr>
              <a:t> Labeling storage containers</a:t>
            </a:r>
          </a:p>
          <a:p>
            <a:pPr marL="0" indent="-457200">
              <a:spcBef>
                <a:spcPts val="600"/>
              </a:spcBef>
              <a:spcAft>
                <a:spcPts val="1200"/>
              </a:spcAft>
            </a:pPr>
            <a:r>
              <a:rPr lang="en-US" sz="2200" b="1" dirty="0" smtClean="0">
                <a:latin typeface="Helvetica" pitchFamily="34" charset="0"/>
              </a:rPr>
              <a:t>3.4</a:t>
            </a:r>
            <a:r>
              <a:rPr lang="en-US" sz="2200" dirty="0" smtClean="0">
                <a:latin typeface="Helvetica" pitchFamily="34" charset="0"/>
              </a:rPr>
              <a:t> Ensure economic viability of preparation and 	holding qualities</a:t>
            </a: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2" descr="C:\Documents and Settings\danielc\Local Settings\Temporary Internet Files\Content.IE5\2LMD6966\MC900434929[1].png"/>
          <p:cNvPicPr>
            <a:picLocks noChangeAspect="1" noChangeArrowheads="1"/>
          </p:cNvPicPr>
          <p:nvPr/>
        </p:nvPicPr>
        <p:blipFill>
          <a:blip r:embed="rId3" cstate="print"/>
          <a:srcRect/>
          <a:stretch>
            <a:fillRect/>
          </a:stretch>
        </p:blipFill>
        <p:spPr bwMode="auto">
          <a:xfrm>
            <a:off x="6929454" y="2143116"/>
            <a:ext cx="1500198" cy="1500198"/>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Autofit/>
          </a:bodyPr>
          <a:lstStyle/>
          <a:p>
            <a:pPr marL="0" indent="0">
              <a:spcBef>
                <a:spcPts val="600"/>
              </a:spcBef>
              <a:spcAft>
                <a:spcPts val="1200"/>
              </a:spcAft>
              <a:buNone/>
            </a:pPr>
            <a:r>
              <a:rPr lang="en-US" sz="2200" b="1" dirty="0" smtClean="0">
                <a:latin typeface="Helvetica" pitchFamily="34" charset="0"/>
              </a:rPr>
              <a:t>Before cooking</a:t>
            </a:r>
          </a:p>
          <a:p>
            <a:pPr marL="360000" indent="-360000">
              <a:spcBef>
                <a:spcPts val="600"/>
              </a:spcBef>
              <a:spcAft>
                <a:spcPts val="1200"/>
              </a:spcAft>
            </a:pPr>
            <a:r>
              <a:rPr lang="en-US" sz="2200" dirty="0" smtClean="0">
                <a:latin typeface="Helvetica" pitchFamily="34" charset="0"/>
              </a:rPr>
              <a:t>Keep chilled</a:t>
            </a:r>
          </a:p>
          <a:p>
            <a:pPr marL="360000" indent="-360000">
              <a:spcBef>
                <a:spcPts val="600"/>
              </a:spcBef>
              <a:spcAft>
                <a:spcPts val="1200"/>
              </a:spcAft>
            </a:pPr>
            <a:r>
              <a:rPr lang="en-US" sz="2200" dirty="0" smtClean="0">
                <a:latin typeface="Helvetica" pitchFamily="34" charset="0"/>
              </a:rPr>
              <a:t>Keep wrapped, protected from outside contamination</a:t>
            </a:r>
          </a:p>
          <a:p>
            <a:pPr marL="360000" indent="-360000">
              <a:spcBef>
                <a:spcPts val="600"/>
              </a:spcBef>
              <a:spcAft>
                <a:spcPts val="1200"/>
              </a:spcAft>
              <a:buNone/>
            </a:pPr>
            <a:r>
              <a:rPr lang="en-US" sz="2200" b="1" dirty="0" smtClean="0">
                <a:latin typeface="Helvetica" pitchFamily="34" charset="0"/>
              </a:rPr>
              <a:t>After cooking</a:t>
            </a:r>
          </a:p>
          <a:p>
            <a:pPr marL="360000" indent="-360000">
              <a:spcBef>
                <a:spcPts val="600"/>
              </a:spcBef>
              <a:spcAft>
                <a:spcPts val="1200"/>
              </a:spcAft>
            </a:pPr>
            <a:r>
              <a:rPr lang="en-US" sz="2200" dirty="0" smtClean="0">
                <a:latin typeface="Helvetica" pitchFamily="34" charset="0"/>
              </a:rPr>
              <a:t>Cool to room Temperature</a:t>
            </a:r>
          </a:p>
          <a:p>
            <a:pPr marL="360000" indent="-360000">
              <a:spcBef>
                <a:spcPts val="600"/>
              </a:spcBef>
              <a:spcAft>
                <a:spcPts val="1200"/>
              </a:spcAft>
            </a:pPr>
            <a:r>
              <a:rPr lang="en-US" sz="2200" dirty="0" smtClean="0">
                <a:latin typeface="Helvetica" pitchFamily="34" charset="0"/>
              </a:rPr>
              <a:t>Serve to customers hot</a:t>
            </a:r>
          </a:p>
          <a:p>
            <a:pPr marL="360000" indent="-360000">
              <a:spcBef>
                <a:spcPts val="600"/>
              </a:spcBef>
              <a:spcAft>
                <a:spcPts val="1200"/>
              </a:spcAft>
              <a:buNone/>
            </a:pPr>
            <a:r>
              <a:rPr lang="en-US" sz="2200" b="1" dirty="0" smtClean="0">
                <a:latin typeface="Helvetica" pitchFamily="34" charset="0"/>
              </a:rPr>
              <a:t>After Serving?</a:t>
            </a:r>
          </a:p>
          <a:p>
            <a:pPr marL="360000" indent="-360000">
              <a:spcBef>
                <a:spcPts val="600"/>
              </a:spcBef>
              <a:spcAft>
                <a:spcPts val="1200"/>
              </a:spcAft>
            </a:pPr>
            <a:r>
              <a:rPr lang="en-US" sz="2200" dirty="0" smtClean="0">
                <a:latin typeface="Helvetica" pitchFamily="34" charset="0"/>
              </a:rPr>
              <a:t>Never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16386" name="Picture 2" descr="I:\Overseas Projects\PHOTOS\2012\Salads\792029_salad_bowl.jpg"/>
          <p:cNvPicPr>
            <a:picLocks noChangeAspect="1" noChangeArrowheads="1"/>
          </p:cNvPicPr>
          <p:nvPr/>
        </p:nvPicPr>
        <p:blipFill>
          <a:blip r:embed="rId3" cstate="print"/>
          <a:srcRect/>
          <a:stretch>
            <a:fillRect/>
          </a:stretch>
        </p:blipFill>
        <p:spPr bwMode="auto">
          <a:xfrm>
            <a:off x="5357818" y="3429000"/>
            <a:ext cx="2285996" cy="1714497"/>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Quality Containers</a:t>
            </a:r>
          </a:p>
          <a:p>
            <a:pPr marL="0" indent="-457200">
              <a:spcBef>
                <a:spcPts val="600"/>
              </a:spcBef>
              <a:spcAft>
                <a:spcPts val="1200"/>
              </a:spcAft>
            </a:pPr>
            <a:r>
              <a:rPr lang="en-US" sz="2200" dirty="0" smtClean="0">
                <a:latin typeface="Helvetica" pitchFamily="34" charset="0"/>
              </a:rPr>
              <a:t>Food grade</a:t>
            </a:r>
          </a:p>
          <a:p>
            <a:pPr marL="0" indent="-457200">
              <a:spcBef>
                <a:spcPts val="600"/>
              </a:spcBef>
              <a:spcAft>
                <a:spcPts val="1200"/>
              </a:spcAft>
            </a:pPr>
            <a:r>
              <a:rPr lang="en-US" sz="2200" dirty="0" smtClean="0">
                <a:latin typeface="Helvetica" pitchFamily="34" charset="0"/>
              </a:rPr>
              <a:t>Impervious to liquids and </a:t>
            </a:r>
            <a:r>
              <a:rPr lang="en-US" sz="2200" dirty="0" err="1" smtClean="0">
                <a:latin typeface="Helvetica" pitchFamily="34" charset="0"/>
              </a:rPr>
              <a:t>colours</a:t>
            </a:r>
            <a:endParaRPr lang="en-US" sz="2200" dirty="0" smtClean="0">
              <a:latin typeface="Helvetica" pitchFamily="34" charset="0"/>
            </a:endParaRPr>
          </a:p>
          <a:p>
            <a:pPr marL="0" indent="-457200">
              <a:spcBef>
                <a:spcPts val="600"/>
              </a:spcBef>
              <a:spcAft>
                <a:spcPts val="1200"/>
              </a:spcAft>
            </a:pPr>
            <a:r>
              <a:rPr lang="en-US" sz="2200" dirty="0" smtClean="0">
                <a:latin typeface="Helvetica" pitchFamily="34" charset="0"/>
              </a:rPr>
              <a:t>Washable</a:t>
            </a:r>
          </a:p>
          <a:p>
            <a:pPr marL="0" indent="-457200">
              <a:spcBef>
                <a:spcPts val="600"/>
              </a:spcBef>
              <a:spcAft>
                <a:spcPts val="1200"/>
              </a:spcAft>
            </a:pPr>
            <a:r>
              <a:rPr lang="en-US" sz="2200" dirty="0" smtClean="0">
                <a:latin typeface="Helvetica" pitchFamily="34" charset="0"/>
              </a:rPr>
              <a:t>Able to be sealed</a:t>
            </a:r>
          </a:p>
          <a:p>
            <a:pPr marL="0" indent="-457200">
              <a:spcBef>
                <a:spcPts val="600"/>
              </a:spcBef>
              <a:spcAft>
                <a:spcPts val="1200"/>
              </a:spcAft>
            </a:pPr>
            <a:r>
              <a:rPr lang="en-US" sz="2200" dirty="0" smtClean="0">
                <a:latin typeface="Helvetica" pitchFamily="34" charset="0"/>
              </a:rPr>
              <a:t>Hold food securely</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17410" name="Picture 2" descr="I:\Overseas Projects\PHOTOS\2012\Salads\533393_bottled_up.jpg"/>
          <p:cNvPicPr>
            <a:picLocks noChangeAspect="1" noChangeArrowheads="1"/>
          </p:cNvPicPr>
          <p:nvPr/>
        </p:nvPicPr>
        <p:blipFill>
          <a:blip r:embed="rId3" cstate="print"/>
          <a:srcRect/>
          <a:stretch>
            <a:fillRect/>
          </a:stretch>
        </p:blipFill>
        <p:spPr bwMode="auto">
          <a:xfrm>
            <a:off x="5786446" y="1928802"/>
            <a:ext cx="1733550" cy="28575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Labeling</a:t>
            </a:r>
          </a:p>
          <a:p>
            <a:pPr marL="360000" indent="-360000">
              <a:spcBef>
                <a:spcPts val="600"/>
              </a:spcBef>
              <a:spcAft>
                <a:spcPts val="1200"/>
              </a:spcAft>
            </a:pPr>
            <a:r>
              <a:rPr lang="en-US" sz="2200" dirty="0" smtClean="0">
                <a:latin typeface="Helvetica" pitchFamily="34" charset="0"/>
              </a:rPr>
              <a:t>Name of the product</a:t>
            </a:r>
          </a:p>
          <a:p>
            <a:pPr marL="360000" indent="-360000">
              <a:spcBef>
                <a:spcPts val="600"/>
              </a:spcBef>
              <a:spcAft>
                <a:spcPts val="1200"/>
              </a:spcAft>
            </a:pPr>
            <a:r>
              <a:rPr lang="en-US" sz="2200" dirty="0" smtClean="0">
                <a:latin typeface="Helvetica" pitchFamily="34" charset="0"/>
              </a:rPr>
              <a:t>Date of production</a:t>
            </a:r>
          </a:p>
          <a:p>
            <a:pPr marL="360000" indent="-360000">
              <a:spcBef>
                <a:spcPts val="600"/>
              </a:spcBef>
              <a:spcAft>
                <a:spcPts val="1200"/>
              </a:spcAft>
            </a:pPr>
            <a:r>
              <a:rPr lang="en-US" sz="2200" dirty="0" smtClean="0">
                <a:latin typeface="Helvetica" pitchFamily="34" charset="0"/>
              </a:rPr>
              <a:t>Name of person who produced</a:t>
            </a:r>
          </a:p>
          <a:p>
            <a:pPr marL="360000" indent="-360000">
              <a:spcBef>
                <a:spcPts val="600"/>
              </a:spcBef>
              <a:spcAft>
                <a:spcPts val="1200"/>
              </a:spcAft>
            </a:pPr>
            <a:r>
              <a:rPr lang="en-US" sz="2200" dirty="0" smtClean="0">
                <a:latin typeface="Helvetica" pitchFamily="34" charset="0"/>
              </a:rPr>
              <a:t>Store in correct storage environment</a:t>
            </a:r>
          </a:p>
          <a:p>
            <a:pPr marL="360000" indent="-360000">
              <a:spcBef>
                <a:spcPts val="600"/>
              </a:spcBef>
              <a:spcAft>
                <a:spcPts val="1200"/>
              </a:spcAft>
            </a:pPr>
            <a:r>
              <a:rPr lang="en-US" sz="2200" dirty="0" smtClean="0">
                <a:latin typeface="Helvetica" pitchFamily="34" charset="0"/>
              </a:rPr>
              <a:t>Use by date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18434" name="Picture 2" descr="I:\Overseas Projects\PHOTOS\2012\Salads\open_fridge_label-p1065475621711580708knoz_400.jpg"/>
          <p:cNvPicPr>
            <a:picLocks noChangeAspect="1" noChangeArrowheads="1"/>
          </p:cNvPicPr>
          <p:nvPr/>
        </p:nvPicPr>
        <p:blipFill>
          <a:blip r:embed="rId3" cstate="print"/>
          <a:srcRect t="21237" b="19769"/>
          <a:stretch>
            <a:fillRect/>
          </a:stretch>
        </p:blipFill>
        <p:spPr bwMode="auto">
          <a:xfrm>
            <a:off x="5000628" y="1714488"/>
            <a:ext cx="3027371" cy="178595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Appetisers and Salads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Economic Viability</a:t>
            </a:r>
          </a:p>
          <a:p>
            <a:pPr marL="0" indent="0">
              <a:spcBef>
                <a:spcPts val="600"/>
              </a:spcBef>
              <a:spcAft>
                <a:spcPts val="1200"/>
              </a:spcAft>
              <a:buNone/>
            </a:pPr>
            <a:r>
              <a:rPr lang="en-US" sz="2200" dirty="0" smtClean="0">
                <a:latin typeface="Helvetica" pitchFamily="34" charset="0"/>
              </a:rPr>
              <a:t>The dish must be able to be sold and a profit to be made</a:t>
            </a:r>
          </a:p>
          <a:p>
            <a:pPr marL="360000" indent="-360000">
              <a:spcBef>
                <a:spcPts val="600"/>
              </a:spcBef>
              <a:spcAft>
                <a:spcPts val="1200"/>
              </a:spcAft>
            </a:pPr>
            <a:r>
              <a:rPr lang="en-US" sz="2200" dirty="0" smtClean="0">
                <a:latin typeface="Helvetica" pitchFamily="34" charset="0"/>
              </a:rPr>
              <a:t>Expensive ingredients kept to minimum</a:t>
            </a:r>
          </a:p>
          <a:p>
            <a:pPr marL="360000" indent="-360000">
              <a:spcBef>
                <a:spcPts val="600"/>
              </a:spcBef>
              <a:spcAft>
                <a:spcPts val="1200"/>
              </a:spcAft>
            </a:pPr>
            <a:r>
              <a:rPr lang="en-US" sz="2200" dirty="0" smtClean="0">
                <a:latin typeface="Helvetica" pitchFamily="34" charset="0"/>
              </a:rPr>
              <a:t>Portion size</a:t>
            </a:r>
          </a:p>
          <a:p>
            <a:pPr marL="360000" indent="-360000">
              <a:spcBef>
                <a:spcPts val="600"/>
              </a:spcBef>
              <a:spcAft>
                <a:spcPts val="1200"/>
              </a:spcAft>
            </a:pPr>
            <a:r>
              <a:rPr lang="en-US" sz="2200" dirty="0" smtClean="0">
                <a:latin typeface="Helvetica" pitchFamily="34" charset="0"/>
              </a:rPr>
              <a:t>Time taken to produce</a:t>
            </a:r>
          </a:p>
          <a:p>
            <a:pPr marL="360000" indent="-360000">
              <a:spcBef>
                <a:spcPts val="600"/>
              </a:spcBef>
              <a:spcAft>
                <a:spcPts val="1200"/>
              </a:spcAft>
            </a:pPr>
            <a:r>
              <a:rPr lang="en-US" sz="2200" dirty="0" smtClean="0">
                <a:latin typeface="Helvetica" pitchFamily="34" charset="0"/>
              </a:rPr>
              <a:t>Equipment need to produce</a:t>
            </a:r>
          </a:p>
          <a:p>
            <a:pPr marL="360000" indent="-360000">
              <a:spcBef>
                <a:spcPts val="600"/>
              </a:spcBef>
              <a:spcAft>
                <a:spcPts val="1200"/>
              </a:spcAft>
            </a:pPr>
            <a:r>
              <a:rPr lang="en-US" sz="2200" dirty="0" smtClean="0">
                <a:latin typeface="Helvetica" pitchFamily="34" charset="0"/>
              </a:rPr>
              <a:t>Skill of workforce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19458" name="Picture 2" descr="C:\Documents and Settings\danielc\Local Settings\Temporary Internet Files\Content.IE5\DMNK07QZ\MP900448704[1].jpg"/>
          <p:cNvPicPr>
            <a:picLocks noChangeAspect="1" noChangeArrowheads="1"/>
          </p:cNvPicPr>
          <p:nvPr/>
        </p:nvPicPr>
        <p:blipFill>
          <a:blip r:embed="rId3" cstate="print"/>
          <a:srcRect r="10255"/>
          <a:stretch>
            <a:fillRect/>
          </a:stretch>
        </p:blipFill>
        <p:spPr bwMode="auto">
          <a:xfrm>
            <a:off x="5072066" y="3357562"/>
            <a:ext cx="2500330" cy="1854085"/>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smtClean="0">
                <a:solidFill>
                  <a:srgbClr val="FF6600"/>
                </a:solidFill>
              </a:rPr>
              <a:t>Prepare </a:t>
            </a:r>
            <a:r>
              <a:rPr lang="en-US" sz="3400" b="1" dirty="0" err="1" smtClean="0">
                <a:solidFill>
                  <a:srgbClr val="FF6600"/>
                </a:solidFill>
              </a:rPr>
              <a:t>Appetisers</a:t>
            </a:r>
            <a:r>
              <a:rPr lang="en-US" sz="3400" b="1" dirty="0" smtClean="0">
                <a:solidFill>
                  <a:srgbClr val="FF6600"/>
                </a:solidFill>
              </a:rPr>
              <a:t> and Salads</a:t>
            </a:r>
            <a:endParaRPr lang="en-AU" sz="3400" b="1" dirty="0" smtClean="0">
              <a:solidFill>
                <a:srgbClr val="FF6600"/>
              </a:solidFill>
            </a:endParaRPr>
          </a:p>
        </p:txBody>
      </p:sp>
      <p:sp>
        <p:nvSpPr>
          <p:cNvPr id="3" name="Content Placeholder 2"/>
          <p:cNvSpPr>
            <a:spLocks noGrp="1"/>
          </p:cNvSpPr>
          <p:nvPr>
            <p:ph idx="1"/>
          </p:nvPr>
        </p:nvSpPr>
        <p:spPr/>
        <p:txBody>
          <a:bodyPr>
            <a:normAutofit/>
          </a:bodyPr>
          <a:lstStyle/>
          <a:p>
            <a:pPr>
              <a:spcBef>
                <a:spcPts val="600"/>
              </a:spcBef>
              <a:spcAft>
                <a:spcPts val="1200"/>
              </a:spcAft>
            </a:pPr>
            <a:r>
              <a:rPr lang="en-AU" sz="2400" dirty="0" smtClean="0"/>
              <a:t>End of this unit</a:t>
            </a:r>
          </a:p>
          <a:p>
            <a:pPr>
              <a:spcBef>
                <a:spcPts val="600"/>
              </a:spcBef>
              <a:spcAft>
                <a:spcPts val="1200"/>
              </a:spcAft>
            </a:pPr>
            <a:r>
              <a:rPr lang="en-AU" sz="2400" dirty="0" smtClean="0"/>
              <a:t>Thank you</a:t>
            </a:r>
            <a:endParaRPr lang="en-AU" sz="2400"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26</a:t>
            </a:fld>
            <a:endParaRPr lang="en-US" dirty="0"/>
          </a:p>
        </p:txBody>
      </p:sp>
    </p:spTree>
  </p:cSld>
  <p:clrMapOvr>
    <a:masterClrMapping/>
  </p:clrMapOvr>
</p:sld>
</file>

<file path=ppt/theme/theme1.xml><?xml version="1.0" encoding="utf-8"?>
<a:theme xmlns:a="http://schemas.openxmlformats.org/drawingml/2006/main" name="Technic">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4602</TotalTime>
  <Words>1568</Words>
  <Application>Microsoft Office PowerPoint</Application>
  <PresentationFormat>On-screen Show (4:3)</PresentationFormat>
  <Paragraphs>348</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Helvetica</vt:lpstr>
      <vt:lpstr>Wingdings 2</vt:lpstr>
      <vt:lpstr>Technic</vt:lpstr>
      <vt:lpstr>PREPARE APPETISERS AND SALADS</vt:lpstr>
      <vt:lpstr>Prepare Appetisers and Salads</vt:lpstr>
      <vt:lpstr>Assessments</vt:lpstr>
      <vt:lpstr>Prepare and present a selection of hot and cold salads</vt:lpstr>
      <vt:lpstr>Prepare appetisers and salads</vt:lpstr>
      <vt:lpstr>Hot and Cold Salads</vt:lpstr>
      <vt:lpstr>Select Ingredients</vt:lpstr>
      <vt:lpstr>Select Ingredients</vt:lpstr>
      <vt:lpstr>Select Ingredients</vt:lpstr>
      <vt:lpstr>Select Ingredients</vt:lpstr>
      <vt:lpstr>Prepare Salads</vt:lpstr>
      <vt:lpstr>Prepare Garnishes</vt:lpstr>
      <vt:lpstr>Prepare Accompaniment</vt:lpstr>
      <vt:lpstr>Salad Presentation</vt:lpstr>
      <vt:lpstr>Prepare and present a selection of hot and cold appetisers</vt:lpstr>
      <vt:lpstr>Prepare Appetisers</vt:lpstr>
      <vt:lpstr>Prepare Appetisers</vt:lpstr>
      <vt:lpstr>Prepare Appetisers</vt:lpstr>
      <vt:lpstr>Prepare Appetisers</vt:lpstr>
      <vt:lpstr>Prepare Appetisers </vt:lpstr>
      <vt:lpstr>Store Appetisers and Salads</vt:lpstr>
      <vt:lpstr>Store Appetisers and Salads</vt:lpstr>
      <vt:lpstr>Store Appetisers and Salads</vt:lpstr>
      <vt:lpstr>Store Appetisers and Salads</vt:lpstr>
      <vt:lpstr>Store Appetisers and Salads</vt:lpstr>
      <vt:lpstr>Prepare Appetisers and Salads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Mai Vu</dc:creator>
  <cp:lastModifiedBy>Carla Angelica Co</cp:lastModifiedBy>
  <cp:revision>330</cp:revision>
  <dcterms:created xsi:type="dcterms:W3CDTF">2010-09-02T07:22:47Z</dcterms:created>
  <dcterms:modified xsi:type="dcterms:W3CDTF">2015-03-31T08:50:10Z</dcterms:modified>
</cp:coreProperties>
</file>