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59" r:id="rId5"/>
    <p:sldId id="29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97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8" r:id="rId3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82857" autoAdjust="0"/>
  </p:normalViewPr>
  <p:slideViewPr>
    <p:cSldViewPr>
      <p:cViewPr varScale="1">
        <p:scale>
          <a:sx n="62" d="100"/>
          <a:sy n="62" d="100"/>
        </p:scale>
        <p:origin x="84" y="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 dirty="0">
              <a:latin typeface="Helvetica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>
                <a:latin typeface="Helvetica" pitchFamily="34" charset="0"/>
              </a:rPr>
              <a:pPr/>
              <a:t>3/28/2015</a:t>
            </a:fld>
            <a:endParaRPr lang="en-GB" dirty="0">
              <a:latin typeface="Helvetic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 dirty="0">
              <a:latin typeface="Helvetic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>
                <a:latin typeface="Helvetica" pitchFamily="34" charset="0"/>
              </a:rPr>
              <a:pPr/>
              <a:t>‹#›</a:t>
            </a:fld>
            <a:endParaRPr lang="en-GB" dirty="0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283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BC34F173-2430-41D6-9CA5-C9CD3BDF7E96}" type="datetimeFigureOut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2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welcomes the trainees</a:t>
            </a:r>
            <a:r>
              <a:rPr lang="en-US" baseline="0" dirty="0" smtClean="0"/>
              <a:t> and informs them that they will be learning how to facilitate outgoing phone calls.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976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 advises students this element identifies</a:t>
            </a:r>
            <a:r>
              <a:rPr lang="en-US" baseline="0" dirty="0" smtClean="0"/>
              <a:t> the </a:t>
            </a:r>
            <a:r>
              <a:rPr lang="en-AU" baseline="0" dirty="0" smtClean="0"/>
              <a:t>elements and facilities of the host enterprise telephone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659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the types of outgoing calls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Contacting suppliers – when and who do you need to talk to?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Emergency services: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What do you do when you have to contact the fire, ambulance and police?</a:t>
            </a:r>
          </a:p>
          <a:p>
            <a:pPr lvl="1">
              <a:buFont typeface="Arial" pitchFamily="34" charset="0"/>
              <a:buChar char="•"/>
            </a:pPr>
            <a:endParaRPr lang="en-US" baseline="0" dirty="0" smtClean="0"/>
          </a:p>
          <a:p>
            <a:pPr lvl="1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970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Placing personal or</a:t>
            </a:r>
            <a:r>
              <a:rPr lang="en-US" baseline="0" dirty="0" smtClean="0"/>
              <a:t> private calls – often guests are unable to use the equipment and get help from the operator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the information you would need to get from the guest to make a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38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Break the</a:t>
            </a:r>
            <a:r>
              <a:rPr lang="en-AU" baseline="0" dirty="0" smtClean="0"/>
              <a:t> class into groups of 3 - 4 and get them to discuss the types of sales and marketing messages they get on their phones e.g. advertising from their favourite clothing store, supermarket and other retail shop specials.</a:t>
            </a:r>
          </a:p>
          <a:p>
            <a:endParaRPr lang="en-AU" baseline="0" dirty="0" smtClean="0"/>
          </a:p>
          <a:p>
            <a:r>
              <a:rPr lang="en-AU" baseline="0" dirty="0" smtClean="0"/>
              <a:t>You could also include confirmations you receive  - the dentist, your hairdresser, your doctor, having the car serviced.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274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how mobile phones are so widely used. Discuss the fact that they are so portable – especially for resorts and hotels with a lot of land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paging systems – probably phasing out now because of cheaper mobiles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Switchboards – how they have changed over the years from the hooks and wires to the automatic small switchboards we have today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Handset and head sets. Ask the class if any one has worked using one of these – McDonalds is famous for its use of headsets in the drive-thru.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45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the changes in personal phones</a:t>
            </a:r>
            <a:r>
              <a:rPr lang="en-US" baseline="0" dirty="0" smtClean="0"/>
              <a:t> in the life time of the trainees e.g. cameras, GPS settings, maps to get directions, the introduction of Apps, loyalty cards for coffee, paying your parking meter – all stored on your phone.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Discuss how quickly these changes have occurred. What do you think will come next?</a:t>
            </a:r>
            <a:endParaRPr lang="en-US" baseline="0" dirty="0"/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Discuss what is available for business use; follow the points on the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513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smtClean="0"/>
              <a:t>Trainer advises students this element identifies</a:t>
            </a:r>
            <a:r>
              <a:rPr lang="en-US" baseline="0" dirty="0" smtClean="0"/>
              <a:t> appropriate telephone communication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6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the importance of privacy and confidentiality the staff have to the house guests. You are in possession of a lot of information about guests and must be extremely sensitive about what you do with it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Being on reception or a </a:t>
            </a:r>
            <a:r>
              <a:rPr lang="en-US" baseline="0" dirty="0" err="1" smtClean="0"/>
              <a:t>telephonist</a:t>
            </a:r>
            <a:r>
              <a:rPr lang="en-US" baseline="0" dirty="0" smtClean="0"/>
              <a:t> you will have to act upon receiving a threatening or suspicious call. The most important thing is to remain calm.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with the class – who are you likely to call?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Personal phone calls are restricted – even when you are using your own mobile. Discuss the protocol of using your mobile phone at work.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Not all staff are </a:t>
            </a:r>
            <a:r>
              <a:rPr lang="en-US" baseline="0" dirty="0" err="1" smtClean="0"/>
              <a:t>authorised</a:t>
            </a:r>
            <a:r>
              <a:rPr lang="en-US" baseline="0" dirty="0" smtClean="0"/>
              <a:t> to use all the features on the telephone system. Pagers, for instance, might be the duty of the supervisor not the staff. 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Point out to the class how guest calls are </a:t>
            </a:r>
            <a:r>
              <a:rPr lang="en-US" baseline="0" dirty="0" err="1" smtClean="0"/>
              <a:t>costed</a:t>
            </a:r>
            <a:r>
              <a:rPr lang="en-US" baseline="0" dirty="0" smtClean="0"/>
              <a:t> and any extra charges that are included; discuss how mobiles have changed this.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99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the standard phrases to answer a call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Suitable</a:t>
            </a:r>
            <a:r>
              <a:rPr lang="en-US" baseline="0" dirty="0" smtClean="0"/>
              <a:t> greeting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Identification of the establishment and the operator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Offer any assistance you can – or transfer call to someone who can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100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Teacher should prepare</a:t>
            </a:r>
            <a:r>
              <a:rPr lang="en-US" baseline="0" dirty="0" smtClean="0"/>
              <a:t> the issues, for example:</a:t>
            </a:r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1) Guest wants to make a reservation for dinner</a:t>
            </a:r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2) Guest gives their name e.g. Mr. </a:t>
            </a:r>
            <a:r>
              <a:rPr lang="en-US" baseline="0" dirty="0" err="1" smtClean="0"/>
              <a:t>Blewitt</a:t>
            </a:r>
            <a:r>
              <a:rPr lang="en-US" baseline="0" dirty="0" smtClean="0"/>
              <a:t>, and wants speak to someone in the lounge bar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Check that the telephone operator uses the guest’s name.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Will the call be transferred? Or the guest paged?</a:t>
            </a:r>
          </a:p>
          <a:p>
            <a:pPr lvl="1">
              <a:buFont typeface="Arial" pitchFamily="34" charset="0"/>
              <a:buChar char="•"/>
            </a:pPr>
            <a:endParaRPr lang="en-US" baseline="0" dirty="0" smtClean="0"/>
          </a:p>
          <a:p>
            <a:pPr lvl="1">
              <a:buFont typeface="Arial" pitchFamily="34" charset="0"/>
              <a:buNone/>
            </a:pPr>
            <a:endParaRPr lang="en-US" baseline="0" dirty="0" smtClean="0"/>
          </a:p>
          <a:p>
            <a:pPr lvl="1"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72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the factors that make a difference between the 2 forms of communication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Get the class</a:t>
            </a:r>
            <a:r>
              <a:rPr lang="en-US" baseline="0" dirty="0" smtClean="0"/>
              <a:t> to contribute to this topic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Immediate response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Cannot see any expressions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No eye contact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Difficulty of accents or language barrier – no actions available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Use of questioning skills.</a:t>
            </a:r>
          </a:p>
          <a:p>
            <a:pPr lvl="1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770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What does it mean to have a ‘positive attitude’? D</a:t>
            </a:r>
            <a:r>
              <a:rPr lang="en-US" baseline="0" dirty="0" smtClean="0"/>
              <a:t>iscuss with the class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Need to feel comfortable in your job – you need to feel like “you know your stuff”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Well trained on the equipment and product knowledge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Know what are the best phrases to use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Avoid jargon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Don’t use too many words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Avoid slang.</a:t>
            </a:r>
            <a:endParaRPr lang="en-US" baseline="0" dirty="0"/>
          </a:p>
          <a:p>
            <a:pPr lvl="1">
              <a:buFont typeface="Arial" pitchFamily="34" charset="0"/>
              <a:buChar char="•"/>
            </a:pPr>
            <a:endParaRPr lang="en-US" baseline="0" dirty="0"/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Be aware of your voice – too soft too loud ? Rate you speak – monotone and pitch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Your posture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Be professional – put a smile on your voice</a:t>
            </a:r>
          </a:p>
          <a:p>
            <a:pPr lvl="1">
              <a:buFont typeface="Arial" pitchFamily="34" charset="0"/>
              <a:buChar char="•"/>
            </a:pPr>
            <a:endParaRPr lang="en-US" baseline="0" dirty="0" smtClean="0"/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Listening and questioning skills – discuss with class</a:t>
            </a:r>
          </a:p>
          <a:p>
            <a:pPr lvl="1">
              <a:buFont typeface="Arial" pitchFamily="34" charset="0"/>
              <a:buChar char="•"/>
            </a:pPr>
            <a:endParaRPr lang="en-US" baseline="0" dirty="0" smtClean="0"/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Professional response – not YEAH – yes, discuss other words with the class that shouldn’t be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060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how important</a:t>
            </a:r>
            <a:r>
              <a:rPr lang="en-US" baseline="0" dirty="0" smtClean="0"/>
              <a:t> it is to clarify the caller’s requirements – this requires that you LISTEN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Repeat back names and dates and times – remind them of the 24 hour clock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the benefits of using the phonetic alphabet.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18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This</a:t>
            </a:r>
            <a:r>
              <a:rPr lang="en-US" baseline="0" dirty="0" smtClean="0"/>
              <a:t> activity is to get the students to feel comfortable with the use of the phonetic alphabet and 24 hour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174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What is telephone</a:t>
            </a:r>
            <a:r>
              <a:rPr lang="en-US" baseline="0" dirty="0" smtClean="0"/>
              <a:t> etiquette?  Ask the students to talk about this before, discussing the 13 points: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Answer the call within the second or third ring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Always speak clearly and slowly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Avoid extreme volumes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Avoid jargon or hotel terminology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Speak with a smile on your face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Use an appropriate opening phrase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Repeat the details back to the guest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Always use the caller's name if known, otherwise, sir or madam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Ask how something is spelt if you cant understand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Transfer calls promptly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Never eat, drink or smoke while on the phone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Use a suitable closing phrase - thank the caller for calling</a:t>
            </a:r>
          </a:p>
          <a:p>
            <a:pPr lvl="0">
              <a:buFont typeface="Arial" pitchFamily="34" charset="0"/>
              <a:buChar char="•"/>
            </a:pPr>
            <a:r>
              <a:rPr lang="en-AU" sz="1200" kern="1200" dirty="0" smtClean="0">
                <a:solidFill>
                  <a:schemeClr val="tx1"/>
                </a:solidFill>
                <a:effectLst/>
                <a:ea typeface="+mn-ea"/>
                <a:cs typeface="+mn-cs"/>
              </a:rPr>
              <a:t>Always allow the caller to hang up first.</a:t>
            </a:r>
            <a:endParaRPr lang="en-AU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634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Trainer advises students this element identifies</a:t>
            </a:r>
            <a:r>
              <a:rPr lang="en-US" baseline="0" dirty="0" smtClean="0"/>
              <a:t> </a:t>
            </a:r>
            <a:r>
              <a:rPr lang="en-AU" baseline="0" dirty="0" smtClean="0"/>
              <a:t>the placement of</a:t>
            </a:r>
            <a:r>
              <a:rPr lang="en-AU" dirty="0" smtClean="0"/>
              <a:t> outgoing calls on behalf of the enterprise.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20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Discuss</a:t>
            </a:r>
            <a:r>
              <a:rPr lang="en-US" baseline="0" dirty="0" smtClean="0"/>
              <a:t> how you would obtain the required number for a business or person to be called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Could also include the use of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61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</a:t>
            </a:r>
            <a:r>
              <a:rPr lang="en-US" baseline="0" dirty="0" smtClean="0"/>
              <a:t>s with the student why you would need to determine the purpose of the call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the individual points on the slide in relation to the purpose of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557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the avenue of placing a call and make sure it is the person or business requested by the caller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How will you know if it is the correct number?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506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</a:t>
            </a:r>
            <a:r>
              <a:rPr lang="en-US" baseline="0" dirty="0" smtClean="0"/>
              <a:t>the following points in relation to placing a call on behalf of an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73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this procedure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Keep</a:t>
            </a:r>
            <a:r>
              <a:rPr lang="en-US" baseline="0" dirty="0" smtClean="0"/>
              <a:t> everyone informed of what is happening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the essential element of knowing the equipment you are using. How do you put people on hold (don’t cut them off)? How do you open up the line to </a:t>
            </a:r>
            <a:r>
              <a:rPr lang="en-US" baseline="0" smtClean="0"/>
              <a:t>speak again?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841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why we use</a:t>
            </a:r>
            <a:r>
              <a:rPr lang="en-US" baseline="0" dirty="0" smtClean="0"/>
              <a:t> a conference call – what are the benefits?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Discuss these three aspects and how important</a:t>
            </a:r>
            <a:r>
              <a:rPr lang="en-US" baseline="0" dirty="0" smtClean="0"/>
              <a:t> they are to the process of the conference call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Know the equipment and how to use if effectively.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497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the benefits of the redial function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Discuss the benefits of automatic redial.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71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Demonstrate</a:t>
            </a:r>
            <a:r>
              <a:rPr lang="en-US" baseline="0" dirty="0" smtClean="0"/>
              <a:t> that you don’t have to log calls if you have a PMS that will automatically log and charge the guest for the calls made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Manual process to log calls – what needs to be logged?</a:t>
            </a: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1793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with the class how you would identify which service to call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How would you be notified of an incident?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722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Get the class to prepare an</a:t>
            </a:r>
            <a:r>
              <a:rPr lang="en-US" baseline="0" dirty="0" smtClean="0"/>
              <a:t> emergency card for all the services in their city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This adds to the student’s awareness of the emergency facilities. What is available, where it is and how you contact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655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the benefits of speed dialing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does this work?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What sort of numbers would</a:t>
            </a:r>
            <a:r>
              <a:rPr lang="en-US" baseline="0" dirty="0" smtClean="0"/>
              <a:t> you put into the presets?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478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 advises students this element identifies</a:t>
            </a:r>
            <a:r>
              <a:rPr lang="en-US" baseline="0" dirty="0" smtClean="0"/>
              <a:t> the placement of outgoing calls on behalf of guests.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320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Demonstrate what questions</a:t>
            </a:r>
            <a:r>
              <a:rPr lang="en-US" baseline="0" dirty="0" smtClean="0"/>
              <a:t> need to be asked to place a call for a guest. 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47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the directories that</a:t>
            </a:r>
            <a:r>
              <a:rPr lang="en-US" baseline="0" dirty="0" smtClean="0"/>
              <a:t> can be used to find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7140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placing a call and</a:t>
            </a:r>
            <a:r>
              <a:rPr lang="en-US" baseline="0" dirty="0" smtClean="0"/>
              <a:t> establishing contact with required person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Use your listening skills – ask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4922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the use of redial</a:t>
            </a:r>
            <a:r>
              <a:rPr lang="en-US" baseline="0" dirty="0" smtClean="0"/>
              <a:t> and automatic dialing.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517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 the reason for logging</a:t>
            </a:r>
            <a:r>
              <a:rPr lang="en-US" baseline="0" dirty="0" smtClean="0"/>
              <a:t> calls and the importance of the information staying confidential.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4099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Discuss</a:t>
            </a:r>
            <a:r>
              <a:rPr lang="en-US" baseline="0" dirty="0" smtClean="0"/>
              <a:t> how guests are charged for their calls – include surcharges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How to cost guests to the guest folio – computerized and manual.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7380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aseline="0" dirty="0" smtClean="0"/>
              <a:t>Trainer concludes this unit and thanks trainees for their attention and participation.</a:t>
            </a: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0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60B9F9CF-7D2C-460C-8F3E-F6213A54EF65}" type="datetime1">
              <a:rPr lang="en-US" smtClean="0"/>
              <a:pPr/>
              <a:t>3/28/2015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Helvetica" pitchFamily="34" charset="0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Helvetica" pitchFamily="34" charset="0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Helvetica" pitchFamily="34" charset="0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7776192" cy="1368152"/>
          </a:xfrm>
        </p:spPr>
        <p:txBody>
          <a:bodyPr>
            <a:normAutofit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FACILITATE OUTGOING PHONE CALLS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2120" y="2276872"/>
            <a:ext cx="2685284" cy="499496"/>
          </a:xfrm>
        </p:spPr>
        <p:txBody>
          <a:bodyPr/>
          <a:lstStyle/>
          <a:p>
            <a:r>
              <a:rPr lang="en-AU" sz="2400" b="1" dirty="0" smtClean="0">
                <a:latin typeface="Helvetica" pitchFamily="34" charset="0"/>
              </a:rPr>
              <a:t>D1.HFO.CL2.10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9" name="Picture 5" descr="I:\Overseas Projects\PHOTOS\2012\Front office 2012\shutterstock_100858450.jpg"/>
          <p:cNvPicPr>
            <a:picLocks noChangeAspect="1" noChangeArrowheads="1"/>
          </p:cNvPicPr>
          <p:nvPr/>
        </p:nvPicPr>
        <p:blipFill>
          <a:blip r:embed="rId3" cstate="print">
            <a:lum bright="10000"/>
          </a:blip>
          <a:srcRect/>
          <a:stretch>
            <a:fillRect/>
          </a:stretch>
        </p:blipFill>
        <p:spPr bwMode="auto">
          <a:xfrm>
            <a:off x="5500694" y="3143248"/>
            <a:ext cx="2998053" cy="2000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30" name="Picture 6" descr="I:\Overseas Projects\PHOTOS\2012\Front office 2012\shutterstock_102592442.jpg"/>
          <p:cNvPicPr>
            <a:picLocks noChangeAspect="1" noChangeArrowheads="1"/>
          </p:cNvPicPr>
          <p:nvPr/>
        </p:nvPicPr>
        <p:blipFill>
          <a:blip r:embed="rId4" cstate="print">
            <a:lum bright="10000" contrast="10000"/>
          </a:blip>
          <a:srcRect/>
          <a:stretch>
            <a:fillRect/>
          </a:stretch>
        </p:blipFill>
        <p:spPr bwMode="auto">
          <a:xfrm>
            <a:off x="785786" y="2571744"/>
            <a:ext cx="2357454" cy="23574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31" name="Picture 7" descr="I:\Overseas Projects\PHOTOS\2012\Front office 2012\1134440_phone_key.jpg"/>
          <p:cNvPicPr>
            <a:picLocks noChangeAspect="1" noChangeArrowheads="1"/>
          </p:cNvPicPr>
          <p:nvPr/>
        </p:nvPicPr>
        <p:blipFill>
          <a:blip r:embed="rId5" cstate="print">
            <a:lum bright="20000" contrast="20000"/>
          </a:blip>
          <a:srcRect r="5263"/>
          <a:stretch>
            <a:fillRect/>
          </a:stretch>
        </p:blipFill>
        <p:spPr bwMode="auto">
          <a:xfrm>
            <a:off x="3071802" y="3500438"/>
            <a:ext cx="2571768" cy="18764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662" y="785802"/>
            <a:ext cx="7467600" cy="1143000"/>
          </a:xfrm>
        </p:spPr>
        <p:txBody>
          <a:bodyPr vert="horz" lIns="45720" rIns="45720" anchor="ctr">
            <a:normAutofit fontScale="90000"/>
          </a:bodyPr>
          <a:lstStyle/>
          <a:p>
            <a:r>
              <a:rPr lang="en-AU" sz="3400" b="1" dirty="0">
                <a:solidFill>
                  <a:srgbClr val="FF6600"/>
                </a:solidFill>
              </a:rPr>
              <a:t/>
            </a:r>
            <a:br>
              <a:rPr lang="en-AU" sz="3400" b="1" dirty="0">
                <a:solidFill>
                  <a:srgbClr val="FF6600"/>
                </a:solidFill>
              </a:rPr>
            </a:br>
            <a:r>
              <a:rPr lang="en-AU" sz="3400" b="1" dirty="0" smtClean="0">
                <a:solidFill>
                  <a:srgbClr val="FF6600"/>
                </a:solidFill>
              </a:rPr>
              <a:t>Element 1: Identify </a:t>
            </a:r>
            <a:r>
              <a:rPr lang="en-AU" sz="3400" b="1" dirty="0">
                <a:solidFill>
                  <a:srgbClr val="FF6600"/>
                </a:solidFill>
              </a:rPr>
              <a:t>elements and </a:t>
            </a:r>
            <a:r>
              <a:rPr lang="en-AU" sz="3400" b="1" dirty="0" smtClean="0">
                <a:solidFill>
                  <a:srgbClr val="FF6600"/>
                </a:solidFill>
              </a:rPr>
              <a:t>facilities </a:t>
            </a:r>
            <a:r>
              <a:rPr lang="en-AU" sz="3400" b="1" dirty="0">
                <a:solidFill>
                  <a:srgbClr val="FF6600"/>
                </a:solidFill>
              </a:rPr>
              <a:t>of the host </a:t>
            </a:r>
            <a:r>
              <a:rPr lang="en-AU" sz="3400" b="1" dirty="0" smtClean="0">
                <a:solidFill>
                  <a:srgbClr val="FF6600"/>
                </a:solidFill>
              </a:rPr>
              <a:t>enterprise </a:t>
            </a:r>
            <a:r>
              <a:rPr lang="en-AU" sz="3400" b="1" dirty="0">
                <a:solidFill>
                  <a:srgbClr val="FF6600"/>
                </a:solidFill>
              </a:rPr>
              <a:t>telephone system</a:t>
            </a:r>
            <a:br>
              <a:rPr lang="en-AU" sz="3400" b="1" dirty="0">
                <a:solidFill>
                  <a:srgbClr val="FF6600"/>
                </a:solidFill>
              </a:rPr>
            </a:br>
            <a:endParaRPr lang="en-US" sz="3400" b="1" dirty="0">
              <a:solidFill>
                <a:srgbClr val="FF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052" name="Picture 4" descr="C:\Documents and Settings\danielc\Local Settings\Temporary Internet Files\Content.IE5\3DV3UKH9\MC900389848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2" y="3143248"/>
            <a:ext cx="2457747" cy="2214578"/>
          </a:xfrm>
          <a:prstGeom prst="rect">
            <a:avLst/>
          </a:prstGeom>
          <a:noFill/>
        </p:spPr>
      </p:pic>
      <p:pic>
        <p:nvPicPr>
          <p:cNvPr id="2053" name="Picture 5" descr="C:\Documents and Settings\danielc\Desktop\ge_pabx.jpg"/>
          <p:cNvPicPr>
            <a:picLocks noChangeAspect="1" noChangeArrowheads="1"/>
          </p:cNvPicPr>
          <p:nvPr/>
        </p:nvPicPr>
        <p:blipFill>
          <a:blip r:embed="rId4" cstate="print">
            <a:grayscl/>
          </a:blip>
          <a:srcRect/>
          <a:stretch>
            <a:fillRect/>
          </a:stretch>
        </p:blipFill>
        <p:spPr bwMode="auto">
          <a:xfrm>
            <a:off x="3357554" y="2867497"/>
            <a:ext cx="3429024" cy="23660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300" y="332656"/>
            <a:ext cx="7467600" cy="1728192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</a:rPr>
              <a:t>1.1 	Identify the types of outgoing 	calls that may be made and their 	importance to the business</a:t>
            </a:r>
            <a:endParaRPr lang="en-US" sz="31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2060848"/>
            <a:ext cx="7323584" cy="4021907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Types of outgoing calls </a:t>
            </a:r>
          </a:p>
          <a:p>
            <a:pPr marL="36000" indent="-360000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•"/>
            </a:pPr>
            <a:r>
              <a:rPr lang="en-US" sz="2200" dirty="0" smtClean="0">
                <a:latin typeface="Helvetica" pitchFamily="34" charset="0"/>
              </a:rPr>
              <a:t>Contacting suppliers</a:t>
            </a:r>
          </a:p>
          <a:p>
            <a:pPr marL="36000" indent="-360000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•"/>
            </a:pPr>
            <a:r>
              <a:rPr lang="en-US" sz="2200" dirty="0" smtClean="0">
                <a:latin typeface="Helvetica" pitchFamily="34" charset="0"/>
              </a:rPr>
              <a:t>Contacting emergency services</a:t>
            </a:r>
          </a:p>
          <a:p>
            <a:pPr marL="36000" lvl="1" indent="-360000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•"/>
            </a:pPr>
            <a:r>
              <a:rPr lang="en-US" sz="2200" dirty="0" smtClean="0">
                <a:latin typeface="Helvetica" pitchFamily="34" charset="0"/>
              </a:rPr>
              <a:t>Fire</a:t>
            </a:r>
          </a:p>
          <a:p>
            <a:pPr marL="36000" lvl="1" indent="-360000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•"/>
            </a:pPr>
            <a:r>
              <a:rPr lang="en-US" sz="2200" dirty="0" smtClean="0">
                <a:latin typeface="Helvetica" pitchFamily="34" charset="0"/>
              </a:rPr>
              <a:t>Ambulance/doctor</a:t>
            </a:r>
          </a:p>
          <a:p>
            <a:pPr marL="36000" lvl="1" indent="-360000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•"/>
            </a:pPr>
            <a:r>
              <a:rPr lang="en-US" sz="2200" dirty="0" smtClean="0">
                <a:latin typeface="Helvetica" pitchFamily="34" charset="0"/>
              </a:rPr>
              <a:t>Police</a:t>
            </a:r>
          </a:p>
          <a:p>
            <a:pPr marL="36000" lvl="1" indent="-360000"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SzPct val="100000"/>
              <a:buNone/>
            </a:pPr>
            <a:r>
              <a:rPr lang="en-US" sz="2200" dirty="0" smtClean="0">
                <a:latin typeface="Helvetica" pitchFamily="34" charset="0"/>
              </a:rPr>
              <a:t>(Continued)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3076" name="Picture 4" descr="I:\Overseas Projects\PHOTOS\2012\Front office 2012\Receptonist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2" y="3143248"/>
            <a:ext cx="2619372" cy="17476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214554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Placing personal or private calls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Marketing and sales activity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Confirming reservations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Making reservations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Follow up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Responding to complaints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Returning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76300" y="332656"/>
            <a:ext cx="7467600" cy="1728192"/>
          </a:xfrm>
        </p:spPr>
        <p:txBody>
          <a:bodyPr vert="horz" lIns="45720" rIns="45720" anchor="ctr">
            <a:normAutofit/>
          </a:bodyPr>
          <a:lstStyle/>
          <a:p>
            <a:pPr indent="-226800"/>
            <a:r>
              <a:rPr lang="en-US" sz="3100" b="1" dirty="0" smtClean="0">
                <a:solidFill>
                  <a:srgbClr val="FF6600"/>
                </a:solidFill>
              </a:rPr>
              <a:t>1.1	Identify the types of outgoing 	calls that may be made and their 	importance to the business</a:t>
            </a:r>
            <a:endParaRPr lang="en-US" sz="3100" b="1" dirty="0">
              <a:solidFill>
                <a:srgbClr val="FF6600"/>
              </a:solidFill>
            </a:endParaRPr>
          </a:p>
        </p:txBody>
      </p:sp>
      <p:pic>
        <p:nvPicPr>
          <p:cNvPr id="4098" name="Picture 2" descr="C:\Documents and Settings\danielc\Local Settings\Temporary Internet Files\Content.IE5\SIQ5KRQ3\MC900383536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8146" y="3071810"/>
            <a:ext cx="2588612" cy="18573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45720" rIns="45720" anchor="ctr">
            <a:normAutofit/>
          </a:bodyPr>
          <a:lstStyle/>
          <a:p>
            <a:r>
              <a:rPr lang="en-AU" sz="3100" b="1" dirty="0" smtClean="0">
                <a:solidFill>
                  <a:srgbClr val="FF6600"/>
                </a:solidFill>
              </a:rPr>
              <a:t>Class exercise</a:t>
            </a:r>
            <a:endParaRPr lang="en-AU" sz="31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/>
              <a:t>Discuss the forms of marketing and sales activities you have received on your mobile phones or what you could be receiving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/>
              <a:t>Break into groups of 3 - 4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/>
              <a:t>Present the group findings to the class for further discussion</a:t>
            </a:r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Slide </a:t>
            </a:r>
            <a:fld id="{90BDF71C-F485-43AE-8825-5070AF1EA8C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122" name="Picture 2" descr="I:\Overseas Projects\PHOTOS\2012\Front office 2012\shutterstock_7165184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0" y="4143380"/>
            <a:ext cx="1971661" cy="19716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036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 vert="horz" lIns="45720" rIns="45720" anchor="ctr"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</a:rPr>
              <a:t>1.2	Identify components of the 	telephone system</a:t>
            </a:r>
            <a:endParaRPr lang="en-US" sz="3100" b="1" dirty="0">
              <a:solidFill>
                <a:srgbClr val="FF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89119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Mobile phones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Paging systems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Switchboards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Handsets and </a:t>
            </a:r>
            <a:r>
              <a:rPr lang="en-US" sz="2200" dirty="0" smtClean="0"/>
              <a:t>h</a:t>
            </a:r>
            <a:r>
              <a:rPr lang="en-US" sz="2200" dirty="0" smtClean="0">
                <a:latin typeface="Helvetica" pitchFamily="34" charset="0"/>
              </a:rPr>
              <a:t>eadsets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Caller identification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147" name="Picture 3" descr="I:\Overseas Projects\PHOTOS\2012\Front office 2012\Asian receptionist (3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2285992"/>
            <a:ext cx="2246785" cy="15001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</a:rPr>
              <a:t>1.3</a:t>
            </a:r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	</a:t>
            </a:r>
            <a:r>
              <a:rPr lang="en-US" sz="3400" b="1" dirty="0" smtClean="0">
                <a:solidFill>
                  <a:srgbClr val="FF6600"/>
                </a:solidFill>
              </a:rPr>
              <a:t>Describe</a:t>
            </a:r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the functions and 	features available in a telephone 	system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60557"/>
            <a:ext cx="7467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Phones today have come a long way from the early days of the telephone: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Caller ID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Call return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Transfer calls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Multiple chat – conference calls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Speed dial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Automatic re-dial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Call waiting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171" name="Picture 3" descr="I:\Overseas Projects\PHOTOS\2012\Front office 2012\shutterstock_633225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3109341"/>
            <a:ext cx="2498724" cy="18198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42984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Element 2: Demonstrate appropriate </a:t>
            </a:r>
            <a:r>
              <a:rPr lang="en-US" sz="3400" b="1" dirty="0" smtClean="0">
                <a:solidFill>
                  <a:srgbClr val="FF6600"/>
                </a:solidFill>
              </a:rPr>
              <a:t>telephone</a:t>
            </a:r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communication skills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194" name="Picture 2" descr="I:\Overseas Projects\PHOTOS\2012\Front office 2012\Recep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3174" y="2500306"/>
            <a:ext cx="3410471" cy="27146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512168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2.1	Interpret the enterprise policies 	and </a:t>
            </a:r>
            <a:r>
              <a:rPr lang="en-US" sz="3400" b="1" dirty="0" smtClean="0">
                <a:solidFill>
                  <a:srgbClr val="FF6600"/>
                </a:solidFill>
              </a:rPr>
              <a:t>procedures</a:t>
            </a:r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for telephone use 	in regard to outgoing calls 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204864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Policies and procedures: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Privacy and confidentiality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Response to threatening or suspicious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calls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err="1" smtClean="0">
                <a:latin typeface="Helvetica" pitchFamily="34" charset="0"/>
              </a:rPr>
              <a:t>Authorisation</a:t>
            </a:r>
            <a:r>
              <a:rPr lang="en-US" sz="2200" dirty="0" smtClean="0">
                <a:latin typeface="Helvetica" pitchFamily="34" charset="0"/>
              </a:rPr>
              <a:t> to use the system and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nominated elements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Using communications tools for personal use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Costing of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218" name="Picture 2" descr="I:\Overseas Projects\PHOTOS\2012\Front office 2012\shutterstock_9261223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8" y="2643182"/>
            <a:ext cx="1814506" cy="18145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Standard phrases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What should a standard phrase include: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Greeting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Identification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Assistance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42" name="Picture 2" descr="I:\Overseas Projects\PHOTOS\2012\Front office 2012\shutterstock_2929195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2786058"/>
            <a:ext cx="3048000" cy="20335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Class activity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Students in pairs – working back to back (no eye contact):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Staff - answer a call – appropriately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Guest - invent an issue you need discussed or follow the situations from your teacher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Swap roles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2" descr="I:\Overseas Projects\PHOTOS\2012\Front office 2012\shutterstock_7165184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0" y="4000504"/>
            <a:ext cx="1971661" cy="19716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88953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2.2	Differentiate between face to face 	and over the phone communications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17681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What are the differences between these 2 forms of communication?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2" descr="I:\Overseas Projects\PHOTOS\2012\Front office 2012\shutterstock_182950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60" y="2500306"/>
            <a:ext cx="3892548" cy="37860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6889398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2.3 	Appropriate telephone 	communication skills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14488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Positive attitude and speaking skills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Use your voice effectively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Apply listening and questioning skills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Respond professionally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266" name="Picture 2" descr="I:\Overseas Projects\PHOTOS\2012\Front office 2012\shutterstock_567582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98" y="1785926"/>
            <a:ext cx="2033588" cy="304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064896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2.4	Appropriate telephone techniques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17681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Clarify caller requirements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Repeat names and dates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Use phonetic alphabet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2290" name="Picture 2" descr="I:\Overseas Projects\PHOTOS\2012\Front office 2012\1305806_27179143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1500174"/>
            <a:ext cx="3130848" cy="20002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Class activity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57298"/>
            <a:ext cx="7746654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Phonetic alphabet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 out how you would spell your full name in the phonetic alphabet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Record this and make sure you use it next time you have to spell your name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Write out the 24 hour clock details – get into the habit of using this as well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Make up a sentence with your name in it and practice it with the person next to </a:t>
            </a:r>
            <a:r>
              <a:rPr lang="en-US" sz="2200" dirty="0" smtClean="0">
                <a:latin typeface="Helvetica" pitchFamily="34" charset="0"/>
              </a:rPr>
              <a:t>you. </a:t>
            </a:r>
            <a:r>
              <a:rPr lang="en-US" sz="2200" dirty="0" smtClean="0"/>
              <a:t>I</a:t>
            </a:r>
            <a:r>
              <a:rPr lang="en-US" sz="2200" dirty="0" smtClean="0">
                <a:latin typeface="Helvetica" pitchFamily="34" charset="0"/>
              </a:rPr>
              <a:t>nclude the time in 24hr format. </a:t>
            </a:r>
            <a:r>
              <a:rPr lang="en-US" sz="2200" dirty="0">
                <a:latin typeface="Helvetica" pitchFamily="34" charset="0"/>
              </a:rPr>
              <a:t>(Back to back – no eye contact)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2" descr="I:\Overseas Projects\PHOTOS\2012\Front office 2012\shutterstock_71651842.jpg"/>
          <p:cNvPicPr>
            <a:picLocks noChangeAspect="1" noChangeArrowheads="1"/>
          </p:cNvPicPr>
          <p:nvPr/>
        </p:nvPicPr>
        <p:blipFill>
          <a:blip r:embed="rId3" cstate="print"/>
          <a:srcRect t="7248"/>
          <a:stretch>
            <a:fillRect/>
          </a:stretch>
        </p:blipFill>
        <p:spPr bwMode="auto">
          <a:xfrm>
            <a:off x="5214942" y="0"/>
            <a:ext cx="1971661" cy="18287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2.5 Acceptable telephone etiquette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List the 13 points of telephone etiquette: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3314" name="Picture 2" descr="I:\Overseas Projects\PHOTOS\2012\Front office 2012\MP900400332.JPG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10000"/>
          </a:blip>
          <a:srcRect/>
          <a:stretch>
            <a:fillRect/>
          </a:stretch>
        </p:blipFill>
        <p:spPr bwMode="auto">
          <a:xfrm>
            <a:off x="2214546" y="2643182"/>
            <a:ext cx="3902075" cy="2600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855262"/>
            <a:ext cx="7467600" cy="2002234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Element 3: Place outgoing calls on behalf of the enterprise</a:t>
            </a:r>
            <a:endParaRPr lang="en-AU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Slide </a:t>
            </a:r>
            <a:fld id="{90BDF71C-F485-43AE-8825-5070AF1EA8C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4338" name="Picture 2" descr="I:\Overseas Projects\PHOTOS\2012\Front office 2012\shutterstock_5236433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4" y="2571744"/>
            <a:ext cx="3707053" cy="25717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03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28612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3.1	Obtain required telephone number 	and details of business/person to 	be called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844824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Outgoing call numbers: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Extension numbers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Client directories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Directories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Directory assistance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5362" name="Picture 2" descr="I:\Overseas Projects\PHOTOS\2012\Front office 2012\shutterstock_1325670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2357430"/>
            <a:ext cx="3048000" cy="20335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85728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3.2	Determine the purpose of the call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17681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Returning a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Making an enquiry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Seeking information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Selling and marketing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6386" name="Picture 2" descr="I:\Overseas Projects\PHOTOS\2012\Front office 2012\shutterstock_7677876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1928802"/>
            <a:ext cx="2262182" cy="16966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3.3 	Place call and establish contact 	with required business or person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17681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Establish contact to the number requested: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 Is it the correct number?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7410" name="Picture 2" descr="I:\Overseas Projects\PHOTOS\2012\Front office 2012\shutterstock_6163438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3000372"/>
            <a:ext cx="3524253" cy="26431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85728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3.4	Explain the purpose of the call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Returning a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Making an enquiry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Seeking information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Selling and marketing 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8434" name="Picture 2" descr="I:\Overseas Projects\PHOTOS\2012\Front office 2012\shutterstock_10526916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1357298"/>
            <a:ext cx="2952750" cy="304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3.5	Transfer connected call to 	caller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Procedure to transfer a call to the caller: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Let the caller know you are making the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call on another person’s behalf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Put them on hold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Speak to your guest – let them know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you have their caller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Put the call through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9458" name="Picture 2" descr="I:\Overseas Projects\PHOTOS\2012\Front office 2012\shutterstock_941460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98" y="2500306"/>
            <a:ext cx="2152644" cy="15348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3.6	Facilitate conference calls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Benefits to conference calls: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Before the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During the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After the call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20482" name="Picture 2" descr="C:\Documents and Settings\danielc\Desktop\polycom-vtx-1000-400.jp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572132" y="1785926"/>
            <a:ext cx="2179047" cy="2070095"/>
          </a:xfrm>
          <a:prstGeom prst="rect">
            <a:avLst/>
          </a:prstGeom>
          <a:noFill/>
        </p:spPr>
      </p:pic>
      <p:pic>
        <p:nvPicPr>
          <p:cNvPr id="20483" name="Picture 3" descr="C:\Documents and Settings\danielc\Desktop\how-to-conference-call.jp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r="17499" b="13333"/>
          <a:stretch>
            <a:fillRect/>
          </a:stretch>
        </p:blipFill>
        <p:spPr bwMode="auto">
          <a:xfrm>
            <a:off x="3214678" y="3857628"/>
            <a:ext cx="2357454" cy="18573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960968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3.7	Implement standard redial 	procedures as required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89119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Re-dial procedures: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Re-dial function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Automatic re-dial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1506" name="Picture 2" descr="C:\Documents and Settings\danielc\Local Settings\Temporary Internet Files\Content.IE5\SIQ5KRQ3\MP900387822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2214554"/>
            <a:ext cx="3104549" cy="22145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3.8	Log details of call in accordance 	with enterprise procedures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Log call details: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Date and time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Details of overseas calls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Name of person/business called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Duration of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Guest name and room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2530" name="Picture 2" descr="I:\Overseas Projects\PHOTOS\2012\Front office 2012\MP90031419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60" y="2071678"/>
            <a:ext cx="2157907" cy="24431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3.9	Place emergency calls 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the nature of the emergency: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Fire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Ambulance/doctor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Police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3554" name="Picture 2" descr="C:\Documents and Settings\danielc\Local Settings\Temporary Internet Files\Content.IE5\SIQ5KRQ3\MP900400454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3000372"/>
            <a:ext cx="1892446" cy="1261138"/>
          </a:xfrm>
          <a:prstGeom prst="rect">
            <a:avLst/>
          </a:prstGeom>
          <a:noFill/>
        </p:spPr>
      </p:pic>
      <p:pic>
        <p:nvPicPr>
          <p:cNvPr id="23556" name="Picture 4" descr="C:\Documents and Settings\danielc\Local Settings\Temporary Internet Files\Content.IE5\SIQ5KRQ3\MP900440905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6" y="4286256"/>
            <a:ext cx="2000232" cy="1351080"/>
          </a:xfrm>
          <a:prstGeom prst="rect">
            <a:avLst/>
          </a:prstGeom>
          <a:noFill/>
        </p:spPr>
      </p:pic>
      <p:pic>
        <p:nvPicPr>
          <p:cNvPr id="23557" name="Picture 5" descr="C:\Documents and Settings\danielc\Local Settings\Temporary Internet Files\Content.IE5\UMECW9PM\MP900049959[1]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5074" y="1762590"/>
            <a:ext cx="1828800" cy="12222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Class activity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 card with all the local emergency services in your city: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Direct emergency number of your city e.g.: 000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Include the phone numbers – extensions if you use them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Address of the services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Contact names if you have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2" descr="I:\Overseas Projects\PHOTOS\2012\Front office 2012\shutterstock_71651842.jpg"/>
          <p:cNvPicPr>
            <a:picLocks noChangeAspect="1" noChangeArrowheads="1"/>
          </p:cNvPicPr>
          <p:nvPr/>
        </p:nvPicPr>
        <p:blipFill>
          <a:blip r:embed="rId3" cstate="print"/>
          <a:srcRect t="7248"/>
          <a:stretch>
            <a:fillRect/>
          </a:stretch>
        </p:blipFill>
        <p:spPr bwMode="auto">
          <a:xfrm>
            <a:off x="5786446" y="3643314"/>
            <a:ext cx="1828785" cy="16962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3.10	Enter commonly called numbers 	into system speed-dial facility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831995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Benefits of speed dialing: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Know you phone system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Pre-set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24578" name="Picture 2" descr="C:\Documents and Settings\danielc\Local Settings\Temporary Internet Files\Content.IE5\112MAXTI\MP900387834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42" y="2000240"/>
            <a:ext cx="2180460" cy="30567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214422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Element 4: Place outgoing calls on behalf of guests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25602" name="Picture 2" descr="I:\Overseas Projects\PHOTOS\2012\Front office 2012\shutterstock_7856877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571744"/>
            <a:ext cx="3639991" cy="24285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4.1 	Greet guest and determine call to 	be made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89119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>
                <a:latin typeface="Helvetica" pitchFamily="34" charset="0"/>
              </a:rPr>
              <a:t>Determine the call: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What country is it in?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What number?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Person to talk to 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>
                <a:latin typeface="Helvetica" pitchFamily="34" charset="0"/>
              </a:rPr>
              <a:t>Where are </a:t>
            </a:r>
            <a:r>
              <a:rPr lang="en-US" sz="2200" dirty="0" smtClean="0">
                <a:latin typeface="Helvetica" pitchFamily="34" charset="0"/>
              </a:rPr>
              <a:t>you?</a:t>
            </a:r>
            <a:endParaRPr lang="en-US" sz="2200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26626" name="Picture 2" descr="I:\Overseas Projects\PHOTOS\2012\Front office 2012\shutterstock_354624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2214554"/>
            <a:ext cx="3048000" cy="20335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584176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4.2	Obtain required telephone number 	and details of business/person to 	be called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2060848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Outgoing calls – Obtaining numbers: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Directories:</a:t>
            </a:r>
          </a:p>
          <a:p>
            <a:pPr marL="661752" lvl="1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Internal</a:t>
            </a:r>
          </a:p>
          <a:p>
            <a:pPr marL="661752" lvl="1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Client</a:t>
            </a:r>
          </a:p>
          <a:p>
            <a:pPr marL="661752" lvl="1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External directories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4.3 	Place call and establish contact 	with required business/person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760557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Make sure you establish contact with the correct person: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Listen to who answers the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Seek the required person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27650" name="Picture 2" descr="I:\Overseas Projects\PHOTOS\2012\Front office 2012\MP90043836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2132" y="2643182"/>
            <a:ext cx="2460303" cy="16475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4.4 	Implement standard redial 	procedures as required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89119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Implement standard redial procedures: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Redial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Automatic redial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28675" name="Picture 3" descr="C:\Documents and Settings\danielc\Local Settings\Temporary Internet Files\Content.IE5\UMECW9PM\MP900387822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7818" y="2571744"/>
            <a:ext cx="2328866" cy="16612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4.5 	Log details of call in accordance 	with enterprise procedures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Log calls for: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Date and time of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Details of international calls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Name of business/person called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Duration of call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Guest name and room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29698" name="Picture 2" descr="I:\Overseas Projects\PHOTOS\2012\Front office 2012\MP90017485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2714620"/>
            <a:ext cx="2464611" cy="16430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100" b="1" dirty="0" smtClean="0">
                <a:solidFill>
                  <a:srgbClr val="FF6600"/>
                </a:solidFill>
                <a:latin typeface="Helvetica" pitchFamily="34" charset="0"/>
              </a:rPr>
              <a:t>4.6 	Cost guest call for posting to 	account</a:t>
            </a:r>
            <a:endParaRPr lang="en-US" sz="31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How are calls charged?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Posting charges to a guest account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Automatic posting via PMS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30722" name="Picture 2" descr="I:\Overseas Projects\PHOTOS\2012\Front office 2012\iStock_000018328447XSmal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2643182"/>
            <a:ext cx="2619364" cy="1738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86066"/>
            <a:ext cx="7467600" cy="1143000"/>
          </a:xfrm>
        </p:spPr>
        <p:txBody>
          <a:bodyPr>
            <a:normAutofit fontScale="90000"/>
          </a:bodyPr>
          <a:lstStyle/>
          <a:p>
            <a:pPr lvl="0" algn="ctr"/>
            <a:r>
              <a:rPr lang="en-US" sz="3600" b="1" dirty="0" smtClean="0">
                <a:solidFill>
                  <a:srgbClr val="FF6600"/>
                </a:solidFill>
              </a:rPr>
              <a:t>End of unit</a:t>
            </a:r>
            <a:br>
              <a:rPr lang="en-US" sz="3600" b="1" dirty="0" smtClean="0">
                <a:solidFill>
                  <a:srgbClr val="FF6600"/>
                </a:solidFill>
              </a:rPr>
            </a:br>
            <a:r>
              <a:rPr lang="en-US" sz="3600" b="1" dirty="0" smtClean="0">
                <a:solidFill>
                  <a:srgbClr val="FF6600"/>
                </a:solidFill>
              </a:rPr>
              <a:t>Thank you.</a:t>
            </a:r>
            <a:endParaRPr lang="en-A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2224</TotalTime>
  <Words>2199</Words>
  <Application>Microsoft Office PowerPoint</Application>
  <PresentationFormat>On-screen Show (4:3)</PresentationFormat>
  <Paragraphs>348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Helvetica</vt:lpstr>
      <vt:lpstr>Wingdings 2</vt:lpstr>
      <vt:lpstr>ASEAN PPT Template 010611 MV</vt:lpstr>
      <vt:lpstr>FACILITATE OUTGOING PHONE CALLS</vt:lpstr>
      <vt:lpstr> Element 1: Identify elements and facilities of the host enterprise telephone system </vt:lpstr>
      <vt:lpstr>1.1  Identify the types of outgoing  calls that may be made and their  importance to the business</vt:lpstr>
      <vt:lpstr>1.1 Identify the types of outgoing  calls that may be made and their  importance to the business</vt:lpstr>
      <vt:lpstr>Class exercise</vt:lpstr>
      <vt:lpstr>1.2 Identify components of the  telephone system</vt:lpstr>
      <vt:lpstr>1.3  Describe the functions and  features available in a telephone  system</vt:lpstr>
      <vt:lpstr>Element 2: Demonstrate appropriate telephone communication skills</vt:lpstr>
      <vt:lpstr>2.1 Interpret the enterprise policies  and procedures for telephone use  in regard to outgoing calls </vt:lpstr>
      <vt:lpstr>Standard phrases</vt:lpstr>
      <vt:lpstr>Class activity</vt:lpstr>
      <vt:lpstr> 2.2 Differentiate between face to face  and over the phone communications</vt:lpstr>
      <vt:lpstr>2.3  Appropriate telephone  communication skills</vt:lpstr>
      <vt:lpstr>2.4 Appropriate telephone techniques</vt:lpstr>
      <vt:lpstr>Class activity</vt:lpstr>
      <vt:lpstr>2.5 Acceptable telephone etiquette</vt:lpstr>
      <vt:lpstr>Element 3: Place outgoing calls on behalf of the enterprise</vt:lpstr>
      <vt:lpstr>3.1 Obtain required telephone number  and details of business/person to  be called</vt:lpstr>
      <vt:lpstr>3.2 Determine the purpose of the call</vt:lpstr>
      <vt:lpstr>3.3  Place call and establish contact  with required business or person</vt:lpstr>
      <vt:lpstr>3.4 Explain the purpose of the call</vt:lpstr>
      <vt:lpstr>3.5 Transfer connected call to  caller</vt:lpstr>
      <vt:lpstr>3.6 Facilitate conference calls</vt:lpstr>
      <vt:lpstr>3.7 Implement standard redial  procedures as required</vt:lpstr>
      <vt:lpstr>3.8 Log details of call in accordance  with enterprise procedures</vt:lpstr>
      <vt:lpstr>3.9 Place emergency calls </vt:lpstr>
      <vt:lpstr>Class activity</vt:lpstr>
      <vt:lpstr>3.10 Enter commonly called numbers  into system speed-dial facility</vt:lpstr>
      <vt:lpstr>Element 4: Place outgoing calls on behalf of guests</vt:lpstr>
      <vt:lpstr>4.1  Greet guest and determine call to  be made</vt:lpstr>
      <vt:lpstr>4.2 Obtain required telephone number  and details of business/person to  be called</vt:lpstr>
      <vt:lpstr>4.3  Place call and establish contact  with required business/person</vt:lpstr>
      <vt:lpstr>4.4  Implement standard redial  procedures as required</vt:lpstr>
      <vt:lpstr>4.5  Log details of call in accordance  with enterprise procedures</vt:lpstr>
      <vt:lpstr>4.6  Cost guest call for posting to  account</vt:lpstr>
      <vt:lpstr>End of unit Thank you.</vt:lpstr>
    </vt:vector>
  </TitlesOfParts>
  <Company>William Angliss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FACILITATE OUTGOING PHONE CALLS</dc:title>
  <dc:creator>Administrator</dc:creator>
  <cp:lastModifiedBy>Carla Angelica Co</cp:lastModifiedBy>
  <cp:revision>62</cp:revision>
  <dcterms:created xsi:type="dcterms:W3CDTF">2012-03-06T06:20:23Z</dcterms:created>
  <dcterms:modified xsi:type="dcterms:W3CDTF">2015-03-28T07:30:28Z</dcterms:modified>
</cp:coreProperties>
</file>