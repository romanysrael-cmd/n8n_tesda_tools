
<file path=[Content_Types].xml><?xml version="1.0" encoding="utf-8"?>
<Types xmlns="http://schemas.openxmlformats.org/package/2006/content-types">
  <Override PartName="/ppt/slides/slide47.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notesSlides/notesSlide239.xml" ContentType="application/vnd.openxmlformats-officedocument.presentationml.notesSlide+xml"/>
  <Override PartName="/ppt/slides/slide120.xml" ContentType="application/vnd.openxmlformats-officedocument.presentationml.slide+xml"/>
  <Override PartName="/ppt/slides/slide218.xml" ContentType="application/vnd.openxmlformats-officedocument.presentationml.slide+xml"/>
  <Override PartName="/ppt/notesSlides/notesSlide38.xml" ContentType="application/vnd.openxmlformats-officedocument.presentationml.notesSlide+xml"/>
  <Override PartName="/ppt/notesSlides/notesSlide85.xml" ContentType="application/vnd.openxmlformats-officedocument.presentationml.notesSlide+xml"/>
  <Override PartName="/ppt/notesSlides/notesSlide141.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17.xml" ContentType="application/vnd.openxmlformats-officedocument.presentationml.notesSlide+xml"/>
  <Default Extension="xml" ContentType="application/xml"/>
  <Override PartName="/ppt/slides/slide50.xml" ContentType="application/vnd.openxmlformats-officedocument.presentationml.slide+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slides/slide221.xml" ContentType="application/vnd.openxmlformats-officedocument.presentationml.slide+xml"/>
  <Override PartName="/ppt/notesSlides/notesSlide41.xml" ContentType="application/vnd.openxmlformats-officedocument.presentationml.notesSlide+xml"/>
  <Override PartName="/ppt/notesSlides/notesSlide179.xml" ContentType="application/vnd.openxmlformats-officedocument.presentationml.notesSlide+xml"/>
  <Override PartName="/ppt/slides/slide158.xml" ContentType="application/vnd.openxmlformats-officedocument.presentationml.slide+xml"/>
  <Override PartName="/ppt/notesSlides/notesSlide220.xml" ContentType="application/vnd.openxmlformats-officedocument.presentationml.notesSlide+xml"/>
  <Override PartName="/ppt/slides/slide136.xml" ContentType="application/vnd.openxmlformats-officedocument.presentationml.slide+xml"/>
  <Override PartName="/ppt/slides/slide183.xml" ContentType="application/vnd.openxmlformats-officedocument.presentationml.slide+xml"/>
  <Override PartName="/ppt/notesSlides/notesSlide7.xml" ContentType="application/vnd.openxmlformats-officedocument.presentationml.notesSlide+xml"/>
  <Override PartName="/ppt/notesSlides/notesSlide157.xml" ContentType="application/vnd.openxmlformats-officedocument.presentationml.notesSlide+xml"/>
  <Override PartName="/ppt/slides/slide88.xml" ContentType="application/vnd.openxmlformats-officedocument.presentationml.slide+xml"/>
  <Override PartName="/ppt/notesSlides/notesSlide135.xml" ContentType="application/vnd.openxmlformats-officedocument.presentationml.notesSlide+xml"/>
  <Override PartName="/ppt/notesSlides/notesSlide182.xml" ContentType="application/vnd.openxmlformats-officedocument.presentationml.notesSlide+xml"/>
  <Override PartName="/ppt/slides/slide19.xml" ContentType="application/vnd.openxmlformats-officedocument.presentationml.slide+xml"/>
  <Override PartName="/ppt/slides/slide66.xml" ContentType="application/vnd.openxmlformats-officedocument.presentationml.slide+xml"/>
  <Override PartName="/ppt/slides/slide114.xml" ContentType="application/vnd.openxmlformats-officedocument.presentationml.slide+xml"/>
  <Override PartName="/ppt/slides/slide161.xml" ContentType="application/vnd.openxmlformats-officedocument.presentationml.slide+xml"/>
  <Default Extension="png" ContentType="image/png"/>
  <Override PartName="/ppt/notesSlides/notesSlide79.xml" ContentType="application/vnd.openxmlformats-officedocument.presentationml.notesSlide+xml"/>
  <Override PartName="/ppt/slides/slide237.xml" ContentType="application/vnd.openxmlformats-officedocument.presentationml.slide+xml"/>
  <Override PartName="/ppt/theme/theme2.xml" ContentType="application/vnd.openxmlformats-officedocument.theme+xml"/>
  <Override PartName="/ppt/notesSlides/notesSlide57.xml" ContentType="application/vnd.openxmlformats-officedocument.presentationml.notesSlide+xml"/>
  <Override PartName="/ppt/notesSlides/notesSlide113.xml" ContentType="application/vnd.openxmlformats-officedocument.presentationml.notesSlide+xml"/>
  <Override PartName="/ppt/notesSlides/notesSlide160.xml" ContentType="application/vnd.openxmlformats-officedocument.presentationml.notesSlide+xml"/>
  <Override PartName="/ppt/slides/slide44.xml" ContentType="application/vnd.openxmlformats-officedocument.presentationml.slide+xml"/>
  <Override PartName="/ppt/slides/slide91.xml" ContentType="application/vnd.openxmlformats-officedocument.presentationml.slide+xml"/>
  <Override PartName="/ppt/slides/slide215.xml" ContentType="application/vnd.openxmlformats-officedocument.presentationml.slide+xml"/>
  <Override PartName="/ppt/notesSlides/notesSlide236.xml" ContentType="application/vnd.openxmlformats-officedocument.presentationml.notesSlide+xml"/>
  <Override PartName="/ppt/slides/slide22.xml" ContentType="application/vnd.openxmlformats-officedocument.presentationml.slide+xml"/>
  <Override PartName="/ppt/slides/slide199.xml" ContentType="application/vnd.openxmlformats-officedocument.presentationml.slide+xml"/>
  <Override PartName="/ppt/notesSlides/notesSlide35.xml" ContentType="application/vnd.openxmlformats-officedocument.presentationml.notesSlide+xml"/>
  <Override PartName="/ppt/notesSlides/notesSlide82.xml" ContentType="application/vnd.openxmlformats-officedocument.presentationml.notesSlide+xml"/>
  <Override PartName="/ppt/notesSlides/notesSlide214.xml" ContentType="application/vnd.openxmlformats-officedocument.presentationml.notesSlide+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notesSlides/notesSlide198.xml" ContentType="application/vnd.openxmlformats-officedocument.presentationml.notesSlide+xml"/>
  <Override PartName="/ppt/slides/slide177.xml" ContentType="application/vnd.openxmlformats-officedocument.presentationml.slide+xml"/>
  <Override PartName="/ppt/notesSlides/notesSlide129.xml" ContentType="application/vnd.openxmlformats-officedocument.presentationml.notesSlide+xml"/>
  <Override PartName="/ppt/notesSlides/notesSlide176.xml" ContentType="application/vnd.openxmlformats-officedocument.presentationml.notesSlide+xml"/>
  <Override PartName="/ppt/slides/slide108.xml" ContentType="application/vnd.openxmlformats-officedocument.presentationml.slide+xml"/>
  <Override PartName="/ppt/slides/slide155.xml" ContentType="application/vnd.openxmlformats-officedocument.presentationml.slide+xml"/>
  <Override PartName="/ppt/notesSlides/notesSlide4.xml" ContentType="application/vnd.openxmlformats-officedocument.presentationml.notesSlide+xml"/>
  <Override PartName="/ppt/notesSlides/notesSlide107.xml" ContentType="application/vnd.openxmlformats-officedocument.presentationml.notesSlide+xml"/>
  <Override PartName="/ppt/notesSlides/notesSlide154.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33.xml" ContentType="application/vnd.openxmlformats-officedocument.presentationml.slide+xml"/>
  <Override PartName="/ppt/slides/slide180.xml" ContentType="application/vnd.openxmlformats-officedocument.presentationml.slide+xml"/>
  <Override PartName="/ppt/notesSlides/notesSlide98.xml" ContentType="application/vnd.openxmlformats-officedocument.presentationml.notesSlide+xml"/>
  <Override PartName="/ppt/notesSlides/notesSlide132.xml" ContentType="application/vnd.openxmlformats-officedocument.presentationml.notesSlide+xml"/>
  <Override PartName="/ppt/slides/slide111.xml" ContentType="application/vnd.openxmlformats-officedocument.presentationml.slide+xml"/>
  <Override PartName="/ppt/slides/slide209.xml" ContentType="application/vnd.openxmlformats-officedocument.presentationml.slide+xml"/>
  <Override PartName="/ppt/notesSlides/notesSlide29.xml" ContentType="application/vnd.openxmlformats-officedocument.presentationml.notesSlide+xml"/>
  <Override PartName="/ppt/notesSlides/notesSlide76.xml" ContentType="application/vnd.openxmlformats-officedocument.presentationml.notesSlide+xml"/>
  <Override PartName="/ppt/slides/slide16.xml" ContentType="application/vnd.openxmlformats-officedocument.presentationml.slide+xml"/>
  <Override PartName="/ppt/slides/slide63.xml" ContentType="application/vnd.openxmlformats-officedocument.presentationml.slide+xml"/>
  <Override PartName="/ppt/slides/slide234.xml" ContentType="application/vnd.openxmlformats-officedocument.presentationml.slide+xml"/>
  <Override PartName="/ppt/notesSlides/notesSlide110.xml" ContentType="application/vnd.openxmlformats-officedocument.presentationml.notesSlide+xml"/>
  <Override PartName="/ppt/notesSlides/notesSlide208.xml" ContentType="application/vnd.openxmlformats-officedocument.presentationml.notesSlide+xml"/>
  <Override PartName="/ppt/slides/slide41.xml" ContentType="application/vnd.openxmlformats-officedocument.presentationml.slide+xml"/>
  <Override PartName="/ppt/notesSlides/notesSlide54.xml" ContentType="application/vnd.openxmlformats-officedocument.presentationml.notesSlide+xml"/>
  <Override PartName="/ppt/notesSlides/notesSlide233.xml" ContentType="application/vnd.openxmlformats-officedocument.presentationml.notesSlide+xml"/>
  <Override PartName="/ppt/slides/slide149.xml" ContentType="application/vnd.openxmlformats-officedocument.presentationml.slide+xml"/>
  <Override PartName="/ppt/slides/slide196.xml" ContentType="application/vnd.openxmlformats-officedocument.presentationml.slide+xml"/>
  <Override PartName="/ppt/slides/slide212.xml" ContentType="application/vnd.openxmlformats-officedocument.presentationml.slide+xml"/>
  <Override PartName="/ppt/notesSlides/notesSlide32.xml" ContentType="application/vnd.openxmlformats-officedocument.presentationml.notesSlide+xml"/>
  <Override PartName="/ppt/slides/slide138.xml" ContentType="application/vnd.openxmlformats-officedocument.presentationml.slide+xml"/>
  <Override PartName="/ppt/slides/slide185.xml" ContentType="application/vnd.openxmlformats-officedocument.presentationml.slide+xml"/>
  <Override PartName="/ppt/slides/slide201.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48.xml" ContentType="application/vnd.openxmlformats-officedocument.presentationml.notesSlide+xml"/>
  <Override PartName="/ppt/notesSlides/notesSlide159.xml" ContentType="application/vnd.openxmlformats-officedocument.presentationml.notesSlide+xml"/>
  <Override PartName="/ppt/notesSlides/notesSlide195.xml" ContentType="application/vnd.openxmlformats-officedocument.presentationml.notesSlide+xml"/>
  <Override PartName="/ppt/notesSlides/notesSlide200.xml" ContentType="application/vnd.openxmlformats-officedocument.presentationml.notesSlide+xml"/>
  <Override PartName="/ppt/notesSlides/notesSlide211.xml" ContentType="application/vnd.openxmlformats-officedocument.presentationml.notesSlide+xml"/>
  <Override PartName="/ppt/slides/slide79.xml" ContentType="application/vnd.openxmlformats-officedocument.presentationml.slide+xml"/>
  <Override PartName="/ppt/slides/slide127.xml" ContentType="application/vnd.openxmlformats-officedocument.presentationml.slide+xml"/>
  <Override PartName="/ppt/slides/slide174.xml" ContentType="application/vnd.openxmlformats-officedocument.presentationml.slide+xml"/>
  <Override PartName="/ppt/notesSlides/notesSlide10.xml" ContentType="application/vnd.openxmlformats-officedocument.presentationml.notesSlide+xml"/>
  <Override PartName="/ppt/notesSlides/notesSlide137.xml" ContentType="application/vnd.openxmlformats-officedocument.presentationml.notesSlide+xml"/>
  <Override PartName="/ppt/notesSlides/notesSlide184.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116.xml" ContentType="application/vnd.openxmlformats-officedocument.presentationml.slide+xml"/>
  <Override PartName="/ppt/slides/slide163.xml" ContentType="application/vnd.openxmlformats-officedocument.presentationml.slide+xml"/>
  <Override PartName="/ppt/slideLayouts/slideLayout9.xml" ContentType="application/vnd.openxmlformats-officedocument.presentationml.slideLayout+xml"/>
  <Override PartName="/ppt/notesSlides/notesSlide126.xml" ContentType="application/vnd.openxmlformats-officedocument.presentationml.notesSlide+xml"/>
  <Override PartName="/ppt/notesSlides/notesSlide173.xml" ContentType="application/vnd.openxmlformats-officedocument.presentationml.notesSlide+xml"/>
  <Override PartName="/ppt/slides/slide57.xml" ContentType="application/vnd.openxmlformats-officedocument.presentationml.slide+xml"/>
  <Override PartName="/ppt/slides/slide105.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239.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104.xml" ContentType="application/vnd.openxmlformats-officedocument.presentationml.notesSlide+xml"/>
  <Override PartName="/ppt/notesSlides/notesSlide115.xml" ContentType="application/vnd.openxmlformats-officedocument.presentationml.notesSlide+xml"/>
  <Override PartName="/ppt/notesSlides/notesSlide151.xml" ContentType="application/vnd.openxmlformats-officedocument.presentationml.notesSlide+xml"/>
  <Override PartName="/ppt/notesSlides/notesSlide162.xml" ContentType="application/vnd.openxmlformats-officedocument.presentationml.notesSlide+xml"/>
  <Override PartName="/ppt/slides/slide46.xml" ContentType="application/vnd.openxmlformats-officedocument.presentationml.slide+xml"/>
  <Override PartName="/ppt/slides/slide93.xml" ContentType="application/vnd.openxmlformats-officedocument.presentationml.slide+xml"/>
  <Override PartName="/ppt/slides/slide130.xml" ContentType="application/vnd.openxmlformats-officedocument.presentationml.slide+xml"/>
  <Override PartName="/ppt/slides/slide217.xml" ContentType="application/vnd.openxmlformats-officedocument.presentationml.slide+xml"/>
  <Override PartName="/ppt/slides/slide228.xml" ContentType="application/vnd.openxmlformats-officedocument.presentationml.slide+xml"/>
  <Override PartName="/ppt/notesSlides/notesSlide48.xml" ContentType="application/vnd.openxmlformats-officedocument.presentationml.notesSlide+xml"/>
  <Override PartName="/ppt/notesSlides/notesSlide95.xml" ContentType="application/vnd.openxmlformats-officedocument.presentationml.notesSlide+xml"/>
  <Override PartName="/ppt/notesSlides/notesSlide140.xml" ContentType="application/vnd.openxmlformats-officedocument.presentationml.notesSlide+xml"/>
  <Override PartName="/ppt/notesSlides/notesSlide238.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s/slide206.xml" ContentType="application/vnd.openxmlformats-officedocument.presentationml.slide+xml"/>
  <Override PartName="/ppt/notesSlides/notesSlide37.xml" ContentType="application/vnd.openxmlformats-officedocument.presentationml.notesSlide+xml"/>
  <Override PartName="/ppt/notesSlides/notesSlide84.xml" ContentType="application/vnd.openxmlformats-officedocument.presentationml.notesSlide+xml"/>
  <Override PartName="/ppt/notesSlides/notesSlide216.xml" ContentType="application/vnd.openxmlformats-officedocument.presentationml.notesSlide+xml"/>
  <Override PartName="/ppt/notesSlides/notesSlide227.xml" ContentType="application/vnd.openxmlformats-officedocument.presentationml.notesSlide+xml"/>
  <Override PartName="/ppt/slides/slide13.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notesSlides/notesSlide205.xml" ContentType="application/vnd.openxmlformats-officedocument.presentationml.notesSlide+xml"/>
  <Override PartName="/ppt/slides/slide168.xml" ContentType="application/vnd.openxmlformats-officedocument.presentationml.slide+xml"/>
  <Override PartName="/ppt/slides/slide179.xml" ContentType="application/vnd.openxmlformats-officedocument.presentationml.slide+xml"/>
  <Override PartName="/ppt/slides/slide231.xml" ContentType="application/vnd.openxmlformats-officedocument.presentationml.slide+xml"/>
  <Override PartName="/ppt/notesSlides/notesSlide51.xml" ContentType="application/vnd.openxmlformats-officedocument.presentationml.notesSlide+xml"/>
  <Override PartName="/ppt/notesSlides/notesSlide178.xml" ContentType="application/vnd.openxmlformats-officedocument.presentationml.notesSlide+xml"/>
  <Override PartName="/ppt/notesSlides/notesSlide189.xml" ContentType="application/vnd.openxmlformats-officedocument.presentationml.notesSlide+xml"/>
  <Override PartName="/ppt/slides/slide157.xml" ContentType="application/vnd.openxmlformats-officedocument.presentationml.slide+xml"/>
  <Override PartName="/ppt/slides/slide220.xml" ContentType="application/vnd.openxmlformats-officedocument.presentationml.slide+xml"/>
  <Default Extension="tiff" ContentType="image/tiff"/>
  <Override PartName="/ppt/notesSlides/notesSlide40.xml" ContentType="application/vnd.openxmlformats-officedocument.presentationml.notesSlide+xml"/>
  <Override PartName="/ppt/notesSlides/notesSlide167.xml" ContentType="application/vnd.openxmlformats-officedocument.presentationml.notesSlide+xml"/>
  <Override PartName="/ppt/notesSlides/notesSlide230.xml" ContentType="application/vnd.openxmlformats-officedocument.presentationml.notesSlide+xml"/>
  <Override PartName="/ppt/slides/slide98.xml" ContentType="application/vnd.openxmlformats-officedocument.presentationml.slide+xml"/>
  <Override PartName="/ppt/slides/slide146.xml" ContentType="application/vnd.openxmlformats-officedocument.presentationml.slide+xml"/>
  <Override PartName="/ppt/slides/slide193.xml" ContentType="application/vnd.openxmlformats-officedocument.presentationml.slide+xml"/>
  <Override PartName="/ppt/notesSlides/notesSlide6.xml" ContentType="application/vnd.openxmlformats-officedocument.presentationml.notesSlide+xml"/>
  <Override PartName="/ppt/notesSlides/notesSlide109.xml" ContentType="application/vnd.openxmlformats-officedocument.presentationml.notesSlide+xml"/>
  <Override PartName="/ppt/notesSlides/notesSlide156.xml" ContentType="application/vnd.openxmlformats-officedocument.presentationml.notesSlide+xml"/>
  <Override PartName="/ppt/slides/slide87.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notesSlides/notesSlide89.xml" ContentType="application/vnd.openxmlformats-officedocument.presentationml.notesSlide+xml"/>
  <Override PartName="/ppt/notesSlides/notesSlide145.xml" ContentType="application/vnd.openxmlformats-officedocument.presentationml.notesSlide+xml"/>
  <Override PartName="/ppt/notesSlides/notesSlide192.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notesSlides/notesSlide78.xml" ContentType="application/vnd.openxmlformats-officedocument.presentationml.notesSlide+xml"/>
  <Override PartName="/ppt/notesSlides/notesSlide123.xml" ContentType="application/vnd.openxmlformats-officedocument.presentationml.notesSlide+xml"/>
  <Override PartName="/ppt/notesSlides/notesSlide134.xml" ContentType="application/vnd.openxmlformats-officedocument.presentationml.notesSlide+xml"/>
  <Override PartName="/ppt/notesSlides/notesSlide170.xml" ContentType="application/vnd.openxmlformats-officedocument.presentationml.notesSlide+xml"/>
  <Override PartName="/ppt/notesSlides/notesSlide181.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s/slide236.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notesSlides/notesSlide112.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slides/slide225.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notesSlides/notesSlide235.xml" ContentType="application/vnd.openxmlformats-officedocument.presentationml.notesSlide+xml"/>
  <Override PartName="/ppt/slides/slide32.xml" ContentType="application/vnd.openxmlformats-officedocument.presentationml.slide+xml"/>
  <Override PartName="/ppt/slides/slide214.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notesSlides/notesSlide22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98.xml" ContentType="application/vnd.openxmlformats-officedocument.presentationml.slide+xml"/>
  <Override PartName="/ppt/slides/slide203.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notesSlides/notesSlide197.xml" ContentType="application/vnd.openxmlformats-officedocument.presentationml.notesSlide+xml"/>
  <Override PartName="/ppt/notesSlides/notesSlide213.xml" ContentType="application/vnd.openxmlformats-officedocument.presentationml.notesSlide+xml"/>
  <Override PartName="/ppt/slides/slide129.xml" ContentType="application/vnd.openxmlformats-officedocument.presentationml.slide+xml"/>
  <Override PartName="/ppt/slides/slide176.xml" ContentType="application/vnd.openxmlformats-officedocument.presentationml.slide+xml"/>
  <Override PartName="/ppt/notesSlides/notesSlide12.xml" ContentType="application/vnd.openxmlformats-officedocument.presentationml.notesSlide+xml"/>
  <Override PartName="/ppt/notesSlides/notesSlide139.xml" ContentType="application/vnd.openxmlformats-officedocument.presentationml.notesSlide+xml"/>
  <Override PartName="/ppt/notesSlides/notesSlide186.xml" ContentType="application/vnd.openxmlformats-officedocument.presentationml.notesSlide+xml"/>
  <Override PartName="/ppt/notesSlides/notesSlide202.xml" ContentType="application/vnd.openxmlformats-officedocument.presentationml.notesSlide+xml"/>
  <Override PartName="/ppt/slides/slide118.xml" ContentType="application/vnd.openxmlformats-officedocument.presentationml.slide+xml"/>
  <Override PartName="/ppt/slides/slide165.xml" ContentType="application/vnd.openxmlformats-officedocument.presentationml.slide+xml"/>
  <Override PartName="/ppt/notesSlides/notesSlide128.xml" ContentType="application/vnd.openxmlformats-officedocument.presentationml.notesSlide+xml"/>
  <Override PartName="/ppt/notesSlides/notesSlide175.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90.xml" ContentType="application/vnd.openxmlformats-officedocument.presentationml.slide+xml"/>
  <Override PartName="/ppt/viewProps.xml" ContentType="application/vnd.openxmlformats-officedocument.presentationml.viewProps+xml"/>
  <Override PartName="/ppt/notesSlides/notesSlide106.xml" ContentType="application/vnd.openxmlformats-officedocument.presentationml.notesSlide+xml"/>
  <Override PartName="/ppt/notesSlides/notesSlide117.xml" ContentType="application/vnd.openxmlformats-officedocument.presentationml.notesSlide+xml"/>
  <Override PartName="/ppt/notesSlides/notesSlide153.xml" ContentType="application/vnd.openxmlformats-officedocument.presentationml.notesSlide+xml"/>
  <Override PartName="/ppt/notesSlides/notesSlide164.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Override PartName="/ppt/notesSlides/notesSlide97.xml" ContentType="application/vnd.openxmlformats-officedocument.presentationml.notesSlide+xml"/>
  <Override PartName="/ppt/notesSlides/notesSlide142.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slides/slide208.xml" ContentType="application/vnd.openxmlformats-officedocument.presentationml.slide+xml"/>
  <Override PartName="/ppt/slides/slide219.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86.xml" ContentType="application/vnd.openxmlformats-officedocument.presentationml.notesSlide+xml"/>
  <Override PartName="/ppt/notesSlides/notesSlide131.xml" ContentType="application/vnd.openxmlformats-officedocument.presentationml.notesSlide+xml"/>
  <Override PartName="/ppt/notesSlides/notesSlide218.xml" ContentType="application/vnd.openxmlformats-officedocument.presentationml.notesSlide+xml"/>
  <Override PartName="/ppt/notesSlides/notesSlide22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notesSlides/notesSlide120.xml" ContentType="application/vnd.openxmlformats-officedocument.presentationml.notesSlide+xml"/>
  <Override PartName="/ppt/notesSlides/notesSlide207.xml" ContentType="application/vnd.openxmlformats-officedocument.presentationml.notesSlide+xml"/>
  <Override PartName="/ppt/slides/slide51.xml" ContentType="application/vnd.openxmlformats-officedocument.presentationml.slide+xml"/>
  <Override PartName="/ppt/slides/slide233.xml" ContentType="application/vnd.openxmlformats-officedocument.presentationml.slide+xml"/>
  <Override PartName="/ppt/notesSlides/notesSlide53.xml" ContentType="application/vnd.openxmlformats-officedocument.presentationml.notesSlide+xml"/>
  <Override PartName="/ppt/slides/slide40.xml" ContentType="application/vnd.openxmlformats-officedocument.presentationml.slide+xml"/>
  <Override PartName="/ppt/slides/slide159.xml" ContentType="application/vnd.openxmlformats-officedocument.presentationml.slide+xml"/>
  <Override PartName="/ppt/slides/slide211.xml" ContentType="application/vnd.openxmlformats-officedocument.presentationml.slide+xml"/>
  <Override PartName="/ppt/slides/slide222.xml" ContentType="application/vnd.openxmlformats-officedocument.presentationml.slide+xml"/>
  <Override PartName="/ppt/notesSlides/notesSlide42.xml" ContentType="application/vnd.openxmlformats-officedocument.presentationml.notesSlide+xml"/>
  <Override PartName="/ppt/notesSlides/notesSlide169.xml" ContentType="application/vnd.openxmlformats-officedocument.presentationml.notesSlide+xml"/>
  <Override PartName="/ppt/notesSlides/notesSlide221.xml" ContentType="application/vnd.openxmlformats-officedocument.presentationml.notesSlide+xml"/>
  <Override PartName="/ppt/notesSlides/notesSlide232.xml" ContentType="application/vnd.openxmlformats-officedocument.presentationml.notesSlide+xml"/>
  <Override PartName="/ppt/slides/slide148.xml" ContentType="application/vnd.openxmlformats-officedocument.presentationml.slide+xml"/>
  <Override PartName="/ppt/slides/slide195.xml" ContentType="application/vnd.openxmlformats-officedocument.presentationml.slide+xml"/>
  <Override PartName="/ppt/slides/slide200.xml" ContentType="application/vnd.openxmlformats-officedocument.presentationml.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158.xml" ContentType="application/vnd.openxmlformats-officedocument.presentationml.notesSlide+xml"/>
  <Default Extension="gif" ContentType="image/gif"/>
  <Override PartName="/ppt/notesSlides/notesSlide210.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notesSlides/notesSlide147.xml" ContentType="application/vnd.openxmlformats-officedocument.presentationml.notesSlide+xml"/>
  <Override PartName="/ppt/notesSlides/notesSlide194.xml" ContentType="application/vnd.openxmlformats-officedocument.presentationml.notes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ppt/handoutMasters/handoutMaster1.xml" ContentType="application/vnd.openxmlformats-officedocument.presentationml.handoutMaster+xml"/>
  <Override PartName="/ppt/notesSlides/notesSlide125.xml" ContentType="application/vnd.openxmlformats-officedocument.presentationml.notesSlide+xml"/>
  <Override PartName="/ppt/notesSlides/notesSlide136.xml" ContentType="application/vnd.openxmlformats-officedocument.presentationml.notesSlide+xml"/>
  <Override PartName="/ppt/notesSlides/notesSlide172.xml" ContentType="application/vnd.openxmlformats-officedocument.presentationml.notesSlide+xml"/>
  <Override PartName="/ppt/notesSlides/notesSlide183.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s/slide238.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114.xml" ContentType="application/vnd.openxmlformats-officedocument.presentationml.notesSlide+xml"/>
  <Override PartName="/ppt/notesSlides/notesSlide161.xml" ContentType="application/vnd.openxmlformats-officedocument.presentationml.notesSlide+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slides/slide227.xml" ContentType="application/vnd.openxmlformats-officedocument.presentationml.slide+xml"/>
  <Override PartName="/ppt/theme/theme3.xml" ContentType="application/vnd.openxmlformats-officedocument.them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notesSlides/notesSlide150.xml" ContentType="application/vnd.openxmlformats-officedocument.presentationml.notesSlide+xml"/>
  <Override PartName="/ppt/notesSlides/notesSlide237.xml" ContentType="application/vnd.openxmlformats-officedocument.presentationml.notesSlide+xml"/>
  <Override PartName="/ppt/slides/slide34.xml" ContentType="application/vnd.openxmlformats-officedocument.presentationml.slide+xml"/>
  <Override PartName="/ppt/slides/slide81.xml" ContentType="application/vnd.openxmlformats-officedocument.presentationml.slide+xml"/>
  <Override PartName="/ppt/slides/slide216.xml" ContentType="application/vnd.openxmlformats-officedocument.presentationml.slide+xml"/>
  <Override PartName="/ppt/notesSlides/notesSlide36.xml" ContentType="application/vnd.openxmlformats-officedocument.presentationml.notesSlide+xml"/>
  <Override PartName="/ppt/notesSlides/notesSlide83.xml" ContentType="application/vnd.openxmlformats-officedocument.presentationml.notesSlide+xml"/>
  <Override PartName="/ppt/notesSlides/notesSlide22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205.xml" ContentType="application/vnd.openxmlformats-officedocument.presentationml.slide+xml"/>
  <Override PartName="/ppt/notesSlides/notesSlide25.xml" ContentType="application/vnd.openxmlformats-officedocument.presentationml.notesSlide+xml"/>
  <Override PartName="/ppt/notesSlides/notesSlide72.xml" ContentType="application/vnd.openxmlformats-officedocument.presentationml.notesSlide+xml"/>
  <Override PartName="/ppt/notesSlides/notesSlide199.xml" ContentType="application/vnd.openxmlformats-officedocument.presentationml.notesSlide+xml"/>
  <Override PartName="/ppt/notesSlides/notesSlide215.xml" ContentType="application/vnd.openxmlformats-officedocument.presentationml.notesSlide+xml"/>
  <Override PartName="/ppt/slides/slide12.xml" ContentType="application/vnd.openxmlformats-officedocument.presentationml.slide+xml"/>
  <Override PartName="/ppt/slides/slide178.xml" ContentType="application/vnd.openxmlformats-officedocument.presentationml.slide+xml"/>
  <Override PartName="/ppt/slides/slide2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61.xml" ContentType="application/vnd.openxmlformats-officedocument.presentationml.notesSlide+xml"/>
  <Override PartName="/ppt/notesSlides/notesSlide188.xml" ContentType="application/vnd.openxmlformats-officedocument.presentationml.notesSlide+xml"/>
  <Override PartName="/ppt/notesSlides/notesSlide204.xml" ContentType="application/vnd.openxmlformats-officedocument.presentationml.notesSlide+xml"/>
  <Override PartName="/ppt/slides/slide167.xml" ContentType="application/vnd.openxmlformats-officedocument.presentationml.slide+xml"/>
  <Override PartName="/ppt/notesSlides/notesSlide50.xml" ContentType="application/vnd.openxmlformats-officedocument.presentationml.notesSlide+xml"/>
  <Override PartName="/ppt/notesSlides/notesSlide177.xml" ContentType="application/vnd.openxmlformats-officedocument.presentationml.notesSlide+xml"/>
  <Override PartName="/ppt/slides/slide109.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92.xml" ContentType="application/vnd.openxmlformats-officedocument.presentationml.slide+xml"/>
  <Override PartName="/ppt/notesSlides/notesSlide108.xml" ContentType="application/vnd.openxmlformats-officedocument.presentationml.notesSlide+xml"/>
  <Override PartName="/ppt/notesSlides/notesSlide119.xml" ContentType="application/vnd.openxmlformats-officedocument.presentationml.notesSlide+xml"/>
  <Override PartName="/ppt/notesSlides/notesSlide155.xml" ContentType="application/vnd.openxmlformats-officedocument.presentationml.notesSlide+xml"/>
  <Override PartName="/ppt/notesSlides/notesSlide166.xml" ContentType="application/vnd.openxmlformats-officedocument.presentationml.notesSlide+xml"/>
  <Override PartName="/ppt/slides/slide97.xml" ContentType="application/vnd.openxmlformats-officedocument.presentationml.slide+xml"/>
  <Override PartName="/ppt/slides/slide134.xml" ContentType="application/vnd.openxmlformats-officedocument.presentationml.slide+xml"/>
  <Override PartName="/ppt/slides/slide181.xml" ContentType="application/vnd.openxmlformats-officedocument.presentationml.slide+xml"/>
  <Override PartName="/ppt/notesSlides/notesSlide5.xml" ContentType="application/vnd.openxmlformats-officedocument.presentationml.notesSlide+xml"/>
  <Override PartName="/ppt/notesSlides/notesSlide99.xml" ContentType="application/vnd.openxmlformats-officedocument.presentationml.notesSlide+xml"/>
  <Override PartName="/ppt/notesSlides/notesSlide144.xml" ContentType="application/vnd.openxmlformats-officedocument.presentationml.notesSlide+xml"/>
  <Override PartName="/ppt/notesSlides/notesSlide191.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slides/slide170.xml" ContentType="application/vnd.openxmlformats-officedocument.presentationml.slide+xml"/>
  <Override PartName="/ppt/notesSlides/notesSlide88.xml" ContentType="application/vnd.openxmlformats-officedocument.presentationml.notesSlide+xml"/>
  <Override PartName="/ppt/notesSlides/notesSlide133.xml" ContentType="application/vnd.openxmlformats-officedocument.presentationml.notesSlide+xml"/>
  <Override PartName="/ppt/notesSlides/notesSlide180.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122.xml" ContentType="application/vnd.openxmlformats-officedocument.presentationml.notesSlide+xml"/>
  <Override PartName="/ppt/notesSlides/notesSlide209.xml" ContentType="application/vnd.openxmlformats-officedocument.presentationml.notesSlide+xml"/>
  <Override PartName="/ppt/slides/slide53.xml" ContentType="application/vnd.openxmlformats-officedocument.presentationml.slide+xml"/>
  <Override PartName="/ppt/slides/slide235.xml" ContentType="application/vnd.openxmlformats-officedocument.presentationml.slide+xml"/>
  <Default Extension="jpeg" ContentType="image/jpeg"/>
  <Override PartName="/ppt/notesSlides/notesSlide55.xml" ContentType="application/vnd.openxmlformats-officedocument.presentationml.notesSlide+xml"/>
  <Override PartName="/ppt/notesSlides/notesSlide100.xml" ContentType="application/vnd.openxmlformats-officedocument.presentationml.notesSlide+xml"/>
  <Override PartName="/ppt/notesSlides/notesSlide111.xml" ContentType="application/vnd.openxmlformats-officedocument.presentationml.notesSlide+xml"/>
  <Override PartName="/ppt/slides/slide31.xml" ContentType="application/vnd.openxmlformats-officedocument.presentationml.slide+xml"/>
  <Override PartName="/ppt/slides/slide42.xml" ContentType="application/vnd.openxmlformats-officedocument.presentationml.slide+xml"/>
  <Override PartName="/ppt/slides/slide213.xml" ContentType="application/vnd.openxmlformats-officedocument.presentationml.slide+xml"/>
  <Override PartName="/ppt/slides/slide224.xml" ContentType="application/vnd.openxmlformats-officedocument.presentationml.slide+xml"/>
  <Override PartName="/ppt/notesSlides/notesSlide44.xml" ContentType="application/vnd.openxmlformats-officedocument.presentationml.notesSlide+xml"/>
  <Override PartName="/ppt/notesSlides/notesSlide91.xml" ContentType="application/vnd.openxmlformats-officedocument.presentationml.notesSlide+xml"/>
  <Override PartName="/ppt/notesSlides/notesSlide223.xml" ContentType="application/vnd.openxmlformats-officedocument.presentationml.notesSlide+xml"/>
  <Override PartName="/ppt/notesSlides/notesSlide234.xml" ContentType="application/vnd.openxmlformats-officedocument.presentationml.notesSlide+xml"/>
  <Override PartName="/ppt/slides/slide20.xml" ContentType="application/vnd.openxmlformats-officedocument.presentationml.slide+xml"/>
  <Override PartName="/ppt/slides/slide197.xml" ContentType="application/vnd.openxmlformats-officedocument.presentationml.slide+xml"/>
  <Override PartName="/ppt/slides/slide202.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80.xml" ContentType="application/vnd.openxmlformats-officedocument.presentationml.notesSlide+xml"/>
  <Override PartName="/ppt/notesSlides/notesSlide212.xml" ContentType="application/vnd.openxmlformats-officedocument.presentationml.notesSlide+xml"/>
  <Override PartName="/ppt/slides/slide139.xml" ContentType="application/vnd.openxmlformats-officedocument.presentationml.slide+xml"/>
  <Override PartName="/ppt/slides/slide186.xml" ContentType="application/vnd.openxmlformats-officedocument.presentationml.slide+xml"/>
  <Override PartName="/ppt/notesSlides/notesSlide11.xml" ContentType="application/vnd.openxmlformats-officedocument.presentationml.notesSlide+xml"/>
  <Override PartName="/ppt/notesSlides/notesSlide149.xml" ContentType="application/vnd.openxmlformats-officedocument.presentationml.notesSlide+xml"/>
  <Override PartName="/ppt/notesSlides/notesSlide196.xml" ContentType="application/vnd.openxmlformats-officedocument.presentationml.notesSlide+xml"/>
  <Override PartName="/ppt/notesSlides/notesSlide201.xml" ContentType="application/vnd.openxmlformats-officedocument.presentationml.notesSlide+xml"/>
  <Override PartName="/ppt/slides/slide117.xml" ContentType="application/vnd.openxmlformats-officedocument.presentationml.slide+xml"/>
  <Override PartName="/ppt/slides/slide128.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notesSlides/notesSlide127.xml" ContentType="application/vnd.openxmlformats-officedocument.presentationml.notesSlide+xml"/>
  <Override PartName="/ppt/notesSlides/notesSlide138.xml" ContentType="application/vnd.openxmlformats-officedocument.presentationml.notesSlide+xml"/>
  <Override PartName="/ppt/notesSlides/notesSlide174.xml" ContentType="application/vnd.openxmlformats-officedocument.presentationml.notesSlide+xml"/>
  <Override PartName="/ppt/notesSlides/notesSlide185.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106.xml" ContentType="application/vnd.openxmlformats-officedocument.presentationml.slide+xml"/>
  <Override PartName="/ppt/slides/slide153.xml" ContentType="application/vnd.openxmlformats-officedocument.presentationml.slide+xml"/>
  <Override PartName="/ppt/notesSlides/notesSlide116.xml" ContentType="application/vnd.openxmlformats-officedocument.presentationml.notesSlide+xml"/>
  <Override PartName="/ppt/notesSlides/notesSlide163.xml" ContentType="application/vnd.openxmlformats-officedocument.presentationml.notesSlide+xml"/>
  <Override PartName="/ppt/slides/slide58.xml" ContentType="application/vnd.openxmlformats-officedocument.presentationml.slide+xml"/>
  <Override PartName="/ppt/slides/slide229.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notesSlides/notesSlide15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31.xml" ContentType="application/vnd.openxmlformats-officedocument.presentationml.slide+xml"/>
  <Override PartName="/ppt/notesSlides/notesSlide49.xml" ContentType="application/vnd.openxmlformats-officedocument.presentationml.notesSlide+xml"/>
  <Override PartName="/ppt/notesSlides/notesSlide96.xml" ContentType="application/vnd.openxmlformats-officedocument.presentationml.notesSlide+xml"/>
  <Override PartName="/ppt/notesSlides/notesSlide130.xml" ContentType="application/vnd.openxmlformats-officedocument.presentationml.notesSlide+xml"/>
  <Override PartName="/ppt/notesSlides/notesSlide228.xml" ContentType="application/vnd.openxmlformats-officedocument.presentationml.notesSlide+xml"/>
  <Override PartName="/ppt/slides/slide207.xml" ContentType="application/vnd.openxmlformats-officedocument.presentationml.slide+xml"/>
  <Override PartName="/ppt/notesSlides/notesSlide27.xml" ContentType="application/vnd.openxmlformats-officedocument.presentationml.notesSlide+xml"/>
  <Override PartName="/ppt/notesSlides/notesSlide74.xml" ContentType="application/vnd.openxmlformats-officedocument.presentationml.notesSlide+xml"/>
  <Override PartName="/ppt/slides/slide14.xml" ContentType="application/vnd.openxmlformats-officedocument.presentationml.slide+xml"/>
  <Override PartName="/ppt/slides/slide61.xml" ContentType="application/vnd.openxmlformats-officedocument.presentationml.slide+xml"/>
  <Override PartName="/ppt/slides/slide232.xml" ContentType="application/vnd.openxmlformats-officedocument.presentationml.slide+xml"/>
  <Override PartName="/ppt/notesMasters/notesMaster1.xml" ContentType="application/vnd.openxmlformats-officedocument.presentationml.notesMaster+xml"/>
  <Override PartName="/ppt/notesSlides/notesSlide206.xml" ContentType="application/vnd.openxmlformats-officedocument.presentationml.notesSlide+xml"/>
  <Override PartName="/ppt/slides/slide169.xml" ContentType="application/vnd.openxmlformats-officedocument.presentationml.slide+xml"/>
  <Override PartName="/ppt/tableStyles.xml" ContentType="application/vnd.openxmlformats-officedocument.presentationml.tableStyles+xml"/>
  <Override PartName="/ppt/notesSlides/notesSlide52.xml" ContentType="application/vnd.openxmlformats-officedocument.presentationml.notesSlide+xml"/>
  <Override PartName="/ppt/notesSlides/notesSlide231.xml" ContentType="application/vnd.openxmlformats-officedocument.presentationml.notesSlide+xml"/>
  <Override PartName="/ppt/slides/slide147.xml" ContentType="application/vnd.openxmlformats-officedocument.presentationml.slide+xml"/>
  <Override PartName="/ppt/slides/slide194.xml" ContentType="application/vnd.openxmlformats-officedocument.presentationml.slide+xml"/>
  <Override PartName="/ppt/slides/slide210.xml" ContentType="application/vnd.openxmlformats-officedocument.presentationml.slide+xml"/>
  <Override PartName="/ppt/notesSlides/notesSlide30.xml" ContentType="application/vnd.openxmlformats-officedocument.presentationml.notesSlide+xml"/>
  <Override PartName="/ppt/notesSlides/notesSlide168.xml" ContentType="application/vnd.openxmlformats-officedocument.presentationml.notesSlide+xml"/>
  <Override PartName="/ppt/slides/slide99.xml" ContentType="application/vnd.openxmlformats-officedocument.presentationml.slide+xml"/>
  <Override PartName="/ppt/notesSlides/notesSlide146.xml" ContentType="application/vnd.openxmlformats-officedocument.presentationml.notesSlide+xml"/>
  <Override PartName="/ppt/notesSlides/notesSlide193.xml" ContentType="application/vnd.openxmlformats-officedocument.presentationml.notesSlide+xml"/>
  <Override PartName="/ppt/slides/slide77.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slides/slide5.xml" ContentType="application/vnd.openxmlformats-officedocument.presentationml.slide+xml"/>
  <Override PartName="/ppt/slides/slide103.xml" ContentType="application/vnd.openxmlformats-officedocument.presentationml.slide+xml"/>
  <Override PartName="/ppt/slides/slide150.xml" ContentType="application/vnd.openxmlformats-officedocument.presentationml.slide+xml"/>
  <Override PartName="/ppt/slideLayouts/slideLayout7.xml" ContentType="application/vnd.openxmlformats-officedocument.presentationml.slideLayout+xml"/>
  <Override PartName="/ppt/notesSlides/notesSlide68.xml" ContentType="application/vnd.openxmlformats-officedocument.presentationml.notesSlide+xml"/>
  <Override PartName="/ppt/notesSlides/notesSlide124.xml" ContentType="application/vnd.openxmlformats-officedocument.presentationml.notesSlide+xml"/>
  <Override PartName="/ppt/notesSlides/notesSlide171.xml" ContentType="application/vnd.openxmlformats-officedocument.presentationml.notesSlide+xml"/>
  <Override PartName="/ppt/slides/slide55.xml" ContentType="application/vnd.openxmlformats-officedocument.presentationml.slide+xml"/>
  <Override PartName="/ppt/notesSlides/notesSlide102.xml" ContentType="application/vnd.openxmlformats-officedocument.presentationml.notesSlide+xml"/>
  <Override PartName="/ppt/slides/slide33.xml" ContentType="application/vnd.openxmlformats-officedocument.presentationml.slide+xml"/>
  <Override PartName="/ppt/slides/slide80.xml" ContentType="application/vnd.openxmlformats-officedocument.presentationml.slide+xml"/>
  <Override PartName="/ppt/slides/slide226.xml" ContentType="application/vnd.openxmlformats-officedocument.presentationml.slide+xml"/>
  <Override PartName="/ppt/notesSlides/notesSlide46.xml" ContentType="application/vnd.openxmlformats-officedocument.presentationml.notesSlide+xml"/>
  <Override PartName="/ppt/notesSlides/notesSlide93.xml" ContentType="application/vnd.openxmlformats-officedocument.presentationml.notesSlide+xml"/>
  <Override PartName="/ppt/notesSlides/notesSlide225.xml" ContentType="application/vnd.openxmlformats-officedocument.presentationml.notesSlide+xml"/>
  <Override PartName="/ppt/presentation.xml" ContentType="application/vnd.openxmlformats-officedocument.presentationml.presentation.main+xml"/>
  <Override PartName="/ppt/slides/slide204.xml" ContentType="application/vnd.openxmlformats-officedocument.presentationml.slide+xml"/>
  <Override PartName="/ppt/notesSlides/notesSlide24.xml" ContentType="application/vnd.openxmlformats-officedocument.presentationml.notesSlide+xml"/>
  <Override PartName="/ppt/notesSlides/notesSlide71.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notesSlides/notesSlide203.xml" ContentType="application/vnd.openxmlformats-officedocument.presentationml.notesSlide+xml"/>
  <Override PartName="/ppt/slides/slide119.xml" ContentType="application/vnd.openxmlformats-officedocument.presentationml.slide+xml"/>
  <Override PartName="/ppt/slides/slide166.xml" ContentType="application/vnd.openxmlformats-officedocument.presentationml.slide+xml"/>
  <Override PartName="/ppt/slideLayouts/slideLayout10.xml" ContentType="application/vnd.openxmlformats-officedocument.presentationml.slideLayout+xml"/>
  <Override PartName="/ppt/notesSlides/notesSlide187.xml" ContentType="application/vnd.openxmlformats-officedocument.presentationml.notesSlide+xml"/>
  <Override PartName="/ppt/notesSlides/notesSlide118.xml" ContentType="application/vnd.openxmlformats-officedocument.presentationml.notesSlide+xml"/>
  <Override PartName="/ppt/notesSlides/notesSlide165.xml" ContentType="application/vnd.openxmlformats-officedocument.presentationml.notes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slides/slide191.xml" ContentType="application/vnd.openxmlformats-officedocument.presentationml.slide+xml"/>
  <Override PartName="/ppt/slides/slide122.xml" ContentType="application/vnd.openxmlformats-officedocument.presentationml.slide+xml"/>
  <Override PartName="/ppt/notesSlides/notesSlide87.xml" ContentType="application/vnd.openxmlformats-officedocument.presentationml.notesSlide+xml"/>
  <Override PartName="/ppt/notesSlides/notesSlide143.xml" ContentType="application/vnd.openxmlformats-officedocument.presentationml.notesSlide+xml"/>
  <Override PartName="/ppt/notesSlides/notesSlide190.xml" ContentType="application/vnd.openxmlformats-officedocument.presentationml.notesSlide+xml"/>
  <Override PartName="/ppt/slides/slide27.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notesSlides/notesSlide121.xml" ContentType="application/vnd.openxmlformats-officedocument.presentationml.notesSlide+xml"/>
  <Override PartName="/ppt/notesSlides/notesSlide219.xml" ContentType="application/vnd.openxmlformats-officedocument.presentationml.notesSlide+xml"/>
  <Override PartName="/ppt/slides/slide2.xml" ContentType="application/vnd.openxmlformats-officedocument.presentationml.slide+xml"/>
  <Override PartName="/ppt/slides/slide52.xml" ContentType="application/vnd.openxmlformats-officedocument.presentationml.slide+xml"/>
  <Override PartName="/ppt/slides/slide100.xml" ContentType="application/vnd.openxmlformats-officedocument.presentationml.slide+xml"/>
  <Override PartName="/ppt/notesSlides/notesSlide18.xml" ContentType="application/vnd.openxmlformats-officedocument.presentationml.notesSlide+xml"/>
  <Default Extension="wmf" ContentType="image/x-wmf"/>
  <Override PartName="/ppt/notesSlides/notesSlide65.xml" ContentType="application/vnd.openxmlformats-officedocument.presentationml.notesSlide+xml"/>
  <Override PartName="/ppt/slides/slide223.xml" ContentType="application/vnd.openxmlformats-officedocument.presentationml.slide+xml"/>
  <Override PartName="/ppt/notesSlides/notesSlide43.xml" ContentType="application/vnd.openxmlformats-officedocument.presentationml.notesSlide+xml"/>
  <Override PartName="/ppt/notesSlides/notesSlide90.xml" ContentType="application/vnd.openxmlformats-officedocument.presentationml.notesSlide+xml"/>
  <Override PartName="/ppt/slides/slide30.xml" ContentType="application/vnd.openxmlformats-officedocument.presentationml.slide+xml"/>
  <Override PartName="/ppt/notesSlides/notesSlide2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41"/>
  </p:notesMasterIdLst>
  <p:handoutMasterIdLst>
    <p:handoutMasterId r:id="rId242"/>
  </p:handout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5" r:id="rId39"/>
    <p:sldId id="294" r:id="rId40"/>
    <p:sldId id="296" r:id="rId41"/>
    <p:sldId id="297" r:id="rId42"/>
    <p:sldId id="299" r:id="rId43"/>
    <p:sldId id="300" r:id="rId44"/>
    <p:sldId id="301" r:id="rId45"/>
    <p:sldId id="302" r:id="rId46"/>
    <p:sldId id="303" r:id="rId47"/>
    <p:sldId id="304" r:id="rId48"/>
    <p:sldId id="305" r:id="rId49"/>
    <p:sldId id="306" r:id="rId50"/>
    <p:sldId id="310" r:id="rId51"/>
    <p:sldId id="307" r:id="rId52"/>
    <p:sldId id="308" r:id="rId53"/>
    <p:sldId id="309"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30" r:id="rId69"/>
    <p:sldId id="325" r:id="rId70"/>
    <p:sldId id="326" r:id="rId71"/>
    <p:sldId id="327" r:id="rId72"/>
    <p:sldId id="328" r:id="rId73"/>
    <p:sldId id="329"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9" r:id="rId92"/>
    <p:sldId id="348" r:id="rId93"/>
    <p:sldId id="350" r:id="rId94"/>
    <p:sldId id="351" r:id="rId95"/>
    <p:sldId id="352" r:id="rId96"/>
    <p:sldId id="353" r:id="rId97"/>
    <p:sldId id="354" r:id="rId98"/>
    <p:sldId id="355" r:id="rId99"/>
    <p:sldId id="356" r:id="rId100"/>
    <p:sldId id="357" r:id="rId101"/>
    <p:sldId id="358" r:id="rId102"/>
    <p:sldId id="359" r:id="rId103"/>
    <p:sldId id="360" r:id="rId104"/>
    <p:sldId id="361" r:id="rId105"/>
    <p:sldId id="362" r:id="rId106"/>
    <p:sldId id="363" r:id="rId107"/>
    <p:sldId id="364" r:id="rId108"/>
    <p:sldId id="365" r:id="rId109"/>
    <p:sldId id="366" r:id="rId110"/>
    <p:sldId id="367" r:id="rId111"/>
    <p:sldId id="368" r:id="rId112"/>
    <p:sldId id="369" r:id="rId113"/>
    <p:sldId id="370" r:id="rId114"/>
    <p:sldId id="371" r:id="rId115"/>
    <p:sldId id="372" r:id="rId116"/>
    <p:sldId id="373" r:id="rId117"/>
    <p:sldId id="374" r:id="rId118"/>
    <p:sldId id="375" r:id="rId119"/>
    <p:sldId id="376" r:id="rId120"/>
    <p:sldId id="377" r:id="rId121"/>
    <p:sldId id="378" r:id="rId122"/>
    <p:sldId id="379" r:id="rId123"/>
    <p:sldId id="380" r:id="rId124"/>
    <p:sldId id="381" r:id="rId125"/>
    <p:sldId id="382" r:id="rId126"/>
    <p:sldId id="383" r:id="rId127"/>
    <p:sldId id="384" r:id="rId128"/>
    <p:sldId id="385" r:id="rId129"/>
    <p:sldId id="386" r:id="rId130"/>
    <p:sldId id="387" r:id="rId131"/>
    <p:sldId id="388" r:id="rId132"/>
    <p:sldId id="391" r:id="rId133"/>
    <p:sldId id="389" r:id="rId134"/>
    <p:sldId id="390" r:id="rId135"/>
    <p:sldId id="392" r:id="rId136"/>
    <p:sldId id="393" r:id="rId137"/>
    <p:sldId id="394" r:id="rId138"/>
    <p:sldId id="396" r:id="rId139"/>
    <p:sldId id="395" r:id="rId140"/>
    <p:sldId id="397" r:id="rId141"/>
    <p:sldId id="398" r:id="rId142"/>
    <p:sldId id="399" r:id="rId143"/>
    <p:sldId id="400" r:id="rId144"/>
    <p:sldId id="401" r:id="rId145"/>
    <p:sldId id="402" r:id="rId146"/>
    <p:sldId id="403" r:id="rId147"/>
    <p:sldId id="404" r:id="rId148"/>
    <p:sldId id="405" r:id="rId149"/>
    <p:sldId id="406" r:id="rId150"/>
    <p:sldId id="407" r:id="rId151"/>
    <p:sldId id="408" r:id="rId152"/>
    <p:sldId id="409" r:id="rId153"/>
    <p:sldId id="410" r:id="rId154"/>
    <p:sldId id="414" r:id="rId155"/>
    <p:sldId id="413" r:id="rId156"/>
    <p:sldId id="411" r:id="rId157"/>
    <p:sldId id="412" r:id="rId158"/>
    <p:sldId id="415" r:id="rId159"/>
    <p:sldId id="416" r:id="rId160"/>
    <p:sldId id="417" r:id="rId161"/>
    <p:sldId id="418" r:id="rId162"/>
    <p:sldId id="419" r:id="rId163"/>
    <p:sldId id="420" r:id="rId164"/>
    <p:sldId id="421" r:id="rId165"/>
    <p:sldId id="422" r:id="rId166"/>
    <p:sldId id="423" r:id="rId167"/>
    <p:sldId id="424" r:id="rId168"/>
    <p:sldId id="425" r:id="rId169"/>
    <p:sldId id="426" r:id="rId170"/>
    <p:sldId id="427" r:id="rId171"/>
    <p:sldId id="428" r:id="rId172"/>
    <p:sldId id="429" r:id="rId173"/>
    <p:sldId id="430" r:id="rId174"/>
    <p:sldId id="431" r:id="rId175"/>
    <p:sldId id="432" r:id="rId176"/>
    <p:sldId id="433" r:id="rId177"/>
    <p:sldId id="434" r:id="rId178"/>
    <p:sldId id="435" r:id="rId179"/>
    <p:sldId id="436" r:id="rId180"/>
    <p:sldId id="437" r:id="rId181"/>
    <p:sldId id="438" r:id="rId182"/>
    <p:sldId id="439" r:id="rId183"/>
    <p:sldId id="440" r:id="rId184"/>
    <p:sldId id="441" r:id="rId185"/>
    <p:sldId id="442" r:id="rId186"/>
    <p:sldId id="443" r:id="rId187"/>
    <p:sldId id="444" r:id="rId188"/>
    <p:sldId id="445" r:id="rId189"/>
    <p:sldId id="446" r:id="rId190"/>
    <p:sldId id="447" r:id="rId191"/>
    <p:sldId id="448" r:id="rId192"/>
    <p:sldId id="449" r:id="rId193"/>
    <p:sldId id="450" r:id="rId194"/>
    <p:sldId id="451" r:id="rId195"/>
    <p:sldId id="452" r:id="rId196"/>
    <p:sldId id="453" r:id="rId197"/>
    <p:sldId id="454" r:id="rId198"/>
    <p:sldId id="455" r:id="rId199"/>
    <p:sldId id="456" r:id="rId200"/>
    <p:sldId id="457" r:id="rId201"/>
    <p:sldId id="458" r:id="rId202"/>
    <p:sldId id="459" r:id="rId203"/>
    <p:sldId id="460" r:id="rId204"/>
    <p:sldId id="461" r:id="rId205"/>
    <p:sldId id="462" r:id="rId206"/>
    <p:sldId id="463" r:id="rId207"/>
    <p:sldId id="464" r:id="rId208"/>
    <p:sldId id="465" r:id="rId209"/>
    <p:sldId id="466" r:id="rId210"/>
    <p:sldId id="467" r:id="rId211"/>
    <p:sldId id="468" r:id="rId212"/>
    <p:sldId id="469" r:id="rId213"/>
    <p:sldId id="470" r:id="rId214"/>
    <p:sldId id="471" r:id="rId215"/>
    <p:sldId id="472" r:id="rId216"/>
    <p:sldId id="473" r:id="rId217"/>
    <p:sldId id="474" r:id="rId218"/>
    <p:sldId id="475" r:id="rId219"/>
    <p:sldId id="476" r:id="rId220"/>
    <p:sldId id="477" r:id="rId221"/>
    <p:sldId id="478" r:id="rId222"/>
    <p:sldId id="479" r:id="rId223"/>
    <p:sldId id="480" r:id="rId224"/>
    <p:sldId id="481" r:id="rId225"/>
    <p:sldId id="482" r:id="rId226"/>
    <p:sldId id="483" r:id="rId227"/>
    <p:sldId id="484" r:id="rId228"/>
    <p:sldId id="485" r:id="rId229"/>
    <p:sldId id="486" r:id="rId230"/>
    <p:sldId id="487" r:id="rId231"/>
    <p:sldId id="488" r:id="rId232"/>
    <p:sldId id="489" r:id="rId233"/>
    <p:sldId id="490" r:id="rId234"/>
    <p:sldId id="491" r:id="rId235"/>
    <p:sldId id="492" r:id="rId236"/>
    <p:sldId id="493" r:id="rId237"/>
    <p:sldId id="494" r:id="rId238"/>
    <p:sldId id="495" r:id="rId239"/>
    <p:sldId id="496" r:id="rId240"/>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35" autoAdjust="0"/>
    <p:restoredTop sz="73835" autoAdjust="0"/>
  </p:normalViewPr>
  <p:slideViewPr>
    <p:cSldViewPr>
      <p:cViewPr varScale="1">
        <p:scale>
          <a:sx n="80" d="100"/>
          <a:sy n="80" d="100"/>
        </p:scale>
        <p:origin x="-1068"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3" Type="http://schemas.openxmlformats.org/officeDocument/2006/relationships/slide" Target="slides/slide232.xml"/><Relationship Id="rId238" Type="http://schemas.openxmlformats.org/officeDocument/2006/relationships/slide" Target="slides/slide237.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theme" Target="theme/theme1.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notesMaster" Target="notesMasters/notesMaster1.xml"/><Relationship Id="rId246"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handoutMaster" Target="handoutMasters/handoutMaster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1/26/2014</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1/26/2014</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welcomes the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this Unit comprises seven Elements, as listed on the slide explaining:</a:t>
            </a:r>
          </a:p>
          <a:p>
            <a:r>
              <a:rPr lang="en-AU" sz="1200" kern="1200" baseline="0" dirty="0" smtClean="0">
                <a:solidFill>
                  <a:schemeClr val="tx1"/>
                </a:solidFill>
                <a:latin typeface="+mn-lt"/>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latin typeface="+mn-lt"/>
                <a:ea typeface="+mn-ea"/>
                <a:cs typeface="+mn-cs"/>
              </a:rPr>
              <a:t>• Trainees can obtain more detail from their Trainee Manual</a:t>
            </a:r>
          </a:p>
          <a:p>
            <a:r>
              <a:rPr lang="en-AU" sz="1200" kern="1200" baseline="0" dirty="0" smtClean="0">
                <a:solidFill>
                  <a:schemeClr val="tx1"/>
                </a:solidFill>
                <a:latin typeface="+mn-lt"/>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types of food and beverage establishments exist?</a:t>
            </a:r>
          </a:p>
          <a:p>
            <a:pPr>
              <a:buFont typeface="Arial" pitchFamily="34" charset="0"/>
              <a:buChar char="•"/>
            </a:pPr>
            <a:r>
              <a:rPr lang="en-AU" sz="1200" kern="1200" baseline="0" dirty="0" smtClean="0">
                <a:solidFill>
                  <a:schemeClr val="tx1"/>
                </a:solidFill>
                <a:latin typeface="+mn-lt"/>
                <a:ea typeface="+mn-ea"/>
                <a:cs typeface="+mn-cs"/>
              </a:rPr>
              <a:t>What preparation needs to take place at the start of the day?</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List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answer following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Provide examples of what needs to take place under each preparation step</a:t>
            </a: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List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answer following question/s:</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Identify different types of eateries they visit ranging from fast food to formal dining and drinking.</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Identify what preparation needs to take place that is different.</a:t>
            </a: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Provide examples of what needs to take place under each preparation step</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Provide examples of what needs to take place under each preparation step</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Provide examples of what needs to be prepared for each step identified in the slide.</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is it important?</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Provide examples of what needs to be prepared for each step identified in the slide.</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lvl="0"/>
            <a:r>
              <a:rPr lang="en-AU" sz="1200" dirty="0" smtClean="0"/>
              <a:t>Benches – making sure they are free from water, soap scum, tissues and glassware</a:t>
            </a:r>
          </a:p>
          <a:p>
            <a:pPr lvl="0"/>
            <a:r>
              <a:rPr lang="en-AU" sz="1200" dirty="0" smtClean="0"/>
              <a:t>Toilet cubicles – checking they are stocked with toilet paper, the toilet bowl and seat clean</a:t>
            </a:r>
          </a:p>
          <a:p>
            <a:pPr lvl="0"/>
            <a:r>
              <a:rPr lang="en-AU" sz="1200" dirty="0" smtClean="0"/>
              <a:t>Urinal – checking they are clean and in good working order, deodorant blocks supplied where appropriate</a:t>
            </a:r>
          </a:p>
          <a:p>
            <a:pPr lvl="0"/>
            <a:r>
              <a:rPr lang="en-AU" sz="1200" dirty="0" smtClean="0"/>
              <a:t>Hand towel dispenser – making sure it is stocked with woven paper towels</a:t>
            </a:r>
          </a:p>
          <a:p>
            <a:pPr lvl="0"/>
            <a:r>
              <a:rPr lang="en-AU" sz="1200" dirty="0" smtClean="0"/>
              <a:t>Hand dryer – verifying it is clean and in good working order</a:t>
            </a:r>
          </a:p>
          <a:p>
            <a:pPr lvl="0"/>
            <a:r>
              <a:rPr lang="en-AU" sz="1200" dirty="0" smtClean="0"/>
              <a:t>Waste paper basket – emptying it as required and ensuring it is not overflowing, and is fitted with a bin liner that is in good order</a:t>
            </a:r>
          </a:p>
          <a:p>
            <a:pPr lvl="0"/>
            <a:r>
              <a:rPr lang="en-AU" sz="1200" dirty="0" smtClean="0"/>
              <a:t>Floor – making sure it is clean and free from rubbish and liquid spillage </a:t>
            </a:r>
          </a:p>
          <a:p>
            <a:pPr lvl="0"/>
            <a:r>
              <a:rPr lang="en-AU" sz="1200" dirty="0" smtClean="0"/>
              <a:t>Making sure the area has clean and hygienic smell.</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Provide examples of what needs to be prepared for each step identified in the slide.</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is it important?</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Provide examples of what needs to be prepared specifically for external areas that have not been mentioned in this slide?.</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 Why is it important?</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answer following question/s:</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can you create ambiance and comfort?</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is it important for patrons?</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answer following question/s:</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is a comfortable temperature?</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do you control temperature?</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answer following question/s:</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is the correct lighting?</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can you establish mood lighting?</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can you make lighting safe for patrons to notice steps and other dangerous items such as table corners?</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answer following question/s:</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is ‘appropriate music’ for each meal time?</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can you provide this music?</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a:t>
            </a: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latin typeface="Helvetica" pitchFamily="34" charset="0"/>
              </a:rPr>
              <a:t>Think of other ways to create comfort and ambiance.</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answer following question/s:</a:t>
            </a: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latin typeface="Helvetica" pitchFamily="34" charset="0"/>
              </a:rPr>
              <a:t>What furniture is needed in a restaurant?</a:t>
            </a: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latin typeface="Helvetica" pitchFamily="34" charset="0"/>
              </a:rPr>
              <a:t>What</a:t>
            </a:r>
            <a:r>
              <a:rPr lang="en-AU" sz="1200" baseline="0" dirty="0" smtClean="0">
                <a:latin typeface="Helvetica" pitchFamily="34" charset="0"/>
              </a:rPr>
              <a:t> determines their style and layout?</a:t>
            </a:r>
            <a:endParaRPr lang="en-AU" sz="1200" dirty="0" smtClean="0">
              <a:latin typeface="Helvetica" pitchFamily="34" charset="0"/>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answer following question/s:</a:t>
            </a: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latin typeface="Helvetica" pitchFamily="34" charset="0"/>
              </a:rPr>
              <a:t>What does a manager need to consider when thinking about a floor</a:t>
            </a:r>
            <a:r>
              <a:rPr lang="en-AU" sz="1200" baseline="0" dirty="0" smtClean="0">
                <a:latin typeface="Helvetica" pitchFamily="34" charset="0"/>
              </a:rPr>
              <a:t> plan?</a:t>
            </a:r>
            <a:endParaRPr lang="en-AU" sz="1200" dirty="0" smtClean="0">
              <a:latin typeface="Helvetica" pitchFamily="34" charset="0"/>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answer following question/s:</a:t>
            </a: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latin typeface="Helvetica" pitchFamily="34" charset="0"/>
              </a:rPr>
              <a:t>What does a manager need to consider when thinking about a floor</a:t>
            </a:r>
            <a:r>
              <a:rPr lang="en-AU" sz="1200" baseline="0" dirty="0" smtClean="0">
                <a:latin typeface="Helvetica" pitchFamily="34" charset="0"/>
              </a:rPr>
              <a:t> plan?</a:t>
            </a:r>
            <a:endParaRPr lang="en-AU" sz="1200" dirty="0" smtClean="0">
              <a:latin typeface="Helvetica" pitchFamily="34" charset="0"/>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think about the impact these reservation details will have for a floor plan:</a:t>
            </a:r>
            <a:endParaRPr lang="en-AU" sz="1200" baseline="0" dirty="0" smtClean="0">
              <a:latin typeface="Helvetica" pitchFamily="34" charset="0"/>
            </a:endParaRP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smtClean="0">
              <a:latin typeface="Helvetica" pitchFamily="34" charset="0"/>
            </a:endParaRPr>
          </a:p>
          <a:p>
            <a:pPr lvl="0">
              <a:buFont typeface="Arial" pitchFamily="34" charset="0"/>
              <a:buChar char="•"/>
            </a:pPr>
            <a:r>
              <a:rPr lang="en-AU" sz="1200" dirty="0" smtClean="0"/>
              <a:t>Number of guests – including type of guests. For example, a baby may require a high chair. </a:t>
            </a:r>
          </a:p>
          <a:p>
            <a:pPr lvl="0">
              <a:buFont typeface="Arial" pitchFamily="34" charset="0"/>
              <a:buChar char="•"/>
            </a:pPr>
            <a:r>
              <a:rPr lang="en-AU" sz="1200" dirty="0" smtClean="0"/>
              <a:t>Also, the size of some bookings can indicate where there table has to be placed simply because it won’t fit in certain locations</a:t>
            </a:r>
          </a:p>
          <a:p>
            <a:pPr lvl="0">
              <a:buFont typeface="Arial" pitchFamily="34" charset="0"/>
              <a:buChar char="•"/>
            </a:pPr>
            <a:r>
              <a:rPr lang="en-AU" sz="1200" dirty="0" smtClean="0"/>
              <a:t>Customer’s arrival time</a:t>
            </a:r>
          </a:p>
          <a:p>
            <a:pPr lvl="0">
              <a:buFont typeface="Arial" pitchFamily="34" charset="0"/>
              <a:buChar char="•"/>
            </a:pPr>
            <a:r>
              <a:rPr lang="en-AU" sz="1200" dirty="0" smtClean="0"/>
              <a:t>Special requests – such as the guest requesting a specific table number, a table that has a view of the lake, isn’t near the entrance door or is close to the dance floor</a:t>
            </a:r>
          </a:p>
          <a:p>
            <a:pPr lvl="0">
              <a:buFont typeface="Arial" pitchFamily="34" charset="0"/>
              <a:buChar char="•"/>
            </a:pPr>
            <a:r>
              <a:rPr lang="en-AU" sz="1200" dirty="0" smtClean="0"/>
              <a:t>Needs of guests – such as wheelchair access, stated need to be in a private location</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think about the impact the room shape and design will have on a floor plan:</a:t>
            </a:r>
            <a:endParaRPr lang="en-AU" sz="1200" baseline="0" dirty="0" smtClean="0">
              <a:latin typeface="Helvetica" pitchFamily="34" charset="0"/>
            </a:endParaRP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smtClean="0">
              <a:latin typeface="Helvetica" pitchFamily="34" charset="0"/>
            </a:endParaRPr>
          </a:p>
          <a:p>
            <a:r>
              <a:rPr lang="en-AU" sz="1200" u="sng" kern="1200" dirty="0" smtClean="0">
                <a:solidFill>
                  <a:schemeClr val="tx1"/>
                </a:solidFill>
                <a:latin typeface="+mn-lt"/>
                <a:ea typeface="+mn-ea"/>
                <a:cs typeface="+mn-cs"/>
              </a:rPr>
              <a:t>Shape and design of the room</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involves taking into account the structure of the room in relation to issues such as:</a:t>
            </a:r>
          </a:p>
          <a:p>
            <a:pPr lvl="0">
              <a:buFont typeface="Arial" pitchFamily="34" charset="0"/>
              <a:buChar char="•"/>
            </a:pPr>
            <a:r>
              <a:rPr lang="en-AU" sz="1200" kern="1200" dirty="0" smtClean="0">
                <a:solidFill>
                  <a:schemeClr val="tx1"/>
                </a:solidFill>
                <a:latin typeface="+mn-lt"/>
                <a:ea typeface="+mn-ea"/>
                <a:cs typeface="+mn-cs"/>
              </a:rPr>
              <a:t>Tiered floors – split level dining areas are notoriously difficult to prepare a table plan for as they tend to waste a lot of space</a:t>
            </a:r>
          </a:p>
          <a:p>
            <a:pPr lvl="0">
              <a:buFont typeface="Arial" pitchFamily="34" charset="0"/>
              <a:buChar char="•"/>
            </a:pPr>
            <a:r>
              <a:rPr lang="en-AU" sz="1200" kern="1200" dirty="0" smtClean="0">
                <a:solidFill>
                  <a:schemeClr val="tx1"/>
                </a:solidFill>
                <a:latin typeface="+mn-lt"/>
                <a:ea typeface="+mn-ea"/>
                <a:cs typeface="+mn-cs"/>
              </a:rPr>
              <a:t>Location and size of dance floors</a:t>
            </a:r>
          </a:p>
          <a:p>
            <a:pPr lvl="0">
              <a:buFont typeface="Arial" pitchFamily="34" charset="0"/>
              <a:buChar char="•"/>
            </a:pPr>
            <a:r>
              <a:rPr lang="en-AU" sz="1200" kern="1200" dirty="0" smtClean="0">
                <a:solidFill>
                  <a:schemeClr val="tx1"/>
                </a:solidFill>
                <a:latin typeface="+mn-lt"/>
                <a:ea typeface="+mn-ea"/>
                <a:cs typeface="+mn-cs"/>
              </a:rPr>
              <a:t>Location of windows</a:t>
            </a:r>
          </a:p>
          <a:p>
            <a:pPr lvl="0">
              <a:buFont typeface="Arial" pitchFamily="34" charset="0"/>
              <a:buChar char="•"/>
            </a:pPr>
            <a:r>
              <a:rPr lang="en-AU" sz="1200" kern="1200" dirty="0" smtClean="0">
                <a:solidFill>
                  <a:schemeClr val="tx1"/>
                </a:solidFill>
                <a:latin typeface="+mn-lt"/>
                <a:ea typeface="+mn-ea"/>
                <a:cs typeface="+mn-cs"/>
              </a:rPr>
              <a:t>Number and size of entertainment areas</a:t>
            </a:r>
          </a:p>
          <a:p>
            <a:pPr lvl="0">
              <a:buFont typeface="Arial" pitchFamily="34" charset="0"/>
              <a:buChar char="•"/>
            </a:pPr>
            <a:r>
              <a:rPr lang="en-AU" sz="1200" kern="1200" dirty="0" smtClean="0">
                <a:solidFill>
                  <a:schemeClr val="tx1"/>
                </a:solidFill>
                <a:latin typeface="+mn-lt"/>
                <a:ea typeface="+mn-ea"/>
                <a:cs typeface="+mn-cs"/>
              </a:rPr>
              <a:t>Required thoroughfares – to allow both guest access to tables, toilets etc. and to al­low staff sufficient room to move around the floor and service ce the tables. </a:t>
            </a:r>
          </a:p>
          <a:p>
            <a:pPr lvl="0">
              <a:buFont typeface="Arial" pitchFamily="34" charset="0"/>
              <a:buChar char="•"/>
            </a:pPr>
            <a:r>
              <a:rPr lang="en-AU" sz="1200" kern="1200" dirty="0" smtClean="0">
                <a:solidFill>
                  <a:schemeClr val="tx1"/>
                </a:solidFill>
                <a:latin typeface="+mn-lt"/>
                <a:ea typeface="+mn-ea"/>
                <a:cs typeface="+mn-cs"/>
              </a:rPr>
              <a:t>The amount of room required for staff movement must reflect the style of service be­ing offered – for example, more room is needed between tables if gueridon trolleys are going to be used as part of the service. </a:t>
            </a:r>
          </a:p>
          <a:p>
            <a:pPr>
              <a:buFont typeface="Arial" pitchFamily="34" charset="0"/>
              <a:buChar char="•"/>
            </a:pPr>
            <a:r>
              <a:rPr lang="en-AU" sz="1200" kern="1200" dirty="0" smtClean="0">
                <a:solidFill>
                  <a:schemeClr val="tx1"/>
                </a:solidFill>
                <a:latin typeface="+mn-lt"/>
                <a:ea typeface="+mn-ea"/>
                <a:cs typeface="+mn-cs"/>
              </a:rPr>
              <a:t>Most floor plans will allow several primary service routes for waiting staff to take on the floor so that all the tables can be serviced</a:t>
            </a:r>
          </a:p>
          <a:p>
            <a:pPr lvl="0">
              <a:buFont typeface="Arial" pitchFamily="34" charset="0"/>
              <a:buChar char="•"/>
            </a:pPr>
            <a:r>
              <a:rPr lang="en-AU" sz="1200" kern="1200" dirty="0" smtClean="0">
                <a:solidFill>
                  <a:schemeClr val="tx1"/>
                </a:solidFill>
                <a:latin typeface="+mn-lt"/>
                <a:ea typeface="+mn-ea"/>
                <a:cs typeface="+mn-cs"/>
              </a:rPr>
              <a:t>Location and number of booths or alcoves that exist in the room – if applicable</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think about the impact immovable objects will have on a floor plan:</a:t>
            </a:r>
            <a:endParaRPr lang="en-AU" sz="1200" baseline="0" dirty="0" smtClean="0">
              <a:latin typeface="Helvetica" pitchFamily="34" charset="0"/>
            </a:endParaRP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smtClean="0">
              <a:latin typeface="Helvetica" pitchFamily="34" charset="0"/>
            </a:endParaRPr>
          </a:p>
          <a:p>
            <a:r>
              <a:rPr lang="en-AU" sz="1200" u="sng" kern="1200" dirty="0" smtClean="0">
                <a:solidFill>
                  <a:schemeClr val="tx1"/>
                </a:solidFill>
                <a:latin typeface="+mn-lt"/>
                <a:ea typeface="+mn-ea"/>
                <a:cs typeface="+mn-cs"/>
              </a:rPr>
              <a:t>Immovable objects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Within most rooms there will be various objects that cannot be moved and there is therefore a need to plan around them. They include:</a:t>
            </a:r>
          </a:p>
          <a:p>
            <a:pPr lvl="0">
              <a:buFont typeface="Arial" pitchFamily="34" charset="0"/>
              <a:buChar char="•"/>
            </a:pPr>
            <a:r>
              <a:rPr lang="en-AU" sz="1200" kern="1200" dirty="0" smtClean="0">
                <a:solidFill>
                  <a:schemeClr val="tx1"/>
                </a:solidFill>
                <a:latin typeface="+mn-lt"/>
                <a:ea typeface="+mn-ea"/>
                <a:cs typeface="+mn-cs"/>
              </a:rPr>
              <a:t>Waiters stations</a:t>
            </a:r>
          </a:p>
          <a:p>
            <a:pPr lvl="0">
              <a:buFont typeface="Arial" pitchFamily="34" charset="0"/>
              <a:buChar char="•"/>
            </a:pPr>
            <a:r>
              <a:rPr lang="en-AU" sz="1200" kern="1200" dirty="0" smtClean="0">
                <a:solidFill>
                  <a:schemeClr val="tx1"/>
                </a:solidFill>
                <a:latin typeface="+mn-lt"/>
                <a:ea typeface="+mn-ea"/>
                <a:cs typeface="+mn-cs"/>
              </a:rPr>
              <a:t>Pillars</a:t>
            </a:r>
          </a:p>
          <a:p>
            <a:pPr lvl="0">
              <a:buFont typeface="Arial" pitchFamily="34" charset="0"/>
              <a:buChar char="•"/>
            </a:pPr>
            <a:r>
              <a:rPr lang="en-AU" sz="1200" kern="1200" dirty="0" smtClean="0">
                <a:solidFill>
                  <a:schemeClr val="tx1"/>
                </a:solidFill>
                <a:latin typeface="+mn-lt"/>
                <a:ea typeface="+mn-ea"/>
                <a:cs typeface="+mn-cs"/>
              </a:rPr>
              <a:t>Staircases</a:t>
            </a:r>
          </a:p>
          <a:p>
            <a:pPr lvl="0">
              <a:buFont typeface="Arial" pitchFamily="34" charset="0"/>
              <a:buChar char="•"/>
            </a:pPr>
            <a:r>
              <a:rPr lang="en-AU" sz="1200" kern="1200" dirty="0" smtClean="0">
                <a:solidFill>
                  <a:schemeClr val="tx1"/>
                </a:solidFill>
                <a:latin typeface="+mn-lt"/>
                <a:ea typeface="+mn-ea"/>
                <a:cs typeface="+mn-cs"/>
              </a:rPr>
              <a:t>Display cases</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think about the impact styles of furniture will have on a floor plan:</a:t>
            </a:r>
            <a:endParaRPr lang="en-AU" sz="1200" baseline="0" dirty="0" smtClean="0">
              <a:latin typeface="Helvetica" pitchFamily="34" charset="0"/>
            </a:endParaRP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smtClean="0">
              <a:latin typeface="Helvetica" pitchFamily="34" charset="0"/>
            </a:endParaRPr>
          </a:p>
          <a:p>
            <a:r>
              <a:rPr lang="en-AU" sz="1200" u="sng" kern="1200" dirty="0" smtClean="0">
                <a:solidFill>
                  <a:schemeClr val="tx1"/>
                </a:solidFill>
                <a:latin typeface="+mn-lt"/>
                <a:ea typeface="+mn-ea"/>
                <a:cs typeface="+mn-cs"/>
              </a:rPr>
              <a:t>Style of furniture</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These will also influence the layout of the floor plan. Factors involved are:</a:t>
            </a:r>
          </a:p>
          <a:p>
            <a:pPr lvl="0">
              <a:buFont typeface="Arial" pitchFamily="34" charset="0"/>
              <a:buChar char="•"/>
            </a:pPr>
            <a:r>
              <a:rPr lang="en-AU" sz="1200" kern="1200" dirty="0" smtClean="0">
                <a:solidFill>
                  <a:schemeClr val="tx1"/>
                </a:solidFill>
                <a:latin typeface="+mn-lt"/>
                <a:ea typeface="+mn-ea"/>
                <a:cs typeface="+mn-cs"/>
              </a:rPr>
              <a:t>Shape of tables – round, square, half-moon, quarter-circle </a:t>
            </a:r>
          </a:p>
          <a:p>
            <a:pPr lvl="0">
              <a:buFont typeface="Arial" pitchFamily="34" charset="0"/>
              <a:buChar char="•"/>
            </a:pPr>
            <a:r>
              <a:rPr lang="en-AU" sz="1200" kern="1200" dirty="0" smtClean="0">
                <a:solidFill>
                  <a:schemeClr val="tx1"/>
                </a:solidFill>
                <a:latin typeface="+mn-lt"/>
                <a:ea typeface="+mn-ea"/>
                <a:cs typeface="+mn-cs"/>
              </a:rPr>
              <a:t>Size of tables – two-person, or four-person </a:t>
            </a:r>
          </a:p>
          <a:p>
            <a:pPr lvl="0">
              <a:buFont typeface="Arial" pitchFamily="34" charset="0"/>
              <a:buChar char="•"/>
            </a:pPr>
            <a:r>
              <a:rPr lang="en-AU" sz="1200" kern="1200" dirty="0" smtClean="0">
                <a:solidFill>
                  <a:schemeClr val="tx1"/>
                </a:solidFill>
                <a:latin typeface="+mn-lt"/>
                <a:ea typeface="+mn-ea"/>
                <a:cs typeface="+mn-cs"/>
              </a:rPr>
              <a:t>Type of chair used at the tables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think about the impact exits and doors will have on a floor plan.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think about the impact other considerations will have on a floor plan: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rPr>
              <a:t>Further considerations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Further points that may need to be factored in include:</a:t>
            </a:r>
          </a:p>
          <a:p>
            <a:pPr lvl="0">
              <a:buFont typeface="Arial" pitchFamily="34" charset="0"/>
              <a:buChar char="•"/>
            </a:pPr>
            <a:r>
              <a:rPr lang="en-AU" sz="1200" kern="1200" dirty="0" smtClean="0">
                <a:solidFill>
                  <a:schemeClr val="tx1"/>
                </a:solidFill>
                <a:latin typeface="+mn-lt"/>
                <a:ea typeface="+mn-ea"/>
                <a:cs typeface="+mn-cs"/>
              </a:rPr>
              <a:t>Leaving space for guests to move in and out from their table with safety and without having to ask others to stand up</a:t>
            </a:r>
          </a:p>
          <a:p>
            <a:pPr lvl="0">
              <a:buFont typeface="Arial" pitchFamily="34" charset="0"/>
              <a:buChar char="•"/>
            </a:pPr>
            <a:r>
              <a:rPr lang="en-AU" sz="1200" kern="1200" dirty="0" smtClean="0">
                <a:solidFill>
                  <a:schemeClr val="tx1"/>
                </a:solidFill>
                <a:latin typeface="+mn-lt"/>
                <a:ea typeface="+mn-ea"/>
                <a:cs typeface="+mn-cs"/>
              </a:rPr>
              <a:t>Providing customers with enough space around the table to grant a level of privacy –  placing tables ‘too close’ to others is to be avoided</a:t>
            </a:r>
          </a:p>
          <a:p>
            <a:pPr lvl="0">
              <a:buFont typeface="Arial" pitchFamily="34" charset="0"/>
              <a:buChar char="•"/>
            </a:pPr>
            <a:r>
              <a:rPr lang="en-AU" sz="1200" kern="1200" dirty="0" smtClean="0">
                <a:solidFill>
                  <a:schemeClr val="tx1"/>
                </a:solidFill>
                <a:latin typeface="+mn-lt"/>
                <a:ea typeface="+mn-ea"/>
                <a:cs typeface="+mn-cs"/>
              </a:rPr>
              <a:t>Avoiding placing tables in draughty areas, directly under speakers or air conditioning, or too close to waiter’s stations</a:t>
            </a:r>
          </a:p>
          <a:p>
            <a:pPr lvl="0">
              <a:buFont typeface="Arial" pitchFamily="34" charset="0"/>
              <a:buChar char="•"/>
            </a:pPr>
            <a:r>
              <a:rPr lang="en-AU" sz="1200" kern="1200" dirty="0" smtClean="0">
                <a:solidFill>
                  <a:schemeClr val="tx1"/>
                </a:solidFill>
                <a:latin typeface="+mn-lt"/>
                <a:ea typeface="+mn-ea"/>
                <a:cs typeface="+mn-cs"/>
              </a:rPr>
              <a:t>Making provision for hats and coats, where applicable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think about the impact of c</a:t>
            </a:r>
            <a:r>
              <a:rPr lang="en-AU" sz="1200" b="0" dirty="0" smtClean="0"/>
              <a:t>ustomer and service personnel access: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dirty="0" smtClean="0"/>
          </a:p>
          <a:p>
            <a:r>
              <a:rPr lang="en-AU" sz="1200" dirty="0" smtClean="0"/>
              <a:t>Access routes into the room and between tables must ensure:</a:t>
            </a:r>
          </a:p>
          <a:p>
            <a:pPr lvl="0">
              <a:buFont typeface="Arial" pitchFamily="34" charset="0"/>
              <a:buChar char="•"/>
            </a:pPr>
            <a:r>
              <a:rPr lang="en-AU" sz="1200" dirty="0" smtClean="0"/>
              <a:t>The ability of all patrons to move freely to and from their tables</a:t>
            </a:r>
          </a:p>
          <a:p>
            <a:pPr lvl="0">
              <a:buFont typeface="Arial" pitchFamily="34" charset="0"/>
              <a:buChar char="•"/>
            </a:pPr>
            <a:r>
              <a:rPr lang="en-AU" sz="1200" dirty="0" smtClean="0"/>
              <a:t>Room for staff to service individual tables – that is, to move freely and easily around individual tables</a:t>
            </a:r>
          </a:p>
          <a:p>
            <a:pPr lvl="0">
              <a:buFont typeface="Arial" pitchFamily="34" charset="0"/>
              <a:buChar char="•"/>
            </a:pPr>
            <a:r>
              <a:rPr lang="en-AU" sz="1200" dirty="0" smtClean="0"/>
              <a:t>Room for staff to wheel service trolleys around the room and to individual tables</a:t>
            </a:r>
          </a:p>
          <a:p>
            <a:pPr lvl="0">
              <a:buFont typeface="Arial" pitchFamily="34" charset="0"/>
              <a:buChar char="•"/>
            </a:pPr>
            <a:r>
              <a:rPr lang="en-AU" sz="1200" dirty="0" smtClean="0"/>
              <a:t>Ease of access to facilities in the room – such as toilets, viewing areas and service points such as bars, food pick-up points and dance floor</a:t>
            </a:r>
          </a:p>
          <a:p>
            <a:pPr lvl="0">
              <a:buFont typeface="Arial" pitchFamily="34" charset="0"/>
              <a:buChar char="•"/>
            </a:pPr>
            <a:r>
              <a:rPr lang="en-AU" sz="1200" dirty="0" smtClean="0"/>
              <a:t>Waiting staff can have freedom of movement around their waiting stations.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think about food and beverage items displayed in an outlet.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think about and identify all equipment and </a:t>
            </a:r>
            <a:r>
              <a:rPr lang="en-AU" sz="1200" dirty="0" smtClean="0">
                <a:latin typeface="Helvetica" pitchFamily="34" charset="0"/>
              </a:rPr>
              <a:t>auxiliary items that</a:t>
            </a:r>
            <a:r>
              <a:rPr lang="en-AU" sz="1200" baseline="0" dirty="0" smtClean="0">
                <a:latin typeface="Helvetica" pitchFamily="34" charset="0"/>
              </a:rPr>
              <a:t> need to be prepared.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steps associated with setting up coffee area.</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steps associated with setting up coffee area.</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steps associated with organising other equipment.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different types of cutlery used in a food and beverage outlet.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How can you ensure cutlery is clean?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different types of crockery used in a food and beverage outlet.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How can you ensure crockery is clean?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different types of glasses used in a food and beverage outlet.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How can you ensure glassware is clean?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different types of condiments used in a food and beverage outlet.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What preparation activities need to take place to ensure these are ready?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different types of napkin materials are used in a food and beverage outlet.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forms are napkins commonly found (packaged and disposable etc.)?</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common folds?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Trainer may demonstrate a number of common napkin folds.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different items commonly found at a waiter’s station.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What preparation activities need to take place to ensure these are ready?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different items commonly found at a waiter’s station.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What preparation activities need to take place to ensure these are ready?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If you remove these items, where do you place them?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When would they be needed again?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If you remove these items, where do you place them?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When would they be needed again?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different types of settings?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cutlery is needed for these settings?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crockery is needed for these settings?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is a cover?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items are included in </a:t>
            </a:r>
            <a:r>
              <a:rPr lang="en-AU" sz="1200" b="0" i="1" kern="1200" baseline="0" dirty="0" smtClean="0">
                <a:solidFill>
                  <a:schemeClr val="tx1"/>
                </a:solidFill>
                <a:latin typeface="+mn-lt"/>
                <a:ea typeface="+mn-ea"/>
                <a:cs typeface="+mn-cs"/>
              </a:rPr>
              <a:t>à la carte </a:t>
            </a:r>
            <a:r>
              <a:rPr lang="en-AU" sz="1200" b="0" kern="1200" baseline="0" dirty="0" smtClean="0">
                <a:solidFill>
                  <a:schemeClr val="tx1"/>
                </a:solidFill>
                <a:latin typeface="+mn-lt"/>
                <a:ea typeface="+mn-ea"/>
                <a:cs typeface="+mn-cs"/>
              </a:rPr>
              <a:t>cover?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types of food and beverage establishments use this type of cover?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common centre pieces?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dirty="0" smtClean="0"/>
              <a:t>These include salt and pepper shakers, table numbers, vases or tent cards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The trainer may demonstrate setting this type of cover, explaining reasoning.</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items are included in a </a:t>
            </a:r>
            <a:r>
              <a:rPr lang="en-AU" sz="1200" b="0" i="1" kern="1200" baseline="0" dirty="0" smtClean="0">
                <a:solidFill>
                  <a:schemeClr val="tx1"/>
                </a:solidFill>
                <a:latin typeface="+mn-lt"/>
                <a:ea typeface="+mn-ea"/>
                <a:cs typeface="+mn-cs"/>
              </a:rPr>
              <a:t>t</a:t>
            </a:r>
            <a:r>
              <a:rPr lang="en-AU" sz="1200" b="0" i="1" dirty="0" smtClean="0"/>
              <a:t>able d’hôte </a:t>
            </a:r>
            <a:r>
              <a:rPr lang="en-AU" sz="1200" b="0" kern="1200" baseline="0" dirty="0" smtClean="0">
                <a:solidFill>
                  <a:schemeClr val="tx1"/>
                </a:solidFill>
                <a:latin typeface="+mn-lt"/>
                <a:ea typeface="+mn-ea"/>
                <a:cs typeface="+mn-cs"/>
              </a:rPr>
              <a:t>cover?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types of food and beverage establishments use this type of cover?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variations exist to this setting?</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The trainer may demonstrate setting this type of cover, explaining reasoning.</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items are included in this cover setting and why?</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The trainer may demonstrate setting this type of cover, explaining reasoning.</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reasoning behind these tips.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reasoning behind these tips.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items are included in clothing a table?</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The trainer may demonstrate clothing a table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latin typeface="Helvetica" pitchFamily="34" charset="0"/>
              </a:rPr>
              <a:t>What would you check and why?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r>
              <a:rPr lang="en-AU" sz="1200" kern="1200" dirty="0" smtClean="0">
                <a:solidFill>
                  <a:schemeClr val="tx1"/>
                </a:solidFill>
                <a:latin typeface="+mn-lt"/>
                <a:ea typeface="+mn-ea"/>
                <a:cs typeface="+mn-cs"/>
              </a:rPr>
              <a:t>Crumbs on chairs – left from the previous session: cleaners will clean the floor of the room but rarely be required to clean chairs</a:t>
            </a:r>
          </a:p>
          <a:p>
            <a:pPr lvl="0"/>
            <a:r>
              <a:rPr lang="en-AU" sz="1200" kern="1200" dirty="0" smtClean="0">
                <a:solidFill>
                  <a:schemeClr val="tx1"/>
                </a:solidFill>
                <a:latin typeface="+mn-lt"/>
                <a:ea typeface="+mn-ea"/>
                <a:cs typeface="+mn-cs"/>
              </a:rPr>
              <a:t>Lop-sided, creased, dirty or otherwise unsuitable table cloth</a:t>
            </a:r>
          </a:p>
          <a:p>
            <a:pPr lvl="0"/>
            <a:r>
              <a:rPr lang="en-AU" sz="1200" kern="1200" dirty="0" smtClean="0">
                <a:solidFill>
                  <a:schemeClr val="tx1"/>
                </a:solidFill>
                <a:latin typeface="+mn-lt"/>
                <a:ea typeface="+mn-ea"/>
                <a:cs typeface="+mn-cs"/>
              </a:rPr>
              <a:t>Missing items from the cover or table – crockery, cutlery, centre pieces, glassware, napkins, tent cards</a:t>
            </a:r>
          </a:p>
          <a:p>
            <a:pPr lvl="0"/>
            <a:r>
              <a:rPr lang="en-AU" sz="1200" kern="1200" dirty="0" smtClean="0">
                <a:solidFill>
                  <a:schemeClr val="tx1"/>
                </a:solidFill>
                <a:latin typeface="+mn-lt"/>
                <a:ea typeface="+mn-ea"/>
                <a:cs typeface="+mn-cs"/>
              </a:rPr>
              <a:t>Missing, damaged or unstable tables and chairs </a:t>
            </a:r>
          </a:p>
          <a:p>
            <a:pPr lvl="0"/>
            <a:r>
              <a:rPr lang="en-AU" sz="1200" kern="1200" dirty="0" smtClean="0">
                <a:solidFill>
                  <a:schemeClr val="tx1"/>
                </a:solidFill>
                <a:latin typeface="+mn-lt"/>
                <a:ea typeface="+mn-ea"/>
                <a:cs typeface="+mn-cs"/>
              </a:rPr>
              <a:t>Incorrect covers set on a table – the covers must reflect the number of guests for each table as indicated on the floor plan. Where tables exist that do not have bookings, most venues will prepare tables to suit the size of walk-in numbers/parties that can be reasonably expected. This means they may set up a number of tables for two, some tables for four people and some for (perhaps) six or eight people</a:t>
            </a:r>
          </a:p>
          <a:p>
            <a:pPr lvl="0"/>
            <a:r>
              <a:rPr lang="en-AU" sz="1200" kern="1200" dirty="0" smtClean="0">
                <a:solidFill>
                  <a:schemeClr val="tx1"/>
                </a:solidFill>
                <a:latin typeface="+mn-lt"/>
                <a:ea typeface="+mn-ea"/>
                <a:cs typeface="+mn-cs"/>
              </a:rPr>
              <a:t>That the actual table positions reflect the set floor plan</a:t>
            </a:r>
          </a:p>
          <a:p>
            <a:pPr lvl="0"/>
            <a:r>
              <a:rPr lang="en-AU" sz="1200" kern="1200" dirty="0" smtClean="0">
                <a:solidFill>
                  <a:schemeClr val="tx1"/>
                </a:solidFill>
                <a:latin typeface="+mn-lt"/>
                <a:ea typeface="+mn-ea"/>
                <a:cs typeface="+mn-cs"/>
              </a:rPr>
              <a:t>Rubbish on the floor, in pot plants etc.</a:t>
            </a:r>
          </a:p>
          <a:p>
            <a:pPr lvl="0"/>
            <a:r>
              <a:rPr lang="en-AU" sz="1200" kern="1200" dirty="0" smtClean="0">
                <a:solidFill>
                  <a:schemeClr val="tx1"/>
                </a:solidFill>
                <a:latin typeface="+mn-lt"/>
                <a:ea typeface="+mn-ea"/>
                <a:cs typeface="+mn-cs"/>
              </a:rPr>
              <a:t>Flies or insects – alive or dead, with special attention being paid to window ledges.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information should you verify?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Who provides this information?</a:t>
            </a:r>
            <a:endParaRPr lang="en-AU"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Who provides this information?</a:t>
            </a:r>
            <a:endParaRPr lang="en-AU"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the steps associated with taking orders?</a:t>
            </a:r>
          </a:p>
          <a:p>
            <a:pPr>
              <a:buFont typeface="Arial" pitchFamily="34" charset="0"/>
              <a:buChar char="•"/>
            </a:pPr>
            <a:r>
              <a:rPr lang="en-AU" sz="1200" kern="1200" baseline="0" dirty="0" smtClean="0">
                <a:solidFill>
                  <a:schemeClr val="tx1"/>
                </a:solidFill>
                <a:latin typeface="+mn-lt"/>
                <a:ea typeface="+mn-ea"/>
                <a:cs typeface="+mn-cs"/>
              </a:rPr>
              <a:t>What equipment can be used to help with this process?</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is a good welcome?</a:t>
            </a:r>
            <a:endParaRPr lang="en-AU"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Where are reservations normally kept?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happens if a customer says they have a reservation but it cannot be found in your records?</a:t>
            </a:r>
            <a:endParaRPr lang="en-AU"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Suggested topics include:</a:t>
            </a:r>
          </a:p>
          <a:p>
            <a:pPr lvl="0"/>
            <a:r>
              <a:rPr lang="en-AU" sz="1200" kern="1200" dirty="0" smtClean="0">
                <a:solidFill>
                  <a:schemeClr val="tx1"/>
                </a:solidFill>
                <a:latin typeface="+mn-lt"/>
                <a:ea typeface="+mn-ea"/>
                <a:cs typeface="+mn-cs"/>
              </a:rPr>
              <a:t>The weather – a genuine comment: “Isn’t it cold today?” – can be a great ice-breaker and help strike up a conversation</a:t>
            </a:r>
          </a:p>
          <a:p>
            <a:pPr lvl="0"/>
            <a:r>
              <a:rPr lang="en-AU" sz="1200" kern="1200" dirty="0" smtClean="0">
                <a:solidFill>
                  <a:schemeClr val="tx1"/>
                </a:solidFill>
                <a:latin typeface="+mn-lt"/>
                <a:ea typeface="+mn-ea"/>
                <a:cs typeface="+mn-cs"/>
              </a:rPr>
              <a:t>Sporting events – “Did you watch the game today?”</a:t>
            </a:r>
          </a:p>
          <a:p>
            <a:pPr lvl="0"/>
            <a:r>
              <a:rPr lang="en-AU" sz="1200" kern="1200" dirty="0" smtClean="0">
                <a:solidFill>
                  <a:schemeClr val="tx1"/>
                </a:solidFill>
                <a:latin typeface="+mn-lt"/>
                <a:ea typeface="+mn-ea"/>
                <a:cs typeface="+mn-cs"/>
              </a:rPr>
              <a:t>Special events – “Happy Festival Day”</a:t>
            </a:r>
          </a:p>
          <a:p>
            <a:pPr lvl="0"/>
            <a:r>
              <a:rPr lang="en-AU" sz="1200" kern="1200" dirty="0" smtClean="0">
                <a:solidFill>
                  <a:schemeClr val="tx1"/>
                </a:solidFill>
                <a:latin typeface="+mn-lt"/>
                <a:ea typeface="+mn-ea"/>
                <a:cs typeface="+mn-cs"/>
              </a:rPr>
              <a:t>The season – “Isn’t it getting dark early these days?”</a:t>
            </a:r>
          </a:p>
          <a:p>
            <a:pPr lvl="0"/>
            <a:r>
              <a:rPr lang="en-AU" sz="1200" kern="1200" dirty="0" smtClean="0">
                <a:solidFill>
                  <a:schemeClr val="tx1"/>
                </a:solidFill>
                <a:latin typeface="+mn-lt"/>
                <a:ea typeface="+mn-ea"/>
                <a:cs typeface="+mn-cs"/>
              </a:rPr>
              <a:t>A special in-house event – “Welcome to our Grand Winery Tour Dinner, it will be a night to remember!”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In a given restaurant setting, how would you accommodate these special needs?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would you offer these pre-meal services?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Demonstrate how to undertake escorting activities.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points.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Role Play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Participants to practice giving information based on a menu chosen by the trainer</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Role Play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Participants to practice giving recommendations based on a menu chosen by the trainer</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dirty="0" smtClean="0"/>
              <a:t>Discuss the</a:t>
            </a:r>
            <a:r>
              <a:rPr lang="en-AU" sz="1200" baseline="0" dirty="0" smtClean="0"/>
              <a:t> advantages/disadvantages of using these methods and when they would best be used:</a:t>
            </a:r>
            <a:endParaRPr lang="en-AU" sz="1200" dirty="0" smtClean="0"/>
          </a:p>
          <a:p>
            <a:pPr lvl="0">
              <a:buFont typeface="Arial" pitchFamily="34" charset="0"/>
              <a:buChar char="•"/>
            </a:pPr>
            <a:r>
              <a:rPr lang="en-AU" sz="1200" dirty="0" smtClean="0"/>
              <a:t>Remember orders - relying solely on their memory, as is the case at most bars and in some restaurants </a:t>
            </a:r>
          </a:p>
          <a:p>
            <a:pPr lvl="0">
              <a:buFont typeface="Arial" pitchFamily="34" charset="0"/>
              <a:buChar char="•"/>
            </a:pPr>
            <a:r>
              <a:rPr lang="en-AU" sz="1200" dirty="0" smtClean="0"/>
              <a:t>Record orders on paper-based order forms – such as waiter’s dockets and order pads</a:t>
            </a:r>
          </a:p>
          <a:p>
            <a:pPr lvl="0">
              <a:buFont typeface="Arial" pitchFamily="34" charset="0"/>
              <a:buChar char="•"/>
            </a:pPr>
            <a:r>
              <a:rPr lang="en-AU" sz="1200" dirty="0" smtClean="0"/>
              <a:t>Record orders using electronic means – such as small hand-held computers (PDAs – Personal Digital Assistants) which also send the orders to the kitchen or bar and interface with point-of-sale registers to facilitate account tracking, processing and payment.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lvl="0"/>
            <a:r>
              <a:rPr lang="en-AU" sz="1200" dirty="0" smtClean="0"/>
              <a:t>Discuss the</a:t>
            </a:r>
            <a:r>
              <a:rPr lang="en-AU" sz="1200" baseline="0" dirty="0" smtClean="0"/>
              <a:t> role of the order including:</a:t>
            </a:r>
          </a:p>
          <a:p>
            <a:pPr lvl="0">
              <a:buFont typeface="Arial" pitchFamily="34" charset="0"/>
              <a:buChar char="•"/>
            </a:pPr>
            <a:r>
              <a:rPr lang="en-AU" sz="1200" dirty="0" smtClean="0"/>
              <a:t>Informs the kitchen or bar staff of the order – so that they can produce the items required by the customers</a:t>
            </a:r>
          </a:p>
          <a:p>
            <a:pPr lvl="0">
              <a:buFont typeface="Arial" pitchFamily="34" charset="0"/>
              <a:buChar char="•"/>
            </a:pPr>
            <a:r>
              <a:rPr lang="en-AU" sz="1200" dirty="0" smtClean="0"/>
              <a:t>Informs the service staff of any changes needed to the cutlery. Some may need to removed, some may need to be added or exchanged</a:t>
            </a:r>
          </a:p>
          <a:p>
            <a:pPr lvl="0">
              <a:buFont typeface="Arial" pitchFamily="34" charset="0"/>
              <a:buChar char="•"/>
            </a:pPr>
            <a:r>
              <a:rPr lang="en-AU" sz="1200" dirty="0" smtClean="0"/>
              <a:t>Identifies who is eating or drinking the items ordered – so that the right item can be served to the correct guest</a:t>
            </a:r>
          </a:p>
          <a:p>
            <a:pPr lvl="0">
              <a:buFont typeface="Arial" pitchFamily="34" charset="0"/>
              <a:buChar char="•"/>
            </a:pPr>
            <a:r>
              <a:rPr lang="en-AU" sz="1200" dirty="0" smtClean="0"/>
              <a:t>Provides the basis from which an account can be made up and presented to the customer at the end of the dining experience.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lvl="0"/>
            <a:r>
              <a:rPr lang="en-AU" sz="1200" dirty="0" smtClean="0"/>
              <a:t>Demonstrate the</a:t>
            </a:r>
            <a:r>
              <a:rPr lang="en-AU" sz="1200" baseline="0" dirty="0" smtClean="0"/>
              <a:t> steps associated with taking an order.</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lvl="0"/>
            <a:r>
              <a:rPr lang="en-AU" sz="1200" dirty="0" smtClean="0"/>
              <a:t>Demonstrate the</a:t>
            </a:r>
            <a:r>
              <a:rPr lang="en-AU" sz="1200" baseline="0" dirty="0" smtClean="0"/>
              <a:t> steps associated with taking an order.</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Discuss the different degrees of doneness:</a:t>
            </a:r>
          </a:p>
          <a:p>
            <a:pPr lvl="0">
              <a:buFont typeface="Arial" pitchFamily="34" charset="0"/>
              <a:buChar char="•"/>
            </a:pPr>
            <a:r>
              <a:rPr lang="en-AU" sz="1200" kern="1200" dirty="0" smtClean="0">
                <a:solidFill>
                  <a:schemeClr val="tx1"/>
                </a:solidFill>
                <a:latin typeface="+mn-lt"/>
                <a:ea typeface="+mn-ea"/>
                <a:cs typeface="+mn-cs"/>
              </a:rPr>
              <a:t>Blue - steak is seared on both sides then served</a:t>
            </a:r>
          </a:p>
          <a:p>
            <a:pPr lvl="0">
              <a:buFont typeface="Arial" pitchFamily="34" charset="0"/>
              <a:buChar char="•"/>
            </a:pPr>
            <a:r>
              <a:rPr lang="en-AU" sz="1200" kern="1200" dirty="0" smtClean="0">
                <a:solidFill>
                  <a:schemeClr val="tx1"/>
                </a:solidFill>
                <a:latin typeface="+mn-lt"/>
                <a:ea typeface="+mn-ea"/>
                <a:cs typeface="+mn-cs"/>
              </a:rPr>
              <a:t>Rare - steak is served when browned on both sides, and meat still contains blood</a:t>
            </a:r>
          </a:p>
          <a:p>
            <a:pPr lvl="0">
              <a:buFont typeface="Arial" pitchFamily="34" charset="0"/>
              <a:buChar char="•"/>
            </a:pPr>
            <a:r>
              <a:rPr lang="en-AU" sz="1200" kern="1200" dirty="0" smtClean="0">
                <a:solidFill>
                  <a:schemeClr val="tx1"/>
                </a:solidFill>
                <a:latin typeface="+mn-lt"/>
                <a:ea typeface="+mn-ea"/>
                <a:cs typeface="+mn-cs"/>
              </a:rPr>
              <a:t>Medium rare - steak has less blood than a rare steak, though blood is still just present</a:t>
            </a:r>
          </a:p>
          <a:p>
            <a:pPr lvl="0">
              <a:buFont typeface="Arial" pitchFamily="34" charset="0"/>
              <a:buChar char="•"/>
            </a:pPr>
            <a:r>
              <a:rPr lang="en-AU" sz="1200" kern="1200" dirty="0" smtClean="0">
                <a:solidFill>
                  <a:schemeClr val="tx1"/>
                </a:solidFill>
                <a:latin typeface="+mn-lt"/>
                <a:ea typeface="+mn-ea"/>
                <a:cs typeface="+mn-cs"/>
              </a:rPr>
              <a:t>Medium to well-done - steak is cooked all the way through, no sign of blood</a:t>
            </a:r>
          </a:p>
          <a:p>
            <a:pPr lvl="0">
              <a:buFont typeface="Arial" pitchFamily="34" charset="0"/>
              <a:buChar char="•"/>
            </a:pPr>
            <a:r>
              <a:rPr lang="en-AU" sz="1200" kern="1200" dirty="0" smtClean="0">
                <a:solidFill>
                  <a:schemeClr val="tx1"/>
                </a:solidFill>
                <a:latin typeface="+mn-lt"/>
                <a:ea typeface="+mn-ea"/>
                <a:cs typeface="+mn-cs"/>
              </a:rPr>
              <a:t>Well-done: steak is cooked very well – a little burnt on the outside and definitely no sign of blood.</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Discuss the importance</a:t>
            </a:r>
            <a:r>
              <a:rPr lang="en-AU" sz="1200" b="0" kern="1200" baseline="0" dirty="0" smtClean="0">
                <a:solidFill>
                  <a:schemeClr val="tx1"/>
                </a:solidFill>
                <a:latin typeface="+mn-lt"/>
                <a:ea typeface="+mn-ea"/>
                <a:cs typeface="+mn-cs"/>
              </a:rPr>
              <a:t> of o</a:t>
            </a:r>
            <a:r>
              <a:rPr lang="en-AU" sz="1200" b="0" kern="1200" dirty="0" smtClean="0">
                <a:solidFill>
                  <a:schemeClr val="tx1"/>
                </a:solidFill>
                <a:latin typeface="+mn-lt"/>
                <a:ea typeface="+mn-ea"/>
                <a:cs typeface="+mn-cs"/>
              </a:rPr>
              <a:t>perating ordering systems.</a:t>
            </a:r>
          </a:p>
          <a:p>
            <a:endParaRPr lang="en-AU" sz="1200" b="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All transactions should be undertaken within establishment guidelines relating to:</a:t>
            </a:r>
          </a:p>
          <a:p>
            <a:pPr lvl="0">
              <a:buFont typeface="Arial" pitchFamily="34" charset="0"/>
              <a:buChar char="•"/>
            </a:pPr>
            <a:r>
              <a:rPr lang="en-AU" sz="1200" kern="1200" dirty="0" smtClean="0">
                <a:solidFill>
                  <a:schemeClr val="tx1"/>
                </a:solidFill>
                <a:latin typeface="+mn-lt"/>
                <a:ea typeface="+mn-ea"/>
                <a:cs typeface="+mn-cs"/>
              </a:rPr>
              <a:t>Honesty and integrity – these address not charging for items that were not delivered or not charging person X for something that person Y received</a:t>
            </a:r>
          </a:p>
          <a:p>
            <a:pPr lvl="0">
              <a:buFont typeface="Arial" pitchFamily="34" charset="0"/>
              <a:buChar char="•"/>
            </a:pPr>
            <a:r>
              <a:rPr lang="en-AU" sz="1200" kern="1200" dirty="0" smtClean="0">
                <a:solidFill>
                  <a:schemeClr val="tx1"/>
                </a:solidFill>
                <a:latin typeface="+mn-lt"/>
                <a:ea typeface="+mn-ea"/>
                <a:cs typeface="+mn-cs"/>
              </a:rPr>
              <a:t>Accuracy – checking all entries, extensions, additions and other calculations to make sure that the customer isn’t overcharged and that the venue captures all the revenue to which it is legitimately entitled</a:t>
            </a:r>
          </a:p>
          <a:p>
            <a:pPr lvl="0">
              <a:buFont typeface="Arial" pitchFamily="34" charset="0"/>
              <a:buChar char="•"/>
            </a:pPr>
            <a:r>
              <a:rPr lang="en-AU" sz="1200" kern="1200" dirty="0" smtClean="0">
                <a:solidFill>
                  <a:schemeClr val="tx1"/>
                </a:solidFill>
                <a:latin typeface="+mn-lt"/>
                <a:ea typeface="+mn-ea"/>
                <a:cs typeface="+mn-cs"/>
              </a:rPr>
              <a:t>Speed – ensuring that accounts are compiled and presented in a timely manner consistent with honesty and accuracy. Never sacrifice accuracy for speed</a:t>
            </a:r>
          </a:p>
          <a:p>
            <a:pPr lvl="0">
              <a:buFont typeface="Arial" pitchFamily="34" charset="0"/>
              <a:buChar char="•"/>
            </a:pPr>
            <a:r>
              <a:rPr lang="en-AU" sz="1200" kern="1200" dirty="0" smtClean="0">
                <a:solidFill>
                  <a:schemeClr val="tx1"/>
                </a:solidFill>
                <a:latin typeface="+mn-lt"/>
                <a:ea typeface="+mn-ea"/>
                <a:cs typeface="+mn-cs"/>
              </a:rPr>
              <a:t>Explanation and description of charges – fully detailing the nature of all charges so that no confusion or suspicion about charges exists</a:t>
            </a:r>
          </a:p>
          <a:p>
            <a:pPr lvl="0">
              <a:buFont typeface="Arial" pitchFamily="34" charset="0"/>
              <a:buChar char="•"/>
            </a:pPr>
            <a:r>
              <a:rPr lang="en-AU" sz="1200" kern="1200" dirty="0" smtClean="0">
                <a:solidFill>
                  <a:schemeClr val="tx1"/>
                </a:solidFill>
                <a:latin typeface="+mn-lt"/>
                <a:ea typeface="+mn-ea"/>
                <a:cs typeface="+mn-cs"/>
              </a:rPr>
              <a:t>Customer service – treating customers with the courtesy they merit in relation to the taking of the order, processing of the order and presentation of the account for payment.</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Demonstration and Role Play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The trainer should describe the benefits and methods of using each method of taking orders.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The participants should practice taking orders using each type of ordering system.</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examples of where information needs to be personally discussed with a chef or bartender?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common special requests?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Discuss information that may need to be relayed.</a:t>
            </a:r>
          </a:p>
          <a:p>
            <a:r>
              <a:rPr lang="en-AU" sz="1200" kern="1200" dirty="0" smtClean="0">
                <a:solidFill>
                  <a:schemeClr val="tx1"/>
                </a:solidFill>
                <a:latin typeface="+mn-lt"/>
                <a:ea typeface="+mn-ea"/>
                <a:cs typeface="+mn-cs"/>
              </a:rPr>
              <a:t>Information that may need to be relayed involves:</a:t>
            </a:r>
          </a:p>
          <a:p>
            <a:pPr lvl="0">
              <a:buFont typeface="Arial" pitchFamily="34" charset="0"/>
              <a:buChar char="•"/>
            </a:pPr>
            <a:r>
              <a:rPr lang="en-AU" sz="1200" kern="1200" dirty="0" smtClean="0">
                <a:solidFill>
                  <a:schemeClr val="tx1"/>
                </a:solidFill>
                <a:latin typeface="+mn-lt"/>
                <a:ea typeface="+mn-ea"/>
                <a:cs typeface="+mn-cs"/>
              </a:rPr>
              <a:t>Timing issues – informing the kitchen/bar of those who are in a hurry, or those who want to stretch their meal out over several hours</a:t>
            </a:r>
          </a:p>
          <a:p>
            <a:pPr lvl="0">
              <a:buFont typeface="Arial" pitchFamily="34" charset="0"/>
              <a:buChar char="•"/>
            </a:pPr>
            <a:r>
              <a:rPr lang="en-AU" sz="1200" kern="1200" dirty="0" smtClean="0">
                <a:solidFill>
                  <a:schemeClr val="tx1"/>
                </a:solidFill>
                <a:latin typeface="+mn-lt"/>
                <a:ea typeface="+mn-ea"/>
                <a:cs typeface="+mn-cs"/>
              </a:rPr>
              <a:t>Coordination of service – telling the bar about the food that a table has ordered so that wines selected to accompany certain dishes can be presented, opened and served before the food has been served. It is very annoying and disappointing for a guest to choose a special wine to accompany their fish main course only to find that wine is served when they are halfway through that dish</a:t>
            </a:r>
          </a:p>
          <a:p>
            <a:pPr lvl="0">
              <a:buFont typeface="Arial" pitchFamily="34" charset="0"/>
              <a:buChar char="•"/>
            </a:pPr>
            <a:r>
              <a:rPr lang="en-AU" sz="1200" kern="1200" dirty="0" smtClean="0">
                <a:solidFill>
                  <a:schemeClr val="tx1"/>
                </a:solidFill>
                <a:latin typeface="+mn-lt"/>
                <a:ea typeface="+mn-ea"/>
                <a:cs typeface="+mn-cs"/>
              </a:rPr>
              <a:t>Cultural issues – notifying the kitchen/bar of cultural food and drink needs. Sometimes patrons expect you to know what these needs, but in other instances individuals will advise you of what they want. </a:t>
            </a:r>
          </a:p>
          <a:p>
            <a:pPr lvl="0">
              <a:buFont typeface="Arial" pitchFamily="34" charset="0"/>
              <a:buChar char="•"/>
            </a:pPr>
            <a:r>
              <a:rPr lang="en-AU" sz="1200" kern="1200" dirty="0" smtClean="0">
                <a:solidFill>
                  <a:schemeClr val="tx1"/>
                </a:solidFill>
                <a:latin typeface="+mn-lt"/>
                <a:ea typeface="+mn-ea"/>
                <a:cs typeface="+mn-cs"/>
              </a:rPr>
              <a:t>Dietary requirements </a:t>
            </a:r>
          </a:p>
          <a:p>
            <a:pPr lvl="0">
              <a:buFont typeface="Arial" pitchFamily="34" charset="0"/>
              <a:buChar char="•"/>
            </a:pPr>
            <a:r>
              <a:rPr lang="en-AU" sz="1200" kern="1200" dirty="0" smtClean="0">
                <a:solidFill>
                  <a:schemeClr val="tx1"/>
                </a:solidFill>
                <a:latin typeface="+mn-lt"/>
                <a:ea typeface="+mn-ea"/>
                <a:cs typeface="+mn-cs"/>
              </a:rPr>
              <a:t>Special requests – in relation to serve size, extra this, no that or a special way of cooking that is not listed on the menu</a:t>
            </a:r>
          </a:p>
          <a:p>
            <a:pPr lvl="0">
              <a:buFont typeface="Arial" pitchFamily="34" charset="0"/>
              <a:buChar char="•"/>
            </a:pPr>
            <a:r>
              <a:rPr lang="en-AU" sz="1200" kern="1200" dirty="0" smtClean="0">
                <a:solidFill>
                  <a:schemeClr val="tx1"/>
                </a:solidFill>
                <a:latin typeface="+mn-lt"/>
                <a:ea typeface="+mn-ea"/>
                <a:cs typeface="+mn-cs"/>
              </a:rPr>
              <a:t>How steaks are to be cooked </a:t>
            </a:r>
          </a:p>
          <a:p>
            <a:pPr lvl="0">
              <a:buFont typeface="Arial" pitchFamily="34" charset="0"/>
              <a:buChar char="•"/>
            </a:pPr>
            <a:r>
              <a:rPr lang="en-AU" sz="1200" kern="1200" dirty="0" smtClean="0">
                <a:solidFill>
                  <a:schemeClr val="tx1"/>
                </a:solidFill>
                <a:latin typeface="+mn-lt"/>
                <a:ea typeface="+mn-ea"/>
                <a:cs typeface="+mn-cs"/>
              </a:rPr>
              <a:t>Entrees required as main courses – or vice versa</a:t>
            </a:r>
          </a:p>
          <a:p>
            <a:pPr lvl="0">
              <a:buFont typeface="Arial" pitchFamily="34" charset="0"/>
              <a:buChar char="•"/>
            </a:pPr>
            <a:r>
              <a:rPr lang="en-AU" sz="1200" kern="1200" dirty="0" smtClean="0">
                <a:solidFill>
                  <a:schemeClr val="tx1"/>
                </a:solidFill>
                <a:latin typeface="+mn-lt"/>
                <a:ea typeface="+mn-ea"/>
                <a:cs typeface="+mn-cs"/>
              </a:rPr>
              <a:t>Explanation of tables and their orders – for example a table of six people where four are having entrees, and three are having soup and two are not having soup or entrees, what is required and when.</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Discuss types of special dietary needs:</a:t>
            </a:r>
          </a:p>
          <a:p>
            <a:pPr lvl="0">
              <a:buFont typeface="Arial" pitchFamily="34" charset="0"/>
              <a:buChar char="•"/>
            </a:pPr>
            <a:r>
              <a:rPr lang="en-AU" sz="1200" kern="1200" dirty="0" smtClean="0">
                <a:solidFill>
                  <a:schemeClr val="tx1"/>
                </a:solidFill>
                <a:latin typeface="+mn-lt"/>
                <a:ea typeface="+mn-ea"/>
                <a:cs typeface="+mn-cs"/>
              </a:rPr>
              <a:t>Vegetarian requests – this is probably the most common dietary-related request </a:t>
            </a:r>
          </a:p>
          <a:p>
            <a:pPr lvl="0">
              <a:buFont typeface="Arial" pitchFamily="34" charset="0"/>
              <a:buChar char="•"/>
            </a:pPr>
            <a:r>
              <a:rPr lang="en-AU" sz="1200" kern="1200" dirty="0" smtClean="0">
                <a:solidFill>
                  <a:schemeClr val="tx1"/>
                </a:solidFill>
                <a:latin typeface="+mn-lt"/>
                <a:ea typeface="+mn-ea"/>
                <a:cs typeface="+mn-cs"/>
              </a:rPr>
              <a:t>Lacto-ova vegetarians/Ova-lacto vegetarians – these are the majority of ‘vegetarians’. They eat dairy products and eggs but not meat of any kind  including red and white meat, poultry or fish</a:t>
            </a:r>
          </a:p>
          <a:p>
            <a:pPr lvl="0">
              <a:buFont typeface="Arial" pitchFamily="34" charset="0"/>
              <a:buChar char="•"/>
            </a:pPr>
            <a:r>
              <a:rPr lang="en-AU" sz="1200" kern="1200" dirty="0" smtClean="0">
                <a:solidFill>
                  <a:schemeClr val="tx1"/>
                </a:solidFill>
                <a:latin typeface="+mn-lt"/>
                <a:ea typeface="+mn-ea"/>
                <a:cs typeface="+mn-cs"/>
              </a:rPr>
              <a:t>Lacto-vegetarians – they don’t eat meat, poultry or fish. They don’t eat eggs but they eat dairy products</a:t>
            </a:r>
          </a:p>
          <a:p>
            <a:pPr lvl="0">
              <a:buFont typeface="Arial" pitchFamily="34" charset="0"/>
              <a:buChar char="•"/>
            </a:pPr>
            <a:r>
              <a:rPr lang="en-AU" sz="1200" kern="1200" dirty="0" smtClean="0">
                <a:solidFill>
                  <a:schemeClr val="tx1"/>
                </a:solidFill>
                <a:latin typeface="+mn-lt"/>
                <a:ea typeface="+mn-ea"/>
                <a:cs typeface="+mn-cs"/>
              </a:rPr>
              <a:t>Pescatarians – people who don’t eat meat, poultry or animal flesh but do eat fish</a:t>
            </a:r>
          </a:p>
          <a:p>
            <a:pPr lvl="0">
              <a:buFont typeface="Arial" pitchFamily="34" charset="0"/>
              <a:buChar char="•"/>
            </a:pPr>
            <a:r>
              <a:rPr lang="en-AU" sz="1200" kern="1200" dirty="0" smtClean="0">
                <a:solidFill>
                  <a:schemeClr val="tx1"/>
                </a:solidFill>
                <a:latin typeface="+mn-lt"/>
                <a:ea typeface="+mn-ea"/>
                <a:cs typeface="+mn-cs"/>
              </a:rPr>
              <a:t>Vegan – this definition is open to various definitions so it is best to check exactly what. The diner means when they say they are a ‘vegan’. Generally a vegan can be seen as anyone who doesn’t eat meat, poultry, fish, eggs or dairy products and doesn’t eat foods derived from animals such as gelatine. The person may also stipulate that they are served only raw/unprocessed foods, or foods that have not reached a tempera­ture of above 46ºC (because they believe foods above this temperature have had some of their dietary goodness removed or be harmful to the human body)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Discuss types of special dietary needs:</a:t>
            </a:r>
          </a:p>
          <a:p>
            <a:pPr lvl="0">
              <a:buFont typeface="Arial" pitchFamily="34" charset="0"/>
              <a:buChar char="•"/>
            </a:pPr>
            <a:r>
              <a:rPr lang="en-AU" sz="1200" kern="1200" dirty="0" smtClean="0">
                <a:solidFill>
                  <a:schemeClr val="tx1"/>
                </a:solidFill>
                <a:latin typeface="+mn-lt"/>
                <a:ea typeface="+mn-ea"/>
                <a:cs typeface="+mn-cs"/>
              </a:rPr>
              <a:t>Requests for low-salt meals</a:t>
            </a:r>
          </a:p>
          <a:p>
            <a:pPr lvl="0">
              <a:buFont typeface="Arial" pitchFamily="34" charset="0"/>
              <a:buChar char="•"/>
            </a:pPr>
            <a:r>
              <a:rPr lang="en-AU" sz="1200" kern="1200" dirty="0" smtClean="0">
                <a:solidFill>
                  <a:schemeClr val="tx1"/>
                </a:solidFill>
                <a:latin typeface="+mn-lt"/>
                <a:ea typeface="+mn-ea"/>
                <a:cs typeface="+mn-cs"/>
              </a:rPr>
              <a:t>Requests for low-sugar or no sugar meals – for diabetics</a:t>
            </a:r>
          </a:p>
          <a:p>
            <a:pPr lvl="0">
              <a:buFont typeface="Arial" pitchFamily="34" charset="0"/>
              <a:buChar char="•"/>
            </a:pPr>
            <a:r>
              <a:rPr lang="en-AU" sz="1200" kern="1200" dirty="0" smtClean="0">
                <a:solidFill>
                  <a:schemeClr val="tx1"/>
                </a:solidFill>
                <a:latin typeface="+mn-lt"/>
                <a:ea typeface="+mn-ea"/>
                <a:cs typeface="+mn-cs"/>
              </a:rPr>
              <a:t>Requests for lactose-reduced milk – for those who are lactose intolerant</a:t>
            </a:r>
          </a:p>
          <a:p>
            <a:pPr lvl="0">
              <a:buFont typeface="Arial" pitchFamily="34" charset="0"/>
              <a:buChar char="•"/>
            </a:pPr>
            <a:r>
              <a:rPr lang="en-AU" sz="1200" kern="1200" dirty="0" smtClean="0">
                <a:solidFill>
                  <a:schemeClr val="tx1"/>
                </a:solidFill>
                <a:latin typeface="+mn-lt"/>
                <a:ea typeface="+mn-ea"/>
                <a:cs typeface="+mn-cs"/>
              </a:rPr>
              <a:t>Requests for gluten-free food – from patrons who have celiac disease </a:t>
            </a:r>
          </a:p>
          <a:p>
            <a:pPr>
              <a:buFont typeface="Arial" pitchFamily="34" charset="0"/>
              <a:buChar char="•"/>
            </a:pPr>
            <a:r>
              <a:rPr lang="en-AU" sz="1200" kern="1200" dirty="0" smtClean="0">
                <a:solidFill>
                  <a:schemeClr val="tx1"/>
                </a:solidFill>
                <a:latin typeface="+mn-lt"/>
                <a:ea typeface="+mn-ea"/>
                <a:cs typeface="+mn-cs"/>
              </a:rPr>
              <a:t>Requests for a macrobiotic diet – for those who are especially health-focussed they will request unprocessed vegan foods, no oil and no sugar</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Discuss points. </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Discuss points. </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What businesses are very good at doing this?</a:t>
            </a:r>
          </a:p>
          <a:p>
            <a:pPr>
              <a:buFont typeface="Arial" pitchFamily="34" charset="0"/>
              <a:buChar char="•"/>
            </a:pPr>
            <a:r>
              <a:rPr lang="en-AU" sz="1200" b="0" kern="1200" dirty="0" smtClean="0">
                <a:solidFill>
                  <a:schemeClr val="tx1"/>
                </a:solidFill>
                <a:latin typeface="+mn-lt"/>
                <a:ea typeface="+mn-ea"/>
                <a:cs typeface="+mn-cs"/>
              </a:rPr>
              <a:t>What are specific items that you can sell as additional items?</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What businesses are very good at doing this?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food and beverage businesses provide take away service?</a:t>
            </a:r>
          </a:p>
          <a:p>
            <a:pPr>
              <a:buFont typeface="Arial" pitchFamily="34" charset="0"/>
              <a:buChar char="•"/>
            </a:pPr>
            <a:r>
              <a:rPr lang="en-AU" sz="1200" kern="1200" baseline="0" dirty="0" smtClean="0">
                <a:solidFill>
                  <a:schemeClr val="tx1"/>
                </a:solidFill>
                <a:latin typeface="+mn-lt"/>
                <a:ea typeface="+mn-ea"/>
                <a:cs typeface="+mn-cs"/>
              </a:rPr>
              <a:t>Why is this type of service popular?</a:t>
            </a:r>
          </a:p>
          <a:p>
            <a:pPr>
              <a:buFont typeface="Arial" pitchFamily="34" charset="0"/>
              <a:buChar char="•"/>
            </a:pPr>
            <a:r>
              <a:rPr lang="en-AU" sz="1200" kern="1200" baseline="0" dirty="0" smtClean="0">
                <a:solidFill>
                  <a:schemeClr val="tx1"/>
                </a:solidFill>
                <a:latin typeface="+mn-lt"/>
                <a:ea typeface="+mn-ea"/>
                <a:cs typeface="+mn-cs"/>
              </a:rPr>
              <a:t>How can businesses provide this service?</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What food and beverage is normally produced</a:t>
            </a:r>
            <a:r>
              <a:rPr lang="en-AU" sz="1200" b="0" kern="1200" baseline="0" dirty="0" smtClean="0">
                <a:solidFill>
                  <a:schemeClr val="tx1"/>
                </a:solidFill>
                <a:latin typeface="+mn-lt"/>
                <a:ea typeface="+mn-ea"/>
                <a:cs typeface="+mn-cs"/>
              </a:rPr>
              <a:t> for take away?</a:t>
            </a:r>
            <a:endParaRPr lang="en-AU" sz="1200" b="0" kern="1200" dirty="0" smtClean="0">
              <a:solidFill>
                <a:schemeClr val="tx1"/>
              </a:solidFill>
              <a:latin typeface="+mn-lt"/>
              <a:ea typeface="+mn-ea"/>
              <a:cs typeface="+mn-cs"/>
            </a:endParaRPr>
          </a:p>
          <a:p>
            <a:pPr>
              <a:buFont typeface="Arial" pitchFamily="34" charset="0"/>
              <a:buChar char="•"/>
            </a:pPr>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Discuss questions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Discuss methods to ensure</a:t>
            </a:r>
            <a:r>
              <a:rPr lang="en-AU" sz="1200" b="0" kern="1200" baseline="0" dirty="0" smtClean="0">
                <a:solidFill>
                  <a:schemeClr val="tx1"/>
                </a:solidFill>
                <a:latin typeface="+mn-lt"/>
                <a:ea typeface="+mn-ea"/>
                <a:cs typeface="+mn-cs"/>
              </a:rPr>
              <a:t> the challenges identified in this slide can be met.</a:t>
            </a:r>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How can</a:t>
            </a:r>
            <a:r>
              <a:rPr lang="en-AU" sz="1200" b="0" kern="1200" baseline="0" dirty="0" smtClean="0">
                <a:solidFill>
                  <a:schemeClr val="tx1"/>
                </a:solidFill>
                <a:latin typeface="+mn-lt"/>
                <a:ea typeface="+mn-ea"/>
                <a:cs typeface="+mn-cs"/>
              </a:rPr>
              <a:t> you ensure items stay above this temperature?</a:t>
            </a:r>
          </a:p>
          <a:p>
            <a:pPr>
              <a:buFont typeface="Arial" pitchFamily="34" charset="0"/>
              <a:buChar char="•"/>
            </a:pPr>
            <a:r>
              <a:rPr lang="en-AU" sz="1200" b="0" kern="1200" baseline="0" dirty="0" smtClean="0">
                <a:solidFill>
                  <a:schemeClr val="tx1"/>
                </a:solidFill>
                <a:latin typeface="+mn-lt"/>
                <a:ea typeface="+mn-ea"/>
                <a:cs typeface="+mn-cs"/>
              </a:rPr>
              <a:t>How long should items be kept on display?</a:t>
            </a:r>
          </a:p>
          <a:p>
            <a:pPr>
              <a:buFont typeface="Arial" pitchFamily="34" charset="0"/>
              <a:buChar char="•"/>
            </a:pPr>
            <a:r>
              <a:rPr lang="en-AU" sz="1200" b="0" kern="1200" baseline="0" dirty="0" smtClean="0">
                <a:solidFill>
                  <a:schemeClr val="tx1"/>
                </a:solidFill>
                <a:latin typeface="+mn-lt"/>
                <a:ea typeface="+mn-ea"/>
                <a:cs typeface="+mn-cs"/>
              </a:rPr>
              <a:t>What items are kept hot under each type of equipment mentioned in this slide?</a:t>
            </a:r>
          </a:p>
          <a:p>
            <a:pPr>
              <a:buFont typeface="Arial" pitchFamily="34" charset="0"/>
              <a:buChar char="•"/>
            </a:pPr>
            <a:endParaRPr lang="en-AU" sz="1200" b="0" kern="1200" baseline="0" dirty="0" smtClean="0">
              <a:solidFill>
                <a:schemeClr val="tx1"/>
              </a:solidFill>
              <a:latin typeface="+mn-lt"/>
              <a:ea typeface="+mn-ea"/>
              <a:cs typeface="+mn-cs"/>
            </a:endParaRPr>
          </a:p>
          <a:p>
            <a:r>
              <a:rPr lang="en-US" b="1" dirty="0" smtClean="0"/>
              <a:t>Activity:</a:t>
            </a:r>
            <a:r>
              <a:rPr lang="en-US" b="1" baseline="0" dirty="0" smtClean="0"/>
              <a:t> Demonstration and explanation</a:t>
            </a:r>
          </a:p>
          <a:p>
            <a:endParaRPr lang="en-US" b="1" dirty="0" smtClean="0"/>
          </a:p>
          <a:p>
            <a:r>
              <a:rPr lang="en-US" b="0" dirty="0" smtClean="0"/>
              <a:t>Trainer explains</a:t>
            </a:r>
            <a:r>
              <a:rPr lang="en-US" b="0" baseline="0" dirty="0" smtClean="0"/>
              <a:t> the different types of equipment stated in this slide.</a:t>
            </a:r>
            <a:endParaRPr lang="en-US" sz="1200" b="0" kern="1200" baseline="0" dirty="0" smtClean="0">
              <a:solidFill>
                <a:schemeClr val="tx1"/>
              </a:solidFill>
              <a:latin typeface="Arial" charset="0"/>
              <a:ea typeface="+mn-ea"/>
              <a:cs typeface="+mn-cs"/>
            </a:endParaRPr>
          </a:p>
          <a:p>
            <a:r>
              <a:rPr lang="en-US" sz="1200" b="0" kern="1200" baseline="0" dirty="0" smtClean="0">
                <a:solidFill>
                  <a:schemeClr val="tx1"/>
                </a:solidFill>
                <a:latin typeface="Arial" charset="0"/>
                <a:ea typeface="+mn-ea"/>
                <a:cs typeface="+mn-cs"/>
              </a:rPr>
              <a:t>If possible show the equipment to the audience. This may involve a tour of a kitchen.</a:t>
            </a:r>
            <a:endParaRPr lang="en-US" sz="1200" b="0" kern="1200" dirty="0" smtClean="0">
              <a:solidFill>
                <a:schemeClr val="tx1"/>
              </a:solidFill>
              <a:latin typeface="Arial" charset="0"/>
              <a:ea typeface="+mn-ea"/>
              <a:cs typeface="+mn-cs"/>
            </a:endParaRPr>
          </a:p>
          <a:p>
            <a:pPr>
              <a:buFont typeface="Arial" pitchFamily="34" charset="0"/>
              <a:buNone/>
            </a:pPr>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baseline="0" dirty="0" smtClean="0"/>
              <a:t>Demonstration and explanation</a:t>
            </a:r>
          </a:p>
          <a:p>
            <a:endParaRPr lang="en-US" b="1" dirty="0" smtClean="0"/>
          </a:p>
          <a:p>
            <a:r>
              <a:rPr lang="en-US" b="0" dirty="0" smtClean="0"/>
              <a:t>Trainer explains</a:t>
            </a:r>
            <a:r>
              <a:rPr lang="en-US" b="0" baseline="0" dirty="0" smtClean="0"/>
              <a:t> the different types of temperature reading equipment stated in this slide.</a:t>
            </a:r>
          </a:p>
          <a:p>
            <a:r>
              <a:rPr lang="en-US" sz="1200" b="0" kern="1200" baseline="0" dirty="0" smtClean="0">
                <a:solidFill>
                  <a:schemeClr val="tx1"/>
                </a:solidFill>
                <a:latin typeface="Arial" charset="0"/>
                <a:ea typeface="+mn-ea"/>
                <a:cs typeface="+mn-cs"/>
              </a:rPr>
              <a:t>If possible show the equipment to the audience. This may involve a tour of a kitchen.</a:t>
            </a:r>
            <a:endParaRPr lang="en-US" sz="1200" b="0" kern="120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0" dirty="0" smtClean="0"/>
              <a:t>Trainer explains</a:t>
            </a:r>
            <a:r>
              <a:rPr lang="en-US" b="0" baseline="0" dirty="0" smtClean="0"/>
              <a:t> how food is maintained in hot food displays especially during transport.</a:t>
            </a:r>
            <a:endParaRPr lang="en-US" b="0" dirty="0" smtClean="0"/>
          </a:p>
          <a:p>
            <a:endParaRPr lang="en-AU" dirty="0" smtClean="0"/>
          </a:p>
          <a:p>
            <a:endParaRPr lang="en-US" sz="1200" kern="120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baseline="0" dirty="0" smtClean="0"/>
              <a:t>Demonstration and explanation</a:t>
            </a:r>
          </a:p>
          <a:p>
            <a:endParaRPr lang="en-US" b="1" dirty="0" smtClean="0"/>
          </a:p>
          <a:p>
            <a:r>
              <a:rPr lang="en-US" b="0" dirty="0" smtClean="0"/>
              <a:t>Trainer explains</a:t>
            </a:r>
            <a:r>
              <a:rPr lang="en-US" b="0" baseline="0" dirty="0" smtClean="0"/>
              <a:t> the different types of containers stated in this slide.</a:t>
            </a:r>
          </a:p>
          <a:p>
            <a:endParaRPr lang="en-US" sz="1200" b="0" kern="1200" baseline="0" dirty="0" smtClean="0">
              <a:solidFill>
                <a:schemeClr val="tx1"/>
              </a:solidFill>
              <a:latin typeface="Arial" charset="0"/>
              <a:ea typeface="+mn-ea"/>
              <a:cs typeface="+mn-cs"/>
            </a:endParaRPr>
          </a:p>
          <a:p>
            <a:r>
              <a:rPr lang="en-US" sz="1200" b="0" kern="1200" baseline="0" dirty="0" smtClean="0">
                <a:solidFill>
                  <a:schemeClr val="tx1"/>
                </a:solidFill>
                <a:latin typeface="Arial" charset="0"/>
                <a:ea typeface="+mn-ea"/>
                <a:cs typeface="+mn-cs"/>
              </a:rPr>
              <a:t>If possible show the containers to the audience. This may involve a tour of a kitchen.</a:t>
            </a:r>
          </a:p>
          <a:p>
            <a:endParaRPr lang="en-US" sz="1200" b="1" kern="1200" dirty="0" smtClean="0">
              <a:solidFill>
                <a:schemeClr val="tx1"/>
              </a:solidFill>
              <a:latin typeface="Arial" charset="0"/>
              <a:ea typeface="+mn-ea"/>
              <a:cs typeface="+mn-cs"/>
            </a:endParaRPr>
          </a:p>
          <a:p>
            <a:r>
              <a:rPr lang="en-US" sz="1200" b="1" kern="1200" dirty="0" smtClean="0">
                <a:solidFill>
                  <a:schemeClr val="tx1"/>
                </a:solidFill>
                <a:latin typeface="Arial" charset="0"/>
                <a:ea typeface="+mn-ea"/>
                <a:cs typeface="+mn-cs"/>
              </a:rPr>
              <a:t>Activity: Discussion</a:t>
            </a:r>
          </a:p>
          <a:p>
            <a:endParaRPr lang="en-US" sz="1200" b="1"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For each of the</a:t>
            </a:r>
            <a:r>
              <a:rPr lang="en-US" sz="1200" kern="1200" baseline="0" dirty="0" smtClean="0">
                <a:solidFill>
                  <a:schemeClr val="tx1"/>
                </a:solidFill>
                <a:latin typeface="Arial" charset="0"/>
                <a:ea typeface="+mn-ea"/>
                <a:cs typeface="+mn-cs"/>
              </a:rPr>
              <a:t> above containers, identify what food or beverage is served in them.</a:t>
            </a:r>
            <a:endParaRPr lang="en-US" sz="1200" kern="120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explains</a:t>
            </a:r>
            <a:r>
              <a:rPr lang="en-US" b="0" baseline="0" dirty="0" smtClean="0"/>
              <a:t> how food is maintained in cold food displays.</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1" baseline="0" dirty="0" smtClean="0"/>
          </a:p>
          <a:p>
            <a:r>
              <a:rPr lang="en-US" b="1" dirty="0" smtClean="0"/>
              <a:t>Activity:</a:t>
            </a:r>
            <a:r>
              <a:rPr lang="en-US" b="1" baseline="0" dirty="0" smtClean="0"/>
              <a:t> Demonstration and explanation</a:t>
            </a:r>
          </a:p>
          <a:p>
            <a:endParaRPr lang="en-US" b="1" dirty="0" smtClean="0"/>
          </a:p>
          <a:p>
            <a:r>
              <a:rPr lang="en-US" b="0" dirty="0" smtClean="0"/>
              <a:t>Trainer explains</a:t>
            </a:r>
            <a:r>
              <a:rPr lang="en-US" b="0" baseline="0" dirty="0" smtClean="0"/>
              <a:t> the different types of equipment stated in this slide.</a:t>
            </a:r>
          </a:p>
          <a:p>
            <a:endParaRPr lang="en-US" sz="1200" b="0" kern="1200" baseline="0" dirty="0" smtClean="0">
              <a:solidFill>
                <a:schemeClr val="tx1"/>
              </a:solidFill>
              <a:latin typeface="Arial" charset="0"/>
              <a:ea typeface="+mn-ea"/>
              <a:cs typeface="+mn-cs"/>
            </a:endParaRPr>
          </a:p>
          <a:p>
            <a:r>
              <a:rPr lang="en-US" sz="1200" b="0" kern="1200" baseline="0" dirty="0" smtClean="0">
                <a:solidFill>
                  <a:schemeClr val="tx1"/>
                </a:solidFill>
                <a:latin typeface="Arial" charset="0"/>
                <a:ea typeface="+mn-ea"/>
                <a:cs typeface="+mn-cs"/>
              </a:rPr>
              <a:t>If possible show the equipment to the audience. This may involve a tour of a kitchen.</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0" dirty="0" smtClean="0"/>
              <a:t>Trainer explains</a:t>
            </a:r>
            <a:r>
              <a:rPr lang="en-US" b="0" baseline="0" dirty="0" smtClean="0"/>
              <a:t> how food is protected from airborne and other contamination.</a:t>
            </a:r>
          </a:p>
          <a:p>
            <a:endParaRPr lang="en-US" b="1" baseline="0" dirty="0" smtClean="0"/>
          </a:p>
          <a:p>
            <a:r>
              <a:rPr lang="en-US" b="0" baseline="0" dirty="0" smtClean="0"/>
              <a:t>Discuss points.</a:t>
            </a:r>
            <a:endParaRPr lang="en-US" b="0" dirty="0" smtClean="0"/>
          </a:p>
          <a:p>
            <a:endParaRPr lang="en-AU" dirty="0" smtClean="0"/>
          </a:p>
          <a:p>
            <a:r>
              <a:rPr lang="en-US" sz="1200" b="0" kern="1200" baseline="0" dirty="0" smtClean="0">
                <a:solidFill>
                  <a:schemeClr val="tx1"/>
                </a:solidFill>
                <a:latin typeface="Arial" charset="0"/>
                <a:ea typeface="+mn-ea"/>
                <a:cs typeface="+mn-cs"/>
              </a:rPr>
              <a:t>If possible show the containers to the audience. This may involve a tour of a kitchen.</a:t>
            </a:r>
          </a:p>
          <a:p>
            <a:endParaRPr lang="en-US" sz="1200" b="1" kern="1200" dirty="0" smtClean="0">
              <a:solidFill>
                <a:schemeClr val="tx1"/>
              </a:solidFill>
              <a:latin typeface="Arial" charset="0"/>
              <a:ea typeface="+mn-ea"/>
              <a:cs typeface="+mn-cs"/>
            </a:endParaRPr>
          </a:p>
          <a:p>
            <a:r>
              <a:rPr lang="en-US" sz="1200" b="1" kern="1200" dirty="0" smtClean="0">
                <a:solidFill>
                  <a:schemeClr val="tx1"/>
                </a:solidFill>
                <a:latin typeface="Arial" charset="0"/>
                <a:ea typeface="+mn-ea"/>
                <a:cs typeface="+mn-cs"/>
              </a:rPr>
              <a:t>Activity: Discussion</a:t>
            </a:r>
          </a:p>
          <a:p>
            <a:endParaRPr lang="en-US" sz="1200" kern="1200" dirty="0" smtClean="0">
              <a:solidFill>
                <a:schemeClr val="tx1"/>
              </a:solidFill>
              <a:latin typeface="Arial" charset="0"/>
              <a:ea typeface="+mn-ea"/>
              <a:cs typeface="+mn-cs"/>
            </a:endParaRPr>
          </a:p>
          <a:p>
            <a:pPr marL="228600" indent="-228600">
              <a:buAutoNum type="alphaLcParenR"/>
            </a:pPr>
            <a:r>
              <a:rPr lang="en-US" sz="1200" kern="1200" dirty="0" smtClean="0">
                <a:solidFill>
                  <a:schemeClr val="tx1"/>
                </a:solidFill>
                <a:latin typeface="Arial" charset="0"/>
                <a:ea typeface="+mn-ea"/>
                <a:cs typeface="+mn-cs"/>
              </a:rPr>
              <a:t>What are different types of vessels or closed displays are used</a:t>
            </a:r>
            <a:r>
              <a:rPr lang="en-US" sz="1200" kern="1200" baseline="0" dirty="0" smtClean="0">
                <a:solidFill>
                  <a:schemeClr val="tx1"/>
                </a:solidFill>
                <a:latin typeface="Arial" charset="0"/>
                <a:ea typeface="+mn-ea"/>
                <a:cs typeface="+mn-cs"/>
              </a:rPr>
              <a:t> to help reduce airborne contamination?</a:t>
            </a:r>
          </a:p>
          <a:p>
            <a:pPr marL="228600" indent="-228600">
              <a:buAutoNum type="alphaLcParenR"/>
            </a:pPr>
            <a:r>
              <a:rPr lang="en-US" sz="1200" kern="1200" baseline="0" dirty="0" smtClean="0">
                <a:solidFill>
                  <a:schemeClr val="tx1"/>
                </a:solidFill>
                <a:latin typeface="Arial" charset="0"/>
                <a:ea typeface="+mn-ea"/>
                <a:cs typeface="+mn-cs"/>
              </a:rPr>
              <a:t>What foods are stored in each?</a:t>
            </a:r>
            <a:endParaRPr lang="en-US" sz="1200" kern="1200" dirty="0" smtClean="0">
              <a:solidFill>
                <a:schemeClr val="tx1"/>
              </a:solidFill>
              <a:latin typeface="Arial" charset="0"/>
              <a:ea typeface="+mn-ea"/>
              <a:cs typeface="+mn-cs"/>
            </a:endParaRPr>
          </a:p>
          <a:p>
            <a:endParaRPr lang="en-AU" dirty="0" smtClean="0"/>
          </a:p>
          <a:p>
            <a:endParaRPr lang="en-US" sz="1200" b="0" kern="1200" baseline="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0" dirty="0" smtClean="0"/>
              <a:t>Trainer explains</a:t>
            </a:r>
            <a:r>
              <a:rPr lang="en-US" b="0" baseline="0" dirty="0" smtClean="0"/>
              <a:t> the importance of displaying items attractively.</a:t>
            </a:r>
            <a:endParaRPr lang="en-US" b="0" dirty="0" smtClean="0"/>
          </a:p>
          <a:p>
            <a:endParaRPr lang="en-US" sz="1200" b="1" kern="1200" dirty="0" smtClean="0">
              <a:solidFill>
                <a:schemeClr val="tx1"/>
              </a:solidFill>
              <a:latin typeface="Arial" charset="0"/>
              <a:ea typeface="+mn-ea"/>
              <a:cs typeface="+mn-cs"/>
            </a:endParaRPr>
          </a:p>
          <a:p>
            <a:r>
              <a:rPr lang="en-US" sz="1200" b="1" kern="1200" dirty="0" smtClean="0">
                <a:solidFill>
                  <a:schemeClr val="tx1"/>
                </a:solidFill>
                <a:latin typeface="Arial" charset="0"/>
                <a:ea typeface="+mn-ea"/>
                <a:cs typeface="+mn-cs"/>
              </a:rPr>
              <a:t>Activity: Discussion</a:t>
            </a:r>
          </a:p>
          <a:p>
            <a:endParaRPr lang="en-US" sz="1200" kern="1200" dirty="0" smtClean="0">
              <a:solidFill>
                <a:schemeClr val="tx1"/>
              </a:solidFill>
              <a:latin typeface="Arial" charset="0"/>
              <a:ea typeface="+mn-ea"/>
              <a:cs typeface="+mn-cs"/>
            </a:endParaRPr>
          </a:p>
          <a:p>
            <a:pPr marL="228600" marR="0" indent="-228600" algn="l" defTabSz="914400" rtl="0" eaLnBrk="1" fontAlgn="base" latinLnBrk="0" hangingPunct="1">
              <a:lnSpc>
                <a:spcPct val="100000"/>
              </a:lnSpc>
              <a:spcBef>
                <a:spcPct val="30000"/>
              </a:spcBef>
              <a:spcAft>
                <a:spcPct val="0"/>
              </a:spcAft>
              <a:buClrTx/>
              <a:buSzTx/>
              <a:buFontTx/>
              <a:buAutoNum type="alphaLcParenR"/>
              <a:tabLst/>
              <a:defRPr/>
            </a:pPr>
            <a:r>
              <a:rPr lang="en-US" sz="1200" kern="1200" dirty="0" smtClean="0">
                <a:solidFill>
                  <a:schemeClr val="tx1"/>
                </a:solidFill>
                <a:latin typeface="Arial" charset="0"/>
                <a:ea typeface="+mn-ea"/>
                <a:cs typeface="+mn-cs"/>
              </a:rPr>
              <a:t>How have you been ‘enticed</a:t>
            </a:r>
            <a:r>
              <a:rPr lang="en-US" sz="1200" kern="1200" baseline="0" dirty="0" smtClean="0">
                <a:solidFill>
                  <a:schemeClr val="tx1"/>
                </a:solidFill>
                <a:latin typeface="Arial" charset="0"/>
                <a:ea typeface="+mn-ea"/>
                <a:cs typeface="+mn-cs"/>
              </a:rPr>
              <a:t>’ to purchase food before? What attracted you?</a:t>
            </a:r>
            <a:endParaRPr lang="en-US" sz="1200" kern="1200" dirty="0" smtClean="0">
              <a:solidFill>
                <a:schemeClr val="tx1"/>
              </a:solidFill>
              <a:latin typeface="Arial" charset="0"/>
              <a:ea typeface="+mn-ea"/>
              <a:cs typeface="+mn-cs"/>
            </a:endParaRPr>
          </a:p>
          <a:p>
            <a:pPr marL="228600" marR="0" indent="-228600" algn="l" defTabSz="914400" rtl="0" eaLnBrk="1" fontAlgn="base" latinLnBrk="0" hangingPunct="1">
              <a:lnSpc>
                <a:spcPct val="100000"/>
              </a:lnSpc>
              <a:spcBef>
                <a:spcPct val="30000"/>
              </a:spcBef>
              <a:spcAft>
                <a:spcPct val="0"/>
              </a:spcAft>
              <a:buClrTx/>
              <a:buSzTx/>
              <a:buFontTx/>
              <a:buAutoNum type="alphaLcParenR"/>
              <a:tabLst/>
              <a:defRPr/>
            </a:pPr>
            <a:r>
              <a:rPr lang="en-US" sz="1200" kern="1200" dirty="0" smtClean="0">
                <a:solidFill>
                  <a:schemeClr val="tx1"/>
                </a:solidFill>
                <a:latin typeface="Arial" charset="0"/>
                <a:ea typeface="+mn-ea"/>
                <a:cs typeface="+mn-cs"/>
              </a:rPr>
              <a:t>How</a:t>
            </a:r>
            <a:r>
              <a:rPr lang="en-US" sz="1200" kern="1200" baseline="0" dirty="0" smtClean="0">
                <a:solidFill>
                  <a:schemeClr val="tx1"/>
                </a:solidFill>
                <a:latin typeface="Arial" charset="0"/>
                <a:ea typeface="+mn-ea"/>
                <a:cs typeface="+mn-cs"/>
              </a:rPr>
              <a:t> can you </a:t>
            </a:r>
            <a:r>
              <a:rPr lang="en-US" sz="1200" dirty="0" smtClean="0"/>
              <a:t>visually entice the customer?</a:t>
            </a:r>
          </a:p>
          <a:p>
            <a:pPr marL="228600" marR="0" indent="-228600" algn="l" defTabSz="914400" rtl="0" eaLnBrk="1" fontAlgn="base" latinLnBrk="0" hangingPunct="1">
              <a:lnSpc>
                <a:spcPct val="100000"/>
              </a:lnSpc>
              <a:spcBef>
                <a:spcPct val="30000"/>
              </a:spcBef>
              <a:spcAft>
                <a:spcPct val="0"/>
              </a:spcAft>
              <a:buClrTx/>
              <a:buSzTx/>
              <a:buFontTx/>
              <a:buAutoNum type="alphaLcParenR"/>
              <a:tabLst/>
              <a:defRPr/>
            </a:pPr>
            <a:r>
              <a:rPr lang="en-US" sz="1200" dirty="0" smtClean="0"/>
              <a:t>How can you provide all the desired information </a:t>
            </a:r>
          </a:p>
          <a:p>
            <a:pPr marL="228600" indent="-228600">
              <a:buAutoNum type="alphaLcParenR"/>
            </a:pPr>
            <a:r>
              <a:rPr lang="en-US" sz="1200" kern="1200" baseline="0" dirty="0" smtClean="0">
                <a:solidFill>
                  <a:schemeClr val="tx1"/>
                </a:solidFill>
                <a:latin typeface="Arial" charset="0"/>
                <a:ea typeface="+mn-ea"/>
                <a:cs typeface="+mn-cs"/>
              </a:rPr>
              <a:t>What do you need to consider when placing items on display?</a:t>
            </a:r>
          </a:p>
          <a:p>
            <a:endParaRPr lang="en-AU" dirty="0" smtClean="0"/>
          </a:p>
          <a:p>
            <a:endParaRPr lang="en-US" sz="1200" b="0" kern="1200" baseline="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0" dirty="0" smtClean="0"/>
              <a:t>Trainer explains</a:t>
            </a:r>
            <a:r>
              <a:rPr lang="en-US" b="0" baseline="0" dirty="0" smtClean="0"/>
              <a:t> the importance of visually enticing the customer.</a:t>
            </a:r>
            <a:endParaRPr lang="en-US" b="0" dirty="0" smtClean="0"/>
          </a:p>
          <a:p>
            <a:endParaRPr lang="en-AU" dirty="0" smtClean="0"/>
          </a:p>
          <a:p>
            <a:r>
              <a:rPr lang="en-US" sz="1200" kern="1200" dirty="0" smtClean="0">
                <a:solidFill>
                  <a:schemeClr val="tx1"/>
                </a:solidFill>
                <a:latin typeface="Arial" charset="0"/>
                <a:ea typeface="+mn-ea"/>
                <a:cs typeface="+mn-cs"/>
              </a:rPr>
              <a:t>Discuss</a:t>
            </a:r>
            <a:r>
              <a:rPr lang="en-US" sz="1200" kern="1200" baseline="0" dirty="0" smtClean="0">
                <a:solidFill>
                  <a:schemeClr val="tx1"/>
                </a:solidFill>
                <a:latin typeface="Arial" charset="0"/>
                <a:ea typeface="+mn-ea"/>
                <a:cs typeface="+mn-cs"/>
              </a:rPr>
              <a:t> points providing examples of each.</a:t>
            </a:r>
          </a:p>
          <a:p>
            <a:endParaRPr lang="en-US" sz="1200" kern="1200" baseline="0" dirty="0" smtClean="0">
              <a:solidFill>
                <a:schemeClr val="tx1"/>
              </a:solidFill>
              <a:latin typeface="Arial" charset="0"/>
              <a:ea typeface="+mn-ea"/>
              <a:cs typeface="+mn-cs"/>
            </a:endParaRPr>
          </a:p>
          <a:p>
            <a:r>
              <a:rPr lang="en-US" sz="1200" b="1" kern="1200" baseline="0" dirty="0" smtClean="0">
                <a:solidFill>
                  <a:schemeClr val="tx1"/>
                </a:solidFill>
                <a:latin typeface="Arial" charset="0"/>
                <a:ea typeface="+mn-ea"/>
                <a:cs typeface="+mn-cs"/>
              </a:rPr>
              <a:t>Activity: Discussion</a:t>
            </a:r>
          </a:p>
          <a:p>
            <a:endParaRPr lang="en-US" sz="1200" b="1" kern="1200" baseline="0" dirty="0" smtClean="0">
              <a:solidFill>
                <a:schemeClr val="tx1"/>
              </a:solidFill>
              <a:latin typeface="Arial" charset="0"/>
              <a:ea typeface="+mn-ea"/>
              <a:cs typeface="+mn-cs"/>
            </a:endParaRPr>
          </a:p>
          <a:p>
            <a:pPr marL="228600" indent="-228600">
              <a:buAutoNum type="alphaLcParenR"/>
            </a:pPr>
            <a:r>
              <a:rPr lang="en-US" sz="1200" kern="1200" baseline="0" dirty="0" smtClean="0">
                <a:solidFill>
                  <a:schemeClr val="tx1"/>
                </a:solidFill>
                <a:latin typeface="Arial" charset="0"/>
                <a:ea typeface="+mn-ea"/>
                <a:cs typeface="+mn-cs"/>
              </a:rPr>
              <a:t>Think of successful businesses who use each of these methods to entice customers.</a:t>
            </a:r>
          </a:p>
          <a:p>
            <a:pPr marL="228600" indent="-228600">
              <a:buAutoNum type="alphaLcParenR"/>
            </a:pPr>
            <a:r>
              <a:rPr lang="en-US" sz="1200" kern="1200" baseline="0" dirty="0" smtClean="0">
                <a:solidFill>
                  <a:schemeClr val="tx1"/>
                </a:solidFill>
                <a:latin typeface="Arial" charset="0"/>
                <a:ea typeface="+mn-ea"/>
                <a:cs typeface="+mn-cs"/>
              </a:rPr>
              <a:t>Do you use posters? What do they show?</a:t>
            </a:r>
          </a:p>
          <a:p>
            <a:pPr marL="228600" indent="-228600">
              <a:buAutoNum type="alphaLcParenR"/>
            </a:pPr>
            <a:r>
              <a:rPr lang="en-US" sz="1200" kern="1200" baseline="0" dirty="0" smtClean="0">
                <a:solidFill>
                  <a:schemeClr val="tx1"/>
                </a:solidFill>
                <a:latin typeface="Arial" charset="0"/>
                <a:ea typeface="+mn-ea"/>
                <a:cs typeface="+mn-cs"/>
              </a:rPr>
              <a:t>How can you use pictures?</a:t>
            </a:r>
          </a:p>
          <a:p>
            <a:pPr marL="228600" indent="-228600">
              <a:buAutoNum type="alphaLcParenR"/>
            </a:pPr>
            <a:r>
              <a:rPr lang="en-US" sz="1200" kern="1200" baseline="0" dirty="0" smtClean="0">
                <a:solidFill>
                  <a:schemeClr val="tx1"/>
                </a:solidFill>
                <a:latin typeface="Arial" charset="0"/>
                <a:ea typeface="+mn-ea"/>
                <a:cs typeface="+mn-cs"/>
              </a:rPr>
              <a:t>What signs and menus do you use? </a:t>
            </a:r>
          </a:p>
          <a:p>
            <a:pPr marL="228600" indent="-228600">
              <a:buAutoNum type="alphaLcParenR"/>
            </a:pPr>
            <a:r>
              <a:rPr lang="en-US" sz="1200" kern="1200" baseline="0" dirty="0" smtClean="0">
                <a:solidFill>
                  <a:schemeClr val="tx1"/>
                </a:solidFill>
                <a:latin typeface="Arial" charset="0"/>
                <a:ea typeface="+mn-ea"/>
                <a:cs typeface="+mn-cs"/>
              </a:rPr>
              <a:t>Would you change them to make them more attractive? </a:t>
            </a:r>
          </a:p>
          <a:p>
            <a:pPr marL="228600" indent="-228600">
              <a:buAutoNum type="alphaLcParenR"/>
            </a:pPr>
            <a:r>
              <a:rPr lang="en-US" sz="1200" kern="1200" baseline="0" dirty="0" smtClean="0">
                <a:solidFill>
                  <a:schemeClr val="tx1"/>
                </a:solidFill>
                <a:latin typeface="Arial" charset="0"/>
                <a:ea typeface="+mn-ea"/>
                <a:cs typeface="+mn-cs"/>
              </a:rPr>
              <a:t>What would you change?</a:t>
            </a:r>
          </a:p>
          <a:p>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0" dirty="0" smtClean="0"/>
              <a:t>Trainer explains</a:t>
            </a:r>
            <a:r>
              <a:rPr lang="en-US" b="0" baseline="0" dirty="0" smtClean="0"/>
              <a:t> the importance of providing accurate information.</a:t>
            </a:r>
            <a:endParaRPr lang="en-US" b="0" dirty="0" smtClean="0"/>
          </a:p>
          <a:p>
            <a:endParaRPr lang="en-AU" dirty="0" smtClean="0"/>
          </a:p>
          <a:p>
            <a:r>
              <a:rPr lang="en-US" sz="1200" kern="1200" dirty="0" smtClean="0">
                <a:solidFill>
                  <a:schemeClr val="tx1"/>
                </a:solidFill>
                <a:latin typeface="Arial" charset="0"/>
                <a:ea typeface="+mn-ea"/>
                <a:cs typeface="+mn-cs"/>
              </a:rPr>
              <a:t>Discuss</a:t>
            </a:r>
            <a:r>
              <a:rPr lang="en-US" sz="1200" kern="1200" baseline="0" dirty="0" smtClean="0">
                <a:solidFill>
                  <a:schemeClr val="tx1"/>
                </a:solidFill>
                <a:latin typeface="Arial" charset="0"/>
                <a:ea typeface="+mn-ea"/>
                <a:cs typeface="+mn-cs"/>
              </a:rPr>
              <a:t> points providing examples of each.</a:t>
            </a:r>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r>
              <a:rPr lang="en-US" sz="1200" b="1" kern="1200" baseline="0" dirty="0" smtClean="0">
                <a:solidFill>
                  <a:schemeClr val="tx1"/>
                </a:solidFill>
                <a:latin typeface="Arial" charset="0"/>
                <a:ea typeface="+mn-ea"/>
                <a:cs typeface="+mn-cs"/>
              </a:rPr>
              <a:t>Activity: Discussion</a:t>
            </a:r>
          </a:p>
          <a:p>
            <a:endParaRPr lang="en-US" sz="1200" b="1" kern="1200" baseline="0" dirty="0" smtClean="0">
              <a:solidFill>
                <a:schemeClr val="tx1"/>
              </a:solidFill>
              <a:latin typeface="Arial" charset="0"/>
              <a:ea typeface="+mn-ea"/>
              <a:cs typeface="+mn-cs"/>
            </a:endParaRPr>
          </a:p>
          <a:p>
            <a:pPr marL="228600" indent="-228600">
              <a:buAutoNum type="alphaLcParenR"/>
            </a:pPr>
            <a:r>
              <a:rPr lang="en-US" sz="1200" kern="1200" baseline="0" dirty="0" smtClean="0">
                <a:solidFill>
                  <a:schemeClr val="tx1"/>
                </a:solidFill>
                <a:latin typeface="Arial" charset="0"/>
                <a:ea typeface="+mn-ea"/>
                <a:cs typeface="+mn-cs"/>
              </a:rPr>
              <a:t>What information do customers want when they are deciding what food to offer?</a:t>
            </a:r>
          </a:p>
          <a:p>
            <a:pPr marL="228600" marR="0" indent="-228600" algn="l" defTabSz="914400" rtl="0" eaLnBrk="1" fontAlgn="base" latinLnBrk="0" hangingPunct="1">
              <a:lnSpc>
                <a:spcPct val="100000"/>
              </a:lnSpc>
              <a:spcBef>
                <a:spcPct val="30000"/>
              </a:spcBef>
              <a:spcAft>
                <a:spcPct val="0"/>
              </a:spcAft>
              <a:buClrTx/>
              <a:buSzTx/>
              <a:buFontTx/>
              <a:buNone/>
              <a:tabLst/>
              <a:defRPr/>
            </a:pPr>
            <a:endParaRPr lang="en-US" sz="1200" b="1" kern="1200" baseline="0" dirty="0" smtClean="0">
              <a:solidFill>
                <a:schemeClr val="tx1"/>
              </a:solidFill>
              <a:latin typeface="Arial" charset="0"/>
              <a:ea typeface="+mn-ea"/>
              <a:cs typeface="+mn-cs"/>
            </a:endParaRPr>
          </a:p>
          <a:p>
            <a:pPr marL="228600" marR="0" indent="-22860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Observation</a:t>
            </a:r>
          </a:p>
          <a:p>
            <a:pPr marL="228600" indent="-228600">
              <a:buNone/>
            </a:pPr>
            <a:endParaRPr lang="en-US" sz="1200" kern="1200" baseline="0" dirty="0" smtClean="0">
              <a:solidFill>
                <a:schemeClr val="tx1"/>
              </a:solidFill>
              <a:latin typeface="Arial" charset="0"/>
              <a:ea typeface="+mn-ea"/>
              <a:cs typeface="+mn-cs"/>
            </a:endParaRPr>
          </a:p>
          <a:p>
            <a:pPr marL="228600" indent="-228600">
              <a:buNone/>
            </a:pPr>
            <a:r>
              <a:rPr lang="en-US" sz="1200" kern="1200" baseline="0" dirty="0" smtClean="0">
                <a:solidFill>
                  <a:schemeClr val="tx1"/>
                </a:solidFill>
                <a:latin typeface="Arial" charset="0"/>
                <a:ea typeface="+mn-ea"/>
                <a:cs typeface="+mn-cs"/>
              </a:rPr>
              <a:t>Have a look at the menus promotions used in your outlet and see if the points in this slide are easily visible for customers.</a:t>
            </a:r>
          </a:p>
          <a:p>
            <a:endParaRPr lang="en-US" sz="1200" kern="120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explains</a:t>
            </a:r>
            <a:r>
              <a:rPr lang="en-US" b="0" baseline="0" dirty="0" smtClean="0"/>
              <a:t> the importance of </a:t>
            </a:r>
            <a:r>
              <a:rPr lang="en-US" sz="1200" b="0" baseline="0" dirty="0" smtClean="0">
                <a:solidFill>
                  <a:schemeClr val="accent1">
                    <a:lumMod val="75000"/>
                  </a:schemeClr>
                </a:solidFill>
              </a:rPr>
              <a:t>s</a:t>
            </a:r>
            <a:r>
              <a:rPr lang="en-US" sz="1200" b="0" dirty="0" smtClean="0">
                <a:solidFill>
                  <a:schemeClr val="accent1">
                    <a:lumMod val="75000"/>
                  </a:schemeClr>
                </a:solidFill>
              </a:rPr>
              <a:t>toring food wrapping and packaging materials correctly.</a:t>
            </a:r>
          </a:p>
          <a:p>
            <a:endParaRPr lang="en-AU" b="0" dirty="0" smtClean="0"/>
          </a:p>
          <a:p>
            <a:r>
              <a:rPr lang="en-AU" b="0" dirty="0" smtClean="0"/>
              <a:t>Discuss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explains</a:t>
            </a:r>
            <a:r>
              <a:rPr lang="en-US" b="0" baseline="0" dirty="0" smtClean="0"/>
              <a:t> the importance of </a:t>
            </a:r>
            <a:r>
              <a:rPr lang="en-US" sz="1200" b="0" baseline="0" dirty="0" smtClean="0">
                <a:solidFill>
                  <a:schemeClr val="accent1">
                    <a:lumMod val="75000"/>
                  </a:schemeClr>
                </a:solidFill>
              </a:rPr>
              <a:t>s</a:t>
            </a:r>
            <a:r>
              <a:rPr lang="en-US" sz="1200" b="0" dirty="0" smtClean="0">
                <a:solidFill>
                  <a:schemeClr val="accent1">
                    <a:lumMod val="75000"/>
                  </a:schemeClr>
                </a:solidFill>
              </a:rPr>
              <a:t>toring food wrapping and packaging materials correctly.</a:t>
            </a:r>
          </a:p>
          <a:p>
            <a:endParaRPr lang="en-AU" b="0" dirty="0" smtClean="0"/>
          </a:p>
          <a:p>
            <a:pPr>
              <a:buFont typeface="Arial" pitchFamily="34" charset="0"/>
              <a:buChar char="•"/>
            </a:pPr>
            <a:r>
              <a:rPr lang="en-AU" b="0" dirty="0" smtClean="0"/>
              <a:t>What is each container used for?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explains</a:t>
            </a:r>
            <a:r>
              <a:rPr lang="en-US" b="0" baseline="0" dirty="0" smtClean="0"/>
              <a:t> the importance of </a:t>
            </a:r>
            <a:r>
              <a:rPr lang="en-US" sz="1200" b="0" baseline="0" dirty="0" smtClean="0">
                <a:solidFill>
                  <a:schemeClr val="accent1">
                    <a:lumMod val="75000"/>
                  </a:schemeClr>
                </a:solidFill>
              </a:rPr>
              <a:t>s</a:t>
            </a:r>
            <a:r>
              <a:rPr lang="en-US" sz="1200" b="0" dirty="0" smtClean="0">
                <a:solidFill>
                  <a:schemeClr val="accent1">
                    <a:lumMod val="75000"/>
                  </a:schemeClr>
                </a:solidFill>
              </a:rPr>
              <a:t>toring food wrapping and packaging materials correctly.</a:t>
            </a:r>
          </a:p>
          <a:p>
            <a:endParaRPr lang="en-AU" b="0" dirty="0" smtClean="0"/>
          </a:p>
          <a:p>
            <a:pPr>
              <a:buFont typeface="Arial" pitchFamily="34" charset="0"/>
              <a:buChar char="•"/>
            </a:pPr>
            <a:r>
              <a:rPr lang="en-AU" b="0" dirty="0" smtClean="0"/>
              <a:t>What is each container used for?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0" dirty="0" smtClean="0"/>
              <a:t>Trainer asks the audience to identify ways to maintain</a:t>
            </a:r>
            <a:r>
              <a:rPr lang="en-US" b="0" baseline="0" dirty="0" smtClean="0"/>
              <a:t> food safety when customers get their own food.</a:t>
            </a:r>
          </a:p>
          <a:p>
            <a:endParaRPr lang="en-US" b="1" dirty="0" smtClean="0"/>
          </a:p>
          <a:p>
            <a:r>
              <a:rPr lang="en-US" dirty="0" smtClean="0"/>
              <a:t>The</a:t>
            </a:r>
            <a:r>
              <a:rPr lang="en-US" baseline="0" dirty="0" smtClean="0"/>
              <a:t> trainer should ask the audience for generic feedback to help stimulate discussion.</a:t>
            </a:r>
          </a:p>
          <a:p>
            <a:endParaRPr lang="en-US" baseline="0" dirty="0" smtClean="0"/>
          </a:p>
          <a:p>
            <a:r>
              <a:rPr lang="en-US" baseline="0" dirty="0" smtClean="0"/>
              <a:t>Write answers down.</a:t>
            </a:r>
            <a:endParaRPr lang="en-AU"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dirty="0" smtClean="0">
                <a:solidFill>
                  <a:schemeClr val="tx1"/>
                </a:solidFill>
                <a:latin typeface="Arial" charset="0"/>
                <a:ea typeface="+mn-ea"/>
                <a:cs typeface="+mn-cs"/>
              </a:rPr>
              <a:t>Trainer to introduce concept of self</a:t>
            </a:r>
            <a:r>
              <a:rPr lang="en-US" sz="1200" b="0" kern="1200" baseline="0" dirty="0" smtClean="0">
                <a:solidFill>
                  <a:schemeClr val="tx1"/>
                </a:solidFill>
                <a:latin typeface="Arial" charset="0"/>
                <a:ea typeface="+mn-ea"/>
                <a:cs typeface="+mn-cs"/>
              </a:rPr>
              <a:t>-service.</a:t>
            </a:r>
            <a:endParaRPr lang="en-US" sz="1200" b="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r>
              <a:rPr lang="en-US" sz="1200" b="1" kern="1200" dirty="0" smtClean="0">
                <a:solidFill>
                  <a:schemeClr val="tx1"/>
                </a:solidFill>
                <a:latin typeface="Arial" charset="0"/>
                <a:ea typeface="+mn-ea"/>
                <a:cs typeface="+mn-cs"/>
              </a:rPr>
              <a:t>Activity: Discussion</a:t>
            </a:r>
          </a:p>
          <a:p>
            <a:endParaRPr lang="en-US" sz="1200" kern="1200" dirty="0" smtClean="0">
              <a:solidFill>
                <a:schemeClr val="tx1"/>
              </a:solidFill>
              <a:latin typeface="Arial" charset="0"/>
              <a:ea typeface="+mn-ea"/>
              <a:cs typeface="+mn-cs"/>
            </a:endParaRPr>
          </a:p>
          <a:p>
            <a:pPr marL="228600" indent="-228600">
              <a:buAutoNum type="alphaLcParenR"/>
            </a:pPr>
            <a:r>
              <a:rPr lang="en-US" sz="1200" kern="1200" dirty="0" smtClean="0">
                <a:solidFill>
                  <a:schemeClr val="tx1"/>
                </a:solidFill>
                <a:latin typeface="Arial" charset="0"/>
                <a:ea typeface="+mn-ea"/>
                <a:cs typeface="+mn-cs"/>
              </a:rPr>
              <a:t>Why are</a:t>
            </a:r>
            <a:r>
              <a:rPr lang="en-US" sz="1200" kern="1200" baseline="0" dirty="0" smtClean="0">
                <a:solidFill>
                  <a:schemeClr val="tx1"/>
                </a:solidFill>
                <a:latin typeface="Arial" charset="0"/>
                <a:ea typeface="+mn-ea"/>
                <a:cs typeface="+mn-cs"/>
              </a:rPr>
              <a:t> the advantages of self-service? (Think in terms of owners, managers, staff and customers)</a:t>
            </a:r>
          </a:p>
          <a:p>
            <a:pPr marL="228600" indent="-228600">
              <a:buAutoNum type="alphaLcParenR"/>
            </a:pPr>
            <a:r>
              <a:rPr lang="en-US" sz="1200" kern="1200" baseline="0" dirty="0" smtClean="0">
                <a:solidFill>
                  <a:schemeClr val="tx1"/>
                </a:solidFill>
                <a:latin typeface="Arial" charset="0"/>
                <a:ea typeface="+mn-ea"/>
                <a:cs typeface="+mn-cs"/>
              </a:rPr>
              <a:t>What are the disadvantages of self-service?</a:t>
            </a:r>
          </a:p>
          <a:p>
            <a:pPr marL="228600" indent="-228600">
              <a:buAutoNum type="alphaLcParenR"/>
            </a:pPr>
            <a:r>
              <a:rPr lang="en-US" sz="1200" kern="1200" baseline="0" dirty="0" smtClean="0">
                <a:solidFill>
                  <a:schemeClr val="tx1"/>
                </a:solidFill>
                <a:latin typeface="Arial" charset="0"/>
                <a:ea typeface="+mn-ea"/>
                <a:cs typeface="+mn-cs"/>
              </a:rPr>
              <a:t>Why is self-service popular and which successful companies use this service style?</a:t>
            </a:r>
          </a:p>
          <a:p>
            <a:pPr marL="228600" indent="-228600">
              <a:buAutoNum type="alphaLcParenR"/>
            </a:pPr>
            <a:r>
              <a:rPr lang="en-US" sz="1200" kern="1200" baseline="0" dirty="0" smtClean="0">
                <a:solidFill>
                  <a:schemeClr val="tx1"/>
                </a:solidFill>
                <a:latin typeface="Arial" charset="0"/>
                <a:ea typeface="+mn-ea"/>
                <a:cs typeface="+mn-cs"/>
              </a:rPr>
              <a:t>Which outlets in your venue use self-service?</a:t>
            </a:r>
            <a:endParaRPr lang="en-US" sz="1200" kern="120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b="0" kern="1200" dirty="0" smtClean="0">
                <a:solidFill>
                  <a:schemeClr val="tx1"/>
                </a:solidFill>
                <a:latin typeface="Arial" charset="0"/>
                <a:ea typeface="+mn-ea"/>
                <a:cs typeface="+mn-cs"/>
              </a:rPr>
              <a:t>Trainer to introduce benefits of self-</a:t>
            </a:r>
            <a:r>
              <a:rPr lang="en-US" sz="1200" b="0" kern="1200" baseline="0" dirty="0" smtClean="0">
                <a:solidFill>
                  <a:schemeClr val="tx1"/>
                </a:solidFill>
                <a:latin typeface="Arial" charset="0"/>
                <a:ea typeface="+mn-ea"/>
                <a:cs typeface="+mn-cs"/>
              </a:rPr>
              <a:t>service.</a:t>
            </a:r>
            <a:endParaRPr lang="en-US" sz="1200" b="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Discuss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b="0" kern="1200" dirty="0" smtClean="0">
                <a:solidFill>
                  <a:schemeClr val="tx1"/>
                </a:solidFill>
                <a:latin typeface="Arial" charset="0"/>
                <a:ea typeface="+mn-ea"/>
                <a:cs typeface="+mn-cs"/>
              </a:rPr>
              <a:t>Trainer to introduce principles of self</a:t>
            </a:r>
            <a:r>
              <a:rPr lang="en-US" sz="1200" b="0" kern="1200" baseline="0" dirty="0" smtClean="0">
                <a:solidFill>
                  <a:schemeClr val="tx1"/>
                </a:solidFill>
                <a:latin typeface="Arial" charset="0"/>
                <a:ea typeface="+mn-ea"/>
                <a:cs typeface="+mn-cs"/>
              </a:rPr>
              <a:t>-service.</a:t>
            </a:r>
            <a:endParaRPr lang="en-US" sz="1200" b="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Discuss</a:t>
            </a:r>
            <a:r>
              <a:rPr lang="en-US" sz="1200" kern="1200" baseline="0" dirty="0" smtClean="0">
                <a:solidFill>
                  <a:schemeClr val="tx1"/>
                </a:solidFill>
                <a:latin typeface="Arial" charset="0"/>
                <a:ea typeface="+mn-ea"/>
                <a:cs typeface="+mn-cs"/>
              </a:rPr>
              <a:t> points</a:t>
            </a:r>
            <a:r>
              <a:rPr lang="en-US" sz="1200" kern="1200" dirty="0" smtClean="0">
                <a:solidFill>
                  <a:schemeClr val="tx1"/>
                </a:solidFill>
                <a:latin typeface="Arial" charset="0"/>
                <a:ea typeface="+mn-ea"/>
                <a:cs typeface="+mn-cs"/>
              </a:rPr>
              <a: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b="0" kern="1200" dirty="0" smtClean="0">
                <a:solidFill>
                  <a:schemeClr val="tx1"/>
                </a:solidFill>
                <a:latin typeface="Arial" charset="0"/>
                <a:ea typeface="+mn-ea"/>
                <a:cs typeface="+mn-cs"/>
              </a:rPr>
              <a:t>Trainer to introduce importance</a:t>
            </a:r>
            <a:r>
              <a:rPr lang="en-US" sz="1200" b="0" kern="1200" baseline="0" dirty="0" smtClean="0">
                <a:solidFill>
                  <a:schemeClr val="tx1"/>
                </a:solidFill>
                <a:latin typeface="Arial" charset="0"/>
                <a:ea typeface="+mn-ea"/>
                <a:cs typeface="+mn-cs"/>
              </a:rPr>
              <a:t> of sneeze guards.</a:t>
            </a:r>
            <a:endParaRPr lang="en-US" sz="1200" b="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Discuss points.</a:t>
            </a:r>
          </a:p>
          <a:p>
            <a:endParaRPr lang="en-US" sz="1200" kern="1200" dirty="0" smtClean="0">
              <a:solidFill>
                <a:schemeClr val="tx1"/>
              </a:solidFill>
              <a:latin typeface="Arial" charset="0"/>
              <a:ea typeface="+mn-ea"/>
              <a:cs typeface="+mn-cs"/>
            </a:endParaRPr>
          </a:p>
          <a:p>
            <a:r>
              <a:rPr lang="en-US" sz="1200" b="1" kern="1200" dirty="0" smtClean="0">
                <a:solidFill>
                  <a:schemeClr val="tx1"/>
                </a:solidFill>
                <a:latin typeface="Arial" charset="0"/>
                <a:ea typeface="+mn-ea"/>
                <a:cs typeface="+mn-cs"/>
              </a:rPr>
              <a:t>Activity: Discussion</a:t>
            </a:r>
          </a:p>
          <a:p>
            <a:endParaRPr lang="en-US" sz="1200" kern="1200" dirty="0" smtClean="0">
              <a:solidFill>
                <a:schemeClr val="tx1"/>
              </a:solidFill>
              <a:latin typeface="Arial" charset="0"/>
              <a:ea typeface="+mn-ea"/>
              <a:cs typeface="+mn-cs"/>
            </a:endParaRPr>
          </a:p>
          <a:p>
            <a:pPr marL="228600" indent="-228600">
              <a:buAutoNum type="alphaLcParenR"/>
            </a:pPr>
            <a:r>
              <a:rPr lang="en-US" sz="1200" kern="1200" dirty="0" smtClean="0">
                <a:solidFill>
                  <a:schemeClr val="tx1"/>
                </a:solidFill>
                <a:latin typeface="Arial" charset="0"/>
                <a:ea typeface="+mn-ea"/>
                <a:cs typeface="+mn-cs"/>
              </a:rPr>
              <a:t>Where are sneeze guards used?</a:t>
            </a:r>
            <a:endParaRPr lang="en-US" sz="1200" kern="1200" baseline="0" dirty="0" smtClean="0">
              <a:solidFill>
                <a:schemeClr val="tx1"/>
              </a:solidFill>
              <a:latin typeface="Arial" charset="0"/>
              <a:ea typeface="+mn-ea"/>
              <a:cs typeface="+mn-cs"/>
            </a:endParaRPr>
          </a:p>
          <a:p>
            <a:pPr marL="228600" indent="-228600">
              <a:buAutoNum type="alphaLcParenR"/>
            </a:pPr>
            <a:r>
              <a:rPr lang="en-US" sz="1200" kern="1200" baseline="0" dirty="0" smtClean="0">
                <a:solidFill>
                  <a:schemeClr val="tx1"/>
                </a:solidFill>
                <a:latin typeface="Arial" charset="0"/>
                <a:ea typeface="+mn-ea"/>
                <a:cs typeface="+mn-cs"/>
              </a:rPr>
              <a:t>How do you clean them?</a:t>
            </a:r>
          </a:p>
          <a:p>
            <a:pPr marL="228600" indent="-228600">
              <a:buAutoNum type="alphaLcParenR"/>
            </a:pPr>
            <a:r>
              <a:rPr lang="en-US" sz="1200" kern="1200" baseline="0" dirty="0" smtClean="0">
                <a:solidFill>
                  <a:schemeClr val="tx1"/>
                </a:solidFill>
                <a:latin typeface="Arial" charset="0"/>
                <a:ea typeface="+mn-ea"/>
                <a:cs typeface="+mn-cs"/>
              </a:rPr>
              <a:t>If sneeze guards are not used, what are other items that are used to protect food from bacteria?</a:t>
            </a:r>
            <a:endParaRPr lang="en-US" sz="1200" kern="1200" dirty="0" smtClean="0">
              <a:solidFill>
                <a:schemeClr val="tx1"/>
              </a:solidFill>
              <a:latin typeface="Arial" charset="0"/>
              <a:ea typeface="+mn-ea"/>
              <a:cs typeface="+mn-cs"/>
            </a:endParaRPr>
          </a:p>
          <a:p>
            <a:endParaRPr lang="en-US" b="1" dirty="0" smtClean="0"/>
          </a:p>
          <a:p>
            <a:pPr marL="228600" indent="-228600"/>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b="0" kern="1200" dirty="0" smtClean="0">
                <a:solidFill>
                  <a:schemeClr val="tx1"/>
                </a:solidFill>
                <a:latin typeface="Arial" charset="0"/>
                <a:ea typeface="+mn-ea"/>
                <a:cs typeface="+mn-cs"/>
              </a:rPr>
              <a:t>Trainer to introduce importance</a:t>
            </a:r>
            <a:r>
              <a:rPr lang="en-US" sz="1200" b="0" kern="1200" baseline="0" dirty="0" smtClean="0">
                <a:solidFill>
                  <a:schemeClr val="tx1"/>
                </a:solidFill>
                <a:latin typeface="Arial" charset="0"/>
                <a:ea typeface="+mn-ea"/>
                <a:cs typeface="+mn-cs"/>
              </a:rPr>
              <a:t> placing service cutlery on food displays.</a:t>
            </a:r>
            <a:endParaRPr lang="en-US" sz="1200" b="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Careful consideration must be made to the composition of service utensils. Whilst metallic utensils are more aesthetically appealing, they can be dangerous when used near electrical points and equipment such as toasters, especially when handled by children.</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sz="1200" b="1"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Discuss points.</a:t>
            </a:r>
          </a:p>
          <a:p>
            <a:endParaRPr lang="en-US" sz="1200" kern="1200" dirty="0" smtClean="0">
              <a:solidFill>
                <a:schemeClr val="tx1"/>
              </a:solidFill>
              <a:latin typeface="Arial" charset="0"/>
              <a:ea typeface="+mn-ea"/>
              <a:cs typeface="+mn-cs"/>
            </a:endParaRPr>
          </a:p>
          <a:p>
            <a:r>
              <a:rPr lang="en-US" sz="1200" b="1" kern="1200" dirty="0" smtClean="0">
                <a:solidFill>
                  <a:schemeClr val="tx1"/>
                </a:solidFill>
                <a:latin typeface="Arial" charset="0"/>
                <a:ea typeface="+mn-ea"/>
                <a:cs typeface="+mn-cs"/>
              </a:rPr>
              <a:t>Activity: Discussion</a:t>
            </a:r>
          </a:p>
          <a:p>
            <a:endParaRPr lang="en-US" sz="1200" kern="1200" dirty="0" smtClean="0">
              <a:solidFill>
                <a:schemeClr val="tx1"/>
              </a:solidFill>
              <a:latin typeface="Arial" charset="0"/>
              <a:ea typeface="+mn-ea"/>
              <a:cs typeface="+mn-cs"/>
            </a:endParaRPr>
          </a:p>
          <a:p>
            <a:pPr marL="228600" indent="-228600">
              <a:buAutoNum type="alphaLcParenR"/>
            </a:pPr>
            <a:r>
              <a:rPr lang="en-US" sz="1200" kern="1200" dirty="0" smtClean="0">
                <a:solidFill>
                  <a:schemeClr val="tx1"/>
                </a:solidFill>
                <a:latin typeface="Arial" charset="0"/>
                <a:ea typeface="+mn-ea"/>
                <a:cs typeface="+mn-cs"/>
              </a:rPr>
              <a:t>Describe</a:t>
            </a:r>
            <a:r>
              <a:rPr lang="en-US" sz="1200" kern="1200" baseline="0" dirty="0" smtClean="0">
                <a:solidFill>
                  <a:schemeClr val="tx1"/>
                </a:solidFill>
                <a:latin typeface="Arial" charset="0"/>
                <a:ea typeface="+mn-ea"/>
                <a:cs typeface="+mn-cs"/>
              </a:rPr>
              <a:t> the different types of service utensils used in outlets.</a:t>
            </a:r>
          </a:p>
          <a:p>
            <a:pPr marL="228600" indent="-228600">
              <a:buAutoNum type="alphaLcParenR"/>
            </a:pPr>
            <a:r>
              <a:rPr lang="en-US" sz="1200" kern="1200" baseline="0" dirty="0" smtClean="0">
                <a:solidFill>
                  <a:schemeClr val="tx1"/>
                </a:solidFill>
                <a:latin typeface="Arial" charset="0"/>
                <a:ea typeface="+mn-ea"/>
                <a:cs typeface="+mn-cs"/>
              </a:rPr>
              <a:t>How are they presented?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b="0" kern="1200" dirty="0" smtClean="0">
                <a:solidFill>
                  <a:schemeClr val="tx1"/>
                </a:solidFill>
                <a:latin typeface="Arial" charset="0"/>
                <a:ea typeface="+mn-ea"/>
                <a:cs typeface="+mn-cs"/>
              </a:rPr>
              <a:t>Trainer to introduce importance</a:t>
            </a:r>
            <a:r>
              <a:rPr lang="en-US" sz="1200" b="0" kern="1200" baseline="0" dirty="0" smtClean="0">
                <a:solidFill>
                  <a:schemeClr val="tx1"/>
                </a:solidFill>
                <a:latin typeface="Arial" charset="0"/>
                <a:ea typeface="+mn-ea"/>
                <a:cs typeface="+mn-cs"/>
              </a:rPr>
              <a:t> of protecting food from contamination.</a:t>
            </a:r>
            <a:endParaRPr lang="en-US" sz="1200" b="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Discuss points.</a:t>
            </a:r>
          </a:p>
          <a:p>
            <a:endParaRPr lang="en-US" sz="1200" kern="1200" dirty="0" smtClean="0">
              <a:solidFill>
                <a:schemeClr val="tx1"/>
              </a:solidFill>
              <a:latin typeface="Arial" charset="0"/>
              <a:ea typeface="+mn-ea"/>
              <a:cs typeface="+mn-cs"/>
            </a:endParaRPr>
          </a:p>
          <a:p>
            <a:r>
              <a:rPr lang="en-US" sz="1200" b="1" kern="1200" dirty="0" smtClean="0">
                <a:solidFill>
                  <a:schemeClr val="tx1"/>
                </a:solidFill>
                <a:latin typeface="Arial" charset="0"/>
                <a:ea typeface="+mn-ea"/>
                <a:cs typeface="+mn-cs"/>
              </a:rPr>
              <a:t>Activity: Discussion</a:t>
            </a:r>
          </a:p>
          <a:p>
            <a:endParaRPr lang="en-US" sz="1200" kern="1200" dirty="0" smtClean="0">
              <a:solidFill>
                <a:schemeClr val="tx1"/>
              </a:solidFill>
              <a:latin typeface="Arial" charset="0"/>
              <a:ea typeface="+mn-ea"/>
              <a:cs typeface="+mn-cs"/>
            </a:endParaRPr>
          </a:p>
          <a:p>
            <a:r>
              <a:rPr lang="en-US" sz="1200" b="0" kern="1200" dirty="0" smtClean="0">
                <a:solidFill>
                  <a:schemeClr val="tx1"/>
                </a:solidFill>
                <a:latin typeface="Arial" charset="0"/>
                <a:ea typeface="+mn-ea"/>
                <a:cs typeface="+mn-cs"/>
              </a:rPr>
              <a:t>Discuss different</a:t>
            </a:r>
            <a:r>
              <a:rPr lang="en-US" sz="1200" b="0" kern="1200" baseline="0" dirty="0" smtClean="0">
                <a:solidFill>
                  <a:schemeClr val="tx1"/>
                </a:solidFill>
                <a:latin typeface="Arial" charset="0"/>
                <a:ea typeface="+mn-ea"/>
                <a:cs typeface="+mn-cs"/>
              </a:rPr>
              <a:t> food items commonly on display and ask audience how you can keep them ‘fresh and appealing’.</a:t>
            </a:r>
          </a:p>
          <a:p>
            <a:endParaRPr lang="en-US" b="1" dirty="0" smtClean="0"/>
          </a:p>
          <a:p>
            <a:pPr marL="228600" indent="-228600"/>
            <a:endParaRPr lang="en-US" b="1" baseline="0" dirty="0" smtClean="0"/>
          </a:p>
          <a:p>
            <a:endParaRPr lang="en-US" sz="1200" kern="1200" dirty="0" smtClean="0">
              <a:solidFill>
                <a:schemeClr val="tx1"/>
              </a:solidFill>
              <a:latin typeface="Arial" charset="0"/>
              <a:ea typeface="+mn-ea"/>
              <a:cs typeface="+mn-cs"/>
            </a:endParaRPr>
          </a:p>
          <a:p>
            <a:pPr marL="228600" indent="-228600"/>
            <a:endParaRPr lang="en-US" b="1" baseline="0" dirty="0" smtClean="0"/>
          </a:p>
          <a:p>
            <a:pPr marL="228600" indent="-228600">
              <a:buAutoNum type="alphaLcParenR"/>
            </a:pPr>
            <a:endParaRPr lang="en-US" sz="1200" kern="1200" baseline="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b="0" kern="1200" dirty="0" smtClean="0">
                <a:solidFill>
                  <a:schemeClr val="tx1"/>
                </a:solidFill>
                <a:latin typeface="Arial" charset="0"/>
                <a:ea typeface="+mn-ea"/>
                <a:cs typeface="+mn-cs"/>
              </a:rPr>
              <a:t>Trainer to introduce importance</a:t>
            </a:r>
            <a:r>
              <a:rPr lang="en-US" sz="1200" b="0" kern="1200" baseline="0" dirty="0" smtClean="0">
                <a:solidFill>
                  <a:schemeClr val="tx1"/>
                </a:solidFill>
                <a:latin typeface="Arial" charset="0"/>
                <a:ea typeface="+mn-ea"/>
                <a:cs typeface="+mn-cs"/>
              </a:rPr>
              <a:t> of monitoring activities of customers.</a:t>
            </a:r>
            <a:endParaRPr lang="en-US" sz="1200" b="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Discuss points.</a:t>
            </a:r>
          </a:p>
          <a:p>
            <a:endParaRPr lang="en-US" sz="1200" kern="1200" dirty="0" smtClean="0">
              <a:solidFill>
                <a:schemeClr val="tx1"/>
              </a:solidFill>
              <a:latin typeface="Arial" charset="0"/>
              <a:ea typeface="+mn-ea"/>
              <a:cs typeface="+mn-cs"/>
            </a:endParaRPr>
          </a:p>
          <a:p>
            <a:r>
              <a:rPr lang="en-US" sz="1200" b="1" kern="1200" dirty="0" smtClean="0">
                <a:solidFill>
                  <a:schemeClr val="tx1"/>
                </a:solidFill>
                <a:latin typeface="Arial" charset="0"/>
                <a:ea typeface="+mn-ea"/>
                <a:cs typeface="+mn-cs"/>
              </a:rPr>
              <a:t>Activity: Discussion</a:t>
            </a:r>
          </a:p>
          <a:p>
            <a:endParaRPr lang="en-US" sz="1200" kern="1200" dirty="0" smtClean="0">
              <a:solidFill>
                <a:schemeClr val="tx1"/>
              </a:solidFill>
              <a:latin typeface="Arial" charset="0"/>
              <a:ea typeface="+mn-ea"/>
              <a:cs typeface="+mn-cs"/>
            </a:endParaRPr>
          </a:p>
          <a:p>
            <a:pPr marL="228600" indent="-228600">
              <a:buAutoNum type="alphaLcParenR"/>
            </a:pPr>
            <a:r>
              <a:rPr lang="en-US" sz="1200" kern="1200" dirty="0" smtClean="0">
                <a:solidFill>
                  <a:schemeClr val="tx1"/>
                </a:solidFill>
                <a:latin typeface="Arial" charset="0"/>
                <a:ea typeface="+mn-ea"/>
                <a:cs typeface="+mn-cs"/>
              </a:rPr>
              <a:t>What would you check</a:t>
            </a:r>
            <a:r>
              <a:rPr lang="en-US" sz="1200" kern="1200" baseline="0" dirty="0" smtClean="0">
                <a:solidFill>
                  <a:schemeClr val="tx1"/>
                </a:solidFill>
                <a:latin typeface="Arial" charset="0"/>
                <a:ea typeface="+mn-ea"/>
                <a:cs typeface="+mn-cs"/>
              </a:rPr>
              <a:t> when monitoring activities of customers</a:t>
            </a:r>
            <a:r>
              <a:rPr lang="en-US" sz="1200" kern="1200" dirty="0" smtClean="0">
                <a:solidFill>
                  <a:schemeClr val="tx1"/>
                </a:solidFill>
                <a:latin typeface="Arial" charset="0"/>
                <a:ea typeface="+mn-ea"/>
                <a:cs typeface="+mn-cs"/>
              </a:rPr>
              <a:t>?</a:t>
            </a:r>
            <a:endParaRPr lang="en-US" sz="1200" kern="1200" baseline="0" dirty="0" smtClean="0">
              <a:solidFill>
                <a:schemeClr val="tx1"/>
              </a:solidFill>
              <a:latin typeface="Arial" charset="0"/>
              <a:ea typeface="+mn-ea"/>
              <a:cs typeface="+mn-cs"/>
            </a:endParaRPr>
          </a:p>
          <a:p>
            <a:pPr marL="228600" indent="-228600">
              <a:buAutoNum type="alphaLcParenR"/>
            </a:pPr>
            <a:r>
              <a:rPr lang="en-US" sz="1200" kern="1200" baseline="0" dirty="0" smtClean="0">
                <a:solidFill>
                  <a:schemeClr val="tx1"/>
                </a:solidFill>
                <a:latin typeface="Arial" charset="0"/>
                <a:ea typeface="+mn-ea"/>
                <a:cs typeface="+mn-cs"/>
              </a:rPr>
              <a:t>What would you consider ‘unacceptable’ behavior?</a:t>
            </a:r>
          </a:p>
          <a:p>
            <a:pPr marL="228600" indent="-228600">
              <a:buAutoNum type="alphaLcParenR"/>
            </a:pPr>
            <a:r>
              <a:rPr lang="en-US" sz="1200" kern="1200" baseline="0" dirty="0" smtClean="0">
                <a:solidFill>
                  <a:schemeClr val="tx1"/>
                </a:solidFill>
                <a:latin typeface="Arial" charset="0"/>
                <a:ea typeface="+mn-ea"/>
                <a:cs typeface="+mn-cs"/>
              </a:rPr>
              <a:t>What would you do if you witnessed ‘unacceptable’ behavior?</a:t>
            </a:r>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 explain when to discard contaminated</a:t>
            </a:r>
            <a:r>
              <a:rPr lang="en-US" b="0" baseline="0" dirty="0" smtClean="0"/>
              <a:t> food.</a:t>
            </a: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Discuss points.</a:t>
            </a:r>
          </a:p>
          <a:p>
            <a:endParaRPr lang="en-US" sz="1200" kern="1200" dirty="0" smtClean="0">
              <a:solidFill>
                <a:schemeClr val="tx1"/>
              </a:solidFill>
              <a:latin typeface="Arial" charset="0"/>
              <a:ea typeface="+mn-ea"/>
              <a:cs typeface="+mn-cs"/>
            </a:endParaRPr>
          </a:p>
          <a:p>
            <a:r>
              <a:rPr lang="en-US" sz="1200" b="1" kern="1200" dirty="0" smtClean="0">
                <a:solidFill>
                  <a:schemeClr val="tx1"/>
                </a:solidFill>
                <a:latin typeface="Arial" charset="0"/>
                <a:ea typeface="+mn-ea"/>
                <a:cs typeface="+mn-cs"/>
              </a:rPr>
              <a:t>Activity: Discussion</a:t>
            </a:r>
          </a:p>
          <a:p>
            <a:endParaRPr lang="en-US" sz="1200" kern="1200" dirty="0" smtClean="0">
              <a:solidFill>
                <a:schemeClr val="tx1"/>
              </a:solidFill>
              <a:latin typeface="Arial" charset="0"/>
              <a:ea typeface="+mn-ea"/>
              <a:cs typeface="+mn-cs"/>
            </a:endParaRPr>
          </a:p>
          <a:p>
            <a:pPr marL="228600" indent="-228600">
              <a:buAutoNum type="alphaLcParenR"/>
            </a:pPr>
            <a:r>
              <a:rPr lang="en-US" sz="1200" kern="1200" dirty="0" smtClean="0">
                <a:solidFill>
                  <a:schemeClr val="tx1"/>
                </a:solidFill>
                <a:latin typeface="Arial" charset="0"/>
                <a:ea typeface="+mn-ea"/>
                <a:cs typeface="+mn-cs"/>
              </a:rPr>
              <a:t>Why</a:t>
            </a:r>
            <a:r>
              <a:rPr lang="en-US" sz="1200" kern="1200" baseline="0" dirty="0" smtClean="0">
                <a:solidFill>
                  <a:schemeClr val="tx1"/>
                </a:solidFill>
                <a:latin typeface="Arial" charset="0"/>
                <a:ea typeface="+mn-ea"/>
                <a:cs typeface="+mn-cs"/>
              </a:rPr>
              <a:t> is food normally discarded after 30 minutes?</a:t>
            </a:r>
          </a:p>
          <a:p>
            <a:pPr marL="228600" indent="-228600">
              <a:buAutoNum type="alphaLcParenR"/>
            </a:pPr>
            <a:r>
              <a:rPr lang="en-US" sz="1200" kern="1200" baseline="0" dirty="0" smtClean="0">
                <a:solidFill>
                  <a:schemeClr val="tx1"/>
                </a:solidFill>
                <a:latin typeface="Arial" charset="0"/>
                <a:ea typeface="+mn-ea"/>
                <a:cs typeface="+mn-cs"/>
              </a:rPr>
              <a:t>When would you discard food earlier than 30 minutes?</a:t>
            </a:r>
          </a:p>
          <a:p>
            <a:pPr marL="228600" indent="-228600">
              <a:buAutoNum type="alphaLcParenR"/>
            </a:pPr>
            <a:r>
              <a:rPr lang="en-US" sz="1200" kern="1200" baseline="0" dirty="0" smtClean="0">
                <a:solidFill>
                  <a:schemeClr val="tx1"/>
                </a:solidFill>
                <a:latin typeface="Arial" charset="0"/>
                <a:ea typeface="+mn-ea"/>
                <a:cs typeface="+mn-cs"/>
              </a:rPr>
              <a:t>When would you discard food after than 30 minutes?</a:t>
            </a:r>
          </a:p>
          <a:p>
            <a:pPr marL="228600" indent="-228600">
              <a:buAutoNum type="alphaLcParenR"/>
            </a:pPr>
            <a:r>
              <a:rPr lang="en-US" sz="1200" kern="1200" baseline="0" dirty="0" smtClean="0">
                <a:solidFill>
                  <a:schemeClr val="tx1"/>
                </a:solidFill>
                <a:latin typeface="Arial" charset="0"/>
                <a:ea typeface="+mn-ea"/>
                <a:cs typeface="+mn-cs"/>
              </a:rPr>
              <a:t>What do you do with discarded food?</a:t>
            </a:r>
          </a:p>
          <a:p>
            <a:pPr marL="228600" marR="0" indent="-228600" algn="l" defTabSz="914400" rtl="0" eaLnBrk="1" fontAlgn="base" latinLnBrk="0" hangingPunct="1">
              <a:lnSpc>
                <a:spcPct val="100000"/>
              </a:lnSpc>
              <a:spcBef>
                <a:spcPct val="30000"/>
              </a:spcBef>
              <a:spcAft>
                <a:spcPct val="0"/>
              </a:spcAft>
              <a:buClrTx/>
              <a:buSzTx/>
              <a:buFontTx/>
              <a:buAutoNum type="alphaLcParenR"/>
              <a:tabLst/>
              <a:defRPr/>
            </a:pPr>
            <a:r>
              <a:rPr lang="en-US" sz="1200" kern="1200" baseline="0" dirty="0" smtClean="0">
                <a:solidFill>
                  <a:schemeClr val="tx1"/>
                </a:solidFill>
                <a:latin typeface="Arial" charset="0"/>
                <a:ea typeface="+mn-ea"/>
                <a:cs typeface="+mn-cs"/>
              </a:rPr>
              <a:t>Can you give discarded food to a charity? Why/why not?</a:t>
            </a:r>
          </a:p>
          <a:p>
            <a:pPr marL="228600" indent="-228600">
              <a:buAutoNum type="alphaLcParenR"/>
            </a:pPr>
            <a:endParaRPr lang="en-US" sz="1200" kern="1200" baseline="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 explain when to discard contaminated</a:t>
            </a:r>
            <a:r>
              <a:rPr lang="en-US" b="0" baseline="0" dirty="0" smtClean="0"/>
              <a:t> service utensils.</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1" baseline="0" dirty="0" smtClean="0"/>
          </a:p>
          <a:p>
            <a:r>
              <a:rPr lang="en-US" sz="1200" kern="1200" dirty="0" smtClean="0">
                <a:solidFill>
                  <a:schemeClr val="tx1"/>
                </a:solidFill>
                <a:latin typeface="Arial" charset="0"/>
                <a:ea typeface="+mn-ea"/>
                <a:cs typeface="+mn-cs"/>
              </a:rPr>
              <a:t>Discuss</a:t>
            </a:r>
            <a:r>
              <a:rPr lang="en-US" sz="1200" kern="1200" baseline="0" dirty="0" smtClean="0">
                <a:solidFill>
                  <a:schemeClr val="tx1"/>
                </a:solidFill>
                <a:latin typeface="Arial" charset="0"/>
                <a:ea typeface="+mn-ea"/>
                <a:cs typeface="+mn-cs"/>
              </a:rPr>
              <a:t> points.</a:t>
            </a:r>
            <a:endParaRPr lang="en-US" sz="1200" kern="1200" dirty="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 explain when to replenish</a:t>
            </a:r>
            <a:r>
              <a:rPr lang="en-US" b="0" baseline="0" dirty="0" smtClean="0"/>
              <a:t> food.</a:t>
            </a: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Discuss points.</a:t>
            </a:r>
          </a:p>
          <a:p>
            <a:endParaRPr lang="en-US" sz="1200" kern="1200" dirty="0" smtClean="0">
              <a:solidFill>
                <a:schemeClr val="tx1"/>
              </a:solidFill>
              <a:latin typeface="Arial" charset="0"/>
              <a:ea typeface="+mn-ea"/>
              <a:cs typeface="+mn-cs"/>
            </a:endParaRPr>
          </a:p>
          <a:p>
            <a:r>
              <a:rPr lang="en-US" sz="1200" b="1" kern="1200" dirty="0" smtClean="0">
                <a:solidFill>
                  <a:schemeClr val="tx1"/>
                </a:solidFill>
                <a:latin typeface="Arial" charset="0"/>
                <a:ea typeface="+mn-ea"/>
                <a:cs typeface="+mn-cs"/>
              </a:rPr>
              <a:t>Activity: Discussion</a:t>
            </a:r>
          </a:p>
          <a:p>
            <a:endParaRPr lang="en-US" sz="1200" kern="1200" dirty="0" smtClean="0">
              <a:solidFill>
                <a:schemeClr val="tx1"/>
              </a:solidFill>
              <a:latin typeface="Arial" charset="0"/>
              <a:ea typeface="+mn-ea"/>
              <a:cs typeface="+mn-cs"/>
            </a:endParaRPr>
          </a:p>
          <a:p>
            <a:pPr marL="228600" indent="-228600">
              <a:buAutoNum type="alphaLcParenR"/>
            </a:pPr>
            <a:r>
              <a:rPr lang="en-US" sz="1200" kern="1200" dirty="0" smtClean="0">
                <a:solidFill>
                  <a:schemeClr val="tx1"/>
                </a:solidFill>
                <a:latin typeface="Arial" charset="0"/>
                <a:ea typeface="+mn-ea"/>
                <a:cs typeface="+mn-cs"/>
              </a:rPr>
              <a:t>When should</a:t>
            </a:r>
            <a:r>
              <a:rPr lang="en-US" sz="1200" kern="1200" baseline="0" dirty="0" smtClean="0">
                <a:solidFill>
                  <a:schemeClr val="tx1"/>
                </a:solidFill>
                <a:latin typeface="Arial" charset="0"/>
                <a:ea typeface="+mn-ea"/>
                <a:cs typeface="+mn-cs"/>
              </a:rPr>
              <a:t> you replenish food</a:t>
            </a:r>
            <a:r>
              <a:rPr lang="en-US" sz="1200" kern="1200" dirty="0" smtClean="0">
                <a:solidFill>
                  <a:schemeClr val="tx1"/>
                </a:solidFill>
                <a:latin typeface="Arial" charset="0"/>
                <a:ea typeface="+mn-ea"/>
                <a:cs typeface="+mn-cs"/>
              </a:rPr>
              <a:t>?</a:t>
            </a:r>
          </a:p>
          <a:p>
            <a:pPr marL="228600" indent="-228600">
              <a:buAutoNum type="alphaLcParenR"/>
            </a:pPr>
            <a:r>
              <a:rPr lang="en-US" sz="1200" kern="1200" baseline="0" dirty="0" smtClean="0">
                <a:solidFill>
                  <a:schemeClr val="tx1"/>
                </a:solidFill>
                <a:latin typeface="Arial" charset="0"/>
                <a:ea typeface="+mn-ea"/>
                <a:cs typeface="+mn-cs"/>
              </a:rPr>
              <a:t>Who is responsible for monitoring food levels?</a:t>
            </a:r>
          </a:p>
          <a:p>
            <a:pPr marL="228600" indent="-228600">
              <a:buAutoNum type="alphaLcParenR"/>
            </a:pPr>
            <a:r>
              <a:rPr lang="en-US" sz="1200" kern="1200" baseline="0" dirty="0" smtClean="0">
                <a:solidFill>
                  <a:schemeClr val="tx1"/>
                </a:solidFill>
                <a:latin typeface="Arial" charset="0"/>
                <a:ea typeface="+mn-ea"/>
                <a:cs typeface="+mn-cs"/>
              </a:rPr>
              <a:t>Who is responsible for replenishing food?</a:t>
            </a:r>
          </a:p>
          <a:p>
            <a:endParaRPr lang="en-US" b="1" dirty="0" smtClean="0"/>
          </a:p>
          <a:p>
            <a:pPr marL="228600" indent="-228600"/>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 explain when to replenish</a:t>
            </a:r>
            <a:r>
              <a:rPr lang="en-US" b="0" baseline="0" dirty="0" smtClean="0"/>
              <a:t> other items</a:t>
            </a: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Discuss points.</a:t>
            </a:r>
          </a:p>
          <a:p>
            <a:endParaRPr lang="en-US" sz="1200" kern="1200" dirty="0" smtClean="0">
              <a:solidFill>
                <a:schemeClr val="tx1"/>
              </a:solidFill>
              <a:latin typeface="Arial" charset="0"/>
              <a:ea typeface="+mn-ea"/>
              <a:cs typeface="+mn-cs"/>
            </a:endParaRPr>
          </a:p>
          <a:p>
            <a:r>
              <a:rPr lang="en-US" sz="1200" b="1" kern="1200" dirty="0" smtClean="0">
                <a:solidFill>
                  <a:schemeClr val="tx1"/>
                </a:solidFill>
                <a:latin typeface="Arial" charset="0"/>
                <a:ea typeface="+mn-ea"/>
                <a:cs typeface="+mn-cs"/>
              </a:rPr>
              <a:t>Activity: Discussion</a:t>
            </a:r>
          </a:p>
          <a:p>
            <a:endParaRPr lang="en-US" sz="1200" kern="1200" dirty="0" smtClean="0">
              <a:solidFill>
                <a:schemeClr val="tx1"/>
              </a:solidFill>
              <a:latin typeface="Arial" charset="0"/>
              <a:ea typeface="+mn-ea"/>
              <a:cs typeface="+mn-cs"/>
            </a:endParaRPr>
          </a:p>
          <a:p>
            <a:pPr marL="228600" indent="-228600">
              <a:buAutoNum type="alphaLcParenR"/>
            </a:pPr>
            <a:r>
              <a:rPr lang="en-US" sz="1200" kern="1200" dirty="0" smtClean="0">
                <a:solidFill>
                  <a:schemeClr val="tx1"/>
                </a:solidFill>
                <a:latin typeface="Arial" charset="0"/>
                <a:ea typeface="+mn-ea"/>
                <a:cs typeface="+mn-cs"/>
              </a:rPr>
              <a:t>When should</a:t>
            </a:r>
            <a:r>
              <a:rPr lang="en-US" sz="1200" kern="1200" baseline="0" dirty="0" smtClean="0">
                <a:solidFill>
                  <a:schemeClr val="tx1"/>
                </a:solidFill>
                <a:latin typeface="Arial" charset="0"/>
                <a:ea typeface="+mn-ea"/>
                <a:cs typeface="+mn-cs"/>
              </a:rPr>
              <a:t> you replenish food</a:t>
            </a:r>
            <a:r>
              <a:rPr lang="en-US" sz="1200" kern="1200" dirty="0" smtClean="0">
                <a:solidFill>
                  <a:schemeClr val="tx1"/>
                </a:solidFill>
                <a:latin typeface="Arial" charset="0"/>
                <a:ea typeface="+mn-ea"/>
                <a:cs typeface="+mn-cs"/>
              </a:rPr>
              <a:t>?</a:t>
            </a:r>
          </a:p>
          <a:p>
            <a:pPr marL="228600" indent="-228600">
              <a:buAutoNum type="alphaLcParenR"/>
            </a:pPr>
            <a:r>
              <a:rPr lang="en-US" sz="1200" kern="1200" baseline="0" dirty="0" smtClean="0">
                <a:solidFill>
                  <a:schemeClr val="tx1"/>
                </a:solidFill>
                <a:latin typeface="Arial" charset="0"/>
                <a:ea typeface="+mn-ea"/>
                <a:cs typeface="+mn-cs"/>
              </a:rPr>
              <a:t>Who is responsible for monitoring other items?</a:t>
            </a:r>
          </a:p>
          <a:p>
            <a:pPr marL="228600" indent="-228600">
              <a:buAutoNum type="alphaLcParenR"/>
            </a:pPr>
            <a:r>
              <a:rPr lang="en-US" sz="1200" kern="1200" baseline="0" dirty="0" smtClean="0">
                <a:solidFill>
                  <a:schemeClr val="tx1"/>
                </a:solidFill>
                <a:latin typeface="Arial" charset="0"/>
                <a:ea typeface="+mn-ea"/>
                <a:cs typeface="+mn-cs"/>
              </a:rPr>
              <a:t>Who is responsible for replenishing other items?</a:t>
            </a:r>
          </a:p>
          <a:p>
            <a:endParaRPr lang="en-US" b="1" dirty="0" smtClean="0"/>
          </a:p>
          <a:p>
            <a:pPr marL="228600" indent="-228600"/>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1" dirty="0" smtClean="0"/>
              <a:t>Research activity</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0"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 explain or get audience to research</a:t>
            </a:r>
            <a:r>
              <a:rPr lang="en-US" b="0" baseline="0" dirty="0" smtClean="0"/>
              <a:t> and identify current laws and regulations that influence or dictate how they must handle food.</a:t>
            </a:r>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1" dirty="0" smtClean="0"/>
              <a:t>Discussion of legal requirements</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0"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 discuss these legal points</a:t>
            </a:r>
            <a:r>
              <a:rPr lang="en-US" b="0" baseline="0" dirty="0" smtClean="0"/>
              <a:t> and reasoning behind them.</a:t>
            </a:r>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1" dirty="0" smtClean="0"/>
              <a:t>Discussion of legal requirements</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0"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 discuss these legal points</a:t>
            </a:r>
            <a:r>
              <a:rPr lang="en-US" b="0" baseline="0" dirty="0" smtClean="0"/>
              <a:t> and reasoning behind them.</a:t>
            </a:r>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 section 2 of this manual, the steps associated with a common ‘dine in’ service cycle were explained up to and including the point where the order has been given to the respective person whom will prepare the food or beverage items.</a:t>
            </a:r>
          </a:p>
          <a:p>
            <a:r>
              <a:rPr lang="en-AU" sz="1200" kern="1200" dirty="0" smtClean="0">
                <a:solidFill>
                  <a:schemeClr val="tx1"/>
                </a:solidFill>
                <a:latin typeface="+mn-lt"/>
                <a:ea typeface="+mn-ea"/>
                <a:cs typeface="+mn-cs"/>
              </a:rPr>
              <a:t>Naturally the processes of preparing food and beverage items are too detailed to include in this manual as they are responsibilities often performed by specialist chefs or bar staff.</a:t>
            </a:r>
          </a:p>
          <a:p>
            <a:r>
              <a:rPr lang="en-AU" sz="1200" kern="1200" dirty="0" smtClean="0">
                <a:solidFill>
                  <a:schemeClr val="tx1"/>
                </a:solidFill>
                <a:latin typeface="+mn-lt"/>
                <a:ea typeface="+mn-ea"/>
                <a:cs typeface="+mn-cs"/>
              </a:rPr>
              <a:t>This section will continue to follow the logical steps performed by service staff after the order has been lodged.</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Questions:</a:t>
            </a:r>
          </a:p>
          <a:p>
            <a:pPr>
              <a:buFont typeface="Arial" pitchFamily="34" charset="0"/>
              <a:buChar char="•"/>
            </a:pPr>
            <a:r>
              <a:rPr lang="en-AU" sz="1200" kern="1200" dirty="0" smtClean="0">
                <a:solidFill>
                  <a:schemeClr val="tx1"/>
                </a:solidFill>
                <a:latin typeface="+mn-lt"/>
                <a:ea typeface="+mn-ea"/>
                <a:cs typeface="+mn-cs"/>
              </a:rPr>
              <a:t>What</a:t>
            </a:r>
            <a:r>
              <a:rPr lang="en-AU" sz="1200" kern="1200" baseline="0" dirty="0" smtClean="0">
                <a:solidFill>
                  <a:schemeClr val="tx1"/>
                </a:solidFill>
                <a:latin typeface="+mn-lt"/>
                <a:ea typeface="+mn-ea"/>
                <a:cs typeface="+mn-cs"/>
              </a:rPr>
              <a:t> activities take place after the order has been lodged?</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Discuss table</a:t>
            </a:r>
            <a:r>
              <a:rPr lang="en-US" b="0" baseline="0" dirty="0" smtClean="0"/>
              <a:t> service steps after order has been lodged.</a:t>
            </a:r>
            <a:endParaRPr lang="en-US" b="0" dirty="0" smtClean="0"/>
          </a:p>
          <a:p>
            <a:pPr marL="0" marR="0" indent="0" algn="l" defTabSz="914400" rtl="0" eaLnBrk="1" fontAlgn="base" latinLnBrk="0" hangingPunct="1">
              <a:lnSpc>
                <a:spcPct val="100000"/>
              </a:lnSpc>
              <a:spcBef>
                <a:spcPct val="30000"/>
              </a:spcBef>
              <a:spcAft>
                <a:spcPct val="0"/>
              </a:spcAft>
              <a:buClrTx/>
              <a:buSzTx/>
              <a:buFontTx/>
              <a:buNone/>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glasses are normally set at the table?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do you remove glasses?</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each of these items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would you use them?</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steps for adjusting covers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may demonstrate explaining steps </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the differences between these?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common generic brands – e.g. coke?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common generic drinks – whisky, gin?</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is a ‘house/pour’ brand?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Who decides this?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have them?</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Answer the questions in this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demonstrate a range of common pour/house brands.</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would you recommend to customers and why?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is important to remember when recommending food items?</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would you recommend to customers and why?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is important to remember when recommending food items?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Recommending Beverages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 relation to drinks, advice or recommendations may be needed when:</a:t>
            </a:r>
          </a:p>
          <a:p>
            <a:pPr lvl="0">
              <a:buFont typeface="Arial" pitchFamily="34" charset="0"/>
              <a:buChar char="•"/>
            </a:pPr>
            <a:r>
              <a:rPr lang="en-AU" sz="1200" kern="1200" dirty="0" smtClean="0">
                <a:solidFill>
                  <a:schemeClr val="tx1"/>
                </a:solidFill>
                <a:latin typeface="+mn-lt"/>
                <a:ea typeface="+mn-ea"/>
                <a:cs typeface="+mn-cs"/>
              </a:rPr>
              <a:t>Customers are unsure about exactly what they would like – sometimes regular customers come in and they are just bored with their normal drink, and want something a bit different perhaps just for that session</a:t>
            </a:r>
          </a:p>
          <a:p>
            <a:pPr lvl="0">
              <a:buFont typeface="Arial" pitchFamily="34" charset="0"/>
              <a:buChar char="•"/>
            </a:pPr>
            <a:r>
              <a:rPr lang="en-AU" sz="1200" kern="1200" dirty="0" smtClean="0">
                <a:solidFill>
                  <a:schemeClr val="tx1"/>
                </a:solidFill>
                <a:latin typeface="+mn-lt"/>
                <a:ea typeface="+mn-ea"/>
                <a:cs typeface="+mn-cs"/>
              </a:rPr>
              <a:t>The drink or brand they have ordered is unavailable – after apologising you must be able to recommend an intelligent alternative for them</a:t>
            </a:r>
          </a:p>
          <a:p>
            <a:pPr lvl="0">
              <a:buFont typeface="Arial" pitchFamily="34" charset="0"/>
              <a:buChar char="•"/>
            </a:pPr>
            <a:r>
              <a:rPr lang="en-AU" sz="1200" kern="1200" dirty="0" smtClean="0">
                <a:solidFill>
                  <a:schemeClr val="tx1"/>
                </a:solidFill>
                <a:latin typeface="+mn-lt"/>
                <a:ea typeface="+mn-ea"/>
                <a:cs typeface="+mn-cs"/>
              </a:rPr>
              <a:t>It’s a special occasion – maybe they’ve just won a promotion, had a baby or are celebrating a birthday</a:t>
            </a:r>
          </a:p>
          <a:p>
            <a:pPr lvl="0">
              <a:buFont typeface="Arial" pitchFamily="34" charset="0"/>
              <a:buChar char="•"/>
            </a:pPr>
            <a:r>
              <a:rPr lang="en-AU" sz="1200" kern="1200" dirty="0" smtClean="0">
                <a:solidFill>
                  <a:schemeClr val="tx1"/>
                </a:solidFill>
                <a:latin typeface="+mn-lt"/>
                <a:ea typeface="+mn-ea"/>
                <a:cs typeface="+mn-cs"/>
              </a:rPr>
              <a:t>You have a new product in stock – let the customers know. Tell them what it’s like, what it goes with, how much it costs, how strong it is, and so on. Perhaps the boss will let you give away a few free samples</a:t>
            </a:r>
          </a:p>
          <a:p>
            <a:pPr lvl="0">
              <a:buFont typeface="Arial" pitchFamily="34" charset="0"/>
              <a:buChar char="•"/>
            </a:pPr>
            <a:r>
              <a:rPr lang="en-AU" sz="1200" kern="1200" dirty="0" smtClean="0">
                <a:solidFill>
                  <a:schemeClr val="tx1"/>
                </a:solidFill>
                <a:latin typeface="+mn-lt"/>
                <a:ea typeface="+mn-ea"/>
                <a:cs typeface="+mn-cs"/>
              </a:rPr>
              <a:t>The customer is feeling off colour or a bit low – you may want to suggest some refreshing style of drink, or a non-alcoholic alternative to their usual</a:t>
            </a:r>
          </a:p>
          <a:p>
            <a:pPr lvl="0">
              <a:buFont typeface="Arial" pitchFamily="34" charset="0"/>
              <a:buChar char="•"/>
            </a:pPr>
            <a:r>
              <a:rPr lang="en-AU" sz="1200" kern="1200" dirty="0" smtClean="0">
                <a:solidFill>
                  <a:schemeClr val="tx1"/>
                </a:solidFill>
                <a:latin typeface="+mn-lt"/>
                <a:ea typeface="+mn-ea"/>
                <a:cs typeface="+mn-cs"/>
              </a:rPr>
              <a:t>They are dining – while a detailed knowledge of wine falls outside this unit, a very basic rule of thumb that continues to apply today as it did decades ago is “White meat – white wine, red meat – red wine”. Nonetheless, many, many people drink a nice white (say, a Chardonnay) with a steak</a:t>
            </a:r>
          </a:p>
          <a:p>
            <a:pPr lvl="0">
              <a:buFont typeface="Arial" pitchFamily="34" charset="0"/>
              <a:buChar char="•"/>
            </a:pPr>
            <a:r>
              <a:rPr lang="en-AU" sz="1200" kern="1200" dirty="0" smtClean="0">
                <a:solidFill>
                  <a:schemeClr val="tx1"/>
                </a:solidFill>
                <a:latin typeface="+mn-lt"/>
                <a:ea typeface="+mn-ea"/>
                <a:cs typeface="+mn-cs"/>
              </a:rPr>
              <a:t>They don’t want to drink alcohol, or when they need to limit their alcohol intake – you have both a moral and very much a legal duty to assist patrons who don’t want alcohol, or want a little. Be prepared to offer fruit juices, waters, mocktails (non-alcoholic cocktails), alcohol-free wine and aerated waters.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should provide a brief introduction to wine.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Provide explanation why certain wines do with certain types of food.</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Provide explanation why certain wines do with certain types of food.</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should demonstrate what to look for when collecting beverages.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should demonstrate how to load and carry trays and to deliver drinks to the table.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Who is responsible for ensuring food is sent out of preparation areas in a timely manner when they are ready?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Where are food items prepared?</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should demonstrate what to look for when collecting food.</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should demonstrate how to carry and place food at the table.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is it important that this check takes place?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Besides asking if customers if they are happy, what else should waiters be looking for?</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else can you identify when a customer may want something?</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some specific items you can recommend under each point?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would you do this?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Answer the questions in this slide.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points in this slide including their importance.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The trainer should demonstrate how to clear a table.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points in this slide including their importance.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The trainer should demonstrate how to clear a table.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points in this slide including their importance.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The trainer should demonstrate how to clear a table.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points in this slide including their importance.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No comments required.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Trainer may give a brief explanation to keep the service cycle fluid.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points in this slide including their importance.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How can you handle food safely?</a:t>
            </a:r>
          </a:p>
          <a:p>
            <a:pPr>
              <a:buFont typeface="Arial" pitchFamily="34" charset="0"/>
              <a:buChar char="•"/>
            </a:pPr>
            <a:r>
              <a:rPr lang="en-AU" sz="1200" kern="1200" baseline="0" dirty="0" smtClean="0">
                <a:solidFill>
                  <a:schemeClr val="tx1"/>
                </a:solidFill>
                <a:latin typeface="+mn-lt"/>
                <a:ea typeface="+mn-ea"/>
                <a:cs typeface="+mn-cs"/>
              </a:rPr>
              <a:t>How can you store food safely?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points in this slide including their importance.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other ways can you ensure you are working in a hygienic manner?</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other policies and procedures that may apply to leftover food?</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policies and procedures that may apply to leftover food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lvl="0">
              <a:buFont typeface="Arial" pitchFamily="34" charset="0"/>
              <a:buChar char="•"/>
            </a:pPr>
            <a:r>
              <a:rPr lang="en-AU" sz="1200" dirty="0" smtClean="0"/>
              <a:t>Throwing out all leftover food – some properties have a standing rule that requires all leftover food be disposed of</a:t>
            </a:r>
          </a:p>
          <a:p>
            <a:pPr lvl="0">
              <a:buFont typeface="Arial" pitchFamily="34" charset="0"/>
              <a:buChar char="•"/>
            </a:pPr>
            <a:r>
              <a:rPr lang="en-AU" sz="1200" dirty="0" smtClean="0"/>
              <a:t>Allowing staff to eat items that are left over – some properties may allow staff to tale left over food home with them but this should not be expected. Check with your supervisor first</a:t>
            </a:r>
          </a:p>
          <a:p>
            <a:pPr lvl="0">
              <a:buFont typeface="Arial" pitchFamily="34" charset="0"/>
              <a:buChar char="•"/>
            </a:pPr>
            <a:r>
              <a:rPr lang="en-AU" sz="1200" dirty="0" smtClean="0"/>
              <a:t>Requiring high cost items to be stored for later use but allowing low-cost items to be thrown out. This may mean that meat dishes are caved while vegetables are discarded</a:t>
            </a:r>
          </a:p>
          <a:p>
            <a:pPr lvl="0">
              <a:buFont typeface="Arial" pitchFamily="34" charset="0"/>
              <a:buChar char="•"/>
            </a:pPr>
            <a:r>
              <a:rPr lang="en-AU" sz="1200" dirty="0" smtClean="0"/>
              <a:t>Separating disposables from food waste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Explain the importance of each step</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existing policies and procedures support these steps?</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Explain the importance of each step?</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existing policies and procedures support these steps?</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Explain the importance of each step</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demonstrate cleaning of glasses</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Explain the importance of each step</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demonstrate cleaning of crockery and cutlery</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 explain the importance of correct disposal</a:t>
            </a:r>
            <a:r>
              <a:rPr lang="en-US" b="0" baseline="0" dirty="0" smtClean="0"/>
              <a:t> of unused items.</a:t>
            </a:r>
            <a:endParaRPr lang="en-US" b="0" dirty="0" smtClean="0"/>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Discuss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 explain the importance of correct disposal</a:t>
            </a:r>
            <a:r>
              <a:rPr lang="en-US" b="0" baseline="0" dirty="0" smtClean="0"/>
              <a:t> of disposables.</a:t>
            </a:r>
            <a:endParaRPr lang="en-US" b="0" dirty="0" smtClean="0"/>
          </a:p>
          <a:p>
            <a:endParaRPr lang="en-US" sz="1200" kern="1200" dirty="0" smtClean="0">
              <a:solidFill>
                <a:schemeClr val="tx1"/>
              </a:solidFill>
              <a:latin typeface="Arial" charset="0"/>
              <a:ea typeface="+mn-ea"/>
              <a:cs typeface="+mn-cs"/>
            </a:endParaRPr>
          </a:p>
          <a:p>
            <a:r>
              <a:rPr lang="en-US" sz="1200" b="1" kern="1200" dirty="0" smtClean="0">
                <a:solidFill>
                  <a:schemeClr val="tx1"/>
                </a:solidFill>
                <a:latin typeface="Arial" charset="0"/>
                <a:ea typeface="+mn-ea"/>
                <a:cs typeface="+mn-cs"/>
              </a:rPr>
              <a:t>Activity:</a:t>
            </a:r>
            <a:r>
              <a:rPr lang="en-US" sz="1200" b="1" kern="1200" baseline="0" dirty="0" smtClean="0">
                <a:solidFill>
                  <a:schemeClr val="tx1"/>
                </a:solidFill>
                <a:latin typeface="Arial" charset="0"/>
                <a:ea typeface="+mn-ea"/>
                <a:cs typeface="+mn-cs"/>
              </a:rPr>
              <a:t> Discussion</a:t>
            </a:r>
          </a:p>
          <a:p>
            <a:endParaRPr lang="en-US" sz="1200" kern="1200" baseline="0" dirty="0" smtClean="0">
              <a:solidFill>
                <a:schemeClr val="tx1"/>
              </a:solidFill>
              <a:latin typeface="Arial" charset="0"/>
              <a:ea typeface="+mn-ea"/>
              <a:cs typeface="+mn-cs"/>
            </a:endParaRPr>
          </a:p>
          <a:p>
            <a:r>
              <a:rPr lang="en-US" sz="1200" kern="1200" baseline="0" dirty="0" smtClean="0">
                <a:solidFill>
                  <a:schemeClr val="tx1"/>
                </a:solidFill>
                <a:latin typeface="Arial" charset="0"/>
                <a:ea typeface="+mn-ea"/>
                <a:cs typeface="+mn-cs"/>
              </a:rPr>
              <a:t>a) How do you safely dispose of the following items:</a:t>
            </a:r>
            <a:endParaRPr lang="en-US" sz="1200" kern="1200" dirty="0" smtClean="0">
              <a:solidFill>
                <a:schemeClr val="tx1"/>
              </a:solidFill>
              <a:latin typeface="Arial" charset="0"/>
              <a:ea typeface="+mn-ea"/>
              <a:cs typeface="+mn-cs"/>
            </a:endParaRPr>
          </a:p>
          <a:p>
            <a:pPr lvl="0">
              <a:buFont typeface="Arial" pitchFamily="34" charset="0"/>
              <a:buChar char="•"/>
            </a:pPr>
            <a:r>
              <a:rPr lang="en-US" sz="1200" kern="1200" dirty="0" smtClean="0">
                <a:solidFill>
                  <a:schemeClr val="tx1"/>
                </a:solidFill>
                <a:latin typeface="Arial" charset="0"/>
                <a:ea typeface="+mn-ea"/>
                <a:cs typeface="+mn-cs"/>
              </a:rPr>
              <a:t>General waste</a:t>
            </a:r>
          </a:p>
          <a:p>
            <a:pPr lvl="0">
              <a:buFont typeface="Arial" pitchFamily="34" charset="0"/>
              <a:buChar char="•"/>
            </a:pPr>
            <a:r>
              <a:rPr lang="en-US" sz="1200" kern="1200" dirty="0" smtClean="0">
                <a:solidFill>
                  <a:schemeClr val="tx1"/>
                </a:solidFill>
                <a:latin typeface="Arial" charset="0"/>
                <a:ea typeface="+mn-ea"/>
                <a:cs typeface="+mn-cs"/>
              </a:rPr>
              <a:t>Vegetable or organic matter</a:t>
            </a:r>
          </a:p>
          <a:p>
            <a:pPr lvl="0">
              <a:buFont typeface="Arial" pitchFamily="34" charset="0"/>
              <a:buChar char="•"/>
            </a:pPr>
            <a:r>
              <a:rPr lang="en-US" sz="1200" kern="1200" dirty="0" smtClean="0">
                <a:solidFill>
                  <a:schemeClr val="tx1"/>
                </a:solidFill>
                <a:latin typeface="Arial" charset="0"/>
                <a:ea typeface="+mn-ea"/>
                <a:cs typeface="+mn-cs"/>
              </a:rPr>
              <a:t>Recyclables including paper, cardboard, glass and cartons</a:t>
            </a:r>
          </a:p>
          <a:p>
            <a:pPr lvl="0">
              <a:buFont typeface="Arial" pitchFamily="34" charset="0"/>
              <a:buChar char="•"/>
            </a:pPr>
            <a:r>
              <a:rPr lang="en-US" sz="1200" kern="1200" dirty="0" smtClean="0">
                <a:solidFill>
                  <a:schemeClr val="tx1"/>
                </a:solidFill>
                <a:latin typeface="Arial" charset="0"/>
                <a:ea typeface="+mn-ea"/>
                <a:cs typeface="+mn-cs"/>
              </a:rPr>
              <a:t>Broken glass. </a:t>
            </a:r>
          </a:p>
          <a:p>
            <a:pPr lvl="0">
              <a:buFont typeface="Arial" pitchFamily="34" charset="0"/>
              <a:buChar char="•"/>
            </a:pPr>
            <a:r>
              <a:rPr lang="en-US" sz="1200" kern="1200" dirty="0" smtClean="0">
                <a:solidFill>
                  <a:schemeClr val="tx1"/>
                </a:solidFill>
                <a:latin typeface="Arial" charset="0"/>
                <a:ea typeface="+mn-ea"/>
                <a:cs typeface="+mn-cs"/>
              </a:rPr>
              <a:t>Oils and hot liquids</a:t>
            </a:r>
          </a:p>
          <a:p>
            <a:endParaRPr lang="en-US" sz="1200" kern="1200" dirty="0" smtClean="0">
              <a:solidFill>
                <a:schemeClr val="tx1"/>
              </a:solidFill>
              <a:latin typeface="Arial" charset="0"/>
              <a:ea typeface="+mn-ea"/>
              <a:cs typeface="+mn-cs"/>
            </a:endParaRPr>
          </a:p>
          <a:p>
            <a:endParaRPr lang="en-US" sz="1200" kern="1200" dirty="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 explain the importance of correct disposal</a:t>
            </a:r>
            <a:r>
              <a:rPr lang="en-US" b="0" baseline="0" dirty="0" smtClean="0"/>
              <a:t> of recyclables.</a:t>
            </a:r>
            <a:endParaRPr lang="en-US" b="0" dirty="0" smtClean="0"/>
          </a:p>
          <a:p>
            <a:endParaRPr lang="en-US" sz="1200" kern="1200" dirty="0" smtClean="0">
              <a:solidFill>
                <a:schemeClr val="tx1"/>
              </a:solidFill>
              <a:latin typeface="Arial" charset="0"/>
              <a:ea typeface="+mn-ea"/>
              <a:cs typeface="+mn-cs"/>
            </a:endParaRPr>
          </a:p>
          <a:p>
            <a:r>
              <a:rPr lang="en-US" sz="1200" b="1" kern="1200" dirty="0" smtClean="0">
                <a:solidFill>
                  <a:schemeClr val="tx1"/>
                </a:solidFill>
                <a:latin typeface="Arial" charset="0"/>
                <a:ea typeface="+mn-ea"/>
                <a:cs typeface="+mn-cs"/>
              </a:rPr>
              <a:t>Activity:</a:t>
            </a:r>
            <a:r>
              <a:rPr lang="en-US" sz="1200" b="1" kern="1200" baseline="0" dirty="0" smtClean="0">
                <a:solidFill>
                  <a:schemeClr val="tx1"/>
                </a:solidFill>
                <a:latin typeface="Arial" charset="0"/>
                <a:ea typeface="+mn-ea"/>
                <a:cs typeface="+mn-cs"/>
              </a:rPr>
              <a:t> Discussion</a:t>
            </a:r>
          </a:p>
          <a:p>
            <a:endParaRPr lang="en-US" sz="1200" kern="1200" baseline="0" dirty="0" smtClean="0">
              <a:solidFill>
                <a:schemeClr val="tx1"/>
              </a:solidFill>
              <a:latin typeface="Arial" charset="0"/>
              <a:ea typeface="+mn-ea"/>
              <a:cs typeface="+mn-cs"/>
            </a:endParaRPr>
          </a:p>
          <a:p>
            <a:r>
              <a:rPr lang="en-US" sz="1200" kern="1200" baseline="0" dirty="0" smtClean="0">
                <a:solidFill>
                  <a:schemeClr val="tx1"/>
                </a:solidFill>
                <a:latin typeface="Arial" charset="0"/>
                <a:ea typeface="+mn-ea"/>
                <a:cs typeface="+mn-cs"/>
              </a:rPr>
              <a:t>How do you safely dispose of the following items:</a:t>
            </a:r>
            <a:endParaRPr lang="en-US" sz="1200" kern="1200" dirty="0" smtClean="0">
              <a:solidFill>
                <a:schemeClr val="tx1"/>
              </a:solidFill>
              <a:latin typeface="Arial" charset="0"/>
              <a:ea typeface="+mn-ea"/>
              <a:cs typeface="+mn-cs"/>
            </a:endParaRPr>
          </a:p>
          <a:p>
            <a:pPr marL="342900" indent="-342900">
              <a:spcBef>
                <a:spcPct val="20000"/>
              </a:spcBef>
              <a:buClr>
                <a:schemeClr val="accent1"/>
              </a:buClr>
              <a:buSzPct val="80000"/>
              <a:buFont typeface="Arial" pitchFamily="34" charset="0"/>
              <a:buChar char="•"/>
              <a:defRPr/>
            </a:pPr>
            <a:r>
              <a:rPr lang="en-US" sz="1200" dirty="0" smtClean="0"/>
              <a:t>paper</a:t>
            </a:r>
          </a:p>
          <a:p>
            <a:pPr marL="342900" indent="-342900">
              <a:spcBef>
                <a:spcPct val="20000"/>
              </a:spcBef>
              <a:buClr>
                <a:schemeClr val="accent1"/>
              </a:buClr>
              <a:buSzPct val="80000"/>
              <a:buFont typeface="Arial" pitchFamily="34" charset="0"/>
              <a:buChar char="•"/>
              <a:defRPr/>
            </a:pPr>
            <a:r>
              <a:rPr lang="en-US" sz="1200" dirty="0" smtClean="0"/>
              <a:t>cardboard</a:t>
            </a:r>
          </a:p>
          <a:p>
            <a:pPr marL="342900" indent="-342900">
              <a:spcBef>
                <a:spcPct val="20000"/>
              </a:spcBef>
              <a:buClr>
                <a:schemeClr val="accent1"/>
              </a:buClr>
              <a:buSzPct val="80000"/>
              <a:buFont typeface="Arial" pitchFamily="34" charset="0"/>
              <a:buChar char="•"/>
              <a:defRPr/>
            </a:pPr>
            <a:r>
              <a:rPr lang="en-US" sz="1200" dirty="0" smtClean="0"/>
              <a:t>glass</a:t>
            </a:r>
          </a:p>
          <a:p>
            <a:pPr marL="342900" indent="-342900">
              <a:spcBef>
                <a:spcPct val="20000"/>
              </a:spcBef>
              <a:buClr>
                <a:schemeClr val="accent1"/>
              </a:buClr>
              <a:buSzPct val="80000"/>
              <a:buFont typeface="Arial" pitchFamily="34" charset="0"/>
              <a:buChar char="•"/>
              <a:defRPr/>
            </a:pPr>
            <a:r>
              <a:rPr lang="en-US" sz="1200" dirty="0" smtClean="0"/>
              <a:t>plastic</a:t>
            </a:r>
          </a:p>
          <a:p>
            <a:pPr marL="342900" indent="-342900">
              <a:spcBef>
                <a:spcPct val="20000"/>
              </a:spcBef>
              <a:buClr>
                <a:schemeClr val="accent1"/>
              </a:buClr>
              <a:buSzPct val="80000"/>
              <a:buFont typeface="Arial" pitchFamily="34" charset="0"/>
              <a:buChar char="•"/>
              <a:defRPr/>
            </a:pPr>
            <a:r>
              <a:rPr lang="en-US" sz="1200" dirty="0" smtClean="0"/>
              <a:t>cans</a:t>
            </a:r>
          </a:p>
          <a:p>
            <a:endParaRPr lang="en-US" sz="1200" kern="1200" dirty="0" smtClean="0">
              <a:solidFill>
                <a:schemeClr val="tx1"/>
              </a:solidFill>
              <a:latin typeface="Arial" charset="0"/>
              <a:ea typeface="+mn-ea"/>
              <a:cs typeface="+mn-cs"/>
            </a:endParaRPr>
          </a:p>
          <a:p>
            <a:endParaRPr lang="en-US" sz="1200" kern="1200" dirty="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types of cleaning chemicals are used in a food and beverage outlet?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&amp;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Explain the importance of disposing of chemicals correctly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demonstrate disposing of chemicals correctly</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is contamination so harmful to a person and a business?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do you reduce contamination?</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do you reduce contamination caused by poor personal hygiene and cleaning?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policies and procedures would you put into place?</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do you reduce contamination caused by poor cleaning of the work area?</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policies and procedures would you put into place?</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do you reduce the presence of vermin in the work area?</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policies and procedures would you put into place to eliminate vermin?</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should you do, if you see any of these signs?</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cleaning and sanitation practices can you put into place?</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how these prevention methods can be implemented on a daily basis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Who should be responsible for it?</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the steps associated with settling accounts?</a:t>
            </a:r>
          </a:p>
          <a:p>
            <a:pPr>
              <a:buFont typeface="Arial" pitchFamily="34" charset="0"/>
              <a:buChar char="•"/>
            </a:pPr>
            <a:r>
              <a:rPr lang="en-AU" sz="1200" kern="1200" baseline="0" dirty="0" smtClean="0">
                <a:solidFill>
                  <a:schemeClr val="tx1"/>
                </a:solidFill>
                <a:latin typeface="+mn-lt"/>
                <a:ea typeface="+mn-ea"/>
                <a:cs typeface="+mn-cs"/>
              </a:rPr>
              <a:t>Who is responsible for this?</a:t>
            </a:r>
          </a:p>
          <a:p>
            <a:pPr>
              <a:buFont typeface="Arial" pitchFamily="34" charset="0"/>
              <a:buChar char="•"/>
            </a:pPr>
            <a:r>
              <a:rPr lang="en-AU" sz="1200" kern="1200" baseline="0" dirty="0" smtClean="0">
                <a:solidFill>
                  <a:schemeClr val="tx1"/>
                </a:solidFill>
                <a:latin typeface="+mn-lt"/>
                <a:ea typeface="+mn-ea"/>
                <a:cs typeface="+mn-cs"/>
              </a:rPr>
              <a:t>What activities are associayed with balancing financial transactions at the end of the shift?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 detail and explain what is a ‘float’.</a:t>
            </a:r>
            <a:endParaRPr lang="en-US" sz="1200" b="0" kern="1200" dirty="0" smtClean="0">
              <a:solidFill>
                <a:schemeClr val="tx1"/>
              </a:solidFill>
              <a:latin typeface="Arial"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endParaRPr lang="en-US" sz="1200" kern="1200" dirty="0" smtClean="0">
              <a:solidFill>
                <a:schemeClr val="tx1"/>
              </a:solidFill>
              <a:latin typeface="Arial" charset="0"/>
              <a:ea typeface="+mn-ea"/>
              <a:cs typeface="+mn-cs"/>
            </a:endParaRPr>
          </a:p>
          <a:p>
            <a:r>
              <a:rPr lang="en-US" sz="1200" b="1" kern="1200" dirty="0" smtClean="0">
                <a:solidFill>
                  <a:schemeClr val="tx1"/>
                </a:solidFill>
                <a:latin typeface="Arial" charset="0"/>
                <a:ea typeface="+mn-ea"/>
                <a:cs typeface="+mn-cs"/>
              </a:rPr>
              <a:t>Activity: Discussion</a:t>
            </a:r>
          </a:p>
          <a:p>
            <a:endParaRPr lang="en-US" sz="1200" kern="1200" dirty="0" smtClean="0">
              <a:solidFill>
                <a:schemeClr val="tx1"/>
              </a:solidFill>
              <a:latin typeface="Arial" charset="0"/>
              <a:ea typeface="+mn-ea"/>
              <a:cs typeface="+mn-cs"/>
            </a:endParaRPr>
          </a:p>
          <a:p>
            <a:pPr>
              <a:buFont typeface="Arial" pitchFamily="34" charset="0"/>
              <a:buChar char="•"/>
            </a:pPr>
            <a:r>
              <a:rPr lang="en-US" sz="1200" b="0" dirty="0" smtClean="0">
                <a:solidFill>
                  <a:schemeClr val="accent1">
                    <a:lumMod val="75000"/>
                  </a:schemeClr>
                </a:solidFill>
              </a:rPr>
              <a:t>How much money is in a float in your outlet?</a:t>
            </a:r>
          </a:p>
          <a:p>
            <a:pPr>
              <a:buFont typeface="Arial" pitchFamily="34" charset="0"/>
              <a:buChar char="•"/>
            </a:pPr>
            <a:r>
              <a:rPr lang="en-US" sz="1200" b="0" dirty="0" smtClean="0">
                <a:solidFill>
                  <a:schemeClr val="accent1">
                    <a:lumMod val="75000"/>
                  </a:schemeClr>
                </a:solidFill>
              </a:rPr>
              <a:t>What is the breakdown of currency in the float?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explains the use of a ‘float’ (also known as a ‘cash float’) highlighting:</a:t>
            </a:r>
          </a:p>
          <a:p>
            <a:endParaRPr lang="en-AU" dirty="0" smtClean="0"/>
          </a:p>
          <a:p>
            <a:pPr>
              <a:buFontTx/>
              <a:buChar char="•"/>
            </a:pPr>
            <a:r>
              <a:rPr lang="en-AU" dirty="0" smtClean="0"/>
              <a:t>A float is the amount of money an establishment has deemed appropriate to commence the day’s trading for a cash register </a:t>
            </a:r>
          </a:p>
          <a:p>
            <a:pPr>
              <a:buFontTx/>
              <a:buChar char="•"/>
            </a:pPr>
            <a:r>
              <a:rPr lang="en-AU" dirty="0" smtClean="0"/>
              <a:t>Float is located in the cash drawer of the cash register/POS terminal</a:t>
            </a:r>
          </a:p>
          <a:p>
            <a:pPr>
              <a:buFontTx/>
              <a:buChar char="•"/>
            </a:pPr>
            <a:r>
              <a:rPr lang="en-AU" dirty="0" smtClean="0"/>
              <a:t>Float is used for giving out change when completing a financial transaction, because change is nearly always needed</a:t>
            </a:r>
          </a:p>
          <a:p>
            <a:pPr>
              <a:buFontTx/>
              <a:buChar char="•"/>
            </a:pPr>
            <a:r>
              <a:rPr lang="en-AU" dirty="0" smtClean="0"/>
              <a:t>Overnight, most cash floats/cash drawers will be stored in a safe</a:t>
            </a:r>
          </a:p>
          <a:p>
            <a:pPr>
              <a:buFontTx/>
              <a:buChar char="•"/>
            </a:pPr>
            <a:r>
              <a:rPr lang="en-AU" dirty="0" smtClean="0"/>
              <a:t>At the beginning of each shift (or day’s trading), the float/cash drawer will be distributed by management to staff members</a:t>
            </a:r>
          </a:p>
          <a:p>
            <a:pPr>
              <a:buFontTx/>
              <a:buChar char="•"/>
            </a:pPr>
            <a:r>
              <a:rPr lang="en-AU" dirty="0" smtClean="0"/>
              <a:t>Staff may need to sign for float to prove they have taken possession of it</a:t>
            </a:r>
          </a:p>
          <a:p>
            <a:pPr>
              <a:buFontTx/>
              <a:buChar char="•"/>
            </a:pPr>
            <a:r>
              <a:rPr lang="en-AU" dirty="0" smtClean="0"/>
              <a:t>Staff must count float when they receive it to ensure it is correct – discrepancies must be immediately followed up.</a:t>
            </a:r>
          </a:p>
          <a:p>
            <a:pPr>
              <a:buFontTx/>
              <a:buChar char="•"/>
            </a:pPr>
            <a:endParaRPr lang="en-AU" b="1" dirty="0" smtClean="0"/>
          </a:p>
          <a:p>
            <a:r>
              <a:rPr lang="en-AU" b="1" dirty="0" smtClean="0"/>
              <a:t>Trainer asks trainees to describe how floats are distributed in their workplaces, the amount of the float and the way in which notes and coins are allocated.</a:t>
            </a:r>
          </a:p>
          <a:p>
            <a:endParaRPr lang="en-AU" b="1" dirty="0" smtClean="0"/>
          </a:p>
          <a:p>
            <a:r>
              <a:rPr lang="en-AU" b="1" dirty="0" smtClean="0"/>
              <a:t>Trainer demonstrates how to count a float.</a:t>
            </a:r>
          </a:p>
          <a:p>
            <a:endParaRPr lang="en-AU" b="1" dirty="0" smtClean="0"/>
          </a:p>
          <a:p>
            <a:r>
              <a:rPr lang="en-AU" b="1" dirty="0" smtClean="0"/>
              <a:t>Trainees to practice counting floats.</a:t>
            </a:r>
            <a:r>
              <a:rPr lang="en-AU" dirty="0" smtClean="0"/>
              <a:t>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explains  the</a:t>
            </a:r>
            <a:r>
              <a:rPr lang="en-US" b="1" baseline="0" dirty="0" smtClean="0"/>
              <a:t> purpose of a cash register.</a:t>
            </a:r>
            <a:endParaRPr lang="en-US" b="1" dirty="0" smtClean="0"/>
          </a:p>
          <a:p>
            <a:endParaRPr lang="en-AU" dirty="0" smtClean="0"/>
          </a:p>
          <a:p>
            <a:r>
              <a:rPr lang="en-US" sz="1200" kern="1200" dirty="0" smtClean="0">
                <a:solidFill>
                  <a:schemeClr val="tx1"/>
                </a:solidFill>
                <a:latin typeface="Arial" charset="0"/>
                <a:ea typeface="+mn-ea"/>
                <a:cs typeface="+mn-cs"/>
              </a:rPr>
              <a:t>A cash register is a machine that is used to accurately record transactions – both charges and methods of payments, issue accounts and receipts and to store cash and non-cash payments.</a:t>
            </a:r>
          </a:p>
          <a:p>
            <a:endParaRPr lang="en-US" sz="1200" kern="1200" dirty="0" smtClean="0">
              <a:solidFill>
                <a:schemeClr val="tx1"/>
              </a:solidFill>
              <a:latin typeface="Arial" charset="0"/>
              <a:ea typeface="+mn-ea"/>
              <a:cs typeface="+mn-cs"/>
            </a:endParaRPr>
          </a:p>
          <a:p>
            <a:r>
              <a:rPr lang="en-US" sz="1200" b="1" kern="1200" dirty="0" smtClean="0">
                <a:solidFill>
                  <a:schemeClr val="tx1"/>
                </a:solidFill>
                <a:latin typeface="Arial" charset="0"/>
                <a:ea typeface="+mn-ea"/>
                <a:cs typeface="+mn-cs"/>
              </a:rPr>
              <a:t>Activity:</a:t>
            </a:r>
            <a:r>
              <a:rPr lang="en-US" sz="1200" b="1" kern="1200" baseline="0" dirty="0" smtClean="0">
                <a:solidFill>
                  <a:schemeClr val="tx1"/>
                </a:solidFill>
                <a:latin typeface="Arial" charset="0"/>
                <a:ea typeface="+mn-ea"/>
                <a:cs typeface="+mn-cs"/>
              </a:rPr>
              <a:t> Demonstration</a:t>
            </a:r>
          </a:p>
          <a:p>
            <a:endParaRPr lang="en-US" sz="1200" kern="1200" baseline="0" dirty="0" smtClean="0">
              <a:solidFill>
                <a:schemeClr val="tx1"/>
              </a:solidFill>
              <a:latin typeface="Arial" charset="0"/>
              <a:ea typeface="+mn-ea"/>
              <a:cs typeface="+mn-cs"/>
            </a:endParaRPr>
          </a:p>
          <a:p>
            <a:r>
              <a:rPr lang="en-US" sz="1200" kern="1200" baseline="0" dirty="0" smtClean="0">
                <a:solidFill>
                  <a:schemeClr val="tx1"/>
                </a:solidFill>
                <a:latin typeface="Arial" charset="0"/>
                <a:ea typeface="+mn-ea"/>
                <a:cs typeface="+mn-cs"/>
              </a:rPr>
              <a:t>Trainer to demonstrate the functions of a cash register.</a:t>
            </a:r>
            <a:endParaRPr lang="en-US" sz="1200" kern="1200" dirty="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explains </a:t>
            </a:r>
            <a:r>
              <a:rPr lang="en-US" b="1" baseline="0" dirty="0" smtClean="0"/>
              <a:t> the tasks to be performed when preparing a register area.</a:t>
            </a:r>
            <a:endParaRPr lang="en-US" b="1" dirty="0" smtClean="0"/>
          </a:p>
          <a:p>
            <a:endParaRPr lang="en-AU" dirty="0" smtClean="0"/>
          </a:p>
          <a:p>
            <a:r>
              <a:rPr lang="en-US" sz="1200" kern="1200" dirty="0" smtClean="0">
                <a:solidFill>
                  <a:schemeClr val="tx1"/>
                </a:solidFill>
                <a:latin typeface="Arial" charset="0"/>
                <a:ea typeface="+mn-ea"/>
                <a:cs typeface="+mn-cs"/>
              </a:rPr>
              <a:t>Discuss points.</a:t>
            </a:r>
          </a:p>
          <a:p>
            <a:endParaRPr lang="en-US" sz="1200" kern="1200" dirty="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explains </a:t>
            </a:r>
            <a:r>
              <a:rPr lang="en-US" b="1" baseline="0" dirty="0" smtClean="0"/>
              <a:t> the tasks to be performed when preparing a register area.</a:t>
            </a:r>
            <a:endParaRPr lang="en-US" b="1" dirty="0" smtClean="0"/>
          </a:p>
          <a:p>
            <a:endParaRPr lang="en-AU" dirty="0" smtClean="0"/>
          </a:p>
          <a:p>
            <a:r>
              <a:rPr lang="en-US" sz="1200" kern="1200" dirty="0" smtClean="0">
                <a:solidFill>
                  <a:schemeClr val="tx1"/>
                </a:solidFill>
                <a:latin typeface="Arial" charset="0"/>
                <a:ea typeface="+mn-ea"/>
                <a:cs typeface="+mn-cs"/>
              </a:rPr>
              <a:t>Discuss points.</a:t>
            </a:r>
          </a:p>
          <a:p>
            <a:endParaRPr lang="en-US" sz="1200" kern="1200" dirty="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explains </a:t>
            </a:r>
            <a:r>
              <a:rPr lang="en-US" b="1" baseline="0" dirty="0" smtClean="0"/>
              <a:t> the tasks to be performed when preparing a workstation.</a:t>
            </a:r>
            <a:endParaRPr lang="en-US" b="1" dirty="0" smtClean="0"/>
          </a:p>
          <a:p>
            <a:endParaRPr lang="en-AU" dirty="0" smtClean="0"/>
          </a:p>
          <a:p>
            <a:r>
              <a:rPr lang="en-US" sz="1200" kern="1200" dirty="0" smtClean="0">
                <a:solidFill>
                  <a:schemeClr val="tx1"/>
                </a:solidFill>
                <a:latin typeface="Arial" charset="0"/>
                <a:ea typeface="+mn-ea"/>
                <a:cs typeface="+mn-cs"/>
              </a:rPr>
              <a:t>Besides the cash register there are other machines that must be checked before the start of the shift. These include:</a:t>
            </a:r>
          </a:p>
          <a:p>
            <a:endParaRPr lang="en-US" sz="1200" kern="1200" dirty="0" smtClean="0">
              <a:solidFill>
                <a:schemeClr val="tx1"/>
              </a:solidFill>
              <a:latin typeface="Arial" charset="0"/>
              <a:ea typeface="+mn-ea"/>
              <a:cs typeface="+mn-cs"/>
            </a:endParaRPr>
          </a:p>
          <a:p>
            <a:pPr lvl="0">
              <a:buFont typeface="Arial" pitchFamily="34" charset="0"/>
              <a:buChar char="•"/>
            </a:pPr>
            <a:r>
              <a:rPr lang="en-US" sz="1200" kern="1200" dirty="0" smtClean="0">
                <a:solidFill>
                  <a:schemeClr val="tx1"/>
                </a:solidFill>
                <a:latin typeface="Arial" charset="0"/>
                <a:ea typeface="+mn-ea"/>
                <a:cs typeface="+mn-cs"/>
              </a:rPr>
              <a:t>ETFPOS machines</a:t>
            </a:r>
          </a:p>
          <a:p>
            <a:pPr lvl="0">
              <a:buFont typeface="Arial" pitchFamily="34" charset="0"/>
              <a:buChar char="•"/>
            </a:pPr>
            <a:r>
              <a:rPr lang="en-US" sz="1200" kern="1200" dirty="0" smtClean="0">
                <a:solidFill>
                  <a:schemeClr val="tx1"/>
                </a:solidFill>
                <a:latin typeface="Arial" charset="0"/>
                <a:ea typeface="+mn-ea"/>
                <a:cs typeface="+mn-cs"/>
              </a:rPr>
              <a:t>Manual credit card machines</a:t>
            </a:r>
          </a:p>
          <a:p>
            <a:pPr lvl="0">
              <a:buFont typeface="Arial" pitchFamily="34" charset="0"/>
              <a:buChar char="•"/>
            </a:pPr>
            <a:endParaRPr lang="en-US" sz="1200" kern="1200" dirty="0" smtClean="0">
              <a:solidFill>
                <a:schemeClr val="tx1"/>
              </a:solidFill>
              <a:latin typeface="Arial" charset="0"/>
              <a:ea typeface="+mn-ea"/>
              <a:cs typeface="+mn-cs"/>
            </a:endParaRPr>
          </a:p>
          <a:p>
            <a:r>
              <a:rPr lang="en-US" sz="1200" b="1" kern="1200" dirty="0" smtClean="0">
                <a:solidFill>
                  <a:schemeClr val="tx1"/>
                </a:solidFill>
                <a:latin typeface="Arial" charset="0"/>
                <a:ea typeface="+mn-ea"/>
                <a:cs typeface="+mn-cs"/>
              </a:rPr>
              <a:t>Activity:</a:t>
            </a:r>
            <a:r>
              <a:rPr lang="en-US" sz="1200" b="1" kern="1200" baseline="0" dirty="0" smtClean="0">
                <a:solidFill>
                  <a:schemeClr val="tx1"/>
                </a:solidFill>
                <a:latin typeface="Arial" charset="0"/>
                <a:ea typeface="+mn-ea"/>
                <a:cs typeface="+mn-cs"/>
              </a:rPr>
              <a:t> Demonstration</a:t>
            </a:r>
          </a:p>
          <a:p>
            <a:endParaRPr lang="en-US" sz="1200" kern="1200" baseline="0" dirty="0" smtClean="0">
              <a:solidFill>
                <a:schemeClr val="tx1"/>
              </a:solidFill>
              <a:latin typeface="Arial" charset="0"/>
              <a:ea typeface="+mn-ea"/>
              <a:cs typeface="+mn-cs"/>
            </a:endParaRPr>
          </a:p>
          <a:p>
            <a:r>
              <a:rPr lang="en-US" sz="1200" kern="1200" baseline="0" dirty="0" smtClean="0">
                <a:solidFill>
                  <a:schemeClr val="tx1"/>
                </a:solidFill>
                <a:latin typeface="Arial" charset="0"/>
                <a:ea typeface="+mn-ea"/>
                <a:cs typeface="+mn-cs"/>
              </a:rPr>
              <a:t>Trainer to demonstrate the functions of an EFTPOS and manual credit card machines.</a:t>
            </a:r>
            <a:endParaRPr lang="en-US" sz="1200" kern="1200" dirty="0" smtClean="0">
              <a:solidFill>
                <a:schemeClr val="tx1"/>
              </a:solidFill>
              <a:latin typeface="Arial" charset="0"/>
              <a:ea typeface="+mn-ea"/>
              <a:cs typeface="+mn-cs"/>
            </a:endParaRPr>
          </a:p>
          <a:p>
            <a:pPr lvl="0">
              <a:buFont typeface="Arial" pitchFamily="34" charset="0"/>
              <a:buChar char="•"/>
            </a:pPr>
            <a:endParaRPr lang="en-US" sz="1200" kern="1200" dirty="0" smtClean="0">
              <a:solidFill>
                <a:schemeClr val="tx1"/>
              </a:solidFill>
              <a:latin typeface="Arial" charset="0"/>
              <a:ea typeface="+mn-ea"/>
              <a:cs typeface="+mn-cs"/>
            </a:endParaRPr>
          </a:p>
          <a:p>
            <a:pPr lvl="0">
              <a:buFont typeface="Arial" pitchFamily="34" charset="0"/>
              <a:buChar char="•"/>
            </a:pPr>
            <a:endParaRPr lang="en-US" sz="1200" kern="1200" dirty="0" smtClean="0">
              <a:solidFill>
                <a:schemeClr val="tx1"/>
              </a:solidFill>
              <a:latin typeface="Arial" charset="0"/>
              <a:ea typeface="+mn-ea"/>
              <a:cs typeface="+mn-cs"/>
            </a:endParaRPr>
          </a:p>
          <a:p>
            <a:pPr lvl="0">
              <a:buFont typeface="Arial" pitchFamily="34" charset="0"/>
              <a:buNone/>
            </a:pPr>
            <a:endParaRPr lang="en-US" sz="1200" kern="1200" dirty="0" smtClean="0">
              <a:solidFill>
                <a:schemeClr val="tx1"/>
              </a:solidFill>
              <a:latin typeface="Arial" charset="0"/>
              <a:ea typeface="+mn-ea"/>
              <a:cs typeface="+mn-cs"/>
            </a:endParaRPr>
          </a:p>
          <a:p>
            <a:endParaRPr lang="en-US" sz="1200" kern="1200" dirty="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0" dirty="0" smtClean="0"/>
              <a:t>Trainer explains </a:t>
            </a:r>
            <a:r>
              <a:rPr lang="en-US" b="0" baseline="0" dirty="0" smtClean="0"/>
              <a:t>the tasks to be performed when preparing a workstation.</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176</a:t>
            </a:fld>
            <a:endParaRPr lang="en-US" dirty="0"/>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Explain the importance of these security measures.</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177</a:t>
            </a:fld>
            <a:endParaRPr lang="en-US" dirty="0"/>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Explain the importance of these security measures.</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178</a:t>
            </a:fld>
            <a:endParaRPr lang="en-US" dirty="0"/>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r>
              <a:rPr lang="en-US" b="1" dirty="0" smtClean="0"/>
              <a:t>Activity:</a:t>
            </a:r>
            <a:r>
              <a:rPr lang="en-US" b="1" baseline="0" dirty="0" smtClean="0"/>
              <a:t> Demonstration and explanation</a:t>
            </a:r>
          </a:p>
          <a:p>
            <a:pPr marL="228600" indent="-228600"/>
            <a:endParaRPr lang="en-US" b="1" dirty="0" smtClean="0"/>
          </a:p>
          <a:p>
            <a:pPr marL="228600" indent="-228600"/>
            <a:r>
              <a:rPr lang="en-US" b="0" dirty="0" smtClean="0"/>
              <a:t>Trainer to provide an introduction on the three key steps of processing accounts.</a:t>
            </a:r>
            <a:endParaRPr lang="en-US" b="0" baseline="0" dirty="0" smtClean="0"/>
          </a:p>
          <a:p>
            <a:pPr marL="228600" indent="-228600"/>
            <a:endParaRPr lang="en-US" b="1" baseline="0" dirty="0" smtClean="0"/>
          </a:p>
          <a:p>
            <a:r>
              <a:rPr lang="en-US" sz="1200" kern="1200" dirty="0" smtClean="0">
                <a:solidFill>
                  <a:schemeClr val="tx1"/>
                </a:solidFill>
                <a:latin typeface="Arial" charset="0"/>
                <a:ea typeface="+mn-ea"/>
                <a:cs typeface="+mn-cs"/>
              </a:rPr>
              <a:t>Processing a customer account refers to:</a:t>
            </a:r>
          </a:p>
          <a:p>
            <a:pPr lvl="0">
              <a:buFont typeface="Arial" pitchFamily="34" charset="0"/>
              <a:buChar char="•"/>
            </a:pPr>
            <a:r>
              <a:rPr lang="en-US" sz="1200" kern="1200" dirty="0" smtClean="0">
                <a:solidFill>
                  <a:schemeClr val="tx1"/>
                </a:solidFill>
                <a:latin typeface="Arial" charset="0"/>
                <a:ea typeface="+mn-ea"/>
                <a:cs typeface="+mn-cs"/>
              </a:rPr>
              <a:t>Creating an account for the customer or table</a:t>
            </a:r>
          </a:p>
          <a:p>
            <a:pPr lvl="0">
              <a:buFont typeface="Arial" pitchFamily="34" charset="0"/>
              <a:buChar char="•"/>
            </a:pPr>
            <a:r>
              <a:rPr lang="en-US" sz="1200" kern="1200" dirty="0" smtClean="0">
                <a:solidFill>
                  <a:schemeClr val="tx1"/>
                </a:solidFill>
                <a:latin typeface="Arial" charset="0"/>
                <a:ea typeface="+mn-ea"/>
                <a:cs typeface="+mn-cs"/>
              </a:rPr>
              <a:t>Updating the account as items are ordered/purchased</a:t>
            </a:r>
          </a:p>
          <a:p>
            <a:pPr lvl="0">
              <a:buFont typeface="Arial" pitchFamily="34" charset="0"/>
              <a:buChar char="•"/>
            </a:pPr>
            <a:r>
              <a:rPr lang="en-US" sz="1200" kern="1200" dirty="0" smtClean="0">
                <a:solidFill>
                  <a:schemeClr val="tx1"/>
                </a:solidFill>
                <a:latin typeface="Arial" charset="0"/>
                <a:ea typeface="+mn-ea"/>
                <a:cs typeface="+mn-cs"/>
              </a:rPr>
              <a:t>Finalising the account by accepting payment.</a:t>
            </a:r>
          </a:p>
          <a:p>
            <a:pPr lvl="0">
              <a:buFont typeface="Arial" pitchFamily="34" charset="0"/>
              <a:buNone/>
            </a:pPr>
            <a:endParaRPr lang="en-US" sz="1200" kern="1200" dirty="0" smtClean="0">
              <a:solidFill>
                <a:schemeClr val="tx1"/>
              </a:solidFill>
              <a:latin typeface="Arial" charset="0"/>
              <a:ea typeface="+mn-ea"/>
              <a:cs typeface="+mn-cs"/>
            </a:endParaRPr>
          </a:p>
          <a:p>
            <a:pPr lvl="0">
              <a:buFont typeface="Arial" pitchFamily="34" charset="0"/>
              <a:buNone/>
            </a:pPr>
            <a:r>
              <a:rPr lang="en-US" sz="1200" b="1" kern="1200" dirty="0" smtClean="0">
                <a:solidFill>
                  <a:schemeClr val="tx1"/>
                </a:solidFill>
                <a:latin typeface="Arial" charset="0"/>
                <a:ea typeface="+mn-ea"/>
                <a:cs typeface="+mn-cs"/>
              </a:rPr>
              <a:t>Activity:</a:t>
            </a:r>
            <a:r>
              <a:rPr lang="en-US" sz="1200" b="1" kern="1200" baseline="0" dirty="0" smtClean="0">
                <a:solidFill>
                  <a:schemeClr val="tx1"/>
                </a:solidFill>
                <a:latin typeface="Arial" charset="0"/>
                <a:ea typeface="+mn-ea"/>
                <a:cs typeface="+mn-cs"/>
              </a:rPr>
              <a:t> Practice </a:t>
            </a:r>
          </a:p>
          <a:p>
            <a:pPr lvl="0">
              <a:buFont typeface="Arial" pitchFamily="34" charset="0"/>
              <a:buNone/>
            </a:pPr>
            <a:endParaRPr lang="en-US" sz="1200" kern="1200" dirty="0" smtClean="0">
              <a:solidFill>
                <a:schemeClr val="tx1"/>
              </a:solidFill>
              <a:latin typeface="Arial" charset="0"/>
              <a:ea typeface="+mn-ea"/>
              <a:cs typeface="+mn-cs"/>
            </a:endParaRPr>
          </a:p>
          <a:p>
            <a:pPr lvl="0">
              <a:buFont typeface="Arial" pitchFamily="34" charset="0"/>
              <a:buNone/>
            </a:pPr>
            <a:r>
              <a:rPr lang="en-US" sz="1200" b="0" kern="1200" dirty="0" smtClean="0">
                <a:solidFill>
                  <a:schemeClr val="tx1"/>
                </a:solidFill>
                <a:latin typeface="Arial" charset="0"/>
                <a:ea typeface="+mn-ea"/>
                <a:cs typeface="+mn-cs"/>
              </a:rPr>
              <a:t>Trainer to explain activities involved in each step</a:t>
            </a:r>
          </a:p>
          <a:p>
            <a:endParaRPr lang="en-US" sz="1200" kern="1200" dirty="0" smtClean="0">
              <a:solidFill>
                <a:schemeClr val="tx1"/>
              </a:solidFill>
              <a:latin typeface="Arial" charset="0"/>
              <a:ea typeface="+mn-ea"/>
              <a:cs typeface="+mn-cs"/>
            </a:endParaRPr>
          </a:p>
          <a:p>
            <a:pPr lvl="0">
              <a:buFont typeface="Arial" pitchFamily="34" charset="0"/>
              <a:buNone/>
            </a:pPr>
            <a:endParaRPr lang="en-US" sz="1200" kern="1200" dirty="0" smtClean="0">
              <a:solidFill>
                <a:schemeClr val="tx1"/>
              </a:solidFill>
              <a:latin typeface="Arial" charset="0"/>
              <a:ea typeface="+mn-ea"/>
              <a:cs typeface="+mn-cs"/>
            </a:endParaRPr>
          </a:p>
          <a:p>
            <a:endParaRPr lang="en-AU"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179</a:t>
            </a:fld>
            <a:endParaRPr lang="en-US" dirty="0"/>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r>
              <a:rPr lang="en-US" b="1" dirty="0" smtClean="0"/>
              <a:t>Activity:</a:t>
            </a:r>
            <a:r>
              <a:rPr lang="en-US" b="1" baseline="0" dirty="0" smtClean="0"/>
              <a:t> Discuss procedures.</a:t>
            </a:r>
          </a:p>
          <a:p>
            <a:pPr marL="228600" indent="-228600"/>
            <a:endParaRPr lang="en-US" b="1" dirty="0" smtClean="0"/>
          </a:p>
          <a:p>
            <a:r>
              <a:rPr lang="en-AU" sz="1200" dirty="0" smtClean="0"/>
              <a:t>When using an electronic system to process an account always make sure you follow manufacturer’s instructions – obtain in-house training before using the system</a:t>
            </a:r>
          </a:p>
          <a:p>
            <a:pPr>
              <a:buFont typeface="Arial" pitchFamily="34" charset="0"/>
              <a:buChar char="•"/>
            </a:pPr>
            <a:r>
              <a:rPr lang="en-AU" sz="1200" dirty="0" smtClean="0"/>
              <a:t>Review supporting dockets received– to verify table/customer, make sure the dockets are legible and can be understood/interpreted, and ensure only the items ordered are charged for</a:t>
            </a:r>
          </a:p>
          <a:p>
            <a:pPr>
              <a:buFont typeface="Arial" pitchFamily="34" charset="0"/>
              <a:buChar char="•"/>
            </a:pPr>
            <a:r>
              <a:rPr lang="en-AU" sz="1200" dirty="0" smtClean="0"/>
              <a:t>Post charges (see below) promptly – to ensure the account is ready when needed and to make sure money for all items bought by the customer is recovered when the account is paid</a:t>
            </a:r>
          </a:p>
          <a:p>
            <a:pPr>
              <a:buFont typeface="Arial" pitchFamily="34" charset="0"/>
              <a:buChar char="•"/>
            </a:pPr>
            <a:r>
              <a:rPr lang="en-AU" sz="1200" dirty="0" smtClean="0"/>
              <a:t>Update the account balance – or verify the updated account balance where this occurs automatically – making sure all entries are accurate and all charges have been correctly entered/processed</a:t>
            </a:r>
          </a:p>
          <a:p>
            <a:pPr>
              <a:buFont typeface="Arial" pitchFamily="34" charset="0"/>
              <a:buChar char="•"/>
            </a:pPr>
            <a:r>
              <a:rPr lang="en-AU" sz="1200" dirty="0" smtClean="0"/>
              <a:t>Produce the final account/bill when requested by waiting staff or customer – it is important to continually update accounts during service so there is minimum waiting time at this stage</a:t>
            </a:r>
          </a:p>
          <a:p>
            <a:pPr>
              <a:buFont typeface="Arial" pitchFamily="34" charset="0"/>
              <a:buChar char="•"/>
            </a:pPr>
            <a:r>
              <a:rPr lang="en-AU" sz="1200" dirty="0" smtClean="0"/>
              <a:t>Present account to guest/staff according to workplace policy – which may require presentation of the account in a billfold, or on a plate.</a:t>
            </a:r>
            <a:endParaRPr lang="en-AU" sz="120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180</a:t>
            </a:fld>
            <a:endParaRPr lang="en-US" dirty="0"/>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1" dirty="0" smtClean="0"/>
              <a:t>Trainer to provide an introduction on posting charges.</a:t>
            </a:r>
            <a:endParaRPr lang="en-US" b="1" baseline="0" dirty="0" smtClean="0"/>
          </a:p>
          <a:p>
            <a:endParaRPr lang="en-US" sz="1200" b="1" kern="1200" dirty="0" smtClean="0">
              <a:solidFill>
                <a:schemeClr val="tx1"/>
              </a:solidFill>
              <a:latin typeface="Arial" charset="0"/>
              <a:ea typeface="+mn-ea"/>
              <a:cs typeface="+mn-cs"/>
            </a:endParaRPr>
          </a:p>
          <a:p>
            <a:pPr marL="228600" indent="-228600"/>
            <a:r>
              <a:rPr lang="en-US" b="0" dirty="0" smtClean="0"/>
              <a:t>Discuss</a:t>
            </a:r>
            <a:r>
              <a:rPr lang="en-US" b="0" baseline="0" dirty="0" smtClean="0"/>
              <a:t> points.</a:t>
            </a:r>
            <a:endParaRPr lang="en-AU"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181</a:t>
            </a:fld>
            <a:endParaRPr lang="en-US" dirty="0"/>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r>
              <a:rPr lang="en-US" b="1" dirty="0" smtClean="0"/>
              <a:t>Activity:</a:t>
            </a:r>
            <a:r>
              <a:rPr lang="en-US" b="1" baseline="0" dirty="0" smtClean="0"/>
              <a:t> Demonstration and explanation</a:t>
            </a:r>
          </a:p>
          <a:p>
            <a:pPr marL="228600" indent="-228600"/>
            <a:endParaRPr lang="en-US" b="1" dirty="0" smtClean="0"/>
          </a:p>
          <a:p>
            <a:pPr marL="228600" indent="-228600"/>
            <a:r>
              <a:rPr lang="en-US" b="0" dirty="0" smtClean="0"/>
              <a:t>Trainer to demonstrate and explain</a:t>
            </a:r>
            <a:r>
              <a:rPr lang="en-US" b="0" baseline="0" dirty="0" smtClean="0"/>
              <a:t> debit and credit postings</a:t>
            </a:r>
            <a:r>
              <a:rPr lang="en-US" b="0" dirty="0" smtClean="0"/>
              <a:t>.</a:t>
            </a:r>
            <a:endParaRPr lang="en-US" b="0" baseline="0" dirty="0" smtClean="0"/>
          </a:p>
          <a:p>
            <a:pPr marL="228600" indent="-228600"/>
            <a:endParaRPr lang="en-US" b="1" baseline="0" dirty="0" smtClean="0"/>
          </a:p>
          <a:p>
            <a:r>
              <a:rPr lang="en-US" sz="1200" kern="1200" dirty="0" smtClean="0">
                <a:solidFill>
                  <a:schemeClr val="tx1"/>
                </a:solidFill>
                <a:latin typeface="Arial" charset="0"/>
                <a:ea typeface="+mn-ea"/>
                <a:cs typeface="+mn-cs"/>
              </a:rPr>
              <a:t>Trainee,</a:t>
            </a:r>
            <a:r>
              <a:rPr lang="en-US" sz="1200" kern="1200" baseline="0" dirty="0" smtClean="0">
                <a:solidFill>
                  <a:schemeClr val="tx1"/>
                </a:solidFill>
                <a:latin typeface="Arial" charset="0"/>
                <a:ea typeface="+mn-ea"/>
                <a:cs typeface="+mn-cs"/>
              </a:rPr>
              <a:t> where applicable to post charges, both debit and credit.</a:t>
            </a:r>
            <a:endParaRPr lang="en-US" sz="1200" kern="1200" dirty="0" smtClean="0">
              <a:solidFill>
                <a:schemeClr val="tx1"/>
              </a:solidFill>
              <a:latin typeface="Arial" charset="0"/>
              <a:ea typeface="+mn-ea"/>
              <a:cs typeface="+mn-cs"/>
            </a:endParaRPr>
          </a:p>
          <a:p>
            <a:pPr lvl="0">
              <a:buFont typeface="Arial" pitchFamily="34" charset="0"/>
              <a:buNone/>
            </a:pPr>
            <a:endParaRPr lang="en-US" sz="1200" kern="1200" dirty="0" smtClean="0">
              <a:solidFill>
                <a:schemeClr val="tx1"/>
              </a:solidFill>
              <a:latin typeface="Arial" charset="0"/>
              <a:ea typeface="+mn-ea"/>
              <a:cs typeface="+mn-cs"/>
            </a:endParaRPr>
          </a:p>
          <a:p>
            <a:endParaRPr lang="en-AU"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182</a:t>
            </a:fld>
            <a:endParaRPr lang="en-US" dirty="0"/>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r>
              <a:rPr lang="en-US" b="1" dirty="0" smtClean="0"/>
              <a:t>Activity:</a:t>
            </a:r>
            <a:r>
              <a:rPr lang="en-US" b="1" baseline="0" dirty="0" smtClean="0"/>
              <a:t> Demonstration and explanation</a:t>
            </a:r>
          </a:p>
          <a:p>
            <a:pPr marL="228600" indent="-228600"/>
            <a:endParaRPr lang="en-US" b="1" dirty="0" smtClean="0"/>
          </a:p>
          <a:p>
            <a:pPr marL="228600" indent="-228600"/>
            <a:r>
              <a:rPr lang="en-US" b="0" dirty="0" smtClean="0"/>
              <a:t>Trainer to explain</a:t>
            </a:r>
            <a:r>
              <a:rPr lang="en-US" b="0" baseline="0" dirty="0" smtClean="0"/>
              <a:t> processes and guidelines to accurately process accounts.</a:t>
            </a:r>
          </a:p>
          <a:p>
            <a:pPr marL="228600" indent="-228600"/>
            <a:endParaRPr lang="en-US" b="1" baseline="0" dirty="0" smtClean="0"/>
          </a:p>
          <a:p>
            <a:r>
              <a:rPr lang="en-US" sz="1200" kern="1200" dirty="0" smtClean="0">
                <a:solidFill>
                  <a:schemeClr val="tx1"/>
                </a:solidFill>
                <a:latin typeface="Arial" charset="0"/>
                <a:ea typeface="+mn-ea"/>
                <a:cs typeface="+mn-cs"/>
              </a:rPr>
              <a:t>Trainee,</a:t>
            </a:r>
            <a:r>
              <a:rPr lang="en-US" sz="1200" kern="1200" baseline="0" dirty="0" smtClean="0">
                <a:solidFill>
                  <a:schemeClr val="tx1"/>
                </a:solidFill>
                <a:latin typeface="Arial" charset="0"/>
                <a:ea typeface="+mn-ea"/>
                <a:cs typeface="+mn-cs"/>
              </a:rPr>
              <a:t> where applicable, to practice.</a:t>
            </a:r>
            <a:endParaRPr lang="en-US" sz="1200" kern="1200" dirty="0" smtClean="0">
              <a:solidFill>
                <a:schemeClr val="tx1"/>
              </a:solidFill>
              <a:latin typeface="Arial" charset="0"/>
              <a:ea typeface="+mn-ea"/>
              <a:cs typeface="+mn-cs"/>
            </a:endParaRPr>
          </a:p>
          <a:p>
            <a:pPr lvl="0">
              <a:buFont typeface="Arial" pitchFamily="34" charset="0"/>
              <a:buNone/>
            </a:pPr>
            <a:endParaRPr lang="en-US" sz="1200" kern="1200" dirty="0" smtClean="0">
              <a:solidFill>
                <a:schemeClr val="tx1"/>
              </a:solidFill>
              <a:latin typeface="Arial" charset="0"/>
              <a:ea typeface="+mn-ea"/>
              <a:cs typeface="+mn-cs"/>
            </a:endParaRPr>
          </a:p>
          <a:p>
            <a:endParaRPr lang="en-AU" b="1" dirty="0" smtClean="0"/>
          </a:p>
          <a:p>
            <a:pPr lvl="0">
              <a:buFont typeface="Arial" pitchFamily="34" charset="0"/>
              <a:buNone/>
            </a:pPr>
            <a:endParaRPr lang="en-US" sz="1200" kern="1200" dirty="0" smtClean="0">
              <a:solidFill>
                <a:schemeClr val="tx1"/>
              </a:solidFill>
              <a:latin typeface="Arial" charset="0"/>
              <a:ea typeface="+mn-ea"/>
              <a:cs typeface="+mn-cs"/>
            </a:endParaRPr>
          </a:p>
          <a:p>
            <a:endParaRPr lang="en-AU"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183</a:t>
            </a:fld>
            <a:endParaRPr lang="en-US" dirty="0"/>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r>
              <a:rPr lang="en-US" b="1" dirty="0" smtClean="0"/>
              <a:t>Activity:</a:t>
            </a:r>
            <a:r>
              <a:rPr lang="en-US" b="1" baseline="0" dirty="0" smtClean="0"/>
              <a:t> Demonstration and explanation</a:t>
            </a:r>
          </a:p>
          <a:p>
            <a:pPr marL="228600" indent="-228600"/>
            <a:endParaRPr lang="en-US" b="1" dirty="0" smtClean="0"/>
          </a:p>
          <a:p>
            <a:pPr marL="228600" indent="-228600"/>
            <a:r>
              <a:rPr lang="en-US" b="0" dirty="0" smtClean="0"/>
              <a:t>Trainer to explain</a:t>
            </a:r>
            <a:r>
              <a:rPr lang="en-US" b="0" baseline="0" dirty="0" smtClean="0"/>
              <a:t> the role of cash registers when presenting accounts.</a:t>
            </a:r>
          </a:p>
          <a:p>
            <a:pPr marL="228600" indent="-228600"/>
            <a:endParaRPr lang="en-US" b="1" baseline="0" dirty="0" smtClean="0"/>
          </a:p>
          <a:p>
            <a:r>
              <a:rPr lang="en-US" sz="1200" kern="1200" dirty="0" smtClean="0">
                <a:solidFill>
                  <a:schemeClr val="tx1"/>
                </a:solidFill>
                <a:latin typeface="Arial" charset="0"/>
                <a:ea typeface="+mn-ea"/>
                <a:cs typeface="+mn-cs"/>
              </a:rPr>
              <a:t>Trainee,</a:t>
            </a:r>
            <a:r>
              <a:rPr lang="en-US" sz="1200" kern="1200" baseline="0" dirty="0" smtClean="0">
                <a:solidFill>
                  <a:schemeClr val="tx1"/>
                </a:solidFill>
                <a:latin typeface="Arial" charset="0"/>
                <a:ea typeface="+mn-ea"/>
                <a:cs typeface="+mn-cs"/>
              </a:rPr>
              <a:t> where applicable, to practice.</a:t>
            </a:r>
            <a:endParaRPr lang="en-US" sz="1200" kern="1200" dirty="0" smtClean="0">
              <a:solidFill>
                <a:schemeClr val="tx1"/>
              </a:solidFill>
              <a:latin typeface="Arial" charset="0"/>
              <a:ea typeface="+mn-ea"/>
              <a:cs typeface="+mn-cs"/>
            </a:endParaRPr>
          </a:p>
          <a:p>
            <a:pPr marL="228600" indent="-228600"/>
            <a:endParaRPr lang="en-US" b="1" baseline="0" dirty="0" smtClean="0"/>
          </a:p>
          <a:p>
            <a:pPr marL="228600" indent="-228600"/>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184</a:t>
            </a:fld>
            <a:endParaRPr lang="en-US" dirty="0"/>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r>
              <a:rPr lang="en-US" b="1" dirty="0" smtClean="0"/>
              <a:t>Activity:</a:t>
            </a:r>
            <a:r>
              <a:rPr lang="en-US" b="1" baseline="0" dirty="0" smtClean="0"/>
              <a:t> Demonstration and explanation</a:t>
            </a:r>
          </a:p>
          <a:p>
            <a:pPr marL="228600" indent="-228600"/>
            <a:endParaRPr lang="en-US" b="1" dirty="0" smtClean="0"/>
          </a:p>
          <a:p>
            <a:pPr marL="228600" indent="-228600"/>
            <a:r>
              <a:rPr lang="en-US" b="0" dirty="0" smtClean="0"/>
              <a:t>Trainer to explain</a:t>
            </a:r>
            <a:r>
              <a:rPr lang="en-US" b="0" baseline="0" dirty="0" smtClean="0"/>
              <a:t> the role of account folders when presenting accounts.</a:t>
            </a:r>
          </a:p>
          <a:p>
            <a:pPr marL="228600" indent="-228600"/>
            <a:endParaRPr lang="en-US" b="1" baseline="0" dirty="0" smtClean="0"/>
          </a:p>
          <a:p>
            <a:r>
              <a:rPr lang="en-US" sz="1200" kern="1200" dirty="0" smtClean="0">
                <a:solidFill>
                  <a:schemeClr val="tx1"/>
                </a:solidFill>
                <a:latin typeface="Arial" charset="0"/>
                <a:ea typeface="+mn-ea"/>
                <a:cs typeface="+mn-cs"/>
              </a:rPr>
              <a:t>Trainee,</a:t>
            </a:r>
            <a:r>
              <a:rPr lang="en-US" sz="1200" kern="1200" baseline="0" dirty="0" smtClean="0">
                <a:solidFill>
                  <a:schemeClr val="tx1"/>
                </a:solidFill>
                <a:latin typeface="Arial" charset="0"/>
                <a:ea typeface="+mn-ea"/>
                <a:cs typeface="+mn-cs"/>
              </a:rPr>
              <a:t> where applicable, to practice.</a:t>
            </a:r>
            <a:endParaRPr lang="en-US" sz="1200" kern="1200" dirty="0" smtClean="0">
              <a:solidFill>
                <a:schemeClr val="tx1"/>
              </a:solidFill>
              <a:latin typeface="Arial" charset="0"/>
              <a:ea typeface="+mn-ea"/>
              <a:cs typeface="+mn-cs"/>
            </a:endParaRPr>
          </a:p>
          <a:p>
            <a:pPr marL="228600" indent="-228600"/>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185</a:t>
            </a:fld>
            <a:endParaRPr lang="en-US" dirty="0"/>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identifies the ways in which an account can be paid for:</a:t>
            </a:r>
          </a:p>
          <a:p>
            <a:endParaRPr lang="en-US" b="1" dirty="0" smtClean="0"/>
          </a:p>
          <a:p>
            <a:pPr>
              <a:buFontTx/>
              <a:buChar char="•"/>
            </a:pPr>
            <a:r>
              <a:rPr lang="en-US" dirty="0" smtClean="0"/>
              <a:t>Cash</a:t>
            </a:r>
          </a:p>
          <a:p>
            <a:pPr>
              <a:buFontTx/>
              <a:buChar char="•"/>
            </a:pPr>
            <a:r>
              <a:rPr lang="en-US" dirty="0" smtClean="0"/>
              <a:t>Credit card – manual and electronic</a:t>
            </a:r>
          </a:p>
          <a:p>
            <a:pPr>
              <a:buFontTx/>
              <a:buChar char="•"/>
            </a:pPr>
            <a:r>
              <a:rPr lang="en-US" dirty="0" smtClean="0"/>
              <a:t>Using EFTPOS. Explain EFTPOS</a:t>
            </a:r>
            <a:r>
              <a:rPr lang="en-US" baseline="0" dirty="0" smtClean="0"/>
              <a:t> is ‘Electronic Funds Transfer at Point of Sale’</a:t>
            </a:r>
            <a:endParaRPr lang="en-US" dirty="0" smtClean="0"/>
          </a:p>
          <a:p>
            <a:pPr>
              <a:buFontTx/>
              <a:buChar char="•"/>
            </a:pPr>
            <a:r>
              <a:rPr lang="en-US" dirty="0" smtClean="0"/>
              <a:t>House</a:t>
            </a:r>
            <a:r>
              <a:rPr lang="en-US" baseline="0" dirty="0" smtClean="0"/>
              <a:t>/VIP account</a:t>
            </a:r>
            <a:endParaRPr lang="en-US" dirty="0" smtClean="0"/>
          </a:p>
          <a:p>
            <a:pPr>
              <a:buFontTx/>
              <a:buChar char="•"/>
            </a:pPr>
            <a:r>
              <a:rPr lang="en-US" dirty="0" smtClean="0"/>
              <a:t>Presentation of voucher</a:t>
            </a:r>
          </a:p>
          <a:p>
            <a:pPr>
              <a:buFontTx/>
              <a:buChar char="•"/>
            </a:pPr>
            <a:r>
              <a:rPr lang="en-US" dirty="0" smtClean="0"/>
              <a:t>Payment by check – personal and traveller’s cheque.</a:t>
            </a:r>
          </a:p>
          <a:p>
            <a:pPr>
              <a:buFontTx/>
              <a:buChar char="•"/>
            </a:pPr>
            <a:endParaRPr lang="en-US" dirty="0" smtClean="0"/>
          </a:p>
          <a:p>
            <a:pPr>
              <a:buFontTx/>
              <a:buNone/>
            </a:pPr>
            <a:r>
              <a:rPr lang="en-US" b="1" dirty="0" smtClean="0"/>
              <a:t>Activity –</a:t>
            </a:r>
            <a:r>
              <a:rPr lang="en-US" b="1" baseline="0" dirty="0" smtClean="0"/>
              <a:t> demonstration and practice (relates to next slides)</a:t>
            </a:r>
          </a:p>
          <a:p>
            <a:pPr>
              <a:buFontTx/>
              <a:buNone/>
            </a:pPr>
            <a:endParaRPr lang="en-US" dirty="0" smtClean="0"/>
          </a:p>
          <a:p>
            <a:r>
              <a:rPr lang="en-US" b="0" dirty="0" smtClean="0"/>
              <a:t>Trainer notes these options may vary between properties.</a:t>
            </a:r>
          </a:p>
          <a:p>
            <a:r>
              <a:rPr lang="en-US" b="0" dirty="0" smtClean="0"/>
              <a:t>Trainer demonstrates processing of payment in the simulated restaurant using the above options.</a:t>
            </a:r>
          </a:p>
          <a:p>
            <a:r>
              <a:rPr lang="en-US" b="0" dirty="0" smtClean="0"/>
              <a:t>Trainees practice each processing payments using each listed option</a:t>
            </a:r>
            <a:r>
              <a:rPr lang="en-AU" b="0" dirty="0" smtClean="0"/>
              <a:t> </a:t>
            </a:r>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186</a:t>
            </a:fld>
            <a:endParaRPr lang="en-US" dirty="0"/>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identifies the procedure</a:t>
            </a:r>
            <a:r>
              <a:rPr lang="en-US" b="1" baseline="0" dirty="0" smtClean="0"/>
              <a:t> for accepting cash payments.</a:t>
            </a:r>
            <a:endParaRPr lang="en-US" b="1" dirty="0" smtClean="0"/>
          </a:p>
          <a:p>
            <a:endParaRPr lang="en-US" b="1" dirty="0" smtClean="0"/>
          </a:p>
          <a:p>
            <a:r>
              <a:rPr lang="en-US" sz="1200" kern="1200" dirty="0" smtClean="0">
                <a:solidFill>
                  <a:schemeClr val="tx1"/>
                </a:solidFill>
                <a:latin typeface="Arial" charset="0"/>
                <a:ea typeface="+mn-ea"/>
                <a:cs typeface="+mn-cs"/>
              </a:rPr>
              <a:t>Discuss</a:t>
            </a:r>
            <a:r>
              <a:rPr lang="en-US" sz="1200" kern="1200" baseline="0" dirty="0" smtClean="0">
                <a:solidFill>
                  <a:schemeClr val="tx1"/>
                </a:solidFill>
                <a:latin typeface="Arial" charset="0"/>
                <a:ea typeface="+mn-ea"/>
                <a:cs typeface="+mn-cs"/>
              </a:rPr>
              <a:t>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187</a:t>
            </a:fld>
            <a:endParaRPr lang="en-US" dirty="0"/>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identifies the procedure</a:t>
            </a:r>
            <a:r>
              <a:rPr lang="en-US" b="1" baseline="0" dirty="0" smtClean="0"/>
              <a:t> for accepting payments made by credit card or EFTPOS.</a:t>
            </a:r>
            <a:endParaRPr lang="en-US" b="1" dirty="0" smtClean="0"/>
          </a:p>
          <a:p>
            <a:endParaRPr lang="en-US" b="1" dirty="0" smtClean="0"/>
          </a:p>
          <a:p>
            <a:r>
              <a:rPr lang="en-US" sz="1200" kern="1200" dirty="0" smtClean="0">
                <a:solidFill>
                  <a:schemeClr val="tx1"/>
                </a:solidFill>
                <a:latin typeface="Arial" charset="0"/>
                <a:ea typeface="+mn-ea"/>
                <a:cs typeface="+mn-cs"/>
              </a:rPr>
              <a:t>Discuss</a:t>
            </a:r>
            <a:r>
              <a:rPr lang="en-US" sz="1200" kern="1200" baseline="0" dirty="0" smtClean="0">
                <a:solidFill>
                  <a:schemeClr val="tx1"/>
                </a:solidFill>
                <a:latin typeface="Arial" charset="0"/>
                <a:ea typeface="+mn-ea"/>
                <a:cs typeface="+mn-cs"/>
              </a:rPr>
              <a:t>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188</a:t>
            </a:fld>
            <a:endParaRPr lang="en-US" dirty="0"/>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identifies when customers</a:t>
            </a:r>
            <a:r>
              <a:rPr lang="en-US" b="1" baseline="0" dirty="0" smtClean="0"/>
              <a:t> may charge a house, room or VIP account.</a:t>
            </a:r>
            <a:endParaRPr lang="en-US" b="1" dirty="0" smtClean="0"/>
          </a:p>
          <a:p>
            <a:endParaRPr lang="en-US" b="1" dirty="0" smtClean="0"/>
          </a:p>
          <a:p>
            <a:r>
              <a:rPr lang="en-US" sz="1200" kern="1200" dirty="0" smtClean="0">
                <a:solidFill>
                  <a:schemeClr val="tx1"/>
                </a:solidFill>
                <a:latin typeface="Arial" charset="0"/>
                <a:ea typeface="+mn-ea"/>
                <a:cs typeface="+mn-cs"/>
              </a:rPr>
              <a:t>Discuss points</a:t>
            </a:r>
            <a:r>
              <a:rPr lang="en-US" sz="1200" kern="1200" baseline="0" dirty="0" smtClean="0">
                <a:solidFill>
                  <a:schemeClr val="tx1"/>
                </a:solidFill>
                <a:latin typeface="Arial" charset="0"/>
                <a:ea typeface="+mn-ea"/>
                <a:cs typeface="+mn-cs"/>
              </a:rPr>
              <a:t> and explain the processes used for handling house accounts.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189</a:t>
            </a:fld>
            <a:endParaRPr lang="en-US" dirty="0"/>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identifies when customers</a:t>
            </a:r>
            <a:r>
              <a:rPr lang="en-US" b="1" baseline="0" dirty="0" smtClean="0"/>
              <a:t> present vouchers as a form of account settlement.</a:t>
            </a:r>
            <a:endParaRPr lang="en-US" b="1" dirty="0" smtClean="0"/>
          </a:p>
          <a:p>
            <a:endParaRPr lang="en-US" b="1" dirty="0" smtClean="0"/>
          </a:p>
          <a:p>
            <a:r>
              <a:rPr lang="en-US" sz="1200" kern="1200" dirty="0" smtClean="0">
                <a:solidFill>
                  <a:schemeClr val="tx1"/>
                </a:solidFill>
                <a:latin typeface="Arial" charset="0"/>
                <a:ea typeface="+mn-ea"/>
                <a:cs typeface="+mn-cs"/>
              </a:rPr>
              <a:t>Discuss points</a:t>
            </a:r>
            <a:r>
              <a:rPr lang="en-US" sz="1200" kern="1200" baseline="0" dirty="0" smtClean="0">
                <a:solidFill>
                  <a:schemeClr val="tx1"/>
                </a:solidFill>
                <a:latin typeface="Arial" charset="0"/>
                <a:ea typeface="+mn-ea"/>
                <a:cs typeface="+mn-cs"/>
              </a:rPr>
              <a:t> and explain the processes used for handling vouchers.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190</a:t>
            </a:fld>
            <a:endParaRPr lang="en-US" dirty="0"/>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identifies how tips are handle</a:t>
            </a:r>
            <a:r>
              <a:rPr lang="en-US" b="1" baseline="0" dirty="0" smtClean="0"/>
              <a:t>d and distributed in an outlet.</a:t>
            </a:r>
            <a:endParaRPr lang="en-US"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191</a:t>
            </a:fld>
            <a:endParaRPr lang="en-US" dirty="0"/>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identifies how and demonstrates how to issue change and present receipts.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192</a:t>
            </a:fld>
            <a:endParaRPr lang="en-US" dirty="0"/>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0" dirty="0" smtClean="0"/>
              <a:t>Trainer</a:t>
            </a:r>
            <a:r>
              <a:rPr lang="en-US" b="0" baseline="0" dirty="0" smtClean="0"/>
              <a:t> discusses steps in ‘closing’ the financial records for the day.</a:t>
            </a:r>
          </a:p>
          <a:p>
            <a:pPr>
              <a:buFont typeface="Arial" pitchFamily="34" charset="0"/>
              <a:buChar char="•"/>
            </a:pPr>
            <a:endParaRPr lang="en-US" b="0" baseline="0" dirty="0" smtClean="0"/>
          </a:p>
          <a:p>
            <a:pPr>
              <a:buFont typeface="Arial" pitchFamily="34" charset="0"/>
              <a:buChar char="•"/>
            </a:pPr>
            <a:r>
              <a:rPr lang="en-US" b="0" baseline="0" dirty="0" smtClean="0"/>
              <a:t>What activities are involved?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solidFill>
                  <a:schemeClr val="accent1">
                    <a:lumMod val="75000"/>
                  </a:schemeClr>
                </a:solidFill>
              </a:rPr>
              <a:t>What financial activities are conducted at the end of a shift?</a:t>
            </a:r>
          </a:p>
          <a:p>
            <a:pPr>
              <a:buFont typeface="Arial" pitchFamily="34" charset="0"/>
              <a:buChar cha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193</a:t>
            </a:fld>
            <a:endParaRPr lang="en-US" dirty="0"/>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give an introduction to the concept of ‘reconciling takings’.</a:t>
            </a:r>
            <a:endParaRPr lang="en-US" sz="1200" b="0" baseline="0" dirty="0" smtClean="0"/>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0"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Activity:</a:t>
            </a:r>
            <a:r>
              <a:rPr lang="en-US" b="0" baseline="0" dirty="0" smtClean="0"/>
              <a:t> Discuss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194</a:t>
            </a:fld>
            <a:endParaRPr lang="en-US" dirty="0"/>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explain why securing takings, especially cash is important.</a:t>
            </a:r>
            <a:endParaRPr lang="en-US" sz="1200" b="0" baseline="0" dirty="0" smtClean="0"/>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Ask trainees</a:t>
            </a:r>
            <a:r>
              <a:rPr lang="en-US" sz="1200" kern="1200" baseline="0" dirty="0" smtClean="0">
                <a:solidFill>
                  <a:schemeClr val="tx1"/>
                </a:solidFill>
                <a:latin typeface="Arial" charset="0"/>
                <a:ea typeface="+mn-ea"/>
                <a:cs typeface="+mn-cs"/>
              </a:rPr>
              <a:t> to:</a:t>
            </a:r>
          </a:p>
          <a:p>
            <a:pPr marL="228600" indent="-228600">
              <a:buAutoNum type="alphaLcParenR"/>
            </a:pPr>
            <a:r>
              <a:rPr lang="en-US" sz="1200" kern="1200" baseline="0" dirty="0" smtClean="0">
                <a:solidFill>
                  <a:schemeClr val="tx1"/>
                </a:solidFill>
                <a:latin typeface="Arial" charset="0"/>
                <a:ea typeface="+mn-ea"/>
                <a:cs typeface="+mn-cs"/>
              </a:rPr>
              <a:t>identify the different type of cash and non-cash takings.</a:t>
            </a:r>
          </a:p>
          <a:p>
            <a:pPr marL="228600" indent="-228600">
              <a:buAutoNum type="alphaLcParenR"/>
            </a:pPr>
            <a:r>
              <a:rPr lang="en-US" sz="1200" kern="1200" baseline="0" dirty="0" smtClean="0">
                <a:solidFill>
                  <a:schemeClr val="tx1"/>
                </a:solidFill>
                <a:latin typeface="Arial" charset="0"/>
                <a:ea typeface="+mn-ea"/>
                <a:cs typeface="+mn-cs"/>
              </a:rPr>
              <a:t>try to determine how much cash is taken in a normal shift</a:t>
            </a:r>
          </a:p>
          <a:p>
            <a:pPr marL="228600" indent="-228600">
              <a:buAutoNum type="alphaLcParenR"/>
            </a:pPr>
            <a:r>
              <a:rPr lang="en-US" sz="1200" kern="1200" baseline="0" dirty="0" smtClean="0">
                <a:solidFill>
                  <a:schemeClr val="tx1"/>
                </a:solidFill>
                <a:latin typeface="Arial" charset="0"/>
                <a:ea typeface="+mn-ea"/>
                <a:cs typeface="+mn-cs"/>
              </a:rPr>
              <a:t>what problems arise if cash and non-cash takings are stolen or go missing</a:t>
            </a:r>
            <a:endParaRPr lang="en-US" sz="1200" kern="120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195</a:t>
            </a:fld>
            <a:endParaRPr lang="en-US" dirty="0"/>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explain why securing cash during normal activities is important.</a:t>
            </a:r>
            <a:endParaRPr lang="en-US" sz="1200" b="0" baseline="0" dirty="0" smtClean="0"/>
          </a:p>
          <a:p>
            <a:endParaRPr lang="en-US" sz="1200" b="0" kern="1200" dirty="0" smtClean="0">
              <a:solidFill>
                <a:schemeClr val="tx1"/>
              </a:solidFill>
              <a:latin typeface="Arial" charset="0"/>
              <a:ea typeface="+mn-ea"/>
              <a:cs typeface="+mn-cs"/>
            </a:endParaRPr>
          </a:p>
          <a:p>
            <a:r>
              <a:rPr lang="en-US" sz="1200" b="0" kern="1200" dirty="0" smtClean="0">
                <a:solidFill>
                  <a:schemeClr val="tx1"/>
                </a:solidFill>
                <a:latin typeface="Arial" charset="0"/>
                <a:ea typeface="+mn-ea"/>
                <a:cs typeface="+mn-cs"/>
              </a:rPr>
              <a:t>Discuss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196</a:t>
            </a:fld>
            <a:endParaRPr lang="en-US" dirty="0"/>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explain why securing cash during reconciliations is important.</a:t>
            </a:r>
            <a:endParaRPr lang="en-US" sz="1200" b="0" baseline="0" dirty="0" smtClean="0"/>
          </a:p>
          <a:p>
            <a:endParaRPr lang="en-US" sz="1200" b="0" kern="1200" dirty="0" smtClean="0">
              <a:solidFill>
                <a:schemeClr val="tx1"/>
              </a:solidFill>
              <a:latin typeface="Arial" charset="0"/>
              <a:ea typeface="+mn-ea"/>
              <a:cs typeface="+mn-cs"/>
            </a:endParaRPr>
          </a:p>
          <a:p>
            <a:r>
              <a:rPr lang="en-US" sz="1200" b="0" kern="1200" dirty="0" smtClean="0">
                <a:solidFill>
                  <a:schemeClr val="tx1"/>
                </a:solidFill>
                <a:latin typeface="Arial" charset="0"/>
                <a:ea typeface="+mn-ea"/>
                <a:cs typeface="+mn-cs"/>
              </a:rPr>
              <a:t>Discuss points.</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baseline="0" dirty="0" smtClean="0"/>
              <a:t>Hand out SOP.</a:t>
            </a:r>
          </a:p>
          <a:p>
            <a:endParaRPr lang="en-US" sz="1200" b="0" kern="120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197</a:t>
            </a:fld>
            <a:endParaRPr lang="en-US" dirty="0"/>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Activity:</a:t>
            </a:r>
            <a:r>
              <a:rPr lang="en-US" b="1" baseline="0" dirty="0" smtClean="0"/>
              <a:t> List electrical equipment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baseline="0"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baseline="0" dirty="0" smtClean="0"/>
              <a:t>Get audience to list the different types of electrical equipment used in sales-related activities.</a:t>
            </a:r>
            <a:endParaRPr lang="en-US" b="0" dirty="0" smtClean="0"/>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Activity:</a:t>
            </a:r>
            <a:r>
              <a:rPr lang="en-US" b="1" baseline="0" dirty="0" smtClean="0"/>
              <a:t> Show and demonstrate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show, demonstrate and explain types of electrical equipment used to record transactions and takings.</a:t>
            </a:r>
            <a:endParaRPr lang="en-US" sz="1200" b="0" baseline="0" dirty="0" smtClean="0"/>
          </a:p>
          <a:p>
            <a:endParaRPr lang="en-US" sz="1200" b="0" kern="120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198</a:t>
            </a:fld>
            <a:endParaRPr lang="en-US" dirty="0"/>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dirty="0" smtClean="0">
                <a:solidFill>
                  <a:schemeClr val="tx1"/>
                </a:solidFill>
                <a:latin typeface="Arial" charset="0"/>
                <a:ea typeface="+mn-ea"/>
                <a:cs typeface="+mn-cs"/>
              </a:rPr>
              <a:t>Activity:</a:t>
            </a:r>
            <a:r>
              <a:rPr lang="en-US" sz="1200" b="1" kern="1200" baseline="0" dirty="0" smtClean="0">
                <a:solidFill>
                  <a:schemeClr val="tx1"/>
                </a:solidFill>
                <a:latin typeface="Arial" charset="0"/>
                <a:ea typeface="+mn-ea"/>
                <a:cs typeface="+mn-cs"/>
              </a:rPr>
              <a:t> Discussion</a:t>
            </a:r>
          </a:p>
          <a:p>
            <a:endParaRPr lang="en-US" sz="1200" kern="1200" baseline="0" dirty="0" smtClean="0">
              <a:solidFill>
                <a:schemeClr val="tx1"/>
              </a:solidFill>
              <a:latin typeface="Arial" charset="0"/>
              <a:ea typeface="+mn-ea"/>
              <a:cs typeface="+mn-cs"/>
            </a:endParaRPr>
          </a:p>
          <a:p>
            <a:r>
              <a:rPr lang="en-US" sz="1200" kern="1200" baseline="0" dirty="0" smtClean="0">
                <a:solidFill>
                  <a:schemeClr val="tx1"/>
                </a:solidFill>
                <a:latin typeface="Arial" charset="0"/>
                <a:ea typeface="+mn-ea"/>
                <a:cs typeface="+mn-cs"/>
              </a:rPr>
              <a:t>a) Ask audience the difference between an ‘X’ and ‘Y’ reading?</a:t>
            </a:r>
          </a:p>
          <a:p>
            <a:r>
              <a:rPr lang="en-US" sz="1200" kern="1200" baseline="0" dirty="0" smtClean="0">
                <a:solidFill>
                  <a:schemeClr val="tx1"/>
                </a:solidFill>
                <a:latin typeface="Arial" charset="0"/>
                <a:ea typeface="+mn-ea"/>
                <a:cs typeface="+mn-cs"/>
              </a:rPr>
              <a:t>b) What are they used for?</a:t>
            </a:r>
          </a:p>
          <a:p>
            <a:r>
              <a:rPr lang="en-US" sz="1200" kern="1200" baseline="0" dirty="0" smtClean="0">
                <a:solidFill>
                  <a:schemeClr val="tx1"/>
                </a:solidFill>
                <a:latin typeface="Arial" charset="0"/>
                <a:ea typeface="+mn-ea"/>
                <a:cs typeface="+mn-cs"/>
              </a:rPr>
              <a:t>c) What information do they give you?</a:t>
            </a:r>
          </a:p>
          <a:p>
            <a:r>
              <a:rPr lang="en-US" sz="1200" kern="1200" dirty="0" smtClean="0">
                <a:solidFill>
                  <a:schemeClr val="tx1"/>
                </a:solidFill>
                <a:latin typeface="Arial" charset="0"/>
                <a:ea typeface="+mn-ea"/>
                <a:cs typeface="+mn-cs"/>
              </a:rPr>
              <a:t>d) What systems have the capacity to provide an ‘X’ or a ‘Z’ reading.</a:t>
            </a:r>
            <a:endParaRPr lang="en-US" sz="1200" kern="1200" dirty="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199</a:t>
            </a:fld>
            <a:endParaRPr lang="en-US" dirty="0"/>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Activity:</a:t>
            </a:r>
            <a:r>
              <a:rPr lang="en-US" b="1" baseline="0" dirty="0" smtClean="0"/>
              <a:t> Show and demonstrate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show, demonstrate and explain how to get an ‘X’ reading.</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baseline="0"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baseline="0" dirty="0" smtClean="0"/>
              <a:t>Explain the information contained on an ‘X’ reading to the audience.</a:t>
            </a: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Discuss</a:t>
            </a:r>
            <a:r>
              <a:rPr lang="en-US" sz="1200" kern="1200" baseline="0" dirty="0" smtClean="0">
                <a:solidFill>
                  <a:schemeClr val="tx1"/>
                </a:solidFill>
                <a:latin typeface="Arial" charset="0"/>
                <a:ea typeface="+mn-ea"/>
                <a:cs typeface="+mn-cs"/>
              </a:rPr>
              <a:t> points.</a:t>
            </a:r>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a:t>
            </a:r>
            <a:endParaRPr lang="en-US" sz="1200" kern="1200" dirty="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200</a:t>
            </a:fld>
            <a:endParaRPr lang="en-US" dirty="0"/>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Activity:</a:t>
            </a:r>
            <a:r>
              <a:rPr lang="en-US" b="1" baseline="0" dirty="0" smtClean="0"/>
              <a:t> Show and demonstrate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show, demonstrate and explain how to get an ‘Z’ reading.</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baseline="0"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baseline="0" dirty="0" smtClean="0"/>
              <a:t>Explain the information contained on an ‘Z’ reading to the audience</a:t>
            </a:r>
            <a:endParaRPr lang="en-US" sz="1200" kern="1200" dirty="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201</a:t>
            </a:fld>
            <a:endParaRPr lang="en-US" dirty="0"/>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Activity:</a:t>
            </a:r>
            <a:r>
              <a:rPr lang="en-US" b="1" baseline="0" dirty="0" smtClean="0"/>
              <a:t> Show and demonstrate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show, demonstrate and explain to s</a:t>
            </a:r>
            <a:r>
              <a:rPr lang="en-US" sz="1200" b="0" kern="1200" baseline="0" dirty="0" smtClean="0">
                <a:solidFill>
                  <a:schemeClr val="tx1"/>
                </a:solidFill>
                <a:latin typeface="Arial" charset="0"/>
                <a:ea typeface="+mn-ea"/>
                <a:cs typeface="+mn-cs"/>
              </a:rPr>
              <a:t>eparate the cash float from the takings.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202</a:t>
            </a:fld>
            <a:endParaRPr lang="en-US" dirty="0"/>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Activity:</a:t>
            </a:r>
            <a:r>
              <a:rPr lang="en-US" b="1" baseline="0" dirty="0" smtClean="0"/>
              <a:t> Show and demonstrate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show, demonstrate and explain how to:</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baseline="0" dirty="0" smtClean="0"/>
              <a:t>a) Complete cash float slip</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baseline="0" dirty="0" smtClean="0">
                <a:solidFill>
                  <a:schemeClr val="tx1"/>
                </a:solidFill>
                <a:latin typeface="Arial" charset="0"/>
                <a:ea typeface="+mn-ea"/>
                <a:cs typeface="+mn-cs"/>
              </a:rPr>
              <a:t>b) Secure, carry and sign in cash</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203</a:t>
            </a:fld>
            <a:endParaRPr lang="en-US" dirty="0"/>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Activity:</a:t>
            </a:r>
            <a:r>
              <a:rPr lang="en-US" b="1" baseline="0" dirty="0" smtClean="0"/>
              <a:t> Show and demonstrate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show, demonstrate and explain cash float procedures and recording  actual takings.</a:t>
            </a:r>
            <a:endParaRPr lang="en-US" sz="1200" b="0" kern="1200" baseline="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204</a:t>
            </a:fld>
            <a:endParaRPr lang="en-US" dirty="0"/>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Activity:</a:t>
            </a:r>
            <a:r>
              <a:rPr lang="en-US" b="1" baseline="0" dirty="0" smtClean="0"/>
              <a:t> Show and demonstrate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show, demonstrate and explain how to fill in ‘Cash Summary Sheet’</a:t>
            </a:r>
            <a:endParaRPr lang="en-US" sz="1200" b="0" kern="1200" baseline="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205</a:t>
            </a:fld>
            <a:endParaRPr lang="en-US" dirty="0"/>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Activity:</a:t>
            </a:r>
            <a:r>
              <a:rPr lang="en-US" b="1" baseline="0" dirty="0" smtClean="0"/>
              <a:t> Show and demonstrate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show, demonstrate and explain how to determine cash payments.</a:t>
            </a:r>
            <a:endParaRPr lang="en-US" sz="1200" b="0" kern="1200" baseline="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206</a:t>
            </a:fld>
            <a:endParaRPr lang="en-US" dirty="0"/>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Trainer to</a:t>
            </a:r>
            <a:r>
              <a:rPr lang="en-US" b="1" baseline="0" dirty="0" smtClean="0"/>
              <a:t> explain steps in counting and recording non-cash payments.</a:t>
            </a:r>
            <a:endParaRPr lang="en-US" sz="1200" b="1" baseline="0" dirty="0" smtClean="0"/>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Activity:</a:t>
            </a:r>
            <a:r>
              <a:rPr lang="en-US" b="1" baseline="0" dirty="0" smtClean="0"/>
              <a:t> Show and demonstrate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show, demonstrate and explain different non-cash payments and the procedures to be followed.</a:t>
            </a:r>
            <a:endParaRPr lang="en-US" sz="1200" b="0" kern="1200" baseline="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207</a:t>
            </a:fld>
            <a:endParaRPr lang="en-US" dirty="0"/>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Activity:</a:t>
            </a:r>
            <a:r>
              <a:rPr lang="en-US" b="1" baseline="0" dirty="0" smtClean="0"/>
              <a:t> Show and demonstrate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show, demonstrate and explain how to determine final balance.</a:t>
            </a:r>
            <a:endParaRPr lang="en-US" sz="1200" b="0" kern="1200" baseline="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208</a:t>
            </a:fld>
            <a:endParaRPr lang="en-US" dirty="0"/>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Activity:</a:t>
            </a:r>
            <a:r>
              <a:rPr lang="en-US" b="1" baseline="0" dirty="0" smtClean="0"/>
              <a:t> Show and demonstrate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show, demonstrate and explain how to determine final balance.</a:t>
            </a:r>
            <a:endParaRPr lang="en-US" sz="1200" b="0" kern="1200" baseline="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209</a:t>
            </a:fld>
            <a:endParaRPr lang="en-US" dirty="0"/>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dirty="0" smtClean="0">
                <a:solidFill>
                  <a:schemeClr val="tx1"/>
                </a:solidFill>
                <a:latin typeface="Arial" charset="0"/>
                <a:ea typeface="+mn-ea"/>
                <a:cs typeface="+mn-cs"/>
              </a:rPr>
              <a:t>Trainer to ask attendees why ‘overs’ and ‘unders’ occur.</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Activity:</a:t>
            </a:r>
            <a:r>
              <a:rPr lang="en-US" b="1" baseline="0" dirty="0" smtClean="0"/>
              <a:t> Show and demonstrate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show, demonstrate and explain how to identify discrepancies/variations.</a:t>
            </a:r>
            <a:endParaRPr lang="en-US" sz="1200" b="0" kern="1200" baseline="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210</a:t>
            </a:fld>
            <a:endParaRPr lang="en-US" dirty="0"/>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explain ways to identify variations.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kern="120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Activity:</a:t>
            </a:r>
            <a:r>
              <a:rPr lang="en-US" b="1" baseline="0" dirty="0" smtClean="0"/>
              <a:t> Show and demonstrate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show, demonstrate and explain how to investigate and resolve problems.</a:t>
            </a:r>
            <a:endParaRPr lang="en-US" sz="1200" b="0" kern="1200" baseline="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211</a:t>
            </a:fld>
            <a:endParaRPr lang="en-US" dirty="0"/>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dirty="0" smtClean="0">
                <a:solidFill>
                  <a:schemeClr val="tx1"/>
                </a:solidFill>
                <a:latin typeface="Arial" charset="0"/>
                <a:ea typeface="+mn-ea"/>
                <a:cs typeface="+mn-cs"/>
              </a:rPr>
              <a:t>Activity:</a:t>
            </a:r>
            <a:r>
              <a:rPr lang="en-US" sz="1200" b="1" kern="1200" baseline="0" dirty="0" smtClean="0">
                <a:solidFill>
                  <a:schemeClr val="tx1"/>
                </a:solidFill>
                <a:latin typeface="Arial" charset="0"/>
                <a:ea typeface="+mn-ea"/>
                <a:cs typeface="+mn-cs"/>
              </a:rPr>
              <a:t> Discussion</a:t>
            </a:r>
            <a:endParaRPr lang="en-US" sz="1200" b="1"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pPr marL="228600" indent="-228600">
              <a:buAutoNum type="alphaLcParenR"/>
            </a:pPr>
            <a:r>
              <a:rPr lang="en-US" sz="1200" kern="1200" baseline="0" dirty="0" smtClean="0">
                <a:solidFill>
                  <a:schemeClr val="tx1"/>
                </a:solidFill>
                <a:latin typeface="Arial" charset="0"/>
                <a:ea typeface="+mn-ea"/>
                <a:cs typeface="+mn-cs"/>
              </a:rPr>
              <a:t>What is the process of reporting variations?</a:t>
            </a:r>
          </a:p>
          <a:p>
            <a:pPr marL="228600" indent="-228600">
              <a:buAutoNum type="alphaLcParenR"/>
            </a:pPr>
            <a:r>
              <a:rPr lang="en-US" sz="1200" kern="1200" baseline="0" dirty="0" smtClean="0">
                <a:solidFill>
                  <a:schemeClr val="tx1"/>
                </a:solidFill>
                <a:latin typeface="Arial" charset="0"/>
                <a:ea typeface="+mn-ea"/>
                <a:cs typeface="+mn-cs"/>
              </a:rPr>
              <a:t>Why is it done?</a:t>
            </a:r>
          </a:p>
          <a:p>
            <a:pPr marL="228600" indent="-228600">
              <a:buAutoNum type="alphaLcParenR"/>
            </a:pPr>
            <a:r>
              <a:rPr lang="en-US" sz="1200" kern="1200" baseline="0" dirty="0" smtClean="0">
                <a:solidFill>
                  <a:schemeClr val="tx1"/>
                </a:solidFill>
                <a:latin typeface="Arial" charset="0"/>
                <a:ea typeface="+mn-ea"/>
                <a:cs typeface="+mn-cs"/>
              </a:rPr>
              <a:t>Who do you report variations too?</a:t>
            </a:r>
          </a:p>
          <a:p>
            <a:pPr marL="228600" indent="-228600">
              <a:buAutoNum type="alphaLcParenR"/>
            </a:pPr>
            <a:r>
              <a:rPr lang="en-US" sz="1200" kern="1200" baseline="0" dirty="0" smtClean="0">
                <a:solidFill>
                  <a:schemeClr val="tx1"/>
                </a:solidFill>
                <a:latin typeface="Arial" charset="0"/>
                <a:ea typeface="+mn-ea"/>
                <a:cs typeface="+mn-cs"/>
              </a:rPr>
              <a:t>What happens next if a variation occurs?</a:t>
            </a:r>
            <a:r>
              <a:rPr lang="en-US" sz="1200" kern="1200" dirty="0" smtClean="0">
                <a:solidFill>
                  <a:schemeClr val="tx1"/>
                </a:solidFill>
                <a:latin typeface="Arial" charset="0"/>
                <a:ea typeface="+mn-ea"/>
                <a:cs typeface="+mn-cs"/>
              </a:rPr>
              <a:t> </a:t>
            </a:r>
          </a:p>
          <a:p>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212</a:t>
            </a:fld>
            <a:endParaRPr lang="en-US" dirty="0"/>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Activity:</a:t>
            </a:r>
            <a:r>
              <a:rPr lang="en-US" b="1" baseline="0" dirty="0" smtClean="0"/>
              <a:t> Show and demonstrate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a:t>
            </a:r>
            <a:r>
              <a:rPr lang="en-US" b="0" baseline="0" dirty="0" smtClean="0"/>
              <a:t> show, demonstrate and explain how to complete Daily Takings Sheet.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Demonstration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baseline="0" dirty="0" smtClean="0">
                <a:solidFill>
                  <a:schemeClr val="tx1"/>
                </a:solidFill>
                <a:latin typeface="Arial" charset="0"/>
                <a:ea typeface="+mn-ea"/>
                <a:cs typeface="+mn-cs"/>
              </a:rPr>
              <a:t>Each participant will be required to demonstrate to another group member all the activities associated with completing sales related activities.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baseline="0" dirty="0" smtClean="0">
                <a:solidFill>
                  <a:schemeClr val="tx1"/>
                </a:solidFill>
                <a:latin typeface="Arial" charset="0"/>
                <a:ea typeface="+mn-ea"/>
                <a:cs typeface="+mn-cs"/>
              </a:rPr>
              <a:t>Trainer to ensure there is adequate equipment and documentation and fake ‘money’ to complete activities.</a:t>
            </a:r>
          </a:p>
          <a:p>
            <a:r>
              <a:rPr lang="en-US" sz="1200" kern="1200" dirty="0" smtClean="0">
                <a:solidFill>
                  <a:schemeClr val="tx1"/>
                </a:solidFill>
                <a:latin typeface="Arial" charset="0"/>
                <a:ea typeface="+mn-ea"/>
                <a:cs typeface="+mn-cs"/>
              </a:rPr>
              <a:t> </a:t>
            </a:r>
          </a:p>
          <a:p>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213</a:t>
            </a:fld>
            <a:endParaRPr lang="en-US" dirty="0"/>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Trainer to</a:t>
            </a:r>
            <a:r>
              <a:rPr lang="en-US" b="1" baseline="0" dirty="0" smtClean="0"/>
              <a:t> explain the final steps of transporting, securing and signing off cash and documentation.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0" baseline="0" dirty="0" smtClean="0"/>
          </a:p>
          <a:p>
            <a:r>
              <a:rPr lang="en-US" sz="1200" kern="1200" dirty="0" smtClean="0">
                <a:solidFill>
                  <a:schemeClr val="tx1"/>
                </a:solidFill>
                <a:latin typeface="Arial" charset="0"/>
                <a:ea typeface="+mn-ea"/>
                <a:cs typeface="+mn-cs"/>
              </a:rPr>
              <a:t>In many cases, you are to supervise that the cash and the documentation be stored together in a secure package, which has been signed off by yourself to clearly state when you have ceased control of the package. This package is normally locked to protect its contents.</a:t>
            </a:r>
          </a:p>
          <a:p>
            <a:endParaRPr lang="en-US" sz="1200" kern="1200" dirty="0" smtClean="0">
              <a:solidFill>
                <a:schemeClr val="tx1"/>
              </a:solidFill>
              <a:latin typeface="Arial" charset="0"/>
              <a:ea typeface="+mn-ea"/>
              <a:cs typeface="+mn-cs"/>
            </a:endParaRPr>
          </a:p>
          <a:p>
            <a:pPr lvl="0">
              <a:buFont typeface="Arial" pitchFamily="34" charset="0"/>
              <a:buChar char="•"/>
            </a:pPr>
            <a:r>
              <a:rPr lang="en-US" sz="1200" kern="1200" dirty="0" smtClean="0">
                <a:solidFill>
                  <a:schemeClr val="tx1"/>
                </a:solidFill>
                <a:latin typeface="Arial" charset="0"/>
                <a:ea typeface="+mn-ea"/>
                <a:cs typeface="+mn-cs"/>
              </a:rPr>
              <a:t>Overs and unders are recorded</a:t>
            </a:r>
          </a:p>
          <a:p>
            <a:pPr lvl="0">
              <a:buFont typeface="Arial" pitchFamily="34" charset="0"/>
              <a:buChar char="•"/>
            </a:pPr>
            <a:r>
              <a:rPr lang="en-US" sz="1200" kern="1200" dirty="0" smtClean="0">
                <a:solidFill>
                  <a:schemeClr val="tx1"/>
                </a:solidFill>
                <a:latin typeface="Arial" charset="0"/>
                <a:ea typeface="+mn-ea"/>
                <a:cs typeface="+mn-cs"/>
              </a:rPr>
              <a:t>All sources of revenue from every register are recorded </a:t>
            </a:r>
          </a:p>
          <a:p>
            <a:pPr lvl="0">
              <a:buFont typeface="Arial" pitchFamily="34" charset="0"/>
              <a:buChar char="•"/>
            </a:pPr>
            <a:r>
              <a:rPr lang="en-US" sz="1200" kern="1200" dirty="0" smtClean="0">
                <a:solidFill>
                  <a:schemeClr val="tx1"/>
                </a:solidFill>
                <a:latin typeface="Arial" charset="0"/>
                <a:ea typeface="+mn-ea"/>
                <a:cs typeface="+mn-cs"/>
              </a:rPr>
              <a:t>Your name/signature is added.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214</a:t>
            </a:fld>
            <a:endParaRPr lang="en-US" dirty="0"/>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activities need to be performed at the end of a shift?</a:t>
            </a:r>
          </a:p>
          <a:p>
            <a:pPr>
              <a:buFont typeface="Arial" pitchFamily="34" charset="0"/>
              <a:buChar char="•"/>
            </a:pPr>
            <a:r>
              <a:rPr lang="en-AU" sz="1200" kern="1200" baseline="0" dirty="0" smtClean="0">
                <a:solidFill>
                  <a:schemeClr val="tx1"/>
                </a:solidFill>
                <a:latin typeface="+mn-lt"/>
                <a:ea typeface="+mn-ea"/>
                <a:cs typeface="+mn-cs"/>
              </a:rPr>
              <a:t>Who performs these activities?</a:t>
            </a:r>
          </a:p>
          <a:p>
            <a:pPr>
              <a:buFont typeface="Arial" pitchFamily="34" charset="0"/>
              <a:buChar char="•"/>
            </a:pPr>
            <a:r>
              <a:rPr lang="en-AU" sz="1200" kern="1200" baseline="0" dirty="0" smtClean="0">
                <a:solidFill>
                  <a:schemeClr val="tx1"/>
                </a:solidFill>
                <a:latin typeface="+mn-lt"/>
                <a:ea typeface="+mn-ea"/>
                <a:cs typeface="+mn-cs"/>
              </a:rPr>
              <a:t>What needs to be prepared for the next shift?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215</a:t>
            </a:fld>
            <a:endParaRPr lang="en-US" dirty="0"/>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216</a:t>
            </a:fld>
            <a:endParaRPr lang="en-US" dirty="0"/>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217</a:t>
            </a:fld>
            <a:endParaRPr lang="en-US" dirty="0"/>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Questions and review of Standard Operating procedures (SOPs)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Trainer to discuss the activities associated under each point.</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Review relevant SOPs.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218</a:t>
            </a:fld>
            <a:endParaRPr lang="en-US" dirty="0"/>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Questions and review of SOPs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Trainer to discuss the equipment to be clean and/or stored.</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Review relevant SOPs.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219</a:t>
            </a:fld>
            <a:endParaRPr lang="en-US" dirty="0"/>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Questions and review of SOPs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Trainer to discuss the equipment to be clean and/or stored.</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Review relevant SOPs.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220</a:t>
            </a:fld>
            <a:endParaRPr lang="en-US" dirty="0"/>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Questions and review of SOss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Trainer to discuss the equipment to be clean and/or stored.</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Review relevant SOPs.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221</a:t>
            </a:fld>
            <a:endParaRPr lang="en-US" dirty="0"/>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Questions and review of SOPs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Trainer to discuss the equipment to be stored.</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Review relevant SOPs.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222</a:t>
            </a:fld>
            <a:endParaRPr lang="en-US" dirty="0"/>
          </a:p>
        </p:txBody>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Questions and review of SOPs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Trainer to discuss the equipment to be checked.</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Review relevant SOPs.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223</a:t>
            </a:fld>
            <a:endParaRPr lang="en-US" dirty="0"/>
          </a:p>
        </p:txBody>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Trainer to discuss areas to be cleared and cleaned</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r>
              <a:rPr lang="en-AU" sz="1200" kern="1200" dirty="0" smtClean="0">
                <a:solidFill>
                  <a:schemeClr val="tx1"/>
                </a:solidFill>
                <a:latin typeface="+mn-lt"/>
                <a:ea typeface="+mn-ea"/>
                <a:cs typeface="+mn-cs"/>
              </a:rPr>
              <a:t>Some of those areas may include:</a:t>
            </a:r>
          </a:p>
          <a:p>
            <a:pPr lvl="0">
              <a:buFont typeface="Arial" pitchFamily="34" charset="0"/>
              <a:buChar char="•"/>
            </a:pPr>
            <a:r>
              <a:rPr lang="en-AU" sz="1200" kern="1200" dirty="0" smtClean="0">
                <a:solidFill>
                  <a:schemeClr val="tx1"/>
                </a:solidFill>
                <a:latin typeface="+mn-lt"/>
                <a:ea typeface="+mn-ea"/>
                <a:cs typeface="+mn-cs"/>
              </a:rPr>
              <a:t>Stripping tables – including removal of all table items, and the tablecloth. Part of this process may include checking the seats of chairs to ensure they are clean and tidying the area immediately around each table. In some cases you may be required to put the chairs on the tables to facilitate a full clean of the floor by cleaners</a:t>
            </a:r>
          </a:p>
          <a:p>
            <a:pPr lvl="0">
              <a:buFont typeface="Arial" pitchFamily="34" charset="0"/>
              <a:buChar char="•"/>
            </a:pPr>
            <a:r>
              <a:rPr lang="en-AU" sz="1200" kern="1200" dirty="0" smtClean="0">
                <a:solidFill>
                  <a:schemeClr val="tx1"/>
                </a:solidFill>
                <a:latin typeface="+mn-lt"/>
                <a:ea typeface="+mn-ea"/>
                <a:cs typeface="+mn-cs"/>
              </a:rPr>
              <a:t>Around the coffee machine – where coffee grounds and spillage are common, and there is normally a need to do a general ‘clean and tidy’. Where required, replacements and top-up of items such as coffee, sugar, crockery etc. should occur</a:t>
            </a:r>
          </a:p>
          <a:p>
            <a:pPr lvl="0">
              <a:buFont typeface="Arial" pitchFamily="34" charset="0"/>
              <a:buChar char="•"/>
            </a:pPr>
            <a:r>
              <a:rPr lang="en-AU" sz="1200" kern="1200" dirty="0" smtClean="0">
                <a:solidFill>
                  <a:schemeClr val="tx1"/>
                </a:solidFill>
                <a:latin typeface="+mn-lt"/>
                <a:ea typeface="+mn-ea"/>
                <a:cs typeface="+mn-cs"/>
              </a:rPr>
              <a:t>The waiter’s stations – to clean and replenish supplies</a:t>
            </a:r>
          </a:p>
          <a:p>
            <a:pPr lvl="0">
              <a:buFont typeface="Arial" pitchFamily="34" charset="0"/>
              <a:buChar char="•"/>
            </a:pPr>
            <a:r>
              <a:rPr lang="en-AU" sz="1200" kern="1200" dirty="0" smtClean="0">
                <a:solidFill>
                  <a:schemeClr val="tx1"/>
                </a:solidFill>
                <a:latin typeface="+mn-lt"/>
                <a:ea typeface="+mn-ea"/>
                <a:cs typeface="+mn-cs"/>
              </a:rPr>
              <a:t>Laundry areas – in cases where service staff are responsible for laundering of the dining room/bar linen they may have basic cleaning and tidying responsibilities including checking levels of chemicals and linen supplies</a:t>
            </a:r>
          </a:p>
          <a:p>
            <a:pPr lvl="0">
              <a:buFont typeface="Arial" pitchFamily="34" charset="0"/>
              <a:buChar char="•"/>
            </a:pPr>
            <a:r>
              <a:rPr lang="en-AU" sz="1200" kern="1200" dirty="0" smtClean="0">
                <a:solidFill>
                  <a:schemeClr val="tx1"/>
                </a:solidFill>
                <a:latin typeface="+mn-lt"/>
                <a:ea typeface="+mn-ea"/>
                <a:cs typeface="+mn-cs"/>
              </a:rPr>
              <a:t>Kitchen food service area – the tasks here should be restricted to service-related activities such as refilling condiments, tidying, replacing used items back into this area</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224</a:t>
            </a:fld>
            <a:endParaRPr lang="en-US" dirty="0"/>
          </a:p>
        </p:txBody>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Trainer to discuss SOP relating to clearing and cleaning restrooms.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225</a:t>
            </a:fld>
            <a:endParaRPr lang="en-US" dirty="0"/>
          </a:p>
        </p:txBody>
      </p:sp>
    </p:spTree>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Trainer to discuss SOP relating to clearing and cleaning furniture.</a:t>
            </a:r>
            <a:endParaRPr lang="en-US" sz="1400" kern="1200" baseline="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226</a:t>
            </a:fld>
            <a:endParaRPr lang="en-US" dirty="0"/>
          </a:p>
        </p:txBody>
      </p:sp>
    </p:spTree>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Trainer to discuss SOP relating to clearing and cleaning other items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lvl="0"/>
            <a:r>
              <a:rPr lang="en-AU" sz="3200" dirty="0" smtClean="0"/>
              <a:t>Fixtures and fittings – a check on these should be made which may include:</a:t>
            </a:r>
          </a:p>
          <a:p>
            <a:pPr lvl="1">
              <a:buFont typeface="Arial" pitchFamily="34" charset="0"/>
              <a:buChar char="•"/>
            </a:pPr>
            <a:r>
              <a:rPr lang="en-AU" sz="2800" dirty="0" smtClean="0"/>
              <a:t>Checking for damage</a:t>
            </a:r>
          </a:p>
          <a:p>
            <a:pPr lvl="1">
              <a:buFont typeface="Arial" pitchFamily="34" charset="0"/>
              <a:buChar char="•"/>
            </a:pPr>
            <a:r>
              <a:rPr lang="en-AU" sz="2800" dirty="0" smtClean="0"/>
              <a:t>Watering plants as required</a:t>
            </a:r>
          </a:p>
          <a:p>
            <a:pPr lvl="1">
              <a:buFont typeface="Arial" pitchFamily="34" charset="0"/>
              <a:buChar char="•"/>
            </a:pPr>
            <a:r>
              <a:rPr lang="en-AU" sz="2800" dirty="0" smtClean="0"/>
              <a:t>Clearing papers or rubbish and used glasses etc.</a:t>
            </a:r>
          </a:p>
          <a:p>
            <a:pPr lvl="0">
              <a:buFont typeface="Arial" pitchFamily="34" charset="0"/>
              <a:buChar char="•"/>
            </a:pPr>
            <a:r>
              <a:rPr lang="en-AU" sz="3200" dirty="0" smtClean="0"/>
              <a:t>Windows and doors – spot cleaning as required and checking to ensure they are closed and locked</a:t>
            </a:r>
          </a:p>
          <a:p>
            <a:pPr lvl="0">
              <a:buFont typeface="Arial" pitchFamily="34" charset="0"/>
              <a:buChar char="•"/>
            </a:pPr>
            <a:r>
              <a:rPr lang="en-AU" sz="3200" dirty="0" smtClean="0"/>
              <a:t>All floor areas – picking up loose rubbish and checking to identify areas that require special attention</a:t>
            </a:r>
          </a:p>
          <a:p>
            <a:pPr lvl="0">
              <a:buFont typeface="Arial" pitchFamily="34" charset="0"/>
              <a:buChar char="•"/>
            </a:pPr>
            <a:r>
              <a:rPr lang="en-AU" sz="3200" dirty="0" smtClean="0"/>
              <a:t>Displays – including restocking display items and securing items</a:t>
            </a:r>
          </a:p>
          <a:p>
            <a:pPr lvl="0">
              <a:buFont typeface="Arial" pitchFamily="34" charset="0"/>
              <a:buChar char="•"/>
            </a:pPr>
            <a:r>
              <a:rPr lang="en-AU" sz="3200" dirty="0" smtClean="0"/>
              <a:t>Guest waiting area and reception – spot cleaning and tidying</a:t>
            </a:r>
          </a:p>
          <a:p>
            <a:pPr lvl="0">
              <a:buFont typeface="Arial" pitchFamily="34" charset="0"/>
              <a:buChar char="•"/>
            </a:pPr>
            <a:r>
              <a:rPr lang="en-AU" sz="3200" dirty="0" smtClean="0"/>
              <a:t>Garbage area – removing garbage from internal rubbish bins and replacing bin liners.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400" kern="1200" baseline="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227</a:t>
            </a:fld>
            <a:endParaRPr lang="en-US" dirty="0"/>
          </a:p>
        </p:txBody>
      </p:sp>
    </p:spTree>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Trainer to discuss SOP relating to cleaning and storing cleaning equipment.</a:t>
            </a:r>
            <a:endParaRPr lang="en-US" sz="1400" kern="1200" baseline="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228</a:t>
            </a:fld>
            <a:endParaRPr lang="en-US" dirty="0"/>
          </a:p>
        </p:txBody>
      </p:sp>
    </p:spTree>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Trainer to discuss what needs to be set up for the next shift.</a:t>
            </a:r>
            <a:endParaRPr lang="en-US" sz="1400" kern="1200" baseline="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229</a:t>
            </a:fld>
            <a:endParaRPr lang="en-US" dirty="0"/>
          </a:p>
        </p:txBody>
      </p:sp>
    </p:spTree>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Trainer to discuss what needs to be set up for the next shift in relation to breakfast requirements.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lvl="0">
              <a:buFont typeface="Arial" pitchFamily="34" charset="0"/>
              <a:buChar char="•"/>
            </a:pPr>
            <a:r>
              <a:rPr lang="en-AU" sz="1400" dirty="0" smtClean="0"/>
              <a:t>Re-lay all tables and set covers for a breakfast menu</a:t>
            </a:r>
          </a:p>
          <a:p>
            <a:pPr lvl="0">
              <a:buFont typeface="Arial" pitchFamily="34" charset="0"/>
              <a:buChar char="•"/>
            </a:pPr>
            <a:r>
              <a:rPr lang="en-AU" sz="1400" dirty="0" smtClean="0"/>
              <a:t>Place breakfast menus on tables – or at other designated locations in the room</a:t>
            </a:r>
          </a:p>
          <a:p>
            <a:pPr lvl="0">
              <a:buFont typeface="Arial" pitchFamily="34" charset="0"/>
              <a:buChar char="•"/>
            </a:pPr>
            <a:r>
              <a:rPr lang="en-AU" sz="1400" dirty="0" smtClean="0"/>
              <a:t>Place sealed portion-control condiments (such as sugar, jam and honey) onto service areas or customer tables</a:t>
            </a:r>
          </a:p>
          <a:p>
            <a:pPr lvl="0">
              <a:buFont typeface="Arial" pitchFamily="34" charset="0"/>
              <a:buChar char="•"/>
            </a:pPr>
            <a:r>
              <a:rPr lang="en-AU" sz="1400" dirty="0" smtClean="0"/>
              <a:t>Set up the breakfast buffet - with the appropriate equipment, displays and non-perishable food items such as cereals etc.</a:t>
            </a:r>
          </a:p>
          <a:p>
            <a:pPr lvl="0">
              <a:buFont typeface="Arial" pitchFamily="34" charset="0"/>
              <a:buChar char="•"/>
            </a:pPr>
            <a:r>
              <a:rPr lang="en-AU" sz="1400" dirty="0" smtClean="0"/>
              <a:t>Re-stock refrigerated and non-refrigerated items that will be needed to service the breakfast menu.</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400" kern="1200" baseline="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230</a:t>
            </a:fld>
            <a:endParaRPr lang="en-US" dirty="0"/>
          </a:p>
        </p:txBody>
      </p:sp>
    </p:spTree>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Trainer to discuss what needs to be set up for the next shift in relation to a function.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r>
              <a:rPr lang="en-AU" sz="1200" kern="1200" dirty="0" smtClean="0">
                <a:solidFill>
                  <a:schemeClr val="tx1"/>
                </a:solidFill>
                <a:latin typeface="+mn-lt"/>
                <a:ea typeface="+mn-ea"/>
                <a:cs typeface="+mn-cs"/>
              </a:rPr>
              <a:t>A ‘Function Sheet’ should be used to direct activities which may include a need to:</a:t>
            </a:r>
          </a:p>
          <a:p>
            <a:pPr lvl="0">
              <a:buFont typeface="Arial" pitchFamily="34" charset="0"/>
              <a:buChar char="•"/>
            </a:pPr>
            <a:r>
              <a:rPr lang="en-AU" sz="1200" kern="1200" dirty="0" smtClean="0">
                <a:solidFill>
                  <a:schemeClr val="tx1"/>
                </a:solidFill>
                <a:latin typeface="+mn-lt"/>
                <a:ea typeface="+mn-ea"/>
                <a:cs typeface="+mn-cs"/>
              </a:rPr>
              <a:t>Rearrange all tables and chairs</a:t>
            </a:r>
          </a:p>
          <a:p>
            <a:pPr lvl="0">
              <a:buFont typeface="Arial" pitchFamily="34" charset="0"/>
              <a:buChar char="•"/>
            </a:pPr>
            <a:r>
              <a:rPr lang="en-AU" sz="1200" kern="1200" dirty="0" smtClean="0">
                <a:solidFill>
                  <a:schemeClr val="tx1"/>
                </a:solidFill>
                <a:latin typeface="+mn-lt"/>
                <a:ea typeface="+mn-ea"/>
                <a:cs typeface="+mn-cs"/>
              </a:rPr>
              <a:t>Set covers on tables according to the menu </a:t>
            </a:r>
          </a:p>
          <a:p>
            <a:pPr lvl="0">
              <a:buFont typeface="Arial" pitchFamily="34" charset="0"/>
              <a:buChar char="•"/>
            </a:pPr>
            <a:r>
              <a:rPr lang="en-AU" sz="1200" kern="1200" dirty="0" smtClean="0">
                <a:solidFill>
                  <a:schemeClr val="tx1"/>
                </a:solidFill>
                <a:latin typeface="+mn-lt"/>
                <a:ea typeface="+mn-ea"/>
                <a:cs typeface="+mn-cs"/>
              </a:rPr>
              <a:t>Set up a buffet and equipment needed to service it</a:t>
            </a:r>
          </a:p>
          <a:p>
            <a:pPr lvl="0">
              <a:buFont typeface="Arial" pitchFamily="34" charset="0"/>
              <a:buChar char="•"/>
            </a:pPr>
            <a:r>
              <a:rPr lang="en-AU" sz="1200" kern="1200" dirty="0" smtClean="0">
                <a:solidFill>
                  <a:schemeClr val="tx1"/>
                </a:solidFill>
                <a:latin typeface="+mn-lt"/>
                <a:ea typeface="+mn-ea"/>
                <a:cs typeface="+mn-cs"/>
              </a:rPr>
              <a:t>Stock specific food and beverage items </a:t>
            </a:r>
          </a:p>
          <a:p>
            <a:pPr lvl="0">
              <a:buFont typeface="Arial" pitchFamily="34" charset="0"/>
              <a:buChar char="•"/>
            </a:pPr>
            <a:r>
              <a:rPr lang="en-AU" sz="1200" kern="1200" dirty="0" smtClean="0">
                <a:solidFill>
                  <a:schemeClr val="tx1"/>
                </a:solidFill>
                <a:latin typeface="+mn-lt"/>
                <a:ea typeface="+mn-ea"/>
                <a:cs typeface="+mn-cs"/>
              </a:rPr>
              <a:t>Clear an area for entertainment or displays.</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231</a:t>
            </a:fld>
            <a:endParaRPr lang="en-US" dirty="0"/>
          </a:p>
        </p:txBody>
      </p:sp>
    </p:spTree>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Trainer to discuss what needs to be set up for the next shift in relation to a function.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lvl="0">
              <a:buFont typeface="Arial" pitchFamily="34" charset="0"/>
              <a:buChar char="•"/>
            </a:pPr>
            <a:r>
              <a:rPr lang="en-AU" sz="1200" kern="1200" dirty="0" smtClean="0">
                <a:solidFill>
                  <a:schemeClr val="tx1"/>
                </a:solidFill>
                <a:latin typeface="+mn-lt"/>
                <a:ea typeface="+mn-ea"/>
                <a:cs typeface="+mn-cs"/>
              </a:rPr>
              <a:t>Ensuring safety of premises and furniture, equipment etc.</a:t>
            </a:r>
          </a:p>
          <a:p>
            <a:pPr lvl="0">
              <a:buFont typeface="Arial" pitchFamily="34" charset="0"/>
              <a:buChar char="•"/>
            </a:pPr>
            <a:r>
              <a:rPr lang="en-AU" sz="1200" kern="1200" dirty="0" smtClean="0">
                <a:solidFill>
                  <a:schemeClr val="tx1"/>
                </a:solidFill>
                <a:latin typeface="+mn-lt"/>
                <a:ea typeface="+mn-ea"/>
                <a:cs typeface="+mn-cs"/>
              </a:rPr>
              <a:t>Preserving food safety</a:t>
            </a:r>
          </a:p>
          <a:p>
            <a:pPr lvl="0">
              <a:buFont typeface="Arial" pitchFamily="34" charset="0"/>
              <a:buChar char="•"/>
            </a:pPr>
            <a:r>
              <a:rPr lang="en-AU" sz="1200" kern="1200" dirty="0" smtClean="0">
                <a:solidFill>
                  <a:schemeClr val="tx1"/>
                </a:solidFill>
                <a:latin typeface="+mn-lt"/>
                <a:ea typeface="+mn-ea"/>
                <a:cs typeface="+mn-cs"/>
              </a:rPr>
              <a:t>Ensuring security of the premises during set up.</a:t>
            </a:r>
            <a:r>
              <a:rPr lang="en-AU" sz="1200" kern="1200" baseline="0" dirty="0" smtClean="0">
                <a:solidFill>
                  <a:schemeClr val="tx1"/>
                </a:solidFill>
                <a:latin typeface="+mn-lt"/>
                <a:ea typeface="+mn-ea"/>
                <a:cs typeface="+mn-cs"/>
              </a:rPr>
              <a:t> M</a:t>
            </a:r>
            <a:r>
              <a:rPr lang="en-AU" sz="1200" kern="1200" dirty="0" smtClean="0">
                <a:solidFill>
                  <a:schemeClr val="tx1"/>
                </a:solidFill>
                <a:latin typeface="+mn-lt"/>
                <a:ea typeface="+mn-ea"/>
                <a:cs typeface="+mn-cs"/>
              </a:rPr>
              <a:t>ost premises are closed to the public during these preparation times but need to open as required to allow access by suppliers to the area. This need for access obviously has the potential to jeopardise security so special attention needs to be paid to security at these times</a:t>
            </a:r>
          </a:p>
          <a:p>
            <a:pPr lvl="0">
              <a:buFont typeface="Arial" pitchFamily="34" charset="0"/>
              <a:buChar char="•"/>
            </a:pPr>
            <a:r>
              <a:rPr lang="en-AU" sz="1200" kern="1200" dirty="0" smtClean="0">
                <a:solidFill>
                  <a:schemeClr val="tx1"/>
                </a:solidFill>
                <a:latin typeface="+mn-lt"/>
                <a:ea typeface="+mn-ea"/>
                <a:cs typeface="+mn-cs"/>
              </a:rPr>
              <a:t>Following identified sequences for room preparation .</a:t>
            </a:r>
            <a:r>
              <a:rPr lang="en-AU" sz="1200" kern="1200" baseline="0" dirty="0" smtClean="0">
                <a:solidFill>
                  <a:schemeClr val="tx1"/>
                </a:solidFill>
                <a:latin typeface="+mn-lt"/>
                <a:ea typeface="+mn-ea"/>
                <a:cs typeface="+mn-cs"/>
              </a:rPr>
              <a:t> P</a:t>
            </a:r>
            <a:r>
              <a:rPr lang="en-AU" sz="1200" kern="1200" dirty="0" smtClean="0">
                <a:solidFill>
                  <a:schemeClr val="tx1"/>
                </a:solidFill>
                <a:latin typeface="+mn-lt"/>
                <a:ea typeface="+mn-ea"/>
                <a:cs typeface="+mn-cs"/>
              </a:rPr>
              <a:t>roperties will normally have a staged way of setting up a room so following the identified procedures is a necessity</a:t>
            </a:r>
          </a:p>
          <a:p>
            <a:pPr lvl="0">
              <a:buFont typeface="Arial" pitchFamily="34" charset="0"/>
              <a:buChar char="•"/>
            </a:pPr>
            <a:r>
              <a:rPr lang="en-AU" sz="1200" kern="1200" dirty="0" smtClean="0">
                <a:solidFill>
                  <a:schemeClr val="tx1"/>
                </a:solidFill>
                <a:latin typeface="+mn-lt"/>
                <a:ea typeface="+mn-ea"/>
                <a:cs typeface="+mn-cs"/>
              </a:rPr>
              <a:t>Communicating with others to integrate total property needs</a:t>
            </a:r>
          </a:p>
          <a:p>
            <a:pPr lvl="0">
              <a:buFont typeface="Arial" pitchFamily="34" charset="0"/>
              <a:buChar char="•"/>
            </a:pPr>
            <a:r>
              <a:rPr lang="en-AU" sz="1200" kern="1200" dirty="0" smtClean="0">
                <a:solidFill>
                  <a:schemeClr val="tx1"/>
                </a:solidFill>
                <a:latin typeface="+mn-lt"/>
                <a:ea typeface="+mn-ea"/>
                <a:cs typeface="+mn-cs"/>
              </a:rPr>
              <a:t>Completing necessary documentation such as requisitions forms, ‘change required’ slips, maintenance requests etc.</a:t>
            </a:r>
          </a:p>
          <a:p>
            <a:pPr>
              <a:buFont typeface="Arial" pitchFamily="34" charset="0"/>
              <a:buChar char="•"/>
            </a:pPr>
            <a:r>
              <a:rPr lang="en-AU" sz="1200" kern="1200" dirty="0" smtClean="0">
                <a:solidFill>
                  <a:schemeClr val="tx1"/>
                </a:solidFill>
                <a:latin typeface="+mn-lt"/>
                <a:ea typeface="+mn-ea"/>
                <a:cs typeface="+mn-cs"/>
              </a:rPr>
              <a:t>Adhering to imposed labour budget restrictions such as making sure that certain staff knock off when required as opposed to dragging out their work time to gain extra pay.</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232</a:t>
            </a:fld>
            <a:endParaRPr lang="en-US" dirty="0"/>
          </a:p>
        </p:txBody>
      </p:sp>
    </p:spTree>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Discussion and questions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Trainer to discuss importance of a review session/debrief session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lvl="0">
              <a:buFont typeface="Arial" pitchFamily="34" charset="0"/>
              <a:buChar char="•"/>
            </a:pPr>
            <a:r>
              <a:rPr lang="en-AU" sz="1200" kern="1200" dirty="0" smtClean="0">
                <a:solidFill>
                  <a:schemeClr val="tx1"/>
                </a:solidFill>
                <a:latin typeface="+mn-lt"/>
                <a:ea typeface="+mn-ea"/>
                <a:cs typeface="+mn-cs"/>
              </a:rPr>
              <a:t>What is the purpose of an evaluation session?</a:t>
            </a:r>
          </a:p>
          <a:p>
            <a:pPr lvl="0">
              <a:buFont typeface="Arial" pitchFamily="34" charset="0"/>
              <a:buChar char="•"/>
            </a:pPr>
            <a:r>
              <a:rPr lang="en-AU" sz="1200" kern="1200" dirty="0" smtClean="0">
                <a:solidFill>
                  <a:schemeClr val="tx1"/>
                </a:solidFill>
                <a:latin typeface="+mn-lt"/>
                <a:ea typeface="+mn-ea"/>
                <a:cs typeface="+mn-cs"/>
              </a:rPr>
              <a:t>Who</a:t>
            </a:r>
            <a:r>
              <a:rPr lang="en-AU" sz="1200" kern="1200" baseline="0" dirty="0" smtClean="0">
                <a:solidFill>
                  <a:schemeClr val="tx1"/>
                </a:solidFill>
                <a:latin typeface="+mn-lt"/>
                <a:ea typeface="+mn-ea"/>
                <a:cs typeface="+mn-cs"/>
              </a:rPr>
              <a:t> is involved?</a:t>
            </a:r>
            <a:endParaRPr lang="en-AU" sz="1200" kern="1200" dirty="0" smtClean="0">
              <a:solidFill>
                <a:schemeClr val="tx1"/>
              </a:solidFill>
              <a:latin typeface="+mn-lt"/>
              <a:ea typeface="+mn-ea"/>
              <a:cs typeface="+mn-cs"/>
            </a:endParaRPr>
          </a:p>
          <a:p>
            <a:pPr lvl="0">
              <a:buFont typeface="Arial" pitchFamily="34" charset="0"/>
              <a:buChar char="•"/>
            </a:pPr>
            <a:r>
              <a:rPr lang="en-AU" sz="1200" kern="1200" dirty="0" smtClean="0">
                <a:solidFill>
                  <a:schemeClr val="tx1"/>
                </a:solidFill>
                <a:latin typeface="+mn-lt"/>
                <a:ea typeface="+mn-ea"/>
                <a:cs typeface="+mn-cs"/>
              </a:rPr>
              <a:t>When is</a:t>
            </a:r>
            <a:r>
              <a:rPr lang="en-AU" sz="1200" kern="1200" baseline="0" dirty="0" smtClean="0">
                <a:solidFill>
                  <a:schemeClr val="tx1"/>
                </a:solidFill>
                <a:latin typeface="+mn-lt"/>
                <a:ea typeface="+mn-ea"/>
                <a:cs typeface="+mn-cs"/>
              </a:rPr>
              <a:t> it conducted?</a:t>
            </a:r>
          </a:p>
          <a:p>
            <a:pPr lvl="0">
              <a:buFont typeface="Arial" pitchFamily="34" charset="0"/>
              <a:buChar char="•"/>
            </a:pPr>
            <a:r>
              <a:rPr lang="en-AU" sz="1200" kern="1200" baseline="0" dirty="0" smtClean="0">
                <a:solidFill>
                  <a:schemeClr val="tx1"/>
                </a:solidFill>
                <a:latin typeface="+mn-lt"/>
                <a:ea typeface="+mn-ea"/>
                <a:cs typeface="+mn-cs"/>
              </a:rPr>
              <a:t>What should be discussed?</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233</a:t>
            </a:fld>
            <a:endParaRPr lang="en-US" dirty="0"/>
          </a:p>
        </p:txBody>
      </p:sp>
    </p:spTree>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Discussion and questions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Trainer to discuss importance of a review session/debrief session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lvl="0">
              <a:buFont typeface="Arial" pitchFamily="34" charset="0"/>
              <a:buChar char="•"/>
            </a:pPr>
            <a:r>
              <a:rPr lang="en-AU" sz="1200" kern="1200" dirty="0" smtClean="0">
                <a:solidFill>
                  <a:schemeClr val="tx1"/>
                </a:solidFill>
                <a:latin typeface="+mn-lt"/>
                <a:ea typeface="+mn-ea"/>
                <a:cs typeface="+mn-cs"/>
              </a:rPr>
              <a:t>What is the purpose of an evaluation session?</a:t>
            </a:r>
          </a:p>
          <a:p>
            <a:pPr lvl="0">
              <a:buFont typeface="Arial" pitchFamily="34" charset="0"/>
              <a:buChar char="•"/>
            </a:pPr>
            <a:r>
              <a:rPr lang="en-AU" sz="1200" kern="1200" dirty="0" smtClean="0">
                <a:solidFill>
                  <a:schemeClr val="tx1"/>
                </a:solidFill>
                <a:latin typeface="+mn-lt"/>
                <a:ea typeface="+mn-ea"/>
                <a:cs typeface="+mn-cs"/>
              </a:rPr>
              <a:t>Who</a:t>
            </a:r>
            <a:r>
              <a:rPr lang="en-AU" sz="1200" kern="1200" baseline="0" dirty="0" smtClean="0">
                <a:solidFill>
                  <a:schemeClr val="tx1"/>
                </a:solidFill>
                <a:latin typeface="+mn-lt"/>
                <a:ea typeface="+mn-ea"/>
                <a:cs typeface="+mn-cs"/>
              </a:rPr>
              <a:t> is involved?</a:t>
            </a:r>
            <a:endParaRPr lang="en-AU" sz="1200" kern="1200" dirty="0" smtClean="0">
              <a:solidFill>
                <a:schemeClr val="tx1"/>
              </a:solidFill>
              <a:latin typeface="+mn-lt"/>
              <a:ea typeface="+mn-ea"/>
              <a:cs typeface="+mn-cs"/>
            </a:endParaRPr>
          </a:p>
          <a:p>
            <a:pPr lvl="0">
              <a:buFont typeface="Arial" pitchFamily="34" charset="0"/>
              <a:buChar char="•"/>
            </a:pPr>
            <a:r>
              <a:rPr lang="en-AU" sz="1200" kern="1200" dirty="0" smtClean="0">
                <a:solidFill>
                  <a:schemeClr val="tx1"/>
                </a:solidFill>
                <a:latin typeface="+mn-lt"/>
                <a:ea typeface="+mn-ea"/>
                <a:cs typeface="+mn-cs"/>
              </a:rPr>
              <a:t>When is</a:t>
            </a:r>
            <a:r>
              <a:rPr lang="en-AU" sz="1200" kern="1200" baseline="0" dirty="0" smtClean="0">
                <a:solidFill>
                  <a:schemeClr val="tx1"/>
                </a:solidFill>
                <a:latin typeface="+mn-lt"/>
                <a:ea typeface="+mn-ea"/>
                <a:cs typeface="+mn-cs"/>
              </a:rPr>
              <a:t> it conducted?</a:t>
            </a:r>
          </a:p>
          <a:p>
            <a:pPr lvl="0">
              <a:buFont typeface="Arial" pitchFamily="34" charset="0"/>
              <a:buChar char="•"/>
            </a:pPr>
            <a:r>
              <a:rPr lang="en-AU" sz="1200" kern="1200" baseline="0" dirty="0" smtClean="0">
                <a:solidFill>
                  <a:schemeClr val="tx1"/>
                </a:solidFill>
                <a:latin typeface="+mn-lt"/>
                <a:ea typeface="+mn-ea"/>
                <a:cs typeface="+mn-cs"/>
              </a:rPr>
              <a:t>What should be discussed?</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234</a:t>
            </a:fld>
            <a:endParaRPr lang="en-US" dirty="0"/>
          </a:p>
        </p:txBody>
      </p:sp>
    </p:spTree>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Arial" charset="0"/>
                <a:ea typeface="+mn-ea"/>
                <a:cs typeface="+mn-cs"/>
              </a:rPr>
              <a:t>Activity: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Arial" charset="0"/>
                <a:ea typeface="+mn-ea"/>
                <a:cs typeface="+mn-cs"/>
              </a:rPr>
              <a:t>Trainer to discuss importance of a review session/debrief session.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235</a:t>
            </a:fld>
            <a:endParaRPr lang="en-US" dirty="0"/>
          </a:p>
        </p:txBody>
      </p:sp>
    </p:spTree>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asks the audience regarding the concept</a:t>
            </a:r>
            <a:r>
              <a:rPr lang="en-US" b="1" baseline="0" dirty="0" smtClean="0"/>
              <a:t> of a ‘handover’.</a:t>
            </a:r>
            <a:endParaRPr lang="en-US" b="1" dirty="0" smtClean="0"/>
          </a:p>
          <a:p>
            <a:endParaRPr lang="en-US" dirty="0" smtClean="0"/>
          </a:p>
          <a:p>
            <a:r>
              <a:rPr lang="en-US" dirty="0" smtClean="0"/>
              <a:t>The</a:t>
            </a:r>
            <a:r>
              <a:rPr lang="en-US" baseline="0" dirty="0" smtClean="0"/>
              <a:t> trainer should ask the audience for generic feedback to help stimulate discussion.</a:t>
            </a:r>
          </a:p>
          <a:p>
            <a:endParaRPr lang="en-US" baseline="0" dirty="0" smtClean="0"/>
          </a:p>
          <a:p>
            <a:r>
              <a:rPr lang="en-US" baseline="0" dirty="0" smtClean="0"/>
              <a:t>Write answers down.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236</a:t>
            </a:fld>
            <a:endParaRPr lang="en-US" dirty="0"/>
          </a:p>
        </p:txBody>
      </p:sp>
    </p:spTree>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Trainer to</a:t>
            </a:r>
            <a:r>
              <a:rPr lang="en-US" b="1" baseline="0" dirty="0" smtClean="0"/>
              <a:t> explain the purpose of a handover.</a:t>
            </a:r>
            <a:endParaRPr lang="en-AU" sz="1200" b="1" dirty="0" smtClean="0">
              <a:solidFill>
                <a:schemeClr val="accent1">
                  <a:lumMod val="75000"/>
                </a:schemeClr>
              </a:solidFill>
            </a:endParaRPr>
          </a:p>
          <a:p>
            <a:endParaRPr lang="en-US" sz="1200" kern="1200" dirty="0" smtClean="0">
              <a:solidFill>
                <a:schemeClr val="tx1"/>
              </a:solidFill>
              <a:latin typeface="Arial"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Activity:</a:t>
            </a:r>
            <a:r>
              <a:rPr lang="en-US" b="1" baseline="0" dirty="0" smtClean="0"/>
              <a:t>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baseline="0" dirty="0" smtClean="0"/>
          </a:p>
          <a:p>
            <a:pPr marL="228600" marR="0" lvl="0" indent="-228600" algn="l" defTabSz="914400" rtl="0" eaLnBrk="1" fontAlgn="base" latinLnBrk="0" hangingPunct="1">
              <a:lnSpc>
                <a:spcPct val="100000"/>
              </a:lnSpc>
              <a:spcBef>
                <a:spcPct val="30000"/>
              </a:spcBef>
              <a:spcAft>
                <a:spcPct val="0"/>
              </a:spcAft>
              <a:buClrTx/>
              <a:buSzTx/>
              <a:buFontTx/>
              <a:buAutoNum type="alphaLcParenR"/>
              <a:tabLst/>
              <a:defRPr/>
            </a:pPr>
            <a:r>
              <a:rPr lang="en-US" b="0" baseline="0" dirty="0" smtClean="0"/>
              <a:t>What is the purpose of a handover?</a:t>
            </a:r>
          </a:p>
          <a:p>
            <a:pPr marL="228600" marR="0" lvl="0" indent="-228600" algn="l" defTabSz="914400" rtl="0" eaLnBrk="1" fontAlgn="base" latinLnBrk="0" hangingPunct="1">
              <a:lnSpc>
                <a:spcPct val="100000"/>
              </a:lnSpc>
              <a:spcBef>
                <a:spcPct val="30000"/>
              </a:spcBef>
              <a:spcAft>
                <a:spcPct val="0"/>
              </a:spcAft>
              <a:buClrTx/>
              <a:buSzTx/>
              <a:buFontTx/>
              <a:buAutoNum type="alphaLcParenR"/>
              <a:tabLst/>
              <a:defRPr/>
            </a:pPr>
            <a:r>
              <a:rPr lang="en-US" b="0" baseline="0" dirty="0" smtClean="0"/>
              <a:t>Who participates in a handover?</a:t>
            </a:r>
          </a:p>
          <a:p>
            <a:pPr marL="228600" marR="0" lvl="0" indent="-228600" algn="l" defTabSz="914400" rtl="0" eaLnBrk="1" fontAlgn="base" latinLnBrk="0" hangingPunct="1">
              <a:lnSpc>
                <a:spcPct val="100000"/>
              </a:lnSpc>
              <a:spcBef>
                <a:spcPct val="30000"/>
              </a:spcBef>
              <a:spcAft>
                <a:spcPct val="0"/>
              </a:spcAft>
              <a:buClrTx/>
              <a:buSzTx/>
              <a:buFontTx/>
              <a:buAutoNum type="alphaLcParenR"/>
              <a:tabLst/>
              <a:defRPr/>
            </a:pPr>
            <a:r>
              <a:rPr lang="en-US" b="0" baseline="0" dirty="0" smtClean="0"/>
              <a:t>What information is communicated in a handover?</a:t>
            </a:r>
            <a:endParaRPr lang="en-US" b="0" dirty="0" smtClean="0"/>
          </a:p>
          <a:p>
            <a:endParaRPr lang="en-US" sz="1200" kern="120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237</a:t>
            </a:fld>
            <a:endParaRPr lang="en-US" dirty="0"/>
          </a:p>
        </p:txBody>
      </p:sp>
    </p:spTree>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Trainer to</a:t>
            </a:r>
            <a:r>
              <a:rPr lang="en-US" b="1" baseline="0" dirty="0" smtClean="0"/>
              <a:t> explain the importance of sharing information at a handover.</a:t>
            </a:r>
            <a:endParaRPr lang="en-AU" sz="1200" b="1" dirty="0" smtClean="0">
              <a:solidFill>
                <a:schemeClr val="accent1">
                  <a:lumMod val="75000"/>
                </a:schemeClr>
              </a:solidFill>
            </a:endParaRPr>
          </a:p>
          <a:p>
            <a:endParaRPr lang="en-US" sz="1200" kern="1200" dirty="0" smtClean="0">
              <a:solidFill>
                <a:schemeClr val="tx1"/>
              </a:solidFill>
              <a:latin typeface="Arial"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238</a:t>
            </a:fld>
            <a:endParaRPr lang="en-US" dirty="0"/>
          </a:p>
        </p:txBody>
      </p:sp>
    </p:spTree>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This</a:t>
            </a:r>
            <a:r>
              <a:rPr lang="en-AU" sz="1200" kern="1200" baseline="0" dirty="0" smtClean="0">
                <a:solidFill>
                  <a:schemeClr val="tx1"/>
                </a:solidFill>
                <a:latin typeface="+mn-lt"/>
                <a:ea typeface="+mn-ea"/>
                <a:cs typeface="+mn-cs"/>
              </a:rPr>
              <a:t> is the conclusion of the subject.</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Thank the audience and deliver assessments as required.</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1/26/2014</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1/26/2014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1/26/2014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1/26/2014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1/26/2014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1/26/2014</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1/26/2014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1/26/2014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1/26/2014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1/26/2014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1/26/2014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1/26/2014</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57.jpeg"/></Relationships>
</file>

<file path=ppt/slides/_rels/slide57.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53.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54.jpe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64.wmf"/><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65.jpe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67.jpe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68.jpe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69.jpe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70.jpe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72.jpeg"/><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73.jpeg"/><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74.jpe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75.jpeg"/><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176.jpeg"/><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177.jpeg"/><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178.jpeg"/><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179.jpeg"/><Relationship Id="rId2" Type="http://schemas.openxmlformats.org/officeDocument/2006/relationships/notesSlide" Target="../notesSlides/notesSlide186.xml"/><Relationship Id="rId1" Type="http://schemas.openxmlformats.org/officeDocument/2006/relationships/slideLayout" Target="../slideLayouts/slideLayout2.xml"/><Relationship Id="rId5" Type="http://schemas.openxmlformats.org/officeDocument/2006/relationships/image" Target="../media/image181.jpeg"/><Relationship Id="rId4" Type="http://schemas.openxmlformats.org/officeDocument/2006/relationships/image" Target="../media/image180.jpeg"/></Relationships>
</file>

<file path=ppt/slides/_rels/slide187.xml.rels><?xml version="1.0" encoding="UTF-8" standalone="yes"?>
<Relationships xmlns="http://schemas.openxmlformats.org/package/2006/relationships"><Relationship Id="rId3" Type="http://schemas.openxmlformats.org/officeDocument/2006/relationships/image" Target="../media/image182.jpeg"/><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183.jpeg"/><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84.jpeg"/><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185.jpeg"/><Relationship Id="rId2" Type="http://schemas.openxmlformats.org/officeDocument/2006/relationships/notesSlide" Target="../notesSlides/notesSlide190.xml"/><Relationship Id="rId1" Type="http://schemas.openxmlformats.org/officeDocument/2006/relationships/slideLayout" Target="../slideLayouts/slideLayout2.xml"/><Relationship Id="rId4" Type="http://schemas.openxmlformats.org/officeDocument/2006/relationships/image" Target="../media/image186.jpeg"/></Relationships>
</file>

<file path=ppt/slides/_rels/slide191.xml.rels><?xml version="1.0" encoding="UTF-8" standalone="yes"?>
<Relationships xmlns="http://schemas.openxmlformats.org/package/2006/relationships"><Relationship Id="rId3" Type="http://schemas.openxmlformats.org/officeDocument/2006/relationships/image" Target="../media/image187.jpeg"/><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188.jpeg"/><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189.jpeg"/><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190.jpeg"/><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191.jpeg"/><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media/image192.jpeg"/><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193.jpeg"/><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194.jpeg"/><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195.jpeg"/><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196.jpeg"/><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3" Type="http://schemas.openxmlformats.org/officeDocument/2006/relationships/image" Target="../media/image196.jpeg"/><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175.jpeg"/><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image" Target="../media/image197.gif"/><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3" Type="http://schemas.openxmlformats.org/officeDocument/2006/relationships/image" Target="../media/image198.jpeg"/><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3" Type="http://schemas.openxmlformats.org/officeDocument/2006/relationships/image" Target="../media/image199.jpeg"/><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image" Target="../media/image200.jpeg"/><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image" Target="../media/image202.jpeg"/><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203.jpeg"/><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image" Target="../media/image204.jpeg"/><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3" Type="http://schemas.openxmlformats.org/officeDocument/2006/relationships/image" Target="../media/image205.jpeg"/><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3" Type="http://schemas.openxmlformats.org/officeDocument/2006/relationships/image" Target="../media/image206.jpeg"/><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3" Type="http://schemas.openxmlformats.org/officeDocument/2006/relationships/image" Target="../media/image207.jpeg"/><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3" Type="http://schemas.openxmlformats.org/officeDocument/2006/relationships/image" Target="../media/image208.jpeg"/><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3" Type="http://schemas.openxmlformats.org/officeDocument/2006/relationships/image" Target="../media/image209.jpeg"/><Relationship Id="rId2" Type="http://schemas.openxmlformats.org/officeDocument/2006/relationships/notesSlide" Target="../notesSlides/notesSlide215.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image" Target="../media/image210.jpeg"/><Relationship Id="rId2" Type="http://schemas.openxmlformats.org/officeDocument/2006/relationships/notesSlide" Target="../notesSlides/notesSlide216.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3" Type="http://schemas.openxmlformats.org/officeDocument/2006/relationships/image" Target="../media/image211.jpeg"/><Relationship Id="rId2" Type="http://schemas.openxmlformats.org/officeDocument/2006/relationships/notesSlide" Target="../notesSlides/notesSlide217.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3" Type="http://schemas.openxmlformats.org/officeDocument/2006/relationships/image" Target="../media/image212.jpeg"/><Relationship Id="rId2" Type="http://schemas.openxmlformats.org/officeDocument/2006/relationships/notesSlide" Target="../notesSlides/notesSlide218.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3" Type="http://schemas.openxmlformats.org/officeDocument/2006/relationships/image" Target="../media/image213.jpeg"/><Relationship Id="rId2" Type="http://schemas.openxmlformats.org/officeDocument/2006/relationships/notesSlide" Target="../notesSlides/notesSlide219.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3" Type="http://schemas.openxmlformats.org/officeDocument/2006/relationships/image" Target="../media/image214.jpeg"/><Relationship Id="rId2" Type="http://schemas.openxmlformats.org/officeDocument/2006/relationships/notesSlide" Target="../notesSlides/notesSlide220.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3" Type="http://schemas.openxmlformats.org/officeDocument/2006/relationships/image" Target="../media/image215.jpeg"/><Relationship Id="rId2" Type="http://schemas.openxmlformats.org/officeDocument/2006/relationships/notesSlide" Target="../notesSlides/notesSlide221.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3" Type="http://schemas.openxmlformats.org/officeDocument/2006/relationships/image" Target="../media/image216.jpeg"/><Relationship Id="rId2" Type="http://schemas.openxmlformats.org/officeDocument/2006/relationships/notesSlide" Target="../notesSlides/notesSlide222.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3" Type="http://schemas.openxmlformats.org/officeDocument/2006/relationships/image" Target="../media/image217.jpeg"/><Relationship Id="rId2" Type="http://schemas.openxmlformats.org/officeDocument/2006/relationships/notesSlide" Target="../notesSlides/notesSlide223.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218.jpeg"/><Relationship Id="rId2" Type="http://schemas.openxmlformats.org/officeDocument/2006/relationships/notesSlide" Target="../notesSlides/notesSlide224.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3" Type="http://schemas.openxmlformats.org/officeDocument/2006/relationships/image" Target="../media/image219.jpeg"/><Relationship Id="rId2" Type="http://schemas.openxmlformats.org/officeDocument/2006/relationships/notesSlide" Target="../notesSlides/notesSlide225.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3" Type="http://schemas.openxmlformats.org/officeDocument/2006/relationships/image" Target="../media/image220.jpeg"/><Relationship Id="rId2" Type="http://schemas.openxmlformats.org/officeDocument/2006/relationships/notesSlide" Target="../notesSlides/notesSlide226.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3" Type="http://schemas.openxmlformats.org/officeDocument/2006/relationships/image" Target="../media/image221.jpeg"/><Relationship Id="rId2" Type="http://schemas.openxmlformats.org/officeDocument/2006/relationships/notesSlide" Target="../notesSlides/notesSlide227.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3" Type="http://schemas.openxmlformats.org/officeDocument/2006/relationships/image" Target="../media/image222.jpeg"/><Relationship Id="rId2" Type="http://schemas.openxmlformats.org/officeDocument/2006/relationships/notesSlide" Target="../notesSlides/notesSlide228.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3" Type="http://schemas.openxmlformats.org/officeDocument/2006/relationships/image" Target="../media/image223.jpeg"/><Relationship Id="rId2" Type="http://schemas.openxmlformats.org/officeDocument/2006/relationships/notesSlide" Target="../notesSlides/notesSlide229.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3" Type="http://schemas.openxmlformats.org/officeDocument/2006/relationships/image" Target="../media/image224.jpeg"/><Relationship Id="rId2" Type="http://schemas.openxmlformats.org/officeDocument/2006/relationships/notesSlide" Target="../notesSlides/notesSlide230.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1.xml"/><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3" Type="http://schemas.openxmlformats.org/officeDocument/2006/relationships/image" Target="../media/image225.jpeg"/><Relationship Id="rId2" Type="http://schemas.openxmlformats.org/officeDocument/2006/relationships/notesSlide" Target="../notesSlides/notesSlide232.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3" Type="http://schemas.openxmlformats.org/officeDocument/2006/relationships/image" Target="../media/image226.jpeg"/><Relationship Id="rId2" Type="http://schemas.openxmlformats.org/officeDocument/2006/relationships/notesSlide" Target="../notesSlides/notesSlide233.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3" Type="http://schemas.openxmlformats.org/officeDocument/2006/relationships/image" Target="../media/image227.jpeg"/><Relationship Id="rId2" Type="http://schemas.openxmlformats.org/officeDocument/2006/relationships/notesSlide" Target="../notesSlides/notesSlide234.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3" Type="http://schemas.openxmlformats.org/officeDocument/2006/relationships/image" Target="../media/image228.jpeg"/><Relationship Id="rId2" Type="http://schemas.openxmlformats.org/officeDocument/2006/relationships/notesSlide" Target="../notesSlides/notesSlide235.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3" Type="http://schemas.openxmlformats.org/officeDocument/2006/relationships/image" Target="../media/image229.jpeg"/><Relationship Id="rId2" Type="http://schemas.openxmlformats.org/officeDocument/2006/relationships/notesSlide" Target="../notesSlides/notesSlide236.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3" Type="http://schemas.openxmlformats.org/officeDocument/2006/relationships/image" Target="../media/image229.jpeg"/><Relationship Id="rId2" Type="http://schemas.openxmlformats.org/officeDocument/2006/relationships/notesSlide" Target="../notesSlides/notesSlide237.xm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3" Type="http://schemas.openxmlformats.org/officeDocument/2006/relationships/image" Target="../media/image230.jpeg"/><Relationship Id="rId2" Type="http://schemas.openxmlformats.org/officeDocument/2006/relationships/notesSlide" Target="../notesSlides/notesSlide238.xml"/><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3" Type="http://schemas.openxmlformats.org/officeDocument/2006/relationships/image" Target="../media/image231.jpeg"/><Relationship Id="rId2" Type="http://schemas.openxmlformats.org/officeDocument/2006/relationships/notesSlide" Target="../notesSlides/notesSlide2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548680"/>
            <a:ext cx="8352928" cy="1224136"/>
          </a:xfrm>
        </p:spPr>
        <p:txBody>
          <a:bodyPr>
            <a:normAutofit fontScale="90000"/>
          </a:bodyPr>
          <a:lstStyle/>
          <a:p>
            <a:r>
              <a:rPr lang="en-AU" sz="4000" dirty="0" smtClean="0">
                <a:ln w="5000" cmpd="sng">
                  <a:noFill/>
                  <a:prstDash val="solid"/>
                </a:ln>
                <a:solidFill>
                  <a:srgbClr val="FF6600"/>
                </a:solidFill>
                <a:latin typeface="Helvetica" pitchFamily="34" charset="0"/>
              </a:rPr>
              <a:t>TAKE FOOD ORDERS AND PROVIDE TABLE SERVICE</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6228184" y="1700808"/>
            <a:ext cx="2541268" cy="433758"/>
          </a:xfrm>
        </p:spPr>
        <p:txBody>
          <a:bodyPr>
            <a:normAutofit/>
          </a:bodyPr>
          <a:lstStyle/>
          <a:p>
            <a:r>
              <a:rPr lang="en-AU" b="1" dirty="0" smtClean="0"/>
              <a:t>D1.HBS.CL5.16</a:t>
            </a:r>
            <a:endParaRPr lang="en-US"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latin typeface="Helvetica" pitchFamily="34" charset="0"/>
              </a:rPr>
              <a:t> Slide </a:t>
            </a:r>
            <a:fld id="{90BDF71C-F485-43AE-8825-5070AF1EA8C9}" type="slidenum">
              <a:rPr lang="en-US" smtClean="0">
                <a:latin typeface="Helvetica" pitchFamily="34" charset="0"/>
              </a:rPr>
              <a:pPr/>
              <a:t>1</a:t>
            </a:fld>
            <a:endParaRPr lang="en-US" dirty="0">
              <a:latin typeface="Helvetica" pitchFamily="34" charset="0"/>
            </a:endParaRPr>
          </a:p>
        </p:txBody>
      </p:sp>
      <p:pic>
        <p:nvPicPr>
          <p:cNvPr id="1026" name="Picture 2" descr="C:\Documents and Settings\danielc\Desktop\iStock_Comm on Phone.jpg"/>
          <p:cNvPicPr>
            <a:picLocks noChangeAspect="1" noChangeArrowheads="1"/>
          </p:cNvPicPr>
          <p:nvPr/>
        </p:nvPicPr>
        <p:blipFill>
          <a:blip r:embed="rId3" cstate="print"/>
          <a:stretch>
            <a:fillRect/>
          </a:stretch>
        </p:blipFill>
        <p:spPr bwMode="auto">
          <a:xfrm>
            <a:off x="1115616" y="1909157"/>
            <a:ext cx="4464496" cy="3666765"/>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467600" cy="576064"/>
          </a:xfrm>
        </p:spPr>
        <p:txBody>
          <a:bodyPr>
            <a:noAutofit/>
          </a:bodyPr>
          <a:lstStyle/>
          <a:p>
            <a:r>
              <a:rPr lang="en-US" sz="3200" b="1" dirty="0" smtClean="0">
                <a:solidFill>
                  <a:srgbClr val="FF6600"/>
                </a:solidFill>
                <a:latin typeface="Helvetica" pitchFamily="34" charset="0"/>
              </a:rPr>
              <a:t>Subject Elements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052736"/>
            <a:ext cx="7467600" cy="5805264"/>
          </a:xfrm>
        </p:spPr>
        <p:txBody>
          <a:bodyPr>
            <a:normAutofit/>
          </a:bodyPr>
          <a:lstStyle/>
          <a:p>
            <a:pPr marL="0" indent="0">
              <a:spcBef>
                <a:spcPts val="600"/>
              </a:spcBef>
              <a:spcAft>
                <a:spcPts val="1200"/>
              </a:spcAft>
              <a:buNone/>
            </a:pPr>
            <a:r>
              <a:rPr lang="en-US" sz="2200" dirty="0" smtClean="0">
                <a:latin typeface="Helvetica" pitchFamily="34" charset="0"/>
              </a:rPr>
              <a:t>This unit comprises seven Elements:</a:t>
            </a:r>
          </a:p>
          <a:p>
            <a:pPr lvl="0">
              <a:spcBef>
                <a:spcPts val="600"/>
              </a:spcBef>
              <a:spcAft>
                <a:spcPts val="1200"/>
              </a:spcAft>
            </a:pPr>
            <a:r>
              <a:rPr lang="en-AU" sz="2200" dirty="0" smtClean="0">
                <a:latin typeface="Helvetica" pitchFamily="34" charset="0"/>
              </a:rPr>
              <a:t>Prepare food and/or food and beverage outlet for service </a:t>
            </a:r>
          </a:p>
          <a:p>
            <a:pPr lvl="0">
              <a:spcBef>
                <a:spcPts val="600"/>
              </a:spcBef>
              <a:spcAft>
                <a:spcPts val="1200"/>
              </a:spcAft>
            </a:pPr>
            <a:r>
              <a:rPr lang="en-AU" sz="2200" dirty="0" smtClean="0">
                <a:latin typeface="Helvetica" pitchFamily="34" charset="0"/>
              </a:rPr>
              <a:t>Take and process orders </a:t>
            </a:r>
          </a:p>
          <a:p>
            <a:pPr lvl="0">
              <a:spcBef>
                <a:spcPts val="600"/>
              </a:spcBef>
              <a:spcAft>
                <a:spcPts val="1200"/>
              </a:spcAft>
            </a:pPr>
            <a:r>
              <a:rPr lang="en-AU" sz="2200" dirty="0" smtClean="0">
                <a:latin typeface="Helvetica" pitchFamily="34" charset="0"/>
              </a:rPr>
              <a:t>Prepare and pack take away food and beverages </a:t>
            </a:r>
          </a:p>
          <a:p>
            <a:pPr lvl="0">
              <a:spcBef>
                <a:spcPts val="600"/>
              </a:spcBef>
              <a:spcAft>
                <a:spcPts val="1200"/>
              </a:spcAft>
            </a:pPr>
            <a:r>
              <a:rPr lang="en-AU" sz="2200" dirty="0" smtClean="0">
                <a:latin typeface="Helvetica" pitchFamily="34" charset="0"/>
              </a:rPr>
              <a:t>Provide table service </a:t>
            </a:r>
          </a:p>
          <a:p>
            <a:pPr lvl="0">
              <a:spcBef>
                <a:spcPts val="600"/>
              </a:spcBef>
              <a:spcAft>
                <a:spcPts val="1200"/>
              </a:spcAft>
            </a:pPr>
            <a:r>
              <a:rPr lang="en-AU" sz="2200" dirty="0" smtClean="0">
                <a:latin typeface="Helvetica" pitchFamily="34" charset="0"/>
              </a:rPr>
              <a:t>Store and handle foods safely </a:t>
            </a:r>
          </a:p>
          <a:p>
            <a:pPr lvl="0">
              <a:spcBef>
                <a:spcPts val="600"/>
              </a:spcBef>
              <a:spcAft>
                <a:spcPts val="1200"/>
              </a:spcAft>
            </a:pPr>
            <a:r>
              <a:rPr lang="en-AU" sz="2200" dirty="0" smtClean="0">
                <a:latin typeface="Helvetica" pitchFamily="34" charset="0"/>
              </a:rPr>
              <a:t>Handle payment and carry out cash                                                control procedures </a:t>
            </a:r>
          </a:p>
          <a:p>
            <a:pPr lvl="0">
              <a:spcBef>
                <a:spcPts val="600"/>
              </a:spcBef>
              <a:spcAft>
                <a:spcPts val="1200"/>
              </a:spcAft>
            </a:pPr>
            <a:r>
              <a:rPr lang="en-AU" sz="2200" dirty="0" smtClean="0">
                <a:latin typeface="Helvetica" pitchFamily="34" charset="0"/>
              </a:rPr>
              <a:t>Close down food service area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descr="Grand Hyatt_032.tif"/>
          <p:cNvPicPr>
            <a:picLocks noChangeAspect="1"/>
          </p:cNvPicPr>
          <p:nvPr/>
        </p:nvPicPr>
        <p:blipFill>
          <a:blip r:embed="rId3" cstate="print"/>
          <a:stretch>
            <a:fillRect/>
          </a:stretch>
        </p:blipFill>
        <p:spPr>
          <a:xfrm>
            <a:off x="7308304" y="3573016"/>
            <a:ext cx="1205880" cy="180882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US" sz="3200" b="1" dirty="0" smtClean="0">
                <a:solidFill>
                  <a:srgbClr val="FF6600"/>
                </a:solidFill>
                <a:latin typeface="Helvetica" pitchFamily="34" charset="0"/>
              </a:rPr>
              <a:t>Assessment</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smtClean="0">
                <a:latin typeface="Helvetica" pitchFamily="34" charset="0"/>
              </a:rPr>
              <a:t>Workplace observation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pPr>
            <a:r>
              <a:rPr lang="en-US" sz="2200" dirty="0" smtClean="0">
                <a:latin typeface="Helvetica" pitchFamily="34" charset="0"/>
              </a:rPr>
              <a:t>Formal report from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6" name="Picture 5" descr="698.jpg"/>
          <p:cNvPicPr>
            <a:picLocks noChangeAspect="1"/>
          </p:cNvPicPr>
          <p:nvPr/>
        </p:nvPicPr>
        <p:blipFill>
          <a:blip r:embed="rId3" cstate="print"/>
          <a:stretch>
            <a:fillRect/>
          </a:stretch>
        </p:blipFill>
        <p:spPr>
          <a:xfrm>
            <a:off x="5220072" y="3933056"/>
            <a:ext cx="3203848" cy="1531986"/>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6" name="Picture 5" descr="IMG_2089.jpg"/>
          <p:cNvPicPr>
            <a:picLocks noChangeAspect="1"/>
          </p:cNvPicPr>
          <p:nvPr/>
        </p:nvPicPr>
        <p:blipFill>
          <a:blip r:embed="rId3" cstate="print"/>
          <a:stretch>
            <a:fillRect/>
          </a:stretch>
        </p:blipFill>
        <p:spPr>
          <a:xfrm>
            <a:off x="3131840" y="2852936"/>
            <a:ext cx="2771800" cy="2078850"/>
          </a:xfrm>
          <a:prstGeom prst="rect">
            <a:avLst/>
          </a:prstGeom>
        </p:spPr>
      </p:pic>
      <p:grpSp>
        <p:nvGrpSpPr>
          <p:cNvPr id="16" name="Group 15"/>
          <p:cNvGrpSpPr/>
          <p:nvPr/>
        </p:nvGrpSpPr>
        <p:grpSpPr>
          <a:xfrm>
            <a:off x="467544" y="1628800"/>
            <a:ext cx="7920880" cy="830997"/>
            <a:chOff x="1752600" y="1913384"/>
            <a:chExt cx="7920880" cy="830997"/>
          </a:xfrm>
        </p:grpSpPr>
        <p:grpSp>
          <p:nvGrpSpPr>
            <p:cNvPr id="5" name="Group 4"/>
            <p:cNvGrpSpPr>
              <a:grpSpLocks/>
            </p:cNvGrpSpPr>
            <p:nvPr/>
          </p:nvGrpSpPr>
          <p:grpSpPr bwMode="auto">
            <a:xfrm>
              <a:off x="1752600" y="2057400"/>
              <a:ext cx="762000" cy="665163"/>
              <a:chOff x="1110" y="2656"/>
              <a:chExt cx="1549" cy="1351"/>
            </a:xfrm>
          </p:grpSpPr>
          <p:sp>
            <p:nvSpPr>
              <p:cNvPr id="7"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8"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9" name="AutoShape 7"/>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10" name="Line 8"/>
            <p:cNvSpPr>
              <a:spLocks noChangeShapeType="1"/>
            </p:cNvSpPr>
            <p:nvPr/>
          </p:nvSpPr>
          <p:spPr bwMode="auto">
            <a:xfrm>
              <a:off x="2362200" y="2667000"/>
              <a:ext cx="7020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11" name="Text Box 9"/>
            <p:cNvSpPr txBox="1">
              <a:spLocks noChangeArrowheads="1"/>
            </p:cNvSpPr>
            <p:nvPr/>
          </p:nvSpPr>
          <p:spPr bwMode="auto">
            <a:xfrm>
              <a:off x="2544688" y="1913384"/>
              <a:ext cx="7128792" cy="830997"/>
            </a:xfrm>
            <a:prstGeom prst="rect">
              <a:avLst/>
            </a:prstGeom>
            <a:noFill/>
            <a:ln w="9525" algn="ctr">
              <a:noFill/>
              <a:miter lim="800000"/>
              <a:headEnd/>
              <a:tailEnd/>
            </a:ln>
          </p:spPr>
          <p:txBody>
            <a:bodyPr wrap="square">
              <a:spAutoFit/>
            </a:bodyPr>
            <a:lstStyle/>
            <a:p>
              <a:pPr eaLnBrk="0" hangingPunct="0"/>
              <a:r>
                <a:rPr lang="en-AU" sz="2400" b="1" dirty="0" smtClean="0">
                  <a:solidFill>
                    <a:srgbClr val="FF6600"/>
                  </a:solidFill>
                  <a:latin typeface="Helvetica" pitchFamily="34" charset="0"/>
                </a:rPr>
                <a:t>Prepare food and/or food and beverage outlet for service</a:t>
              </a:r>
              <a:endParaRPr lang="en-AU" sz="2400" b="1" dirty="0">
                <a:latin typeface="Helvetica" pitchFamily="34" charset="0"/>
              </a:endParaRPr>
            </a:p>
          </p:txBody>
        </p:sp>
        <p:sp>
          <p:nvSpPr>
            <p:cNvPr id="12" name="Text Box 10"/>
            <p:cNvSpPr txBox="1">
              <a:spLocks noChangeArrowheads="1"/>
            </p:cNvSpPr>
            <p:nvPr/>
          </p:nvSpPr>
          <p:spPr bwMode="gray">
            <a:xfrm>
              <a:off x="1949450" y="2155825"/>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latin typeface="Helvetica" pitchFamily="34" charset="0"/>
                </a:rPr>
                <a:t>1</a:t>
              </a: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143000"/>
          </a:xfrm>
        </p:spPr>
        <p:txBody>
          <a:bodyPr>
            <a:normAutofit/>
          </a:bodyPr>
          <a:lstStyle/>
          <a:p>
            <a:pPr marL="0" lvl="0"/>
            <a:r>
              <a:rPr lang="en-AU" sz="3200" b="1" dirty="0" smtClean="0">
                <a:solidFill>
                  <a:srgbClr val="FF6600"/>
                </a:solidFill>
                <a:latin typeface="Helvetica" pitchFamily="34" charset="0"/>
              </a:rPr>
              <a:t>Prepare food and/or food and beverage outlet for service </a:t>
            </a:r>
          </a:p>
        </p:txBody>
      </p:sp>
      <p:sp>
        <p:nvSpPr>
          <p:cNvPr id="3" name="Content Placeholder 2"/>
          <p:cNvSpPr>
            <a:spLocks noGrp="1"/>
          </p:cNvSpPr>
          <p:nvPr>
            <p:ph idx="1"/>
          </p:nvPr>
        </p:nvSpPr>
        <p:spPr>
          <a:xfrm>
            <a:off x="611560" y="1556792"/>
            <a:ext cx="7467600" cy="4968552"/>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Check food service area and customer facilities for cleanliness prior to service, in accordance with enterprise procedures, and where required, take corrective action/s</a:t>
            </a:r>
          </a:p>
          <a:p>
            <a:pPr>
              <a:spcBef>
                <a:spcPts val="600"/>
              </a:spcBef>
              <a:spcAft>
                <a:spcPts val="1200"/>
              </a:spcAft>
            </a:pPr>
            <a:r>
              <a:rPr lang="en-AU" sz="2200" dirty="0" smtClean="0">
                <a:latin typeface="Helvetica" pitchFamily="34" charset="0"/>
              </a:rPr>
              <a:t>Check and prepare equipment for service</a:t>
            </a:r>
          </a:p>
          <a:p>
            <a:pPr>
              <a:spcBef>
                <a:spcPts val="600"/>
              </a:spcBef>
              <a:spcAft>
                <a:spcPts val="1200"/>
              </a:spcAft>
            </a:pPr>
            <a:r>
              <a:rPr lang="en-AU" sz="2200" dirty="0" smtClean="0">
                <a:latin typeface="Helvetica" pitchFamily="34" charset="0"/>
              </a:rPr>
              <a:t>Check cleanliness and condition of tables and                           all </a:t>
            </a:r>
            <a:r>
              <a:rPr lang="en-AU" sz="2200" i="1" dirty="0" smtClean="0">
                <a:latin typeface="Helvetica" pitchFamily="34" charset="0"/>
              </a:rPr>
              <a:t>table items</a:t>
            </a:r>
            <a:r>
              <a:rPr lang="en-AU" sz="2200" dirty="0" smtClean="0">
                <a:latin typeface="Helvetica" pitchFamily="34" charset="0"/>
              </a:rPr>
              <a:t>, prior to service and take                         necessary corrective action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7" name="Picture 6" descr="4.jpg"/>
          <p:cNvPicPr/>
          <p:nvPr/>
        </p:nvPicPr>
        <p:blipFill>
          <a:blip r:embed="rId3" cstate="print"/>
          <a:stretch>
            <a:fillRect/>
          </a:stretch>
        </p:blipFill>
        <p:spPr>
          <a:xfrm>
            <a:off x="7092280" y="3573016"/>
            <a:ext cx="1394073" cy="1813173"/>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US" sz="3200" b="1" dirty="0" smtClean="0">
                <a:solidFill>
                  <a:srgbClr val="FF6600"/>
                </a:solidFill>
                <a:latin typeface="Helvetica" pitchFamily="34" charset="0"/>
              </a:rPr>
              <a:t>Preparing a food and beverage outlet</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a:spcBef>
                <a:spcPts val="600"/>
              </a:spcBef>
              <a:spcAft>
                <a:spcPts val="1200"/>
              </a:spcAft>
              <a:buNone/>
            </a:pPr>
            <a:r>
              <a:rPr lang="en-AU" sz="2200" dirty="0" smtClean="0">
                <a:latin typeface="Helvetica" pitchFamily="34" charset="0"/>
              </a:rPr>
              <a:t>The preparation of a restaurant is vital for the efficient and successful running of any meal shift. </a:t>
            </a:r>
          </a:p>
          <a:p>
            <a:pPr marL="0">
              <a:spcBef>
                <a:spcPts val="600"/>
              </a:spcBef>
              <a:spcAft>
                <a:spcPts val="1200"/>
              </a:spcAft>
              <a:buNone/>
            </a:pPr>
            <a:r>
              <a:rPr lang="en-AU" sz="2200" dirty="0" smtClean="0">
                <a:latin typeface="Helvetica" pitchFamily="34" charset="0"/>
              </a:rPr>
              <a:t>Things need to be: </a:t>
            </a:r>
          </a:p>
          <a:p>
            <a:pPr marL="0">
              <a:spcBef>
                <a:spcPts val="600"/>
              </a:spcBef>
              <a:spcAft>
                <a:spcPts val="1200"/>
              </a:spcAft>
            </a:pPr>
            <a:r>
              <a:rPr lang="en-AU" sz="2200" dirty="0" smtClean="0">
                <a:latin typeface="Helvetica" pitchFamily="34" charset="0"/>
              </a:rPr>
              <a:t>Checked</a:t>
            </a:r>
          </a:p>
          <a:p>
            <a:pPr marL="0">
              <a:spcBef>
                <a:spcPts val="600"/>
              </a:spcBef>
              <a:spcAft>
                <a:spcPts val="1200"/>
              </a:spcAft>
            </a:pPr>
            <a:r>
              <a:rPr lang="en-AU" sz="2200" dirty="0" smtClean="0">
                <a:latin typeface="Helvetica" pitchFamily="34" charset="0"/>
              </a:rPr>
              <a:t>Stocked</a:t>
            </a:r>
          </a:p>
          <a:p>
            <a:pPr marL="0">
              <a:spcBef>
                <a:spcPts val="600"/>
              </a:spcBef>
              <a:spcAft>
                <a:spcPts val="1200"/>
              </a:spcAft>
            </a:pPr>
            <a:r>
              <a:rPr lang="en-AU" sz="2200" dirty="0" smtClean="0">
                <a:latin typeface="Helvetica" pitchFamily="34" charset="0"/>
              </a:rPr>
              <a:t>Positioned</a:t>
            </a:r>
          </a:p>
          <a:p>
            <a:pPr marL="0">
              <a:spcBef>
                <a:spcPts val="600"/>
              </a:spcBef>
              <a:spcAft>
                <a:spcPts val="1200"/>
              </a:spcAft>
            </a:pPr>
            <a:r>
              <a:rPr lang="en-AU" sz="2200" dirty="0" smtClean="0">
                <a:latin typeface="Helvetica" pitchFamily="34" charset="0"/>
              </a:rPr>
              <a:t>Cleaned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7" name="Picture 6" descr="IMG_2128.jpg"/>
          <p:cNvPicPr>
            <a:picLocks noChangeAspect="1"/>
          </p:cNvPicPr>
          <p:nvPr/>
        </p:nvPicPr>
        <p:blipFill>
          <a:blip r:embed="rId3" cstate="print"/>
          <a:stretch>
            <a:fillRect/>
          </a:stretch>
        </p:blipFill>
        <p:spPr>
          <a:xfrm>
            <a:off x="6372200" y="2564904"/>
            <a:ext cx="1959682" cy="2612909"/>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US" sz="3200" b="1" dirty="0" smtClean="0">
                <a:solidFill>
                  <a:srgbClr val="FF6600"/>
                </a:solidFill>
                <a:latin typeface="Helvetica" pitchFamily="34" charset="0"/>
              </a:rPr>
              <a:t>Types of food and beverage outlets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a:spcBef>
                <a:spcPts val="600"/>
              </a:spcBef>
              <a:spcAft>
                <a:spcPts val="1200"/>
              </a:spcAft>
              <a:buNone/>
            </a:pPr>
            <a:r>
              <a:rPr lang="en-AU" sz="2200" dirty="0" smtClean="0">
                <a:latin typeface="Helvetica" pitchFamily="34" charset="0"/>
              </a:rPr>
              <a:t>The industry boasts a wide variety of food and beverage outlets.</a:t>
            </a:r>
          </a:p>
          <a:p>
            <a:pPr marL="406800">
              <a:spcBef>
                <a:spcPts val="600"/>
              </a:spcBef>
              <a:spcAft>
                <a:spcPts val="1200"/>
              </a:spcAft>
            </a:pPr>
            <a:r>
              <a:rPr lang="en-AU" sz="2200" dirty="0" smtClean="0">
                <a:latin typeface="Helvetica" pitchFamily="34" charset="0"/>
              </a:rPr>
              <a:t>What types of food and beverage outlets exist?</a:t>
            </a:r>
          </a:p>
          <a:p>
            <a:pPr marL="406800">
              <a:spcBef>
                <a:spcPts val="600"/>
              </a:spcBef>
              <a:spcAft>
                <a:spcPts val="1200"/>
              </a:spcAft>
            </a:pPr>
            <a:r>
              <a:rPr lang="en-AU" sz="2200" dirty="0" smtClean="0">
                <a:latin typeface="Helvetica" pitchFamily="34" charset="0"/>
              </a:rPr>
              <a:t>What specific preparation activities need to be performed that are different from the norm?</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6" name="Picture 8" descr="kfc-chicken"/>
          <p:cNvPicPr>
            <a:picLocks noChangeAspect="1" noChangeArrowheads="1"/>
          </p:cNvPicPr>
          <p:nvPr/>
        </p:nvPicPr>
        <p:blipFill>
          <a:blip r:embed="rId3" cstate="print"/>
          <a:stretch>
            <a:fillRect/>
          </a:stretch>
        </p:blipFill>
        <p:spPr bwMode="auto">
          <a:xfrm>
            <a:off x="4427984" y="3861048"/>
            <a:ext cx="1819275" cy="1819275"/>
          </a:xfrm>
          <a:prstGeom prst="rect">
            <a:avLst/>
          </a:prstGeom>
          <a:noFill/>
        </p:spPr>
      </p:pic>
      <p:pic>
        <p:nvPicPr>
          <p:cNvPr id="8" name="Picture 16" descr="Ballroom 5"/>
          <p:cNvPicPr>
            <a:picLocks noChangeAspect="1" noChangeArrowheads="1"/>
          </p:cNvPicPr>
          <p:nvPr/>
        </p:nvPicPr>
        <p:blipFill>
          <a:blip r:embed="rId4" cstate="print"/>
          <a:stretch>
            <a:fillRect/>
          </a:stretch>
        </p:blipFill>
        <p:spPr bwMode="auto">
          <a:xfrm>
            <a:off x="1115616" y="3861048"/>
            <a:ext cx="2730146" cy="1816881"/>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US" sz="3200" b="1" dirty="0" smtClean="0">
                <a:solidFill>
                  <a:srgbClr val="FF6600"/>
                </a:solidFill>
                <a:latin typeface="Helvetica" pitchFamily="34" charset="0"/>
              </a:rPr>
              <a:t>Checking and cleaning restaurant area</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184576"/>
          </a:xfrm>
        </p:spPr>
        <p:txBody>
          <a:bodyPr>
            <a:normAutofit/>
          </a:bodyPr>
          <a:lstStyle/>
          <a:p>
            <a:pPr>
              <a:spcBef>
                <a:spcPts val="600"/>
              </a:spcBef>
              <a:spcAft>
                <a:spcPts val="1200"/>
              </a:spcAft>
              <a:buNone/>
            </a:pPr>
            <a:r>
              <a:rPr lang="en-AU" sz="2200" dirty="0" smtClean="0">
                <a:latin typeface="Helvetica" pitchFamily="34" charset="0"/>
              </a:rPr>
              <a:t>Areas to check for cleanliness may include:</a:t>
            </a:r>
          </a:p>
          <a:p>
            <a:pPr lvl="0">
              <a:spcBef>
                <a:spcPts val="600"/>
              </a:spcBef>
              <a:spcAft>
                <a:spcPts val="1200"/>
              </a:spcAft>
            </a:pPr>
            <a:r>
              <a:rPr lang="en-AU" sz="2200" dirty="0" smtClean="0">
                <a:latin typeface="Helvetica" pitchFamily="34" charset="0"/>
              </a:rPr>
              <a:t>Furniture – tables and chairs</a:t>
            </a:r>
          </a:p>
          <a:p>
            <a:pPr lvl="0">
              <a:spcBef>
                <a:spcPts val="600"/>
              </a:spcBef>
              <a:spcAft>
                <a:spcPts val="1200"/>
              </a:spcAft>
            </a:pPr>
            <a:r>
              <a:rPr lang="en-AU" sz="2200" dirty="0" smtClean="0">
                <a:latin typeface="Helvetica" pitchFamily="34" charset="0"/>
              </a:rPr>
              <a:t>Wall hangings – pictures or displays </a:t>
            </a:r>
          </a:p>
          <a:p>
            <a:pPr lvl="0">
              <a:spcBef>
                <a:spcPts val="600"/>
              </a:spcBef>
              <a:spcAft>
                <a:spcPts val="1200"/>
              </a:spcAft>
            </a:pPr>
            <a:r>
              <a:rPr lang="en-AU" sz="2200" dirty="0" smtClean="0">
                <a:latin typeface="Helvetica" pitchFamily="34" charset="0"/>
              </a:rPr>
              <a:t>Fixtures – light fittings and door knobs</a:t>
            </a:r>
          </a:p>
          <a:p>
            <a:pPr lvl="0">
              <a:spcBef>
                <a:spcPts val="600"/>
              </a:spcBef>
              <a:spcAft>
                <a:spcPts val="1200"/>
              </a:spcAft>
            </a:pPr>
            <a:r>
              <a:rPr lang="en-AU" sz="2200" dirty="0" smtClean="0">
                <a:latin typeface="Helvetica" pitchFamily="34" charset="0"/>
              </a:rPr>
              <a:t>Plants – indoor plants and pots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6" name="Picture 5" descr="restaurant.jpg"/>
          <p:cNvPicPr/>
          <p:nvPr/>
        </p:nvPicPr>
        <p:blipFill>
          <a:blip r:embed="rId3" cstate="print"/>
          <a:stretch>
            <a:fillRect/>
          </a:stretch>
        </p:blipFill>
        <p:spPr>
          <a:xfrm>
            <a:off x="6012160" y="3212976"/>
            <a:ext cx="2387420" cy="1909936"/>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US" sz="3200" b="1" dirty="0" smtClean="0">
                <a:solidFill>
                  <a:srgbClr val="FF6600"/>
                </a:solidFill>
                <a:latin typeface="Helvetica" pitchFamily="34" charset="0"/>
              </a:rPr>
              <a:t>Checking and cleaning restaurant area</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776864" cy="5112568"/>
          </a:xfrm>
        </p:spPr>
        <p:txBody>
          <a:bodyPr>
            <a:normAutofit/>
          </a:bodyPr>
          <a:lstStyle/>
          <a:p>
            <a:pPr>
              <a:spcBef>
                <a:spcPts val="600"/>
              </a:spcBef>
              <a:spcAft>
                <a:spcPts val="1200"/>
              </a:spcAft>
              <a:buNone/>
            </a:pPr>
            <a:r>
              <a:rPr lang="en-AU" sz="2200" dirty="0" smtClean="0">
                <a:latin typeface="Helvetica" pitchFamily="34" charset="0"/>
              </a:rPr>
              <a:t>Areas to check for cleanliness may include:</a:t>
            </a:r>
          </a:p>
          <a:p>
            <a:pPr lvl="0">
              <a:spcBef>
                <a:spcPts val="600"/>
              </a:spcBef>
              <a:spcAft>
                <a:spcPts val="1200"/>
              </a:spcAft>
            </a:pPr>
            <a:r>
              <a:rPr lang="en-AU" sz="2200" dirty="0" smtClean="0">
                <a:latin typeface="Helvetica" pitchFamily="34" charset="0"/>
              </a:rPr>
              <a:t>Glass – windows, panels and doors </a:t>
            </a:r>
          </a:p>
          <a:p>
            <a:pPr lvl="0">
              <a:spcBef>
                <a:spcPts val="600"/>
              </a:spcBef>
              <a:spcAft>
                <a:spcPts val="1200"/>
              </a:spcAft>
            </a:pPr>
            <a:r>
              <a:rPr lang="en-AU" sz="2200" dirty="0" smtClean="0">
                <a:latin typeface="Helvetica" pitchFamily="34" charset="0"/>
              </a:rPr>
              <a:t>Floor – carpet and tiled areas</a:t>
            </a:r>
          </a:p>
          <a:p>
            <a:pPr lvl="0">
              <a:spcBef>
                <a:spcPts val="600"/>
              </a:spcBef>
              <a:spcAft>
                <a:spcPts val="1200"/>
              </a:spcAft>
            </a:pPr>
            <a:r>
              <a:rPr lang="en-AU" sz="2200" dirty="0" smtClean="0">
                <a:latin typeface="Helvetica" pitchFamily="34" charset="0"/>
              </a:rPr>
              <a:t>Work stations – waiter’s sideboard</a:t>
            </a:r>
          </a:p>
          <a:p>
            <a:pPr lvl="0">
              <a:spcBef>
                <a:spcPts val="600"/>
              </a:spcBef>
              <a:spcAft>
                <a:spcPts val="1200"/>
              </a:spcAft>
            </a:pPr>
            <a:r>
              <a:rPr lang="en-AU" sz="2200" dirty="0" smtClean="0">
                <a:latin typeface="Helvetica" pitchFamily="34" charset="0"/>
              </a:rPr>
              <a:t>Menu stands – at host area</a:t>
            </a:r>
          </a:p>
          <a:p>
            <a:pPr>
              <a:spcBef>
                <a:spcPts val="600"/>
              </a:spcBef>
              <a:spcAft>
                <a:spcPts val="1200"/>
              </a:spcAft>
            </a:pPr>
            <a:r>
              <a:rPr lang="en-AU" sz="2200" dirty="0" smtClean="0">
                <a:latin typeface="Helvetica" pitchFamily="34" charset="0"/>
              </a:rPr>
              <a:t>Toilets – rest areas</a:t>
            </a:r>
          </a:p>
          <a:p>
            <a:pPr>
              <a:spcBef>
                <a:spcPts val="600"/>
              </a:spcBef>
              <a:spcAft>
                <a:spcPts val="1200"/>
              </a:spcAft>
            </a:pPr>
            <a:r>
              <a:rPr lang="en-AU" sz="2200" dirty="0" smtClean="0">
                <a:latin typeface="Helvetica" pitchFamily="34" charset="0"/>
              </a:rPr>
              <a:t>Operating equipment – coffee machine, blender, toaster, carving trolley </a:t>
            </a:r>
            <a:r>
              <a:rPr lang="en-AU" sz="2200" dirty="0" smtClean="0">
                <a:latin typeface="Helvetica" pitchFamily="34" charset="0"/>
              </a:rPr>
              <a:t>etc</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5" name="Picture 4" descr="IMG_1963.jpg"/>
          <p:cNvPicPr>
            <a:picLocks noChangeAspect="1"/>
          </p:cNvPicPr>
          <p:nvPr/>
        </p:nvPicPr>
        <p:blipFill>
          <a:blip r:embed="rId3" cstate="print"/>
          <a:stretch>
            <a:fillRect/>
          </a:stretch>
        </p:blipFill>
        <p:spPr>
          <a:xfrm>
            <a:off x="5940152" y="2420888"/>
            <a:ext cx="2520280" cy="189021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200" b="1" dirty="0" smtClean="0">
                <a:solidFill>
                  <a:srgbClr val="FF6600"/>
                </a:solidFill>
                <a:latin typeface="Helvetica" pitchFamily="34" charset="0"/>
              </a:rPr>
              <a:t>Checking and cleaning customer facilities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776864" cy="4680520"/>
          </a:xfrm>
        </p:spPr>
        <p:txBody>
          <a:bodyPr>
            <a:normAutofit/>
          </a:bodyPr>
          <a:lstStyle/>
          <a:p>
            <a:pPr>
              <a:spcBef>
                <a:spcPts val="600"/>
              </a:spcBef>
              <a:spcAft>
                <a:spcPts val="600"/>
              </a:spcAft>
              <a:buNone/>
            </a:pPr>
            <a:r>
              <a:rPr lang="en-US" altLang="zh-CN" sz="2200" b="1" dirty="0" smtClean="0">
                <a:latin typeface="Helvetica" pitchFamily="34" charset="0"/>
                <a:ea typeface="宋体" pitchFamily="2" charset="-122"/>
              </a:rPr>
              <a:t>Waiting area/foyer:</a:t>
            </a:r>
          </a:p>
          <a:p>
            <a:pPr>
              <a:spcBef>
                <a:spcPts val="600"/>
              </a:spcBef>
              <a:spcAft>
                <a:spcPts val="600"/>
              </a:spcAft>
            </a:pPr>
            <a:r>
              <a:rPr lang="en-US" altLang="zh-CN" sz="2200" dirty="0" smtClean="0">
                <a:latin typeface="Helvetica" pitchFamily="34" charset="0"/>
                <a:ea typeface="宋体" pitchFamily="2" charset="-122"/>
              </a:rPr>
              <a:t>Front entrance</a:t>
            </a:r>
          </a:p>
          <a:p>
            <a:pPr>
              <a:spcBef>
                <a:spcPts val="600"/>
              </a:spcBef>
              <a:spcAft>
                <a:spcPts val="600"/>
              </a:spcAft>
            </a:pPr>
            <a:r>
              <a:rPr lang="en-US" altLang="zh-CN" sz="2200" dirty="0" smtClean="0">
                <a:latin typeface="Helvetica" pitchFamily="34" charset="0"/>
                <a:ea typeface="宋体" pitchFamily="2" charset="-122"/>
              </a:rPr>
              <a:t>Cloak room</a:t>
            </a:r>
          </a:p>
          <a:p>
            <a:pPr>
              <a:spcBef>
                <a:spcPts val="600"/>
              </a:spcBef>
              <a:spcAft>
                <a:spcPts val="600"/>
              </a:spcAft>
            </a:pPr>
            <a:r>
              <a:rPr lang="en-US" altLang="zh-CN" sz="2200" dirty="0" smtClean="0">
                <a:latin typeface="Helvetica" pitchFamily="34" charset="0"/>
                <a:ea typeface="宋体" pitchFamily="2" charset="-122"/>
              </a:rPr>
              <a:t>Seats</a:t>
            </a:r>
          </a:p>
          <a:p>
            <a:pPr>
              <a:spcBef>
                <a:spcPts val="600"/>
              </a:spcBef>
              <a:spcAft>
                <a:spcPts val="600"/>
              </a:spcAft>
            </a:pPr>
            <a:r>
              <a:rPr lang="en-US" altLang="zh-CN" sz="2200" dirty="0" smtClean="0">
                <a:latin typeface="Helvetica" pitchFamily="34" charset="0"/>
                <a:ea typeface="宋体" pitchFamily="2" charset="-122"/>
              </a:rPr>
              <a:t>Tables</a:t>
            </a:r>
          </a:p>
          <a:p>
            <a:pPr>
              <a:spcBef>
                <a:spcPts val="600"/>
              </a:spcBef>
              <a:spcAft>
                <a:spcPts val="600"/>
              </a:spcAft>
            </a:pPr>
            <a:r>
              <a:rPr lang="en-US" altLang="zh-CN" sz="2200" dirty="0" smtClean="0">
                <a:latin typeface="Helvetica" pitchFamily="34" charset="0"/>
                <a:ea typeface="宋体" pitchFamily="2" charset="-122"/>
              </a:rPr>
              <a:t>Magazines</a:t>
            </a:r>
          </a:p>
          <a:p>
            <a:pPr>
              <a:spcBef>
                <a:spcPts val="600"/>
              </a:spcBef>
              <a:spcAft>
                <a:spcPts val="600"/>
              </a:spcAft>
            </a:pPr>
            <a:r>
              <a:rPr lang="en-US" altLang="zh-CN" sz="2200" dirty="0" smtClean="0">
                <a:latin typeface="Helvetica" pitchFamily="34" charset="0"/>
                <a:ea typeface="宋体" pitchFamily="2" charset="-122"/>
              </a:rPr>
              <a:t>Menus</a:t>
            </a:r>
          </a:p>
          <a:p>
            <a:pPr>
              <a:spcAft>
                <a:spcPts val="600"/>
              </a:spcAft>
            </a:pPr>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6" name="Picture 5" descr="MP900427796[1].JPG"/>
          <p:cNvPicPr>
            <a:picLocks noChangeAspect="1"/>
          </p:cNvPicPr>
          <p:nvPr/>
        </p:nvPicPr>
        <p:blipFill>
          <a:blip r:embed="rId3" cstate="print"/>
          <a:stretch>
            <a:fillRect/>
          </a:stretch>
        </p:blipFill>
        <p:spPr>
          <a:xfrm>
            <a:off x="6300192" y="2132856"/>
            <a:ext cx="2047042" cy="3069065"/>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200" b="1" dirty="0" smtClean="0">
                <a:solidFill>
                  <a:srgbClr val="FF6600"/>
                </a:solidFill>
                <a:latin typeface="Helvetica" pitchFamily="34" charset="0"/>
              </a:rPr>
              <a:t>Checking and cleaning customer facilities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848872" cy="4824536"/>
          </a:xfrm>
        </p:spPr>
        <p:txBody>
          <a:bodyPr>
            <a:normAutofit/>
          </a:bodyPr>
          <a:lstStyle/>
          <a:p>
            <a:pPr>
              <a:spcBef>
                <a:spcPts val="600"/>
              </a:spcBef>
              <a:spcAft>
                <a:spcPts val="600"/>
              </a:spcAft>
              <a:buNone/>
            </a:pPr>
            <a:r>
              <a:rPr lang="en-US" altLang="zh-CN" sz="2200" b="1" dirty="0" smtClean="0">
                <a:latin typeface="Helvetica" pitchFamily="34" charset="0"/>
                <a:ea typeface="宋体" pitchFamily="2" charset="-122"/>
              </a:rPr>
              <a:t>Restrooms:</a:t>
            </a:r>
          </a:p>
          <a:p>
            <a:pPr lvl="0">
              <a:spcBef>
                <a:spcPts val="600"/>
              </a:spcBef>
              <a:spcAft>
                <a:spcPts val="600"/>
              </a:spcAft>
            </a:pPr>
            <a:r>
              <a:rPr lang="en-AU" sz="2200" dirty="0" smtClean="0">
                <a:latin typeface="Helvetica" pitchFamily="34" charset="0"/>
              </a:rPr>
              <a:t>Benches  </a:t>
            </a:r>
          </a:p>
          <a:p>
            <a:pPr lvl="0">
              <a:spcBef>
                <a:spcPts val="600"/>
              </a:spcBef>
              <a:spcAft>
                <a:spcPts val="600"/>
              </a:spcAft>
            </a:pPr>
            <a:r>
              <a:rPr lang="en-AU" sz="2200" dirty="0" smtClean="0">
                <a:latin typeface="Helvetica" pitchFamily="34" charset="0"/>
              </a:rPr>
              <a:t>Toilet cubicles and urinals</a:t>
            </a:r>
          </a:p>
          <a:p>
            <a:pPr lvl="0">
              <a:spcBef>
                <a:spcPts val="600"/>
              </a:spcBef>
              <a:spcAft>
                <a:spcPts val="600"/>
              </a:spcAft>
            </a:pPr>
            <a:r>
              <a:rPr lang="en-AU" sz="2200" dirty="0" smtClean="0">
                <a:latin typeface="Helvetica" pitchFamily="34" charset="0"/>
              </a:rPr>
              <a:t>Soap and sanitiser</a:t>
            </a:r>
          </a:p>
          <a:p>
            <a:pPr lvl="0">
              <a:spcBef>
                <a:spcPts val="600"/>
              </a:spcBef>
              <a:spcAft>
                <a:spcPts val="600"/>
              </a:spcAft>
            </a:pPr>
            <a:r>
              <a:rPr lang="en-AU" sz="2200" dirty="0" smtClean="0">
                <a:latin typeface="Helvetica" pitchFamily="34" charset="0"/>
              </a:rPr>
              <a:t>Hand towel dispenser  </a:t>
            </a:r>
          </a:p>
          <a:p>
            <a:pPr lvl="0">
              <a:spcBef>
                <a:spcPts val="600"/>
              </a:spcBef>
              <a:spcAft>
                <a:spcPts val="600"/>
              </a:spcAft>
            </a:pPr>
            <a:r>
              <a:rPr lang="en-AU" sz="2200" dirty="0" smtClean="0">
                <a:latin typeface="Helvetica" pitchFamily="34" charset="0"/>
              </a:rPr>
              <a:t>Waste paper basket  </a:t>
            </a:r>
          </a:p>
          <a:p>
            <a:pPr lvl="0">
              <a:spcBef>
                <a:spcPts val="600"/>
              </a:spcBef>
              <a:spcAft>
                <a:spcPts val="600"/>
              </a:spcAft>
            </a:pPr>
            <a:r>
              <a:rPr lang="en-AU" sz="2200" dirty="0" smtClean="0">
                <a:latin typeface="Helvetica" pitchFamily="34" charset="0"/>
              </a:rPr>
              <a:t>Floor  </a:t>
            </a:r>
          </a:p>
          <a:p>
            <a:pPr lvl="0">
              <a:spcBef>
                <a:spcPts val="600"/>
              </a:spcBef>
              <a:spcAft>
                <a:spcPts val="600"/>
              </a:spcAft>
            </a:pPr>
            <a:r>
              <a:rPr lang="en-AU" sz="2200" dirty="0" smtClean="0">
                <a:latin typeface="Helvetica" pitchFamily="34" charset="0"/>
              </a:rPr>
              <a:t>Clean and hygienic </a:t>
            </a:r>
            <a:r>
              <a:rPr lang="en-AU" sz="2200" dirty="0" smtClean="0">
                <a:latin typeface="Helvetica" pitchFamily="34" charset="0"/>
              </a:rPr>
              <a:t>smell</a:t>
            </a:r>
            <a:endParaRPr lang="en-AU" sz="2200" dirty="0" smtClean="0">
              <a:latin typeface="Helvetica" pitchFamily="34" charset="0"/>
            </a:endParaRPr>
          </a:p>
          <a:p>
            <a:pPr lvl="0" algn="ctr">
              <a:spcBef>
                <a:spcPts val="600"/>
              </a:spcBef>
              <a:spcAft>
                <a:spcPts val="600"/>
              </a:spcAft>
              <a:buNone/>
            </a:pPr>
            <a:r>
              <a:rPr lang="en-AU" altLang="zh-CN" sz="2200" i="1" dirty="0" smtClean="0">
                <a:latin typeface="Helvetica" pitchFamily="34" charset="0"/>
                <a:ea typeface="宋体" pitchFamily="2" charset="-122"/>
              </a:rPr>
              <a:t>Use a Checklist to help with inspections.</a:t>
            </a:r>
            <a:endParaRPr lang="en-US" altLang="zh-CN" sz="2200" i="1" dirty="0" smtClean="0">
              <a:latin typeface="Helvetica" pitchFamily="34" charset="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7" name="Picture 6" descr="IMG_2349.jpg"/>
          <p:cNvPicPr/>
          <p:nvPr/>
        </p:nvPicPr>
        <p:blipFill>
          <a:blip r:embed="rId3" cstate="print"/>
          <a:stretch>
            <a:fillRect/>
          </a:stretch>
        </p:blipFill>
        <p:spPr>
          <a:xfrm>
            <a:off x="6084168" y="3212976"/>
            <a:ext cx="2303264" cy="201548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200" b="1" dirty="0" smtClean="0">
                <a:solidFill>
                  <a:srgbClr val="FF6600"/>
                </a:solidFill>
                <a:latin typeface="Helvetica" pitchFamily="34" charset="0"/>
              </a:rPr>
              <a:t>Checking and cleaning customer facilities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752528"/>
          </a:xfrm>
        </p:spPr>
        <p:txBody>
          <a:bodyPr>
            <a:normAutofit/>
          </a:bodyPr>
          <a:lstStyle/>
          <a:p>
            <a:pPr>
              <a:spcBef>
                <a:spcPts val="600"/>
              </a:spcBef>
              <a:spcAft>
                <a:spcPts val="1200"/>
              </a:spcAft>
              <a:buNone/>
            </a:pPr>
            <a:r>
              <a:rPr lang="en-US" altLang="zh-CN" sz="2200" b="1" dirty="0" smtClean="0">
                <a:latin typeface="Helvetica" pitchFamily="34" charset="0"/>
                <a:ea typeface="宋体" pitchFamily="2" charset="-122"/>
              </a:rPr>
              <a:t>Smoking areas:</a:t>
            </a:r>
          </a:p>
          <a:p>
            <a:pPr lvl="0">
              <a:spcBef>
                <a:spcPts val="600"/>
              </a:spcBef>
              <a:spcAft>
                <a:spcPts val="1200"/>
              </a:spcAft>
            </a:pPr>
            <a:r>
              <a:rPr lang="en-AU" sz="2200" dirty="0" smtClean="0">
                <a:latin typeface="Helvetica" pitchFamily="34" charset="0"/>
              </a:rPr>
              <a:t>Checking that the cleaning of this area has been done</a:t>
            </a:r>
          </a:p>
          <a:p>
            <a:pPr lvl="0">
              <a:spcBef>
                <a:spcPts val="600"/>
              </a:spcBef>
              <a:spcAft>
                <a:spcPts val="1200"/>
              </a:spcAft>
            </a:pPr>
            <a:r>
              <a:rPr lang="en-AU" sz="2200" dirty="0" smtClean="0">
                <a:latin typeface="Helvetica" pitchFamily="34" charset="0"/>
              </a:rPr>
              <a:t>Doing spot cleaning of areas</a:t>
            </a:r>
          </a:p>
          <a:p>
            <a:pPr lvl="0">
              <a:spcBef>
                <a:spcPts val="600"/>
              </a:spcBef>
              <a:spcAft>
                <a:spcPts val="1200"/>
              </a:spcAft>
            </a:pPr>
            <a:r>
              <a:rPr lang="en-AU" sz="2200" dirty="0" smtClean="0">
                <a:latin typeface="Helvetica" pitchFamily="34" charset="0"/>
              </a:rPr>
              <a:t>Placing ashtrays</a:t>
            </a:r>
          </a:p>
          <a:p>
            <a:pPr lvl="0">
              <a:spcBef>
                <a:spcPts val="600"/>
              </a:spcBef>
              <a:spcAft>
                <a:spcPts val="1200"/>
              </a:spcAft>
            </a:pPr>
            <a:r>
              <a:rPr lang="en-AU" sz="2200" dirty="0" smtClean="0">
                <a:latin typeface="Helvetica" pitchFamily="34" charset="0"/>
              </a:rPr>
              <a:t>Placing advertising material</a:t>
            </a:r>
          </a:p>
          <a:p>
            <a:pPr lvl="0">
              <a:spcBef>
                <a:spcPts val="600"/>
              </a:spcBef>
              <a:spcAft>
                <a:spcPts val="1200"/>
              </a:spcAft>
            </a:pPr>
            <a:r>
              <a:rPr lang="en-AU" sz="2200" dirty="0" smtClean="0">
                <a:latin typeface="Helvetica" pitchFamily="34" charset="0"/>
              </a:rPr>
              <a:t>Watering </a:t>
            </a:r>
            <a:r>
              <a:rPr lang="en-AU" sz="2200" dirty="0" smtClean="0">
                <a:latin typeface="Helvetica" pitchFamily="34" charset="0"/>
              </a:rPr>
              <a:t>plants</a:t>
            </a:r>
            <a:endParaRPr lang="en-AU" sz="2200" dirty="0" smtClean="0">
              <a:latin typeface="Helvetica" pitchFamily="34" charset="0"/>
            </a:endParaRPr>
          </a:p>
          <a:p>
            <a:pPr lvl="0" algn="ctr">
              <a:spcBef>
                <a:spcPts val="600"/>
              </a:spcBef>
              <a:spcAft>
                <a:spcPts val="1200"/>
              </a:spcAft>
              <a:buNone/>
            </a:pPr>
            <a:r>
              <a:rPr lang="en-AU" altLang="zh-CN" sz="2200" i="1" dirty="0" smtClean="0">
                <a:latin typeface="Helvetica" pitchFamily="34" charset="0"/>
                <a:ea typeface="宋体" pitchFamily="2" charset="-122"/>
              </a:rPr>
              <a:t>Use a Checklist to help with inspections</a:t>
            </a:r>
            <a:endParaRPr lang="en-AU" sz="2200" dirty="0" smtClean="0">
              <a:latin typeface="Helvetica" pitchFamily="34" charset="0"/>
            </a:endParaRPr>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7" name="Picture 6" descr="MP900407336.JPG"/>
          <p:cNvPicPr/>
          <p:nvPr/>
        </p:nvPicPr>
        <p:blipFill>
          <a:blip r:embed="rId3" cstate="print"/>
          <a:stretch>
            <a:fillRect/>
          </a:stretch>
        </p:blipFill>
        <p:spPr>
          <a:xfrm>
            <a:off x="6012160" y="2780928"/>
            <a:ext cx="2589064" cy="1890886"/>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200" b="1" dirty="0" smtClean="0">
                <a:solidFill>
                  <a:srgbClr val="FF6600"/>
                </a:solidFill>
                <a:latin typeface="Helvetica" pitchFamily="34" charset="0"/>
              </a:rPr>
              <a:t>Checking and cleaning customer facilities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752528"/>
          </a:xfrm>
        </p:spPr>
        <p:txBody>
          <a:bodyPr>
            <a:normAutofit/>
          </a:bodyPr>
          <a:lstStyle/>
          <a:p>
            <a:pPr>
              <a:spcBef>
                <a:spcPts val="600"/>
              </a:spcBef>
              <a:spcAft>
                <a:spcPts val="1200"/>
              </a:spcAft>
              <a:buNone/>
            </a:pPr>
            <a:r>
              <a:rPr lang="en-AU" sz="2200" b="1" dirty="0" smtClean="0">
                <a:latin typeface="Helvetica" pitchFamily="34" charset="0"/>
              </a:rPr>
              <a:t>External areas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External areas are areas outside the premises and can include footpaths, gardens and car parks:</a:t>
            </a:r>
          </a:p>
          <a:p>
            <a:pPr lvl="0">
              <a:spcBef>
                <a:spcPts val="600"/>
              </a:spcBef>
              <a:spcAft>
                <a:spcPts val="1200"/>
              </a:spcAft>
            </a:pPr>
            <a:r>
              <a:rPr lang="en-AU" sz="2200" dirty="0" smtClean="0">
                <a:latin typeface="Helvetica" pitchFamily="34" charset="0"/>
              </a:rPr>
              <a:t>Sweeping or hosing an area</a:t>
            </a:r>
          </a:p>
          <a:p>
            <a:pPr lvl="0">
              <a:spcBef>
                <a:spcPts val="600"/>
              </a:spcBef>
              <a:spcAft>
                <a:spcPts val="1200"/>
              </a:spcAft>
            </a:pPr>
            <a:r>
              <a:rPr lang="en-AU" sz="2200" dirty="0" smtClean="0">
                <a:latin typeface="Helvetica" pitchFamily="34" charset="0"/>
              </a:rPr>
              <a:t>Picking up rubbish</a:t>
            </a:r>
          </a:p>
          <a:p>
            <a:pPr lvl="0">
              <a:spcBef>
                <a:spcPts val="600"/>
              </a:spcBef>
              <a:spcAft>
                <a:spcPts val="1200"/>
              </a:spcAft>
            </a:pPr>
            <a:r>
              <a:rPr lang="en-AU" sz="2200" dirty="0" smtClean="0">
                <a:latin typeface="Helvetica" pitchFamily="34" charset="0"/>
              </a:rPr>
              <a:t>Collecting any glasses that guests may                                           have taken outside</a:t>
            </a:r>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6" name="Picture 5" descr="MP900443695[1].JPG"/>
          <p:cNvPicPr/>
          <p:nvPr/>
        </p:nvPicPr>
        <p:blipFill>
          <a:blip r:embed="rId3" cstate="print"/>
          <a:stretch>
            <a:fillRect/>
          </a:stretch>
        </p:blipFill>
        <p:spPr>
          <a:xfrm>
            <a:off x="6732240" y="3212976"/>
            <a:ext cx="1642864" cy="2094731"/>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US" sz="3200" b="1" dirty="0" smtClean="0">
                <a:solidFill>
                  <a:srgbClr val="FF6600"/>
                </a:solidFill>
                <a:latin typeface="Helvetica" pitchFamily="34" charset="0"/>
              </a:rPr>
              <a:t>Prepare comfort and ambiance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776864" cy="5040560"/>
          </a:xfrm>
        </p:spPr>
        <p:txBody>
          <a:bodyPr>
            <a:normAutofit/>
          </a:bodyPr>
          <a:lstStyle/>
          <a:p>
            <a:pPr marL="0">
              <a:spcBef>
                <a:spcPts val="600"/>
              </a:spcBef>
              <a:spcAft>
                <a:spcPts val="1200"/>
              </a:spcAft>
              <a:buNone/>
            </a:pPr>
            <a:r>
              <a:rPr lang="en-AU" sz="2200" dirty="0" smtClean="0">
                <a:latin typeface="Helvetica" pitchFamily="34" charset="0"/>
              </a:rPr>
              <a:t>The ambience and comfort level of a restaurant must be taken into consideration when preparing for service. </a:t>
            </a:r>
          </a:p>
          <a:p>
            <a:pPr>
              <a:spcBef>
                <a:spcPts val="600"/>
              </a:spcBef>
              <a:spcAft>
                <a:spcPts val="1200"/>
              </a:spcAft>
              <a:buNone/>
            </a:pPr>
            <a:r>
              <a:rPr lang="en-AU" sz="2200" dirty="0" smtClean="0">
                <a:latin typeface="Helvetica" pitchFamily="34" charset="0"/>
              </a:rPr>
              <a:t>This normally takes into consideration:</a:t>
            </a:r>
          </a:p>
          <a:p>
            <a:pPr>
              <a:spcBef>
                <a:spcPts val="600"/>
              </a:spcBef>
              <a:spcAft>
                <a:spcPts val="1200"/>
              </a:spcAft>
            </a:pPr>
            <a:r>
              <a:rPr lang="en-AU" sz="2200" dirty="0" smtClean="0">
                <a:latin typeface="Helvetica" pitchFamily="34" charset="0"/>
              </a:rPr>
              <a:t>Temperature</a:t>
            </a:r>
          </a:p>
          <a:p>
            <a:pPr>
              <a:spcBef>
                <a:spcPts val="600"/>
              </a:spcBef>
              <a:spcAft>
                <a:spcPts val="1200"/>
              </a:spcAft>
            </a:pPr>
            <a:r>
              <a:rPr lang="en-AU" sz="2200" dirty="0" smtClean="0">
                <a:latin typeface="Helvetica" pitchFamily="34" charset="0"/>
              </a:rPr>
              <a:t>Noise </a:t>
            </a:r>
          </a:p>
          <a:p>
            <a:pPr>
              <a:spcBef>
                <a:spcPts val="600"/>
              </a:spcBef>
              <a:spcAft>
                <a:spcPts val="1200"/>
              </a:spcAft>
            </a:pPr>
            <a:r>
              <a:rPr lang="en-AU" sz="2200" dirty="0" smtClean="0">
                <a:latin typeface="Helvetica" pitchFamily="34" charset="0"/>
              </a:rPr>
              <a:t>Lighting</a:t>
            </a:r>
          </a:p>
          <a:p>
            <a:pPr>
              <a:buNone/>
            </a:pPr>
            <a:endParaRPr lang="en-AU" sz="2400" dirty="0" smtClean="0"/>
          </a:p>
          <a:p>
            <a:pPr>
              <a:buNone/>
            </a:pPr>
            <a:endParaRPr lang="en-AU" sz="2400" dirty="0" smtClean="0"/>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7" name="Picture 8" descr="Page11Top-Restaurant"/>
          <p:cNvPicPr>
            <a:picLocks noChangeAspect="1" noChangeArrowheads="1"/>
          </p:cNvPicPr>
          <p:nvPr/>
        </p:nvPicPr>
        <p:blipFill>
          <a:blip r:embed="rId3" cstate="print"/>
          <a:srcRect/>
          <a:stretch>
            <a:fillRect/>
          </a:stretch>
        </p:blipFill>
        <p:spPr bwMode="auto">
          <a:xfrm>
            <a:off x="5436096" y="3212976"/>
            <a:ext cx="3024336" cy="2017745"/>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US" sz="3200" b="1" dirty="0" smtClean="0">
                <a:solidFill>
                  <a:srgbClr val="FF6600"/>
                </a:solidFill>
                <a:latin typeface="Helvetica" pitchFamily="34" charset="0"/>
              </a:rPr>
              <a:t>Prepare comfort and ambiance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a:spcBef>
                <a:spcPts val="600"/>
              </a:spcBef>
              <a:spcAft>
                <a:spcPts val="1200"/>
              </a:spcAft>
              <a:buNone/>
            </a:pPr>
            <a:r>
              <a:rPr lang="en-AU" sz="2200" b="1" dirty="0" smtClean="0">
                <a:latin typeface="Helvetica" pitchFamily="34" charset="0"/>
              </a:rPr>
              <a:t>Temperature:</a:t>
            </a:r>
          </a:p>
          <a:p>
            <a:pPr marL="0">
              <a:spcBef>
                <a:spcPts val="600"/>
              </a:spcBef>
              <a:spcAft>
                <a:spcPts val="1200"/>
              </a:spcAft>
            </a:pPr>
            <a:r>
              <a:rPr lang="en-AU" sz="2200" dirty="0" smtClean="0">
                <a:latin typeface="Helvetica" pitchFamily="34" charset="0"/>
              </a:rPr>
              <a:t>Set at a ‘Comfortable’ temperature</a:t>
            </a:r>
          </a:p>
          <a:p>
            <a:pPr marL="0">
              <a:spcBef>
                <a:spcPts val="600"/>
              </a:spcBef>
              <a:spcAft>
                <a:spcPts val="1200"/>
              </a:spcAft>
            </a:pPr>
            <a:r>
              <a:rPr lang="en-AU" sz="2200" dirty="0" smtClean="0">
                <a:latin typeface="Helvetica" pitchFamily="34" charset="0"/>
              </a:rPr>
              <a:t>Considering outside weather</a:t>
            </a:r>
          </a:p>
          <a:p>
            <a:pPr marL="0">
              <a:spcBef>
                <a:spcPts val="600"/>
              </a:spcBef>
              <a:spcAft>
                <a:spcPts val="1200"/>
              </a:spcAft>
            </a:pPr>
            <a:r>
              <a:rPr lang="en-AU" sz="2200" dirty="0" smtClean="0">
                <a:latin typeface="Helvetica" pitchFamily="34" charset="0"/>
              </a:rPr>
              <a:t>Considering expected trade</a:t>
            </a:r>
          </a:p>
          <a:p>
            <a:pPr marL="406800">
              <a:spcBef>
                <a:spcPts val="600"/>
              </a:spcBef>
              <a:spcAft>
                <a:spcPts val="1200"/>
              </a:spcAft>
            </a:pPr>
            <a:r>
              <a:rPr lang="en-AU" sz="2200" dirty="0" smtClean="0">
                <a:latin typeface="Helvetica" pitchFamily="34" charset="0"/>
              </a:rPr>
              <a:t>Generally speaking, the temperature level                           should be a ‘set and forget’ issue</a:t>
            </a:r>
          </a:p>
          <a:p>
            <a:pPr>
              <a:buNone/>
            </a:pPr>
            <a:endParaRPr lang="en-AU" sz="2400" dirty="0" smtClean="0"/>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6" name="Picture 5" descr="http://www.thechimneydoctors.com/fireplace-main_full.jpg"/>
          <p:cNvPicPr/>
          <p:nvPr/>
        </p:nvPicPr>
        <p:blipFill>
          <a:blip r:embed="rId3" cstate="print"/>
          <a:srcRect/>
          <a:stretch>
            <a:fillRect/>
          </a:stretch>
        </p:blipFill>
        <p:spPr bwMode="auto">
          <a:xfrm>
            <a:off x="5364088" y="3933056"/>
            <a:ext cx="2998911" cy="170707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Prepare comfort and ambiance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632848" cy="4958011"/>
          </a:xfrm>
        </p:spPr>
        <p:txBody>
          <a:bodyPr>
            <a:normAutofit/>
          </a:bodyPr>
          <a:lstStyle/>
          <a:p>
            <a:pPr marL="0">
              <a:spcBef>
                <a:spcPts val="600"/>
              </a:spcBef>
              <a:spcAft>
                <a:spcPts val="1200"/>
              </a:spcAft>
              <a:buNone/>
            </a:pPr>
            <a:r>
              <a:rPr lang="en-AU" sz="2200" b="1" dirty="0" smtClean="0">
                <a:latin typeface="Helvetica" pitchFamily="34" charset="0"/>
              </a:rPr>
              <a:t>Lighting</a:t>
            </a:r>
          </a:p>
          <a:p>
            <a:pPr>
              <a:spcBef>
                <a:spcPts val="600"/>
              </a:spcBef>
              <a:spcAft>
                <a:spcPts val="1200"/>
              </a:spcAft>
              <a:buNone/>
            </a:pPr>
            <a:r>
              <a:rPr lang="en-AU" sz="2200" dirty="0" smtClean="0">
                <a:latin typeface="Helvetica" pitchFamily="34" charset="0"/>
              </a:rPr>
              <a:t>Checks must be made to ensure:</a:t>
            </a:r>
          </a:p>
          <a:p>
            <a:pPr lvl="0">
              <a:spcBef>
                <a:spcPts val="600"/>
              </a:spcBef>
              <a:spcAft>
                <a:spcPts val="1200"/>
              </a:spcAft>
            </a:pPr>
            <a:r>
              <a:rPr lang="en-AU" sz="2200" dirty="0" smtClean="0">
                <a:latin typeface="Helvetica" pitchFamily="34" charset="0"/>
              </a:rPr>
              <a:t>No blown bulbs</a:t>
            </a:r>
          </a:p>
          <a:p>
            <a:pPr lvl="0">
              <a:spcBef>
                <a:spcPts val="600"/>
              </a:spcBef>
              <a:spcAft>
                <a:spcPts val="1200"/>
              </a:spcAft>
            </a:pPr>
            <a:r>
              <a:rPr lang="en-AU" sz="2200" dirty="0" smtClean="0">
                <a:latin typeface="Helvetica" pitchFamily="34" charset="0"/>
              </a:rPr>
              <a:t>No flickering fluorescents</a:t>
            </a:r>
          </a:p>
          <a:p>
            <a:pPr lvl="0">
              <a:spcBef>
                <a:spcPts val="600"/>
              </a:spcBef>
              <a:spcAft>
                <a:spcPts val="1200"/>
              </a:spcAft>
            </a:pPr>
            <a:r>
              <a:rPr lang="en-AU" sz="2200" dirty="0" smtClean="0">
                <a:latin typeface="Helvetica" pitchFamily="34" charset="0"/>
              </a:rPr>
              <a:t>Dimmers are set at the correct setting</a:t>
            </a:r>
          </a:p>
          <a:p>
            <a:pPr lvl="0">
              <a:spcBef>
                <a:spcPts val="600"/>
              </a:spcBef>
              <a:spcAft>
                <a:spcPts val="1200"/>
              </a:spcAft>
            </a:pPr>
            <a:r>
              <a:rPr lang="en-AU" sz="2200" dirty="0" smtClean="0">
                <a:latin typeface="Helvetica" pitchFamily="34" charset="0"/>
              </a:rPr>
              <a:t>Lights are on or off as required</a:t>
            </a:r>
          </a:p>
          <a:p>
            <a:pPr>
              <a:buNone/>
            </a:pPr>
            <a:endParaRPr lang="en-AU" sz="2400" dirty="0" smtClean="0"/>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7" name="Picture 6" descr="Mood-Candle-Tube"/>
          <p:cNvPicPr>
            <a:picLocks noChangeAspect="1" noChangeArrowheads="1"/>
          </p:cNvPicPr>
          <p:nvPr/>
        </p:nvPicPr>
        <p:blipFill>
          <a:blip r:embed="rId3" cstate="print"/>
          <a:srcRect/>
          <a:stretch>
            <a:fillRect/>
          </a:stretch>
        </p:blipFill>
        <p:spPr bwMode="auto">
          <a:xfrm>
            <a:off x="5940152" y="3645024"/>
            <a:ext cx="2421815" cy="1720925"/>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Prepare comfort and ambiance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a:spcBef>
                <a:spcPts val="600"/>
              </a:spcBef>
              <a:spcAft>
                <a:spcPts val="1200"/>
              </a:spcAft>
              <a:buNone/>
            </a:pPr>
            <a:r>
              <a:rPr lang="en-AU" sz="2200" b="1" dirty="0" smtClean="0">
                <a:latin typeface="Helvetica" pitchFamily="34" charset="0"/>
              </a:rPr>
              <a:t>Volume/Music</a:t>
            </a:r>
          </a:p>
          <a:p>
            <a:pPr marL="0">
              <a:spcBef>
                <a:spcPts val="600"/>
              </a:spcBef>
              <a:spcAft>
                <a:spcPts val="1200"/>
              </a:spcAft>
              <a:buNone/>
            </a:pPr>
            <a:r>
              <a:rPr lang="en-AU" sz="2200" dirty="0" smtClean="0">
                <a:latin typeface="Helvetica" pitchFamily="34" charset="0"/>
              </a:rPr>
              <a:t>The music should aim to: </a:t>
            </a:r>
          </a:p>
          <a:p>
            <a:pPr lvl="0">
              <a:spcBef>
                <a:spcPts val="600"/>
              </a:spcBef>
              <a:spcAft>
                <a:spcPts val="1200"/>
              </a:spcAft>
            </a:pPr>
            <a:r>
              <a:rPr lang="en-AU" sz="2200" dirty="0" smtClean="0">
                <a:latin typeface="Helvetica" pitchFamily="34" charset="0"/>
              </a:rPr>
              <a:t>Appropriate for the meal period and theme</a:t>
            </a:r>
          </a:p>
          <a:p>
            <a:pPr lvl="0">
              <a:spcBef>
                <a:spcPts val="600"/>
              </a:spcBef>
              <a:spcAft>
                <a:spcPts val="1200"/>
              </a:spcAft>
            </a:pPr>
            <a:r>
              <a:rPr lang="en-AU" sz="2200" dirty="0" smtClean="0">
                <a:latin typeface="Helvetica" pitchFamily="34" charset="0"/>
              </a:rPr>
              <a:t>Provide a background to the dining experience</a:t>
            </a:r>
          </a:p>
          <a:p>
            <a:pPr lvl="0">
              <a:spcBef>
                <a:spcPts val="600"/>
              </a:spcBef>
              <a:spcAft>
                <a:spcPts val="1200"/>
              </a:spcAft>
            </a:pPr>
            <a:r>
              <a:rPr lang="en-AU" sz="2200" dirty="0" smtClean="0">
                <a:latin typeface="Helvetica" pitchFamily="34" charset="0"/>
              </a:rPr>
              <a:t>Mask conversations of other patrons</a:t>
            </a:r>
          </a:p>
          <a:p>
            <a:pPr lvl="0">
              <a:spcBef>
                <a:spcPts val="600"/>
              </a:spcBef>
              <a:spcAft>
                <a:spcPts val="1200"/>
              </a:spcAft>
            </a:pPr>
            <a:r>
              <a:rPr lang="en-AU" sz="2200" dirty="0" smtClean="0">
                <a:latin typeface="Helvetica" pitchFamily="34" charset="0"/>
              </a:rPr>
              <a:t>Create atmosphere</a:t>
            </a:r>
          </a:p>
          <a:p>
            <a:pPr>
              <a:buNone/>
            </a:pPr>
            <a:endParaRPr lang="en-AU" sz="2400" dirty="0" smtClean="0"/>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6" name="Picture 5" descr="http://blogs.thenews.com.pk/blogs/wp-content/uploads/2012/03/music.jpg"/>
          <p:cNvPicPr/>
          <p:nvPr/>
        </p:nvPicPr>
        <p:blipFill>
          <a:blip r:embed="rId3" cstate="print"/>
          <a:srcRect/>
          <a:stretch>
            <a:fillRect/>
          </a:stretch>
        </p:blipFill>
        <p:spPr bwMode="auto">
          <a:xfrm>
            <a:off x="5868144" y="3789040"/>
            <a:ext cx="2513856" cy="170537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Prepare comfort and ambiance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a:spcBef>
                <a:spcPts val="600"/>
              </a:spcBef>
              <a:spcAft>
                <a:spcPts val="1200"/>
              </a:spcAft>
              <a:buNone/>
            </a:pPr>
            <a:r>
              <a:rPr lang="en-AU" sz="2200" b="1" dirty="0" smtClean="0">
                <a:latin typeface="Helvetica" pitchFamily="34" charset="0"/>
              </a:rPr>
              <a:t>Other considerations:</a:t>
            </a:r>
          </a:p>
          <a:p>
            <a:pPr lvl="0">
              <a:spcBef>
                <a:spcPts val="600"/>
              </a:spcBef>
              <a:spcAft>
                <a:spcPts val="1200"/>
              </a:spcAft>
            </a:pPr>
            <a:r>
              <a:rPr lang="en-AU" sz="2200" dirty="0" smtClean="0">
                <a:latin typeface="Helvetica" pitchFamily="34" charset="0"/>
              </a:rPr>
              <a:t>Table decorations</a:t>
            </a:r>
          </a:p>
          <a:p>
            <a:pPr lvl="0">
              <a:spcBef>
                <a:spcPts val="600"/>
              </a:spcBef>
              <a:spcAft>
                <a:spcPts val="1200"/>
              </a:spcAft>
            </a:pPr>
            <a:r>
              <a:rPr lang="en-AU" sz="2200" dirty="0" smtClean="0">
                <a:latin typeface="Helvetica" pitchFamily="34" charset="0"/>
              </a:rPr>
              <a:t>Floor displays</a:t>
            </a:r>
          </a:p>
          <a:p>
            <a:pPr lvl="0">
              <a:spcBef>
                <a:spcPts val="600"/>
              </a:spcBef>
              <a:spcAft>
                <a:spcPts val="1200"/>
              </a:spcAft>
            </a:pPr>
            <a:r>
              <a:rPr lang="en-AU" sz="2200" dirty="0" smtClean="0">
                <a:latin typeface="Helvetica" pitchFamily="34" charset="0"/>
              </a:rPr>
              <a:t>Smells</a:t>
            </a:r>
          </a:p>
          <a:p>
            <a:pPr lvl="0">
              <a:spcBef>
                <a:spcPts val="600"/>
              </a:spcBef>
              <a:spcAft>
                <a:spcPts val="1200"/>
              </a:spcAft>
            </a:pPr>
            <a:r>
              <a:rPr lang="en-AU" sz="2200" dirty="0" smtClean="0">
                <a:latin typeface="Helvetica" pitchFamily="34" charset="0"/>
              </a:rPr>
              <a:t>What other ways can you create                                       comfort and ambiance?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7" name="Picture 6" descr="MP900443646[1].JPG"/>
          <p:cNvPicPr/>
          <p:nvPr/>
        </p:nvPicPr>
        <p:blipFill>
          <a:blip r:embed="rId3" cstate="print"/>
          <a:stretch>
            <a:fillRect/>
          </a:stretch>
        </p:blipFill>
        <p:spPr>
          <a:xfrm>
            <a:off x="6444208" y="3068960"/>
            <a:ext cx="1956033" cy="2342555"/>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Set up furniture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a:spcBef>
                <a:spcPts val="600"/>
              </a:spcBef>
              <a:spcAft>
                <a:spcPts val="1200"/>
              </a:spcAft>
            </a:pPr>
            <a:r>
              <a:rPr lang="en-AU" sz="2200" dirty="0" smtClean="0">
                <a:latin typeface="Helvetica" pitchFamily="34" charset="0"/>
              </a:rPr>
              <a:t>Another major task in preparing a food and beverage service area for service is to set up the furniture in the room</a:t>
            </a:r>
          </a:p>
          <a:p>
            <a:pPr>
              <a:spcBef>
                <a:spcPts val="600"/>
              </a:spcBef>
              <a:spcAft>
                <a:spcPts val="1200"/>
              </a:spcAft>
            </a:pPr>
            <a:r>
              <a:rPr lang="en-AU" sz="2200" dirty="0" smtClean="0">
                <a:latin typeface="Helvetica" pitchFamily="34" charset="0"/>
              </a:rPr>
              <a:t>‘Furniture’ primarily refers to tables and chairs</a:t>
            </a:r>
          </a:p>
          <a:p>
            <a:pPr>
              <a:buNone/>
            </a:pPr>
            <a:endParaRPr lang="en-AU" sz="2400" dirty="0" smtClean="0"/>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6" name="Picture 5" descr="MP900309026.JPG"/>
          <p:cNvPicPr/>
          <p:nvPr/>
        </p:nvPicPr>
        <p:blipFill>
          <a:blip r:embed="rId3" cstate="print"/>
          <a:stretch>
            <a:fillRect/>
          </a:stretch>
        </p:blipFill>
        <p:spPr>
          <a:xfrm>
            <a:off x="5652120" y="3645024"/>
            <a:ext cx="2721585" cy="1872208"/>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Set up furniture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a:spcBef>
                <a:spcPts val="600"/>
              </a:spcBef>
              <a:spcAft>
                <a:spcPts val="1200"/>
              </a:spcAft>
              <a:buNone/>
            </a:pPr>
            <a:r>
              <a:rPr lang="en-AU" sz="2200" b="1" dirty="0" smtClean="0">
                <a:latin typeface="Helvetica" pitchFamily="34" charset="0"/>
              </a:rPr>
              <a:t>Floor plan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 floor plan is a map of how the tables are to be positioned in a dining area/restaurant.</a:t>
            </a:r>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7" name="Picture 6" descr="Floor_Plan"/>
          <p:cNvPicPr/>
          <p:nvPr/>
        </p:nvPicPr>
        <p:blipFill>
          <a:blip r:embed="rId3" cstate="print"/>
          <a:srcRect/>
          <a:stretch>
            <a:fillRect/>
          </a:stretch>
        </p:blipFill>
        <p:spPr bwMode="auto">
          <a:xfrm>
            <a:off x="1763688" y="2924944"/>
            <a:ext cx="4752528" cy="25922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Set up furniture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848872" cy="5256584"/>
          </a:xfrm>
        </p:spPr>
        <p:txBody>
          <a:bodyPr>
            <a:normAutofit/>
          </a:bodyPr>
          <a:lstStyle/>
          <a:p>
            <a:pPr>
              <a:spcBef>
                <a:spcPts val="600"/>
              </a:spcBef>
              <a:spcAft>
                <a:spcPts val="1200"/>
              </a:spcAft>
              <a:buNone/>
            </a:pPr>
            <a:r>
              <a:rPr lang="en-AU" sz="2200" b="1" dirty="0" smtClean="0">
                <a:latin typeface="Helvetica" pitchFamily="34" charset="0"/>
              </a:rPr>
              <a:t>Floor plan</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A floor plan sets out: </a:t>
            </a:r>
          </a:p>
          <a:p>
            <a:pPr lvl="0">
              <a:spcBef>
                <a:spcPts val="600"/>
              </a:spcBef>
              <a:spcAft>
                <a:spcPts val="1200"/>
              </a:spcAft>
            </a:pPr>
            <a:r>
              <a:rPr lang="en-AU" sz="2200" dirty="0" smtClean="0">
                <a:latin typeface="Helvetica" pitchFamily="34" charset="0"/>
              </a:rPr>
              <a:t>Where the tables will be physically positioned </a:t>
            </a:r>
          </a:p>
          <a:p>
            <a:pPr lvl="0">
              <a:spcBef>
                <a:spcPts val="600"/>
              </a:spcBef>
              <a:spcAft>
                <a:spcPts val="1200"/>
              </a:spcAft>
            </a:pPr>
            <a:r>
              <a:rPr lang="en-AU" sz="2200" dirty="0" smtClean="0">
                <a:latin typeface="Helvetica" pitchFamily="34" charset="0"/>
              </a:rPr>
              <a:t>The number of covers on each table </a:t>
            </a:r>
          </a:p>
          <a:p>
            <a:pPr lvl="0">
              <a:spcBef>
                <a:spcPts val="600"/>
              </a:spcBef>
              <a:spcAft>
                <a:spcPts val="1200"/>
              </a:spcAft>
            </a:pPr>
            <a:r>
              <a:rPr lang="en-AU" sz="2200" dirty="0" smtClean="0">
                <a:latin typeface="Helvetica" pitchFamily="34" charset="0"/>
              </a:rPr>
              <a:t>The table numbers</a:t>
            </a:r>
          </a:p>
          <a:p>
            <a:pPr lvl="0">
              <a:spcBef>
                <a:spcPts val="600"/>
              </a:spcBef>
              <a:spcAft>
                <a:spcPts val="1200"/>
              </a:spcAft>
            </a:pPr>
            <a:r>
              <a:rPr lang="en-AU" sz="2200" dirty="0" smtClean="0">
                <a:latin typeface="Helvetica" pitchFamily="34" charset="0"/>
              </a:rPr>
              <a:t>Which waiters will serve which tables</a:t>
            </a:r>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6" name="Picture 7" descr="f&amp;b%20restaurant1"/>
          <p:cNvPicPr>
            <a:picLocks noChangeAspect="1" noChangeArrowheads="1"/>
          </p:cNvPicPr>
          <p:nvPr/>
        </p:nvPicPr>
        <p:blipFill>
          <a:blip r:embed="rId3" cstate="print"/>
          <a:srcRect/>
          <a:stretch>
            <a:fillRect/>
          </a:stretch>
        </p:blipFill>
        <p:spPr bwMode="auto">
          <a:xfrm>
            <a:off x="5796136" y="3717032"/>
            <a:ext cx="2657571" cy="1720156"/>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Set up furniture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776864" cy="4958011"/>
          </a:xfrm>
        </p:spPr>
        <p:txBody>
          <a:bodyPr>
            <a:normAutofit lnSpcReduction="10000"/>
          </a:bodyPr>
          <a:lstStyle/>
          <a:p>
            <a:pPr>
              <a:spcBef>
                <a:spcPts val="600"/>
              </a:spcBef>
              <a:spcAft>
                <a:spcPts val="1200"/>
              </a:spcAft>
              <a:buNone/>
            </a:pPr>
            <a:r>
              <a:rPr lang="en-AU" sz="2200" b="1" dirty="0" smtClean="0">
                <a:latin typeface="Helvetica" pitchFamily="34" charset="0"/>
              </a:rPr>
              <a:t>Floor plan considerations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Reservations:</a:t>
            </a:r>
          </a:p>
          <a:p>
            <a:pPr lvl="0">
              <a:spcBef>
                <a:spcPts val="600"/>
              </a:spcBef>
              <a:spcAft>
                <a:spcPts val="1200"/>
              </a:spcAft>
            </a:pPr>
            <a:r>
              <a:rPr lang="en-AU" sz="2200" dirty="0" smtClean="0">
                <a:latin typeface="Helvetica" pitchFamily="34" charset="0"/>
              </a:rPr>
              <a:t>Number of guests</a:t>
            </a:r>
          </a:p>
          <a:p>
            <a:pPr lvl="0">
              <a:spcBef>
                <a:spcPts val="600"/>
              </a:spcBef>
              <a:spcAft>
                <a:spcPts val="1200"/>
              </a:spcAft>
            </a:pPr>
            <a:r>
              <a:rPr lang="en-AU" sz="2200" dirty="0" smtClean="0">
                <a:latin typeface="Helvetica" pitchFamily="34" charset="0"/>
              </a:rPr>
              <a:t>Size of bookings</a:t>
            </a:r>
          </a:p>
          <a:p>
            <a:pPr lvl="0">
              <a:spcBef>
                <a:spcPts val="600"/>
              </a:spcBef>
              <a:spcAft>
                <a:spcPts val="1200"/>
              </a:spcAft>
            </a:pPr>
            <a:r>
              <a:rPr lang="en-AU" sz="2200" dirty="0" smtClean="0">
                <a:latin typeface="Helvetica" pitchFamily="34" charset="0"/>
              </a:rPr>
              <a:t>Customer’s arrival time</a:t>
            </a:r>
          </a:p>
          <a:p>
            <a:pPr lvl="0">
              <a:spcBef>
                <a:spcPts val="600"/>
              </a:spcBef>
              <a:spcAft>
                <a:spcPts val="1200"/>
              </a:spcAft>
            </a:pPr>
            <a:r>
              <a:rPr lang="en-AU" sz="2200" dirty="0" smtClean="0">
                <a:latin typeface="Helvetica" pitchFamily="34" charset="0"/>
              </a:rPr>
              <a:t>Customer/party name</a:t>
            </a:r>
          </a:p>
          <a:p>
            <a:pPr lvl="0">
              <a:spcBef>
                <a:spcPts val="600"/>
              </a:spcBef>
              <a:spcAft>
                <a:spcPts val="1200"/>
              </a:spcAft>
            </a:pPr>
            <a:r>
              <a:rPr lang="en-AU" sz="2200" dirty="0" smtClean="0">
                <a:latin typeface="Helvetica" pitchFamily="34" charset="0"/>
              </a:rPr>
              <a:t>Special requests</a:t>
            </a:r>
          </a:p>
          <a:p>
            <a:pPr lvl="0">
              <a:spcBef>
                <a:spcPts val="600"/>
              </a:spcBef>
              <a:spcAft>
                <a:spcPts val="1200"/>
              </a:spcAft>
            </a:pPr>
            <a:r>
              <a:rPr lang="en-AU" sz="2200" dirty="0" smtClean="0">
                <a:latin typeface="Helvetica" pitchFamily="34" charset="0"/>
              </a:rPr>
              <a:t>Needs of guests</a:t>
            </a:r>
          </a:p>
          <a:p>
            <a:pPr lvl="0">
              <a:spcBef>
                <a:spcPts val="600"/>
              </a:spcBef>
              <a:spcAft>
                <a:spcPts val="1200"/>
              </a:spcAft>
            </a:pPr>
            <a:r>
              <a:rPr lang="en-AU" sz="2200" dirty="0" smtClean="0">
                <a:latin typeface="Helvetica" pitchFamily="34" charset="0"/>
              </a:rPr>
              <a:t>Contact details</a:t>
            </a:r>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7" name="Picture 4" descr="Restaurant 9"/>
          <p:cNvPicPr>
            <a:picLocks noChangeAspect="1" noChangeArrowheads="1"/>
          </p:cNvPicPr>
          <p:nvPr/>
        </p:nvPicPr>
        <p:blipFill>
          <a:blip r:embed="rId3" cstate="print"/>
          <a:srcRect/>
          <a:stretch>
            <a:fillRect/>
          </a:stretch>
        </p:blipFill>
        <p:spPr bwMode="auto">
          <a:xfrm>
            <a:off x="5364088" y="3284984"/>
            <a:ext cx="3018730" cy="2026013"/>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Set up furniture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72608"/>
          </a:xfrm>
        </p:spPr>
        <p:txBody>
          <a:bodyPr>
            <a:normAutofit/>
          </a:bodyPr>
          <a:lstStyle/>
          <a:p>
            <a:pPr>
              <a:spcBef>
                <a:spcPts val="600"/>
              </a:spcBef>
              <a:spcAft>
                <a:spcPts val="1200"/>
              </a:spcAft>
              <a:buNone/>
            </a:pPr>
            <a:r>
              <a:rPr lang="en-AU" sz="2200" b="1" dirty="0" smtClean="0">
                <a:latin typeface="Helvetica" pitchFamily="34" charset="0"/>
              </a:rPr>
              <a:t>Floor plan considerations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Shape and design of the room:</a:t>
            </a:r>
          </a:p>
          <a:p>
            <a:pPr lvl="0">
              <a:spcBef>
                <a:spcPts val="600"/>
              </a:spcBef>
              <a:spcAft>
                <a:spcPts val="1200"/>
              </a:spcAft>
            </a:pPr>
            <a:r>
              <a:rPr lang="en-AU" sz="2200" dirty="0" smtClean="0">
                <a:latin typeface="Helvetica" pitchFamily="34" charset="0"/>
              </a:rPr>
              <a:t>Tiered floors </a:t>
            </a:r>
          </a:p>
          <a:p>
            <a:pPr lvl="0">
              <a:spcBef>
                <a:spcPts val="600"/>
              </a:spcBef>
              <a:spcAft>
                <a:spcPts val="1200"/>
              </a:spcAft>
            </a:pPr>
            <a:r>
              <a:rPr lang="en-AU" sz="2200" dirty="0" smtClean="0">
                <a:latin typeface="Helvetica" pitchFamily="34" charset="0"/>
              </a:rPr>
              <a:t>Location and size of dance floors</a:t>
            </a:r>
          </a:p>
          <a:p>
            <a:pPr lvl="0">
              <a:spcBef>
                <a:spcPts val="600"/>
              </a:spcBef>
              <a:spcAft>
                <a:spcPts val="1200"/>
              </a:spcAft>
            </a:pPr>
            <a:r>
              <a:rPr lang="en-AU" sz="2200" dirty="0" smtClean="0">
                <a:latin typeface="Helvetica" pitchFamily="34" charset="0"/>
              </a:rPr>
              <a:t>Location of windows</a:t>
            </a:r>
          </a:p>
          <a:p>
            <a:pPr lvl="0">
              <a:spcBef>
                <a:spcPts val="600"/>
              </a:spcBef>
              <a:spcAft>
                <a:spcPts val="1200"/>
              </a:spcAft>
            </a:pPr>
            <a:r>
              <a:rPr lang="en-AU" sz="2200" dirty="0" smtClean="0">
                <a:latin typeface="Helvetica" pitchFamily="34" charset="0"/>
              </a:rPr>
              <a:t>Number and size of entertainment areas</a:t>
            </a:r>
          </a:p>
          <a:p>
            <a:pPr lvl="0">
              <a:spcBef>
                <a:spcPts val="600"/>
              </a:spcBef>
              <a:spcAft>
                <a:spcPts val="1200"/>
              </a:spcAft>
            </a:pPr>
            <a:r>
              <a:rPr lang="en-AU" sz="2200" dirty="0" smtClean="0">
                <a:latin typeface="Helvetica" pitchFamily="34" charset="0"/>
              </a:rPr>
              <a:t>Required thoroughfares</a:t>
            </a:r>
          </a:p>
          <a:p>
            <a:pPr lvl="0">
              <a:spcBef>
                <a:spcPts val="600"/>
              </a:spcBef>
              <a:spcAft>
                <a:spcPts val="1200"/>
              </a:spcAft>
            </a:pPr>
            <a:r>
              <a:rPr lang="en-AU" sz="2200" dirty="0" smtClean="0">
                <a:latin typeface="Helvetica" pitchFamily="34" charset="0"/>
              </a:rPr>
              <a:t>The amount of room required for staff movement</a:t>
            </a:r>
          </a:p>
          <a:p>
            <a:pPr lvl="0">
              <a:spcBef>
                <a:spcPts val="600"/>
              </a:spcBef>
              <a:spcAft>
                <a:spcPts val="1200"/>
              </a:spcAft>
            </a:pPr>
            <a:r>
              <a:rPr lang="en-AU" sz="2200" dirty="0" smtClean="0">
                <a:latin typeface="Helvetica" pitchFamily="34" charset="0"/>
              </a:rPr>
              <a:t>Location and number of booths or alcoves</a:t>
            </a:r>
          </a:p>
          <a:p>
            <a:pPr>
              <a:buNone/>
            </a:pPr>
            <a:endParaRPr lang="en-AU" sz="2200" dirty="0" smtClean="0"/>
          </a:p>
          <a:p>
            <a:endParaRPr lang="en-US" altLang="zh-CN" sz="22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6" name="Picture 5" descr="MP910218707[1].JPG"/>
          <p:cNvPicPr>
            <a:picLocks noChangeAspect="1"/>
          </p:cNvPicPr>
          <p:nvPr/>
        </p:nvPicPr>
        <p:blipFill>
          <a:blip r:embed="rId3" cstate="print"/>
          <a:stretch>
            <a:fillRect/>
          </a:stretch>
        </p:blipFill>
        <p:spPr>
          <a:xfrm>
            <a:off x="6444208" y="2924944"/>
            <a:ext cx="2081630" cy="2192288"/>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Set up furniture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632848" cy="5472608"/>
          </a:xfrm>
        </p:spPr>
        <p:txBody>
          <a:bodyPr>
            <a:normAutofit/>
          </a:bodyPr>
          <a:lstStyle/>
          <a:p>
            <a:pPr>
              <a:spcBef>
                <a:spcPts val="600"/>
              </a:spcBef>
              <a:spcAft>
                <a:spcPts val="1200"/>
              </a:spcAft>
              <a:buNone/>
            </a:pPr>
            <a:r>
              <a:rPr lang="en-AU" sz="2200" b="1" dirty="0" smtClean="0">
                <a:latin typeface="Helvetica" pitchFamily="34" charset="0"/>
              </a:rPr>
              <a:t>Floor plan considerations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Immovable objects:</a:t>
            </a:r>
          </a:p>
          <a:p>
            <a:pPr marL="0">
              <a:spcBef>
                <a:spcPts val="600"/>
              </a:spcBef>
              <a:spcAft>
                <a:spcPts val="1200"/>
              </a:spcAft>
              <a:buNone/>
            </a:pPr>
            <a:r>
              <a:rPr lang="en-AU" sz="2200" dirty="0" smtClean="0">
                <a:latin typeface="Helvetica" pitchFamily="34" charset="0"/>
              </a:rPr>
              <a:t>Within most rooms there will be various objects that cannot be moved and there is therefore a need to plan around them. </a:t>
            </a:r>
          </a:p>
          <a:p>
            <a:pPr>
              <a:spcBef>
                <a:spcPts val="600"/>
              </a:spcBef>
              <a:spcAft>
                <a:spcPts val="1200"/>
              </a:spcAft>
              <a:buNone/>
            </a:pPr>
            <a:r>
              <a:rPr lang="en-AU" sz="2200" dirty="0" smtClean="0">
                <a:latin typeface="Helvetica" pitchFamily="34" charset="0"/>
              </a:rPr>
              <a:t>They include:</a:t>
            </a:r>
          </a:p>
          <a:p>
            <a:pPr lvl="0">
              <a:spcBef>
                <a:spcPts val="600"/>
              </a:spcBef>
              <a:spcAft>
                <a:spcPts val="1200"/>
              </a:spcAft>
            </a:pPr>
            <a:r>
              <a:rPr lang="en-AU" sz="2200" dirty="0" smtClean="0">
                <a:latin typeface="Helvetica" pitchFamily="34" charset="0"/>
              </a:rPr>
              <a:t>Waiters stations</a:t>
            </a:r>
          </a:p>
          <a:p>
            <a:pPr lvl="0">
              <a:spcBef>
                <a:spcPts val="600"/>
              </a:spcBef>
              <a:spcAft>
                <a:spcPts val="1200"/>
              </a:spcAft>
            </a:pPr>
            <a:r>
              <a:rPr lang="en-AU" sz="2200" dirty="0" smtClean="0">
                <a:latin typeface="Helvetica" pitchFamily="34" charset="0"/>
              </a:rPr>
              <a:t>Pillars</a:t>
            </a:r>
          </a:p>
          <a:p>
            <a:pPr lvl="0">
              <a:spcBef>
                <a:spcPts val="600"/>
              </a:spcBef>
              <a:spcAft>
                <a:spcPts val="1200"/>
              </a:spcAft>
            </a:pPr>
            <a:r>
              <a:rPr lang="en-AU" sz="2200" dirty="0" smtClean="0">
                <a:latin typeface="Helvetica" pitchFamily="34" charset="0"/>
              </a:rPr>
              <a:t>Staircases</a:t>
            </a:r>
          </a:p>
          <a:p>
            <a:pPr lvl="0">
              <a:spcBef>
                <a:spcPts val="600"/>
              </a:spcBef>
              <a:spcAft>
                <a:spcPts val="1200"/>
              </a:spcAft>
            </a:pPr>
            <a:r>
              <a:rPr lang="en-AU" sz="2200" dirty="0" smtClean="0">
                <a:latin typeface="Helvetica" pitchFamily="34" charset="0"/>
              </a:rPr>
              <a:t>Display cases</a:t>
            </a:r>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7" name="Picture 6" descr="MP900399689.JPG"/>
          <p:cNvPicPr/>
          <p:nvPr/>
        </p:nvPicPr>
        <p:blipFill>
          <a:blip r:embed="rId3" cstate="print"/>
          <a:stretch>
            <a:fillRect/>
          </a:stretch>
        </p:blipFill>
        <p:spPr>
          <a:xfrm>
            <a:off x="6300192" y="3429000"/>
            <a:ext cx="2164060" cy="2092052"/>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Set up furniture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920880" cy="5472608"/>
          </a:xfrm>
        </p:spPr>
        <p:txBody>
          <a:bodyPr>
            <a:normAutofit/>
          </a:bodyPr>
          <a:lstStyle/>
          <a:p>
            <a:pPr>
              <a:spcBef>
                <a:spcPts val="600"/>
              </a:spcBef>
              <a:spcAft>
                <a:spcPts val="1200"/>
              </a:spcAft>
              <a:buNone/>
            </a:pPr>
            <a:r>
              <a:rPr lang="en-AU" sz="2200" b="1" dirty="0" smtClean="0">
                <a:latin typeface="Helvetica" pitchFamily="34" charset="0"/>
              </a:rPr>
              <a:t>Floor plan considerations</a:t>
            </a:r>
            <a:endParaRPr lang="en-AU" sz="2200" dirty="0" smtClean="0">
              <a:latin typeface="Helvetica" pitchFamily="34" charset="0"/>
            </a:endParaRPr>
          </a:p>
          <a:p>
            <a:pPr>
              <a:spcBef>
                <a:spcPts val="600"/>
              </a:spcBef>
              <a:spcAft>
                <a:spcPts val="1200"/>
              </a:spcAft>
              <a:buNone/>
            </a:pPr>
            <a:r>
              <a:rPr lang="en-AU" sz="2200" u="sng" dirty="0" smtClean="0">
                <a:latin typeface="Helvetica" pitchFamily="34" charset="0"/>
              </a:rPr>
              <a:t>Style of furniture</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These will also influence the layout of the floor plan. Factors involved are:</a:t>
            </a:r>
          </a:p>
          <a:p>
            <a:pPr lvl="0">
              <a:spcBef>
                <a:spcPts val="600"/>
              </a:spcBef>
              <a:spcAft>
                <a:spcPts val="1200"/>
              </a:spcAft>
            </a:pPr>
            <a:r>
              <a:rPr lang="en-AU" sz="2200" dirty="0" smtClean="0">
                <a:latin typeface="Helvetica" pitchFamily="34" charset="0"/>
              </a:rPr>
              <a:t>Shape of tables</a:t>
            </a:r>
          </a:p>
          <a:p>
            <a:pPr lvl="0">
              <a:spcBef>
                <a:spcPts val="600"/>
              </a:spcBef>
              <a:spcAft>
                <a:spcPts val="1200"/>
              </a:spcAft>
            </a:pPr>
            <a:r>
              <a:rPr lang="en-AU" sz="2200" dirty="0" smtClean="0">
                <a:latin typeface="Helvetica" pitchFamily="34" charset="0"/>
              </a:rPr>
              <a:t>Size of tables</a:t>
            </a:r>
          </a:p>
          <a:p>
            <a:pPr lvl="0">
              <a:spcBef>
                <a:spcPts val="600"/>
              </a:spcBef>
              <a:spcAft>
                <a:spcPts val="1200"/>
              </a:spcAft>
            </a:pPr>
            <a:r>
              <a:rPr lang="en-AU" sz="2200" dirty="0" smtClean="0">
                <a:latin typeface="Helvetica" pitchFamily="34" charset="0"/>
              </a:rPr>
              <a:t>Type of chair used at the tables</a:t>
            </a:r>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6" name="Picture 5" descr="MP900407417.JPG"/>
          <p:cNvPicPr/>
          <p:nvPr/>
        </p:nvPicPr>
        <p:blipFill>
          <a:blip r:embed="rId3" cstate="print"/>
          <a:stretch>
            <a:fillRect/>
          </a:stretch>
        </p:blipFill>
        <p:spPr>
          <a:xfrm>
            <a:off x="6372200" y="3501008"/>
            <a:ext cx="2020044" cy="1967086"/>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Set up furniture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776864" cy="5472608"/>
          </a:xfrm>
        </p:spPr>
        <p:txBody>
          <a:bodyPr>
            <a:normAutofit/>
          </a:bodyPr>
          <a:lstStyle/>
          <a:p>
            <a:pPr>
              <a:spcBef>
                <a:spcPts val="600"/>
              </a:spcBef>
              <a:spcAft>
                <a:spcPts val="1200"/>
              </a:spcAft>
              <a:buNone/>
            </a:pPr>
            <a:r>
              <a:rPr lang="en-AU" sz="2200" b="1" dirty="0" smtClean="0">
                <a:latin typeface="Helvetica" pitchFamily="34" charset="0"/>
              </a:rPr>
              <a:t>Floor plan considerations</a:t>
            </a:r>
            <a:endParaRPr lang="en-AU" sz="2200" dirty="0" smtClean="0">
              <a:latin typeface="Helvetica" pitchFamily="34" charset="0"/>
            </a:endParaRPr>
          </a:p>
          <a:p>
            <a:pPr>
              <a:spcBef>
                <a:spcPts val="600"/>
              </a:spcBef>
              <a:spcAft>
                <a:spcPts val="1200"/>
              </a:spcAft>
              <a:buNone/>
            </a:pPr>
            <a:r>
              <a:rPr lang="en-AU" sz="2200" u="sng" dirty="0" smtClean="0">
                <a:latin typeface="Helvetica" pitchFamily="34" charset="0"/>
              </a:rPr>
              <a:t>Exits and doors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 location of doors and whether or not they open inwards or outwards must be taken into account in relation to:</a:t>
            </a:r>
          </a:p>
          <a:p>
            <a:pPr lvl="0">
              <a:spcBef>
                <a:spcPts val="600"/>
              </a:spcBef>
              <a:spcAft>
                <a:spcPts val="1200"/>
              </a:spcAft>
            </a:pPr>
            <a:r>
              <a:rPr lang="en-AU" sz="2200" dirty="0" smtClean="0">
                <a:latin typeface="Helvetica" pitchFamily="34" charset="0"/>
              </a:rPr>
              <a:t>Service doors</a:t>
            </a:r>
          </a:p>
          <a:p>
            <a:pPr lvl="0">
              <a:spcBef>
                <a:spcPts val="600"/>
              </a:spcBef>
              <a:spcAft>
                <a:spcPts val="1200"/>
              </a:spcAft>
            </a:pPr>
            <a:r>
              <a:rPr lang="en-AU" sz="2200" dirty="0" smtClean="0">
                <a:latin typeface="Helvetica" pitchFamily="34" charset="0"/>
              </a:rPr>
              <a:t>Fire exits</a:t>
            </a:r>
          </a:p>
          <a:p>
            <a:pPr lvl="0">
              <a:spcBef>
                <a:spcPts val="600"/>
              </a:spcBef>
              <a:spcAft>
                <a:spcPts val="1200"/>
              </a:spcAft>
            </a:pPr>
            <a:r>
              <a:rPr lang="en-AU" sz="2200" dirty="0" smtClean="0">
                <a:latin typeface="Helvetica" pitchFamily="34" charset="0"/>
              </a:rPr>
              <a:t>Restroom doors</a:t>
            </a:r>
          </a:p>
          <a:p>
            <a:pPr lvl="0">
              <a:spcBef>
                <a:spcPts val="600"/>
              </a:spcBef>
              <a:spcAft>
                <a:spcPts val="1200"/>
              </a:spcAft>
            </a:pPr>
            <a:r>
              <a:rPr lang="en-AU" sz="2200" dirty="0" smtClean="0">
                <a:latin typeface="Helvetica" pitchFamily="34" charset="0"/>
              </a:rPr>
              <a:t>Main entrance to the room</a:t>
            </a:r>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descr="MC900389926.WMF"/>
          <p:cNvPicPr>
            <a:picLocks noChangeAspect="1"/>
          </p:cNvPicPr>
          <p:nvPr/>
        </p:nvPicPr>
        <p:blipFill>
          <a:blip r:embed="rId3" cstate="print"/>
          <a:stretch>
            <a:fillRect/>
          </a:stretch>
        </p:blipFill>
        <p:spPr>
          <a:xfrm>
            <a:off x="6104514" y="3501008"/>
            <a:ext cx="1641348" cy="1641348"/>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US" sz="3200" b="1" dirty="0" smtClean="0">
                <a:solidFill>
                  <a:srgbClr val="FF6600"/>
                </a:solidFill>
                <a:latin typeface="Helvetica" pitchFamily="34" charset="0"/>
              </a:rPr>
              <a:t>Set up furniture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776864" cy="5400600"/>
          </a:xfrm>
        </p:spPr>
        <p:txBody>
          <a:bodyPr>
            <a:normAutofit/>
          </a:bodyPr>
          <a:lstStyle/>
          <a:p>
            <a:pPr>
              <a:spcBef>
                <a:spcPts val="600"/>
              </a:spcBef>
              <a:spcAft>
                <a:spcPts val="600"/>
              </a:spcAft>
              <a:buNone/>
            </a:pPr>
            <a:r>
              <a:rPr lang="en-AU" sz="2200" b="1" dirty="0" smtClean="0">
                <a:latin typeface="Helvetica" pitchFamily="34" charset="0"/>
              </a:rPr>
              <a:t>Floor plan considerations</a:t>
            </a:r>
            <a:endParaRPr lang="en-AU" sz="2200" dirty="0" smtClean="0">
              <a:latin typeface="Helvetica" pitchFamily="34" charset="0"/>
            </a:endParaRPr>
          </a:p>
          <a:p>
            <a:pPr>
              <a:spcBef>
                <a:spcPts val="600"/>
              </a:spcBef>
              <a:spcAft>
                <a:spcPts val="600"/>
              </a:spcAft>
              <a:buNone/>
            </a:pPr>
            <a:r>
              <a:rPr lang="en-AU" sz="2200" u="sng" dirty="0" smtClean="0">
                <a:latin typeface="Helvetica" pitchFamily="34" charset="0"/>
              </a:rPr>
              <a:t>Future considerations</a:t>
            </a:r>
            <a:endParaRPr lang="en-AU" sz="2200" dirty="0" smtClean="0">
              <a:latin typeface="Helvetica" pitchFamily="34" charset="0"/>
            </a:endParaRPr>
          </a:p>
          <a:p>
            <a:pPr>
              <a:spcBef>
                <a:spcPts val="600"/>
              </a:spcBef>
              <a:spcAft>
                <a:spcPts val="600"/>
              </a:spcAft>
              <a:buNone/>
            </a:pPr>
            <a:r>
              <a:rPr lang="en-AU" sz="2200" dirty="0" smtClean="0">
                <a:latin typeface="Helvetica" pitchFamily="34" charset="0"/>
              </a:rPr>
              <a:t>Further points that may need to be factored in include:</a:t>
            </a:r>
          </a:p>
          <a:p>
            <a:pPr lvl="0">
              <a:spcBef>
                <a:spcPts val="600"/>
              </a:spcBef>
              <a:spcAft>
                <a:spcPts val="600"/>
              </a:spcAft>
            </a:pPr>
            <a:r>
              <a:rPr lang="en-AU" sz="2200" dirty="0" smtClean="0">
                <a:latin typeface="Helvetica" pitchFamily="34" charset="0"/>
              </a:rPr>
              <a:t>Leaving space for guests to move in and out from their table</a:t>
            </a:r>
          </a:p>
          <a:p>
            <a:pPr lvl="0">
              <a:spcBef>
                <a:spcPts val="600"/>
              </a:spcBef>
              <a:spcAft>
                <a:spcPts val="600"/>
              </a:spcAft>
            </a:pPr>
            <a:r>
              <a:rPr lang="en-AU" sz="2200" dirty="0" smtClean="0">
                <a:latin typeface="Helvetica" pitchFamily="34" charset="0"/>
              </a:rPr>
              <a:t>Providing customers with enough space                         around the table to grant a level of privacy</a:t>
            </a:r>
          </a:p>
          <a:p>
            <a:pPr lvl="0">
              <a:spcBef>
                <a:spcPts val="600"/>
              </a:spcBef>
              <a:spcAft>
                <a:spcPts val="600"/>
              </a:spcAft>
            </a:pPr>
            <a:r>
              <a:rPr lang="en-AU" sz="2200" dirty="0" smtClean="0">
                <a:latin typeface="Helvetica" pitchFamily="34" charset="0"/>
              </a:rPr>
              <a:t>Avoiding placing tables in ‘uncomfortable’                                  areas</a:t>
            </a:r>
          </a:p>
          <a:p>
            <a:pPr lvl="0">
              <a:spcBef>
                <a:spcPts val="600"/>
              </a:spcBef>
              <a:spcAft>
                <a:spcPts val="600"/>
              </a:spcAft>
            </a:pPr>
            <a:r>
              <a:rPr lang="en-AU" sz="2200" dirty="0" smtClean="0">
                <a:latin typeface="Helvetica" pitchFamily="34" charset="0"/>
              </a:rPr>
              <a:t>Making provision for hats and coats</a:t>
            </a:r>
          </a:p>
          <a:p>
            <a:pPr>
              <a:spcBef>
                <a:spcPts val="600"/>
              </a:spcBef>
              <a:spcAft>
                <a:spcPts val="600"/>
              </a:spcAft>
              <a:buNone/>
            </a:pPr>
            <a:endParaRPr lang="en-AU" sz="2400" dirty="0" smtClean="0"/>
          </a:p>
          <a:p>
            <a:pPr>
              <a:spcBef>
                <a:spcPts val="600"/>
              </a:spcBef>
              <a:spcAft>
                <a:spcPts val="600"/>
              </a:spcAft>
            </a:pPr>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4" descr="http://www.fujitsugeneral.com.au/images/content/ducted/vent-large-330x250.jpg"/>
          <p:cNvPicPr/>
          <p:nvPr/>
        </p:nvPicPr>
        <p:blipFill>
          <a:blip r:embed="rId3" cstate="print"/>
          <a:srcRect/>
          <a:stretch>
            <a:fillRect/>
          </a:stretch>
        </p:blipFill>
        <p:spPr bwMode="auto">
          <a:xfrm>
            <a:off x="6444208" y="3717032"/>
            <a:ext cx="1919114" cy="144514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Set up furniture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632848" cy="5472608"/>
          </a:xfrm>
        </p:spPr>
        <p:txBody>
          <a:bodyPr>
            <a:normAutofit/>
          </a:bodyPr>
          <a:lstStyle/>
          <a:p>
            <a:pPr>
              <a:spcBef>
                <a:spcPts val="600"/>
              </a:spcBef>
              <a:spcAft>
                <a:spcPts val="1200"/>
              </a:spcAft>
              <a:buNone/>
            </a:pPr>
            <a:r>
              <a:rPr lang="en-AU" sz="2200" b="1" dirty="0" smtClean="0">
                <a:latin typeface="Helvetica" pitchFamily="34" charset="0"/>
              </a:rPr>
              <a:t>Customer and service personnel access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Access routes into the room and between tables must ensure:</a:t>
            </a:r>
          </a:p>
          <a:p>
            <a:pPr lvl="0">
              <a:spcBef>
                <a:spcPts val="600"/>
              </a:spcBef>
              <a:spcAft>
                <a:spcPts val="1200"/>
              </a:spcAft>
            </a:pPr>
            <a:r>
              <a:rPr lang="en-AU" sz="2200" dirty="0" smtClean="0">
                <a:latin typeface="Helvetica" pitchFamily="34" charset="0"/>
              </a:rPr>
              <a:t>The ability of all patrons to move freely to and from their tables</a:t>
            </a:r>
          </a:p>
          <a:p>
            <a:pPr lvl="0">
              <a:spcBef>
                <a:spcPts val="600"/>
              </a:spcBef>
              <a:spcAft>
                <a:spcPts val="1200"/>
              </a:spcAft>
            </a:pPr>
            <a:r>
              <a:rPr lang="en-AU" sz="2200" dirty="0" smtClean="0">
                <a:latin typeface="Helvetica" pitchFamily="34" charset="0"/>
              </a:rPr>
              <a:t>Room for staff to service individual tables</a:t>
            </a:r>
          </a:p>
          <a:p>
            <a:pPr lvl="0">
              <a:spcBef>
                <a:spcPts val="600"/>
              </a:spcBef>
              <a:spcAft>
                <a:spcPts val="1200"/>
              </a:spcAft>
            </a:pPr>
            <a:r>
              <a:rPr lang="en-AU" sz="2200" dirty="0" smtClean="0">
                <a:latin typeface="Helvetica" pitchFamily="34" charset="0"/>
              </a:rPr>
              <a:t>Room for staff to wheel service trolleys</a:t>
            </a:r>
          </a:p>
          <a:p>
            <a:pPr lvl="0">
              <a:spcBef>
                <a:spcPts val="600"/>
              </a:spcBef>
              <a:spcAft>
                <a:spcPts val="1200"/>
              </a:spcAft>
            </a:pPr>
            <a:r>
              <a:rPr lang="en-AU" sz="2200" dirty="0" smtClean="0">
                <a:latin typeface="Helvetica" pitchFamily="34" charset="0"/>
              </a:rPr>
              <a:t>Ease of access to facilities in the room</a:t>
            </a:r>
          </a:p>
          <a:p>
            <a:pPr lvl="0">
              <a:spcBef>
                <a:spcPts val="600"/>
              </a:spcBef>
              <a:spcAft>
                <a:spcPts val="1200"/>
              </a:spcAft>
            </a:pPr>
            <a:r>
              <a:rPr lang="en-AU" sz="2200" dirty="0" smtClean="0">
                <a:latin typeface="Helvetica" pitchFamily="34" charset="0"/>
              </a:rPr>
              <a:t>Waiting staff can have freedom of                                 movement around their waiting stations</a:t>
            </a:r>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6" name="Picture 5" descr="IMG_2128.jpg"/>
          <p:cNvPicPr/>
          <p:nvPr/>
        </p:nvPicPr>
        <p:blipFill>
          <a:blip r:embed="rId3" cstate="print"/>
          <a:stretch>
            <a:fillRect/>
          </a:stretch>
        </p:blipFill>
        <p:spPr>
          <a:xfrm>
            <a:off x="6876256" y="3284984"/>
            <a:ext cx="1529204" cy="1944216"/>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Display food and beverage items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00600"/>
          </a:xfrm>
        </p:spPr>
        <p:txBody>
          <a:bodyPr>
            <a:normAutofit/>
          </a:bodyPr>
          <a:lstStyle/>
          <a:p>
            <a:pPr>
              <a:spcBef>
                <a:spcPts val="600"/>
              </a:spcBef>
              <a:spcAft>
                <a:spcPts val="1200"/>
              </a:spcAft>
            </a:pPr>
            <a:r>
              <a:rPr lang="en-AU" sz="2400" dirty="0" smtClean="0">
                <a:latin typeface="Helvetica" pitchFamily="34" charset="0"/>
              </a:rPr>
              <a:t>What food and beverage items are commonly displayed?</a:t>
            </a:r>
          </a:p>
          <a:p>
            <a:pPr>
              <a:spcBef>
                <a:spcPts val="600"/>
              </a:spcBef>
              <a:spcAft>
                <a:spcPts val="1200"/>
              </a:spcAft>
            </a:pPr>
            <a:r>
              <a:rPr lang="en-AU" sz="2400" dirty="0" smtClean="0">
                <a:latin typeface="Helvetica" pitchFamily="34" charset="0"/>
              </a:rPr>
              <a:t>Where are they displayed?</a:t>
            </a:r>
          </a:p>
          <a:p>
            <a:pPr>
              <a:spcBef>
                <a:spcPts val="600"/>
              </a:spcBef>
              <a:spcAft>
                <a:spcPts val="1200"/>
              </a:spcAft>
            </a:pPr>
            <a:r>
              <a:rPr lang="en-AU" sz="2400" dirty="0" smtClean="0">
                <a:latin typeface="Helvetica" pitchFamily="34" charset="0"/>
              </a:rPr>
              <a:t>How do staff promote them?</a:t>
            </a:r>
          </a:p>
          <a:p>
            <a:pPr>
              <a:spcBef>
                <a:spcPts val="600"/>
              </a:spcBef>
              <a:spcAft>
                <a:spcPts val="1200"/>
              </a:spcAft>
            </a:pPr>
            <a:r>
              <a:rPr lang="en-AU" sz="2400" dirty="0" smtClean="0">
                <a:latin typeface="Helvetica" pitchFamily="34" charset="0"/>
              </a:rPr>
              <a:t>How do you display hot food in a hygienic manner?</a:t>
            </a:r>
          </a:p>
          <a:p>
            <a:pPr>
              <a:spcBef>
                <a:spcPts val="600"/>
              </a:spcBef>
              <a:spcAft>
                <a:spcPts val="1200"/>
              </a:spcAft>
            </a:pPr>
            <a:r>
              <a:rPr lang="en-AU" sz="2400" dirty="0" smtClean="0">
                <a:latin typeface="Helvetica" pitchFamily="34" charset="0"/>
              </a:rPr>
              <a:t>How do you display cold food in                                       a hygienic manner?</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7" name="Picture 6" descr="IMG_2053.jpg"/>
          <p:cNvPicPr/>
          <p:nvPr/>
        </p:nvPicPr>
        <p:blipFill>
          <a:blip r:embed="rId3" cstate="print"/>
          <a:stretch>
            <a:fillRect/>
          </a:stretch>
        </p:blipFill>
        <p:spPr>
          <a:xfrm>
            <a:off x="6300192" y="3861048"/>
            <a:ext cx="2091432" cy="1568574"/>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Prepare equipment</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00600"/>
          </a:xfrm>
        </p:spPr>
        <p:txBody>
          <a:bodyPr>
            <a:normAutofit/>
          </a:bodyPr>
          <a:lstStyle/>
          <a:p>
            <a:pPr marL="0">
              <a:spcBef>
                <a:spcPts val="600"/>
              </a:spcBef>
              <a:spcAft>
                <a:spcPts val="1200"/>
              </a:spcAft>
              <a:buNone/>
            </a:pPr>
            <a:r>
              <a:rPr lang="en-AU" sz="2200" dirty="0" smtClean="0">
                <a:latin typeface="Helvetica" pitchFamily="34" charset="0"/>
              </a:rPr>
              <a:t>Once the restaurant area is ready for service, it is now time to prepare the equipment.</a:t>
            </a:r>
          </a:p>
          <a:p>
            <a:pPr>
              <a:spcBef>
                <a:spcPts val="600"/>
              </a:spcBef>
              <a:spcAft>
                <a:spcPts val="1200"/>
              </a:spcAft>
            </a:pPr>
            <a:r>
              <a:rPr lang="en-AU" sz="2200" dirty="0" smtClean="0">
                <a:latin typeface="Helvetica" pitchFamily="34" charset="0"/>
              </a:rPr>
              <a:t>What equipment items need to be prepared?</a:t>
            </a:r>
          </a:p>
          <a:p>
            <a:pPr>
              <a:spcBef>
                <a:spcPts val="600"/>
              </a:spcBef>
              <a:spcAft>
                <a:spcPts val="1200"/>
              </a:spcAft>
            </a:pPr>
            <a:r>
              <a:rPr lang="en-AU" sz="2200" dirty="0" smtClean="0">
                <a:latin typeface="Helvetica" pitchFamily="34" charset="0"/>
              </a:rPr>
              <a:t>What auxiliary items that accompany equipment need to be set up?</a:t>
            </a:r>
            <a:endParaRPr lang="en-AU" sz="2400" dirty="0" smtClean="0">
              <a:latin typeface="Helvetica" pitchFamily="34" charset="0"/>
            </a:endParaRP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6" name="Picture 5" descr="Micros_699X600.jpg"/>
          <p:cNvPicPr>
            <a:picLocks noChangeAspect="1"/>
          </p:cNvPicPr>
          <p:nvPr/>
        </p:nvPicPr>
        <p:blipFill>
          <a:blip r:embed="rId3" cstate="print"/>
          <a:stretch>
            <a:fillRect/>
          </a:stretch>
        </p:blipFill>
        <p:spPr>
          <a:xfrm>
            <a:off x="6156176" y="3184376"/>
            <a:ext cx="2130552" cy="182880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Prepare equipment</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776864" cy="5472608"/>
          </a:xfrm>
        </p:spPr>
        <p:txBody>
          <a:bodyPr>
            <a:normAutofit/>
          </a:bodyPr>
          <a:lstStyle/>
          <a:p>
            <a:pPr>
              <a:spcBef>
                <a:spcPts val="600"/>
              </a:spcBef>
              <a:spcAft>
                <a:spcPts val="600"/>
              </a:spcAft>
              <a:buNone/>
            </a:pPr>
            <a:r>
              <a:rPr lang="en-US" altLang="zh-CN" sz="2200" b="1" dirty="0" smtClean="0">
                <a:latin typeface="Helvetica" pitchFamily="34" charset="0"/>
                <a:ea typeface="宋体" pitchFamily="2" charset="-122"/>
              </a:rPr>
              <a:t>Coffee Area:</a:t>
            </a:r>
          </a:p>
          <a:p>
            <a:pPr>
              <a:spcBef>
                <a:spcPts val="600"/>
              </a:spcBef>
              <a:spcAft>
                <a:spcPts val="600"/>
              </a:spcAft>
            </a:pPr>
            <a:r>
              <a:rPr lang="en-US" altLang="zh-CN" sz="2200" dirty="0" smtClean="0">
                <a:latin typeface="Helvetica" pitchFamily="34" charset="0"/>
                <a:ea typeface="宋体" pitchFamily="2" charset="-122"/>
              </a:rPr>
              <a:t>Coffee machine</a:t>
            </a:r>
          </a:p>
          <a:p>
            <a:pPr>
              <a:spcBef>
                <a:spcPts val="600"/>
              </a:spcBef>
              <a:spcAft>
                <a:spcPts val="600"/>
              </a:spcAft>
            </a:pPr>
            <a:r>
              <a:rPr lang="en-US" altLang="zh-CN" sz="2200" dirty="0" smtClean="0">
                <a:latin typeface="Helvetica" pitchFamily="34" charset="0"/>
                <a:ea typeface="宋体" pitchFamily="2" charset="-122"/>
              </a:rPr>
              <a:t>Cups</a:t>
            </a:r>
          </a:p>
          <a:p>
            <a:pPr>
              <a:spcBef>
                <a:spcPts val="600"/>
              </a:spcBef>
              <a:spcAft>
                <a:spcPts val="600"/>
              </a:spcAft>
            </a:pPr>
            <a:r>
              <a:rPr lang="en-US" altLang="zh-CN" sz="2200" dirty="0" smtClean="0">
                <a:latin typeface="Helvetica" pitchFamily="34" charset="0"/>
                <a:ea typeface="宋体" pitchFamily="2" charset="-122"/>
              </a:rPr>
              <a:t>Saucers</a:t>
            </a:r>
          </a:p>
          <a:p>
            <a:pPr>
              <a:spcBef>
                <a:spcPts val="600"/>
              </a:spcBef>
              <a:spcAft>
                <a:spcPts val="600"/>
              </a:spcAft>
            </a:pPr>
            <a:r>
              <a:rPr lang="en-US" altLang="zh-CN" sz="2200" dirty="0" smtClean="0">
                <a:latin typeface="Helvetica" pitchFamily="34" charset="0"/>
                <a:ea typeface="宋体" pitchFamily="2" charset="-122"/>
              </a:rPr>
              <a:t>Teaspoons</a:t>
            </a:r>
          </a:p>
          <a:p>
            <a:pPr>
              <a:spcBef>
                <a:spcPts val="600"/>
              </a:spcBef>
              <a:spcAft>
                <a:spcPts val="600"/>
              </a:spcAft>
            </a:pPr>
            <a:r>
              <a:rPr lang="en-US" altLang="zh-CN" sz="2200" dirty="0" smtClean="0">
                <a:latin typeface="Helvetica" pitchFamily="34" charset="0"/>
                <a:ea typeface="宋体" pitchFamily="2" charset="-122"/>
              </a:rPr>
              <a:t>Sugar</a:t>
            </a:r>
          </a:p>
          <a:p>
            <a:pPr>
              <a:spcBef>
                <a:spcPts val="600"/>
              </a:spcBef>
              <a:spcAft>
                <a:spcPts val="600"/>
              </a:spcAft>
            </a:pPr>
            <a:r>
              <a:rPr lang="en-US" altLang="zh-CN" sz="2200" dirty="0" smtClean="0">
                <a:latin typeface="Helvetica" pitchFamily="34" charset="0"/>
                <a:ea typeface="宋体" pitchFamily="2" charset="-122"/>
              </a:rPr>
              <a:t>Milk jugs</a:t>
            </a:r>
          </a:p>
          <a:p>
            <a:pPr>
              <a:spcBef>
                <a:spcPts val="600"/>
              </a:spcBef>
              <a:spcAft>
                <a:spcPts val="600"/>
              </a:spcAft>
            </a:pPr>
            <a:r>
              <a:rPr lang="en-US" altLang="zh-CN" sz="2200" dirty="0" smtClean="0">
                <a:latin typeface="Helvetica" pitchFamily="34" charset="0"/>
                <a:ea typeface="宋体" pitchFamily="2" charset="-122"/>
              </a:rPr>
              <a:t>Types of milk</a:t>
            </a:r>
          </a:p>
          <a:p>
            <a:pPr>
              <a:spcBef>
                <a:spcPts val="600"/>
              </a:spcBef>
              <a:spcAft>
                <a:spcPts val="600"/>
              </a:spcAft>
            </a:pPr>
            <a:r>
              <a:rPr lang="en-US" altLang="zh-CN" sz="2200" dirty="0" smtClean="0">
                <a:latin typeface="Helvetica" pitchFamily="34" charset="0"/>
                <a:ea typeface="宋体" pitchFamily="2" charset="-122"/>
              </a:rPr>
              <a:t>Types of coffee</a:t>
            </a:r>
          </a:p>
          <a:p>
            <a:pPr>
              <a:spcBef>
                <a:spcPts val="600"/>
              </a:spcBef>
              <a:spcAft>
                <a:spcPts val="600"/>
              </a:spcAft>
            </a:pPr>
            <a:r>
              <a:rPr lang="en-US" altLang="zh-CN" sz="2200" dirty="0" smtClean="0">
                <a:latin typeface="Helvetica" pitchFamily="34" charset="0"/>
                <a:ea typeface="宋体" pitchFamily="2" charset="-122"/>
              </a:rPr>
              <a:t>Accompaniments (biscuits)</a:t>
            </a:r>
          </a:p>
          <a:p>
            <a:pPr>
              <a:spcBef>
                <a:spcPts val="600"/>
              </a:spcBef>
              <a:spcAft>
                <a:spcPts val="600"/>
              </a:spcAft>
            </a:pPr>
            <a:r>
              <a:rPr lang="en-US" altLang="zh-CN" sz="2200" dirty="0" smtClean="0">
                <a:latin typeface="Helvetica" pitchFamily="34" charset="0"/>
                <a:ea typeface="宋体" pitchFamily="2" charset="-122"/>
              </a:rPr>
              <a:t>Napkins</a:t>
            </a:r>
          </a:p>
          <a:p>
            <a:pPr>
              <a:spcBef>
                <a:spcPts val="600"/>
              </a:spcBef>
              <a:spcAft>
                <a:spcPts val="600"/>
              </a:spcAft>
              <a:buNone/>
            </a:pPr>
            <a:endParaRPr lang="en-AU" sz="2400" dirty="0" smtClean="0"/>
          </a:p>
          <a:p>
            <a:pPr>
              <a:spcAft>
                <a:spcPts val="600"/>
              </a:spcAft>
            </a:pPr>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7" name="Picture 6" descr="coffee%20machine"/>
          <p:cNvPicPr>
            <a:picLocks noChangeAspect="1" noChangeArrowheads="1"/>
          </p:cNvPicPr>
          <p:nvPr/>
        </p:nvPicPr>
        <p:blipFill>
          <a:blip r:embed="rId3" cstate="print"/>
          <a:srcRect/>
          <a:stretch>
            <a:fillRect/>
          </a:stretch>
        </p:blipFill>
        <p:spPr bwMode="auto">
          <a:xfrm>
            <a:off x="6516216" y="2780928"/>
            <a:ext cx="1890723" cy="2520280"/>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US" sz="3200" b="1" dirty="0" smtClean="0">
                <a:solidFill>
                  <a:srgbClr val="FF6600"/>
                </a:solidFill>
                <a:latin typeface="Helvetica" pitchFamily="34" charset="0"/>
              </a:rPr>
              <a:t>Prepare equipment</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72608"/>
          </a:xfrm>
        </p:spPr>
        <p:txBody>
          <a:bodyPr>
            <a:normAutofit/>
          </a:bodyPr>
          <a:lstStyle/>
          <a:p>
            <a:pPr>
              <a:spcBef>
                <a:spcPts val="600"/>
              </a:spcBef>
              <a:spcAft>
                <a:spcPts val="600"/>
              </a:spcAft>
              <a:buNone/>
            </a:pPr>
            <a:r>
              <a:rPr lang="en-US" altLang="zh-CN" sz="2200" b="1" dirty="0" smtClean="0">
                <a:latin typeface="Helvetica" pitchFamily="34" charset="0"/>
                <a:ea typeface="宋体" pitchFamily="2" charset="-122"/>
              </a:rPr>
              <a:t>Tea Area:</a:t>
            </a:r>
          </a:p>
          <a:p>
            <a:pPr>
              <a:spcBef>
                <a:spcPts val="600"/>
              </a:spcBef>
              <a:spcAft>
                <a:spcPts val="600"/>
              </a:spcAft>
            </a:pPr>
            <a:r>
              <a:rPr lang="en-US" altLang="zh-CN" sz="2200" dirty="0" smtClean="0">
                <a:latin typeface="Helvetica" pitchFamily="34" charset="0"/>
                <a:ea typeface="宋体" pitchFamily="2" charset="-122"/>
              </a:rPr>
              <a:t>Cups</a:t>
            </a:r>
          </a:p>
          <a:p>
            <a:pPr>
              <a:spcBef>
                <a:spcPts val="600"/>
              </a:spcBef>
              <a:spcAft>
                <a:spcPts val="600"/>
              </a:spcAft>
            </a:pPr>
            <a:r>
              <a:rPr lang="en-US" altLang="zh-CN" sz="2200" dirty="0" smtClean="0">
                <a:latin typeface="Helvetica" pitchFamily="34" charset="0"/>
                <a:ea typeface="宋体" pitchFamily="2" charset="-122"/>
              </a:rPr>
              <a:t>Saucers</a:t>
            </a:r>
          </a:p>
          <a:p>
            <a:pPr>
              <a:spcBef>
                <a:spcPts val="600"/>
              </a:spcBef>
              <a:spcAft>
                <a:spcPts val="600"/>
              </a:spcAft>
            </a:pPr>
            <a:r>
              <a:rPr lang="en-US" altLang="zh-CN" sz="2200" dirty="0" smtClean="0">
                <a:latin typeface="Helvetica" pitchFamily="34" charset="0"/>
                <a:ea typeface="宋体" pitchFamily="2" charset="-122"/>
              </a:rPr>
              <a:t>Teaspoons</a:t>
            </a:r>
          </a:p>
          <a:p>
            <a:pPr>
              <a:spcBef>
                <a:spcPts val="600"/>
              </a:spcBef>
              <a:spcAft>
                <a:spcPts val="600"/>
              </a:spcAft>
            </a:pPr>
            <a:r>
              <a:rPr lang="en-US" altLang="zh-CN" sz="2200" dirty="0" smtClean="0">
                <a:latin typeface="Helvetica" pitchFamily="34" charset="0"/>
                <a:ea typeface="宋体" pitchFamily="2" charset="-122"/>
              </a:rPr>
              <a:t>Sugar</a:t>
            </a:r>
          </a:p>
          <a:p>
            <a:pPr>
              <a:spcBef>
                <a:spcPts val="600"/>
              </a:spcBef>
              <a:spcAft>
                <a:spcPts val="600"/>
              </a:spcAft>
            </a:pPr>
            <a:r>
              <a:rPr lang="en-US" altLang="zh-CN" sz="2200" dirty="0" smtClean="0">
                <a:latin typeface="Helvetica" pitchFamily="34" charset="0"/>
                <a:ea typeface="宋体" pitchFamily="2" charset="-122"/>
              </a:rPr>
              <a:t>Milk jugs</a:t>
            </a:r>
          </a:p>
          <a:p>
            <a:pPr>
              <a:spcBef>
                <a:spcPts val="600"/>
              </a:spcBef>
              <a:spcAft>
                <a:spcPts val="600"/>
              </a:spcAft>
            </a:pPr>
            <a:r>
              <a:rPr lang="en-US" altLang="zh-CN" sz="2200" dirty="0" smtClean="0">
                <a:latin typeface="Helvetica" pitchFamily="34" charset="0"/>
                <a:ea typeface="宋体" pitchFamily="2" charset="-122"/>
              </a:rPr>
              <a:t>Types of tea</a:t>
            </a:r>
          </a:p>
          <a:p>
            <a:pPr>
              <a:spcBef>
                <a:spcPts val="600"/>
              </a:spcBef>
              <a:spcAft>
                <a:spcPts val="600"/>
              </a:spcAft>
            </a:pPr>
            <a:r>
              <a:rPr lang="en-US" altLang="zh-CN" sz="2200" dirty="0" smtClean="0">
                <a:latin typeface="Helvetica" pitchFamily="34" charset="0"/>
                <a:ea typeface="宋体" pitchFamily="2" charset="-122"/>
              </a:rPr>
              <a:t>Lemon</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6" name="Picture 6" descr="twinings01"/>
          <p:cNvPicPr>
            <a:picLocks noChangeAspect="1" noChangeArrowheads="1"/>
          </p:cNvPicPr>
          <p:nvPr/>
        </p:nvPicPr>
        <p:blipFill>
          <a:blip r:embed="rId3" cstate="print"/>
          <a:srcRect/>
          <a:stretch>
            <a:fillRect/>
          </a:stretch>
        </p:blipFill>
        <p:spPr bwMode="auto">
          <a:xfrm>
            <a:off x="6228184" y="2636912"/>
            <a:ext cx="2116459" cy="2737830"/>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Prepare equipment</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72608"/>
          </a:xfrm>
        </p:spPr>
        <p:txBody>
          <a:bodyPr>
            <a:normAutofit/>
          </a:bodyPr>
          <a:lstStyle/>
          <a:p>
            <a:pPr>
              <a:spcBef>
                <a:spcPts val="600"/>
              </a:spcBef>
              <a:spcAft>
                <a:spcPts val="600"/>
              </a:spcAft>
              <a:buNone/>
            </a:pPr>
            <a:r>
              <a:rPr lang="en-US" altLang="zh-CN" sz="2200" b="1" dirty="0" smtClean="0">
                <a:latin typeface="Helvetica" pitchFamily="34" charset="0"/>
                <a:ea typeface="宋体" pitchFamily="2" charset="-122"/>
              </a:rPr>
              <a:t>Service Equipment </a:t>
            </a:r>
          </a:p>
          <a:p>
            <a:pPr>
              <a:spcBef>
                <a:spcPts val="600"/>
              </a:spcBef>
              <a:spcAft>
                <a:spcPts val="600"/>
              </a:spcAft>
            </a:pPr>
            <a:r>
              <a:rPr lang="en-US" altLang="zh-CN" sz="2200" dirty="0" smtClean="0">
                <a:latin typeface="Helvetica" pitchFamily="34" charset="0"/>
                <a:ea typeface="宋体" pitchFamily="2" charset="-122"/>
              </a:rPr>
              <a:t>Bain maries</a:t>
            </a:r>
          </a:p>
          <a:p>
            <a:pPr>
              <a:spcBef>
                <a:spcPts val="600"/>
              </a:spcBef>
              <a:spcAft>
                <a:spcPts val="600"/>
              </a:spcAft>
            </a:pPr>
            <a:r>
              <a:rPr lang="en-US" altLang="zh-CN" sz="2200" dirty="0" smtClean="0">
                <a:latin typeface="Helvetica" pitchFamily="34" charset="0"/>
                <a:ea typeface="宋体" pitchFamily="2" charset="-122"/>
              </a:rPr>
              <a:t>Toasters</a:t>
            </a:r>
          </a:p>
          <a:p>
            <a:pPr>
              <a:spcBef>
                <a:spcPts val="600"/>
              </a:spcBef>
              <a:spcAft>
                <a:spcPts val="600"/>
              </a:spcAft>
            </a:pPr>
            <a:r>
              <a:rPr lang="en-US" altLang="zh-CN" sz="2200" dirty="0" smtClean="0">
                <a:latin typeface="Helvetica" pitchFamily="34" charset="0"/>
                <a:ea typeface="宋体" pitchFamily="2" charset="-122"/>
              </a:rPr>
              <a:t>What other service equipment is used?</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5" name="Picture 4" descr="http://metaefficient.zippykidcdn.com/wp-content/uploads/kitchenaid-kmtt200-toaster.jpg"/>
          <p:cNvPicPr/>
          <p:nvPr/>
        </p:nvPicPr>
        <p:blipFill>
          <a:blip r:embed="rId3" cstate="print"/>
          <a:stretch>
            <a:fillRect/>
          </a:stretch>
        </p:blipFill>
        <p:spPr bwMode="auto">
          <a:xfrm>
            <a:off x="2123728" y="3645024"/>
            <a:ext cx="2952328" cy="191325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Prepare equipment</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72608"/>
          </a:xfrm>
        </p:spPr>
        <p:txBody>
          <a:bodyPr>
            <a:normAutofit/>
          </a:bodyPr>
          <a:lstStyle/>
          <a:p>
            <a:pPr>
              <a:spcBef>
                <a:spcPts val="600"/>
              </a:spcBef>
              <a:spcAft>
                <a:spcPts val="600"/>
              </a:spcAft>
              <a:buNone/>
            </a:pPr>
            <a:r>
              <a:rPr lang="en-US" altLang="zh-CN" sz="2200" b="1" dirty="0" smtClean="0">
                <a:latin typeface="Helvetica" pitchFamily="34" charset="0"/>
                <a:ea typeface="宋体" pitchFamily="2" charset="-122"/>
              </a:rPr>
              <a:t>Cutlery:</a:t>
            </a:r>
          </a:p>
          <a:p>
            <a:pPr>
              <a:spcBef>
                <a:spcPts val="600"/>
              </a:spcBef>
              <a:spcAft>
                <a:spcPts val="600"/>
              </a:spcAft>
            </a:pPr>
            <a:r>
              <a:rPr lang="en-US" altLang="zh-CN" sz="2200" dirty="0" smtClean="0">
                <a:latin typeface="Helvetica" pitchFamily="34" charset="0"/>
                <a:ea typeface="宋体" pitchFamily="2" charset="-122"/>
              </a:rPr>
              <a:t>Knives (main and entrée)</a:t>
            </a:r>
          </a:p>
          <a:p>
            <a:pPr>
              <a:spcBef>
                <a:spcPts val="600"/>
              </a:spcBef>
              <a:spcAft>
                <a:spcPts val="600"/>
              </a:spcAft>
            </a:pPr>
            <a:r>
              <a:rPr lang="en-US" altLang="zh-CN" sz="2200" dirty="0" smtClean="0">
                <a:latin typeface="Helvetica" pitchFamily="34" charset="0"/>
                <a:ea typeface="宋体" pitchFamily="2" charset="-122"/>
              </a:rPr>
              <a:t>Forks (main and entrée)</a:t>
            </a:r>
          </a:p>
          <a:p>
            <a:pPr>
              <a:spcBef>
                <a:spcPts val="600"/>
              </a:spcBef>
              <a:spcAft>
                <a:spcPts val="600"/>
              </a:spcAft>
            </a:pPr>
            <a:r>
              <a:rPr lang="en-US" altLang="zh-CN" sz="2200" dirty="0" smtClean="0">
                <a:latin typeface="Helvetica" pitchFamily="34" charset="0"/>
                <a:ea typeface="宋体" pitchFamily="2" charset="-122"/>
              </a:rPr>
              <a:t>Soup spoons</a:t>
            </a:r>
          </a:p>
          <a:p>
            <a:pPr>
              <a:spcBef>
                <a:spcPts val="600"/>
              </a:spcBef>
              <a:spcAft>
                <a:spcPts val="600"/>
              </a:spcAft>
            </a:pPr>
            <a:r>
              <a:rPr lang="en-US" altLang="zh-CN" sz="2200" dirty="0" smtClean="0">
                <a:latin typeface="Helvetica" pitchFamily="34" charset="0"/>
                <a:ea typeface="宋体" pitchFamily="2" charset="-122"/>
              </a:rPr>
              <a:t>Dessert spoons</a:t>
            </a:r>
          </a:p>
          <a:p>
            <a:pPr>
              <a:spcBef>
                <a:spcPts val="600"/>
              </a:spcBef>
              <a:spcAft>
                <a:spcPts val="600"/>
              </a:spcAft>
            </a:pPr>
            <a:r>
              <a:rPr lang="en-US" altLang="zh-CN" sz="2200" dirty="0" smtClean="0">
                <a:latin typeface="Helvetica" pitchFamily="34" charset="0"/>
                <a:ea typeface="宋体" pitchFamily="2" charset="-122"/>
              </a:rPr>
              <a:t>Hot chocolate spoons</a:t>
            </a:r>
          </a:p>
          <a:p>
            <a:pPr>
              <a:spcBef>
                <a:spcPts val="600"/>
              </a:spcBef>
              <a:spcAft>
                <a:spcPts val="600"/>
              </a:spcAft>
            </a:pPr>
            <a:r>
              <a:rPr lang="en-US" altLang="zh-CN" sz="2200" dirty="0" smtClean="0">
                <a:latin typeface="Helvetica" pitchFamily="34" charset="0"/>
                <a:ea typeface="宋体" pitchFamily="2" charset="-122"/>
              </a:rPr>
              <a:t>Teaspoons</a:t>
            </a:r>
          </a:p>
          <a:p>
            <a:pPr>
              <a:spcBef>
                <a:spcPts val="600"/>
              </a:spcBef>
              <a:spcAft>
                <a:spcPts val="600"/>
              </a:spcAft>
            </a:pPr>
            <a:r>
              <a:rPr lang="en-US" altLang="zh-CN" sz="2200" dirty="0" smtClean="0">
                <a:latin typeface="Helvetica" pitchFamily="34" charset="0"/>
                <a:ea typeface="宋体" pitchFamily="2" charset="-122"/>
              </a:rPr>
              <a:t>Seafood cutlery</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5" name="Picture 6" descr="secess_hoffm_cutlery_lg"/>
          <p:cNvPicPr>
            <a:picLocks noChangeAspect="1" noChangeArrowheads="1"/>
          </p:cNvPicPr>
          <p:nvPr/>
        </p:nvPicPr>
        <p:blipFill>
          <a:blip r:embed="rId3" cstate="print"/>
          <a:srcRect/>
          <a:stretch>
            <a:fillRect/>
          </a:stretch>
        </p:blipFill>
        <p:spPr bwMode="auto">
          <a:xfrm>
            <a:off x="5508104" y="3356992"/>
            <a:ext cx="2880320" cy="1917453"/>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Prepare equipment</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00600"/>
          </a:xfrm>
        </p:spPr>
        <p:txBody>
          <a:bodyPr>
            <a:normAutofit/>
          </a:bodyPr>
          <a:lstStyle/>
          <a:p>
            <a:pPr>
              <a:spcBef>
                <a:spcPts val="600"/>
              </a:spcBef>
              <a:spcAft>
                <a:spcPts val="600"/>
              </a:spcAft>
              <a:buNone/>
            </a:pPr>
            <a:r>
              <a:rPr lang="en-US" altLang="zh-CN" sz="2200" b="1" dirty="0" smtClean="0">
                <a:latin typeface="Helvetica" pitchFamily="34" charset="0"/>
                <a:ea typeface="宋体" pitchFamily="2" charset="-122"/>
              </a:rPr>
              <a:t>Crockery:</a:t>
            </a:r>
          </a:p>
          <a:p>
            <a:pPr>
              <a:spcBef>
                <a:spcPts val="600"/>
              </a:spcBef>
              <a:spcAft>
                <a:spcPts val="600"/>
              </a:spcAft>
            </a:pPr>
            <a:r>
              <a:rPr lang="en-US" altLang="zh-CN" sz="2200" dirty="0" smtClean="0">
                <a:latin typeface="Helvetica" pitchFamily="34" charset="0"/>
                <a:ea typeface="宋体" pitchFamily="2" charset="-122"/>
              </a:rPr>
              <a:t>Plates (main and entrée)</a:t>
            </a:r>
          </a:p>
          <a:p>
            <a:pPr>
              <a:spcBef>
                <a:spcPts val="600"/>
              </a:spcBef>
              <a:spcAft>
                <a:spcPts val="600"/>
              </a:spcAft>
            </a:pPr>
            <a:r>
              <a:rPr lang="en-US" altLang="zh-CN" sz="2200" dirty="0" smtClean="0">
                <a:latin typeface="Helvetica" pitchFamily="34" charset="0"/>
                <a:ea typeface="宋体" pitchFamily="2" charset="-122"/>
              </a:rPr>
              <a:t>bowls (soup, salad and dessert)</a:t>
            </a:r>
          </a:p>
          <a:p>
            <a:pPr>
              <a:spcBef>
                <a:spcPts val="600"/>
              </a:spcBef>
              <a:spcAft>
                <a:spcPts val="600"/>
              </a:spcAft>
            </a:pPr>
            <a:r>
              <a:rPr lang="en-US" altLang="zh-CN" sz="2200" dirty="0" smtClean="0">
                <a:latin typeface="Helvetica" pitchFamily="34" charset="0"/>
                <a:ea typeface="宋体" pitchFamily="2" charset="-122"/>
              </a:rPr>
              <a:t>Butter dishes</a:t>
            </a:r>
          </a:p>
          <a:p>
            <a:pPr>
              <a:spcBef>
                <a:spcPts val="600"/>
              </a:spcBef>
              <a:spcAft>
                <a:spcPts val="600"/>
              </a:spcAft>
            </a:pPr>
            <a:r>
              <a:rPr lang="en-US" altLang="zh-CN" sz="2200" dirty="0" smtClean="0">
                <a:latin typeface="Helvetica" pitchFamily="34" charset="0"/>
                <a:ea typeface="宋体" pitchFamily="2" charset="-122"/>
              </a:rPr>
              <a:t>Salt and pepper shakers</a:t>
            </a:r>
          </a:p>
          <a:p>
            <a:pPr>
              <a:spcBef>
                <a:spcPts val="600"/>
              </a:spcBef>
              <a:spcAft>
                <a:spcPts val="600"/>
              </a:spcAft>
            </a:pPr>
            <a:r>
              <a:rPr lang="en-US" altLang="zh-CN" sz="2200" dirty="0" smtClean="0">
                <a:latin typeface="Helvetica" pitchFamily="34" charset="0"/>
                <a:ea typeface="宋体" pitchFamily="2" charset="-122"/>
              </a:rPr>
              <a:t>Sugar bowls</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6" name="Picture 6" descr="plates"/>
          <p:cNvPicPr>
            <a:picLocks noChangeAspect="1" noChangeArrowheads="1"/>
          </p:cNvPicPr>
          <p:nvPr/>
        </p:nvPicPr>
        <p:blipFill>
          <a:blip r:embed="rId3" cstate="print"/>
          <a:srcRect/>
          <a:stretch>
            <a:fillRect/>
          </a:stretch>
        </p:blipFill>
        <p:spPr bwMode="auto">
          <a:xfrm>
            <a:off x="4932040" y="2780928"/>
            <a:ext cx="3272245" cy="2190552"/>
          </a:xfrm>
          <a:prstGeom prst="rect">
            <a:avLst/>
          </a:prstGeom>
          <a:noFill/>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US" sz="3200" b="1" dirty="0" smtClean="0">
                <a:solidFill>
                  <a:srgbClr val="FF6600"/>
                </a:solidFill>
                <a:latin typeface="Helvetica" pitchFamily="34" charset="0"/>
              </a:rPr>
              <a:t>Prepare equipment</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00600"/>
          </a:xfrm>
        </p:spPr>
        <p:txBody>
          <a:bodyPr>
            <a:normAutofit/>
          </a:bodyPr>
          <a:lstStyle/>
          <a:p>
            <a:pPr>
              <a:spcBef>
                <a:spcPts val="600"/>
              </a:spcBef>
              <a:spcAft>
                <a:spcPts val="600"/>
              </a:spcAft>
              <a:buNone/>
            </a:pPr>
            <a:r>
              <a:rPr lang="en-US" altLang="zh-CN" sz="2200" b="1" dirty="0" smtClean="0">
                <a:latin typeface="Helvetica" pitchFamily="34" charset="0"/>
                <a:ea typeface="宋体" pitchFamily="2" charset="-122"/>
              </a:rPr>
              <a:t>Glassware:</a:t>
            </a:r>
          </a:p>
          <a:p>
            <a:pPr lvl="0">
              <a:spcBef>
                <a:spcPts val="600"/>
              </a:spcBef>
              <a:spcAft>
                <a:spcPts val="600"/>
              </a:spcAft>
            </a:pPr>
            <a:r>
              <a:rPr lang="en-AU" sz="2200" dirty="0" smtClean="0">
                <a:latin typeface="Helvetica" pitchFamily="34" charset="0"/>
              </a:rPr>
              <a:t>Beer glasses</a:t>
            </a:r>
          </a:p>
          <a:p>
            <a:pPr lvl="0">
              <a:spcBef>
                <a:spcPts val="600"/>
              </a:spcBef>
              <a:spcAft>
                <a:spcPts val="600"/>
              </a:spcAft>
            </a:pPr>
            <a:r>
              <a:rPr lang="en-AU" sz="2200" dirty="0" smtClean="0">
                <a:latin typeface="Helvetica" pitchFamily="34" charset="0"/>
              </a:rPr>
              <a:t>Wine glasses  </a:t>
            </a:r>
          </a:p>
          <a:p>
            <a:pPr lvl="0">
              <a:spcBef>
                <a:spcPts val="600"/>
              </a:spcBef>
              <a:spcAft>
                <a:spcPts val="600"/>
              </a:spcAft>
            </a:pPr>
            <a:r>
              <a:rPr lang="en-AU" sz="2200" dirty="0" smtClean="0">
                <a:latin typeface="Helvetica" pitchFamily="34" charset="0"/>
              </a:rPr>
              <a:t>All-purpose glasses  </a:t>
            </a:r>
          </a:p>
          <a:p>
            <a:pPr lvl="0">
              <a:spcBef>
                <a:spcPts val="600"/>
              </a:spcBef>
              <a:spcAft>
                <a:spcPts val="600"/>
              </a:spcAft>
            </a:pPr>
            <a:r>
              <a:rPr lang="en-AU" sz="2200" dirty="0" smtClean="0">
                <a:latin typeface="Helvetica" pitchFamily="34" charset="0"/>
              </a:rPr>
              <a:t>Cocktail glasses</a:t>
            </a:r>
          </a:p>
          <a:p>
            <a:pPr lvl="0">
              <a:spcBef>
                <a:spcPts val="600"/>
              </a:spcBef>
              <a:spcAft>
                <a:spcPts val="600"/>
              </a:spcAft>
            </a:pPr>
            <a:r>
              <a:rPr lang="en-AU" sz="2200" dirty="0" smtClean="0">
                <a:latin typeface="Helvetica" pitchFamily="34" charset="0"/>
              </a:rPr>
              <a:t>Liqueur glasses and fortified wine                                         glasses</a:t>
            </a:r>
          </a:p>
          <a:p>
            <a:pPr lvl="0">
              <a:spcBef>
                <a:spcPts val="600"/>
              </a:spcBef>
              <a:spcAft>
                <a:spcPts val="600"/>
              </a:spcAft>
            </a:pPr>
            <a:r>
              <a:rPr lang="en-AU" sz="2200" dirty="0" smtClean="0">
                <a:latin typeface="Helvetica" pitchFamily="34" charset="0"/>
              </a:rPr>
              <a:t>Carafes  wines to table </a:t>
            </a:r>
          </a:p>
          <a:p>
            <a:pPr lvl="0">
              <a:spcBef>
                <a:spcPts val="600"/>
              </a:spcBef>
              <a:spcAft>
                <a:spcPts val="600"/>
              </a:spcAft>
            </a:pPr>
            <a:r>
              <a:rPr lang="en-AU" sz="2200" dirty="0" smtClean="0">
                <a:latin typeface="Helvetica" pitchFamily="34" charset="0"/>
              </a:rPr>
              <a:t>Jugs  drinks</a:t>
            </a:r>
          </a:p>
          <a:p>
            <a:pPr lvl="0">
              <a:spcBef>
                <a:spcPts val="600"/>
              </a:spcBef>
              <a:spcAft>
                <a:spcPts val="600"/>
              </a:spcAft>
            </a:pPr>
            <a:r>
              <a:rPr lang="en-AU" sz="2200" dirty="0" smtClean="0">
                <a:latin typeface="Helvetica" pitchFamily="34" charset="0"/>
              </a:rPr>
              <a:t>Irish coffee/liqueur-spirit coffee mugs</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7" name="Picture 6" descr="56375437"/>
          <p:cNvPicPr>
            <a:picLocks noChangeAspect="1" noChangeArrowheads="1"/>
          </p:cNvPicPr>
          <p:nvPr/>
        </p:nvPicPr>
        <p:blipFill>
          <a:blip r:embed="rId3" cstate="print"/>
          <a:srcRect/>
          <a:stretch>
            <a:fillRect/>
          </a:stretch>
        </p:blipFill>
        <p:spPr bwMode="auto">
          <a:xfrm>
            <a:off x="5652120" y="3501008"/>
            <a:ext cx="2706487" cy="1800224"/>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US" sz="3200" b="1" dirty="0" smtClean="0">
                <a:solidFill>
                  <a:srgbClr val="FF6600"/>
                </a:solidFill>
                <a:latin typeface="Helvetica" pitchFamily="34" charset="0"/>
              </a:rPr>
              <a:t>Prepare equipment</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72608"/>
          </a:xfrm>
        </p:spPr>
        <p:txBody>
          <a:bodyPr>
            <a:normAutofit/>
          </a:bodyPr>
          <a:lstStyle/>
          <a:p>
            <a:pPr>
              <a:spcBef>
                <a:spcPts val="600"/>
              </a:spcBef>
              <a:spcAft>
                <a:spcPts val="600"/>
              </a:spcAft>
              <a:buNone/>
            </a:pPr>
            <a:r>
              <a:rPr lang="en-US" altLang="zh-CN" sz="2200" b="1" dirty="0" smtClean="0">
                <a:latin typeface="Helvetica" pitchFamily="34" charset="0"/>
                <a:ea typeface="宋体" pitchFamily="2" charset="-122"/>
              </a:rPr>
              <a:t>Condiments</a:t>
            </a:r>
          </a:p>
          <a:p>
            <a:pPr>
              <a:spcBef>
                <a:spcPts val="600"/>
              </a:spcBef>
              <a:spcAft>
                <a:spcPts val="600"/>
              </a:spcAft>
            </a:pPr>
            <a:r>
              <a:rPr lang="en-US" altLang="zh-CN" sz="2200" dirty="0" smtClean="0">
                <a:latin typeface="Helvetica" pitchFamily="34" charset="0"/>
                <a:ea typeface="宋体" pitchFamily="2" charset="-122"/>
              </a:rPr>
              <a:t>Sauces</a:t>
            </a:r>
          </a:p>
          <a:p>
            <a:pPr>
              <a:spcBef>
                <a:spcPts val="600"/>
              </a:spcBef>
              <a:spcAft>
                <a:spcPts val="600"/>
              </a:spcAft>
            </a:pPr>
            <a:r>
              <a:rPr lang="en-US" altLang="zh-CN" sz="2200" dirty="0" smtClean="0">
                <a:latin typeface="Helvetica" pitchFamily="34" charset="0"/>
                <a:ea typeface="宋体" pitchFamily="2" charset="-122"/>
              </a:rPr>
              <a:t>Lemon</a:t>
            </a:r>
          </a:p>
          <a:p>
            <a:pPr>
              <a:spcBef>
                <a:spcPts val="600"/>
              </a:spcBef>
              <a:spcAft>
                <a:spcPts val="600"/>
              </a:spcAft>
            </a:pPr>
            <a:r>
              <a:rPr lang="en-US" altLang="zh-CN" sz="2200" dirty="0" smtClean="0">
                <a:latin typeface="Helvetica" pitchFamily="34" charset="0"/>
                <a:ea typeface="宋体" pitchFamily="2" charset="-122"/>
              </a:rPr>
              <a:t>Mustards</a:t>
            </a:r>
          </a:p>
          <a:p>
            <a:pPr>
              <a:spcBef>
                <a:spcPts val="600"/>
              </a:spcBef>
              <a:spcAft>
                <a:spcPts val="600"/>
              </a:spcAft>
            </a:pPr>
            <a:r>
              <a:rPr lang="en-US" altLang="zh-CN" sz="2200" dirty="0" smtClean="0">
                <a:latin typeface="Helvetica" pitchFamily="34" charset="0"/>
                <a:ea typeface="宋体" pitchFamily="2" charset="-122"/>
              </a:rPr>
              <a:t>Chilli</a:t>
            </a:r>
          </a:p>
          <a:p>
            <a:pPr>
              <a:spcBef>
                <a:spcPts val="600"/>
              </a:spcBef>
              <a:spcAft>
                <a:spcPts val="600"/>
              </a:spcAft>
            </a:pPr>
            <a:r>
              <a:rPr lang="en-US" altLang="zh-CN" sz="2200" dirty="0" smtClean="0">
                <a:latin typeface="Helvetica" pitchFamily="34" charset="0"/>
                <a:ea typeface="宋体" pitchFamily="2" charset="-122"/>
              </a:rPr>
              <a:t>Butter</a:t>
            </a:r>
          </a:p>
          <a:p>
            <a:pPr>
              <a:spcBef>
                <a:spcPts val="600"/>
              </a:spcBef>
              <a:spcAft>
                <a:spcPts val="600"/>
              </a:spcAft>
            </a:pPr>
            <a:r>
              <a:rPr lang="en-US" altLang="zh-CN" sz="2200" dirty="0" smtClean="0">
                <a:latin typeface="Helvetica" pitchFamily="34" charset="0"/>
                <a:ea typeface="宋体" pitchFamily="2" charset="-122"/>
              </a:rPr>
              <a:t>Salt and pepper</a:t>
            </a:r>
          </a:p>
          <a:p>
            <a:pPr>
              <a:spcBef>
                <a:spcPts val="600"/>
              </a:spcBef>
              <a:spcAft>
                <a:spcPts val="600"/>
              </a:spcAft>
            </a:pPr>
            <a:r>
              <a:rPr lang="en-US" altLang="zh-CN" sz="2200" dirty="0" smtClean="0">
                <a:latin typeface="Helvetica" pitchFamily="34" charset="0"/>
                <a:ea typeface="宋体" pitchFamily="2" charset="-122"/>
              </a:rPr>
              <a:t>Salsa</a:t>
            </a:r>
          </a:p>
          <a:p>
            <a:pPr>
              <a:spcBef>
                <a:spcPts val="600"/>
              </a:spcBef>
              <a:spcAft>
                <a:spcPts val="600"/>
              </a:spcAft>
            </a:pPr>
            <a:r>
              <a:rPr lang="en-US" altLang="zh-CN" sz="2200" dirty="0" smtClean="0">
                <a:latin typeface="Helvetica" pitchFamily="34" charset="0"/>
                <a:ea typeface="宋体" pitchFamily="2" charset="-122"/>
              </a:rPr>
              <a:t>Fruit, vegetables and herbs</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6" name="Picture 5" descr="diners_condiments"/>
          <p:cNvPicPr>
            <a:picLocks noChangeAspect="1" noChangeArrowheads="1"/>
          </p:cNvPicPr>
          <p:nvPr/>
        </p:nvPicPr>
        <p:blipFill>
          <a:blip r:embed="rId3" cstate="print"/>
          <a:srcRect/>
          <a:stretch>
            <a:fillRect/>
          </a:stretch>
        </p:blipFill>
        <p:spPr bwMode="auto">
          <a:xfrm>
            <a:off x="3707904" y="2204864"/>
            <a:ext cx="3438277" cy="1870732"/>
          </a:xfrm>
          <a:prstGeom prst="rect">
            <a:avLst/>
          </a:prstGeom>
          <a:noFill/>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Prepare equipment</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72608"/>
          </a:xfrm>
        </p:spPr>
        <p:txBody>
          <a:bodyPr>
            <a:normAutofit/>
          </a:bodyPr>
          <a:lstStyle/>
          <a:p>
            <a:pPr>
              <a:spcBef>
                <a:spcPts val="600"/>
              </a:spcBef>
              <a:spcAft>
                <a:spcPts val="1200"/>
              </a:spcAft>
              <a:buNone/>
            </a:pPr>
            <a:r>
              <a:rPr lang="en-US" altLang="zh-CN" sz="2200" b="1" dirty="0" smtClean="0">
                <a:latin typeface="Helvetica" pitchFamily="34" charset="0"/>
                <a:ea typeface="宋体" pitchFamily="2" charset="-122"/>
              </a:rPr>
              <a:t>Napkins</a:t>
            </a:r>
          </a:p>
          <a:p>
            <a:pPr>
              <a:spcBef>
                <a:spcPts val="600"/>
              </a:spcBef>
              <a:spcAft>
                <a:spcPts val="1200"/>
              </a:spcAft>
              <a:buNone/>
            </a:pPr>
            <a:r>
              <a:rPr lang="en-US" altLang="zh-CN" sz="2200" dirty="0" smtClean="0">
                <a:latin typeface="Helvetica" pitchFamily="34" charset="0"/>
                <a:ea typeface="宋体" pitchFamily="2" charset="-122"/>
              </a:rPr>
              <a:t>Preparing napkins includes ensuring they are:</a:t>
            </a:r>
          </a:p>
          <a:p>
            <a:pPr>
              <a:spcBef>
                <a:spcPts val="600"/>
              </a:spcBef>
              <a:spcAft>
                <a:spcPts val="1200"/>
              </a:spcAft>
            </a:pPr>
            <a:r>
              <a:rPr lang="en-US" altLang="zh-CN" sz="2200" dirty="0" smtClean="0">
                <a:latin typeface="Helvetica" pitchFamily="34" charset="0"/>
                <a:ea typeface="宋体" pitchFamily="2" charset="-122"/>
              </a:rPr>
              <a:t>Clean</a:t>
            </a:r>
          </a:p>
          <a:p>
            <a:pPr>
              <a:spcBef>
                <a:spcPts val="600"/>
              </a:spcBef>
              <a:spcAft>
                <a:spcPts val="1200"/>
              </a:spcAft>
            </a:pPr>
            <a:r>
              <a:rPr lang="en-US" altLang="zh-CN" sz="2200" dirty="0" smtClean="0">
                <a:latin typeface="Helvetica" pitchFamily="34" charset="0"/>
                <a:ea typeface="宋体" pitchFamily="2" charset="-122"/>
              </a:rPr>
              <a:t>Have no holes</a:t>
            </a:r>
          </a:p>
          <a:p>
            <a:pPr>
              <a:spcBef>
                <a:spcPts val="600"/>
              </a:spcBef>
              <a:spcAft>
                <a:spcPts val="1200"/>
              </a:spcAft>
            </a:pPr>
            <a:r>
              <a:rPr lang="en-US" altLang="zh-CN" sz="2200" dirty="0" smtClean="0">
                <a:latin typeface="Helvetica" pitchFamily="34" charset="0"/>
                <a:ea typeface="宋体" pitchFamily="2" charset="-122"/>
              </a:rPr>
              <a:t>Are prepared/folded</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7" name="Picture 6" descr="http://www.napkinfoldingguide.com/01-pyramid/napkinfolding/pyramid05.jpg"/>
          <p:cNvPicPr/>
          <p:nvPr/>
        </p:nvPicPr>
        <p:blipFill>
          <a:blip r:embed="rId3" cstate="print"/>
          <a:srcRect/>
          <a:stretch>
            <a:fillRect/>
          </a:stretch>
        </p:blipFill>
        <p:spPr bwMode="auto">
          <a:xfrm>
            <a:off x="5724128" y="3033886"/>
            <a:ext cx="2625080" cy="226732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Prepare equipment</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72608"/>
          </a:xfrm>
        </p:spPr>
        <p:txBody>
          <a:bodyPr>
            <a:normAutofit/>
          </a:bodyPr>
          <a:lstStyle/>
          <a:p>
            <a:pPr>
              <a:spcBef>
                <a:spcPts val="600"/>
              </a:spcBef>
              <a:spcAft>
                <a:spcPts val="1200"/>
              </a:spcAft>
              <a:buNone/>
            </a:pPr>
            <a:r>
              <a:rPr lang="en-US" altLang="zh-CN" sz="2200" b="1" dirty="0" smtClean="0">
                <a:latin typeface="Helvetica" pitchFamily="34" charset="0"/>
                <a:ea typeface="宋体" pitchFamily="2" charset="-122"/>
              </a:rPr>
              <a:t>Napkins</a:t>
            </a:r>
          </a:p>
          <a:p>
            <a:pPr>
              <a:spcBef>
                <a:spcPts val="600"/>
              </a:spcBef>
              <a:spcAft>
                <a:spcPts val="1200"/>
              </a:spcAft>
              <a:buNone/>
            </a:pPr>
            <a:r>
              <a:rPr lang="en-US" altLang="zh-CN" sz="2200" dirty="0" smtClean="0">
                <a:latin typeface="Helvetica" pitchFamily="34" charset="0"/>
                <a:ea typeface="宋体" pitchFamily="2" charset="-122"/>
              </a:rPr>
              <a:t>Types of napkin folds:</a:t>
            </a:r>
          </a:p>
          <a:p>
            <a:pPr>
              <a:spcBef>
                <a:spcPts val="600"/>
              </a:spcBef>
              <a:spcAft>
                <a:spcPts val="1200"/>
              </a:spcAft>
            </a:pPr>
            <a:r>
              <a:rPr lang="en-US" altLang="zh-CN" sz="2200" dirty="0" smtClean="0">
                <a:latin typeface="Helvetica" pitchFamily="34" charset="0"/>
                <a:ea typeface="宋体" pitchFamily="2" charset="-122"/>
              </a:rPr>
              <a:t>Cone</a:t>
            </a:r>
          </a:p>
          <a:p>
            <a:pPr>
              <a:spcBef>
                <a:spcPts val="600"/>
              </a:spcBef>
              <a:spcAft>
                <a:spcPts val="1200"/>
              </a:spcAft>
            </a:pPr>
            <a:r>
              <a:rPr lang="en-US" altLang="zh-CN" sz="2200" dirty="0" smtClean="0">
                <a:latin typeface="Helvetica" pitchFamily="34" charset="0"/>
                <a:ea typeface="宋体" pitchFamily="2" charset="-122"/>
              </a:rPr>
              <a:t>Bishops Hat</a:t>
            </a:r>
          </a:p>
          <a:p>
            <a:pPr>
              <a:spcBef>
                <a:spcPts val="600"/>
              </a:spcBef>
              <a:spcAft>
                <a:spcPts val="1200"/>
              </a:spcAft>
            </a:pPr>
            <a:r>
              <a:rPr lang="en-US" altLang="zh-CN" sz="2200" dirty="0" smtClean="0">
                <a:latin typeface="Helvetica" pitchFamily="34" charset="0"/>
                <a:ea typeface="宋体" pitchFamily="2" charset="-122"/>
              </a:rPr>
              <a:t>Fan</a:t>
            </a:r>
          </a:p>
          <a:p>
            <a:pPr>
              <a:spcBef>
                <a:spcPts val="600"/>
              </a:spcBef>
              <a:spcAft>
                <a:spcPts val="1200"/>
              </a:spcAft>
            </a:pPr>
            <a:r>
              <a:rPr lang="en-US" altLang="zh-CN" sz="2200" dirty="0" smtClean="0">
                <a:latin typeface="Helvetica" pitchFamily="34" charset="0"/>
                <a:ea typeface="宋体" pitchFamily="2" charset="-122"/>
              </a:rPr>
              <a:t>Opera House</a:t>
            </a:r>
          </a:p>
          <a:p>
            <a:pPr>
              <a:spcBef>
                <a:spcPts val="600"/>
              </a:spcBef>
              <a:spcAft>
                <a:spcPts val="1200"/>
              </a:spcAft>
            </a:pPr>
            <a:r>
              <a:rPr lang="en-US" altLang="zh-CN" sz="2200" dirty="0" smtClean="0">
                <a:latin typeface="Helvetica" pitchFamily="34" charset="0"/>
                <a:ea typeface="宋体" pitchFamily="2" charset="-122"/>
              </a:rPr>
              <a:t>Sail</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7" name="Picture 6" descr="napkin_folding_diy"/>
          <p:cNvPicPr>
            <a:picLocks noChangeAspect="1" noChangeArrowheads="1"/>
          </p:cNvPicPr>
          <p:nvPr/>
        </p:nvPicPr>
        <p:blipFill>
          <a:blip r:embed="rId3" cstate="print"/>
          <a:srcRect/>
          <a:stretch>
            <a:fillRect/>
          </a:stretch>
        </p:blipFill>
        <p:spPr bwMode="auto">
          <a:xfrm>
            <a:off x="4932040" y="3356992"/>
            <a:ext cx="3448427" cy="2008634"/>
          </a:xfrm>
          <a:prstGeom prst="rect">
            <a:avLst/>
          </a:prstGeom>
          <a:noFill/>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Prepare equipment</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72608"/>
          </a:xfrm>
        </p:spPr>
        <p:txBody>
          <a:bodyPr>
            <a:normAutofit/>
          </a:bodyPr>
          <a:lstStyle/>
          <a:p>
            <a:pPr>
              <a:spcBef>
                <a:spcPts val="600"/>
              </a:spcBef>
              <a:spcAft>
                <a:spcPts val="1200"/>
              </a:spcAft>
              <a:buNone/>
            </a:pPr>
            <a:r>
              <a:rPr lang="en-US" altLang="zh-CN" sz="2200" b="1" dirty="0" smtClean="0">
                <a:latin typeface="Helvetica" pitchFamily="34" charset="0"/>
                <a:ea typeface="宋体" pitchFamily="2" charset="-122"/>
              </a:rPr>
              <a:t>Waiter’s Station:</a:t>
            </a:r>
          </a:p>
          <a:p>
            <a:pPr>
              <a:spcBef>
                <a:spcPts val="600"/>
              </a:spcBef>
              <a:spcAft>
                <a:spcPts val="1200"/>
              </a:spcAft>
            </a:pPr>
            <a:r>
              <a:rPr lang="en-US" altLang="zh-CN" sz="2200" dirty="0" smtClean="0">
                <a:latin typeface="Helvetica" pitchFamily="34" charset="0"/>
                <a:ea typeface="宋体" pitchFamily="2" charset="-122"/>
              </a:rPr>
              <a:t>Menus and wine lists</a:t>
            </a:r>
          </a:p>
          <a:p>
            <a:pPr>
              <a:spcBef>
                <a:spcPts val="600"/>
              </a:spcBef>
              <a:spcAft>
                <a:spcPts val="1200"/>
              </a:spcAft>
            </a:pPr>
            <a:r>
              <a:rPr lang="en-US" altLang="zh-CN" sz="2200" dirty="0" smtClean="0">
                <a:latin typeface="Helvetica" pitchFamily="34" charset="0"/>
                <a:ea typeface="宋体" pitchFamily="2" charset="-122"/>
              </a:rPr>
              <a:t>Cutlery and crockery</a:t>
            </a:r>
          </a:p>
          <a:p>
            <a:pPr>
              <a:spcBef>
                <a:spcPts val="600"/>
              </a:spcBef>
              <a:spcAft>
                <a:spcPts val="1200"/>
              </a:spcAft>
            </a:pPr>
            <a:r>
              <a:rPr lang="en-US" altLang="zh-CN" sz="2200" dirty="0" smtClean="0">
                <a:latin typeface="Helvetica" pitchFamily="34" charset="0"/>
                <a:ea typeface="宋体" pitchFamily="2" charset="-122"/>
              </a:rPr>
              <a:t>Service cutlery</a:t>
            </a:r>
          </a:p>
          <a:p>
            <a:pPr>
              <a:spcBef>
                <a:spcPts val="600"/>
              </a:spcBef>
              <a:spcAft>
                <a:spcPts val="1200"/>
              </a:spcAft>
            </a:pPr>
            <a:r>
              <a:rPr lang="en-US" altLang="zh-CN" sz="2200" dirty="0" smtClean="0">
                <a:latin typeface="Helvetica" pitchFamily="34" charset="0"/>
                <a:ea typeface="宋体" pitchFamily="2" charset="-122"/>
              </a:rPr>
              <a:t>Napkins</a:t>
            </a:r>
          </a:p>
          <a:p>
            <a:pPr>
              <a:spcBef>
                <a:spcPts val="600"/>
              </a:spcBef>
              <a:spcAft>
                <a:spcPts val="1200"/>
              </a:spcAft>
            </a:pPr>
            <a:r>
              <a:rPr lang="en-US" altLang="zh-CN" sz="2200" dirty="0" smtClean="0">
                <a:latin typeface="Helvetica" pitchFamily="34" charset="0"/>
                <a:ea typeface="宋体" pitchFamily="2" charset="-122"/>
              </a:rPr>
              <a:t>Service trays</a:t>
            </a:r>
          </a:p>
          <a:p>
            <a:pPr>
              <a:spcBef>
                <a:spcPts val="600"/>
              </a:spcBef>
              <a:spcAft>
                <a:spcPts val="1200"/>
              </a:spcAft>
            </a:pPr>
            <a:r>
              <a:rPr lang="en-US" altLang="zh-CN" sz="2200" dirty="0" smtClean="0">
                <a:latin typeface="Helvetica" pitchFamily="34" charset="0"/>
                <a:ea typeface="宋体" pitchFamily="2" charset="-122"/>
              </a:rPr>
              <a:t>Docket books</a:t>
            </a:r>
          </a:p>
          <a:p>
            <a:pPr>
              <a:spcBef>
                <a:spcPts val="600"/>
              </a:spcBef>
              <a:spcAft>
                <a:spcPts val="1200"/>
              </a:spcAft>
            </a:pPr>
            <a:r>
              <a:rPr lang="en-US" altLang="zh-CN" sz="2200" dirty="0" smtClean="0">
                <a:latin typeface="Helvetica" pitchFamily="34" charset="0"/>
                <a:ea typeface="宋体" pitchFamily="2" charset="-122"/>
              </a:rPr>
              <a:t>Toothpicks</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6" name="Picture 5" descr="IMG_1963.jpg"/>
          <p:cNvPicPr>
            <a:picLocks noChangeAspect="1"/>
          </p:cNvPicPr>
          <p:nvPr/>
        </p:nvPicPr>
        <p:blipFill>
          <a:blip r:embed="rId3" cstate="print"/>
          <a:stretch>
            <a:fillRect/>
          </a:stretch>
        </p:blipFill>
        <p:spPr>
          <a:xfrm>
            <a:off x="5940152" y="3429000"/>
            <a:ext cx="2459765" cy="1844824"/>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US" sz="3200" b="1" dirty="0" smtClean="0">
                <a:solidFill>
                  <a:srgbClr val="FF6600"/>
                </a:solidFill>
                <a:latin typeface="Helvetica" pitchFamily="34" charset="0"/>
              </a:rPr>
              <a:t>Prepare equipment</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72608"/>
          </a:xfrm>
        </p:spPr>
        <p:txBody>
          <a:bodyPr>
            <a:normAutofit/>
          </a:bodyPr>
          <a:lstStyle/>
          <a:p>
            <a:pPr>
              <a:spcBef>
                <a:spcPts val="600"/>
              </a:spcBef>
              <a:spcAft>
                <a:spcPts val="1200"/>
              </a:spcAft>
              <a:buNone/>
            </a:pPr>
            <a:r>
              <a:rPr lang="en-US" altLang="zh-CN" sz="2200" b="1" dirty="0" smtClean="0">
                <a:latin typeface="Helvetica" pitchFamily="34" charset="0"/>
                <a:ea typeface="宋体" pitchFamily="2" charset="-122"/>
              </a:rPr>
              <a:t>Waiter’s Station:</a:t>
            </a:r>
          </a:p>
          <a:p>
            <a:pPr>
              <a:spcBef>
                <a:spcPts val="600"/>
              </a:spcBef>
              <a:spcAft>
                <a:spcPts val="1200"/>
              </a:spcAft>
            </a:pPr>
            <a:r>
              <a:rPr lang="en-US" altLang="zh-CN" sz="2200" dirty="0" smtClean="0">
                <a:latin typeface="Helvetica" pitchFamily="34" charset="0"/>
                <a:ea typeface="宋体" pitchFamily="2" charset="-122"/>
              </a:rPr>
              <a:t>Condiments</a:t>
            </a:r>
          </a:p>
          <a:p>
            <a:pPr>
              <a:spcBef>
                <a:spcPts val="600"/>
              </a:spcBef>
              <a:spcAft>
                <a:spcPts val="1200"/>
              </a:spcAft>
            </a:pPr>
            <a:r>
              <a:rPr lang="en-US" altLang="zh-CN" sz="2200" dirty="0" smtClean="0">
                <a:latin typeface="Helvetica" pitchFamily="34" charset="0"/>
                <a:ea typeface="宋体" pitchFamily="2" charset="-122"/>
              </a:rPr>
              <a:t>Glassware</a:t>
            </a:r>
          </a:p>
          <a:p>
            <a:pPr>
              <a:spcBef>
                <a:spcPts val="600"/>
              </a:spcBef>
              <a:spcAft>
                <a:spcPts val="1200"/>
              </a:spcAft>
            </a:pPr>
            <a:r>
              <a:rPr lang="en-US" altLang="zh-CN" sz="2200" dirty="0" smtClean="0">
                <a:latin typeface="Helvetica" pitchFamily="34" charset="0"/>
                <a:ea typeface="宋体" pitchFamily="2" charset="-122"/>
              </a:rPr>
              <a:t>Pens</a:t>
            </a:r>
          </a:p>
          <a:p>
            <a:pPr>
              <a:spcBef>
                <a:spcPts val="600"/>
              </a:spcBef>
              <a:spcAft>
                <a:spcPts val="1200"/>
              </a:spcAft>
            </a:pPr>
            <a:r>
              <a:rPr lang="en-US" altLang="zh-CN" sz="2200" dirty="0" smtClean="0">
                <a:latin typeface="Helvetica" pitchFamily="34" charset="0"/>
                <a:ea typeface="宋体" pitchFamily="2" charset="-122"/>
              </a:rPr>
              <a:t>Matches</a:t>
            </a:r>
          </a:p>
          <a:p>
            <a:pPr>
              <a:spcBef>
                <a:spcPts val="600"/>
              </a:spcBef>
              <a:spcAft>
                <a:spcPts val="1200"/>
              </a:spcAft>
            </a:pPr>
            <a:r>
              <a:rPr lang="en-US" altLang="zh-CN" sz="2200" dirty="0" smtClean="0">
                <a:latin typeface="Helvetica" pitchFamily="34" charset="0"/>
                <a:ea typeface="宋体" pitchFamily="2" charset="-122"/>
              </a:rPr>
              <a:t>Ashtrays</a:t>
            </a:r>
          </a:p>
          <a:p>
            <a:pPr>
              <a:spcBef>
                <a:spcPts val="600"/>
              </a:spcBef>
              <a:spcAft>
                <a:spcPts val="1200"/>
              </a:spcAft>
            </a:pPr>
            <a:r>
              <a:rPr lang="en-US" altLang="zh-CN" sz="2200" dirty="0" smtClean="0">
                <a:latin typeface="Helvetica" pitchFamily="34" charset="0"/>
                <a:ea typeface="宋体" pitchFamily="2" charset="-122"/>
              </a:rPr>
              <a:t>Waiters apron</a:t>
            </a:r>
          </a:p>
          <a:p>
            <a:pPr>
              <a:spcBef>
                <a:spcPts val="600"/>
              </a:spcBef>
              <a:spcAft>
                <a:spcPts val="1200"/>
              </a:spcAft>
            </a:pPr>
            <a:r>
              <a:rPr lang="en-US" altLang="zh-CN" sz="2200" dirty="0" smtClean="0">
                <a:latin typeface="Helvetica" pitchFamily="34" charset="0"/>
                <a:ea typeface="宋体" pitchFamily="2" charset="-122"/>
              </a:rPr>
              <a:t>Nuts</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5" name="Picture 6" descr="waiters_station_colc_fourwa"/>
          <p:cNvPicPr>
            <a:picLocks noChangeAspect="1" noChangeArrowheads="1"/>
          </p:cNvPicPr>
          <p:nvPr/>
        </p:nvPicPr>
        <p:blipFill>
          <a:blip r:embed="rId3" cstate="print"/>
          <a:srcRect/>
          <a:stretch>
            <a:fillRect/>
          </a:stretch>
        </p:blipFill>
        <p:spPr bwMode="auto">
          <a:xfrm>
            <a:off x="6300192" y="2564904"/>
            <a:ext cx="2034183" cy="2711892"/>
          </a:xfrm>
          <a:prstGeom prst="rect">
            <a:avLst/>
          </a:prstGeom>
          <a:noFill/>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Removing, cleaning or replacing items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72608"/>
          </a:xfrm>
        </p:spPr>
        <p:txBody>
          <a:bodyPr>
            <a:normAutofit/>
          </a:bodyPr>
          <a:lstStyle/>
          <a:p>
            <a:pPr lvl="0">
              <a:spcBef>
                <a:spcPts val="600"/>
              </a:spcBef>
              <a:spcAft>
                <a:spcPts val="1200"/>
              </a:spcAft>
            </a:pPr>
            <a:r>
              <a:rPr lang="en-AU" sz="2200" dirty="0" smtClean="0">
                <a:latin typeface="Helvetica" pitchFamily="34" charset="0"/>
              </a:rPr>
              <a:t>High chairs</a:t>
            </a:r>
          </a:p>
          <a:p>
            <a:pPr lvl="0">
              <a:spcBef>
                <a:spcPts val="600"/>
              </a:spcBef>
              <a:spcAft>
                <a:spcPts val="1200"/>
              </a:spcAft>
            </a:pPr>
            <a:r>
              <a:rPr lang="en-AU" sz="2200" dirty="0" smtClean="0">
                <a:latin typeface="Helvetica" pitchFamily="34" charset="0"/>
              </a:rPr>
              <a:t>Trestle tables</a:t>
            </a:r>
          </a:p>
          <a:p>
            <a:pPr lvl="0">
              <a:spcBef>
                <a:spcPts val="600"/>
              </a:spcBef>
              <a:spcAft>
                <a:spcPts val="1200"/>
              </a:spcAft>
            </a:pPr>
            <a:r>
              <a:rPr lang="en-AU" sz="2200" dirty="0" smtClean="0">
                <a:latin typeface="Helvetica" pitchFamily="34" charset="0"/>
              </a:rPr>
              <a:t>Bain-maries</a:t>
            </a:r>
          </a:p>
          <a:p>
            <a:pPr lvl="0">
              <a:spcBef>
                <a:spcPts val="600"/>
              </a:spcBef>
              <a:spcAft>
                <a:spcPts val="1200"/>
              </a:spcAft>
            </a:pPr>
            <a:r>
              <a:rPr lang="en-AU" sz="2200" dirty="0" smtClean="0">
                <a:latin typeface="Helvetica" pitchFamily="34" charset="0"/>
              </a:rPr>
              <a:t>Coffee urns</a:t>
            </a:r>
          </a:p>
          <a:p>
            <a:pPr lvl="0">
              <a:spcBef>
                <a:spcPts val="600"/>
              </a:spcBef>
              <a:spcAft>
                <a:spcPts val="1200"/>
              </a:spcAft>
            </a:pPr>
            <a:r>
              <a:rPr lang="en-AU" sz="2200" dirty="0" smtClean="0">
                <a:latin typeface="Helvetica" pitchFamily="34" charset="0"/>
              </a:rPr>
              <a:t>Equipment used only for the                                              breakfast shift</a:t>
            </a:r>
          </a:p>
          <a:p>
            <a:pPr lvl="0">
              <a:spcBef>
                <a:spcPts val="600"/>
              </a:spcBef>
              <a:spcAft>
                <a:spcPts val="1200"/>
              </a:spcAft>
            </a:pPr>
            <a:r>
              <a:rPr lang="en-AU" sz="2200" dirty="0" smtClean="0">
                <a:latin typeface="Helvetica" pitchFamily="34" charset="0"/>
              </a:rPr>
              <a:t>Glassware</a:t>
            </a:r>
          </a:p>
          <a:p>
            <a:pPr>
              <a:buNone/>
            </a:pPr>
            <a:endParaRPr lang="en-AU" sz="2400" dirty="0" smtClean="0"/>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5" name="Picture 4" descr="http://www.h-e-d.co.uk/images/Baby-High-Chair-Natural.jpg"/>
          <p:cNvPicPr/>
          <p:nvPr/>
        </p:nvPicPr>
        <p:blipFill>
          <a:blip r:embed="rId3" cstate="print"/>
          <a:stretch>
            <a:fillRect/>
          </a:stretch>
        </p:blipFill>
        <p:spPr bwMode="auto">
          <a:xfrm>
            <a:off x="5724128" y="2582474"/>
            <a:ext cx="2497460" cy="24623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Removing, cleaning or replacing items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776864" cy="5472608"/>
          </a:xfrm>
        </p:spPr>
        <p:txBody>
          <a:bodyPr>
            <a:normAutofit/>
          </a:bodyPr>
          <a:lstStyle/>
          <a:p>
            <a:pPr lvl="0">
              <a:spcBef>
                <a:spcPts val="600"/>
              </a:spcBef>
              <a:spcAft>
                <a:spcPts val="1200"/>
              </a:spcAft>
            </a:pPr>
            <a:r>
              <a:rPr lang="en-AU" sz="2200" dirty="0" smtClean="0">
                <a:latin typeface="Helvetica" pitchFamily="34" charset="0"/>
              </a:rPr>
              <a:t>Broken equipment or furniture</a:t>
            </a:r>
          </a:p>
          <a:p>
            <a:pPr lvl="0">
              <a:spcBef>
                <a:spcPts val="600"/>
              </a:spcBef>
              <a:spcAft>
                <a:spcPts val="1200"/>
              </a:spcAft>
            </a:pPr>
            <a:r>
              <a:rPr lang="en-AU" sz="2200" dirty="0" smtClean="0">
                <a:latin typeface="Helvetica" pitchFamily="34" charset="0"/>
              </a:rPr>
              <a:t>Used customer comment forms </a:t>
            </a:r>
          </a:p>
          <a:p>
            <a:pPr lvl="0">
              <a:spcBef>
                <a:spcPts val="600"/>
              </a:spcBef>
              <a:spcAft>
                <a:spcPts val="1200"/>
              </a:spcAft>
            </a:pPr>
            <a:r>
              <a:rPr lang="en-AU" sz="2200" dirty="0" smtClean="0">
                <a:latin typeface="Helvetica" pitchFamily="34" charset="0"/>
              </a:rPr>
              <a:t>Stock (food and beverage items)</a:t>
            </a:r>
          </a:p>
          <a:p>
            <a:pPr lvl="0">
              <a:spcBef>
                <a:spcPts val="600"/>
              </a:spcBef>
              <a:spcAft>
                <a:spcPts val="1200"/>
              </a:spcAft>
            </a:pPr>
            <a:r>
              <a:rPr lang="en-AU" sz="2200" dirty="0" smtClean="0">
                <a:latin typeface="Helvetica" pitchFamily="34" charset="0"/>
              </a:rPr>
              <a:t>Displays</a:t>
            </a:r>
          </a:p>
          <a:p>
            <a:pPr lvl="0">
              <a:spcBef>
                <a:spcPts val="600"/>
              </a:spcBef>
              <a:spcAft>
                <a:spcPts val="1200"/>
              </a:spcAft>
            </a:pPr>
            <a:r>
              <a:rPr lang="en-AU" sz="2200" dirty="0" smtClean="0">
                <a:latin typeface="Helvetica" pitchFamily="34" charset="0"/>
              </a:rPr>
              <a:t>Mobile trolleys</a:t>
            </a:r>
          </a:p>
          <a:p>
            <a:pPr>
              <a:buNone/>
            </a:pPr>
            <a:endParaRPr lang="en-AU" sz="2400" dirty="0" smtClean="0"/>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5" name="Picture 4" descr="breakfast_buffet_closeup.jpg"/>
          <p:cNvPicPr>
            <a:picLocks noChangeAspect="1"/>
          </p:cNvPicPr>
          <p:nvPr/>
        </p:nvPicPr>
        <p:blipFill>
          <a:blip r:embed="rId3" cstate="print"/>
          <a:stretch>
            <a:fillRect/>
          </a:stretch>
        </p:blipFill>
        <p:spPr>
          <a:xfrm>
            <a:off x="6300192" y="3212976"/>
            <a:ext cx="2113040" cy="2106849"/>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Setting tables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00600"/>
          </a:xfrm>
        </p:spPr>
        <p:txBody>
          <a:bodyPr>
            <a:normAutofit/>
          </a:bodyPr>
          <a:lstStyle/>
          <a:p>
            <a:pPr marL="0">
              <a:spcBef>
                <a:spcPts val="600"/>
              </a:spcBef>
              <a:spcAft>
                <a:spcPts val="1200"/>
              </a:spcAft>
              <a:buNone/>
            </a:pPr>
            <a:r>
              <a:rPr lang="en-AU" sz="2200" dirty="0" smtClean="0">
                <a:latin typeface="Helvetica" pitchFamily="34" charset="0"/>
              </a:rPr>
              <a:t>Once the room setting and equipment is set up it is now time to </a:t>
            </a:r>
            <a:r>
              <a:rPr lang="en-AU" sz="2200" u="sng" dirty="0" smtClean="0">
                <a:latin typeface="Helvetica" pitchFamily="34" charset="0"/>
              </a:rPr>
              <a:t>set the tables</a:t>
            </a:r>
            <a:r>
              <a:rPr lang="en-AU" sz="2200" dirty="0" smtClean="0">
                <a:latin typeface="Helvetica" pitchFamily="34" charset="0"/>
              </a:rPr>
              <a:t> to meet the expected trade for the meal period:</a:t>
            </a:r>
          </a:p>
          <a:p>
            <a:pPr>
              <a:spcBef>
                <a:spcPts val="600"/>
              </a:spcBef>
              <a:spcAft>
                <a:spcPts val="1200"/>
              </a:spcAft>
            </a:pPr>
            <a:r>
              <a:rPr lang="en-AU" sz="2200" dirty="0" smtClean="0">
                <a:latin typeface="Helvetica" pitchFamily="34" charset="0"/>
              </a:rPr>
              <a:t>What types of setting can you prepare?</a:t>
            </a:r>
          </a:p>
          <a:p>
            <a:pPr>
              <a:spcBef>
                <a:spcPts val="600"/>
              </a:spcBef>
              <a:spcAft>
                <a:spcPts val="1200"/>
              </a:spcAft>
            </a:pPr>
            <a:r>
              <a:rPr lang="en-AU" sz="2200" dirty="0" smtClean="0">
                <a:latin typeface="Helvetica" pitchFamily="34" charset="0"/>
              </a:rPr>
              <a:t>What cutlery and crockery is needed?</a:t>
            </a:r>
          </a:p>
          <a:p>
            <a:pPr>
              <a:buNone/>
            </a:pPr>
            <a:endParaRPr lang="en-AU" sz="2400" dirty="0" smtClean="0"/>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6" name="Picture 5" descr="555"/>
          <p:cNvPicPr/>
          <p:nvPr/>
        </p:nvPicPr>
        <p:blipFill>
          <a:blip r:embed="rId3" cstate="print"/>
          <a:srcRect/>
          <a:stretch>
            <a:fillRect/>
          </a:stretch>
        </p:blipFill>
        <p:spPr bwMode="auto">
          <a:xfrm>
            <a:off x="6372200" y="3284984"/>
            <a:ext cx="2004045" cy="1944216"/>
          </a:xfrm>
          <a:prstGeom prst="rect">
            <a:avLst/>
          </a:prstGeom>
          <a:noFill/>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Setting tables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00600"/>
          </a:xfrm>
        </p:spPr>
        <p:txBody>
          <a:bodyPr>
            <a:normAutofit/>
          </a:bodyPr>
          <a:lstStyle/>
          <a:p>
            <a:pPr marL="0">
              <a:spcBef>
                <a:spcPts val="600"/>
              </a:spcBef>
              <a:spcAft>
                <a:spcPts val="1200"/>
              </a:spcAft>
              <a:buNone/>
            </a:pPr>
            <a:r>
              <a:rPr lang="en-AU" sz="2200" b="1" dirty="0" smtClean="0">
                <a:latin typeface="Helvetica" pitchFamily="34" charset="0"/>
              </a:rPr>
              <a:t>A cover</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 place setting for one guest is commonly known in the industry as a ‘cover’. </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7" name="Picture 6" descr="2117705-Happy_CustomerNippon-Kuala_Lumpur"/>
          <p:cNvPicPr>
            <a:picLocks noChangeAspect="1" noChangeArrowheads="1"/>
          </p:cNvPicPr>
          <p:nvPr/>
        </p:nvPicPr>
        <p:blipFill>
          <a:blip r:embed="rId3" cstate="print"/>
          <a:stretch>
            <a:fillRect/>
          </a:stretch>
        </p:blipFill>
        <p:spPr bwMode="auto">
          <a:xfrm>
            <a:off x="5940152" y="3717032"/>
            <a:ext cx="2437179" cy="1624151"/>
          </a:xfrm>
          <a:prstGeom prst="rect">
            <a:avLst/>
          </a:prstGeom>
          <a:noFill/>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Setting tables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72608"/>
          </a:xfrm>
        </p:spPr>
        <p:txBody>
          <a:bodyPr>
            <a:normAutofit/>
          </a:bodyPr>
          <a:lstStyle/>
          <a:p>
            <a:pPr>
              <a:spcBef>
                <a:spcPts val="600"/>
              </a:spcBef>
              <a:spcAft>
                <a:spcPts val="1200"/>
              </a:spcAft>
              <a:buNone/>
            </a:pPr>
            <a:r>
              <a:rPr lang="en-AU" sz="2200" b="1" dirty="0" smtClean="0">
                <a:latin typeface="Helvetica" pitchFamily="34" charset="0"/>
              </a:rPr>
              <a:t>À la carte cover:</a:t>
            </a:r>
          </a:p>
          <a:p>
            <a:pPr>
              <a:spcBef>
                <a:spcPts val="600"/>
              </a:spcBef>
              <a:spcAft>
                <a:spcPts val="1200"/>
              </a:spcAft>
            </a:pPr>
            <a:r>
              <a:rPr lang="en-AU" sz="2200" dirty="0" smtClean="0">
                <a:latin typeface="Helvetica" pitchFamily="34" charset="0"/>
              </a:rPr>
              <a:t>À la carte is the term used for a menu that has individually priced dishes</a:t>
            </a:r>
          </a:p>
          <a:p>
            <a:pPr>
              <a:spcBef>
                <a:spcPts val="600"/>
              </a:spcBef>
              <a:spcAft>
                <a:spcPts val="1200"/>
              </a:spcAft>
            </a:pPr>
            <a:r>
              <a:rPr lang="en-AU" sz="2200" dirty="0" smtClean="0">
                <a:latin typeface="Helvetica" pitchFamily="34" charset="0"/>
              </a:rPr>
              <a:t>These dishes are divided into entrées, salads, mains and desserts</a:t>
            </a:r>
          </a:p>
          <a:p>
            <a:pPr>
              <a:spcBef>
                <a:spcPts val="600"/>
              </a:spcBef>
              <a:spcAft>
                <a:spcPts val="1200"/>
              </a:spcAft>
            </a:pPr>
            <a:r>
              <a:rPr lang="en-AU" sz="2200" dirty="0" smtClean="0">
                <a:latin typeface="Helvetica" pitchFamily="34" charset="0"/>
              </a:rPr>
              <a:t>À la carte means ‘from the card/menu’</a:t>
            </a:r>
          </a:p>
          <a:p>
            <a:pPr>
              <a:spcBef>
                <a:spcPts val="600"/>
              </a:spcBef>
              <a:spcAft>
                <a:spcPts val="1200"/>
              </a:spcAft>
            </a:pPr>
            <a:r>
              <a:rPr lang="en-AU" sz="2200" dirty="0" smtClean="0">
                <a:latin typeface="Helvetica" pitchFamily="34" charset="0"/>
              </a:rPr>
              <a:t>This type of cover is popular</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6" name="Picture 5" descr="MP900401342.JPG"/>
          <p:cNvPicPr>
            <a:picLocks noChangeAspect="1"/>
          </p:cNvPicPr>
          <p:nvPr/>
        </p:nvPicPr>
        <p:blipFill>
          <a:blip r:embed="rId3" cstate="print"/>
          <a:stretch>
            <a:fillRect/>
          </a:stretch>
        </p:blipFill>
        <p:spPr>
          <a:xfrm>
            <a:off x="6229116" y="3789040"/>
            <a:ext cx="2092871" cy="1395945"/>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Setting tables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72608"/>
          </a:xfrm>
        </p:spPr>
        <p:txBody>
          <a:bodyPr>
            <a:normAutofit/>
          </a:bodyPr>
          <a:lstStyle/>
          <a:p>
            <a:pPr>
              <a:spcBef>
                <a:spcPts val="600"/>
              </a:spcBef>
              <a:spcAft>
                <a:spcPts val="1200"/>
              </a:spcAft>
              <a:buNone/>
            </a:pPr>
            <a:r>
              <a:rPr lang="en-AU" sz="2200" b="1" dirty="0" smtClean="0">
                <a:latin typeface="Helvetica" pitchFamily="34" charset="0"/>
              </a:rPr>
              <a:t>À la carte cover</a:t>
            </a:r>
          </a:p>
          <a:p>
            <a:pPr>
              <a:spcBef>
                <a:spcPts val="600"/>
              </a:spcBef>
              <a:spcAft>
                <a:spcPts val="1200"/>
              </a:spcAft>
              <a:buNone/>
            </a:pPr>
            <a:r>
              <a:rPr lang="en-AU" sz="2200" dirty="0" smtClean="0">
                <a:latin typeface="Helvetica" pitchFamily="34" charset="0"/>
              </a:rPr>
              <a:t>This cover usually consists of:</a:t>
            </a:r>
          </a:p>
          <a:p>
            <a:pPr lvl="0">
              <a:spcBef>
                <a:spcPts val="600"/>
              </a:spcBef>
              <a:spcAft>
                <a:spcPts val="1200"/>
              </a:spcAft>
            </a:pPr>
            <a:r>
              <a:rPr lang="en-AU" sz="2200" dirty="0" smtClean="0">
                <a:latin typeface="Helvetica" pitchFamily="34" charset="0"/>
              </a:rPr>
              <a:t>Main course knife</a:t>
            </a:r>
          </a:p>
          <a:p>
            <a:pPr lvl="0">
              <a:spcBef>
                <a:spcPts val="600"/>
              </a:spcBef>
              <a:spcAft>
                <a:spcPts val="1200"/>
              </a:spcAft>
            </a:pPr>
            <a:r>
              <a:rPr lang="en-AU" sz="2200" dirty="0" smtClean="0">
                <a:latin typeface="Helvetica" pitchFamily="34" charset="0"/>
              </a:rPr>
              <a:t>Main course fork</a:t>
            </a:r>
          </a:p>
          <a:p>
            <a:pPr lvl="0">
              <a:spcBef>
                <a:spcPts val="600"/>
              </a:spcBef>
              <a:spcAft>
                <a:spcPts val="1200"/>
              </a:spcAft>
            </a:pPr>
            <a:r>
              <a:rPr lang="en-AU" sz="2200" dirty="0" smtClean="0">
                <a:latin typeface="Helvetica" pitchFamily="34" charset="0"/>
              </a:rPr>
              <a:t>Side plate</a:t>
            </a:r>
          </a:p>
          <a:p>
            <a:pPr lvl="0">
              <a:spcBef>
                <a:spcPts val="600"/>
              </a:spcBef>
              <a:spcAft>
                <a:spcPts val="1200"/>
              </a:spcAft>
            </a:pPr>
            <a:r>
              <a:rPr lang="en-AU" sz="2200" dirty="0" smtClean="0">
                <a:latin typeface="Helvetica" pitchFamily="34" charset="0"/>
              </a:rPr>
              <a:t>Side knife</a:t>
            </a:r>
          </a:p>
          <a:p>
            <a:pPr lvl="0">
              <a:spcBef>
                <a:spcPts val="600"/>
              </a:spcBef>
              <a:spcAft>
                <a:spcPts val="1200"/>
              </a:spcAft>
            </a:pPr>
            <a:r>
              <a:rPr lang="en-AU" sz="2200" dirty="0" smtClean="0">
                <a:latin typeface="Helvetica" pitchFamily="34" charset="0"/>
              </a:rPr>
              <a:t>Wine glass</a:t>
            </a:r>
          </a:p>
          <a:p>
            <a:pPr lvl="0">
              <a:spcBef>
                <a:spcPts val="600"/>
              </a:spcBef>
              <a:spcAft>
                <a:spcPts val="1200"/>
              </a:spcAft>
            </a:pPr>
            <a:r>
              <a:rPr lang="en-AU" sz="2200" dirty="0" smtClean="0">
                <a:latin typeface="Helvetica" pitchFamily="34" charset="0"/>
              </a:rPr>
              <a:t>Napkin</a:t>
            </a:r>
          </a:p>
          <a:p>
            <a:pPr lvl="0">
              <a:spcBef>
                <a:spcPts val="600"/>
              </a:spcBef>
              <a:spcAft>
                <a:spcPts val="1200"/>
              </a:spcAft>
            </a:pPr>
            <a:r>
              <a:rPr lang="en-AU" sz="2200" dirty="0" smtClean="0">
                <a:latin typeface="Helvetica" pitchFamily="34" charset="0"/>
              </a:rPr>
              <a:t>Centre pieces</a:t>
            </a:r>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6" name="Picture 5" descr="table_setting"/>
          <p:cNvPicPr/>
          <p:nvPr/>
        </p:nvPicPr>
        <p:blipFill>
          <a:blip r:embed="rId3" cstate="print"/>
          <a:srcRect/>
          <a:stretch>
            <a:fillRect/>
          </a:stretch>
        </p:blipFill>
        <p:spPr bwMode="auto">
          <a:xfrm>
            <a:off x="6012160" y="3068960"/>
            <a:ext cx="2378373" cy="2130152"/>
          </a:xfrm>
          <a:prstGeom prst="rect">
            <a:avLst/>
          </a:prstGeom>
          <a:noFill/>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576064"/>
          </a:xfrm>
        </p:spPr>
        <p:txBody>
          <a:bodyPr>
            <a:noAutofit/>
          </a:bodyPr>
          <a:lstStyle/>
          <a:p>
            <a:r>
              <a:rPr lang="en-AU" sz="3200" b="1" dirty="0" smtClean="0">
                <a:solidFill>
                  <a:srgbClr val="FF6600"/>
                </a:solidFill>
                <a:latin typeface="Helvetica" pitchFamily="34" charset="0"/>
              </a:rPr>
              <a:t>Setting tables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72608"/>
          </a:xfrm>
        </p:spPr>
        <p:txBody>
          <a:bodyPr>
            <a:normAutofit/>
          </a:bodyPr>
          <a:lstStyle/>
          <a:p>
            <a:pPr>
              <a:spcBef>
                <a:spcPts val="600"/>
              </a:spcBef>
              <a:spcAft>
                <a:spcPts val="1200"/>
              </a:spcAft>
              <a:buNone/>
            </a:pPr>
            <a:r>
              <a:rPr lang="en-AU" sz="2200" b="1" dirty="0" smtClean="0">
                <a:latin typeface="Helvetica" pitchFamily="34" charset="0"/>
              </a:rPr>
              <a:t>Table d’hôte cover</a:t>
            </a:r>
          </a:p>
          <a:p>
            <a:pPr>
              <a:spcBef>
                <a:spcPts val="600"/>
              </a:spcBef>
              <a:spcAft>
                <a:spcPts val="1200"/>
              </a:spcAft>
            </a:pPr>
            <a:r>
              <a:rPr lang="en-AU" sz="2200" dirty="0" smtClean="0">
                <a:latin typeface="Helvetica" pitchFamily="34" charset="0"/>
              </a:rPr>
              <a:t>A table d’hôte menu is a menu that has a set price for a number of courses</a:t>
            </a:r>
          </a:p>
          <a:p>
            <a:pPr>
              <a:spcBef>
                <a:spcPts val="600"/>
              </a:spcBef>
              <a:spcAft>
                <a:spcPts val="1200"/>
              </a:spcAft>
            </a:pPr>
            <a:r>
              <a:rPr lang="en-AU" sz="2200" dirty="0" smtClean="0">
                <a:latin typeface="Helvetica" pitchFamily="34" charset="0"/>
              </a:rPr>
              <a:t>‘Table d’hôte’ means ‘table of the host’</a:t>
            </a:r>
          </a:p>
          <a:p>
            <a:pPr>
              <a:spcBef>
                <a:spcPts val="600"/>
              </a:spcBef>
              <a:spcAft>
                <a:spcPts val="1200"/>
              </a:spcAft>
            </a:pPr>
            <a:r>
              <a:rPr lang="en-AU" sz="2200" dirty="0" smtClean="0">
                <a:latin typeface="Helvetica" pitchFamily="34" charset="0"/>
              </a:rPr>
              <a:t>All courses are included in the price and must be paid for by the guests even if they don’t eat every course</a:t>
            </a:r>
          </a:p>
          <a:p>
            <a:pPr>
              <a:spcBef>
                <a:spcPts val="600"/>
              </a:spcBef>
              <a:spcAft>
                <a:spcPts val="1200"/>
              </a:spcAft>
            </a:pPr>
            <a:r>
              <a:rPr lang="en-AU" sz="2200" dirty="0" smtClean="0">
                <a:latin typeface="Helvetica" pitchFamily="34" charset="0"/>
              </a:rPr>
              <a:t>This is often called a ‘set menu’</a:t>
            </a:r>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7" name="Picture 6" descr="http://www.utahfurniturerentals.com/images/table-setting-for-four.JPG"/>
          <p:cNvPicPr/>
          <p:nvPr/>
        </p:nvPicPr>
        <p:blipFill>
          <a:blip r:embed="rId3" cstate="print"/>
          <a:srcRect/>
          <a:stretch>
            <a:fillRect/>
          </a:stretch>
        </p:blipFill>
        <p:spPr bwMode="auto">
          <a:xfrm>
            <a:off x="5868144" y="4149080"/>
            <a:ext cx="2494855" cy="156722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Setting tables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Table d’hôte cover</a:t>
            </a:r>
          </a:p>
          <a:p>
            <a:pPr>
              <a:spcBef>
                <a:spcPts val="600"/>
              </a:spcBef>
              <a:spcAft>
                <a:spcPts val="1200"/>
              </a:spcAft>
              <a:buNone/>
            </a:pPr>
            <a:r>
              <a:rPr lang="en-AU" sz="2200" dirty="0" smtClean="0">
                <a:latin typeface="Helvetica" pitchFamily="34" charset="0"/>
              </a:rPr>
              <a:t>The cover for this menu would be:</a:t>
            </a:r>
          </a:p>
          <a:p>
            <a:pPr lvl="0">
              <a:spcBef>
                <a:spcPts val="600"/>
              </a:spcBef>
              <a:spcAft>
                <a:spcPts val="1200"/>
              </a:spcAft>
            </a:pPr>
            <a:r>
              <a:rPr lang="en-AU" sz="2200" dirty="0" smtClean="0">
                <a:latin typeface="Helvetica" pitchFamily="34" charset="0"/>
              </a:rPr>
              <a:t>Main course knife and fork</a:t>
            </a:r>
          </a:p>
          <a:p>
            <a:pPr lvl="0">
              <a:spcBef>
                <a:spcPts val="600"/>
              </a:spcBef>
              <a:spcAft>
                <a:spcPts val="1200"/>
              </a:spcAft>
            </a:pPr>
            <a:r>
              <a:rPr lang="en-AU" sz="2200" dirty="0" smtClean="0">
                <a:latin typeface="Helvetica" pitchFamily="34" charset="0"/>
              </a:rPr>
              <a:t>Entrée knife and fork</a:t>
            </a:r>
          </a:p>
          <a:p>
            <a:pPr lvl="0">
              <a:spcBef>
                <a:spcPts val="600"/>
              </a:spcBef>
              <a:spcAft>
                <a:spcPts val="1200"/>
              </a:spcAft>
            </a:pPr>
            <a:r>
              <a:rPr lang="en-AU" sz="2200" dirty="0" smtClean="0">
                <a:latin typeface="Helvetica" pitchFamily="34" charset="0"/>
              </a:rPr>
              <a:t>Dessert spoon and fork</a:t>
            </a:r>
          </a:p>
          <a:p>
            <a:pPr lvl="0">
              <a:spcBef>
                <a:spcPts val="600"/>
              </a:spcBef>
              <a:spcAft>
                <a:spcPts val="1200"/>
              </a:spcAft>
            </a:pPr>
            <a:r>
              <a:rPr lang="en-AU" sz="2200" dirty="0" smtClean="0">
                <a:latin typeface="Helvetica" pitchFamily="34" charset="0"/>
              </a:rPr>
              <a:t>Side plate and knife</a:t>
            </a:r>
          </a:p>
          <a:p>
            <a:pPr lvl="0">
              <a:spcBef>
                <a:spcPts val="600"/>
              </a:spcBef>
              <a:spcAft>
                <a:spcPts val="1200"/>
              </a:spcAft>
            </a:pPr>
            <a:r>
              <a:rPr lang="en-AU" sz="2200" dirty="0" smtClean="0">
                <a:latin typeface="Helvetica" pitchFamily="34" charset="0"/>
              </a:rPr>
              <a:t>Wine glass</a:t>
            </a:r>
          </a:p>
          <a:p>
            <a:pPr lvl="0">
              <a:spcBef>
                <a:spcPts val="600"/>
              </a:spcBef>
              <a:spcAft>
                <a:spcPts val="1200"/>
              </a:spcAft>
            </a:pPr>
            <a:r>
              <a:rPr lang="en-AU" sz="2200" dirty="0" smtClean="0">
                <a:latin typeface="Helvetica" pitchFamily="34" charset="0"/>
              </a:rPr>
              <a:t>Napkin</a:t>
            </a:r>
          </a:p>
          <a:p>
            <a:pPr lvl="0">
              <a:spcBef>
                <a:spcPts val="600"/>
              </a:spcBef>
              <a:spcAft>
                <a:spcPts val="1200"/>
              </a:spcAft>
            </a:pPr>
            <a:r>
              <a:rPr lang="en-AU" sz="2200" dirty="0" smtClean="0">
                <a:latin typeface="Helvetica" pitchFamily="34" charset="0"/>
              </a:rPr>
              <a:t>Centre pieces</a:t>
            </a:r>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7" name="Picture 6" descr="din+table+setting+40107"/>
          <p:cNvPicPr/>
          <p:nvPr/>
        </p:nvPicPr>
        <p:blipFill>
          <a:blip r:embed="rId3" cstate="print"/>
          <a:srcRect/>
          <a:stretch>
            <a:fillRect/>
          </a:stretch>
        </p:blipFill>
        <p:spPr bwMode="auto">
          <a:xfrm>
            <a:off x="5004048" y="2780928"/>
            <a:ext cx="2990453" cy="2135113"/>
          </a:xfrm>
          <a:prstGeom prst="rect">
            <a:avLst/>
          </a:prstGeo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Setting tables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83568" y="1124744"/>
            <a:ext cx="5184576" cy="5733256"/>
          </a:xfrm>
        </p:spPr>
        <p:txBody>
          <a:bodyPr>
            <a:normAutofit/>
          </a:bodyPr>
          <a:lstStyle/>
          <a:p>
            <a:pPr algn="ctr">
              <a:spcBef>
                <a:spcPts val="600"/>
              </a:spcBef>
              <a:spcAft>
                <a:spcPts val="1200"/>
              </a:spcAft>
              <a:buNone/>
            </a:pPr>
            <a:r>
              <a:rPr lang="en-AU" sz="2200" b="1" dirty="0" smtClean="0">
                <a:latin typeface="Helvetica" pitchFamily="34" charset="0"/>
              </a:rPr>
              <a:t>Complete Table Cover</a:t>
            </a:r>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6" name="Picture 4" descr="formal"/>
          <p:cNvPicPr>
            <a:picLocks noChangeAspect="1" noChangeArrowheads="1"/>
          </p:cNvPicPr>
          <p:nvPr/>
        </p:nvPicPr>
        <p:blipFill>
          <a:blip r:embed="rId3" cstate="print"/>
          <a:srcRect/>
          <a:stretch>
            <a:fillRect/>
          </a:stretch>
        </p:blipFill>
        <p:spPr bwMode="auto">
          <a:xfrm>
            <a:off x="755576" y="2060848"/>
            <a:ext cx="4721225" cy="3919537"/>
          </a:xfrm>
          <a:prstGeom prst="rect">
            <a:avLst/>
          </a:prstGeom>
          <a:noFill/>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Setting tables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Tips for setting a table: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Use the chair as a guide to centre the cover</a:t>
            </a:r>
          </a:p>
          <a:p>
            <a:pPr lvl="0">
              <a:spcBef>
                <a:spcPts val="600"/>
              </a:spcBef>
              <a:spcAft>
                <a:spcPts val="1200"/>
              </a:spcAft>
            </a:pPr>
            <a:r>
              <a:rPr lang="en-AU" sz="2200" dirty="0" smtClean="0">
                <a:latin typeface="Helvetica" pitchFamily="34" charset="0"/>
              </a:rPr>
              <a:t>Side plates should always be placed to the left of the fork</a:t>
            </a:r>
          </a:p>
          <a:p>
            <a:pPr lvl="0">
              <a:spcBef>
                <a:spcPts val="600"/>
              </a:spcBef>
              <a:spcAft>
                <a:spcPts val="1200"/>
              </a:spcAft>
            </a:pPr>
            <a:r>
              <a:rPr lang="en-AU" sz="2200" dirty="0" smtClean="0">
                <a:latin typeface="Helvetica" pitchFamily="34" charset="0"/>
              </a:rPr>
              <a:t>Knife blades should always face left</a:t>
            </a:r>
          </a:p>
          <a:p>
            <a:pPr lvl="0">
              <a:spcBef>
                <a:spcPts val="600"/>
              </a:spcBef>
              <a:spcAft>
                <a:spcPts val="1200"/>
              </a:spcAft>
            </a:pPr>
            <a:r>
              <a:rPr lang="en-AU" sz="2200" dirty="0" smtClean="0">
                <a:latin typeface="Helvetica" pitchFamily="34" charset="0"/>
              </a:rPr>
              <a:t>Sufficient space should be left between                                       the knife and fork for the meal to                                                         be placed down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8" name="Picture 7" descr="MP900427613.JPG"/>
          <p:cNvPicPr>
            <a:picLocks noChangeAspect="1"/>
          </p:cNvPicPr>
          <p:nvPr/>
        </p:nvPicPr>
        <p:blipFill>
          <a:blip r:embed="rId3" cstate="print"/>
          <a:stretch>
            <a:fillRect/>
          </a:stretch>
        </p:blipFill>
        <p:spPr>
          <a:xfrm>
            <a:off x="6228184" y="2924944"/>
            <a:ext cx="2060848" cy="2060848"/>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Setting tables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Tips for setting a table: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Entrée cutlery should always be placed on the outside of the main course cutlery</a:t>
            </a:r>
          </a:p>
          <a:p>
            <a:pPr lvl="0">
              <a:spcBef>
                <a:spcPts val="600"/>
              </a:spcBef>
              <a:spcAft>
                <a:spcPts val="1200"/>
              </a:spcAft>
            </a:pPr>
            <a:r>
              <a:rPr lang="en-AU" sz="2200" dirty="0" smtClean="0">
                <a:latin typeface="Helvetica" pitchFamily="34" charset="0"/>
              </a:rPr>
              <a:t>In </a:t>
            </a:r>
            <a:r>
              <a:rPr lang="en-AU" sz="2200" i="1" dirty="0" smtClean="0">
                <a:latin typeface="Helvetica" pitchFamily="34" charset="0"/>
              </a:rPr>
              <a:t>à la carte </a:t>
            </a:r>
            <a:r>
              <a:rPr lang="en-AU" sz="2200" dirty="0" smtClean="0">
                <a:latin typeface="Helvetica" pitchFamily="34" charset="0"/>
              </a:rPr>
              <a:t>dining, the dessert cutlery should be placed where the main course knife is usually positioned</a:t>
            </a:r>
          </a:p>
          <a:p>
            <a:pPr>
              <a:spcBef>
                <a:spcPts val="600"/>
              </a:spcBef>
              <a:spcAft>
                <a:spcPts val="1200"/>
              </a:spcAft>
            </a:pPr>
            <a:r>
              <a:rPr lang="en-AU" sz="2200" dirty="0" smtClean="0">
                <a:latin typeface="Helvetica" pitchFamily="34" charset="0"/>
              </a:rPr>
              <a:t>Wine glass should be placed directly                                  above the main knife</a:t>
            </a:r>
            <a:endParaRPr lang="en-US" altLang="zh-CN" sz="2200" i="1" dirty="0" smtClean="0">
              <a:latin typeface="Helvetica" pitchFamily="34" charset="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5" name="Picture 4" descr="http://www.delish.com/cm/delish/images/WQ/Fern-table-setting-xl.jpg"/>
          <p:cNvPicPr/>
          <p:nvPr/>
        </p:nvPicPr>
        <p:blipFill>
          <a:blip r:embed="rId3" cstate="print"/>
          <a:srcRect/>
          <a:stretch>
            <a:fillRect/>
          </a:stretch>
        </p:blipFill>
        <p:spPr bwMode="auto">
          <a:xfrm>
            <a:off x="5940152" y="3501008"/>
            <a:ext cx="2409056" cy="212102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Setting tables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776864" cy="5733256"/>
          </a:xfrm>
        </p:spPr>
        <p:txBody>
          <a:bodyPr>
            <a:normAutofit/>
          </a:bodyPr>
          <a:lstStyle/>
          <a:p>
            <a:pPr>
              <a:spcBef>
                <a:spcPts val="600"/>
              </a:spcBef>
              <a:spcAft>
                <a:spcPts val="600"/>
              </a:spcAft>
              <a:buNone/>
            </a:pPr>
            <a:r>
              <a:rPr lang="en-US" altLang="zh-CN" sz="2200" b="1" dirty="0" smtClean="0">
                <a:latin typeface="Helvetica" pitchFamily="34" charset="0"/>
                <a:ea typeface="宋体" pitchFamily="2" charset="-122"/>
              </a:rPr>
              <a:t>Clothing a table:</a:t>
            </a:r>
          </a:p>
          <a:p>
            <a:pPr>
              <a:spcBef>
                <a:spcPts val="600"/>
              </a:spcBef>
              <a:spcAft>
                <a:spcPts val="600"/>
              </a:spcAft>
            </a:pPr>
            <a:r>
              <a:rPr lang="en-US" altLang="zh-CN" sz="2200" dirty="0" smtClean="0">
                <a:latin typeface="Helvetica" pitchFamily="34" charset="0"/>
                <a:ea typeface="宋体" pitchFamily="2" charset="-122"/>
              </a:rPr>
              <a:t>Clean linen</a:t>
            </a:r>
          </a:p>
          <a:p>
            <a:pPr>
              <a:spcBef>
                <a:spcPts val="600"/>
              </a:spcBef>
              <a:spcAft>
                <a:spcPts val="600"/>
              </a:spcAft>
            </a:pPr>
            <a:r>
              <a:rPr lang="en-US" altLang="zh-CN" sz="2200" dirty="0" smtClean="0">
                <a:latin typeface="Helvetica" pitchFamily="34" charset="0"/>
                <a:ea typeface="宋体" pitchFamily="2" charset="-122"/>
              </a:rPr>
              <a:t>Never let cloth touch ground</a:t>
            </a:r>
          </a:p>
          <a:p>
            <a:pPr>
              <a:spcBef>
                <a:spcPts val="600"/>
              </a:spcBef>
              <a:spcAft>
                <a:spcPts val="600"/>
              </a:spcAft>
            </a:pPr>
            <a:r>
              <a:rPr lang="en-US" altLang="zh-CN" sz="2200" dirty="0" smtClean="0">
                <a:latin typeface="Helvetica" pitchFamily="34" charset="0"/>
                <a:ea typeface="宋体" pitchFamily="2" charset="-122"/>
              </a:rPr>
              <a:t>Laid right side up</a:t>
            </a:r>
          </a:p>
          <a:p>
            <a:pPr>
              <a:spcBef>
                <a:spcPts val="600"/>
              </a:spcBef>
              <a:spcAft>
                <a:spcPts val="600"/>
              </a:spcAft>
            </a:pPr>
            <a:r>
              <a:rPr lang="en-US" altLang="zh-CN" sz="2200" dirty="0" smtClean="0">
                <a:latin typeface="Helvetica" pitchFamily="34" charset="0"/>
                <a:ea typeface="宋体" pitchFamily="2" charset="-122"/>
              </a:rPr>
              <a:t>Same level of overhang on each side</a:t>
            </a:r>
          </a:p>
          <a:p>
            <a:pPr>
              <a:spcBef>
                <a:spcPts val="600"/>
              </a:spcBef>
              <a:spcAft>
                <a:spcPts val="600"/>
              </a:spcAft>
            </a:pPr>
            <a:r>
              <a:rPr lang="en-US" altLang="zh-CN" sz="2200" dirty="0" smtClean="0">
                <a:latin typeface="Helvetica" pitchFamily="34" charset="0"/>
                <a:ea typeface="宋体" pitchFamily="2" charset="-122"/>
              </a:rPr>
              <a:t>Crease middle if using more than 1 cloth </a:t>
            </a:r>
          </a:p>
          <a:p>
            <a:pPr>
              <a:spcBef>
                <a:spcPts val="600"/>
              </a:spcBef>
              <a:spcAft>
                <a:spcPts val="600"/>
              </a:spcAft>
            </a:pPr>
            <a:r>
              <a:rPr lang="en-US" altLang="zh-CN" sz="2200" dirty="0" smtClean="0">
                <a:latin typeface="Helvetica" pitchFamily="34" charset="0"/>
                <a:ea typeface="宋体" pitchFamily="2" charset="-122"/>
              </a:rPr>
              <a:t>Creases should not be seen at the door</a:t>
            </a:r>
          </a:p>
          <a:p>
            <a:pPr>
              <a:spcBef>
                <a:spcPts val="600"/>
              </a:spcBef>
              <a:spcAft>
                <a:spcPts val="600"/>
              </a:spcAft>
            </a:pPr>
            <a:r>
              <a:rPr lang="en-US" altLang="zh-CN" sz="2200" dirty="0" smtClean="0">
                <a:latin typeface="Helvetica" pitchFamily="34" charset="0"/>
                <a:ea typeface="宋体" pitchFamily="2" charset="-122"/>
              </a:rPr>
              <a:t>Use clean napkins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6" name="Picture 17" descr="Quay restaurant setting with reflection- Overseas Passenger Terminal"/>
          <p:cNvPicPr>
            <a:picLocks noChangeAspect="1" noChangeArrowheads="1"/>
          </p:cNvPicPr>
          <p:nvPr/>
        </p:nvPicPr>
        <p:blipFill>
          <a:blip r:embed="rId3" cstate="print"/>
          <a:srcRect/>
          <a:stretch>
            <a:fillRect/>
          </a:stretch>
        </p:blipFill>
        <p:spPr bwMode="auto">
          <a:xfrm>
            <a:off x="6084168" y="4077072"/>
            <a:ext cx="2479408" cy="1651124"/>
          </a:xfrm>
          <a:prstGeom prst="rect">
            <a:avLst/>
          </a:prstGeom>
          <a:noFill/>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Setting tables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Checking tables prior to service </a:t>
            </a:r>
            <a:endParaRPr lang="en-US" altLang="zh-CN" sz="2200" dirty="0" smtClean="0">
              <a:latin typeface="Helvetica" pitchFamily="34" charset="0"/>
              <a:ea typeface="宋体" pitchFamily="2" charset="-122"/>
            </a:endParaRPr>
          </a:p>
          <a:p>
            <a:pPr marL="0">
              <a:spcBef>
                <a:spcPts val="600"/>
              </a:spcBef>
              <a:spcAft>
                <a:spcPts val="1200"/>
              </a:spcAft>
              <a:buNone/>
            </a:pPr>
            <a:r>
              <a:rPr lang="en-AU" sz="2200" dirty="0" smtClean="0">
                <a:latin typeface="Helvetica" pitchFamily="34" charset="0"/>
              </a:rPr>
              <a:t>Cleanliness and the condition of the tables and the table items must be checked prior to service to ensure the guests enter a proper and correctly prepared room. </a:t>
            </a:r>
          </a:p>
          <a:p>
            <a:pPr>
              <a:spcBef>
                <a:spcPts val="600"/>
              </a:spcBef>
              <a:spcAft>
                <a:spcPts val="1200"/>
              </a:spcAft>
            </a:pPr>
            <a:r>
              <a:rPr lang="en-AU" sz="2200" dirty="0" smtClean="0">
                <a:latin typeface="Helvetica" pitchFamily="34" charset="0"/>
              </a:rPr>
              <a:t>What would you check and why?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8" name="Picture 7" descr="table_setting"/>
          <p:cNvPicPr/>
          <p:nvPr/>
        </p:nvPicPr>
        <p:blipFill>
          <a:blip r:embed="rId3" cstate="print"/>
          <a:stretch>
            <a:fillRect/>
          </a:stretch>
        </p:blipFill>
        <p:spPr bwMode="auto">
          <a:xfrm>
            <a:off x="5724128" y="3317590"/>
            <a:ext cx="2666405" cy="1776908"/>
          </a:xfrm>
          <a:prstGeom prst="rect">
            <a:avLst/>
          </a:prstGeom>
          <a:noFill/>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Setting tables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600"/>
              </a:spcAft>
              <a:buNone/>
            </a:pPr>
            <a:r>
              <a:rPr lang="en-AU" sz="2200" b="1" dirty="0" smtClean="0">
                <a:latin typeface="Helvetica" pitchFamily="34" charset="0"/>
              </a:rPr>
              <a:t>Checking tables prior to service </a:t>
            </a:r>
            <a:endParaRPr lang="en-US" altLang="zh-CN" sz="2200" dirty="0" smtClean="0">
              <a:latin typeface="Helvetica" pitchFamily="34" charset="0"/>
              <a:ea typeface="宋体" pitchFamily="2" charset="-122"/>
            </a:endParaRPr>
          </a:p>
          <a:p>
            <a:pPr lvl="0">
              <a:spcBef>
                <a:spcPts val="600"/>
              </a:spcBef>
              <a:spcAft>
                <a:spcPts val="600"/>
              </a:spcAft>
            </a:pPr>
            <a:r>
              <a:rPr lang="en-AU" sz="2200" dirty="0" smtClean="0">
                <a:latin typeface="Helvetica" pitchFamily="34" charset="0"/>
              </a:rPr>
              <a:t>Crumbs on chairs  </a:t>
            </a:r>
          </a:p>
          <a:p>
            <a:pPr lvl="0">
              <a:spcBef>
                <a:spcPts val="600"/>
              </a:spcBef>
              <a:spcAft>
                <a:spcPts val="600"/>
              </a:spcAft>
            </a:pPr>
            <a:r>
              <a:rPr lang="en-AU" sz="2200" dirty="0" smtClean="0">
                <a:latin typeface="Helvetica" pitchFamily="34" charset="0"/>
              </a:rPr>
              <a:t>Lop-sided, creased, dirty or otherwise unsuitable table cloth</a:t>
            </a:r>
          </a:p>
          <a:p>
            <a:pPr lvl="0">
              <a:spcBef>
                <a:spcPts val="600"/>
              </a:spcBef>
              <a:spcAft>
                <a:spcPts val="600"/>
              </a:spcAft>
            </a:pPr>
            <a:r>
              <a:rPr lang="en-AU" sz="2200" dirty="0" smtClean="0">
                <a:latin typeface="Helvetica" pitchFamily="34" charset="0"/>
              </a:rPr>
              <a:t>Missing items from the cover or table  </a:t>
            </a:r>
          </a:p>
          <a:p>
            <a:pPr lvl="0">
              <a:spcBef>
                <a:spcPts val="600"/>
              </a:spcBef>
              <a:spcAft>
                <a:spcPts val="600"/>
              </a:spcAft>
            </a:pPr>
            <a:r>
              <a:rPr lang="en-AU" sz="2200" dirty="0" smtClean="0">
                <a:latin typeface="Helvetica" pitchFamily="34" charset="0"/>
              </a:rPr>
              <a:t>Missing, damaged or unstable tables </a:t>
            </a:r>
            <a:br>
              <a:rPr lang="en-AU" sz="2200" dirty="0" smtClean="0">
                <a:latin typeface="Helvetica" pitchFamily="34" charset="0"/>
              </a:rPr>
            </a:br>
            <a:r>
              <a:rPr lang="en-AU" sz="2200" dirty="0" smtClean="0">
                <a:latin typeface="Helvetica" pitchFamily="34" charset="0"/>
              </a:rPr>
              <a:t>and chairs </a:t>
            </a:r>
          </a:p>
          <a:p>
            <a:pPr lvl="0">
              <a:spcBef>
                <a:spcPts val="600"/>
              </a:spcBef>
              <a:spcAft>
                <a:spcPts val="600"/>
              </a:spcAft>
            </a:pPr>
            <a:r>
              <a:rPr lang="en-AU" sz="2200" dirty="0" smtClean="0">
                <a:latin typeface="Helvetica" pitchFamily="34" charset="0"/>
              </a:rPr>
              <a:t>Incorrect covers set on a table  </a:t>
            </a:r>
          </a:p>
          <a:p>
            <a:pPr lvl="0">
              <a:spcBef>
                <a:spcPts val="600"/>
              </a:spcBef>
              <a:spcAft>
                <a:spcPts val="600"/>
              </a:spcAft>
            </a:pPr>
            <a:r>
              <a:rPr lang="en-AU" sz="2200" dirty="0" smtClean="0">
                <a:latin typeface="Helvetica" pitchFamily="34" charset="0"/>
              </a:rPr>
              <a:t>Actual table positions reflect the set floor </a:t>
            </a:r>
            <a:br>
              <a:rPr lang="en-AU" sz="2200" dirty="0" smtClean="0">
                <a:latin typeface="Helvetica" pitchFamily="34" charset="0"/>
              </a:rPr>
            </a:br>
            <a:r>
              <a:rPr lang="en-AU" sz="2200" dirty="0" smtClean="0">
                <a:latin typeface="Helvetica" pitchFamily="34" charset="0"/>
              </a:rPr>
              <a:t>plan</a:t>
            </a:r>
          </a:p>
          <a:p>
            <a:pPr lvl="0">
              <a:spcBef>
                <a:spcPts val="600"/>
              </a:spcBef>
              <a:spcAft>
                <a:spcPts val="600"/>
              </a:spcAft>
            </a:pPr>
            <a:r>
              <a:rPr lang="en-AU" sz="2200" dirty="0" smtClean="0">
                <a:latin typeface="Helvetica" pitchFamily="34" charset="0"/>
              </a:rPr>
              <a:t>Rubbish </a:t>
            </a:r>
          </a:p>
          <a:p>
            <a:pPr lvl="0">
              <a:spcBef>
                <a:spcPts val="600"/>
              </a:spcBef>
              <a:spcAft>
                <a:spcPts val="600"/>
              </a:spcAft>
            </a:pPr>
            <a:r>
              <a:rPr lang="en-AU" sz="2200" dirty="0" smtClean="0">
                <a:latin typeface="Helvetica" pitchFamily="34" charset="0"/>
              </a:rPr>
              <a:t>Flies or insects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5" name="Picture 4" descr="MP900411791.JPG"/>
          <p:cNvPicPr>
            <a:picLocks noChangeAspect="1"/>
          </p:cNvPicPr>
          <p:nvPr/>
        </p:nvPicPr>
        <p:blipFill>
          <a:blip r:embed="rId3" cstate="print"/>
          <a:stretch>
            <a:fillRect/>
          </a:stretch>
        </p:blipFill>
        <p:spPr>
          <a:xfrm>
            <a:off x="6660232" y="2996952"/>
            <a:ext cx="1710771" cy="2564904"/>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Setting tables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US" altLang="zh-CN" sz="2200" b="1" dirty="0" smtClean="0">
                <a:latin typeface="Helvetica" pitchFamily="34" charset="0"/>
                <a:ea typeface="宋体" pitchFamily="2" charset="-122"/>
              </a:rPr>
              <a:t>Verify Menu</a:t>
            </a:r>
            <a:endParaRPr lang="en-US" altLang="zh-CN" sz="2200" dirty="0" smtClean="0">
              <a:latin typeface="Helvetica" pitchFamily="34" charset="0"/>
              <a:ea typeface="宋体" pitchFamily="2" charset="-122"/>
            </a:endParaRPr>
          </a:p>
          <a:p>
            <a:pPr>
              <a:spcBef>
                <a:spcPts val="600"/>
              </a:spcBef>
              <a:spcAft>
                <a:spcPts val="1200"/>
              </a:spcAft>
              <a:buNone/>
            </a:pPr>
            <a:r>
              <a:rPr lang="en-US" altLang="zh-CN" sz="2200" dirty="0" smtClean="0">
                <a:latin typeface="Helvetica" pitchFamily="34" charset="0"/>
                <a:ea typeface="宋体" pitchFamily="2" charset="-122"/>
              </a:rPr>
              <a:t>Types of menus:</a:t>
            </a:r>
          </a:p>
          <a:p>
            <a:pPr>
              <a:spcBef>
                <a:spcPts val="600"/>
              </a:spcBef>
              <a:spcAft>
                <a:spcPts val="1200"/>
              </a:spcAft>
            </a:pPr>
            <a:r>
              <a:rPr lang="en-US" altLang="zh-CN" sz="2200" dirty="0" smtClean="0">
                <a:latin typeface="Helvetica" pitchFamily="34" charset="0"/>
                <a:ea typeface="宋体" pitchFamily="2" charset="-122"/>
              </a:rPr>
              <a:t>à la carte menu</a:t>
            </a:r>
          </a:p>
          <a:p>
            <a:pPr>
              <a:spcBef>
                <a:spcPts val="600"/>
              </a:spcBef>
              <a:spcAft>
                <a:spcPts val="1200"/>
              </a:spcAft>
            </a:pPr>
            <a:r>
              <a:rPr lang="en-US" altLang="zh-CN" sz="2200" dirty="0" smtClean="0">
                <a:latin typeface="Helvetica" pitchFamily="34" charset="0"/>
                <a:ea typeface="宋体" pitchFamily="2" charset="-122"/>
              </a:rPr>
              <a:t>Set menu</a:t>
            </a:r>
          </a:p>
          <a:p>
            <a:pPr>
              <a:spcBef>
                <a:spcPts val="600"/>
              </a:spcBef>
              <a:spcAft>
                <a:spcPts val="1200"/>
              </a:spcAft>
            </a:pPr>
            <a:r>
              <a:rPr lang="en-US" altLang="zh-CN" sz="2200" dirty="0" smtClean="0">
                <a:latin typeface="Helvetica" pitchFamily="34" charset="0"/>
                <a:ea typeface="宋体" pitchFamily="2" charset="-122"/>
              </a:rPr>
              <a:t>Beverage menu</a:t>
            </a:r>
          </a:p>
          <a:p>
            <a:pPr>
              <a:spcBef>
                <a:spcPts val="600"/>
              </a:spcBef>
              <a:spcAft>
                <a:spcPts val="1200"/>
              </a:spcAft>
            </a:pPr>
            <a:r>
              <a:rPr lang="en-US" altLang="zh-CN" sz="2200" dirty="0" smtClean="0">
                <a:latin typeface="Helvetica" pitchFamily="34" charset="0"/>
                <a:ea typeface="宋体" pitchFamily="2" charset="-122"/>
              </a:rPr>
              <a:t>What is in the beverage menu?</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5" name="Picture 8" descr="a_la_carte_menu"/>
          <p:cNvPicPr>
            <a:picLocks noChangeAspect="1" noChangeArrowheads="1"/>
          </p:cNvPicPr>
          <p:nvPr/>
        </p:nvPicPr>
        <p:blipFill>
          <a:blip r:embed="rId3" cstate="print"/>
          <a:srcRect/>
          <a:stretch>
            <a:fillRect/>
          </a:stretch>
        </p:blipFill>
        <p:spPr bwMode="auto">
          <a:xfrm>
            <a:off x="5076056" y="3284984"/>
            <a:ext cx="3268800" cy="2248935"/>
          </a:xfrm>
          <a:prstGeom prst="rect">
            <a:avLst/>
          </a:prstGeom>
          <a:noFill/>
        </p:spPr>
      </p:pic>
      <p:pic>
        <p:nvPicPr>
          <p:cNvPr id="6" name="Picture 10" descr="IndianSetMenu"/>
          <p:cNvPicPr>
            <a:picLocks noChangeAspect="1" noChangeArrowheads="1"/>
          </p:cNvPicPr>
          <p:nvPr/>
        </p:nvPicPr>
        <p:blipFill>
          <a:blip r:embed="rId4" cstate="print"/>
          <a:srcRect/>
          <a:stretch>
            <a:fillRect/>
          </a:stretch>
        </p:blipFill>
        <p:spPr bwMode="auto">
          <a:xfrm>
            <a:off x="5076057" y="908719"/>
            <a:ext cx="3267075" cy="2262188"/>
          </a:xfrm>
          <a:prstGeom prst="rect">
            <a:avLst/>
          </a:prstGeom>
          <a:noFill/>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Setting tables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US" altLang="zh-CN" sz="2200" b="1" dirty="0" smtClean="0">
                <a:latin typeface="Helvetica" pitchFamily="34" charset="0"/>
                <a:ea typeface="宋体" pitchFamily="2" charset="-122"/>
              </a:rPr>
              <a:t>Verify Menu Items</a:t>
            </a:r>
            <a:endParaRPr lang="en-US" altLang="zh-CN" sz="2200" dirty="0" smtClean="0">
              <a:latin typeface="Helvetica" pitchFamily="34" charset="0"/>
              <a:ea typeface="宋体" pitchFamily="2" charset="-122"/>
            </a:endParaRPr>
          </a:p>
          <a:p>
            <a:pPr marL="0">
              <a:spcBef>
                <a:spcPts val="600"/>
              </a:spcBef>
              <a:spcAft>
                <a:spcPts val="1200"/>
              </a:spcAft>
              <a:buNone/>
            </a:pPr>
            <a:r>
              <a:rPr lang="en-AU" sz="2200" dirty="0" smtClean="0">
                <a:latin typeface="Helvetica" pitchFamily="34" charset="0"/>
              </a:rPr>
              <a:t>Some specials or variations that could occur on a daily or service by service basis may include:</a:t>
            </a:r>
          </a:p>
          <a:p>
            <a:pPr lvl="0">
              <a:spcBef>
                <a:spcPts val="600"/>
              </a:spcBef>
              <a:spcAft>
                <a:spcPts val="1200"/>
              </a:spcAft>
            </a:pPr>
            <a:r>
              <a:rPr lang="en-AU" sz="2200" dirty="0" smtClean="0">
                <a:latin typeface="Helvetica" pitchFamily="34" charset="0"/>
              </a:rPr>
              <a:t>Fish of the day</a:t>
            </a:r>
          </a:p>
          <a:p>
            <a:pPr lvl="0">
              <a:spcBef>
                <a:spcPts val="600"/>
              </a:spcBef>
              <a:spcAft>
                <a:spcPts val="1200"/>
              </a:spcAft>
            </a:pPr>
            <a:r>
              <a:rPr lang="en-AU" sz="2200" dirty="0" smtClean="0">
                <a:latin typeface="Helvetica" pitchFamily="34" charset="0"/>
              </a:rPr>
              <a:t>Soup of the day</a:t>
            </a:r>
          </a:p>
          <a:p>
            <a:pPr lvl="0">
              <a:spcBef>
                <a:spcPts val="600"/>
              </a:spcBef>
              <a:spcAft>
                <a:spcPts val="1200"/>
              </a:spcAft>
            </a:pPr>
            <a:r>
              <a:rPr lang="en-AU" sz="2200" dirty="0" smtClean="0">
                <a:latin typeface="Helvetica" pitchFamily="34" charset="0"/>
              </a:rPr>
              <a:t>Specials of the day</a:t>
            </a:r>
          </a:p>
          <a:p>
            <a:pPr lvl="0">
              <a:spcBef>
                <a:spcPts val="600"/>
              </a:spcBef>
              <a:spcAft>
                <a:spcPts val="1200"/>
              </a:spcAft>
            </a:pPr>
            <a:r>
              <a:rPr lang="en-AU" sz="2200" dirty="0" smtClean="0">
                <a:latin typeface="Helvetica" pitchFamily="34" charset="0"/>
              </a:rPr>
              <a:t>Vegetables of the day</a:t>
            </a:r>
          </a:p>
          <a:p>
            <a:pPr lvl="0">
              <a:spcBef>
                <a:spcPts val="600"/>
              </a:spcBef>
              <a:spcAft>
                <a:spcPts val="1200"/>
              </a:spcAft>
            </a:pPr>
            <a:r>
              <a:rPr lang="en-AU" sz="2200" dirty="0" smtClean="0">
                <a:latin typeface="Helvetica" pitchFamily="34" charset="0"/>
              </a:rPr>
              <a:t>Dessert of the day</a:t>
            </a:r>
          </a:p>
          <a:p>
            <a:pPr lvl="0">
              <a:spcBef>
                <a:spcPts val="600"/>
              </a:spcBef>
              <a:spcAft>
                <a:spcPts val="1200"/>
              </a:spcAft>
            </a:pPr>
            <a:r>
              <a:rPr lang="en-AU" sz="2200" dirty="0" smtClean="0">
                <a:latin typeface="Helvetica" pitchFamily="34" charset="0"/>
              </a:rPr>
              <a:t>Specific constraints on this individual                                  upcoming session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7" name="Picture 6" descr="MP900431830.JPG"/>
          <p:cNvPicPr/>
          <p:nvPr/>
        </p:nvPicPr>
        <p:blipFill>
          <a:blip r:embed="rId3" cstate="print"/>
          <a:stretch>
            <a:fillRect/>
          </a:stretch>
        </p:blipFill>
        <p:spPr>
          <a:xfrm>
            <a:off x="6084168" y="3140968"/>
            <a:ext cx="2285732" cy="2160240"/>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58</a:t>
            </a:fld>
            <a:endParaRPr lang="en-AU" dirty="0">
              <a:latin typeface="Helvetica" pitchFamily="34" charset="0"/>
            </a:endParaRPr>
          </a:p>
        </p:txBody>
      </p:sp>
      <p:pic>
        <p:nvPicPr>
          <p:cNvPr id="5" name="Picture 4" descr="PDA.jpg"/>
          <p:cNvPicPr>
            <a:picLocks noChangeAspect="1"/>
          </p:cNvPicPr>
          <p:nvPr/>
        </p:nvPicPr>
        <p:blipFill>
          <a:blip r:embed="rId3" cstate="print"/>
          <a:stretch>
            <a:fillRect/>
          </a:stretch>
        </p:blipFill>
        <p:spPr>
          <a:xfrm>
            <a:off x="2699792" y="2852936"/>
            <a:ext cx="2000250" cy="2390775"/>
          </a:xfrm>
          <a:prstGeom prst="rect">
            <a:avLst/>
          </a:prstGeom>
        </p:spPr>
      </p:pic>
      <p:grpSp>
        <p:nvGrpSpPr>
          <p:cNvPr id="6" name="Group 5"/>
          <p:cNvGrpSpPr/>
          <p:nvPr/>
        </p:nvGrpSpPr>
        <p:grpSpPr>
          <a:xfrm>
            <a:off x="1187624" y="1844824"/>
            <a:ext cx="4752528" cy="665163"/>
            <a:chOff x="1752600" y="2057400"/>
            <a:chExt cx="4752528" cy="665163"/>
          </a:xfrm>
        </p:grpSpPr>
        <p:grpSp>
          <p:nvGrpSpPr>
            <p:cNvPr id="7" name="Group 4"/>
            <p:cNvGrpSpPr>
              <a:grpSpLocks/>
            </p:cNvGrpSpPr>
            <p:nvPr/>
          </p:nvGrpSpPr>
          <p:grpSpPr bwMode="auto">
            <a:xfrm>
              <a:off x="1752600" y="2057400"/>
              <a:ext cx="762000" cy="665163"/>
              <a:chOff x="1110" y="2656"/>
              <a:chExt cx="1549" cy="1351"/>
            </a:xfrm>
          </p:grpSpPr>
          <p:sp>
            <p:nvSpPr>
              <p:cNvPr id="11"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AU" dirty="0"/>
              </a:p>
            </p:txBody>
          </p:sp>
          <p:sp>
            <p:nvSpPr>
              <p:cNvPr id="12"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AU" dirty="0"/>
              </a:p>
            </p:txBody>
          </p:sp>
          <p:sp>
            <p:nvSpPr>
              <p:cNvPr id="13" name="AutoShape 7"/>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8" name="Line 8"/>
            <p:cNvSpPr>
              <a:spLocks noChangeShapeType="1"/>
            </p:cNvSpPr>
            <p:nvPr/>
          </p:nvSpPr>
          <p:spPr bwMode="auto">
            <a:xfrm>
              <a:off x="2362200" y="2667000"/>
              <a:ext cx="3960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9" name="Text Box 9"/>
            <p:cNvSpPr txBox="1">
              <a:spLocks noChangeArrowheads="1"/>
            </p:cNvSpPr>
            <p:nvPr/>
          </p:nvSpPr>
          <p:spPr bwMode="auto">
            <a:xfrm>
              <a:off x="2544688" y="2171799"/>
              <a:ext cx="3960440" cy="461665"/>
            </a:xfrm>
            <a:prstGeom prst="rect">
              <a:avLst/>
            </a:prstGeom>
            <a:noFill/>
            <a:ln w="9525" algn="ctr">
              <a:noFill/>
              <a:miter lim="800000"/>
              <a:headEnd/>
              <a:tailEnd/>
            </a:ln>
          </p:spPr>
          <p:txBody>
            <a:bodyPr wrap="square">
              <a:spAutoFit/>
            </a:bodyPr>
            <a:lstStyle/>
            <a:p>
              <a:pPr lvl="0"/>
              <a:r>
                <a:rPr lang="en-AU" sz="2400" b="1" dirty="0" smtClean="0">
                  <a:solidFill>
                    <a:srgbClr val="FF6600"/>
                  </a:solidFill>
                  <a:latin typeface="Helvetica" pitchFamily="34" charset="0"/>
                </a:rPr>
                <a:t>Take and Process Orders</a:t>
              </a:r>
            </a:p>
          </p:txBody>
        </p:sp>
        <p:sp>
          <p:nvSpPr>
            <p:cNvPr id="10" name="Text Box 10"/>
            <p:cNvSpPr txBox="1">
              <a:spLocks noChangeArrowheads="1"/>
            </p:cNvSpPr>
            <p:nvPr/>
          </p:nvSpPr>
          <p:spPr bwMode="gray">
            <a:xfrm>
              <a:off x="1948363" y="2155825"/>
              <a:ext cx="356188" cy="461665"/>
            </a:xfrm>
            <a:prstGeom prst="rect">
              <a:avLst/>
            </a:prstGeom>
            <a:noFill/>
            <a:ln w="9525" algn="ctr">
              <a:noFill/>
              <a:miter lim="800000"/>
              <a:headEnd/>
              <a:tailEnd/>
            </a:ln>
          </p:spPr>
          <p:txBody>
            <a:bodyPr wrap="none">
              <a:spAutoFit/>
            </a:bodyPr>
            <a:lstStyle/>
            <a:p>
              <a:pPr algn="ctr" eaLnBrk="0" hangingPunct="0"/>
              <a:r>
                <a:rPr lang="en-AU" sz="2400" b="1" dirty="0" smtClean="0">
                  <a:solidFill>
                    <a:schemeClr val="bg1"/>
                  </a:solidFill>
                  <a:latin typeface="Helvetica" pitchFamily="34" charset="0"/>
                </a:rPr>
                <a:t>2</a:t>
              </a:r>
              <a:endParaRPr lang="en-AU" sz="2400" b="1" dirty="0">
                <a:solidFill>
                  <a:schemeClr val="bg1"/>
                </a:solidFill>
                <a:latin typeface="Helvetica" pitchFamily="34" charset="0"/>
              </a:endParaRPr>
            </a:p>
          </p:txBody>
        </p:sp>
      </p:gr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pPr marL="0" lvl="0"/>
            <a:r>
              <a:rPr lang="en-AU" sz="3200" b="1" dirty="0" smtClean="0">
                <a:solidFill>
                  <a:srgbClr val="FF6600"/>
                </a:solidFill>
                <a:latin typeface="Helvetica" pitchFamily="34" charset="0"/>
              </a:rPr>
              <a:t>Take and process orders</a:t>
            </a: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Provide a helpful and attentive approach to customers</a:t>
            </a:r>
          </a:p>
          <a:p>
            <a:pPr>
              <a:spcBef>
                <a:spcPts val="600"/>
              </a:spcBef>
              <a:spcAft>
                <a:spcPts val="1200"/>
              </a:spcAft>
            </a:pPr>
            <a:r>
              <a:rPr lang="en-AU" sz="2200" dirty="0" smtClean="0">
                <a:latin typeface="Helvetica" pitchFamily="34" charset="0"/>
              </a:rPr>
              <a:t>Take and record orders accurately and legibly</a:t>
            </a:r>
          </a:p>
          <a:p>
            <a:pPr>
              <a:spcBef>
                <a:spcPts val="600"/>
              </a:spcBef>
              <a:spcAft>
                <a:spcPts val="1200"/>
              </a:spcAft>
            </a:pPr>
            <a:r>
              <a:rPr lang="en-AU" sz="2200" dirty="0" smtClean="0">
                <a:latin typeface="Helvetica" pitchFamily="34" charset="0"/>
              </a:rPr>
              <a:t>Convey orders promptly to the kitchen and/or bar</a:t>
            </a:r>
          </a:p>
          <a:p>
            <a:pPr>
              <a:spcBef>
                <a:spcPts val="600"/>
              </a:spcBef>
              <a:spcAft>
                <a:spcPts val="1200"/>
              </a:spcAft>
            </a:pPr>
            <a:r>
              <a:rPr lang="en-AU" sz="2200" dirty="0" smtClean="0">
                <a:latin typeface="Helvetica" pitchFamily="34" charset="0"/>
              </a:rPr>
              <a:t>Give customers advice on product selections, if required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7" name="Picture 6" descr="4.jpg"/>
          <p:cNvPicPr/>
          <p:nvPr/>
        </p:nvPicPr>
        <p:blipFill>
          <a:blip r:embed="rId3" cstate="print"/>
          <a:stretch>
            <a:fillRect/>
          </a:stretch>
        </p:blipFill>
        <p:spPr>
          <a:xfrm>
            <a:off x="7020272" y="3861048"/>
            <a:ext cx="1394073" cy="1813173"/>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Welcoming guests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marL="6350" indent="-6350">
              <a:spcBef>
                <a:spcPts val="600"/>
              </a:spcBef>
              <a:spcAft>
                <a:spcPts val="600"/>
              </a:spcAft>
              <a:buNone/>
            </a:pPr>
            <a:r>
              <a:rPr lang="en-US" altLang="zh-CN" sz="2200" b="1" dirty="0" smtClean="0">
                <a:latin typeface="Helvetica" pitchFamily="34" charset="0"/>
                <a:ea typeface="宋体" pitchFamily="2" charset="-122"/>
              </a:rPr>
              <a:t>You never get a second chance to make a good first impression:</a:t>
            </a:r>
          </a:p>
          <a:p>
            <a:pPr marL="406400" indent="-406400">
              <a:spcBef>
                <a:spcPts val="600"/>
              </a:spcBef>
              <a:spcAft>
                <a:spcPts val="600"/>
              </a:spcAft>
            </a:pPr>
            <a:r>
              <a:rPr lang="en-US" altLang="zh-CN" sz="2200" dirty="0" smtClean="0">
                <a:latin typeface="Helvetica" pitchFamily="34" charset="0"/>
                <a:ea typeface="宋体" pitchFamily="2" charset="-122"/>
              </a:rPr>
              <a:t>What is a good way to welcome customers to a food and beverage establishment?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6" name="Picture 6" descr="teeth-whitening-23232701"/>
          <p:cNvPicPr>
            <a:picLocks noChangeAspect="1" noChangeArrowheads="1"/>
          </p:cNvPicPr>
          <p:nvPr/>
        </p:nvPicPr>
        <p:blipFill>
          <a:blip r:embed="rId3" cstate="print"/>
          <a:srcRect/>
          <a:stretch>
            <a:fillRect/>
          </a:stretch>
        </p:blipFill>
        <p:spPr bwMode="auto">
          <a:xfrm>
            <a:off x="6516216" y="3140968"/>
            <a:ext cx="1885578" cy="2098237"/>
          </a:xfrm>
          <a:prstGeom prst="rect">
            <a:avLst/>
          </a:prstGeom>
          <a:noFill/>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Check reservations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pPr>
            <a:r>
              <a:rPr lang="en-US" altLang="zh-CN" sz="2200" dirty="0" smtClean="0">
                <a:latin typeface="Helvetica" pitchFamily="34" charset="0"/>
                <a:ea typeface="宋体" pitchFamily="2" charset="-122"/>
              </a:rPr>
              <a:t>Name of booking</a:t>
            </a:r>
          </a:p>
          <a:p>
            <a:pPr>
              <a:spcBef>
                <a:spcPts val="600"/>
              </a:spcBef>
              <a:spcAft>
                <a:spcPts val="1200"/>
              </a:spcAft>
            </a:pPr>
            <a:r>
              <a:rPr lang="en-US" altLang="zh-CN" sz="2200" dirty="0" smtClean="0">
                <a:latin typeface="Helvetica" pitchFamily="34" charset="0"/>
                <a:ea typeface="宋体" pitchFamily="2" charset="-122"/>
              </a:rPr>
              <a:t>Reservation/No reservation</a:t>
            </a:r>
          </a:p>
          <a:p>
            <a:pPr>
              <a:spcBef>
                <a:spcPts val="600"/>
              </a:spcBef>
              <a:spcAft>
                <a:spcPts val="1200"/>
              </a:spcAft>
            </a:pPr>
            <a:r>
              <a:rPr lang="en-US" altLang="zh-CN" sz="2200" dirty="0" smtClean="0">
                <a:latin typeface="Helvetica" pitchFamily="34" charset="0"/>
                <a:ea typeface="宋体" pitchFamily="2" charset="-122"/>
              </a:rPr>
              <a:t>Confirm number of guests</a:t>
            </a:r>
          </a:p>
          <a:p>
            <a:pPr>
              <a:spcBef>
                <a:spcPts val="600"/>
              </a:spcBef>
              <a:spcAft>
                <a:spcPts val="1200"/>
              </a:spcAft>
            </a:pPr>
            <a:r>
              <a:rPr lang="en-US" altLang="zh-CN" sz="2200" dirty="0" smtClean="0">
                <a:latin typeface="Helvetica" pitchFamily="34" charset="0"/>
                <a:ea typeface="宋体" pitchFamily="2" charset="-122"/>
              </a:rPr>
              <a:t>Smoking and non smoking</a:t>
            </a:r>
          </a:p>
          <a:p>
            <a:pPr>
              <a:spcBef>
                <a:spcPts val="600"/>
              </a:spcBef>
              <a:spcAft>
                <a:spcPts val="1200"/>
              </a:spcAft>
            </a:pPr>
            <a:r>
              <a:rPr lang="en-US" altLang="zh-CN" sz="2200" dirty="0" smtClean="0">
                <a:latin typeface="Helvetica" pitchFamily="34" charset="0"/>
                <a:ea typeface="宋体" pitchFamily="2" charset="-122"/>
              </a:rPr>
              <a:t>Special requests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6" name="Picture 5" descr="online-restaurant-reservation-services"/>
          <p:cNvPicPr>
            <a:picLocks noChangeAspect="1" noChangeArrowheads="1"/>
          </p:cNvPicPr>
          <p:nvPr/>
        </p:nvPicPr>
        <p:blipFill>
          <a:blip r:embed="rId3" cstate="print"/>
          <a:stretch>
            <a:fillRect/>
          </a:stretch>
        </p:blipFill>
        <p:spPr bwMode="auto">
          <a:xfrm>
            <a:off x="5580112" y="3429000"/>
            <a:ext cx="2808312" cy="1949501"/>
          </a:xfrm>
          <a:prstGeom prst="rect">
            <a:avLst/>
          </a:prstGeom>
          <a:noFill/>
          <a:ln>
            <a:noFill/>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Greeting</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US" altLang="zh-CN" sz="2400" b="1" dirty="0" smtClean="0">
                <a:ea typeface="宋体" pitchFamily="2" charset="-122"/>
              </a:rPr>
              <a:t> </a:t>
            </a:r>
            <a:r>
              <a:rPr lang="en-US" altLang="zh-CN" sz="2200" b="1" dirty="0" smtClean="0">
                <a:latin typeface="Helvetica" pitchFamily="34" charset="0"/>
                <a:ea typeface="宋体" pitchFamily="2" charset="-122"/>
              </a:rPr>
              <a:t>Give an appropriate greeting:</a:t>
            </a:r>
          </a:p>
          <a:p>
            <a:pPr>
              <a:spcBef>
                <a:spcPts val="600"/>
              </a:spcBef>
              <a:spcAft>
                <a:spcPts val="1200"/>
              </a:spcAft>
            </a:pPr>
            <a:r>
              <a:rPr lang="en-US" altLang="zh-CN" sz="2200" dirty="0" smtClean="0">
                <a:latin typeface="Helvetica" pitchFamily="34" charset="0"/>
                <a:ea typeface="宋体" pitchFamily="2" charset="-122"/>
              </a:rPr>
              <a:t>What is a good way to greet a customer?</a:t>
            </a:r>
          </a:p>
          <a:p>
            <a:pPr>
              <a:spcBef>
                <a:spcPts val="600"/>
              </a:spcBef>
              <a:spcAft>
                <a:spcPts val="1200"/>
              </a:spcAft>
            </a:pPr>
            <a:r>
              <a:rPr lang="en-US" altLang="zh-CN" sz="2200" dirty="0" smtClean="0">
                <a:latin typeface="Helvetica" pitchFamily="34" charset="0"/>
                <a:ea typeface="宋体" pitchFamily="2" charset="-122"/>
              </a:rPr>
              <a:t>What are ‘ice-breaking’ conversations that you can initiate?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7" name="Picture 6" descr="MP900424406.JPG"/>
          <p:cNvPicPr/>
          <p:nvPr/>
        </p:nvPicPr>
        <p:blipFill>
          <a:blip r:embed="rId3" cstate="print"/>
          <a:stretch>
            <a:fillRect/>
          </a:stretch>
        </p:blipFill>
        <p:spPr>
          <a:xfrm>
            <a:off x="6444208" y="3068960"/>
            <a:ext cx="1962522" cy="2304281"/>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Special needs customers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600"/>
              </a:spcAft>
              <a:buNone/>
            </a:pPr>
            <a:r>
              <a:rPr lang="en-AU" sz="2200" b="1" dirty="0" smtClean="0">
                <a:latin typeface="Helvetica" pitchFamily="34" charset="0"/>
              </a:rPr>
              <a:t>Making suitable accommodation:</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Alternative easy access to their table because of a disability </a:t>
            </a:r>
          </a:p>
          <a:p>
            <a:pPr lvl="0">
              <a:spcBef>
                <a:spcPts val="600"/>
              </a:spcBef>
              <a:spcAft>
                <a:spcPts val="600"/>
              </a:spcAft>
            </a:pPr>
            <a:r>
              <a:rPr lang="en-AU" sz="2200" dirty="0" smtClean="0">
                <a:latin typeface="Helvetica" pitchFamily="34" charset="0"/>
              </a:rPr>
              <a:t>Privacy for romantic couples and business people</a:t>
            </a:r>
          </a:p>
          <a:p>
            <a:pPr lvl="0">
              <a:spcBef>
                <a:spcPts val="600"/>
              </a:spcBef>
              <a:spcAft>
                <a:spcPts val="600"/>
              </a:spcAft>
            </a:pPr>
            <a:r>
              <a:rPr lang="en-AU" sz="2200" dirty="0" smtClean="0">
                <a:latin typeface="Helvetica" pitchFamily="34" charset="0"/>
              </a:rPr>
              <a:t>Room on a table to spread out business documents</a:t>
            </a:r>
          </a:p>
          <a:p>
            <a:pPr lvl="0">
              <a:spcBef>
                <a:spcPts val="600"/>
              </a:spcBef>
              <a:spcAft>
                <a:spcPts val="600"/>
              </a:spcAft>
            </a:pPr>
            <a:r>
              <a:rPr lang="en-AU" sz="2200" dirty="0" smtClean="0">
                <a:latin typeface="Helvetica" pitchFamily="34" charset="0"/>
              </a:rPr>
              <a:t>A table near the door for someone                              with a walking stick</a:t>
            </a:r>
          </a:p>
          <a:p>
            <a:pPr lvl="0">
              <a:spcBef>
                <a:spcPts val="600"/>
              </a:spcBef>
              <a:spcAft>
                <a:spcPts val="600"/>
              </a:spcAft>
            </a:pPr>
            <a:r>
              <a:rPr lang="en-AU" sz="2200" dirty="0" smtClean="0">
                <a:latin typeface="Helvetica" pitchFamily="34" charset="0"/>
              </a:rPr>
              <a:t>A high chair for infants</a:t>
            </a:r>
          </a:p>
          <a:p>
            <a:pPr lvl="0">
              <a:spcBef>
                <a:spcPts val="600"/>
              </a:spcBef>
              <a:spcAft>
                <a:spcPts val="600"/>
              </a:spcAft>
            </a:pPr>
            <a:r>
              <a:rPr lang="en-AU" sz="2200" dirty="0" smtClean="0">
                <a:latin typeface="Helvetica" pitchFamily="34" charset="0"/>
              </a:rPr>
              <a:t>Warming of a bottle for babies </a:t>
            </a:r>
          </a:p>
          <a:p>
            <a:pPr lvl="0">
              <a:spcBef>
                <a:spcPts val="600"/>
              </a:spcBef>
              <a:spcAft>
                <a:spcPts val="600"/>
              </a:spcAft>
            </a:pPr>
            <a:r>
              <a:rPr lang="en-AU" sz="2200" dirty="0" smtClean="0">
                <a:latin typeface="Helvetica" pitchFamily="34" charset="0"/>
              </a:rPr>
              <a:t>Special dietary needs  </a:t>
            </a:r>
          </a:p>
          <a:p>
            <a:pPr lvl="0">
              <a:spcBef>
                <a:spcPts val="600"/>
              </a:spcBef>
              <a:spcAft>
                <a:spcPts val="6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6" name="Picture 5" descr="MP900422520.JPG"/>
          <p:cNvPicPr/>
          <p:nvPr/>
        </p:nvPicPr>
        <p:blipFill>
          <a:blip r:embed="rId3" cstate="print"/>
          <a:stretch>
            <a:fillRect/>
          </a:stretch>
        </p:blipFill>
        <p:spPr>
          <a:xfrm>
            <a:off x="5724128" y="4005064"/>
            <a:ext cx="2593583" cy="1488182"/>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Pre-meal services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US" altLang="zh-CN" sz="2200" b="1" dirty="0" smtClean="0">
                <a:latin typeface="Helvetica" pitchFamily="34" charset="0"/>
                <a:ea typeface="宋体" pitchFamily="2" charset="-122"/>
              </a:rPr>
              <a:t>Offer pre-meal services:</a:t>
            </a:r>
          </a:p>
          <a:p>
            <a:pPr>
              <a:spcBef>
                <a:spcPts val="600"/>
              </a:spcBef>
              <a:spcAft>
                <a:spcPts val="1200"/>
              </a:spcAft>
            </a:pPr>
            <a:r>
              <a:rPr lang="en-US" altLang="zh-CN" sz="2200" dirty="0" smtClean="0">
                <a:latin typeface="Helvetica" pitchFamily="34" charset="0"/>
                <a:ea typeface="宋体" pitchFamily="2" charset="-122"/>
              </a:rPr>
              <a:t>Seat</a:t>
            </a:r>
          </a:p>
          <a:p>
            <a:pPr>
              <a:spcBef>
                <a:spcPts val="600"/>
              </a:spcBef>
              <a:spcAft>
                <a:spcPts val="1200"/>
              </a:spcAft>
            </a:pPr>
            <a:r>
              <a:rPr lang="en-US" altLang="zh-CN" sz="2200" dirty="0" smtClean="0">
                <a:latin typeface="Helvetica" pitchFamily="34" charset="0"/>
                <a:ea typeface="宋体" pitchFamily="2" charset="-122"/>
              </a:rPr>
              <a:t>Magazine/newspaper</a:t>
            </a:r>
          </a:p>
          <a:p>
            <a:pPr>
              <a:spcBef>
                <a:spcPts val="600"/>
              </a:spcBef>
              <a:spcAft>
                <a:spcPts val="1200"/>
              </a:spcAft>
            </a:pPr>
            <a:r>
              <a:rPr lang="en-US" altLang="zh-CN" sz="2200" dirty="0" smtClean="0">
                <a:latin typeface="Helvetica" pitchFamily="34" charset="0"/>
                <a:ea typeface="宋体" pitchFamily="2" charset="-122"/>
              </a:rPr>
              <a:t>Menu</a:t>
            </a:r>
          </a:p>
          <a:p>
            <a:pPr>
              <a:spcBef>
                <a:spcPts val="600"/>
              </a:spcBef>
              <a:spcAft>
                <a:spcPts val="1200"/>
              </a:spcAft>
            </a:pPr>
            <a:r>
              <a:rPr lang="en-US" altLang="zh-CN" sz="2200" dirty="0" smtClean="0">
                <a:latin typeface="Helvetica" pitchFamily="34" charset="0"/>
                <a:ea typeface="宋体" pitchFamily="2" charset="-122"/>
              </a:rPr>
              <a:t>Beverage</a:t>
            </a:r>
          </a:p>
          <a:p>
            <a:pPr>
              <a:spcBef>
                <a:spcPts val="600"/>
              </a:spcBef>
              <a:spcAft>
                <a:spcPts val="1200"/>
              </a:spcAft>
            </a:pPr>
            <a:r>
              <a:rPr lang="en-US" altLang="zh-CN" sz="2200" dirty="0" smtClean="0">
                <a:latin typeface="Helvetica" pitchFamily="34" charset="0"/>
                <a:ea typeface="宋体" pitchFamily="2" charset="-122"/>
              </a:rPr>
              <a:t>Snack</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7" name="Picture 6" descr="object_utils"/>
          <p:cNvPicPr/>
          <p:nvPr/>
        </p:nvPicPr>
        <p:blipFill>
          <a:blip r:embed="rId3" cstate="print"/>
          <a:srcRect/>
          <a:stretch>
            <a:fillRect/>
          </a:stretch>
        </p:blipFill>
        <p:spPr bwMode="auto">
          <a:xfrm>
            <a:off x="6588224" y="3212976"/>
            <a:ext cx="1780208" cy="2169393"/>
          </a:xfrm>
          <a:prstGeom prst="rect">
            <a:avLst/>
          </a:prstGeom>
          <a:noFill/>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Escort and seat customers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pPr>
            <a:r>
              <a:rPr lang="en-US" altLang="zh-CN" sz="2200" dirty="0" smtClean="0">
                <a:latin typeface="Helvetica" pitchFamily="34" charset="0"/>
                <a:ea typeface="宋体" pitchFamily="2" charset="-122"/>
              </a:rPr>
              <a:t>“Follow me”</a:t>
            </a:r>
          </a:p>
          <a:p>
            <a:pPr>
              <a:spcBef>
                <a:spcPts val="600"/>
              </a:spcBef>
              <a:spcAft>
                <a:spcPts val="1200"/>
              </a:spcAft>
            </a:pPr>
            <a:r>
              <a:rPr lang="en-US" altLang="zh-CN" sz="2200" dirty="0" smtClean="0">
                <a:latin typeface="Helvetica" pitchFamily="34" charset="0"/>
                <a:ea typeface="宋体" pitchFamily="2" charset="-122"/>
              </a:rPr>
              <a:t>Walk at a comfortable pace</a:t>
            </a:r>
          </a:p>
          <a:p>
            <a:pPr>
              <a:spcBef>
                <a:spcPts val="600"/>
              </a:spcBef>
              <a:spcAft>
                <a:spcPts val="1200"/>
              </a:spcAft>
            </a:pPr>
            <a:r>
              <a:rPr lang="en-US" altLang="zh-CN" sz="2200" dirty="0" smtClean="0">
                <a:latin typeface="Helvetica" pitchFamily="34" charset="0"/>
                <a:ea typeface="宋体" pitchFamily="2" charset="-122"/>
              </a:rPr>
              <a:t>Acknowledge any dangers</a:t>
            </a:r>
          </a:p>
          <a:p>
            <a:pPr>
              <a:spcBef>
                <a:spcPts val="600"/>
              </a:spcBef>
              <a:spcAft>
                <a:spcPts val="1200"/>
              </a:spcAft>
            </a:pPr>
            <a:r>
              <a:rPr lang="en-US" altLang="zh-CN" sz="2200" dirty="0" smtClean="0">
                <a:latin typeface="Helvetica" pitchFamily="34" charset="0"/>
                <a:ea typeface="宋体" pitchFamily="2" charset="-122"/>
              </a:rPr>
              <a:t>Pull our chairs</a:t>
            </a:r>
          </a:p>
          <a:p>
            <a:pPr>
              <a:spcBef>
                <a:spcPts val="600"/>
              </a:spcBef>
              <a:spcAft>
                <a:spcPts val="1200"/>
              </a:spcAft>
            </a:pPr>
            <a:r>
              <a:rPr lang="en-US" altLang="zh-CN" sz="2200" dirty="0" smtClean="0">
                <a:latin typeface="Helvetica" pitchFamily="34" charset="0"/>
                <a:ea typeface="宋体" pitchFamily="2" charset="-122"/>
              </a:rPr>
              <a:t>Push in chairs</a:t>
            </a:r>
          </a:p>
          <a:p>
            <a:pPr>
              <a:spcBef>
                <a:spcPts val="600"/>
              </a:spcBef>
              <a:spcAft>
                <a:spcPts val="1200"/>
              </a:spcAft>
            </a:pPr>
            <a:r>
              <a:rPr lang="en-US" altLang="zh-CN" sz="2200" dirty="0" smtClean="0">
                <a:latin typeface="Helvetica" pitchFamily="34" charset="0"/>
                <a:ea typeface="宋体" pitchFamily="2" charset="-122"/>
              </a:rPr>
              <a:t>Ensure adequate seating</a:t>
            </a:r>
          </a:p>
          <a:p>
            <a:pPr>
              <a:spcBef>
                <a:spcPts val="600"/>
              </a:spcBef>
              <a:spcAft>
                <a:spcPts val="1200"/>
              </a:spcAft>
            </a:pPr>
            <a:r>
              <a:rPr lang="en-US" altLang="zh-CN" sz="2200" dirty="0" smtClean="0">
                <a:latin typeface="Helvetica" pitchFamily="34" charset="0"/>
                <a:ea typeface="宋体" pitchFamily="2" charset="-122"/>
              </a:rPr>
              <a:t>Remove excess chairs</a:t>
            </a:r>
          </a:p>
          <a:p>
            <a:pPr>
              <a:spcBef>
                <a:spcPts val="600"/>
              </a:spcBef>
              <a:spcAft>
                <a:spcPts val="1200"/>
              </a:spcAft>
            </a:pPr>
            <a:r>
              <a:rPr lang="en-US" altLang="zh-CN" sz="2200" dirty="0" smtClean="0">
                <a:latin typeface="Helvetica" pitchFamily="34" charset="0"/>
                <a:ea typeface="宋体" pitchFamily="2" charset="-122"/>
              </a:rPr>
              <a:t>Lap napkins</a:t>
            </a:r>
          </a:p>
          <a:p>
            <a:pPr>
              <a:spcBef>
                <a:spcPts val="600"/>
              </a:spcBef>
              <a:spcAft>
                <a:spcPts val="1200"/>
              </a:spcAft>
            </a:pPr>
            <a:r>
              <a:rPr lang="en-US" altLang="zh-CN" sz="2200" dirty="0" smtClean="0">
                <a:latin typeface="Helvetica" pitchFamily="34" charset="0"/>
                <a:ea typeface="宋体" pitchFamily="2" charset="-122"/>
              </a:rPr>
              <a:t>Communication</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6" name="Picture 5" descr="SuperStock_1589R-18982"/>
          <p:cNvPicPr>
            <a:picLocks noChangeAspect="1" noChangeArrowheads="1"/>
          </p:cNvPicPr>
          <p:nvPr/>
        </p:nvPicPr>
        <p:blipFill>
          <a:blip r:embed="rId3" cstate="print"/>
          <a:srcRect/>
          <a:stretch>
            <a:fillRect/>
          </a:stretch>
        </p:blipFill>
        <p:spPr bwMode="auto">
          <a:xfrm>
            <a:off x="6516216" y="2564904"/>
            <a:ext cx="1871596" cy="2811711"/>
          </a:xfrm>
          <a:prstGeom prst="rect">
            <a:avLst/>
          </a:prstGeom>
          <a:noFill/>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Present menus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lvl="0">
              <a:spcBef>
                <a:spcPts val="600"/>
              </a:spcBef>
              <a:spcAft>
                <a:spcPts val="1200"/>
              </a:spcAft>
            </a:pPr>
            <a:r>
              <a:rPr lang="en-AU" sz="2200" dirty="0" smtClean="0">
                <a:latin typeface="Helvetica" pitchFamily="34" charset="0"/>
              </a:rPr>
              <a:t>Distribute menus to the guests from their right-hand side</a:t>
            </a:r>
          </a:p>
          <a:p>
            <a:pPr lvl="0">
              <a:spcBef>
                <a:spcPts val="600"/>
              </a:spcBef>
              <a:spcAft>
                <a:spcPts val="1200"/>
              </a:spcAft>
            </a:pPr>
            <a:r>
              <a:rPr lang="en-AU" sz="2200" dirty="0" smtClean="0">
                <a:latin typeface="Helvetica" pitchFamily="34" charset="0"/>
              </a:rPr>
              <a:t>Leave the wine list with the host</a:t>
            </a:r>
          </a:p>
          <a:p>
            <a:pPr lvl="0">
              <a:spcBef>
                <a:spcPts val="600"/>
              </a:spcBef>
              <a:spcAft>
                <a:spcPts val="1200"/>
              </a:spcAft>
            </a:pPr>
            <a:r>
              <a:rPr lang="en-AU" sz="2200" dirty="0" smtClean="0">
                <a:latin typeface="Helvetica" pitchFamily="34" charset="0"/>
              </a:rPr>
              <a:t>Offer starter items</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7" name="Picture 6" descr="MP900409393[1].JPG"/>
          <p:cNvPicPr/>
          <p:nvPr/>
        </p:nvPicPr>
        <p:blipFill>
          <a:blip r:embed="rId3" cstate="print"/>
          <a:stretch>
            <a:fillRect/>
          </a:stretch>
        </p:blipFill>
        <p:spPr>
          <a:xfrm>
            <a:off x="6876256" y="3212976"/>
            <a:ext cx="1485900" cy="2224401"/>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Provide helpful information</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buNone/>
            </a:pPr>
            <a:r>
              <a:rPr lang="en-AU" sz="2200" b="1" dirty="0" smtClean="0">
                <a:latin typeface="Helvetica" pitchFamily="34" charset="0"/>
              </a:rPr>
              <a:t>Providing food-related information to guests: </a:t>
            </a:r>
            <a:endParaRPr lang="en-AU" sz="2200" dirty="0" smtClean="0">
              <a:latin typeface="Helvetica" pitchFamily="34" charset="0"/>
            </a:endParaRPr>
          </a:p>
          <a:p>
            <a:pPr>
              <a:spcBef>
                <a:spcPts val="600"/>
              </a:spcBef>
              <a:spcAft>
                <a:spcPts val="1200"/>
              </a:spcAft>
            </a:pPr>
            <a:r>
              <a:rPr lang="en-US" altLang="zh-CN" sz="2200" dirty="0" smtClean="0">
                <a:latin typeface="Helvetica" pitchFamily="34" charset="0"/>
                <a:ea typeface="宋体" pitchFamily="2" charset="-122"/>
              </a:rPr>
              <a:t>Explain any queries</a:t>
            </a:r>
          </a:p>
          <a:p>
            <a:pPr>
              <a:spcBef>
                <a:spcPts val="600"/>
              </a:spcBef>
              <a:spcAft>
                <a:spcPts val="1200"/>
              </a:spcAft>
            </a:pPr>
            <a:r>
              <a:rPr lang="en-US" altLang="zh-CN" sz="2200" dirty="0" smtClean="0">
                <a:latin typeface="Helvetica" pitchFamily="34" charset="0"/>
                <a:ea typeface="宋体" pitchFamily="2" charset="-122"/>
              </a:rPr>
              <a:t>Use attractive words</a:t>
            </a:r>
          </a:p>
          <a:p>
            <a:pPr>
              <a:spcBef>
                <a:spcPts val="600"/>
              </a:spcBef>
              <a:spcAft>
                <a:spcPts val="1200"/>
              </a:spcAft>
            </a:pPr>
            <a:r>
              <a:rPr lang="en-US" altLang="zh-CN" sz="2200" dirty="0" smtClean="0">
                <a:latin typeface="Helvetica" pitchFamily="34" charset="0"/>
                <a:ea typeface="宋体" pitchFamily="2" charset="-122"/>
              </a:rPr>
              <a:t>Use simple terminology</a:t>
            </a:r>
          </a:p>
          <a:p>
            <a:pPr>
              <a:spcBef>
                <a:spcPts val="600"/>
              </a:spcBef>
              <a:spcAft>
                <a:spcPts val="1200"/>
              </a:spcAft>
            </a:pPr>
            <a:r>
              <a:rPr lang="en-US" altLang="zh-CN" sz="2200" dirty="0" smtClean="0">
                <a:latin typeface="Helvetica" pitchFamily="34" charset="0"/>
                <a:ea typeface="宋体" pitchFamily="2" charset="-122"/>
              </a:rPr>
              <a:t>Explain specials of the day</a:t>
            </a:r>
          </a:p>
          <a:p>
            <a:pPr>
              <a:spcBef>
                <a:spcPts val="600"/>
              </a:spcBef>
              <a:spcAft>
                <a:spcPts val="1200"/>
              </a:spcAft>
            </a:pPr>
            <a:r>
              <a:rPr lang="en-US" altLang="zh-CN" sz="2200" dirty="0" smtClean="0">
                <a:latin typeface="Helvetica" pitchFamily="34" charset="0"/>
                <a:ea typeface="宋体" pitchFamily="2" charset="-122"/>
              </a:rPr>
              <a:t>Explain items that are unavailable</a:t>
            </a:r>
          </a:p>
          <a:p>
            <a:pPr>
              <a:spcBef>
                <a:spcPts val="600"/>
              </a:spcBef>
              <a:spcAft>
                <a:spcPts val="1200"/>
              </a:spcAft>
            </a:pPr>
            <a:r>
              <a:rPr lang="en-US" altLang="zh-CN" sz="2200" dirty="0" smtClean="0">
                <a:latin typeface="Helvetica" pitchFamily="34" charset="0"/>
                <a:ea typeface="宋体" pitchFamily="2" charset="-122"/>
              </a:rPr>
              <a:t>Make recommendations if required</a:t>
            </a:r>
          </a:p>
          <a:p>
            <a:pPr>
              <a:spcBef>
                <a:spcPts val="600"/>
              </a:spcBef>
              <a:spcAft>
                <a:spcPts val="1200"/>
              </a:spcAft>
            </a:pPr>
            <a:r>
              <a:rPr lang="en-US" altLang="zh-CN" sz="2200" dirty="0" smtClean="0">
                <a:latin typeface="Helvetica" pitchFamily="34" charset="0"/>
                <a:ea typeface="宋体" pitchFamily="2" charset="-122"/>
              </a:rPr>
              <a:t>Give customers time to think</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6" name="Picture 5" descr="MP900341617.JPG"/>
          <p:cNvPicPr/>
          <p:nvPr/>
        </p:nvPicPr>
        <p:blipFill>
          <a:blip r:embed="rId3" cstate="print"/>
          <a:stretch>
            <a:fillRect/>
          </a:stretch>
        </p:blipFill>
        <p:spPr>
          <a:xfrm>
            <a:off x="6660232" y="3356992"/>
            <a:ext cx="1661716" cy="2082527"/>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Provide helpful information</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Making recommendations:</a:t>
            </a:r>
            <a:endParaRPr lang="en-US" altLang="zh-CN" sz="2200" dirty="0" smtClean="0">
              <a:latin typeface="Helvetica" pitchFamily="34" charset="0"/>
              <a:ea typeface="宋体" pitchFamily="2" charset="-122"/>
            </a:endParaRPr>
          </a:p>
          <a:p>
            <a:pPr marL="342900" indent="-342900">
              <a:spcBef>
                <a:spcPts val="600"/>
              </a:spcBef>
              <a:spcAft>
                <a:spcPts val="1200"/>
              </a:spcAft>
            </a:pPr>
            <a:r>
              <a:rPr lang="en-US" altLang="zh-CN" sz="2200" dirty="0" smtClean="0">
                <a:latin typeface="Helvetica" pitchFamily="34" charset="0"/>
                <a:ea typeface="宋体" pitchFamily="2" charset="-122"/>
              </a:rPr>
              <a:t>Items you think they might like – ask questions</a:t>
            </a:r>
          </a:p>
          <a:p>
            <a:pPr marL="342900" indent="-342900">
              <a:spcBef>
                <a:spcPts val="600"/>
              </a:spcBef>
              <a:spcAft>
                <a:spcPts val="1200"/>
              </a:spcAft>
            </a:pPr>
            <a:r>
              <a:rPr lang="en-US" altLang="zh-CN" sz="2200" dirty="0" smtClean="0">
                <a:latin typeface="Helvetica" pitchFamily="34" charset="0"/>
                <a:ea typeface="宋体" pitchFamily="2" charset="-122"/>
              </a:rPr>
              <a:t>Items you like and why</a:t>
            </a:r>
          </a:p>
          <a:p>
            <a:pPr marL="342900" indent="-342900">
              <a:spcBef>
                <a:spcPts val="600"/>
              </a:spcBef>
              <a:spcAft>
                <a:spcPts val="1200"/>
              </a:spcAft>
            </a:pPr>
            <a:r>
              <a:rPr lang="en-US" altLang="zh-CN" sz="2200" dirty="0" smtClean="0">
                <a:latin typeface="Helvetica" pitchFamily="34" charset="0"/>
                <a:ea typeface="宋体" pitchFamily="2" charset="-122"/>
              </a:rPr>
              <a:t>Items that are popular</a:t>
            </a:r>
          </a:p>
          <a:p>
            <a:pPr marL="342900" indent="-342900">
              <a:spcBef>
                <a:spcPts val="600"/>
              </a:spcBef>
              <a:spcAft>
                <a:spcPts val="1200"/>
              </a:spcAft>
            </a:pPr>
            <a:r>
              <a:rPr lang="en-US" altLang="zh-CN" sz="2200" dirty="0" smtClean="0">
                <a:latin typeface="Helvetica" pitchFamily="34" charset="0"/>
                <a:ea typeface="宋体" pitchFamily="2" charset="-122"/>
              </a:rPr>
              <a:t>Specials of the day</a:t>
            </a:r>
          </a:p>
          <a:p>
            <a:pPr marL="342900" indent="-342900">
              <a:spcBef>
                <a:spcPts val="600"/>
              </a:spcBef>
              <a:spcAft>
                <a:spcPts val="1200"/>
              </a:spcAft>
            </a:pPr>
            <a:r>
              <a:rPr lang="en-US" altLang="zh-CN" sz="2200" dirty="0" smtClean="0">
                <a:latin typeface="Helvetica" pitchFamily="34" charset="0"/>
                <a:ea typeface="宋体" pitchFamily="2" charset="-122"/>
              </a:rPr>
              <a:t>Items the kitchen wants you to sell</a:t>
            </a:r>
          </a:p>
          <a:p>
            <a:pPr marL="342900" indent="-342900">
              <a:spcBef>
                <a:spcPts val="600"/>
              </a:spcBef>
              <a:spcAft>
                <a:spcPts val="1200"/>
              </a:spcAft>
            </a:pPr>
            <a:r>
              <a:rPr lang="en-US" altLang="zh-CN" sz="2200" dirty="0" smtClean="0">
                <a:latin typeface="Helvetica" pitchFamily="34" charset="0"/>
                <a:ea typeface="宋体" pitchFamily="2" charset="-122"/>
              </a:rPr>
              <a:t>Food and Wine Combinations</a:t>
            </a:r>
          </a:p>
          <a:p>
            <a:pPr marL="342900" indent="-342900">
              <a:lnSpc>
                <a:spcPct val="90000"/>
              </a:lnSpc>
              <a:buFontTx/>
              <a:buChar char="•"/>
            </a:pPr>
            <a:endParaRPr lang="en-US" altLang="zh-CN" sz="2400" dirty="0" smtClean="0">
              <a:ea typeface="宋体" pitchFamily="2" charset="-122"/>
            </a:endParaRPr>
          </a:p>
          <a:p>
            <a:pPr marL="342900" indent="-342900">
              <a:lnSpc>
                <a:spcPct val="90000"/>
              </a:lnSpc>
              <a:buFontTx/>
              <a:buChar char="•"/>
            </a:pPr>
            <a:endParaRPr lang="en-US" altLang="zh-CN" sz="2400"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7" name="Picture 5" descr="SuperStock_255-18680"/>
          <p:cNvPicPr>
            <a:picLocks noChangeAspect="1" noChangeArrowheads="1"/>
          </p:cNvPicPr>
          <p:nvPr/>
        </p:nvPicPr>
        <p:blipFill>
          <a:blip r:embed="rId3" cstate="print"/>
          <a:srcRect/>
          <a:stretch>
            <a:fillRect/>
          </a:stretch>
        </p:blipFill>
        <p:spPr bwMode="auto">
          <a:xfrm>
            <a:off x="6444208" y="2996952"/>
            <a:ext cx="1926100" cy="2442518"/>
          </a:xfrm>
          <a:prstGeom prst="rect">
            <a:avLst/>
          </a:prstGeom>
          <a:noFill/>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Taking orders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Options available:</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Staff may be required to:</a:t>
            </a:r>
          </a:p>
          <a:p>
            <a:pPr lvl="0">
              <a:spcBef>
                <a:spcPts val="600"/>
              </a:spcBef>
              <a:spcAft>
                <a:spcPts val="1200"/>
              </a:spcAft>
            </a:pPr>
            <a:r>
              <a:rPr lang="en-AU" sz="2200" dirty="0" smtClean="0">
                <a:latin typeface="Helvetica" pitchFamily="34" charset="0"/>
              </a:rPr>
              <a:t>Remember orders</a:t>
            </a:r>
          </a:p>
          <a:p>
            <a:pPr lvl="0">
              <a:spcBef>
                <a:spcPts val="600"/>
              </a:spcBef>
              <a:spcAft>
                <a:spcPts val="1200"/>
              </a:spcAft>
            </a:pPr>
            <a:r>
              <a:rPr lang="en-AU" sz="2200" dirty="0" smtClean="0">
                <a:latin typeface="Helvetica" pitchFamily="34" charset="0"/>
              </a:rPr>
              <a:t>Record orders on paper-based order forms</a:t>
            </a:r>
          </a:p>
          <a:p>
            <a:pPr lvl="0">
              <a:spcBef>
                <a:spcPts val="600"/>
              </a:spcBef>
              <a:spcAft>
                <a:spcPts val="1200"/>
              </a:spcAft>
            </a:pPr>
            <a:r>
              <a:rPr lang="en-AU" sz="2200" dirty="0" smtClean="0">
                <a:latin typeface="Helvetica" pitchFamily="34" charset="0"/>
              </a:rPr>
              <a:t>Record orders using electronic means</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7" name="Picture 5" descr="45622001"/>
          <p:cNvPicPr>
            <a:picLocks noChangeAspect="1" noChangeArrowheads="1"/>
          </p:cNvPicPr>
          <p:nvPr/>
        </p:nvPicPr>
        <p:blipFill>
          <a:blip r:embed="rId3" cstate="print"/>
          <a:srcRect/>
          <a:stretch>
            <a:fillRect/>
          </a:stretch>
        </p:blipFill>
        <p:spPr bwMode="auto">
          <a:xfrm>
            <a:off x="6732240" y="3356992"/>
            <a:ext cx="1649189" cy="2028503"/>
          </a:xfrm>
          <a:prstGeom prst="rect">
            <a:avLst/>
          </a:prstGeom>
          <a:noFill/>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Taking orders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The role of the order:</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The order serves four different purposes:</a:t>
            </a:r>
          </a:p>
          <a:p>
            <a:pPr lvl="0">
              <a:spcBef>
                <a:spcPts val="600"/>
              </a:spcBef>
              <a:spcAft>
                <a:spcPts val="1200"/>
              </a:spcAft>
            </a:pPr>
            <a:r>
              <a:rPr lang="en-AU" sz="2200" dirty="0" smtClean="0">
                <a:latin typeface="Helvetica" pitchFamily="34" charset="0"/>
              </a:rPr>
              <a:t>Informs the kitchen or bar staff of the order  </a:t>
            </a:r>
          </a:p>
          <a:p>
            <a:pPr lvl="0">
              <a:spcBef>
                <a:spcPts val="600"/>
              </a:spcBef>
              <a:spcAft>
                <a:spcPts val="1200"/>
              </a:spcAft>
            </a:pPr>
            <a:r>
              <a:rPr lang="en-AU" sz="2200" dirty="0" smtClean="0">
                <a:latin typeface="Helvetica" pitchFamily="34" charset="0"/>
              </a:rPr>
              <a:t>Informs the service staff of any changes needed to the cutlery</a:t>
            </a:r>
          </a:p>
          <a:p>
            <a:pPr lvl="0">
              <a:spcBef>
                <a:spcPts val="600"/>
              </a:spcBef>
              <a:spcAft>
                <a:spcPts val="1200"/>
              </a:spcAft>
            </a:pPr>
            <a:r>
              <a:rPr lang="en-AU" sz="2200" dirty="0" smtClean="0">
                <a:latin typeface="Helvetica" pitchFamily="34" charset="0"/>
              </a:rPr>
              <a:t>Identifies who is eating or drinking the </a:t>
            </a:r>
            <a:br>
              <a:rPr lang="en-AU" sz="2200" dirty="0" smtClean="0">
                <a:latin typeface="Helvetica" pitchFamily="34" charset="0"/>
              </a:rPr>
            </a:br>
            <a:r>
              <a:rPr lang="en-AU" sz="2200" dirty="0" smtClean="0">
                <a:latin typeface="Helvetica" pitchFamily="34" charset="0"/>
              </a:rPr>
              <a:t>items ordered</a:t>
            </a:r>
          </a:p>
          <a:p>
            <a:pPr lvl="0">
              <a:spcBef>
                <a:spcPts val="600"/>
              </a:spcBef>
              <a:spcAft>
                <a:spcPts val="1200"/>
              </a:spcAft>
            </a:pPr>
            <a:r>
              <a:rPr lang="en-AU" sz="2200" dirty="0" smtClean="0">
                <a:latin typeface="Helvetica" pitchFamily="34" charset="0"/>
              </a:rPr>
              <a:t>Provides information for accounts  </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6" name="Picture 5" descr="waiter-2-g"/>
          <p:cNvPicPr/>
          <p:nvPr/>
        </p:nvPicPr>
        <p:blipFill>
          <a:blip r:embed="rId3" cstate="print"/>
          <a:srcRect/>
          <a:stretch>
            <a:fillRect/>
          </a:stretch>
        </p:blipFill>
        <p:spPr bwMode="auto">
          <a:xfrm>
            <a:off x="6300192" y="4077072"/>
            <a:ext cx="2044824" cy="1296144"/>
          </a:xfrm>
          <a:prstGeom prst="rect">
            <a:avLst/>
          </a:prstGeom>
          <a:noFill/>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Taking orders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Guidelines for taking the order:</a:t>
            </a:r>
            <a:endParaRPr lang="en-AU" sz="2200" dirty="0" smtClean="0">
              <a:latin typeface="Helvetica" pitchFamily="34" charset="0"/>
            </a:endParaRPr>
          </a:p>
          <a:p>
            <a:pPr marL="342900" indent="-342900">
              <a:spcBef>
                <a:spcPts val="600"/>
              </a:spcBef>
              <a:spcAft>
                <a:spcPts val="1200"/>
              </a:spcAft>
            </a:pPr>
            <a:r>
              <a:rPr lang="en-US" altLang="zh-CN" sz="2200" dirty="0" smtClean="0">
                <a:latin typeface="Helvetica" pitchFamily="34" charset="0"/>
                <a:ea typeface="宋体" pitchFamily="2" charset="-122"/>
              </a:rPr>
              <a:t>Look for signs when guests are ready to order</a:t>
            </a:r>
          </a:p>
          <a:p>
            <a:pPr marL="342900" indent="-342900">
              <a:spcBef>
                <a:spcPts val="600"/>
              </a:spcBef>
              <a:spcAft>
                <a:spcPts val="1200"/>
              </a:spcAft>
            </a:pPr>
            <a:r>
              <a:rPr lang="en-US" altLang="zh-CN" sz="2200" dirty="0" smtClean="0">
                <a:latin typeface="Helvetica" pitchFamily="34" charset="0"/>
                <a:ea typeface="宋体" pitchFamily="2" charset="-122"/>
              </a:rPr>
              <a:t>Start with females</a:t>
            </a:r>
          </a:p>
          <a:p>
            <a:pPr marL="342900" indent="-342900">
              <a:spcBef>
                <a:spcPts val="600"/>
              </a:spcBef>
              <a:spcAft>
                <a:spcPts val="1200"/>
              </a:spcAft>
            </a:pPr>
            <a:r>
              <a:rPr lang="en-US" altLang="zh-CN" sz="2200" dirty="0" smtClean="0">
                <a:latin typeface="Helvetica" pitchFamily="34" charset="0"/>
                <a:ea typeface="宋体" pitchFamily="2" charset="-122"/>
              </a:rPr>
              <a:t>Record clockwise or number guests</a:t>
            </a:r>
          </a:p>
          <a:p>
            <a:pPr marL="342900" indent="-342900">
              <a:spcBef>
                <a:spcPts val="600"/>
              </a:spcBef>
              <a:spcAft>
                <a:spcPts val="1200"/>
              </a:spcAft>
            </a:pPr>
            <a:r>
              <a:rPr lang="en-US" altLang="zh-CN" sz="2200" dirty="0" smtClean="0">
                <a:latin typeface="Helvetica" pitchFamily="34" charset="0"/>
                <a:ea typeface="宋体" pitchFamily="2" charset="-122"/>
              </a:rPr>
              <a:t>Record all orders accurately and legibly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7" name="Picture 6" descr="waiter_242x350"/>
          <p:cNvPicPr/>
          <p:nvPr/>
        </p:nvPicPr>
        <p:blipFill>
          <a:blip r:embed="rId3" cstate="print"/>
          <a:srcRect/>
          <a:stretch>
            <a:fillRect/>
          </a:stretch>
        </p:blipFill>
        <p:spPr bwMode="auto">
          <a:xfrm>
            <a:off x="6372200" y="3284984"/>
            <a:ext cx="1957189" cy="2188840"/>
          </a:xfrm>
          <a:prstGeom prst="rect">
            <a:avLst/>
          </a:prstGeom>
          <a:noFill/>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Taking orders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Guidelines for taking the order:</a:t>
            </a:r>
            <a:endParaRPr lang="en-AU" sz="2200" dirty="0" smtClean="0">
              <a:latin typeface="Helvetica" pitchFamily="34" charset="0"/>
            </a:endParaRPr>
          </a:p>
          <a:p>
            <a:pPr marL="342900" indent="-342900">
              <a:spcBef>
                <a:spcPts val="600"/>
              </a:spcBef>
              <a:spcAft>
                <a:spcPts val="1200"/>
              </a:spcAft>
            </a:pPr>
            <a:r>
              <a:rPr lang="en-US" altLang="zh-CN" sz="2200" dirty="0" smtClean="0">
                <a:latin typeface="Helvetica" pitchFamily="34" charset="0"/>
                <a:ea typeface="宋体" pitchFamily="2" charset="-122"/>
              </a:rPr>
              <a:t>Record special requirements:</a:t>
            </a:r>
          </a:p>
          <a:p>
            <a:pPr marL="536575" lvl="1" indent="-266700">
              <a:spcBef>
                <a:spcPts val="600"/>
              </a:spcBef>
              <a:spcAft>
                <a:spcPts val="1200"/>
              </a:spcAft>
            </a:pPr>
            <a:r>
              <a:rPr lang="en-US" altLang="zh-CN" sz="2200" dirty="0" smtClean="0">
                <a:latin typeface="Helvetica" pitchFamily="34" charset="0"/>
                <a:ea typeface="宋体" pitchFamily="2" charset="-122"/>
              </a:rPr>
              <a:t>Sauces</a:t>
            </a:r>
          </a:p>
          <a:p>
            <a:pPr marL="536575" lvl="1" indent="-266700">
              <a:spcBef>
                <a:spcPts val="600"/>
              </a:spcBef>
              <a:spcAft>
                <a:spcPts val="1200"/>
              </a:spcAft>
            </a:pPr>
            <a:r>
              <a:rPr lang="en-US" altLang="zh-CN" sz="2200" dirty="0" smtClean="0">
                <a:latin typeface="Helvetica" pitchFamily="34" charset="0"/>
                <a:ea typeface="宋体" pitchFamily="2" charset="-122"/>
              </a:rPr>
              <a:t>Temperatures</a:t>
            </a:r>
          </a:p>
          <a:p>
            <a:pPr marL="536575" lvl="1" indent="-266700">
              <a:spcBef>
                <a:spcPts val="600"/>
              </a:spcBef>
              <a:spcAft>
                <a:spcPts val="1200"/>
              </a:spcAft>
            </a:pPr>
            <a:r>
              <a:rPr lang="en-US" altLang="zh-CN" sz="2200" dirty="0" smtClean="0">
                <a:latin typeface="Helvetica" pitchFamily="34" charset="0"/>
                <a:ea typeface="宋体" pitchFamily="2" charset="-122"/>
              </a:rPr>
              <a:t>Extras / exclusions</a:t>
            </a:r>
          </a:p>
          <a:p>
            <a:pPr marL="342900" indent="-342900">
              <a:spcBef>
                <a:spcPts val="600"/>
              </a:spcBef>
              <a:spcAft>
                <a:spcPts val="1200"/>
              </a:spcAft>
            </a:pPr>
            <a:r>
              <a:rPr lang="en-US" altLang="zh-CN" sz="2200" dirty="0" smtClean="0">
                <a:latin typeface="Helvetica" pitchFamily="34" charset="0"/>
                <a:ea typeface="宋体" pitchFamily="2" charset="-122"/>
              </a:rPr>
              <a:t>Separate courses</a:t>
            </a:r>
          </a:p>
          <a:p>
            <a:pPr marL="342900" indent="-342900">
              <a:spcBef>
                <a:spcPts val="600"/>
              </a:spcBef>
              <a:spcAft>
                <a:spcPts val="1200"/>
              </a:spcAft>
            </a:pPr>
            <a:r>
              <a:rPr lang="en-US" altLang="zh-CN" sz="2200" dirty="0" smtClean="0">
                <a:latin typeface="Helvetica" pitchFamily="34" charset="0"/>
                <a:ea typeface="宋体" pitchFamily="2" charset="-122"/>
              </a:rPr>
              <a:t>Repeat order</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5" name="Picture 5" descr="getty_rr_photo_of_waitress_taking_order"/>
          <p:cNvPicPr>
            <a:picLocks noChangeAspect="1" noChangeArrowheads="1"/>
          </p:cNvPicPr>
          <p:nvPr/>
        </p:nvPicPr>
        <p:blipFill>
          <a:blip r:embed="rId3" cstate="print"/>
          <a:srcRect/>
          <a:stretch>
            <a:fillRect/>
          </a:stretch>
        </p:blipFill>
        <p:spPr bwMode="auto">
          <a:xfrm>
            <a:off x="5724128" y="3501008"/>
            <a:ext cx="2681973" cy="1822202"/>
          </a:xfrm>
          <a:prstGeom prst="rect">
            <a:avLst/>
          </a:prstGeom>
          <a:noFill/>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Taking orders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Degrees of ‘doneness’ of steaks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It is important to note on the order how the guest wants their steak cooked.</a:t>
            </a:r>
          </a:p>
          <a:p>
            <a:pPr marL="0">
              <a:spcBef>
                <a:spcPts val="600"/>
              </a:spcBef>
              <a:spcAft>
                <a:spcPts val="1200"/>
              </a:spcAft>
              <a:buNone/>
            </a:pPr>
            <a:r>
              <a:rPr lang="en-AU" sz="2200" dirty="0" smtClean="0">
                <a:latin typeface="Helvetica" pitchFamily="34" charset="0"/>
              </a:rPr>
              <a:t>Degrees of doneness are:</a:t>
            </a:r>
          </a:p>
          <a:p>
            <a:pPr lvl="0">
              <a:spcBef>
                <a:spcPts val="600"/>
              </a:spcBef>
              <a:spcAft>
                <a:spcPts val="1200"/>
              </a:spcAft>
            </a:pPr>
            <a:r>
              <a:rPr lang="en-AU" sz="2200" dirty="0" smtClean="0">
                <a:latin typeface="Helvetica" pitchFamily="34" charset="0"/>
              </a:rPr>
              <a:t>Blue</a:t>
            </a:r>
          </a:p>
          <a:p>
            <a:pPr lvl="0">
              <a:spcBef>
                <a:spcPts val="600"/>
              </a:spcBef>
              <a:spcAft>
                <a:spcPts val="1200"/>
              </a:spcAft>
            </a:pPr>
            <a:r>
              <a:rPr lang="en-AU" sz="2200" dirty="0" smtClean="0">
                <a:latin typeface="Helvetica" pitchFamily="34" charset="0"/>
              </a:rPr>
              <a:t>Rare</a:t>
            </a:r>
          </a:p>
          <a:p>
            <a:pPr lvl="0">
              <a:spcBef>
                <a:spcPts val="600"/>
              </a:spcBef>
              <a:spcAft>
                <a:spcPts val="1200"/>
              </a:spcAft>
            </a:pPr>
            <a:r>
              <a:rPr lang="en-AU" sz="2200" dirty="0" smtClean="0">
                <a:latin typeface="Helvetica" pitchFamily="34" charset="0"/>
              </a:rPr>
              <a:t>Medium rare</a:t>
            </a:r>
          </a:p>
          <a:p>
            <a:pPr lvl="0">
              <a:spcBef>
                <a:spcPts val="600"/>
              </a:spcBef>
              <a:spcAft>
                <a:spcPts val="1200"/>
              </a:spcAft>
            </a:pPr>
            <a:r>
              <a:rPr lang="en-AU" sz="2200" dirty="0" smtClean="0">
                <a:latin typeface="Helvetica" pitchFamily="34" charset="0"/>
              </a:rPr>
              <a:t>Medium to well-done</a:t>
            </a:r>
          </a:p>
          <a:p>
            <a:pPr lvl="0">
              <a:spcBef>
                <a:spcPts val="600"/>
              </a:spcBef>
              <a:spcAft>
                <a:spcPts val="1200"/>
              </a:spcAft>
            </a:pPr>
            <a:r>
              <a:rPr lang="en-AU" sz="2200" dirty="0" smtClean="0">
                <a:latin typeface="Helvetica" pitchFamily="34" charset="0"/>
              </a:rPr>
              <a:t>Well-done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6" name="Picture 5" descr="http://beitor.org/wp-content/uploads/2011/07/grilled-rare-steak.jpg"/>
          <p:cNvPicPr/>
          <p:nvPr/>
        </p:nvPicPr>
        <p:blipFill>
          <a:blip r:embed="rId3" cstate="print"/>
          <a:stretch>
            <a:fillRect/>
          </a:stretch>
        </p:blipFill>
        <p:spPr bwMode="auto">
          <a:xfrm>
            <a:off x="5724128" y="3645024"/>
            <a:ext cx="2621955" cy="180024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Operate the ordering system</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a:spcBef>
                <a:spcPts val="600"/>
              </a:spcBef>
              <a:spcAft>
                <a:spcPts val="1200"/>
              </a:spcAft>
              <a:buNone/>
            </a:pPr>
            <a:r>
              <a:rPr lang="en-AU" sz="2200" dirty="0" smtClean="0">
                <a:latin typeface="Helvetica" pitchFamily="34" charset="0"/>
              </a:rPr>
              <a:t>All transactions should be undertaken within establishment guidelines relating to:</a:t>
            </a:r>
          </a:p>
          <a:p>
            <a:pPr lvl="0">
              <a:spcBef>
                <a:spcPts val="600"/>
              </a:spcBef>
              <a:spcAft>
                <a:spcPts val="1200"/>
              </a:spcAft>
            </a:pPr>
            <a:r>
              <a:rPr lang="en-AU" sz="2200" dirty="0" smtClean="0">
                <a:latin typeface="Helvetica" pitchFamily="34" charset="0"/>
              </a:rPr>
              <a:t>Honesty and integrity</a:t>
            </a:r>
          </a:p>
          <a:p>
            <a:pPr lvl="0">
              <a:spcBef>
                <a:spcPts val="600"/>
              </a:spcBef>
              <a:spcAft>
                <a:spcPts val="1200"/>
              </a:spcAft>
            </a:pPr>
            <a:r>
              <a:rPr lang="en-AU" sz="2200" dirty="0" smtClean="0">
                <a:latin typeface="Helvetica" pitchFamily="34" charset="0"/>
              </a:rPr>
              <a:t>Accuracy</a:t>
            </a:r>
          </a:p>
          <a:p>
            <a:pPr lvl="0">
              <a:spcBef>
                <a:spcPts val="600"/>
              </a:spcBef>
              <a:spcAft>
                <a:spcPts val="1200"/>
              </a:spcAft>
            </a:pPr>
            <a:r>
              <a:rPr lang="en-AU" sz="2200" dirty="0" smtClean="0">
                <a:latin typeface="Helvetica" pitchFamily="34" charset="0"/>
              </a:rPr>
              <a:t>Speed</a:t>
            </a:r>
          </a:p>
          <a:p>
            <a:pPr lvl="0">
              <a:spcBef>
                <a:spcPts val="600"/>
              </a:spcBef>
              <a:spcAft>
                <a:spcPts val="1200"/>
              </a:spcAft>
            </a:pPr>
            <a:r>
              <a:rPr lang="en-AU" sz="2200" dirty="0" smtClean="0">
                <a:latin typeface="Helvetica" pitchFamily="34" charset="0"/>
              </a:rPr>
              <a:t>Explanation and description </a:t>
            </a:r>
            <a:br>
              <a:rPr lang="en-AU" sz="2200" dirty="0" smtClean="0">
                <a:latin typeface="Helvetica" pitchFamily="34" charset="0"/>
              </a:rPr>
            </a:br>
            <a:r>
              <a:rPr lang="en-AU" sz="2200" dirty="0" smtClean="0">
                <a:latin typeface="Helvetica" pitchFamily="34" charset="0"/>
              </a:rPr>
              <a:t>of charges</a:t>
            </a:r>
          </a:p>
          <a:p>
            <a:pPr lvl="0">
              <a:spcBef>
                <a:spcPts val="600"/>
              </a:spcBef>
              <a:spcAft>
                <a:spcPts val="1200"/>
              </a:spcAft>
            </a:pPr>
            <a:r>
              <a:rPr lang="en-AU" sz="2200" dirty="0" smtClean="0">
                <a:latin typeface="Helvetica" pitchFamily="34" charset="0"/>
              </a:rPr>
              <a:t>Customer service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7" name="Picture 4" descr="werribee045_RT8"/>
          <p:cNvPicPr>
            <a:picLocks noChangeAspect="1" noChangeArrowheads="1"/>
          </p:cNvPicPr>
          <p:nvPr/>
        </p:nvPicPr>
        <p:blipFill>
          <a:blip r:embed="rId3" cstate="print"/>
          <a:srcRect/>
          <a:stretch>
            <a:fillRect/>
          </a:stretch>
        </p:blipFill>
        <p:spPr bwMode="auto">
          <a:xfrm>
            <a:off x="5724128" y="3645024"/>
            <a:ext cx="2661011" cy="1774007"/>
          </a:xfrm>
          <a:prstGeom prst="rect">
            <a:avLst/>
          </a:prstGeom>
          <a:noFill/>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Operate the ordering system</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a:spcBef>
                <a:spcPts val="600"/>
              </a:spcBef>
              <a:spcAft>
                <a:spcPts val="1200"/>
              </a:spcAft>
              <a:buNone/>
            </a:pPr>
            <a:r>
              <a:rPr lang="en-AU" sz="2200" b="1" dirty="0" smtClean="0">
                <a:latin typeface="Helvetica" pitchFamily="34" charset="0"/>
              </a:rPr>
              <a:t>Using different systems</a:t>
            </a:r>
          </a:p>
          <a:p>
            <a:pPr marL="0">
              <a:spcBef>
                <a:spcPts val="600"/>
              </a:spcBef>
              <a:spcAft>
                <a:spcPts val="1200"/>
              </a:spcAft>
              <a:buNone/>
            </a:pPr>
            <a:r>
              <a:rPr lang="en-AU" sz="2200" dirty="0" smtClean="0">
                <a:latin typeface="Helvetica" pitchFamily="34" charset="0"/>
              </a:rPr>
              <a:t>Orders can be taken using:</a:t>
            </a:r>
          </a:p>
          <a:p>
            <a:pPr marL="0">
              <a:spcBef>
                <a:spcPts val="600"/>
              </a:spcBef>
              <a:spcAft>
                <a:spcPts val="1200"/>
              </a:spcAft>
            </a:pPr>
            <a:r>
              <a:rPr lang="en-AU" sz="2200" dirty="0" smtClean="0">
                <a:latin typeface="Helvetica" pitchFamily="34" charset="0"/>
              </a:rPr>
              <a:t>Manual system</a:t>
            </a:r>
          </a:p>
          <a:p>
            <a:pPr marL="0">
              <a:spcBef>
                <a:spcPts val="600"/>
              </a:spcBef>
              <a:spcAft>
                <a:spcPts val="1200"/>
              </a:spcAft>
            </a:pPr>
            <a:r>
              <a:rPr lang="en-AU" sz="2200" dirty="0" smtClean="0">
                <a:latin typeface="Helvetica" pitchFamily="34" charset="0"/>
              </a:rPr>
              <a:t>Electronic system:</a:t>
            </a:r>
          </a:p>
          <a:p>
            <a:pPr marL="714375" lvl="1" indent="-273050">
              <a:spcBef>
                <a:spcPts val="600"/>
              </a:spcBef>
              <a:spcAft>
                <a:spcPts val="1200"/>
              </a:spcAft>
            </a:pPr>
            <a:r>
              <a:rPr lang="en-AU" sz="2200" dirty="0" smtClean="0">
                <a:latin typeface="Helvetica" pitchFamily="34" charset="0"/>
              </a:rPr>
              <a:t>Point of sale terminals</a:t>
            </a:r>
          </a:p>
          <a:p>
            <a:pPr marL="714375" lvl="1" indent="-273050">
              <a:spcBef>
                <a:spcPts val="600"/>
              </a:spcBef>
              <a:spcAft>
                <a:spcPts val="1200"/>
              </a:spcAft>
            </a:pPr>
            <a:r>
              <a:rPr lang="en-AU" sz="2200" dirty="0" smtClean="0">
                <a:latin typeface="Helvetica" pitchFamily="34" charset="0"/>
              </a:rPr>
              <a:t>Hand held devices</a:t>
            </a:r>
          </a:p>
          <a:p>
            <a:pPr marL="714375" lvl="1" indent="-273050">
              <a:spcBef>
                <a:spcPts val="600"/>
              </a:spcBef>
              <a:spcAft>
                <a:spcPts val="1200"/>
              </a:spcAft>
            </a:pPr>
            <a:r>
              <a:rPr lang="en-AU" sz="2200" dirty="0" smtClean="0">
                <a:latin typeface="Helvetica" pitchFamily="34" charset="0"/>
              </a:rPr>
              <a:t>Print out terminals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6" name="Picture 5" descr="http://www.acr.co.nz/images/ico/PDA.jpg"/>
          <p:cNvPicPr/>
          <p:nvPr/>
        </p:nvPicPr>
        <p:blipFill>
          <a:blip r:embed="rId3" cstate="print"/>
          <a:srcRect/>
          <a:stretch>
            <a:fillRect/>
          </a:stretch>
        </p:blipFill>
        <p:spPr bwMode="auto">
          <a:xfrm>
            <a:off x="6444208" y="3356992"/>
            <a:ext cx="1869182" cy="203949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Convey orders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a:spcBef>
                <a:spcPts val="600"/>
              </a:spcBef>
              <a:spcAft>
                <a:spcPts val="1200"/>
              </a:spcAft>
              <a:buNone/>
            </a:pPr>
            <a:r>
              <a:rPr lang="en-AU" sz="2200" dirty="0" smtClean="0">
                <a:latin typeface="Helvetica" pitchFamily="34" charset="0"/>
              </a:rPr>
              <a:t>Regardless whether an electronic or manual ordering system is used to take an order, there are many times when waiter staff will need to speak directly to the person preparing items, normally the chef or bartender, to:</a:t>
            </a:r>
          </a:p>
          <a:p>
            <a:pPr marL="0">
              <a:spcBef>
                <a:spcPts val="600"/>
              </a:spcBef>
              <a:spcAft>
                <a:spcPts val="1200"/>
              </a:spcAft>
            </a:pPr>
            <a:r>
              <a:rPr lang="en-AU" sz="2200" dirty="0" smtClean="0">
                <a:latin typeface="Helvetica" pitchFamily="34" charset="0"/>
              </a:rPr>
              <a:t>Explain special requests </a:t>
            </a:r>
          </a:p>
          <a:p>
            <a:pPr marL="0">
              <a:spcBef>
                <a:spcPts val="600"/>
              </a:spcBef>
              <a:spcAft>
                <a:spcPts val="1200"/>
              </a:spcAft>
            </a:pPr>
            <a:r>
              <a:rPr lang="en-AU" sz="2200" dirty="0" smtClean="0">
                <a:latin typeface="Helvetica" pitchFamily="34" charset="0"/>
              </a:rPr>
              <a:t>Clarify the order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7" name="Picture 6" descr="MP900262283.JPG"/>
          <p:cNvPicPr>
            <a:picLocks noChangeAspect="1"/>
          </p:cNvPicPr>
          <p:nvPr/>
        </p:nvPicPr>
        <p:blipFill>
          <a:blip r:embed="rId3" cstate="print"/>
          <a:stretch>
            <a:fillRect/>
          </a:stretch>
        </p:blipFill>
        <p:spPr>
          <a:xfrm>
            <a:off x="5652120" y="3789040"/>
            <a:ext cx="2710531" cy="1770880"/>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Convey orders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Relaying information manually</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In the event that a manual system is used, it is imperative that orders are:</a:t>
            </a:r>
          </a:p>
          <a:p>
            <a:pPr lvl="0">
              <a:spcBef>
                <a:spcPts val="600"/>
              </a:spcBef>
              <a:spcAft>
                <a:spcPts val="1200"/>
              </a:spcAft>
            </a:pPr>
            <a:r>
              <a:rPr lang="en-AU" sz="2200" dirty="0" smtClean="0">
                <a:latin typeface="Helvetica" pitchFamily="34" charset="0"/>
              </a:rPr>
              <a:t>Given directly to the person responsible for its preparation</a:t>
            </a:r>
          </a:p>
          <a:p>
            <a:pPr lvl="0">
              <a:spcBef>
                <a:spcPts val="600"/>
              </a:spcBef>
              <a:spcAft>
                <a:spcPts val="1200"/>
              </a:spcAft>
            </a:pPr>
            <a:r>
              <a:rPr lang="en-AU" sz="2200" dirty="0" smtClean="0">
                <a:latin typeface="Helvetica" pitchFamily="34" charset="0"/>
              </a:rPr>
              <a:t>Ensure they receive the order</a:t>
            </a:r>
          </a:p>
          <a:p>
            <a:pPr lvl="0">
              <a:spcBef>
                <a:spcPts val="600"/>
              </a:spcBef>
              <a:spcAft>
                <a:spcPts val="1200"/>
              </a:spcAft>
            </a:pPr>
            <a:r>
              <a:rPr lang="en-AU" sz="2200" dirty="0" smtClean="0">
                <a:latin typeface="Helvetica" pitchFamily="34" charset="0"/>
              </a:rPr>
              <a:t>Ensure they understand the order</a:t>
            </a:r>
          </a:p>
          <a:p>
            <a:pPr lvl="0">
              <a:spcBef>
                <a:spcPts val="600"/>
              </a:spcBef>
              <a:spcAft>
                <a:spcPts val="1200"/>
              </a:spcAft>
            </a:pPr>
            <a:r>
              <a:rPr lang="en-AU" sz="2200" dirty="0" smtClean="0">
                <a:latin typeface="Helvetica" pitchFamily="34" charset="0"/>
              </a:rPr>
              <a:t>Explain any special requests relating to                                   an order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6" name="Picture 5" descr="2.jpg"/>
          <p:cNvPicPr>
            <a:picLocks noChangeAspect="1"/>
          </p:cNvPicPr>
          <p:nvPr/>
        </p:nvPicPr>
        <p:blipFill>
          <a:blip r:embed="rId3" cstate="print"/>
          <a:stretch>
            <a:fillRect/>
          </a:stretch>
        </p:blipFill>
        <p:spPr>
          <a:xfrm>
            <a:off x="6732240" y="3214775"/>
            <a:ext cx="1624013" cy="2434802"/>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Convey orders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Information to be relayed:</a:t>
            </a:r>
          </a:p>
          <a:p>
            <a:pPr lvl="0">
              <a:spcBef>
                <a:spcPts val="600"/>
              </a:spcBef>
              <a:spcAft>
                <a:spcPts val="1200"/>
              </a:spcAft>
            </a:pPr>
            <a:r>
              <a:rPr lang="en-AU" sz="2200" dirty="0" smtClean="0">
                <a:latin typeface="Helvetica" pitchFamily="34" charset="0"/>
              </a:rPr>
              <a:t>Timing issues</a:t>
            </a:r>
          </a:p>
          <a:p>
            <a:pPr lvl="0">
              <a:spcBef>
                <a:spcPts val="600"/>
              </a:spcBef>
              <a:spcAft>
                <a:spcPts val="1200"/>
              </a:spcAft>
            </a:pPr>
            <a:r>
              <a:rPr lang="en-AU" sz="2200" dirty="0" smtClean="0">
                <a:latin typeface="Helvetica" pitchFamily="34" charset="0"/>
              </a:rPr>
              <a:t>Cultural issues </a:t>
            </a:r>
          </a:p>
          <a:p>
            <a:pPr lvl="0">
              <a:spcBef>
                <a:spcPts val="600"/>
              </a:spcBef>
              <a:spcAft>
                <a:spcPts val="1200"/>
              </a:spcAft>
            </a:pPr>
            <a:r>
              <a:rPr lang="en-AU" sz="2200" dirty="0" smtClean="0">
                <a:latin typeface="Helvetica" pitchFamily="34" charset="0"/>
              </a:rPr>
              <a:t>Special requests</a:t>
            </a:r>
          </a:p>
          <a:p>
            <a:pPr lvl="0">
              <a:spcBef>
                <a:spcPts val="600"/>
              </a:spcBef>
              <a:spcAft>
                <a:spcPts val="1200"/>
              </a:spcAft>
            </a:pPr>
            <a:r>
              <a:rPr lang="en-AU" sz="2200" dirty="0" smtClean="0">
                <a:latin typeface="Helvetica" pitchFamily="34" charset="0"/>
              </a:rPr>
              <a:t>How steaks are to be cooked </a:t>
            </a:r>
          </a:p>
          <a:p>
            <a:pPr lvl="0">
              <a:spcBef>
                <a:spcPts val="600"/>
              </a:spcBef>
              <a:spcAft>
                <a:spcPts val="1200"/>
              </a:spcAft>
            </a:pPr>
            <a:r>
              <a:rPr lang="en-AU" sz="2200" dirty="0" smtClean="0">
                <a:latin typeface="Helvetica" pitchFamily="34" charset="0"/>
              </a:rPr>
              <a:t>Entrees required as main courses</a:t>
            </a:r>
          </a:p>
          <a:p>
            <a:pPr lvl="0">
              <a:spcBef>
                <a:spcPts val="600"/>
              </a:spcBef>
              <a:spcAft>
                <a:spcPts val="1200"/>
              </a:spcAft>
            </a:pPr>
            <a:r>
              <a:rPr lang="en-AU" sz="2200" dirty="0" smtClean="0">
                <a:latin typeface="Helvetica" pitchFamily="34" charset="0"/>
              </a:rPr>
              <a:t>Explanation of tables and their orders</a:t>
            </a:r>
          </a:p>
          <a:p>
            <a:pPr lvl="0">
              <a:spcBef>
                <a:spcPts val="600"/>
              </a:spcBef>
              <a:spcAft>
                <a:spcPts val="1200"/>
              </a:spcAft>
            </a:pPr>
            <a:r>
              <a:rPr lang="en-AU" sz="2200" dirty="0" smtClean="0">
                <a:latin typeface="Helvetica" pitchFamily="34" charset="0"/>
              </a:rPr>
              <a:t>Dietary requirements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7" name="Picture 6" descr="1.jpg"/>
          <p:cNvPicPr>
            <a:picLocks noChangeAspect="1"/>
          </p:cNvPicPr>
          <p:nvPr/>
        </p:nvPicPr>
        <p:blipFill>
          <a:blip r:embed="rId3" cstate="print"/>
          <a:stretch>
            <a:fillRect/>
          </a:stretch>
        </p:blipFill>
        <p:spPr>
          <a:xfrm>
            <a:off x="6012160" y="4149080"/>
            <a:ext cx="2348880" cy="1565920"/>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Convey orders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Types of special dietary needs: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Vegetarian requests</a:t>
            </a:r>
          </a:p>
          <a:p>
            <a:pPr lvl="0">
              <a:spcBef>
                <a:spcPts val="600"/>
              </a:spcBef>
              <a:spcAft>
                <a:spcPts val="1200"/>
              </a:spcAft>
            </a:pPr>
            <a:r>
              <a:rPr lang="en-AU" sz="2200" dirty="0" smtClean="0">
                <a:latin typeface="Helvetica" pitchFamily="34" charset="0"/>
              </a:rPr>
              <a:t>Lacto-ova vegetarians/Ova-lacto vegetarians</a:t>
            </a:r>
          </a:p>
          <a:p>
            <a:pPr lvl="0">
              <a:spcBef>
                <a:spcPts val="600"/>
              </a:spcBef>
              <a:spcAft>
                <a:spcPts val="1200"/>
              </a:spcAft>
            </a:pPr>
            <a:r>
              <a:rPr lang="en-AU" sz="2200" dirty="0" smtClean="0">
                <a:latin typeface="Helvetica" pitchFamily="34" charset="0"/>
              </a:rPr>
              <a:t>Lacto-vegetarians</a:t>
            </a:r>
          </a:p>
          <a:p>
            <a:pPr lvl="0">
              <a:spcBef>
                <a:spcPts val="600"/>
              </a:spcBef>
              <a:spcAft>
                <a:spcPts val="1200"/>
              </a:spcAft>
            </a:pPr>
            <a:r>
              <a:rPr lang="en-AU" sz="2200" dirty="0" smtClean="0">
                <a:latin typeface="Helvetica" pitchFamily="34" charset="0"/>
              </a:rPr>
              <a:t>Pescatarians</a:t>
            </a:r>
          </a:p>
          <a:p>
            <a:pPr lvl="0">
              <a:spcBef>
                <a:spcPts val="600"/>
              </a:spcBef>
              <a:spcAft>
                <a:spcPts val="1200"/>
              </a:spcAft>
            </a:pPr>
            <a:r>
              <a:rPr lang="en-AU" sz="2200" dirty="0" smtClean="0">
                <a:latin typeface="Helvetica" pitchFamily="34" charset="0"/>
              </a:rPr>
              <a:t>Vegan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6" name="Picture 5" descr="http://www.tinkersgardens.com/wp-content/uploads/2011/08/Veggies.jpg"/>
          <p:cNvPicPr/>
          <p:nvPr/>
        </p:nvPicPr>
        <p:blipFill>
          <a:blip r:embed="rId3" cstate="print"/>
          <a:srcRect/>
          <a:stretch>
            <a:fillRect/>
          </a:stretch>
        </p:blipFill>
        <p:spPr bwMode="auto">
          <a:xfrm>
            <a:off x="5508104" y="3573016"/>
            <a:ext cx="2854895" cy="201419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Convey orders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Types of special dietary needs: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Requests for low-salt meals</a:t>
            </a:r>
          </a:p>
          <a:p>
            <a:pPr lvl="0">
              <a:spcBef>
                <a:spcPts val="600"/>
              </a:spcBef>
              <a:spcAft>
                <a:spcPts val="1200"/>
              </a:spcAft>
            </a:pPr>
            <a:r>
              <a:rPr lang="en-AU" sz="2200" dirty="0" smtClean="0">
                <a:latin typeface="Helvetica" pitchFamily="34" charset="0"/>
              </a:rPr>
              <a:t>Requests for low-sugar or no sugar meals</a:t>
            </a:r>
          </a:p>
          <a:p>
            <a:pPr lvl="0">
              <a:spcBef>
                <a:spcPts val="600"/>
              </a:spcBef>
              <a:spcAft>
                <a:spcPts val="1200"/>
              </a:spcAft>
            </a:pPr>
            <a:r>
              <a:rPr lang="en-AU" sz="2200" dirty="0" smtClean="0">
                <a:latin typeface="Helvetica" pitchFamily="34" charset="0"/>
              </a:rPr>
              <a:t>Requests for lactose-reduced milk</a:t>
            </a:r>
          </a:p>
          <a:p>
            <a:pPr lvl="0">
              <a:spcBef>
                <a:spcPts val="600"/>
              </a:spcBef>
              <a:spcAft>
                <a:spcPts val="1200"/>
              </a:spcAft>
            </a:pPr>
            <a:r>
              <a:rPr lang="en-AU" sz="2200" dirty="0" smtClean="0">
                <a:latin typeface="Helvetica" pitchFamily="34" charset="0"/>
              </a:rPr>
              <a:t>Requests for gluten-free food</a:t>
            </a:r>
          </a:p>
          <a:p>
            <a:pPr>
              <a:spcBef>
                <a:spcPts val="600"/>
              </a:spcBef>
              <a:spcAft>
                <a:spcPts val="1200"/>
              </a:spcAft>
            </a:pPr>
            <a:r>
              <a:rPr lang="en-AU" sz="2200" dirty="0" smtClean="0">
                <a:latin typeface="Helvetica" pitchFamily="34" charset="0"/>
              </a:rPr>
              <a:t>Requests for a macrobiotic diet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5" name="Picture 5" descr="Composite2"/>
          <p:cNvPicPr>
            <a:picLocks noChangeAspect="1" noChangeArrowheads="1"/>
          </p:cNvPicPr>
          <p:nvPr/>
        </p:nvPicPr>
        <p:blipFill>
          <a:blip r:embed="rId3" cstate="print"/>
          <a:srcRect/>
          <a:stretch>
            <a:fillRect/>
          </a:stretch>
        </p:blipFill>
        <p:spPr bwMode="auto">
          <a:xfrm>
            <a:off x="5436096" y="2852936"/>
            <a:ext cx="2886919" cy="2174728"/>
          </a:xfrm>
          <a:prstGeom prst="rect">
            <a:avLst/>
          </a:prstGeom>
          <a:noFill/>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Give customers advice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Answer customer questions:</a:t>
            </a:r>
            <a:endParaRPr lang="en-US" altLang="zh-CN" sz="2200" dirty="0" smtClean="0">
              <a:latin typeface="Helvetica" pitchFamily="34" charset="0"/>
              <a:ea typeface="宋体" pitchFamily="2" charset="-122"/>
            </a:endParaRPr>
          </a:p>
          <a:p>
            <a:pPr marL="342900" indent="-342900">
              <a:spcBef>
                <a:spcPts val="600"/>
              </a:spcBef>
              <a:spcAft>
                <a:spcPts val="1200"/>
              </a:spcAft>
            </a:pPr>
            <a:r>
              <a:rPr lang="en-US" altLang="zh-CN" sz="2200" dirty="0" smtClean="0">
                <a:latin typeface="Helvetica" pitchFamily="34" charset="0"/>
                <a:ea typeface="宋体" pitchFamily="2" charset="-122"/>
              </a:rPr>
              <a:t>Dish ingredients</a:t>
            </a:r>
          </a:p>
          <a:p>
            <a:pPr marL="342900" indent="-342900">
              <a:spcBef>
                <a:spcPts val="600"/>
              </a:spcBef>
              <a:spcAft>
                <a:spcPts val="1200"/>
              </a:spcAft>
            </a:pPr>
            <a:r>
              <a:rPr lang="en-US" altLang="zh-CN" sz="2200" dirty="0" smtClean="0">
                <a:latin typeface="Helvetica" pitchFamily="34" charset="0"/>
                <a:ea typeface="宋体" pitchFamily="2" charset="-122"/>
              </a:rPr>
              <a:t>Cooking/preparation time</a:t>
            </a:r>
          </a:p>
          <a:p>
            <a:pPr marL="342900" indent="-342900">
              <a:spcBef>
                <a:spcPts val="600"/>
              </a:spcBef>
              <a:spcAft>
                <a:spcPts val="1200"/>
              </a:spcAft>
            </a:pPr>
            <a:r>
              <a:rPr lang="en-US" altLang="zh-CN" sz="2200" dirty="0" smtClean="0">
                <a:latin typeface="Helvetica" pitchFamily="34" charset="0"/>
                <a:ea typeface="宋体" pitchFamily="2" charset="-122"/>
              </a:rPr>
              <a:t>MSG and flavourings</a:t>
            </a:r>
          </a:p>
          <a:p>
            <a:pPr marL="342900" indent="-342900">
              <a:spcBef>
                <a:spcPts val="600"/>
              </a:spcBef>
              <a:spcAft>
                <a:spcPts val="1200"/>
              </a:spcAft>
            </a:pPr>
            <a:r>
              <a:rPr lang="en-US" altLang="zh-CN" sz="2200" dirty="0" smtClean="0">
                <a:latin typeface="Helvetica" pitchFamily="34" charset="0"/>
                <a:ea typeface="宋体" pitchFamily="2" charset="-122"/>
              </a:rPr>
              <a:t>Serving sizes</a:t>
            </a:r>
          </a:p>
          <a:p>
            <a:pPr marL="342900" indent="-342900">
              <a:spcBef>
                <a:spcPts val="600"/>
              </a:spcBef>
              <a:spcAft>
                <a:spcPts val="1200"/>
              </a:spcAft>
            </a:pPr>
            <a:r>
              <a:rPr lang="en-US" altLang="zh-CN" sz="2200" dirty="0" smtClean="0">
                <a:latin typeface="Helvetica" pitchFamily="34" charset="0"/>
                <a:ea typeface="宋体" pitchFamily="2" charset="-122"/>
              </a:rPr>
              <a:t>Freshness of ingredients (seafood)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6" name="Picture 5" descr="MP900433159[1].JPG"/>
          <p:cNvPicPr/>
          <p:nvPr/>
        </p:nvPicPr>
        <p:blipFill>
          <a:blip r:embed="rId3" cstate="print"/>
          <a:stretch>
            <a:fillRect/>
          </a:stretch>
        </p:blipFill>
        <p:spPr>
          <a:xfrm>
            <a:off x="5796136" y="3356992"/>
            <a:ext cx="2424931" cy="1636390"/>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Give customers advice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Answer customer questions:</a:t>
            </a:r>
            <a:endParaRPr lang="en-US" altLang="zh-CN" sz="2200" dirty="0" smtClean="0">
              <a:latin typeface="Helvetica" pitchFamily="34" charset="0"/>
              <a:ea typeface="宋体" pitchFamily="2" charset="-122"/>
            </a:endParaRPr>
          </a:p>
          <a:p>
            <a:pPr marL="342900" indent="-342900">
              <a:spcBef>
                <a:spcPts val="600"/>
              </a:spcBef>
              <a:spcAft>
                <a:spcPts val="1200"/>
              </a:spcAft>
            </a:pPr>
            <a:r>
              <a:rPr lang="en-US" altLang="zh-CN" sz="2200" dirty="0" smtClean="0">
                <a:latin typeface="Helvetica" pitchFamily="34" charset="0"/>
                <a:ea typeface="宋体" pitchFamily="2" charset="-122"/>
              </a:rPr>
              <a:t>Cooking styles</a:t>
            </a:r>
          </a:p>
          <a:p>
            <a:pPr marL="342900" indent="-342900">
              <a:spcBef>
                <a:spcPts val="600"/>
              </a:spcBef>
              <a:spcAft>
                <a:spcPts val="1200"/>
              </a:spcAft>
            </a:pPr>
            <a:r>
              <a:rPr lang="en-US" altLang="zh-CN" sz="2200" dirty="0" smtClean="0">
                <a:latin typeface="Helvetica" pitchFamily="34" charset="0"/>
                <a:ea typeface="宋体" pitchFamily="2" charset="-122"/>
              </a:rPr>
              <a:t>Meat or meat stocks</a:t>
            </a:r>
          </a:p>
          <a:p>
            <a:pPr marL="342900" indent="-342900">
              <a:spcBef>
                <a:spcPts val="600"/>
              </a:spcBef>
              <a:spcAft>
                <a:spcPts val="1200"/>
              </a:spcAft>
            </a:pPr>
            <a:r>
              <a:rPr lang="en-US" altLang="zh-CN" sz="2200" dirty="0" smtClean="0">
                <a:latin typeface="Helvetica" pitchFamily="34" charset="0"/>
                <a:ea typeface="宋体" pitchFamily="2" charset="-122"/>
              </a:rPr>
              <a:t>Menu and cookery terminology</a:t>
            </a:r>
          </a:p>
          <a:p>
            <a:pPr marL="342900" indent="-342900">
              <a:spcBef>
                <a:spcPts val="600"/>
              </a:spcBef>
              <a:spcAft>
                <a:spcPts val="1200"/>
              </a:spcAft>
            </a:pPr>
            <a:r>
              <a:rPr lang="en-US" altLang="zh-CN" sz="2200" dirty="0" smtClean="0">
                <a:latin typeface="Helvetica" pitchFamily="34" charset="0"/>
                <a:ea typeface="宋体" pitchFamily="2" charset="-122"/>
              </a:rPr>
              <a:t>Side dishes</a:t>
            </a:r>
          </a:p>
          <a:p>
            <a:pPr marL="342900" indent="-342900">
              <a:spcBef>
                <a:spcPts val="600"/>
              </a:spcBef>
              <a:spcAft>
                <a:spcPts val="1200"/>
              </a:spcAft>
            </a:pPr>
            <a:r>
              <a:rPr lang="en-US" altLang="zh-CN" sz="2200" dirty="0" smtClean="0">
                <a:latin typeface="Helvetica" pitchFamily="34" charset="0"/>
                <a:ea typeface="宋体" pitchFamily="2" charset="-122"/>
              </a:rPr>
              <a:t>Calorie/fat content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8" name="Picture 7" descr="MP900438778[1].JPG"/>
          <p:cNvPicPr>
            <a:picLocks noChangeAspect="1"/>
          </p:cNvPicPr>
          <p:nvPr/>
        </p:nvPicPr>
        <p:blipFill>
          <a:blip r:embed="rId3" cstate="print"/>
          <a:stretch>
            <a:fillRect/>
          </a:stretch>
        </p:blipFill>
        <p:spPr>
          <a:xfrm>
            <a:off x="5436096" y="3212976"/>
            <a:ext cx="2806909" cy="1872208"/>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Optimise sales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Sale of additional items: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Side salads, vegetables or French fries</a:t>
            </a:r>
          </a:p>
          <a:p>
            <a:pPr>
              <a:spcBef>
                <a:spcPts val="600"/>
              </a:spcBef>
              <a:spcAft>
                <a:spcPts val="1200"/>
              </a:spcAft>
            </a:pPr>
            <a:r>
              <a:rPr lang="en-AU" sz="2200" dirty="0" smtClean="0">
                <a:latin typeface="Helvetica" pitchFamily="34" charset="0"/>
              </a:rPr>
              <a:t>Starch foods like wedges, fries, rice or other potato formats</a:t>
            </a:r>
          </a:p>
          <a:p>
            <a:pPr>
              <a:spcBef>
                <a:spcPts val="600"/>
              </a:spcBef>
              <a:spcAft>
                <a:spcPts val="1200"/>
              </a:spcAft>
            </a:pPr>
            <a:r>
              <a:rPr lang="en-AU" sz="2200" dirty="0" smtClean="0">
                <a:latin typeface="Helvetica" pitchFamily="34" charset="0"/>
              </a:rPr>
              <a:t>Beverages to compliment meals</a:t>
            </a:r>
          </a:p>
          <a:p>
            <a:pPr>
              <a:spcBef>
                <a:spcPts val="600"/>
              </a:spcBef>
              <a:spcAft>
                <a:spcPts val="1200"/>
              </a:spcAft>
            </a:pPr>
            <a:r>
              <a:rPr lang="en-AU" sz="2200" dirty="0" smtClean="0">
                <a:latin typeface="Helvetica" pitchFamily="34" charset="0"/>
              </a:rPr>
              <a:t>Additional sauces or condiments</a:t>
            </a:r>
          </a:p>
          <a:p>
            <a:pPr>
              <a:spcBef>
                <a:spcPts val="600"/>
              </a:spcBef>
              <a:spcAft>
                <a:spcPts val="1200"/>
              </a:spcAft>
            </a:pPr>
            <a:r>
              <a:rPr lang="en-AU" sz="2200" dirty="0" smtClean="0">
                <a:latin typeface="Helvetica" pitchFamily="34" charset="0"/>
              </a:rPr>
              <a:t>Desserts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6" name="Picture 5" descr="MP900427691[1].JPG"/>
          <p:cNvPicPr/>
          <p:nvPr/>
        </p:nvPicPr>
        <p:blipFill>
          <a:blip r:embed="rId3" cstate="print"/>
          <a:stretch>
            <a:fillRect/>
          </a:stretch>
        </p:blipFill>
        <p:spPr>
          <a:xfrm>
            <a:off x="5724128" y="3140968"/>
            <a:ext cx="2521818" cy="1895649"/>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Optimise sales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buNone/>
            </a:pPr>
            <a:r>
              <a:rPr lang="en-AU" sz="2200" b="1" dirty="0" smtClean="0">
                <a:latin typeface="Helvetica" pitchFamily="34" charset="0"/>
              </a:rPr>
              <a:t>Other methods to optimise sales: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Upsizing/upgrading meals</a:t>
            </a:r>
          </a:p>
          <a:p>
            <a:pPr>
              <a:spcBef>
                <a:spcPts val="600"/>
              </a:spcBef>
              <a:spcAft>
                <a:spcPts val="1200"/>
              </a:spcAft>
            </a:pPr>
            <a:r>
              <a:rPr lang="en-AU" sz="2200" dirty="0" smtClean="0">
                <a:latin typeface="Helvetica" pitchFamily="34" charset="0"/>
              </a:rPr>
              <a:t>Package meal deals</a:t>
            </a:r>
          </a:p>
          <a:p>
            <a:pPr>
              <a:spcBef>
                <a:spcPts val="600"/>
              </a:spcBef>
              <a:spcAft>
                <a:spcPts val="1200"/>
              </a:spcAft>
            </a:pPr>
            <a:r>
              <a:rPr lang="en-AU" sz="2200" dirty="0" smtClean="0">
                <a:latin typeface="Helvetica" pitchFamily="34" charset="0"/>
              </a:rPr>
              <a:t>Suggestive selling</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7" name="Picture 6" descr="MP900422247[1].JPG"/>
          <p:cNvPicPr>
            <a:picLocks noChangeAspect="1"/>
          </p:cNvPicPr>
          <p:nvPr/>
        </p:nvPicPr>
        <p:blipFill>
          <a:blip r:embed="rId3" cstate="print"/>
          <a:stretch>
            <a:fillRect/>
          </a:stretch>
        </p:blipFill>
        <p:spPr>
          <a:xfrm>
            <a:off x="6520787" y="2564904"/>
            <a:ext cx="1867637" cy="2808312"/>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7" name="Picture 6" descr="IMG_2114.jpg"/>
          <p:cNvPicPr>
            <a:picLocks noChangeAspect="1"/>
          </p:cNvPicPr>
          <p:nvPr/>
        </p:nvPicPr>
        <p:blipFill>
          <a:blip r:embed="rId3" cstate="print"/>
          <a:stretch>
            <a:fillRect/>
          </a:stretch>
        </p:blipFill>
        <p:spPr>
          <a:xfrm>
            <a:off x="2699792" y="2996952"/>
            <a:ext cx="2939819" cy="2204864"/>
          </a:xfrm>
          <a:prstGeom prst="rect">
            <a:avLst/>
          </a:prstGeom>
        </p:spPr>
      </p:pic>
      <p:grpSp>
        <p:nvGrpSpPr>
          <p:cNvPr id="5" name="Group 4"/>
          <p:cNvGrpSpPr/>
          <p:nvPr/>
        </p:nvGrpSpPr>
        <p:grpSpPr>
          <a:xfrm>
            <a:off x="467544" y="1988840"/>
            <a:ext cx="8352928" cy="665163"/>
            <a:chOff x="1752600" y="2057400"/>
            <a:chExt cx="7920880" cy="665163"/>
          </a:xfrm>
        </p:grpSpPr>
        <p:grpSp>
          <p:nvGrpSpPr>
            <p:cNvPr id="6" name="Group 4"/>
            <p:cNvGrpSpPr>
              <a:grpSpLocks/>
            </p:cNvGrpSpPr>
            <p:nvPr/>
          </p:nvGrpSpPr>
          <p:grpSpPr bwMode="auto">
            <a:xfrm>
              <a:off x="1752600" y="2057400"/>
              <a:ext cx="762000" cy="665163"/>
              <a:chOff x="1110" y="2656"/>
              <a:chExt cx="1549" cy="1351"/>
            </a:xfrm>
          </p:grpSpPr>
          <p:sp>
            <p:nvSpPr>
              <p:cNvPr id="11"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12"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13" name="AutoShape 7"/>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8" name="Line 8"/>
            <p:cNvSpPr>
              <a:spLocks noChangeShapeType="1"/>
            </p:cNvSpPr>
            <p:nvPr/>
          </p:nvSpPr>
          <p:spPr bwMode="auto">
            <a:xfrm>
              <a:off x="2362200" y="2667000"/>
              <a:ext cx="7020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9" name="Text Box 9"/>
            <p:cNvSpPr txBox="1">
              <a:spLocks noChangeArrowheads="1"/>
            </p:cNvSpPr>
            <p:nvPr/>
          </p:nvSpPr>
          <p:spPr bwMode="auto">
            <a:xfrm>
              <a:off x="2544688" y="2171799"/>
              <a:ext cx="7128792" cy="461665"/>
            </a:xfrm>
            <a:prstGeom prst="rect">
              <a:avLst/>
            </a:prstGeom>
            <a:noFill/>
            <a:ln w="9525" algn="ctr">
              <a:noFill/>
              <a:miter lim="800000"/>
              <a:headEnd/>
              <a:tailEnd/>
            </a:ln>
          </p:spPr>
          <p:txBody>
            <a:bodyPr wrap="square">
              <a:spAutoFit/>
            </a:bodyPr>
            <a:lstStyle/>
            <a:p>
              <a:pPr lvl="0"/>
              <a:r>
                <a:rPr lang="en-AU" sz="2400" b="1" dirty="0" smtClean="0">
                  <a:solidFill>
                    <a:srgbClr val="FF6600"/>
                  </a:solidFill>
                  <a:latin typeface="Helvetica" pitchFamily="34" charset="0"/>
                </a:rPr>
                <a:t>Prepare and pack take away food and beverages</a:t>
              </a:r>
            </a:p>
          </p:txBody>
        </p:sp>
        <p:sp>
          <p:nvSpPr>
            <p:cNvPr id="10" name="Text Box 10"/>
            <p:cNvSpPr txBox="1">
              <a:spLocks noChangeArrowheads="1"/>
            </p:cNvSpPr>
            <p:nvPr/>
          </p:nvSpPr>
          <p:spPr bwMode="gray">
            <a:xfrm>
              <a:off x="1957575" y="2155825"/>
              <a:ext cx="337764" cy="461665"/>
            </a:xfrm>
            <a:prstGeom prst="rect">
              <a:avLst/>
            </a:prstGeom>
            <a:noFill/>
            <a:ln w="9525" algn="ctr">
              <a:noFill/>
              <a:miter lim="800000"/>
              <a:headEnd/>
              <a:tailEnd/>
            </a:ln>
          </p:spPr>
          <p:txBody>
            <a:bodyPr wrap="none">
              <a:spAutoFit/>
            </a:bodyPr>
            <a:lstStyle/>
            <a:p>
              <a:pPr algn="ctr" eaLnBrk="0" hangingPunct="0"/>
              <a:r>
                <a:rPr lang="en-AU" sz="2400" b="1" dirty="0" smtClean="0">
                  <a:solidFill>
                    <a:schemeClr val="bg1"/>
                  </a:solidFill>
                  <a:latin typeface="Helvetica" pitchFamily="34" charset="0"/>
                </a:rPr>
                <a:t>3</a:t>
              </a:r>
              <a:endParaRPr lang="en-AU" sz="2400" b="1" dirty="0">
                <a:solidFill>
                  <a:schemeClr val="bg1"/>
                </a:solidFill>
                <a:latin typeface="Helvetica" pitchFamily="34" charset="0"/>
              </a:endParaRPr>
            </a:p>
          </p:txBody>
        </p:sp>
      </p:gr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lvl="0"/>
            <a:r>
              <a:rPr lang="en-AU" sz="3200" b="1" dirty="0" smtClean="0">
                <a:solidFill>
                  <a:srgbClr val="FF6600"/>
                </a:solidFill>
                <a:latin typeface="Helvetica" pitchFamily="34" charset="0"/>
              </a:rPr>
              <a:t>Prepare and pack take away food and beverages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Present and pack food and beverage items in accordance with enterprise procedures and relevant health regulations</a:t>
            </a:r>
          </a:p>
          <a:p>
            <a:pPr>
              <a:spcBef>
                <a:spcPts val="600"/>
              </a:spcBef>
              <a:spcAft>
                <a:spcPts val="1200"/>
              </a:spcAft>
            </a:pPr>
            <a:r>
              <a:rPr lang="en-AU" sz="2200" dirty="0" smtClean="0">
                <a:latin typeface="Helvetica" pitchFamily="34" charset="0"/>
              </a:rPr>
              <a:t>Apply safe food handling practices in </a:t>
            </a:r>
            <a:br>
              <a:rPr lang="en-AU" sz="2200" dirty="0" smtClean="0">
                <a:latin typeface="Helvetica" pitchFamily="34" charset="0"/>
              </a:rPr>
            </a:br>
            <a:r>
              <a:rPr lang="en-AU" sz="2200" dirty="0" smtClean="0">
                <a:latin typeface="Helvetica" pitchFamily="34" charset="0"/>
              </a:rPr>
              <a:t>accordance with enterprise procedures </a:t>
            </a:r>
            <a:br>
              <a:rPr lang="en-AU" sz="2200" dirty="0" smtClean="0">
                <a:latin typeface="Helvetica" pitchFamily="34" charset="0"/>
              </a:rPr>
            </a:br>
            <a:r>
              <a:rPr lang="en-AU" sz="2200" dirty="0" smtClean="0">
                <a:latin typeface="Helvetica" pitchFamily="34" charset="0"/>
              </a:rPr>
              <a:t>and relevant health regulations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8" name="Picture 7" descr="IMG_2100.jpg"/>
          <p:cNvPicPr>
            <a:picLocks noChangeAspect="1"/>
          </p:cNvPicPr>
          <p:nvPr/>
        </p:nvPicPr>
        <p:blipFill>
          <a:blip r:embed="rId3" cstate="print"/>
          <a:stretch>
            <a:fillRect/>
          </a:stretch>
        </p:blipFill>
        <p:spPr>
          <a:xfrm>
            <a:off x="6084168" y="3933056"/>
            <a:ext cx="2377435" cy="1783076"/>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lvl="0"/>
            <a:r>
              <a:rPr lang="en-AU" sz="3200" b="1" dirty="0" smtClean="0">
                <a:solidFill>
                  <a:srgbClr val="FF6600"/>
                </a:solidFill>
                <a:latin typeface="Helvetica" pitchFamily="34" charset="0"/>
              </a:rPr>
              <a:t>Prepare and pack take away food and beverages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Dispose of spoiled products in accordance with enterprise procedures and relevant health regulations</a:t>
            </a:r>
          </a:p>
          <a:p>
            <a:pPr>
              <a:spcBef>
                <a:spcPts val="600"/>
              </a:spcBef>
              <a:spcAft>
                <a:spcPts val="1200"/>
              </a:spcAft>
            </a:pPr>
            <a:r>
              <a:rPr lang="en-AU" sz="2200" dirty="0" smtClean="0">
                <a:latin typeface="Helvetica" pitchFamily="34" charset="0"/>
              </a:rPr>
              <a:t>Comply with correct food handling and food safety procedures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5" name="Picture 4" descr="IMG_2082.jpg"/>
          <p:cNvPicPr>
            <a:picLocks noChangeAspect="1"/>
          </p:cNvPicPr>
          <p:nvPr/>
        </p:nvPicPr>
        <p:blipFill>
          <a:blip r:embed="rId3" cstate="print"/>
          <a:stretch>
            <a:fillRect/>
          </a:stretch>
        </p:blipFill>
        <p:spPr>
          <a:xfrm>
            <a:off x="5940152" y="3717032"/>
            <a:ext cx="2433420" cy="1825065"/>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Take away food</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marL="0">
              <a:buNone/>
            </a:pPr>
            <a:r>
              <a:rPr lang="en-AU" sz="2200" dirty="0" smtClean="0">
                <a:latin typeface="Helvetica" pitchFamily="34" charset="0"/>
              </a:rPr>
              <a:t>‘Take-away’ service in simple terms is food and beverage that has been prepared for customers that will be transported to an outside location for consumption.</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6" name="Picture 5" descr="IMG_2120.jpg"/>
          <p:cNvPicPr>
            <a:picLocks noChangeAspect="1"/>
          </p:cNvPicPr>
          <p:nvPr/>
        </p:nvPicPr>
        <p:blipFill>
          <a:blip r:embed="rId3" cstate="print"/>
          <a:srcRect t="9197" r="3433"/>
          <a:stretch>
            <a:fillRect/>
          </a:stretch>
        </p:blipFill>
        <p:spPr>
          <a:xfrm>
            <a:off x="2483768" y="2708920"/>
            <a:ext cx="2664296" cy="1878945"/>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Challenges of take away service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marL="0">
              <a:spcBef>
                <a:spcPts val="600"/>
              </a:spcBef>
              <a:spcAft>
                <a:spcPts val="1200"/>
              </a:spcAft>
              <a:buNone/>
            </a:pPr>
            <a:r>
              <a:rPr lang="en-US" sz="2200" dirty="0" smtClean="0">
                <a:latin typeface="Helvetica" pitchFamily="34" charset="0"/>
              </a:rPr>
              <a:t>Take away service is different to eat-in customers which poses challenges that must be successfully negotiated by outlet staff:</a:t>
            </a:r>
          </a:p>
          <a:p>
            <a:pPr>
              <a:spcBef>
                <a:spcPts val="600"/>
              </a:spcBef>
              <a:spcAft>
                <a:spcPts val="1200"/>
              </a:spcAft>
            </a:pPr>
            <a:r>
              <a:rPr lang="en-US" sz="2200" dirty="0" smtClean="0">
                <a:latin typeface="Helvetica" pitchFamily="34" charset="0"/>
              </a:rPr>
              <a:t>What makes serving take away items harder?</a:t>
            </a:r>
          </a:p>
          <a:p>
            <a:pPr>
              <a:spcBef>
                <a:spcPts val="600"/>
              </a:spcBef>
              <a:spcAft>
                <a:spcPts val="1200"/>
              </a:spcAft>
            </a:pPr>
            <a:r>
              <a:rPr lang="en-US" sz="2200" dirty="0" smtClean="0">
                <a:latin typeface="Helvetica" pitchFamily="34" charset="0"/>
              </a:rPr>
              <a:t>What needs to be considered?</a:t>
            </a: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6" name="Picture 5" descr="MP900422247[1].JPG"/>
          <p:cNvPicPr/>
          <p:nvPr/>
        </p:nvPicPr>
        <p:blipFill>
          <a:blip r:embed="rId3" cstate="print"/>
          <a:stretch>
            <a:fillRect/>
          </a:stretch>
        </p:blipFill>
        <p:spPr>
          <a:xfrm>
            <a:off x="6588224" y="3501008"/>
            <a:ext cx="1757164" cy="1997199"/>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Challenges of take away service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buNone/>
            </a:pPr>
            <a:r>
              <a:rPr lang="en-AU" sz="2200" b="1" dirty="0" smtClean="0">
                <a:latin typeface="Helvetica" pitchFamily="34" charset="0"/>
              </a:rPr>
              <a:t>Challenges:</a:t>
            </a:r>
          </a:p>
          <a:p>
            <a:pPr marL="342900" indent="-342900">
              <a:spcBef>
                <a:spcPts val="600"/>
              </a:spcBef>
              <a:spcAft>
                <a:spcPts val="1200"/>
              </a:spcAft>
              <a:defRPr/>
            </a:pPr>
            <a:r>
              <a:rPr lang="en-US" sz="2200" dirty="0" smtClean="0">
                <a:latin typeface="Helvetica" pitchFamily="34" charset="0"/>
              </a:rPr>
              <a:t>Food and beverage is </a:t>
            </a:r>
            <a:r>
              <a:rPr lang="en-US" sz="2200" u="sng" dirty="0" smtClean="0">
                <a:latin typeface="Helvetica" pitchFamily="34" charset="0"/>
              </a:rPr>
              <a:t>prepared in its desired state</a:t>
            </a:r>
          </a:p>
          <a:p>
            <a:pPr marL="342900" indent="-342900">
              <a:spcBef>
                <a:spcPts val="600"/>
              </a:spcBef>
              <a:spcAft>
                <a:spcPts val="1200"/>
              </a:spcAft>
              <a:defRPr/>
            </a:pPr>
            <a:r>
              <a:rPr lang="en-US" sz="2200" dirty="0" smtClean="0">
                <a:latin typeface="Helvetica" pitchFamily="34" charset="0"/>
              </a:rPr>
              <a:t>Food and beverage can be </a:t>
            </a:r>
            <a:r>
              <a:rPr lang="en-US" sz="2200" u="sng" dirty="0" smtClean="0">
                <a:latin typeface="Helvetica" pitchFamily="34" charset="0"/>
              </a:rPr>
              <a:t>transported</a:t>
            </a:r>
            <a:r>
              <a:rPr lang="en-US" sz="2200" dirty="0" smtClean="0">
                <a:latin typeface="Helvetica" pitchFamily="34" charset="0"/>
              </a:rPr>
              <a:t> to another location easily</a:t>
            </a:r>
          </a:p>
          <a:p>
            <a:pPr marL="342900" indent="-342900">
              <a:spcBef>
                <a:spcPts val="600"/>
              </a:spcBef>
              <a:spcAft>
                <a:spcPts val="1200"/>
              </a:spcAft>
              <a:defRPr/>
            </a:pPr>
            <a:r>
              <a:rPr lang="en-US" sz="2200" dirty="0" smtClean="0">
                <a:latin typeface="Helvetica" pitchFamily="34" charset="0"/>
              </a:rPr>
              <a:t>Food and beverage </a:t>
            </a:r>
            <a:r>
              <a:rPr lang="en-US" sz="2200" u="sng" dirty="0" smtClean="0">
                <a:latin typeface="Helvetica" pitchFamily="34" charset="0"/>
              </a:rPr>
              <a:t>can maintain its quality</a:t>
            </a:r>
            <a:r>
              <a:rPr lang="en-US" sz="2200" dirty="0" smtClean="0">
                <a:latin typeface="Helvetica" pitchFamily="34" charset="0"/>
              </a:rPr>
              <a:t> during transportation, within a suitable time frame</a:t>
            </a:r>
          </a:p>
          <a:p>
            <a:pPr marL="342900" indent="-342900">
              <a:spcBef>
                <a:spcPts val="600"/>
              </a:spcBef>
              <a:spcAft>
                <a:spcPts val="1200"/>
              </a:spcAft>
              <a:defRPr/>
            </a:pPr>
            <a:r>
              <a:rPr lang="en-US" sz="2200" dirty="0" smtClean="0">
                <a:latin typeface="Helvetica" pitchFamily="34" charset="0"/>
              </a:rPr>
              <a:t>Customers have </a:t>
            </a:r>
            <a:r>
              <a:rPr lang="en-US" sz="2200" u="sng" dirty="0" smtClean="0">
                <a:latin typeface="Helvetica" pitchFamily="34" charset="0"/>
              </a:rPr>
              <a:t>all the necessary items</a:t>
            </a:r>
            <a:r>
              <a:rPr lang="en-US" sz="2200" dirty="0" smtClean="0">
                <a:latin typeface="Helvetica" pitchFamily="34" charset="0"/>
              </a:rPr>
              <a:t>                           required to enjoy the meal</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5" name="Picture 4" descr="IMG_2067.jpg"/>
          <p:cNvPicPr>
            <a:picLocks noChangeAspect="1"/>
          </p:cNvPicPr>
          <p:nvPr/>
        </p:nvPicPr>
        <p:blipFill>
          <a:blip r:embed="rId3" cstate="print"/>
          <a:stretch>
            <a:fillRect/>
          </a:stretch>
        </p:blipFill>
        <p:spPr>
          <a:xfrm>
            <a:off x="6228184" y="4077072"/>
            <a:ext cx="2171734" cy="1628800"/>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Monitoring temperature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a:spcBef>
                <a:spcPts val="600"/>
              </a:spcBef>
              <a:spcAft>
                <a:spcPts val="600"/>
              </a:spcAft>
              <a:buNone/>
            </a:pPr>
            <a:r>
              <a:rPr lang="en-US" sz="2200" b="1" dirty="0" smtClean="0">
                <a:latin typeface="Helvetica" pitchFamily="34" charset="0"/>
              </a:rPr>
              <a:t>Keeping items </a:t>
            </a:r>
            <a:r>
              <a:rPr lang="en-US" sz="2200" b="1" u="sng" dirty="0" smtClean="0">
                <a:latin typeface="Helvetica" pitchFamily="34" charset="0"/>
              </a:rPr>
              <a:t>hot</a:t>
            </a:r>
            <a:r>
              <a:rPr lang="en-US" sz="2200" b="1" dirty="0" smtClean="0">
                <a:latin typeface="Helvetica" pitchFamily="34" charset="0"/>
              </a:rPr>
              <a:t> during display</a:t>
            </a:r>
          </a:p>
          <a:p>
            <a:pPr marL="0">
              <a:spcBef>
                <a:spcPts val="600"/>
              </a:spcBef>
              <a:spcAft>
                <a:spcPts val="600"/>
              </a:spcAft>
              <a:buNone/>
            </a:pPr>
            <a:r>
              <a:rPr lang="en-US" sz="2200" u="sng" dirty="0" smtClean="0">
                <a:latin typeface="Helvetica" pitchFamily="34" charset="0"/>
              </a:rPr>
              <a:t>Hot food</a:t>
            </a:r>
            <a:r>
              <a:rPr lang="en-US" sz="2200" dirty="0" smtClean="0">
                <a:latin typeface="Helvetica" pitchFamily="34" charset="0"/>
              </a:rPr>
              <a:t> must be kept above 60 degrees celsius through use of:</a:t>
            </a:r>
            <a:endParaRPr lang="en-AU" sz="2200" dirty="0" smtClean="0">
              <a:latin typeface="Helvetica" pitchFamily="34" charset="0"/>
            </a:endParaRPr>
          </a:p>
          <a:p>
            <a:pPr marL="342900" indent="-342900">
              <a:spcBef>
                <a:spcPts val="600"/>
              </a:spcBef>
              <a:spcAft>
                <a:spcPts val="600"/>
              </a:spcAft>
              <a:defRPr/>
            </a:pPr>
            <a:r>
              <a:rPr lang="en-US" sz="2200" dirty="0" smtClean="0">
                <a:latin typeface="Helvetica" pitchFamily="34" charset="0"/>
              </a:rPr>
              <a:t>Hot boxes</a:t>
            </a:r>
          </a:p>
          <a:p>
            <a:pPr marL="342900" indent="-342900">
              <a:spcBef>
                <a:spcPts val="600"/>
              </a:spcBef>
              <a:spcAft>
                <a:spcPts val="600"/>
              </a:spcAft>
              <a:defRPr/>
            </a:pPr>
            <a:r>
              <a:rPr lang="en-US" sz="2200" dirty="0" smtClean="0">
                <a:latin typeface="Helvetica" pitchFamily="34" charset="0"/>
              </a:rPr>
              <a:t>Bain-maries</a:t>
            </a:r>
          </a:p>
          <a:p>
            <a:pPr marL="342900" indent="-342900">
              <a:spcBef>
                <a:spcPts val="600"/>
              </a:spcBef>
              <a:spcAft>
                <a:spcPts val="600"/>
              </a:spcAft>
              <a:defRPr/>
            </a:pPr>
            <a:r>
              <a:rPr lang="en-US" sz="2200" dirty="0" smtClean="0">
                <a:latin typeface="Helvetica" pitchFamily="34" charset="0"/>
              </a:rPr>
              <a:t>Pots and pans</a:t>
            </a:r>
          </a:p>
          <a:p>
            <a:pPr marL="342900" indent="-342900">
              <a:spcBef>
                <a:spcPts val="600"/>
              </a:spcBef>
              <a:spcAft>
                <a:spcPts val="600"/>
              </a:spcAft>
              <a:defRPr/>
            </a:pPr>
            <a:r>
              <a:rPr lang="en-US" sz="2200" dirty="0" smtClean="0">
                <a:latin typeface="Helvetica" pitchFamily="34" charset="0"/>
              </a:rPr>
              <a:t>Heat lamps</a:t>
            </a:r>
          </a:p>
          <a:p>
            <a:pPr marL="342900" indent="-342900">
              <a:spcBef>
                <a:spcPts val="600"/>
              </a:spcBef>
              <a:spcAft>
                <a:spcPts val="600"/>
              </a:spcAft>
              <a:defRPr/>
            </a:pPr>
            <a:r>
              <a:rPr lang="en-US" sz="2200" dirty="0" smtClean="0">
                <a:latin typeface="Helvetica" pitchFamily="34" charset="0"/>
              </a:rPr>
              <a:t>Hot plates</a:t>
            </a:r>
          </a:p>
          <a:p>
            <a:pPr marL="342900" indent="-342900">
              <a:spcBef>
                <a:spcPts val="600"/>
              </a:spcBef>
              <a:spcAft>
                <a:spcPts val="600"/>
              </a:spcAft>
              <a:defRPr/>
            </a:pPr>
            <a:r>
              <a:rPr lang="en-US" sz="2200" dirty="0" smtClean="0">
                <a:latin typeface="Helvetica" pitchFamily="34" charset="0"/>
              </a:rPr>
              <a:t>Steamers</a:t>
            </a:r>
          </a:p>
          <a:p>
            <a:pPr marL="342900" indent="-342900">
              <a:spcBef>
                <a:spcPts val="600"/>
              </a:spcBef>
              <a:spcAft>
                <a:spcPts val="600"/>
              </a:spcAft>
              <a:defRPr/>
            </a:pPr>
            <a:r>
              <a:rPr lang="en-US" sz="2200" dirty="0" smtClean="0">
                <a:latin typeface="Helvetica" pitchFamily="34" charset="0"/>
              </a:rPr>
              <a:t>Heated display ovens</a:t>
            </a:r>
          </a:p>
          <a:p>
            <a:pPr>
              <a:spcAft>
                <a:spcPts val="600"/>
              </a:spcAft>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6" name="Picture 5" descr="IMG_2046.jpg"/>
          <p:cNvPicPr/>
          <p:nvPr/>
        </p:nvPicPr>
        <p:blipFill>
          <a:blip r:embed="rId3" cstate="print"/>
          <a:stretch>
            <a:fillRect/>
          </a:stretch>
        </p:blipFill>
        <p:spPr>
          <a:xfrm>
            <a:off x="6372200" y="2708920"/>
            <a:ext cx="1923521" cy="2870630"/>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Monitoring temperature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a:spcBef>
                <a:spcPts val="600"/>
              </a:spcBef>
              <a:spcAft>
                <a:spcPts val="1200"/>
              </a:spcAft>
              <a:buNone/>
            </a:pPr>
            <a:r>
              <a:rPr lang="en-US" sz="2200" b="1" dirty="0" smtClean="0">
                <a:latin typeface="Helvetica" pitchFamily="34" charset="0"/>
              </a:rPr>
              <a:t>Recording temperatures</a:t>
            </a:r>
          </a:p>
          <a:p>
            <a:pPr marL="0">
              <a:spcBef>
                <a:spcPts val="600"/>
              </a:spcBef>
              <a:spcAft>
                <a:spcPts val="1200"/>
              </a:spcAft>
              <a:buNone/>
            </a:pPr>
            <a:r>
              <a:rPr lang="en-US" sz="2200" dirty="0" smtClean="0">
                <a:latin typeface="Helvetica" pitchFamily="34" charset="0"/>
              </a:rPr>
              <a:t>It is important to ensure that not only the outside of the food or beverage item is hot, but that the temperature has been retained through out the item:</a:t>
            </a:r>
          </a:p>
          <a:p>
            <a:pPr marL="342900" indent="-342900">
              <a:spcBef>
                <a:spcPts val="600"/>
              </a:spcBef>
              <a:spcAft>
                <a:spcPts val="1200"/>
              </a:spcAft>
              <a:defRPr/>
            </a:pPr>
            <a:r>
              <a:rPr lang="en-US" sz="2200" dirty="0" smtClean="0">
                <a:latin typeface="Helvetica" pitchFamily="34" charset="0"/>
              </a:rPr>
              <a:t>Reading gauges</a:t>
            </a:r>
          </a:p>
          <a:p>
            <a:pPr marL="342900" indent="-342900">
              <a:spcBef>
                <a:spcPts val="600"/>
              </a:spcBef>
              <a:spcAft>
                <a:spcPts val="1200"/>
              </a:spcAft>
              <a:defRPr/>
            </a:pPr>
            <a:r>
              <a:rPr lang="en-US" sz="2200" dirty="0" smtClean="0">
                <a:latin typeface="Helvetica" pitchFamily="34" charset="0"/>
              </a:rPr>
              <a:t>Thermometers</a:t>
            </a: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7" name="Picture 6" descr="IMG_2105.jpg"/>
          <p:cNvPicPr>
            <a:picLocks noChangeAspect="1"/>
          </p:cNvPicPr>
          <p:nvPr/>
        </p:nvPicPr>
        <p:blipFill>
          <a:blip r:embed="rId3" cstate="print"/>
          <a:stretch>
            <a:fillRect/>
          </a:stretch>
        </p:blipFill>
        <p:spPr>
          <a:xfrm>
            <a:off x="6588224" y="2996952"/>
            <a:ext cx="1761233" cy="2348310"/>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Monitoring temperature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704856" cy="5661248"/>
          </a:xfrm>
        </p:spPr>
        <p:txBody>
          <a:bodyPr>
            <a:normAutofit/>
          </a:bodyPr>
          <a:lstStyle/>
          <a:p>
            <a:pPr>
              <a:spcBef>
                <a:spcPts val="600"/>
              </a:spcBef>
              <a:spcAft>
                <a:spcPts val="1200"/>
              </a:spcAft>
              <a:buNone/>
            </a:pPr>
            <a:r>
              <a:rPr lang="en-US" sz="2200" b="1" dirty="0" smtClean="0">
                <a:latin typeface="Helvetica" pitchFamily="34" charset="0"/>
              </a:rPr>
              <a:t>Keeping items hot in transit</a:t>
            </a:r>
          </a:p>
          <a:p>
            <a:pPr marL="0">
              <a:spcBef>
                <a:spcPts val="600"/>
              </a:spcBef>
              <a:spcAft>
                <a:spcPts val="1200"/>
              </a:spcAft>
              <a:buNone/>
            </a:pPr>
            <a:r>
              <a:rPr lang="en-US" sz="2200" dirty="0" smtClean="0">
                <a:latin typeface="Helvetica" pitchFamily="34" charset="0"/>
              </a:rPr>
              <a:t>In ‘take away’ service there is a time lag between when the food or beverage is prepared and when it is presented, and ultimately consumed by the customer.</a:t>
            </a:r>
          </a:p>
          <a:p>
            <a:pPr>
              <a:spcBef>
                <a:spcPts val="600"/>
              </a:spcBef>
              <a:spcAft>
                <a:spcPts val="1200"/>
              </a:spcAft>
            </a:pPr>
            <a:r>
              <a:rPr lang="en-US" sz="2200" dirty="0" smtClean="0">
                <a:latin typeface="Helvetica" pitchFamily="34" charset="0"/>
              </a:rPr>
              <a:t>How can food remain hot in transit?</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6" name="Picture 5" descr="IMG_1993.jpg"/>
          <p:cNvPicPr/>
          <p:nvPr/>
        </p:nvPicPr>
        <p:blipFill>
          <a:blip r:embed="rId3" cstate="print"/>
          <a:stretch>
            <a:fillRect/>
          </a:stretch>
        </p:blipFill>
        <p:spPr>
          <a:xfrm>
            <a:off x="6228184" y="3645024"/>
            <a:ext cx="2190750" cy="1647825"/>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Monitoring temperature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US" sz="2200" b="1" dirty="0" smtClean="0">
                <a:latin typeface="Helvetica" pitchFamily="34" charset="0"/>
              </a:rPr>
              <a:t>Keeping items hot in transit</a:t>
            </a:r>
          </a:p>
          <a:p>
            <a:pPr marL="0">
              <a:spcBef>
                <a:spcPts val="600"/>
              </a:spcBef>
              <a:spcAft>
                <a:spcPts val="1200"/>
              </a:spcAft>
              <a:buNone/>
            </a:pPr>
            <a:r>
              <a:rPr lang="en-US" sz="2200" dirty="0" smtClean="0">
                <a:latin typeface="Helvetica" pitchFamily="34" charset="0"/>
              </a:rPr>
              <a:t>The food or beverage container must be used to maintain heat: </a:t>
            </a:r>
          </a:p>
          <a:p>
            <a:pPr marL="342900" indent="-342900">
              <a:spcBef>
                <a:spcPts val="600"/>
              </a:spcBef>
              <a:spcAft>
                <a:spcPts val="1200"/>
              </a:spcAft>
              <a:defRPr/>
            </a:pPr>
            <a:r>
              <a:rPr lang="en-US" sz="2200" dirty="0" smtClean="0">
                <a:latin typeface="Helvetica" pitchFamily="34" charset="0"/>
              </a:rPr>
              <a:t>Boxes</a:t>
            </a:r>
          </a:p>
          <a:p>
            <a:pPr marL="342900" indent="-342900">
              <a:spcBef>
                <a:spcPts val="600"/>
              </a:spcBef>
              <a:spcAft>
                <a:spcPts val="1200"/>
              </a:spcAft>
              <a:defRPr/>
            </a:pPr>
            <a:r>
              <a:rPr lang="en-US" sz="2200" dirty="0" smtClean="0">
                <a:latin typeface="Helvetica" pitchFamily="34" charset="0"/>
              </a:rPr>
              <a:t>Concealed cups</a:t>
            </a:r>
          </a:p>
          <a:p>
            <a:pPr marL="342900" indent="-342900">
              <a:spcBef>
                <a:spcPts val="600"/>
              </a:spcBef>
              <a:spcAft>
                <a:spcPts val="1200"/>
              </a:spcAft>
              <a:defRPr/>
            </a:pPr>
            <a:r>
              <a:rPr lang="en-US" sz="2200" dirty="0" smtClean="0">
                <a:latin typeface="Helvetica" pitchFamily="34" charset="0"/>
              </a:rPr>
              <a:t>Containers</a:t>
            </a:r>
          </a:p>
          <a:p>
            <a:pPr marL="342900" indent="-342900">
              <a:spcBef>
                <a:spcPts val="600"/>
              </a:spcBef>
              <a:spcAft>
                <a:spcPts val="1200"/>
              </a:spcAft>
              <a:defRPr/>
            </a:pPr>
            <a:r>
              <a:rPr lang="en-US" sz="2200" dirty="0" smtClean="0">
                <a:latin typeface="Helvetica" pitchFamily="34" charset="0"/>
              </a:rPr>
              <a:t>Foil or plastic wraps</a:t>
            </a:r>
          </a:p>
          <a:p>
            <a:pPr marL="342900" indent="-342900">
              <a:spcBef>
                <a:spcPts val="600"/>
              </a:spcBef>
              <a:spcAft>
                <a:spcPts val="1200"/>
              </a:spcAft>
              <a:defRPr/>
            </a:pPr>
            <a:r>
              <a:rPr lang="en-US" sz="2200" dirty="0" smtClean="0">
                <a:latin typeface="Helvetica" pitchFamily="34" charset="0"/>
              </a:rPr>
              <a:t>Bags</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5" name="Picture 4" descr="IMG_2070.jpg"/>
          <p:cNvPicPr>
            <a:picLocks noChangeAspect="1"/>
          </p:cNvPicPr>
          <p:nvPr/>
        </p:nvPicPr>
        <p:blipFill>
          <a:blip r:embed="rId3" cstate="print"/>
          <a:stretch>
            <a:fillRect/>
          </a:stretch>
        </p:blipFill>
        <p:spPr>
          <a:xfrm>
            <a:off x="6372200" y="2780928"/>
            <a:ext cx="2004236" cy="2672315"/>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Monitoring temperature</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marL="0">
              <a:spcBef>
                <a:spcPts val="600"/>
              </a:spcBef>
              <a:spcAft>
                <a:spcPts val="1200"/>
              </a:spcAft>
              <a:buNone/>
            </a:pPr>
            <a:r>
              <a:rPr lang="en-US" sz="2200" b="1" dirty="0" smtClean="0">
                <a:latin typeface="Helvetica" pitchFamily="34" charset="0"/>
              </a:rPr>
              <a:t>Keeping  items </a:t>
            </a:r>
            <a:r>
              <a:rPr lang="en-US" sz="2200" b="1" u="sng" dirty="0" smtClean="0">
                <a:latin typeface="Helvetica" pitchFamily="34" charset="0"/>
              </a:rPr>
              <a:t>cold</a:t>
            </a:r>
            <a:r>
              <a:rPr lang="en-US" sz="2200" b="1" dirty="0" smtClean="0">
                <a:latin typeface="Helvetica" pitchFamily="34" charset="0"/>
              </a:rPr>
              <a:t> during display</a:t>
            </a:r>
          </a:p>
          <a:p>
            <a:pPr marL="0">
              <a:spcBef>
                <a:spcPts val="600"/>
              </a:spcBef>
              <a:spcAft>
                <a:spcPts val="1200"/>
              </a:spcAft>
              <a:buNone/>
            </a:pPr>
            <a:r>
              <a:rPr lang="en-US" sz="2200" dirty="0" smtClean="0">
                <a:latin typeface="Helvetica" pitchFamily="34" charset="0"/>
              </a:rPr>
              <a:t>Food must be kept below 5 degrees celsius through use of:</a:t>
            </a:r>
            <a:endParaRPr lang="en-AU" sz="2200" dirty="0" smtClean="0">
              <a:latin typeface="Helvetica" pitchFamily="34" charset="0"/>
            </a:endParaRPr>
          </a:p>
          <a:p>
            <a:pPr marL="342900" indent="-342900">
              <a:spcBef>
                <a:spcPts val="600"/>
              </a:spcBef>
              <a:spcAft>
                <a:spcPts val="1200"/>
              </a:spcAft>
              <a:defRPr/>
            </a:pPr>
            <a:r>
              <a:rPr lang="en-US" sz="2200" dirty="0" smtClean="0">
                <a:latin typeface="Helvetica" pitchFamily="34" charset="0"/>
              </a:rPr>
              <a:t>Fridges</a:t>
            </a:r>
          </a:p>
          <a:p>
            <a:pPr marL="342900" indent="-342900">
              <a:spcBef>
                <a:spcPts val="600"/>
              </a:spcBef>
              <a:spcAft>
                <a:spcPts val="1200"/>
              </a:spcAft>
              <a:defRPr/>
            </a:pPr>
            <a:r>
              <a:rPr lang="en-US" sz="2200" dirty="0" smtClean="0">
                <a:latin typeface="Helvetica" pitchFamily="34" charset="0"/>
              </a:rPr>
              <a:t>Freezers</a:t>
            </a:r>
          </a:p>
          <a:p>
            <a:pPr marL="342900" indent="-342900">
              <a:spcBef>
                <a:spcPts val="600"/>
              </a:spcBef>
              <a:spcAft>
                <a:spcPts val="1200"/>
              </a:spcAft>
              <a:defRPr/>
            </a:pPr>
            <a:r>
              <a:rPr lang="en-US" sz="2200" dirty="0" smtClean="0">
                <a:latin typeface="Helvetica" pitchFamily="34" charset="0"/>
              </a:rPr>
              <a:t>Ice and dry ice</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7" name="Picture 6" descr="IMG_2050.jpg"/>
          <p:cNvPicPr/>
          <p:nvPr/>
        </p:nvPicPr>
        <p:blipFill>
          <a:blip r:embed="rId3" cstate="print"/>
          <a:stretch>
            <a:fillRect/>
          </a:stretch>
        </p:blipFill>
        <p:spPr>
          <a:xfrm>
            <a:off x="5652120" y="3573016"/>
            <a:ext cx="2732137" cy="1799456"/>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200" b="1" dirty="0" smtClean="0">
                <a:solidFill>
                  <a:srgbClr val="FF6600"/>
                </a:solidFill>
                <a:latin typeface="Helvetica" pitchFamily="34" charset="0"/>
              </a:rPr>
              <a:t>Protect displayed food from airborne and other contamination</a:t>
            </a:r>
          </a:p>
        </p:txBody>
      </p:sp>
      <p:sp>
        <p:nvSpPr>
          <p:cNvPr id="3" name="Content Placeholder 2"/>
          <p:cNvSpPr>
            <a:spLocks noGrp="1"/>
          </p:cNvSpPr>
          <p:nvPr>
            <p:ph idx="1"/>
          </p:nvPr>
        </p:nvSpPr>
        <p:spPr>
          <a:xfrm>
            <a:off x="611560" y="1628800"/>
            <a:ext cx="7467600" cy="5229200"/>
          </a:xfrm>
        </p:spPr>
        <p:txBody>
          <a:bodyPr>
            <a:normAutofit/>
          </a:bodyPr>
          <a:lstStyle/>
          <a:p>
            <a:pPr>
              <a:spcBef>
                <a:spcPts val="600"/>
              </a:spcBef>
              <a:spcAft>
                <a:spcPts val="1200"/>
              </a:spcAft>
              <a:buNone/>
            </a:pPr>
            <a:r>
              <a:rPr lang="en-US" sz="2200" b="1" dirty="0" smtClean="0">
                <a:latin typeface="Helvetica" pitchFamily="34" charset="0"/>
              </a:rPr>
              <a:t>Keep items:</a:t>
            </a:r>
          </a:p>
          <a:p>
            <a:pPr marL="342900" indent="-342900">
              <a:spcBef>
                <a:spcPts val="600"/>
              </a:spcBef>
              <a:spcAft>
                <a:spcPts val="1200"/>
              </a:spcAft>
              <a:defRPr/>
            </a:pPr>
            <a:r>
              <a:rPr lang="en-US" sz="2200" dirty="0" smtClean="0">
                <a:latin typeface="Helvetica" pitchFamily="34" charset="0"/>
              </a:rPr>
              <a:t>In their correct temperatures</a:t>
            </a:r>
          </a:p>
          <a:p>
            <a:pPr marL="342900" indent="-342900">
              <a:spcBef>
                <a:spcPts val="600"/>
              </a:spcBef>
              <a:spcAft>
                <a:spcPts val="1200"/>
              </a:spcAft>
              <a:defRPr/>
            </a:pPr>
            <a:r>
              <a:rPr lang="en-US" sz="2200" dirty="0" smtClean="0">
                <a:latin typeface="Helvetica" pitchFamily="34" charset="0"/>
              </a:rPr>
              <a:t>In packages or covered</a:t>
            </a:r>
          </a:p>
          <a:p>
            <a:pPr marL="342900" indent="-342900">
              <a:spcBef>
                <a:spcPts val="600"/>
              </a:spcBef>
              <a:spcAft>
                <a:spcPts val="1200"/>
              </a:spcAft>
              <a:defRPr/>
            </a:pPr>
            <a:r>
              <a:rPr lang="en-US" sz="2200" dirty="0" smtClean="0">
                <a:latin typeface="Helvetica" pitchFamily="34" charset="0"/>
              </a:rPr>
              <a:t>Displayed for minimal time periods</a:t>
            </a:r>
          </a:p>
          <a:p>
            <a:pPr marL="342900" indent="-342900">
              <a:spcBef>
                <a:spcPts val="600"/>
              </a:spcBef>
              <a:spcAft>
                <a:spcPts val="1200"/>
              </a:spcAft>
              <a:defRPr/>
            </a:pPr>
            <a:r>
              <a:rPr lang="en-US" sz="2200" dirty="0" smtClean="0">
                <a:latin typeface="Helvetica" pitchFamily="34" charset="0"/>
              </a:rPr>
              <a:t>In closed vessels</a:t>
            </a:r>
          </a:p>
          <a:p>
            <a:pPr marL="342900" indent="-342900">
              <a:spcBef>
                <a:spcPts val="600"/>
              </a:spcBef>
              <a:spcAft>
                <a:spcPts val="1200"/>
              </a:spcAft>
              <a:defRPr/>
            </a:pPr>
            <a:r>
              <a:rPr lang="en-US" sz="2200" dirty="0" smtClean="0">
                <a:latin typeface="Helvetica" pitchFamily="34" charset="0"/>
              </a:rPr>
              <a:t>In closed display areas</a:t>
            </a: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6" name="Picture 5" descr="IMG_2098.jpg"/>
          <p:cNvPicPr>
            <a:picLocks noChangeAspect="1"/>
          </p:cNvPicPr>
          <p:nvPr/>
        </p:nvPicPr>
        <p:blipFill>
          <a:blip r:embed="rId3" cstate="print"/>
          <a:stretch>
            <a:fillRect/>
          </a:stretch>
        </p:blipFill>
        <p:spPr>
          <a:xfrm>
            <a:off x="6300192" y="3933056"/>
            <a:ext cx="2051277" cy="1538458"/>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defRPr/>
            </a:pPr>
            <a:r>
              <a:rPr lang="en-US" sz="3200" b="1" dirty="0" smtClean="0">
                <a:solidFill>
                  <a:srgbClr val="FF6600"/>
                </a:solidFill>
                <a:latin typeface="Helvetica" pitchFamily="34" charset="0"/>
              </a:rPr>
              <a:t>Display items attractively</a:t>
            </a:r>
          </a:p>
        </p:txBody>
      </p:sp>
      <p:sp>
        <p:nvSpPr>
          <p:cNvPr id="3" name="Content Placeholder 2"/>
          <p:cNvSpPr>
            <a:spLocks noGrp="1"/>
          </p:cNvSpPr>
          <p:nvPr>
            <p:ph idx="1"/>
          </p:nvPr>
        </p:nvSpPr>
        <p:spPr>
          <a:xfrm>
            <a:off x="611560" y="1268760"/>
            <a:ext cx="7467600" cy="5589240"/>
          </a:xfrm>
        </p:spPr>
        <p:txBody>
          <a:bodyPr>
            <a:normAutofit/>
          </a:bodyPr>
          <a:lstStyle/>
          <a:p>
            <a:pPr marL="0">
              <a:spcBef>
                <a:spcPts val="600"/>
              </a:spcBef>
              <a:spcAft>
                <a:spcPts val="1200"/>
              </a:spcAft>
              <a:buNone/>
            </a:pPr>
            <a:r>
              <a:rPr lang="en-US" sz="2200" b="1" dirty="0" smtClean="0">
                <a:latin typeface="Helvetica" pitchFamily="34" charset="0"/>
              </a:rPr>
              <a:t>The primary concept of ‘take away’ service, and that of any food and beverage outlet, is to attract customers and to make a sale:</a:t>
            </a:r>
          </a:p>
          <a:p>
            <a:pPr marL="342900" indent="-342900">
              <a:spcBef>
                <a:spcPts val="600"/>
              </a:spcBef>
              <a:spcAft>
                <a:spcPts val="1200"/>
              </a:spcAft>
              <a:defRPr/>
            </a:pPr>
            <a:r>
              <a:rPr lang="en-US" sz="2200" dirty="0" smtClean="0">
                <a:latin typeface="Helvetica" pitchFamily="34" charset="0"/>
              </a:rPr>
              <a:t>Visually entice the customer</a:t>
            </a:r>
          </a:p>
          <a:p>
            <a:pPr marL="342900" indent="-342900">
              <a:spcBef>
                <a:spcPts val="600"/>
              </a:spcBef>
              <a:spcAft>
                <a:spcPts val="1200"/>
              </a:spcAft>
              <a:defRPr/>
            </a:pPr>
            <a:r>
              <a:rPr lang="en-US" sz="2200" dirty="0" smtClean="0">
                <a:latin typeface="Helvetica" pitchFamily="34" charset="0"/>
              </a:rPr>
              <a:t>Provide all the desired information to                                               make an informed decision</a:t>
            </a:r>
          </a:p>
          <a:p>
            <a:pPr marL="342900" indent="-342900">
              <a:spcBef>
                <a:spcPts val="600"/>
              </a:spcBef>
              <a:spcAft>
                <a:spcPts val="1200"/>
              </a:spcAft>
              <a:defRPr/>
            </a:pPr>
            <a:r>
              <a:rPr lang="en-US" sz="2200" dirty="0" smtClean="0">
                <a:latin typeface="Helvetica" pitchFamily="34" charset="0"/>
              </a:rPr>
              <a:t>Placement of items</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7" name="Picture 6" descr="IMG_2046.jpg"/>
          <p:cNvPicPr>
            <a:picLocks noChangeAspect="1"/>
          </p:cNvPicPr>
          <p:nvPr/>
        </p:nvPicPr>
        <p:blipFill>
          <a:blip r:embed="rId3" cstate="print"/>
          <a:stretch>
            <a:fillRect/>
          </a:stretch>
        </p:blipFill>
        <p:spPr>
          <a:xfrm>
            <a:off x="6372200" y="2924944"/>
            <a:ext cx="1982814" cy="2643752"/>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92088"/>
          </a:xfrm>
        </p:spPr>
        <p:txBody>
          <a:bodyPr>
            <a:normAutofit/>
          </a:bodyPr>
          <a:lstStyle/>
          <a:p>
            <a:pPr>
              <a:defRPr/>
            </a:pPr>
            <a:r>
              <a:rPr lang="en-US" sz="3200" b="1" dirty="0" smtClean="0">
                <a:solidFill>
                  <a:srgbClr val="FF6600"/>
                </a:solidFill>
                <a:latin typeface="Helvetica" pitchFamily="34" charset="0"/>
              </a:rPr>
              <a:t>Display items attractively</a:t>
            </a:r>
          </a:p>
        </p:txBody>
      </p:sp>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buNone/>
            </a:pPr>
            <a:r>
              <a:rPr lang="en-US" sz="2200" b="1" dirty="0" smtClean="0">
                <a:latin typeface="Helvetica" pitchFamily="34" charset="0"/>
              </a:rPr>
              <a:t>Visually entice the customer:</a:t>
            </a:r>
            <a:endParaRPr lang="en-AU" sz="2200" b="1" dirty="0" smtClean="0">
              <a:latin typeface="Helvetica" pitchFamily="34" charset="0"/>
            </a:endParaRPr>
          </a:p>
          <a:p>
            <a:pPr marL="342900" indent="-342900">
              <a:spcBef>
                <a:spcPts val="600"/>
              </a:spcBef>
              <a:spcAft>
                <a:spcPts val="1200"/>
              </a:spcAft>
              <a:defRPr/>
            </a:pPr>
            <a:r>
              <a:rPr lang="en-US" sz="2200" dirty="0" smtClean="0">
                <a:latin typeface="Helvetica" pitchFamily="34" charset="0"/>
              </a:rPr>
              <a:t>Display the final product</a:t>
            </a:r>
          </a:p>
          <a:p>
            <a:pPr marL="342900" indent="-342900">
              <a:spcBef>
                <a:spcPts val="600"/>
              </a:spcBef>
              <a:spcAft>
                <a:spcPts val="1200"/>
              </a:spcAft>
              <a:defRPr/>
            </a:pPr>
            <a:r>
              <a:rPr lang="en-US" sz="2200" dirty="0" smtClean="0">
                <a:latin typeface="Helvetica" pitchFamily="34" charset="0"/>
              </a:rPr>
              <a:t>Posters and pictures</a:t>
            </a:r>
          </a:p>
          <a:p>
            <a:pPr marL="342900" indent="-342900">
              <a:spcBef>
                <a:spcPts val="600"/>
              </a:spcBef>
              <a:spcAft>
                <a:spcPts val="1200"/>
              </a:spcAft>
              <a:defRPr/>
            </a:pPr>
            <a:r>
              <a:rPr lang="en-US" sz="2200" dirty="0" smtClean="0">
                <a:latin typeface="Helvetica" pitchFamily="34" charset="0"/>
              </a:rPr>
              <a:t>Signs and menus</a:t>
            </a:r>
          </a:p>
          <a:p>
            <a:pPr marL="342900" indent="-342900">
              <a:spcBef>
                <a:spcPts val="600"/>
              </a:spcBef>
              <a:spcAft>
                <a:spcPts val="1200"/>
              </a:spcAft>
              <a:defRPr/>
            </a:pPr>
            <a:r>
              <a:rPr lang="en-US" sz="2200" dirty="0" smtClean="0">
                <a:latin typeface="Helvetica" pitchFamily="34" charset="0"/>
              </a:rPr>
              <a:t>Descriptions</a:t>
            </a:r>
          </a:p>
          <a:p>
            <a:pPr marL="342900" indent="-342900">
              <a:spcBef>
                <a:spcPts val="600"/>
              </a:spcBef>
              <a:spcAft>
                <a:spcPts val="1200"/>
              </a:spcAft>
              <a:defRPr/>
            </a:pPr>
            <a:r>
              <a:rPr lang="en-US" sz="2200" dirty="0" smtClean="0">
                <a:latin typeface="Helvetica" pitchFamily="34" charset="0"/>
              </a:rPr>
              <a:t>Smells and aroma</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9" name="Picture 8" descr="IMG_2054.jpg"/>
          <p:cNvPicPr>
            <a:picLocks noChangeAspect="1"/>
          </p:cNvPicPr>
          <p:nvPr/>
        </p:nvPicPr>
        <p:blipFill>
          <a:blip r:embed="rId3" cstate="print"/>
          <a:stretch>
            <a:fillRect/>
          </a:stretch>
        </p:blipFill>
        <p:spPr>
          <a:xfrm>
            <a:off x="5508104" y="3284984"/>
            <a:ext cx="2819805" cy="2114854"/>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defRPr/>
            </a:pPr>
            <a:r>
              <a:rPr lang="en-US" sz="3200" b="1" dirty="0" smtClean="0">
                <a:solidFill>
                  <a:srgbClr val="FF6600"/>
                </a:solidFill>
                <a:latin typeface="Helvetica" pitchFamily="34" charset="0"/>
              </a:rPr>
              <a:t>Display items attractively</a:t>
            </a:r>
          </a:p>
        </p:txBody>
      </p:sp>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buNone/>
            </a:pPr>
            <a:r>
              <a:rPr lang="en-US" sz="2200" b="1" dirty="0" smtClean="0">
                <a:latin typeface="Helvetica" pitchFamily="34" charset="0"/>
              </a:rPr>
              <a:t>Provide accurate information:</a:t>
            </a:r>
          </a:p>
          <a:p>
            <a:pPr marL="342900" indent="-342900">
              <a:spcBef>
                <a:spcPts val="600"/>
              </a:spcBef>
              <a:spcAft>
                <a:spcPts val="1200"/>
              </a:spcAft>
              <a:defRPr/>
            </a:pPr>
            <a:r>
              <a:rPr lang="en-US" sz="2200" dirty="0" smtClean="0">
                <a:latin typeface="Helvetica" pitchFamily="34" charset="0"/>
              </a:rPr>
              <a:t>Cost, promotions or sales information</a:t>
            </a:r>
          </a:p>
          <a:p>
            <a:pPr marL="342900" indent="-342900">
              <a:spcBef>
                <a:spcPts val="600"/>
              </a:spcBef>
              <a:spcAft>
                <a:spcPts val="1200"/>
              </a:spcAft>
              <a:defRPr/>
            </a:pPr>
            <a:r>
              <a:rPr lang="en-US" sz="2200" dirty="0" smtClean="0">
                <a:latin typeface="Helvetica" pitchFamily="34" charset="0"/>
              </a:rPr>
              <a:t>Weight or size</a:t>
            </a:r>
          </a:p>
          <a:p>
            <a:pPr marL="342900" indent="-342900">
              <a:spcBef>
                <a:spcPts val="600"/>
              </a:spcBef>
              <a:spcAft>
                <a:spcPts val="1200"/>
              </a:spcAft>
              <a:defRPr/>
            </a:pPr>
            <a:r>
              <a:rPr lang="en-US" sz="2200" dirty="0" smtClean="0">
                <a:latin typeface="Helvetica" pitchFamily="34" charset="0"/>
              </a:rPr>
              <a:t>Ingredients</a:t>
            </a:r>
          </a:p>
          <a:p>
            <a:pPr marL="342900" indent="-342900">
              <a:spcBef>
                <a:spcPts val="600"/>
              </a:spcBef>
              <a:spcAft>
                <a:spcPts val="1200"/>
              </a:spcAft>
              <a:defRPr/>
            </a:pPr>
            <a:r>
              <a:rPr lang="en-US" sz="2200" dirty="0" smtClean="0">
                <a:latin typeface="Helvetica" pitchFamily="34" charset="0"/>
              </a:rPr>
              <a:t>Preparation method</a:t>
            </a:r>
          </a:p>
          <a:p>
            <a:pPr marL="342900" indent="-342900">
              <a:spcBef>
                <a:spcPts val="600"/>
              </a:spcBef>
              <a:spcAft>
                <a:spcPts val="1200"/>
              </a:spcAft>
              <a:defRPr/>
            </a:pPr>
            <a:r>
              <a:rPr lang="en-US" sz="2200" dirty="0" smtClean="0">
                <a:latin typeface="Helvetica" pitchFamily="34" charset="0"/>
              </a:rPr>
              <a:t>Health information including calorie or                                   cookery methods </a:t>
            </a:r>
          </a:p>
          <a:p>
            <a:pPr marL="342900" indent="-342900">
              <a:spcBef>
                <a:spcPts val="600"/>
              </a:spcBef>
              <a:spcAft>
                <a:spcPts val="1200"/>
              </a:spcAft>
              <a:defRPr/>
            </a:pPr>
            <a:r>
              <a:rPr lang="en-US" sz="2200" dirty="0" smtClean="0">
                <a:latin typeface="Helvetica" pitchFamily="34" charset="0"/>
              </a:rPr>
              <a:t>Allergy warnings</a:t>
            </a:r>
          </a:p>
          <a:p>
            <a:pPr marL="342900" indent="-342900">
              <a:spcBef>
                <a:spcPts val="600"/>
              </a:spcBef>
              <a:spcAft>
                <a:spcPts val="1200"/>
              </a:spcAft>
              <a:defRPr/>
            </a:pPr>
            <a:r>
              <a:rPr lang="en-US" sz="2200" dirty="0" smtClean="0">
                <a:latin typeface="Helvetica" pitchFamily="34" charset="0"/>
              </a:rPr>
              <a:t>Spice content</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8" name="Picture 7" descr="IMG_2071.jpg"/>
          <p:cNvPicPr/>
          <p:nvPr/>
        </p:nvPicPr>
        <p:blipFill>
          <a:blip r:embed="rId3" cstate="print"/>
          <a:stretch>
            <a:fillRect/>
          </a:stretch>
        </p:blipFill>
        <p:spPr>
          <a:xfrm>
            <a:off x="6372200" y="3284984"/>
            <a:ext cx="1992238" cy="2032248"/>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defRPr/>
            </a:pPr>
            <a:r>
              <a:rPr lang="en-US" sz="3200" b="1" dirty="0" smtClean="0">
                <a:solidFill>
                  <a:srgbClr val="FF6600"/>
                </a:solidFill>
                <a:latin typeface="Helvetica" pitchFamily="34" charset="0"/>
              </a:rPr>
              <a:t>Keeping food and beverage hygienic</a:t>
            </a:r>
          </a:p>
        </p:txBody>
      </p:sp>
      <p:sp>
        <p:nvSpPr>
          <p:cNvPr id="3" name="Content Placeholder 2"/>
          <p:cNvSpPr>
            <a:spLocks noGrp="1"/>
          </p:cNvSpPr>
          <p:nvPr>
            <p:ph idx="1"/>
          </p:nvPr>
        </p:nvSpPr>
        <p:spPr>
          <a:xfrm>
            <a:off x="611560" y="1268760"/>
            <a:ext cx="7560840" cy="5589240"/>
          </a:xfrm>
        </p:spPr>
        <p:txBody>
          <a:bodyPr>
            <a:normAutofit/>
          </a:bodyPr>
          <a:lstStyle/>
          <a:p>
            <a:pPr marL="0">
              <a:spcBef>
                <a:spcPts val="600"/>
              </a:spcBef>
              <a:spcAft>
                <a:spcPts val="1200"/>
              </a:spcAft>
              <a:buNone/>
            </a:pPr>
            <a:r>
              <a:rPr lang="en-AU" sz="2200" b="1" dirty="0" smtClean="0">
                <a:latin typeface="Helvetica" pitchFamily="34" charset="0"/>
              </a:rPr>
              <a:t>Use appropriate food wrapping and packaging materials </a:t>
            </a:r>
          </a:p>
          <a:p>
            <a:pPr marL="0">
              <a:spcBef>
                <a:spcPts val="600"/>
              </a:spcBef>
              <a:spcAft>
                <a:spcPts val="1200"/>
              </a:spcAft>
              <a:buNone/>
            </a:pPr>
            <a:r>
              <a:rPr lang="en-AU" sz="2200" dirty="0" smtClean="0">
                <a:latin typeface="Helvetica" pitchFamily="34" charset="0"/>
              </a:rPr>
              <a:t>Food wrappings and packaging materials are used to safely maintain and transport take away food, beverage and their accompanying items:</a:t>
            </a:r>
          </a:p>
          <a:p>
            <a:pPr>
              <a:spcBef>
                <a:spcPts val="600"/>
              </a:spcBef>
              <a:spcAft>
                <a:spcPts val="1200"/>
              </a:spcAft>
            </a:pPr>
            <a:r>
              <a:rPr lang="en-AU" sz="2200" dirty="0" smtClean="0">
                <a:latin typeface="Helvetica" pitchFamily="34" charset="0"/>
              </a:rPr>
              <a:t>What items can be used?</a:t>
            </a: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6" name="Picture 5" descr="IMG_2047.jpg"/>
          <p:cNvPicPr/>
          <p:nvPr/>
        </p:nvPicPr>
        <p:blipFill>
          <a:blip r:embed="rId3" cstate="print"/>
          <a:stretch>
            <a:fillRect/>
          </a:stretch>
        </p:blipFill>
        <p:spPr>
          <a:xfrm>
            <a:off x="5940152" y="3861048"/>
            <a:ext cx="2305219" cy="1623045"/>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defRPr/>
            </a:pPr>
            <a:r>
              <a:rPr lang="en-US" sz="3200" b="1" dirty="0" smtClean="0">
                <a:solidFill>
                  <a:srgbClr val="FF6600"/>
                </a:solidFill>
                <a:latin typeface="Helvetica" pitchFamily="34" charset="0"/>
              </a:rPr>
              <a:t>Display items attractively</a:t>
            </a: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Types of wrapping and packaging: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Plastic, paper, waxed paper or foil wrappings</a:t>
            </a:r>
          </a:p>
          <a:p>
            <a:pPr lvl="0">
              <a:spcBef>
                <a:spcPts val="600"/>
              </a:spcBef>
              <a:spcAft>
                <a:spcPts val="1200"/>
              </a:spcAft>
            </a:pPr>
            <a:r>
              <a:rPr lang="en-AU" sz="2200" dirty="0" smtClean="0">
                <a:latin typeface="Helvetica" pitchFamily="34" charset="0"/>
              </a:rPr>
              <a:t>Plastic, cardboard or foam food containers</a:t>
            </a:r>
          </a:p>
          <a:p>
            <a:pPr lvl="0">
              <a:spcBef>
                <a:spcPts val="600"/>
              </a:spcBef>
              <a:spcAft>
                <a:spcPts val="1200"/>
              </a:spcAft>
            </a:pPr>
            <a:r>
              <a:rPr lang="en-AU" sz="2200" dirty="0" smtClean="0">
                <a:latin typeface="Helvetica" pitchFamily="34" charset="0"/>
              </a:rPr>
              <a:t>Foam, plastic or wax paper beverage vessels</a:t>
            </a:r>
          </a:p>
          <a:p>
            <a:pPr lvl="0">
              <a:spcBef>
                <a:spcPts val="600"/>
              </a:spcBef>
              <a:spcAft>
                <a:spcPts val="1200"/>
              </a:spcAft>
            </a:pPr>
            <a:r>
              <a:rPr lang="en-AU" sz="2200" dirty="0" smtClean="0">
                <a:latin typeface="Helvetica" pitchFamily="34" charset="0"/>
              </a:rPr>
              <a:t>Beverage vessel lids</a:t>
            </a:r>
          </a:p>
          <a:p>
            <a:pPr lvl="0">
              <a:spcBef>
                <a:spcPts val="600"/>
              </a:spcBef>
              <a:spcAft>
                <a:spcPts val="1200"/>
              </a:spcAft>
            </a:pPr>
            <a:r>
              <a:rPr lang="en-AU" sz="2200" dirty="0" smtClean="0">
                <a:latin typeface="Helvetica" pitchFamily="34" charset="0"/>
              </a:rPr>
              <a:t>Cardboard carrying containers</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6" name="Picture 5" descr="IMG_1989.jpg"/>
          <p:cNvPicPr/>
          <p:nvPr/>
        </p:nvPicPr>
        <p:blipFill>
          <a:blip r:embed="rId3" cstate="print"/>
          <a:stretch>
            <a:fillRect/>
          </a:stretch>
        </p:blipFill>
        <p:spPr>
          <a:xfrm>
            <a:off x="6012160" y="3789040"/>
            <a:ext cx="2321421" cy="1671439"/>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defRPr/>
            </a:pPr>
            <a:r>
              <a:rPr lang="en-US" sz="3200" b="1" dirty="0" smtClean="0">
                <a:solidFill>
                  <a:srgbClr val="FF6600"/>
                </a:solidFill>
                <a:latin typeface="Helvetica" pitchFamily="34" charset="0"/>
              </a:rPr>
              <a:t>Display items attractively</a:t>
            </a: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Types of wrapping and packaging: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Plastic cutlery</a:t>
            </a:r>
          </a:p>
          <a:p>
            <a:pPr lvl="0">
              <a:spcBef>
                <a:spcPts val="600"/>
              </a:spcBef>
              <a:spcAft>
                <a:spcPts val="1200"/>
              </a:spcAft>
            </a:pPr>
            <a:r>
              <a:rPr lang="en-AU" sz="2200" dirty="0" smtClean="0">
                <a:latin typeface="Helvetica" pitchFamily="34" charset="0"/>
              </a:rPr>
              <a:t>Napkins</a:t>
            </a:r>
          </a:p>
          <a:p>
            <a:pPr lvl="0">
              <a:spcBef>
                <a:spcPts val="600"/>
              </a:spcBef>
              <a:spcAft>
                <a:spcPts val="1200"/>
              </a:spcAft>
            </a:pPr>
            <a:r>
              <a:rPr lang="en-AU" sz="2200" dirty="0" smtClean="0">
                <a:latin typeface="Helvetica" pitchFamily="34" charset="0"/>
              </a:rPr>
              <a:t>Toothpicks</a:t>
            </a:r>
          </a:p>
          <a:p>
            <a:pPr lvl="0">
              <a:spcBef>
                <a:spcPts val="600"/>
              </a:spcBef>
              <a:spcAft>
                <a:spcPts val="1200"/>
              </a:spcAft>
            </a:pPr>
            <a:r>
              <a:rPr lang="en-AU" sz="2200" dirty="0" smtClean="0">
                <a:latin typeface="Helvetica" pitchFamily="34" charset="0"/>
              </a:rPr>
              <a:t>Pre-packaged condiments</a:t>
            </a:r>
          </a:p>
          <a:p>
            <a:pPr lvl="0">
              <a:spcBef>
                <a:spcPts val="600"/>
              </a:spcBef>
              <a:spcAft>
                <a:spcPts val="1200"/>
              </a:spcAft>
            </a:pPr>
            <a:r>
              <a:rPr lang="en-AU" sz="2200" dirty="0" smtClean="0">
                <a:latin typeface="Helvetica" pitchFamily="34" charset="0"/>
              </a:rPr>
              <a:t>Condiment containers</a:t>
            </a:r>
          </a:p>
          <a:p>
            <a:pPr lvl="0">
              <a:spcBef>
                <a:spcPts val="600"/>
              </a:spcBef>
              <a:spcAft>
                <a:spcPts val="1200"/>
              </a:spcAft>
            </a:pPr>
            <a:r>
              <a:rPr lang="en-AU" sz="2200" dirty="0" smtClean="0">
                <a:latin typeface="Helvetica" pitchFamily="34" charset="0"/>
              </a:rPr>
              <a:t>Straws</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7" name="Picture 6" descr="IMG_2044.jpg"/>
          <p:cNvPicPr/>
          <p:nvPr/>
        </p:nvPicPr>
        <p:blipFill>
          <a:blip r:embed="rId3" cstate="print"/>
          <a:stretch>
            <a:fillRect/>
          </a:stretch>
        </p:blipFill>
        <p:spPr>
          <a:xfrm>
            <a:off x="6444208" y="3356992"/>
            <a:ext cx="1890886" cy="1991469"/>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648072"/>
          </a:xfrm>
        </p:spPr>
        <p:txBody>
          <a:bodyPr>
            <a:normAutofit/>
          </a:bodyPr>
          <a:lstStyle/>
          <a:p>
            <a:pPr>
              <a:defRPr/>
            </a:pPr>
            <a:r>
              <a:rPr lang="en-US" sz="3200" b="1" dirty="0" smtClean="0">
                <a:solidFill>
                  <a:srgbClr val="FF6600"/>
                </a:solidFill>
                <a:latin typeface="Helvetica" pitchFamily="34" charset="0"/>
              </a:rPr>
              <a:t>Maintaining food and beverage hygiene</a:t>
            </a:r>
          </a:p>
        </p:txBody>
      </p:sp>
      <p:sp>
        <p:nvSpPr>
          <p:cNvPr id="3" name="Content Placeholder 2"/>
          <p:cNvSpPr>
            <a:spLocks noGrp="1"/>
          </p:cNvSpPr>
          <p:nvPr>
            <p:ph idx="1"/>
          </p:nvPr>
        </p:nvSpPr>
        <p:spPr>
          <a:xfrm>
            <a:off x="611560" y="1268760"/>
            <a:ext cx="7467600" cy="5589240"/>
          </a:xfrm>
        </p:spPr>
        <p:txBody>
          <a:bodyPr>
            <a:normAutofit/>
          </a:bodyPr>
          <a:lstStyle/>
          <a:p>
            <a:pPr marL="457200" indent="-457200">
              <a:spcBef>
                <a:spcPts val="600"/>
              </a:spcBef>
              <a:spcAft>
                <a:spcPts val="1200"/>
              </a:spcAft>
            </a:pPr>
            <a:r>
              <a:rPr lang="en-AU" sz="2200" b="1" dirty="0" smtClean="0">
                <a:latin typeface="Helvetica" pitchFamily="34" charset="0"/>
              </a:rPr>
              <a:t>How can a staff member ensure food safety in areas where customers serve themselves food?</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6" name="Picture 5" descr="IMG_2102.jpg"/>
          <p:cNvPicPr>
            <a:picLocks noChangeAspect="1"/>
          </p:cNvPicPr>
          <p:nvPr/>
        </p:nvPicPr>
        <p:blipFill>
          <a:blip r:embed="rId3" cstate="print"/>
          <a:stretch>
            <a:fillRect/>
          </a:stretch>
        </p:blipFill>
        <p:spPr>
          <a:xfrm>
            <a:off x="3419872" y="2348880"/>
            <a:ext cx="1728192" cy="2304256"/>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defRPr/>
            </a:pPr>
            <a:r>
              <a:rPr lang="en-US" sz="3200" b="1" dirty="0" smtClean="0">
                <a:solidFill>
                  <a:srgbClr val="FF6600"/>
                </a:solidFill>
                <a:latin typeface="Helvetica" pitchFamily="34" charset="0"/>
              </a:rPr>
              <a:t>Concept of self service</a:t>
            </a:r>
          </a:p>
        </p:txBody>
      </p:sp>
      <p:sp>
        <p:nvSpPr>
          <p:cNvPr id="3" name="Content Placeholder 2"/>
          <p:cNvSpPr>
            <a:spLocks noGrp="1"/>
          </p:cNvSpPr>
          <p:nvPr>
            <p:ph idx="1"/>
          </p:nvPr>
        </p:nvSpPr>
        <p:spPr>
          <a:xfrm>
            <a:off x="611560" y="1268760"/>
            <a:ext cx="7467600" cy="5589240"/>
          </a:xfrm>
        </p:spPr>
        <p:txBody>
          <a:bodyPr>
            <a:normAutofit/>
          </a:bodyPr>
          <a:lstStyle/>
          <a:p>
            <a:pPr marL="0">
              <a:spcBef>
                <a:spcPts val="600"/>
              </a:spcBef>
              <a:spcAft>
                <a:spcPts val="1200"/>
              </a:spcAft>
              <a:buNone/>
            </a:pPr>
            <a:r>
              <a:rPr lang="en-US" sz="2200" b="1" dirty="0" smtClean="0">
                <a:latin typeface="Helvetica" pitchFamily="34" charset="0"/>
              </a:rPr>
              <a:t>Many food outlets are self service in style, with the extent varying for different outlets.</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The type of food provided is normally cheaper in cost, bulk prepared and are high profit margin items:</a:t>
            </a:r>
          </a:p>
          <a:p>
            <a:pPr>
              <a:spcBef>
                <a:spcPts val="600"/>
              </a:spcBef>
              <a:spcAft>
                <a:spcPts val="1200"/>
              </a:spcAft>
            </a:pPr>
            <a:r>
              <a:rPr lang="en-US" sz="2200" dirty="0" smtClean="0">
                <a:latin typeface="Helvetica" pitchFamily="34" charset="0"/>
              </a:rPr>
              <a:t>Food items are prepared in advance</a:t>
            </a:r>
          </a:p>
          <a:p>
            <a:pPr>
              <a:spcBef>
                <a:spcPts val="600"/>
              </a:spcBef>
              <a:spcAft>
                <a:spcPts val="1200"/>
              </a:spcAft>
            </a:pPr>
            <a:r>
              <a:rPr lang="en-US" sz="2200" dirty="0" smtClean="0">
                <a:latin typeface="Helvetica" pitchFamily="34" charset="0"/>
              </a:rPr>
              <a:t>Displayed where customers can select from </a:t>
            </a:r>
          </a:p>
          <a:p>
            <a:pPr>
              <a:spcBef>
                <a:spcPts val="600"/>
              </a:spcBef>
              <a:spcAft>
                <a:spcPts val="1200"/>
              </a:spcAft>
            </a:pPr>
            <a:r>
              <a:rPr lang="en-US" sz="2200" dirty="0" smtClean="0">
                <a:latin typeface="Helvetica" pitchFamily="34" charset="0"/>
              </a:rPr>
              <a:t>Payment to be made once the customer                                 has selected all their items</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7" name="Picture 6" descr="IMG_2100.jpg"/>
          <p:cNvPicPr>
            <a:picLocks noChangeAspect="1"/>
          </p:cNvPicPr>
          <p:nvPr/>
        </p:nvPicPr>
        <p:blipFill>
          <a:blip r:embed="rId3" cstate="print"/>
          <a:stretch>
            <a:fillRect/>
          </a:stretch>
        </p:blipFill>
        <p:spPr>
          <a:xfrm>
            <a:off x="6300192" y="4077072"/>
            <a:ext cx="2087123" cy="1565342"/>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defRPr/>
            </a:pPr>
            <a:r>
              <a:rPr lang="en-US" sz="3200" b="1" dirty="0" smtClean="0">
                <a:solidFill>
                  <a:srgbClr val="FF6600"/>
                </a:solidFill>
                <a:latin typeface="Helvetica" pitchFamily="34" charset="0"/>
              </a:rPr>
              <a:t>Benefits of self service</a:t>
            </a:r>
          </a:p>
        </p:txBody>
      </p:sp>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buNone/>
            </a:pPr>
            <a:r>
              <a:rPr lang="en-US" sz="2200" b="1" dirty="0" smtClean="0">
                <a:latin typeface="Helvetica" pitchFamily="34" charset="0"/>
              </a:rPr>
              <a:t>Benefits to organization:</a:t>
            </a:r>
          </a:p>
          <a:p>
            <a:pPr>
              <a:spcBef>
                <a:spcPts val="600"/>
              </a:spcBef>
              <a:spcAft>
                <a:spcPts val="1200"/>
              </a:spcAft>
            </a:pPr>
            <a:r>
              <a:rPr lang="en-US" sz="2200" dirty="0" smtClean="0">
                <a:latin typeface="Helvetica" pitchFamily="34" charset="0"/>
              </a:rPr>
              <a:t>It requires less staff to operate</a:t>
            </a:r>
          </a:p>
          <a:p>
            <a:pPr>
              <a:spcBef>
                <a:spcPts val="600"/>
              </a:spcBef>
              <a:spcAft>
                <a:spcPts val="1200"/>
              </a:spcAft>
            </a:pPr>
            <a:r>
              <a:rPr lang="en-US" sz="2200" dirty="0" smtClean="0">
                <a:latin typeface="Helvetica" pitchFamily="34" charset="0"/>
              </a:rPr>
              <a:t>Higher profit items</a:t>
            </a:r>
          </a:p>
          <a:p>
            <a:pPr>
              <a:spcBef>
                <a:spcPts val="600"/>
              </a:spcBef>
              <a:spcAft>
                <a:spcPts val="1200"/>
              </a:spcAft>
              <a:buNone/>
            </a:pPr>
            <a:r>
              <a:rPr lang="en-US" sz="2200" b="1" dirty="0" smtClean="0">
                <a:latin typeface="Helvetica" pitchFamily="34" charset="0"/>
              </a:rPr>
              <a:t>Benefits to customers:</a:t>
            </a:r>
          </a:p>
          <a:p>
            <a:pPr>
              <a:spcBef>
                <a:spcPts val="600"/>
              </a:spcBef>
              <a:spcAft>
                <a:spcPts val="1200"/>
              </a:spcAft>
            </a:pPr>
            <a:r>
              <a:rPr lang="en-US" sz="2200" dirty="0" smtClean="0">
                <a:latin typeface="Helvetica" pitchFamily="34" charset="0"/>
              </a:rPr>
              <a:t>Customers have greater choice</a:t>
            </a:r>
          </a:p>
          <a:p>
            <a:pPr>
              <a:spcBef>
                <a:spcPts val="600"/>
              </a:spcBef>
              <a:spcAft>
                <a:spcPts val="1200"/>
              </a:spcAft>
            </a:pPr>
            <a:r>
              <a:rPr lang="en-US" sz="2200" dirty="0" smtClean="0">
                <a:latin typeface="Helvetica" pitchFamily="34" charset="0"/>
              </a:rPr>
              <a:t>Customers have greater control </a:t>
            </a:r>
          </a:p>
          <a:p>
            <a:pPr>
              <a:spcBef>
                <a:spcPts val="600"/>
              </a:spcBef>
              <a:spcAft>
                <a:spcPts val="1200"/>
              </a:spcAft>
            </a:pPr>
            <a:r>
              <a:rPr lang="en-US" sz="2200" dirty="0" smtClean="0">
                <a:latin typeface="Helvetica" pitchFamily="34" charset="0"/>
              </a:rPr>
              <a:t>Eating experience timing is                                               kept to a minimum</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6" name="Picture 5" descr="IMG_2053.jpg"/>
          <p:cNvPicPr>
            <a:picLocks noChangeAspect="1"/>
          </p:cNvPicPr>
          <p:nvPr/>
        </p:nvPicPr>
        <p:blipFill>
          <a:blip r:embed="rId3" cstate="print"/>
          <a:stretch>
            <a:fillRect/>
          </a:stretch>
        </p:blipFill>
        <p:spPr>
          <a:xfrm>
            <a:off x="6156176" y="3861048"/>
            <a:ext cx="2230379" cy="1476448"/>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88832" cy="720080"/>
          </a:xfrm>
        </p:spPr>
        <p:txBody>
          <a:bodyPr>
            <a:normAutofit/>
          </a:bodyPr>
          <a:lstStyle/>
          <a:p>
            <a:pPr>
              <a:defRPr/>
            </a:pPr>
            <a:r>
              <a:rPr lang="en-US" sz="3200" b="1" dirty="0" smtClean="0">
                <a:solidFill>
                  <a:srgbClr val="FF6600"/>
                </a:solidFill>
                <a:latin typeface="Helvetica" pitchFamily="34" charset="0"/>
              </a:rPr>
              <a:t>Principles of self service</a:t>
            </a: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pPr>
            <a:r>
              <a:rPr lang="en-US" sz="2200" dirty="0" smtClean="0">
                <a:latin typeface="Helvetica" pitchFamily="34" charset="0"/>
              </a:rPr>
              <a:t>Providing an enjoyable eating experience </a:t>
            </a:r>
          </a:p>
          <a:p>
            <a:pPr>
              <a:spcBef>
                <a:spcPts val="600"/>
              </a:spcBef>
              <a:spcAft>
                <a:spcPts val="1200"/>
              </a:spcAft>
            </a:pPr>
            <a:r>
              <a:rPr lang="en-US" sz="2200" dirty="0" smtClean="0">
                <a:latin typeface="Helvetica" pitchFamily="34" charset="0"/>
              </a:rPr>
              <a:t>Comprising value and quality offerings</a:t>
            </a:r>
          </a:p>
          <a:p>
            <a:pPr>
              <a:spcBef>
                <a:spcPts val="600"/>
              </a:spcBef>
              <a:spcAft>
                <a:spcPts val="1200"/>
              </a:spcAft>
            </a:pPr>
            <a:r>
              <a:rPr lang="en-US" sz="2200" dirty="0" smtClean="0">
                <a:latin typeface="Helvetica" pitchFamily="34" charset="0"/>
              </a:rPr>
              <a:t>Delivered in a clean and hygienic environment </a:t>
            </a:r>
          </a:p>
          <a:p>
            <a:pPr>
              <a:spcBef>
                <a:spcPts val="600"/>
              </a:spcBef>
              <a:spcAft>
                <a:spcPts val="1200"/>
              </a:spcAft>
            </a:pPr>
            <a:r>
              <a:rPr lang="en-US" sz="2200" dirty="0" smtClean="0">
                <a:latin typeface="Helvetica" pitchFamily="34" charset="0"/>
              </a:rPr>
              <a:t>By friendly and professional staff remains the same</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7" name="Picture 6" descr="IMG_2124.jpg"/>
          <p:cNvPicPr>
            <a:picLocks noChangeAspect="1"/>
          </p:cNvPicPr>
          <p:nvPr/>
        </p:nvPicPr>
        <p:blipFill>
          <a:blip r:embed="rId3" cstate="print"/>
          <a:stretch>
            <a:fillRect/>
          </a:stretch>
        </p:blipFill>
        <p:spPr>
          <a:xfrm>
            <a:off x="5940152" y="3645024"/>
            <a:ext cx="2461665" cy="1846249"/>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32848" cy="1143000"/>
          </a:xfrm>
        </p:spPr>
        <p:txBody>
          <a:bodyPr>
            <a:normAutofit/>
          </a:bodyPr>
          <a:lstStyle/>
          <a:p>
            <a:pPr>
              <a:defRPr/>
            </a:pPr>
            <a:r>
              <a:rPr lang="en-US" sz="3200" b="1" dirty="0" smtClean="0">
                <a:solidFill>
                  <a:srgbClr val="FF6600"/>
                </a:solidFill>
                <a:latin typeface="Helvetica" pitchFamily="34" charset="0"/>
              </a:rPr>
              <a:t>Maintaining hygiene in self service operations</a:t>
            </a:r>
          </a:p>
        </p:txBody>
      </p:sp>
      <p:sp>
        <p:nvSpPr>
          <p:cNvPr id="3" name="Content Placeholder 2"/>
          <p:cNvSpPr>
            <a:spLocks noGrp="1"/>
          </p:cNvSpPr>
          <p:nvPr>
            <p:ph idx="1"/>
          </p:nvPr>
        </p:nvSpPr>
        <p:spPr>
          <a:xfrm>
            <a:off x="611560" y="1628800"/>
            <a:ext cx="7467600" cy="5229200"/>
          </a:xfrm>
        </p:spPr>
        <p:txBody>
          <a:bodyPr>
            <a:normAutofit/>
          </a:bodyPr>
          <a:lstStyle/>
          <a:p>
            <a:pPr>
              <a:spcBef>
                <a:spcPts val="600"/>
              </a:spcBef>
              <a:spcAft>
                <a:spcPts val="1200"/>
              </a:spcAft>
              <a:buNone/>
            </a:pPr>
            <a:r>
              <a:rPr lang="en-US" sz="2200" b="1" dirty="0" smtClean="0">
                <a:latin typeface="Helvetica" pitchFamily="34" charset="0"/>
              </a:rPr>
              <a:t>Verify sneeze guards are in place and clean:</a:t>
            </a:r>
          </a:p>
          <a:p>
            <a:pPr>
              <a:spcBef>
                <a:spcPts val="600"/>
              </a:spcBef>
              <a:spcAft>
                <a:spcPts val="1200"/>
              </a:spcAft>
            </a:pPr>
            <a:r>
              <a:rPr lang="en-US" sz="2200" dirty="0" smtClean="0">
                <a:latin typeface="Helvetica" pitchFamily="34" charset="0"/>
              </a:rPr>
              <a:t>Sneeze guards are designed to stop germs, dust and other hygienic risks from falling on the food</a:t>
            </a:r>
          </a:p>
          <a:p>
            <a:pPr>
              <a:spcBef>
                <a:spcPts val="600"/>
              </a:spcBef>
              <a:spcAft>
                <a:spcPts val="1200"/>
              </a:spcAft>
            </a:pPr>
            <a:r>
              <a:rPr lang="en-US" sz="2200" dirty="0" smtClean="0">
                <a:latin typeface="Helvetica" pitchFamily="34" charset="0"/>
              </a:rPr>
              <a:t>Vital the surfaces in the area are clean</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6" name="Picture 5" descr="IMG_2083.jpg"/>
          <p:cNvPicPr>
            <a:picLocks noChangeAspect="1"/>
          </p:cNvPicPr>
          <p:nvPr/>
        </p:nvPicPr>
        <p:blipFill>
          <a:blip r:embed="rId3" cstate="print"/>
          <a:stretch>
            <a:fillRect/>
          </a:stretch>
        </p:blipFill>
        <p:spPr>
          <a:xfrm>
            <a:off x="5796136" y="3789040"/>
            <a:ext cx="2567936" cy="1925952"/>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defRPr/>
            </a:pPr>
            <a:r>
              <a:rPr lang="en-US" sz="3200" b="1" dirty="0" smtClean="0">
                <a:solidFill>
                  <a:srgbClr val="FF6600"/>
                </a:solidFill>
                <a:latin typeface="Helvetica" pitchFamily="34" charset="0"/>
              </a:rPr>
              <a:t>Maintaining hygiene in self service operations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US" sz="2200" b="1" dirty="0" smtClean="0">
                <a:latin typeface="Helvetica" pitchFamily="34" charset="0"/>
              </a:rPr>
              <a:t>Place service utensils on food display</a:t>
            </a:r>
          </a:p>
          <a:p>
            <a:pPr>
              <a:spcBef>
                <a:spcPts val="600"/>
              </a:spcBef>
              <a:spcAft>
                <a:spcPts val="600"/>
              </a:spcAft>
              <a:buNone/>
            </a:pPr>
            <a:r>
              <a:rPr lang="en-US" sz="2200" dirty="0" smtClean="0">
                <a:latin typeface="Helvetica" pitchFamily="34" charset="0"/>
              </a:rPr>
              <a:t>Service utensils must be:</a:t>
            </a:r>
          </a:p>
          <a:p>
            <a:pPr>
              <a:spcBef>
                <a:spcPts val="600"/>
              </a:spcBef>
              <a:spcAft>
                <a:spcPts val="600"/>
              </a:spcAft>
            </a:pPr>
            <a:r>
              <a:rPr lang="en-US" sz="2200" dirty="0" smtClean="0">
                <a:latin typeface="Helvetica" pitchFamily="34" charset="0"/>
              </a:rPr>
              <a:t>Placed with a suitable under plate to prevent spills and drips directly onto food display areas</a:t>
            </a:r>
          </a:p>
          <a:p>
            <a:pPr>
              <a:spcBef>
                <a:spcPts val="600"/>
              </a:spcBef>
              <a:spcAft>
                <a:spcPts val="600"/>
              </a:spcAft>
            </a:pPr>
            <a:r>
              <a:rPr lang="en-US" sz="2200" dirty="0" smtClean="0">
                <a:latin typeface="Helvetica" pitchFamily="34" charset="0"/>
              </a:rPr>
              <a:t>Selected for each individual food item                                       to prevent cross-contamination</a:t>
            </a:r>
          </a:p>
          <a:p>
            <a:pPr>
              <a:spcBef>
                <a:spcPts val="600"/>
              </a:spcBef>
              <a:spcAft>
                <a:spcPts val="600"/>
              </a:spcAft>
            </a:pPr>
            <a:r>
              <a:rPr lang="en-US" sz="2200" dirty="0" smtClean="0">
                <a:latin typeface="Helvetica" pitchFamily="34" charset="0"/>
              </a:rPr>
              <a:t>Suitable for the dish and how it is                                   displayed</a:t>
            </a:r>
          </a:p>
          <a:p>
            <a:pPr>
              <a:spcBef>
                <a:spcPts val="600"/>
              </a:spcBef>
              <a:spcAft>
                <a:spcPts val="600"/>
              </a:spcAft>
            </a:pPr>
            <a:r>
              <a:rPr lang="en-US" sz="2200" dirty="0" smtClean="0">
                <a:latin typeface="Helvetica" pitchFamily="34" charset="0"/>
              </a:rPr>
              <a:t>Appropriate for safety of use</a:t>
            </a: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7" name="Picture 6" descr="IMG_2086.jpg"/>
          <p:cNvPicPr/>
          <p:nvPr/>
        </p:nvPicPr>
        <p:blipFill>
          <a:blip r:embed="rId3" cstate="print"/>
          <a:stretch>
            <a:fillRect/>
          </a:stretch>
        </p:blipFill>
        <p:spPr>
          <a:xfrm>
            <a:off x="5724128" y="3933056"/>
            <a:ext cx="2643206" cy="2071702"/>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defRPr/>
            </a:pPr>
            <a:r>
              <a:rPr lang="en-US" sz="3200" b="1" dirty="0" smtClean="0">
                <a:solidFill>
                  <a:srgbClr val="FF6600"/>
                </a:solidFill>
                <a:latin typeface="Helvetica" pitchFamily="34" charset="0"/>
              </a:rPr>
              <a:t>Maintaining hygiene in self service operations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Protect food from contamination</a:t>
            </a:r>
          </a:p>
          <a:p>
            <a:pPr>
              <a:spcBef>
                <a:spcPts val="600"/>
              </a:spcBef>
              <a:spcAft>
                <a:spcPts val="1200"/>
              </a:spcAft>
              <a:buNone/>
            </a:pPr>
            <a:r>
              <a:rPr lang="en-US" sz="2200" dirty="0" smtClean="0">
                <a:latin typeface="Helvetica" pitchFamily="34" charset="0"/>
              </a:rPr>
              <a:t>Food must:</a:t>
            </a:r>
          </a:p>
          <a:p>
            <a:pPr>
              <a:spcBef>
                <a:spcPts val="600"/>
              </a:spcBef>
              <a:spcAft>
                <a:spcPts val="1200"/>
              </a:spcAft>
            </a:pPr>
            <a:r>
              <a:rPr lang="en-US" sz="2200" dirty="0" smtClean="0">
                <a:latin typeface="Helvetica" pitchFamily="34" charset="0"/>
              </a:rPr>
              <a:t>Appear fresh and appealing</a:t>
            </a:r>
          </a:p>
          <a:p>
            <a:pPr>
              <a:spcBef>
                <a:spcPts val="600"/>
              </a:spcBef>
              <a:spcAft>
                <a:spcPts val="1200"/>
              </a:spcAft>
            </a:pPr>
            <a:r>
              <a:rPr lang="en-US" sz="2200" dirty="0" smtClean="0">
                <a:latin typeface="Helvetica" pitchFamily="34" charset="0"/>
              </a:rPr>
              <a:t>Actually be fresh and free from contamination</a:t>
            </a:r>
          </a:p>
          <a:p>
            <a:pPr>
              <a:spcBef>
                <a:spcPts val="600"/>
              </a:spcBef>
              <a:spcAft>
                <a:spcPts val="1200"/>
              </a:spcAft>
              <a:buNone/>
            </a:pPr>
            <a:r>
              <a:rPr lang="en-US" sz="2200" dirty="0" smtClean="0">
                <a:latin typeface="Helvetica" pitchFamily="34" charset="0"/>
              </a:rPr>
              <a:t>This is achieved through: </a:t>
            </a:r>
          </a:p>
          <a:p>
            <a:pPr>
              <a:spcBef>
                <a:spcPts val="600"/>
              </a:spcBef>
              <a:spcAft>
                <a:spcPts val="1200"/>
              </a:spcAft>
            </a:pPr>
            <a:r>
              <a:rPr lang="en-US" sz="2200" dirty="0" smtClean="0">
                <a:latin typeface="Helvetica" pitchFamily="34" charset="0"/>
              </a:rPr>
              <a:t>Keeping food in its correct temperature zone</a:t>
            </a:r>
          </a:p>
          <a:p>
            <a:pPr>
              <a:spcBef>
                <a:spcPts val="600"/>
              </a:spcBef>
              <a:spcAft>
                <a:spcPts val="1200"/>
              </a:spcAft>
            </a:pPr>
            <a:r>
              <a:rPr lang="en-US" sz="2200" dirty="0" smtClean="0">
                <a:latin typeface="Helvetica" pitchFamily="34" charset="0"/>
              </a:rPr>
              <a:t>Being covered or replaced on a regular basis</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6" name="Picture 5" descr="IMG_2105.jpg"/>
          <p:cNvPicPr/>
          <p:nvPr/>
        </p:nvPicPr>
        <p:blipFill>
          <a:blip r:embed="rId3" cstate="print"/>
          <a:stretch>
            <a:fillRect/>
          </a:stretch>
        </p:blipFill>
        <p:spPr>
          <a:xfrm>
            <a:off x="6876256" y="3429000"/>
            <a:ext cx="1509821" cy="2232248"/>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defRPr/>
            </a:pPr>
            <a:r>
              <a:rPr lang="en-US" sz="3200" b="1" dirty="0" smtClean="0">
                <a:solidFill>
                  <a:srgbClr val="FF6600"/>
                </a:solidFill>
                <a:latin typeface="Helvetica" pitchFamily="34" charset="0"/>
              </a:rPr>
              <a:t>Maintaining hygiene in self service operations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Monitor activities of customers</a:t>
            </a:r>
          </a:p>
          <a:p>
            <a:pPr marL="0">
              <a:spcBef>
                <a:spcPts val="600"/>
              </a:spcBef>
              <a:spcAft>
                <a:spcPts val="1200"/>
              </a:spcAft>
              <a:buNone/>
            </a:pPr>
            <a:r>
              <a:rPr lang="en-US" sz="2200" dirty="0" smtClean="0">
                <a:latin typeface="Helvetica" pitchFamily="34" charset="0"/>
              </a:rPr>
              <a:t>Since hygiene and safety are not the primary concern of customers, they will partake in activities that may affect the quality and safety of the food and themselves:</a:t>
            </a:r>
          </a:p>
          <a:p>
            <a:pPr>
              <a:spcBef>
                <a:spcPts val="600"/>
              </a:spcBef>
              <a:spcAft>
                <a:spcPts val="1200"/>
              </a:spcAft>
            </a:pPr>
            <a:r>
              <a:rPr lang="en-US" sz="2200" dirty="0" smtClean="0">
                <a:latin typeface="Helvetica" pitchFamily="34" charset="0"/>
              </a:rPr>
              <a:t>Items need replacing</a:t>
            </a:r>
          </a:p>
          <a:p>
            <a:pPr>
              <a:spcBef>
                <a:spcPts val="600"/>
              </a:spcBef>
              <a:spcAft>
                <a:spcPts val="1200"/>
              </a:spcAft>
            </a:pPr>
            <a:r>
              <a:rPr lang="en-US" sz="2200" dirty="0" smtClean="0">
                <a:latin typeface="Helvetica" pitchFamily="34" charset="0"/>
              </a:rPr>
              <a:t>Service ware needs changing</a:t>
            </a:r>
          </a:p>
          <a:p>
            <a:pPr>
              <a:spcBef>
                <a:spcPts val="600"/>
              </a:spcBef>
              <a:spcAft>
                <a:spcPts val="1200"/>
              </a:spcAft>
            </a:pPr>
            <a:r>
              <a:rPr lang="en-US" sz="2200" dirty="0" smtClean="0">
                <a:latin typeface="Helvetica" pitchFamily="34" charset="0"/>
              </a:rPr>
              <a:t>Cleaning duties need to be performed</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7" name="Picture 6" descr="IMG_2043.jpg"/>
          <p:cNvPicPr>
            <a:picLocks noChangeAspect="1"/>
          </p:cNvPicPr>
          <p:nvPr/>
        </p:nvPicPr>
        <p:blipFill>
          <a:blip r:embed="rId3" cstate="print"/>
          <a:stretch>
            <a:fillRect/>
          </a:stretch>
        </p:blipFill>
        <p:spPr>
          <a:xfrm>
            <a:off x="6516216" y="3356992"/>
            <a:ext cx="1822506" cy="2430008"/>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200" b="1" dirty="0" smtClean="0">
                <a:solidFill>
                  <a:srgbClr val="FF6600"/>
                </a:solidFill>
                <a:latin typeface="Helvetica" pitchFamily="34" charset="0"/>
              </a:rPr>
              <a:t>Discard contaminated food and/or service utensils</a:t>
            </a:r>
          </a:p>
        </p:txBody>
      </p:sp>
      <p:sp>
        <p:nvSpPr>
          <p:cNvPr id="3" name="Content Placeholder 2"/>
          <p:cNvSpPr>
            <a:spLocks noGrp="1"/>
          </p:cNvSpPr>
          <p:nvPr>
            <p:ph idx="1"/>
          </p:nvPr>
        </p:nvSpPr>
        <p:spPr>
          <a:xfrm>
            <a:off x="611560" y="1556792"/>
            <a:ext cx="7467600" cy="5301208"/>
          </a:xfrm>
        </p:spPr>
        <p:txBody>
          <a:bodyPr>
            <a:normAutofit/>
          </a:bodyPr>
          <a:lstStyle/>
          <a:p>
            <a:pPr marL="342900" lvl="0" indent="-342900" fontAlgn="base">
              <a:spcBef>
                <a:spcPts val="600"/>
              </a:spcBef>
              <a:spcAft>
                <a:spcPts val="1200"/>
              </a:spcAft>
              <a:buNone/>
              <a:defRPr/>
            </a:pPr>
            <a:r>
              <a:rPr lang="en-US" sz="2200" b="1" dirty="0" smtClean="0">
                <a:latin typeface="Helvetica" pitchFamily="34" charset="0"/>
              </a:rPr>
              <a:t>Discard contaminated food:</a:t>
            </a:r>
          </a:p>
          <a:p>
            <a:pPr marL="342900" indent="-342900" fontAlgn="base">
              <a:spcBef>
                <a:spcPts val="600"/>
              </a:spcBef>
              <a:spcAft>
                <a:spcPts val="1200"/>
              </a:spcAft>
              <a:defRPr/>
            </a:pPr>
            <a:r>
              <a:rPr lang="en-US" sz="2200" dirty="0" smtClean="0">
                <a:latin typeface="Helvetica" pitchFamily="34" charset="0"/>
              </a:rPr>
              <a:t>Generally after 30 minutes of exposure</a:t>
            </a:r>
          </a:p>
          <a:p>
            <a:pPr marL="342900" indent="-342900">
              <a:spcBef>
                <a:spcPts val="600"/>
              </a:spcBef>
              <a:spcAft>
                <a:spcPts val="1200"/>
              </a:spcAft>
              <a:defRPr/>
            </a:pPr>
            <a:r>
              <a:rPr lang="en-US" sz="2200" dirty="0" smtClean="0">
                <a:latin typeface="Helvetica" pitchFamily="34" charset="0"/>
              </a:rPr>
              <a:t>Food that appears to be spoilt, unappealing or has physically deteriorated from its desired state</a:t>
            </a:r>
          </a:p>
          <a:p>
            <a:pPr marL="342900" indent="-342900">
              <a:spcBef>
                <a:spcPts val="600"/>
              </a:spcBef>
              <a:spcAft>
                <a:spcPts val="1200"/>
              </a:spcAft>
              <a:defRPr/>
            </a:pPr>
            <a:r>
              <a:rPr lang="en-US" sz="2200" dirty="0" smtClean="0">
                <a:latin typeface="Helvetica" pitchFamily="34" charset="0"/>
              </a:rPr>
              <a:t>Food items have been compromised due to hygiene risks, by staff, customers or the environment</a:t>
            </a:r>
            <a:endParaRPr lang="en-US" sz="2200" b="1"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6" name="Picture 5" descr="IMG_2080.jpg"/>
          <p:cNvPicPr>
            <a:picLocks noChangeAspect="1"/>
          </p:cNvPicPr>
          <p:nvPr/>
        </p:nvPicPr>
        <p:blipFill>
          <a:blip r:embed="rId3" cstate="print"/>
          <a:stretch>
            <a:fillRect/>
          </a:stretch>
        </p:blipFill>
        <p:spPr>
          <a:xfrm>
            <a:off x="6300192" y="4293096"/>
            <a:ext cx="2138442" cy="1648940"/>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16824" cy="1143000"/>
          </a:xfrm>
        </p:spPr>
        <p:txBody>
          <a:bodyPr>
            <a:normAutofit/>
          </a:bodyPr>
          <a:lstStyle/>
          <a:p>
            <a:pPr>
              <a:spcAft>
                <a:spcPts val="600"/>
              </a:spcAft>
            </a:pPr>
            <a:r>
              <a:rPr lang="en-AU" sz="3200" b="1" dirty="0" smtClean="0">
                <a:solidFill>
                  <a:srgbClr val="FF6600"/>
                </a:solidFill>
                <a:latin typeface="Helvetica" pitchFamily="34" charset="0"/>
              </a:rPr>
              <a:t>Discard contaminated food and/or service utensils</a:t>
            </a:r>
          </a:p>
        </p:txBody>
      </p:sp>
      <p:sp>
        <p:nvSpPr>
          <p:cNvPr id="3" name="Content Placeholder 2"/>
          <p:cNvSpPr>
            <a:spLocks noGrp="1"/>
          </p:cNvSpPr>
          <p:nvPr>
            <p:ph idx="1"/>
          </p:nvPr>
        </p:nvSpPr>
        <p:spPr>
          <a:xfrm>
            <a:off x="611560" y="1556792"/>
            <a:ext cx="7467600" cy="5301208"/>
          </a:xfrm>
        </p:spPr>
        <p:txBody>
          <a:bodyPr>
            <a:normAutofit/>
          </a:bodyPr>
          <a:lstStyle/>
          <a:p>
            <a:pPr marL="342900" lvl="0" indent="-342900" fontAlgn="base">
              <a:spcBef>
                <a:spcPts val="600"/>
              </a:spcBef>
              <a:spcAft>
                <a:spcPts val="1200"/>
              </a:spcAft>
              <a:buNone/>
              <a:defRPr/>
            </a:pPr>
            <a:r>
              <a:rPr lang="en-US" sz="2200" b="1" dirty="0" smtClean="0">
                <a:latin typeface="Helvetica" pitchFamily="34" charset="0"/>
              </a:rPr>
              <a:t>Discard contaminated service utensils:</a:t>
            </a:r>
          </a:p>
          <a:p>
            <a:pPr marL="342900" indent="-342900" fontAlgn="base">
              <a:spcBef>
                <a:spcPts val="600"/>
              </a:spcBef>
              <a:spcAft>
                <a:spcPts val="1200"/>
              </a:spcAft>
              <a:defRPr/>
            </a:pPr>
            <a:r>
              <a:rPr lang="en-US" sz="2200" dirty="0" smtClean="0">
                <a:latin typeface="Helvetica" pitchFamily="34" charset="0"/>
              </a:rPr>
              <a:t>Dropped on the floor</a:t>
            </a:r>
          </a:p>
          <a:p>
            <a:pPr marL="342900" indent="-342900" fontAlgn="base">
              <a:spcBef>
                <a:spcPts val="600"/>
              </a:spcBef>
              <a:spcAft>
                <a:spcPts val="1200"/>
              </a:spcAft>
              <a:defRPr/>
            </a:pPr>
            <a:r>
              <a:rPr lang="en-US" sz="2200" dirty="0" smtClean="0">
                <a:latin typeface="Helvetica" pitchFamily="34" charset="0"/>
              </a:rPr>
              <a:t>Used to serve more than 1 food item</a:t>
            </a:r>
          </a:p>
          <a:p>
            <a:pPr marL="342900" indent="-342900" fontAlgn="base">
              <a:spcBef>
                <a:spcPts val="600"/>
              </a:spcBef>
              <a:spcAft>
                <a:spcPts val="1200"/>
              </a:spcAft>
              <a:defRPr/>
            </a:pPr>
            <a:r>
              <a:rPr lang="en-US" sz="2200" dirty="0" smtClean="0">
                <a:latin typeface="Helvetica" pitchFamily="34" charset="0"/>
              </a:rPr>
              <a:t>Has dried food items on its surface</a:t>
            </a:r>
          </a:p>
          <a:p>
            <a:pPr marL="342900" indent="-342900" fontAlgn="base">
              <a:spcBef>
                <a:spcPts val="600"/>
              </a:spcBef>
              <a:spcAft>
                <a:spcPts val="1200"/>
              </a:spcAft>
              <a:defRPr/>
            </a:pPr>
            <a:r>
              <a:rPr lang="en-US" sz="2200" dirty="0" smtClean="0">
                <a:latin typeface="Helvetica" pitchFamily="34" charset="0"/>
              </a:rPr>
              <a:t>Has been used as a tasting spoon </a:t>
            </a:r>
            <a:br>
              <a:rPr lang="en-US" sz="2200" dirty="0" smtClean="0">
                <a:latin typeface="Helvetica" pitchFamily="34" charset="0"/>
              </a:rPr>
            </a:br>
            <a:r>
              <a:rPr lang="en-US" sz="2200" dirty="0" smtClean="0">
                <a:latin typeface="Helvetica" pitchFamily="34" charset="0"/>
              </a:rPr>
              <a:t>by customers</a:t>
            </a:r>
          </a:p>
          <a:p>
            <a:pPr marL="342900" indent="-342900" fontAlgn="base">
              <a:spcBef>
                <a:spcPts val="600"/>
              </a:spcBef>
              <a:spcAft>
                <a:spcPts val="1200"/>
              </a:spcAft>
              <a:defRPr/>
            </a:pPr>
            <a:r>
              <a:rPr lang="en-US" sz="2200" dirty="0" smtClean="0">
                <a:latin typeface="Helvetica" pitchFamily="34" charset="0"/>
              </a:rPr>
              <a:t>Appears unhygienic</a:t>
            </a:r>
          </a:p>
          <a:p>
            <a:pPr marL="342900" indent="-342900" fontAlgn="base">
              <a:spcBef>
                <a:spcPts val="600"/>
              </a:spcBef>
              <a:spcAft>
                <a:spcPts val="1200"/>
              </a:spcAft>
              <a:defRPr/>
            </a:pPr>
            <a:r>
              <a:rPr lang="en-US" sz="2200" dirty="0" smtClean="0">
                <a:latin typeface="Helvetica" pitchFamily="34" charset="0"/>
              </a:rPr>
              <a:t>Has been used for longer than 30 minutes</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7" name="Picture 6" descr="IMG_2077.jpg"/>
          <p:cNvPicPr>
            <a:picLocks noChangeAspect="1"/>
          </p:cNvPicPr>
          <p:nvPr/>
        </p:nvPicPr>
        <p:blipFill>
          <a:blip r:embed="rId3" cstate="print"/>
          <a:stretch>
            <a:fillRect/>
          </a:stretch>
        </p:blipFill>
        <p:spPr>
          <a:xfrm>
            <a:off x="6300192" y="3717032"/>
            <a:ext cx="2085603" cy="1564202"/>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200" b="1" dirty="0" smtClean="0">
                <a:solidFill>
                  <a:srgbClr val="FF6600"/>
                </a:solidFill>
                <a:latin typeface="Helvetica" pitchFamily="34" charset="0"/>
              </a:rPr>
              <a:t>Replenish food and other items on display as required</a:t>
            </a:r>
          </a:p>
        </p:txBody>
      </p:sp>
      <p:sp>
        <p:nvSpPr>
          <p:cNvPr id="3" name="Content Placeholder 2"/>
          <p:cNvSpPr>
            <a:spLocks noGrp="1"/>
          </p:cNvSpPr>
          <p:nvPr>
            <p:ph idx="1"/>
          </p:nvPr>
        </p:nvSpPr>
        <p:spPr>
          <a:xfrm>
            <a:off x="611560" y="1556792"/>
            <a:ext cx="7467600" cy="5301208"/>
          </a:xfrm>
        </p:spPr>
        <p:txBody>
          <a:bodyPr>
            <a:normAutofit/>
          </a:bodyPr>
          <a:lstStyle/>
          <a:p>
            <a:pPr marL="342900" lvl="0" indent="-342900" fontAlgn="base">
              <a:spcBef>
                <a:spcPts val="600"/>
              </a:spcBef>
              <a:spcAft>
                <a:spcPts val="1200"/>
              </a:spcAft>
              <a:buNone/>
              <a:defRPr/>
            </a:pPr>
            <a:r>
              <a:rPr lang="en-US" sz="2200" b="1" dirty="0" smtClean="0">
                <a:latin typeface="Helvetica" pitchFamily="34" charset="0"/>
              </a:rPr>
              <a:t>Replenish food:</a:t>
            </a:r>
          </a:p>
          <a:p>
            <a:pPr marL="342900" indent="-342900">
              <a:spcBef>
                <a:spcPts val="600"/>
              </a:spcBef>
              <a:spcAft>
                <a:spcPts val="1200"/>
              </a:spcAft>
              <a:defRPr/>
            </a:pPr>
            <a:r>
              <a:rPr lang="en-US" sz="2200" dirty="0" smtClean="0">
                <a:latin typeface="Helvetica" pitchFamily="34" charset="0"/>
              </a:rPr>
              <a:t>The aim of any buffet or display area is to present the food in its most </a:t>
            </a:r>
            <a:r>
              <a:rPr lang="en-US" sz="2200" u="sng" dirty="0" smtClean="0">
                <a:latin typeface="Helvetica" pitchFamily="34" charset="0"/>
              </a:rPr>
              <a:t>desirable state </a:t>
            </a:r>
            <a:r>
              <a:rPr lang="en-US" sz="2200" dirty="0" smtClean="0">
                <a:latin typeface="Helvetica" pitchFamily="34" charset="0"/>
              </a:rPr>
              <a:t>in the </a:t>
            </a:r>
            <a:r>
              <a:rPr lang="en-US" sz="2200" u="sng" dirty="0" smtClean="0">
                <a:latin typeface="Helvetica" pitchFamily="34" charset="0"/>
              </a:rPr>
              <a:t>right quality</a:t>
            </a:r>
            <a:endParaRPr lang="en-US" sz="2200" dirty="0" smtClean="0">
              <a:latin typeface="Helvetica" pitchFamily="34" charset="0"/>
            </a:endParaRPr>
          </a:p>
          <a:p>
            <a:pPr marL="342900" indent="-342900" fontAlgn="base">
              <a:spcBef>
                <a:spcPts val="600"/>
              </a:spcBef>
              <a:spcAft>
                <a:spcPts val="1200"/>
              </a:spcAft>
              <a:defRPr/>
            </a:pPr>
            <a:r>
              <a:rPr lang="en-US" sz="2200" dirty="0" smtClean="0">
                <a:latin typeface="Helvetica" pitchFamily="34" charset="0"/>
              </a:rPr>
              <a:t>Communication with kitchen is vital</a:t>
            </a: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8" name="Picture 7" descr="IMG_2051.jpg"/>
          <p:cNvPicPr>
            <a:picLocks noChangeAspect="1"/>
          </p:cNvPicPr>
          <p:nvPr/>
        </p:nvPicPr>
        <p:blipFill>
          <a:blip r:embed="rId3" cstate="print"/>
          <a:stretch>
            <a:fillRect/>
          </a:stretch>
        </p:blipFill>
        <p:spPr>
          <a:xfrm>
            <a:off x="6156176" y="3645024"/>
            <a:ext cx="2252291" cy="1689219"/>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200" b="1" dirty="0" smtClean="0">
                <a:solidFill>
                  <a:srgbClr val="FF6600"/>
                </a:solidFill>
                <a:latin typeface="Helvetica" pitchFamily="34" charset="0"/>
              </a:rPr>
              <a:t>Replenish food and other items on display as required</a:t>
            </a:r>
          </a:p>
        </p:txBody>
      </p:sp>
      <p:sp>
        <p:nvSpPr>
          <p:cNvPr id="3" name="Content Placeholder 2"/>
          <p:cNvSpPr>
            <a:spLocks noGrp="1"/>
          </p:cNvSpPr>
          <p:nvPr>
            <p:ph idx="1"/>
          </p:nvPr>
        </p:nvSpPr>
        <p:spPr>
          <a:xfrm>
            <a:off x="611560" y="1556792"/>
            <a:ext cx="7467600" cy="5301208"/>
          </a:xfrm>
        </p:spPr>
        <p:txBody>
          <a:bodyPr>
            <a:normAutofit/>
          </a:bodyPr>
          <a:lstStyle/>
          <a:p>
            <a:pPr marL="342900" lvl="0" indent="-342900" fontAlgn="base">
              <a:spcBef>
                <a:spcPts val="600"/>
              </a:spcBef>
              <a:spcAft>
                <a:spcPts val="600"/>
              </a:spcAft>
              <a:buNone/>
              <a:defRPr/>
            </a:pPr>
            <a:r>
              <a:rPr lang="en-US" sz="2200" b="1" dirty="0" smtClean="0">
                <a:latin typeface="Helvetica" pitchFamily="34" charset="0"/>
              </a:rPr>
              <a:t>Replenish other items</a:t>
            </a:r>
          </a:p>
          <a:p>
            <a:pPr marL="342900" indent="-342900">
              <a:spcBef>
                <a:spcPts val="600"/>
              </a:spcBef>
              <a:spcAft>
                <a:spcPts val="600"/>
              </a:spcAft>
              <a:defRPr/>
            </a:pPr>
            <a:r>
              <a:rPr lang="en-US" sz="2200" dirty="0" smtClean="0">
                <a:latin typeface="Helvetica" pitchFamily="34" charset="0"/>
              </a:rPr>
              <a:t>Service utensils</a:t>
            </a:r>
          </a:p>
          <a:p>
            <a:pPr marL="342900" indent="-342900">
              <a:spcBef>
                <a:spcPts val="600"/>
              </a:spcBef>
              <a:spcAft>
                <a:spcPts val="600"/>
              </a:spcAft>
              <a:defRPr/>
            </a:pPr>
            <a:r>
              <a:rPr lang="en-US" sz="2200" dirty="0" smtClean="0">
                <a:latin typeface="Helvetica" pitchFamily="34" charset="0"/>
              </a:rPr>
              <a:t>Crockery including plates, bowls and side plates</a:t>
            </a:r>
          </a:p>
          <a:p>
            <a:pPr marL="342900" indent="-342900">
              <a:spcBef>
                <a:spcPts val="600"/>
              </a:spcBef>
              <a:spcAft>
                <a:spcPts val="600"/>
              </a:spcAft>
              <a:defRPr/>
            </a:pPr>
            <a:r>
              <a:rPr lang="en-US" sz="2200" dirty="0" smtClean="0">
                <a:latin typeface="Helvetica" pitchFamily="34" charset="0"/>
              </a:rPr>
              <a:t>Cutlery including knives, forks and spoons</a:t>
            </a:r>
          </a:p>
          <a:p>
            <a:pPr marL="342900" indent="-342900">
              <a:spcBef>
                <a:spcPts val="600"/>
              </a:spcBef>
              <a:spcAft>
                <a:spcPts val="600"/>
              </a:spcAft>
              <a:defRPr/>
            </a:pPr>
            <a:r>
              <a:rPr lang="en-US" sz="2200" dirty="0" smtClean="0">
                <a:latin typeface="Helvetica" pitchFamily="34" charset="0"/>
              </a:rPr>
              <a:t>Glassware or containers for beverages</a:t>
            </a:r>
          </a:p>
          <a:p>
            <a:pPr marL="342900" indent="-342900">
              <a:spcBef>
                <a:spcPts val="600"/>
              </a:spcBef>
              <a:spcAft>
                <a:spcPts val="600"/>
              </a:spcAft>
              <a:defRPr/>
            </a:pPr>
            <a:r>
              <a:rPr lang="en-US" sz="2200" dirty="0" smtClean="0">
                <a:latin typeface="Helvetica" pitchFamily="34" charset="0"/>
              </a:rPr>
              <a:t>Napkins</a:t>
            </a:r>
          </a:p>
          <a:p>
            <a:pPr marL="342900" indent="-342900">
              <a:spcBef>
                <a:spcPts val="600"/>
              </a:spcBef>
              <a:spcAft>
                <a:spcPts val="600"/>
              </a:spcAft>
              <a:defRPr/>
            </a:pPr>
            <a:r>
              <a:rPr lang="en-US" sz="2200" dirty="0" smtClean="0">
                <a:latin typeface="Helvetica" pitchFamily="34" charset="0"/>
              </a:rPr>
              <a:t>Service trays</a:t>
            </a:r>
          </a:p>
          <a:p>
            <a:pPr marL="342900" indent="-342900">
              <a:spcBef>
                <a:spcPts val="600"/>
              </a:spcBef>
              <a:spcAft>
                <a:spcPts val="600"/>
              </a:spcAft>
              <a:defRPr/>
            </a:pPr>
            <a:r>
              <a:rPr lang="en-US" sz="2200" dirty="0" smtClean="0">
                <a:latin typeface="Helvetica" pitchFamily="34" charset="0"/>
              </a:rPr>
              <a:t>Condiments including sauces, salt                                and pepper, sugar and milks</a:t>
            </a:r>
          </a:p>
          <a:p>
            <a:pPr>
              <a:spcAft>
                <a:spcPts val="600"/>
              </a:spcAft>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6" name="Picture 5" descr="IMG_2029.jpg"/>
          <p:cNvPicPr>
            <a:picLocks noChangeAspect="1"/>
          </p:cNvPicPr>
          <p:nvPr/>
        </p:nvPicPr>
        <p:blipFill>
          <a:blip r:embed="rId3" cstate="print"/>
          <a:stretch>
            <a:fillRect/>
          </a:stretch>
        </p:blipFill>
        <p:spPr>
          <a:xfrm>
            <a:off x="6300192" y="3789040"/>
            <a:ext cx="2088232" cy="1566174"/>
          </a:xfrm>
          <a:prstGeom prst="rect">
            <a:avLst/>
          </a:prstGeom>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Comply with correct laws and practices</a:t>
            </a: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pPr>
            <a:r>
              <a:rPr lang="en-AU" sz="2200" dirty="0" smtClean="0">
                <a:latin typeface="Helvetica" pitchFamily="34" charset="0"/>
              </a:rPr>
              <a:t>Every food and beverage outlet will have their own policies and procedures in relation to handling food in a safe and hygienic manner</a:t>
            </a:r>
          </a:p>
          <a:p>
            <a:pPr>
              <a:spcBef>
                <a:spcPts val="600"/>
              </a:spcBef>
              <a:spcAft>
                <a:spcPts val="1200"/>
              </a:spcAft>
            </a:pPr>
            <a:r>
              <a:rPr lang="en-AU" sz="2200" dirty="0" smtClean="0">
                <a:latin typeface="Helvetica" pitchFamily="34" charset="0"/>
              </a:rPr>
              <a:t>Many of these policies and procedures are based on local laws and regulations</a:t>
            </a:r>
          </a:p>
          <a:p>
            <a:pPr>
              <a:spcBef>
                <a:spcPts val="600"/>
              </a:spcBef>
              <a:spcAft>
                <a:spcPts val="1200"/>
              </a:spcAft>
            </a:pPr>
            <a:r>
              <a:rPr lang="en-AU" sz="2200" b="1" dirty="0" smtClean="0">
                <a:latin typeface="Helvetica" pitchFamily="34" charset="0"/>
              </a:rPr>
              <a:t>It is important that all trainers, trainees and any persons working with food understand the local laws and regulations that apply in their country and region</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7" name="Picture 6" descr="IMG_2084.jpg"/>
          <p:cNvPicPr>
            <a:picLocks noChangeAspect="1"/>
          </p:cNvPicPr>
          <p:nvPr/>
        </p:nvPicPr>
        <p:blipFill>
          <a:blip r:embed="rId3" cstate="print"/>
          <a:stretch>
            <a:fillRect/>
          </a:stretch>
        </p:blipFill>
        <p:spPr>
          <a:xfrm>
            <a:off x="6444208" y="4591278"/>
            <a:ext cx="1979712" cy="1320467"/>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Comply with correct laws and practices</a:t>
            </a: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600"/>
              </a:spcAft>
              <a:buNone/>
            </a:pPr>
            <a:r>
              <a:rPr lang="en-AU" sz="2200" b="1" dirty="0" smtClean="0">
                <a:latin typeface="Helvetica" pitchFamily="34" charset="0"/>
              </a:rPr>
              <a:t>Legal requirements</a:t>
            </a:r>
            <a:endParaRPr lang="en-AU" sz="2200" dirty="0" smtClean="0">
              <a:latin typeface="Helvetica" pitchFamily="34" charset="0"/>
            </a:endParaRPr>
          </a:p>
          <a:p>
            <a:pPr marL="0">
              <a:spcBef>
                <a:spcPts val="600"/>
              </a:spcBef>
              <a:spcAft>
                <a:spcPts val="600"/>
              </a:spcAft>
              <a:buNone/>
            </a:pPr>
            <a:r>
              <a:rPr lang="en-AU" sz="2200" dirty="0" smtClean="0">
                <a:latin typeface="Helvetica" pitchFamily="34" charset="0"/>
              </a:rPr>
              <a:t>Whilst these may differ, commonly you will be required to ensure that:</a:t>
            </a:r>
          </a:p>
          <a:p>
            <a:pPr lvl="0">
              <a:spcBef>
                <a:spcPts val="600"/>
              </a:spcBef>
              <a:spcAft>
                <a:spcPts val="600"/>
              </a:spcAft>
            </a:pPr>
            <a:r>
              <a:rPr lang="en-AU" sz="2200" dirty="0" smtClean="0">
                <a:latin typeface="Helvetica" pitchFamily="34" charset="0"/>
              </a:rPr>
              <a:t>All personal hygiene practices are followed when handling food at any time</a:t>
            </a:r>
          </a:p>
          <a:p>
            <a:pPr lvl="0">
              <a:spcBef>
                <a:spcPts val="600"/>
              </a:spcBef>
              <a:spcAft>
                <a:spcPts val="600"/>
              </a:spcAft>
            </a:pPr>
            <a:r>
              <a:rPr lang="en-AU" sz="2200" dirty="0" smtClean="0">
                <a:latin typeface="Helvetica" pitchFamily="34" charset="0"/>
              </a:rPr>
              <a:t>Display units must be kept clean and cleaned after every service session</a:t>
            </a:r>
          </a:p>
          <a:p>
            <a:pPr lvl="0">
              <a:spcBef>
                <a:spcPts val="600"/>
              </a:spcBef>
              <a:spcAft>
                <a:spcPts val="600"/>
              </a:spcAft>
            </a:pPr>
            <a:r>
              <a:rPr lang="en-AU" sz="2200" dirty="0" smtClean="0">
                <a:latin typeface="Helvetica" pitchFamily="34" charset="0"/>
              </a:rPr>
              <a:t>Food items are not topped-up when they run low</a:t>
            </a:r>
          </a:p>
          <a:p>
            <a:pPr lvl="0">
              <a:spcBef>
                <a:spcPts val="600"/>
              </a:spcBef>
              <a:spcAft>
                <a:spcPts val="600"/>
              </a:spcAft>
            </a:pPr>
            <a:r>
              <a:rPr lang="en-AU" sz="2200" dirty="0" smtClean="0">
                <a:latin typeface="Helvetica" pitchFamily="34" charset="0"/>
              </a:rPr>
              <a:t>Display units are used only to hold cold or                            hot food at the required temperatures</a:t>
            </a:r>
          </a:p>
          <a:p>
            <a:pPr lvl="0">
              <a:spcBef>
                <a:spcPts val="600"/>
              </a:spcBef>
              <a:spcAft>
                <a:spcPts val="600"/>
              </a:spcAft>
            </a:pPr>
            <a:endParaRPr lang="en-AU" sz="2400" dirty="0" smtClean="0"/>
          </a:p>
          <a:p>
            <a:pPr>
              <a:spcBef>
                <a:spcPts val="600"/>
              </a:spcBef>
              <a:spcAft>
                <a:spcPts val="600"/>
              </a:spcAft>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6" name="Picture 5" descr="IMG_2094.jpg"/>
          <p:cNvPicPr>
            <a:picLocks noChangeAspect="1"/>
          </p:cNvPicPr>
          <p:nvPr/>
        </p:nvPicPr>
        <p:blipFill>
          <a:blip r:embed="rId3" cstate="print"/>
          <a:stretch>
            <a:fillRect/>
          </a:stretch>
        </p:blipFill>
        <p:spPr>
          <a:xfrm>
            <a:off x="6444208" y="4581128"/>
            <a:ext cx="1920213" cy="1440160"/>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Comply with correct laws and practices</a:t>
            </a:r>
          </a:p>
        </p:txBody>
      </p:sp>
      <p:sp>
        <p:nvSpPr>
          <p:cNvPr id="3" name="Content Placeholder 2"/>
          <p:cNvSpPr>
            <a:spLocks noGrp="1"/>
          </p:cNvSpPr>
          <p:nvPr>
            <p:ph idx="1"/>
          </p:nvPr>
        </p:nvSpPr>
        <p:spPr>
          <a:xfrm>
            <a:off x="611560" y="1196752"/>
            <a:ext cx="7632848" cy="5661248"/>
          </a:xfrm>
        </p:spPr>
        <p:txBody>
          <a:bodyPr>
            <a:normAutofit/>
          </a:bodyPr>
          <a:lstStyle/>
          <a:p>
            <a:pPr>
              <a:spcBef>
                <a:spcPts val="600"/>
              </a:spcBef>
              <a:spcAft>
                <a:spcPts val="1200"/>
              </a:spcAft>
              <a:buNone/>
            </a:pPr>
            <a:r>
              <a:rPr lang="en-AU" sz="2200" b="1" dirty="0" smtClean="0">
                <a:latin typeface="Helvetica" pitchFamily="34" charset="0"/>
              </a:rPr>
              <a:t>Legal requirements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Hot food should be held at 60ºC or above</a:t>
            </a:r>
          </a:p>
          <a:p>
            <a:pPr lvl="0">
              <a:spcBef>
                <a:spcPts val="600"/>
              </a:spcBef>
              <a:spcAft>
                <a:spcPts val="1200"/>
              </a:spcAft>
            </a:pPr>
            <a:r>
              <a:rPr lang="en-AU" sz="2200" dirty="0" smtClean="0">
                <a:latin typeface="Helvetica" pitchFamily="34" charset="0"/>
              </a:rPr>
              <a:t>Refrigerated foods should be held at 5ºC or below</a:t>
            </a:r>
          </a:p>
          <a:p>
            <a:pPr lvl="0">
              <a:spcBef>
                <a:spcPts val="600"/>
              </a:spcBef>
              <a:spcAft>
                <a:spcPts val="1200"/>
              </a:spcAft>
            </a:pPr>
            <a:r>
              <a:rPr lang="en-AU" sz="2200" dirty="0" smtClean="0">
                <a:latin typeface="Helvetica" pitchFamily="34" charset="0"/>
              </a:rPr>
              <a:t>Any food that is not held outside the Temperature Danger Zone must only spend 4 hours in that Zone</a:t>
            </a:r>
          </a:p>
          <a:p>
            <a:pPr lvl="0">
              <a:spcBef>
                <a:spcPts val="600"/>
              </a:spcBef>
              <a:spcAft>
                <a:spcPts val="1200"/>
              </a:spcAft>
            </a:pPr>
            <a:r>
              <a:rPr lang="en-AU" sz="2200" dirty="0" smtClean="0">
                <a:latin typeface="Helvetica" pitchFamily="34" charset="0"/>
              </a:rPr>
              <a:t>Separate utensils should be used to                                          handle different foods in the display</a:t>
            </a:r>
          </a:p>
          <a:p>
            <a:pPr lvl="0">
              <a:spcBef>
                <a:spcPts val="600"/>
              </a:spcBef>
              <a:spcAft>
                <a:spcPts val="1200"/>
              </a:spcAft>
            </a:pPr>
            <a:r>
              <a:rPr lang="en-AU" sz="2200" dirty="0" smtClean="0">
                <a:latin typeface="Helvetica" pitchFamily="34" charset="0"/>
              </a:rPr>
              <a:t>Any doors on the display units must be                                             kept closed </a:t>
            </a:r>
          </a:p>
          <a:p>
            <a:pPr lvl="0"/>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5" name="Picture 4" descr="IMG_2086.jpg"/>
          <p:cNvPicPr>
            <a:picLocks noChangeAspect="1"/>
          </p:cNvPicPr>
          <p:nvPr/>
        </p:nvPicPr>
        <p:blipFill>
          <a:blip r:embed="rId3" cstate="print"/>
          <a:stretch>
            <a:fillRect/>
          </a:stretch>
        </p:blipFill>
        <p:spPr>
          <a:xfrm>
            <a:off x="6084168" y="3933056"/>
            <a:ext cx="2267744" cy="1700808"/>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5" name="Picture 10" descr="Waiters"/>
          <p:cNvPicPr>
            <a:picLocks noChangeAspect="1" noChangeArrowheads="1"/>
          </p:cNvPicPr>
          <p:nvPr/>
        </p:nvPicPr>
        <p:blipFill>
          <a:blip r:embed="rId3" cstate="print"/>
          <a:srcRect/>
          <a:stretch>
            <a:fillRect/>
          </a:stretch>
        </p:blipFill>
        <p:spPr bwMode="auto">
          <a:xfrm>
            <a:off x="2555776" y="2780928"/>
            <a:ext cx="2271456" cy="2221031"/>
          </a:xfrm>
          <a:prstGeom prst="rect">
            <a:avLst/>
          </a:prstGeom>
          <a:noFill/>
        </p:spPr>
      </p:pic>
      <p:grpSp>
        <p:nvGrpSpPr>
          <p:cNvPr id="6" name="Group 5"/>
          <p:cNvGrpSpPr/>
          <p:nvPr/>
        </p:nvGrpSpPr>
        <p:grpSpPr>
          <a:xfrm>
            <a:off x="1259632" y="1700808"/>
            <a:ext cx="4248472" cy="665163"/>
            <a:chOff x="1752600" y="2057400"/>
            <a:chExt cx="4248472" cy="665163"/>
          </a:xfrm>
        </p:grpSpPr>
        <p:grpSp>
          <p:nvGrpSpPr>
            <p:cNvPr id="7" name="Group 4"/>
            <p:cNvGrpSpPr>
              <a:grpSpLocks/>
            </p:cNvGrpSpPr>
            <p:nvPr/>
          </p:nvGrpSpPr>
          <p:grpSpPr bwMode="auto">
            <a:xfrm>
              <a:off x="1752600" y="2057400"/>
              <a:ext cx="762000" cy="665163"/>
              <a:chOff x="1110" y="2656"/>
              <a:chExt cx="1549" cy="1351"/>
            </a:xfrm>
          </p:grpSpPr>
          <p:sp>
            <p:nvSpPr>
              <p:cNvPr id="11"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12"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13" name="AutoShape 7"/>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8" name="Line 8"/>
            <p:cNvSpPr>
              <a:spLocks noChangeShapeType="1"/>
            </p:cNvSpPr>
            <p:nvPr/>
          </p:nvSpPr>
          <p:spPr bwMode="auto">
            <a:xfrm>
              <a:off x="2362200" y="2667000"/>
              <a:ext cx="36000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9" name="Text Box 9"/>
            <p:cNvSpPr txBox="1">
              <a:spLocks noChangeArrowheads="1"/>
            </p:cNvSpPr>
            <p:nvPr/>
          </p:nvSpPr>
          <p:spPr bwMode="auto">
            <a:xfrm>
              <a:off x="2544688" y="2129408"/>
              <a:ext cx="3456384" cy="461665"/>
            </a:xfrm>
            <a:prstGeom prst="rect">
              <a:avLst/>
            </a:prstGeom>
            <a:noFill/>
            <a:ln w="9525" algn="ctr">
              <a:noFill/>
              <a:miter lim="800000"/>
              <a:headEnd/>
              <a:tailEnd/>
            </a:ln>
          </p:spPr>
          <p:txBody>
            <a:bodyPr wrap="square">
              <a:spAutoFit/>
            </a:bodyPr>
            <a:lstStyle/>
            <a:p>
              <a:pPr lvl="0"/>
              <a:r>
                <a:rPr lang="en-AU" sz="2400" b="1" dirty="0" smtClean="0">
                  <a:solidFill>
                    <a:srgbClr val="FF6600"/>
                  </a:solidFill>
                  <a:latin typeface="Helvetica" pitchFamily="34" charset="0"/>
                </a:rPr>
                <a:t>Provide table service</a:t>
              </a:r>
            </a:p>
          </p:txBody>
        </p:sp>
        <p:sp>
          <p:nvSpPr>
            <p:cNvPr id="10" name="Text Box 10"/>
            <p:cNvSpPr txBox="1">
              <a:spLocks noChangeArrowheads="1"/>
            </p:cNvSpPr>
            <p:nvPr/>
          </p:nvSpPr>
          <p:spPr bwMode="gray">
            <a:xfrm>
              <a:off x="1949450" y="2155825"/>
              <a:ext cx="354013" cy="457200"/>
            </a:xfrm>
            <a:prstGeom prst="rect">
              <a:avLst/>
            </a:prstGeom>
            <a:noFill/>
            <a:ln w="9525" algn="ctr">
              <a:noFill/>
              <a:miter lim="800000"/>
              <a:headEnd/>
              <a:tailEnd/>
            </a:ln>
          </p:spPr>
          <p:txBody>
            <a:bodyPr wrap="none">
              <a:spAutoFit/>
            </a:bodyPr>
            <a:lstStyle/>
            <a:p>
              <a:pPr algn="ctr" eaLnBrk="0" hangingPunct="0"/>
              <a:r>
                <a:rPr lang="en-AU" sz="2400" b="1" dirty="0" smtClean="0">
                  <a:solidFill>
                    <a:schemeClr val="bg1"/>
                  </a:solidFill>
                  <a:latin typeface="Helvetica" pitchFamily="34" charset="0"/>
                </a:rPr>
                <a:t>4</a:t>
              </a:r>
              <a:endParaRPr lang="en-AU" sz="2400" b="1" dirty="0">
                <a:solidFill>
                  <a:schemeClr val="bg1"/>
                </a:solidFill>
                <a:latin typeface="Helvetica" pitchFamily="34" charset="0"/>
              </a:endParaRPr>
            </a:p>
          </p:txBody>
        </p:sp>
      </p:gr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pPr marL="0" lvl="0"/>
            <a:r>
              <a:rPr lang="en-AU" sz="3200" b="1" dirty="0" smtClean="0">
                <a:solidFill>
                  <a:srgbClr val="FF6600"/>
                </a:solidFill>
                <a:latin typeface="Helvetica" pitchFamily="34" charset="0"/>
              </a:rPr>
              <a:t>Provide table service</a:t>
            </a: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Receive customer orders </a:t>
            </a:r>
          </a:p>
          <a:p>
            <a:pPr>
              <a:spcBef>
                <a:spcPts val="600"/>
              </a:spcBef>
              <a:spcAft>
                <a:spcPts val="1200"/>
              </a:spcAft>
            </a:pPr>
            <a:r>
              <a:rPr lang="en-AU" sz="2200" dirty="0" smtClean="0">
                <a:latin typeface="Helvetica" pitchFamily="34" charset="0"/>
              </a:rPr>
              <a:t>Check product and/or brand preferences with customer in a courteous manner</a:t>
            </a:r>
          </a:p>
          <a:p>
            <a:pPr>
              <a:spcBef>
                <a:spcPts val="600"/>
              </a:spcBef>
              <a:spcAft>
                <a:spcPts val="1200"/>
              </a:spcAft>
            </a:pPr>
            <a:r>
              <a:rPr lang="en-AU" sz="2200" dirty="0" smtClean="0">
                <a:latin typeface="Helvetica" pitchFamily="34" charset="0"/>
              </a:rPr>
              <a:t>Provide clear and helpful recommendations or information to customers on selection of food </a:t>
            </a:r>
            <a:br>
              <a:rPr lang="en-AU" sz="2200" dirty="0" smtClean="0">
                <a:latin typeface="Helvetica" pitchFamily="34" charset="0"/>
              </a:rPr>
            </a:br>
            <a:r>
              <a:rPr lang="en-AU" sz="2200" dirty="0" smtClean="0">
                <a:latin typeface="Helvetica" pitchFamily="34" charset="0"/>
              </a:rPr>
              <a:t>or drinks, if required</a:t>
            </a:r>
          </a:p>
          <a:p>
            <a:pPr>
              <a:spcBef>
                <a:spcPts val="600"/>
              </a:spcBef>
              <a:spcAft>
                <a:spcPts val="1200"/>
              </a:spcAft>
            </a:pPr>
            <a:r>
              <a:rPr lang="en-AU" sz="2200" dirty="0" smtClean="0">
                <a:latin typeface="Helvetica" pitchFamily="34" charset="0"/>
              </a:rPr>
              <a:t>Serve food and drink according to enterprise requirements and personal hygiene standards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6" name="Picture 5" descr="MP900443470[1].JPG"/>
          <p:cNvPicPr>
            <a:picLocks noChangeAspect="1"/>
          </p:cNvPicPr>
          <p:nvPr/>
        </p:nvPicPr>
        <p:blipFill>
          <a:blip r:embed="rId3" cstate="print"/>
          <a:stretch>
            <a:fillRect/>
          </a:stretch>
        </p:blipFill>
        <p:spPr>
          <a:xfrm>
            <a:off x="7020272" y="3068960"/>
            <a:ext cx="1391265" cy="2055044"/>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Provide table service</a:t>
            </a:r>
          </a:p>
        </p:txBody>
      </p:sp>
      <p:sp>
        <p:nvSpPr>
          <p:cNvPr id="3" name="Content Placeholder 2"/>
          <p:cNvSpPr>
            <a:spLocks noGrp="1"/>
          </p:cNvSpPr>
          <p:nvPr>
            <p:ph idx="1"/>
          </p:nvPr>
        </p:nvSpPr>
        <p:spPr>
          <a:xfrm>
            <a:off x="611560" y="1268760"/>
            <a:ext cx="7467600" cy="5589240"/>
          </a:xfrm>
        </p:spPr>
        <p:txBody>
          <a:bodyPr>
            <a:normAutofit/>
          </a:bodyPr>
          <a:lstStyle/>
          <a:p>
            <a:pPr marL="0">
              <a:spcBef>
                <a:spcPts val="600"/>
              </a:spcBef>
              <a:spcAft>
                <a:spcPts val="1200"/>
              </a:spcAft>
              <a:buNone/>
            </a:pPr>
            <a:r>
              <a:rPr lang="en-AU" sz="2200" dirty="0" smtClean="0">
                <a:latin typeface="Helvetica" pitchFamily="34" charset="0"/>
              </a:rPr>
              <a:t>In section 2 of this manual, the steps associated with a common ‘dine in’ service cycle were explained up to and including the point where the order has been given to the respective person whom will prepare the food or beverage items:</a:t>
            </a:r>
          </a:p>
          <a:p>
            <a:pPr>
              <a:spcBef>
                <a:spcPts val="600"/>
              </a:spcBef>
              <a:spcAft>
                <a:spcPts val="1200"/>
              </a:spcAft>
            </a:pPr>
            <a:r>
              <a:rPr lang="en-AU" sz="2200" dirty="0" smtClean="0">
                <a:latin typeface="Helvetica" pitchFamily="34" charset="0"/>
              </a:rPr>
              <a:t>What activities take place after the order has been lodged?</a:t>
            </a:r>
          </a:p>
          <a:p>
            <a:pPr lvl="0"/>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6" name="Picture 5" descr="13756_15n.jpg"/>
          <p:cNvPicPr>
            <a:picLocks noChangeAspect="1"/>
          </p:cNvPicPr>
          <p:nvPr/>
        </p:nvPicPr>
        <p:blipFill>
          <a:blip r:embed="rId3" cstate="print"/>
          <a:stretch>
            <a:fillRect/>
          </a:stretch>
        </p:blipFill>
        <p:spPr>
          <a:xfrm>
            <a:off x="3131840" y="4149080"/>
            <a:ext cx="2565969" cy="1717693"/>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Adjusting glassware</a:t>
            </a:r>
          </a:p>
        </p:txBody>
      </p:sp>
      <p:sp>
        <p:nvSpPr>
          <p:cNvPr id="3" name="Content Placeholder 2"/>
          <p:cNvSpPr>
            <a:spLocks noGrp="1"/>
          </p:cNvSpPr>
          <p:nvPr>
            <p:ph idx="1"/>
          </p:nvPr>
        </p:nvSpPr>
        <p:spPr>
          <a:xfrm>
            <a:off x="611560" y="1196752"/>
            <a:ext cx="7467600" cy="5661248"/>
          </a:xfrm>
        </p:spPr>
        <p:txBody>
          <a:bodyPr>
            <a:normAutofit/>
          </a:bodyPr>
          <a:lstStyle/>
          <a:p>
            <a:pPr marL="0">
              <a:spcBef>
                <a:spcPts val="600"/>
              </a:spcBef>
              <a:spcAft>
                <a:spcPts val="1200"/>
              </a:spcAft>
              <a:buNone/>
            </a:pPr>
            <a:r>
              <a:rPr lang="en-AU" sz="2200" dirty="0" smtClean="0">
                <a:latin typeface="Helvetica" pitchFamily="34" charset="0"/>
              </a:rPr>
              <a:t>Practical examples of the need to adjust glasses may include:</a:t>
            </a:r>
          </a:p>
          <a:p>
            <a:pPr lvl="0">
              <a:spcBef>
                <a:spcPts val="600"/>
              </a:spcBef>
              <a:spcAft>
                <a:spcPts val="1200"/>
              </a:spcAft>
            </a:pPr>
            <a:r>
              <a:rPr lang="en-AU" sz="2200" dirty="0" smtClean="0">
                <a:latin typeface="Helvetica" pitchFamily="34" charset="0"/>
              </a:rPr>
              <a:t>Adding water glasses and jugs</a:t>
            </a:r>
          </a:p>
          <a:p>
            <a:pPr lvl="0">
              <a:spcBef>
                <a:spcPts val="600"/>
              </a:spcBef>
              <a:spcAft>
                <a:spcPts val="1200"/>
              </a:spcAft>
            </a:pPr>
            <a:r>
              <a:rPr lang="en-AU" sz="2200" dirty="0" smtClean="0">
                <a:latin typeface="Helvetica" pitchFamily="34" charset="0"/>
              </a:rPr>
              <a:t>Removing/adding all or some wine glasses</a:t>
            </a:r>
          </a:p>
          <a:p>
            <a:pPr lvl="0">
              <a:spcBef>
                <a:spcPts val="600"/>
              </a:spcBef>
              <a:spcAft>
                <a:spcPts val="1200"/>
              </a:spcAft>
            </a:pPr>
            <a:r>
              <a:rPr lang="en-AU" sz="2200" dirty="0" smtClean="0">
                <a:latin typeface="Helvetica" pitchFamily="34" charset="0"/>
              </a:rPr>
              <a:t>Removing the set glasses and replacing them with champagne flutes where a sparkling wine is ordered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7" name="Picture 6" descr="MP900410119[1].JPG"/>
          <p:cNvPicPr/>
          <p:nvPr/>
        </p:nvPicPr>
        <p:blipFill>
          <a:blip r:embed="rId3" cstate="print"/>
          <a:stretch>
            <a:fillRect/>
          </a:stretch>
        </p:blipFill>
        <p:spPr>
          <a:xfrm>
            <a:off x="3203848" y="4221088"/>
            <a:ext cx="2160240" cy="1584176"/>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Adjusting serviceware</a:t>
            </a: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dirty="0" smtClean="0">
                <a:latin typeface="Helvetica" pitchFamily="34" charset="0"/>
              </a:rPr>
              <a:t>Servicewear may need to be provided as follows:</a:t>
            </a:r>
          </a:p>
          <a:p>
            <a:pPr lvl="0">
              <a:spcBef>
                <a:spcPts val="600"/>
              </a:spcBef>
              <a:spcAft>
                <a:spcPts val="1200"/>
              </a:spcAft>
            </a:pPr>
            <a:r>
              <a:rPr lang="en-AU" sz="2200" dirty="0" smtClean="0">
                <a:latin typeface="Helvetica" pitchFamily="34" charset="0"/>
              </a:rPr>
              <a:t>Service platters</a:t>
            </a:r>
          </a:p>
          <a:p>
            <a:pPr lvl="0">
              <a:spcBef>
                <a:spcPts val="600"/>
              </a:spcBef>
              <a:spcAft>
                <a:spcPts val="1200"/>
              </a:spcAft>
            </a:pPr>
            <a:r>
              <a:rPr lang="en-AU" sz="2200" dirty="0" smtClean="0">
                <a:latin typeface="Helvetica" pitchFamily="34" charset="0"/>
              </a:rPr>
              <a:t>Sauce boats</a:t>
            </a:r>
          </a:p>
          <a:p>
            <a:pPr lvl="0">
              <a:spcBef>
                <a:spcPts val="600"/>
              </a:spcBef>
              <a:spcAft>
                <a:spcPts val="1200"/>
              </a:spcAft>
            </a:pPr>
            <a:r>
              <a:rPr lang="en-AU" sz="2200" dirty="0" smtClean="0">
                <a:latin typeface="Helvetica" pitchFamily="34" charset="0"/>
              </a:rPr>
              <a:t>Cake stands and knives</a:t>
            </a:r>
          </a:p>
          <a:p>
            <a:pPr lvl="0">
              <a:spcBef>
                <a:spcPts val="600"/>
              </a:spcBef>
              <a:spcAft>
                <a:spcPts val="1200"/>
              </a:spcAft>
            </a:pPr>
            <a:r>
              <a:rPr lang="en-AU" sz="2200" dirty="0" smtClean="0">
                <a:latin typeface="Helvetica" pitchFamily="34" charset="0"/>
              </a:rPr>
              <a:t>Snail forks and tongs</a:t>
            </a:r>
          </a:p>
          <a:p>
            <a:pPr lvl="0">
              <a:spcBef>
                <a:spcPts val="600"/>
              </a:spcBef>
              <a:spcAft>
                <a:spcPts val="1200"/>
              </a:spcAft>
            </a:pPr>
            <a:r>
              <a:rPr lang="en-AU" sz="2200" dirty="0" smtClean="0">
                <a:latin typeface="Helvetica" pitchFamily="34" charset="0"/>
              </a:rPr>
              <a:t>Lobster picks and crackers</a:t>
            </a:r>
          </a:p>
          <a:p>
            <a:pPr lvl="0">
              <a:spcBef>
                <a:spcPts val="600"/>
              </a:spcBef>
              <a:spcAft>
                <a:spcPts val="1200"/>
              </a:spcAft>
            </a:pPr>
            <a:r>
              <a:rPr lang="en-AU" sz="2200" dirty="0" smtClean="0">
                <a:latin typeface="Helvetica" pitchFamily="34" charset="0"/>
              </a:rPr>
              <a:t>Soup tureen</a:t>
            </a:r>
          </a:p>
          <a:p>
            <a:pPr lvl="0">
              <a:spcBef>
                <a:spcPts val="600"/>
              </a:spcBef>
              <a:spcAft>
                <a:spcPts val="1200"/>
              </a:spcAft>
            </a:pPr>
            <a:r>
              <a:rPr lang="en-AU" sz="2200" dirty="0" smtClean="0">
                <a:latin typeface="Helvetica" pitchFamily="34" charset="0"/>
              </a:rPr>
              <a:t>Gueridon equipment</a:t>
            </a:r>
          </a:p>
          <a:p>
            <a:pPr lvl="0"/>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6" name="Picture 5" descr="http://www.poubelle.com/images/gyro/gyroeat.jpg"/>
          <p:cNvPicPr/>
          <p:nvPr/>
        </p:nvPicPr>
        <p:blipFill>
          <a:blip r:embed="rId3" cstate="print"/>
          <a:stretch>
            <a:fillRect/>
          </a:stretch>
        </p:blipFill>
        <p:spPr bwMode="auto">
          <a:xfrm>
            <a:off x="6084168" y="3717032"/>
            <a:ext cx="2288654" cy="173556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Adjusting serviceware</a:t>
            </a:r>
          </a:p>
        </p:txBody>
      </p:sp>
      <p:sp>
        <p:nvSpPr>
          <p:cNvPr id="3" name="Content Placeholder 2"/>
          <p:cNvSpPr>
            <a:spLocks noGrp="1"/>
          </p:cNvSpPr>
          <p:nvPr>
            <p:ph idx="1"/>
          </p:nvPr>
        </p:nvSpPr>
        <p:spPr>
          <a:xfrm>
            <a:off x="611560" y="1196752"/>
            <a:ext cx="7704856" cy="5661248"/>
          </a:xfrm>
        </p:spPr>
        <p:txBody>
          <a:bodyPr>
            <a:normAutofit/>
          </a:bodyPr>
          <a:lstStyle/>
          <a:p>
            <a:pPr>
              <a:spcBef>
                <a:spcPts val="600"/>
              </a:spcBef>
              <a:spcAft>
                <a:spcPts val="600"/>
              </a:spcAft>
              <a:buNone/>
            </a:pPr>
            <a:r>
              <a:rPr lang="en-AU" sz="2200" b="1" dirty="0" smtClean="0">
                <a:latin typeface="Helvetica" pitchFamily="34" charset="0"/>
              </a:rPr>
              <a:t>Process for adjusting covers:</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Identify what needs to be removed from each cover</a:t>
            </a:r>
          </a:p>
          <a:p>
            <a:pPr lvl="0">
              <a:spcBef>
                <a:spcPts val="600"/>
              </a:spcBef>
              <a:spcAft>
                <a:spcPts val="600"/>
              </a:spcAft>
            </a:pPr>
            <a:r>
              <a:rPr lang="en-AU" sz="2200" dirty="0" smtClean="0">
                <a:latin typeface="Helvetica" pitchFamily="34" charset="0"/>
              </a:rPr>
              <a:t>Identify what needs to be added to each cover</a:t>
            </a:r>
          </a:p>
          <a:p>
            <a:pPr lvl="0">
              <a:spcBef>
                <a:spcPts val="600"/>
              </a:spcBef>
              <a:spcAft>
                <a:spcPts val="600"/>
              </a:spcAft>
            </a:pPr>
            <a:r>
              <a:rPr lang="en-AU" sz="2200" dirty="0" smtClean="0">
                <a:latin typeface="Helvetica" pitchFamily="34" charset="0"/>
              </a:rPr>
              <a:t>Obtain the necessary cutlery</a:t>
            </a:r>
          </a:p>
          <a:p>
            <a:pPr lvl="0">
              <a:spcBef>
                <a:spcPts val="600"/>
              </a:spcBef>
              <a:spcAft>
                <a:spcPts val="600"/>
              </a:spcAft>
            </a:pPr>
            <a:r>
              <a:rPr lang="en-AU" sz="2200" dirty="0" smtClean="0">
                <a:latin typeface="Helvetica" pitchFamily="34" charset="0"/>
              </a:rPr>
              <a:t>Load them onto a clothed service plate</a:t>
            </a:r>
          </a:p>
          <a:p>
            <a:pPr lvl="0">
              <a:spcBef>
                <a:spcPts val="600"/>
              </a:spcBef>
              <a:spcAft>
                <a:spcPts val="600"/>
              </a:spcAft>
            </a:pPr>
            <a:r>
              <a:rPr lang="en-AU" sz="2200" dirty="0" smtClean="0">
                <a:latin typeface="Helvetica" pitchFamily="34" charset="0"/>
              </a:rPr>
              <a:t>Carry the clothed plate with all the required cutlery to the table</a:t>
            </a:r>
          </a:p>
          <a:p>
            <a:pPr lvl="0">
              <a:spcBef>
                <a:spcPts val="600"/>
              </a:spcBef>
              <a:spcAft>
                <a:spcPts val="600"/>
              </a:spcAft>
            </a:pPr>
            <a:r>
              <a:rPr lang="en-AU" sz="2200" dirty="0" smtClean="0">
                <a:latin typeface="Helvetica" pitchFamily="34" charset="0"/>
              </a:rPr>
              <a:t>On arrival at the table, begin adjusting the cutlery by starting at the Number One guest, working clockwise</a:t>
            </a:r>
          </a:p>
          <a:p>
            <a:pPr lvl="0">
              <a:spcBef>
                <a:spcPts val="600"/>
              </a:spcBef>
              <a:spcAft>
                <a:spcPts val="600"/>
              </a:spcAft>
            </a:pPr>
            <a:r>
              <a:rPr lang="en-AU" sz="2200" dirty="0" smtClean="0">
                <a:latin typeface="Helvetica" pitchFamily="34" charset="0"/>
              </a:rPr>
              <a:t>Always handle cutlery by the handles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Check customer preferences</a:t>
            </a:r>
          </a:p>
        </p:txBody>
      </p:sp>
      <p:sp>
        <p:nvSpPr>
          <p:cNvPr id="3" name="Content Placeholder 2"/>
          <p:cNvSpPr>
            <a:spLocks noGrp="1"/>
          </p:cNvSpPr>
          <p:nvPr>
            <p:ph idx="1"/>
          </p:nvPr>
        </p:nvSpPr>
        <p:spPr>
          <a:xfrm>
            <a:off x="611560" y="1124744"/>
            <a:ext cx="7467600" cy="5733256"/>
          </a:xfrm>
        </p:spPr>
        <p:txBody>
          <a:bodyPr>
            <a:normAutofit/>
          </a:bodyPr>
          <a:lstStyle/>
          <a:p>
            <a:pPr marL="0">
              <a:spcBef>
                <a:spcPts val="600"/>
              </a:spcBef>
              <a:spcAft>
                <a:spcPts val="1200"/>
              </a:spcAft>
              <a:buNone/>
            </a:pPr>
            <a:r>
              <a:rPr lang="en-AU" sz="2200" dirty="0" smtClean="0">
                <a:latin typeface="Helvetica" pitchFamily="34" charset="0"/>
              </a:rPr>
              <a:t>As part of the ordering process, customers will identify which item that they desire, be it a food or beverage item.</a:t>
            </a:r>
            <a:endParaRPr lang="en-AU" sz="2200" b="1" dirty="0" smtClean="0">
              <a:latin typeface="Helvetica" pitchFamily="34" charset="0"/>
            </a:endParaRPr>
          </a:p>
          <a:p>
            <a:pPr>
              <a:spcBef>
                <a:spcPts val="600"/>
              </a:spcBef>
              <a:spcAft>
                <a:spcPts val="1200"/>
              </a:spcAft>
              <a:buNone/>
            </a:pPr>
            <a:r>
              <a:rPr lang="en-AU" sz="2200" dirty="0" smtClean="0">
                <a:latin typeface="Helvetica" pitchFamily="34" charset="0"/>
              </a:rPr>
              <a:t>They may ask for:</a:t>
            </a:r>
          </a:p>
          <a:p>
            <a:pPr>
              <a:spcBef>
                <a:spcPts val="600"/>
              </a:spcBef>
              <a:spcAft>
                <a:spcPts val="1200"/>
              </a:spcAft>
            </a:pPr>
            <a:r>
              <a:rPr lang="en-AU" sz="2200" dirty="0" smtClean="0">
                <a:latin typeface="Helvetica" pitchFamily="34" charset="0"/>
              </a:rPr>
              <a:t>A specific brand</a:t>
            </a:r>
          </a:p>
          <a:p>
            <a:pPr>
              <a:spcBef>
                <a:spcPts val="600"/>
              </a:spcBef>
              <a:spcAft>
                <a:spcPts val="1200"/>
              </a:spcAft>
            </a:pPr>
            <a:r>
              <a:rPr lang="en-AU" sz="2200" dirty="0" smtClean="0">
                <a:latin typeface="Helvetica" pitchFamily="34" charset="0"/>
              </a:rPr>
              <a:t>A generic brand</a:t>
            </a:r>
          </a:p>
          <a:p>
            <a:pPr>
              <a:spcBef>
                <a:spcPts val="600"/>
              </a:spcBef>
              <a:spcAft>
                <a:spcPts val="1200"/>
              </a:spcAft>
            </a:pPr>
            <a:r>
              <a:rPr lang="en-AU" sz="2200" dirty="0" smtClean="0">
                <a:latin typeface="Helvetica" pitchFamily="34" charset="0"/>
              </a:rPr>
              <a:t>A generic drink</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6" name="Picture 5" descr="MP900443861[1].JPG"/>
          <p:cNvPicPr>
            <a:picLocks noChangeAspect="1"/>
          </p:cNvPicPr>
          <p:nvPr/>
        </p:nvPicPr>
        <p:blipFill>
          <a:blip r:embed="rId3" cstate="print"/>
          <a:stretch>
            <a:fillRect/>
          </a:stretch>
        </p:blipFill>
        <p:spPr>
          <a:xfrm>
            <a:off x="6588224" y="2564904"/>
            <a:ext cx="1784640" cy="2673807"/>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Check customer preferences</a:t>
            </a: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Clarifying an order</a:t>
            </a:r>
          </a:p>
          <a:p>
            <a:pPr marL="0">
              <a:spcBef>
                <a:spcPts val="600"/>
              </a:spcBef>
              <a:spcAft>
                <a:spcPts val="1200"/>
              </a:spcAft>
              <a:buNone/>
            </a:pPr>
            <a:r>
              <a:rPr lang="en-AU" sz="2200" dirty="0" smtClean="0">
                <a:latin typeface="Helvetica" pitchFamily="34" charset="0"/>
              </a:rPr>
              <a:t>It makes good sense and excellent customer service, to check with the guest regarding their preference.</a:t>
            </a:r>
          </a:p>
          <a:p>
            <a:pPr>
              <a:spcBef>
                <a:spcPts val="600"/>
              </a:spcBef>
              <a:spcAft>
                <a:spcPts val="1200"/>
              </a:spcAft>
              <a:buNone/>
            </a:pPr>
            <a:r>
              <a:rPr lang="en-AU" sz="2200" dirty="0" smtClean="0">
                <a:latin typeface="Helvetica" pitchFamily="34" charset="0"/>
              </a:rPr>
              <a:t>For example if someone wants a ‘gin’ do they want:</a:t>
            </a:r>
          </a:p>
          <a:p>
            <a:pPr>
              <a:spcBef>
                <a:spcPts val="600"/>
              </a:spcBef>
              <a:spcAft>
                <a:spcPts val="1200"/>
              </a:spcAft>
            </a:pPr>
            <a:r>
              <a:rPr lang="en-AU" sz="2200" dirty="0" smtClean="0">
                <a:latin typeface="Helvetica" pitchFamily="34" charset="0"/>
              </a:rPr>
              <a:t>A specific brand – Gordon’s, Beefeaters</a:t>
            </a:r>
          </a:p>
          <a:p>
            <a:pPr>
              <a:spcBef>
                <a:spcPts val="600"/>
              </a:spcBef>
              <a:spcAft>
                <a:spcPts val="1200"/>
              </a:spcAft>
            </a:pPr>
            <a:r>
              <a:rPr lang="en-AU" sz="2200" dirty="0" smtClean="0">
                <a:latin typeface="Helvetica" pitchFamily="34" charset="0"/>
              </a:rPr>
              <a:t>The house/pour brand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5" name="Picture 4" descr="my-gin"/>
          <p:cNvPicPr/>
          <p:nvPr/>
        </p:nvPicPr>
        <p:blipFill>
          <a:blip r:embed="rId3" cstate="print"/>
          <a:srcRect/>
          <a:stretch>
            <a:fillRect/>
          </a:stretch>
        </p:blipFill>
        <p:spPr bwMode="auto">
          <a:xfrm>
            <a:off x="5868144" y="3789040"/>
            <a:ext cx="2548632" cy="1648966"/>
          </a:xfrm>
          <a:prstGeom prst="rect">
            <a:avLst/>
          </a:prstGeom>
          <a:noFill/>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Check customer preferences</a:t>
            </a:r>
          </a:p>
        </p:txBody>
      </p:sp>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buNone/>
            </a:pPr>
            <a:r>
              <a:rPr lang="en-AU" sz="2200" b="1" dirty="0" smtClean="0">
                <a:latin typeface="Helvetica" pitchFamily="34" charset="0"/>
              </a:rPr>
              <a:t>Pour/House Brand</a:t>
            </a:r>
          </a:p>
          <a:p>
            <a:pPr marL="0">
              <a:spcBef>
                <a:spcPts val="600"/>
              </a:spcBef>
              <a:spcAft>
                <a:spcPts val="1200"/>
              </a:spcAft>
              <a:buNone/>
            </a:pPr>
            <a:r>
              <a:rPr lang="en-AU" sz="2200" dirty="0" smtClean="0">
                <a:latin typeface="Helvetica" pitchFamily="34" charset="0"/>
              </a:rPr>
              <a:t>A ‘pour’ brand, sometimes referred to as a ‘house’ brand, is the brand of beverage that will be poured if someone doesn’t specify a brand name:</a:t>
            </a:r>
          </a:p>
          <a:p>
            <a:pPr>
              <a:spcBef>
                <a:spcPts val="600"/>
              </a:spcBef>
              <a:spcAft>
                <a:spcPts val="1200"/>
              </a:spcAft>
            </a:pPr>
            <a:r>
              <a:rPr lang="en-AU" sz="2200" dirty="0" smtClean="0">
                <a:latin typeface="Helvetica" pitchFamily="34" charset="0"/>
              </a:rPr>
              <a:t>How is a pour/house brand selected?</a:t>
            </a:r>
          </a:p>
          <a:p>
            <a:pPr>
              <a:spcBef>
                <a:spcPts val="600"/>
              </a:spcBef>
              <a:spcAft>
                <a:spcPts val="1200"/>
              </a:spcAft>
            </a:pPr>
            <a:r>
              <a:rPr lang="en-AU" sz="2200" dirty="0" smtClean="0">
                <a:latin typeface="Helvetica" pitchFamily="34" charset="0"/>
              </a:rPr>
              <a:t>What is the benefit to a business?</a:t>
            </a:r>
          </a:p>
          <a:p>
            <a:pPr>
              <a:spcBef>
                <a:spcPts val="600"/>
              </a:spcBef>
              <a:spcAft>
                <a:spcPts val="1200"/>
              </a:spcAft>
            </a:pPr>
            <a:r>
              <a:rPr lang="en-AU" sz="2200" dirty="0" smtClean="0">
                <a:latin typeface="Helvetica" pitchFamily="34" charset="0"/>
              </a:rPr>
              <a:t>What are common pour/house </a:t>
            </a:r>
            <a:br>
              <a:rPr lang="en-AU" sz="2200" dirty="0" smtClean="0">
                <a:latin typeface="Helvetica" pitchFamily="34" charset="0"/>
              </a:rPr>
            </a:br>
            <a:r>
              <a:rPr lang="en-AU" sz="2200" dirty="0" smtClean="0">
                <a:latin typeface="Helvetica" pitchFamily="34" charset="0"/>
              </a:rPr>
              <a:t>brands for various types of alcoholic </a:t>
            </a:r>
            <a:br>
              <a:rPr lang="en-AU" sz="2200" dirty="0" smtClean="0">
                <a:latin typeface="Helvetica" pitchFamily="34" charset="0"/>
              </a:rPr>
            </a:br>
            <a:r>
              <a:rPr lang="en-AU" sz="2200" dirty="0" smtClean="0">
                <a:latin typeface="Helvetica" pitchFamily="34" charset="0"/>
              </a:rPr>
              <a:t>beverages?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7" name="Picture 6" descr="248"/>
          <p:cNvPicPr/>
          <p:nvPr/>
        </p:nvPicPr>
        <p:blipFill>
          <a:blip r:embed="rId3" cstate="print"/>
          <a:srcRect/>
          <a:stretch>
            <a:fillRect/>
          </a:stretch>
        </p:blipFill>
        <p:spPr bwMode="auto">
          <a:xfrm>
            <a:off x="6156176" y="3933056"/>
            <a:ext cx="2232248" cy="1300733"/>
          </a:xfrm>
          <a:prstGeom prst="rect">
            <a:avLst/>
          </a:prstGeom>
          <a:noFill/>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Recommending food</a:t>
            </a:r>
          </a:p>
        </p:txBody>
      </p:sp>
      <p:sp>
        <p:nvSpPr>
          <p:cNvPr id="3" name="Content Placeholder 2"/>
          <p:cNvSpPr>
            <a:spLocks noGrp="1"/>
          </p:cNvSpPr>
          <p:nvPr>
            <p:ph idx="1"/>
          </p:nvPr>
        </p:nvSpPr>
        <p:spPr>
          <a:xfrm>
            <a:off x="611560" y="1196752"/>
            <a:ext cx="7848872" cy="5661248"/>
          </a:xfrm>
        </p:spPr>
        <p:txBody>
          <a:bodyPr>
            <a:normAutofit/>
          </a:bodyPr>
          <a:lstStyle/>
          <a:p>
            <a:pPr marL="342900" indent="-342900">
              <a:lnSpc>
                <a:spcPct val="90000"/>
              </a:lnSpc>
              <a:spcBef>
                <a:spcPts val="600"/>
              </a:spcBef>
              <a:spcAft>
                <a:spcPts val="1200"/>
              </a:spcAft>
              <a:buNone/>
            </a:pPr>
            <a:r>
              <a:rPr lang="en-US" altLang="zh-CN" sz="2200" b="1" dirty="0" smtClean="0">
                <a:latin typeface="Helvetica" pitchFamily="34" charset="0"/>
                <a:ea typeface="宋体" pitchFamily="2" charset="-122"/>
              </a:rPr>
              <a:t>What do we recommend to guests:</a:t>
            </a:r>
          </a:p>
          <a:p>
            <a:pPr marL="342900" indent="-342900">
              <a:lnSpc>
                <a:spcPct val="90000"/>
              </a:lnSpc>
              <a:spcBef>
                <a:spcPts val="600"/>
              </a:spcBef>
              <a:spcAft>
                <a:spcPts val="1200"/>
              </a:spcAft>
            </a:pPr>
            <a:r>
              <a:rPr lang="en-US" altLang="zh-CN" sz="2200" dirty="0" smtClean="0">
                <a:latin typeface="Helvetica" pitchFamily="34" charset="0"/>
                <a:ea typeface="宋体" pitchFamily="2" charset="-122"/>
              </a:rPr>
              <a:t>Items you think they might like – ask questions</a:t>
            </a:r>
          </a:p>
          <a:p>
            <a:pPr marL="342900" indent="-342900">
              <a:lnSpc>
                <a:spcPct val="90000"/>
              </a:lnSpc>
              <a:spcBef>
                <a:spcPts val="600"/>
              </a:spcBef>
              <a:spcAft>
                <a:spcPts val="1200"/>
              </a:spcAft>
            </a:pPr>
            <a:r>
              <a:rPr lang="en-US" altLang="zh-CN" sz="2200" dirty="0" smtClean="0">
                <a:latin typeface="Helvetica" pitchFamily="34" charset="0"/>
                <a:ea typeface="宋体" pitchFamily="2" charset="-122"/>
              </a:rPr>
              <a:t>Items you like and why</a:t>
            </a:r>
          </a:p>
          <a:p>
            <a:pPr marL="342900" indent="-342900">
              <a:lnSpc>
                <a:spcPct val="90000"/>
              </a:lnSpc>
              <a:spcBef>
                <a:spcPts val="600"/>
              </a:spcBef>
              <a:spcAft>
                <a:spcPts val="1200"/>
              </a:spcAft>
            </a:pPr>
            <a:r>
              <a:rPr lang="en-US" altLang="zh-CN" sz="2200" dirty="0" smtClean="0">
                <a:latin typeface="Helvetica" pitchFamily="34" charset="0"/>
                <a:ea typeface="宋体" pitchFamily="2" charset="-122"/>
              </a:rPr>
              <a:t>Items that are popular</a:t>
            </a:r>
          </a:p>
          <a:p>
            <a:pPr marL="342900" indent="-342900">
              <a:lnSpc>
                <a:spcPct val="90000"/>
              </a:lnSpc>
              <a:spcBef>
                <a:spcPts val="600"/>
              </a:spcBef>
              <a:spcAft>
                <a:spcPts val="1200"/>
              </a:spcAft>
            </a:pPr>
            <a:r>
              <a:rPr lang="en-US" altLang="zh-CN" sz="2200" dirty="0" smtClean="0">
                <a:latin typeface="Helvetica" pitchFamily="34" charset="0"/>
                <a:ea typeface="宋体" pitchFamily="2" charset="-122"/>
              </a:rPr>
              <a:t>Specials of the day</a:t>
            </a:r>
          </a:p>
          <a:p>
            <a:pPr marL="342900" indent="-342900">
              <a:lnSpc>
                <a:spcPct val="90000"/>
              </a:lnSpc>
              <a:spcBef>
                <a:spcPts val="600"/>
              </a:spcBef>
              <a:spcAft>
                <a:spcPts val="1200"/>
              </a:spcAft>
            </a:pPr>
            <a:r>
              <a:rPr lang="en-US" altLang="zh-CN" sz="2200" dirty="0" smtClean="0">
                <a:latin typeface="Helvetica" pitchFamily="34" charset="0"/>
                <a:ea typeface="宋体" pitchFamily="2" charset="-122"/>
              </a:rPr>
              <a:t>Items the kitchen wants you to sell</a:t>
            </a:r>
          </a:p>
          <a:p>
            <a:pPr marL="342900" indent="-342900">
              <a:lnSpc>
                <a:spcPct val="90000"/>
              </a:lnSpc>
              <a:spcBef>
                <a:spcPts val="600"/>
              </a:spcBef>
              <a:spcAft>
                <a:spcPts val="1200"/>
              </a:spcAft>
            </a:pPr>
            <a:r>
              <a:rPr lang="en-US" altLang="zh-CN" sz="2200" dirty="0" smtClean="0">
                <a:latin typeface="Helvetica" pitchFamily="34" charset="0"/>
                <a:ea typeface="宋体" pitchFamily="2" charset="-122"/>
              </a:rPr>
              <a:t>Food and Wine Combinations</a:t>
            </a:r>
          </a:p>
          <a:p>
            <a:pPr marL="342900" indent="-342900">
              <a:lnSpc>
                <a:spcPct val="90000"/>
              </a:lnSpc>
              <a:spcBef>
                <a:spcPts val="600"/>
              </a:spcBef>
              <a:spcAft>
                <a:spcPts val="1200"/>
              </a:spcAft>
            </a:pPr>
            <a:r>
              <a:rPr lang="en-US" altLang="zh-CN" sz="2200" b="1" dirty="0" smtClean="0">
                <a:latin typeface="Helvetica" pitchFamily="34" charset="0"/>
                <a:ea typeface="宋体" pitchFamily="2" charset="-122"/>
              </a:rPr>
              <a:t>You may need to explain items in more detail</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6" name="Picture 5" descr="SuperStock_255-18680"/>
          <p:cNvPicPr>
            <a:picLocks noChangeAspect="1" noChangeArrowheads="1"/>
          </p:cNvPicPr>
          <p:nvPr/>
        </p:nvPicPr>
        <p:blipFill>
          <a:blip r:embed="rId3" cstate="print"/>
          <a:stretch>
            <a:fillRect/>
          </a:stretch>
        </p:blipFill>
        <p:spPr bwMode="auto">
          <a:xfrm>
            <a:off x="6587116" y="2204864"/>
            <a:ext cx="1583500" cy="2370510"/>
          </a:xfrm>
          <a:prstGeom prst="rect">
            <a:avLst/>
          </a:prstGeom>
          <a:noFill/>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Recommending beverages</a:t>
            </a:r>
          </a:p>
        </p:txBody>
      </p:sp>
      <p:sp>
        <p:nvSpPr>
          <p:cNvPr id="3" name="Content Placeholder 2"/>
          <p:cNvSpPr>
            <a:spLocks noGrp="1"/>
          </p:cNvSpPr>
          <p:nvPr>
            <p:ph idx="1"/>
          </p:nvPr>
        </p:nvSpPr>
        <p:spPr>
          <a:xfrm>
            <a:off x="611560" y="1196752"/>
            <a:ext cx="7704856" cy="5661248"/>
          </a:xfrm>
        </p:spPr>
        <p:txBody>
          <a:bodyPr>
            <a:normAutofit/>
          </a:bodyPr>
          <a:lstStyle/>
          <a:p>
            <a:pPr>
              <a:spcBef>
                <a:spcPts val="600"/>
              </a:spcBef>
              <a:spcAft>
                <a:spcPts val="1200"/>
              </a:spcAft>
              <a:buNone/>
            </a:pPr>
            <a:r>
              <a:rPr lang="en-AU" sz="2200" dirty="0" smtClean="0">
                <a:latin typeface="Helvetica" pitchFamily="34" charset="0"/>
              </a:rPr>
              <a:t>Advice or recommendations may be needed when:</a:t>
            </a:r>
          </a:p>
          <a:p>
            <a:pPr lvl="0">
              <a:spcBef>
                <a:spcPts val="600"/>
              </a:spcBef>
              <a:spcAft>
                <a:spcPts val="1200"/>
              </a:spcAft>
            </a:pPr>
            <a:r>
              <a:rPr lang="en-AU" sz="2200" dirty="0" smtClean="0">
                <a:latin typeface="Helvetica" pitchFamily="34" charset="0"/>
              </a:rPr>
              <a:t>Customers are unsure about exactly what they would like</a:t>
            </a:r>
          </a:p>
          <a:p>
            <a:pPr lvl="0">
              <a:spcBef>
                <a:spcPts val="600"/>
              </a:spcBef>
              <a:spcAft>
                <a:spcPts val="1200"/>
              </a:spcAft>
            </a:pPr>
            <a:r>
              <a:rPr lang="en-AU" sz="2200" dirty="0" smtClean="0">
                <a:latin typeface="Helvetica" pitchFamily="34" charset="0"/>
              </a:rPr>
              <a:t>The drink or brand they have ordered is unavailable</a:t>
            </a:r>
          </a:p>
          <a:p>
            <a:pPr lvl="0">
              <a:spcBef>
                <a:spcPts val="600"/>
              </a:spcBef>
              <a:spcAft>
                <a:spcPts val="1200"/>
              </a:spcAft>
            </a:pPr>
            <a:r>
              <a:rPr lang="en-AU" sz="2200" dirty="0" smtClean="0">
                <a:latin typeface="Helvetica" pitchFamily="34" charset="0"/>
              </a:rPr>
              <a:t>It’s a special occasion</a:t>
            </a:r>
          </a:p>
          <a:p>
            <a:pPr lvl="0">
              <a:spcBef>
                <a:spcPts val="600"/>
              </a:spcBef>
              <a:spcAft>
                <a:spcPts val="1200"/>
              </a:spcAft>
            </a:pPr>
            <a:r>
              <a:rPr lang="en-AU" sz="2200" dirty="0" smtClean="0">
                <a:latin typeface="Helvetica" pitchFamily="34" charset="0"/>
              </a:rPr>
              <a:t>You have a new product in stock</a:t>
            </a:r>
          </a:p>
          <a:p>
            <a:pPr lvl="0">
              <a:spcBef>
                <a:spcPts val="600"/>
              </a:spcBef>
              <a:spcAft>
                <a:spcPts val="1200"/>
              </a:spcAft>
            </a:pPr>
            <a:r>
              <a:rPr lang="en-AU" sz="2200" dirty="0" smtClean="0">
                <a:latin typeface="Helvetica" pitchFamily="34" charset="0"/>
              </a:rPr>
              <a:t>The customer is feeling off colour or a bit low</a:t>
            </a:r>
          </a:p>
          <a:p>
            <a:pPr lvl="0">
              <a:spcBef>
                <a:spcPts val="600"/>
              </a:spcBef>
              <a:spcAft>
                <a:spcPts val="1200"/>
              </a:spcAft>
            </a:pPr>
            <a:r>
              <a:rPr lang="en-AU" sz="2200" dirty="0" smtClean="0">
                <a:latin typeface="Helvetica" pitchFamily="34" charset="0"/>
              </a:rPr>
              <a:t>They are dining</a:t>
            </a:r>
          </a:p>
          <a:p>
            <a:pPr lvl="0">
              <a:spcBef>
                <a:spcPts val="600"/>
              </a:spcBef>
              <a:spcAft>
                <a:spcPts val="1200"/>
              </a:spcAft>
            </a:pPr>
            <a:r>
              <a:rPr lang="en-AU" sz="2200" dirty="0" smtClean="0">
                <a:latin typeface="Helvetica" pitchFamily="34" charset="0"/>
              </a:rPr>
              <a:t>They don’t want to drink alcohol, or when                                 they need to limit their alcohol intake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7" name="Picture 6" descr="MP900432952[1].JPG"/>
          <p:cNvPicPr>
            <a:picLocks noChangeAspect="1"/>
          </p:cNvPicPr>
          <p:nvPr/>
        </p:nvPicPr>
        <p:blipFill>
          <a:blip r:embed="rId3" cstate="print"/>
          <a:stretch>
            <a:fillRect/>
          </a:stretch>
        </p:blipFill>
        <p:spPr>
          <a:xfrm>
            <a:off x="6876256" y="3284984"/>
            <a:ext cx="1554017" cy="2199081"/>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Recommending food and wine</a:t>
            </a:r>
          </a:p>
        </p:txBody>
      </p:sp>
      <p:sp>
        <p:nvSpPr>
          <p:cNvPr id="3" name="Content Placeholder 2"/>
          <p:cNvSpPr>
            <a:spLocks noGrp="1"/>
          </p:cNvSpPr>
          <p:nvPr>
            <p:ph idx="1"/>
          </p:nvPr>
        </p:nvSpPr>
        <p:spPr>
          <a:xfrm>
            <a:off x="611560" y="1196752"/>
            <a:ext cx="7467600" cy="5661248"/>
          </a:xfrm>
        </p:spPr>
        <p:txBody>
          <a:bodyPr>
            <a:normAutofit lnSpcReduction="10000"/>
          </a:bodyPr>
          <a:lstStyle/>
          <a:p>
            <a:pPr>
              <a:spcBef>
                <a:spcPts val="600"/>
              </a:spcBef>
              <a:spcAft>
                <a:spcPts val="1200"/>
              </a:spcAft>
              <a:buNone/>
            </a:pPr>
            <a:r>
              <a:rPr lang="en-AU" sz="2200" b="1" dirty="0" smtClean="0">
                <a:latin typeface="Helvetica" pitchFamily="34" charset="0"/>
              </a:rPr>
              <a:t>General guidelines:</a:t>
            </a:r>
          </a:p>
          <a:p>
            <a:pPr lvl="0">
              <a:spcBef>
                <a:spcPts val="600"/>
              </a:spcBef>
              <a:spcAft>
                <a:spcPts val="1200"/>
              </a:spcAft>
            </a:pPr>
            <a:r>
              <a:rPr lang="en-AU" sz="2200" dirty="0" smtClean="0">
                <a:latin typeface="Helvetica" pitchFamily="34" charset="0"/>
              </a:rPr>
              <a:t>Whites with fish, chicken, veal and pork</a:t>
            </a:r>
          </a:p>
          <a:p>
            <a:pPr lvl="0">
              <a:spcBef>
                <a:spcPts val="600"/>
              </a:spcBef>
              <a:spcAft>
                <a:spcPts val="1200"/>
              </a:spcAft>
            </a:pPr>
            <a:r>
              <a:rPr lang="en-AU" sz="2200" dirty="0" smtClean="0">
                <a:latin typeface="Helvetica" pitchFamily="34" charset="0"/>
              </a:rPr>
              <a:t>Reds with dark meat</a:t>
            </a:r>
          </a:p>
          <a:p>
            <a:pPr lvl="0">
              <a:spcBef>
                <a:spcPts val="600"/>
              </a:spcBef>
              <a:spcAft>
                <a:spcPts val="1200"/>
              </a:spcAft>
            </a:pPr>
            <a:r>
              <a:rPr lang="en-AU" sz="2200" dirty="0" smtClean="0">
                <a:latin typeface="Helvetica" pitchFamily="34" charset="0"/>
              </a:rPr>
              <a:t>Reds with cheese </a:t>
            </a:r>
          </a:p>
          <a:p>
            <a:pPr lvl="0">
              <a:spcBef>
                <a:spcPts val="600"/>
              </a:spcBef>
              <a:spcAft>
                <a:spcPts val="1200"/>
              </a:spcAft>
            </a:pPr>
            <a:r>
              <a:rPr lang="en-AU" sz="2200" dirty="0" smtClean="0">
                <a:latin typeface="Helvetica" pitchFamily="34" charset="0"/>
              </a:rPr>
              <a:t>Delicate wines with delicate food</a:t>
            </a:r>
          </a:p>
          <a:p>
            <a:pPr lvl="0">
              <a:spcBef>
                <a:spcPts val="600"/>
              </a:spcBef>
              <a:spcAft>
                <a:spcPts val="1200"/>
              </a:spcAft>
            </a:pPr>
            <a:r>
              <a:rPr lang="en-AU" sz="2200" dirty="0" smtClean="0">
                <a:latin typeface="Helvetica" pitchFamily="34" charset="0"/>
              </a:rPr>
              <a:t>Full-bodied wines with full-bodied food</a:t>
            </a:r>
          </a:p>
          <a:p>
            <a:pPr lvl="0">
              <a:spcBef>
                <a:spcPts val="600"/>
              </a:spcBef>
              <a:spcAft>
                <a:spcPts val="1200"/>
              </a:spcAft>
            </a:pPr>
            <a:r>
              <a:rPr lang="en-AU" sz="2200" dirty="0" smtClean="0">
                <a:latin typeface="Helvetica" pitchFamily="34" charset="0"/>
              </a:rPr>
              <a:t>Sweet wines with sweet food</a:t>
            </a:r>
          </a:p>
          <a:p>
            <a:pPr lvl="0">
              <a:spcBef>
                <a:spcPts val="600"/>
              </a:spcBef>
              <a:spcAft>
                <a:spcPts val="1200"/>
              </a:spcAft>
            </a:pPr>
            <a:r>
              <a:rPr lang="en-AU" sz="2200" dirty="0" smtClean="0">
                <a:latin typeface="Helvetica" pitchFamily="34" charset="0"/>
              </a:rPr>
              <a:t>Sparkling wine can generally go with                              anything and with any course</a:t>
            </a:r>
          </a:p>
          <a:p>
            <a:pPr>
              <a:buNone/>
            </a:pP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6" name="Picture 5" descr="210421689_42d4e1308f"/>
          <p:cNvPicPr/>
          <p:nvPr/>
        </p:nvPicPr>
        <p:blipFill>
          <a:blip r:embed="rId3" cstate="print"/>
          <a:srcRect/>
          <a:stretch>
            <a:fillRect/>
          </a:stretch>
        </p:blipFill>
        <p:spPr bwMode="auto">
          <a:xfrm>
            <a:off x="6660232" y="3573016"/>
            <a:ext cx="1695450" cy="1752600"/>
          </a:xfrm>
          <a:prstGeom prst="rect">
            <a:avLst/>
          </a:prstGeom>
          <a:noFill/>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Recommending food and wine</a:t>
            </a:r>
          </a:p>
        </p:txBody>
      </p:sp>
      <p:sp>
        <p:nvSpPr>
          <p:cNvPr id="3" name="Content Placeholder 2"/>
          <p:cNvSpPr>
            <a:spLocks noGrp="1"/>
          </p:cNvSpPr>
          <p:nvPr>
            <p:ph idx="1"/>
          </p:nvPr>
        </p:nvSpPr>
        <p:spPr>
          <a:xfrm>
            <a:off x="611560" y="1556792"/>
            <a:ext cx="7467600" cy="5301208"/>
          </a:xfrm>
        </p:spPr>
        <p:txBody>
          <a:bodyPr>
            <a:normAutofit/>
          </a:bodyPr>
          <a:lstStyle/>
          <a:p>
            <a:pPr>
              <a:buNone/>
            </a:pP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130</a:t>
            </a:fld>
            <a:endParaRPr lang="en-US" dirty="0">
              <a:latin typeface="Helvetica" pitchFamily="34" charset="0"/>
            </a:endParaRPr>
          </a:p>
        </p:txBody>
      </p:sp>
      <p:graphicFrame>
        <p:nvGraphicFramePr>
          <p:cNvPr id="7" name="Table 6"/>
          <p:cNvGraphicFramePr>
            <a:graphicFrameLocks noGrp="1"/>
          </p:cNvGraphicFramePr>
          <p:nvPr/>
        </p:nvGraphicFramePr>
        <p:xfrm>
          <a:off x="683568" y="1196752"/>
          <a:ext cx="7560840" cy="5112566"/>
        </p:xfrm>
        <a:graphic>
          <a:graphicData uri="http://schemas.openxmlformats.org/drawingml/2006/table">
            <a:tbl>
              <a:tblPr firstRow="1" bandRow="1">
                <a:tableStyleId>{5C22544A-7EE6-4342-B048-85BDC9FD1C3A}</a:tableStyleId>
              </a:tblPr>
              <a:tblGrid>
                <a:gridCol w="3780420"/>
                <a:gridCol w="3780420"/>
              </a:tblGrid>
              <a:tr h="415433">
                <a:tc>
                  <a:txBody>
                    <a:bodyPr/>
                    <a:lstStyle/>
                    <a:p>
                      <a:r>
                        <a:rPr lang="en-AU" dirty="0" smtClean="0"/>
                        <a:t>FOOD</a:t>
                      </a:r>
                      <a:endParaRPr lang="en-AU" dirty="0"/>
                    </a:p>
                  </a:txBody>
                  <a:tcPr anchor="ctr"/>
                </a:tc>
                <a:tc>
                  <a:txBody>
                    <a:bodyPr/>
                    <a:lstStyle/>
                    <a:p>
                      <a:r>
                        <a:rPr lang="en-AU" dirty="0" smtClean="0"/>
                        <a:t>WINE</a:t>
                      </a:r>
                      <a:endParaRPr lang="en-AU" dirty="0"/>
                    </a:p>
                  </a:txBody>
                  <a:tcPr anchor="ctr"/>
                </a:tc>
              </a:tr>
              <a:tr h="597794">
                <a:tc>
                  <a:txBody>
                    <a:bodyPr/>
                    <a:lstStyle/>
                    <a:p>
                      <a:pPr>
                        <a:lnSpc>
                          <a:spcPct val="115000"/>
                        </a:lnSpc>
                        <a:spcBef>
                          <a:spcPts val="400"/>
                        </a:spcBef>
                        <a:spcAft>
                          <a:spcPts val="600"/>
                        </a:spcAft>
                      </a:pPr>
                      <a:r>
                        <a:rPr lang="en-AU" sz="1700" dirty="0">
                          <a:solidFill>
                            <a:srgbClr val="000000"/>
                          </a:solidFill>
                          <a:latin typeface="Helvetica"/>
                          <a:ea typeface="Times New Roman"/>
                          <a:cs typeface="HelveticaNeueLT Std Lt"/>
                        </a:rPr>
                        <a:t>Seafood</a:t>
                      </a:r>
                      <a:endParaRPr lang="en-AU" sz="1700" dirty="0">
                        <a:latin typeface="Calibri"/>
                        <a:ea typeface="Times New Roman"/>
                        <a:cs typeface="Times New Roman"/>
                      </a:endParaRPr>
                    </a:p>
                  </a:txBody>
                  <a:tcPr marL="68580" marR="68580" marT="0" marB="0" anchor="ctr"/>
                </a:tc>
                <a:tc>
                  <a:txBody>
                    <a:bodyPr/>
                    <a:lstStyle/>
                    <a:p>
                      <a:pPr>
                        <a:lnSpc>
                          <a:spcPct val="115000"/>
                        </a:lnSpc>
                        <a:spcBef>
                          <a:spcPts val="400"/>
                        </a:spcBef>
                        <a:spcAft>
                          <a:spcPts val="600"/>
                        </a:spcAft>
                      </a:pPr>
                      <a:r>
                        <a:rPr lang="en-AU" sz="1700" dirty="0">
                          <a:solidFill>
                            <a:srgbClr val="000000"/>
                          </a:solidFill>
                          <a:latin typeface="Helvetica"/>
                          <a:ea typeface="Times New Roman"/>
                          <a:cs typeface="HelveticaNeueLT Std Lt"/>
                        </a:rPr>
                        <a:t>Semillon, sauvignon blanc, Riesling</a:t>
                      </a:r>
                      <a:endParaRPr lang="en-AU" sz="1700" dirty="0">
                        <a:latin typeface="Calibri"/>
                        <a:ea typeface="Times New Roman"/>
                        <a:cs typeface="Times New Roman"/>
                      </a:endParaRPr>
                    </a:p>
                  </a:txBody>
                  <a:tcPr marL="68580" marR="68580" marT="0" marB="0" anchor="ctr"/>
                </a:tc>
              </a:tr>
              <a:tr h="613271">
                <a:tc>
                  <a:txBody>
                    <a:bodyPr/>
                    <a:lstStyle/>
                    <a:p>
                      <a:pPr>
                        <a:lnSpc>
                          <a:spcPct val="115000"/>
                        </a:lnSpc>
                        <a:spcBef>
                          <a:spcPts val="400"/>
                        </a:spcBef>
                        <a:spcAft>
                          <a:spcPts val="600"/>
                        </a:spcAft>
                      </a:pPr>
                      <a:r>
                        <a:rPr lang="en-AU" sz="1700" dirty="0">
                          <a:solidFill>
                            <a:srgbClr val="000000"/>
                          </a:solidFill>
                          <a:latin typeface="Helvetica"/>
                          <a:ea typeface="Times New Roman"/>
                          <a:cs typeface="HelveticaNeueLT Std Lt"/>
                        </a:rPr>
                        <a:t>Game</a:t>
                      </a:r>
                      <a:endParaRPr lang="en-AU" sz="1700" dirty="0">
                        <a:latin typeface="Calibri"/>
                        <a:ea typeface="Times New Roman"/>
                        <a:cs typeface="Times New Roman"/>
                      </a:endParaRPr>
                    </a:p>
                  </a:txBody>
                  <a:tcPr marL="68580" marR="68580" marT="0" marB="0" anchor="ctr"/>
                </a:tc>
                <a:tc>
                  <a:txBody>
                    <a:bodyPr/>
                    <a:lstStyle/>
                    <a:p>
                      <a:pPr>
                        <a:lnSpc>
                          <a:spcPct val="115000"/>
                        </a:lnSpc>
                        <a:spcBef>
                          <a:spcPts val="400"/>
                        </a:spcBef>
                        <a:spcAft>
                          <a:spcPts val="600"/>
                        </a:spcAft>
                      </a:pPr>
                      <a:r>
                        <a:rPr lang="en-AU" sz="1700" dirty="0">
                          <a:solidFill>
                            <a:srgbClr val="000000"/>
                          </a:solidFill>
                          <a:latin typeface="Helvetica"/>
                          <a:ea typeface="Times New Roman"/>
                          <a:cs typeface="HelveticaNeueLT Std Lt"/>
                        </a:rPr>
                        <a:t>Cabernet sauvignon, shiraz, chardonnay, semillon</a:t>
                      </a:r>
                      <a:endParaRPr lang="en-AU" sz="1700" dirty="0">
                        <a:latin typeface="Calibri"/>
                        <a:ea typeface="Times New Roman"/>
                        <a:cs typeface="Times New Roman"/>
                      </a:endParaRPr>
                    </a:p>
                  </a:txBody>
                  <a:tcPr marL="68580" marR="68580" marT="0" marB="0" anchor="ctr"/>
                </a:tc>
              </a:tr>
              <a:tr h="613271">
                <a:tc>
                  <a:txBody>
                    <a:bodyPr/>
                    <a:lstStyle/>
                    <a:p>
                      <a:pPr>
                        <a:lnSpc>
                          <a:spcPct val="115000"/>
                        </a:lnSpc>
                        <a:spcBef>
                          <a:spcPts val="400"/>
                        </a:spcBef>
                        <a:spcAft>
                          <a:spcPts val="600"/>
                        </a:spcAft>
                      </a:pPr>
                      <a:r>
                        <a:rPr lang="en-AU" sz="1700" dirty="0">
                          <a:solidFill>
                            <a:srgbClr val="000000"/>
                          </a:solidFill>
                          <a:latin typeface="Helvetica"/>
                          <a:ea typeface="Times New Roman"/>
                          <a:cs typeface="HelveticaNeueLT Std Lt"/>
                        </a:rPr>
                        <a:t>Red meat</a:t>
                      </a:r>
                      <a:endParaRPr lang="en-AU" sz="1700" dirty="0">
                        <a:latin typeface="Calibri"/>
                        <a:ea typeface="Times New Roman"/>
                        <a:cs typeface="Times New Roman"/>
                      </a:endParaRPr>
                    </a:p>
                  </a:txBody>
                  <a:tcPr marL="68580" marR="68580" marT="0" marB="0" anchor="ctr"/>
                </a:tc>
                <a:tc>
                  <a:txBody>
                    <a:bodyPr/>
                    <a:lstStyle/>
                    <a:p>
                      <a:pPr>
                        <a:lnSpc>
                          <a:spcPct val="115000"/>
                        </a:lnSpc>
                        <a:spcBef>
                          <a:spcPts val="400"/>
                        </a:spcBef>
                        <a:spcAft>
                          <a:spcPts val="600"/>
                        </a:spcAft>
                      </a:pPr>
                      <a:r>
                        <a:rPr lang="en-AU" sz="1700" dirty="0">
                          <a:solidFill>
                            <a:srgbClr val="000000"/>
                          </a:solidFill>
                          <a:latin typeface="Helvetica"/>
                          <a:ea typeface="Times New Roman"/>
                          <a:cs typeface="HelveticaNeueLT Std Lt"/>
                        </a:rPr>
                        <a:t>Cabernet merlot, cabernet sauvignon, shiraz, malbec</a:t>
                      </a:r>
                      <a:endParaRPr lang="en-AU" sz="1700" dirty="0">
                        <a:latin typeface="Calibri"/>
                        <a:ea typeface="Times New Roman"/>
                        <a:cs typeface="Times New Roman"/>
                      </a:endParaRPr>
                    </a:p>
                  </a:txBody>
                  <a:tcPr marL="68580" marR="68580" marT="0" marB="0" anchor="ctr"/>
                </a:tc>
              </a:tr>
              <a:tr h="597794">
                <a:tc>
                  <a:txBody>
                    <a:bodyPr/>
                    <a:lstStyle/>
                    <a:p>
                      <a:pPr>
                        <a:lnSpc>
                          <a:spcPct val="115000"/>
                        </a:lnSpc>
                        <a:spcBef>
                          <a:spcPts val="400"/>
                        </a:spcBef>
                        <a:spcAft>
                          <a:spcPts val="600"/>
                        </a:spcAft>
                      </a:pPr>
                      <a:r>
                        <a:rPr lang="en-AU" sz="1700" dirty="0">
                          <a:solidFill>
                            <a:srgbClr val="000000"/>
                          </a:solidFill>
                          <a:latin typeface="Helvetica"/>
                          <a:ea typeface="Times New Roman"/>
                          <a:cs typeface="HelveticaNeueLT Std Lt"/>
                        </a:rPr>
                        <a:t>Poultry</a:t>
                      </a:r>
                      <a:endParaRPr lang="en-AU" sz="1700" dirty="0">
                        <a:latin typeface="Calibri"/>
                        <a:ea typeface="Times New Roman"/>
                        <a:cs typeface="Times New Roman"/>
                      </a:endParaRPr>
                    </a:p>
                  </a:txBody>
                  <a:tcPr marL="68580" marR="68580" marT="0" marB="0" anchor="ctr"/>
                </a:tc>
                <a:tc>
                  <a:txBody>
                    <a:bodyPr/>
                    <a:lstStyle/>
                    <a:p>
                      <a:pPr>
                        <a:lnSpc>
                          <a:spcPct val="115000"/>
                        </a:lnSpc>
                        <a:spcBef>
                          <a:spcPts val="400"/>
                        </a:spcBef>
                        <a:spcAft>
                          <a:spcPts val="600"/>
                        </a:spcAft>
                      </a:pPr>
                      <a:r>
                        <a:rPr lang="en-AU" sz="1700" dirty="0">
                          <a:solidFill>
                            <a:srgbClr val="000000"/>
                          </a:solidFill>
                          <a:latin typeface="Helvetica"/>
                          <a:ea typeface="Times New Roman"/>
                          <a:cs typeface="HelveticaNeueLT Std Lt"/>
                        </a:rPr>
                        <a:t>Chardonnay, chenin blanc, Verdelho</a:t>
                      </a:r>
                      <a:endParaRPr lang="en-AU" sz="1700" dirty="0">
                        <a:latin typeface="Calibri"/>
                        <a:ea typeface="Times New Roman"/>
                        <a:cs typeface="Times New Roman"/>
                      </a:endParaRPr>
                    </a:p>
                  </a:txBody>
                  <a:tcPr marL="68580" marR="68580" marT="0" marB="0" anchor="ctr"/>
                </a:tc>
              </a:tr>
              <a:tr h="613271">
                <a:tc>
                  <a:txBody>
                    <a:bodyPr/>
                    <a:lstStyle/>
                    <a:p>
                      <a:pPr>
                        <a:lnSpc>
                          <a:spcPct val="115000"/>
                        </a:lnSpc>
                        <a:spcBef>
                          <a:spcPts val="400"/>
                        </a:spcBef>
                        <a:spcAft>
                          <a:spcPts val="600"/>
                        </a:spcAft>
                      </a:pPr>
                      <a:r>
                        <a:rPr lang="en-AU" sz="1700" dirty="0">
                          <a:solidFill>
                            <a:srgbClr val="000000"/>
                          </a:solidFill>
                          <a:latin typeface="Helvetica"/>
                          <a:ea typeface="Times New Roman"/>
                          <a:cs typeface="HelveticaNeueLT Std Lt"/>
                        </a:rPr>
                        <a:t>Salads</a:t>
                      </a:r>
                      <a:endParaRPr lang="en-AU" sz="1700" dirty="0">
                        <a:latin typeface="Calibri"/>
                        <a:ea typeface="Times New Roman"/>
                        <a:cs typeface="Times New Roman"/>
                      </a:endParaRPr>
                    </a:p>
                  </a:txBody>
                  <a:tcPr marL="68580" marR="68580" marT="0" marB="0" anchor="ctr"/>
                </a:tc>
                <a:tc>
                  <a:txBody>
                    <a:bodyPr/>
                    <a:lstStyle/>
                    <a:p>
                      <a:pPr>
                        <a:lnSpc>
                          <a:spcPct val="115000"/>
                        </a:lnSpc>
                        <a:spcBef>
                          <a:spcPts val="400"/>
                        </a:spcBef>
                        <a:spcAft>
                          <a:spcPts val="600"/>
                        </a:spcAft>
                      </a:pPr>
                      <a:r>
                        <a:rPr lang="en-AU" sz="1700" dirty="0">
                          <a:solidFill>
                            <a:srgbClr val="000000"/>
                          </a:solidFill>
                          <a:latin typeface="Helvetica"/>
                          <a:ea typeface="Times New Roman"/>
                          <a:cs typeface="HelveticaNeueLT Std Lt"/>
                        </a:rPr>
                        <a:t>Chenin blanc, verdelho, chardonnay, Riesling</a:t>
                      </a:r>
                      <a:endParaRPr lang="en-AU" sz="1700" dirty="0">
                        <a:latin typeface="Calibri"/>
                        <a:ea typeface="Times New Roman"/>
                        <a:cs typeface="Times New Roman"/>
                      </a:endParaRPr>
                    </a:p>
                  </a:txBody>
                  <a:tcPr marL="68580" marR="68580" marT="0" marB="0" anchor="ctr"/>
                </a:tc>
              </a:tr>
              <a:tr h="415433">
                <a:tc>
                  <a:txBody>
                    <a:bodyPr/>
                    <a:lstStyle/>
                    <a:p>
                      <a:pPr>
                        <a:lnSpc>
                          <a:spcPct val="115000"/>
                        </a:lnSpc>
                        <a:spcBef>
                          <a:spcPts val="400"/>
                        </a:spcBef>
                        <a:spcAft>
                          <a:spcPts val="600"/>
                        </a:spcAft>
                      </a:pPr>
                      <a:r>
                        <a:rPr lang="en-AU" sz="1700" dirty="0">
                          <a:solidFill>
                            <a:srgbClr val="000000"/>
                          </a:solidFill>
                          <a:latin typeface="Helvetica"/>
                          <a:ea typeface="Times New Roman"/>
                          <a:cs typeface="HelveticaNeueLT Std Lt"/>
                        </a:rPr>
                        <a:t>Antipasto</a:t>
                      </a:r>
                      <a:endParaRPr lang="en-AU" sz="1700" dirty="0">
                        <a:latin typeface="Calibri"/>
                        <a:ea typeface="Times New Roman"/>
                        <a:cs typeface="Times New Roman"/>
                      </a:endParaRPr>
                    </a:p>
                  </a:txBody>
                  <a:tcPr marL="68580" marR="68580" marT="0" marB="0" anchor="ctr"/>
                </a:tc>
                <a:tc>
                  <a:txBody>
                    <a:bodyPr/>
                    <a:lstStyle/>
                    <a:p>
                      <a:pPr>
                        <a:lnSpc>
                          <a:spcPct val="115000"/>
                        </a:lnSpc>
                        <a:spcBef>
                          <a:spcPts val="400"/>
                        </a:spcBef>
                        <a:spcAft>
                          <a:spcPts val="600"/>
                        </a:spcAft>
                      </a:pPr>
                      <a:r>
                        <a:rPr lang="en-AU" sz="1700" dirty="0">
                          <a:solidFill>
                            <a:srgbClr val="000000"/>
                          </a:solidFill>
                          <a:latin typeface="Helvetica"/>
                          <a:ea typeface="Times New Roman"/>
                          <a:cs typeface="HelveticaNeueLT Std Lt"/>
                        </a:rPr>
                        <a:t>Chardonnay, rosé</a:t>
                      </a:r>
                      <a:endParaRPr lang="en-AU" sz="1700" dirty="0">
                        <a:latin typeface="Calibri"/>
                        <a:ea typeface="Times New Roman"/>
                        <a:cs typeface="Times New Roman"/>
                      </a:endParaRPr>
                    </a:p>
                  </a:txBody>
                  <a:tcPr marL="68580" marR="68580" marT="0" marB="0" anchor="ctr"/>
                </a:tc>
              </a:tr>
              <a:tr h="415433">
                <a:tc>
                  <a:txBody>
                    <a:bodyPr/>
                    <a:lstStyle/>
                    <a:p>
                      <a:pPr>
                        <a:lnSpc>
                          <a:spcPct val="115000"/>
                        </a:lnSpc>
                        <a:spcBef>
                          <a:spcPts val="400"/>
                        </a:spcBef>
                        <a:spcAft>
                          <a:spcPts val="600"/>
                        </a:spcAft>
                      </a:pPr>
                      <a:r>
                        <a:rPr lang="en-AU" sz="1700" dirty="0">
                          <a:solidFill>
                            <a:srgbClr val="000000"/>
                          </a:solidFill>
                          <a:latin typeface="Helvetica"/>
                          <a:ea typeface="Times New Roman"/>
                          <a:cs typeface="HelveticaNeueLT Std Lt"/>
                        </a:rPr>
                        <a:t>Pasta</a:t>
                      </a:r>
                      <a:endParaRPr lang="en-AU" sz="1700" dirty="0">
                        <a:latin typeface="Calibri"/>
                        <a:ea typeface="Times New Roman"/>
                        <a:cs typeface="Times New Roman"/>
                      </a:endParaRPr>
                    </a:p>
                  </a:txBody>
                  <a:tcPr marL="68580" marR="68580" marT="0" marB="0" anchor="ctr"/>
                </a:tc>
                <a:tc>
                  <a:txBody>
                    <a:bodyPr/>
                    <a:lstStyle/>
                    <a:p>
                      <a:pPr>
                        <a:lnSpc>
                          <a:spcPct val="115000"/>
                        </a:lnSpc>
                        <a:spcBef>
                          <a:spcPts val="400"/>
                        </a:spcBef>
                        <a:spcAft>
                          <a:spcPts val="600"/>
                        </a:spcAft>
                      </a:pPr>
                      <a:r>
                        <a:rPr lang="en-AU" sz="1700" dirty="0">
                          <a:solidFill>
                            <a:srgbClr val="000000"/>
                          </a:solidFill>
                          <a:latin typeface="Helvetica"/>
                          <a:ea typeface="Times New Roman"/>
                          <a:cs typeface="HelveticaNeueLT Std Lt"/>
                        </a:rPr>
                        <a:t>Chardonnay, Riesling, shiraz</a:t>
                      </a:r>
                      <a:endParaRPr lang="en-AU" sz="1700" dirty="0">
                        <a:latin typeface="Calibri"/>
                        <a:ea typeface="Times New Roman"/>
                        <a:cs typeface="Times New Roman"/>
                      </a:endParaRPr>
                    </a:p>
                  </a:txBody>
                  <a:tcPr marL="68580" marR="68580" marT="0" marB="0" anchor="ctr"/>
                </a:tc>
              </a:tr>
              <a:tr h="415433">
                <a:tc>
                  <a:txBody>
                    <a:bodyPr/>
                    <a:lstStyle/>
                    <a:p>
                      <a:pPr>
                        <a:lnSpc>
                          <a:spcPct val="115000"/>
                        </a:lnSpc>
                        <a:spcBef>
                          <a:spcPts val="400"/>
                        </a:spcBef>
                        <a:spcAft>
                          <a:spcPts val="600"/>
                        </a:spcAft>
                      </a:pPr>
                      <a:r>
                        <a:rPr lang="en-AU" sz="1700" dirty="0">
                          <a:solidFill>
                            <a:srgbClr val="000000"/>
                          </a:solidFill>
                          <a:latin typeface="Helvetica"/>
                          <a:ea typeface="Times New Roman"/>
                          <a:cs typeface="HelveticaNeueLT Std Lt"/>
                        </a:rPr>
                        <a:t>Cheese platters</a:t>
                      </a:r>
                      <a:endParaRPr lang="en-AU" sz="1700" dirty="0">
                        <a:latin typeface="Calibri"/>
                        <a:ea typeface="Times New Roman"/>
                        <a:cs typeface="Times New Roman"/>
                      </a:endParaRPr>
                    </a:p>
                  </a:txBody>
                  <a:tcPr marL="68580" marR="68580" marT="0" marB="0" anchor="ctr"/>
                </a:tc>
                <a:tc>
                  <a:txBody>
                    <a:bodyPr/>
                    <a:lstStyle/>
                    <a:p>
                      <a:pPr>
                        <a:lnSpc>
                          <a:spcPct val="115000"/>
                        </a:lnSpc>
                        <a:spcBef>
                          <a:spcPts val="400"/>
                        </a:spcBef>
                        <a:spcAft>
                          <a:spcPts val="600"/>
                        </a:spcAft>
                      </a:pPr>
                      <a:r>
                        <a:rPr lang="en-AU" sz="1700" dirty="0">
                          <a:solidFill>
                            <a:srgbClr val="000000"/>
                          </a:solidFill>
                          <a:latin typeface="Helvetica"/>
                          <a:ea typeface="Times New Roman"/>
                          <a:cs typeface="HelveticaNeueLT Std Lt"/>
                        </a:rPr>
                        <a:t>Cabernet merlot</a:t>
                      </a:r>
                      <a:endParaRPr lang="en-AU" sz="1700" dirty="0">
                        <a:latin typeface="Calibri"/>
                        <a:ea typeface="Times New Roman"/>
                        <a:cs typeface="Times New Roman"/>
                      </a:endParaRPr>
                    </a:p>
                  </a:txBody>
                  <a:tcPr marL="68580" marR="68580" marT="0" marB="0" anchor="ctr"/>
                </a:tc>
              </a:tr>
              <a:tr h="415433">
                <a:tc>
                  <a:txBody>
                    <a:bodyPr/>
                    <a:lstStyle/>
                    <a:p>
                      <a:pPr>
                        <a:lnSpc>
                          <a:spcPct val="115000"/>
                        </a:lnSpc>
                        <a:spcBef>
                          <a:spcPts val="400"/>
                        </a:spcBef>
                        <a:spcAft>
                          <a:spcPts val="600"/>
                        </a:spcAft>
                      </a:pPr>
                      <a:r>
                        <a:rPr lang="en-AU" sz="1700" dirty="0">
                          <a:solidFill>
                            <a:srgbClr val="000000"/>
                          </a:solidFill>
                          <a:latin typeface="Helvetica"/>
                          <a:ea typeface="Times New Roman"/>
                          <a:cs typeface="HelveticaNeueLT Std Lt"/>
                        </a:rPr>
                        <a:t>Desserts</a:t>
                      </a:r>
                      <a:endParaRPr lang="en-AU" sz="1700" dirty="0">
                        <a:latin typeface="Calibri"/>
                        <a:ea typeface="Times New Roman"/>
                        <a:cs typeface="Times New Roman"/>
                      </a:endParaRPr>
                    </a:p>
                  </a:txBody>
                  <a:tcPr marL="68580" marR="68580" marT="0" marB="0" anchor="ctr"/>
                </a:tc>
                <a:tc>
                  <a:txBody>
                    <a:bodyPr/>
                    <a:lstStyle/>
                    <a:p>
                      <a:pPr>
                        <a:lnSpc>
                          <a:spcPct val="115000"/>
                        </a:lnSpc>
                        <a:spcBef>
                          <a:spcPts val="400"/>
                        </a:spcBef>
                        <a:spcAft>
                          <a:spcPts val="600"/>
                        </a:spcAft>
                      </a:pPr>
                      <a:r>
                        <a:rPr lang="en-AU" sz="1700" dirty="0">
                          <a:solidFill>
                            <a:srgbClr val="000000"/>
                          </a:solidFill>
                          <a:latin typeface="Helvetica"/>
                          <a:ea typeface="Times New Roman"/>
                          <a:cs typeface="HelveticaNeueLT Std Lt"/>
                        </a:rPr>
                        <a:t>Dessert wines</a:t>
                      </a:r>
                      <a:endParaRPr lang="en-AU" sz="1700" dirty="0">
                        <a:latin typeface="Calibri"/>
                        <a:ea typeface="Times New Roman"/>
                        <a:cs typeface="Times New Roman"/>
                      </a:endParaRPr>
                    </a:p>
                  </a:txBody>
                  <a:tcPr marL="68580" marR="68580" marT="0" marB="0" anchor="ctr"/>
                </a:tc>
              </a:tr>
            </a:tbl>
          </a:graphicData>
        </a:graphic>
      </p:graphicFrame>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Serving food and beverage items</a:t>
            </a:r>
          </a:p>
        </p:txBody>
      </p:sp>
      <p:sp>
        <p:nvSpPr>
          <p:cNvPr id="3" name="Content Placeholder 2"/>
          <p:cNvSpPr>
            <a:spLocks noGrp="1"/>
          </p:cNvSpPr>
          <p:nvPr>
            <p:ph idx="1"/>
          </p:nvPr>
        </p:nvSpPr>
        <p:spPr>
          <a:xfrm>
            <a:off x="611560" y="1196752"/>
            <a:ext cx="7776864" cy="5661248"/>
          </a:xfrm>
        </p:spPr>
        <p:txBody>
          <a:bodyPr>
            <a:normAutofit lnSpcReduction="10000"/>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Collect beverage selections</a:t>
            </a:r>
          </a:p>
          <a:p>
            <a:pPr marL="342900" indent="-342900">
              <a:spcBef>
                <a:spcPts val="600"/>
              </a:spcBef>
              <a:spcAft>
                <a:spcPts val="1200"/>
              </a:spcAft>
              <a:buNone/>
            </a:pPr>
            <a:r>
              <a:rPr lang="en-US" altLang="zh-CN" sz="2200" dirty="0" smtClean="0">
                <a:latin typeface="Helvetica" pitchFamily="34" charset="0"/>
                <a:ea typeface="宋体" pitchFamily="2" charset="-122"/>
              </a:rPr>
              <a:t>When collecting </a:t>
            </a:r>
            <a:r>
              <a:rPr lang="en-US" altLang="zh-CN" sz="2200" u="sng" dirty="0" smtClean="0">
                <a:latin typeface="Helvetica" pitchFamily="34" charset="0"/>
                <a:ea typeface="宋体" pitchFamily="2" charset="-122"/>
              </a:rPr>
              <a:t>drinks</a:t>
            </a:r>
            <a:r>
              <a:rPr lang="en-US" altLang="zh-CN" sz="2200" dirty="0" smtClean="0">
                <a:latin typeface="Helvetica" pitchFamily="34" charset="0"/>
                <a:ea typeface="宋体" pitchFamily="2" charset="-122"/>
              </a:rPr>
              <a:t> ensure:</a:t>
            </a:r>
          </a:p>
          <a:p>
            <a:pPr marL="342900" indent="-342900">
              <a:spcBef>
                <a:spcPts val="600"/>
              </a:spcBef>
              <a:spcAft>
                <a:spcPts val="1200"/>
              </a:spcAft>
            </a:pPr>
            <a:r>
              <a:rPr lang="en-US" altLang="zh-CN" sz="2200" dirty="0" smtClean="0">
                <a:latin typeface="Helvetica" pitchFamily="34" charset="0"/>
                <a:ea typeface="宋体" pitchFamily="2" charset="-122"/>
              </a:rPr>
              <a:t>Correct drink</a:t>
            </a:r>
          </a:p>
          <a:p>
            <a:pPr marL="342900" indent="-342900">
              <a:spcBef>
                <a:spcPts val="600"/>
              </a:spcBef>
              <a:spcAft>
                <a:spcPts val="1200"/>
              </a:spcAft>
            </a:pPr>
            <a:r>
              <a:rPr lang="en-US" altLang="zh-CN" sz="2200" dirty="0" smtClean="0">
                <a:latin typeface="Helvetica" pitchFamily="34" charset="0"/>
                <a:ea typeface="宋体" pitchFamily="2" charset="-122"/>
              </a:rPr>
              <a:t>Correct glassware</a:t>
            </a:r>
          </a:p>
          <a:p>
            <a:pPr marL="342900" indent="-342900">
              <a:spcBef>
                <a:spcPts val="600"/>
              </a:spcBef>
              <a:spcAft>
                <a:spcPts val="1200"/>
              </a:spcAft>
            </a:pPr>
            <a:r>
              <a:rPr lang="en-US" altLang="zh-CN" sz="2200" dirty="0" smtClean="0">
                <a:latin typeface="Helvetica" pitchFamily="34" charset="0"/>
                <a:ea typeface="宋体" pitchFamily="2" charset="-122"/>
              </a:rPr>
              <a:t>Garnishes</a:t>
            </a:r>
          </a:p>
          <a:p>
            <a:pPr marL="342900" indent="-342900">
              <a:spcBef>
                <a:spcPts val="600"/>
              </a:spcBef>
              <a:spcAft>
                <a:spcPts val="1200"/>
              </a:spcAft>
            </a:pPr>
            <a:r>
              <a:rPr lang="en-US" altLang="zh-CN" sz="2200" dirty="0" smtClean="0">
                <a:latin typeface="Helvetica" pitchFamily="34" charset="0"/>
                <a:ea typeface="宋体" pitchFamily="2" charset="-122"/>
              </a:rPr>
              <a:t>Glasses have right amount of liquid</a:t>
            </a:r>
          </a:p>
          <a:p>
            <a:pPr marL="342900" indent="-342900">
              <a:spcBef>
                <a:spcPts val="600"/>
              </a:spcBef>
              <a:spcAft>
                <a:spcPts val="1200"/>
              </a:spcAft>
            </a:pPr>
            <a:r>
              <a:rPr lang="en-US" altLang="zh-CN" sz="2200" dirty="0" smtClean="0">
                <a:latin typeface="Helvetica" pitchFamily="34" charset="0"/>
                <a:ea typeface="宋体" pitchFamily="2" charset="-122"/>
              </a:rPr>
              <a:t>Drinks are not flat                                                            (if required to be carbonated</a:t>
            </a:r>
          </a:p>
          <a:p>
            <a:pPr marL="342900" indent="-342900">
              <a:spcBef>
                <a:spcPts val="600"/>
              </a:spcBef>
              <a:spcAft>
                <a:spcPts val="1200"/>
              </a:spcAft>
            </a:pPr>
            <a:r>
              <a:rPr lang="en-US" altLang="zh-CN" sz="2200" dirty="0" smtClean="0">
                <a:latin typeface="Helvetica" pitchFamily="34" charset="0"/>
                <a:ea typeface="宋体" pitchFamily="2" charset="-122"/>
              </a:rPr>
              <a:t>Correct straws</a:t>
            </a:r>
          </a:p>
          <a:p>
            <a:pPr>
              <a:buNone/>
            </a:pP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131</a:t>
            </a:fld>
            <a:endParaRPr lang="en-US" dirty="0">
              <a:latin typeface="Helvetica" pitchFamily="34" charset="0"/>
            </a:endParaRPr>
          </a:p>
        </p:txBody>
      </p:sp>
      <p:pic>
        <p:nvPicPr>
          <p:cNvPr id="9" name="Picture 8" descr="MP900432803[1].JPG"/>
          <p:cNvPicPr>
            <a:picLocks noChangeAspect="1"/>
          </p:cNvPicPr>
          <p:nvPr/>
        </p:nvPicPr>
        <p:blipFill>
          <a:blip r:embed="rId3" cstate="print"/>
          <a:stretch>
            <a:fillRect/>
          </a:stretch>
        </p:blipFill>
        <p:spPr>
          <a:xfrm>
            <a:off x="6516216" y="2852936"/>
            <a:ext cx="1828502" cy="2493412"/>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Serving food and beverage items</a:t>
            </a:r>
          </a:p>
        </p:txBody>
      </p:sp>
      <p:sp>
        <p:nvSpPr>
          <p:cNvPr id="3" name="Content Placeholder 2"/>
          <p:cNvSpPr>
            <a:spLocks noGrp="1"/>
          </p:cNvSpPr>
          <p:nvPr>
            <p:ph idx="1"/>
          </p:nvPr>
        </p:nvSpPr>
        <p:spPr>
          <a:xfrm>
            <a:off x="611560" y="1196752"/>
            <a:ext cx="7467600" cy="5661248"/>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Serving beverages:</a:t>
            </a:r>
          </a:p>
          <a:p>
            <a:pPr marL="342900" indent="-342900">
              <a:spcBef>
                <a:spcPts val="600"/>
              </a:spcBef>
              <a:spcAft>
                <a:spcPts val="1200"/>
              </a:spcAft>
            </a:pPr>
            <a:r>
              <a:rPr lang="en-US" altLang="zh-CN" sz="2200" dirty="0" smtClean="0">
                <a:latin typeface="Helvetica" pitchFamily="34" charset="0"/>
                <a:ea typeface="宋体" pitchFamily="2" charset="-122"/>
              </a:rPr>
              <a:t>Carrying trays</a:t>
            </a:r>
          </a:p>
          <a:p>
            <a:pPr marL="342900" indent="-342900">
              <a:spcBef>
                <a:spcPts val="600"/>
              </a:spcBef>
              <a:spcAft>
                <a:spcPts val="1200"/>
              </a:spcAft>
            </a:pPr>
            <a:r>
              <a:rPr lang="en-US" altLang="zh-CN" sz="2200" dirty="0" smtClean="0">
                <a:latin typeface="Helvetica" pitchFamily="34" charset="0"/>
                <a:ea typeface="宋体" pitchFamily="2" charset="-122"/>
              </a:rPr>
              <a:t>Handle glassware by the stem or stem</a:t>
            </a:r>
          </a:p>
          <a:p>
            <a:pPr marL="342900" indent="-342900">
              <a:spcBef>
                <a:spcPts val="600"/>
              </a:spcBef>
              <a:spcAft>
                <a:spcPts val="1200"/>
              </a:spcAft>
            </a:pPr>
            <a:r>
              <a:rPr lang="en-US" altLang="zh-CN" sz="2200" dirty="0" smtClean="0">
                <a:latin typeface="Helvetica" pitchFamily="34" charset="0"/>
                <a:ea typeface="宋体" pitchFamily="2" charset="-122"/>
              </a:rPr>
              <a:t>Don’t overload trays</a:t>
            </a:r>
          </a:p>
          <a:p>
            <a:pPr marL="342900" indent="-342900">
              <a:spcBef>
                <a:spcPts val="600"/>
              </a:spcBef>
              <a:spcAft>
                <a:spcPts val="1200"/>
              </a:spcAft>
            </a:pPr>
            <a:r>
              <a:rPr lang="en-US" altLang="zh-CN" sz="2200" dirty="0" smtClean="0">
                <a:latin typeface="Helvetica" pitchFamily="34" charset="0"/>
                <a:ea typeface="宋体" pitchFamily="2" charset="-122"/>
              </a:rPr>
              <a:t>Use coasters</a:t>
            </a:r>
          </a:p>
          <a:p>
            <a:pPr marL="342900" indent="-342900">
              <a:spcBef>
                <a:spcPts val="600"/>
              </a:spcBef>
              <a:spcAft>
                <a:spcPts val="1200"/>
              </a:spcAft>
            </a:pPr>
            <a:r>
              <a:rPr lang="en-US" altLang="zh-CN" sz="2200" dirty="0" smtClean="0">
                <a:latin typeface="Helvetica" pitchFamily="34" charset="0"/>
                <a:ea typeface="宋体" pitchFamily="2" charset="-122"/>
              </a:rPr>
              <a:t>Provide snacks where appropriate</a:t>
            </a:r>
          </a:p>
          <a:p>
            <a:pPr marL="342900" indent="-342900">
              <a:spcBef>
                <a:spcPts val="600"/>
              </a:spcBef>
              <a:spcAft>
                <a:spcPts val="1200"/>
              </a:spcAft>
            </a:pPr>
            <a:r>
              <a:rPr lang="en-US" altLang="zh-CN" sz="2200" dirty="0" smtClean="0">
                <a:latin typeface="Helvetica" pitchFamily="34" charset="0"/>
                <a:ea typeface="宋体" pitchFamily="2" charset="-122"/>
              </a:rPr>
              <a:t>Monitor behaviour of guests (alcohol)</a:t>
            </a:r>
          </a:p>
          <a:p>
            <a:pPr marL="342900" indent="-342900">
              <a:spcBef>
                <a:spcPts val="600"/>
              </a:spcBef>
              <a:spcAft>
                <a:spcPts val="1200"/>
              </a:spcAft>
            </a:pPr>
            <a:r>
              <a:rPr lang="en-US" altLang="zh-CN" sz="2200" dirty="0" smtClean="0">
                <a:latin typeface="Helvetica" pitchFamily="34" charset="0"/>
                <a:ea typeface="宋体" pitchFamily="2" charset="-122"/>
              </a:rPr>
              <a:t>Announce name of drink</a:t>
            </a: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132</a:t>
            </a:fld>
            <a:endParaRPr lang="en-US" dirty="0">
              <a:latin typeface="Helvetica" pitchFamily="34" charset="0"/>
            </a:endParaRPr>
          </a:p>
        </p:txBody>
      </p:sp>
      <p:pic>
        <p:nvPicPr>
          <p:cNvPr id="6" name="Picture 10" descr="Waiters"/>
          <p:cNvPicPr>
            <a:picLocks noChangeAspect="1" noChangeArrowheads="1"/>
          </p:cNvPicPr>
          <p:nvPr/>
        </p:nvPicPr>
        <p:blipFill>
          <a:blip r:embed="rId3" cstate="print"/>
          <a:srcRect/>
          <a:stretch>
            <a:fillRect/>
          </a:stretch>
        </p:blipFill>
        <p:spPr bwMode="auto">
          <a:xfrm>
            <a:off x="6372200" y="3356992"/>
            <a:ext cx="2059906" cy="2014177"/>
          </a:xfrm>
          <a:prstGeom prst="rect">
            <a:avLst/>
          </a:prstGeom>
          <a:noFill/>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Serving food and beverage items</a:t>
            </a:r>
          </a:p>
        </p:txBody>
      </p:sp>
      <p:sp>
        <p:nvSpPr>
          <p:cNvPr id="3" name="Content Placeholder 2"/>
          <p:cNvSpPr>
            <a:spLocks noGrp="1"/>
          </p:cNvSpPr>
          <p:nvPr>
            <p:ph idx="1"/>
          </p:nvPr>
        </p:nvSpPr>
        <p:spPr>
          <a:xfrm>
            <a:off x="611560" y="1124744"/>
            <a:ext cx="7467600" cy="5733256"/>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Collect food selections</a:t>
            </a:r>
          </a:p>
          <a:p>
            <a:pPr marL="0" indent="-342900">
              <a:spcBef>
                <a:spcPts val="600"/>
              </a:spcBef>
              <a:spcAft>
                <a:spcPts val="1200"/>
              </a:spcAft>
              <a:buNone/>
            </a:pPr>
            <a:r>
              <a:rPr lang="en-US" altLang="zh-CN" sz="2200" dirty="0" smtClean="0">
                <a:latin typeface="Helvetica" pitchFamily="34" charset="0"/>
                <a:ea typeface="宋体" pitchFamily="2" charset="-122"/>
              </a:rPr>
              <a:t>It is essential food items are picked up and delivered in a timely manner as:</a:t>
            </a:r>
          </a:p>
          <a:p>
            <a:pPr lvl="0">
              <a:spcBef>
                <a:spcPts val="600"/>
              </a:spcBef>
              <a:spcAft>
                <a:spcPts val="1200"/>
              </a:spcAft>
            </a:pPr>
            <a:r>
              <a:rPr lang="en-AU" sz="2200" dirty="0" smtClean="0">
                <a:latin typeface="Helvetica" pitchFamily="34" charset="0"/>
              </a:rPr>
              <a:t>Hot food could go cold and spoil</a:t>
            </a:r>
          </a:p>
          <a:p>
            <a:pPr lvl="0">
              <a:spcBef>
                <a:spcPts val="600"/>
              </a:spcBef>
              <a:spcAft>
                <a:spcPts val="1200"/>
              </a:spcAft>
            </a:pPr>
            <a:r>
              <a:rPr lang="en-AU" sz="2200" dirty="0" smtClean="0">
                <a:latin typeface="Helvetica" pitchFamily="34" charset="0"/>
              </a:rPr>
              <a:t>Cold food could lose its chill factor</a:t>
            </a:r>
          </a:p>
          <a:p>
            <a:pPr lvl="0">
              <a:spcBef>
                <a:spcPts val="600"/>
              </a:spcBef>
              <a:spcAft>
                <a:spcPts val="1200"/>
              </a:spcAft>
            </a:pPr>
            <a:r>
              <a:rPr lang="en-AU" sz="2200" dirty="0" smtClean="0">
                <a:latin typeface="Helvetica" pitchFamily="34" charset="0"/>
              </a:rPr>
              <a:t>Risk of food contamination increases</a:t>
            </a:r>
          </a:p>
          <a:p>
            <a:pPr lvl="0">
              <a:spcBef>
                <a:spcPts val="600"/>
              </a:spcBef>
              <a:spcAft>
                <a:spcPts val="1200"/>
              </a:spcAft>
            </a:pPr>
            <a:r>
              <a:rPr lang="en-AU" sz="2200" dirty="0" smtClean="0">
                <a:latin typeface="Helvetica" pitchFamily="34" charset="0"/>
              </a:rPr>
              <a:t>Customers have an unnecessary wait</a:t>
            </a:r>
          </a:p>
          <a:p>
            <a:pPr lvl="0">
              <a:spcBef>
                <a:spcPts val="600"/>
              </a:spcBef>
              <a:spcAft>
                <a:spcPts val="1200"/>
              </a:spcAft>
            </a:pPr>
            <a:r>
              <a:rPr lang="en-AU" sz="2200" dirty="0" smtClean="0">
                <a:latin typeface="Helvetica" pitchFamily="34" charset="0"/>
              </a:rPr>
              <a:t>Room to place down newly prepared                                      items becomes restricted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133</a:t>
            </a:fld>
            <a:endParaRPr lang="en-US" dirty="0">
              <a:latin typeface="Helvetica" pitchFamily="34" charset="0"/>
            </a:endParaRPr>
          </a:p>
        </p:txBody>
      </p:sp>
      <p:pic>
        <p:nvPicPr>
          <p:cNvPr id="6" name="Picture 5" descr="22.jpg"/>
          <p:cNvPicPr/>
          <p:nvPr/>
        </p:nvPicPr>
        <p:blipFill>
          <a:blip r:embed="rId3" cstate="print"/>
          <a:stretch>
            <a:fillRect/>
          </a:stretch>
        </p:blipFill>
        <p:spPr>
          <a:xfrm>
            <a:off x="6516216" y="4221088"/>
            <a:ext cx="1866900" cy="1247775"/>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Serving food and beverage items</a:t>
            </a:r>
          </a:p>
        </p:txBody>
      </p:sp>
      <p:sp>
        <p:nvSpPr>
          <p:cNvPr id="3" name="Content Placeholder 2"/>
          <p:cNvSpPr>
            <a:spLocks noGrp="1"/>
          </p:cNvSpPr>
          <p:nvPr>
            <p:ph idx="1"/>
          </p:nvPr>
        </p:nvSpPr>
        <p:spPr>
          <a:xfrm>
            <a:off x="611560" y="1196752"/>
            <a:ext cx="7467600" cy="5661248"/>
          </a:xfrm>
        </p:spPr>
        <p:txBody>
          <a:bodyPr>
            <a:normAutofit/>
          </a:bodyPr>
          <a:lstStyle/>
          <a:p>
            <a:pPr marL="342900" indent="-342900">
              <a:spcBef>
                <a:spcPts val="600"/>
              </a:spcBef>
              <a:spcAft>
                <a:spcPts val="600"/>
              </a:spcAft>
              <a:buNone/>
            </a:pPr>
            <a:r>
              <a:rPr lang="en-US" altLang="zh-CN" sz="2200" b="1" dirty="0" smtClean="0">
                <a:latin typeface="Helvetica" pitchFamily="34" charset="0"/>
                <a:ea typeface="宋体" pitchFamily="2" charset="-122"/>
              </a:rPr>
              <a:t>Collect food selections</a:t>
            </a:r>
          </a:p>
          <a:p>
            <a:pPr marL="342900" indent="-342900">
              <a:spcBef>
                <a:spcPts val="600"/>
              </a:spcBef>
              <a:spcAft>
                <a:spcPts val="600"/>
              </a:spcAft>
              <a:buNone/>
            </a:pPr>
            <a:r>
              <a:rPr lang="en-US" altLang="zh-CN" sz="2200" dirty="0" smtClean="0">
                <a:latin typeface="Helvetica" pitchFamily="34" charset="0"/>
                <a:ea typeface="宋体" pitchFamily="2" charset="-122"/>
              </a:rPr>
              <a:t>When collecting </a:t>
            </a:r>
            <a:r>
              <a:rPr lang="en-US" altLang="zh-CN" sz="2200" u="sng" dirty="0" smtClean="0">
                <a:latin typeface="Helvetica" pitchFamily="34" charset="0"/>
                <a:ea typeface="宋体" pitchFamily="2" charset="-122"/>
              </a:rPr>
              <a:t>food</a:t>
            </a:r>
            <a:r>
              <a:rPr lang="en-US" altLang="zh-CN" sz="2200" dirty="0" smtClean="0">
                <a:latin typeface="Helvetica" pitchFamily="34" charset="0"/>
                <a:ea typeface="宋体" pitchFamily="2" charset="-122"/>
              </a:rPr>
              <a:t> ensure:</a:t>
            </a:r>
          </a:p>
          <a:p>
            <a:pPr marL="342900" indent="-342900">
              <a:lnSpc>
                <a:spcPct val="90000"/>
              </a:lnSpc>
              <a:spcBef>
                <a:spcPts val="600"/>
              </a:spcBef>
              <a:spcAft>
                <a:spcPts val="600"/>
              </a:spcAft>
            </a:pPr>
            <a:r>
              <a:rPr lang="en-US" altLang="zh-CN" sz="2200" dirty="0" smtClean="0">
                <a:latin typeface="Helvetica" pitchFamily="34" charset="0"/>
                <a:ea typeface="宋体" pitchFamily="2" charset="-122"/>
              </a:rPr>
              <a:t>Correct food</a:t>
            </a:r>
          </a:p>
          <a:p>
            <a:pPr marL="342900" indent="-342900">
              <a:lnSpc>
                <a:spcPct val="90000"/>
              </a:lnSpc>
              <a:spcBef>
                <a:spcPts val="600"/>
              </a:spcBef>
              <a:spcAft>
                <a:spcPts val="600"/>
              </a:spcAft>
            </a:pPr>
            <a:r>
              <a:rPr lang="en-US" altLang="zh-CN" sz="2200" dirty="0" smtClean="0">
                <a:latin typeface="Helvetica" pitchFamily="34" charset="0"/>
                <a:ea typeface="宋体" pitchFamily="2" charset="-122"/>
              </a:rPr>
              <a:t>Correct temperature</a:t>
            </a:r>
          </a:p>
          <a:p>
            <a:pPr marL="342900" indent="-342900">
              <a:lnSpc>
                <a:spcPct val="90000"/>
              </a:lnSpc>
              <a:spcBef>
                <a:spcPts val="600"/>
              </a:spcBef>
              <a:spcAft>
                <a:spcPts val="600"/>
              </a:spcAft>
            </a:pPr>
            <a:r>
              <a:rPr lang="en-US" altLang="zh-CN" sz="2200" dirty="0" smtClean="0">
                <a:latin typeface="Helvetica" pitchFamily="34" charset="0"/>
                <a:ea typeface="宋体" pitchFamily="2" charset="-122"/>
              </a:rPr>
              <a:t>Correct requests</a:t>
            </a:r>
          </a:p>
          <a:p>
            <a:pPr marL="342900" indent="-342900">
              <a:lnSpc>
                <a:spcPct val="90000"/>
              </a:lnSpc>
              <a:spcBef>
                <a:spcPts val="600"/>
              </a:spcBef>
              <a:spcAft>
                <a:spcPts val="600"/>
              </a:spcAft>
            </a:pPr>
            <a:r>
              <a:rPr lang="en-US" altLang="zh-CN" sz="2200" dirty="0" smtClean="0">
                <a:latin typeface="Helvetica" pitchFamily="34" charset="0"/>
                <a:ea typeface="宋体" pitchFamily="2" charset="-122"/>
              </a:rPr>
              <a:t>Clean plate</a:t>
            </a:r>
          </a:p>
          <a:p>
            <a:pPr marL="342900" indent="-342900">
              <a:lnSpc>
                <a:spcPct val="90000"/>
              </a:lnSpc>
              <a:spcBef>
                <a:spcPts val="600"/>
              </a:spcBef>
              <a:spcAft>
                <a:spcPts val="600"/>
              </a:spcAft>
            </a:pPr>
            <a:r>
              <a:rPr lang="en-US" altLang="zh-CN" sz="2200" dirty="0" smtClean="0">
                <a:latin typeface="Helvetica" pitchFamily="34" charset="0"/>
                <a:ea typeface="宋体" pitchFamily="2" charset="-122"/>
              </a:rPr>
              <a:t>Service cutlery</a:t>
            </a:r>
          </a:p>
          <a:p>
            <a:pPr marL="342900" indent="-342900">
              <a:lnSpc>
                <a:spcPct val="90000"/>
              </a:lnSpc>
              <a:spcBef>
                <a:spcPts val="600"/>
              </a:spcBef>
              <a:spcAft>
                <a:spcPts val="600"/>
              </a:spcAft>
            </a:pPr>
            <a:r>
              <a:rPr lang="en-US" altLang="zh-CN" sz="2200" dirty="0" smtClean="0">
                <a:latin typeface="Helvetica" pitchFamily="34" charset="0"/>
                <a:ea typeface="宋体" pitchFamily="2" charset="-122"/>
              </a:rPr>
              <a:t>Garnishes &amp; condiments</a:t>
            </a:r>
          </a:p>
          <a:p>
            <a:pPr marL="342900" indent="-342900">
              <a:lnSpc>
                <a:spcPct val="90000"/>
              </a:lnSpc>
              <a:spcBef>
                <a:spcPts val="600"/>
              </a:spcBef>
              <a:spcAft>
                <a:spcPts val="600"/>
              </a:spcAft>
            </a:pPr>
            <a:r>
              <a:rPr lang="en-US" altLang="zh-CN" sz="2200" dirty="0" smtClean="0">
                <a:latin typeface="Helvetica" pitchFamily="34" charset="0"/>
                <a:ea typeface="宋体" pitchFamily="2" charset="-122"/>
              </a:rPr>
              <a:t>Correct side dishes</a:t>
            </a:r>
          </a:p>
          <a:p>
            <a:pPr marL="342900" indent="-342900">
              <a:lnSpc>
                <a:spcPct val="90000"/>
              </a:lnSpc>
              <a:spcBef>
                <a:spcPts val="600"/>
              </a:spcBef>
              <a:spcAft>
                <a:spcPts val="600"/>
              </a:spcAft>
            </a:pPr>
            <a:r>
              <a:rPr lang="en-US" altLang="zh-CN" sz="2200" dirty="0" smtClean="0">
                <a:latin typeface="Helvetica" pitchFamily="34" charset="0"/>
                <a:ea typeface="宋体" pitchFamily="2" charset="-122"/>
              </a:rPr>
              <a:t>All meals to the table are taken at the same time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pic>
        <p:nvPicPr>
          <p:cNvPr id="6" name="Picture 5" descr="DSC02667.JPG"/>
          <p:cNvPicPr/>
          <p:nvPr/>
        </p:nvPicPr>
        <p:blipFill>
          <a:blip r:embed="rId3" cstate="print"/>
          <a:stretch>
            <a:fillRect/>
          </a:stretch>
        </p:blipFill>
        <p:spPr>
          <a:xfrm>
            <a:off x="6516216" y="2924944"/>
            <a:ext cx="1880493" cy="2304256"/>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Serving food and beverage items</a:t>
            </a:r>
          </a:p>
        </p:txBody>
      </p:sp>
      <p:sp>
        <p:nvSpPr>
          <p:cNvPr id="3" name="Content Placeholder 2"/>
          <p:cNvSpPr>
            <a:spLocks noGrp="1"/>
          </p:cNvSpPr>
          <p:nvPr>
            <p:ph idx="1"/>
          </p:nvPr>
        </p:nvSpPr>
        <p:spPr>
          <a:xfrm>
            <a:off x="611560" y="1196752"/>
            <a:ext cx="7467600" cy="5661248"/>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Serving Food:</a:t>
            </a:r>
          </a:p>
          <a:p>
            <a:pPr marL="342900" indent="-342900">
              <a:spcBef>
                <a:spcPts val="600"/>
              </a:spcBef>
              <a:spcAft>
                <a:spcPts val="1200"/>
              </a:spcAft>
            </a:pPr>
            <a:r>
              <a:rPr lang="en-US" altLang="zh-CN" sz="2200" dirty="0" smtClean="0">
                <a:latin typeface="Helvetica" pitchFamily="34" charset="0"/>
                <a:ea typeface="宋体" pitchFamily="2" charset="-122"/>
              </a:rPr>
              <a:t>Use 2 plate or 3 plate method</a:t>
            </a:r>
          </a:p>
          <a:p>
            <a:pPr marL="0" indent="0">
              <a:spcBef>
                <a:spcPts val="600"/>
              </a:spcBef>
              <a:spcAft>
                <a:spcPts val="1200"/>
              </a:spcAft>
            </a:pPr>
            <a:r>
              <a:rPr lang="en-US" altLang="zh-CN" sz="2200" dirty="0" smtClean="0">
                <a:latin typeface="Helvetica" pitchFamily="34" charset="0"/>
                <a:ea typeface="宋体" pitchFamily="2" charset="-122"/>
              </a:rPr>
              <a:t>  Serve the meal from the right</a:t>
            </a:r>
          </a:p>
          <a:p>
            <a:pPr marL="0" indent="0">
              <a:spcBef>
                <a:spcPts val="600"/>
              </a:spcBef>
              <a:spcAft>
                <a:spcPts val="1200"/>
              </a:spcAft>
            </a:pPr>
            <a:r>
              <a:rPr lang="en-US" altLang="zh-CN" sz="2200" dirty="0" smtClean="0">
                <a:latin typeface="Helvetica" pitchFamily="34" charset="0"/>
                <a:ea typeface="宋体" pitchFamily="2" charset="-122"/>
              </a:rPr>
              <a:t>  Serve ladies first or direction</a:t>
            </a:r>
          </a:p>
          <a:p>
            <a:pPr marL="0" indent="0">
              <a:spcBef>
                <a:spcPts val="600"/>
              </a:spcBef>
              <a:spcAft>
                <a:spcPts val="1200"/>
              </a:spcAft>
            </a:pPr>
            <a:r>
              <a:rPr lang="en-US" altLang="zh-CN" sz="2200" dirty="0" smtClean="0">
                <a:latin typeface="Helvetica" pitchFamily="34" charset="0"/>
                <a:ea typeface="宋体" pitchFamily="2" charset="-122"/>
              </a:rPr>
              <a:t>  Place the meat at 6 o’clock</a:t>
            </a:r>
          </a:p>
          <a:p>
            <a:pPr marL="0" indent="0">
              <a:spcBef>
                <a:spcPts val="600"/>
              </a:spcBef>
              <a:spcAft>
                <a:spcPts val="1200"/>
              </a:spcAft>
            </a:pPr>
            <a:r>
              <a:rPr lang="en-US" altLang="zh-CN" sz="2200" dirty="0" smtClean="0">
                <a:latin typeface="Helvetica" pitchFamily="34" charset="0"/>
                <a:ea typeface="宋体" pitchFamily="2" charset="-122"/>
              </a:rPr>
              <a:t>  Repeat order when presenting</a:t>
            </a:r>
          </a:p>
          <a:p>
            <a:pPr marL="0" indent="0">
              <a:spcBef>
                <a:spcPts val="600"/>
              </a:spcBef>
              <a:spcAft>
                <a:spcPts val="1200"/>
              </a:spcAft>
            </a:pPr>
            <a:r>
              <a:rPr lang="en-US" altLang="zh-CN" sz="2200" dirty="0" smtClean="0">
                <a:latin typeface="Helvetica" pitchFamily="34" charset="0"/>
                <a:ea typeface="宋体" pitchFamily="2" charset="-122"/>
              </a:rPr>
              <a:t>  Ensure correct cutlery</a:t>
            </a:r>
          </a:p>
          <a:p>
            <a:pPr marL="0" indent="0">
              <a:spcBef>
                <a:spcPts val="600"/>
              </a:spcBef>
              <a:spcAft>
                <a:spcPts val="1200"/>
              </a:spcAft>
            </a:pPr>
            <a:r>
              <a:rPr lang="en-US" altLang="zh-CN" sz="2200" dirty="0" smtClean="0">
                <a:latin typeface="Helvetica" pitchFamily="34" charset="0"/>
                <a:ea typeface="宋体" pitchFamily="2" charset="-122"/>
              </a:rPr>
              <a:t>  Ensure correct condiments</a:t>
            </a:r>
          </a:p>
          <a:p>
            <a:pPr marL="536575" lvl="1" indent="-266700">
              <a:buFontTx/>
              <a:buNone/>
            </a:pPr>
            <a:endParaRPr lang="en-US" altLang="zh-CN" sz="1800"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135</a:t>
            </a:fld>
            <a:endParaRPr lang="en-US" dirty="0">
              <a:latin typeface="Helvetica" pitchFamily="34" charset="0"/>
            </a:endParaRPr>
          </a:p>
        </p:txBody>
      </p:sp>
      <p:pic>
        <p:nvPicPr>
          <p:cNvPr id="7" name="Picture 6" descr="Event 30"/>
          <p:cNvPicPr/>
          <p:nvPr/>
        </p:nvPicPr>
        <p:blipFill>
          <a:blip r:embed="rId3" cstate="print"/>
          <a:srcRect/>
          <a:stretch>
            <a:fillRect/>
          </a:stretch>
        </p:blipFill>
        <p:spPr bwMode="auto">
          <a:xfrm>
            <a:off x="6084168" y="3717032"/>
            <a:ext cx="2325613" cy="1824980"/>
          </a:xfrm>
          <a:prstGeom prst="rect">
            <a:avLst/>
          </a:prstGeom>
          <a:noFill/>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Serving food and beverage items</a:t>
            </a:r>
          </a:p>
        </p:txBody>
      </p:sp>
      <p:sp>
        <p:nvSpPr>
          <p:cNvPr id="3" name="Content Placeholder 2"/>
          <p:cNvSpPr>
            <a:spLocks noGrp="1"/>
          </p:cNvSpPr>
          <p:nvPr>
            <p:ph idx="1"/>
          </p:nvPr>
        </p:nvSpPr>
        <p:spPr>
          <a:xfrm>
            <a:off x="611560" y="1268760"/>
            <a:ext cx="7467600" cy="5589240"/>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Check Customer Satisfaction</a:t>
            </a:r>
            <a:endParaRPr lang="en-US" altLang="zh-CN" sz="2200" b="1" i="1" dirty="0" smtClean="0">
              <a:latin typeface="Helvetica" pitchFamily="34" charset="0"/>
              <a:ea typeface="宋体" pitchFamily="2" charset="-122"/>
            </a:endParaRPr>
          </a:p>
          <a:p>
            <a:pPr marL="342900" indent="-342900">
              <a:spcBef>
                <a:spcPts val="600"/>
              </a:spcBef>
              <a:spcAft>
                <a:spcPts val="1200"/>
              </a:spcAft>
              <a:buNone/>
            </a:pPr>
            <a:r>
              <a:rPr lang="en-US" altLang="zh-CN" sz="2200" u="sng" dirty="0" smtClean="0">
                <a:latin typeface="Helvetica" pitchFamily="34" charset="0"/>
                <a:ea typeface="宋体" pitchFamily="2" charset="-122"/>
              </a:rPr>
              <a:t>Conduct ‘The 3 minute check’:</a:t>
            </a:r>
          </a:p>
          <a:p>
            <a:pPr marL="342900" indent="-342900">
              <a:spcBef>
                <a:spcPts val="600"/>
              </a:spcBef>
              <a:spcAft>
                <a:spcPts val="1200"/>
              </a:spcAft>
            </a:pPr>
            <a:r>
              <a:rPr lang="en-US" altLang="zh-CN" sz="2200" dirty="0" smtClean="0">
                <a:latin typeface="Helvetica" pitchFamily="34" charset="0"/>
                <a:ea typeface="宋体" pitchFamily="2" charset="-122"/>
              </a:rPr>
              <a:t>Ensure meals are alright</a:t>
            </a:r>
          </a:p>
          <a:p>
            <a:pPr marL="342900" indent="-342900">
              <a:spcBef>
                <a:spcPts val="600"/>
              </a:spcBef>
              <a:spcAft>
                <a:spcPts val="1200"/>
              </a:spcAft>
            </a:pPr>
            <a:r>
              <a:rPr lang="en-US" altLang="zh-CN" sz="2200" dirty="0" smtClean="0">
                <a:latin typeface="Helvetica" pitchFamily="34" charset="0"/>
                <a:ea typeface="宋体" pitchFamily="2" charset="-122"/>
              </a:rPr>
              <a:t>Replenish condiments</a:t>
            </a:r>
          </a:p>
          <a:p>
            <a:pPr marL="342900" indent="-342900">
              <a:spcBef>
                <a:spcPts val="600"/>
              </a:spcBef>
              <a:spcAft>
                <a:spcPts val="1200"/>
              </a:spcAft>
            </a:pPr>
            <a:r>
              <a:rPr lang="en-US" altLang="zh-CN" sz="2200" dirty="0" smtClean="0">
                <a:latin typeface="Helvetica" pitchFamily="34" charset="0"/>
                <a:ea typeface="宋体" pitchFamily="2" charset="-122"/>
              </a:rPr>
              <a:t>Clear unused items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136</a:t>
            </a:fld>
            <a:endParaRPr lang="en-US" dirty="0">
              <a:latin typeface="Helvetica" pitchFamily="34" charset="0"/>
            </a:endParaRPr>
          </a:p>
        </p:txBody>
      </p:sp>
      <p:pic>
        <p:nvPicPr>
          <p:cNvPr id="7" name="Picture 6" descr="F&amp;B-0019"/>
          <p:cNvPicPr/>
          <p:nvPr/>
        </p:nvPicPr>
        <p:blipFill>
          <a:blip r:embed="rId3" cstate="print"/>
          <a:srcRect/>
          <a:stretch>
            <a:fillRect/>
          </a:stretch>
        </p:blipFill>
        <p:spPr bwMode="auto">
          <a:xfrm>
            <a:off x="6300192" y="2780928"/>
            <a:ext cx="2021185" cy="2671738"/>
          </a:xfrm>
          <a:prstGeom prst="rect">
            <a:avLst/>
          </a:prstGeom>
          <a:noFill/>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Collecting food and beverage items</a:t>
            </a:r>
          </a:p>
        </p:txBody>
      </p:sp>
      <p:sp>
        <p:nvSpPr>
          <p:cNvPr id="3" name="Content Placeholder 2"/>
          <p:cNvSpPr>
            <a:spLocks noGrp="1"/>
          </p:cNvSpPr>
          <p:nvPr>
            <p:ph idx="1"/>
          </p:nvPr>
        </p:nvSpPr>
        <p:spPr>
          <a:xfrm>
            <a:off x="611560" y="1268760"/>
            <a:ext cx="7467600" cy="5589240"/>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Offer additional food and beverage</a:t>
            </a:r>
            <a:endParaRPr lang="en-US" altLang="zh-CN" sz="2200" b="1" i="1" dirty="0" smtClean="0">
              <a:latin typeface="Helvetica" pitchFamily="34" charset="0"/>
              <a:ea typeface="宋体" pitchFamily="2" charset="-122"/>
            </a:endParaRPr>
          </a:p>
          <a:p>
            <a:pPr marL="0">
              <a:spcBef>
                <a:spcPts val="600"/>
              </a:spcBef>
              <a:spcAft>
                <a:spcPts val="1200"/>
              </a:spcAft>
              <a:buNone/>
            </a:pPr>
            <a:r>
              <a:rPr lang="en-AU" sz="2200" dirty="0" smtClean="0">
                <a:latin typeface="Helvetica" pitchFamily="34" charset="0"/>
              </a:rPr>
              <a:t>Additional items should be offered at appropriate times such as:</a:t>
            </a:r>
          </a:p>
          <a:p>
            <a:pPr lvl="0">
              <a:spcBef>
                <a:spcPts val="600"/>
              </a:spcBef>
              <a:spcAft>
                <a:spcPts val="1200"/>
              </a:spcAft>
            </a:pPr>
            <a:r>
              <a:rPr lang="en-AU" sz="2200" dirty="0" smtClean="0">
                <a:latin typeface="Helvetica" pitchFamily="34" charset="0"/>
              </a:rPr>
              <a:t>The three-minute check </a:t>
            </a:r>
          </a:p>
          <a:p>
            <a:pPr lvl="0">
              <a:spcBef>
                <a:spcPts val="600"/>
              </a:spcBef>
              <a:spcAft>
                <a:spcPts val="1200"/>
              </a:spcAft>
            </a:pPr>
            <a:r>
              <a:rPr lang="en-AU" sz="2200" dirty="0" smtClean="0">
                <a:latin typeface="Helvetica" pitchFamily="34" charset="0"/>
              </a:rPr>
              <a:t>When glasses are nearly empty </a:t>
            </a:r>
          </a:p>
          <a:p>
            <a:pPr lvl="0">
              <a:spcBef>
                <a:spcPts val="600"/>
              </a:spcBef>
              <a:spcAft>
                <a:spcPts val="1200"/>
              </a:spcAft>
            </a:pPr>
            <a:r>
              <a:rPr lang="en-AU" sz="2200" dirty="0" smtClean="0">
                <a:latin typeface="Helvetica" pitchFamily="34" charset="0"/>
              </a:rPr>
              <a:t>When bottles are nearly empty</a:t>
            </a:r>
          </a:p>
          <a:p>
            <a:pPr lvl="0">
              <a:spcBef>
                <a:spcPts val="600"/>
              </a:spcBef>
              <a:spcAft>
                <a:spcPts val="1200"/>
              </a:spcAft>
            </a:pPr>
            <a:r>
              <a:rPr lang="en-AU" sz="2200" dirty="0" smtClean="0">
                <a:latin typeface="Helvetica" pitchFamily="34" charset="0"/>
              </a:rPr>
              <a:t>When most bread or rolls on the table </a:t>
            </a:r>
            <a:br>
              <a:rPr lang="en-AU" sz="2200" dirty="0" smtClean="0">
                <a:latin typeface="Helvetica" pitchFamily="34" charset="0"/>
              </a:rPr>
            </a:br>
            <a:r>
              <a:rPr lang="en-AU" sz="2200" dirty="0" smtClean="0">
                <a:latin typeface="Helvetica" pitchFamily="34" charset="0"/>
              </a:rPr>
              <a:t>have all been consumed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137</a:t>
            </a:fld>
            <a:endParaRPr lang="en-US" dirty="0">
              <a:latin typeface="Helvetica" pitchFamily="34" charset="0"/>
            </a:endParaRPr>
          </a:p>
        </p:txBody>
      </p:sp>
      <p:pic>
        <p:nvPicPr>
          <p:cNvPr id="6" name="Picture 5" descr="http://www.headspace.jp/headspace/wp-content/uploads/2010/02/nearly-empty-glass-of-wine1.jpg"/>
          <p:cNvPicPr/>
          <p:nvPr/>
        </p:nvPicPr>
        <p:blipFill>
          <a:blip r:embed="rId3" cstate="print"/>
          <a:srcRect/>
          <a:stretch>
            <a:fillRect/>
          </a:stretch>
        </p:blipFill>
        <p:spPr bwMode="auto">
          <a:xfrm>
            <a:off x="6444208" y="3212976"/>
            <a:ext cx="2021210" cy="223723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Serving food and beverage items</a:t>
            </a:r>
          </a:p>
        </p:txBody>
      </p:sp>
      <p:sp>
        <p:nvSpPr>
          <p:cNvPr id="3" name="Content Placeholder 2"/>
          <p:cNvSpPr>
            <a:spLocks noGrp="1"/>
          </p:cNvSpPr>
          <p:nvPr>
            <p:ph idx="1"/>
          </p:nvPr>
        </p:nvSpPr>
        <p:spPr>
          <a:xfrm>
            <a:off x="611560" y="1196752"/>
            <a:ext cx="7467600" cy="5661248"/>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Offer additional food and beverage:</a:t>
            </a:r>
            <a:endParaRPr lang="en-US" altLang="zh-CN" sz="2200" b="1" i="1" dirty="0" smtClean="0">
              <a:latin typeface="Helvetica" pitchFamily="34" charset="0"/>
              <a:ea typeface="宋体" pitchFamily="2" charset="-122"/>
            </a:endParaRPr>
          </a:p>
          <a:p>
            <a:pPr marL="342900" indent="-342900">
              <a:spcBef>
                <a:spcPts val="600"/>
              </a:spcBef>
              <a:spcAft>
                <a:spcPts val="1200"/>
              </a:spcAft>
            </a:pPr>
            <a:r>
              <a:rPr lang="en-US" altLang="zh-CN" sz="2200" dirty="0" smtClean="0">
                <a:latin typeface="Helvetica" pitchFamily="34" charset="0"/>
                <a:ea typeface="宋体" pitchFamily="2" charset="-122"/>
              </a:rPr>
              <a:t>Re-order drinks</a:t>
            </a:r>
          </a:p>
          <a:p>
            <a:pPr marL="342900" indent="-342900">
              <a:spcBef>
                <a:spcPts val="600"/>
              </a:spcBef>
              <a:spcAft>
                <a:spcPts val="1200"/>
              </a:spcAft>
            </a:pPr>
            <a:r>
              <a:rPr lang="en-US" altLang="zh-CN" sz="2200" dirty="0" smtClean="0">
                <a:latin typeface="Helvetica" pitchFamily="34" charset="0"/>
                <a:ea typeface="宋体" pitchFamily="2" charset="-122"/>
              </a:rPr>
              <a:t>Additional items</a:t>
            </a:r>
          </a:p>
          <a:p>
            <a:pPr marL="342900" indent="-342900">
              <a:spcBef>
                <a:spcPts val="600"/>
              </a:spcBef>
              <a:spcAft>
                <a:spcPts val="1200"/>
              </a:spcAft>
            </a:pPr>
            <a:r>
              <a:rPr lang="en-US" altLang="zh-CN" sz="2200" dirty="0" smtClean="0">
                <a:latin typeface="Helvetica" pitchFamily="34" charset="0"/>
                <a:ea typeface="宋体" pitchFamily="2" charset="-122"/>
              </a:rPr>
              <a:t>Give ideas of next course</a:t>
            </a:r>
          </a:p>
          <a:p>
            <a:pPr marL="342900" indent="-342900">
              <a:spcBef>
                <a:spcPts val="600"/>
              </a:spcBef>
              <a:spcAft>
                <a:spcPts val="1200"/>
              </a:spcAft>
            </a:pPr>
            <a:r>
              <a:rPr lang="en-US" altLang="zh-CN" sz="2200" dirty="0" smtClean="0">
                <a:latin typeface="Helvetica" pitchFamily="34" charset="0"/>
                <a:ea typeface="宋体" pitchFamily="2" charset="-122"/>
              </a:rPr>
              <a:t>More cutlery/crockery</a:t>
            </a:r>
          </a:p>
          <a:p>
            <a:pPr marL="342900" indent="-342900">
              <a:spcBef>
                <a:spcPts val="600"/>
              </a:spcBef>
              <a:spcAft>
                <a:spcPts val="1200"/>
              </a:spcAft>
            </a:pPr>
            <a:r>
              <a:rPr lang="en-US" altLang="zh-CN" sz="2200" dirty="0" smtClean="0">
                <a:latin typeface="Helvetica" pitchFamily="34" charset="0"/>
                <a:ea typeface="宋体" pitchFamily="2" charset="-122"/>
              </a:rPr>
              <a:t>More condiments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138</a:t>
            </a:fld>
            <a:endParaRPr lang="en-US" dirty="0">
              <a:latin typeface="Helvetica" pitchFamily="34" charset="0"/>
            </a:endParaRPr>
          </a:p>
        </p:txBody>
      </p:sp>
      <p:pic>
        <p:nvPicPr>
          <p:cNvPr id="8" name="Picture 4" descr="Event 25"/>
          <p:cNvPicPr>
            <a:picLocks noChangeAspect="1" noChangeArrowheads="1"/>
          </p:cNvPicPr>
          <p:nvPr/>
        </p:nvPicPr>
        <p:blipFill>
          <a:blip r:embed="rId3" cstate="print"/>
          <a:srcRect/>
          <a:stretch>
            <a:fillRect/>
          </a:stretch>
        </p:blipFill>
        <p:spPr bwMode="auto">
          <a:xfrm>
            <a:off x="5724128" y="3356992"/>
            <a:ext cx="2664296" cy="1998222"/>
          </a:xfrm>
          <a:prstGeom prst="rect">
            <a:avLst/>
          </a:prstGeom>
          <a:noFill/>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Clearing food and beverage items</a:t>
            </a:r>
          </a:p>
        </p:txBody>
      </p:sp>
      <p:sp>
        <p:nvSpPr>
          <p:cNvPr id="3" name="Content Placeholder 2"/>
          <p:cNvSpPr>
            <a:spLocks noGrp="1"/>
          </p:cNvSpPr>
          <p:nvPr>
            <p:ph idx="1"/>
          </p:nvPr>
        </p:nvSpPr>
        <p:spPr>
          <a:xfrm>
            <a:off x="611560" y="1196752"/>
            <a:ext cx="7467600" cy="5661248"/>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Clear Tables:</a:t>
            </a:r>
            <a:endParaRPr lang="en-US" altLang="zh-CN" sz="2200" b="1" i="1" dirty="0" smtClean="0">
              <a:latin typeface="Helvetica" pitchFamily="34" charset="0"/>
              <a:ea typeface="宋体" pitchFamily="2" charset="-122"/>
            </a:endParaRPr>
          </a:p>
          <a:p>
            <a:pPr marL="342900" indent="-342900">
              <a:spcBef>
                <a:spcPts val="600"/>
              </a:spcBef>
              <a:spcAft>
                <a:spcPts val="1200"/>
              </a:spcAft>
            </a:pPr>
            <a:r>
              <a:rPr lang="en-US" altLang="zh-CN" sz="2200" i="1" dirty="0" smtClean="0">
                <a:latin typeface="Helvetica" pitchFamily="34" charset="0"/>
                <a:ea typeface="宋体" pitchFamily="2" charset="-122"/>
              </a:rPr>
              <a:t>What is the sign that a guest has finished their meal?</a:t>
            </a:r>
          </a:p>
          <a:p>
            <a:pPr marL="342900" indent="-342900">
              <a:spcBef>
                <a:spcPts val="600"/>
              </a:spcBef>
              <a:spcAft>
                <a:spcPts val="1200"/>
              </a:spcAft>
            </a:pPr>
            <a:r>
              <a:rPr lang="en-US" altLang="zh-CN" sz="2200" dirty="0" smtClean="0">
                <a:latin typeface="Helvetica" pitchFamily="34" charset="0"/>
                <a:ea typeface="宋体" pitchFamily="2" charset="-122"/>
              </a:rPr>
              <a:t>Before clearing, ask if they have finished</a:t>
            </a:r>
          </a:p>
          <a:p>
            <a:pPr marL="342900" indent="-342900">
              <a:spcBef>
                <a:spcPts val="600"/>
              </a:spcBef>
              <a:spcAft>
                <a:spcPts val="1200"/>
              </a:spcAft>
            </a:pPr>
            <a:r>
              <a:rPr lang="en-US" altLang="zh-CN" sz="2200" dirty="0" smtClean="0">
                <a:latin typeface="Helvetica" pitchFamily="34" charset="0"/>
                <a:ea typeface="宋体" pitchFamily="2" charset="-122"/>
              </a:rPr>
              <a:t>Clear the table together</a:t>
            </a:r>
          </a:p>
          <a:p>
            <a:pPr marL="342900" indent="-342900">
              <a:spcBef>
                <a:spcPts val="600"/>
              </a:spcBef>
              <a:spcAft>
                <a:spcPts val="1200"/>
              </a:spcAft>
            </a:pPr>
            <a:r>
              <a:rPr lang="en-US" altLang="zh-CN" sz="2200" dirty="0" smtClean="0">
                <a:latin typeface="Helvetica" pitchFamily="34" charset="0"/>
                <a:ea typeface="宋体" pitchFamily="2" charset="-122"/>
              </a:rPr>
              <a:t>Removed any unused items</a:t>
            </a:r>
          </a:p>
          <a:p>
            <a:pPr marL="342900" indent="-342900">
              <a:spcBef>
                <a:spcPts val="600"/>
              </a:spcBef>
              <a:spcAft>
                <a:spcPts val="1200"/>
              </a:spcAft>
            </a:pPr>
            <a:r>
              <a:rPr lang="en-US" altLang="zh-CN" sz="2200" i="1" dirty="0" smtClean="0">
                <a:latin typeface="Helvetica" pitchFamily="34" charset="0"/>
                <a:ea typeface="宋体" pitchFamily="2" charset="-122"/>
              </a:rPr>
              <a:t>How do you clear plates?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139</a:t>
            </a:fld>
            <a:endParaRPr lang="en-US" dirty="0">
              <a:latin typeface="Helvetica" pitchFamily="34" charset="0"/>
            </a:endParaRPr>
          </a:p>
        </p:txBody>
      </p:sp>
      <p:pic>
        <p:nvPicPr>
          <p:cNvPr id="9" name="Picture 8" descr="dirty-dish.jpg"/>
          <p:cNvPicPr>
            <a:picLocks noChangeAspect="1"/>
          </p:cNvPicPr>
          <p:nvPr/>
        </p:nvPicPr>
        <p:blipFill>
          <a:blip r:embed="rId3" cstate="print"/>
          <a:stretch>
            <a:fillRect/>
          </a:stretch>
        </p:blipFill>
        <p:spPr>
          <a:xfrm>
            <a:off x="6300192" y="3429000"/>
            <a:ext cx="2060848" cy="2060848"/>
          </a:xfrm>
          <a:prstGeom prst="rect">
            <a:avLst/>
          </a:prstGeom>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Clearing food and beverage items</a:t>
            </a:r>
          </a:p>
        </p:txBody>
      </p:sp>
      <p:sp>
        <p:nvSpPr>
          <p:cNvPr id="3" name="Content Placeholder 2"/>
          <p:cNvSpPr>
            <a:spLocks noGrp="1"/>
          </p:cNvSpPr>
          <p:nvPr>
            <p:ph idx="1"/>
          </p:nvPr>
        </p:nvSpPr>
        <p:spPr>
          <a:xfrm>
            <a:off x="611560" y="1196752"/>
            <a:ext cx="7467600" cy="5661248"/>
          </a:xfrm>
        </p:spPr>
        <p:txBody>
          <a:bodyPr>
            <a:normAutofit/>
          </a:bodyPr>
          <a:lstStyle/>
          <a:p>
            <a:pPr marL="419100" indent="-419100">
              <a:spcBef>
                <a:spcPts val="600"/>
              </a:spcBef>
              <a:spcAft>
                <a:spcPts val="1200"/>
              </a:spcAft>
              <a:buNone/>
            </a:pPr>
            <a:r>
              <a:rPr lang="en-AU" sz="2200" b="1" dirty="0" smtClean="0">
                <a:latin typeface="Helvetica" pitchFamily="34" charset="0"/>
              </a:rPr>
              <a:t>Steps to clearing a table</a:t>
            </a:r>
            <a:endParaRPr lang="en-AU" sz="2200" dirty="0" smtClean="0">
              <a:latin typeface="Helvetica" pitchFamily="34" charset="0"/>
            </a:endParaRPr>
          </a:p>
          <a:p>
            <a:pPr marL="0" indent="0">
              <a:spcBef>
                <a:spcPts val="600"/>
              </a:spcBef>
              <a:spcAft>
                <a:spcPts val="1200"/>
              </a:spcAft>
              <a:buNone/>
            </a:pPr>
            <a:r>
              <a:rPr lang="en-AU" sz="2200" dirty="0" smtClean="0">
                <a:latin typeface="Helvetica" pitchFamily="34" charset="0"/>
              </a:rPr>
              <a:t>The following protocols commonly apply when clearing a table:</a:t>
            </a:r>
          </a:p>
          <a:p>
            <a:pPr marL="419100" lvl="0" indent="-419100">
              <a:spcBef>
                <a:spcPts val="600"/>
              </a:spcBef>
              <a:spcAft>
                <a:spcPts val="1200"/>
              </a:spcAft>
            </a:pPr>
            <a:r>
              <a:rPr lang="en-AU" sz="2200" dirty="0" smtClean="0">
                <a:latin typeface="Helvetica" pitchFamily="34" charset="0"/>
              </a:rPr>
              <a:t>Try to start with the guest who has the most scraps left on their plate. This will act as the base plate for clearing</a:t>
            </a:r>
          </a:p>
          <a:p>
            <a:pPr marL="419100" lvl="0" indent="-419100">
              <a:spcBef>
                <a:spcPts val="600"/>
              </a:spcBef>
              <a:spcAft>
                <a:spcPts val="1200"/>
              </a:spcAft>
            </a:pPr>
            <a:r>
              <a:rPr lang="en-AU" sz="2200" dirty="0" smtClean="0">
                <a:latin typeface="Helvetica" pitchFamily="34" charset="0"/>
              </a:rPr>
              <a:t>Always clear from the right of the guest – the same side that you should have served from</a:t>
            </a:r>
          </a:p>
          <a:p>
            <a:pPr marL="419100" lvl="0" indent="-419100">
              <a:spcBef>
                <a:spcPts val="600"/>
              </a:spcBef>
              <a:spcAft>
                <a:spcPts val="1200"/>
              </a:spcAft>
            </a:pPr>
            <a:r>
              <a:rPr lang="en-AU" sz="2200" dirty="0" smtClean="0">
                <a:latin typeface="Helvetica" pitchFamily="34" charset="0"/>
              </a:rPr>
              <a:t>Pick up the first plate, complete with cutlery, with your right hand and transfer and secure it in your left hand</a:t>
            </a:r>
          </a:p>
          <a:p>
            <a:pPr marL="419100" lvl="0" indent="-419100">
              <a:spcBef>
                <a:spcPts val="600"/>
              </a:spcBef>
              <a:spcAft>
                <a:spcPts val="1200"/>
              </a:spcAft>
            </a:pPr>
            <a:r>
              <a:rPr lang="en-AU" sz="2200" dirty="0" smtClean="0">
                <a:latin typeface="Helvetica" pitchFamily="34" charset="0"/>
              </a:rPr>
              <a:t>Secure the end of the fork handle under your thumb</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140</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Clearing food and beverage items</a:t>
            </a: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Steps to clearing a table: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Slide the knife, cutting end first, under the fork to secure it and stop it from sliding away</a:t>
            </a:r>
          </a:p>
          <a:p>
            <a:pPr lvl="0">
              <a:spcBef>
                <a:spcPts val="600"/>
              </a:spcBef>
              <a:spcAft>
                <a:spcPts val="1200"/>
              </a:spcAft>
            </a:pPr>
            <a:r>
              <a:rPr lang="en-AU" sz="2200" dirty="0" smtClean="0">
                <a:latin typeface="Helvetica" pitchFamily="34" charset="0"/>
              </a:rPr>
              <a:t>Moving clockwise around the table, clear the next guest’s plate</a:t>
            </a:r>
          </a:p>
          <a:p>
            <a:pPr lvl="0">
              <a:spcBef>
                <a:spcPts val="600"/>
              </a:spcBef>
              <a:spcAft>
                <a:spcPts val="1200"/>
              </a:spcAft>
            </a:pPr>
            <a:r>
              <a:rPr lang="en-AU" sz="2200" dirty="0" smtClean="0">
                <a:latin typeface="Helvetica" pitchFamily="34" charset="0"/>
              </a:rPr>
              <a:t>Secure the second plate into position over the wrist, and scrape any food scraps onto  the base plate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141</a:t>
            </a:fld>
            <a:endParaRPr lang="en-US" dirty="0">
              <a:latin typeface="Helvetica" pitchFamily="34" charset="0"/>
            </a:endParaRPr>
          </a:p>
        </p:txBody>
      </p:sp>
      <p:pic>
        <p:nvPicPr>
          <p:cNvPr id="5" name="Picture 3" descr="P3191632"/>
          <p:cNvPicPr>
            <a:picLocks noChangeAspect="1" noChangeArrowheads="1"/>
          </p:cNvPicPr>
          <p:nvPr/>
        </p:nvPicPr>
        <p:blipFill>
          <a:blip r:embed="rId3" cstate="print"/>
          <a:srcRect/>
          <a:stretch>
            <a:fillRect/>
          </a:stretch>
        </p:blipFill>
        <p:spPr bwMode="auto">
          <a:xfrm>
            <a:off x="6012160" y="4437112"/>
            <a:ext cx="2303810" cy="1606874"/>
          </a:xfrm>
          <a:prstGeom prst="rect">
            <a:avLst/>
          </a:prstGeom>
          <a:noFill/>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Clearing food and beverage items</a:t>
            </a: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Steps to clearing a table: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Secure the knife by sliding it under the securing fork</a:t>
            </a:r>
          </a:p>
          <a:p>
            <a:pPr lvl="0">
              <a:spcBef>
                <a:spcPts val="600"/>
              </a:spcBef>
              <a:spcAft>
                <a:spcPts val="1200"/>
              </a:spcAft>
            </a:pPr>
            <a:r>
              <a:rPr lang="en-AU" sz="2200" dirty="0" smtClean="0">
                <a:latin typeface="Helvetica" pitchFamily="34" charset="0"/>
              </a:rPr>
              <a:t>Place the second fork parallel to the securing fork</a:t>
            </a:r>
          </a:p>
          <a:p>
            <a:pPr lvl="0">
              <a:spcBef>
                <a:spcPts val="600"/>
              </a:spcBef>
              <a:spcAft>
                <a:spcPts val="1200"/>
              </a:spcAft>
            </a:pPr>
            <a:r>
              <a:rPr lang="en-AU" sz="2200" dirty="0" smtClean="0">
                <a:latin typeface="Helvetica" pitchFamily="34" charset="0"/>
              </a:rPr>
              <a:t>Continue this procedure until all the plates and cutlery are cleared for that particular course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142</a:t>
            </a:fld>
            <a:endParaRPr lang="en-US" dirty="0">
              <a:latin typeface="Helvetica" pitchFamily="34" charset="0"/>
            </a:endParaRPr>
          </a:p>
        </p:txBody>
      </p:sp>
      <p:pic>
        <p:nvPicPr>
          <p:cNvPr id="6" name="Picture 3" descr="P3191634"/>
          <p:cNvPicPr>
            <a:picLocks noChangeAspect="1" noChangeArrowheads="1"/>
          </p:cNvPicPr>
          <p:nvPr/>
        </p:nvPicPr>
        <p:blipFill>
          <a:blip r:embed="rId3" cstate="print"/>
          <a:srcRect/>
          <a:stretch>
            <a:fillRect/>
          </a:stretch>
        </p:blipFill>
        <p:spPr bwMode="auto">
          <a:xfrm>
            <a:off x="6012160" y="3789040"/>
            <a:ext cx="2327532" cy="1745649"/>
          </a:xfrm>
          <a:prstGeom prst="rect">
            <a:avLst/>
          </a:prstGeom>
          <a:noFill/>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Clearing food and beverage items</a:t>
            </a: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Tips when clearing a table: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Clearing must be done with minimal disruption to the customers</a:t>
            </a:r>
          </a:p>
          <a:p>
            <a:pPr lvl="0">
              <a:spcBef>
                <a:spcPts val="600"/>
              </a:spcBef>
              <a:spcAft>
                <a:spcPts val="1200"/>
              </a:spcAft>
            </a:pPr>
            <a:r>
              <a:rPr lang="en-AU" sz="2200" dirty="0" smtClean="0">
                <a:latin typeface="Helvetica" pitchFamily="34" charset="0"/>
              </a:rPr>
              <a:t>Clear away anything that is unwanted or unused on the table at that stage</a:t>
            </a:r>
          </a:p>
          <a:p>
            <a:pPr lvl="0">
              <a:spcBef>
                <a:spcPts val="600"/>
              </a:spcBef>
              <a:spcAft>
                <a:spcPts val="1200"/>
              </a:spcAft>
            </a:pPr>
            <a:r>
              <a:rPr lang="en-AU" sz="2200" dirty="0" smtClean="0">
                <a:latin typeface="Helvetica" pitchFamily="34" charset="0"/>
              </a:rPr>
              <a:t>Clear away any condiments associated with the course that is being cleared. bread has been consumed</a:t>
            </a:r>
          </a:p>
          <a:p>
            <a:pPr lvl="0">
              <a:spcBef>
                <a:spcPts val="600"/>
              </a:spcBef>
              <a:spcAft>
                <a:spcPts val="1200"/>
              </a:spcAft>
            </a:pPr>
            <a:r>
              <a:rPr lang="en-AU" sz="2200" dirty="0" smtClean="0">
                <a:latin typeface="Helvetica" pitchFamily="34" charset="0"/>
              </a:rPr>
              <a:t>Clear away all items in accordance with the establishment’s standards and policies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143</a:t>
            </a:fld>
            <a:endParaRPr lang="en-US" dirty="0">
              <a:latin typeface="Helvetica" pitchFamily="34" charset="0"/>
            </a:endParaRPr>
          </a:p>
        </p:txBody>
      </p:sp>
      <p:pic>
        <p:nvPicPr>
          <p:cNvPr id="7" name="Picture 6" descr="http://3.bp.blogspot.com/-aM-1vTVa39g/Tglq9fXQU2I/AAAAAAAAAIk/ZreP1xPPErw/s1600/2075862169_69e0b355ff3.jpg"/>
          <p:cNvPicPr/>
          <p:nvPr/>
        </p:nvPicPr>
        <p:blipFill>
          <a:blip r:embed="rId3" cstate="print"/>
          <a:srcRect/>
          <a:stretch>
            <a:fillRect/>
          </a:stretch>
        </p:blipFill>
        <p:spPr bwMode="auto">
          <a:xfrm>
            <a:off x="7020272" y="4221088"/>
            <a:ext cx="1362075" cy="18192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Presenting the account</a:t>
            </a: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Presenting and processing accounts: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Naturally at the end of the dining experience customers will be required to pay for their food and beverage items</a:t>
            </a:r>
          </a:p>
          <a:p>
            <a:pPr>
              <a:spcBef>
                <a:spcPts val="600"/>
              </a:spcBef>
              <a:spcAft>
                <a:spcPts val="1200"/>
              </a:spcAft>
            </a:pPr>
            <a:r>
              <a:rPr lang="en-AU" sz="2200" dirty="0" smtClean="0">
                <a:latin typeface="Helvetica" pitchFamily="34" charset="0"/>
              </a:rPr>
              <a:t>This will be explained in more detail in Section 6 of this manual</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144</a:t>
            </a:fld>
            <a:endParaRPr lang="en-US" dirty="0">
              <a:latin typeface="Helvetica" pitchFamily="34" charset="0"/>
            </a:endParaRPr>
          </a:p>
        </p:txBody>
      </p:sp>
      <p:pic>
        <p:nvPicPr>
          <p:cNvPr id="6" name="Picture 5" descr="restaurant-check"/>
          <p:cNvPicPr/>
          <p:nvPr/>
        </p:nvPicPr>
        <p:blipFill>
          <a:blip r:embed="rId3" cstate="print"/>
          <a:srcRect/>
          <a:stretch>
            <a:fillRect/>
          </a:stretch>
        </p:blipFill>
        <p:spPr bwMode="auto">
          <a:xfrm>
            <a:off x="6444208" y="3356992"/>
            <a:ext cx="1828403" cy="1680766"/>
          </a:xfrm>
          <a:prstGeom prst="rect">
            <a:avLst/>
          </a:prstGeom>
          <a:noFill/>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Farewell guests</a:t>
            </a:r>
          </a:p>
        </p:txBody>
      </p:sp>
      <p:sp>
        <p:nvSpPr>
          <p:cNvPr id="3" name="Content Placeholder 2"/>
          <p:cNvSpPr>
            <a:spLocks noGrp="1"/>
          </p:cNvSpPr>
          <p:nvPr>
            <p:ph idx="1"/>
          </p:nvPr>
        </p:nvSpPr>
        <p:spPr>
          <a:xfrm>
            <a:off x="611560" y="1124744"/>
            <a:ext cx="7467600" cy="5733256"/>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Farewell Guests:</a:t>
            </a:r>
            <a:endParaRPr lang="en-US" altLang="zh-CN" sz="2200" b="1" i="1" dirty="0" smtClean="0">
              <a:latin typeface="Helvetica" pitchFamily="34" charset="0"/>
              <a:ea typeface="宋体" pitchFamily="2" charset="-122"/>
            </a:endParaRPr>
          </a:p>
          <a:p>
            <a:pPr marL="342900" indent="-342900">
              <a:spcBef>
                <a:spcPts val="600"/>
              </a:spcBef>
              <a:spcAft>
                <a:spcPts val="1200"/>
              </a:spcAft>
            </a:pPr>
            <a:r>
              <a:rPr lang="en-US" altLang="zh-CN" sz="2200" dirty="0" smtClean="0">
                <a:latin typeface="Helvetica" pitchFamily="34" charset="0"/>
                <a:ea typeface="宋体" pitchFamily="2" charset="-122"/>
              </a:rPr>
              <a:t>Walk them to door</a:t>
            </a:r>
          </a:p>
          <a:p>
            <a:pPr marL="342900" indent="-342900">
              <a:spcBef>
                <a:spcPts val="600"/>
              </a:spcBef>
              <a:spcAft>
                <a:spcPts val="1200"/>
              </a:spcAft>
            </a:pPr>
            <a:r>
              <a:rPr lang="en-US" altLang="zh-CN" sz="2200" dirty="0" smtClean="0">
                <a:latin typeface="Helvetica" pitchFamily="34" charset="0"/>
                <a:ea typeface="宋体" pitchFamily="2" charset="-122"/>
              </a:rPr>
              <a:t>Re-booking</a:t>
            </a:r>
          </a:p>
          <a:p>
            <a:pPr marL="342900" indent="-342900">
              <a:spcBef>
                <a:spcPts val="600"/>
              </a:spcBef>
              <a:spcAft>
                <a:spcPts val="1200"/>
              </a:spcAft>
            </a:pPr>
            <a:r>
              <a:rPr lang="en-US" altLang="zh-CN" sz="2200" dirty="0" smtClean="0">
                <a:latin typeface="Helvetica" pitchFamily="34" charset="0"/>
                <a:ea typeface="宋体" pitchFamily="2" charset="-122"/>
              </a:rPr>
              <a:t>Remind them not to forget belongings</a:t>
            </a:r>
          </a:p>
          <a:p>
            <a:pPr marL="342900" indent="-342900">
              <a:spcBef>
                <a:spcPts val="600"/>
              </a:spcBef>
              <a:spcAft>
                <a:spcPts val="1200"/>
              </a:spcAft>
            </a:pPr>
            <a:r>
              <a:rPr lang="en-US" altLang="zh-CN" sz="2200" dirty="0" smtClean="0">
                <a:latin typeface="Helvetica" pitchFamily="34" charset="0"/>
                <a:ea typeface="宋体" pitchFamily="2" charset="-122"/>
              </a:rPr>
              <a:t>Get their coats or jackets</a:t>
            </a:r>
          </a:p>
          <a:p>
            <a:pPr marL="342900" indent="-342900">
              <a:spcBef>
                <a:spcPts val="600"/>
              </a:spcBef>
              <a:spcAft>
                <a:spcPts val="1200"/>
              </a:spcAft>
            </a:pPr>
            <a:r>
              <a:rPr lang="en-US" altLang="zh-CN" sz="2200" dirty="0" smtClean="0">
                <a:latin typeface="Helvetica" pitchFamily="34" charset="0"/>
                <a:ea typeface="宋体" pitchFamily="2" charset="-122"/>
              </a:rPr>
              <a:t>Arrange take home ‘left over’ food</a:t>
            </a:r>
          </a:p>
          <a:p>
            <a:pPr marL="342900" indent="-342900">
              <a:spcBef>
                <a:spcPts val="600"/>
              </a:spcBef>
              <a:spcAft>
                <a:spcPts val="1200"/>
              </a:spcAft>
            </a:pPr>
            <a:r>
              <a:rPr lang="en-US" altLang="zh-CN" sz="2200" dirty="0" smtClean="0">
                <a:latin typeface="Helvetica" pitchFamily="34" charset="0"/>
                <a:ea typeface="宋体" pitchFamily="2" charset="-122"/>
              </a:rPr>
              <a:t>Arrange taxi or transportation</a:t>
            </a:r>
          </a:p>
          <a:p>
            <a:pPr marL="342900" indent="-342900">
              <a:spcBef>
                <a:spcPts val="600"/>
              </a:spcBef>
              <a:spcAft>
                <a:spcPts val="1200"/>
              </a:spcAft>
            </a:pPr>
            <a:r>
              <a:rPr lang="en-US" altLang="zh-CN" sz="2200" dirty="0" smtClean="0">
                <a:latin typeface="Helvetica" pitchFamily="34" charset="0"/>
                <a:ea typeface="宋体" pitchFamily="2" charset="-122"/>
              </a:rPr>
              <a:t>Walk them to transport (wet weather)</a:t>
            </a:r>
          </a:p>
          <a:p>
            <a:pPr marL="342900" indent="-342900">
              <a:spcBef>
                <a:spcPts val="600"/>
              </a:spcBef>
              <a:spcAft>
                <a:spcPts val="1200"/>
              </a:spcAft>
            </a:pPr>
            <a:r>
              <a:rPr lang="en-US" altLang="zh-CN" sz="2200" dirty="0" smtClean="0">
                <a:latin typeface="Helvetica" pitchFamily="34" charset="0"/>
                <a:ea typeface="宋体" pitchFamily="2" charset="-122"/>
              </a:rPr>
              <a:t>Say goodbye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145</a:t>
            </a:fld>
            <a:endParaRPr lang="en-US" dirty="0">
              <a:latin typeface="Helvetica" pitchFamily="34" charset="0"/>
            </a:endParaRPr>
          </a:p>
        </p:txBody>
      </p:sp>
      <p:pic>
        <p:nvPicPr>
          <p:cNvPr id="6" name="Picture 5" descr="hostess"/>
          <p:cNvPicPr>
            <a:picLocks noChangeAspect="1" noChangeArrowheads="1"/>
          </p:cNvPicPr>
          <p:nvPr/>
        </p:nvPicPr>
        <p:blipFill>
          <a:blip r:embed="rId3" cstate="print"/>
          <a:srcRect/>
          <a:stretch>
            <a:fillRect/>
          </a:stretch>
        </p:blipFill>
        <p:spPr bwMode="auto">
          <a:xfrm>
            <a:off x="6804248" y="3212976"/>
            <a:ext cx="1498226" cy="2238053"/>
          </a:xfrm>
          <a:prstGeom prst="rect">
            <a:avLst/>
          </a:prstGeom>
          <a:noFill/>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146</a:t>
            </a:fld>
            <a:endParaRPr lang="en-US" dirty="0">
              <a:latin typeface="Helvetica" pitchFamily="34" charset="0"/>
            </a:endParaRPr>
          </a:p>
        </p:txBody>
      </p:sp>
      <p:pic>
        <p:nvPicPr>
          <p:cNvPr id="6" name="Picture 5" descr="breakfast_buffet_closeup.jpg"/>
          <p:cNvPicPr>
            <a:picLocks noChangeAspect="1"/>
          </p:cNvPicPr>
          <p:nvPr/>
        </p:nvPicPr>
        <p:blipFill>
          <a:blip r:embed="rId3" cstate="print"/>
          <a:stretch>
            <a:fillRect/>
          </a:stretch>
        </p:blipFill>
        <p:spPr>
          <a:xfrm>
            <a:off x="3059832" y="2636912"/>
            <a:ext cx="1872208" cy="2496277"/>
          </a:xfrm>
          <a:prstGeom prst="rect">
            <a:avLst/>
          </a:prstGeom>
        </p:spPr>
      </p:pic>
      <p:grpSp>
        <p:nvGrpSpPr>
          <p:cNvPr id="5" name="Group 4"/>
          <p:cNvGrpSpPr/>
          <p:nvPr/>
        </p:nvGrpSpPr>
        <p:grpSpPr>
          <a:xfrm>
            <a:off x="827584" y="1628800"/>
            <a:ext cx="5544620" cy="665163"/>
            <a:chOff x="1752600" y="2057400"/>
            <a:chExt cx="5257825" cy="665163"/>
          </a:xfrm>
        </p:grpSpPr>
        <p:grpSp>
          <p:nvGrpSpPr>
            <p:cNvPr id="7" name="Group 4"/>
            <p:cNvGrpSpPr>
              <a:grpSpLocks/>
            </p:cNvGrpSpPr>
            <p:nvPr/>
          </p:nvGrpSpPr>
          <p:grpSpPr bwMode="auto">
            <a:xfrm>
              <a:off x="1752600" y="2057400"/>
              <a:ext cx="762000" cy="665163"/>
              <a:chOff x="1110" y="2656"/>
              <a:chExt cx="1549" cy="1351"/>
            </a:xfrm>
          </p:grpSpPr>
          <p:sp>
            <p:nvSpPr>
              <p:cNvPr id="11"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12"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13" name="AutoShape 7"/>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8" name="Line 8"/>
            <p:cNvSpPr>
              <a:spLocks noChangeShapeType="1"/>
            </p:cNvSpPr>
            <p:nvPr/>
          </p:nvSpPr>
          <p:spPr bwMode="auto">
            <a:xfrm>
              <a:off x="2362200" y="2667000"/>
              <a:ext cx="4369652"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9" name="Text Box 9"/>
            <p:cNvSpPr txBox="1">
              <a:spLocks noChangeArrowheads="1"/>
            </p:cNvSpPr>
            <p:nvPr/>
          </p:nvSpPr>
          <p:spPr bwMode="auto">
            <a:xfrm>
              <a:off x="2544688" y="2171799"/>
              <a:ext cx="4465737" cy="461665"/>
            </a:xfrm>
            <a:prstGeom prst="rect">
              <a:avLst/>
            </a:prstGeom>
            <a:noFill/>
            <a:ln w="9525" algn="ctr">
              <a:noFill/>
              <a:miter lim="800000"/>
              <a:headEnd/>
              <a:tailEnd/>
            </a:ln>
          </p:spPr>
          <p:txBody>
            <a:bodyPr wrap="square">
              <a:spAutoFit/>
            </a:bodyPr>
            <a:lstStyle/>
            <a:p>
              <a:pPr lvl="0"/>
              <a:r>
                <a:rPr lang="en-AU" sz="2400" b="1" dirty="0" smtClean="0">
                  <a:solidFill>
                    <a:srgbClr val="FF6600"/>
                  </a:solidFill>
                  <a:latin typeface="Helvetica" pitchFamily="34" charset="0"/>
                </a:rPr>
                <a:t>Store and handle foods safely</a:t>
              </a:r>
            </a:p>
          </p:txBody>
        </p:sp>
        <p:sp>
          <p:nvSpPr>
            <p:cNvPr id="10" name="Text Box 10"/>
            <p:cNvSpPr txBox="1">
              <a:spLocks noChangeArrowheads="1"/>
            </p:cNvSpPr>
            <p:nvPr/>
          </p:nvSpPr>
          <p:spPr bwMode="gray">
            <a:xfrm>
              <a:off x="1957574" y="2155825"/>
              <a:ext cx="337764" cy="461665"/>
            </a:xfrm>
            <a:prstGeom prst="rect">
              <a:avLst/>
            </a:prstGeom>
            <a:noFill/>
            <a:ln w="9525" algn="ctr">
              <a:noFill/>
              <a:miter lim="800000"/>
              <a:headEnd/>
              <a:tailEnd/>
            </a:ln>
          </p:spPr>
          <p:txBody>
            <a:bodyPr wrap="none">
              <a:spAutoFit/>
            </a:bodyPr>
            <a:lstStyle/>
            <a:p>
              <a:pPr algn="ctr" eaLnBrk="0" hangingPunct="0"/>
              <a:r>
                <a:rPr lang="en-AU" sz="2400" b="1" dirty="0" smtClean="0">
                  <a:solidFill>
                    <a:schemeClr val="bg1"/>
                  </a:solidFill>
                  <a:latin typeface="Helvetica" pitchFamily="34" charset="0"/>
                </a:rPr>
                <a:t>5</a:t>
              </a:r>
              <a:endParaRPr lang="en-AU" sz="2400" b="1" dirty="0">
                <a:solidFill>
                  <a:schemeClr val="bg1"/>
                </a:solidFill>
                <a:latin typeface="Helvetica" pitchFamily="34" charset="0"/>
              </a:endParaRPr>
            </a:p>
          </p:txBody>
        </p:sp>
      </p:gr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pPr marL="0" lvl="0"/>
            <a:r>
              <a:rPr lang="en-AU" sz="3200" b="1" dirty="0" smtClean="0">
                <a:solidFill>
                  <a:srgbClr val="FF6600"/>
                </a:solidFill>
                <a:latin typeface="Helvetica" pitchFamily="34" charset="0"/>
              </a:rPr>
              <a:t>Store and handle foods safely</a:t>
            </a: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Comply with personal hygiene standards</a:t>
            </a:r>
          </a:p>
          <a:p>
            <a:pPr>
              <a:spcBef>
                <a:spcPts val="600"/>
              </a:spcBef>
              <a:spcAft>
                <a:spcPts val="1200"/>
              </a:spcAft>
            </a:pPr>
            <a:r>
              <a:rPr lang="en-AU" sz="2200" dirty="0" smtClean="0">
                <a:latin typeface="Helvetica" pitchFamily="34" charset="0"/>
              </a:rPr>
              <a:t>Handle food according to food safety program  </a:t>
            </a:r>
          </a:p>
          <a:p>
            <a:pPr>
              <a:spcBef>
                <a:spcPts val="600"/>
              </a:spcBef>
              <a:spcAft>
                <a:spcPts val="1200"/>
              </a:spcAft>
            </a:pPr>
            <a:r>
              <a:rPr lang="en-AU" sz="2200" dirty="0" smtClean="0">
                <a:latin typeface="Helvetica" pitchFamily="34" charset="0"/>
              </a:rPr>
              <a:t>Maintain the workplace in a clean and tidy order  </a:t>
            </a:r>
          </a:p>
          <a:p>
            <a:pPr>
              <a:spcBef>
                <a:spcPts val="600"/>
              </a:spcBef>
              <a:spcAft>
                <a:spcPts val="1200"/>
              </a:spcAft>
            </a:pPr>
            <a:r>
              <a:rPr lang="en-AU" sz="2200" dirty="0" smtClean="0">
                <a:latin typeface="Helvetica" pitchFamily="34" charset="0"/>
              </a:rPr>
              <a:t>Comply with workplace measures to prevent pests entering the premises  </a:t>
            </a:r>
          </a:p>
          <a:p>
            <a:pPr>
              <a:spcBef>
                <a:spcPts val="600"/>
              </a:spcBef>
              <a:spcAft>
                <a:spcPts val="1200"/>
              </a:spcAft>
            </a:pPr>
            <a:r>
              <a:rPr lang="en-AU" sz="2200" dirty="0" smtClean="0">
                <a:latin typeface="Helvetica" pitchFamily="34" charset="0"/>
              </a:rPr>
              <a:t>Identify and report indicators of                                             pest presence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147</a:t>
            </a:fld>
            <a:endParaRPr lang="en-US" dirty="0">
              <a:latin typeface="Helvetica" pitchFamily="34" charset="0"/>
            </a:endParaRPr>
          </a:p>
        </p:txBody>
      </p:sp>
      <p:pic>
        <p:nvPicPr>
          <p:cNvPr id="7" name="Picture 6" descr="IMG_2035.jpg"/>
          <p:cNvPicPr>
            <a:picLocks noChangeAspect="1"/>
          </p:cNvPicPr>
          <p:nvPr/>
        </p:nvPicPr>
        <p:blipFill>
          <a:blip r:embed="rId3" cstate="print"/>
          <a:stretch>
            <a:fillRect/>
          </a:stretch>
        </p:blipFill>
        <p:spPr>
          <a:xfrm>
            <a:off x="6156176" y="3861048"/>
            <a:ext cx="2171733" cy="1628800"/>
          </a:xfrm>
          <a:prstGeom prst="rect">
            <a:avLst/>
          </a:prstGeom>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Follow hygiene procedures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600"/>
              </a:spcAft>
            </a:pPr>
            <a:r>
              <a:rPr lang="en-AU" sz="2100" dirty="0" smtClean="0">
                <a:latin typeface="Helvetica" pitchFamily="34" charset="0"/>
              </a:rPr>
              <a:t>Take daily showers</a:t>
            </a:r>
          </a:p>
          <a:p>
            <a:pPr>
              <a:spcBef>
                <a:spcPts val="600"/>
              </a:spcBef>
              <a:spcAft>
                <a:spcPts val="600"/>
              </a:spcAft>
            </a:pPr>
            <a:r>
              <a:rPr lang="en-AU" sz="2100" dirty="0" smtClean="0">
                <a:latin typeface="Helvetica" pitchFamily="34" charset="0"/>
              </a:rPr>
              <a:t>Wear clean clothes daily</a:t>
            </a:r>
          </a:p>
          <a:p>
            <a:pPr>
              <a:spcBef>
                <a:spcPts val="600"/>
              </a:spcBef>
              <a:spcAft>
                <a:spcPts val="600"/>
              </a:spcAft>
            </a:pPr>
            <a:r>
              <a:rPr lang="en-AU" sz="2100" dirty="0" smtClean="0">
                <a:latin typeface="Helvetica" pitchFamily="34" charset="0"/>
              </a:rPr>
              <a:t>Have clean and neat hair</a:t>
            </a:r>
          </a:p>
          <a:p>
            <a:pPr>
              <a:spcBef>
                <a:spcPts val="600"/>
              </a:spcBef>
              <a:spcAft>
                <a:spcPts val="600"/>
              </a:spcAft>
            </a:pPr>
            <a:r>
              <a:rPr lang="en-AU" sz="2100" dirty="0" smtClean="0">
                <a:latin typeface="Helvetica" pitchFamily="34" charset="0"/>
              </a:rPr>
              <a:t>Have short, clean finger nails</a:t>
            </a:r>
          </a:p>
          <a:p>
            <a:pPr>
              <a:spcBef>
                <a:spcPts val="600"/>
              </a:spcBef>
              <a:spcAft>
                <a:spcPts val="600"/>
              </a:spcAft>
            </a:pPr>
            <a:r>
              <a:rPr lang="en-AU" sz="2100" dirty="0" smtClean="0">
                <a:latin typeface="Helvetica" pitchFamily="34" charset="0"/>
              </a:rPr>
              <a:t>Clean your teeth regularly and ensure they are in good condition</a:t>
            </a:r>
          </a:p>
          <a:p>
            <a:pPr>
              <a:spcBef>
                <a:spcPts val="600"/>
              </a:spcBef>
              <a:spcAft>
                <a:spcPts val="600"/>
              </a:spcAft>
            </a:pPr>
            <a:r>
              <a:rPr lang="en-AU" sz="2100" dirty="0" smtClean="0">
                <a:latin typeface="Helvetica" pitchFamily="34" charset="0"/>
              </a:rPr>
              <a:t>Keep any open cuts or wounds covered while </a:t>
            </a:r>
            <a:br>
              <a:rPr lang="en-AU" sz="2100" dirty="0" smtClean="0">
                <a:latin typeface="Helvetica" pitchFamily="34" charset="0"/>
              </a:rPr>
            </a:br>
            <a:r>
              <a:rPr lang="en-AU" sz="2100" dirty="0" smtClean="0">
                <a:latin typeface="Helvetica" pitchFamily="34" charset="0"/>
              </a:rPr>
              <a:t>at work by using a waterproof cover over a </a:t>
            </a:r>
            <a:br>
              <a:rPr lang="en-AU" sz="2100" dirty="0" smtClean="0">
                <a:latin typeface="Helvetica" pitchFamily="34" charset="0"/>
              </a:rPr>
            </a:br>
            <a:r>
              <a:rPr lang="en-AU" sz="2100" dirty="0" smtClean="0">
                <a:latin typeface="Helvetica" pitchFamily="34" charset="0"/>
              </a:rPr>
              <a:t>bandage</a:t>
            </a:r>
          </a:p>
          <a:p>
            <a:pPr>
              <a:spcBef>
                <a:spcPts val="600"/>
              </a:spcBef>
              <a:spcAft>
                <a:spcPts val="600"/>
              </a:spcAft>
            </a:pPr>
            <a:r>
              <a:rPr lang="en-AU" sz="2100" dirty="0" smtClean="0">
                <a:latin typeface="Helvetica" pitchFamily="34" charset="0"/>
              </a:rPr>
              <a:t>Do not smoke near food and beverage                                       preparation areas</a:t>
            </a:r>
          </a:p>
          <a:p>
            <a:pPr>
              <a:spcBef>
                <a:spcPts val="600"/>
              </a:spcBef>
              <a:spcAft>
                <a:spcPts val="600"/>
              </a:spcAft>
            </a:pPr>
            <a:r>
              <a:rPr lang="en-AU" sz="2100" dirty="0" smtClean="0">
                <a:latin typeface="Helvetica" pitchFamily="34" charset="0"/>
              </a:rPr>
              <a:t>Wash hands on a regular basis</a:t>
            </a: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148</a:t>
            </a:fld>
            <a:endParaRPr lang="en-US" dirty="0">
              <a:latin typeface="Helvetica" pitchFamily="34" charset="0"/>
            </a:endParaRPr>
          </a:p>
        </p:txBody>
      </p:sp>
      <p:pic>
        <p:nvPicPr>
          <p:cNvPr id="8" name="Picture 7" descr="MP900049562[1].JPG"/>
          <p:cNvPicPr>
            <a:picLocks noChangeAspect="1"/>
          </p:cNvPicPr>
          <p:nvPr/>
        </p:nvPicPr>
        <p:blipFill>
          <a:blip r:embed="rId3" cstate="print"/>
          <a:srcRect l="5274" t="5000" r="4986" b="10000"/>
          <a:stretch>
            <a:fillRect/>
          </a:stretch>
        </p:blipFill>
        <p:spPr>
          <a:xfrm>
            <a:off x="6804248" y="3573016"/>
            <a:ext cx="1512168" cy="1428159"/>
          </a:xfrm>
          <a:prstGeom prst="rect">
            <a:avLst/>
          </a:prstGeom>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16824" cy="648072"/>
          </a:xfrm>
        </p:spPr>
        <p:txBody>
          <a:bodyPr>
            <a:normAutofit/>
          </a:bodyPr>
          <a:lstStyle/>
          <a:p>
            <a:r>
              <a:rPr lang="en-AU" sz="3200" b="1" dirty="0" smtClean="0">
                <a:solidFill>
                  <a:srgbClr val="FF6600"/>
                </a:solidFill>
                <a:latin typeface="Helvetica" pitchFamily="34" charset="0"/>
              </a:rPr>
              <a:t>Disposing of left over food</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342900" indent="-342900">
              <a:spcBef>
                <a:spcPts val="600"/>
              </a:spcBef>
              <a:spcAft>
                <a:spcPts val="1200"/>
              </a:spcAft>
              <a:defRPr/>
            </a:pPr>
            <a:r>
              <a:rPr lang="en-US" sz="2200" dirty="0" smtClean="0">
                <a:latin typeface="Helvetica" pitchFamily="34" charset="0"/>
              </a:rPr>
              <a:t>Any food that has been </a:t>
            </a:r>
            <a:r>
              <a:rPr lang="en-US" sz="2200" u="sng" dirty="0" smtClean="0">
                <a:latin typeface="Helvetica" pitchFamily="34" charset="0"/>
              </a:rPr>
              <a:t>on a customer’s plate </a:t>
            </a:r>
            <a:r>
              <a:rPr lang="en-US" sz="2200" dirty="0" smtClean="0">
                <a:latin typeface="Helvetica" pitchFamily="34" charset="0"/>
              </a:rPr>
              <a:t>or in direct contact with a customer or staff member must be disposed of in the rubbish bin</a:t>
            </a:r>
          </a:p>
          <a:p>
            <a:pPr marL="342900" indent="-342900">
              <a:spcBef>
                <a:spcPts val="600"/>
              </a:spcBef>
              <a:spcAft>
                <a:spcPts val="1200"/>
              </a:spcAft>
              <a:defRPr/>
            </a:pPr>
            <a:r>
              <a:rPr lang="en-US" sz="2200" dirty="0" smtClean="0">
                <a:latin typeface="Helvetica" pitchFamily="34" charset="0"/>
              </a:rPr>
              <a:t>Food and beverage items </a:t>
            </a:r>
            <a:r>
              <a:rPr lang="en-US" sz="2200" u="sng" dirty="0" smtClean="0">
                <a:latin typeface="Helvetica" pitchFamily="34" charset="0"/>
              </a:rPr>
              <a:t>on the buffet </a:t>
            </a:r>
            <a:r>
              <a:rPr lang="en-US" sz="2200" dirty="0" smtClean="0">
                <a:latin typeface="Helvetica" pitchFamily="34" charset="0"/>
              </a:rPr>
              <a:t>that have not been used can be stored for re-use depending on their freshness and level of exposure to contamination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149</a:t>
            </a:fld>
            <a:endParaRPr lang="en-US" dirty="0">
              <a:latin typeface="Helvetica" pitchFamily="34" charset="0"/>
            </a:endParaRPr>
          </a:p>
        </p:txBody>
      </p:sp>
      <p:pic>
        <p:nvPicPr>
          <p:cNvPr id="6" name="Picture 5" descr="IMG_1977.jpg"/>
          <p:cNvPicPr>
            <a:picLocks noChangeAspect="1"/>
          </p:cNvPicPr>
          <p:nvPr/>
        </p:nvPicPr>
        <p:blipFill>
          <a:blip r:embed="rId3" cstate="print"/>
          <a:stretch>
            <a:fillRect/>
          </a:stretch>
        </p:blipFill>
        <p:spPr>
          <a:xfrm>
            <a:off x="3419872" y="3789040"/>
            <a:ext cx="1643056" cy="2190741"/>
          </a:xfrm>
          <a:prstGeom prst="rect">
            <a:avLst/>
          </a:prstGeom>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Disposing of left over food</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Enterprise requirements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Options include:</a:t>
            </a:r>
          </a:p>
          <a:p>
            <a:pPr lvl="0">
              <a:spcBef>
                <a:spcPts val="600"/>
              </a:spcBef>
              <a:spcAft>
                <a:spcPts val="1200"/>
              </a:spcAft>
            </a:pPr>
            <a:r>
              <a:rPr lang="en-AU" sz="2200" dirty="0" smtClean="0">
                <a:latin typeface="Helvetica" pitchFamily="34" charset="0"/>
              </a:rPr>
              <a:t>Throwing out all leftover food </a:t>
            </a:r>
          </a:p>
          <a:p>
            <a:pPr lvl="0">
              <a:spcBef>
                <a:spcPts val="600"/>
              </a:spcBef>
              <a:spcAft>
                <a:spcPts val="1200"/>
              </a:spcAft>
            </a:pPr>
            <a:r>
              <a:rPr lang="en-AU" sz="2200" dirty="0" smtClean="0">
                <a:latin typeface="Helvetica" pitchFamily="34" charset="0"/>
              </a:rPr>
              <a:t>Items that are left over</a:t>
            </a:r>
          </a:p>
          <a:p>
            <a:pPr lvl="0">
              <a:spcBef>
                <a:spcPts val="600"/>
              </a:spcBef>
              <a:spcAft>
                <a:spcPts val="1200"/>
              </a:spcAft>
            </a:pPr>
            <a:r>
              <a:rPr lang="en-AU" sz="2200" dirty="0" smtClean="0">
                <a:latin typeface="Helvetica" pitchFamily="34" charset="0"/>
              </a:rPr>
              <a:t>Requiring high cost items to be stored for later use but allowing low-cost items to be thrown out</a:t>
            </a:r>
          </a:p>
          <a:p>
            <a:pPr lvl="0">
              <a:spcBef>
                <a:spcPts val="600"/>
              </a:spcBef>
              <a:spcAft>
                <a:spcPts val="1200"/>
              </a:spcAft>
            </a:pPr>
            <a:r>
              <a:rPr lang="en-AU" sz="2200" dirty="0" smtClean="0">
                <a:latin typeface="Helvetica" pitchFamily="34" charset="0"/>
              </a:rPr>
              <a:t>Separating disposables from food waste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150</a:t>
            </a:fld>
            <a:endParaRPr lang="en-US" dirty="0">
              <a:latin typeface="Helvetica" pitchFamily="34" charset="0"/>
            </a:endParaRPr>
          </a:p>
        </p:txBody>
      </p:sp>
      <p:pic>
        <p:nvPicPr>
          <p:cNvPr id="7" name="Picture 6" descr="IMG_2083.jpg"/>
          <p:cNvPicPr/>
          <p:nvPr/>
        </p:nvPicPr>
        <p:blipFill>
          <a:blip r:embed="rId3" cstate="print"/>
          <a:stretch>
            <a:fillRect/>
          </a:stretch>
        </p:blipFill>
        <p:spPr>
          <a:xfrm>
            <a:off x="6588224" y="3933056"/>
            <a:ext cx="1771650" cy="1323975"/>
          </a:xfrm>
          <a:prstGeom prst="rect">
            <a:avLst/>
          </a:prstGeom>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200" b="1" dirty="0" smtClean="0">
                <a:solidFill>
                  <a:srgbClr val="FF6600"/>
                </a:solidFill>
                <a:latin typeface="Helvetica" pitchFamily="34" charset="0"/>
              </a:rPr>
              <a:t>Maintain the workplace in a clean and tidy order </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dirty="0" smtClean="0">
                <a:latin typeface="Helvetica" pitchFamily="34" charset="0"/>
              </a:rPr>
              <a:t>Management and staff must:</a:t>
            </a:r>
          </a:p>
          <a:p>
            <a:pPr>
              <a:spcBef>
                <a:spcPts val="600"/>
              </a:spcBef>
              <a:spcAft>
                <a:spcPts val="1200"/>
              </a:spcAft>
            </a:pPr>
            <a:r>
              <a:rPr lang="en-AU" sz="2200" dirty="0" smtClean="0">
                <a:latin typeface="Helvetica" pitchFamily="34" charset="0"/>
              </a:rPr>
              <a:t>Regularly clean and maintain the premises</a:t>
            </a:r>
          </a:p>
          <a:p>
            <a:pPr>
              <a:spcBef>
                <a:spcPts val="600"/>
              </a:spcBef>
              <a:spcAft>
                <a:spcPts val="1200"/>
              </a:spcAft>
            </a:pPr>
            <a:r>
              <a:rPr lang="en-AU" sz="2200" dirty="0" smtClean="0">
                <a:latin typeface="Helvetica" pitchFamily="34" charset="0"/>
              </a:rPr>
              <a:t>Control pests and vermin</a:t>
            </a:r>
          </a:p>
          <a:p>
            <a:pPr>
              <a:spcBef>
                <a:spcPts val="600"/>
              </a:spcBef>
              <a:spcAft>
                <a:spcPts val="1200"/>
              </a:spcAft>
            </a:pPr>
            <a:r>
              <a:rPr lang="en-AU" sz="2200" dirty="0" smtClean="0">
                <a:latin typeface="Helvetica" pitchFamily="34" charset="0"/>
              </a:rPr>
              <a:t>Implement a daily cleaning schedule</a:t>
            </a:r>
          </a:p>
          <a:p>
            <a:pPr>
              <a:spcBef>
                <a:spcPts val="600"/>
              </a:spcBef>
              <a:spcAft>
                <a:spcPts val="1200"/>
              </a:spcAft>
            </a:pPr>
            <a:r>
              <a:rPr lang="en-AU" sz="2200" dirty="0" smtClean="0">
                <a:latin typeface="Helvetica" pitchFamily="34" charset="0"/>
              </a:rPr>
              <a:t>Maintain and clean equipment</a:t>
            </a:r>
          </a:p>
          <a:p>
            <a:pPr>
              <a:spcBef>
                <a:spcPts val="600"/>
              </a:spcBef>
              <a:spcAft>
                <a:spcPts val="1200"/>
              </a:spcAft>
            </a:pPr>
            <a:r>
              <a:rPr lang="en-AU" sz="2200" dirty="0" smtClean="0">
                <a:latin typeface="Helvetica" pitchFamily="34" charset="0"/>
              </a:rPr>
              <a:t>Maintain food or beverage preparation and </a:t>
            </a:r>
            <a:br>
              <a:rPr lang="en-AU" sz="2200" dirty="0" smtClean="0">
                <a:latin typeface="Helvetica" pitchFamily="34" charset="0"/>
              </a:rPr>
            </a:br>
            <a:r>
              <a:rPr lang="en-AU" sz="2200" dirty="0" smtClean="0">
                <a:latin typeface="Helvetica" pitchFamily="34" charset="0"/>
              </a:rPr>
              <a:t>service areas at the highest standard of hygiene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151</a:t>
            </a:fld>
            <a:endParaRPr lang="en-US" dirty="0">
              <a:latin typeface="Helvetica" pitchFamily="34" charset="0"/>
            </a:endParaRPr>
          </a:p>
        </p:txBody>
      </p:sp>
      <p:pic>
        <p:nvPicPr>
          <p:cNvPr id="6" name="Picture 5" descr="Waiter.jpg"/>
          <p:cNvPicPr>
            <a:picLocks noChangeAspect="1"/>
          </p:cNvPicPr>
          <p:nvPr/>
        </p:nvPicPr>
        <p:blipFill>
          <a:blip r:embed="rId3" cstate="print"/>
          <a:stretch>
            <a:fillRect/>
          </a:stretch>
        </p:blipFill>
        <p:spPr>
          <a:xfrm>
            <a:off x="7164288" y="2852936"/>
            <a:ext cx="1242125" cy="2438584"/>
          </a:xfrm>
          <a:prstGeom prst="rect">
            <a:avLst/>
          </a:prstGeom>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200" b="1" dirty="0" smtClean="0">
                <a:solidFill>
                  <a:srgbClr val="FF6600"/>
                </a:solidFill>
                <a:latin typeface="Helvetica" pitchFamily="34" charset="0"/>
              </a:rPr>
              <a:t>Maintain the workplace in a clean and tidy order </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dirty="0" smtClean="0">
                <a:latin typeface="Helvetica" pitchFamily="34" charset="0"/>
              </a:rPr>
              <a:t>Management and staff must:</a:t>
            </a:r>
          </a:p>
          <a:p>
            <a:pPr>
              <a:spcBef>
                <a:spcPts val="600"/>
              </a:spcBef>
              <a:spcAft>
                <a:spcPts val="1200"/>
              </a:spcAft>
            </a:pPr>
            <a:r>
              <a:rPr lang="en-AU" sz="2200" dirty="0" smtClean="0">
                <a:latin typeface="Helvetica" pitchFamily="34" charset="0"/>
              </a:rPr>
              <a:t>Follow correct food storage procedures</a:t>
            </a:r>
          </a:p>
          <a:p>
            <a:pPr>
              <a:spcBef>
                <a:spcPts val="600"/>
              </a:spcBef>
              <a:spcAft>
                <a:spcPts val="1200"/>
              </a:spcAft>
            </a:pPr>
            <a:r>
              <a:rPr lang="en-AU" sz="2200" dirty="0" smtClean="0">
                <a:latin typeface="Helvetica" pitchFamily="34" charset="0"/>
              </a:rPr>
              <a:t>Follow correct garbage removal procedures</a:t>
            </a:r>
          </a:p>
          <a:p>
            <a:pPr>
              <a:spcBef>
                <a:spcPts val="600"/>
              </a:spcBef>
              <a:spcAft>
                <a:spcPts val="1200"/>
              </a:spcAft>
            </a:pPr>
            <a:r>
              <a:rPr lang="en-AU" sz="2200" dirty="0" smtClean="0">
                <a:latin typeface="Helvetica" pitchFamily="34" charset="0"/>
              </a:rPr>
              <a:t>Follow your workplace ‘no smoking’ requirements</a:t>
            </a:r>
          </a:p>
          <a:p>
            <a:pPr>
              <a:spcBef>
                <a:spcPts val="600"/>
              </a:spcBef>
              <a:spcAft>
                <a:spcPts val="1200"/>
              </a:spcAft>
            </a:pPr>
            <a:r>
              <a:rPr lang="en-AU" sz="2200" dirty="0" smtClean="0">
                <a:latin typeface="Helvetica" pitchFamily="34" charset="0"/>
              </a:rPr>
              <a:t>Do not smoke in food preparation and storage areas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152</a:t>
            </a:fld>
            <a:endParaRPr lang="en-US" dirty="0">
              <a:latin typeface="Helvetica" pitchFamily="34" charset="0"/>
            </a:endParaRPr>
          </a:p>
        </p:txBody>
      </p:sp>
      <p:pic>
        <p:nvPicPr>
          <p:cNvPr id="5" name="Picture 4" descr="IMG_2038.jpg"/>
          <p:cNvPicPr>
            <a:picLocks noChangeAspect="1"/>
          </p:cNvPicPr>
          <p:nvPr/>
        </p:nvPicPr>
        <p:blipFill>
          <a:blip r:embed="rId3" cstate="print"/>
          <a:stretch>
            <a:fillRect/>
          </a:stretch>
        </p:blipFill>
        <p:spPr>
          <a:xfrm>
            <a:off x="2843808" y="4437112"/>
            <a:ext cx="2555776" cy="1916832"/>
          </a:xfrm>
          <a:prstGeom prst="rect">
            <a:avLst/>
          </a:prstGeom>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Cleaning</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600"/>
              </a:spcAft>
              <a:buNone/>
            </a:pPr>
            <a:r>
              <a:rPr lang="en-AU" sz="2200" b="1" dirty="0" smtClean="0">
                <a:latin typeface="Helvetica" pitchFamily="34" charset="0"/>
              </a:rPr>
              <a:t>Glasses and glassware:</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Empty glasses of all contents</a:t>
            </a:r>
          </a:p>
          <a:p>
            <a:pPr lvl="0">
              <a:spcBef>
                <a:spcPts val="600"/>
              </a:spcBef>
              <a:spcAft>
                <a:spcPts val="600"/>
              </a:spcAft>
            </a:pPr>
            <a:r>
              <a:rPr lang="en-AU" sz="2200" dirty="0" smtClean="0">
                <a:latin typeface="Helvetica" pitchFamily="34" charset="0"/>
              </a:rPr>
              <a:t>Load the glasses into a glass washing tray</a:t>
            </a:r>
          </a:p>
          <a:p>
            <a:pPr lvl="0">
              <a:spcBef>
                <a:spcPts val="600"/>
              </a:spcBef>
              <a:spcAft>
                <a:spcPts val="600"/>
              </a:spcAft>
            </a:pPr>
            <a:r>
              <a:rPr lang="en-AU" sz="2200" dirty="0" smtClean="0">
                <a:latin typeface="Helvetica" pitchFamily="34" charset="0"/>
              </a:rPr>
              <a:t>Wash the glasses in the machine when required or when the trays are full</a:t>
            </a:r>
          </a:p>
          <a:p>
            <a:pPr lvl="0">
              <a:spcBef>
                <a:spcPts val="600"/>
              </a:spcBef>
              <a:spcAft>
                <a:spcPts val="600"/>
              </a:spcAft>
            </a:pPr>
            <a:r>
              <a:rPr lang="en-AU" sz="2200" dirty="0" smtClean="0">
                <a:latin typeface="Helvetica" pitchFamily="34" charset="0"/>
              </a:rPr>
              <a:t>Take the glasses out of the machine and                              either allow to air dry or hand-polish  </a:t>
            </a:r>
          </a:p>
          <a:p>
            <a:pPr>
              <a:spcBef>
                <a:spcPts val="600"/>
              </a:spcBef>
              <a:spcAft>
                <a:spcPts val="600"/>
              </a:spcAft>
            </a:pPr>
            <a:r>
              <a:rPr lang="en-AU" sz="2200" dirty="0" smtClean="0">
                <a:latin typeface="Helvetica" pitchFamily="34" charset="0"/>
              </a:rPr>
              <a:t>Put the clean glasses in their nominated                                          storage areas ready for use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153</a:t>
            </a:fld>
            <a:endParaRPr lang="en-US" dirty="0">
              <a:latin typeface="Helvetica" pitchFamily="34" charset="0"/>
            </a:endParaRPr>
          </a:p>
        </p:txBody>
      </p:sp>
      <p:pic>
        <p:nvPicPr>
          <p:cNvPr id="7" name="Picture 6" descr="IMG_1978.jpg"/>
          <p:cNvPicPr/>
          <p:nvPr/>
        </p:nvPicPr>
        <p:blipFill>
          <a:blip r:embed="rId3" cstate="print"/>
          <a:stretch>
            <a:fillRect/>
          </a:stretch>
        </p:blipFill>
        <p:spPr>
          <a:xfrm>
            <a:off x="6588224" y="3933056"/>
            <a:ext cx="1800225" cy="1352550"/>
          </a:xfrm>
          <a:prstGeom prst="rect">
            <a:avLst/>
          </a:prstGeom>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Cleaning</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Crockery and cutlery:</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Remove visible food debris</a:t>
            </a:r>
          </a:p>
          <a:p>
            <a:pPr lvl="0">
              <a:spcBef>
                <a:spcPts val="600"/>
              </a:spcBef>
              <a:spcAft>
                <a:spcPts val="1200"/>
              </a:spcAft>
            </a:pPr>
            <a:r>
              <a:rPr lang="en-AU" sz="2200" dirty="0" smtClean="0">
                <a:latin typeface="Helvetica" pitchFamily="34" charset="0"/>
              </a:rPr>
              <a:t>Rinse with warm water – to remove loose dirt</a:t>
            </a:r>
          </a:p>
          <a:p>
            <a:pPr lvl="0">
              <a:spcBef>
                <a:spcPts val="600"/>
              </a:spcBef>
              <a:spcAft>
                <a:spcPts val="1200"/>
              </a:spcAft>
            </a:pPr>
            <a:r>
              <a:rPr lang="en-AU" sz="2200" dirty="0" smtClean="0">
                <a:latin typeface="Helvetica" pitchFamily="34" charset="0"/>
              </a:rPr>
              <a:t>Wash with a detergent</a:t>
            </a:r>
          </a:p>
          <a:p>
            <a:pPr lvl="0">
              <a:spcBef>
                <a:spcPts val="600"/>
              </a:spcBef>
              <a:spcAft>
                <a:spcPts val="1200"/>
              </a:spcAft>
            </a:pPr>
            <a:r>
              <a:rPr lang="en-AU" sz="2200" dirty="0" smtClean="0">
                <a:latin typeface="Helvetica" pitchFamily="34" charset="0"/>
              </a:rPr>
              <a:t>Rinse again – to remove the detergent </a:t>
            </a:r>
            <a:br>
              <a:rPr lang="en-AU" sz="2200" dirty="0" smtClean="0">
                <a:latin typeface="Helvetica" pitchFamily="34" charset="0"/>
              </a:rPr>
            </a:br>
            <a:r>
              <a:rPr lang="en-AU" sz="2200" dirty="0" smtClean="0">
                <a:latin typeface="Helvetica" pitchFamily="34" charset="0"/>
              </a:rPr>
              <a:t>and debris</a:t>
            </a:r>
          </a:p>
          <a:p>
            <a:pPr lvl="0">
              <a:spcBef>
                <a:spcPts val="600"/>
              </a:spcBef>
              <a:spcAft>
                <a:spcPts val="1200"/>
              </a:spcAft>
            </a:pPr>
            <a:r>
              <a:rPr lang="en-AU" sz="2200" dirty="0" smtClean="0">
                <a:latin typeface="Helvetica" pitchFamily="34" charset="0"/>
              </a:rPr>
              <a:t>Apply a sanitiser – sanitisers are chemicals                          designed to kill bacteria</a:t>
            </a:r>
          </a:p>
          <a:p>
            <a:pPr lvl="0">
              <a:spcBef>
                <a:spcPts val="600"/>
              </a:spcBef>
              <a:spcAft>
                <a:spcPts val="1200"/>
              </a:spcAft>
            </a:pPr>
            <a:r>
              <a:rPr lang="en-AU" sz="2200" dirty="0" smtClean="0">
                <a:latin typeface="Helvetica" pitchFamily="34" charset="0"/>
              </a:rPr>
              <a:t>Rinse – to remove the sanitiser</a:t>
            </a:r>
          </a:p>
          <a:p>
            <a:pPr lvl="0">
              <a:spcBef>
                <a:spcPts val="600"/>
              </a:spcBef>
              <a:spcAft>
                <a:spcPts val="1200"/>
              </a:spcAft>
            </a:pPr>
            <a:r>
              <a:rPr lang="en-AU" sz="2200" dirty="0" smtClean="0">
                <a:latin typeface="Helvetica" pitchFamily="34" charset="0"/>
              </a:rPr>
              <a:t>Allow to air dry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154</a:t>
            </a:fld>
            <a:endParaRPr lang="en-US" dirty="0">
              <a:latin typeface="Helvetica" pitchFamily="34" charset="0"/>
            </a:endParaRPr>
          </a:p>
        </p:txBody>
      </p:sp>
      <p:pic>
        <p:nvPicPr>
          <p:cNvPr id="6" name="Picture 5" descr="http://snewzbutton.com/wp-content/uploads/2009/10/dirtydishes.jpg"/>
          <p:cNvPicPr/>
          <p:nvPr/>
        </p:nvPicPr>
        <p:blipFill>
          <a:blip r:embed="rId3" cstate="print"/>
          <a:srcRect/>
          <a:stretch>
            <a:fillRect/>
          </a:stretch>
        </p:blipFill>
        <p:spPr bwMode="auto">
          <a:xfrm>
            <a:off x="6876256" y="3212976"/>
            <a:ext cx="1503680" cy="2009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Disposing of items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342900" indent="-342900">
              <a:spcBef>
                <a:spcPts val="600"/>
              </a:spcBef>
              <a:spcAft>
                <a:spcPts val="1200"/>
              </a:spcAft>
              <a:buNone/>
              <a:defRPr/>
            </a:pPr>
            <a:r>
              <a:rPr lang="en-US" sz="2200" b="1" dirty="0" smtClean="0">
                <a:latin typeface="Helvetica" pitchFamily="34" charset="0"/>
              </a:rPr>
              <a:t>Dispose of unused items:</a:t>
            </a:r>
          </a:p>
          <a:p>
            <a:pPr marL="342900" indent="-342900">
              <a:spcBef>
                <a:spcPts val="600"/>
              </a:spcBef>
              <a:spcAft>
                <a:spcPts val="1200"/>
              </a:spcAft>
              <a:defRPr/>
            </a:pPr>
            <a:r>
              <a:rPr lang="en-US" sz="2200" dirty="0" smtClean="0">
                <a:latin typeface="Helvetica" pitchFamily="34" charset="0"/>
              </a:rPr>
              <a:t>In many cases there are </a:t>
            </a:r>
            <a:r>
              <a:rPr lang="en-US" sz="2200" u="sng" dirty="0" smtClean="0">
                <a:latin typeface="Helvetica" pitchFamily="34" charset="0"/>
              </a:rPr>
              <a:t>unused items </a:t>
            </a:r>
            <a:r>
              <a:rPr lang="en-US" sz="2200" dirty="0" smtClean="0">
                <a:latin typeface="Helvetica" pitchFamily="34" charset="0"/>
              </a:rPr>
              <a:t>that can be reused. These include sugar packets, napkins and sealed condiments</a:t>
            </a:r>
          </a:p>
          <a:p>
            <a:pPr marL="342900" indent="-342900">
              <a:spcBef>
                <a:spcPts val="600"/>
              </a:spcBef>
              <a:spcAft>
                <a:spcPts val="1200"/>
              </a:spcAft>
              <a:defRPr/>
            </a:pPr>
            <a:r>
              <a:rPr lang="en-US" sz="2200" dirty="0" smtClean="0">
                <a:latin typeface="Helvetica" pitchFamily="34" charset="0"/>
              </a:rPr>
              <a:t>In addition cutlery, crockery and glassware </a:t>
            </a:r>
            <a:r>
              <a:rPr lang="en-US" sz="2200" u="sng" dirty="0" smtClean="0">
                <a:latin typeface="Helvetica" pitchFamily="34" charset="0"/>
              </a:rPr>
              <a:t>untouched or unused </a:t>
            </a:r>
            <a:r>
              <a:rPr lang="en-US" sz="2200" dirty="0" smtClean="0">
                <a:latin typeface="Helvetica" pitchFamily="34" charset="0"/>
              </a:rPr>
              <a:t>by the customer may be reused without re-cleaning</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155</a:t>
            </a:fld>
            <a:endParaRPr lang="en-US" dirty="0">
              <a:latin typeface="Helvetica" pitchFamily="34" charset="0"/>
            </a:endParaRPr>
          </a:p>
        </p:txBody>
      </p:sp>
      <p:pic>
        <p:nvPicPr>
          <p:cNvPr id="6" name="Picture 5" descr="IMG_1971.jpg"/>
          <p:cNvPicPr>
            <a:picLocks noChangeAspect="1"/>
          </p:cNvPicPr>
          <p:nvPr/>
        </p:nvPicPr>
        <p:blipFill>
          <a:blip r:embed="rId3" cstate="print"/>
          <a:stretch>
            <a:fillRect/>
          </a:stretch>
        </p:blipFill>
        <p:spPr>
          <a:xfrm>
            <a:off x="6228184" y="3861048"/>
            <a:ext cx="2160240" cy="1620180"/>
          </a:xfrm>
          <a:prstGeom prst="rect">
            <a:avLst/>
          </a:prstGeom>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Disposing of items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342900" indent="-342900">
              <a:spcBef>
                <a:spcPts val="600"/>
              </a:spcBef>
              <a:spcAft>
                <a:spcPts val="1200"/>
              </a:spcAft>
              <a:buNone/>
              <a:defRPr/>
            </a:pPr>
            <a:r>
              <a:rPr lang="en-US" sz="2200" b="1" dirty="0" smtClean="0">
                <a:latin typeface="Helvetica" pitchFamily="34" charset="0"/>
              </a:rPr>
              <a:t>Dispose of disposables</a:t>
            </a:r>
          </a:p>
          <a:p>
            <a:pPr marL="0" indent="-342900">
              <a:spcBef>
                <a:spcPts val="600"/>
              </a:spcBef>
              <a:spcAft>
                <a:spcPts val="1200"/>
              </a:spcAft>
              <a:buNone/>
              <a:defRPr/>
            </a:pPr>
            <a:r>
              <a:rPr lang="en-US" sz="2200" dirty="0" smtClean="0">
                <a:latin typeface="Helvetica" pitchFamily="34" charset="0"/>
              </a:rPr>
              <a:t>Many outlets may have separate rubbish bins for the following items:</a:t>
            </a:r>
          </a:p>
          <a:p>
            <a:pPr marL="342900" indent="-342900">
              <a:spcBef>
                <a:spcPts val="600"/>
              </a:spcBef>
              <a:spcAft>
                <a:spcPts val="1200"/>
              </a:spcAft>
              <a:defRPr/>
            </a:pPr>
            <a:r>
              <a:rPr lang="en-US" sz="2200" dirty="0" smtClean="0">
                <a:latin typeface="Helvetica" pitchFamily="34" charset="0"/>
              </a:rPr>
              <a:t>General waste</a:t>
            </a:r>
          </a:p>
          <a:p>
            <a:pPr marL="342900" indent="-342900">
              <a:spcBef>
                <a:spcPts val="600"/>
              </a:spcBef>
              <a:spcAft>
                <a:spcPts val="1200"/>
              </a:spcAft>
              <a:defRPr/>
            </a:pPr>
            <a:r>
              <a:rPr lang="en-US" sz="2200" dirty="0" smtClean="0">
                <a:latin typeface="Helvetica" pitchFamily="34" charset="0"/>
              </a:rPr>
              <a:t>Vegetable or organic matter</a:t>
            </a:r>
          </a:p>
          <a:p>
            <a:pPr marL="342900" indent="-342900">
              <a:spcBef>
                <a:spcPts val="600"/>
              </a:spcBef>
              <a:spcAft>
                <a:spcPts val="1200"/>
              </a:spcAft>
              <a:defRPr/>
            </a:pPr>
            <a:r>
              <a:rPr lang="en-US" sz="2200" dirty="0" smtClean="0">
                <a:latin typeface="Helvetica" pitchFamily="34" charset="0"/>
              </a:rPr>
              <a:t>Recyclables  </a:t>
            </a:r>
          </a:p>
          <a:p>
            <a:pPr marL="342900" indent="-342900">
              <a:spcBef>
                <a:spcPts val="600"/>
              </a:spcBef>
              <a:spcAft>
                <a:spcPts val="1200"/>
              </a:spcAft>
              <a:defRPr/>
            </a:pPr>
            <a:r>
              <a:rPr lang="en-US" sz="2200" dirty="0" smtClean="0">
                <a:latin typeface="Helvetica" pitchFamily="34" charset="0"/>
              </a:rPr>
              <a:t>Broken glass </a:t>
            </a:r>
          </a:p>
          <a:p>
            <a:pPr marL="342900" indent="-342900">
              <a:spcBef>
                <a:spcPts val="600"/>
              </a:spcBef>
              <a:spcAft>
                <a:spcPts val="1200"/>
              </a:spcAft>
              <a:defRPr/>
            </a:pPr>
            <a:r>
              <a:rPr lang="en-US" sz="2200" dirty="0" smtClean="0">
                <a:latin typeface="Helvetica" pitchFamily="34" charset="0"/>
              </a:rPr>
              <a:t>Oils and hot liquids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156</a:t>
            </a:fld>
            <a:endParaRPr lang="en-US" dirty="0">
              <a:latin typeface="Helvetica" pitchFamily="34" charset="0"/>
            </a:endParaRPr>
          </a:p>
        </p:txBody>
      </p:sp>
      <p:pic>
        <p:nvPicPr>
          <p:cNvPr id="7" name="Picture 6" descr="foodhalfonion0751[1].jpg"/>
          <p:cNvPicPr>
            <a:picLocks noChangeAspect="1"/>
          </p:cNvPicPr>
          <p:nvPr/>
        </p:nvPicPr>
        <p:blipFill>
          <a:blip r:embed="rId3" cstate="print"/>
          <a:stretch>
            <a:fillRect/>
          </a:stretch>
        </p:blipFill>
        <p:spPr>
          <a:xfrm>
            <a:off x="6228184" y="3573016"/>
            <a:ext cx="2190734" cy="1643050"/>
          </a:xfrm>
          <a:prstGeom prst="rect">
            <a:avLst/>
          </a:prstGeom>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Disposing of items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342900" indent="-342900">
              <a:spcBef>
                <a:spcPts val="600"/>
              </a:spcBef>
              <a:spcAft>
                <a:spcPts val="1200"/>
              </a:spcAft>
              <a:buNone/>
              <a:defRPr/>
            </a:pPr>
            <a:r>
              <a:rPr lang="en-US" sz="2200" b="1" dirty="0" smtClean="0">
                <a:latin typeface="Helvetica" pitchFamily="34" charset="0"/>
              </a:rPr>
              <a:t>Dispose of recyclables</a:t>
            </a:r>
          </a:p>
          <a:p>
            <a:pPr marL="0">
              <a:spcBef>
                <a:spcPts val="600"/>
              </a:spcBef>
              <a:spcAft>
                <a:spcPts val="1200"/>
              </a:spcAft>
              <a:buNone/>
            </a:pPr>
            <a:r>
              <a:rPr lang="en-US" sz="2200" dirty="0" smtClean="0">
                <a:latin typeface="Helvetica" pitchFamily="34" charset="0"/>
              </a:rPr>
              <a:t>Recyclables are items that can be re-used again and are kept separate for collection.</a:t>
            </a:r>
          </a:p>
          <a:p>
            <a:pPr marL="342900" indent="-342900">
              <a:spcBef>
                <a:spcPts val="600"/>
              </a:spcBef>
              <a:spcAft>
                <a:spcPts val="1200"/>
              </a:spcAft>
              <a:buNone/>
              <a:defRPr/>
            </a:pPr>
            <a:r>
              <a:rPr lang="en-US" sz="2200" dirty="0" smtClean="0">
                <a:latin typeface="Helvetica" pitchFamily="34" charset="0"/>
              </a:rPr>
              <a:t>Recyclables include:</a:t>
            </a:r>
          </a:p>
          <a:p>
            <a:pPr marL="342900" indent="-342900">
              <a:spcBef>
                <a:spcPts val="600"/>
              </a:spcBef>
              <a:spcAft>
                <a:spcPts val="1200"/>
              </a:spcAft>
              <a:defRPr/>
            </a:pPr>
            <a:r>
              <a:rPr lang="en-US" sz="2200" dirty="0" smtClean="0">
                <a:latin typeface="Helvetica" pitchFamily="34" charset="0"/>
              </a:rPr>
              <a:t>Paper</a:t>
            </a:r>
          </a:p>
          <a:p>
            <a:pPr marL="342900" indent="-342900">
              <a:spcBef>
                <a:spcPts val="600"/>
              </a:spcBef>
              <a:spcAft>
                <a:spcPts val="1200"/>
              </a:spcAft>
              <a:defRPr/>
            </a:pPr>
            <a:r>
              <a:rPr lang="en-US" sz="2200" dirty="0" smtClean="0">
                <a:latin typeface="Helvetica" pitchFamily="34" charset="0"/>
              </a:rPr>
              <a:t>Cardboard</a:t>
            </a:r>
          </a:p>
          <a:p>
            <a:pPr marL="342900" indent="-342900">
              <a:spcBef>
                <a:spcPts val="600"/>
              </a:spcBef>
              <a:spcAft>
                <a:spcPts val="1200"/>
              </a:spcAft>
              <a:defRPr/>
            </a:pPr>
            <a:r>
              <a:rPr lang="en-US" sz="2200" dirty="0" smtClean="0">
                <a:latin typeface="Helvetica" pitchFamily="34" charset="0"/>
              </a:rPr>
              <a:t>Glass</a:t>
            </a:r>
          </a:p>
          <a:p>
            <a:pPr marL="342900" indent="-342900">
              <a:spcBef>
                <a:spcPts val="600"/>
              </a:spcBef>
              <a:spcAft>
                <a:spcPts val="1200"/>
              </a:spcAft>
              <a:defRPr/>
            </a:pPr>
            <a:r>
              <a:rPr lang="en-US" sz="2200" dirty="0" smtClean="0">
                <a:latin typeface="Helvetica" pitchFamily="34" charset="0"/>
              </a:rPr>
              <a:t>Plastic</a:t>
            </a:r>
          </a:p>
          <a:p>
            <a:pPr marL="342900" indent="-342900">
              <a:spcBef>
                <a:spcPts val="600"/>
              </a:spcBef>
              <a:spcAft>
                <a:spcPts val="1200"/>
              </a:spcAft>
              <a:defRPr/>
            </a:pPr>
            <a:r>
              <a:rPr lang="en-US" sz="2200" dirty="0" smtClean="0">
                <a:latin typeface="Helvetica" pitchFamily="34" charset="0"/>
              </a:rPr>
              <a:t>Cans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157</a:t>
            </a:fld>
            <a:endParaRPr lang="en-US" dirty="0">
              <a:latin typeface="Helvetica" pitchFamily="34" charset="0"/>
            </a:endParaRPr>
          </a:p>
        </p:txBody>
      </p:sp>
      <p:pic>
        <p:nvPicPr>
          <p:cNvPr id="6" name="Picture 5" descr="ringpull2587_small[1].jpg"/>
          <p:cNvPicPr>
            <a:picLocks noChangeAspect="1"/>
          </p:cNvPicPr>
          <p:nvPr/>
        </p:nvPicPr>
        <p:blipFill>
          <a:blip r:embed="rId3" cstate="print"/>
          <a:stretch>
            <a:fillRect/>
          </a:stretch>
        </p:blipFill>
        <p:spPr>
          <a:xfrm>
            <a:off x="5796136" y="3356992"/>
            <a:ext cx="2567781" cy="1930662"/>
          </a:xfrm>
          <a:prstGeom prst="rect">
            <a:avLst/>
          </a:prstGeom>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Disposing of items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marL="342900" indent="-342900">
              <a:spcBef>
                <a:spcPts val="600"/>
              </a:spcBef>
              <a:spcAft>
                <a:spcPts val="1200"/>
              </a:spcAft>
              <a:buNone/>
              <a:defRPr/>
            </a:pPr>
            <a:r>
              <a:rPr lang="en-US" sz="2200" b="1" dirty="0" smtClean="0">
                <a:latin typeface="Helvetica" pitchFamily="34" charset="0"/>
              </a:rPr>
              <a:t>Dispose of cleaning chemicals</a:t>
            </a:r>
          </a:p>
          <a:p>
            <a:pPr marL="0">
              <a:spcBef>
                <a:spcPts val="600"/>
              </a:spcBef>
              <a:spcAft>
                <a:spcPts val="1200"/>
              </a:spcAft>
              <a:buNone/>
            </a:pPr>
            <a:r>
              <a:rPr lang="en-AU" sz="2200" dirty="0" smtClean="0">
                <a:latin typeface="Helvetica" pitchFamily="34" charset="0"/>
              </a:rPr>
              <a:t>There will be a need to dispose of cleaning chemicals when:</a:t>
            </a:r>
          </a:p>
          <a:p>
            <a:pPr lvl="0">
              <a:spcBef>
                <a:spcPts val="600"/>
              </a:spcBef>
              <a:spcAft>
                <a:spcPts val="1200"/>
              </a:spcAft>
            </a:pPr>
            <a:r>
              <a:rPr lang="en-AU" sz="2200" dirty="0" smtClean="0">
                <a:latin typeface="Helvetica" pitchFamily="34" charset="0"/>
              </a:rPr>
              <a:t>Chemicals have become dated</a:t>
            </a:r>
          </a:p>
          <a:p>
            <a:pPr lvl="0">
              <a:spcBef>
                <a:spcPts val="600"/>
              </a:spcBef>
              <a:spcAft>
                <a:spcPts val="1200"/>
              </a:spcAft>
            </a:pPr>
            <a:r>
              <a:rPr lang="en-AU" sz="2200" dirty="0" smtClean="0">
                <a:latin typeface="Helvetica" pitchFamily="34" charset="0"/>
              </a:rPr>
              <a:t>Containers have lost their labels and you                          don’t know what’s inside</a:t>
            </a:r>
          </a:p>
          <a:p>
            <a:pPr lvl="0">
              <a:spcBef>
                <a:spcPts val="600"/>
              </a:spcBef>
              <a:spcAft>
                <a:spcPts val="1200"/>
              </a:spcAft>
            </a:pPr>
            <a:r>
              <a:rPr lang="en-AU" sz="2200" dirty="0" smtClean="0">
                <a:latin typeface="Helvetica" pitchFamily="34" charset="0"/>
              </a:rPr>
              <a:t>You decide to discontinue using a                                    certain product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158</a:t>
            </a:fld>
            <a:endParaRPr lang="en-US" dirty="0">
              <a:latin typeface="Helvetica" pitchFamily="34" charset="0"/>
            </a:endParaRPr>
          </a:p>
        </p:txBody>
      </p:sp>
      <p:pic>
        <p:nvPicPr>
          <p:cNvPr id="7" name="Picture 6" descr="MP900439279[1].JPG"/>
          <p:cNvPicPr>
            <a:picLocks noChangeAspect="1"/>
          </p:cNvPicPr>
          <p:nvPr/>
        </p:nvPicPr>
        <p:blipFill>
          <a:blip r:embed="rId3" cstate="print"/>
          <a:stretch>
            <a:fillRect/>
          </a:stretch>
        </p:blipFill>
        <p:spPr>
          <a:xfrm>
            <a:off x="6660232" y="2852936"/>
            <a:ext cx="1709936" cy="2553504"/>
          </a:xfrm>
          <a:prstGeom prst="rect">
            <a:avLst/>
          </a:prstGeom>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Disposing of items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342900" indent="-342900">
              <a:spcBef>
                <a:spcPts val="600"/>
              </a:spcBef>
              <a:spcAft>
                <a:spcPts val="600"/>
              </a:spcAft>
              <a:buNone/>
              <a:defRPr/>
            </a:pPr>
            <a:r>
              <a:rPr lang="en-US" sz="2200" b="1" dirty="0" smtClean="0">
                <a:latin typeface="Helvetica" pitchFamily="34" charset="0"/>
              </a:rPr>
              <a:t>Dispose of cleaning chemicals</a:t>
            </a:r>
          </a:p>
          <a:p>
            <a:pPr marL="0">
              <a:spcBef>
                <a:spcPts val="600"/>
              </a:spcBef>
              <a:spcAft>
                <a:spcPts val="600"/>
              </a:spcAft>
              <a:buNone/>
            </a:pPr>
            <a:r>
              <a:rPr lang="en-AU" sz="2200" dirty="0" smtClean="0">
                <a:latin typeface="Helvetica" pitchFamily="34" charset="0"/>
              </a:rPr>
              <a:t>This disposal of chemicals must be done safely and according to safe environmental practices.</a:t>
            </a:r>
          </a:p>
          <a:p>
            <a:pPr>
              <a:spcBef>
                <a:spcPts val="600"/>
              </a:spcBef>
              <a:spcAft>
                <a:spcPts val="600"/>
              </a:spcAft>
              <a:buNone/>
            </a:pPr>
            <a:r>
              <a:rPr lang="en-AU" sz="2200" dirty="0" smtClean="0">
                <a:latin typeface="Helvetica" pitchFamily="34" charset="0"/>
              </a:rPr>
              <a:t>This means:</a:t>
            </a:r>
          </a:p>
          <a:p>
            <a:pPr lvl="0">
              <a:spcBef>
                <a:spcPts val="600"/>
              </a:spcBef>
              <a:spcAft>
                <a:spcPts val="600"/>
              </a:spcAft>
            </a:pPr>
            <a:r>
              <a:rPr lang="en-AU" sz="2200" dirty="0" smtClean="0">
                <a:latin typeface="Helvetica" pitchFamily="34" charset="0"/>
              </a:rPr>
              <a:t>Cleaning chemicals must not be poured down the sink/gully trap</a:t>
            </a:r>
          </a:p>
          <a:p>
            <a:pPr lvl="0">
              <a:spcBef>
                <a:spcPts val="600"/>
              </a:spcBef>
              <a:spcAft>
                <a:spcPts val="600"/>
              </a:spcAft>
            </a:pPr>
            <a:r>
              <a:rPr lang="en-AU" sz="2200" dirty="0" smtClean="0">
                <a:latin typeface="Helvetica" pitchFamily="34" charset="0"/>
              </a:rPr>
              <a:t>Cleaning chemicals must not be thrown out                                with normal rubbish</a:t>
            </a:r>
          </a:p>
          <a:p>
            <a:pPr lvl="0">
              <a:spcBef>
                <a:spcPts val="600"/>
              </a:spcBef>
              <a:spcAft>
                <a:spcPts val="600"/>
              </a:spcAft>
            </a:pPr>
            <a:r>
              <a:rPr lang="en-AU" sz="2200" i="1" dirty="0" smtClean="0">
                <a:latin typeface="Helvetica" pitchFamily="34" charset="0"/>
              </a:rPr>
              <a:t>So how do you safely dispose of chemicals?</a:t>
            </a:r>
            <a:endParaRPr lang="en-AU" sz="2200" i="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159</a:t>
            </a:fld>
            <a:endParaRPr lang="en-US" dirty="0">
              <a:latin typeface="Helvetica" pitchFamily="34" charset="0"/>
            </a:endParaRPr>
          </a:p>
        </p:txBody>
      </p:sp>
      <p:pic>
        <p:nvPicPr>
          <p:cNvPr id="6" name="Picture 5" descr="MP900341784[1].JPG"/>
          <p:cNvPicPr>
            <a:picLocks noChangeAspect="1"/>
          </p:cNvPicPr>
          <p:nvPr/>
        </p:nvPicPr>
        <p:blipFill>
          <a:blip r:embed="rId3" cstate="print"/>
          <a:stretch>
            <a:fillRect/>
          </a:stretch>
        </p:blipFill>
        <p:spPr>
          <a:xfrm>
            <a:off x="6876256" y="3501008"/>
            <a:ext cx="1458641" cy="2044824"/>
          </a:xfrm>
          <a:prstGeom prst="rect">
            <a:avLst/>
          </a:prstGeom>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200" b="1" dirty="0" smtClean="0">
                <a:solidFill>
                  <a:srgbClr val="FF6600"/>
                </a:solidFill>
                <a:latin typeface="Helvetica" pitchFamily="34" charset="0"/>
              </a:rPr>
              <a:t>Identify bacterial and other contamination food-based hygiene risks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Direct and indirect contamination</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Food becomes contaminated either:</a:t>
            </a:r>
          </a:p>
          <a:p>
            <a:pPr>
              <a:spcBef>
                <a:spcPts val="600"/>
              </a:spcBef>
              <a:spcAft>
                <a:spcPts val="1200"/>
              </a:spcAft>
            </a:pPr>
            <a:r>
              <a:rPr lang="en-AU" sz="2200" dirty="0" smtClean="0">
                <a:latin typeface="Helvetica" pitchFamily="34" charset="0"/>
              </a:rPr>
              <a:t>Directly – by coming into direct contact with another bacteria contaminated food item</a:t>
            </a:r>
          </a:p>
          <a:p>
            <a:pPr>
              <a:spcBef>
                <a:spcPts val="600"/>
              </a:spcBef>
              <a:spcAft>
                <a:spcPts val="1200"/>
              </a:spcAft>
            </a:pPr>
            <a:r>
              <a:rPr lang="en-AU" sz="2200" dirty="0" smtClean="0">
                <a:latin typeface="Helvetica" pitchFamily="34" charset="0"/>
              </a:rPr>
              <a:t>Indirectly – the bacteria is transferred to the food via equipment such as knives or processors, cutting boards, food handlers or cutting boards that have come into direct contact with the contamination (insects, animals, birds, rodents, dust, refuse and waste food)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160</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200" b="1" dirty="0" smtClean="0">
                <a:solidFill>
                  <a:srgbClr val="FF6600"/>
                </a:solidFill>
                <a:latin typeface="Helvetica" pitchFamily="34" charset="0"/>
              </a:rPr>
              <a:t>Identify hygiene risks presented by poor cleaning practices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Personal hygiene and cleaning</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Common causes of contamination include:</a:t>
            </a:r>
          </a:p>
          <a:p>
            <a:pPr>
              <a:spcBef>
                <a:spcPts val="600"/>
              </a:spcBef>
              <a:spcAft>
                <a:spcPts val="1200"/>
              </a:spcAft>
            </a:pPr>
            <a:r>
              <a:rPr lang="en-AU" sz="2200" dirty="0" smtClean="0">
                <a:latin typeface="Helvetica" pitchFamily="34" charset="0"/>
              </a:rPr>
              <a:t>Staff who did not maintain appropriate levels of personal hygiene</a:t>
            </a:r>
          </a:p>
          <a:p>
            <a:pPr>
              <a:spcBef>
                <a:spcPts val="600"/>
              </a:spcBef>
              <a:spcAft>
                <a:spcPts val="1200"/>
              </a:spcAft>
            </a:pPr>
            <a:r>
              <a:rPr lang="en-AU" sz="2200" dirty="0" smtClean="0">
                <a:latin typeface="Helvetica" pitchFamily="34" charset="0"/>
              </a:rPr>
              <a:t>Staff who did not wash their hands appropriately</a:t>
            </a:r>
          </a:p>
          <a:p>
            <a:pPr>
              <a:spcBef>
                <a:spcPts val="600"/>
              </a:spcBef>
              <a:spcAft>
                <a:spcPts val="1200"/>
              </a:spcAft>
            </a:pPr>
            <a:r>
              <a:rPr lang="en-AU" sz="2200" dirty="0" smtClean="0">
                <a:latin typeface="Helvetica" pitchFamily="34" charset="0"/>
              </a:rPr>
              <a:t>Staff who coughed or sneezed while                              preparing or serving food</a:t>
            </a:r>
          </a:p>
          <a:p>
            <a:pPr>
              <a:spcBef>
                <a:spcPts val="600"/>
              </a:spcBef>
              <a:spcAft>
                <a:spcPts val="1200"/>
              </a:spcAft>
            </a:pPr>
            <a:r>
              <a:rPr lang="en-AU" sz="2200" dirty="0" smtClean="0">
                <a:latin typeface="Helvetica" pitchFamily="34" charset="0"/>
              </a:rPr>
              <a:t>Staff who prepared or served food while                                sick with gastric or any contagious disease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161</a:t>
            </a:fld>
            <a:endParaRPr lang="en-US" dirty="0">
              <a:latin typeface="Helvetica" pitchFamily="34" charset="0"/>
            </a:endParaRPr>
          </a:p>
        </p:txBody>
      </p:sp>
      <p:pic>
        <p:nvPicPr>
          <p:cNvPr id="5" name="Picture 4" descr="IMG_1997.jpg"/>
          <p:cNvPicPr/>
          <p:nvPr/>
        </p:nvPicPr>
        <p:blipFill>
          <a:blip r:embed="rId3" cstate="print"/>
          <a:stretch>
            <a:fillRect/>
          </a:stretch>
        </p:blipFill>
        <p:spPr>
          <a:xfrm>
            <a:off x="6660232" y="4077072"/>
            <a:ext cx="1695822" cy="1832223"/>
          </a:xfrm>
          <a:prstGeom prst="rect">
            <a:avLst/>
          </a:prstGeom>
        </p:spPr>
      </p:pic>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http://1.bp.blogspot.com/-BOC0xtM3GWc/TxLWE9rVt-I/AAAAAAAAB-0/OfyoLSOGSKo/s400/mop_bucket.jpg"/>
          <p:cNvPicPr/>
          <p:nvPr/>
        </p:nvPicPr>
        <p:blipFill>
          <a:blip r:embed="rId3" cstate="print"/>
          <a:stretch>
            <a:fillRect/>
          </a:stretch>
        </p:blipFill>
        <p:spPr bwMode="auto">
          <a:xfrm>
            <a:off x="6300192" y="3501008"/>
            <a:ext cx="1952997" cy="1584176"/>
          </a:xfrm>
          <a:prstGeom prst="rect">
            <a:avLst/>
          </a:prstGeom>
          <a:noFill/>
          <a:ln w="9525">
            <a:noFill/>
            <a:miter lim="800000"/>
            <a:headEnd/>
            <a:tailEnd/>
          </a:ln>
        </p:spPr>
      </p:pic>
      <p:sp>
        <p:nvSpPr>
          <p:cNvPr id="2" name="Title 1"/>
          <p:cNvSpPr>
            <a:spLocks noGrp="1"/>
          </p:cNvSpPr>
          <p:nvPr>
            <p:ph type="title"/>
          </p:nvPr>
        </p:nvSpPr>
        <p:spPr>
          <a:xfrm>
            <a:off x="611560" y="332656"/>
            <a:ext cx="8136904" cy="1143000"/>
          </a:xfrm>
        </p:spPr>
        <p:txBody>
          <a:bodyPr>
            <a:normAutofit/>
          </a:bodyPr>
          <a:lstStyle/>
          <a:p>
            <a:r>
              <a:rPr lang="en-AU" sz="3200" b="1" dirty="0" smtClean="0">
                <a:solidFill>
                  <a:srgbClr val="FF6600"/>
                </a:solidFill>
                <a:latin typeface="Helvetica" pitchFamily="34" charset="0"/>
              </a:rPr>
              <a:t>Identify hygiene risks presented by poor cleaning practices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Cleaning of work area</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Common caused of contamination due to poor cleaning of work area include:</a:t>
            </a:r>
          </a:p>
          <a:p>
            <a:pPr>
              <a:spcBef>
                <a:spcPts val="600"/>
              </a:spcBef>
              <a:spcAft>
                <a:spcPts val="1200"/>
              </a:spcAft>
            </a:pPr>
            <a:r>
              <a:rPr lang="en-AU" sz="2200" dirty="0" smtClean="0">
                <a:latin typeface="Helvetica" pitchFamily="34" charset="0"/>
              </a:rPr>
              <a:t>Cleaning with dirty cloths</a:t>
            </a:r>
          </a:p>
          <a:p>
            <a:pPr>
              <a:spcBef>
                <a:spcPts val="600"/>
              </a:spcBef>
              <a:spcAft>
                <a:spcPts val="1200"/>
              </a:spcAft>
            </a:pPr>
            <a:r>
              <a:rPr lang="en-AU" sz="2200" dirty="0" smtClean="0">
                <a:latin typeface="Helvetica" pitchFamily="34" charset="0"/>
              </a:rPr>
              <a:t>Cleaning with inappropriate cleaning agents</a:t>
            </a:r>
          </a:p>
          <a:p>
            <a:pPr>
              <a:spcBef>
                <a:spcPts val="600"/>
              </a:spcBef>
              <a:spcAft>
                <a:spcPts val="1200"/>
              </a:spcAft>
            </a:pPr>
            <a:r>
              <a:rPr lang="en-AU" sz="2200" dirty="0" smtClean="0">
                <a:latin typeface="Helvetica" pitchFamily="34" charset="0"/>
              </a:rPr>
              <a:t>Cleaning method not appropriate</a:t>
            </a:r>
          </a:p>
          <a:p>
            <a:pPr>
              <a:spcBef>
                <a:spcPts val="600"/>
              </a:spcBef>
              <a:spcAft>
                <a:spcPts val="1200"/>
              </a:spcAft>
            </a:pPr>
            <a:r>
              <a:rPr lang="en-AU" sz="2200" dirty="0" smtClean="0">
                <a:latin typeface="Helvetica" pitchFamily="34" charset="0"/>
              </a:rPr>
              <a:t>Not all surfaces are cleaned properly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162</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200" b="1" dirty="0" smtClean="0">
                <a:solidFill>
                  <a:srgbClr val="FF6600"/>
                </a:solidFill>
                <a:latin typeface="Helvetica" pitchFamily="34" charset="0"/>
              </a:rPr>
              <a:t>Identify hygiene risks presented by poor cleaning practices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Identify hygiene risks presented by vermin and pests:</a:t>
            </a:r>
          </a:p>
          <a:p>
            <a:pPr>
              <a:spcBef>
                <a:spcPts val="600"/>
              </a:spcBef>
              <a:spcAft>
                <a:spcPts val="1200"/>
              </a:spcAft>
            </a:pPr>
            <a:r>
              <a:rPr lang="en-AU" sz="2200" dirty="0" smtClean="0">
                <a:latin typeface="Helvetica" pitchFamily="34" charset="0"/>
              </a:rPr>
              <a:t>Vermin and pests may include insects, animals, birds, rodents</a:t>
            </a:r>
          </a:p>
          <a:p>
            <a:pPr>
              <a:spcBef>
                <a:spcPts val="600"/>
              </a:spcBef>
              <a:spcAft>
                <a:spcPts val="1200"/>
              </a:spcAft>
            </a:pPr>
            <a:r>
              <a:rPr lang="en-AU" sz="2200" dirty="0" smtClean="0">
                <a:latin typeface="Helvetica" pitchFamily="34" charset="0"/>
              </a:rPr>
              <a:t>In brief, vermin and pests cannot cause contamination if they do not come in contact with food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163</a:t>
            </a:fld>
            <a:endParaRPr lang="en-US" dirty="0">
              <a:latin typeface="Helvetica" pitchFamily="34" charset="0"/>
            </a:endParaRPr>
          </a:p>
        </p:txBody>
      </p:sp>
      <p:pic>
        <p:nvPicPr>
          <p:cNvPr id="7" name="Picture 6" descr="http://eatdrinkplay.com/wp-content/uploads/2012/04/rat-0.jpg"/>
          <p:cNvPicPr/>
          <p:nvPr/>
        </p:nvPicPr>
        <p:blipFill>
          <a:blip r:embed="rId3" cstate="print"/>
          <a:srcRect/>
          <a:stretch>
            <a:fillRect/>
          </a:stretch>
        </p:blipFill>
        <p:spPr bwMode="auto">
          <a:xfrm>
            <a:off x="6300192" y="3717032"/>
            <a:ext cx="2009775" cy="12858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200" b="1" dirty="0" smtClean="0">
                <a:solidFill>
                  <a:srgbClr val="FF6600"/>
                </a:solidFill>
                <a:latin typeface="Helvetica" pitchFamily="34" charset="0"/>
              </a:rPr>
              <a:t>Identify hygiene risks presented by poor cleaning practices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Identify hygiene risks presented by vermin and pests</a:t>
            </a:r>
          </a:p>
          <a:p>
            <a:pPr>
              <a:spcBef>
                <a:spcPts val="600"/>
              </a:spcBef>
              <a:spcAft>
                <a:spcPts val="1200"/>
              </a:spcAft>
              <a:buNone/>
            </a:pPr>
            <a:r>
              <a:rPr lang="en-AU" sz="2200" dirty="0" smtClean="0">
                <a:latin typeface="Helvetica" pitchFamily="34" charset="0"/>
              </a:rPr>
              <a:t>All food outlets face three chief pest concerns:</a:t>
            </a:r>
          </a:p>
          <a:p>
            <a:pPr lvl="0">
              <a:spcBef>
                <a:spcPts val="600"/>
              </a:spcBef>
              <a:spcAft>
                <a:spcPts val="1200"/>
              </a:spcAft>
            </a:pPr>
            <a:r>
              <a:rPr lang="en-AU" sz="2200" dirty="0" smtClean="0">
                <a:latin typeface="Helvetica" pitchFamily="34" charset="0"/>
              </a:rPr>
              <a:t>Insects – cockroaches, flies</a:t>
            </a:r>
          </a:p>
          <a:p>
            <a:pPr lvl="0">
              <a:spcBef>
                <a:spcPts val="600"/>
              </a:spcBef>
              <a:spcAft>
                <a:spcPts val="1200"/>
              </a:spcAft>
            </a:pPr>
            <a:r>
              <a:rPr lang="en-AU" sz="2200" dirty="0" smtClean="0">
                <a:latin typeface="Helvetica" pitchFamily="34" charset="0"/>
              </a:rPr>
              <a:t>Stored product pests – weevils</a:t>
            </a:r>
          </a:p>
          <a:p>
            <a:pPr lvl="0">
              <a:spcBef>
                <a:spcPts val="600"/>
              </a:spcBef>
              <a:spcAft>
                <a:spcPts val="1200"/>
              </a:spcAft>
            </a:pPr>
            <a:r>
              <a:rPr lang="en-AU" sz="2200" dirty="0" smtClean="0">
                <a:latin typeface="Helvetica" pitchFamily="34" charset="0"/>
              </a:rPr>
              <a:t>Rodents – rats and mice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164</a:t>
            </a:fld>
            <a:endParaRPr lang="en-US" dirty="0">
              <a:latin typeface="Helvetica" pitchFamily="34" charset="0"/>
            </a:endParaRPr>
          </a:p>
        </p:txBody>
      </p:sp>
      <p:pic>
        <p:nvPicPr>
          <p:cNvPr id="6" name="Picture 5" descr="http://cache.gizmodo.com/assets/images/8/2009/08/cockroach-3.jpg"/>
          <p:cNvPicPr/>
          <p:nvPr/>
        </p:nvPicPr>
        <p:blipFill>
          <a:blip r:embed="rId3" cstate="print"/>
          <a:srcRect/>
          <a:stretch>
            <a:fillRect/>
          </a:stretch>
        </p:blipFill>
        <p:spPr bwMode="auto">
          <a:xfrm>
            <a:off x="6228184" y="3645024"/>
            <a:ext cx="2037383" cy="144040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200" b="1" dirty="0" smtClean="0">
                <a:solidFill>
                  <a:srgbClr val="FF6600"/>
                </a:solidFill>
                <a:latin typeface="Helvetica" pitchFamily="34" charset="0"/>
              </a:rPr>
              <a:t>Identify hygiene risks presented by poor cleaning practices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AU" sz="2200" b="1" dirty="0" smtClean="0">
                <a:latin typeface="Helvetica" pitchFamily="34" charset="0"/>
              </a:rPr>
              <a:t>Identifying vermin</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Common signs that vermin are present include:</a:t>
            </a:r>
          </a:p>
          <a:p>
            <a:pPr lvl="0">
              <a:spcBef>
                <a:spcPts val="600"/>
              </a:spcBef>
              <a:spcAft>
                <a:spcPts val="1200"/>
              </a:spcAft>
            </a:pPr>
            <a:r>
              <a:rPr lang="en-AU" sz="2200" dirty="0" smtClean="0">
                <a:latin typeface="Helvetica" pitchFamily="34" charset="0"/>
              </a:rPr>
              <a:t>Visual sighting of creatures</a:t>
            </a:r>
          </a:p>
          <a:p>
            <a:pPr lvl="0">
              <a:spcBef>
                <a:spcPts val="600"/>
              </a:spcBef>
              <a:spcAft>
                <a:spcPts val="1200"/>
              </a:spcAft>
            </a:pPr>
            <a:r>
              <a:rPr lang="en-AU" sz="2200" dirty="0" smtClean="0">
                <a:latin typeface="Helvetica" pitchFamily="34" charset="0"/>
              </a:rPr>
              <a:t>Sighting of droppings</a:t>
            </a:r>
          </a:p>
          <a:p>
            <a:pPr lvl="0">
              <a:spcBef>
                <a:spcPts val="600"/>
              </a:spcBef>
              <a:spcAft>
                <a:spcPts val="1200"/>
              </a:spcAft>
            </a:pPr>
            <a:r>
              <a:rPr lang="en-AU" sz="2200" dirty="0" smtClean="0">
                <a:latin typeface="Helvetica" pitchFamily="34" charset="0"/>
              </a:rPr>
              <a:t>Bite marks or holes in food and </a:t>
            </a:r>
            <a:br>
              <a:rPr lang="en-AU" sz="2200" dirty="0" smtClean="0">
                <a:latin typeface="Helvetica" pitchFamily="34" charset="0"/>
              </a:rPr>
            </a:br>
            <a:r>
              <a:rPr lang="en-AU" sz="2200" dirty="0" smtClean="0">
                <a:latin typeface="Helvetica" pitchFamily="34" charset="0"/>
              </a:rPr>
              <a:t>beverage items or packages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165</a:t>
            </a:fld>
            <a:endParaRPr lang="en-US" dirty="0">
              <a:latin typeface="Helvetica" pitchFamily="34" charset="0"/>
            </a:endParaRPr>
          </a:p>
        </p:txBody>
      </p:sp>
      <p:pic>
        <p:nvPicPr>
          <p:cNvPr id="7" name="Picture 6" descr="MP900402222[1].JPG"/>
          <p:cNvPicPr>
            <a:picLocks noChangeAspect="1"/>
          </p:cNvPicPr>
          <p:nvPr/>
        </p:nvPicPr>
        <p:blipFill>
          <a:blip r:embed="rId3" cstate="print"/>
          <a:stretch>
            <a:fillRect/>
          </a:stretch>
        </p:blipFill>
        <p:spPr>
          <a:xfrm>
            <a:off x="6012160" y="3429000"/>
            <a:ext cx="2341231" cy="1878856"/>
          </a:xfrm>
          <a:prstGeom prst="rect">
            <a:avLst/>
          </a:prstGeom>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200" b="1" dirty="0" smtClean="0">
                <a:solidFill>
                  <a:srgbClr val="FF6600"/>
                </a:solidFill>
                <a:latin typeface="Helvetica" pitchFamily="34" charset="0"/>
              </a:rPr>
              <a:t>Identify hygiene risks presented by poor cleaning practices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AU" sz="2200" b="1" dirty="0" smtClean="0">
                <a:latin typeface="Helvetica" pitchFamily="34" charset="0"/>
              </a:rPr>
              <a:t>Controlling vermin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There are a number of ways in which vermin can be controlled including:</a:t>
            </a:r>
          </a:p>
          <a:p>
            <a:pPr lvl="0">
              <a:spcBef>
                <a:spcPts val="600"/>
              </a:spcBef>
              <a:spcAft>
                <a:spcPts val="1200"/>
              </a:spcAft>
            </a:pPr>
            <a:r>
              <a:rPr lang="en-AU" sz="2200" dirty="0" smtClean="0">
                <a:latin typeface="Helvetica" pitchFamily="34" charset="0"/>
              </a:rPr>
              <a:t>Good sanitation practices </a:t>
            </a:r>
          </a:p>
          <a:p>
            <a:pPr lvl="0">
              <a:spcBef>
                <a:spcPts val="600"/>
              </a:spcBef>
              <a:spcAft>
                <a:spcPts val="1200"/>
              </a:spcAft>
            </a:pPr>
            <a:r>
              <a:rPr lang="en-AU" sz="2200" dirty="0" smtClean="0">
                <a:latin typeface="Helvetica" pitchFamily="34" charset="0"/>
              </a:rPr>
              <a:t>Rodent and insect proofing</a:t>
            </a:r>
          </a:p>
          <a:p>
            <a:pPr>
              <a:spcBef>
                <a:spcPts val="600"/>
              </a:spcBef>
              <a:spcAft>
                <a:spcPts val="1200"/>
              </a:spcAft>
            </a:pPr>
            <a:r>
              <a:rPr lang="en-AU" sz="2200" dirty="0" smtClean="0">
                <a:latin typeface="Helvetica" pitchFamily="34" charset="0"/>
              </a:rPr>
              <a:t>Extermination and insecticide treatment </a:t>
            </a: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166</a:t>
            </a:fld>
            <a:endParaRPr lang="en-US" dirty="0">
              <a:latin typeface="Helvetica" pitchFamily="34" charset="0"/>
            </a:endParaRPr>
          </a:p>
        </p:txBody>
      </p:sp>
      <p:pic>
        <p:nvPicPr>
          <p:cNvPr id="8" name="Picture 7" descr="MP900448582[1].JPG"/>
          <p:cNvPicPr/>
          <p:nvPr/>
        </p:nvPicPr>
        <p:blipFill>
          <a:blip r:embed="rId3" cstate="print"/>
          <a:stretch>
            <a:fillRect/>
          </a:stretch>
        </p:blipFill>
        <p:spPr>
          <a:xfrm>
            <a:off x="6300192" y="3212976"/>
            <a:ext cx="1951856" cy="1798315"/>
          </a:xfrm>
          <a:prstGeom prst="rect">
            <a:avLst/>
          </a:prstGeom>
        </p:spPr>
      </p:pic>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200" b="1" dirty="0" smtClean="0">
                <a:solidFill>
                  <a:srgbClr val="FF6600"/>
                </a:solidFill>
                <a:latin typeface="Helvetica" pitchFamily="34" charset="0"/>
              </a:rPr>
              <a:t>Identify hygiene risks presented by poor cleaning practices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AU" sz="2200" b="1" dirty="0" smtClean="0">
                <a:latin typeface="Helvetica" pitchFamily="34" charset="0"/>
              </a:rPr>
              <a:t>Preventing contamination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Vermin and pests cannot cause contamination if they do not come in contact with food.</a:t>
            </a:r>
          </a:p>
          <a:p>
            <a:pPr marL="0">
              <a:spcBef>
                <a:spcPts val="600"/>
              </a:spcBef>
              <a:spcAft>
                <a:spcPts val="1200"/>
              </a:spcAft>
              <a:buNone/>
            </a:pPr>
            <a:r>
              <a:rPr lang="en-AU" sz="2200" dirty="0" smtClean="0">
                <a:latin typeface="Helvetica" pitchFamily="34" charset="0"/>
              </a:rPr>
              <a:t>Food must be kept in secure locations when not </a:t>
            </a:r>
            <a:br>
              <a:rPr lang="en-AU" sz="2200" dirty="0" smtClean="0">
                <a:latin typeface="Helvetica" pitchFamily="34" charset="0"/>
              </a:rPr>
            </a:br>
            <a:r>
              <a:rPr lang="en-AU" sz="2200" dirty="0" smtClean="0">
                <a:latin typeface="Helvetica" pitchFamily="34" charset="0"/>
              </a:rPr>
              <a:t>being sold such as in fridges, freezers and dry </a:t>
            </a:r>
            <a:br>
              <a:rPr lang="en-AU" sz="2200" dirty="0" smtClean="0">
                <a:latin typeface="Helvetica" pitchFamily="34" charset="0"/>
              </a:rPr>
            </a:br>
            <a:r>
              <a:rPr lang="en-AU" sz="2200" dirty="0" smtClean="0">
                <a:latin typeface="Helvetica" pitchFamily="34" charset="0"/>
              </a:rPr>
              <a:t>storage areas, ensuring:</a:t>
            </a:r>
          </a:p>
          <a:p>
            <a:pPr>
              <a:spcBef>
                <a:spcPts val="600"/>
              </a:spcBef>
              <a:spcAft>
                <a:spcPts val="1200"/>
              </a:spcAft>
            </a:pPr>
            <a:r>
              <a:rPr lang="en-AU" sz="2200" dirty="0" smtClean="0">
                <a:latin typeface="Helvetica" pitchFamily="34" charset="0"/>
              </a:rPr>
              <a:t>Surfaces are clean</a:t>
            </a:r>
          </a:p>
          <a:p>
            <a:pPr>
              <a:spcBef>
                <a:spcPts val="600"/>
              </a:spcBef>
              <a:spcAft>
                <a:spcPts val="1200"/>
              </a:spcAft>
            </a:pPr>
            <a:r>
              <a:rPr lang="en-AU" sz="2200" dirty="0" smtClean="0">
                <a:latin typeface="Helvetica" pitchFamily="34" charset="0"/>
              </a:rPr>
              <a:t>Food is kept of the floor</a:t>
            </a:r>
          </a:p>
          <a:p>
            <a:pPr>
              <a:spcBef>
                <a:spcPts val="600"/>
              </a:spcBef>
              <a:spcAft>
                <a:spcPts val="1200"/>
              </a:spcAft>
            </a:pPr>
            <a:r>
              <a:rPr lang="en-AU" sz="2200" dirty="0" smtClean="0">
                <a:latin typeface="Helvetica" pitchFamily="34" charset="0"/>
              </a:rPr>
              <a:t>Doors are closed</a:t>
            </a:r>
          </a:p>
          <a:p>
            <a:pPr>
              <a:spcBef>
                <a:spcPts val="600"/>
              </a:spcBef>
              <a:spcAft>
                <a:spcPts val="1200"/>
              </a:spcAft>
              <a:buNone/>
            </a:pP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167</a:t>
            </a:fld>
            <a:endParaRPr lang="en-US" dirty="0">
              <a:latin typeface="Helvetica" pitchFamily="34" charset="0"/>
            </a:endParaRPr>
          </a:p>
        </p:txBody>
      </p:sp>
      <p:pic>
        <p:nvPicPr>
          <p:cNvPr id="6" name="Picture 5" descr="IMG_2004.jpg"/>
          <p:cNvPicPr>
            <a:picLocks noChangeAspect="1"/>
          </p:cNvPicPr>
          <p:nvPr/>
        </p:nvPicPr>
        <p:blipFill>
          <a:blip r:embed="rId3" cstate="print"/>
          <a:stretch>
            <a:fillRect/>
          </a:stretch>
        </p:blipFill>
        <p:spPr>
          <a:xfrm>
            <a:off x="6804248" y="3429000"/>
            <a:ext cx="1545636" cy="2060848"/>
          </a:xfrm>
          <a:prstGeom prst="rect">
            <a:avLst/>
          </a:prstGeom>
        </p:spPr>
      </p:pic>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168</a:t>
            </a:fld>
            <a:endParaRPr lang="en-US" dirty="0">
              <a:latin typeface="Helvetica" pitchFamily="34" charset="0"/>
            </a:endParaRPr>
          </a:p>
        </p:txBody>
      </p:sp>
      <p:pic>
        <p:nvPicPr>
          <p:cNvPr id="5" name="Picture 4" descr="How to Determine Float for Cash thumbnail"/>
          <p:cNvPicPr/>
          <p:nvPr/>
        </p:nvPicPr>
        <p:blipFill>
          <a:blip r:embed="rId3" cstate="print"/>
          <a:srcRect/>
          <a:stretch>
            <a:fillRect/>
          </a:stretch>
        </p:blipFill>
        <p:spPr bwMode="auto">
          <a:xfrm>
            <a:off x="3059832" y="2780928"/>
            <a:ext cx="1572895" cy="2371725"/>
          </a:xfrm>
          <a:prstGeom prst="rect">
            <a:avLst/>
          </a:prstGeom>
          <a:noFill/>
          <a:ln w="9525">
            <a:noFill/>
            <a:miter lim="800000"/>
            <a:headEnd/>
            <a:tailEnd/>
          </a:ln>
        </p:spPr>
      </p:pic>
      <p:grpSp>
        <p:nvGrpSpPr>
          <p:cNvPr id="22" name="Group 21"/>
          <p:cNvGrpSpPr/>
          <p:nvPr/>
        </p:nvGrpSpPr>
        <p:grpSpPr>
          <a:xfrm>
            <a:off x="899592" y="1700808"/>
            <a:ext cx="7056784" cy="864096"/>
            <a:chOff x="1752600" y="1858467"/>
            <a:chExt cx="6691773" cy="864096"/>
          </a:xfrm>
        </p:grpSpPr>
        <p:grpSp>
          <p:nvGrpSpPr>
            <p:cNvPr id="23" name="Group 4"/>
            <p:cNvGrpSpPr>
              <a:grpSpLocks/>
            </p:cNvGrpSpPr>
            <p:nvPr/>
          </p:nvGrpSpPr>
          <p:grpSpPr bwMode="auto">
            <a:xfrm>
              <a:off x="1752600" y="2057400"/>
              <a:ext cx="762000" cy="665163"/>
              <a:chOff x="1110" y="2656"/>
              <a:chExt cx="1549" cy="1351"/>
            </a:xfrm>
          </p:grpSpPr>
          <p:sp>
            <p:nvSpPr>
              <p:cNvPr id="27"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28"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29" name="AutoShape 7"/>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24" name="Line 8"/>
            <p:cNvSpPr>
              <a:spLocks noChangeShapeType="1"/>
            </p:cNvSpPr>
            <p:nvPr/>
          </p:nvSpPr>
          <p:spPr bwMode="auto">
            <a:xfrm>
              <a:off x="2362200" y="2667000"/>
              <a:ext cx="5223100"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25" name="Text Box 9"/>
            <p:cNvSpPr txBox="1">
              <a:spLocks noChangeArrowheads="1"/>
            </p:cNvSpPr>
            <p:nvPr/>
          </p:nvSpPr>
          <p:spPr bwMode="auto">
            <a:xfrm>
              <a:off x="2544688" y="1858467"/>
              <a:ext cx="5899685" cy="830997"/>
            </a:xfrm>
            <a:prstGeom prst="rect">
              <a:avLst/>
            </a:prstGeom>
            <a:noFill/>
            <a:ln w="9525" algn="ctr">
              <a:noFill/>
              <a:miter lim="800000"/>
              <a:headEnd/>
              <a:tailEnd/>
            </a:ln>
          </p:spPr>
          <p:txBody>
            <a:bodyPr wrap="square">
              <a:spAutoFit/>
            </a:bodyPr>
            <a:lstStyle/>
            <a:p>
              <a:r>
                <a:rPr lang="en-AU" sz="2400" b="1" dirty="0" smtClean="0">
                  <a:solidFill>
                    <a:srgbClr val="FF6600"/>
                  </a:solidFill>
                  <a:latin typeface="Helvetica" pitchFamily="34" charset="0"/>
                </a:rPr>
                <a:t>Handle payment and carry out cash control procedures</a:t>
              </a:r>
            </a:p>
          </p:txBody>
        </p:sp>
        <p:sp>
          <p:nvSpPr>
            <p:cNvPr id="26" name="Text Box 10"/>
            <p:cNvSpPr txBox="1">
              <a:spLocks noChangeArrowheads="1"/>
            </p:cNvSpPr>
            <p:nvPr/>
          </p:nvSpPr>
          <p:spPr bwMode="gray">
            <a:xfrm>
              <a:off x="1957574" y="2155825"/>
              <a:ext cx="337764" cy="461665"/>
            </a:xfrm>
            <a:prstGeom prst="rect">
              <a:avLst/>
            </a:prstGeom>
            <a:noFill/>
            <a:ln w="9525" algn="ctr">
              <a:noFill/>
              <a:miter lim="800000"/>
              <a:headEnd/>
              <a:tailEnd/>
            </a:ln>
          </p:spPr>
          <p:txBody>
            <a:bodyPr wrap="none">
              <a:spAutoFit/>
            </a:bodyPr>
            <a:lstStyle/>
            <a:p>
              <a:pPr algn="ctr" eaLnBrk="0" hangingPunct="0"/>
              <a:r>
                <a:rPr lang="en-AU" sz="2400" b="1" dirty="0" smtClean="0">
                  <a:solidFill>
                    <a:schemeClr val="bg1"/>
                  </a:solidFill>
                  <a:latin typeface="Helvetica" pitchFamily="34" charset="0"/>
                </a:rPr>
                <a:t>6</a:t>
              </a:r>
              <a:endParaRPr lang="en-AU" sz="2400" b="1" dirty="0">
                <a:solidFill>
                  <a:schemeClr val="bg1"/>
                </a:solidFill>
                <a:latin typeface="Helvetica" pitchFamily="34" charset="0"/>
              </a:endParaRPr>
            </a:p>
          </p:txBody>
        </p:sp>
      </p:grpSp>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lvl="0"/>
            <a:r>
              <a:rPr lang="en-AU" sz="3200" b="1" dirty="0" smtClean="0">
                <a:solidFill>
                  <a:srgbClr val="FF6600"/>
                </a:solidFill>
                <a:latin typeface="Helvetica" pitchFamily="34" charset="0"/>
              </a:rPr>
              <a:t>Handle payment and carry out cash control procedures</a:t>
            </a:r>
          </a:p>
        </p:txBody>
      </p:sp>
      <p:sp>
        <p:nvSpPr>
          <p:cNvPr id="3" name="Content Placeholder 2"/>
          <p:cNvSpPr>
            <a:spLocks noGrp="1"/>
          </p:cNvSpPr>
          <p:nvPr>
            <p:ph idx="1"/>
          </p:nvPr>
        </p:nvSpPr>
        <p:spPr>
          <a:xfrm>
            <a:off x="611560" y="1556792"/>
            <a:ext cx="7467600" cy="4968552"/>
          </a:xfrm>
        </p:spPr>
        <p:txBody>
          <a:bodyPr>
            <a:normAutofit/>
          </a:bodyPr>
          <a:lstStyle/>
          <a:p>
            <a:pPr marL="0" indent="0">
              <a:spcBef>
                <a:spcPts val="600"/>
              </a:spcBef>
              <a:spcAft>
                <a:spcPts val="600"/>
              </a:spcAft>
              <a:buNone/>
            </a:pPr>
            <a:r>
              <a:rPr lang="en-US" sz="2200" dirty="0" smtClean="0">
                <a:latin typeface="Helvetica" pitchFamily="34" charset="0"/>
              </a:rPr>
              <a:t>Performance Criteria for this Element are: </a:t>
            </a:r>
          </a:p>
          <a:p>
            <a:pPr>
              <a:spcBef>
                <a:spcPts val="600"/>
              </a:spcBef>
              <a:spcAft>
                <a:spcPts val="600"/>
              </a:spcAft>
            </a:pPr>
            <a:r>
              <a:rPr lang="en-AU" sz="2200" dirty="0" smtClean="0">
                <a:latin typeface="Helvetica" pitchFamily="34" charset="0"/>
              </a:rPr>
              <a:t>Receive and accurately check cash float</a:t>
            </a:r>
          </a:p>
          <a:p>
            <a:pPr>
              <a:spcBef>
                <a:spcPts val="600"/>
              </a:spcBef>
              <a:spcAft>
                <a:spcPts val="600"/>
              </a:spcAft>
            </a:pPr>
            <a:r>
              <a:rPr lang="en-AU" sz="2200" dirty="0" smtClean="0">
                <a:latin typeface="Helvetica" pitchFamily="34" charset="0"/>
              </a:rPr>
              <a:t>Open and close cash register using manufacturer specifications</a:t>
            </a:r>
          </a:p>
          <a:p>
            <a:pPr>
              <a:spcBef>
                <a:spcPts val="600"/>
              </a:spcBef>
              <a:spcAft>
                <a:spcPts val="600"/>
              </a:spcAft>
            </a:pPr>
            <a:r>
              <a:rPr lang="en-AU" sz="2200" dirty="0" smtClean="0">
                <a:latin typeface="Helvetica" pitchFamily="34" charset="0"/>
              </a:rPr>
              <a:t>Use cash register according to standard enterprise procedures </a:t>
            </a:r>
          </a:p>
          <a:p>
            <a:pPr>
              <a:spcBef>
                <a:spcPts val="600"/>
              </a:spcBef>
              <a:spcAft>
                <a:spcPts val="600"/>
              </a:spcAft>
            </a:pPr>
            <a:r>
              <a:rPr lang="en-AU" sz="2200" dirty="0" smtClean="0">
                <a:latin typeface="Helvetica" pitchFamily="34" charset="0"/>
              </a:rPr>
              <a:t>Issue receipts according to standard                              enterprise procedures</a:t>
            </a:r>
          </a:p>
          <a:p>
            <a:pPr>
              <a:spcBef>
                <a:spcPts val="600"/>
              </a:spcBef>
              <a:spcAft>
                <a:spcPts val="600"/>
              </a:spcAft>
            </a:pPr>
            <a:r>
              <a:rPr lang="en-AU" sz="2200" dirty="0" smtClean="0">
                <a:latin typeface="Helvetica" pitchFamily="34" charset="0"/>
              </a:rPr>
              <a:t>Carry out reconciliation of takings                                  accurately and report errors to supervisor</a:t>
            </a:r>
          </a:p>
          <a:p>
            <a:pPr marL="360000" indent="-360000">
              <a:spcBef>
                <a:spcPts val="600"/>
              </a:spcBef>
              <a:spcAft>
                <a:spcPts val="6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169</a:t>
            </a:fld>
            <a:endParaRPr lang="en-US" dirty="0">
              <a:latin typeface="Helvetica" pitchFamily="34" charset="0"/>
            </a:endParaRPr>
          </a:p>
        </p:txBody>
      </p:sp>
      <p:pic>
        <p:nvPicPr>
          <p:cNvPr id="6" name="Picture 5" descr="j0409077.jpg"/>
          <p:cNvPicPr>
            <a:picLocks noChangeAspect="1"/>
          </p:cNvPicPr>
          <p:nvPr/>
        </p:nvPicPr>
        <p:blipFill>
          <a:blip r:embed="rId3" cstate="print"/>
          <a:stretch>
            <a:fillRect/>
          </a:stretch>
        </p:blipFill>
        <p:spPr>
          <a:xfrm>
            <a:off x="6588224" y="3861048"/>
            <a:ext cx="1704798" cy="1704798"/>
          </a:xfrm>
          <a:prstGeom prst="rect">
            <a:avLst/>
          </a:prstGeom>
        </p:spPr>
      </p:pic>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Receive and accurately check cash float</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632848" cy="5661248"/>
          </a:xfrm>
        </p:spPr>
        <p:txBody>
          <a:bodyPr>
            <a:noAutofit/>
          </a:bodyPr>
          <a:lstStyle/>
          <a:p>
            <a:r>
              <a:rPr lang="en-US" sz="2200" dirty="0" smtClean="0">
                <a:latin typeface="Helvetica" pitchFamily="34" charset="0"/>
              </a:rPr>
              <a:t>A cash float is the </a:t>
            </a:r>
            <a:r>
              <a:rPr lang="en-US" sz="2200" u="sng" dirty="0" smtClean="0">
                <a:latin typeface="Helvetica" pitchFamily="34" charset="0"/>
              </a:rPr>
              <a:t>amount of money </a:t>
            </a:r>
            <a:r>
              <a:rPr lang="en-US" sz="2200" dirty="0" smtClean="0">
                <a:latin typeface="Helvetica" pitchFamily="34" charset="0"/>
              </a:rPr>
              <a:t>that an establishment has deemed appropriate to </a:t>
            </a:r>
            <a:r>
              <a:rPr lang="en-US" sz="2200" u="sng" dirty="0" smtClean="0">
                <a:latin typeface="Helvetica" pitchFamily="34" charset="0"/>
              </a:rPr>
              <a:t>commence the day’s trading</a:t>
            </a:r>
            <a:r>
              <a:rPr lang="en-US" sz="2200" dirty="0" smtClean="0">
                <a:latin typeface="Helvetica" pitchFamily="34" charset="0"/>
              </a:rPr>
              <a:t> for a cash register/point-of-sale (POS) terminal</a:t>
            </a:r>
          </a:p>
          <a:p>
            <a:r>
              <a:rPr lang="en-US" sz="2200" dirty="0" smtClean="0">
                <a:latin typeface="Helvetica" pitchFamily="34" charset="0"/>
              </a:rPr>
              <a:t>It is </a:t>
            </a:r>
            <a:r>
              <a:rPr lang="en-US" sz="2200" u="sng" dirty="0" smtClean="0">
                <a:latin typeface="Helvetica" pitchFamily="34" charset="0"/>
              </a:rPr>
              <a:t>used for giving change </a:t>
            </a:r>
            <a:r>
              <a:rPr lang="en-US" sz="2200" dirty="0" smtClean="0">
                <a:latin typeface="Helvetica" pitchFamily="34" charset="0"/>
              </a:rPr>
              <a:t>when completing transactions</a:t>
            </a:r>
          </a:p>
          <a:p>
            <a:pPr>
              <a:spcBef>
                <a:spcPts val="600"/>
              </a:spcBef>
              <a:spcAft>
                <a:spcPts val="1200"/>
              </a:spcAft>
              <a:buNone/>
            </a:pP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170</a:t>
            </a:fld>
            <a:endParaRPr lang="en-US" dirty="0">
              <a:latin typeface="Helvetica" pitchFamily="34" charset="0"/>
            </a:endParaRPr>
          </a:p>
        </p:txBody>
      </p:sp>
      <p:pic>
        <p:nvPicPr>
          <p:cNvPr id="7" name="Picture 6" descr="j0448136.jpg"/>
          <p:cNvPicPr>
            <a:picLocks noChangeAspect="1"/>
          </p:cNvPicPr>
          <p:nvPr/>
        </p:nvPicPr>
        <p:blipFill>
          <a:blip r:embed="rId3" cstate="print"/>
          <a:stretch>
            <a:fillRect/>
          </a:stretch>
        </p:blipFill>
        <p:spPr>
          <a:xfrm>
            <a:off x="3131840" y="3501008"/>
            <a:ext cx="2561454" cy="1704968"/>
          </a:xfrm>
          <a:prstGeom prst="rect">
            <a:avLst/>
          </a:prstGeom>
        </p:spPr>
      </p:pic>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Receive and accurately check cash float</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Autofit/>
          </a:bodyPr>
          <a:lstStyle/>
          <a:p>
            <a:pPr marL="342900" indent="-342900">
              <a:spcBef>
                <a:spcPts val="600"/>
              </a:spcBef>
              <a:spcAft>
                <a:spcPts val="1200"/>
              </a:spcAft>
              <a:buNone/>
              <a:defRPr/>
            </a:pPr>
            <a:r>
              <a:rPr lang="en-AU" sz="2200" b="1" dirty="0" smtClean="0">
                <a:latin typeface="Helvetica" pitchFamily="34" charset="0"/>
              </a:rPr>
              <a:t>Obtaining and checking a float:</a:t>
            </a:r>
          </a:p>
          <a:p>
            <a:pPr marL="342900" indent="-342900">
              <a:spcBef>
                <a:spcPts val="600"/>
              </a:spcBef>
              <a:spcAft>
                <a:spcPts val="1200"/>
              </a:spcAft>
              <a:defRPr/>
            </a:pPr>
            <a:r>
              <a:rPr lang="en-AU" sz="2200" dirty="0" smtClean="0">
                <a:latin typeface="Helvetica" pitchFamily="34" charset="0"/>
              </a:rPr>
              <a:t>Signed in and out</a:t>
            </a:r>
          </a:p>
          <a:p>
            <a:pPr marL="342900" indent="-342900">
              <a:spcBef>
                <a:spcPts val="600"/>
              </a:spcBef>
              <a:spcAft>
                <a:spcPts val="1200"/>
              </a:spcAft>
              <a:defRPr/>
            </a:pPr>
            <a:r>
              <a:rPr lang="en-AU" sz="2200" dirty="0" smtClean="0">
                <a:latin typeface="Helvetica" pitchFamily="34" charset="0"/>
              </a:rPr>
              <a:t>Counted when received</a:t>
            </a:r>
          </a:p>
          <a:p>
            <a:pPr marL="342900" indent="-342900">
              <a:spcBef>
                <a:spcPts val="600"/>
              </a:spcBef>
              <a:spcAft>
                <a:spcPts val="1200"/>
              </a:spcAft>
              <a:defRPr/>
            </a:pPr>
            <a:r>
              <a:rPr lang="en-AU" sz="2200" dirty="0" smtClean="0">
                <a:latin typeface="Helvetica" pitchFamily="34" charset="0"/>
              </a:rPr>
              <a:t>Located in the cash register drawer</a:t>
            </a:r>
          </a:p>
          <a:p>
            <a:pPr marL="342900" indent="-342900">
              <a:spcBef>
                <a:spcPts val="600"/>
              </a:spcBef>
              <a:spcAft>
                <a:spcPts val="1200"/>
              </a:spcAft>
              <a:defRPr/>
            </a:pPr>
            <a:r>
              <a:rPr lang="en-AU" sz="2200" dirty="0" smtClean="0">
                <a:latin typeface="Helvetica" pitchFamily="34" charset="0"/>
              </a:rPr>
              <a:t>Comprises a variety of notes and coins </a:t>
            </a:r>
            <a:br>
              <a:rPr lang="en-AU" sz="2200" dirty="0" smtClean="0">
                <a:latin typeface="Helvetica" pitchFamily="34" charset="0"/>
              </a:rPr>
            </a:br>
            <a:r>
              <a:rPr lang="en-AU" sz="2200" dirty="0" smtClean="0">
                <a:latin typeface="Helvetica" pitchFamily="34" charset="0"/>
              </a:rPr>
              <a:t>of different denominations</a:t>
            </a:r>
          </a:p>
          <a:p>
            <a:pPr marL="342900" indent="-342900">
              <a:spcBef>
                <a:spcPts val="600"/>
              </a:spcBef>
              <a:spcAft>
                <a:spcPts val="1200"/>
              </a:spcAft>
              <a:defRPr/>
            </a:pPr>
            <a:r>
              <a:rPr lang="en-AU" sz="2200" dirty="0" smtClean="0">
                <a:latin typeface="Helvetica" pitchFamily="34" charset="0"/>
              </a:rPr>
              <a:t>May vary in amount between departments                                and properties</a:t>
            </a:r>
          </a:p>
          <a:p>
            <a:pPr>
              <a:spcBef>
                <a:spcPts val="600"/>
              </a:spcBef>
              <a:spcAft>
                <a:spcPts val="1200"/>
              </a:spcAft>
              <a:buNone/>
            </a:pP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171</a:t>
            </a:fld>
            <a:endParaRPr lang="en-US" dirty="0">
              <a:latin typeface="Helvetica" pitchFamily="34" charset="0"/>
            </a:endParaRPr>
          </a:p>
        </p:txBody>
      </p:sp>
      <p:pic>
        <p:nvPicPr>
          <p:cNvPr id="6" name="Picture 11" descr="MCj04104830000[1]"/>
          <p:cNvPicPr>
            <a:picLocks noChangeAspect="1" noChangeArrowheads="1"/>
          </p:cNvPicPr>
          <p:nvPr/>
        </p:nvPicPr>
        <p:blipFill>
          <a:blip r:embed="rId3" cstate="print"/>
          <a:srcRect/>
          <a:stretch>
            <a:fillRect/>
          </a:stretch>
        </p:blipFill>
        <p:spPr bwMode="auto">
          <a:xfrm>
            <a:off x="6444208" y="3429000"/>
            <a:ext cx="1934149" cy="1815751"/>
          </a:xfrm>
          <a:prstGeom prst="rect">
            <a:avLst/>
          </a:prstGeom>
          <a:noFill/>
        </p:spPr>
      </p:pic>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Prepare cash register</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Autofit/>
          </a:bodyPr>
          <a:lstStyle/>
          <a:p>
            <a:pPr>
              <a:spcBef>
                <a:spcPts val="600"/>
              </a:spcBef>
              <a:spcAft>
                <a:spcPts val="1200"/>
              </a:spcAft>
              <a:buNone/>
            </a:pPr>
            <a:r>
              <a:rPr lang="en-US" sz="2200" b="1" dirty="0" smtClean="0">
                <a:latin typeface="Helvetica" pitchFamily="34" charset="0"/>
              </a:rPr>
              <a:t>What is a cash register?</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A cash register is a machine that is used to accurately record transactions:</a:t>
            </a:r>
            <a:endParaRPr lang="en-US" sz="2200" b="1" dirty="0" smtClean="0">
              <a:latin typeface="Helvetica" pitchFamily="34" charset="0"/>
            </a:endParaRPr>
          </a:p>
          <a:p>
            <a:pPr marL="342900" indent="-342900">
              <a:spcBef>
                <a:spcPts val="600"/>
              </a:spcBef>
              <a:spcAft>
                <a:spcPts val="1200"/>
              </a:spcAft>
              <a:defRPr/>
            </a:pPr>
            <a:r>
              <a:rPr lang="en-US" sz="2200" dirty="0" smtClean="0">
                <a:latin typeface="Helvetica" pitchFamily="34" charset="0"/>
              </a:rPr>
              <a:t>Charges and methods of payments</a:t>
            </a:r>
          </a:p>
          <a:p>
            <a:pPr marL="342900" indent="-342900">
              <a:spcBef>
                <a:spcPts val="600"/>
              </a:spcBef>
              <a:spcAft>
                <a:spcPts val="1200"/>
              </a:spcAft>
              <a:defRPr/>
            </a:pPr>
            <a:r>
              <a:rPr lang="en-US" sz="2200" dirty="0" smtClean="0">
                <a:latin typeface="Helvetica" pitchFamily="34" charset="0"/>
              </a:rPr>
              <a:t>Issue accounts and receipts</a:t>
            </a:r>
          </a:p>
          <a:p>
            <a:pPr marL="342900" indent="-342900">
              <a:spcBef>
                <a:spcPts val="600"/>
              </a:spcBef>
              <a:spcAft>
                <a:spcPts val="1200"/>
              </a:spcAft>
              <a:defRPr/>
            </a:pPr>
            <a:r>
              <a:rPr lang="en-US" sz="2200" dirty="0" smtClean="0">
                <a:latin typeface="Helvetica" pitchFamily="34" charset="0"/>
              </a:rPr>
              <a:t>Store cash and non-cash payments</a:t>
            </a:r>
          </a:p>
          <a:p>
            <a:pPr>
              <a:spcBef>
                <a:spcPts val="600"/>
              </a:spcBef>
              <a:spcAft>
                <a:spcPts val="1200"/>
              </a:spcAft>
              <a:buNone/>
            </a:pP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172</a:t>
            </a:fld>
            <a:endParaRPr lang="en-US" dirty="0">
              <a:latin typeface="Helvetica" pitchFamily="34" charset="0"/>
            </a:endParaRPr>
          </a:p>
        </p:txBody>
      </p:sp>
      <p:pic>
        <p:nvPicPr>
          <p:cNvPr id="7" name="Picture 6" descr="IMG_2048.jpg"/>
          <p:cNvPicPr>
            <a:picLocks noChangeAspect="1"/>
          </p:cNvPicPr>
          <p:nvPr/>
        </p:nvPicPr>
        <p:blipFill>
          <a:blip r:embed="rId3" cstate="print"/>
          <a:stretch>
            <a:fillRect/>
          </a:stretch>
        </p:blipFill>
        <p:spPr>
          <a:xfrm>
            <a:off x="6084168" y="3501008"/>
            <a:ext cx="2279144" cy="1709358"/>
          </a:xfrm>
          <a:prstGeom prst="rect">
            <a:avLst/>
          </a:prstGeom>
        </p:spPr>
      </p:pic>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Prepare cash register</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Autofit/>
          </a:bodyPr>
          <a:lstStyle/>
          <a:p>
            <a:pPr>
              <a:spcBef>
                <a:spcPts val="600"/>
              </a:spcBef>
              <a:spcAft>
                <a:spcPts val="1200"/>
              </a:spcAft>
              <a:buNone/>
            </a:pPr>
            <a:r>
              <a:rPr lang="en-US" sz="2200" b="1" dirty="0" smtClean="0">
                <a:latin typeface="Helvetica" pitchFamily="34" charset="0"/>
              </a:rPr>
              <a:t>Prepare register items</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Ensure an adequate supply of:</a:t>
            </a:r>
          </a:p>
          <a:p>
            <a:pPr marL="342900" indent="-342900">
              <a:spcBef>
                <a:spcPts val="600"/>
              </a:spcBef>
              <a:spcAft>
                <a:spcPts val="1200"/>
              </a:spcAft>
              <a:defRPr/>
            </a:pPr>
            <a:r>
              <a:rPr lang="en-US" sz="2200" dirty="0" smtClean="0">
                <a:latin typeface="Helvetica" pitchFamily="34" charset="0"/>
              </a:rPr>
              <a:t>Cash register paper</a:t>
            </a:r>
          </a:p>
          <a:p>
            <a:pPr marL="342900" indent="-342900">
              <a:spcBef>
                <a:spcPts val="600"/>
              </a:spcBef>
              <a:spcAft>
                <a:spcPts val="1200"/>
              </a:spcAft>
              <a:defRPr/>
            </a:pPr>
            <a:r>
              <a:rPr lang="en-US" sz="2200" dirty="0" smtClean="0">
                <a:latin typeface="Helvetica" pitchFamily="34" charset="0"/>
              </a:rPr>
              <a:t>Pens</a:t>
            </a:r>
          </a:p>
          <a:p>
            <a:pPr marL="342900" indent="-342900">
              <a:spcBef>
                <a:spcPts val="600"/>
              </a:spcBef>
              <a:spcAft>
                <a:spcPts val="1200"/>
              </a:spcAft>
              <a:defRPr/>
            </a:pPr>
            <a:r>
              <a:rPr lang="en-US" sz="2200" dirty="0" smtClean="0">
                <a:latin typeface="Helvetica" pitchFamily="34" charset="0"/>
              </a:rPr>
              <a:t>Receipt paper</a:t>
            </a:r>
          </a:p>
          <a:p>
            <a:pPr marL="342900" indent="-342900">
              <a:spcBef>
                <a:spcPts val="600"/>
              </a:spcBef>
              <a:spcAft>
                <a:spcPts val="1200"/>
              </a:spcAft>
              <a:defRPr/>
            </a:pPr>
            <a:r>
              <a:rPr lang="en-US" sz="2200" dirty="0" smtClean="0">
                <a:latin typeface="Helvetica" pitchFamily="34" charset="0"/>
              </a:rPr>
              <a:t>Account folders</a:t>
            </a:r>
          </a:p>
          <a:p>
            <a:pPr marL="342900" indent="-342900">
              <a:spcBef>
                <a:spcPts val="600"/>
              </a:spcBef>
              <a:spcAft>
                <a:spcPts val="1200"/>
              </a:spcAft>
              <a:defRPr/>
            </a:pPr>
            <a:r>
              <a:rPr lang="en-US" sz="2200" dirty="0" smtClean="0">
                <a:latin typeface="Helvetica" pitchFamily="34" charset="0"/>
              </a:rPr>
              <a:t>Ink cartridge</a:t>
            </a:r>
          </a:p>
          <a:p>
            <a:pPr>
              <a:spcBef>
                <a:spcPts val="600"/>
              </a:spcBef>
              <a:spcAft>
                <a:spcPts val="1200"/>
              </a:spcAft>
              <a:buNone/>
            </a:pP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173</a:t>
            </a:fld>
            <a:endParaRPr lang="en-US" dirty="0">
              <a:latin typeface="Helvetica" pitchFamily="34" charset="0"/>
            </a:endParaRPr>
          </a:p>
        </p:txBody>
      </p:sp>
      <p:pic>
        <p:nvPicPr>
          <p:cNvPr id="6" name="Picture 5" descr="IMG_2007.jpg"/>
          <p:cNvPicPr>
            <a:picLocks noChangeAspect="1"/>
          </p:cNvPicPr>
          <p:nvPr/>
        </p:nvPicPr>
        <p:blipFill>
          <a:blip r:embed="rId3" cstate="print"/>
          <a:stretch>
            <a:fillRect/>
          </a:stretch>
        </p:blipFill>
        <p:spPr>
          <a:xfrm>
            <a:off x="5796136" y="3429000"/>
            <a:ext cx="2592288" cy="1944216"/>
          </a:xfrm>
          <a:prstGeom prst="rect">
            <a:avLst/>
          </a:prstGeom>
        </p:spPr>
      </p:pic>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Prepare cash register</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Autofit/>
          </a:bodyPr>
          <a:lstStyle/>
          <a:p>
            <a:pPr>
              <a:spcBef>
                <a:spcPts val="600"/>
              </a:spcBef>
              <a:spcAft>
                <a:spcPts val="1200"/>
              </a:spcAft>
              <a:buNone/>
            </a:pPr>
            <a:r>
              <a:rPr lang="en-US" sz="2200" b="1" dirty="0" smtClean="0">
                <a:latin typeface="Helvetica" pitchFamily="34" charset="0"/>
              </a:rPr>
              <a:t>Prepare register items:</a:t>
            </a:r>
          </a:p>
          <a:p>
            <a:pPr marL="342900" indent="-342900">
              <a:spcBef>
                <a:spcPts val="600"/>
              </a:spcBef>
              <a:spcAft>
                <a:spcPts val="1200"/>
              </a:spcAft>
              <a:defRPr/>
            </a:pPr>
            <a:r>
              <a:rPr lang="en-US" sz="2200" dirty="0" smtClean="0">
                <a:latin typeface="Helvetica" pitchFamily="34" charset="0"/>
              </a:rPr>
              <a:t>Cash register paper</a:t>
            </a:r>
          </a:p>
          <a:p>
            <a:pPr marL="342900" indent="-342900">
              <a:spcBef>
                <a:spcPts val="600"/>
              </a:spcBef>
              <a:spcAft>
                <a:spcPts val="1200"/>
              </a:spcAft>
              <a:defRPr/>
            </a:pPr>
            <a:r>
              <a:rPr lang="en-US" sz="2200" dirty="0" smtClean="0">
                <a:latin typeface="Helvetica" pitchFamily="34" charset="0"/>
              </a:rPr>
              <a:t>Sweets or other gifts normally presented with accounts to customers</a:t>
            </a:r>
          </a:p>
          <a:p>
            <a:pPr marL="342900" indent="-342900">
              <a:spcBef>
                <a:spcPts val="600"/>
              </a:spcBef>
              <a:spcAft>
                <a:spcPts val="1200"/>
              </a:spcAft>
              <a:defRPr/>
            </a:pPr>
            <a:r>
              <a:rPr lang="en-US" sz="2200" dirty="0" smtClean="0">
                <a:latin typeface="Helvetica" pitchFamily="34" charset="0"/>
              </a:rPr>
              <a:t>Rubbish bins</a:t>
            </a:r>
          </a:p>
          <a:p>
            <a:pPr marL="342900" indent="-342900">
              <a:spcBef>
                <a:spcPts val="600"/>
              </a:spcBef>
              <a:spcAft>
                <a:spcPts val="1200"/>
              </a:spcAft>
              <a:defRPr/>
            </a:pPr>
            <a:r>
              <a:rPr lang="en-US" sz="2200" dirty="0" smtClean="0">
                <a:latin typeface="Helvetica" pitchFamily="34" charset="0"/>
              </a:rPr>
              <a:t>Spare paper</a:t>
            </a:r>
          </a:p>
          <a:p>
            <a:pPr marL="342900" indent="-342900">
              <a:spcBef>
                <a:spcPts val="600"/>
              </a:spcBef>
              <a:spcAft>
                <a:spcPts val="1200"/>
              </a:spcAft>
              <a:defRPr/>
            </a:pPr>
            <a:r>
              <a:rPr lang="en-US" sz="2200" dirty="0" smtClean="0">
                <a:latin typeface="Helvetica" pitchFamily="34" charset="0"/>
              </a:rPr>
              <a:t>Calculator</a:t>
            </a:r>
          </a:p>
          <a:p>
            <a:pPr marL="342900" indent="-342900">
              <a:spcBef>
                <a:spcPts val="600"/>
              </a:spcBef>
              <a:spcAft>
                <a:spcPts val="1200"/>
              </a:spcAft>
              <a:defRPr/>
            </a:pPr>
            <a:r>
              <a:rPr lang="en-US" sz="2200" dirty="0" smtClean="0">
                <a:latin typeface="Helvetica" pitchFamily="34" charset="0"/>
              </a:rPr>
              <a:t>Currency exchange sheet</a:t>
            </a:r>
            <a:endParaRPr lang="en-US" sz="2200" b="1" dirty="0" smtClean="0">
              <a:latin typeface="Helvetica" pitchFamily="34" charset="0"/>
            </a:endParaRPr>
          </a:p>
          <a:p>
            <a:pPr>
              <a:spcBef>
                <a:spcPts val="600"/>
              </a:spcBef>
              <a:spcAft>
                <a:spcPts val="1200"/>
              </a:spcAft>
              <a:buNone/>
            </a:pP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174</a:t>
            </a:fld>
            <a:endParaRPr lang="en-US" dirty="0">
              <a:latin typeface="Helvetica" pitchFamily="34" charset="0"/>
            </a:endParaRPr>
          </a:p>
        </p:txBody>
      </p:sp>
      <p:pic>
        <p:nvPicPr>
          <p:cNvPr id="7" name="Picture 5" descr="MPj03853380000[1]"/>
          <p:cNvPicPr>
            <a:picLocks noChangeAspect="1" noChangeArrowheads="1"/>
          </p:cNvPicPr>
          <p:nvPr/>
        </p:nvPicPr>
        <p:blipFill>
          <a:blip r:embed="rId3" cstate="print"/>
          <a:srcRect/>
          <a:stretch>
            <a:fillRect/>
          </a:stretch>
        </p:blipFill>
        <p:spPr bwMode="auto">
          <a:xfrm>
            <a:off x="5796136" y="3501008"/>
            <a:ext cx="2520280" cy="1800855"/>
          </a:xfrm>
          <a:prstGeom prst="rect">
            <a:avLst/>
          </a:prstGeom>
          <a:noFill/>
          <a:ln w="38100">
            <a:noFill/>
            <a:miter lim="800000"/>
            <a:headEnd/>
            <a:tailEnd/>
          </a:ln>
        </p:spPr>
      </p:pic>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Prepare cash register</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Autofit/>
          </a:bodyPr>
          <a:lstStyle/>
          <a:p>
            <a:pPr>
              <a:spcBef>
                <a:spcPts val="600"/>
              </a:spcBef>
              <a:spcAft>
                <a:spcPts val="1200"/>
              </a:spcAft>
              <a:buNone/>
            </a:pPr>
            <a:r>
              <a:rPr lang="en-US" sz="2200" b="1" dirty="0" smtClean="0">
                <a:latin typeface="Helvetica" pitchFamily="34" charset="0"/>
              </a:rPr>
              <a:t>Prepare register equipment</a:t>
            </a:r>
          </a:p>
          <a:p>
            <a:pPr marL="0">
              <a:spcBef>
                <a:spcPts val="600"/>
              </a:spcBef>
              <a:spcAft>
                <a:spcPts val="1200"/>
              </a:spcAft>
              <a:buNone/>
            </a:pPr>
            <a:r>
              <a:rPr lang="en-US" sz="2200" dirty="0" smtClean="0">
                <a:latin typeface="Helvetica" pitchFamily="34" charset="0"/>
              </a:rPr>
              <a:t>Besides the register there are other machines that must be checked:</a:t>
            </a:r>
          </a:p>
          <a:p>
            <a:pPr marL="342900" indent="-342900">
              <a:spcBef>
                <a:spcPts val="600"/>
              </a:spcBef>
              <a:spcAft>
                <a:spcPts val="1200"/>
              </a:spcAft>
              <a:defRPr/>
            </a:pPr>
            <a:r>
              <a:rPr lang="en-US" sz="2200" dirty="0" smtClean="0">
                <a:latin typeface="Helvetica" pitchFamily="34" charset="0"/>
              </a:rPr>
              <a:t>ETFPOS machines</a:t>
            </a:r>
          </a:p>
          <a:p>
            <a:pPr marL="342900" indent="-342900">
              <a:spcBef>
                <a:spcPts val="600"/>
              </a:spcBef>
              <a:spcAft>
                <a:spcPts val="1200"/>
              </a:spcAft>
              <a:defRPr/>
            </a:pPr>
            <a:r>
              <a:rPr lang="en-US" sz="2200" dirty="0" smtClean="0">
                <a:latin typeface="Helvetica" pitchFamily="34" charset="0"/>
              </a:rPr>
              <a:t>Manual credit card machines</a:t>
            </a:r>
          </a:p>
          <a:p>
            <a:pPr>
              <a:spcBef>
                <a:spcPts val="600"/>
              </a:spcBef>
              <a:spcAft>
                <a:spcPts val="1200"/>
              </a:spcAft>
              <a:buNone/>
            </a:pP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175</a:t>
            </a:fld>
            <a:endParaRPr lang="en-US" dirty="0">
              <a:latin typeface="Helvetica" pitchFamily="34" charset="0"/>
            </a:endParaRPr>
          </a:p>
        </p:txBody>
      </p:sp>
      <p:pic>
        <p:nvPicPr>
          <p:cNvPr id="6" name="Picture 5" descr="EFTpos"/>
          <p:cNvPicPr/>
          <p:nvPr/>
        </p:nvPicPr>
        <p:blipFill>
          <a:blip r:embed="rId3" cstate="print"/>
          <a:stretch>
            <a:fillRect/>
          </a:stretch>
        </p:blipFill>
        <p:spPr bwMode="auto">
          <a:xfrm>
            <a:off x="5868144" y="3356992"/>
            <a:ext cx="2531110" cy="1751908"/>
          </a:xfrm>
          <a:prstGeom prst="rect">
            <a:avLst/>
          </a:prstGeom>
          <a:noFill/>
          <a:ln w="57150">
            <a:noFill/>
            <a:miter lim="800000"/>
            <a:headEnd/>
            <a:tailEnd/>
          </a:ln>
        </p:spPr>
      </p:pic>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Prepare cash register</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632848" cy="5661248"/>
          </a:xfrm>
        </p:spPr>
        <p:txBody>
          <a:bodyPr>
            <a:noAutofit/>
          </a:bodyPr>
          <a:lstStyle/>
          <a:p>
            <a:pPr>
              <a:spcBef>
                <a:spcPts val="600"/>
              </a:spcBef>
              <a:spcAft>
                <a:spcPts val="1200"/>
              </a:spcAft>
              <a:buNone/>
            </a:pPr>
            <a:r>
              <a:rPr lang="en-US" sz="2200" b="1" dirty="0" smtClean="0">
                <a:latin typeface="Helvetica" pitchFamily="34" charset="0"/>
              </a:rPr>
              <a:t>Prepare associated information</a:t>
            </a:r>
          </a:p>
          <a:p>
            <a:pPr marL="0">
              <a:spcBef>
                <a:spcPts val="600"/>
              </a:spcBef>
              <a:spcAft>
                <a:spcPts val="1200"/>
              </a:spcAft>
              <a:buNone/>
            </a:pPr>
            <a:r>
              <a:rPr lang="en-AU" sz="2200" dirty="0" smtClean="0">
                <a:latin typeface="Helvetica" pitchFamily="34" charset="0"/>
              </a:rPr>
              <a:t>It is important to have a clear understanding of information that may effect cashiering duties for the day including:</a:t>
            </a:r>
          </a:p>
          <a:p>
            <a:pPr>
              <a:spcBef>
                <a:spcPts val="600"/>
              </a:spcBef>
              <a:spcAft>
                <a:spcPts val="1200"/>
              </a:spcAft>
            </a:pPr>
            <a:r>
              <a:rPr lang="en-AU" sz="2200" dirty="0" smtClean="0">
                <a:latin typeface="Helvetica" pitchFamily="34" charset="0"/>
              </a:rPr>
              <a:t>Function sheets including event items, pricing, contact names and authorisation information.</a:t>
            </a:r>
          </a:p>
          <a:p>
            <a:pPr>
              <a:spcBef>
                <a:spcPts val="600"/>
              </a:spcBef>
              <a:spcAft>
                <a:spcPts val="1200"/>
              </a:spcAft>
            </a:pPr>
            <a:r>
              <a:rPr lang="en-AU" sz="2200" dirty="0" smtClean="0">
                <a:latin typeface="Helvetica" pitchFamily="34" charset="0"/>
              </a:rPr>
              <a:t>Methods of payment for VIP or                                special groups or customers</a:t>
            </a:r>
          </a:p>
          <a:p>
            <a:pPr>
              <a:spcBef>
                <a:spcPts val="600"/>
              </a:spcBef>
              <a:spcAft>
                <a:spcPts val="1200"/>
              </a:spcAft>
            </a:pPr>
            <a:r>
              <a:rPr lang="en-AU" sz="2200" dirty="0" smtClean="0">
                <a:latin typeface="Helvetica" pitchFamily="34" charset="0"/>
              </a:rPr>
              <a:t>Prices for new menu items, specials                                       of the day or promotions</a:t>
            </a:r>
          </a:p>
          <a:p>
            <a:pPr>
              <a:spcBef>
                <a:spcPts val="600"/>
              </a:spcBef>
              <a:spcAft>
                <a:spcPts val="1200"/>
              </a:spcAft>
              <a:buNone/>
            </a:pP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176</a:t>
            </a:fld>
            <a:endParaRPr lang="en-US" dirty="0">
              <a:latin typeface="Helvetica" pitchFamily="34" charset="0"/>
            </a:endParaRPr>
          </a:p>
        </p:txBody>
      </p:sp>
      <p:pic>
        <p:nvPicPr>
          <p:cNvPr id="7" name="Picture 6" descr="IMG_2396.jpg"/>
          <p:cNvPicPr>
            <a:picLocks noChangeAspect="1"/>
          </p:cNvPicPr>
          <p:nvPr/>
        </p:nvPicPr>
        <p:blipFill>
          <a:blip r:embed="rId3" cstate="print"/>
          <a:stretch>
            <a:fillRect/>
          </a:stretch>
        </p:blipFill>
        <p:spPr>
          <a:xfrm>
            <a:off x="6588224" y="3140968"/>
            <a:ext cx="1768073" cy="2357430"/>
          </a:xfrm>
          <a:prstGeom prst="rect">
            <a:avLst/>
          </a:prstGeom>
        </p:spPr>
      </p:pic>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Secure cash register</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Autofit/>
          </a:bodyPr>
          <a:lstStyle/>
          <a:p>
            <a:pPr>
              <a:spcBef>
                <a:spcPts val="600"/>
              </a:spcBef>
              <a:spcAft>
                <a:spcPts val="1200"/>
              </a:spcAft>
              <a:buNone/>
            </a:pPr>
            <a:r>
              <a:rPr lang="en-AU" sz="2200" b="1" dirty="0" smtClean="0">
                <a:latin typeface="Helvetica" pitchFamily="34" charset="0"/>
              </a:rPr>
              <a:t>Secure money and documentation during trade</a:t>
            </a:r>
          </a:p>
          <a:p>
            <a:pPr marL="0">
              <a:spcBef>
                <a:spcPts val="600"/>
              </a:spcBef>
              <a:spcAft>
                <a:spcPts val="1200"/>
              </a:spcAft>
              <a:buNone/>
            </a:pPr>
            <a:r>
              <a:rPr lang="en-AU" sz="2200" dirty="0" smtClean="0">
                <a:latin typeface="Helvetica" pitchFamily="34" charset="0"/>
              </a:rPr>
              <a:t>The following are helpful tips to employ to increase the security of cash and non-cash payments:</a:t>
            </a:r>
          </a:p>
          <a:p>
            <a:pPr>
              <a:spcBef>
                <a:spcPts val="600"/>
              </a:spcBef>
              <a:spcAft>
                <a:spcPts val="1200"/>
              </a:spcAft>
            </a:pPr>
            <a:r>
              <a:rPr lang="en-AU" sz="2200" dirty="0" smtClean="0">
                <a:latin typeface="Helvetica" pitchFamily="34" charset="0"/>
              </a:rPr>
              <a:t>Try not to share cash registers</a:t>
            </a:r>
          </a:p>
          <a:p>
            <a:pPr>
              <a:spcBef>
                <a:spcPts val="600"/>
              </a:spcBef>
              <a:spcAft>
                <a:spcPts val="1200"/>
              </a:spcAft>
            </a:pPr>
            <a:r>
              <a:rPr lang="en-AU" sz="2200" dirty="0" smtClean="0">
                <a:latin typeface="Helvetica" pitchFamily="34" charset="0"/>
              </a:rPr>
              <a:t>Never leave a cash register open when unattended</a:t>
            </a:r>
          </a:p>
          <a:p>
            <a:pPr>
              <a:spcBef>
                <a:spcPts val="600"/>
              </a:spcBef>
              <a:spcAft>
                <a:spcPts val="1200"/>
              </a:spcAft>
            </a:pPr>
            <a:r>
              <a:rPr lang="en-AU" sz="2200" dirty="0" smtClean="0">
                <a:latin typeface="Helvetica" pitchFamily="34" charset="0"/>
              </a:rPr>
              <a:t>Keep cash registers out of the reach of customers</a:t>
            </a:r>
          </a:p>
          <a:p>
            <a:pPr>
              <a:buNone/>
            </a:pP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177</a:t>
            </a:fld>
            <a:endParaRPr lang="en-US" dirty="0">
              <a:latin typeface="Helvetica" pitchFamily="34" charset="0"/>
            </a:endParaRPr>
          </a:p>
        </p:txBody>
      </p:sp>
      <p:pic>
        <p:nvPicPr>
          <p:cNvPr id="6" name="Picture 5" descr="MP900409439.JPG"/>
          <p:cNvPicPr/>
          <p:nvPr/>
        </p:nvPicPr>
        <p:blipFill>
          <a:blip r:embed="rId3" cstate="print"/>
          <a:stretch>
            <a:fillRect/>
          </a:stretch>
        </p:blipFill>
        <p:spPr>
          <a:xfrm>
            <a:off x="6228184" y="4221088"/>
            <a:ext cx="2093590" cy="1368549"/>
          </a:xfrm>
          <a:prstGeom prst="rect">
            <a:avLst/>
          </a:prstGeom>
        </p:spPr>
      </p:pic>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Secure cash register</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Autofit/>
          </a:bodyPr>
          <a:lstStyle/>
          <a:p>
            <a:pPr>
              <a:spcBef>
                <a:spcPts val="600"/>
              </a:spcBef>
              <a:spcAft>
                <a:spcPts val="1200"/>
              </a:spcAft>
              <a:buNone/>
            </a:pPr>
            <a:r>
              <a:rPr lang="en-AU" sz="2200" b="1" dirty="0" smtClean="0">
                <a:latin typeface="Helvetica" pitchFamily="34" charset="0"/>
              </a:rPr>
              <a:t>Secure money and documentation during trade:</a:t>
            </a:r>
          </a:p>
          <a:p>
            <a:pPr>
              <a:spcBef>
                <a:spcPts val="600"/>
              </a:spcBef>
              <a:spcAft>
                <a:spcPts val="1200"/>
              </a:spcAft>
            </a:pPr>
            <a:r>
              <a:rPr lang="en-AU" sz="2200" dirty="0" smtClean="0">
                <a:latin typeface="Helvetica" pitchFamily="34" charset="0"/>
              </a:rPr>
              <a:t>Lock cash registers when not in use</a:t>
            </a:r>
          </a:p>
          <a:p>
            <a:pPr>
              <a:spcBef>
                <a:spcPts val="600"/>
              </a:spcBef>
              <a:spcAft>
                <a:spcPts val="1200"/>
              </a:spcAft>
            </a:pPr>
            <a:r>
              <a:rPr lang="en-AU" sz="2200" dirty="0" smtClean="0">
                <a:latin typeface="Helvetica" pitchFamily="34" charset="0"/>
              </a:rPr>
              <a:t>Keep the original note on display whilst a transaction is taking place </a:t>
            </a:r>
          </a:p>
          <a:p>
            <a:pPr>
              <a:spcBef>
                <a:spcPts val="600"/>
              </a:spcBef>
              <a:spcAft>
                <a:spcPts val="1200"/>
              </a:spcAft>
            </a:pPr>
            <a:r>
              <a:rPr lang="en-AU" sz="2200" dirty="0" smtClean="0">
                <a:latin typeface="Helvetica" pitchFamily="34" charset="0"/>
              </a:rPr>
              <a:t>Regularly store large notes under the </a:t>
            </a:r>
            <a:br>
              <a:rPr lang="en-AU" sz="2200" dirty="0" smtClean="0">
                <a:latin typeface="Helvetica" pitchFamily="34" charset="0"/>
              </a:rPr>
            </a:br>
            <a:r>
              <a:rPr lang="en-AU" sz="2200" dirty="0" smtClean="0">
                <a:latin typeface="Helvetica" pitchFamily="34" charset="0"/>
              </a:rPr>
              <a:t>cash till, out of display of customers</a:t>
            </a:r>
          </a:p>
          <a:p>
            <a:pPr>
              <a:spcBef>
                <a:spcPts val="600"/>
              </a:spcBef>
              <a:spcAft>
                <a:spcPts val="1200"/>
              </a:spcAft>
            </a:pPr>
            <a:r>
              <a:rPr lang="en-AU" sz="2200" dirty="0" smtClean="0">
                <a:latin typeface="Helvetica" pitchFamily="34" charset="0"/>
              </a:rPr>
              <a:t>Regularly arrange for cash registers to                                         be cleared</a:t>
            </a: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178</a:t>
            </a:fld>
            <a:endParaRPr lang="en-US" dirty="0">
              <a:latin typeface="Helvetica" pitchFamily="34" charset="0"/>
            </a:endParaRPr>
          </a:p>
        </p:txBody>
      </p:sp>
      <p:pic>
        <p:nvPicPr>
          <p:cNvPr id="5" name="Picture 4" descr="j0409039.jpg"/>
          <p:cNvPicPr>
            <a:picLocks noChangeAspect="1"/>
          </p:cNvPicPr>
          <p:nvPr/>
        </p:nvPicPr>
        <p:blipFill>
          <a:blip r:embed="rId3" cstate="print"/>
          <a:stretch>
            <a:fillRect/>
          </a:stretch>
        </p:blipFill>
        <p:spPr>
          <a:xfrm>
            <a:off x="6660232" y="3356992"/>
            <a:ext cx="1711609" cy="1991690"/>
          </a:xfrm>
          <a:prstGeom prst="rect">
            <a:avLst/>
          </a:prstGeom>
        </p:spPr>
      </p:pic>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200" b="1" dirty="0" smtClean="0">
                <a:solidFill>
                  <a:srgbClr val="FF6600"/>
                </a:solidFill>
                <a:latin typeface="Helvetica" pitchFamily="34" charset="0"/>
              </a:rPr>
              <a:t>Establish, update and finalize customer accounts</a:t>
            </a: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AU" sz="2200" b="1" dirty="0" smtClean="0">
                <a:latin typeface="Helvetica" pitchFamily="34" charset="0"/>
              </a:rPr>
              <a:t>General procedures for processing accounts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Processing a customer account refers to:</a:t>
            </a:r>
          </a:p>
          <a:p>
            <a:pPr>
              <a:spcBef>
                <a:spcPts val="600"/>
              </a:spcBef>
              <a:spcAft>
                <a:spcPts val="1200"/>
              </a:spcAft>
            </a:pPr>
            <a:r>
              <a:rPr lang="en-AU" sz="2200" dirty="0" smtClean="0">
                <a:latin typeface="Helvetica" pitchFamily="34" charset="0"/>
              </a:rPr>
              <a:t>Creating an account for the customer or table</a:t>
            </a:r>
          </a:p>
          <a:p>
            <a:pPr>
              <a:spcBef>
                <a:spcPts val="600"/>
              </a:spcBef>
              <a:spcAft>
                <a:spcPts val="1200"/>
              </a:spcAft>
            </a:pPr>
            <a:r>
              <a:rPr lang="en-AU" sz="2200" dirty="0" smtClean="0">
                <a:latin typeface="Helvetica" pitchFamily="34" charset="0"/>
              </a:rPr>
              <a:t>Updating the account as items are ordered/purchased</a:t>
            </a:r>
          </a:p>
          <a:p>
            <a:pPr>
              <a:spcBef>
                <a:spcPts val="600"/>
              </a:spcBef>
              <a:spcAft>
                <a:spcPts val="1200"/>
              </a:spcAft>
            </a:pPr>
            <a:r>
              <a:rPr lang="en-AU" sz="2200" dirty="0" smtClean="0">
                <a:latin typeface="Helvetica" pitchFamily="34" charset="0"/>
              </a:rPr>
              <a:t>Finalising the account by accepting payment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179</a:t>
            </a:fld>
            <a:endParaRPr lang="en-US" dirty="0">
              <a:latin typeface="Helvetica" pitchFamily="34" charset="0"/>
            </a:endParaRPr>
          </a:p>
        </p:txBody>
      </p:sp>
      <p:pic>
        <p:nvPicPr>
          <p:cNvPr id="6" name="Picture 5" descr="MPj03853380000[1]"/>
          <p:cNvPicPr>
            <a:picLocks noChangeAspect="1" noChangeArrowheads="1"/>
          </p:cNvPicPr>
          <p:nvPr/>
        </p:nvPicPr>
        <p:blipFill>
          <a:blip r:embed="rId3" cstate="print"/>
          <a:stretch>
            <a:fillRect/>
          </a:stretch>
        </p:blipFill>
        <p:spPr bwMode="auto">
          <a:xfrm>
            <a:off x="6084168" y="4293096"/>
            <a:ext cx="2268439" cy="1508511"/>
          </a:xfrm>
          <a:prstGeom prst="rect">
            <a:avLst/>
          </a:prstGeom>
          <a:noFill/>
          <a:ln w="38100">
            <a:noFill/>
            <a:miter lim="800000"/>
            <a:headEnd/>
            <a:tailEnd/>
          </a:ln>
        </p:spPr>
      </p:pic>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200" b="1" dirty="0" smtClean="0">
                <a:solidFill>
                  <a:srgbClr val="FF6600"/>
                </a:solidFill>
                <a:latin typeface="Helvetica" pitchFamily="34" charset="0"/>
              </a:rPr>
              <a:t>Establish, update and finalize customer accounts</a:t>
            </a:r>
          </a:p>
        </p:txBody>
      </p:sp>
      <p:sp>
        <p:nvSpPr>
          <p:cNvPr id="3" name="Content Placeholder 2"/>
          <p:cNvSpPr>
            <a:spLocks noGrp="1"/>
          </p:cNvSpPr>
          <p:nvPr>
            <p:ph idx="1"/>
          </p:nvPr>
        </p:nvSpPr>
        <p:spPr>
          <a:xfrm>
            <a:off x="611560" y="1556792"/>
            <a:ext cx="7704856" cy="5301208"/>
          </a:xfrm>
        </p:spPr>
        <p:txBody>
          <a:bodyPr>
            <a:noAutofit/>
          </a:bodyPr>
          <a:lstStyle/>
          <a:p>
            <a:pPr>
              <a:spcBef>
                <a:spcPts val="600"/>
              </a:spcBef>
              <a:spcAft>
                <a:spcPts val="600"/>
              </a:spcAft>
              <a:buNone/>
            </a:pPr>
            <a:r>
              <a:rPr lang="en-AU" sz="2200" b="1" dirty="0" smtClean="0">
                <a:latin typeface="Helvetica" pitchFamily="34" charset="0"/>
              </a:rPr>
              <a:t>General procedures for processing accounts</a:t>
            </a:r>
            <a:endParaRPr lang="en-AU" sz="2200" dirty="0" smtClean="0">
              <a:latin typeface="Helvetica" pitchFamily="34" charset="0"/>
            </a:endParaRPr>
          </a:p>
          <a:p>
            <a:pPr>
              <a:spcBef>
                <a:spcPts val="600"/>
              </a:spcBef>
              <a:spcAft>
                <a:spcPts val="600"/>
              </a:spcAft>
              <a:buNone/>
            </a:pPr>
            <a:r>
              <a:rPr lang="en-AU" sz="2200" dirty="0" smtClean="0">
                <a:latin typeface="Helvetica" pitchFamily="34" charset="0"/>
              </a:rPr>
              <a:t>The following procedures must be adhered to:</a:t>
            </a:r>
          </a:p>
          <a:p>
            <a:pPr>
              <a:spcBef>
                <a:spcPts val="600"/>
              </a:spcBef>
              <a:spcAft>
                <a:spcPts val="600"/>
              </a:spcAft>
            </a:pPr>
            <a:r>
              <a:rPr lang="en-AU" sz="2200" dirty="0" smtClean="0">
                <a:latin typeface="Helvetica" pitchFamily="34" charset="0"/>
              </a:rPr>
              <a:t>Obtain in-house training before using the system</a:t>
            </a:r>
          </a:p>
          <a:p>
            <a:pPr>
              <a:spcBef>
                <a:spcPts val="600"/>
              </a:spcBef>
              <a:spcAft>
                <a:spcPts val="600"/>
              </a:spcAft>
            </a:pPr>
            <a:r>
              <a:rPr lang="en-AU" sz="2200" dirty="0" smtClean="0">
                <a:latin typeface="Helvetica" pitchFamily="34" charset="0"/>
              </a:rPr>
              <a:t>Review supporting dockets received</a:t>
            </a:r>
          </a:p>
          <a:p>
            <a:pPr>
              <a:spcBef>
                <a:spcPts val="600"/>
              </a:spcBef>
              <a:spcAft>
                <a:spcPts val="600"/>
              </a:spcAft>
            </a:pPr>
            <a:r>
              <a:rPr lang="en-AU" sz="2200" dirty="0" smtClean="0">
                <a:latin typeface="Helvetica" pitchFamily="34" charset="0"/>
              </a:rPr>
              <a:t>Post charges promptly</a:t>
            </a:r>
          </a:p>
          <a:p>
            <a:pPr>
              <a:spcBef>
                <a:spcPts val="600"/>
              </a:spcBef>
              <a:spcAft>
                <a:spcPts val="600"/>
              </a:spcAft>
            </a:pPr>
            <a:r>
              <a:rPr lang="en-AU" sz="2200" dirty="0" smtClean="0">
                <a:latin typeface="Helvetica" pitchFamily="34" charset="0"/>
              </a:rPr>
              <a:t>Update the account balance</a:t>
            </a:r>
          </a:p>
          <a:p>
            <a:pPr>
              <a:spcBef>
                <a:spcPts val="600"/>
              </a:spcBef>
              <a:spcAft>
                <a:spcPts val="600"/>
              </a:spcAft>
            </a:pPr>
            <a:r>
              <a:rPr lang="en-AU" sz="2200" dirty="0" smtClean="0">
                <a:latin typeface="Helvetica" pitchFamily="34" charset="0"/>
              </a:rPr>
              <a:t>Produce the final account/bill when requested</a:t>
            </a:r>
          </a:p>
          <a:p>
            <a:pPr>
              <a:spcBef>
                <a:spcPts val="600"/>
              </a:spcBef>
              <a:spcAft>
                <a:spcPts val="600"/>
              </a:spcAft>
            </a:pPr>
            <a:r>
              <a:rPr lang="en-AU" sz="2200" dirty="0" smtClean="0">
                <a:latin typeface="Helvetica" pitchFamily="34" charset="0"/>
              </a:rPr>
              <a:t>Present account to guest/staff according to                          workplace policy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180</a:t>
            </a:fld>
            <a:endParaRPr lang="en-US" dirty="0">
              <a:latin typeface="Helvetica" pitchFamily="34" charset="0"/>
            </a:endParaRPr>
          </a:p>
        </p:txBody>
      </p:sp>
      <p:pic>
        <p:nvPicPr>
          <p:cNvPr id="7" name="Picture 6" descr="MP900409077.JPG"/>
          <p:cNvPicPr/>
          <p:nvPr/>
        </p:nvPicPr>
        <p:blipFill>
          <a:blip r:embed="rId3" cstate="print"/>
          <a:stretch>
            <a:fillRect/>
          </a:stretch>
        </p:blipFill>
        <p:spPr>
          <a:xfrm>
            <a:off x="6804248" y="3789040"/>
            <a:ext cx="1590675" cy="1590675"/>
          </a:xfrm>
          <a:prstGeom prst="rect">
            <a:avLst/>
          </a:prstGeom>
        </p:spPr>
      </p:pic>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200" b="1" dirty="0" smtClean="0">
                <a:solidFill>
                  <a:srgbClr val="FF6600"/>
                </a:solidFill>
                <a:latin typeface="Helvetica" pitchFamily="34" charset="0"/>
              </a:rPr>
              <a:t>Establish, update and finalize customer accounts</a:t>
            </a:r>
          </a:p>
        </p:txBody>
      </p:sp>
      <p:sp>
        <p:nvSpPr>
          <p:cNvPr id="3" name="Content Placeholder 2"/>
          <p:cNvSpPr>
            <a:spLocks noGrp="1"/>
          </p:cNvSpPr>
          <p:nvPr>
            <p:ph idx="1"/>
          </p:nvPr>
        </p:nvSpPr>
        <p:spPr>
          <a:xfrm>
            <a:off x="611560" y="1556792"/>
            <a:ext cx="7467600" cy="5301208"/>
          </a:xfrm>
        </p:spPr>
        <p:txBody>
          <a:bodyPr>
            <a:noAutofit/>
          </a:bodyPr>
          <a:lstStyle/>
          <a:p>
            <a:pPr marL="342900" indent="-342900">
              <a:spcBef>
                <a:spcPts val="600"/>
              </a:spcBef>
              <a:spcAft>
                <a:spcPts val="1200"/>
              </a:spcAft>
              <a:buNone/>
              <a:defRPr/>
            </a:pPr>
            <a:r>
              <a:rPr lang="en-AU" sz="2200" b="1" dirty="0" smtClean="0">
                <a:latin typeface="Helvetica" pitchFamily="34" charset="0"/>
              </a:rPr>
              <a:t>Posting charges:</a:t>
            </a:r>
          </a:p>
          <a:p>
            <a:pPr marL="342900" indent="-342900">
              <a:spcBef>
                <a:spcPts val="600"/>
              </a:spcBef>
              <a:spcAft>
                <a:spcPts val="1200"/>
              </a:spcAft>
              <a:defRPr/>
            </a:pPr>
            <a:r>
              <a:rPr lang="en-US" sz="2200" dirty="0" smtClean="0">
                <a:latin typeface="Helvetica" pitchFamily="34" charset="0"/>
              </a:rPr>
              <a:t>Posting charges is the process of </a:t>
            </a:r>
            <a:r>
              <a:rPr lang="en-US" sz="2200" u="sng" dirty="0" smtClean="0">
                <a:latin typeface="Helvetica" pitchFamily="34" charset="0"/>
              </a:rPr>
              <a:t>recording transactions </a:t>
            </a:r>
            <a:r>
              <a:rPr lang="en-US" sz="2200" dirty="0" smtClean="0">
                <a:latin typeface="Helvetica" pitchFamily="34" charset="0"/>
              </a:rPr>
              <a:t>on a customer account. It is a term normally used where an electronic system is in use</a:t>
            </a:r>
          </a:p>
          <a:p>
            <a:pPr marL="342900" indent="-342900">
              <a:spcBef>
                <a:spcPts val="600"/>
              </a:spcBef>
              <a:spcAft>
                <a:spcPts val="1200"/>
              </a:spcAft>
              <a:defRPr/>
            </a:pPr>
            <a:r>
              <a:rPr lang="en-US" sz="2200" dirty="0" smtClean="0">
                <a:latin typeface="Helvetica" pitchFamily="34" charset="0"/>
              </a:rPr>
              <a:t>A ‘posting’ can be one of two types:</a:t>
            </a:r>
            <a:endParaRPr lang="en-US" sz="2200" u="sng" dirty="0" smtClean="0">
              <a:latin typeface="Helvetica" pitchFamily="34" charset="0"/>
            </a:endParaRPr>
          </a:p>
          <a:p>
            <a:pPr marL="800100" lvl="1" indent="-342900">
              <a:spcBef>
                <a:spcPts val="600"/>
              </a:spcBef>
              <a:spcAft>
                <a:spcPts val="1200"/>
              </a:spcAft>
              <a:buSzPct val="80000"/>
              <a:buFont typeface="Wingdings" pitchFamily="2" charset="2"/>
              <a:buChar char="l"/>
              <a:defRPr/>
            </a:pPr>
            <a:r>
              <a:rPr lang="en-US" sz="2200" dirty="0" smtClean="0">
                <a:latin typeface="Helvetica" pitchFamily="34" charset="0"/>
              </a:rPr>
              <a:t>Debit posting</a:t>
            </a:r>
          </a:p>
          <a:p>
            <a:pPr marL="800100" lvl="1" indent="-342900">
              <a:spcBef>
                <a:spcPts val="600"/>
              </a:spcBef>
              <a:spcAft>
                <a:spcPts val="1200"/>
              </a:spcAft>
              <a:buSzPct val="80000"/>
              <a:buFont typeface="Wingdings" pitchFamily="2" charset="2"/>
              <a:buChar char="l"/>
              <a:defRPr/>
            </a:pPr>
            <a:r>
              <a:rPr lang="en-US" sz="2200" dirty="0" smtClean="0">
                <a:latin typeface="Helvetica" pitchFamily="34" charset="0"/>
              </a:rPr>
              <a:t>Credit posting</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181</a:t>
            </a:fld>
            <a:endParaRPr lang="en-US" dirty="0">
              <a:latin typeface="Helvetica" pitchFamily="34" charset="0"/>
            </a:endParaRPr>
          </a:p>
        </p:txBody>
      </p:sp>
      <p:pic>
        <p:nvPicPr>
          <p:cNvPr id="5" name="Picture 5" descr="Bill payment"/>
          <p:cNvPicPr>
            <a:picLocks noChangeAspect="1" noChangeArrowheads="1"/>
          </p:cNvPicPr>
          <p:nvPr/>
        </p:nvPicPr>
        <p:blipFill>
          <a:blip r:embed="rId3" cstate="print"/>
          <a:stretch>
            <a:fillRect/>
          </a:stretch>
        </p:blipFill>
        <p:spPr bwMode="auto">
          <a:xfrm>
            <a:off x="5724128" y="3717032"/>
            <a:ext cx="2663287" cy="1776413"/>
          </a:xfrm>
          <a:prstGeom prst="rect">
            <a:avLst/>
          </a:prstGeom>
          <a:noFill/>
          <a:ln w="38100">
            <a:noFill/>
            <a:miter lim="800000"/>
            <a:headEnd/>
            <a:tailEnd/>
          </a:ln>
        </p:spPr>
      </p:pic>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200" b="1" dirty="0" smtClean="0">
                <a:solidFill>
                  <a:srgbClr val="FF6600"/>
                </a:solidFill>
                <a:latin typeface="Helvetica" pitchFamily="34" charset="0"/>
              </a:rPr>
              <a:t>Establish, update and finalize customer accounts</a:t>
            </a:r>
          </a:p>
        </p:txBody>
      </p:sp>
      <p:sp>
        <p:nvSpPr>
          <p:cNvPr id="3" name="Content Placeholder 2"/>
          <p:cNvSpPr>
            <a:spLocks noGrp="1"/>
          </p:cNvSpPr>
          <p:nvPr>
            <p:ph idx="1"/>
          </p:nvPr>
        </p:nvSpPr>
        <p:spPr>
          <a:xfrm>
            <a:off x="611560" y="1556792"/>
            <a:ext cx="7467600" cy="5301208"/>
          </a:xfrm>
        </p:spPr>
        <p:txBody>
          <a:bodyPr>
            <a:noAutofit/>
          </a:bodyPr>
          <a:lstStyle/>
          <a:p>
            <a:pPr marL="342900" indent="-342900">
              <a:spcBef>
                <a:spcPts val="600"/>
              </a:spcBef>
              <a:spcAft>
                <a:spcPts val="1200"/>
              </a:spcAft>
              <a:buNone/>
              <a:defRPr/>
            </a:pPr>
            <a:r>
              <a:rPr lang="en-AU" sz="2200" b="1" dirty="0" smtClean="0">
                <a:latin typeface="Helvetica" pitchFamily="34" charset="0"/>
              </a:rPr>
              <a:t>Debit posting:</a:t>
            </a:r>
          </a:p>
          <a:p>
            <a:pPr marL="342900" indent="-342900">
              <a:spcBef>
                <a:spcPts val="600"/>
              </a:spcBef>
              <a:spcAft>
                <a:spcPts val="1200"/>
              </a:spcAft>
              <a:defRPr/>
            </a:pPr>
            <a:r>
              <a:rPr lang="en-US" sz="2200" u="sng" dirty="0" smtClean="0">
                <a:latin typeface="Helvetica" pitchFamily="34" charset="0"/>
              </a:rPr>
              <a:t>Increases</a:t>
            </a:r>
            <a:r>
              <a:rPr lang="en-US" sz="2200" dirty="0" smtClean="0">
                <a:latin typeface="Helvetica" pitchFamily="34" charset="0"/>
              </a:rPr>
              <a:t> the customer’s debt/liability to the property</a:t>
            </a:r>
          </a:p>
          <a:p>
            <a:pPr marL="342900" indent="-342900">
              <a:spcBef>
                <a:spcPts val="600"/>
              </a:spcBef>
              <a:spcAft>
                <a:spcPts val="1200"/>
              </a:spcAft>
              <a:defRPr/>
            </a:pPr>
            <a:r>
              <a:rPr lang="en-US" sz="2200" dirty="0" smtClean="0">
                <a:latin typeface="Helvetica" pitchFamily="34" charset="0"/>
              </a:rPr>
              <a:t>Customer purchases products &amp; services</a:t>
            </a:r>
          </a:p>
          <a:p>
            <a:pPr marL="342900" indent="-342900">
              <a:spcBef>
                <a:spcPts val="600"/>
              </a:spcBef>
              <a:spcAft>
                <a:spcPts val="1200"/>
              </a:spcAft>
              <a:buNone/>
              <a:defRPr/>
            </a:pPr>
            <a:r>
              <a:rPr lang="en-US" sz="2200" b="1" dirty="0" smtClean="0">
                <a:latin typeface="Helvetica" pitchFamily="34" charset="0"/>
              </a:rPr>
              <a:t>Credit posting:</a:t>
            </a:r>
          </a:p>
          <a:p>
            <a:pPr marL="342900" indent="-342900">
              <a:spcBef>
                <a:spcPts val="600"/>
              </a:spcBef>
              <a:spcAft>
                <a:spcPts val="1200"/>
              </a:spcAft>
              <a:defRPr/>
            </a:pPr>
            <a:r>
              <a:rPr lang="en-US" sz="2200" u="sng" dirty="0" smtClean="0">
                <a:latin typeface="Helvetica" pitchFamily="34" charset="0"/>
              </a:rPr>
              <a:t>Reduces</a:t>
            </a:r>
            <a:r>
              <a:rPr lang="en-US" sz="2200" dirty="0" smtClean="0">
                <a:latin typeface="Helvetica" pitchFamily="34" charset="0"/>
              </a:rPr>
              <a:t> the guest’s debt/liability to the </a:t>
            </a:r>
            <a:br>
              <a:rPr lang="en-US" sz="2200" dirty="0" smtClean="0">
                <a:latin typeface="Helvetica" pitchFamily="34" charset="0"/>
              </a:rPr>
            </a:br>
            <a:r>
              <a:rPr lang="en-US" sz="2200" dirty="0" smtClean="0">
                <a:latin typeface="Helvetica" pitchFamily="34" charset="0"/>
              </a:rPr>
              <a:t>property</a:t>
            </a:r>
          </a:p>
          <a:p>
            <a:pPr marL="342900" indent="-342900">
              <a:spcBef>
                <a:spcPts val="600"/>
              </a:spcBef>
              <a:spcAft>
                <a:spcPts val="1200"/>
              </a:spcAft>
              <a:defRPr/>
            </a:pPr>
            <a:r>
              <a:rPr lang="en-US" sz="2200" dirty="0" smtClean="0">
                <a:latin typeface="Helvetica" pitchFamily="34" charset="0"/>
              </a:rPr>
              <a:t>Customer makes payment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182</a:t>
            </a:fld>
            <a:endParaRPr lang="en-US" dirty="0">
              <a:latin typeface="Helvetica" pitchFamily="34" charset="0"/>
            </a:endParaRPr>
          </a:p>
        </p:txBody>
      </p:sp>
      <p:pic>
        <p:nvPicPr>
          <p:cNvPr id="6" name="Picture 5" descr="_MG_9777"/>
          <p:cNvPicPr/>
          <p:nvPr/>
        </p:nvPicPr>
        <p:blipFill>
          <a:blip r:embed="rId3" cstate="print"/>
          <a:srcRect/>
          <a:stretch>
            <a:fillRect/>
          </a:stretch>
        </p:blipFill>
        <p:spPr bwMode="auto">
          <a:xfrm>
            <a:off x="6948264" y="3140968"/>
            <a:ext cx="1428750" cy="2171700"/>
          </a:xfrm>
          <a:prstGeom prst="rect">
            <a:avLst/>
          </a:prstGeom>
          <a:noFill/>
        </p:spPr>
      </p:pic>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200" b="1" dirty="0" smtClean="0">
                <a:solidFill>
                  <a:srgbClr val="FF6600"/>
                </a:solidFill>
                <a:latin typeface="Helvetica" pitchFamily="34" charset="0"/>
              </a:rPr>
              <a:t>Establish, update and finalize customer accounts</a:t>
            </a:r>
          </a:p>
        </p:txBody>
      </p:sp>
      <p:sp>
        <p:nvSpPr>
          <p:cNvPr id="3" name="Content Placeholder 2"/>
          <p:cNvSpPr>
            <a:spLocks noGrp="1"/>
          </p:cNvSpPr>
          <p:nvPr>
            <p:ph idx="1"/>
          </p:nvPr>
        </p:nvSpPr>
        <p:spPr>
          <a:xfrm>
            <a:off x="611560" y="1556792"/>
            <a:ext cx="7467600" cy="5301208"/>
          </a:xfrm>
        </p:spPr>
        <p:txBody>
          <a:bodyPr>
            <a:noAutofit/>
          </a:bodyPr>
          <a:lstStyle/>
          <a:p>
            <a:pPr marL="342900" indent="-342900">
              <a:spcBef>
                <a:spcPts val="600"/>
              </a:spcBef>
              <a:spcAft>
                <a:spcPts val="600"/>
              </a:spcAft>
              <a:buNone/>
              <a:defRPr/>
            </a:pPr>
            <a:r>
              <a:rPr lang="en-AU" sz="2200" b="1" dirty="0" smtClean="0">
                <a:latin typeface="Helvetica" pitchFamily="34" charset="0"/>
              </a:rPr>
              <a:t>Guidelines for processing accounts:</a:t>
            </a:r>
          </a:p>
          <a:p>
            <a:pPr marL="342900" indent="-342900">
              <a:spcBef>
                <a:spcPts val="600"/>
              </a:spcBef>
              <a:spcAft>
                <a:spcPts val="600"/>
              </a:spcAft>
              <a:defRPr/>
            </a:pPr>
            <a:r>
              <a:rPr lang="en-US" sz="2200" dirty="0" smtClean="0">
                <a:latin typeface="Helvetica" pitchFamily="34" charset="0"/>
              </a:rPr>
              <a:t>Understand operations and equipment</a:t>
            </a:r>
          </a:p>
          <a:p>
            <a:pPr marL="342900" indent="-342900">
              <a:spcBef>
                <a:spcPts val="600"/>
              </a:spcBef>
              <a:spcAft>
                <a:spcPts val="600"/>
              </a:spcAft>
              <a:defRPr/>
            </a:pPr>
            <a:r>
              <a:rPr lang="en-US" sz="2200" dirty="0" smtClean="0">
                <a:latin typeface="Helvetica" pitchFamily="34" charset="0"/>
              </a:rPr>
              <a:t>Produce supporting documentation</a:t>
            </a:r>
          </a:p>
          <a:p>
            <a:pPr marL="342900" indent="-342900">
              <a:spcBef>
                <a:spcPts val="600"/>
              </a:spcBef>
              <a:spcAft>
                <a:spcPts val="600"/>
              </a:spcAft>
              <a:defRPr/>
            </a:pPr>
            <a:r>
              <a:rPr lang="en-US" sz="2200" dirty="0" smtClean="0">
                <a:latin typeface="Helvetica" pitchFamily="34" charset="0"/>
              </a:rPr>
              <a:t>Post charges accurately and promptly</a:t>
            </a:r>
          </a:p>
          <a:p>
            <a:pPr marL="342900" indent="-342900">
              <a:spcBef>
                <a:spcPts val="600"/>
              </a:spcBef>
              <a:spcAft>
                <a:spcPts val="600"/>
              </a:spcAft>
              <a:defRPr/>
            </a:pPr>
            <a:r>
              <a:rPr lang="en-US" sz="2200" dirty="0" smtClean="0">
                <a:latin typeface="Helvetica" pitchFamily="34" charset="0"/>
              </a:rPr>
              <a:t>Keep accounts updated</a:t>
            </a:r>
          </a:p>
          <a:p>
            <a:pPr marL="342900" indent="-342900">
              <a:spcBef>
                <a:spcPts val="600"/>
              </a:spcBef>
              <a:spcAft>
                <a:spcPts val="600"/>
              </a:spcAft>
              <a:defRPr/>
            </a:pPr>
            <a:r>
              <a:rPr lang="en-US" sz="2200" dirty="0" smtClean="0">
                <a:latin typeface="Helvetica" pitchFamily="34" charset="0"/>
              </a:rPr>
              <a:t>Process when required</a:t>
            </a:r>
          </a:p>
          <a:p>
            <a:pPr marL="342900" indent="-342900">
              <a:spcBef>
                <a:spcPts val="600"/>
              </a:spcBef>
              <a:spcAft>
                <a:spcPts val="600"/>
              </a:spcAft>
              <a:buNone/>
              <a:defRPr/>
            </a:pPr>
            <a:r>
              <a:rPr lang="en-US" sz="2200" b="1" dirty="0" smtClean="0">
                <a:latin typeface="Helvetica" pitchFamily="34" charset="0"/>
              </a:rPr>
              <a:t>Ensure:</a:t>
            </a:r>
          </a:p>
          <a:p>
            <a:pPr marL="342900" indent="-342900">
              <a:spcBef>
                <a:spcPts val="600"/>
              </a:spcBef>
              <a:spcAft>
                <a:spcPts val="600"/>
              </a:spcAft>
              <a:defRPr/>
            </a:pPr>
            <a:r>
              <a:rPr lang="en-US" sz="2200" dirty="0" smtClean="0">
                <a:latin typeface="Helvetica" pitchFamily="34" charset="0"/>
              </a:rPr>
              <a:t>Prompt processing</a:t>
            </a:r>
          </a:p>
          <a:p>
            <a:pPr marL="342900" indent="-342900">
              <a:spcBef>
                <a:spcPts val="600"/>
              </a:spcBef>
              <a:spcAft>
                <a:spcPts val="600"/>
              </a:spcAft>
              <a:defRPr/>
            </a:pPr>
            <a:r>
              <a:rPr lang="en-US" sz="2200" dirty="0" smtClean="0">
                <a:latin typeface="Helvetica" pitchFamily="34" charset="0"/>
              </a:rPr>
              <a:t>Accuracy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183</a:t>
            </a:fld>
            <a:endParaRPr lang="en-US" dirty="0">
              <a:latin typeface="Helvetica" pitchFamily="34" charset="0"/>
            </a:endParaRPr>
          </a:p>
        </p:txBody>
      </p:sp>
      <p:pic>
        <p:nvPicPr>
          <p:cNvPr id="7" name="Picture 11" descr="MCj04104830000[1]"/>
          <p:cNvPicPr>
            <a:picLocks noChangeAspect="1" noChangeArrowheads="1"/>
          </p:cNvPicPr>
          <p:nvPr/>
        </p:nvPicPr>
        <p:blipFill>
          <a:blip r:embed="rId3" cstate="print"/>
          <a:stretch>
            <a:fillRect/>
          </a:stretch>
        </p:blipFill>
        <p:spPr bwMode="auto">
          <a:xfrm>
            <a:off x="6156176" y="3717032"/>
            <a:ext cx="2227784" cy="1485931"/>
          </a:xfrm>
          <a:prstGeom prst="rect">
            <a:avLst/>
          </a:prstGeom>
          <a:noFill/>
        </p:spPr>
      </p:pic>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200" b="1" dirty="0" smtClean="0">
                <a:solidFill>
                  <a:srgbClr val="FF6600"/>
                </a:solidFill>
                <a:latin typeface="Helvetica" pitchFamily="34" charset="0"/>
              </a:rPr>
              <a:t>Establish, update and finalize customer accounts</a:t>
            </a:r>
          </a:p>
        </p:txBody>
      </p:sp>
      <p:sp>
        <p:nvSpPr>
          <p:cNvPr id="3" name="Content Placeholder 2"/>
          <p:cNvSpPr>
            <a:spLocks noGrp="1"/>
          </p:cNvSpPr>
          <p:nvPr>
            <p:ph idx="1"/>
          </p:nvPr>
        </p:nvSpPr>
        <p:spPr>
          <a:xfrm>
            <a:off x="611560" y="1556792"/>
            <a:ext cx="7467600" cy="5301208"/>
          </a:xfrm>
        </p:spPr>
        <p:txBody>
          <a:bodyPr>
            <a:noAutofit/>
          </a:bodyPr>
          <a:lstStyle/>
          <a:p>
            <a:pPr marL="342900" indent="-342900">
              <a:spcBef>
                <a:spcPts val="600"/>
              </a:spcBef>
              <a:spcAft>
                <a:spcPts val="1200"/>
              </a:spcAft>
              <a:buNone/>
              <a:defRPr/>
            </a:pPr>
            <a:r>
              <a:rPr lang="en-AU" sz="2200" b="1" dirty="0" smtClean="0">
                <a:latin typeface="Helvetica" pitchFamily="34" charset="0"/>
              </a:rPr>
              <a:t>Cash registers:</a:t>
            </a:r>
          </a:p>
          <a:p>
            <a:pPr marL="342900" indent="-342900">
              <a:spcBef>
                <a:spcPts val="600"/>
              </a:spcBef>
              <a:spcAft>
                <a:spcPts val="1200"/>
              </a:spcAft>
              <a:defRPr/>
            </a:pPr>
            <a:r>
              <a:rPr lang="en-US" sz="2200" dirty="0" smtClean="0">
                <a:latin typeface="Helvetica" pitchFamily="34" charset="0"/>
              </a:rPr>
              <a:t>Used in most take away businesses</a:t>
            </a:r>
          </a:p>
          <a:p>
            <a:pPr marL="342900" indent="-342900">
              <a:spcBef>
                <a:spcPts val="600"/>
              </a:spcBef>
              <a:spcAft>
                <a:spcPts val="1200"/>
              </a:spcAft>
              <a:defRPr/>
            </a:pPr>
            <a:r>
              <a:rPr lang="en-US" sz="2200" dirty="0" smtClean="0">
                <a:latin typeface="Helvetica" pitchFamily="34" charset="0"/>
              </a:rPr>
              <a:t>Payment required before food and beverage provided</a:t>
            </a:r>
          </a:p>
          <a:p>
            <a:pPr marL="342900" indent="-342900">
              <a:spcBef>
                <a:spcPts val="600"/>
              </a:spcBef>
              <a:spcAft>
                <a:spcPts val="1200"/>
              </a:spcAft>
              <a:buNone/>
              <a:defRPr/>
            </a:pPr>
            <a:r>
              <a:rPr lang="en-US" sz="2200" b="1" dirty="0" smtClean="0">
                <a:latin typeface="Helvetica" pitchFamily="34" charset="0"/>
              </a:rPr>
              <a:t>Ensure:</a:t>
            </a:r>
          </a:p>
          <a:p>
            <a:pPr marL="342900" indent="-342900">
              <a:spcBef>
                <a:spcPts val="600"/>
              </a:spcBef>
              <a:spcAft>
                <a:spcPts val="1200"/>
              </a:spcAft>
              <a:defRPr/>
            </a:pPr>
            <a:r>
              <a:rPr lang="en-US" sz="2200" dirty="0" smtClean="0">
                <a:latin typeface="Helvetica" pitchFamily="34" charset="0"/>
              </a:rPr>
              <a:t>Customers can see register display</a:t>
            </a:r>
          </a:p>
          <a:p>
            <a:pPr marL="342900" indent="-342900">
              <a:spcBef>
                <a:spcPts val="600"/>
              </a:spcBef>
              <a:spcAft>
                <a:spcPts val="1200"/>
              </a:spcAft>
              <a:defRPr/>
            </a:pPr>
            <a:r>
              <a:rPr lang="en-US" sz="2200" dirty="0" smtClean="0">
                <a:latin typeface="Helvetica" pitchFamily="34" charset="0"/>
              </a:rPr>
              <a:t>Issue receipts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184</a:t>
            </a:fld>
            <a:endParaRPr lang="en-US" dirty="0">
              <a:latin typeface="Helvetica" pitchFamily="34" charset="0"/>
            </a:endParaRPr>
          </a:p>
        </p:txBody>
      </p:sp>
      <p:pic>
        <p:nvPicPr>
          <p:cNvPr id="8" name="Picture 7" descr="IMG_2045.jpg"/>
          <p:cNvPicPr/>
          <p:nvPr/>
        </p:nvPicPr>
        <p:blipFill>
          <a:blip r:embed="rId3" cstate="print"/>
          <a:stretch>
            <a:fillRect/>
          </a:stretch>
        </p:blipFill>
        <p:spPr>
          <a:xfrm>
            <a:off x="6156176" y="3717032"/>
            <a:ext cx="2215505" cy="1628006"/>
          </a:xfrm>
          <a:prstGeom prst="rect">
            <a:avLst/>
          </a:prstGeom>
        </p:spPr>
      </p:pic>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200" b="1" dirty="0" smtClean="0">
                <a:solidFill>
                  <a:srgbClr val="FF6600"/>
                </a:solidFill>
                <a:latin typeface="Helvetica" pitchFamily="34" charset="0"/>
              </a:rPr>
              <a:t>Establish, update and finalize customer accounts</a:t>
            </a:r>
          </a:p>
        </p:txBody>
      </p:sp>
      <p:sp>
        <p:nvSpPr>
          <p:cNvPr id="3" name="Content Placeholder 2"/>
          <p:cNvSpPr>
            <a:spLocks noGrp="1"/>
          </p:cNvSpPr>
          <p:nvPr>
            <p:ph idx="1"/>
          </p:nvPr>
        </p:nvSpPr>
        <p:spPr>
          <a:xfrm>
            <a:off x="611560" y="1556792"/>
            <a:ext cx="7467600" cy="5301208"/>
          </a:xfrm>
        </p:spPr>
        <p:txBody>
          <a:bodyPr>
            <a:noAutofit/>
          </a:bodyPr>
          <a:lstStyle/>
          <a:p>
            <a:pPr marL="342900" indent="-342900">
              <a:spcBef>
                <a:spcPts val="600"/>
              </a:spcBef>
              <a:spcAft>
                <a:spcPts val="1200"/>
              </a:spcAft>
              <a:buNone/>
              <a:defRPr/>
            </a:pPr>
            <a:r>
              <a:rPr lang="en-AU" sz="2200" b="1" dirty="0" smtClean="0">
                <a:latin typeface="Helvetica" pitchFamily="34" charset="0"/>
              </a:rPr>
              <a:t>Account folders:</a:t>
            </a:r>
          </a:p>
          <a:p>
            <a:pPr marL="342900" indent="-342900">
              <a:spcBef>
                <a:spcPts val="600"/>
              </a:spcBef>
              <a:spcAft>
                <a:spcPts val="1200"/>
              </a:spcAft>
              <a:defRPr/>
            </a:pPr>
            <a:r>
              <a:rPr lang="en-US" sz="2200" dirty="0" smtClean="0">
                <a:latin typeface="Helvetica" pitchFamily="34" charset="0"/>
              </a:rPr>
              <a:t>Used in a la care restaurants</a:t>
            </a:r>
          </a:p>
          <a:p>
            <a:pPr marL="342900" indent="-342900">
              <a:spcBef>
                <a:spcPts val="600"/>
              </a:spcBef>
              <a:spcAft>
                <a:spcPts val="1200"/>
              </a:spcAft>
              <a:defRPr/>
            </a:pPr>
            <a:r>
              <a:rPr lang="en-US" sz="2200" dirty="0" smtClean="0">
                <a:latin typeface="Helvetica" pitchFamily="34" charset="0"/>
              </a:rPr>
              <a:t>Presented to customers at the table</a:t>
            </a:r>
          </a:p>
          <a:p>
            <a:pPr marL="342900" indent="-342900">
              <a:spcBef>
                <a:spcPts val="600"/>
              </a:spcBef>
              <a:spcAft>
                <a:spcPts val="1200"/>
              </a:spcAft>
              <a:buNone/>
              <a:defRPr/>
            </a:pPr>
            <a:r>
              <a:rPr lang="en-US" sz="2200" b="1" dirty="0" smtClean="0">
                <a:latin typeface="Helvetica" pitchFamily="34" charset="0"/>
              </a:rPr>
              <a:t>Ensure:</a:t>
            </a:r>
          </a:p>
          <a:p>
            <a:pPr marL="342900" indent="-342900">
              <a:spcBef>
                <a:spcPts val="600"/>
              </a:spcBef>
              <a:spcAft>
                <a:spcPts val="1200"/>
              </a:spcAft>
              <a:defRPr/>
            </a:pPr>
            <a:r>
              <a:rPr lang="en-US" sz="2200" dirty="0" smtClean="0">
                <a:latin typeface="Helvetica" pitchFamily="34" charset="0"/>
              </a:rPr>
              <a:t>Pen is provided</a:t>
            </a:r>
          </a:p>
          <a:p>
            <a:pPr marL="342900" indent="-342900">
              <a:spcBef>
                <a:spcPts val="600"/>
              </a:spcBef>
              <a:spcAft>
                <a:spcPts val="1200"/>
              </a:spcAft>
              <a:defRPr/>
            </a:pPr>
            <a:r>
              <a:rPr lang="en-US" sz="2200" dirty="0" smtClean="0">
                <a:latin typeface="Helvetica" pitchFamily="34" charset="0"/>
              </a:rPr>
              <a:t>Issued and collected in a prompt manner</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185</a:t>
            </a:fld>
            <a:endParaRPr lang="en-US" dirty="0">
              <a:latin typeface="Helvetica" pitchFamily="34" charset="0"/>
            </a:endParaRPr>
          </a:p>
        </p:txBody>
      </p:sp>
      <p:pic>
        <p:nvPicPr>
          <p:cNvPr id="6" name="Picture 5" descr="IMG_1982.jpg"/>
          <p:cNvPicPr/>
          <p:nvPr/>
        </p:nvPicPr>
        <p:blipFill>
          <a:blip r:embed="rId3" cstate="print"/>
          <a:stretch>
            <a:fillRect/>
          </a:stretch>
        </p:blipFill>
        <p:spPr>
          <a:xfrm>
            <a:off x="6300192" y="3717032"/>
            <a:ext cx="2065015" cy="1501899"/>
          </a:xfrm>
          <a:prstGeom prst="rect">
            <a:avLst/>
          </a:prstGeom>
        </p:spPr>
      </p:pic>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Settling accounts</a:t>
            </a:r>
          </a:p>
        </p:txBody>
      </p:sp>
      <p:sp>
        <p:nvSpPr>
          <p:cNvPr id="3" name="Content Placeholder 2"/>
          <p:cNvSpPr>
            <a:spLocks noGrp="1"/>
          </p:cNvSpPr>
          <p:nvPr>
            <p:ph idx="1"/>
          </p:nvPr>
        </p:nvSpPr>
        <p:spPr>
          <a:xfrm>
            <a:off x="611560" y="1124744"/>
            <a:ext cx="7467600" cy="5733256"/>
          </a:xfrm>
        </p:spPr>
        <p:txBody>
          <a:bodyPr>
            <a:noAutofit/>
          </a:bodyPr>
          <a:lstStyle/>
          <a:p>
            <a:pPr>
              <a:spcBef>
                <a:spcPts val="600"/>
              </a:spcBef>
              <a:spcAft>
                <a:spcPts val="1200"/>
              </a:spcAft>
              <a:buNone/>
              <a:defRPr/>
            </a:pPr>
            <a:r>
              <a:rPr lang="en-US" sz="2200" b="1" dirty="0" smtClean="0">
                <a:latin typeface="Helvetica" pitchFamily="34" charset="0"/>
              </a:rPr>
              <a:t>Account settling options:</a:t>
            </a:r>
          </a:p>
          <a:p>
            <a:pPr>
              <a:spcBef>
                <a:spcPts val="600"/>
              </a:spcBef>
              <a:spcAft>
                <a:spcPts val="1200"/>
              </a:spcAft>
              <a:defRPr/>
            </a:pPr>
            <a:r>
              <a:rPr lang="en-US" sz="2200" dirty="0" smtClean="0">
                <a:latin typeface="Helvetica" pitchFamily="34" charset="0"/>
              </a:rPr>
              <a:t>Paying cash</a:t>
            </a:r>
          </a:p>
          <a:p>
            <a:pPr>
              <a:spcBef>
                <a:spcPts val="600"/>
              </a:spcBef>
              <a:spcAft>
                <a:spcPts val="1200"/>
              </a:spcAft>
              <a:defRPr/>
            </a:pPr>
            <a:r>
              <a:rPr lang="en-US" sz="2200" dirty="0" smtClean="0">
                <a:latin typeface="Helvetica" pitchFamily="34" charset="0"/>
              </a:rPr>
              <a:t>Paying via credit card/EFTPOS</a:t>
            </a:r>
          </a:p>
          <a:p>
            <a:pPr>
              <a:spcBef>
                <a:spcPts val="600"/>
              </a:spcBef>
              <a:spcAft>
                <a:spcPts val="1200"/>
              </a:spcAft>
              <a:defRPr/>
            </a:pPr>
            <a:r>
              <a:rPr lang="en-US" sz="2200" dirty="0" smtClean="0">
                <a:latin typeface="Helvetica" pitchFamily="34" charset="0"/>
              </a:rPr>
              <a:t>Charge a house/VIP account</a:t>
            </a:r>
          </a:p>
          <a:p>
            <a:pPr>
              <a:spcBef>
                <a:spcPts val="600"/>
              </a:spcBef>
              <a:spcAft>
                <a:spcPts val="1200"/>
              </a:spcAft>
              <a:defRPr/>
            </a:pPr>
            <a:r>
              <a:rPr lang="en-US" sz="2200" dirty="0" smtClean="0">
                <a:latin typeface="Helvetica" pitchFamily="34" charset="0"/>
              </a:rPr>
              <a:t>Presenting voucher</a:t>
            </a:r>
          </a:p>
          <a:p>
            <a:pPr>
              <a:spcBef>
                <a:spcPts val="600"/>
              </a:spcBef>
              <a:spcAft>
                <a:spcPts val="1200"/>
              </a:spcAft>
              <a:defRPr/>
            </a:pPr>
            <a:r>
              <a:rPr lang="en-US" sz="2200" dirty="0" smtClean="0">
                <a:latin typeface="Helvetica" pitchFamily="34" charset="0"/>
              </a:rPr>
              <a:t>Other payment methods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186</a:t>
            </a:fld>
            <a:endParaRPr lang="en-US" dirty="0">
              <a:latin typeface="Helvetica" pitchFamily="34" charset="0"/>
            </a:endParaRPr>
          </a:p>
        </p:txBody>
      </p:sp>
      <p:grpSp>
        <p:nvGrpSpPr>
          <p:cNvPr id="7" name="Group 8"/>
          <p:cNvGrpSpPr>
            <a:grpSpLocks/>
          </p:cNvGrpSpPr>
          <p:nvPr/>
        </p:nvGrpSpPr>
        <p:grpSpPr bwMode="auto">
          <a:xfrm>
            <a:off x="4283968" y="2348880"/>
            <a:ext cx="3960812" cy="3132137"/>
            <a:chOff x="2971" y="1389"/>
            <a:chExt cx="2495" cy="1973"/>
          </a:xfrm>
        </p:grpSpPr>
        <p:pic>
          <p:nvPicPr>
            <p:cNvPr id="8" name="Picture 5" descr="Travelers cheques"/>
            <p:cNvPicPr>
              <a:picLocks noChangeAspect="1" noChangeArrowheads="1"/>
            </p:cNvPicPr>
            <p:nvPr/>
          </p:nvPicPr>
          <p:blipFill>
            <a:blip r:embed="rId3" cstate="print"/>
            <a:srcRect/>
            <a:stretch>
              <a:fillRect/>
            </a:stretch>
          </p:blipFill>
          <p:spPr bwMode="auto">
            <a:xfrm>
              <a:off x="2971" y="2704"/>
              <a:ext cx="1543" cy="658"/>
            </a:xfrm>
            <a:prstGeom prst="rect">
              <a:avLst/>
            </a:prstGeom>
            <a:noFill/>
            <a:ln w="38100">
              <a:solidFill>
                <a:schemeClr val="bg2"/>
              </a:solidFill>
              <a:miter lim="800000"/>
              <a:headEnd/>
              <a:tailEnd/>
            </a:ln>
          </p:spPr>
        </p:pic>
        <p:pic>
          <p:nvPicPr>
            <p:cNvPr id="9" name="Picture 6" descr="EFTpos"/>
            <p:cNvPicPr>
              <a:picLocks noChangeAspect="1" noChangeArrowheads="1"/>
            </p:cNvPicPr>
            <p:nvPr/>
          </p:nvPicPr>
          <p:blipFill>
            <a:blip r:embed="rId4" cstate="print"/>
            <a:srcRect/>
            <a:stretch>
              <a:fillRect/>
            </a:stretch>
          </p:blipFill>
          <p:spPr bwMode="auto">
            <a:xfrm>
              <a:off x="3833" y="2069"/>
              <a:ext cx="998" cy="665"/>
            </a:xfrm>
            <a:prstGeom prst="rect">
              <a:avLst/>
            </a:prstGeom>
            <a:noFill/>
            <a:ln w="38100">
              <a:solidFill>
                <a:schemeClr val="bg2"/>
              </a:solidFill>
              <a:miter lim="800000"/>
              <a:headEnd/>
              <a:tailEnd/>
            </a:ln>
          </p:spPr>
        </p:pic>
        <p:pic>
          <p:nvPicPr>
            <p:cNvPr id="10" name="Picture 7" descr="Gift voucher"/>
            <p:cNvPicPr>
              <a:picLocks noChangeAspect="1" noChangeArrowheads="1"/>
            </p:cNvPicPr>
            <p:nvPr/>
          </p:nvPicPr>
          <p:blipFill>
            <a:blip r:embed="rId5" cstate="print"/>
            <a:srcRect/>
            <a:stretch>
              <a:fillRect/>
            </a:stretch>
          </p:blipFill>
          <p:spPr bwMode="auto">
            <a:xfrm>
              <a:off x="4241" y="1389"/>
              <a:ext cx="1225" cy="692"/>
            </a:xfrm>
            <a:prstGeom prst="rect">
              <a:avLst/>
            </a:prstGeom>
            <a:noFill/>
            <a:ln w="38100">
              <a:solidFill>
                <a:schemeClr val="bg2"/>
              </a:solidFill>
              <a:miter lim="800000"/>
              <a:headEnd/>
              <a:tailEnd/>
            </a:ln>
          </p:spPr>
        </p:pic>
      </p:grpSp>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Settling accounts</a:t>
            </a:r>
          </a:p>
        </p:txBody>
      </p:sp>
      <p:sp>
        <p:nvSpPr>
          <p:cNvPr id="3" name="Content Placeholder 2"/>
          <p:cNvSpPr>
            <a:spLocks noGrp="1"/>
          </p:cNvSpPr>
          <p:nvPr>
            <p:ph idx="1"/>
          </p:nvPr>
        </p:nvSpPr>
        <p:spPr>
          <a:xfrm>
            <a:off x="611560" y="1196752"/>
            <a:ext cx="7467600" cy="5661248"/>
          </a:xfrm>
        </p:spPr>
        <p:txBody>
          <a:bodyPr>
            <a:noAutofit/>
          </a:bodyPr>
          <a:lstStyle/>
          <a:p>
            <a:pPr>
              <a:spcBef>
                <a:spcPts val="600"/>
              </a:spcBef>
              <a:spcAft>
                <a:spcPts val="1200"/>
              </a:spcAft>
              <a:buNone/>
              <a:defRPr/>
            </a:pPr>
            <a:r>
              <a:rPr lang="en-US" sz="2200" b="1" dirty="0" smtClean="0">
                <a:latin typeface="Helvetica" pitchFamily="34" charset="0"/>
              </a:rPr>
              <a:t>When customers pay cash:</a:t>
            </a:r>
          </a:p>
          <a:p>
            <a:pPr>
              <a:spcBef>
                <a:spcPts val="600"/>
              </a:spcBef>
              <a:spcAft>
                <a:spcPts val="1200"/>
              </a:spcAft>
              <a:defRPr/>
            </a:pPr>
            <a:r>
              <a:rPr lang="en-US" sz="2200" dirty="0" smtClean="0">
                <a:latin typeface="Helvetica" pitchFamily="34" charset="0"/>
              </a:rPr>
              <a:t>Verify the amount tendered will cover the total of the account</a:t>
            </a:r>
          </a:p>
          <a:p>
            <a:pPr>
              <a:spcBef>
                <a:spcPts val="600"/>
              </a:spcBef>
              <a:spcAft>
                <a:spcPts val="1200"/>
              </a:spcAft>
              <a:defRPr/>
            </a:pPr>
            <a:r>
              <a:rPr lang="en-US" sz="2200" dirty="0" smtClean="0">
                <a:latin typeface="Helvetica" pitchFamily="34" charset="0"/>
              </a:rPr>
              <a:t>Thank customer</a:t>
            </a:r>
          </a:p>
          <a:p>
            <a:pPr>
              <a:spcBef>
                <a:spcPts val="600"/>
              </a:spcBef>
              <a:spcAft>
                <a:spcPts val="1200"/>
              </a:spcAft>
              <a:defRPr/>
            </a:pPr>
            <a:r>
              <a:rPr lang="en-US" sz="2200" dirty="0" smtClean="0">
                <a:latin typeface="Helvetica" pitchFamily="34" charset="0"/>
              </a:rPr>
              <a:t>Place cash on register shelf</a:t>
            </a:r>
          </a:p>
          <a:p>
            <a:pPr>
              <a:spcBef>
                <a:spcPts val="600"/>
              </a:spcBef>
              <a:spcAft>
                <a:spcPts val="1200"/>
              </a:spcAft>
              <a:defRPr/>
            </a:pPr>
            <a:r>
              <a:rPr lang="en-US" sz="2200" dirty="0" smtClean="0">
                <a:latin typeface="Helvetica" pitchFamily="34" charset="0"/>
              </a:rPr>
              <a:t>Register the sale</a:t>
            </a:r>
          </a:p>
          <a:p>
            <a:pPr>
              <a:spcBef>
                <a:spcPts val="600"/>
              </a:spcBef>
              <a:spcAft>
                <a:spcPts val="1200"/>
              </a:spcAft>
              <a:defRPr/>
            </a:pPr>
            <a:r>
              <a:rPr lang="en-US" sz="2200" dirty="0" smtClean="0">
                <a:latin typeface="Helvetica" pitchFamily="34" charset="0"/>
              </a:rPr>
              <a:t>Calculate and give change to customer</a:t>
            </a:r>
          </a:p>
          <a:p>
            <a:pPr>
              <a:spcBef>
                <a:spcPts val="600"/>
              </a:spcBef>
              <a:spcAft>
                <a:spcPts val="1200"/>
              </a:spcAft>
              <a:defRPr/>
            </a:pPr>
            <a:r>
              <a:rPr lang="en-US" sz="2200" dirty="0" smtClean="0">
                <a:latin typeface="Helvetica" pitchFamily="34" charset="0"/>
              </a:rPr>
              <a:t>Give receipt to customer</a:t>
            </a:r>
          </a:p>
          <a:p>
            <a:pPr>
              <a:spcBef>
                <a:spcPts val="600"/>
              </a:spcBef>
              <a:spcAft>
                <a:spcPts val="1200"/>
              </a:spcAft>
              <a:defRPr/>
            </a:pPr>
            <a:r>
              <a:rPr lang="en-US" sz="2200" dirty="0" smtClean="0">
                <a:latin typeface="Helvetica" pitchFamily="34" charset="0"/>
              </a:rPr>
              <a:t>Secure all money into </a:t>
            </a:r>
            <a:r>
              <a:rPr lang="en-US" sz="2200" smtClean="0">
                <a:latin typeface="Helvetica" pitchFamily="34" charset="0"/>
              </a:rPr>
              <a:t>register drawer</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187</a:t>
            </a:fld>
            <a:endParaRPr lang="en-US" dirty="0">
              <a:latin typeface="Helvetica" pitchFamily="34" charset="0"/>
            </a:endParaRPr>
          </a:p>
        </p:txBody>
      </p:sp>
      <p:pic>
        <p:nvPicPr>
          <p:cNvPr id="11" name="Picture 7" descr="Cash"/>
          <p:cNvPicPr>
            <a:picLocks noChangeAspect="1" noChangeArrowheads="1"/>
          </p:cNvPicPr>
          <p:nvPr/>
        </p:nvPicPr>
        <p:blipFill>
          <a:blip r:embed="rId3" cstate="print"/>
          <a:srcRect/>
          <a:stretch>
            <a:fillRect/>
          </a:stretch>
        </p:blipFill>
        <p:spPr bwMode="auto">
          <a:xfrm>
            <a:off x="6300192" y="3861048"/>
            <a:ext cx="2113890" cy="1414246"/>
          </a:xfrm>
          <a:prstGeom prst="rect">
            <a:avLst/>
          </a:prstGeom>
          <a:noFill/>
        </p:spPr>
      </p:pic>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Settling accounts</a:t>
            </a:r>
          </a:p>
        </p:txBody>
      </p:sp>
      <p:sp>
        <p:nvSpPr>
          <p:cNvPr id="3" name="Content Placeholder 2"/>
          <p:cNvSpPr>
            <a:spLocks noGrp="1"/>
          </p:cNvSpPr>
          <p:nvPr>
            <p:ph idx="1"/>
          </p:nvPr>
        </p:nvSpPr>
        <p:spPr>
          <a:xfrm>
            <a:off x="611560" y="1196752"/>
            <a:ext cx="7467600" cy="5661248"/>
          </a:xfrm>
        </p:spPr>
        <p:txBody>
          <a:bodyPr>
            <a:noAutofit/>
          </a:bodyPr>
          <a:lstStyle/>
          <a:p>
            <a:pPr>
              <a:spcBef>
                <a:spcPts val="600"/>
              </a:spcBef>
              <a:spcAft>
                <a:spcPts val="1200"/>
              </a:spcAft>
              <a:buNone/>
              <a:defRPr/>
            </a:pPr>
            <a:r>
              <a:rPr lang="en-US" sz="2200" b="1" dirty="0" smtClean="0">
                <a:latin typeface="Helvetica" pitchFamily="34" charset="0"/>
              </a:rPr>
              <a:t>When customers pay via credit card or EFTPOS:</a:t>
            </a:r>
          </a:p>
          <a:p>
            <a:pPr>
              <a:spcBef>
                <a:spcPts val="600"/>
              </a:spcBef>
              <a:spcAft>
                <a:spcPts val="1200"/>
              </a:spcAft>
              <a:defRPr/>
            </a:pPr>
            <a:r>
              <a:rPr lang="en-US" sz="2200" dirty="0" smtClean="0">
                <a:latin typeface="Helvetica" pitchFamily="34" charset="0"/>
              </a:rPr>
              <a:t>Customer presents card</a:t>
            </a:r>
          </a:p>
          <a:p>
            <a:pPr>
              <a:spcBef>
                <a:spcPts val="600"/>
              </a:spcBef>
              <a:spcAft>
                <a:spcPts val="1200"/>
              </a:spcAft>
              <a:defRPr/>
            </a:pPr>
            <a:r>
              <a:rPr lang="en-US" sz="2200" dirty="0" smtClean="0">
                <a:latin typeface="Helvetica" pitchFamily="34" charset="0"/>
              </a:rPr>
              <a:t>Attendant processed card and amount into machine</a:t>
            </a:r>
          </a:p>
          <a:p>
            <a:pPr>
              <a:spcBef>
                <a:spcPts val="600"/>
              </a:spcBef>
              <a:spcAft>
                <a:spcPts val="1200"/>
              </a:spcAft>
              <a:defRPr/>
            </a:pPr>
            <a:r>
              <a:rPr lang="en-US" sz="2200" dirty="0" smtClean="0">
                <a:latin typeface="Helvetica" pitchFamily="34" charset="0"/>
              </a:rPr>
              <a:t>Customer enters password and gratuity</a:t>
            </a:r>
          </a:p>
          <a:p>
            <a:pPr>
              <a:spcBef>
                <a:spcPts val="600"/>
              </a:spcBef>
              <a:spcAft>
                <a:spcPts val="1200"/>
              </a:spcAft>
              <a:defRPr/>
            </a:pPr>
            <a:r>
              <a:rPr lang="en-US" sz="2200" dirty="0" smtClean="0">
                <a:latin typeface="Helvetica" pitchFamily="34" charset="0"/>
              </a:rPr>
              <a:t>Attendant obtains customer signature</a:t>
            </a:r>
          </a:p>
          <a:p>
            <a:pPr>
              <a:spcBef>
                <a:spcPts val="600"/>
              </a:spcBef>
              <a:spcAft>
                <a:spcPts val="1200"/>
              </a:spcAft>
              <a:defRPr/>
            </a:pPr>
            <a:r>
              <a:rPr lang="en-US" sz="2200" dirty="0" smtClean="0">
                <a:latin typeface="Helvetica" pitchFamily="34" charset="0"/>
              </a:rPr>
              <a:t>Attendant keeps signed copy and issues copy and receipt to customer</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188</a:t>
            </a:fld>
            <a:endParaRPr lang="en-US" dirty="0">
              <a:latin typeface="Helvetica" pitchFamily="34" charset="0"/>
            </a:endParaRPr>
          </a:p>
        </p:txBody>
      </p:sp>
      <p:pic>
        <p:nvPicPr>
          <p:cNvPr id="6" name="Picture 5" descr="Eftpos2"/>
          <p:cNvPicPr/>
          <p:nvPr/>
        </p:nvPicPr>
        <p:blipFill>
          <a:blip r:embed="rId3" cstate="print"/>
          <a:srcRect/>
          <a:stretch>
            <a:fillRect/>
          </a:stretch>
        </p:blipFill>
        <p:spPr bwMode="auto">
          <a:xfrm>
            <a:off x="3131840" y="4869160"/>
            <a:ext cx="2310443" cy="837563"/>
          </a:xfrm>
          <a:prstGeom prst="rect">
            <a:avLst/>
          </a:prstGeom>
          <a:noFill/>
          <a:ln w="38100">
            <a:solidFill>
              <a:srgbClr val="808080"/>
            </a:solidFill>
            <a:miter lim="800000"/>
            <a:headEnd/>
            <a:tailEnd/>
          </a:ln>
        </p:spPr>
      </p:pic>
    </p:spTree>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Settling accounts</a:t>
            </a:r>
          </a:p>
        </p:txBody>
      </p:sp>
      <p:sp>
        <p:nvSpPr>
          <p:cNvPr id="3" name="Content Placeholder 2"/>
          <p:cNvSpPr>
            <a:spLocks noGrp="1"/>
          </p:cNvSpPr>
          <p:nvPr>
            <p:ph idx="1"/>
          </p:nvPr>
        </p:nvSpPr>
        <p:spPr>
          <a:xfrm>
            <a:off x="611560" y="1196752"/>
            <a:ext cx="7467600" cy="5661248"/>
          </a:xfrm>
        </p:spPr>
        <p:txBody>
          <a:bodyPr>
            <a:noAutofit/>
          </a:bodyPr>
          <a:lstStyle/>
          <a:p>
            <a:pPr>
              <a:spcBef>
                <a:spcPts val="600"/>
              </a:spcBef>
              <a:spcAft>
                <a:spcPts val="1200"/>
              </a:spcAft>
              <a:buNone/>
              <a:defRPr/>
            </a:pPr>
            <a:r>
              <a:rPr lang="en-US" sz="2200" b="1" dirty="0" smtClean="0">
                <a:latin typeface="Helvetica" pitchFamily="34" charset="0"/>
              </a:rPr>
              <a:t>When customers charge to room/account</a:t>
            </a:r>
          </a:p>
          <a:p>
            <a:pPr marL="0">
              <a:spcBef>
                <a:spcPts val="600"/>
              </a:spcBef>
              <a:spcAft>
                <a:spcPts val="1200"/>
              </a:spcAft>
              <a:buNone/>
              <a:defRPr/>
            </a:pPr>
            <a:r>
              <a:rPr lang="en-US" sz="2200" dirty="0" smtClean="0">
                <a:latin typeface="Helvetica" pitchFamily="34" charset="0"/>
              </a:rPr>
              <a:t>This allows customers to sign to an account. These accounts will be settled at a later date.</a:t>
            </a:r>
          </a:p>
          <a:p>
            <a:pPr marL="0">
              <a:spcBef>
                <a:spcPts val="600"/>
              </a:spcBef>
              <a:spcAft>
                <a:spcPts val="1200"/>
              </a:spcAft>
              <a:buNone/>
              <a:defRPr/>
            </a:pPr>
            <a:r>
              <a:rPr lang="en-US" sz="2200" dirty="0" smtClean="0">
                <a:latin typeface="Helvetica" pitchFamily="34" charset="0"/>
              </a:rPr>
              <a:t>These accounts are normally used for:</a:t>
            </a:r>
          </a:p>
          <a:p>
            <a:pPr>
              <a:spcBef>
                <a:spcPts val="600"/>
              </a:spcBef>
              <a:spcAft>
                <a:spcPts val="1200"/>
              </a:spcAft>
              <a:defRPr/>
            </a:pPr>
            <a:r>
              <a:rPr lang="en-US" sz="2200" dirty="0" smtClean="0">
                <a:latin typeface="Helvetica" pitchFamily="34" charset="0"/>
              </a:rPr>
              <a:t>In-house guests</a:t>
            </a:r>
          </a:p>
          <a:p>
            <a:pPr>
              <a:spcBef>
                <a:spcPts val="600"/>
              </a:spcBef>
              <a:spcAft>
                <a:spcPts val="1200"/>
              </a:spcAft>
              <a:defRPr/>
            </a:pPr>
            <a:r>
              <a:rPr lang="en-US" sz="2200" dirty="0" smtClean="0">
                <a:latin typeface="Helvetica" pitchFamily="34" charset="0"/>
              </a:rPr>
              <a:t>VIP customers</a:t>
            </a:r>
          </a:p>
          <a:p>
            <a:pPr>
              <a:spcBef>
                <a:spcPts val="600"/>
              </a:spcBef>
              <a:spcAft>
                <a:spcPts val="1200"/>
              </a:spcAft>
              <a:defRPr/>
            </a:pPr>
            <a:r>
              <a:rPr lang="en-US" sz="2200" dirty="0" smtClean="0">
                <a:latin typeface="Helvetica" pitchFamily="34" charset="0"/>
              </a:rPr>
              <a:t>Functions</a:t>
            </a:r>
          </a:p>
          <a:p>
            <a:pPr>
              <a:spcBef>
                <a:spcPts val="600"/>
              </a:spcBef>
              <a:spcAft>
                <a:spcPts val="1200"/>
              </a:spcAft>
              <a:defRPr/>
            </a:pPr>
            <a:r>
              <a:rPr lang="en-US" sz="2200" dirty="0" smtClean="0">
                <a:latin typeface="Helvetica" pitchFamily="34" charset="0"/>
              </a:rPr>
              <a:t>Corporate events</a:t>
            </a:r>
          </a:p>
          <a:p>
            <a:pPr>
              <a:spcBef>
                <a:spcPts val="600"/>
              </a:spcBef>
              <a:spcAft>
                <a:spcPts val="1200"/>
              </a:spcAft>
              <a:defRPr/>
            </a:pPr>
            <a:r>
              <a:rPr lang="en-US" sz="2200" dirty="0" smtClean="0">
                <a:latin typeface="Helvetica" pitchFamily="34" charset="0"/>
              </a:rPr>
              <a:t>Management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189</a:t>
            </a:fld>
            <a:endParaRPr lang="en-US" dirty="0">
              <a:latin typeface="Helvetica" pitchFamily="34" charset="0"/>
            </a:endParaRPr>
          </a:p>
        </p:txBody>
      </p:sp>
      <p:pic>
        <p:nvPicPr>
          <p:cNvPr id="7" name="Picture 6" descr="writing"/>
          <p:cNvPicPr>
            <a:picLocks noChangeAspect="1" noChangeArrowheads="1"/>
          </p:cNvPicPr>
          <p:nvPr/>
        </p:nvPicPr>
        <p:blipFill>
          <a:blip r:embed="rId3" cstate="print"/>
          <a:srcRect/>
          <a:stretch>
            <a:fillRect/>
          </a:stretch>
        </p:blipFill>
        <p:spPr bwMode="auto">
          <a:xfrm>
            <a:off x="6444208" y="2924944"/>
            <a:ext cx="1917700" cy="2447925"/>
          </a:xfrm>
          <a:prstGeom prst="rect">
            <a:avLst/>
          </a:prstGeom>
          <a:noFill/>
          <a:ln w="38100">
            <a:noFill/>
            <a:miter lim="800000"/>
            <a:headEnd/>
            <a:tailEnd/>
          </a:ln>
        </p:spPr>
      </p:pic>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Settling accounts</a:t>
            </a:r>
          </a:p>
        </p:txBody>
      </p:sp>
      <p:sp>
        <p:nvSpPr>
          <p:cNvPr id="3" name="Content Placeholder 2"/>
          <p:cNvSpPr>
            <a:spLocks noGrp="1"/>
          </p:cNvSpPr>
          <p:nvPr>
            <p:ph idx="1"/>
          </p:nvPr>
        </p:nvSpPr>
        <p:spPr>
          <a:xfrm>
            <a:off x="611560" y="1124744"/>
            <a:ext cx="7467600" cy="5733256"/>
          </a:xfrm>
        </p:spPr>
        <p:txBody>
          <a:bodyPr>
            <a:noAutofit/>
          </a:bodyPr>
          <a:lstStyle/>
          <a:p>
            <a:pPr>
              <a:spcBef>
                <a:spcPts val="600"/>
              </a:spcBef>
              <a:spcAft>
                <a:spcPts val="1200"/>
              </a:spcAft>
              <a:buNone/>
              <a:defRPr/>
            </a:pPr>
            <a:r>
              <a:rPr lang="en-US" sz="2200" b="1" dirty="0" smtClean="0">
                <a:latin typeface="Helvetica" pitchFamily="34" charset="0"/>
              </a:rPr>
              <a:t>When customers pay by voucher</a:t>
            </a:r>
          </a:p>
          <a:p>
            <a:pPr marL="0">
              <a:spcBef>
                <a:spcPts val="600"/>
              </a:spcBef>
              <a:spcAft>
                <a:spcPts val="1200"/>
              </a:spcAft>
              <a:buNone/>
              <a:defRPr/>
            </a:pPr>
            <a:r>
              <a:rPr lang="en-US" sz="2200" dirty="0" smtClean="0">
                <a:latin typeface="Helvetica" pitchFamily="34" charset="0"/>
              </a:rPr>
              <a:t>Some properties accept vouchers in full or part-payment for food and beverage items and services purchased by the customer.</a:t>
            </a:r>
          </a:p>
          <a:p>
            <a:pPr>
              <a:spcBef>
                <a:spcPts val="600"/>
              </a:spcBef>
              <a:spcAft>
                <a:spcPts val="1200"/>
              </a:spcAft>
              <a:buNone/>
              <a:defRPr/>
            </a:pPr>
            <a:r>
              <a:rPr lang="en-US" sz="2200" dirty="0" smtClean="0">
                <a:latin typeface="Helvetica" pitchFamily="34" charset="0"/>
              </a:rPr>
              <a:t>Consider:</a:t>
            </a:r>
          </a:p>
          <a:p>
            <a:pPr>
              <a:spcBef>
                <a:spcPts val="600"/>
              </a:spcBef>
              <a:spcAft>
                <a:spcPts val="1200"/>
              </a:spcAft>
              <a:defRPr/>
            </a:pPr>
            <a:r>
              <a:rPr lang="en-US" sz="2200" dirty="0" smtClean="0">
                <a:latin typeface="Helvetica" pitchFamily="34" charset="0"/>
              </a:rPr>
              <a:t>Value of voucher</a:t>
            </a:r>
          </a:p>
          <a:p>
            <a:pPr>
              <a:spcBef>
                <a:spcPts val="600"/>
              </a:spcBef>
              <a:spcAft>
                <a:spcPts val="1200"/>
              </a:spcAft>
              <a:defRPr/>
            </a:pPr>
            <a:r>
              <a:rPr lang="en-US" sz="2200" dirty="0" smtClean="0">
                <a:latin typeface="Helvetica" pitchFamily="34" charset="0"/>
              </a:rPr>
              <a:t>Conditions of voucher</a:t>
            </a:r>
          </a:p>
          <a:p>
            <a:pPr>
              <a:spcBef>
                <a:spcPts val="600"/>
              </a:spcBef>
              <a:spcAft>
                <a:spcPts val="1200"/>
              </a:spcAft>
              <a:defRPr/>
            </a:pPr>
            <a:r>
              <a:rPr lang="en-US" sz="2200" dirty="0" smtClean="0">
                <a:latin typeface="Helvetica" pitchFamily="34" charset="0"/>
              </a:rPr>
              <a:t>Expiry date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190</a:t>
            </a:fld>
            <a:endParaRPr lang="en-US" dirty="0">
              <a:latin typeface="Helvetica" pitchFamily="34" charset="0"/>
            </a:endParaRPr>
          </a:p>
        </p:txBody>
      </p:sp>
      <p:pic>
        <p:nvPicPr>
          <p:cNvPr id="6" name="Picture 5" descr="Gift voucher2"/>
          <p:cNvPicPr/>
          <p:nvPr/>
        </p:nvPicPr>
        <p:blipFill>
          <a:blip r:embed="rId3" cstate="print"/>
          <a:srcRect/>
          <a:stretch>
            <a:fillRect/>
          </a:stretch>
        </p:blipFill>
        <p:spPr bwMode="auto">
          <a:xfrm>
            <a:off x="6444208" y="3140968"/>
            <a:ext cx="1695450" cy="1271905"/>
          </a:xfrm>
          <a:prstGeom prst="rect">
            <a:avLst/>
          </a:prstGeom>
          <a:noFill/>
          <a:ln w="38100">
            <a:noFill/>
            <a:miter lim="800000"/>
            <a:headEnd/>
            <a:tailEnd/>
          </a:ln>
        </p:spPr>
      </p:pic>
      <p:pic>
        <p:nvPicPr>
          <p:cNvPr id="7" name="Picture 6" descr="shutterstock_104475389.jpg"/>
          <p:cNvPicPr>
            <a:picLocks noChangeAspect="1"/>
          </p:cNvPicPr>
          <p:nvPr/>
        </p:nvPicPr>
        <p:blipFill>
          <a:blip r:embed="rId4" cstate="print"/>
          <a:stretch>
            <a:fillRect/>
          </a:stretch>
        </p:blipFill>
        <p:spPr>
          <a:xfrm>
            <a:off x="4211960" y="3356992"/>
            <a:ext cx="2185416" cy="2185416"/>
          </a:xfrm>
          <a:prstGeom prst="rect">
            <a:avLst/>
          </a:prstGeom>
        </p:spPr>
      </p:pic>
    </p:spTree>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Settling accounts</a:t>
            </a:r>
          </a:p>
        </p:txBody>
      </p:sp>
      <p:sp>
        <p:nvSpPr>
          <p:cNvPr id="3" name="Content Placeholder 2"/>
          <p:cNvSpPr>
            <a:spLocks noGrp="1"/>
          </p:cNvSpPr>
          <p:nvPr>
            <p:ph idx="1"/>
          </p:nvPr>
        </p:nvSpPr>
        <p:spPr>
          <a:xfrm>
            <a:off x="611560" y="1124744"/>
            <a:ext cx="7467600" cy="5733256"/>
          </a:xfrm>
        </p:spPr>
        <p:txBody>
          <a:bodyPr>
            <a:noAutofit/>
          </a:bodyPr>
          <a:lstStyle/>
          <a:p>
            <a:pPr>
              <a:spcBef>
                <a:spcPts val="600"/>
              </a:spcBef>
              <a:spcAft>
                <a:spcPts val="1200"/>
              </a:spcAft>
              <a:buNone/>
              <a:defRPr/>
            </a:pPr>
            <a:r>
              <a:rPr lang="en-US" sz="2200" b="1" dirty="0" smtClean="0">
                <a:latin typeface="Helvetica" pitchFamily="34" charset="0"/>
              </a:rPr>
              <a:t>Process gratuities</a:t>
            </a:r>
          </a:p>
          <a:p>
            <a:pPr marL="0">
              <a:spcBef>
                <a:spcPts val="600"/>
              </a:spcBef>
              <a:spcAft>
                <a:spcPts val="1200"/>
              </a:spcAft>
              <a:buNone/>
            </a:pPr>
            <a:r>
              <a:rPr lang="en-US" sz="2200" dirty="0" smtClean="0">
                <a:latin typeface="Helvetica" pitchFamily="34" charset="0"/>
              </a:rPr>
              <a:t>Customers may leave a tip for service staff in appreciation of good service.</a:t>
            </a:r>
          </a:p>
          <a:p>
            <a:pPr>
              <a:spcBef>
                <a:spcPts val="600"/>
              </a:spcBef>
              <a:spcAft>
                <a:spcPts val="1200"/>
              </a:spcAft>
              <a:buNone/>
            </a:pPr>
            <a:r>
              <a:rPr lang="en-US" sz="2200" dirty="0" smtClean="0">
                <a:latin typeface="Helvetica" pitchFamily="34" charset="0"/>
              </a:rPr>
              <a:t>Tips are also known as ‘gratuities’</a:t>
            </a:r>
          </a:p>
          <a:p>
            <a:pPr>
              <a:spcBef>
                <a:spcPts val="600"/>
              </a:spcBef>
              <a:spcAft>
                <a:spcPts val="1200"/>
              </a:spcAft>
              <a:buNone/>
              <a:defRPr/>
            </a:pPr>
            <a:r>
              <a:rPr lang="en-US" sz="2200" dirty="0" smtClean="0">
                <a:latin typeface="Helvetica" pitchFamily="34" charset="0"/>
              </a:rPr>
              <a:t>Tipping options:</a:t>
            </a:r>
          </a:p>
          <a:p>
            <a:pPr>
              <a:spcBef>
                <a:spcPts val="600"/>
              </a:spcBef>
              <a:spcAft>
                <a:spcPts val="1200"/>
              </a:spcAft>
              <a:defRPr/>
            </a:pPr>
            <a:r>
              <a:rPr lang="en-US" sz="2200" dirty="0" smtClean="0">
                <a:latin typeface="Helvetica" pitchFamily="34" charset="0"/>
              </a:rPr>
              <a:t>Individual staff keep all tips they receive </a:t>
            </a:r>
          </a:p>
          <a:p>
            <a:pPr>
              <a:spcBef>
                <a:spcPts val="600"/>
              </a:spcBef>
              <a:spcAft>
                <a:spcPts val="1200"/>
              </a:spcAft>
              <a:defRPr/>
            </a:pPr>
            <a:r>
              <a:rPr lang="en-US" sz="2200" dirty="0" smtClean="0">
                <a:latin typeface="Helvetica" pitchFamily="34" charset="0"/>
              </a:rPr>
              <a:t>All tips are pooled into a central pool of                             money and then shared amongst all staff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191</a:t>
            </a:fld>
            <a:endParaRPr lang="en-US" dirty="0">
              <a:latin typeface="Helvetica" pitchFamily="34" charset="0"/>
            </a:endParaRPr>
          </a:p>
        </p:txBody>
      </p:sp>
      <p:pic>
        <p:nvPicPr>
          <p:cNvPr id="8" name="Picture 7" descr="Coins"/>
          <p:cNvPicPr/>
          <p:nvPr/>
        </p:nvPicPr>
        <p:blipFill>
          <a:blip r:embed="rId3" cstate="print"/>
          <a:srcRect/>
          <a:stretch>
            <a:fillRect/>
          </a:stretch>
        </p:blipFill>
        <p:spPr bwMode="auto">
          <a:xfrm>
            <a:off x="6588224" y="3645024"/>
            <a:ext cx="2160240" cy="1318526"/>
          </a:xfrm>
          <a:prstGeom prst="rect">
            <a:avLst/>
          </a:prstGeom>
          <a:noFill/>
          <a:ln w="38100">
            <a:noFill/>
            <a:miter lim="800000"/>
            <a:headEnd/>
            <a:tailEnd/>
          </a:ln>
        </p:spPr>
      </p:pic>
    </p:spTree>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Settling accounts</a:t>
            </a:r>
          </a:p>
        </p:txBody>
      </p:sp>
      <p:sp>
        <p:nvSpPr>
          <p:cNvPr id="3" name="Content Placeholder 2"/>
          <p:cNvSpPr>
            <a:spLocks noGrp="1"/>
          </p:cNvSpPr>
          <p:nvPr>
            <p:ph idx="1"/>
          </p:nvPr>
        </p:nvSpPr>
        <p:spPr>
          <a:xfrm>
            <a:off x="611560" y="1124744"/>
            <a:ext cx="7467600" cy="5733256"/>
          </a:xfrm>
        </p:spPr>
        <p:txBody>
          <a:bodyPr>
            <a:noAutofit/>
          </a:bodyPr>
          <a:lstStyle/>
          <a:p>
            <a:pPr>
              <a:spcBef>
                <a:spcPts val="600"/>
              </a:spcBef>
              <a:spcAft>
                <a:spcPts val="1200"/>
              </a:spcAft>
              <a:buNone/>
              <a:defRPr/>
            </a:pPr>
            <a:r>
              <a:rPr lang="en-US" sz="2200" b="1" dirty="0" smtClean="0">
                <a:latin typeface="Helvetica" pitchFamily="34" charset="0"/>
              </a:rPr>
              <a:t>Issue change and receipts</a:t>
            </a:r>
          </a:p>
          <a:p>
            <a:pPr>
              <a:spcBef>
                <a:spcPts val="600"/>
              </a:spcBef>
              <a:spcAft>
                <a:spcPts val="1200"/>
              </a:spcAft>
              <a:buNone/>
            </a:pPr>
            <a:r>
              <a:rPr lang="en-AU" sz="2200" dirty="0" smtClean="0">
                <a:latin typeface="Helvetica" pitchFamily="34" charset="0"/>
              </a:rPr>
              <a:t>As an ethical staff member it is important to:</a:t>
            </a:r>
          </a:p>
          <a:p>
            <a:pPr>
              <a:spcBef>
                <a:spcPts val="600"/>
              </a:spcBef>
              <a:spcAft>
                <a:spcPts val="1200"/>
              </a:spcAft>
            </a:pPr>
            <a:r>
              <a:rPr lang="en-AU" sz="2200" dirty="0" smtClean="0">
                <a:latin typeface="Helvetica" pitchFamily="34" charset="0"/>
              </a:rPr>
              <a:t>To charge the correct amount for a sale</a:t>
            </a:r>
          </a:p>
          <a:p>
            <a:pPr>
              <a:spcBef>
                <a:spcPts val="600"/>
              </a:spcBef>
              <a:spcAft>
                <a:spcPts val="1200"/>
              </a:spcAft>
            </a:pPr>
            <a:r>
              <a:rPr lang="en-AU" sz="2200" dirty="0" smtClean="0">
                <a:latin typeface="Helvetica" pitchFamily="34" charset="0"/>
              </a:rPr>
              <a:t>To return change automatically. It is at the discretion of the customer if a gratuity is given</a:t>
            </a:r>
          </a:p>
          <a:p>
            <a:pPr>
              <a:spcBef>
                <a:spcPts val="600"/>
              </a:spcBef>
              <a:spcAft>
                <a:spcPts val="1200"/>
              </a:spcAft>
            </a:pPr>
            <a:r>
              <a:rPr lang="en-AU" sz="2200" dirty="0" smtClean="0">
                <a:latin typeface="Helvetica" pitchFamily="34" charset="0"/>
              </a:rPr>
              <a:t> Provide a receipt and explanation of charges</a:t>
            </a:r>
          </a:p>
          <a:p>
            <a:pPr>
              <a:spcBef>
                <a:spcPts val="600"/>
              </a:spcBef>
              <a:spcAft>
                <a:spcPts val="1200"/>
              </a:spcAft>
            </a:pPr>
            <a:r>
              <a:rPr lang="en-AU" sz="2200" dirty="0" smtClean="0">
                <a:latin typeface="Helvetica" pitchFamily="34" charset="0"/>
              </a:rPr>
              <a:t>Remind customers to collect their change</a:t>
            </a:r>
          </a:p>
          <a:p>
            <a:pPr>
              <a:spcBef>
                <a:spcPts val="600"/>
              </a:spcBef>
              <a:spcAft>
                <a:spcPts val="1200"/>
              </a:spcAft>
            </a:pPr>
            <a:r>
              <a:rPr lang="en-AU" sz="2200" dirty="0" smtClean="0">
                <a:latin typeface="Helvetica" pitchFamily="34" charset="0"/>
              </a:rPr>
              <a:t>Accurately record all transactions and                            store money securely</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192</a:t>
            </a:fld>
            <a:endParaRPr lang="en-US" dirty="0">
              <a:latin typeface="Helvetica" pitchFamily="34" charset="0"/>
            </a:endParaRPr>
          </a:p>
        </p:txBody>
      </p:sp>
      <p:pic>
        <p:nvPicPr>
          <p:cNvPr id="6" name="Picture 5" descr="http://ecowomen.files.wordpress.com/2010/02/5045cash_receipt.jpg"/>
          <p:cNvPicPr/>
          <p:nvPr/>
        </p:nvPicPr>
        <p:blipFill>
          <a:blip r:embed="rId3" cstate="print"/>
          <a:srcRect/>
          <a:stretch>
            <a:fillRect/>
          </a:stretch>
        </p:blipFill>
        <p:spPr bwMode="auto">
          <a:xfrm>
            <a:off x="6444208" y="4293096"/>
            <a:ext cx="1990799" cy="142056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Reconcile takings</a:t>
            </a:r>
          </a:p>
        </p:txBody>
      </p:sp>
      <p:sp>
        <p:nvSpPr>
          <p:cNvPr id="3" name="Content Placeholder 2"/>
          <p:cNvSpPr>
            <a:spLocks noGrp="1"/>
          </p:cNvSpPr>
          <p:nvPr>
            <p:ph idx="1"/>
          </p:nvPr>
        </p:nvSpPr>
        <p:spPr>
          <a:xfrm>
            <a:off x="611560" y="1124744"/>
            <a:ext cx="7467600" cy="5733256"/>
          </a:xfrm>
        </p:spPr>
        <p:txBody>
          <a:bodyPr>
            <a:noAutofit/>
          </a:bodyPr>
          <a:lstStyle/>
          <a:p>
            <a:pPr marL="0">
              <a:spcBef>
                <a:spcPts val="600"/>
              </a:spcBef>
              <a:spcAft>
                <a:spcPts val="1200"/>
              </a:spcAft>
              <a:buNone/>
            </a:pPr>
            <a:r>
              <a:rPr lang="en-AU" sz="2200" b="1" dirty="0" smtClean="0">
                <a:latin typeface="Helvetica" pitchFamily="34" charset="0"/>
              </a:rPr>
              <a:t>Closing financial transactions</a:t>
            </a:r>
          </a:p>
          <a:p>
            <a:pPr marL="0">
              <a:spcBef>
                <a:spcPts val="600"/>
              </a:spcBef>
              <a:spcAft>
                <a:spcPts val="1200"/>
              </a:spcAft>
              <a:buNone/>
            </a:pPr>
            <a:r>
              <a:rPr lang="en-AU" sz="2200" dirty="0" smtClean="0">
                <a:latin typeface="Helvetica" pitchFamily="34" charset="0"/>
              </a:rPr>
              <a:t>Now that the operational aspect of the shift has been completed and the outlet looks clean and the reports have been prepared, it is now the priority to close:</a:t>
            </a:r>
          </a:p>
          <a:p>
            <a:pPr>
              <a:spcBef>
                <a:spcPts val="600"/>
              </a:spcBef>
              <a:spcAft>
                <a:spcPts val="1200"/>
              </a:spcAft>
            </a:pPr>
            <a:r>
              <a:rPr lang="en-AU" sz="2200" dirty="0" smtClean="0">
                <a:latin typeface="Helvetica" pitchFamily="34" charset="0"/>
              </a:rPr>
              <a:t>Close off the financial transactions for the day</a:t>
            </a:r>
          </a:p>
          <a:p>
            <a:pPr>
              <a:spcBef>
                <a:spcPts val="600"/>
              </a:spcBef>
              <a:spcAft>
                <a:spcPts val="1200"/>
              </a:spcAft>
            </a:pPr>
            <a:r>
              <a:rPr lang="en-AU" sz="2200" dirty="0" smtClean="0">
                <a:latin typeface="Helvetica" pitchFamily="34" charset="0"/>
              </a:rPr>
              <a:t>Safely and securely transport all payments and corresponding paperwork to the appropriate location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193</a:t>
            </a:fld>
            <a:endParaRPr lang="en-US" dirty="0">
              <a:latin typeface="Helvetica" pitchFamily="34" charset="0"/>
            </a:endParaRPr>
          </a:p>
        </p:txBody>
      </p:sp>
      <p:pic>
        <p:nvPicPr>
          <p:cNvPr id="7" name="Picture 6" descr="IMG_2048.jpg"/>
          <p:cNvPicPr>
            <a:picLocks noChangeAspect="1"/>
          </p:cNvPicPr>
          <p:nvPr/>
        </p:nvPicPr>
        <p:blipFill>
          <a:blip r:embed="rId3" cstate="print"/>
          <a:stretch>
            <a:fillRect/>
          </a:stretch>
        </p:blipFill>
        <p:spPr>
          <a:xfrm>
            <a:off x="3203848" y="4437112"/>
            <a:ext cx="2016224" cy="1512168"/>
          </a:xfrm>
          <a:prstGeom prst="rect">
            <a:avLst/>
          </a:prstGeom>
        </p:spPr>
      </p:pic>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Reconcile takings</a:t>
            </a:r>
          </a:p>
        </p:txBody>
      </p:sp>
      <p:sp>
        <p:nvSpPr>
          <p:cNvPr id="3" name="Content Placeholder 2"/>
          <p:cNvSpPr>
            <a:spLocks noGrp="1"/>
          </p:cNvSpPr>
          <p:nvPr>
            <p:ph idx="1"/>
          </p:nvPr>
        </p:nvSpPr>
        <p:spPr>
          <a:xfrm>
            <a:off x="611560" y="1124744"/>
            <a:ext cx="7467600" cy="5733256"/>
          </a:xfrm>
        </p:spPr>
        <p:txBody>
          <a:bodyPr>
            <a:noAutofit/>
          </a:bodyPr>
          <a:lstStyle/>
          <a:p>
            <a:pPr marL="0">
              <a:spcBef>
                <a:spcPts val="600"/>
              </a:spcBef>
              <a:spcAft>
                <a:spcPts val="1200"/>
              </a:spcAft>
              <a:buNone/>
            </a:pPr>
            <a:r>
              <a:rPr lang="en-US" sz="2200" dirty="0" smtClean="0">
                <a:latin typeface="Helvetica" pitchFamily="34" charset="0"/>
              </a:rPr>
              <a:t>Reconciling takings is the process where staff are required to:</a:t>
            </a:r>
          </a:p>
          <a:p>
            <a:pPr>
              <a:spcBef>
                <a:spcPts val="600"/>
              </a:spcBef>
              <a:spcAft>
                <a:spcPts val="1200"/>
              </a:spcAft>
              <a:buNone/>
            </a:pPr>
            <a:r>
              <a:rPr lang="en-US" sz="2200" dirty="0" smtClean="0">
                <a:latin typeface="Helvetica" pitchFamily="34" charset="0"/>
              </a:rPr>
              <a:t>MATCH:</a:t>
            </a:r>
          </a:p>
          <a:p>
            <a:pPr marL="342900" indent="-342900">
              <a:spcBef>
                <a:spcPts val="600"/>
              </a:spcBef>
              <a:spcAft>
                <a:spcPts val="1200"/>
              </a:spcAft>
              <a:defRPr/>
            </a:pPr>
            <a:r>
              <a:rPr lang="en-US" sz="2200" u="sng" dirty="0" smtClean="0">
                <a:latin typeface="Helvetica" pitchFamily="34" charset="0"/>
              </a:rPr>
              <a:t>actual physical takings</a:t>
            </a:r>
            <a:r>
              <a:rPr lang="en-US" sz="2200" dirty="0" smtClean="0">
                <a:latin typeface="Helvetica" pitchFamily="34" charset="0"/>
              </a:rPr>
              <a:t> (both cash and non cash) received </a:t>
            </a:r>
          </a:p>
          <a:p>
            <a:pPr>
              <a:spcBef>
                <a:spcPts val="600"/>
              </a:spcBef>
              <a:spcAft>
                <a:spcPts val="1200"/>
              </a:spcAft>
              <a:buNone/>
            </a:pPr>
            <a:r>
              <a:rPr lang="en-US" sz="2200" dirty="0" smtClean="0">
                <a:latin typeface="Helvetica" pitchFamily="34" charset="0"/>
              </a:rPr>
              <a:t>AGAINST:</a:t>
            </a:r>
          </a:p>
          <a:p>
            <a:pPr marL="342900" indent="-342900">
              <a:spcBef>
                <a:spcPts val="600"/>
              </a:spcBef>
              <a:spcAft>
                <a:spcPts val="1200"/>
              </a:spcAft>
              <a:defRPr/>
            </a:pPr>
            <a:r>
              <a:rPr lang="en-US" sz="2200" u="sng" dirty="0" smtClean="0">
                <a:latin typeface="Helvetica" pitchFamily="34" charset="0"/>
              </a:rPr>
              <a:t>takings recorded</a:t>
            </a:r>
            <a:r>
              <a:rPr lang="en-US" sz="2200" dirty="0" smtClean="0">
                <a:latin typeface="Helvetica" pitchFamily="34" charset="0"/>
              </a:rPr>
              <a:t> in recording machines,                                   being computers or cash registers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194</a:t>
            </a:fld>
            <a:endParaRPr lang="en-US" dirty="0">
              <a:latin typeface="Helvetica" pitchFamily="34" charset="0"/>
            </a:endParaRPr>
          </a:p>
        </p:txBody>
      </p:sp>
      <p:pic>
        <p:nvPicPr>
          <p:cNvPr id="6" name="Picture 7" descr="Cash"/>
          <p:cNvPicPr>
            <a:picLocks noChangeAspect="1" noChangeArrowheads="1"/>
          </p:cNvPicPr>
          <p:nvPr/>
        </p:nvPicPr>
        <p:blipFill>
          <a:blip r:embed="rId3" cstate="print"/>
          <a:stretch>
            <a:fillRect/>
          </a:stretch>
        </p:blipFill>
        <p:spPr bwMode="auto">
          <a:xfrm>
            <a:off x="6444208" y="3933056"/>
            <a:ext cx="1959485" cy="1300175"/>
          </a:xfrm>
          <a:prstGeom prst="rect">
            <a:avLst/>
          </a:prstGeom>
          <a:noFill/>
        </p:spPr>
      </p:pic>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Reconcile takings</a:t>
            </a:r>
          </a:p>
        </p:txBody>
      </p:sp>
      <p:sp>
        <p:nvSpPr>
          <p:cNvPr id="3" name="Content Placeholder 2"/>
          <p:cNvSpPr>
            <a:spLocks noGrp="1"/>
          </p:cNvSpPr>
          <p:nvPr>
            <p:ph idx="1"/>
          </p:nvPr>
        </p:nvSpPr>
        <p:spPr>
          <a:xfrm>
            <a:off x="611560" y="1124744"/>
            <a:ext cx="7467600" cy="5733256"/>
          </a:xfrm>
        </p:spPr>
        <p:txBody>
          <a:bodyPr>
            <a:noAutofit/>
          </a:bodyPr>
          <a:lstStyle/>
          <a:p>
            <a:pPr>
              <a:spcBef>
                <a:spcPts val="600"/>
              </a:spcBef>
              <a:spcAft>
                <a:spcPts val="1200"/>
              </a:spcAft>
              <a:buNone/>
            </a:pPr>
            <a:r>
              <a:rPr lang="en-US" sz="2200" b="1" dirty="0" smtClean="0">
                <a:latin typeface="Helvetica" pitchFamily="34" charset="0"/>
              </a:rPr>
              <a:t>Security of takings</a:t>
            </a:r>
          </a:p>
          <a:p>
            <a:pPr marL="0">
              <a:spcBef>
                <a:spcPts val="600"/>
              </a:spcBef>
              <a:spcAft>
                <a:spcPts val="1200"/>
              </a:spcAft>
              <a:buNone/>
            </a:pPr>
            <a:r>
              <a:rPr lang="en-US" sz="2200" dirty="0" smtClean="0">
                <a:latin typeface="Helvetica" pitchFamily="34" charset="0"/>
              </a:rPr>
              <a:t>Before you start to commence the reconciliation process it is important to </a:t>
            </a:r>
            <a:r>
              <a:rPr lang="en-US" sz="2200" u="sng" dirty="0" smtClean="0">
                <a:latin typeface="Helvetica" pitchFamily="34" charset="0"/>
              </a:rPr>
              <a:t>secure the takings</a:t>
            </a:r>
            <a:r>
              <a:rPr lang="en-US" sz="2200" dirty="0" smtClean="0">
                <a:latin typeface="Helvetica" pitchFamily="34" charset="0"/>
              </a:rPr>
              <a:t>.</a:t>
            </a:r>
          </a:p>
          <a:p>
            <a:pPr marL="0">
              <a:spcBef>
                <a:spcPts val="600"/>
              </a:spcBef>
              <a:spcAft>
                <a:spcPts val="1200"/>
              </a:spcAft>
              <a:buNone/>
            </a:pPr>
            <a:r>
              <a:rPr lang="en-US" sz="2200" dirty="0" smtClean="0">
                <a:latin typeface="Helvetica" pitchFamily="34" charset="0"/>
              </a:rPr>
              <a:t>As you will be required to </a:t>
            </a:r>
            <a:r>
              <a:rPr lang="en-US" sz="2200" u="sng" dirty="0" smtClean="0">
                <a:latin typeface="Helvetica" pitchFamily="34" charset="0"/>
              </a:rPr>
              <a:t>handle cash, normally in large amounts</a:t>
            </a:r>
            <a:r>
              <a:rPr lang="en-US" sz="2200" dirty="0" smtClean="0">
                <a:latin typeface="Helvetica" pitchFamily="34" charset="0"/>
              </a:rPr>
              <a:t>, during this process, it is imperative it is </a:t>
            </a:r>
            <a:r>
              <a:rPr lang="en-US" sz="2200" u="sng" dirty="0" smtClean="0">
                <a:latin typeface="Helvetica" pitchFamily="34" charset="0"/>
              </a:rPr>
              <a:t>conducted in a secure area</a:t>
            </a:r>
            <a:r>
              <a:rPr lang="en-US" sz="2200" dirty="0" smtClean="0">
                <a:latin typeface="Helvetica" pitchFamily="34" charset="0"/>
              </a:rPr>
              <a:t>.</a:t>
            </a:r>
          </a:p>
          <a:p>
            <a:pPr>
              <a:spcBef>
                <a:spcPts val="600"/>
              </a:spcBef>
              <a:spcAft>
                <a:spcPts val="1200"/>
              </a:spcAft>
            </a:pPr>
            <a:r>
              <a:rPr lang="en-US" sz="2200" dirty="0" smtClean="0">
                <a:latin typeface="Helvetica" pitchFamily="34" charset="0"/>
              </a:rPr>
              <a:t>What are takings?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195</a:t>
            </a:fld>
            <a:endParaRPr lang="en-US" dirty="0">
              <a:latin typeface="Helvetica" pitchFamily="34" charset="0"/>
            </a:endParaRPr>
          </a:p>
        </p:txBody>
      </p:sp>
      <p:pic>
        <p:nvPicPr>
          <p:cNvPr id="7" name="Picture 6" descr="Foreign currency"/>
          <p:cNvPicPr/>
          <p:nvPr/>
        </p:nvPicPr>
        <p:blipFill>
          <a:blip r:embed="rId3" cstate="print"/>
          <a:stretch>
            <a:fillRect/>
          </a:stretch>
        </p:blipFill>
        <p:spPr bwMode="auto">
          <a:xfrm>
            <a:off x="6876256" y="3429000"/>
            <a:ext cx="1566574" cy="1872208"/>
          </a:xfrm>
          <a:prstGeom prst="rect">
            <a:avLst/>
          </a:prstGeom>
          <a:noFill/>
          <a:ln w="38100">
            <a:noFill/>
            <a:miter lim="800000"/>
            <a:headEnd/>
            <a:tailEnd/>
          </a:ln>
        </p:spPr>
      </p:pic>
    </p:spTree>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Coins"/>
          <p:cNvPicPr/>
          <p:nvPr/>
        </p:nvPicPr>
        <p:blipFill>
          <a:blip r:embed="rId3" cstate="print"/>
          <a:stretch>
            <a:fillRect/>
          </a:stretch>
        </p:blipFill>
        <p:spPr bwMode="auto">
          <a:xfrm>
            <a:off x="6660232" y="3212976"/>
            <a:ext cx="1657717" cy="1800200"/>
          </a:xfrm>
          <a:prstGeom prst="rect">
            <a:avLst/>
          </a:prstGeom>
          <a:noFill/>
          <a:ln w="38100">
            <a:noFill/>
            <a:miter lim="800000"/>
            <a:headEnd/>
            <a:tailEnd/>
          </a:ln>
        </p:spPr>
      </p:pic>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Reconcile takings</a:t>
            </a:r>
          </a:p>
        </p:txBody>
      </p:sp>
      <p:sp>
        <p:nvSpPr>
          <p:cNvPr id="3" name="Content Placeholder 2"/>
          <p:cNvSpPr>
            <a:spLocks noGrp="1"/>
          </p:cNvSpPr>
          <p:nvPr>
            <p:ph idx="1"/>
          </p:nvPr>
        </p:nvSpPr>
        <p:spPr>
          <a:xfrm>
            <a:off x="611560" y="1196752"/>
            <a:ext cx="7467600" cy="5661248"/>
          </a:xfrm>
        </p:spPr>
        <p:txBody>
          <a:bodyPr>
            <a:noAutofit/>
          </a:bodyPr>
          <a:lstStyle/>
          <a:p>
            <a:pPr>
              <a:spcBef>
                <a:spcPts val="600"/>
              </a:spcBef>
              <a:spcAft>
                <a:spcPts val="1200"/>
              </a:spcAft>
              <a:buNone/>
            </a:pPr>
            <a:r>
              <a:rPr lang="en-US" sz="2200" b="1" dirty="0" smtClean="0">
                <a:latin typeface="Helvetica" pitchFamily="34" charset="0"/>
              </a:rPr>
              <a:t>Security of takings</a:t>
            </a:r>
          </a:p>
          <a:p>
            <a:pPr>
              <a:spcBef>
                <a:spcPts val="600"/>
              </a:spcBef>
              <a:spcAft>
                <a:spcPts val="1200"/>
              </a:spcAft>
              <a:buNone/>
            </a:pPr>
            <a:r>
              <a:rPr lang="en-US" sz="2200" u="sng" dirty="0" smtClean="0">
                <a:latin typeface="Helvetica" pitchFamily="34" charset="0"/>
              </a:rPr>
              <a:t>During normal activities</a:t>
            </a:r>
            <a:r>
              <a:rPr lang="en-US" sz="2200" dirty="0" smtClean="0">
                <a:latin typeface="Helvetica" pitchFamily="34" charset="0"/>
              </a:rPr>
              <a:t>:</a:t>
            </a:r>
          </a:p>
          <a:p>
            <a:pPr lvl="0">
              <a:spcBef>
                <a:spcPts val="600"/>
              </a:spcBef>
              <a:spcAft>
                <a:spcPts val="1200"/>
              </a:spcAft>
            </a:pPr>
            <a:r>
              <a:rPr lang="en-AU" sz="2200" dirty="0" smtClean="0">
                <a:latin typeface="Helvetica" pitchFamily="34" charset="0"/>
              </a:rPr>
              <a:t>All cash moved within the property to be moved by two people</a:t>
            </a:r>
          </a:p>
          <a:p>
            <a:pPr lvl="0">
              <a:spcBef>
                <a:spcPts val="600"/>
              </a:spcBef>
              <a:spcAft>
                <a:spcPts val="1200"/>
              </a:spcAft>
            </a:pPr>
            <a:r>
              <a:rPr lang="en-AU" sz="2200" dirty="0" smtClean="0">
                <a:latin typeface="Helvetica" pitchFamily="34" charset="0"/>
              </a:rPr>
              <a:t>Cash registers never to be left unattended</a:t>
            </a:r>
          </a:p>
          <a:p>
            <a:pPr lvl="0">
              <a:spcBef>
                <a:spcPts val="600"/>
              </a:spcBef>
              <a:spcAft>
                <a:spcPts val="1200"/>
              </a:spcAft>
            </a:pPr>
            <a:r>
              <a:rPr lang="en-AU" sz="2200" dirty="0" smtClean="0">
                <a:latin typeface="Helvetica" pitchFamily="34" charset="0"/>
              </a:rPr>
              <a:t>All takings to be secured in a designated safe</a:t>
            </a:r>
          </a:p>
          <a:p>
            <a:pPr lvl="0">
              <a:spcBef>
                <a:spcPts val="600"/>
              </a:spcBef>
              <a:spcAft>
                <a:spcPts val="1200"/>
              </a:spcAft>
            </a:pPr>
            <a:r>
              <a:rPr lang="en-AU" sz="2200" dirty="0" smtClean="0">
                <a:latin typeface="Helvetica" pitchFamily="34" charset="0"/>
              </a:rPr>
              <a:t>Removal of large amounts of cash from                        registers during trading times </a:t>
            </a:r>
          </a:p>
          <a:p>
            <a:pPr lvl="0">
              <a:spcBef>
                <a:spcPts val="600"/>
              </a:spcBef>
              <a:spcAft>
                <a:spcPts val="1200"/>
              </a:spcAft>
            </a:pPr>
            <a:r>
              <a:rPr lang="en-AU" sz="2200" dirty="0" smtClean="0">
                <a:latin typeface="Helvetica" pitchFamily="34" charset="0"/>
              </a:rPr>
              <a:t>The movement of this cash to a safe</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196</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Reconcile takings</a:t>
            </a:r>
          </a:p>
        </p:txBody>
      </p:sp>
      <p:sp>
        <p:nvSpPr>
          <p:cNvPr id="3" name="Content Placeholder 2"/>
          <p:cNvSpPr>
            <a:spLocks noGrp="1"/>
          </p:cNvSpPr>
          <p:nvPr>
            <p:ph idx="1"/>
          </p:nvPr>
        </p:nvSpPr>
        <p:spPr>
          <a:xfrm>
            <a:off x="611560" y="1196752"/>
            <a:ext cx="7467600" cy="5661248"/>
          </a:xfrm>
        </p:spPr>
        <p:txBody>
          <a:bodyPr>
            <a:noAutofit/>
          </a:bodyPr>
          <a:lstStyle/>
          <a:p>
            <a:pPr>
              <a:spcBef>
                <a:spcPts val="600"/>
              </a:spcBef>
              <a:spcAft>
                <a:spcPts val="1200"/>
              </a:spcAft>
              <a:buNone/>
            </a:pPr>
            <a:r>
              <a:rPr lang="en-US" sz="2200" b="1" dirty="0" smtClean="0">
                <a:latin typeface="Helvetica" pitchFamily="34" charset="0"/>
              </a:rPr>
              <a:t>Security of takings</a:t>
            </a:r>
          </a:p>
          <a:p>
            <a:pPr>
              <a:spcBef>
                <a:spcPts val="600"/>
              </a:spcBef>
              <a:spcAft>
                <a:spcPts val="1200"/>
              </a:spcAft>
              <a:buNone/>
            </a:pPr>
            <a:r>
              <a:rPr lang="en-US" sz="2200" u="sng" dirty="0" smtClean="0">
                <a:latin typeface="Helvetica" pitchFamily="34" charset="0"/>
              </a:rPr>
              <a:t>During reconciliations</a:t>
            </a:r>
            <a:r>
              <a:rPr lang="en-US" sz="2200" dirty="0" smtClean="0">
                <a:latin typeface="Helvetica" pitchFamily="34" charset="0"/>
              </a:rPr>
              <a:t>:</a:t>
            </a:r>
          </a:p>
          <a:p>
            <a:pPr marL="342900" indent="-342900">
              <a:spcBef>
                <a:spcPts val="600"/>
              </a:spcBef>
              <a:spcAft>
                <a:spcPts val="1200"/>
              </a:spcAft>
              <a:defRPr/>
            </a:pPr>
            <a:r>
              <a:rPr lang="en-US" sz="2200" dirty="0" smtClean="0">
                <a:latin typeface="Helvetica" pitchFamily="34" charset="0"/>
              </a:rPr>
              <a:t>Conducted in secure location</a:t>
            </a:r>
          </a:p>
          <a:p>
            <a:pPr marL="342900" indent="-342900">
              <a:spcBef>
                <a:spcPts val="600"/>
              </a:spcBef>
              <a:spcAft>
                <a:spcPts val="1200"/>
              </a:spcAft>
              <a:defRPr/>
            </a:pPr>
            <a:r>
              <a:rPr lang="en-US" sz="2200" dirty="0" smtClean="0">
                <a:latin typeface="Helvetica" pitchFamily="34" charset="0"/>
              </a:rPr>
              <a:t>Out of sight of customers</a:t>
            </a:r>
          </a:p>
          <a:p>
            <a:pPr marL="342900" indent="-342900">
              <a:spcBef>
                <a:spcPts val="600"/>
              </a:spcBef>
              <a:spcAft>
                <a:spcPts val="1200"/>
              </a:spcAft>
              <a:defRPr/>
            </a:pPr>
            <a:r>
              <a:rPr lang="en-US" sz="2200" dirty="0" smtClean="0">
                <a:latin typeface="Helvetica" pitchFamily="34" charset="0"/>
              </a:rPr>
              <a:t>Follow set procedure</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197</a:t>
            </a:fld>
            <a:endParaRPr lang="en-US" dirty="0">
              <a:latin typeface="Helvetica" pitchFamily="34" charset="0"/>
            </a:endParaRPr>
          </a:p>
        </p:txBody>
      </p:sp>
      <p:pic>
        <p:nvPicPr>
          <p:cNvPr id="6" name="Picture 5" descr="j0409039.jpg"/>
          <p:cNvPicPr>
            <a:picLocks noChangeAspect="1"/>
          </p:cNvPicPr>
          <p:nvPr/>
        </p:nvPicPr>
        <p:blipFill>
          <a:blip r:embed="rId3" cstate="print"/>
          <a:srcRect r="26839" b="5691"/>
          <a:stretch>
            <a:fillRect/>
          </a:stretch>
        </p:blipFill>
        <p:spPr>
          <a:xfrm>
            <a:off x="6516216" y="2636912"/>
            <a:ext cx="1824203" cy="2736304"/>
          </a:xfrm>
          <a:prstGeom prst="rect">
            <a:avLst/>
          </a:prstGeom>
        </p:spPr>
      </p:pic>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Reconcile takings</a:t>
            </a:r>
          </a:p>
        </p:txBody>
      </p:sp>
      <p:sp>
        <p:nvSpPr>
          <p:cNvPr id="3" name="Content Placeholder 2"/>
          <p:cNvSpPr>
            <a:spLocks noGrp="1"/>
          </p:cNvSpPr>
          <p:nvPr>
            <p:ph idx="1"/>
          </p:nvPr>
        </p:nvSpPr>
        <p:spPr>
          <a:xfrm>
            <a:off x="611560" y="1196752"/>
            <a:ext cx="7467600" cy="5661248"/>
          </a:xfrm>
        </p:spPr>
        <p:txBody>
          <a:bodyPr>
            <a:noAutofit/>
          </a:bodyPr>
          <a:lstStyle/>
          <a:p>
            <a:pPr marL="0">
              <a:spcBef>
                <a:spcPts val="600"/>
              </a:spcBef>
              <a:spcAft>
                <a:spcPts val="1200"/>
              </a:spcAft>
              <a:buNone/>
            </a:pPr>
            <a:r>
              <a:rPr lang="en-US" sz="2200" b="1" dirty="0" smtClean="0">
                <a:latin typeface="Helvetica" pitchFamily="34" charset="0"/>
              </a:rPr>
              <a:t>The first step is to determine what t</a:t>
            </a:r>
            <a:r>
              <a:rPr lang="en-US" sz="2200" b="1" u="sng" dirty="0" smtClean="0">
                <a:latin typeface="Helvetica" pitchFamily="34" charset="0"/>
              </a:rPr>
              <a:t>akings</a:t>
            </a:r>
            <a:r>
              <a:rPr lang="en-US" sz="2200" b="1" dirty="0" smtClean="0">
                <a:latin typeface="Helvetica" pitchFamily="34" charset="0"/>
              </a:rPr>
              <a:t> the electronic equipment has </a:t>
            </a:r>
            <a:r>
              <a:rPr lang="en-US" sz="2200" b="1" u="sng" dirty="0" smtClean="0">
                <a:latin typeface="Helvetica" pitchFamily="34" charset="0"/>
              </a:rPr>
              <a:t>recorded</a:t>
            </a:r>
            <a:r>
              <a:rPr lang="en-US" sz="2200" b="1" dirty="0" smtClean="0">
                <a:latin typeface="Helvetica" pitchFamily="34" charset="0"/>
              </a:rPr>
              <a:t>.</a:t>
            </a:r>
          </a:p>
          <a:p>
            <a:pPr>
              <a:spcBef>
                <a:spcPts val="600"/>
              </a:spcBef>
              <a:spcAft>
                <a:spcPts val="1200"/>
              </a:spcAft>
            </a:pPr>
            <a:r>
              <a:rPr lang="en-US" sz="2200" dirty="0" smtClean="0">
                <a:latin typeface="Helvetica" pitchFamily="34" charset="0"/>
              </a:rPr>
              <a:t>What electrical equipment are used to record transactions and takings?</a:t>
            </a:r>
          </a:p>
          <a:p>
            <a:pPr>
              <a:spcBef>
                <a:spcPts val="600"/>
              </a:spcBef>
              <a:spcAft>
                <a:spcPts val="1200"/>
              </a:spcAft>
            </a:pPr>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198</a:t>
            </a:fld>
            <a:endParaRPr lang="en-US" dirty="0">
              <a:latin typeface="Helvetica" pitchFamily="34" charset="0"/>
            </a:endParaRPr>
          </a:p>
        </p:txBody>
      </p:sp>
      <p:pic>
        <p:nvPicPr>
          <p:cNvPr id="7" name="Picture 6" descr="IMG_1880.jpg"/>
          <p:cNvPicPr>
            <a:picLocks noChangeAspect="1"/>
          </p:cNvPicPr>
          <p:nvPr/>
        </p:nvPicPr>
        <p:blipFill>
          <a:blip r:embed="rId3" cstate="print"/>
          <a:stretch>
            <a:fillRect/>
          </a:stretch>
        </p:blipFill>
        <p:spPr>
          <a:xfrm>
            <a:off x="3059832" y="3068960"/>
            <a:ext cx="2457834" cy="1843376"/>
          </a:xfrm>
          <a:prstGeom prst="rect">
            <a:avLst/>
          </a:prstGeom>
        </p:spPr>
      </p:pic>
    </p:spTree>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Obtaining the register/terminal reading</a:t>
            </a:r>
          </a:p>
        </p:txBody>
      </p:sp>
      <p:sp>
        <p:nvSpPr>
          <p:cNvPr id="3" name="Content Placeholder 2"/>
          <p:cNvSpPr>
            <a:spLocks noGrp="1"/>
          </p:cNvSpPr>
          <p:nvPr>
            <p:ph idx="1"/>
          </p:nvPr>
        </p:nvSpPr>
        <p:spPr>
          <a:xfrm>
            <a:off x="611560" y="1196752"/>
            <a:ext cx="7467600" cy="5661248"/>
          </a:xfrm>
        </p:spPr>
        <p:txBody>
          <a:bodyPr>
            <a:noAutofit/>
          </a:bodyPr>
          <a:lstStyle/>
          <a:p>
            <a:pPr marL="0">
              <a:spcBef>
                <a:spcPts val="600"/>
              </a:spcBef>
              <a:spcAft>
                <a:spcPts val="1200"/>
              </a:spcAft>
              <a:buNone/>
            </a:pPr>
            <a:r>
              <a:rPr lang="en-US" sz="2200" u="sng" dirty="0" smtClean="0">
                <a:latin typeface="Helvetica" pitchFamily="34" charset="0"/>
              </a:rPr>
              <a:t>Cash registers </a:t>
            </a:r>
            <a:r>
              <a:rPr lang="en-US" sz="2200" dirty="0" smtClean="0">
                <a:latin typeface="Helvetica" pitchFamily="34" charset="0"/>
              </a:rPr>
              <a:t>are the </a:t>
            </a:r>
            <a:r>
              <a:rPr lang="en-US" sz="2200" u="sng" dirty="0" smtClean="0">
                <a:latin typeface="Helvetica" pitchFamily="34" charset="0"/>
              </a:rPr>
              <a:t>most common equipment </a:t>
            </a:r>
            <a:r>
              <a:rPr lang="en-US" sz="2200" dirty="0" smtClean="0">
                <a:latin typeface="Helvetica" pitchFamily="34" charset="0"/>
              </a:rPr>
              <a:t>used in recording sales.</a:t>
            </a:r>
          </a:p>
          <a:p>
            <a:pPr>
              <a:spcBef>
                <a:spcPts val="600"/>
              </a:spcBef>
              <a:spcAft>
                <a:spcPts val="1200"/>
              </a:spcAft>
              <a:buNone/>
            </a:pPr>
            <a:r>
              <a:rPr lang="en-US" sz="2200" dirty="0" smtClean="0">
                <a:latin typeface="Helvetica" pitchFamily="34" charset="0"/>
              </a:rPr>
              <a:t>A summary of takings is obtained through the use of:</a:t>
            </a:r>
          </a:p>
          <a:p>
            <a:pPr marL="342900" indent="-342900">
              <a:spcBef>
                <a:spcPts val="600"/>
              </a:spcBef>
              <a:spcAft>
                <a:spcPts val="1200"/>
              </a:spcAft>
              <a:defRPr/>
            </a:pPr>
            <a:r>
              <a:rPr lang="en-US" sz="2200" dirty="0" smtClean="0">
                <a:latin typeface="Helvetica" pitchFamily="34" charset="0"/>
              </a:rPr>
              <a:t>‘X’ reading</a:t>
            </a:r>
          </a:p>
          <a:p>
            <a:pPr marL="342900" indent="-342900">
              <a:spcBef>
                <a:spcPts val="600"/>
              </a:spcBef>
              <a:spcAft>
                <a:spcPts val="1200"/>
              </a:spcAft>
              <a:defRPr/>
            </a:pPr>
            <a:r>
              <a:rPr lang="en-US" sz="2200" dirty="0" smtClean="0">
                <a:latin typeface="Helvetica" pitchFamily="34" charset="0"/>
              </a:rPr>
              <a:t>‘Z’ Reading</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199</a:t>
            </a:fld>
            <a:endParaRPr lang="en-US" dirty="0">
              <a:latin typeface="Helvetica" pitchFamily="34" charset="0"/>
            </a:endParaRPr>
          </a:p>
        </p:txBody>
      </p:sp>
      <p:pic>
        <p:nvPicPr>
          <p:cNvPr id="6" name="Picture 5" descr="IMG_2048.jpg"/>
          <p:cNvPicPr>
            <a:picLocks noChangeAspect="1"/>
          </p:cNvPicPr>
          <p:nvPr/>
        </p:nvPicPr>
        <p:blipFill>
          <a:blip r:embed="rId3" cstate="print"/>
          <a:stretch>
            <a:fillRect/>
          </a:stretch>
        </p:blipFill>
        <p:spPr>
          <a:xfrm>
            <a:off x="6084168" y="3573016"/>
            <a:ext cx="2319738" cy="1739804"/>
          </a:xfrm>
          <a:prstGeom prst="rect">
            <a:avLst/>
          </a:prstGeom>
        </p:spPr>
      </p:pic>
    </p:spTree>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X Reading</a:t>
            </a:r>
          </a:p>
        </p:txBody>
      </p:sp>
      <p:sp>
        <p:nvSpPr>
          <p:cNvPr id="3" name="Content Placeholder 2"/>
          <p:cNvSpPr>
            <a:spLocks noGrp="1"/>
          </p:cNvSpPr>
          <p:nvPr>
            <p:ph idx="1"/>
          </p:nvPr>
        </p:nvSpPr>
        <p:spPr>
          <a:xfrm>
            <a:off x="611560" y="1196752"/>
            <a:ext cx="7467600" cy="5661248"/>
          </a:xfrm>
        </p:spPr>
        <p:txBody>
          <a:bodyPr>
            <a:noAutofit/>
          </a:bodyPr>
          <a:lstStyle/>
          <a:p>
            <a:pPr>
              <a:spcBef>
                <a:spcPts val="600"/>
              </a:spcBef>
              <a:spcAft>
                <a:spcPts val="1200"/>
              </a:spcAft>
            </a:pPr>
            <a:r>
              <a:rPr lang="en-US" sz="2200" dirty="0" smtClean="0">
                <a:latin typeface="Helvetica" pitchFamily="34" charset="0"/>
              </a:rPr>
              <a:t>An ‘X’ reading provides an </a:t>
            </a:r>
            <a:r>
              <a:rPr lang="en-US" sz="2200" u="sng" dirty="0" smtClean="0">
                <a:latin typeface="Helvetica" pitchFamily="34" charset="0"/>
              </a:rPr>
              <a:t>updated</a:t>
            </a:r>
            <a:r>
              <a:rPr lang="en-US" sz="2200" dirty="0" smtClean="0">
                <a:latin typeface="Helvetica" pitchFamily="34" charset="0"/>
              </a:rPr>
              <a:t> reading/report on </a:t>
            </a:r>
            <a:r>
              <a:rPr lang="en-US" sz="2200" u="sng" dirty="0" smtClean="0">
                <a:latin typeface="Helvetica" pitchFamily="34" charset="0"/>
              </a:rPr>
              <a:t>all the financial transactions </a:t>
            </a:r>
            <a:r>
              <a:rPr lang="en-US" sz="2200" dirty="0" smtClean="0">
                <a:latin typeface="Helvetica" pitchFamily="34" charset="0"/>
              </a:rPr>
              <a:t>processed through the cash register/terminal during the shift or day</a:t>
            </a:r>
          </a:p>
          <a:p>
            <a:pPr>
              <a:spcBef>
                <a:spcPts val="600"/>
              </a:spcBef>
              <a:spcAft>
                <a:spcPts val="1200"/>
              </a:spcAft>
            </a:pPr>
            <a:r>
              <a:rPr lang="en-US" sz="2200" dirty="0" smtClean="0">
                <a:latin typeface="Helvetica" pitchFamily="34" charset="0"/>
              </a:rPr>
              <a:t>An ‘X’ reading can be taken at any stage during a shift to get an </a:t>
            </a:r>
            <a:r>
              <a:rPr lang="en-US" sz="2200" u="sng" dirty="0" smtClean="0">
                <a:latin typeface="Helvetica" pitchFamily="34" charset="0"/>
              </a:rPr>
              <a:t>updated summary</a:t>
            </a:r>
            <a:endParaRPr lang="en-US" sz="2200" dirty="0" smtClean="0">
              <a:latin typeface="Helvetica" pitchFamily="34" charset="0"/>
            </a:endParaRPr>
          </a:p>
          <a:p>
            <a:pPr>
              <a:spcBef>
                <a:spcPts val="600"/>
              </a:spcBef>
              <a:spcAft>
                <a:spcPts val="1200"/>
              </a:spcAft>
            </a:pPr>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200</a:t>
            </a:fld>
            <a:endParaRPr lang="en-US" dirty="0">
              <a:latin typeface="Helvetica" pitchFamily="34" charset="0"/>
            </a:endParaRPr>
          </a:p>
        </p:txBody>
      </p:sp>
      <p:pic>
        <p:nvPicPr>
          <p:cNvPr id="7" name="Picture 6" descr="MP900308879[1].JPG"/>
          <p:cNvPicPr>
            <a:picLocks noChangeAspect="1"/>
          </p:cNvPicPr>
          <p:nvPr/>
        </p:nvPicPr>
        <p:blipFill>
          <a:blip r:embed="rId3" cstate="print"/>
          <a:stretch>
            <a:fillRect/>
          </a:stretch>
        </p:blipFill>
        <p:spPr>
          <a:xfrm>
            <a:off x="5868144" y="3645024"/>
            <a:ext cx="2520280" cy="1667585"/>
          </a:xfrm>
          <a:prstGeom prst="rect">
            <a:avLst/>
          </a:prstGeom>
        </p:spPr>
      </p:pic>
    </p:spTree>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Z Reading</a:t>
            </a:r>
          </a:p>
        </p:txBody>
      </p:sp>
      <p:sp>
        <p:nvSpPr>
          <p:cNvPr id="3" name="Content Placeholder 2"/>
          <p:cNvSpPr>
            <a:spLocks noGrp="1"/>
          </p:cNvSpPr>
          <p:nvPr>
            <p:ph idx="1"/>
          </p:nvPr>
        </p:nvSpPr>
        <p:spPr>
          <a:xfrm>
            <a:off x="611560" y="1268760"/>
            <a:ext cx="7467600" cy="5589240"/>
          </a:xfrm>
        </p:spPr>
        <p:txBody>
          <a:bodyPr>
            <a:noAutofit/>
          </a:bodyPr>
          <a:lstStyle/>
          <a:p>
            <a:pPr>
              <a:spcBef>
                <a:spcPts val="600"/>
              </a:spcBef>
              <a:spcAft>
                <a:spcPts val="1200"/>
              </a:spcAft>
            </a:pPr>
            <a:r>
              <a:rPr lang="en-US" sz="2200" dirty="0" smtClean="0">
                <a:latin typeface="Helvetica" pitchFamily="34" charset="0"/>
              </a:rPr>
              <a:t>A ‘Z’ reading provides a </a:t>
            </a:r>
            <a:r>
              <a:rPr lang="en-US" sz="2200" u="sng" dirty="0" smtClean="0">
                <a:latin typeface="Helvetica" pitchFamily="34" charset="0"/>
              </a:rPr>
              <a:t>final report on all the financial transactions </a:t>
            </a:r>
            <a:r>
              <a:rPr lang="en-US" sz="2200" dirty="0" smtClean="0">
                <a:latin typeface="Helvetica" pitchFamily="34" charset="0"/>
              </a:rPr>
              <a:t>that have been processed through the register/terminal during the shift or day</a:t>
            </a:r>
          </a:p>
          <a:p>
            <a:pPr>
              <a:spcBef>
                <a:spcPts val="600"/>
              </a:spcBef>
              <a:spcAft>
                <a:spcPts val="1200"/>
              </a:spcAft>
            </a:pPr>
            <a:r>
              <a:rPr lang="en-US" sz="2200" dirty="0" smtClean="0">
                <a:latin typeface="Helvetica" pitchFamily="34" charset="0"/>
              </a:rPr>
              <a:t>An ‘Z’ reading is </a:t>
            </a:r>
            <a:r>
              <a:rPr lang="en-US" sz="2200" u="sng" dirty="0" smtClean="0">
                <a:latin typeface="Helvetica" pitchFamily="34" charset="0"/>
              </a:rPr>
              <a:t>only done at the end </a:t>
            </a:r>
            <a:r>
              <a:rPr lang="en-US" sz="2200" dirty="0" smtClean="0">
                <a:latin typeface="Helvetica" pitchFamily="34" charset="0"/>
              </a:rPr>
              <a:t>of a shift of day</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201</a:t>
            </a:fld>
            <a:endParaRPr lang="en-US" dirty="0">
              <a:latin typeface="Helvetica" pitchFamily="34" charset="0"/>
            </a:endParaRPr>
          </a:p>
        </p:txBody>
      </p:sp>
      <p:pic>
        <p:nvPicPr>
          <p:cNvPr id="7" name="Picture 6" descr="MP900308879[1].JPG"/>
          <p:cNvPicPr>
            <a:picLocks noChangeAspect="1"/>
          </p:cNvPicPr>
          <p:nvPr/>
        </p:nvPicPr>
        <p:blipFill>
          <a:blip r:embed="rId3" cstate="print"/>
          <a:stretch>
            <a:fillRect/>
          </a:stretch>
        </p:blipFill>
        <p:spPr>
          <a:xfrm>
            <a:off x="5940152" y="3601176"/>
            <a:ext cx="2460490" cy="1628024"/>
          </a:xfrm>
          <a:prstGeom prst="rect">
            <a:avLst/>
          </a:prstGeom>
        </p:spPr>
      </p:pic>
    </p:spTree>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200" b="1" dirty="0" smtClean="0">
                <a:solidFill>
                  <a:srgbClr val="FF6600"/>
                </a:solidFill>
                <a:latin typeface="Helvetica" pitchFamily="34" charset="0"/>
              </a:rPr>
              <a:t>Separating the cash float from the takings </a:t>
            </a:r>
          </a:p>
        </p:txBody>
      </p:sp>
      <p:sp>
        <p:nvSpPr>
          <p:cNvPr id="3" name="Content Placeholder 2"/>
          <p:cNvSpPr>
            <a:spLocks noGrp="1"/>
          </p:cNvSpPr>
          <p:nvPr>
            <p:ph idx="1"/>
          </p:nvPr>
        </p:nvSpPr>
        <p:spPr>
          <a:xfrm>
            <a:off x="611560" y="1556792"/>
            <a:ext cx="7467600" cy="5301208"/>
          </a:xfrm>
        </p:spPr>
        <p:txBody>
          <a:bodyPr>
            <a:noAutofit/>
          </a:bodyPr>
          <a:lstStyle/>
          <a:p>
            <a:pPr marL="0">
              <a:spcBef>
                <a:spcPts val="600"/>
              </a:spcBef>
              <a:spcAft>
                <a:spcPts val="1200"/>
              </a:spcAft>
              <a:buNone/>
            </a:pPr>
            <a:r>
              <a:rPr lang="en-US" sz="2200" b="1" dirty="0" smtClean="0">
                <a:latin typeface="Helvetica" pitchFamily="34" charset="0"/>
              </a:rPr>
              <a:t>The second step of the reconciliation process is to </a:t>
            </a:r>
            <a:r>
              <a:rPr lang="en-US" sz="2200" b="1" u="sng" dirty="0" smtClean="0">
                <a:latin typeface="Helvetica" pitchFamily="34" charset="0"/>
              </a:rPr>
              <a:t>separate the cash float </a:t>
            </a:r>
            <a:r>
              <a:rPr lang="en-US" sz="2200" b="1" dirty="0" smtClean="0">
                <a:latin typeface="Helvetica" pitchFamily="34" charset="0"/>
              </a:rPr>
              <a:t>and </a:t>
            </a:r>
            <a:r>
              <a:rPr lang="en-US" sz="2200" b="1" u="sng" dirty="0" smtClean="0">
                <a:latin typeface="Helvetica" pitchFamily="34" charset="0"/>
              </a:rPr>
              <a:t>count the ‘actual’ takings </a:t>
            </a:r>
            <a:r>
              <a:rPr lang="en-US" sz="2200" b="1" dirty="0" smtClean="0">
                <a:latin typeface="Helvetica" pitchFamily="34" charset="0"/>
              </a:rPr>
              <a:t>for the service period.</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To do this:</a:t>
            </a:r>
          </a:p>
          <a:p>
            <a:pPr marL="342900" indent="-342900">
              <a:spcBef>
                <a:spcPts val="600"/>
              </a:spcBef>
              <a:spcAft>
                <a:spcPts val="1200"/>
              </a:spcAft>
              <a:defRPr/>
            </a:pPr>
            <a:r>
              <a:rPr lang="en-US" sz="2200" dirty="0" smtClean="0">
                <a:latin typeface="Helvetica" pitchFamily="34" charset="0"/>
              </a:rPr>
              <a:t>Count out the cash</a:t>
            </a:r>
          </a:p>
          <a:p>
            <a:pPr marL="342900" indent="-342900">
              <a:spcBef>
                <a:spcPts val="600"/>
              </a:spcBef>
              <a:spcAft>
                <a:spcPts val="1200"/>
              </a:spcAft>
              <a:defRPr/>
            </a:pPr>
            <a:r>
              <a:rPr lang="en-US" sz="2200" dirty="0" smtClean="0">
                <a:latin typeface="Helvetica" pitchFamily="34" charset="0"/>
              </a:rPr>
              <a:t>Remove the cash float from the cash drawer</a:t>
            </a:r>
          </a:p>
          <a:p>
            <a:pPr>
              <a:spcBef>
                <a:spcPts val="600"/>
              </a:spcBef>
              <a:spcAft>
                <a:spcPts val="1200"/>
              </a:spcAft>
            </a:pPr>
            <a:r>
              <a:rPr lang="en-US" sz="2200" dirty="0" smtClean="0">
                <a:latin typeface="Helvetica" pitchFamily="34" charset="0"/>
              </a:rPr>
              <a:t>Why is the cash float separated                                                 from the takings?</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202</a:t>
            </a:fld>
            <a:endParaRPr lang="en-US" dirty="0">
              <a:latin typeface="Helvetica" pitchFamily="34" charset="0"/>
            </a:endParaRPr>
          </a:p>
        </p:txBody>
      </p:sp>
      <p:pic>
        <p:nvPicPr>
          <p:cNvPr id="6" name="Picture 8" descr="_MG_9777"/>
          <p:cNvPicPr>
            <a:picLocks noChangeAspect="1" noChangeArrowheads="1"/>
          </p:cNvPicPr>
          <p:nvPr/>
        </p:nvPicPr>
        <p:blipFill>
          <a:blip r:embed="rId3" cstate="print"/>
          <a:srcRect/>
          <a:stretch>
            <a:fillRect/>
          </a:stretch>
        </p:blipFill>
        <p:spPr bwMode="auto">
          <a:xfrm>
            <a:off x="6948264" y="3140968"/>
            <a:ext cx="1458970" cy="2191354"/>
          </a:xfrm>
          <a:prstGeom prst="rect">
            <a:avLst/>
          </a:prstGeom>
          <a:noFill/>
        </p:spPr>
      </p:pic>
    </p:spTree>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200" b="1" dirty="0" smtClean="0">
                <a:solidFill>
                  <a:srgbClr val="FF6600"/>
                </a:solidFill>
                <a:latin typeface="Helvetica" pitchFamily="34" charset="0"/>
              </a:rPr>
              <a:t>Separating the cash float from the takings </a:t>
            </a: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US" sz="2200" b="1" dirty="0" smtClean="0">
                <a:latin typeface="Helvetica" pitchFamily="34" charset="0"/>
              </a:rPr>
              <a:t>Cash float slips:</a:t>
            </a:r>
            <a:endParaRPr lang="en-US" sz="2200" dirty="0" smtClean="0">
              <a:latin typeface="Helvetica" pitchFamily="34" charset="0"/>
            </a:endParaRPr>
          </a:p>
          <a:p>
            <a:pPr marL="342900" indent="-342900">
              <a:spcBef>
                <a:spcPts val="600"/>
              </a:spcBef>
              <a:spcAft>
                <a:spcPts val="1200"/>
              </a:spcAft>
              <a:defRPr/>
            </a:pPr>
            <a:r>
              <a:rPr lang="en-US" sz="2200" dirty="0" smtClean="0">
                <a:latin typeface="Helvetica" pitchFamily="34" charset="0"/>
              </a:rPr>
              <a:t>Assists with the counting and removing of the cash float from the takings</a:t>
            </a:r>
          </a:p>
          <a:p>
            <a:pPr marL="342900" indent="-342900">
              <a:spcBef>
                <a:spcPts val="600"/>
              </a:spcBef>
              <a:spcAft>
                <a:spcPts val="1200"/>
              </a:spcAft>
              <a:defRPr/>
            </a:pPr>
            <a:r>
              <a:rPr lang="en-US" sz="2200" dirty="0" smtClean="0">
                <a:latin typeface="Helvetica" pitchFamily="34" charset="0"/>
              </a:rPr>
              <a:t>Keeps a tally of notes and coins counted</a:t>
            </a:r>
          </a:p>
          <a:p>
            <a:pPr>
              <a:spcBef>
                <a:spcPts val="600"/>
              </a:spcBef>
              <a:spcAft>
                <a:spcPts val="1200"/>
              </a:spcAft>
              <a:buNone/>
            </a:pPr>
            <a:r>
              <a:rPr lang="en-US" sz="2200" b="1" dirty="0" smtClean="0">
                <a:latin typeface="Helvetica" pitchFamily="34" charset="0"/>
              </a:rPr>
              <a:t>Once float is counted and separated:</a:t>
            </a:r>
            <a:endParaRPr lang="en-US" sz="2200" dirty="0" smtClean="0">
              <a:latin typeface="Helvetica" pitchFamily="34" charset="0"/>
            </a:endParaRPr>
          </a:p>
          <a:p>
            <a:pPr marL="342900" indent="-342900">
              <a:spcBef>
                <a:spcPts val="600"/>
              </a:spcBef>
              <a:spcAft>
                <a:spcPts val="1200"/>
              </a:spcAft>
              <a:defRPr/>
            </a:pPr>
            <a:r>
              <a:rPr lang="en-US" sz="2200" dirty="0" smtClean="0">
                <a:latin typeface="Helvetica" pitchFamily="34" charset="0"/>
              </a:rPr>
              <a:t>It is signed in </a:t>
            </a:r>
          </a:p>
          <a:p>
            <a:pPr marL="342900" indent="-342900">
              <a:spcBef>
                <a:spcPts val="600"/>
              </a:spcBef>
              <a:spcAft>
                <a:spcPts val="1200"/>
              </a:spcAft>
              <a:defRPr/>
            </a:pPr>
            <a:r>
              <a:rPr lang="en-US" sz="2200" dirty="0" smtClean="0">
                <a:latin typeface="Helvetica" pitchFamily="34" charset="0"/>
              </a:rPr>
              <a:t>Put in safe</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203</a:t>
            </a:fld>
            <a:endParaRPr lang="en-US" dirty="0">
              <a:latin typeface="Helvetica" pitchFamily="34" charset="0"/>
            </a:endParaRPr>
          </a:p>
        </p:txBody>
      </p:sp>
      <p:pic>
        <p:nvPicPr>
          <p:cNvPr id="7" name="Picture 6" descr="MMj01855870000[1]"/>
          <p:cNvPicPr/>
          <p:nvPr/>
        </p:nvPicPr>
        <p:blipFill>
          <a:blip r:embed="rId3" cstate="print"/>
          <a:srcRect/>
          <a:stretch>
            <a:fillRect/>
          </a:stretch>
        </p:blipFill>
        <p:spPr bwMode="auto">
          <a:xfrm>
            <a:off x="6804248" y="3717032"/>
            <a:ext cx="1400183" cy="132874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Count actual takings </a:t>
            </a:r>
          </a:p>
        </p:txBody>
      </p:sp>
      <p:sp>
        <p:nvSpPr>
          <p:cNvPr id="3" name="Content Placeholder 2"/>
          <p:cNvSpPr>
            <a:spLocks noGrp="1"/>
          </p:cNvSpPr>
          <p:nvPr>
            <p:ph idx="1"/>
          </p:nvPr>
        </p:nvSpPr>
        <p:spPr>
          <a:xfrm>
            <a:off x="611560" y="1268760"/>
            <a:ext cx="7467600" cy="5589240"/>
          </a:xfrm>
        </p:spPr>
        <p:txBody>
          <a:bodyPr>
            <a:noAutofit/>
          </a:bodyPr>
          <a:lstStyle/>
          <a:p>
            <a:pPr marL="0">
              <a:buNone/>
            </a:pPr>
            <a:r>
              <a:rPr lang="en-US" sz="2200" dirty="0" smtClean="0">
                <a:latin typeface="Helvetica" pitchFamily="34" charset="0"/>
              </a:rPr>
              <a:t>Once the </a:t>
            </a:r>
            <a:r>
              <a:rPr lang="en-US" sz="2200" u="sng" dirty="0" smtClean="0">
                <a:latin typeface="Helvetica" pitchFamily="34" charset="0"/>
              </a:rPr>
              <a:t>cash float has been removed </a:t>
            </a:r>
            <a:r>
              <a:rPr lang="en-US" sz="2200" dirty="0" smtClean="0">
                <a:latin typeface="Helvetica" pitchFamily="34" charset="0"/>
              </a:rPr>
              <a:t>and secured, </a:t>
            </a:r>
            <a:r>
              <a:rPr lang="en-US" sz="2200" u="sng" dirty="0" smtClean="0">
                <a:latin typeface="Helvetica" pitchFamily="34" charset="0"/>
              </a:rPr>
              <a:t>the remaining money </a:t>
            </a:r>
            <a:r>
              <a:rPr lang="en-US" sz="2200" dirty="0" smtClean="0">
                <a:latin typeface="Helvetica" pitchFamily="34" charset="0"/>
              </a:rPr>
              <a:t>can now be counted to establish the </a:t>
            </a:r>
            <a:r>
              <a:rPr lang="en-US" sz="2200" u="sng" dirty="0" smtClean="0">
                <a:latin typeface="Helvetica" pitchFamily="34" charset="0"/>
              </a:rPr>
              <a:t>‘actual’ takings</a:t>
            </a:r>
            <a:r>
              <a:rPr lang="en-US" sz="2200" dirty="0" smtClean="0">
                <a:latin typeface="Helvetica" pitchFamily="34" charset="0"/>
              </a:rPr>
              <a:t>.</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204</a:t>
            </a:fld>
            <a:endParaRPr lang="en-US" dirty="0">
              <a:latin typeface="Helvetica" pitchFamily="34" charset="0"/>
            </a:endParaRPr>
          </a:p>
        </p:txBody>
      </p:sp>
      <p:pic>
        <p:nvPicPr>
          <p:cNvPr id="6" name="Picture 5" descr="MP900411794[1].JPG"/>
          <p:cNvPicPr>
            <a:picLocks noChangeAspect="1"/>
          </p:cNvPicPr>
          <p:nvPr/>
        </p:nvPicPr>
        <p:blipFill>
          <a:blip r:embed="rId3" cstate="print"/>
          <a:stretch>
            <a:fillRect/>
          </a:stretch>
        </p:blipFill>
        <p:spPr>
          <a:xfrm>
            <a:off x="6804248" y="2996952"/>
            <a:ext cx="1562097" cy="2348880"/>
          </a:xfrm>
          <a:prstGeom prst="rect">
            <a:avLst/>
          </a:prstGeom>
        </p:spPr>
      </p:pic>
    </p:spTree>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Cash Summary Sheet</a:t>
            </a:r>
          </a:p>
        </p:txBody>
      </p:sp>
      <p:sp>
        <p:nvSpPr>
          <p:cNvPr id="3" name="Content Placeholder 2"/>
          <p:cNvSpPr>
            <a:spLocks noGrp="1"/>
          </p:cNvSpPr>
          <p:nvPr>
            <p:ph idx="1"/>
          </p:nvPr>
        </p:nvSpPr>
        <p:spPr>
          <a:xfrm>
            <a:off x="611560" y="1196752"/>
            <a:ext cx="7467600" cy="5661248"/>
          </a:xfrm>
        </p:spPr>
        <p:txBody>
          <a:bodyPr>
            <a:noAutofit/>
          </a:bodyPr>
          <a:lstStyle/>
          <a:p>
            <a:pPr marL="0">
              <a:spcBef>
                <a:spcPts val="600"/>
              </a:spcBef>
              <a:spcAft>
                <a:spcPts val="1200"/>
              </a:spcAft>
              <a:buNone/>
            </a:pPr>
            <a:r>
              <a:rPr lang="en-US" sz="2200" dirty="0" smtClean="0">
                <a:latin typeface="Helvetica" pitchFamily="34" charset="0"/>
              </a:rPr>
              <a:t>Records cash takings and non-cash takings from each register every time the register is balanced including:</a:t>
            </a:r>
          </a:p>
          <a:p>
            <a:pPr marL="342900" indent="-342900">
              <a:spcBef>
                <a:spcPts val="600"/>
              </a:spcBef>
              <a:spcAft>
                <a:spcPts val="1200"/>
              </a:spcAft>
              <a:defRPr/>
            </a:pPr>
            <a:r>
              <a:rPr lang="en-US" sz="2200" dirty="0" smtClean="0">
                <a:latin typeface="Helvetica" pitchFamily="34" charset="0"/>
              </a:rPr>
              <a:t>Amount of cash</a:t>
            </a:r>
          </a:p>
          <a:p>
            <a:pPr marL="342900" indent="-342900">
              <a:spcBef>
                <a:spcPts val="600"/>
              </a:spcBef>
              <a:spcAft>
                <a:spcPts val="1200"/>
              </a:spcAft>
              <a:defRPr/>
            </a:pPr>
            <a:r>
              <a:rPr lang="en-US" sz="2200" dirty="0" smtClean="0">
                <a:latin typeface="Helvetica" pitchFamily="34" charset="0"/>
              </a:rPr>
              <a:t>Type and amount of non-cash takings</a:t>
            </a:r>
          </a:p>
          <a:p>
            <a:pPr marL="342900" indent="-342900">
              <a:spcBef>
                <a:spcPts val="600"/>
              </a:spcBef>
              <a:spcAft>
                <a:spcPts val="1200"/>
              </a:spcAft>
              <a:defRPr/>
            </a:pPr>
            <a:r>
              <a:rPr lang="en-US" sz="2200" dirty="0" smtClean="0">
                <a:latin typeface="Helvetica" pitchFamily="34" charset="0"/>
              </a:rPr>
              <a:t>The register ‘X/Z reading</a:t>
            </a:r>
          </a:p>
          <a:p>
            <a:pPr marL="342900" indent="-342900">
              <a:spcBef>
                <a:spcPts val="600"/>
              </a:spcBef>
              <a:spcAft>
                <a:spcPts val="1200"/>
              </a:spcAft>
              <a:defRPr/>
            </a:pPr>
            <a:r>
              <a:rPr lang="en-US" sz="2200" dirty="0" smtClean="0">
                <a:latin typeface="Helvetica" pitchFamily="34" charset="0"/>
              </a:rPr>
              <a:t>Any discrepancy/variance between expected takings/cash and actual takings/cash</a:t>
            </a:r>
          </a:p>
          <a:p>
            <a:pPr marL="342900" indent="-342900">
              <a:spcBef>
                <a:spcPts val="600"/>
              </a:spcBef>
              <a:spcAft>
                <a:spcPts val="1200"/>
              </a:spcAft>
              <a:defRPr/>
            </a:pPr>
            <a:r>
              <a:rPr lang="en-US" sz="2200" dirty="0" smtClean="0">
                <a:latin typeface="Helvetica" pitchFamily="34" charset="0"/>
              </a:rPr>
              <a:t>The date and the number/location of the register/terminal</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205</a:t>
            </a:fld>
            <a:endParaRPr lang="en-US" dirty="0">
              <a:latin typeface="Helvetica" pitchFamily="34" charset="0"/>
            </a:endParaRPr>
          </a:p>
        </p:txBody>
      </p:sp>
      <p:pic>
        <p:nvPicPr>
          <p:cNvPr id="7" name="Picture 6" descr="MPj03853380000[1]"/>
          <p:cNvPicPr>
            <a:picLocks noChangeAspect="1" noChangeArrowheads="1"/>
          </p:cNvPicPr>
          <p:nvPr/>
        </p:nvPicPr>
        <p:blipFill>
          <a:blip r:embed="rId3" cstate="print"/>
          <a:srcRect/>
          <a:stretch>
            <a:fillRect/>
          </a:stretch>
        </p:blipFill>
        <p:spPr bwMode="auto">
          <a:xfrm>
            <a:off x="6372200" y="4293096"/>
            <a:ext cx="2005394" cy="1432945"/>
          </a:xfrm>
          <a:prstGeom prst="rect">
            <a:avLst/>
          </a:prstGeom>
          <a:noFill/>
          <a:ln w="38100">
            <a:noFill/>
            <a:miter lim="800000"/>
            <a:headEnd/>
            <a:tailEnd/>
          </a:ln>
        </p:spPr>
      </p:pic>
    </p:spTree>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Determine payments</a:t>
            </a:r>
          </a:p>
        </p:txBody>
      </p:sp>
      <p:sp>
        <p:nvSpPr>
          <p:cNvPr id="3" name="Content Placeholder 2"/>
          <p:cNvSpPr>
            <a:spLocks noGrp="1"/>
          </p:cNvSpPr>
          <p:nvPr>
            <p:ph idx="1"/>
          </p:nvPr>
        </p:nvSpPr>
        <p:spPr>
          <a:xfrm>
            <a:off x="611560" y="1196752"/>
            <a:ext cx="7467600" cy="5661248"/>
          </a:xfrm>
        </p:spPr>
        <p:txBody>
          <a:bodyPr>
            <a:noAutofit/>
          </a:bodyPr>
          <a:lstStyle/>
          <a:p>
            <a:pPr>
              <a:spcBef>
                <a:spcPts val="600"/>
              </a:spcBef>
              <a:spcAft>
                <a:spcPts val="1200"/>
              </a:spcAft>
              <a:buNone/>
            </a:pPr>
            <a:r>
              <a:rPr lang="en-US" sz="2200" b="1" dirty="0" smtClean="0">
                <a:latin typeface="Helvetica" pitchFamily="34" charset="0"/>
              </a:rPr>
              <a:t>Determine cash payments:</a:t>
            </a:r>
          </a:p>
          <a:p>
            <a:pPr marL="342900" indent="-342900">
              <a:spcBef>
                <a:spcPts val="600"/>
              </a:spcBef>
              <a:spcAft>
                <a:spcPts val="1200"/>
              </a:spcAft>
              <a:defRPr/>
            </a:pPr>
            <a:r>
              <a:rPr lang="en-US" sz="2200" dirty="0" smtClean="0">
                <a:latin typeface="Helvetica" pitchFamily="34" charset="0"/>
              </a:rPr>
              <a:t>Count coins and place in bags</a:t>
            </a:r>
          </a:p>
          <a:p>
            <a:pPr marL="342900" indent="-342900">
              <a:spcBef>
                <a:spcPts val="600"/>
              </a:spcBef>
              <a:spcAft>
                <a:spcPts val="1200"/>
              </a:spcAft>
              <a:defRPr/>
            </a:pPr>
            <a:r>
              <a:rPr lang="en-US" sz="2200" dirty="0" smtClean="0">
                <a:latin typeface="Helvetica" pitchFamily="34" charset="0"/>
              </a:rPr>
              <a:t>Count notes and bundle</a:t>
            </a:r>
          </a:p>
          <a:p>
            <a:pPr marL="342900" indent="-342900">
              <a:spcBef>
                <a:spcPts val="600"/>
              </a:spcBef>
              <a:spcAft>
                <a:spcPts val="1200"/>
              </a:spcAft>
              <a:defRPr/>
            </a:pPr>
            <a:r>
              <a:rPr lang="en-US" sz="2200" dirty="0" smtClean="0">
                <a:latin typeface="Helvetica" pitchFamily="34" charset="0"/>
              </a:rPr>
              <a:t>Enter information on Cash Summary Sheet</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206</a:t>
            </a:fld>
            <a:endParaRPr lang="en-US" dirty="0">
              <a:latin typeface="Helvetica" pitchFamily="34" charset="0"/>
            </a:endParaRPr>
          </a:p>
        </p:txBody>
      </p:sp>
      <p:pic>
        <p:nvPicPr>
          <p:cNvPr id="6" name="Picture 5" descr="MP910220924[1].JPG"/>
          <p:cNvPicPr>
            <a:picLocks noChangeAspect="1"/>
          </p:cNvPicPr>
          <p:nvPr/>
        </p:nvPicPr>
        <p:blipFill>
          <a:blip r:embed="rId3" cstate="print"/>
          <a:stretch>
            <a:fillRect/>
          </a:stretch>
        </p:blipFill>
        <p:spPr>
          <a:xfrm>
            <a:off x="6516216" y="3933056"/>
            <a:ext cx="1891695" cy="1257976"/>
          </a:xfrm>
          <a:prstGeom prst="rect">
            <a:avLst/>
          </a:prstGeom>
        </p:spPr>
      </p:pic>
    </p:spTree>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Determine payments</a:t>
            </a:r>
          </a:p>
        </p:txBody>
      </p:sp>
      <p:sp>
        <p:nvSpPr>
          <p:cNvPr id="3" name="Content Placeholder 2"/>
          <p:cNvSpPr>
            <a:spLocks noGrp="1"/>
          </p:cNvSpPr>
          <p:nvPr>
            <p:ph idx="1"/>
          </p:nvPr>
        </p:nvSpPr>
        <p:spPr>
          <a:xfrm>
            <a:off x="611560" y="1196752"/>
            <a:ext cx="7467600" cy="5661248"/>
          </a:xfrm>
        </p:spPr>
        <p:txBody>
          <a:bodyPr>
            <a:noAutofit/>
          </a:bodyPr>
          <a:lstStyle/>
          <a:p>
            <a:pPr>
              <a:spcBef>
                <a:spcPts val="600"/>
              </a:spcBef>
              <a:spcAft>
                <a:spcPts val="1200"/>
              </a:spcAft>
              <a:buNone/>
            </a:pPr>
            <a:r>
              <a:rPr lang="en-US" sz="2200" b="1" dirty="0" smtClean="0">
                <a:latin typeface="Helvetica" pitchFamily="34" charset="0"/>
              </a:rPr>
              <a:t>Determine non-cash payments:</a:t>
            </a:r>
            <a:endParaRPr lang="en-US" sz="2200" dirty="0" smtClean="0">
              <a:latin typeface="Helvetica" pitchFamily="34" charset="0"/>
            </a:endParaRPr>
          </a:p>
          <a:p>
            <a:pPr marL="342900" indent="-342900">
              <a:spcBef>
                <a:spcPts val="600"/>
              </a:spcBef>
              <a:spcAft>
                <a:spcPts val="1200"/>
              </a:spcAft>
              <a:defRPr/>
            </a:pPr>
            <a:r>
              <a:rPr lang="en-US" sz="2200" dirty="0" smtClean="0">
                <a:latin typeface="Helvetica" pitchFamily="34" charset="0"/>
              </a:rPr>
              <a:t>Count vouchers and coupons </a:t>
            </a:r>
          </a:p>
          <a:p>
            <a:pPr marL="342900" indent="-342900">
              <a:spcBef>
                <a:spcPts val="600"/>
              </a:spcBef>
              <a:spcAft>
                <a:spcPts val="1200"/>
              </a:spcAft>
              <a:defRPr/>
            </a:pPr>
            <a:r>
              <a:rPr lang="en-US" sz="2200" dirty="0" smtClean="0">
                <a:latin typeface="Helvetica" pitchFamily="34" charset="0"/>
              </a:rPr>
              <a:t>Count credit card payments </a:t>
            </a:r>
          </a:p>
          <a:p>
            <a:pPr marL="342900" indent="-342900">
              <a:spcBef>
                <a:spcPts val="600"/>
              </a:spcBef>
              <a:spcAft>
                <a:spcPts val="1200"/>
              </a:spcAft>
              <a:defRPr/>
            </a:pPr>
            <a:r>
              <a:rPr lang="en-US" sz="2200" dirty="0" smtClean="0">
                <a:latin typeface="Helvetica" pitchFamily="34" charset="0"/>
              </a:rPr>
              <a:t>Count EFTPOS cash transactions</a:t>
            </a:r>
          </a:p>
          <a:p>
            <a:pPr marL="342900" indent="-342900">
              <a:spcBef>
                <a:spcPts val="600"/>
              </a:spcBef>
              <a:spcAft>
                <a:spcPts val="1200"/>
              </a:spcAft>
              <a:defRPr/>
            </a:pPr>
            <a:r>
              <a:rPr lang="en-US" sz="2200" dirty="0" smtClean="0">
                <a:latin typeface="Helvetica" pitchFamily="34" charset="0"/>
              </a:rPr>
              <a:t>Enter information on Cash Summary sheet</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207</a:t>
            </a:fld>
            <a:endParaRPr lang="en-US" dirty="0">
              <a:latin typeface="Helvetica" pitchFamily="34" charset="0"/>
            </a:endParaRPr>
          </a:p>
        </p:txBody>
      </p:sp>
      <p:pic>
        <p:nvPicPr>
          <p:cNvPr id="7" name="Picture 8" descr="Eftpos"/>
          <p:cNvPicPr>
            <a:picLocks noChangeAspect="1" noChangeArrowheads="1"/>
          </p:cNvPicPr>
          <p:nvPr/>
        </p:nvPicPr>
        <p:blipFill>
          <a:blip r:embed="rId3" cstate="print"/>
          <a:srcRect/>
          <a:stretch>
            <a:fillRect/>
          </a:stretch>
        </p:blipFill>
        <p:spPr bwMode="auto">
          <a:xfrm>
            <a:off x="6516216" y="1268760"/>
            <a:ext cx="1411312" cy="3168352"/>
          </a:xfrm>
          <a:prstGeom prst="rect">
            <a:avLst/>
          </a:prstGeom>
          <a:noFill/>
          <a:ln w="38100">
            <a:solidFill>
              <a:schemeClr val="bg2"/>
            </a:solidFill>
            <a:miter lim="800000"/>
            <a:headEnd/>
            <a:tailEnd/>
          </a:ln>
        </p:spPr>
      </p:pic>
    </p:spTree>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Determine final balance</a:t>
            </a:r>
          </a:p>
        </p:txBody>
      </p:sp>
      <p:sp>
        <p:nvSpPr>
          <p:cNvPr id="3" name="Content Placeholder 2"/>
          <p:cNvSpPr>
            <a:spLocks noGrp="1"/>
          </p:cNvSpPr>
          <p:nvPr>
            <p:ph idx="1"/>
          </p:nvPr>
        </p:nvSpPr>
        <p:spPr>
          <a:xfrm>
            <a:off x="611560" y="1124744"/>
            <a:ext cx="7467600" cy="5733256"/>
          </a:xfrm>
        </p:spPr>
        <p:txBody>
          <a:bodyPr>
            <a:noAutofit/>
          </a:bodyPr>
          <a:lstStyle/>
          <a:p>
            <a:pPr marL="0">
              <a:spcBef>
                <a:spcPts val="600"/>
              </a:spcBef>
              <a:spcAft>
                <a:spcPts val="1200"/>
              </a:spcAft>
              <a:buNone/>
            </a:pPr>
            <a:r>
              <a:rPr lang="en-US" sz="2200" dirty="0" smtClean="0">
                <a:latin typeface="Helvetica" pitchFamily="34" charset="0"/>
              </a:rPr>
              <a:t>Once all cash and non-cash payments have been calculated and the amounts entered on the Cash Summary Sheet, you then compare these individual amounts against the register reading.</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208</a:t>
            </a:fld>
            <a:endParaRPr lang="en-US" dirty="0">
              <a:latin typeface="Helvetica" pitchFamily="34" charset="0"/>
            </a:endParaRPr>
          </a:p>
        </p:txBody>
      </p:sp>
      <p:pic>
        <p:nvPicPr>
          <p:cNvPr id="6" name="Picture 5" descr="MP900409469[1].JPG"/>
          <p:cNvPicPr>
            <a:picLocks noChangeAspect="1"/>
          </p:cNvPicPr>
          <p:nvPr/>
        </p:nvPicPr>
        <p:blipFill>
          <a:blip r:embed="rId3" cstate="print"/>
          <a:stretch>
            <a:fillRect/>
          </a:stretch>
        </p:blipFill>
        <p:spPr>
          <a:xfrm>
            <a:off x="2843808" y="2996952"/>
            <a:ext cx="2737229" cy="1826245"/>
          </a:xfrm>
          <a:prstGeom prst="rect">
            <a:avLst/>
          </a:prstGeom>
        </p:spPr>
      </p:pic>
    </p:spTree>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Determine final balance</a:t>
            </a:r>
          </a:p>
        </p:txBody>
      </p:sp>
      <p:sp>
        <p:nvSpPr>
          <p:cNvPr id="3" name="Content Placeholder 2"/>
          <p:cNvSpPr>
            <a:spLocks noGrp="1"/>
          </p:cNvSpPr>
          <p:nvPr>
            <p:ph idx="1"/>
          </p:nvPr>
        </p:nvSpPr>
        <p:spPr>
          <a:xfrm>
            <a:off x="611560" y="1268760"/>
            <a:ext cx="7467600" cy="5589240"/>
          </a:xfrm>
        </p:spPr>
        <p:txBody>
          <a:bodyPr>
            <a:noAutofit/>
          </a:bodyPr>
          <a:lstStyle/>
          <a:p>
            <a:pPr marL="342900" indent="-342900">
              <a:spcBef>
                <a:spcPts val="600"/>
              </a:spcBef>
              <a:spcAft>
                <a:spcPts val="1200"/>
              </a:spcAft>
              <a:defRPr/>
            </a:pPr>
            <a:r>
              <a:rPr lang="en-US" sz="2200" dirty="0" smtClean="0">
                <a:latin typeface="Helvetica" pitchFamily="34" charset="0"/>
              </a:rPr>
              <a:t>It is your responsibility to determine whether or not the amount of money, cash and non-cash, actually counted matches the expected takings total</a:t>
            </a:r>
          </a:p>
          <a:p>
            <a:pPr marL="342900" indent="-342900">
              <a:spcBef>
                <a:spcPts val="600"/>
              </a:spcBef>
              <a:spcAft>
                <a:spcPts val="1200"/>
              </a:spcAft>
              <a:defRPr/>
            </a:pPr>
            <a:r>
              <a:rPr lang="en-US" sz="2200" dirty="0" smtClean="0">
                <a:latin typeface="Helvetica" pitchFamily="34" charset="0"/>
              </a:rPr>
              <a:t>The Cash Summary sheet total should match the ‘X/Z’ readings from the terminals</a:t>
            </a:r>
          </a:p>
          <a:p>
            <a:pPr marL="342900" indent="-342900">
              <a:spcBef>
                <a:spcPts val="600"/>
              </a:spcBef>
              <a:spcAft>
                <a:spcPts val="1200"/>
              </a:spcAft>
              <a:defRPr/>
            </a:pPr>
            <a:r>
              <a:rPr lang="en-US" sz="2200" dirty="0" smtClean="0">
                <a:latin typeface="Helvetica" pitchFamily="34" charset="0"/>
              </a:rPr>
              <a:t>Where the figures match, the register has balanced</a:t>
            </a:r>
          </a:p>
          <a:p>
            <a:pPr>
              <a:spcBef>
                <a:spcPts val="600"/>
              </a:spcBef>
              <a:spcAft>
                <a:spcPts val="1200"/>
              </a:spcAft>
            </a:pPr>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dirty="0" smtClean="0">
                <a:latin typeface="Helvetica" pitchFamily="34" charset="0"/>
              </a:rPr>
              <a:pPr/>
              <a:t>209</a:t>
            </a:fld>
            <a:endParaRPr lang="en-US" dirty="0" smtClean="0">
              <a:latin typeface="Helvetica" pitchFamily="34" charset="0"/>
            </a:endParaRPr>
          </a:p>
        </p:txBody>
      </p:sp>
      <p:pic>
        <p:nvPicPr>
          <p:cNvPr id="7" name="Picture 6" descr="Bill payment"/>
          <p:cNvPicPr>
            <a:picLocks noChangeAspect="1" noChangeArrowheads="1"/>
          </p:cNvPicPr>
          <p:nvPr/>
        </p:nvPicPr>
        <p:blipFill>
          <a:blip r:embed="rId3" cstate="print"/>
          <a:srcRect/>
          <a:stretch>
            <a:fillRect/>
          </a:stretch>
        </p:blipFill>
        <p:spPr bwMode="auto">
          <a:xfrm>
            <a:off x="6516216" y="4221088"/>
            <a:ext cx="1871737" cy="1248197"/>
          </a:xfrm>
          <a:prstGeom prst="rect">
            <a:avLst/>
          </a:prstGeom>
          <a:noFill/>
          <a:ln w="38100">
            <a:solidFill>
              <a:schemeClr val="bg2"/>
            </a:solidFill>
            <a:miter lim="800000"/>
            <a:headEnd/>
            <a:tailEnd/>
          </a:ln>
        </p:spPr>
      </p:pic>
    </p:spTree>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Identify discrepancies/variations</a:t>
            </a:r>
          </a:p>
        </p:txBody>
      </p:sp>
      <p:sp>
        <p:nvSpPr>
          <p:cNvPr id="3" name="Content Placeholder 2"/>
          <p:cNvSpPr>
            <a:spLocks noGrp="1"/>
          </p:cNvSpPr>
          <p:nvPr>
            <p:ph idx="1"/>
          </p:nvPr>
        </p:nvSpPr>
        <p:spPr>
          <a:xfrm>
            <a:off x="611560" y="1196752"/>
            <a:ext cx="7467600" cy="5661248"/>
          </a:xfrm>
        </p:spPr>
        <p:txBody>
          <a:bodyPr>
            <a:noAutofit/>
          </a:bodyPr>
          <a:lstStyle/>
          <a:p>
            <a:pPr marL="0" indent="-342900">
              <a:spcBef>
                <a:spcPts val="600"/>
              </a:spcBef>
              <a:spcAft>
                <a:spcPts val="1200"/>
              </a:spcAft>
              <a:buNone/>
              <a:defRPr/>
            </a:pPr>
            <a:r>
              <a:rPr lang="en-US" sz="2200" b="1" dirty="0" smtClean="0">
                <a:latin typeface="Helvetica" pitchFamily="34" charset="0"/>
              </a:rPr>
              <a:t>This occurs when the takings </a:t>
            </a:r>
            <a:r>
              <a:rPr lang="en-US" sz="2200" b="1" u="sng" dirty="0" smtClean="0">
                <a:latin typeface="Helvetica" pitchFamily="34" charset="0"/>
              </a:rPr>
              <a:t>do not match </a:t>
            </a:r>
            <a:r>
              <a:rPr lang="en-US" sz="2200" b="1" dirty="0" smtClean="0">
                <a:latin typeface="Helvetica" pitchFamily="34" charset="0"/>
              </a:rPr>
              <a:t>the figures stated on the ‘X/Z readings’.</a:t>
            </a:r>
            <a:endParaRPr lang="en-US" sz="2200" dirty="0" smtClean="0">
              <a:latin typeface="Helvetica" pitchFamily="34" charset="0"/>
            </a:endParaRPr>
          </a:p>
          <a:p>
            <a:pPr marL="342900" indent="-342900">
              <a:spcBef>
                <a:spcPts val="600"/>
              </a:spcBef>
              <a:spcAft>
                <a:spcPts val="1200"/>
              </a:spcAft>
              <a:buNone/>
              <a:defRPr/>
            </a:pPr>
            <a:r>
              <a:rPr lang="en-US" sz="2200" b="1" dirty="0" smtClean="0">
                <a:latin typeface="Helvetica" pitchFamily="34" charset="0"/>
              </a:rPr>
              <a:t>Overs:</a:t>
            </a:r>
          </a:p>
          <a:p>
            <a:pPr marL="342900" indent="-342900">
              <a:spcBef>
                <a:spcPts val="600"/>
              </a:spcBef>
              <a:spcAft>
                <a:spcPts val="1200"/>
              </a:spcAft>
              <a:defRPr/>
            </a:pPr>
            <a:r>
              <a:rPr lang="en-US" sz="2200" dirty="0" smtClean="0">
                <a:latin typeface="Helvetica" pitchFamily="34" charset="0"/>
              </a:rPr>
              <a:t>Actual takings are ‘over’ the readings</a:t>
            </a:r>
          </a:p>
          <a:p>
            <a:pPr marL="342900" indent="-342900">
              <a:spcBef>
                <a:spcPts val="600"/>
              </a:spcBef>
              <a:spcAft>
                <a:spcPts val="1200"/>
              </a:spcAft>
              <a:defRPr/>
            </a:pPr>
            <a:r>
              <a:rPr lang="en-US" sz="2200" dirty="0" smtClean="0">
                <a:latin typeface="Helvetica" pitchFamily="34" charset="0"/>
              </a:rPr>
              <a:t>You have </a:t>
            </a:r>
            <a:r>
              <a:rPr lang="en-US" sz="2200" u="sng" dirty="0" smtClean="0">
                <a:latin typeface="Helvetica" pitchFamily="34" charset="0"/>
              </a:rPr>
              <a:t>more money </a:t>
            </a:r>
            <a:r>
              <a:rPr lang="en-US" sz="2200" dirty="0" smtClean="0">
                <a:latin typeface="Helvetica" pitchFamily="34" charset="0"/>
              </a:rPr>
              <a:t>than expected</a:t>
            </a:r>
          </a:p>
          <a:p>
            <a:pPr marL="342900" indent="-342900">
              <a:spcBef>
                <a:spcPts val="600"/>
              </a:spcBef>
              <a:spcAft>
                <a:spcPts val="1200"/>
              </a:spcAft>
              <a:buNone/>
              <a:defRPr/>
            </a:pPr>
            <a:r>
              <a:rPr lang="en-US" sz="2200" b="1" dirty="0" smtClean="0">
                <a:latin typeface="Helvetica" pitchFamily="34" charset="0"/>
              </a:rPr>
              <a:t>Unders:</a:t>
            </a:r>
          </a:p>
          <a:p>
            <a:pPr marL="342900" indent="-342900">
              <a:spcBef>
                <a:spcPts val="600"/>
              </a:spcBef>
              <a:spcAft>
                <a:spcPts val="1200"/>
              </a:spcAft>
              <a:defRPr/>
            </a:pPr>
            <a:r>
              <a:rPr lang="en-US" sz="2200" dirty="0" smtClean="0">
                <a:latin typeface="Helvetica" pitchFamily="34" charset="0"/>
              </a:rPr>
              <a:t>Actual takings are ‘under’ the readings</a:t>
            </a:r>
          </a:p>
          <a:p>
            <a:pPr marL="342900" indent="-342900">
              <a:spcBef>
                <a:spcPts val="600"/>
              </a:spcBef>
              <a:spcAft>
                <a:spcPts val="1200"/>
              </a:spcAft>
              <a:defRPr/>
            </a:pPr>
            <a:r>
              <a:rPr lang="en-US" sz="2200" dirty="0" smtClean="0">
                <a:latin typeface="Helvetica" pitchFamily="34" charset="0"/>
              </a:rPr>
              <a:t>You have </a:t>
            </a:r>
            <a:r>
              <a:rPr lang="en-US" sz="2200" u="sng" dirty="0" smtClean="0">
                <a:latin typeface="Helvetica" pitchFamily="34" charset="0"/>
              </a:rPr>
              <a:t>less money </a:t>
            </a:r>
            <a:r>
              <a:rPr lang="en-US" sz="2200" dirty="0" smtClean="0">
                <a:latin typeface="Helvetica" pitchFamily="34" charset="0"/>
              </a:rPr>
              <a:t>than expected</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210</a:t>
            </a:fld>
            <a:endParaRPr lang="en-US" dirty="0">
              <a:latin typeface="Helvetica" pitchFamily="34" charset="0"/>
            </a:endParaRPr>
          </a:p>
        </p:txBody>
      </p:sp>
      <p:pic>
        <p:nvPicPr>
          <p:cNvPr id="6" name="Picture 5" descr="MP900407205[1].JPG"/>
          <p:cNvPicPr>
            <a:picLocks noChangeAspect="1"/>
          </p:cNvPicPr>
          <p:nvPr/>
        </p:nvPicPr>
        <p:blipFill>
          <a:blip r:embed="rId3" cstate="print"/>
          <a:stretch>
            <a:fillRect/>
          </a:stretch>
        </p:blipFill>
        <p:spPr>
          <a:xfrm>
            <a:off x="6588224" y="3933056"/>
            <a:ext cx="1800200" cy="1444675"/>
          </a:xfrm>
          <a:prstGeom prst="rect">
            <a:avLst/>
          </a:prstGeom>
        </p:spPr>
      </p:pic>
    </p:spTree>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Identify discrepancies/variations</a:t>
            </a:r>
          </a:p>
        </p:txBody>
      </p:sp>
      <p:sp>
        <p:nvSpPr>
          <p:cNvPr id="3" name="Content Placeholder 2"/>
          <p:cNvSpPr>
            <a:spLocks noGrp="1"/>
          </p:cNvSpPr>
          <p:nvPr>
            <p:ph idx="1"/>
          </p:nvPr>
        </p:nvSpPr>
        <p:spPr>
          <a:xfrm>
            <a:off x="611560" y="1268760"/>
            <a:ext cx="7467600" cy="5589240"/>
          </a:xfrm>
        </p:spPr>
        <p:txBody>
          <a:bodyPr>
            <a:noAutofit/>
          </a:bodyPr>
          <a:lstStyle/>
          <a:p>
            <a:pPr marL="342900" indent="-342900">
              <a:spcBef>
                <a:spcPts val="600"/>
              </a:spcBef>
              <a:spcAft>
                <a:spcPts val="1200"/>
              </a:spcAft>
              <a:buNone/>
              <a:defRPr/>
            </a:pPr>
            <a:r>
              <a:rPr lang="en-US" sz="2200" b="1" dirty="0" smtClean="0">
                <a:latin typeface="Helvetica" pitchFamily="34" charset="0"/>
              </a:rPr>
              <a:t>Steps to assist in identifying differences:</a:t>
            </a:r>
          </a:p>
          <a:p>
            <a:pPr marL="342900" indent="-342900">
              <a:spcBef>
                <a:spcPts val="600"/>
              </a:spcBef>
              <a:spcAft>
                <a:spcPts val="1200"/>
              </a:spcAft>
              <a:defRPr/>
            </a:pPr>
            <a:r>
              <a:rPr lang="en-US" sz="2200" dirty="0" smtClean="0">
                <a:latin typeface="Helvetica" pitchFamily="34" charset="0"/>
              </a:rPr>
              <a:t>Recount cash takings</a:t>
            </a:r>
          </a:p>
          <a:p>
            <a:pPr marL="342900" indent="-342900">
              <a:spcBef>
                <a:spcPts val="600"/>
              </a:spcBef>
              <a:spcAft>
                <a:spcPts val="1200"/>
              </a:spcAft>
              <a:defRPr/>
            </a:pPr>
            <a:r>
              <a:rPr lang="en-US" sz="2200" dirty="0" smtClean="0">
                <a:latin typeface="Helvetica" pitchFamily="34" charset="0"/>
              </a:rPr>
              <a:t>Recount non-cash takings</a:t>
            </a:r>
          </a:p>
          <a:p>
            <a:pPr marL="342900" indent="-342900">
              <a:spcBef>
                <a:spcPts val="600"/>
              </a:spcBef>
              <a:spcAft>
                <a:spcPts val="1200"/>
              </a:spcAft>
              <a:defRPr/>
            </a:pPr>
            <a:r>
              <a:rPr lang="en-US" sz="2200" dirty="0" smtClean="0">
                <a:latin typeface="Helvetica" pitchFamily="34" charset="0"/>
              </a:rPr>
              <a:t>Recalculate Cash Summary Sheet totals</a:t>
            </a:r>
          </a:p>
          <a:p>
            <a:pPr marL="342900" indent="-342900">
              <a:spcBef>
                <a:spcPts val="600"/>
              </a:spcBef>
              <a:spcAft>
                <a:spcPts val="1200"/>
              </a:spcAft>
              <a:defRPr/>
            </a:pPr>
            <a:r>
              <a:rPr lang="en-US" sz="2200" dirty="0" smtClean="0">
                <a:latin typeface="Helvetica" pitchFamily="34" charset="0"/>
              </a:rPr>
              <a:t>Look for ‘double charges’ on register readings</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211</a:t>
            </a:fld>
            <a:endParaRPr lang="en-US" dirty="0">
              <a:latin typeface="Helvetica" pitchFamily="34" charset="0"/>
            </a:endParaRPr>
          </a:p>
        </p:txBody>
      </p:sp>
      <p:pic>
        <p:nvPicPr>
          <p:cNvPr id="6" name="Picture 5" descr="MP900341625[1].JPG"/>
          <p:cNvPicPr>
            <a:picLocks noChangeAspect="1"/>
          </p:cNvPicPr>
          <p:nvPr/>
        </p:nvPicPr>
        <p:blipFill>
          <a:blip r:embed="rId3" cstate="print"/>
          <a:stretch>
            <a:fillRect/>
          </a:stretch>
        </p:blipFill>
        <p:spPr>
          <a:xfrm>
            <a:off x="6804248" y="3140968"/>
            <a:ext cx="1612738" cy="2260848"/>
          </a:xfrm>
          <a:prstGeom prst="rect">
            <a:avLst/>
          </a:prstGeom>
        </p:spPr>
      </p:pic>
    </p:spTree>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Report variations</a:t>
            </a:r>
          </a:p>
        </p:txBody>
      </p:sp>
      <p:sp>
        <p:nvSpPr>
          <p:cNvPr id="3" name="Content Placeholder 2"/>
          <p:cNvSpPr>
            <a:spLocks noGrp="1"/>
          </p:cNvSpPr>
          <p:nvPr>
            <p:ph idx="1"/>
          </p:nvPr>
        </p:nvSpPr>
        <p:spPr>
          <a:xfrm>
            <a:off x="611560" y="1196752"/>
            <a:ext cx="7467600" cy="5661248"/>
          </a:xfrm>
        </p:spPr>
        <p:txBody>
          <a:bodyPr>
            <a:noAutofit/>
          </a:bodyPr>
          <a:lstStyle/>
          <a:p>
            <a:pPr marL="0">
              <a:spcBef>
                <a:spcPts val="600"/>
              </a:spcBef>
              <a:spcAft>
                <a:spcPts val="1200"/>
              </a:spcAft>
              <a:buNone/>
            </a:pPr>
            <a:r>
              <a:rPr lang="en-US" sz="2200" dirty="0" smtClean="0">
                <a:latin typeface="Helvetica" pitchFamily="34" charset="0"/>
              </a:rPr>
              <a:t>Sometimes, no matter how hard you try, the causes of discrepancies cannot be found.</a:t>
            </a:r>
          </a:p>
          <a:p>
            <a:pPr>
              <a:spcBef>
                <a:spcPts val="600"/>
              </a:spcBef>
              <a:spcAft>
                <a:spcPts val="1200"/>
              </a:spcAft>
              <a:buNone/>
            </a:pPr>
            <a:r>
              <a:rPr lang="en-US" sz="2200" dirty="0" smtClean="0">
                <a:latin typeface="Helvetica" pitchFamily="34" charset="0"/>
              </a:rPr>
              <a:t>When this happens:</a:t>
            </a:r>
          </a:p>
          <a:p>
            <a:pPr>
              <a:spcBef>
                <a:spcPts val="600"/>
              </a:spcBef>
              <a:spcAft>
                <a:spcPts val="1200"/>
              </a:spcAft>
            </a:pPr>
            <a:r>
              <a:rPr lang="en-US" sz="2200" dirty="0" smtClean="0">
                <a:latin typeface="Helvetica" pitchFamily="34" charset="0"/>
              </a:rPr>
              <a:t>Note the discrepancy (over or under) on the Cash Summary Sheet</a:t>
            </a:r>
          </a:p>
          <a:p>
            <a:pPr>
              <a:spcBef>
                <a:spcPts val="600"/>
              </a:spcBef>
              <a:spcAft>
                <a:spcPts val="1200"/>
              </a:spcAft>
            </a:pPr>
            <a:r>
              <a:rPr lang="en-US" sz="2200" dirty="0" smtClean="0">
                <a:latin typeface="Helvetica" pitchFamily="34" charset="0"/>
              </a:rPr>
              <a:t>Bring the matter to the supervisor’s </a:t>
            </a:r>
            <a:br>
              <a:rPr lang="en-US" sz="2200" dirty="0" smtClean="0">
                <a:latin typeface="Helvetica" pitchFamily="34" charset="0"/>
              </a:rPr>
            </a:br>
            <a:r>
              <a:rPr lang="en-US" sz="2200" dirty="0" smtClean="0">
                <a:latin typeface="Helvetica" pitchFamily="34" charset="0"/>
              </a:rPr>
              <a:t>attention for further investigation</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212</a:t>
            </a:fld>
            <a:endParaRPr lang="en-US" dirty="0">
              <a:latin typeface="Helvetica" pitchFamily="34" charset="0"/>
            </a:endParaRPr>
          </a:p>
        </p:txBody>
      </p:sp>
      <p:pic>
        <p:nvPicPr>
          <p:cNvPr id="7" name="Picture 6" descr="MP900402225[1].JPG"/>
          <p:cNvPicPr>
            <a:picLocks noChangeAspect="1"/>
          </p:cNvPicPr>
          <p:nvPr/>
        </p:nvPicPr>
        <p:blipFill>
          <a:blip r:embed="rId3" cstate="print"/>
          <a:stretch>
            <a:fillRect/>
          </a:stretch>
        </p:blipFill>
        <p:spPr>
          <a:xfrm>
            <a:off x="6300192" y="3717032"/>
            <a:ext cx="2040856" cy="1637803"/>
          </a:xfrm>
          <a:prstGeom prst="rect">
            <a:avLst/>
          </a:prstGeom>
        </p:spPr>
      </p:pic>
    </p:spTree>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The Daily Takings Sheet</a:t>
            </a:r>
          </a:p>
        </p:txBody>
      </p:sp>
      <p:sp>
        <p:nvSpPr>
          <p:cNvPr id="3" name="Content Placeholder 2"/>
          <p:cNvSpPr>
            <a:spLocks noGrp="1"/>
          </p:cNvSpPr>
          <p:nvPr>
            <p:ph idx="1"/>
          </p:nvPr>
        </p:nvSpPr>
        <p:spPr>
          <a:xfrm>
            <a:off x="611560" y="1268760"/>
            <a:ext cx="7467600" cy="5589240"/>
          </a:xfrm>
        </p:spPr>
        <p:txBody>
          <a:bodyPr>
            <a:noAutofit/>
          </a:bodyPr>
          <a:lstStyle/>
          <a:p>
            <a:pPr marL="0">
              <a:spcBef>
                <a:spcPts val="600"/>
              </a:spcBef>
              <a:spcAft>
                <a:spcPts val="1200"/>
              </a:spcAft>
              <a:buNone/>
            </a:pPr>
            <a:r>
              <a:rPr lang="en-US" sz="2200" dirty="0" smtClean="0">
                <a:latin typeface="Helvetica" pitchFamily="34" charset="0"/>
              </a:rPr>
              <a:t>Form used to record the takings where revenue is obtained from </a:t>
            </a:r>
            <a:r>
              <a:rPr lang="en-US" sz="2200" u="sng" dirty="0" smtClean="0">
                <a:latin typeface="Helvetica" pitchFamily="34" charset="0"/>
              </a:rPr>
              <a:t>more than one cash register</a:t>
            </a:r>
            <a:r>
              <a:rPr lang="en-US" sz="2200" dirty="0" smtClean="0">
                <a:latin typeface="Helvetica" pitchFamily="34" charset="0"/>
              </a:rPr>
              <a:t> in a service area:</a:t>
            </a:r>
          </a:p>
          <a:p>
            <a:pPr marL="342900" indent="-342900">
              <a:spcBef>
                <a:spcPts val="600"/>
              </a:spcBef>
              <a:spcAft>
                <a:spcPts val="1200"/>
              </a:spcAft>
              <a:defRPr/>
            </a:pPr>
            <a:r>
              <a:rPr lang="en-US" sz="2200" dirty="0" smtClean="0">
                <a:latin typeface="Helvetica" pitchFamily="34" charset="0"/>
              </a:rPr>
              <a:t>Day and date</a:t>
            </a:r>
          </a:p>
          <a:p>
            <a:pPr marL="342900" indent="-342900">
              <a:spcBef>
                <a:spcPts val="600"/>
              </a:spcBef>
              <a:spcAft>
                <a:spcPts val="1200"/>
              </a:spcAft>
              <a:defRPr/>
            </a:pPr>
            <a:r>
              <a:rPr lang="en-US" sz="2200" dirty="0" smtClean="0">
                <a:latin typeface="Helvetica" pitchFamily="34" charset="0"/>
              </a:rPr>
              <a:t>Summary of sales activity </a:t>
            </a:r>
          </a:p>
          <a:p>
            <a:pPr marL="342900" indent="-342900">
              <a:spcBef>
                <a:spcPts val="600"/>
              </a:spcBef>
              <a:spcAft>
                <a:spcPts val="1200"/>
              </a:spcAft>
              <a:defRPr/>
            </a:pPr>
            <a:r>
              <a:rPr lang="en-US" sz="2200" dirty="0" smtClean="0">
                <a:latin typeface="Helvetica" pitchFamily="34" charset="0"/>
              </a:rPr>
              <a:t>Summary of all takings in categories</a:t>
            </a:r>
          </a:p>
          <a:p>
            <a:pPr marL="342900" indent="-342900">
              <a:spcBef>
                <a:spcPts val="600"/>
              </a:spcBef>
              <a:spcAft>
                <a:spcPts val="1200"/>
              </a:spcAft>
              <a:defRPr/>
            </a:pPr>
            <a:r>
              <a:rPr lang="en-US" sz="2200" dirty="0" smtClean="0">
                <a:latin typeface="Helvetica" pitchFamily="34" charset="0"/>
              </a:rPr>
              <a:t>‘Overs’ and ‘unders’</a:t>
            </a:r>
          </a:p>
          <a:p>
            <a:pPr marL="342900" indent="-342900">
              <a:spcBef>
                <a:spcPts val="600"/>
              </a:spcBef>
              <a:spcAft>
                <a:spcPts val="1200"/>
              </a:spcAft>
              <a:defRPr/>
            </a:pPr>
            <a:r>
              <a:rPr lang="en-US" sz="2200" dirty="0" smtClean="0">
                <a:latin typeface="Helvetica" pitchFamily="34" charset="0"/>
              </a:rPr>
              <a:t>All sources of revenue from every register                                   are recorded </a:t>
            </a:r>
          </a:p>
          <a:p>
            <a:pPr marL="342900" indent="-342900">
              <a:spcBef>
                <a:spcPts val="600"/>
              </a:spcBef>
              <a:spcAft>
                <a:spcPts val="1200"/>
              </a:spcAft>
              <a:defRPr/>
            </a:pPr>
            <a:r>
              <a:rPr lang="en-US" sz="2200" dirty="0" smtClean="0">
                <a:latin typeface="Helvetica" pitchFamily="34" charset="0"/>
              </a:rPr>
              <a:t>Your name/signature is added</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213</a:t>
            </a:fld>
            <a:endParaRPr lang="en-US" dirty="0">
              <a:latin typeface="Helvetica" pitchFamily="34" charset="0"/>
            </a:endParaRPr>
          </a:p>
        </p:txBody>
      </p:sp>
      <p:pic>
        <p:nvPicPr>
          <p:cNvPr id="6" name="Picture 5" descr="MP900422389[1].JPG"/>
          <p:cNvPicPr>
            <a:picLocks noChangeAspect="1"/>
          </p:cNvPicPr>
          <p:nvPr/>
        </p:nvPicPr>
        <p:blipFill>
          <a:blip r:embed="rId3" cstate="print"/>
          <a:stretch>
            <a:fillRect/>
          </a:stretch>
        </p:blipFill>
        <p:spPr>
          <a:xfrm>
            <a:off x="6948264" y="3212976"/>
            <a:ext cx="1435095" cy="2132856"/>
          </a:xfrm>
          <a:prstGeom prst="rect">
            <a:avLst/>
          </a:prstGeom>
        </p:spPr>
      </p:pic>
    </p:spTree>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pPr>
              <a:spcAft>
                <a:spcPts val="600"/>
              </a:spcAft>
            </a:pPr>
            <a:r>
              <a:rPr lang="en-AU" sz="3200" b="1" dirty="0" smtClean="0">
                <a:solidFill>
                  <a:srgbClr val="FF6600"/>
                </a:solidFill>
                <a:latin typeface="Helvetica" pitchFamily="34" charset="0"/>
              </a:rPr>
              <a:t>Forward cash and documentation</a:t>
            </a:r>
          </a:p>
        </p:txBody>
      </p:sp>
      <p:sp>
        <p:nvSpPr>
          <p:cNvPr id="3" name="Content Placeholder 2"/>
          <p:cNvSpPr>
            <a:spLocks noGrp="1"/>
          </p:cNvSpPr>
          <p:nvPr>
            <p:ph idx="1"/>
          </p:nvPr>
        </p:nvSpPr>
        <p:spPr>
          <a:xfrm>
            <a:off x="611560" y="1196752"/>
            <a:ext cx="7467600" cy="5661248"/>
          </a:xfrm>
        </p:spPr>
        <p:txBody>
          <a:bodyPr>
            <a:noAutofit/>
          </a:bodyPr>
          <a:lstStyle/>
          <a:p>
            <a:pPr marL="342900" indent="-342900">
              <a:spcBef>
                <a:spcPts val="600"/>
              </a:spcBef>
              <a:spcAft>
                <a:spcPts val="1200"/>
              </a:spcAft>
              <a:defRPr/>
            </a:pPr>
            <a:r>
              <a:rPr lang="en-US" sz="2200" dirty="0" smtClean="0">
                <a:latin typeface="Helvetica" pitchFamily="34" charset="0"/>
              </a:rPr>
              <a:t>Safely transport the cash and documentation to the desired location</a:t>
            </a:r>
          </a:p>
          <a:p>
            <a:pPr marL="342900" indent="-342900">
              <a:spcBef>
                <a:spcPts val="600"/>
              </a:spcBef>
              <a:spcAft>
                <a:spcPts val="1200"/>
              </a:spcAft>
              <a:defRPr/>
            </a:pPr>
            <a:r>
              <a:rPr lang="en-US" sz="2200" dirty="0" smtClean="0">
                <a:latin typeface="Helvetica" pitchFamily="34" charset="0"/>
              </a:rPr>
              <a:t>Arrange security to assist with transport</a:t>
            </a:r>
          </a:p>
          <a:p>
            <a:pPr marL="342900" indent="-342900">
              <a:spcBef>
                <a:spcPts val="600"/>
              </a:spcBef>
              <a:spcAft>
                <a:spcPts val="1200"/>
              </a:spcAft>
              <a:defRPr/>
            </a:pPr>
            <a:r>
              <a:rPr lang="en-US" sz="2200" dirty="0" smtClean="0">
                <a:latin typeface="Helvetica" pitchFamily="34" charset="0"/>
              </a:rPr>
              <a:t>Store securely in safe</a:t>
            </a:r>
          </a:p>
          <a:p>
            <a:pPr marL="342900" indent="-342900">
              <a:spcBef>
                <a:spcPts val="600"/>
              </a:spcBef>
              <a:spcAft>
                <a:spcPts val="1200"/>
              </a:spcAft>
              <a:defRPr/>
            </a:pPr>
            <a:r>
              <a:rPr lang="en-US" sz="2200" dirty="0" smtClean="0">
                <a:latin typeface="Helvetica" pitchFamily="34" charset="0"/>
              </a:rPr>
              <a:t>Sign off cash and documentation</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214</a:t>
            </a:fld>
            <a:endParaRPr lang="en-US" dirty="0">
              <a:latin typeface="Helvetica" pitchFamily="34" charset="0"/>
            </a:endParaRPr>
          </a:p>
        </p:txBody>
      </p:sp>
      <p:pic>
        <p:nvPicPr>
          <p:cNvPr id="7" name="Picture 6" descr="MP910220909[1].JPG"/>
          <p:cNvPicPr>
            <a:picLocks noChangeAspect="1"/>
          </p:cNvPicPr>
          <p:nvPr/>
        </p:nvPicPr>
        <p:blipFill>
          <a:blip r:embed="rId3" cstate="print"/>
          <a:stretch>
            <a:fillRect/>
          </a:stretch>
        </p:blipFill>
        <p:spPr>
          <a:xfrm>
            <a:off x="6444208" y="3429000"/>
            <a:ext cx="1990276" cy="1988840"/>
          </a:xfrm>
          <a:prstGeom prst="rect">
            <a:avLst/>
          </a:prstGeom>
        </p:spPr>
      </p:pic>
    </p:spTree>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215</a:t>
            </a:fld>
            <a:endParaRPr lang="en-US" dirty="0">
              <a:latin typeface="Helvetica" pitchFamily="34" charset="0"/>
            </a:endParaRPr>
          </a:p>
        </p:txBody>
      </p:sp>
      <p:pic>
        <p:nvPicPr>
          <p:cNvPr id="6" name="Picture 5" descr="MP900407417.JPG"/>
          <p:cNvPicPr>
            <a:picLocks noChangeAspect="1"/>
          </p:cNvPicPr>
          <p:nvPr/>
        </p:nvPicPr>
        <p:blipFill>
          <a:blip r:embed="rId3" cstate="print"/>
          <a:stretch>
            <a:fillRect/>
          </a:stretch>
        </p:blipFill>
        <p:spPr>
          <a:xfrm>
            <a:off x="2843808" y="2780928"/>
            <a:ext cx="2444207" cy="2492896"/>
          </a:xfrm>
          <a:prstGeom prst="rect">
            <a:avLst/>
          </a:prstGeom>
        </p:spPr>
      </p:pic>
      <p:grpSp>
        <p:nvGrpSpPr>
          <p:cNvPr id="5" name="Group 4"/>
          <p:cNvGrpSpPr/>
          <p:nvPr/>
        </p:nvGrpSpPr>
        <p:grpSpPr>
          <a:xfrm>
            <a:off x="1043608" y="1700808"/>
            <a:ext cx="5616624" cy="665163"/>
            <a:chOff x="1752600" y="2057400"/>
            <a:chExt cx="5326105" cy="665163"/>
          </a:xfrm>
        </p:grpSpPr>
        <p:grpSp>
          <p:nvGrpSpPr>
            <p:cNvPr id="7" name="Group 4"/>
            <p:cNvGrpSpPr>
              <a:grpSpLocks/>
            </p:cNvGrpSpPr>
            <p:nvPr/>
          </p:nvGrpSpPr>
          <p:grpSpPr bwMode="auto">
            <a:xfrm>
              <a:off x="1752600" y="2057400"/>
              <a:ext cx="762000" cy="665163"/>
              <a:chOff x="1110" y="2656"/>
              <a:chExt cx="1549" cy="1351"/>
            </a:xfrm>
          </p:grpSpPr>
          <p:sp>
            <p:nvSpPr>
              <p:cNvPr id="11"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p>
            </p:txBody>
          </p:sp>
          <p:sp>
            <p:nvSpPr>
              <p:cNvPr id="12"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p>
            </p:txBody>
          </p:sp>
          <p:sp>
            <p:nvSpPr>
              <p:cNvPr id="13" name="AutoShape 7"/>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p>
            </p:txBody>
          </p:sp>
        </p:grpSp>
        <p:sp>
          <p:nvSpPr>
            <p:cNvPr id="8" name="Line 8"/>
            <p:cNvSpPr>
              <a:spLocks noChangeShapeType="1"/>
            </p:cNvSpPr>
            <p:nvPr/>
          </p:nvSpPr>
          <p:spPr bwMode="auto">
            <a:xfrm>
              <a:off x="2362200" y="2667000"/>
              <a:ext cx="4369652" cy="0"/>
            </a:xfrm>
            <a:prstGeom prst="line">
              <a:avLst/>
            </a:prstGeom>
            <a:noFill/>
            <a:ln w="25400">
              <a:solidFill>
                <a:schemeClr val="bg2"/>
              </a:solidFill>
              <a:prstDash val="sysDot"/>
              <a:round/>
              <a:headEnd/>
              <a:tailEnd type="oval" w="med" len="med"/>
            </a:ln>
          </p:spPr>
          <p:txBody>
            <a:bodyPr wrap="none" anchor="ctr"/>
            <a:lstStyle/>
            <a:p>
              <a:endParaRPr lang="en-AU" dirty="0"/>
            </a:p>
          </p:txBody>
        </p:sp>
        <p:sp>
          <p:nvSpPr>
            <p:cNvPr id="9" name="Text Box 9"/>
            <p:cNvSpPr txBox="1">
              <a:spLocks noChangeArrowheads="1"/>
            </p:cNvSpPr>
            <p:nvPr/>
          </p:nvSpPr>
          <p:spPr bwMode="auto">
            <a:xfrm>
              <a:off x="2544688" y="2116882"/>
              <a:ext cx="4534017" cy="461665"/>
            </a:xfrm>
            <a:prstGeom prst="rect">
              <a:avLst/>
            </a:prstGeom>
            <a:noFill/>
            <a:ln w="9525" algn="ctr">
              <a:noFill/>
              <a:miter lim="800000"/>
              <a:headEnd/>
              <a:tailEnd/>
            </a:ln>
          </p:spPr>
          <p:txBody>
            <a:bodyPr wrap="square">
              <a:spAutoFit/>
            </a:bodyPr>
            <a:lstStyle/>
            <a:p>
              <a:r>
                <a:rPr lang="en-AU" sz="2400" b="1" dirty="0" smtClean="0">
                  <a:solidFill>
                    <a:srgbClr val="FF6600"/>
                  </a:solidFill>
                  <a:latin typeface="Helvetica" pitchFamily="34" charset="0"/>
                </a:rPr>
                <a:t>Close down food service area</a:t>
              </a:r>
            </a:p>
          </p:txBody>
        </p:sp>
        <p:sp>
          <p:nvSpPr>
            <p:cNvPr id="10" name="Text Box 10"/>
            <p:cNvSpPr txBox="1">
              <a:spLocks noChangeArrowheads="1"/>
            </p:cNvSpPr>
            <p:nvPr/>
          </p:nvSpPr>
          <p:spPr bwMode="gray">
            <a:xfrm>
              <a:off x="1957574" y="2155825"/>
              <a:ext cx="337764" cy="461665"/>
            </a:xfrm>
            <a:prstGeom prst="rect">
              <a:avLst/>
            </a:prstGeom>
            <a:noFill/>
            <a:ln w="9525" algn="ctr">
              <a:noFill/>
              <a:miter lim="800000"/>
              <a:headEnd/>
              <a:tailEnd/>
            </a:ln>
          </p:spPr>
          <p:txBody>
            <a:bodyPr wrap="none">
              <a:spAutoFit/>
            </a:bodyPr>
            <a:lstStyle/>
            <a:p>
              <a:pPr algn="ctr" eaLnBrk="0" hangingPunct="0"/>
              <a:r>
                <a:rPr lang="en-AU" sz="2400" b="1" dirty="0" smtClean="0">
                  <a:solidFill>
                    <a:schemeClr val="bg1"/>
                  </a:solidFill>
                  <a:latin typeface="Helvetica" pitchFamily="34" charset="0"/>
                </a:rPr>
                <a:t>6</a:t>
              </a:r>
              <a:endParaRPr lang="en-AU" sz="2400" b="1" dirty="0">
                <a:solidFill>
                  <a:schemeClr val="bg1"/>
                </a:solidFill>
                <a:latin typeface="Helvetica" pitchFamily="34" charset="0"/>
              </a:endParaRPr>
            </a:p>
          </p:txBody>
        </p:sp>
      </p:grpSp>
    </p:spTree>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pPr marL="0" lvl="0"/>
            <a:r>
              <a:rPr lang="en-AU" sz="3200" b="1" dirty="0" smtClean="0">
                <a:solidFill>
                  <a:srgbClr val="FF6600"/>
                </a:solidFill>
                <a:latin typeface="Helvetica" pitchFamily="34" charset="0"/>
              </a:rPr>
              <a:t>Close down food service area</a:t>
            </a:r>
          </a:p>
        </p:txBody>
      </p:sp>
      <p:sp>
        <p:nvSpPr>
          <p:cNvPr id="3" name="Content Placeholder 2"/>
          <p:cNvSpPr>
            <a:spLocks noGrp="1"/>
          </p:cNvSpPr>
          <p:nvPr>
            <p:ph idx="1"/>
          </p:nvPr>
        </p:nvSpPr>
        <p:spPr>
          <a:xfrm>
            <a:off x="611560" y="1196752"/>
            <a:ext cx="7467600" cy="5328592"/>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Store and/or prepare equipment for the next service, in accordance with enterprise procedures  </a:t>
            </a:r>
          </a:p>
          <a:p>
            <a:pPr>
              <a:spcBef>
                <a:spcPts val="600"/>
              </a:spcBef>
              <a:spcAft>
                <a:spcPts val="1200"/>
              </a:spcAft>
            </a:pPr>
            <a:r>
              <a:rPr lang="en-AU" sz="2200" dirty="0" smtClean="0">
                <a:latin typeface="Helvetica" pitchFamily="34" charset="0"/>
              </a:rPr>
              <a:t>Clear, clean or dismantle area in accordance with enterprise procedures and safety requirements   </a:t>
            </a:r>
          </a:p>
          <a:p>
            <a:pPr>
              <a:spcBef>
                <a:spcPts val="600"/>
              </a:spcBef>
              <a:spcAft>
                <a:spcPts val="1200"/>
              </a:spcAft>
            </a:pPr>
            <a:r>
              <a:rPr lang="en-AU" sz="2200" dirty="0" smtClean="0">
                <a:latin typeface="Helvetica" pitchFamily="34" charset="0"/>
              </a:rPr>
              <a:t>Set up area correctly for the next service, </a:t>
            </a:r>
            <a:br>
              <a:rPr lang="en-AU" sz="2200" dirty="0" smtClean="0">
                <a:latin typeface="Helvetica" pitchFamily="34" charset="0"/>
              </a:rPr>
            </a:br>
            <a:r>
              <a:rPr lang="en-AU" sz="2200" dirty="0" smtClean="0">
                <a:latin typeface="Helvetica" pitchFamily="34" charset="0"/>
              </a:rPr>
              <a:t>in accordance with enterprise </a:t>
            </a:r>
            <a:br>
              <a:rPr lang="en-AU" sz="2200" dirty="0" smtClean="0">
                <a:latin typeface="Helvetica" pitchFamily="34" charset="0"/>
              </a:rPr>
            </a:br>
            <a:r>
              <a:rPr lang="en-AU" sz="2200" dirty="0" smtClean="0">
                <a:latin typeface="Helvetica" pitchFamily="34" charset="0"/>
              </a:rPr>
              <a:t>procedures and requirements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216</a:t>
            </a:fld>
            <a:endParaRPr lang="en-US" dirty="0">
              <a:latin typeface="Helvetica" pitchFamily="34" charset="0"/>
            </a:endParaRPr>
          </a:p>
        </p:txBody>
      </p:sp>
      <p:pic>
        <p:nvPicPr>
          <p:cNvPr id="8" name="Picture 7" descr="MP900177962[1].JPG"/>
          <p:cNvPicPr>
            <a:picLocks noChangeAspect="1"/>
          </p:cNvPicPr>
          <p:nvPr/>
        </p:nvPicPr>
        <p:blipFill>
          <a:blip r:embed="rId3" cstate="print"/>
          <a:stretch>
            <a:fillRect/>
          </a:stretch>
        </p:blipFill>
        <p:spPr>
          <a:xfrm>
            <a:off x="6012160" y="4005064"/>
            <a:ext cx="2368860" cy="1579240"/>
          </a:xfrm>
          <a:prstGeom prst="rect">
            <a:avLst/>
          </a:prstGeom>
        </p:spPr>
      </p:pic>
    </p:spTree>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pPr marL="0" lvl="0"/>
            <a:r>
              <a:rPr lang="en-AU" sz="3200" b="1" dirty="0" smtClean="0">
                <a:solidFill>
                  <a:srgbClr val="FF6600"/>
                </a:solidFill>
                <a:latin typeface="Helvetica" pitchFamily="34" charset="0"/>
              </a:rPr>
              <a:t>Close down food service area</a:t>
            </a:r>
          </a:p>
        </p:txBody>
      </p:sp>
      <p:sp>
        <p:nvSpPr>
          <p:cNvPr id="3" name="Content Placeholder 2"/>
          <p:cNvSpPr>
            <a:spLocks noGrp="1"/>
          </p:cNvSpPr>
          <p:nvPr>
            <p:ph idx="1"/>
          </p:nvPr>
        </p:nvSpPr>
        <p:spPr>
          <a:xfrm>
            <a:off x="611560" y="1196752"/>
            <a:ext cx="7467600" cy="5328592"/>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Review and evaluate services with colleagues, where appropriate, identifying possible improvements  </a:t>
            </a:r>
          </a:p>
          <a:p>
            <a:pPr>
              <a:spcBef>
                <a:spcPts val="600"/>
              </a:spcBef>
              <a:spcAft>
                <a:spcPts val="1200"/>
              </a:spcAft>
            </a:pPr>
            <a:r>
              <a:rPr lang="en-AU" sz="2200" dirty="0" smtClean="0">
                <a:latin typeface="Helvetica" pitchFamily="34" charset="0"/>
              </a:rPr>
              <a:t>Provide handover to incoming colleagues and share any relevant information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217</a:t>
            </a:fld>
            <a:endParaRPr lang="en-US" dirty="0">
              <a:latin typeface="Helvetica" pitchFamily="34" charset="0"/>
            </a:endParaRPr>
          </a:p>
        </p:txBody>
      </p:sp>
      <p:pic>
        <p:nvPicPr>
          <p:cNvPr id="7" name="Picture 6" descr="MP900285031[1].JPG"/>
          <p:cNvPicPr>
            <a:picLocks noChangeAspect="1"/>
          </p:cNvPicPr>
          <p:nvPr/>
        </p:nvPicPr>
        <p:blipFill>
          <a:blip r:embed="rId3" cstate="print"/>
          <a:stretch>
            <a:fillRect/>
          </a:stretch>
        </p:blipFill>
        <p:spPr>
          <a:xfrm>
            <a:off x="5652120" y="3573016"/>
            <a:ext cx="2703834" cy="1780024"/>
          </a:xfrm>
          <a:prstGeom prst="rect">
            <a:avLst/>
          </a:prstGeom>
        </p:spPr>
      </p:pic>
    </p:spTree>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pPr>
              <a:spcAft>
                <a:spcPts val="600"/>
              </a:spcAft>
            </a:pPr>
            <a:r>
              <a:rPr lang="en-AU" sz="3200" b="1" dirty="0" smtClean="0">
                <a:solidFill>
                  <a:srgbClr val="FF6600"/>
                </a:solidFill>
                <a:latin typeface="Helvetica" pitchFamily="34" charset="0"/>
              </a:rPr>
              <a:t>Preparing for the next shift</a:t>
            </a:r>
          </a:p>
        </p:txBody>
      </p:sp>
      <p:sp>
        <p:nvSpPr>
          <p:cNvPr id="3" name="Content Placeholder 2"/>
          <p:cNvSpPr>
            <a:spLocks noGrp="1"/>
          </p:cNvSpPr>
          <p:nvPr>
            <p:ph idx="1"/>
          </p:nvPr>
        </p:nvSpPr>
        <p:spPr>
          <a:xfrm>
            <a:off x="611560" y="1124744"/>
            <a:ext cx="7632848" cy="5733256"/>
          </a:xfrm>
        </p:spPr>
        <p:txBody>
          <a:bodyPr>
            <a:noAutofit/>
          </a:bodyPr>
          <a:lstStyle/>
          <a:p>
            <a:pPr>
              <a:spcBef>
                <a:spcPts val="600"/>
              </a:spcBef>
              <a:spcAft>
                <a:spcPts val="1200"/>
              </a:spcAft>
              <a:buNone/>
            </a:pPr>
            <a:r>
              <a:rPr lang="en-AU" sz="2200" dirty="0" smtClean="0">
                <a:latin typeface="Helvetica" pitchFamily="34" charset="0"/>
              </a:rPr>
              <a:t>The procedures can include:</a:t>
            </a:r>
          </a:p>
          <a:p>
            <a:pPr lvl="0">
              <a:spcBef>
                <a:spcPts val="600"/>
              </a:spcBef>
              <a:spcAft>
                <a:spcPts val="1200"/>
              </a:spcAft>
            </a:pPr>
            <a:r>
              <a:rPr lang="en-AU" sz="2200" dirty="0" smtClean="0">
                <a:latin typeface="Helvetica" pitchFamily="34" charset="0"/>
              </a:rPr>
              <a:t>Clearing, cleaning, tidying, dismantling equipment, storing furniture</a:t>
            </a:r>
          </a:p>
          <a:p>
            <a:pPr lvl="0">
              <a:spcBef>
                <a:spcPts val="600"/>
              </a:spcBef>
              <a:spcAft>
                <a:spcPts val="1200"/>
              </a:spcAft>
            </a:pPr>
            <a:r>
              <a:rPr lang="en-AU" sz="2200" dirty="0" smtClean="0">
                <a:latin typeface="Helvetica" pitchFamily="34" charset="0"/>
              </a:rPr>
              <a:t> Turning various items of equipment off</a:t>
            </a:r>
          </a:p>
          <a:p>
            <a:pPr lvl="0">
              <a:spcBef>
                <a:spcPts val="600"/>
              </a:spcBef>
              <a:spcAft>
                <a:spcPts val="1200"/>
              </a:spcAft>
            </a:pPr>
            <a:r>
              <a:rPr lang="en-AU" sz="2200" dirty="0" smtClean="0">
                <a:latin typeface="Helvetica" pitchFamily="34" charset="0"/>
              </a:rPr>
              <a:t>Ordering stock</a:t>
            </a:r>
          </a:p>
          <a:p>
            <a:pPr lvl="0">
              <a:spcBef>
                <a:spcPts val="600"/>
              </a:spcBef>
              <a:spcAft>
                <a:spcPts val="1200"/>
              </a:spcAft>
            </a:pPr>
            <a:r>
              <a:rPr lang="en-AU" sz="2200" dirty="0" smtClean="0">
                <a:latin typeface="Helvetica" pitchFamily="34" charset="0"/>
              </a:rPr>
              <a:t>Stowing stock away</a:t>
            </a:r>
          </a:p>
          <a:p>
            <a:pPr lvl="0">
              <a:spcBef>
                <a:spcPts val="600"/>
              </a:spcBef>
              <a:spcAft>
                <a:spcPts val="1200"/>
              </a:spcAft>
            </a:pPr>
            <a:r>
              <a:rPr lang="en-AU" sz="2200" dirty="0" smtClean="0">
                <a:latin typeface="Helvetica" pitchFamily="34" charset="0"/>
              </a:rPr>
              <a:t>Holding a de-briefing session</a:t>
            </a:r>
          </a:p>
          <a:p>
            <a:pPr lvl="0">
              <a:spcBef>
                <a:spcPts val="600"/>
              </a:spcBef>
              <a:spcAft>
                <a:spcPts val="1200"/>
              </a:spcAft>
            </a:pPr>
            <a:r>
              <a:rPr lang="en-AU" sz="2200" dirty="0" smtClean="0">
                <a:latin typeface="Helvetica" pitchFamily="34" charset="0"/>
              </a:rPr>
              <a:t>Handing over the room to the next shift</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218</a:t>
            </a:fld>
            <a:endParaRPr lang="en-US" dirty="0">
              <a:latin typeface="Helvetica" pitchFamily="34" charset="0"/>
            </a:endParaRPr>
          </a:p>
        </p:txBody>
      </p:sp>
      <p:pic>
        <p:nvPicPr>
          <p:cNvPr id="6" name="Picture 5" descr="IMG_1974.jpg"/>
          <p:cNvPicPr>
            <a:picLocks noChangeAspect="1"/>
          </p:cNvPicPr>
          <p:nvPr/>
        </p:nvPicPr>
        <p:blipFill>
          <a:blip r:embed="rId3" cstate="print"/>
          <a:stretch>
            <a:fillRect/>
          </a:stretch>
        </p:blipFill>
        <p:spPr>
          <a:xfrm>
            <a:off x="6012160" y="3861048"/>
            <a:ext cx="2459765" cy="1844824"/>
          </a:xfrm>
          <a:prstGeom prst="rect">
            <a:avLst/>
          </a:prstGeom>
        </p:spPr>
      </p:pic>
    </p:spTree>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Storing and preparing equipment</a:t>
            </a:r>
            <a:endParaRPr lang="en-AU" sz="32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Autofit/>
          </a:bodyPr>
          <a:lstStyle/>
          <a:p>
            <a:pPr marL="0">
              <a:spcBef>
                <a:spcPts val="600"/>
              </a:spcBef>
              <a:spcAft>
                <a:spcPts val="1200"/>
              </a:spcAft>
              <a:buNone/>
            </a:pPr>
            <a:r>
              <a:rPr lang="en-AU" sz="2200" dirty="0" smtClean="0">
                <a:latin typeface="Helvetica" pitchFamily="34" charset="0"/>
              </a:rPr>
              <a:t>At the end of the shift, specific and regular tasks may be required. </a:t>
            </a:r>
          </a:p>
          <a:p>
            <a:pPr>
              <a:spcBef>
                <a:spcPts val="600"/>
              </a:spcBef>
              <a:spcAft>
                <a:spcPts val="1200"/>
              </a:spcAft>
              <a:buNone/>
            </a:pPr>
            <a:r>
              <a:rPr lang="en-AU" sz="2200" dirty="0" smtClean="0">
                <a:latin typeface="Helvetica" pitchFamily="34" charset="0"/>
              </a:rPr>
              <a:t>These pieces of equipment and items may need to be:</a:t>
            </a:r>
          </a:p>
          <a:p>
            <a:pPr lvl="0">
              <a:spcBef>
                <a:spcPts val="600"/>
              </a:spcBef>
              <a:spcAft>
                <a:spcPts val="1200"/>
              </a:spcAft>
            </a:pPr>
            <a:r>
              <a:rPr lang="en-AU" sz="2200" dirty="0" smtClean="0">
                <a:latin typeface="Helvetica" pitchFamily="34" charset="0"/>
              </a:rPr>
              <a:t>Cleaned and left out ready for the next shift </a:t>
            </a:r>
          </a:p>
          <a:p>
            <a:pPr lvl="0">
              <a:spcBef>
                <a:spcPts val="600"/>
              </a:spcBef>
              <a:spcAft>
                <a:spcPts val="1200"/>
              </a:spcAft>
            </a:pPr>
            <a:r>
              <a:rPr lang="en-AU" sz="2200" dirty="0" smtClean="0">
                <a:latin typeface="Helvetica" pitchFamily="34" charset="0"/>
              </a:rPr>
              <a:t>Cleaned and stored away ready for use                            some time in the future</a:t>
            </a:r>
          </a:p>
          <a:p>
            <a:pPr lvl="0">
              <a:spcBef>
                <a:spcPts val="600"/>
              </a:spcBef>
              <a:spcAft>
                <a:spcPts val="1200"/>
              </a:spcAft>
            </a:pPr>
            <a:r>
              <a:rPr lang="en-AU" sz="2200" dirty="0" smtClean="0">
                <a:latin typeface="Helvetica" pitchFamily="34" charset="0"/>
              </a:rPr>
              <a:t>Turning off specified electrical items</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219</a:t>
            </a:fld>
            <a:endParaRPr lang="en-US" dirty="0">
              <a:latin typeface="Helvetica" pitchFamily="34" charset="0"/>
            </a:endParaRPr>
          </a:p>
        </p:txBody>
      </p:sp>
      <p:pic>
        <p:nvPicPr>
          <p:cNvPr id="7" name="Picture 6" descr="IMG_2009.jpg"/>
          <p:cNvPicPr/>
          <p:nvPr/>
        </p:nvPicPr>
        <p:blipFill>
          <a:blip r:embed="rId3" cstate="print"/>
          <a:stretch>
            <a:fillRect/>
          </a:stretch>
        </p:blipFill>
        <p:spPr>
          <a:xfrm>
            <a:off x="6084168" y="3933056"/>
            <a:ext cx="2273548" cy="1669157"/>
          </a:xfrm>
          <a:prstGeom prst="rect">
            <a:avLst/>
          </a:prstGeom>
        </p:spPr>
      </p:pic>
    </p:spTree>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Storing and preparing equipment</a:t>
            </a:r>
            <a:endParaRPr lang="en-AU" sz="32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Autofit/>
          </a:bodyPr>
          <a:lstStyle/>
          <a:p>
            <a:pPr marL="0">
              <a:spcBef>
                <a:spcPts val="600"/>
              </a:spcBef>
              <a:spcAft>
                <a:spcPts val="1200"/>
              </a:spcAft>
              <a:buNone/>
            </a:pPr>
            <a:r>
              <a:rPr lang="en-AU" sz="2200" dirty="0" smtClean="0">
                <a:latin typeface="Helvetica" pitchFamily="34" charset="0"/>
              </a:rPr>
              <a:t>Equipment and other items that may require such attention includes: </a:t>
            </a:r>
          </a:p>
          <a:p>
            <a:pPr lvl="0">
              <a:spcBef>
                <a:spcPts val="600"/>
              </a:spcBef>
              <a:spcAft>
                <a:spcPts val="1200"/>
              </a:spcAft>
            </a:pPr>
            <a:r>
              <a:rPr lang="en-AU" sz="2200" dirty="0" smtClean="0">
                <a:latin typeface="Helvetica" pitchFamily="34" charset="0"/>
              </a:rPr>
              <a:t>Coffee machines</a:t>
            </a:r>
          </a:p>
          <a:p>
            <a:pPr lvl="0">
              <a:spcBef>
                <a:spcPts val="600"/>
              </a:spcBef>
              <a:spcAft>
                <a:spcPts val="1200"/>
              </a:spcAft>
            </a:pPr>
            <a:r>
              <a:rPr lang="en-AU" sz="2200" dirty="0" smtClean="0">
                <a:latin typeface="Helvetica" pitchFamily="34" charset="0"/>
              </a:rPr>
              <a:t>Tea making facilities</a:t>
            </a:r>
          </a:p>
          <a:p>
            <a:pPr lvl="0">
              <a:spcBef>
                <a:spcPts val="600"/>
              </a:spcBef>
              <a:spcAft>
                <a:spcPts val="1200"/>
              </a:spcAft>
            </a:pPr>
            <a:r>
              <a:rPr lang="en-AU" sz="2200" dirty="0" smtClean="0">
                <a:latin typeface="Helvetica" pitchFamily="34" charset="0"/>
              </a:rPr>
              <a:t>Bain-maries </a:t>
            </a:r>
          </a:p>
          <a:p>
            <a:pPr lvl="0">
              <a:spcBef>
                <a:spcPts val="600"/>
              </a:spcBef>
              <a:spcAft>
                <a:spcPts val="1200"/>
              </a:spcAft>
            </a:pPr>
            <a:r>
              <a:rPr lang="en-AU" sz="2200" dirty="0" smtClean="0">
                <a:latin typeface="Helvetica" pitchFamily="34" charset="0"/>
              </a:rPr>
              <a:t>Toasters</a:t>
            </a:r>
          </a:p>
          <a:p>
            <a:pPr lvl="0">
              <a:spcBef>
                <a:spcPts val="600"/>
              </a:spcBef>
              <a:spcAft>
                <a:spcPts val="1200"/>
              </a:spcAft>
            </a:pPr>
            <a:r>
              <a:rPr lang="en-AU" sz="2200" dirty="0" smtClean="0">
                <a:latin typeface="Helvetica" pitchFamily="34" charset="0"/>
              </a:rPr>
              <a:t>Menus and wine lists</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220</a:t>
            </a:fld>
            <a:endParaRPr lang="en-US" dirty="0">
              <a:latin typeface="Helvetica" pitchFamily="34" charset="0"/>
            </a:endParaRPr>
          </a:p>
        </p:txBody>
      </p:sp>
      <p:pic>
        <p:nvPicPr>
          <p:cNvPr id="6" name="Picture 5" descr="IMG_2014.jpg"/>
          <p:cNvPicPr/>
          <p:nvPr/>
        </p:nvPicPr>
        <p:blipFill>
          <a:blip r:embed="rId3" cstate="print"/>
          <a:stretch>
            <a:fillRect/>
          </a:stretch>
        </p:blipFill>
        <p:spPr>
          <a:xfrm>
            <a:off x="6516216" y="3212976"/>
            <a:ext cx="1859275" cy="2216274"/>
          </a:xfrm>
          <a:prstGeom prst="rect">
            <a:avLst/>
          </a:prstGeom>
        </p:spPr>
      </p:pic>
    </p:spTree>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92088"/>
          </a:xfrm>
        </p:spPr>
        <p:txBody>
          <a:bodyPr>
            <a:normAutofit/>
          </a:bodyPr>
          <a:lstStyle/>
          <a:p>
            <a:r>
              <a:rPr lang="en-AU" sz="3200" b="1" dirty="0" smtClean="0">
                <a:solidFill>
                  <a:srgbClr val="FF6600"/>
                </a:solidFill>
                <a:latin typeface="Helvetica" pitchFamily="34" charset="0"/>
              </a:rPr>
              <a:t>Storing and preparing equipment</a:t>
            </a:r>
            <a:endParaRPr lang="en-AU" sz="32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marL="0">
              <a:spcBef>
                <a:spcPts val="600"/>
              </a:spcBef>
              <a:spcAft>
                <a:spcPts val="1200"/>
              </a:spcAft>
              <a:buNone/>
            </a:pPr>
            <a:r>
              <a:rPr lang="en-AU" sz="2200" dirty="0" smtClean="0">
                <a:latin typeface="Helvetica" pitchFamily="34" charset="0"/>
              </a:rPr>
              <a:t>Equipment and other items that may require such attention includes: </a:t>
            </a:r>
          </a:p>
          <a:p>
            <a:pPr lvl="0">
              <a:spcBef>
                <a:spcPts val="600"/>
              </a:spcBef>
              <a:spcAft>
                <a:spcPts val="1200"/>
              </a:spcAft>
            </a:pPr>
            <a:r>
              <a:rPr lang="en-AU" sz="2200" dirty="0" smtClean="0">
                <a:latin typeface="Helvetica" pitchFamily="34" charset="0"/>
              </a:rPr>
              <a:t>Condiments and sauces</a:t>
            </a:r>
          </a:p>
          <a:p>
            <a:pPr lvl="0">
              <a:spcBef>
                <a:spcPts val="600"/>
              </a:spcBef>
              <a:spcAft>
                <a:spcPts val="1200"/>
              </a:spcAft>
            </a:pPr>
            <a:r>
              <a:rPr lang="en-AU" sz="2200" dirty="0" smtClean="0">
                <a:latin typeface="Helvetica" pitchFamily="34" charset="0"/>
              </a:rPr>
              <a:t>Cutlery</a:t>
            </a:r>
          </a:p>
          <a:p>
            <a:pPr lvl="0">
              <a:spcBef>
                <a:spcPts val="600"/>
              </a:spcBef>
              <a:spcAft>
                <a:spcPts val="1200"/>
              </a:spcAft>
            </a:pPr>
            <a:r>
              <a:rPr lang="en-AU" sz="2200" dirty="0" smtClean="0">
                <a:latin typeface="Helvetica" pitchFamily="34" charset="0"/>
              </a:rPr>
              <a:t>Crockery</a:t>
            </a:r>
          </a:p>
          <a:p>
            <a:pPr lvl="0">
              <a:spcBef>
                <a:spcPts val="600"/>
              </a:spcBef>
              <a:spcAft>
                <a:spcPts val="1200"/>
              </a:spcAft>
            </a:pPr>
            <a:r>
              <a:rPr lang="en-AU" sz="2200" dirty="0" smtClean="0">
                <a:latin typeface="Helvetica" pitchFamily="34" charset="0"/>
              </a:rPr>
              <a:t>Glassware</a:t>
            </a:r>
          </a:p>
          <a:p>
            <a:pPr lvl="0">
              <a:spcBef>
                <a:spcPts val="600"/>
              </a:spcBef>
              <a:spcAft>
                <a:spcPts val="1200"/>
              </a:spcAft>
            </a:pPr>
            <a:r>
              <a:rPr lang="en-AU" sz="2200" dirty="0" smtClean="0">
                <a:latin typeface="Helvetica" pitchFamily="34" charset="0"/>
              </a:rPr>
              <a:t>Linen </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221</a:t>
            </a:fld>
            <a:endParaRPr lang="en-US" dirty="0">
              <a:latin typeface="Helvetica" pitchFamily="34" charset="0"/>
            </a:endParaRPr>
          </a:p>
        </p:txBody>
      </p:sp>
      <p:pic>
        <p:nvPicPr>
          <p:cNvPr id="5" name="Picture 4" descr="IMG_1978.jpg"/>
          <p:cNvPicPr>
            <a:picLocks noChangeAspect="1"/>
          </p:cNvPicPr>
          <p:nvPr/>
        </p:nvPicPr>
        <p:blipFill>
          <a:blip r:embed="rId3" cstate="print"/>
          <a:stretch>
            <a:fillRect/>
          </a:stretch>
        </p:blipFill>
        <p:spPr>
          <a:xfrm>
            <a:off x="5724128" y="3501008"/>
            <a:ext cx="2699792" cy="1801983"/>
          </a:xfrm>
          <a:prstGeom prst="rect">
            <a:avLst/>
          </a:prstGeom>
        </p:spPr>
      </p:pic>
    </p:spTree>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Storing and preparing equipment</a:t>
            </a:r>
            <a:endParaRPr lang="en-AU" sz="3200"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Autofit/>
          </a:bodyPr>
          <a:lstStyle/>
          <a:p>
            <a:pPr marL="0">
              <a:spcBef>
                <a:spcPts val="600"/>
              </a:spcBef>
              <a:spcAft>
                <a:spcPts val="1200"/>
              </a:spcAft>
              <a:buNone/>
            </a:pPr>
            <a:r>
              <a:rPr lang="en-AU" sz="2200" dirty="0" smtClean="0">
                <a:latin typeface="Helvetica" pitchFamily="34" charset="0"/>
              </a:rPr>
              <a:t>All storage must occur in accordance with establishment standards which may include:</a:t>
            </a:r>
          </a:p>
          <a:p>
            <a:pPr lvl="0">
              <a:spcBef>
                <a:spcPts val="600"/>
              </a:spcBef>
              <a:spcAft>
                <a:spcPts val="1200"/>
              </a:spcAft>
            </a:pPr>
            <a:r>
              <a:rPr lang="en-AU" sz="2200" dirty="0" smtClean="0">
                <a:latin typeface="Helvetica" pitchFamily="34" charset="0"/>
              </a:rPr>
              <a:t>Ensuring staff and equipment safety</a:t>
            </a:r>
          </a:p>
          <a:p>
            <a:pPr lvl="0">
              <a:spcBef>
                <a:spcPts val="600"/>
              </a:spcBef>
              <a:spcAft>
                <a:spcPts val="1200"/>
              </a:spcAft>
            </a:pPr>
            <a:r>
              <a:rPr lang="en-AU" sz="2200" dirty="0" smtClean="0">
                <a:latin typeface="Helvetica" pitchFamily="34" charset="0"/>
              </a:rPr>
              <a:t>Ensuring all items are cleaned before storage</a:t>
            </a:r>
          </a:p>
          <a:p>
            <a:pPr lvl="0">
              <a:spcBef>
                <a:spcPts val="600"/>
              </a:spcBef>
              <a:spcAft>
                <a:spcPts val="1200"/>
              </a:spcAft>
            </a:pPr>
            <a:r>
              <a:rPr lang="en-AU" sz="2200" dirty="0" smtClean="0">
                <a:latin typeface="Helvetica" pitchFamily="34" charset="0"/>
              </a:rPr>
              <a:t>Ensuring that food-related items are protected from contamination </a:t>
            </a:r>
          </a:p>
          <a:p>
            <a:pPr lvl="0">
              <a:spcBef>
                <a:spcPts val="600"/>
              </a:spcBef>
              <a:spcAft>
                <a:spcPts val="1200"/>
              </a:spcAft>
            </a:pPr>
            <a:r>
              <a:rPr lang="en-AU" sz="2200" dirty="0" smtClean="0">
                <a:latin typeface="Helvetica" pitchFamily="34" charset="0"/>
              </a:rPr>
              <a:t>Making sure items are returned to                                   their nominated locations</a:t>
            </a:r>
          </a:p>
          <a:p>
            <a:pPr>
              <a:spcBef>
                <a:spcPts val="600"/>
              </a:spcBef>
              <a:spcAft>
                <a:spcPts val="1200"/>
              </a:spcAft>
            </a:pPr>
            <a:r>
              <a:rPr lang="en-AU" sz="2200" dirty="0" smtClean="0">
                <a:latin typeface="Helvetica" pitchFamily="34" charset="0"/>
              </a:rPr>
              <a:t>Checking individual items as part of                                        the storage process</a:t>
            </a:r>
            <a:endParaRPr lang="en-US" sz="2200" b="1" u="sng"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222</a:t>
            </a:fld>
            <a:endParaRPr lang="en-US" dirty="0">
              <a:latin typeface="Helvetica" pitchFamily="34" charset="0"/>
            </a:endParaRPr>
          </a:p>
        </p:txBody>
      </p:sp>
      <p:pic>
        <p:nvPicPr>
          <p:cNvPr id="6" name="Picture 5" descr="13773_16p_38%"/>
          <p:cNvPicPr/>
          <p:nvPr/>
        </p:nvPicPr>
        <p:blipFill>
          <a:blip r:embed="rId3" cstate="print"/>
          <a:srcRect/>
          <a:stretch>
            <a:fillRect/>
          </a:stretch>
        </p:blipFill>
        <p:spPr bwMode="auto">
          <a:xfrm>
            <a:off x="6444208" y="4149080"/>
            <a:ext cx="1943100" cy="1304925"/>
          </a:xfrm>
          <a:prstGeom prst="rect">
            <a:avLst/>
          </a:prstGeom>
          <a:noFill/>
        </p:spPr>
      </p:pic>
    </p:spTree>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Storing and preparing equipment</a:t>
            </a:r>
            <a:endParaRPr lang="en-AU" sz="32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Autofit/>
          </a:bodyPr>
          <a:lstStyle/>
          <a:p>
            <a:pPr lvl="0">
              <a:spcBef>
                <a:spcPts val="600"/>
              </a:spcBef>
              <a:spcAft>
                <a:spcPts val="1200"/>
              </a:spcAft>
              <a:buNone/>
            </a:pPr>
            <a:r>
              <a:rPr lang="en-AU" sz="2200" b="1" dirty="0" smtClean="0">
                <a:latin typeface="Helvetica" pitchFamily="34" charset="0"/>
              </a:rPr>
              <a:t>Checking items</a:t>
            </a:r>
          </a:p>
          <a:p>
            <a:pPr lvl="0">
              <a:spcBef>
                <a:spcPts val="600"/>
              </a:spcBef>
              <a:spcAft>
                <a:spcPts val="1200"/>
              </a:spcAft>
              <a:buNone/>
            </a:pPr>
            <a:r>
              <a:rPr lang="en-AU" sz="2200" dirty="0" smtClean="0">
                <a:latin typeface="Helvetica" pitchFamily="34" charset="0"/>
              </a:rPr>
              <a:t>Checks may also include:</a:t>
            </a:r>
          </a:p>
          <a:p>
            <a:pPr>
              <a:spcBef>
                <a:spcPts val="600"/>
              </a:spcBef>
              <a:spcAft>
                <a:spcPts val="1200"/>
              </a:spcAft>
            </a:pPr>
            <a:r>
              <a:rPr lang="en-AU" sz="2200" dirty="0" smtClean="0">
                <a:latin typeface="Helvetica" pitchFamily="34" charset="0"/>
              </a:rPr>
              <a:t>Refilling salt and pepper shakers</a:t>
            </a:r>
          </a:p>
          <a:p>
            <a:pPr>
              <a:spcBef>
                <a:spcPts val="600"/>
              </a:spcBef>
              <a:spcAft>
                <a:spcPts val="1200"/>
              </a:spcAft>
            </a:pPr>
            <a:r>
              <a:rPr lang="en-AU" sz="2200" dirty="0" smtClean="0">
                <a:latin typeface="Helvetica" pitchFamily="34" charset="0"/>
              </a:rPr>
              <a:t>Filling up drinking straw containers</a:t>
            </a:r>
          </a:p>
          <a:p>
            <a:pPr>
              <a:spcBef>
                <a:spcPts val="600"/>
              </a:spcBef>
              <a:spcAft>
                <a:spcPts val="1200"/>
              </a:spcAft>
            </a:pPr>
            <a:r>
              <a:rPr lang="en-AU" sz="2200" dirty="0" smtClean="0">
                <a:latin typeface="Helvetica" pitchFamily="34" charset="0"/>
              </a:rPr>
              <a:t>Refilling tooth pick containers</a:t>
            </a:r>
          </a:p>
          <a:p>
            <a:pPr>
              <a:spcBef>
                <a:spcPts val="600"/>
              </a:spcBef>
              <a:spcAft>
                <a:spcPts val="1200"/>
              </a:spcAft>
            </a:pPr>
            <a:r>
              <a:rPr lang="en-AU" sz="2200" dirty="0" smtClean="0">
                <a:latin typeface="Helvetica" pitchFamily="34" charset="0"/>
              </a:rPr>
              <a:t>Cleaning items individual items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223</a:t>
            </a:fld>
            <a:endParaRPr lang="en-US" dirty="0">
              <a:latin typeface="Helvetica" pitchFamily="34" charset="0"/>
            </a:endParaRPr>
          </a:p>
        </p:txBody>
      </p:sp>
      <p:pic>
        <p:nvPicPr>
          <p:cNvPr id="7" name="Picture 6" descr="IMG_2108.jpg"/>
          <p:cNvPicPr/>
          <p:nvPr/>
        </p:nvPicPr>
        <p:blipFill>
          <a:blip r:embed="rId3" cstate="print"/>
          <a:stretch>
            <a:fillRect/>
          </a:stretch>
        </p:blipFill>
        <p:spPr>
          <a:xfrm>
            <a:off x="6372200" y="3284984"/>
            <a:ext cx="1991097" cy="2222748"/>
          </a:xfrm>
          <a:prstGeom prst="rect">
            <a:avLst/>
          </a:prstGeom>
        </p:spPr>
      </p:pic>
    </p:spTree>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Clearing and cleaning</a:t>
            </a:r>
            <a:endParaRPr lang="en-AU" sz="32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Autofit/>
          </a:bodyPr>
          <a:lstStyle/>
          <a:p>
            <a:pPr>
              <a:spcBef>
                <a:spcPts val="600"/>
              </a:spcBef>
              <a:spcAft>
                <a:spcPts val="1200"/>
              </a:spcAft>
              <a:buNone/>
            </a:pPr>
            <a:r>
              <a:rPr lang="en-AU" sz="2200" b="1" dirty="0" smtClean="0">
                <a:latin typeface="Helvetica" pitchFamily="34" charset="0"/>
              </a:rPr>
              <a:t>Areas to be cleared and cleaned</a:t>
            </a:r>
          </a:p>
          <a:p>
            <a:pPr marL="0">
              <a:spcBef>
                <a:spcPts val="600"/>
              </a:spcBef>
              <a:spcAft>
                <a:spcPts val="1200"/>
              </a:spcAft>
              <a:buNone/>
            </a:pPr>
            <a:r>
              <a:rPr lang="en-AU" sz="2200" dirty="0" smtClean="0">
                <a:latin typeface="Helvetica" pitchFamily="34" charset="0"/>
              </a:rPr>
              <a:t>Various areas in a restaurant need to be cleaned, cleared or dismantled at the end of service sessions including:</a:t>
            </a:r>
          </a:p>
          <a:p>
            <a:pPr lvl="0">
              <a:spcBef>
                <a:spcPts val="600"/>
              </a:spcBef>
              <a:spcAft>
                <a:spcPts val="1200"/>
              </a:spcAft>
            </a:pPr>
            <a:r>
              <a:rPr lang="en-AU" sz="2200" dirty="0" smtClean="0">
                <a:latin typeface="Helvetica" pitchFamily="34" charset="0"/>
              </a:rPr>
              <a:t>Stripping tables</a:t>
            </a:r>
          </a:p>
          <a:p>
            <a:pPr lvl="0">
              <a:spcBef>
                <a:spcPts val="600"/>
              </a:spcBef>
              <a:spcAft>
                <a:spcPts val="1200"/>
              </a:spcAft>
            </a:pPr>
            <a:r>
              <a:rPr lang="en-AU" sz="2200" dirty="0" smtClean="0">
                <a:latin typeface="Helvetica" pitchFamily="34" charset="0"/>
              </a:rPr>
              <a:t>Around the coffee machine</a:t>
            </a:r>
          </a:p>
          <a:p>
            <a:pPr lvl="0">
              <a:spcBef>
                <a:spcPts val="600"/>
              </a:spcBef>
              <a:spcAft>
                <a:spcPts val="1200"/>
              </a:spcAft>
            </a:pPr>
            <a:r>
              <a:rPr lang="en-AU" sz="2200" dirty="0" smtClean="0">
                <a:latin typeface="Helvetica" pitchFamily="34" charset="0"/>
              </a:rPr>
              <a:t>The waiter’s stations</a:t>
            </a:r>
          </a:p>
          <a:p>
            <a:pPr lvl="0">
              <a:spcBef>
                <a:spcPts val="600"/>
              </a:spcBef>
              <a:spcAft>
                <a:spcPts val="1200"/>
              </a:spcAft>
            </a:pPr>
            <a:r>
              <a:rPr lang="en-AU" sz="2200" dirty="0" smtClean="0">
                <a:latin typeface="Helvetica" pitchFamily="34" charset="0"/>
              </a:rPr>
              <a:t>Laundry areas</a:t>
            </a:r>
          </a:p>
          <a:p>
            <a:pPr lvl="0">
              <a:spcBef>
                <a:spcPts val="600"/>
              </a:spcBef>
              <a:spcAft>
                <a:spcPts val="1200"/>
              </a:spcAft>
            </a:pPr>
            <a:r>
              <a:rPr lang="en-AU" sz="2200" dirty="0" smtClean="0">
                <a:latin typeface="Helvetica" pitchFamily="34" charset="0"/>
              </a:rPr>
              <a:t>Kitchen food service area</a:t>
            </a:r>
          </a:p>
          <a:p>
            <a:endParaRPr lang="en-AU" sz="32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224</a:t>
            </a:fld>
            <a:endParaRPr lang="en-US" dirty="0">
              <a:latin typeface="Helvetica" pitchFamily="34" charset="0"/>
            </a:endParaRPr>
          </a:p>
        </p:txBody>
      </p:sp>
      <p:pic>
        <p:nvPicPr>
          <p:cNvPr id="8" name="Picture 7" descr="IMG_1837.jpg"/>
          <p:cNvPicPr>
            <a:picLocks noChangeAspect="1"/>
          </p:cNvPicPr>
          <p:nvPr/>
        </p:nvPicPr>
        <p:blipFill>
          <a:blip r:embed="rId3" cstate="print"/>
          <a:stretch>
            <a:fillRect/>
          </a:stretch>
        </p:blipFill>
        <p:spPr>
          <a:xfrm>
            <a:off x="5940152" y="3645024"/>
            <a:ext cx="2459765" cy="1844824"/>
          </a:xfrm>
          <a:prstGeom prst="rect">
            <a:avLst/>
          </a:prstGeom>
        </p:spPr>
      </p:pic>
    </p:spTree>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Clearing and cleaning</a:t>
            </a:r>
            <a:endParaRPr lang="en-AU" sz="32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Autofit/>
          </a:bodyPr>
          <a:lstStyle/>
          <a:p>
            <a:pPr lvl="0">
              <a:spcBef>
                <a:spcPts val="600"/>
              </a:spcBef>
              <a:spcAft>
                <a:spcPts val="1200"/>
              </a:spcAft>
              <a:buNone/>
            </a:pPr>
            <a:r>
              <a:rPr lang="en-AU" sz="2200" b="1" dirty="0" smtClean="0">
                <a:latin typeface="Helvetica" pitchFamily="34" charset="0"/>
              </a:rPr>
              <a:t>Restroom facilities</a:t>
            </a:r>
          </a:p>
          <a:p>
            <a:pPr lvl="0">
              <a:spcBef>
                <a:spcPts val="600"/>
              </a:spcBef>
              <a:spcAft>
                <a:spcPts val="1200"/>
              </a:spcAft>
            </a:pPr>
            <a:r>
              <a:rPr lang="en-AU" sz="2200" dirty="0" smtClean="0">
                <a:latin typeface="Helvetica" pitchFamily="34" charset="0"/>
              </a:rPr>
              <a:t>Checking to make no patrons remain in these areas after the premises have closed</a:t>
            </a:r>
          </a:p>
          <a:p>
            <a:pPr lvl="0">
              <a:spcBef>
                <a:spcPts val="600"/>
              </a:spcBef>
              <a:spcAft>
                <a:spcPts val="1200"/>
              </a:spcAft>
            </a:pPr>
            <a:r>
              <a:rPr lang="en-AU" sz="2200" dirty="0" smtClean="0">
                <a:latin typeface="Helvetica" pitchFamily="34" charset="0"/>
              </a:rPr>
              <a:t>Checking to see if any items have been left there</a:t>
            </a:r>
          </a:p>
          <a:p>
            <a:pPr lvl="0">
              <a:spcBef>
                <a:spcPts val="600"/>
              </a:spcBef>
              <a:spcAft>
                <a:spcPts val="1200"/>
              </a:spcAft>
            </a:pPr>
            <a:r>
              <a:rPr lang="en-AU" sz="2200" dirty="0" smtClean="0">
                <a:latin typeface="Helvetica" pitchFamily="34" charset="0"/>
              </a:rPr>
              <a:t>Checking to identify damage or cleaning needs</a:t>
            </a:r>
          </a:p>
          <a:p>
            <a:pPr lvl="0">
              <a:spcBef>
                <a:spcPts val="600"/>
              </a:spcBef>
              <a:spcAft>
                <a:spcPts val="1200"/>
              </a:spcAft>
            </a:pPr>
            <a:r>
              <a:rPr lang="en-AU" sz="2200" dirty="0" smtClean="0">
                <a:latin typeface="Helvetica" pitchFamily="34" charset="0"/>
              </a:rPr>
              <a:t>Replenishment of toilet supplies</a:t>
            </a:r>
          </a:p>
          <a:p>
            <a:endParaRPr lang="en-AU" sz="32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225</a:t>
            </a:fld>
            <a:endParaRPr lang="en-US" dirty="0">
              <a:latin typeface="Helvetica" pitchFamily="34" charset="0"/>
            </a:endParaRPr>
          </a:p>
        </p:txBody>
      </p:sp>
      <p:pic>
        <p:nvPicPr>
          <p:cNvPr id="7" name="Picture 6" descr="IMG_1774.jpg"/>
          <p:cNvPicPr>
            <a:picLocks noChangeAspect="1"/>
          </p:cNvPicPr>
          <p:nvPr/>
        </p:nvPicPr>
        <p:blipFill>
          <a:blip r:embed="rId3" cstate="print"/>
          <a:stretch>
            <a:fillRect/>
          </a:stretch>
        </p:blipFill>
        <p:spPr>
          <a:xfrm>
            <a:off x="6228184" y="3789040"/>
            <a:ext cx="2162014" cy="1451564"/>
          </a:xfrm>
          <a:prstGeom prst="rect">
            <a:avLst/>
          </a:prstGeom>
        </p:spPr>
      </p:pic>
    </p:spTree>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648072"/>
          </a:xfrm>
        </p:spPr>
        <p:txBody>
          <a:bodyPr>
            <a:normAutofit/>
          </a:bodyPr>
          <a:lstStyle/>
          <a:p>
            <a:r>
              <a:rPr lang="en-AU" sz="3200" b="1" dirty="0" smtClean="0">
                <a:solidFill>
                  <a:srgbClr val="FF6600"/>
                </a:solidFill>
                <a:latin typeface="Helvetica" pitchFamily="34" charset="0"/>
              </a:rPr>
              <a:t>Clearing and cleaning</a:t>
            </a:r>
            <a:endParaRPr lang="en-AU" sz="32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Autofit/>
          </a:bodyPr>
          <a:lstStyle/>
          <a:p>
            <a:pPr lvl="0">
              <a:spcBef>
                <a:spcPts val="600"/>
              </a:spcBef>
              <a:spcAft>
                <a:spcPts val="1200"/>
              </a:spcAft>
              <a:buNone/>
            </a:pPr>
            <a:r>
              <a:rPr lang="en-AU" sz="2200" b="1" dirty="0" smtClean="0">
                <a:latin typeface="Helvetica" pitchFamily="34" charset="0"/>
              </a:rPr>
              <a:t>Furniture:</a:t>
            </a:r>
          </a:p>
          <a:p>
            <a:pPr lvl="0">
              <a:spcBef>
                <a:spcPts val="600"/>
              </a:spcBef>
              <a:spcAft>
                <a:spcPts val="1200"/>
              </a:spcAft>
            </a:pPr>
            <a:r>
              <a:rPr lang="en-AU" sz="2200" dirty="0" smtClean="0">
                <a:latin typeface="Helvetica" pitchFamily="34" charset="0"/>
              </a:rPr>
              <a:t>Relocating tables and chairs to their ‘original’ position</a:t>
            </a:r>
          </a:p>
          <a:p>
            <a:pPr lvl="0">
              <a:spcBef>
                <a:spcPts val="600"/>
              </a:spcBef>
              <a:spcAft>
                <a:spcPts val="1200"/>
              </a:spcAft>
            </a:pPr>
            <a:r>
              <a:rPr lang="en-AU" sz="2200" dirty="0" smtClean="0">
                <a:latin typeface="Helvetica" pitchFamily="34" charset="0"/>
              </a:rPr>
              <a:t>Taking table tops off tables</a:t>
            </a:r>
          </a:p>
          <a:p>
            <a:pPr lvl="0">
              <a:spcBef>
                <a:spcPts val="600"/>
              </a:spcBef>
              <a:spcAft>
                <a:spcPts val="1200"/>
              </a:spcAft>
            </a:pPr>
            <a:r>
              <a:rPr lang="en-AU" sz="2200" dirty="0" smtClean="0">
                <a:latin typeface="Helvetica" pitchFamily="34" charset="0"/>
              </a:rPr>
              <a:t>Removing extra chairs that have been brought in</a:t>
            </a:r>
          </a:p>
          <a:p>
            <a:pPr>
              <a:spcBef>
                <a:spcPts val="600"/>
              </a:spcBef>
              <a:spcAft>
                <a:spcPts val="1200"/>
              </a:spcAft>
            </a:pPr>
            <a:r>
              <a:rPr lang="en-AU" sz="2200" dirty="0" smtClean="0">
                <a:latin typeface="Helvetica" pitchFamily="34" charset="0"/>
              </a:rPr>
              <a:t>Removing high chairs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226</a:t>
            </a:fld>
            <a:endParaRPr lang="en-US" dirty="0">
              <a:latin typeface="Helvetica" pitchFamily="34" charset="0"/>
            </a:endParaRPr>
          </a:p>
        </p:txBody>
      </p:sp>
      <p:pic>
        <p:nvPicPr>
          <p:cNvPr id="6" name="Picture 5" descr="222957507_626e03b33d"/>
          <p:cNvPicPr/>
          <p:nvPr/>
        </p:nvPicPr>
        <p:blipFill>
          <a:blip r:embed="rId3" cstate="print"/>
          <a:srcRect/>
          <a:stretch>
            <a:fillRect/>
          </a:stretch>
        </p:blipFill>
        <p:spPr bwMode="auto">
          <a:xfrm>
            <a:off x="6156176" y="3429000"/>
            <a:ext cx="2190924" cy="1944216"/>
          </a:xfrm>
          <a:prstGeom prst="rect">
            <a:avLst/>
          </a:prstGeom>
          <a:noFill/>
        </p:spPr>
      </p:pic>
    </p:spTree>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Clearing and cleaning</a:t>
            </a:r>
            <a:endParaRPr lang="en-AU" sz="32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Autofit/>
          </a:bodyPr>
          <a:lstStyle/>
          <a:p>
            <a:pPr lvl="0">
              <a:spcBef>
                <a:spcPts val="600"/>
              </a:spcBef>
              <a:spcAft>
                <a:spcPts val="1200"/>
              </a:spcAft>
              <a:buNone/>
            </a:pPr>
            <a:r>
              <a:rPr lang="en-AU" sz="2200" b="1" dirty="0" smtClean="0">
                <a:latin typeface="Helvetica" pitchFamily="34" charset="0"/>
              </a:rPr>
              <a:t>Other areas and items:</a:t>
            </a:r>
          </a:p>
          <a:p>
            <a:pPr lvl="0">
              <a:spcBef>
                <a:spcPts val="600"/>
              </a:spcBef>
              <a:spcAft>
                <a:spcPts val="1200"/>
              </a:spcAft>
            </a:pPr>
            <a:r>
              <a:rPr lang="en-AU" sz="2200" dirty="0" smtClean="0">
                <a:latin typeface="Helvetica" pitchFamily="34" charset="0"/>
              </a:rPr>
              <a:t>Fixtures and fittings </a:t>
            </a:r>
          </a:p>
          <a:p>
            <a:pPr lvl="0">
              <a:spcBef>
                <a:spcPts val="600"/>
              </a:spcBef>
              <a:spcAft>
                <a:spcPts val="1200"/>
              </a:spcAft>
            </a:pPr>
            <a:r>
              <a:rPr lang="en-AU" sz="2200" dirty="0" smtClean="0">
                <a:latin typeface="Helvetica" pitchFamily="34" charset="0"/>
              </a:rPr>
              <a:t>Windows and doors</a:t>
            </a:r>
          </a:p>
          <a:p>
            <a:pPr lvl="0">
              <a:spcBef>
                <a:spcPts val="600"/>
              </a:spcBef>
              <a:spcAft>
                <a:spcPts val="1200"/>
              </a:spcAft>
            </a:pPr>
            <a:r>
              <a:rPr lang="en-AU" sz="2200" dirty="0" smtClean="0">
                <a:latin typeface="Helvetica" pitchFamily="34" charset="0"/>
              </a:rPr>
              <a:t>All floor areas</a:t>
            </a:r>
          </a:p>
          <a:p>
            <a:pPr lvl="0">
              <a:spcBef>
                <a:spcPts val="600"/>
              </a:spcBef>
              <a:spcAft>
                <a:spcPts val="1200"/>
              </a:spcAft>
            </a:pPr>
            <a:r>
              <a:rPr lang="en-AU" sz="2200" dirty="0" smtClean="0">
                <a:latin typeface="Helvetica" pitchFamily="34" charset="0"/>
              </a:rPr>
              <a:t>Displays</a:t>
            </a:r>
          </a:p>
          <a:p>
            <a:pPr lvl="0">
              <a:spcBef>
                <a:spcPts val="600"/>
              </a:spcBef>
              <a:spcAft>
                <a:spcPts val="1200"/>
              </a:spcAft>
            </a:pPr>
            <a:r>
              <a:rPr lang="en-AU" sz="2200" dirty="0" smtClean="0">
                <a:latin typeface="Helvetica" pitchFamily="34" charset="0"/>
              </a:rPr>
              <a:t>Guest waiting area and reception</a:t>
            </a:r>
          </a:p>
          <a:p>
            <a:pPr lvl="0">
              <a:spcBef>
                <a:spcPts val="600"/>
              </a:spcBef>
              <a:spcAft>
                <a:spcPts val="1200"/>
              </a:spcAft>
            </a:pPr>
            <a:r>
              <a:rPr lang="en-AU" sz="2200" dirty="0" smtClean="0">
                <a:latin typeface="Helvetica" pitchFamily="34" charset="0"/>
              </a:rPr>
              <a:t>Garbage area</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227</a:t>
            </a:fld>
            <a:endParaRPr lang="en-US" dirty="0">
              <a:latin typeface="Helvetica" pitchFamily="34" charset="0"/>
            </a:endParaRPr>
          </a:p>
        </p:txBody>
      </p:sp>
      <p:pic>
        <p:nvPicPr>
          <p:cNvPr id="7" name="Picture 6" descr="window_pic"/>
          <p:cNvPicPr/>
          <p:nvPr/>
        </p:nvPicPr>
        <p:blipFill>
          <a:blip r:embed="rId3" cstate="print"/>
          <a:srcRect/>
          <a:stretch>
            <a:fillRect/>
          </a:stretch>
        </p:blipFill>
        <p:spPr bwMode="auto">
          <a:xfrm>
            <a:off x="5868144" y="3789040"/>
            <a:ext cx="2481049" cy="1728192"/>
          </a:xfrm>
          <a:prstGeom prst="rect">
            <a:avLst/>
          </a:prstGeom>
          <a:noFill/>
        </p:spPr>
      </p:pic>
    </p:spTree>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Storing cleaning equipment</a:t>
            </a:r>
            <a:endParaRPr lang="en-AU" sz="32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Autofit/>
          </a:bodyPr>
          <a:lstStyle/>
          <a:p>
            <a:pPr lvl="0">
              <a:spcBef>
                <a:spcPts val="600"/>
              </a:spcBef>
              <a:spcAft>
                <a:spcPts val="1200"/>
              </a:spcAft>
            </a:pPr>
            <a:r>
              <a:rPr lang="en-AU" sz="2200" dirty="0" smtClean="0">
                <a:latin typeface="Helvetica" pitchFamily="34" charset="0"/>
              </a:rPr>
              <a:t>Stowing items neatly and tidily</a:t>
            </a:r>
          </a:p>
          <a:p>
            <a:pPr lvl="0">
              <a:spcBef>
                <a:spcPts val="600"/>
              </a:spcBef>
              <a:spcAft>
                <a:spcPts val="1200"/>
              </a:spcAft>
            </a:pPr>
            <a:r>
              <a:rPr lang="en-AU" sz="2200" dirty="0" smtClean="0">
                <a:latin typeface="Helvetica" pitchFamily="34" charset="0"/>
              </a:rPr>
              <a:t>Checking the equipment for faults or damage</a:t>
            </a:r>
          </a:p>
          <a:p>
            <a:pPr lvl="0">
              <a:spcBef>
                <a:spcPts val="600"/>
              </a:spcBef>
              <a:spcAft>
                <a:spcPts val="1200"/>
              </a:spcAft>
            </a:pPr>
            <a:r>
              <a:rPr lang="en-AU" sz="2200" dirty="0" smtClean="0">
                <a:latin typeface="Helvetica" pitchFamily="34" charset="0"/>
              </a:rPr>
              <a:t>Cleaning the equipment used Checking supply level of cleaning chemicals</a:t>
            </a:r>
          </a:p>
          <a:p>
            <a:pPr>
              <a:spcBef>
                <a:spcPts val="600"/>
              </a:spcBef>
              <a:spcAft>
                <a:spcPts val="1200"/>
              </a:spcAft>
            </a:pPr>
            <a:r>
              <a:rPr lang="en-AU" sz="2200" dirty="0" smtClean="0">
                <a:latin typeface="Helvetica" pitchFamily="34" charset="0"/>
              </a:rPr>
              <a:t>Checking supplies of cleaning materials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228</a:t>
            </a:fld>
            <a:endParaRPr lang="en-US" dirty="0">
              <a:latin typeface="Helvetica" pitchFamily="34" charset="0"/>
            </a:endParaRPr>
          </a:p>
        </p:txBody>
      </p:sp>
      <p:pic>
        <p:nvPicPr>
          <p:cNvPr id="6" name="Picture 5" descr="MP900439279[1].JPG"/>
          <p:cNvPicPr/>
          <p:nvPr/>
        </p:nvPicPr>
        <p:blipFill>
          <a:blip r:embed="rId3" cstate="print"/>
          <a:stretch>
            <a:fillRect/>
          </a:stretch>
        </p:blipFill>
        <p:spPr>
          <a:xfrm>
            <a:off x="6876256" y="3212976"/>
            <a:ext cx="1522854" cy="2168649"/>
          </a:xfrm>
          <a:prstGeom prst="rect">
            <a:avLst/>
          </a:prstGeom>
        </p:spPr>
      </p:pic>
    </p:spTree>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Set up area for next shift</a:t>
            </a:r>
            <a:endParaRPr lang="en-AU" sz="32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Autofit/>
          </a:bodyPr>
          <a:lstStyle/>
          <a:p>
            <a:pPr>
              <a:spcBef>
                <a:spcPts val="600"/>
              </a:spcBef>
              <a:spcAft>
                <a:spcPts val="1200"/>
              </a:spcAft>
            </a:pPr>
            <a:r>
              <a:rPr lang="en-AU" sz="2200" dirty="0" smtClean="0">
                <a:latin typeface="Helvetica" pitchFamily="34" charset="0"/>
              </a:rPr>
              <a:t>At the end of each shift, the dining area may need to be set up for the next shift</a:t>
            </a:r>
          </a:p>
          <a:p>
            <a:pPr>
              <a:spcBef>
                <a:spcPts val="600"/>
              </a:spcBef>
              <a:spcAft>
                <a:spcPts val="1200"/>
              </a:spcAft>
            </a:pPr>
            <a:r>
              <a:rPr lang="en-AU" sz="2200" dirty="0" smtClean="0">
                <a:latin typeface="Helvetica" pitchFamily="34" charset="0"/>
              </a:rPr>
              <a:t>As mentioned, Section 1 of this manual will detail the majority of steps undertaken to prepare for an upcoming shift, so they won’t be repeated in this section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229</a:t>
            </a:fld>
            <a:endParaRPr lang="en-US" dirty="0">
              <a:latin typeface="Helvetica" pitchFamily="34" charset="0"/>
            </a:endParaRPr>
          </a:p>
        </p:txBody>
      </p:sp>
      <p:pic>
        <p:nvPicPr>
          <p:cNvPr id="7" name="Picture 6" descr="seedcafe"/>
          <p:cNvPicPr/>
          <p:nvPr/>
        </p:nvPicPr>
        <p:blipFill>
          <a:blip r:embed="rId3" cstate="print"/>
          <a:srcRect/>
          <a:stretch>
            <a:fillRect/>
          </a:stretch>
        </p:blipFill>
        <p:spPr bwMode="auto">
          <a:xfrm>
            <a:off x="6660232" y="3429000"/>
            <a:ext cx="1731640" cy="2126357"/>
          </a:xfrm>
          <a:prstGeom prst="rect">
            <a:avLst/>
          </a:prstGeom>
          <a:noFill/>
        </p:spPr>
      </p:pic>
    </p:spTree>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92088"/>
          </a:xfrm>
        </p:spPr>
        <p:txBody>
          <a:bodyPr>
            <a:normAutofit/>
          </a:bodyPr>
          <a:lstStyle/>
          <a:p>
            <a:r>
              <a:rPr lang="en-AU" sz="3200" b="1" dirty="0" smtClean="0">
                <a:solidFill>
                  <a:srgbClr val="FF6600"/>
                </a:solidFill>
                <a:latin typeface="Helvetica" pitchFamily="34" charset="0"/>
              </a:rPr>
              <a:t>Set up area for next shift</a:t>
            </a:r>
            <a:endParaRPr lang="en-AU" sz="32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Autofit/>
          </a:bodyPr>
          <a:lstStyle/>
          <a:p>
            <a:pPr>
              <a:spcBef>
                <a:spcPts val="600"/>
              </a:spcBef>
              <a:spcAft>
                <a:spcPts val="1200"/>
              </a:spcAft>
              <a:buNone/>
            </a:pPr>
            <a:r>
              <a:rPr lang="en-AU" sz="2200" b="1" dirty="0" smtClean="0">
                <a:latin typeface="Helvetica" pitchFamily="34" charset="0"/>
              </a:rPr>
              <a:t>Breakfast shift:</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Re-lay all tables and set covers for a breakfast menu</a:t>
            </a:r>
          </a:p>
          <a:p>
            <a:pPr lvl="0">
              <a:spcBef>
                <a:spcPts val="600"/>
              </a:spcBef>
              <a:spcAft>
                <a:spcPts val="1200"/>
              </a:spcAft>
            </a:pPr>
            <a:r>
              <a:rPr lang="en-AU" sz="2200" dirty="0" smtClean="0">
                <a:latin typeface="Helvetica" pitchFamily="34" charset="0"/>
              </a:rPr>
              <a:t>Place breakfast menus on tables  </a:t>
            </a:r>
          </a:p>
          <a:p>
            <a:pPr lvl="0">
              <a:spcBef>
                <a:spcPts val="600"/>
              </a:spcBef>
              <a:spcAft>
                <a:spcPts val="1200"/>
              </a:spcAft>
            </a:pPr>
            <a:r>
              <a:rPr lang="en-AU" sz="2200" dirty="0" smtClean="0">
                <a:latin typeface="Helvetica" pitchFamily="34" charset="0"/>
              </a:rPr>
              <a:t>Place sealed portion-control condiments </a:t>
            </a:r>
          </a:p>
          <a:p>
            <a:pPr lvl="0">
              <a:spcBef>
                <a:spcPts val="600"/>
              </a:spcBef>
              <a:spcAft>
                <a:spcPts val="1200"/>
              </a:spcAft>
            </a:pPr>
            <a:r>
              <a:rPr lang="en-AU" sz="2200" dirty="0" smtClean="0">
                <a:latin typeface="Helvetica" pitchFamily="34" charset="0"/>
              </a:rPr>
              <a:t>Set up the breakfast buffet  </a:t>
            </a:r>
          </a:p>
          <a:p>
            <a:pPr lvl="0">
              <a:spcBef>
                <a:spcPts val="600"/>
              </a:spcBef>
              <a:spcAft>
                <a:spcPts val="1200"/>
              </a:spcAft>
            </a:pPr>
            <a:r>
              <a:rPr lang="en-AU" sz="2200" dirty="0" smtClean="0">
                <a:latin typeface="Helvetica" pitchFamily="34" charset="0"/>
              </a:rPr>
              <a:t>Re-stock refrigerated and                                                        non-refrigerated items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230</a:t>
            </a:fld>
            <a:endParaRPr lang="en-US" dirty="0">
              <a:latin typeface="Helvetica" pitchFamily="34" charset="0"/>
            </a:endParaRPr>
          </a:p>
        </p:txBody>
      </p:sp>
      <p:pic>
        <p:nvPicPr>
          <p:cNvPr id="6" name="Picture 5" descr="http://www.dailybreadcafe.ca/wp-content/uploads/2011/11/breakfast_buffet_closeup.jpg"/>
          <p:cNvPicPr/>
          <p:nvPr/>
        </p:nvPicPr>
        <p:blipFill>
          <a:blip r:embed="rId3" cstate="print"/>
          <a:stretch>
            <a:fillRect/>
          </a:stretch>
        </p:blipFill>
        <p:spPr bwMode="auto">
          <a:xfrm>
            <a:off x="6156176" y="3789040"/>
            <a:ext cx="2257797" cy="159474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720080"/>
          </a:xfrm>
        </p:spPr>
        <p:txBody>
          <a:bodyPr>
            <a:normAutofit/>
          </a:bodyPr>
          <a:lstStyle/>
          <a:p>
            <a:r>
              <a:rPr lang="en-AU" sz="3200" b="1" dirty="0" smtClean="0">
                <a:solidFill>
                  <a:srgbClr val="FF6600"/>
                </a:solidFill>
                <a:latin typeface="Helvetica" pitchFamily="34" charset="0"/>
              </a:rPr>
              <a:t>Set up area for next shift</a:t>
            </a:r>
            <a:endParaRPr lang="en-AU" sz="32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Autofit/>
          </a:bodyPr>
          <a:lstStyle/>
          <a:p>
            <a:pPr>
              <a:spcBef>
                <a:spcPts val="600"/>
              </a:spcBef>
              <a:spcAft>
                <a:spcPts val="600"/>
              </a:spcAft>
              <a:buNone/>
            </a:pPr>
            <a:r>
              <a:rPr lang="en-AU" sz="2200" b="1" dirty="0" smtClean="0">
                <a:latin typeface="Helvetica" pitchFamily="34" charset="0"/>
              </a:rPr>
              <a:t>A Function</a:t>
            </a:r>
            <a:endParaRPr lang="en-AU" sz="2200" dirty="0" smtClean="0">
              <a:latin typeface="Helvetica" pitchFamily="34" charset="0"/>
            </a:endParaRPr>
          </a:p>
          <a:p>
            <a:pPr marL="0">
              <a:spcBef>
                <a:spcPts val="600"/>
              </a:spcBef>
              <a:spcAft>
                <a:spcPts val="600"/>
              </a:spcAft>
              <a:buNone/>
            </a:pPr>
            <a:r>
              <a:rPr lang="en-AU" sz="2200" dirty="0" smtClean="0">
                <a:latin typeface="Helvetica" pitchFamily="34" charset="0"/>
              </a:rPr>
              <a:t>A ‘Function Sheet’ should be used to direct activities which may include a need to:</a:t>
            </a:r>
          </a:p>
          <a:p>
            <a:pPr lvl="0">
              <a:spcBef>
                <a:spcPts val="600"/>
              </a:spcBef>
              <a:spcAft>
                <a:spcPts val="600"/>
              </a:spcAft>
            </a:pPr>
            <a:r>
              <a:rPr lang="en-AU" sz="2200" dirty="0" smtClean="0">
                <a:latin typeface="Helvetica" pitchFamily="34" charset="0"/>
              </a:rPr>
              <a:t>Re-arrange all tables and chairs</a:t>
            </a:r>
          </a:p>
          <a:p>
            <a:pPr lvl="0">
              <a:spcBef>
                <a:spcPts val="600"/>
              </a:spcBef>
              <a:spcAft>
                <a:spcPts val="600"/>
              </a:spcAft>
            </a:pPr>
            <a:r>
              <a:rPr lang="en-AU" sz="2200" dirty="0" smtClean="0">
                <a:latin typeface="Helvetica" pitchFamily="34" charset="0"/>
              </a:rPr>
              <a:t>Set covers on tables according to the menu </a:t>
            </a:r>
          </a:p>
          <a:p>
            <a:pPr lvl="0">
              <a:spcBef>
                <a:spcPts val="600"/>
              </a:spcBef>
              <a:spcAft>
                <a:spcPts val="600"/>
              </a:spcAft>
            </a:pPr>
            <a:r>
              <a:rPr lang="en-AU" sz="2200" dirty="0" smtClean="0">
                <a:latin typeface="Helvetica" pitchFamily="34" charset="0"/>
              </a:rPr>
              <a:t>Set up a buffet and equipment needed to service it</a:t>
            </a:r>
          </a:p>
          <a:p>
            <a:pPr lvl="0">
              <a:spcBef>
                <a:spcPts val="600"/>
              </a:spcBef>
              <a:spcAft>
                <a:spcPts val="600"/>
              </a:spcAft>
            </a:pPr>
            <a:r>
              <a:rPr lang="en-AU" sz="2200" dirty="0" smtClean="0">
                <a:latin typeface="Helvetica" pitchFamily="34" charset="0"/>
              </a:rPr>
              <a:t>Stock specific food and beverage items </a:t>
            </a:r>
          </a:p>
          <a:p>
            <a:pPr lvl="0">
              <a:spcBef>
                <a:spcPts val="600"/>
              </a:spcBef>
              <a:spcAft>
                <a:spcPts val="600"/>
              </a:spcAft>
            </a:pPr>
            <a:r>
              <a:rPr lang="en-AU" sz="2200" dirty="0" smtClean="0">
                <a:latin typeface="Helvetica" pitchFamily="34" charset="0"/>
              </a:rPr>
              <a:t>Clear an area for entertainment or displays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231</a:t>
            </a:fld>
            <a:endParaRPr lang="en-US" dirty="0">
              <a:latin typeface="Helvetica" pitchFamily="34" charset="0"/>
            </a:endParaRPr>
          </a:p>
        </p:txBody>
      </p:sp>
      <p:pic>
        <p:nvPicPr>
          <p:cNvPr id="7" name="Picture 6" descr="Restaurant 9"/>
          <p:cNvPicPr/>
          <p:nvPr/>
        </p:nvPicPr>
        <p:blipFill>
          <a:blip r:embed="rId3" cstate="print"/>
          <a:srcRect/>
          <a:stretch>
            <a:fillRect/>
          </a:stretch>
        </p:blipFill>
        <p:spPr bwMode="auto">
          <a:xfrm>
            <a:off x="6444208" y="4077072"/>
            <a:ext cx="2171700" cy="1581150"/>
          </a:xfrm>
          <a:prstGeom prst="rect">
            <a:avLst/>
          </a:prstGeom>
          <a:noFill/>
        </p:spPr>
      </p:pic>
    </p:spTree>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720080"/>
          </a:xfrm>
        </p:spPr>
        <p:txBody>
          <a:bodyPr>
            <a:noAutofit/>
          </a:bodyPr>
          <a:lstStyle/>
          <a:p>
            <a:r>
              <a:rPr lang="en-AU" sz="3200" b="1" dirty="0" smtClean="0">
                <a:solidFill>
                  <a:srgbClr val="FF6600"/>
                </a:solidFill>
                <a:latin typeface="Helvetica" pitchFamily="34" charset="0"/>
              </a:rPr>
              <a:t>Enterprise procedures and requirements </a:t>
            </a:r>
            <a:endParaRPr lang="en-AU" sz="32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704856" cy="5661248"/>
          </a:xfrm>
        </p:spPr>
        <p:txBody>
          <a:bodyPr>
            <a:noAutofit/>
          </a:bodyPr>
          <a:lstStyle/>
          <a:p>
            <a:pPr lvl="0">
              <a:spcBef>
                <a:spcPts val="600"/>
              </a:spcBef>
              <a:spcAft>
                <a:spcPts val="1200"/>
              </a:spcAft>
            </a:pPr>
            <a:r>
              <a:rPr lang="en-AU" sz="2200" dirty="0" smtClean="0">
                <a:latin typeface="Helvetica" pitchFamily="34" charset="0"/>
              </a:rPr>
              <a:t>Ensuring safety of premises, furniture and equipment</a:t>
            </a:r>
          </a:p>
          <a:p>
            <a:pPr lvl="0">
              <a:spcBef>
                <a:spcPts val="600"/>
              </a:spcBef>
              <a:spcAft>
                <a:spcPts val="1200"/>
              </a:spcAft>
            </a:pPr>
            <a:r>
              <a:rPr lang="en-AU" sz="2200" dirty="0" smtClean="0">
                <a:latin typeface="Helvetica" pitchFamily="34" charset="0"/>
              </a:rPr>
              <a:t>Preserving food safety</a:t>
            </a:r>
          </a:p>
          <a:p>
            <a:pPr lvl="0">
              <a:spcBef>
                <a:spcPts val="600"/>
              </a:spcBef>
              <a:spcAft>
                <a:spcPts val="1200"/>
              </a:spcAft>
            </a:pPr>
            <a:r>
              <a:rPr lang="en-AU" sz="2200" dirty="0" smtClean="0">
                <a:latin typeface="Helvetica" pitchFamily="34" charset="0"/>
              </a:rPr>
              <a:t>Ensuring security of the premises during set up </a:t>
            </a:r>
          </a:p>
          <a:p>
            <a:pPr lvl="0">
              <a:spcBef>
                <a:spcPts val="600"/>
              </a:spcBef>
              <a:spcAft>
                <a:spcPts val="1200"/>
              </a:spcAft>
            </a:pPr>
            <a:r>
              <a:rPr lang="en-AU" sz="2200" dirty="0" smtClean="0">
                <a:latin typeface="Helvetica" pitchFamily="34" charset="0"/>
              </a:rPr>
              <a:t>Following identified sequences for room  </a:t>
            </a:r>
          </a:p>
          <a:p>
            <a:pPr lvl="0">
              <a:spcBef>
                <a:spcPts val="600"/>
              </a:spcBef>
              <a:spcAft>
                <a:spcPts val="1200"/>
              </a:spcAft>
            </a:pPr>
            <a:r>
              <a:rPr lang="en-AU" sz="2200" dirty="0" smtClean="0">
                <a:latin typeface="Helvetica" pitchFamily="34" charset="0"/>
              </a:rPr>
              <a:t>Communicating with others </a:t>
            </a:r>
          </a:p>
          <a:p>
            <a:pPr lvl="0">
              <a:spcBef>
                <a:spcPts val="600"/>
              </a:spcBef>
              <a:spcAft>
                <a:spcPts val="1200"/>
              </a:spcAft>
            </a:pPr>
            <a:r>
              <a:rPr lang="en-AU" sz="2200" dirty="0" smtClean="0">
                <a:latin typeface="Helvetica" pitchFamily="34" charset="0"/>
              </a:rPr>
              <a:t>Completing necessary documentation  </a:t>
            </a:r>
          </a:p>
          <a:p>
            <a:pPr>
              <a:spcBef>
                <a:spcPts val="600"/>
              </a:spcBef>
              <a:spcAft>
                <a:spcPts val="1200"/>
              </a:spcAft>
            </a:pPr>
            <a:r>
              <a:rPr lang="en-AU" sz="2200" dirty="0" smtClean="0">
                <a:latin typeface="Helvetica" pitchFamily="34" charset="0"/>
              </a:rPr>
              <a:t>Adhering to imposed labour budget </a:t>
            </a:r>
            <a:br>
              <a:rPr lang="en-AU" sz="2200" dirty="0" smtClean="0">
                <a:latin typeface="Helvetica" pitchFamily="34" charset="0"/>
              </a:rPr>
            </a:br>
            <a:r>
              <a:rPr lang="en-AU" sz="2200" dirty="0" smtClean="0">
                <a:latin typeface="Helvetica" pitchFamily="34" charset="0"/>
              </a:rPr>
              <a:t>restrictions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232</a:t>
            </a:fld>
            <a:endParaRPr lang="en-US" dirty="0">
              <a:latin typeface="Helvetica" pitchFamily="34" charset="0"/>
            </a:endParaRPr>
          </a:p>
        </p:txBody>
      </p:sp>
      <p:pic>
        <p:nvPicPr>
          <p:cNvPr id="8" name="Picture 7" descr="William Angliss Institute 2.JPG"/>
          <p:cNvPicPr/>
          <p:nvPr/>
        </p:nvPicPr>
        <p:blipFill>
          <a:blip r:embed="rId3" cstate="print"/>
          <a:stretch>
            <a:fillRect/>
          </a:stretch>
        </p:blipFill>
        <p:spPr>
          <a:xfrm>
            <a:off x="6156176" y="3933056"/>
            <a:ext cx="2213223" cy="1488182"/>
          </a:xfrm>
          <a:prstGeom prst="rect">
            <a:avLst/>
          </a:prstGeom>
        </p:spPr>
      </p:pic>
    </p:spTree>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648072"/>
          </a:xfrm>
        </p:spPr>
        <p:txBody>
          <a:bodyPr>
            <a:normAutofit/>
          </a:bodyPr>
          <a:lstStyle/>
          <a:p>
            <a:r>
              <a:rPr lang="en-AU" sz="3200" b="1" dirty="0" smtClean="0">
                <a:solidFill>
                  <a:srgbClr val="FF6600"/>
                </a:solidFill>
                <a:latin typeface="Helvetica" pitchFamily="34" charset="0"/>
              </a:rPr>
              <a:t>Review and evaluate services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Autofit/>
          </a:bodyPr>
          <a:lstStyle/>
          <a:p>
            <a:pPr>
              <a:spcBef>
                <a:spcPts val="600"/>
              </a:spcBef>
              <a:spcAft>
                <a:spcPts val="1200"/>
              </a:spcAft>
              <a:buNone/>
            </a:pPr>
            <a:r>
              <a:rPr lang="en-AU" sz="2200" dirty="0" smtClean="0">
                <a:latin typeface="Helvetica" pitchFamily="34" charset="0"/>
              </a:rPr>
              <a:t>Prime concerns at this meeting should be:</a:t>
            </a:r>
          </a:p>
          <a:p>
            <a:pPr lvl="0">
              <a:spcBef>
                <a:spcPts val="600"/>
              </a:spcBef>
              <a:spcAft>
                <a:spcPts val="1200"/>
              </a:spcAft>
            </a:pPr>
            <a:r>
              <a:rPr lang="en-AU" sz="2200" dirty="0" smtClean="0">
                <a:latin typeface="Helvetica" pitchFamily="34" charset="0"/>
              </a:rPr>
              <a:t>Communication between food and beverage staff</a:t>
            </a:r>
          </a:p>
          <a:p>
            <a:pPr lvl="0">
              <a:spcBef>
                <a:spcPts val="600"/>
              </a:spcBef>
              <a:spcAft>
                <a:spcPts val="1200"/>
              </a:spcAft>
            </a:pPr>
            <a:r>
              <a:rPr lang="en-AU" sz="2200" dirty="0" smtClean="0">
                <a:latin typeface="Helvetica" pitchFamily="34" charset="0"/>
              </a:rPr>
              <a:t>Communication between food and kitchen staff</a:t>
            </a:r>
          </a:p>
          <a:p>
            <a:pPr lvl="0">
              <a:spcBef>
                <a:spcPts val="600"/>
              </a:spcBef>
              <a:spcAft>
                <a:spcPts val="1200"/>
              </a:spcAft>
            </a:pPr>
            <a:r>
              <a:rPr lang="en-AU" sz="2200" dirty="0" smtClean="0">
                <a:latin typeface="Helvetica" pitchFamily="34" charset="0"/>
              </a:rPr>
              <a:t>Cooperation between staff in all food and beverage areas</a:t>
            </a:r>
          </a:p>
          <a:p>
            <a:pPr lvl="0">
              <a:spcBef>
                <a:spcPts val="600"/>
              </a:spcBef>
              <a:spcAft>
                <a:spcPts val="1200"/>
              </a:spcAft>
            </a:pPr>
            <a:r>
              <a:rPr lang="en-AU" sz="2200" dirty="0" smtClean="0">
                <a:latin typeface="Helvetica" pitchFamily="34" charset="0"/>
              </a:rPr>
              <a:t>Integration of service between food and beverage staff</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233</a:t>
            </a:fld>
            <a:endParaRPr lang="en-US" dirty="0">
              <a:latin typeface="Helvetica" pitchFamily="34" charset="0"/>
            </a:endParaRPr>
          </a:p>
        </p:txBody>
      </p:sp>
      <p:pic>
        <p:nvPicPr>
          <p:cNvPr id="6" name="Picture 5" descr="21.jpg"/>
          <p:cNvPicPr/>
          <p:nvPr/>
        </p:nvPicPr>
        <p:blipFill>
          <a:blip r:embed="rId3" cstate="print"/>
          <a:stretch>
            <a:fillRect/>
          </a:stretch>
        </p:blipFill>
        <p:spPr>
          <a:xfrm>
            <a:off x="6084168" y="4365104"/>
            <a:ext cx="2247900" cy="1491107"/>
          </a:xfrm>
          <a:prstGeom prst="rect">
            <a:avLst/>
          </a:prstGeom>
        </p:spPr>
      </p:pic>
    </p:spTree>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648072"/>
          </a:xfrm>
        </p:spPr>
        <p:txBody>
          <a:bodyPr>
            <a:normAutofit/>
          </a:bodyPr>
          <a:lstStyle/>
          <a:p>
            <a:r>
              <a:rPr lang="en-AU" sz="3200" b="1" dirty="0" smtClean="0">
                <a:solidFill>
                  <a:srgbClr val="FF6600"/>
                </a:solidFill>
                <a:latin typeface="Helvetica" pitchFamily="34" charset="0"/>
              </a:rPr>
              <a:t>Review and evaluate services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Autofit/>
          </a:bodyPr>
          <a:lstStyle/>
          <a:p>
            <a:pPr>
              <a:spcBef>
                <a:spcPts val="600"/>
              </a:spcBef>
              <a:spcAft>
                <a:spcPts val="1200"/>
              </a:spcAft>
              <a:buNone/>
            </a:pPr>
            <a:r>
              <a:rPr lang="en-AU" sz="2200" b="1" dirty="0" smtClean="0">
                <a:latin typeface="Helvetica" pitchFamily="34" charset="0"/>
              </a:rPr>
              <a:t>Purpose of a debrief session:</a:t>
            </a:r>
          </a:p>
          <a:p>
            <a:pPr lvl="0">
              <a:spcBef>
                <a:spcPts val="600"/>
              </a:spcBef>
              <a:spcAft>
                <a:spcPts val="1200"/>
              </a:spcAft>
            </a:pPr>
            <a:r>
              <a:rPr lang="en-AU" sz="2200" dirty="0" smtClean="0">
                <a:latin typeface="Helvetica" pitchFamily="34" charset="0"/>
              </a:rPr>
              <a:t>Congratulate staff on work that has been well done during service  </a:t>
            </a:r>
          </a:p>
          <a:p>
            <a:pPr lvl="0">
              <a:spcBef>
                <a:spcPts val="600"/>
              </a:spcBef>
              <a:spcAft>
                <a:spcPts val="1200"/>
              </a:spcAft>
            </a:pPr>
            <a:r>
              <a:rPr lang="en-AU" sz="2200" dirty="0" smtClean="0">
                <a:latin typeface="Helvetica" pitchFamily="34" charset="0"/>
              </a:rPr>
              <a:t>Highlight and lead discussion on problems and issues that  arose</a:t>
            </a:r>
          </a:p>
          <a:p>
            <a:pPr lvl="0">
              <a:spcBef>
                <a:spcPts val="600"/>
              </a:spcBef>
              <a:spcAft>
                <a:spcPts val="1200"/>
              </a:spcAft>
            </a:pPr>
            <a:r>
              <a:rPr lang="en-AU" sz="2200" dirty="0" smtClean="0">
                <a:latin typeface="Helvetica" pitchFamily="34" charset="0"/>
              </a:rPr>
              <a:t>Provide the staff with feedback from their                          perspective of how the session went  </a:t>
            </a:r>
          </a:p>
          <a:p>
            <a:pPr lvl="0">
              <a:spcBef>
                <a:spcPts val="600"/>
              </a:spcBef>
              <a:spcAft>
                <a:spcPts val="1200"/>
              </a:spcAft>
            </a:pPr>
            <a:r>
              <a:rPr lang="en-AU" sz="2200" dirty="0" smtClean="0">
                <a:latin typeface="Helvetica" pitchFamily="34" charset="0"/>
              </a:rPr>
              <a:t>Review the quality of service                                         delivery provided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234</a:t>
            </a:fld>
            <a:endParaRPr lang="en-US" dirty="0">
              <a:latin typeface="Helvetica" pitchFamily="34" charset="0"/>
            </a:endParaRPr>
          </a:p>
        </p:txBody>
      </p:sp>
      <p:pic>
        <p:nvPicPr>
          <p:cNvPr id="7" name="Picture 6" descr="20.jpg"/>
          <p:cNvPicPr>
            <a:picLocks noChangeAspect="1"/>
          </p:cNvPicPr>
          <p:nvPr/>
        </p:nvPicPr>
        <p:blipFill>
          <a:blip r:embed="rId3" cstate="print"/>
          <a:stretch>
            <a:fillRect/>
          </a:stretch>
        </p:blipFill>
        <p:spPr>
          <a:xfrm>
            <a:off x="7020272" y="3645024"/>
            <a:ext cx="1335980" cy="2005929"/>
          </a:xfrm>
          <a:prstGeom prst="rect">
            <a:avLst/>
          </a:prstGeom>
        </p:spPr>
      </p:pic>
    </p:spTree>
  </p:cSld>
  <p:clrMapOvr>
    <a:masterClrMapping/>
  </p:clrMapOvr>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560840" cy="720080"/>
          </a:xfrm>
        </p:spPr>
        <p:txBody>
          <a:bodyPr>
            <a:normAutofit/>
          </a:bodyPr>
          <a:lstStyle/>
          <a:p>
            <a:r>
              <a:rPr lang="en-AU" sz="3200" b="1" dirty="0" smtClean="0">
                <a:solidFill>
                  <a:srgbClr val="FF6600"/>
                </a:solidFill>
                <a:latin typeface="Helvetica" pitchFamily="34" charset="0"/>
              </a:rPr>
              <a:t>Review and evaluate services</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Autofit/>
          </a:bodyPr>
          <a:lstStyle/>
          <a:p>
            <a:pPr>
              <a:spcBef>
                <a:spcPts val="600"/>
              </a:spcBef>
              <a:spcAft>
                <a:spcPts val="1200"/>
              </a:spcAft>
              <a:buNone/>
            </a:pPr>
            <a:r>
              <a:rPr lang="en-AU" sz="2200" b="1" dirty="0" smtClean="0">
                <a:latin typeface="Helvetica" pitchFamily="34" charset="0"/>
              </a:rPr>
              <a:t>Purpose of a debrief session:</a:t>
            </a:r>
          </a:p>
          <a:p>
            <a:pPr lvl="0">
              <a:spcBef>
                <a:spcPts val="600"/>
              </a:spcBef>
              <a:spcAft>
                <a:spcPts val="1200"/>
              </a:spcAft>
            </a:pPr>
            <a:r>
              <a:rPr lang="en-AU" sz="2200" dirty="0" smtClean="0">
                <a:latin typeface="Helvetica" pitchFamily="34" charset="0"/>
              </a:rPr>
              <a:t>Encourage staff to identify issues of concern to them </a:t>
            </a:r>
          </a:p>
          <a:p>
            <a:pPr lvl="0">
              <a:spcBef>
                <a:spcPts val="600"/>
              </a:spcBef>
              <a:spcAft>
                <a:spcPts val="1200"/>
              </a:spcAft>
            </a:pPr>
            <a:r>
              <a:rPr lang="en-AU" sz="2200" dirty="0" smtClean="0">
                <a:latin typeface="Helvetica" pitchFamily="34" charset="0"/>
              </a:rPr>
              <a:t>Present issues and details of what can be expected in the next session </a:t>
            </a:r>
          </a:p>
          <a:p>
            <a:pPr>
              <a:spcBef>
                <a:spcPts val="600"/>
              </a:spcBef>
              <a:spcAft>
                <a:spcPts val="1200"/>
              </a:spcAft>
            </a:pPr>
            <a:r>
              <a:rPr lang="en-AU" sz="2200" dirty="0" smtClean="0">
                <a:latin typeface="Helvetica" pitchFamily="34" charset="0"/>
              </a:rPr>
              <a:t>Thank staff for their efforts and contribution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235</a:t>
            </a:fld>
            <a:endParaRPr lang="en-US" dirty="0">
              <a:latin typeface="Helvetica" pitchFamily="34" charset="0"/>
            </a:endParaRPr>
          </a:p>
        </p:txBody>
      </p:sp>
      <p:pic>
        <p:nvPicPr>
          <p:cNvPr id="5" name="Picture 4" descr="11111.jpg"/>
          <p:cNvPicPr>
            <a:picLocks noChangeAspect="1"/>
          </p:cNvPicPr>
          <p:nvPr/>
        </p:nvPicPr>
        <p:blipFill>
          <a:blip r:embed="rId3" cstate="print"/>
          <a:stretch>
            <a:fillRect/>
          </a:stretch>
        </p:blipFill>
        <p:spPr>
          <a:xfrm>
            <a:off x="6732240" y="3140968"/>
            <a:ext cx="1623442" cy="2430603"/>
          </a:xfrm>
          <a:prstGeom prst="rect">
            <a:avLst/>
          </a:prstGeom>
        </p:spPr>
      </p:pic>
    </p:spTree>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560840" cy="648072"/>
          </a:xfrm>
        </p:spPr>
        <p:txBody>
          <a:bodyPr>
            <a:normAutofit/>
          </a:bodyPr>
          <a:lstStyle/>
          <a:p>
            <a:r>
              <a:rPr lang="en-AU" sz="3200" b="1" dirty="0" smtClean="0">
                <a:solidFill>
                  <a:srgbClr val="FF6600"/>
                </a:solidFill>
                <a:latin typeface="Helvetica" pitchFamily="34" charset="0"/>
              </a:rPr>
              <a:t>Conduct a handover</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Autofit/>
          </a:bodyPr>
          <a:lstStyle/>
          <a:p>
            <a:pPr marL="457200" indent="-457200">
              <a:spcBef>
                <a:spcPts val="600"/>
              </a:spcBef>
              <a:spcAft>
                <a:spcPts val="1200"/>
              </a:spcAft>
              <a:buNone/>
            </a:pPr>
            <a:r>
              <a:rPr lang="en-AU" sz="2200" b="1" dirty="0" smtClean="0">
                <a:latin typeface="Helvetica" pitchFamily="34" charset="0"/>
              </a:rPr>
              <a:t>Importance of a handover:</a:t>
            </a:r>
          </a:p>
          <a:p>
            <a:pPr marL="457200" indent="-457200">
              <a:spcBef>
                <a:spcPts val="600"/>
              </a:spcBef>
              <a:spcAft>
                <a:spcPts val="1200"/>
              </a:spcAft>
            </a:pPr>
            <a:r>
              <a:rPr lang="en-AU" sz="2200" dirty="0" smtClean="0">
                <a:latin typeface="Helvetica" pitchFamily="34" charset="0"/>
              </a:rPr>
              <a:t>What is a handover?</a:t>
            </a:r>
          </a:p>
          <a:p>
            <a:pPr marL="457200" indent="-457200">
              <a:spcBef>
                <a:spcPts val="600"/>
              </a:spcBef>
              <a:spcAft>
                <a:spcPts val="1200"/>
              </a:spcAft>
            </a:pPr>
            <a:r>
              <a:rPr lang="en-AU" sz="2200" dirty="0" smtClean="0">
                <a:latin typeface="Helvetica" pitchFamily="34" charset="0"/>
              </a:rPr>
              <a:t>Why is it important to have a handover?</a:t>
            </a:r>
          </a:p>
          <a:p>
            <a:pPr marL="457200" indent="-457200">
              <a:spcBef>
                <a:spcPts val="600"/>
              </a:spcBef>
              <a:spcAft>
                <a:spcPts val="1200"/>
              </a:spcAft>
            </a:pPr>
            <a:r>
              <a:rPr lang="en-AU" sz="2200" dirty="0" smtClean="0">
                <a:latin typeface="Helvetica" pitchFamily="34" charset="0"/>
              </a:rPr>
              <a:t>What is discussed at a handover?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236</a:t>
            </a:fld>
            <a:endParaRPr lang="en-US" dirty="0">
              <a:latin typeface="Helvetica" pitchFamily="34" charset="0"/>
            </a:endParaRPr>
          </a:p>
        </p:txBody>
      </p:sp>
      <p:pic>
        <p:nvPicPr>
          <p:cNvPr id="6" name="Picture 5" descr="F&amp;B-0012.JPG"/>
          <p:cNvPicPr>
            <a:picLocks noChangeAspect="1"/>
          </p:cNvPicPr>
          <p:nvPr/>
        </p:nvPicPr>
        <p:blipFill>
          <a:blip r:embed="rId3" cstate="print"/>
          <a:stretch>
            <a:fillRect/>
          </a:stretch>
        </p:blipFill>
        <p:spPr>
          <a:xfrm>
            <a:off x="5796136" y="3501008"/>
            <a:ext cx="2638638" cy="1749834"/>
          </a:xfrm>
          <a:prstGeom prst="rect">
            <a:avLst/>
          </a:prstGeom>
        </p:spPr>
      </p:pic>
    </p:spTree>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200800" cy="648072"/>
          </a:xfrm>
        </p:spPr>
        <p:txBody>
          <a:bodyPr>
            <a:normAutofit/>
          </a:bodyPr>
          <a:lstStyle/>
          <a:p>
            <a:r>
              <a:rPr lang="en-AU" sz="3200" b="1" dirty="0" smtClean="0">
                <a:solidFill>
                  <a:srgbClr val="FF6600"/>
                </a:solidFill>
                <a:latin typeface="Helvetica" pitchFamily="34" charset="0"/>
              </a:rPr>
              <a:t>Conduct a handover</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Autofit/>
          </a:bodyPr>
          <a:lstStyle/>
          <a:p>
            <a:pPr marL="457200" indent="-457200">
              <a:spcBef>
                <a:spcPts val="600"/>
              </a:spcBef>
              <a:spcAft>
                <a:spcPts val="1200"/>
              </a:spcAft>
              <a:buNone/>
            </a:pPr>
            <a:r>
              <a:rPr lang="en-AU" sz="2200" b="1" dirty="0" smtClean="0">
                <a:latin typeface="Helvetica" pitchFamily="34" charset="0"/>
              </a:rPr>
              <a:t>Importance of a handover:</a:t>
            </a:r>
          </a:p>
          <a:p>
            <a:pPr>
              <a:spcBef>
                <a:spcPts val="600"/>
              </a:spcBef>
              <a:spcAft>
                <a:spcPts val="1200"/>
              </a:spcAft>
            </a:pPr>
            <a:r>
              <a:rPr lang="en-US" sz="2200" dirty="0" smtClean="0">
                <a:latin typeface="Helvetica" pitchFamily="34" charset="0"/>
              </a:rPr>
              <a:t>The last function to be performed by the manager, supervisor or staff member responsible for the service period is to </a:t>
            </a:r>
            <a:r>
              <a:rPr lang="en-US" sz="2200" u="sng" dirty="0" smtClean="0">
                <a:latin typeface="Helvetica" pitchFamily="34" charset="0"/>
              </a:rPr>
              <a:t>conduct a handover with the person responsible </a:t>
            </a:r>
            <a:r>
              <a:rPr lang="en-US" sz="2200" dirty="0" smtClean="0">
                <a:latin typeface="Helvetica" pitchFamily="34" charset="0"/>
              </a:rPr>
              <a:t>for the next service period</a:t>
            </a:r>
          </a:p>
          <a:p>
            <a:pPr>
              <a:spcBef>
                <a:spcPts val="600"/>
              </a:spcBef>
              <a:spcAft>
                <a:spcPts val="1200"/>
              </a:spcAft>
            </a:pPr>
            <a:r>
              <a:rPr lang="en-US" sz="2200" dirty="0" smtClean="0">
                <a:latin typeface="Helvetica" pitchFamily="34" charset="0"/>
              </a:rPr>
              <a:t>It is vital that the new </a:t>
            </a:r>
            <a:r>
              <a:rPr lang="en-US" sz="2200" u="sng" dirty="0" smtClean="0">
                <a:latin typeface="Helvetica" pitchFamily="34" charset="0"/>
              </a:rPr>
              <a:t>team receives all the necessary information</a:t>
            </a:r>
            <a:r>
              <a:rPr lang="en-US" sz="2200" dirty="0" smtClean="0">
                <a:latin typeface="Helvetica" pitchFamily="34" charset="0"/>
              </a:rPr>
              <a:t> that will affect their service period</a:t>
            </a:r>
            <a:endParaRPr lang="en-US" sz="2200" b="1" dirty="0" smtClean="0">
              <a:latin typeface="Helvetica" pitchFamily="34" charset="0"/>
            </a:endParaRPr>
          </a:p>
          <a:p>
            <a:pPr lv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237</a:t>
            </a:fld>
            <a:endParaRPr lang="en-US" dirty="0">
              <a:latin typeface="Helvetica" pitchFamily="34" charset="0"/>
            </a:endParaRPr>
          </a:p>
        </p:txBody>
      </p:sp>
      <p:pic>
        <p:nvPicPr>
          <p:cNvPr id="6" name="Picture 5" descr="F&amp;B-0012.JPG"/>
          <p:cNvPicPr>
            <a:picLocks noChangeAspect="1"/>
          </p:cNvPicPr>
          <p:nvPr/>
        </p:nvPicPr>
        <p:blipFill>
          <a:blip r:embed="rId3" cstate="print"/>
          <a:stretch>
            <a:fillRect/>
          </a:stretch>
        </p:blipFill>
        <p:spPr>
          <a:xfrm>
            <a:off x="2915816" y="4581128"/>
            <a:ext cx="2088232" cy="1384828"/>
          </a:xfrm>
          <a:prstGeom prst="rect">
            <a:avLst/>
          </a:prstGeom>
        </p:spPr>
      </p:pic>
    </p:spTree>
  </p:cSld>
  <p:clrMapOvr>
    <a:masterClrMapping/>
  </p:clrMapOvr>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344816" cy="720080"/>
          </a:xfrm>
        </p:spPr>
        <p:txBody>
          <a:bodyPr>
            <a:normAutofit/>
          </a:bodyPr>
          <a:lstStyle/>
          <a:p>
            <a:r>
              <a:rPr lang="en-AU" sz="3200" b="1" dirty="0" smtClean="0">
                <a:solidFill>
                  <a:srgbClr val="FF6600"/>
                </a:solidFill>
                <a:latin typeface="Helvetica" pitchFamily="34" charset="0"/>
              </a:rPr>
              <a:t>Conduct a handover</a:t>
            </a:r>
            <a:endParaRPr lang="en-AU" sz="32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Autofit/>
          </a:bodyPr>
          <a:lstStyle/>
          <a:p>
            <a:pPr marL="457200" indent="-457200">
              <a:spcBef>
                <a:spcPts val="600"/>
              </a:spcBef>
              <a:spcAft>
                <a:spcPts val="1200"/>
              </a:spcAft>
              <a:buNone/>
            </a:pPr>
            <a:r>
              <a:rPr lang="en-AU" sz="2200" b="1" dirty="0" smtClean="0">
                <a:latin typeface="Helvetica" pitchFamily="34" charset="0"/>
              </a:rPr>
              <a:t>Share valuable information:</a:t>
            </a:r>
          </a:p>
          <a:p>
            <a:pPr lvl="0">
              <a:spcBef>
                <a:spcPts val="600"/>
              </a:spcBef>
              <a:spcAft>
                <a:spcPts val="1200"/>
              </a:spcAft>
            </a:pPr>
            <a:r>
              <a:rPr lang="en-AU" sz="2200" dirty="0" smtClean="0">
                <a:latin typeface="Helvetica" pitchFamily="34" charset="0"/>
              </a:rPr>
              <a:t>Status of the customer’s orders and service</a:t>
            </a:r>
          </a:p>
          <a:p>
            <a:pPr lvl="0">
              <a:spcBef>
                <a:spcPts val="600"/>
              </a:spcBef>
              <a:spcAft>
                <a:spcPts val="1200"/>
              </a:spcAft>
            </a:pPr>
            <a:r>
              <a:rPr lang="en-AU" sz="2200" dirty="0" smtClean="0">
                <a:latin typeface="Helvetica" pitchFamily="34" charset="0"/>
              </a:rPr>
              <a:t>Availability of beverage products and supplies</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Changes or alterations to the menu</a:t>
            </a:r>
          </a:p>
          <a:p>
            <a:pPr lvl="0">
              <a:spcBef>
                <a:spcPts val="600"/>
              </a:spcBef>
              <a:spcAft>
                <a:spcPts val="1200"/>
              </a:spcAft>
            </a:pPr>
            <a:r>
              <a:rPr lang="en-AU" sz="2200" dirty="0" smtClean="0">
                <a:latin typeface="Helvetica" pitchFamily="34" charset="0"/>
              </a:rPr>
              <a:t>Any customer complaints</a:t>
            </a:r>
          </a:p>
          <a:p>
            <a:pPr lvl="0">
              <a:spcBef>
                <a:spcPts val="600"/>
              </a:spcBef>
              <a:spcAft>
                <a:spcPts val="1200"/>
              </a:spcAft>
            </a:pPr>
            <a:r>
              <a:rPr lang="en-AU" sz="2200" dirty="0" smtClean="0">
                <a:latin typeface="Helvetica" pitchFamily="34" charset="0"/>
              </a:rPr>
              <a:t>Roles for incoming staff members</a:t>
            </a:r>
          </a:p>
          <a:p>
            <a:pPr lvl="0">
              <a:spcBef>
                <a:spcPts val="600"/>
              </a:spcBef>
              <a:spcAft>
                <a:spcPts val="1200"/>
              </a:spcAft>
            </a:pPr>
            <a:r>
              <a:rPr lang="en-AU" sz="2200" dirty="0" smtClean="0">
                <a:latin typeface="Helvetica" pitchFamily="34" charset="0"/>
              </a:rPr>
              <a:t>Information about specific pieces of                                equipment or utensils</a:t>
            </a:r>
          </a:p>
          <a:p>
            <a:pPr>
              <a:spcBef>
                <a:spcPts val="600"/>
              </a:spcBef>
              <a:spcAft>
                <a:spcPts val="1200"/>
              </a:spcAft>
            </a:pPr>
            <a:r>
              <a:rPr lang="en-AU" sz="2200" dirty="0" smtClean="0">
                <a:latin typeface="Helvetica" pitchFamily="34" charset="0"/>
              </a:rPr>
              <a:t>Discussing financial transactions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238</a:t>
            </a:fld>
            <a:endParaRPr lang="en-US" dirty="0">
              <a:latin typeface="Helvetica" pitchFamily="34" charset="0"/>
            </a:endParaRPr>
          </a:p>
        </p:txBody>
      </p:sp>
      <p:pic>
        <p:nvPicPr>
          <p:cNvPr id="7" name="Picture 6" descr="MP900422115.JPG"/>
          <p:cNvPicPr/>
          <p:nvPr/>
        </p:nvPicPr>
        <p:blipFill>
          <a:blip r:embed="rId3" cstate="print"/>
          <a:stretch>
            <a:fillRect/>
          </a:stretch>
        </p:blipFill>
        <p:spPr>
          <a:xfrm>
            <a:off x="5940152" y="3861048"/>
            <a:ext cx="2408659" cy="1580183"/>
          </a:xfrm>
          <a:prstGeom prst="rect">
            <a:avLst/>
          </a:prstGeom>
        </p:spPr>
      </p:pic>
    </p:spTree>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55776" y="1484784"/>
            <a:ext cx="3528392" cy="1656184"/>
          </a:xfrm>
        </p:spPr>
        <p:txBody>
          <a:bodyPr>
            <a:normAutofit/>
          </a:bodyPr>
          <a:lstStyle/>
          <a:p>
            <a:pPr algn="ctr">
              <a:buNone/>
            </a:pPr>
            <a:r>
              <a:rPr lang="en-AU" sz="3200" b="1" i="1" dirty="0" smtClean="0">
                <a:solidFill>
                  <a:srgbClr val="FF6600"/>
                </a:solidFill>
                <a:latin typeface="Helvetica" pitchFamily="34" charset="0"/>
              </a:rPr>
              <a:t>Finish:</a:t>
            </a:r>
          </a:p>
          <a:p>
            <a:pPr algn="ctr">
              <a:buNone/>
            </a:pPr>
            <a:r>
              <a:rPr lang="en-AU" sz="3200" b="1" i="1" dirty="0" smtClean="0">
                <a:solidFill>
                  <a:srgbClr val="FF6600"/>
                </a:solidFill>
                <a:latin typeface="Helvetica" pitchFamily="34" charset="0"/>
              </a:rPr>
              <a:t>Thank you!</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239</a:t>
            </a:fld>
            <a:endParaRPr lang="en-US" dirty="0">
              <a:latin typeface="Helvetica" pitchFamily="34" charset="0"/>
            </a:endParaRPr>
          </a:p>
        </p:txBody>
      </p:sp>
      <p:pic>
        <p:nvPicPr>
          <p:cNvPr id="7" name="Picture 6" descr="j0409139.jpg"/>
          <p:cNvPicPr>
            <a:picLocks noChangeAspect="1"/>
          </p:cNvPicPr>
          <p:nvPr/>
        </p:nvPicPr>
        <p:blipFill>
          <a:blip r:embed="rId3" cstate="print"/>
          <a:stretch>
            <a:fillRect/>
          </a:stretch>
        </p:blipFill>
        <p:spPr>
          <a:xfrm>
            <a:off x="3059832" y="3140968"/>
            <a:ext cx="2564904" cy="171079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Food_&amp;_Bev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PPT_Food_&amp;_Bev_template_250612</Template>
  <TotalTime>6233</TotalTime>
  <Words>19336</Words>
  <Application>Microsoft Office PowerPoint</Application>
  <PresentationFormat>On-screen Show (4:3)</PresentationFormat>
  <Paragraphs>3293</Paragraphs>
  <Slides>239</Slides>
  <Notes>239</Notes>
  <HiddenSlides>0</HiddenSlides>
  <MMClips>0</MMClips>
  <ScaleCrop>false</ScaleCrop>
  <HeadingPairs>
    <vt:vector size="4" baseType="variant">
      <vt:variant>
        <vt:lpstr>Theme</vt:lpstr>
      </vt:variant>
      <vt:variant>
        <vt:i4>1</vt:i4>
      </vt:variant>
      <vt:variant>
        <vt:lpstr>Slide Titles</vt:lpstr>
      </vt:variant>
      <vt:variant>
        <vt:i4>239</vt:i4>
      </vt:variant>
    </vt:vector>
  </HeadingPairs>
  <TitlesOfParts>
    <vt:vector size="240" baseType="lpstr">
      <vt:lpstr>PPT_Food_&amp;_Bev_template_250612</vt:lpstr>
      <vt:lpstr>TAKE FOOD ORDERS AND PROVIDE TABLE SERVICE</vt:lpstr>
      <vt:lpstr>Subject Elements</vt:lpstr>
      <vt:lpstr>Assessment</vt:lpstr>
      <vt:lpstr>Slide 4</vt:lpstr>
      <vt:lpstr>Prepare food and/or food and beverage outlet for service </vt:lpstr>
      <vt:lpstr>Preparing a food and beverage outlet</vt:lpstr>
      <vt:lpstr>Types of food and beverage outlets</vt:lpstr>
      <vt:lpstr>Checking and cleaning restaurant area</vt:lpstr>
      <vt:lpstr>Checking and cleaning restaurant area</vt:lpstr>
      <vt:lpstr>Checking and cleaning customer facilities</vt:lpstr>
      <vt:lpstr>Checking and cleaning customer facilities</vt:lpstr>
      <vt:lpstr>Checking and cleaning customer facilities</vt:lpstr>
      <vt:lpstr>Checking and cleaning customer facilities</vt:lpstr>
      <vt:lpstr>Prepare comfort and ambiance</vt:lpstr>
      <vt:lpstr>Prepare comfort and ambiance</vt:lpstr>
      <vt:lpstr>Prepare comfort and ambiance</vt:lpstr>
      <vt:lpstr>Prepare comfort and ambiance</vt:lpstr>
      <vt:lpstr>Prepare comfort and ambiance</vt:lpstr>
      <vt:lpstr>Set up furniture</vt:lpstr>
      <vt:lpstr>Set up furniture</vt:lpstr>
      <vt:lpstr>Set up furniture</vt:lpstr>
      <vt:lpstr>Set up furniture</vt:lpstr>
      <vt:lpstr>Set up furniture</vt:lpstr>
      <vt:lpstr>Set up furniture</vt:lpstr>
      <vt:lpstr>Set up furniture</vt:lpstr>
      <vt:lpstr>Set up furniture</vt:lpstr>
      <vt:lpstr>Set up furniture</vt:lpstr>
      <vt:lpstr>Set up furniture</vt:lpstr>
      <vt:lpstr>Display food and beverage items</vt:lpstr>
      <vt:lpstr>Prepare equipment</vt:lpstr>
      <vt:lpstr>Prepare equipment</vt:lpstr>
      <vt:lpstr>Prepare equipment</vt:lpstr>
      <vt:lpstr>Prepare equipment</vt:lpstr>
      <vt:lpstr>Prepare equipment</vt:lpstr>
      <vt:lpstr>Prepare equipment</vt:lpstr>
      <vt:lpstr>Prepare equipment</vt:lpstr>
      <vt:lpstr>Prepare equipment</vt:lpstr>
      <vt:lpstr>Prepare equipment</vt:lpstr>
      <vt:lpstr>Prepare equipment</vt:lpstr>
      <vt:lpstr>Prepare equipment</vt:lpstr>
      <vt:lpstr>Prepare equipment</vt:lpstr>
      <vt:lpstr>Removing, cleaning or replacing items</vt:lpstr>
      <vt:lpstr>Removing, cleaning or replacing items</vt:lpstr>
      <vt:lpstr>Setting tables</vt:lpstr>
      <vt:lpstr>Setting tables</vt:lpstr>
      <vt:lpstr>Setting tables</vt:lpstr>
      <vt:lpstr>Setting tables</vt:lpstr>
      <vt:lpstr>Setting tables</vt:lpstr>
      <vt:lpstr>Setting tables</vt:lpstr>
      <vt:lpstr>Setting tables</vt:lpstr>
      <vt:lpstr>Setting tables</vt:lpstr>
      <vt:lpstr>Setting tables</vt:lpstr>
      <vt:lpstr>Setting tables</vt:lpstr>
      <vt:lpstr>Setting tables</vt:lpstr>
      <vt:lpstr>Setting tables</vt:lpstr>
      <vt:lpstr>Setting tables</vt:lpstr>
      <vt:lpstr>Setting tables</vt:lpstr>
      <vt:lpstr>Slide 58</vt:lpstr>
      <vt:lpstr>Take and process orders</vt:lpstr>
      <vt:lpstr>Welcoming guests</vt:lpstr>
      <vt:lpstr>Check reservations</vt:lpstr>
      <vt:lpstr>Greeting</vt:lpstr>
      <vt:lpstr>Special needs customers</vt:lpstr>
      <vt:lpstr>Pre-meal services</vt:lpstr>
      <vt:lpstr>Escort and seat customers</vt:lpstr>
      <vt:lpstr>Present menus</vt:lpstr>
      <vt:lpstr>Provide helpful information</vt:lpstr>
      <vt:lpstr>Provide helpful information</vt:lpstr>
      <vt:lpstr>Taking orders</vt:lpstr>
      <vt:lpstr>Taking orders</vt:lpstr>
      <vt:lpstr>Taking orders</vt:lpstr>
      <vt:lpstr>Taking orders</vt:lpstr>
      <vt:lpstr>Taking orders</vt:lpstr>
      <vt:lpstr>Operate the ordering system</vt:lpstr>
      <vt:lpstr>Operate the ordering system</vt:lpstr>
      <vt:lpstr>Convey orders</vt:lpstr>
      <vt:lpstr>Convey orders</vt:lpstr>
      <vt:lpstr>Convey orders</vt:lpstr>
      <vt:lpstr>Convey orders</vt:lpstr>
      <vt:lpstr>Convey orders</vt:lpstr>
      <vt:lpstr>Give customers advice</vt:lpstr>
      <vt:lpstr>Give customers advice</vt:lpstr>
      <vt:lpstr>Optimise sales</vt:lpstr>
      <vt:lpstr>Optimise sales</vt:lpstr>
      <vt:lpstr>Slide 85</vt:lpstr>
      <vt:lpstr>Prepare and pack take away food and beverages</vt:lpstr>
      <vt:lpstr>Prepare and pack take away food and beverages</vt:lpstr>
      <vt:lpstr>Take away food</vt:lpstr>
      <vt:lpstr>Challenges of take away service</vt:lpstr>
      <vt:lpstr>Challenges of take away service</vt:lpstr>
      <vt:lpstr>Monitoring temperature</vt:lpstr>
      <vt:lpstr>Monitoring temperature</vt:lpstr>
      <vt:lpstr>Monitoring temperature</vt:lpstr>
      <vt:lpstr>Monitoring temperature</vt:lpstr>
      <vt:lpstr>Monitoring temperature</vt:lpstr>
      <vt:lpstr>Protect displayed food from airborne and other contamination</vt:lpstr>
      <vt:lpstr>Display items attractively</vt:lpstr>
      <vt:lpstr>Display items attractively</vt:lpstr>
      <vt:lpstr>Display items attractively</vt:lpstr>
      <vt:lpstr>Keeping food and beverage hygienic</vt:lpstr>
      <vt:lpstr>Display items attractively</vt:lpstr>
      <vt:lpstr>Display items attractively</vt:lpstr>
      <vt:lpstr>Maintaining food and beverage hygiene</vt:lpstr>
      <vt:lpstr>Concept of self service</vt:lpstr>
      <vt:lpstr>Benefits of self service</vt:lpstr>
      <vt:lpstr>Principles of self service</vt:lpstr>
      <vt:lpstr>Maintaining hygiene in self service operations</vt:lpstr>
      <vt:lpstr>Maintaining hygiene in self service operations</vt:lpstr>
      <vt:lpstr>Maintaining hygiene in self service operations</vt:lpstr>
      <vt:lpstr>Maintaining hygiene in self service operations</vt:lpstr>
      <vt:lpstr>Discard contaminated food and/or service utensils</vt:lpstr>
      <vt:lpstr>Discard contaminated food and/or service utensils</vt:lpstr>
      <vt:lpstr>Replenish food and other items on display as required</vt:lpstr>
      <vt:lpstr>Replenish food and other items on display as required</vt:lpstr>
      <vt:lpstr>Comply with correct laws and practices</vt:lpstr>
      <vt:lpstr>Comply with correct laws and practices</vt:lpstr>
      <vt:lpstr>Comply with correct laws and practices</vt:lpstr>
      <vt:lpstr>Slide 118</vt:lpstr>
      <vt:lpstr>Provide table service</vt:lpstr>
      <vt:lpstr>Provide table service</vt:lpstr>
      <vt:lpstr>Adjusting glassware</vt:lpstr>
      <vt:lpstr>Adjusting serviceware</vt:lpstr>
      <vt:lpstr>Adjusting serviceware</vt:lpstr>
      <vt:lpstr>Check customer preferences</vt:lpstr>
      <vt:lpstr>Check customer preferences</vt:lpstr>
      <vt:lpstr>Check customer preferences</vt:lpstr>
      <vt:lpstr>Recommending food</vt:lpstr>
      <vt:lpstr>Recommending beverages</vt:lpstr>
      <vt:lpstr>Recommending food and wine</vt:lpstr>
      <vt:lpstr>Recommending food and wine</vt:lpstr>
      <vt:lpstr>Serving food and beverage items</vt:lpstr>
      <vt:lpstr>Serving food and beverage items</vt:lpstr>
      <vt:lpstr>Serving food and beverage items</vt:lpstr>
      <vt:lpstr>Serving food and beverage items</vt:lpstr>
      <vt:lpstr>Serving food and beverage items</vt:lpstr>
      <vt:lpstr>Serving food and beverage items</vt:lpstr>
      <vt:lpstr>Collecting food and beverage items</vt:lpstr>
      <vt:lpstr>Serving food and beverage items</vt:lpstr>
      <vt:lpstr>Clearing food and beverage items</vt:lpstr>
      <vt:lpstr>Clearing food and beverage items</vt:lpstr>
      <vt:lpstr>Clearing food and beverage items</vt:lpstr>
      <vt:lpstr>Clearing food and beverage items</vt:lpstr>
      <vt:lpstr>Clearing food and beverage items</vt:lpstr>
      <vt:lpstr>Presenting the account</vt:lpstr>
      <vt:lpstr>Farewell guests</vt:lpstr>
      <vt:lpstr>Slide 146</vt:lpstr>
      <vt:lpstr>Store and handle foods safely</vt:lpstr>
      <vt:lpstr>Follow hygiene procedures</vt:lpstr>
      <vt:lpstr>Disposing of left over food</vt:lpstr>
      <vt:lpstr>Disposing of left over food</vt:lpstr>
      <vt:lpstr>Maintain the workplace in a clean and tidy order </vt:lpstr>
      <vt:lpstr>Maintain the workplace in a clean and tidy order </vt:lpstr>
      <vt:lpstr>Cleaning</vt:lpstr>
      <vt:lpstr>Cleaning</vt:lpstr>
      <vt:lpstr>Disposing of items</vt:lpstr>
      <vt:lpstr>Disposing of items</vt:lpstr>
      <vt:lpstr>Disposing of items</vt:lpstr>
      <vt:lpstr>Disposing of items</vt:lpstr>
      <vt:lpstr>Disposing of items</vt:lpstr>
      <vt:lpstr>Identify bacterial and other contamination food-based hygiene risks</vt:lpstr>
      <vt:lpstr>Identify hygiene risks presented by poor cleaning practices</vt:lpstr>
      <vt:lpstr>Identify hygiene risks presented by poor cleaning practices</vt:lpstr>
      <vt:lpstr>Identify hygiene risks presented by poor cleaning practices</vt:lpstr>
      <vt:lpstr>Identify hygiene risks presented by poor cleaning practices</vt:lpstr>
      <vt:lpstr>Identify hygiene risks presented by poor cleaning practices</vt:lpstr>
      <vt:lpstr>Identify hygiene risks presented by poor cleaning practices</vt:lpstr>
      <vt:lpstr>Identify hygiene risks presented by poor cleaning practices</vt:lpstr>
      <vt:lpstr>Slide 168</vt:lpstr>
      <vt:lpstr>Handle payment and carry out cash control procedures</vt:lpstr>
      <vt:lpstr>Receive and accurately check cash float</vt:lpstr>
      <vt:lpstr>Receive and accurately check cash float</vt:lpstr>
      <vt:lpstr>Prepare cash register</vt:lpstr>
      <vt:lpstr>Prepare cash register</vt:lpstr>
      <vt:lpstr>Prepare cash register</vt:lpstr>
      <vt:lpstr>Prepare cash register</vt:lpstr>
      <vt:lpstr>Prepare cash register</vt:lpstr>
      <vt:lpstr>Secure cash register</vt:lpstr>
      <vt:lpstr>Secure cash register</vt:lpstr>
      <vt:lpstr>Establish, update and finalize customer accounts</vt:lpstr>
      <vt:lpstr>Establish, update and finalize customer accounts</vt:lpstr>
      <vt:lpstr>Establish, update and finalize customer accounts</vt:lpstr>
      <vt:lpstr>Establish, update and finalize customer accounts</vt:lpstr>
      <vt:lpstr>Establish, update and finalize customer accounts</vt:lpstr>
      <vt:lpstr>Establish, update and finalize customer accounts</vt:lpstr>
      <vt:lpstr>Establish, update and finalize customer accounts</vt:lpstr>
      <vt:lpstr>Settling accounts</vt:lpstr>
      <vt:lpstr>Settling accounts</vt:lpstr>
      <vt:lpstr>Settling accounts</vt:lpstr>
      <vt:lpstr>Settling accounts</vt:lpstr>
      <vt:lpstr>Settling accounts</vt:lpstr>
      <vt:lpstr>Settling accounts</vt:lpstr>
      <vt:lpstr>Settling accounts</vt:lpstr>
      <vt:lpstr>Reconcile takings</vt:lpstr>
      <vt:lpstr>Reconcile takings</vt:lpstr>
      <vt:lpstr>Reconcile takings</vt:lpstr>
      <vt:lpstr>Reconcile takings</vt:lpstr>
      <vt:lpstr>Reconcile takings</vt:lpstr>
      <vt:lpstr>Reconcile takings</vt:lpstr>
      <vt:lpstr>Obtaining the register/terminal reading</vt:lpstr>
      <vt:lpstr>X Reading</vt:lpstr>
      <vt:lpstr>Z Reading</vt:lpstr>
      <vt:lpstr>Separating the cash float from the takings </vt:lpstr>
      <vt:lpstr>Separating the cash float from the takings </vt:lpstr>
      <vt:lpstr>Count actual takings </vt:lpstr>
      <vt:lpstr>Cash Summary Sheet</vt:lpstr>
      <vt:lpstr>Determine payments</vt:lpstr>
      <vt:lpstr>Determine payments</vt:lpstr>
      <vt:lpstr>Determine final balance</vt:lpstr>
      <vt:lpstr>Determine final balance</vt:lpstr>
      <vt:lpstr>Identify discrepancies/variations</vt:lpstr>
      <vt:lpstr>Identify discrepancies/variations</vt:lpstr>
      <vt:lpstr>Report variations</vt:lpstr>
      <vt:lpstr>The Daily Takings Sheet</vt:lpstr>
      <vt:lpstr>Forward cash and documentation</vt:lpstr>
      <vt:lpstr>Slide 215</vt:lpstr>
      <vt:lpstr>Close down food service area</vt:lpstr>
      <vt:lpstr>Close down food service area</vt:lpstr>
      <vt:lpstr>Preparing for the next shift</vt:lpstr>
      <vt:lpstr>Storing and preparing equipment</vt:lpstr>
      <vt:lpstr>Storing and preparing equipment</vt:lpstr>
      <vt:lpstr>Storing and preparing equipment</vt:lpstr>
      <vt:lpstr>Storing and preparing equipment</vt:lpstr>
      <vt:lpstr>Storing and preparing equipment</vt:lpstr>
      <vt:lpstr>Clearing and cleaning</vt:lpstr>
      <vt:lpstr>Clearing and cleaning</vt:lpstr>
      <vt:lpstr>Clearing and cleaning</vt:lpstr>
      <vt:lpstr>Clearing and cleaning</vt:lpstr>
      <vt:lpstr>Storing cleaning equipment</vt:lpstr>
      <vt:lpstr>Set up area for next shift</vt:lpstr>
      <vt:lpstr>Set up area for next shift</vt:lpstr>
      <vt:lpstr>Set up area for next shift</vt:lpstr>
      <vt:lpstr>Enterprise procedures and requirements </vt:lpstr>
      <vt:lpstr>Review and evaluate services</vt:lpstr>
      <vt:lpstr>Review and evaluate services</vt:lpstr>
      <vt:lpstr>Review and evaluate services</vt:lpstr>
      <vt:lpstr>Conduct a handover</vt:lpstr>
      <vt:lpstr>Conduct a handover</vt:lpstr>
      <vt:lpstr>Conduct a handover</vt:lpstr>
      <vt:lpstr>Slide 239</vt:lpstr>
    </vt:vector>
  </TitlesOfParts>
  <Company>William Angliss Institute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TAKE FOOD ORDERS AND PROVIDE TABLE SERVICE</dc:title>
  <dc:creator>Administrator</dc:creator>
  <cp:lastModifiedBy>Daniel James Chee</cp:lastModifiedBy>
  <cp:revision>324</cp:revision>
  <dcterms:created xsi:type="dcterms:W3CDTF">2012-08-15T00:18:03Z</dcterms:created>
  <dcterms:modified xsi:type="dcterms:W3CDTF">2014-01-26T10:55:05Z</dcterms:modified>
</cp:coreProperties>
</file>